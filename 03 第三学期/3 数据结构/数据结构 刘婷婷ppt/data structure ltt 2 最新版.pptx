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5"/>
  </p:notesMasterIdLst>
  <p:sldIdLst>
    <p:sldId id="287" r:id="rId2"/>
    <p:sldId id="990" r:id="rId3"/>
    <p:sldId id="991" r:id="rId4"/>
    <p:sldId id="992" r:id="rId5"/>
    <p:sldId id="993"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02" r:id="rId21"/>
    <p:sldId id="1078" r:id="rId22"/>
    <p:sldId id="1390" r:id="rId23"/>
    <p:sldId id="1391" r:id="rId24"/>
    <p:sldId id="1392" r:id="rId25"/>
    <p:sldId id="303" r:id="rId26"/>
    <p:sldId id="304" r:id="rId27"/>
    <p:sldId id="307" r:id="rId28"/>
    <p:sldId id="305" r:id="rId29"/>
    <p:sldId id="306" r:id="rId30"/>
    <p:sldId id="308" r:id="rId31"/>
    <p:sldId id="309" r:id="rId32"/>
    <p:sldId id="1249" r:id="rId33"/>
    <p:sldId id="310" r:id="rId34"/>
    <p:sldId id="1167" r:id="rId35"/>
    <p:sldId id="1326" r:id="rId36"/>
    <p:sldId id="1327" r:id="rId37"/>
    <p:sldId id="1325" r:id="rId38"/>
    <p:sldId id="311" r:id="rId39"/>
    <p:sldId id="312" r:id="rId40"/>
    <p:sldId id="313" r:id="rId41"/>
    <p:sldId id="314" r:id="rId42"/>
    <p:sldId id="315" r:id="rId43"/>
    <p:sldId id="316" r:id="rId44"/>
    <p:sldId id="1328" r:id="rId45"/>
    <p:sldId id="1083" r:id="rId46"/>
    <p:sldId id="1084" r:id="rId47"/>
    <p:sldId id="1085" r:id="rId48"/>
    <p:sldId id="1164" r:id="rId49"/>
    <p:sldId id="1087" r:id="rId50"/>
    <p:sldId id="1165" r:id="rId51"/>
    <p:sldId id="1089" r:id="rId52"/>
    <p:sldId id="1166" r:id="rId53"/>
    <p:sldId id="1091" r:id="rId54"/>
    <p:sldId id="1154" r:id="rId55"/>
    <p:sldId id="317" r:id="rId56"/>
    <p:sldId id="318" r:id="rId57"/>
    <p:sldId id="319" r:id="rId58"/>
    <p:sldId id="320" r:id="rId59"/>
    <p:sldId id="321" r:id="rId60"/>
    <p:sldId id="322" r:id="rId61"/>
    <p:sldId id="323" r:id="rId62"/>
    <p:sldId id="324" r:id="rId63"/>
    <p:sldId id="337" r:id="rId64"/>
    <p:sldId id="1163" r:id="rId65"/>
    <p:sldId id="1176" r:id="rId66"/>
    <p:sldId id="330" r:id="rId67"/>
    <p:sldId id="331" r:id="rId68"/>
    <p:sldId id="332" r:id="rId69"/>
    <p:sldId id="333" r:id="rId70"/>
    <p:sldId id="334" r:id="rId71"/>
    <p:sldId id="335" r:id="rId72"/>
    <p:sldId id="339" r:id="rId73"/>
    <p:sldId id="958" r:id="rId74"/>
    <p:sldId id="959" r:id="rId75"/>
    <p:sldId id="960" r:id="rId76"/>
    <p:sldId id="341" r:id="rId77"/>
    <p:sldId id="1383" r:id="rId78"/>
    <p:sldId id="871" r:id="rId79"/>
    <p:sldId id="1197" r:id="rId80"/>
    <p:sldId id="949" r:id="rId81"/>
    <p:sldId id="1198" r:id="rId82"/>
    <p:sldId id="1195" r:id="rId83"/>
    <p:sldId id="1384" r:id="rId84"/>
  </p:sldIdLst>
  <p:sldSz cx="9144000" cy="6858000" type="screen4x3"/>
  <p:notesSz cx="6858000" cy="9144000"/>
  <p:custDataLst>
    <p:tags r:id="rId86"/>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lvl="5"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lvl="6"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lvl="7"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lvl="8"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60" userDrawn="1">
          <p15:clr>
            <a:srgbClr val="A4A3A4"/>
          </p15:clr>
        </p15:guide>
        <p15:guide id="2" pos="2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TT"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D9D"/>
    <a:srgbClr val="256DB7"/>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97"/>
    <p:restoredTop sz="94781"/>
  </p:normalViewPr>
  <p:slideViewPr>
    <p:cSldViewPr showGuides="1">
      <p:cViewPr varScale="1">
        <p:scale>
          <a:sx n="108" d="100"/>
          <a:sy n="108" d="100"/>
        </p:scale>
        <p:origin x="1296" y="108"/>
      </p:cViewPr>
      <p:guideLst>
        <p:guide orient="horz" pos="2160"/>
        <p:guide pos="287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2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1741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21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621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solidFill>
                  <a:schemeClr val="tx1"/>
                </a:solidFill>
                <a:latin typeface="Arial" panose="020B0604020202020204" pitchFamily="34" charset="0"/>
              </a:rPr>
              <a:t>‹#›</a:t>
            </a:fld>
            <a:endParaRPr lang="en-US" altLang="zh-CN" sz="1200" b="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文本占位符 2"/>
          <p:cNvSpPr>
            <a:spLocks noGrp="1"/>
          </p:cNvSpPr>
          <p:nvPr>
            <p:ph type="body"/>
          </p:nvPr>
        </p:nvSpPr>
        <p:spPr>
          <a:ln/>
        </p:spPr>
        <p:txBody>
          <a:bodyPr wrap="square" lIns="91440" tIns="45720" rIns="91440" bIns="45720" anchor="t" anchorCtr="0"/>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文本占位符 2"/>
          <p:cNvSpPr>
            <a:spLocks noGrp="1"/>
          </p:cNvSpPr>
          <p:nvPr>
            <p:ph type="body"/>
          </p:nvPr>
        </p:nvSpPr>
        <p:spPr>
          <a:ln/>
        </p:spPr>
        <p:txBody>
          <a:bodyPr wrap="square" lIns="91440" tIns="45720" rIns="91440" bIns="45720" anchor="t" anchorCtr="0"/>
          <a:lstStyle/>
          <a:p>
            <a:pPr lvl="0"/>
            <a:r>
              <a:rPr lang="en-US" altLang="zh-CN" dirty="0"/>
              <a:t>n-(i-1)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31</a:t>
            </a:fld>
            <a:endParaRPr lang="en-US" altLang="zh-CN" sz="1200" b="0" dirty="0">
              <a:solidFill>
                <a:schemeClr val="tx1"/>
              </a:solidFill>
              <a:latin typeface="Arial" panose="020B0604020202020204" pitchFamily="34" charset="0"/>
            </a:endParaRPr>
          </a:p>
        </p:txBody>
      </p:sp>
      <p:sp>
        <p:nvSpPr>
          <p:cNvPr id="49155" name="Rectangle 2"/>
          <p:cNvSpPr>
            <a:spLocks noGrp="1" noRot="1" noChangeAspect="1" noTextEdit="1"/>
          </p:cNvSpPr>
          <p:nvPr>
            <p:ph type="sldImg"/>
          </p:nvPr>
        </p:nvSpPr>
        <p:spPr>
          <a:ln/>
        </p:spPr>
      </p:sp>
      <p:sp>
        <p:nvSpPr>
          <p:cNvPr id="49156" name="Rectangle 3"/>
          <p:cNvSpPr>
            <a:spLocks noGrp="1"/>
          </p:cNvSpPr>
          <p:nvPr>
            <p:ph type="body"/>
          </p:nvPr>
        </p:nvSpPr>
        <p:spPr>
          <a:ln/>
        </p:spPr>
        <p:txBody>
          <a:bodyPr wrap="square" lIns="91440" tIns="45720" rIns="91440" bIns="45720" anchor="t" anchorCtr="0"/>
          <a:lstStyle/>
          <a:p>
            <a:pPr lvl="0" eaLnBrk="1" hangingPunct="1"/>
            <a:r>
              <a:rPr lang="zh-CN" altLang="en-US" sz="1100" dirty="0"/>
              <a:t>表合并算法</a:t>
            </a:r>
            <a:r>
              <a:rPr lang="en-US" altLang="zh-CN" sz="1100" dirty="0"/>
              <a:t>2.1</a:t>
            </a:r>
            <a:r>
              <a:rPr lang="zh-CN" altLang="en-US" sz="1100" dirty="0"/>
              <a:t>在顺序表下的实现算法</a:t>
            </a:r>
            <a:r>
              <a:rPr lang="en-US" altLang="zh-CN" sz="1100" dirty="0"/>
              <a:t>2.6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32</a:t>
            </a:fld>
            <a:endParaRPr lang="en-US" altLang="zh-CN" sz="1200" b="0" dirty="0">
              <a:solidFill>
                <a:schemeClr val="tx1"/>
              </a:solidFill>
              <a:latin typeface="Arial" panose="020B0604020202020204" pitchFamily="34" charset="0"/>
            </a:endParaRPr>
          </a:p>
        </p:txBody>
      </p:sp>
      <p:sp>
        <p:nvSpPr>
          <p:cNvPr id="51203" name="Rectangle 2"/>
          <p:cNvSpPr>
            <a:spLocks noGrp="1" noRot="1" noChangeAspect="1" noTextEdit="1"/>
          </p:cNvSpPr>
          <p:nvPr>
            <p:ph type="sldImg"/>
          </p:nvPr>
        </p:nvSpPr>
        <p:spPr>
          <a:ln/>
        </p:spPr>
      </p:sp>
      <p:sp>
        <p:nvSpPr>
          <p:cNvPr id="51204" name="Rectangle 3"/>
          <p:cNvSpPr>
            <a:spLocks noGrp="1"/>
          </p:cNvSpPr>
          <p:nvPr>
            <p:ph type="body"/>
          </p:nvPr>
        </p:nvSpPr>
        <p:spPr>
          <a:ln/>
        </p:spPr>
        <p:txBody>
          <a:bodyPr wrap="square" lIns="91440" tIns="45720" rIns="91440" bIns="45720" anchor="t" anchorCtr="0"/>
          <a:lstStyle/>
          <a:p>
            <a:pPr lvl="0" eaLnBrk="1" hangingPunct="1"/>
            <a:r>
              <a:rPr lang="zh-CN" altLang="en-US" sz="1100" dirty="0"/>
              <a:t>表合并算法</a:t>
            </a:r>
            <a:r>
              <a:rPr lang="en-US" altLang="zh-CN" sz="1100" dirty="0"/>
              <a:t>2.1</a:t>
            </a:r>
            <a:r>
              <a:rPr lang="zh-CN" altLang="en-US" sz="1100" dirty="0"/>
              <a:t>在顺序表下的实现算法</a:t>
            </a:r>
            <a:r>
              <a:rPr lang="en-US" altLang="zh-CN" sz="1100" dirty="0"/>
              <a:t>2.6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55</a:t>
            </a:fld>
            <a:endParaRPr lang="en-US" altLang="zh-CN" sz="1200" b="0" dirty="0">
              <a:solidFill>
                <a:schemeClr val="tx1"/>
              </a:solidFill>
              <a:latin typeface="Arial" panose="020B0604020202020204" pitchFamily="34" charset="0"/>
            </a:endParaRPr>
          </a:p>
        </p:txBody>
      </p:sp>
      <p:sp>
        <p:nvSpPr>
          <p:cNvPr id="78851" name="Rectangle 2"/>
          <p:cNvSpPr>
            <a:spLocks noGrp="1" noRot="1" noChangeAspect="1" noTextEdit="1"/>
          </p:cNvSpPr>
          <p:nvPr>
            <p:ph type="sldImg"/>
          </p:nvPr>
        </p:nvSpPr>
        <p:spPr>
          <a:ln/>
        </p:spPr>
      </p:sp>
      <p:sp>
        <p:nvSpPr>
          <p:cNvPr id="78852" name="Rectangle 3"/>
          <p:cNvSpPr>
            <a:spLocks noGrp="1"/>
          </p:cNvSpPr>
          <p:nvPr>
            <p:ph type="body"/>
          </p:nvPr>
        </p:nvSpPr>
        <p:spPr>
          <a:ln/>
        </p:spPr>
        <p:txBody>
          <a:bodyPr wrap="square" lIns="91440" tIns="45720" rIns="91440" bIns="45720" anchor="t" anchorCtr="0"/>
          <a:lstStyle/>
          <a:p>
            <a:pPr lvl="0" eaLnBrk="1" hangingPunct="1"/>
            <a:r>
              <a:rPr lang="zh-CN" altLang="en-US" dirty="0"/>
              <a:t>存在则为</a:t>
            </a:r>
            <a:r>
              <a:rPr lang="en-US" altLang="zh-CN" dirty="0"/>
              <a:t>i-1</a:t>
            </a:r>
          </a:p>
          <a:p>
            <a:pPr lvl="0" eaLnBrk="1" hangingPunct="1"/>
            <a:r>
              <a:rPr lang="zh-CN" altLang="en-US" dirty="0"/>
              <a:t>不存在则为</a:t>
            </a:r>
            <a:r>
              <a:rPr lang="en-US" altLang="zh-CN" dirty="0"/>
              <a:t>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58</a:t>
            </a:fld>
            <a:endParaRPr lang="en-US" altLang="zh-CN" sz="1200" b="0" dirty="0">
              <a:solidFill>
                <a:schemeClr val="tx1"/>
              </a:solidFill>
              <a:latin typeface="Arial" panose="020B0604020202020204" pitchFamily="34" charset="0"/>
            </a:endParaRPr>
          </a:p>
        </p:txBody>
      </p:sp>
      <p:sp>
        <p:nvSpPr>
          <p:cNvPr id="82947" name="Rectangle 2"/>
          <p:cNvSpPr>
            <a:spLocks noGrp="1" noRot="1" noChangeAspect="1" noTextEdit="1"/>
          </p:cNvSpPr>
          <p:nvPr>
            <p:ph type="sldImg"/>
          </p:nvPr>
        </p:nvSpPr>
        <p:spPr>
          <a:ln/>
        </p:spPr>
      </p:sp>
      <p:sp>
        <p:nvSpPr>
          <p:cNvPr id="82948" name="Rectangle 3"/>
          <p:cNvSpPr>
            <a:spLocks noGrp="1"/>
          </p:cNvSpPr>
          <p:nvPr>
            <p:ph type="body"/>
          </p:nvPr>
        </p:nvSpPr>
        <p:spPr>
          <a:ln/>
        </p:spPr>
        <p:txBody>
          <a:bodyPr wrap="square" lIns="91440" tIns="45720" rIns="91440" bIns="45720" anchor="t" anchorCtr="0"/>
          <a:lstStyle/>
          <a:p>
            <a:pPr lvl="0" eaLnBrk="1" hangingPunct="1"/>
            <a:r>
              <a:rPr lang="en-US" altLang="zh-CN" dirty="0"/>
              <a:t>p</a:t>
            </a:r>
            <a:r>
              <a:rPr lang="zh-CN" altLang="en-US" dirty="0"/>
              <a:t>－</a:t>
            </a:r>
            <a:r>
              <a:rPr lang="en-US" altLang="zh-CN" dirty="0"/>
              <a:t>&gt;next=p</a:t>
            </a:r>
            <a:r>
              <a:rPr lang="zh-CN" altLang="en-US" dirty="0"/>
              <a:t>－</a:t>
            </a:r>
            <a:r>
              <a:rPr lang="en-US" altLang="zh-CN" dirty="0"/>
              <a:t>&gt;next </a:t>
            </a:r>
            <a:r>
              <a:rPr lang="zh-CN" altLang="en-US" dirty="0"/>
              <a:t>－</a:t>
            </a:r>
            <a:r>
              <a:rPr lang="en-US" altLang="zh-CN" dirty="0"/>
              <a:t>&gt;next:</a:t>
            </a:r>
            <a:r>
              <a:rPr lang="zh-CN" altLang="en-US" dirty="0"/>
              <a:t>为由左至右执行</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59</a:t>
            </a:fld>
            <a:endParaRPr lang="en-US" altLang="zh-CN" sz="1200" b="0" dirty="0">
              <a:solidFill>
                <a:schemeClr val="tx1"/>
              </a:solidFill>
              <a:latin typeface="Arial" panose="020B0604020202020204" pitchFamily="34" charset="0"/>
            </a:endParaRPr>
          </a:p>
        </p:txBody>
      </p:sp>
      <p:sp>
        <p:nvSpPr>
          <p:cNvPr id="84995" name="Rectangle 2"/>
          <p:cNvSpPr>
            <a:spLocks noGrp="1" noRot="1" noChangeAspect="1" noTextEdit="1"/>
          </p:cNvSpPr>
          <p:nvPr>
            <p:ph type="sldImg"/>
          </p:nvPr>
        </p:nvSpPr>
        <p:spPr>
          <a:ln/>
        </p:spPr>
      </p:sp>
      <p:sp>
        <p:nvSpPr>
          <p:cNvPr id="84996" name="Rectangle 3"/>
          <p:cNvSpPr>
            <a:spLocks noGrp="1"/>
          </p:cNvSpPr>
          <p:nvPr>
            <p:ph type="body"/>
          </p:nvPr>
        </p:nvSpPr>
        <p:spPr>
          <a:ln/>
        </p:spPr>
        <p:txBody>
          <a:bodyPr wrap="square" lIns="91440" tIns="45720" rIns="91440" bIns="45720" anchor="t" anchorCtr="0"/>
          <a:lstStyle/>
          <a:p>
            <a:pPr lvl="0" eaLnBrk="1" hangingPunct="1"/>
            <a:r>
              <a:rPr lang="zh-CN" altLang="en-US" dirty="0"/>
              <a:t>第一个</a:t>
            </a:r>
            <a:r>
              <a:rPr lang="en-US" altLang="zh-CN" dirty="0"/>
              <a:t>if</a:t>
            </a:r>
            <a:r>
              <a:rPr lang="zh-CN" altLang="en-US" dirty="0"/>
              <a:t>中的条件分别判断是否为删除第</a:t>
            </a:r>
            <a:r>
              <a:rPr lang="en-US" altLang="zh-CN" dirty="0"/>
              <a:t>1</a:t>
            </a:r>
            <a:r>
              <a:rPr lang="zh-CN" altLang="en-US" dirty="0"/>
              <a:t>个之前或最后一个之后的元素</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61</a:t>
            </a:fld>
            <a:endParaRPr lang="en-US" altLang="zh-CN" sz="1200" b="0" dirty="0">
              <a:solidFill>
                <a:schemeClr val="tx1"/>
              </a:solidFill>
              <a:latin typeface="Arial" panose="020B0604020202020204" pitchFamily="34" charset="0"/>
            </a:endParaRPr>
          </a:p>
        </p:txBody>
      </p:sp>
      <p:sp>
        <p:nvSpPr>
          <p:cNvPr id="88067" name="Rectangle 2"/>
          <p:cNvSpPr>
            <a:spLocks noGrp="1" noRot="1" noChangeAspect="1" noTextEdit="1"/>
          </p:cNvSpPr>
          <p:nvPr>
            <p:ph type="sldImg"/>
          </p:nvPr>
        </p:nvSpPr>
        <p:spPr>
          <a:ln/>
        </p:spPr>
      </p:sp>
      <p:sp>
        <p:nvSpPr>
          <p:cNvPr id="88068" name="Rectangle 3"/>
          <p:cNvSpPr>
            <a:spLocks noGrp="1"/>
          </p:cNvSpPr>
          <p:nvPr>
            <p:ph type="body"/>
          </p:nvPr>
        </p:nvSpPr>
        <p:spPr>
          <a:ln/>
        </p:spPr>
        <p:txBody>
          <a:bodyPr wrap="square" lIns="91440" tIns="45720" rIns="91440" bIns="45720" anchor="t" anchorCtr="0"/>
          <a:lstStyle/>
          <a:p>
            <a:pPr lvl="0" eaLnBrk="1" hangingPunct="1"/>
            <a:r>
              <a:rPr lang="zh-CN" altLang="en-US" dirty="0"/>
              <a:t>如果正序</a:t>
            </a:r>
            <a:r>
              <a:rPr lang="en-US" altLang="zh-CN" dirty="0"/>
              <a:t>,</a:t>
            </a:r>
            <a:r>
              <a:rPr lang="zh-CN" altLang="en-US" dirty="0"/>
              <a:t>则需要保存一个尾指针</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78</a:t>
            </a:fld>
            <a:endParaRPr lang="en-US" altLang="zh-CN" sz="1200" b="0" dirty="0">
              <a:solidFill>
                <a:schemeClr val="tx1"/>
              </a:solidFill>
              <a:latin typeface="Arial" panose="020B0604020202020204" pitchFamily="34" charset="0"/>
            </a:endParaRPr>
          </a:p>
        </p:txBody>
      </p:sp>
      <p:sp>
        <p:nvSpPr>
          <p:cNvPr id="106499" name="Rectangle 2"/>
          <p:cNvSpPr>
            <a:spLocks noGrp="1" noRot="1" noChangeAspect="1" noTextEdit="1"/>
          </p:cNvSpPr>
          <p:nvPr>
            <p:ph type="sldImg"/>
          </p:nvPr>
        </p:nvSpPr>
        <p:spPr>
          <a:ln/>
        </p:spPr>
      </p:sp>
      <p:sp>
        <p:nvSpPr>
          <p:cNvPr id="106500" name="Rectangle 3"/>
          <p:cNvSpPr>
            <a:spLocks noGrp="1"/>
          </p:cNvSpPr>
          <p:nvPr>
            <p:ph type="body"/>
          </p:nvPr>
        </p:nvSpPr>
        <p:spPr>
          <a:ln/>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rPr>
              <a:t>80</a:t>
            </a:fld>
            <a:endParaRPr lang="en-US" altLang="zh-CN" sz="1200" b="0" dirty="0">
              <a:solidFill>
                <a:schemeClr val="tx1"/>
              </a:solidFill>
              <a:latin typeface="Arial" panose="020B0604020202020204" pitchFamily="34" charset="0"/>
            </a:endParaRPr>
          </a:p>
        </p:txBody>
      </p:sp>
      <p:sp>
        <p:nvSpPr>
          <p:cNvPr id="109571" name="Rectangle 2"/>
          <p:cNvSpPr>
            <a:spLocks noGrp="1" noRot="1" noChangeAspect="1" noTextEdit="1"/>
          </p:cNvSpPr>
          <p:nvPr>
            <p:ph type="sldImg"/>
          </p:nvPr>
        </p:nvSpPr>
        <p:spPr>
          <a:ln/>
        </p:spPr>
      </p:sp>
      <p:sp>
        <p:nvSpPr>
          <p:cNvPr id="109572" name="Rectangle 3"/>
          <p:cNvSpPr>
            <a:spLocks noGrp="1"/>
          </p:cNvSpPr>
          <p:nvPr>
            <p:ph type="body"/>
          </p:nvPr>
        </p:nvSpPr>
        <p:spPr>
          <a:ln/>
        </p:spPr>
        <p:txBody>
          <a:bodyPr wrap="square" lIns="91440" tIns="45720" rIns="91440" bIns="45720" anchor="t" anchorCtr="0"/>
          <a:lstStyle/>
          <a:p>
            <a:pPr lvl="0" eaLnBrk="1" hangingPunct="1"/>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4803343" y="0"/>
              </a:cxn>
              <a:cxn ang="0">
                <a:pos x="4803343" y="109538"/>
              </a:cxn>
              <a:cxn ang="0">
                <a:pos x="0" y="109538"/>
              </a:cxn>
              <a:cxn ang="0">
                <a:pos x="0" y="0"/>
              </a:cxn>
              <a:cxn ang="0">
                <a:pos x="0" y="0"/>
              </a:cxn>
              <a:cxn ang="0">
                <a:pos x="7772400"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3"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 name="页脚占位符 7"/>
          <p:cNvSpPr>
            <a:spLocks noGrp="1"/>
          </p:cNvSpPr>
          <p:nvPr>
            <p:ph type="ftr" sz="quarter" idx="1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 name="灯片编号占位符 8"/>
          <p:cNvSpPr>
            <a:spLocks noGrp="1"/>
          </p:cNvSpPr>
          <p:nvPr>
            <p:ph type="sldNum" sz="quarter" idx="1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页脚占位符 3"/>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灯片编号占位符 4"/>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 name="页脚占位符 2"/>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灯片编号占位符 3"/>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20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20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lipArt" preserve="1">
  <p:cSld name="标题，文本与剪贴画">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p:nvPr>
        </p:nvSpPr>
        <p:spPr>
          <a:xfrm>
            <a:off x="4643438" y="1752600"/>
            <a:ext cx="39243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5" name="日期占位符 4"/>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p>
        </p:txBody>
      </p:sp>
      <p:sp>
        <p:nvSpPr>
          <p:cNvPr id="3" name="表格占位符 2"/>
          <p:cNvSpPr>
            <a:spLocks noGrp="1"/>
          </p:cNvSpPr>
          <p:nvPr>
            <p:ph type="tbl" idx="1"/>
          </p:nvPr>
        </p:nvSpPr>
        <p:spPr>
          <a:xfrm>
            <a:off x="566738" y="1752600"/>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OverObj" preserve="1">
  <p:cSld name="标题和文本在内容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566738" y="1752600"/>
            <a:ext cx="8001000" cy="2057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66738" y="3962400"/>
            <a:ext cx="8001000" cy="2057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574675" y="304800"/>
            <a:ext cx="8001000" cy="12160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p>
        </p:txBody>
      </p:sp>
      <p:sp>
        <p:nvSpPr>
          <p:cNvPr id="4099" name="Rectangle 3"/>
          <p:cNvSpPr>
            <a:spLocks noGrp="1" noChangeArrowheads="1"/>
          </p:cNvSpPr>
          <p:nvPr>
            <p:ph type="body" idx="1"/>
          </p:nvPr>
        </p:nvSpPr>
        <p:spPr bwMode="auto">
          <a:xfrm>
            <a:off x="566738" y="1752600"/>
            <a:ext cx="8001000" cy="42672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28" name="AutoShape 4"/>
          <p:cNvSpPr/>
          <p:nvPr/>
        </p:nvSpPr>
        <p:spPr>
          <a:xfrm>
            <a:off x="609600" y="1566863"/>
            <a:ext cx="7958138" cy="109537"/>
          </a:xfrm>
          <a:custGeom>
            <a:avLst/>
            <a:gdLst/>
            <a:ahLst/>
            <a:cxnLst>
              <a:cxn ang="0">
                <a:pos x="0" y="0"/>
              </a:cxn>
              <a:cxn ang="0">
                <a:pos x="4655511" y="0"/>
              </a:cxn>
              <a:cxn ang="0">
                <a:pos x="4655511" y="109537"/>
              </a:cxn>
              <a:cxn ang="0">
                <a:pos x="0" y="109537"/>
              </a:cxn>
              <a:cxn ang="0">
                <a:pos x="0" y="0"/>
              </a:cxn>
              <a:cxn ang="0">
                <a:pos x="0" y="0"/>
              </a:cxn>
              <a:cxn ang="0">
                <a:pos x="7958138"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41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defRPr>
            </a:lvl1pPr>
          </a:lstStyle>
          <a:p>
            <a:pPr lvl="0" eaLnBrk="1" hangingPunct="1"/>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effectLst>
            <a:outerShdw blurRad="38100" dist="38100" dir="2700000" algn="tl">
              <a:srgbClr val="C0C0C0"/>
            </a:outerShdw>
          </a:effectLst>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effectLst>
            <a:outerShdw blurRad="38100" dist="38100" dir="2700000" algn="tl">
              <a:srgbClr val="C0C0C0"/>
            </a:outerShdw>
          </a:effectLst>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effectLst>
            <a:outerShdw blurRad="38100" dist="38100" dir="2700000" algn="tl">
              <a:srgbClr val="C0C0C0"/>
            </a:outerShdw>
          </a:effectLst>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4.wmf"/></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4.png"/><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image" Target="../media/image5.wmf"/></Relationships>
</file>

<file path=ppt/slides/_rels/slide7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5.wmf"/></Relationships>
</file>

<file path=ppt/slides/_rels/slide7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线性结构</a:t>
            </a:r>
          </a:p>
        </p:txBody>
      </p:sp>
      <p:sp>
        <p:nvSpPr>
          <p:cNvPr id="5325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在数据元素的非空有限集中，</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）存在唯一的一个被称为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第一个</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的元素</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）存在唯一的一个被称为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最后一个</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的元素</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）除第一个元素外，集合中的每个数据元素均只有一个前驱</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）除最后一个元素外，集合中的每个数据元素均只有一个后继</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线性表－第</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章 </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栈和队列－第</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章</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串－第</a:t>
            </a:r>
            <a:r>
              <a:rPr kumimoji="0" lang="en-US" altLang="zh-CN"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4</a:t>
            </a:r>
            <a:r>
              <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章</a:t>
            </a:r>
          </a:p>
        </p:txBody>
      </p:sp>
      <p:pic>
        <p:nvPicPr>
          <p:cNvPr id="18436" name="Picture 4"/>
          <p:cNvPicPr>
            <a:picLocks noChangeAspect="1"/>
          </p:cNvPicPr>
          <p:nvPr/>
        </p:nvPicPr>
        <p:blipFill>
          <a:blip r:embed="rId2"/>
          <a:srcRect t="27455" b="60715"/>
          <a:stretch>
            <a:fillRect/>
          </a:stretch>
        </p:blipFill>
        <p:spPr>
          <a:xfrm>
            <a:off x="4787900" y="836613"/>
            <a:ext cx="3924300" cy="504825"/>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引例</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一元多项式的表示和相加</a:t>
            </a:r>
          </a:p>
        </p:txBody>
      </p:sp>
      <p:pic>
        <p:nvPicPr>
          <p:cNvPr id="19459" name="Picture 4"/>
          <p:cNvPicPr>
            <a:picLocks noChangeAspect="1"/>
          </p:cNvPicPr>
          <p:nvPr/>
        </p:nvPicPr>
        <p:blipFill>
          <a:blip r:embed="rId2"/>
          <a:stretch>
            <a:fillRect/>
          </a:stretch>
        </p:blipFill>
        <p:spPr>
          <a:xfrm>
            <a:off x="900113" y="2392363"/>
            <a:ext cx="4130675" cy="366712"/>
          </a:xfrm>
          <a:prstGeom prst="rect">
            <a:avLst/>
          </a:prstGeom>
          <a:noFill/>
          <a:ln w="9525">
            <a:noFill/>
          </a:ln>
        </p:spPr>
      </p:pic>
      <p:sp>
        <p:nvSpPr>
          <p:cNvPr id="19460" name="Text Box 6"/>
          <p:cNvSpPr txBox="1"/>
          <p:nvPr/>
        </p:nvSpPr>
        <p:spPr>
          <a:xfrm>
            <a:off x="2339975" y="2895600"/>
            <a:ext cx="438150" cy="396875"/>
          </a:xfrm>
          <a:prstGeom prst="rect">
            <a:avLst/>
          </a:prstGeom>
          <a:noFill/>
          <a:ln w="9525">
            <a:noFill/>
          </a:ln>
        </p:spPr>
        <p:txBody>
          <a:bodyPr wrap="none" anchor="b" anchorCtr="0">
            <a:spAutoFit/>
          </a:bodyPr>
          <a:lstStyle/>
          <a:p>
            <a:pPr algn="ctr" eaLnBrk="1" hangingPunct="1"/>
            <a:r>
              <a:rPr lang="zh-CN" altLang="en-US" b="0" dirty="0">
                <a:latin typeface="Verdana" panose="020B0604030504040204" pitchFamily="34" charset="0"/>
              </a:rPr>
              <a:t>＋</a:t>
            </a:r>
          </a:p>
        </p:txBody>
      </p:sp>
      <p:sp>
        <p:nvSpPr>
          <p:cNvPr id="128010" name="AutoShape 10"/>
          <p:cNvSpPr>
            <a:spLocks noChangeArrowheads="1"/>
          </p:cNvSpPr>
          <p:nvPr/>
        </p:nvSpPr>
        <p:spPr bwMode="auto">
          <a:xfrm>
            <a:off x="5435600" y="2968625"/>
            <a:ext cx="749300" cy="447675"/>
          </a:xfrm>
          <a:prstGeom prst="rightArrow">
            <a:avLst>
              <a:gd name="adj1" fmla="val 50000"/>
              <a:gd name="adj2" fmla="val 41844"/>
            </a:avLst>
          </a:prstGeom>
          <a:noFill/>
          <a:ln w="9525" algn="ctr">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9462" name="Text Box 11"/>
          <p:cNvSpPr txBox="1"/>
          <p:nvPr/>
        </p:nvSpPr>
        <p:spPr>
          <a:xfrm>
            <a:off x="631825" y="1779588"/>
            <a:ext cx="3365500" cy="400050"/>
          </a:xfrm>
          <a:prstGeom prst="rect">
            <a:avLst/>
          </a:prstGeom>
          <a:noFill/>
          <a:ln w="9525">
            <a:noFill/>
          </a:ln>
        </p:spPr>
        <p:txBody>
          <a:bodyPr wrap="none" anchor="b" anchorCtr="0">
            <a:spAutoFit/>
          </a:bodyPr>
          <a:lstStyle/>
          <a:p>
            <a:pPr algn="ctr" eaLnBrk="1" hangingPunct="1"/>
            <a:r>
              <a:rPr lang="zh-CN" altLang="en-US" b="0" dirty="0">
                <a:latin typeface="Verdana" panose="020B0604030504040204" pitchFamily="34" charset="0"/>
              </a:rPr>
              <a:t>多项式的数学形式</a:t>
            </a:r>
            <a:r>
              <a:rPr lang="en-US" altLang="zh-CN" b="0" dirty="0">
                <a:latin typeface="Verdana" panose="020B0604030504040204" pitchFamily="34" charset="0"/>
              </a:rPr>
              <a:t>:  m&lt;=n</a:t>
            </a:r>
          </a:p>
        </p:txBody>
      </p:sp>
      <p:sp>
        <p:nvSpPr>
          <p:cNvPr id="128019" name="Text Box 19"/>
          <p:cNvSpPr txBox="1">
            <a:spLocks noChangeArrowheads="1"/>
          </p:cNvSpPr>
          <p:nvPr/>
        </p:nvSpPr>
        <p:spPr bwMode="auto">
          <a:xfrm>
            <a:off x="923925" y="3349625"/>
            <a:ext cx="3071813" cy="366713"/>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i="1"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 = </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0</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1</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kern="1200" cap="none" spc="0" normalizeH="0" baseline="30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i="1"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i="1" kern="1200" cap="none" spc="0" normalizeH="0" baseline="30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p>
        </p:txBody>
      </p:sp>
      <p:sp>
        <p:nvSpPr>
          <p:cNvPr id="19464" name="Text Box 20"/>
          <p:cNvSpPr txBox="1"/>
          <p:nvPr/>
        </p:nvSpPr>
        <p:spPr>
          <a:xfrm>
            <a:off x="323850" y="4581525"/>
            <a:ext cx="8378825" cy="396875"/>
          </a:xfrm>
          <a:prstGeom prst="rect">
            <a:avLst/>
          </a:prstGeom>
          <a:noFill/>
          <a:ln w="9525">
            <a:noFill/>
          </a:ln>
        </p:spPr>
        <p:txBody>
          <a:bodyPr wrap="none" anchor="b" anchorCtr="0">
            <a:spAutoFit/>
          </a:bodyPr>
          <a:lstStyle/>
          <a:p>
            <a:pPr algn="ctr" eaLnBrk="1" hangingPunct="1"/>
            <a:r>
              <a:rPr lang="en-US" altLang="zh-CN" i="1" dirty="0">
                <a:latin typeface="Times New Roman" panose="02020603050405020304" pitchFamily="18" charset="0"/>
              </a:rPr>
              <a:t>P</a:t>
            </a:r>
            <a:r>
              <a:rPr lang="en-US" altLang="zh-CN" sz="1600" i="1" dirty="0">
                <a:latin typeface="Times New Roman" panose="02020603050405020304" pitchFamily="18" charset="0"/>
              </a:rPr>
              <a:t>n</a:t>
            </a:r>
            <a:r>
              <a:rPr lang="en-US" altLang="zh-CN" i="1" dirty="0">
                <a:latin typeface="Times New Roman" panose="02020603050405020304" pitchFamily="18" charset="0"/>
              </a:rPr>
              <a:t>(x)+Q</a:t>
            </a:r>
            <a:r>
              <a:rPr lang="en-US" altLang="zh-CN" sz="1600" i="1" dirty="0">
                <a:latin typeface="Times New Roman" panose="02020603050405020304" pitchFamily="18" charset="0"/>
              </a:rPr>
              <a:t>m</a:t>
            </a:r>
            <a:r>
              <a:rPr lang="en-US" altLang="zh-CN" i="1" dirty="0">
                <a:latin typeface="Times New Roman" panose="02020603050405020304" pitchFamily="18" charset="0"/>
              </a:rPr>
              <a:t>(x) = (p</a:t>
            </a:r>
            <a:r>
              <a:rPr lang="en-US" altLang="zh-CN" sz="1800" i="1" baseline="-25000" dirty="0">
                <a:latin typeface="Times New Roman" panose="02020603050405020304" pitchFamily="18" charset="0"/>
              </a:rPr>
              <a:t>0</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0</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1</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1</a:t>
            </a:r>
            <a:r>
              <a:rPr lang="en-US" altLang="zh-CN" i="1" dirty="0">
                <a:latin typeface="Times New Roman" panose="02020603050405020304" pitchFamily="18" charset="0"/>
              </a:rPr>
              <a:t>)x+(p</a:t>
            </a:r>
            <a:r>
              <a:rPr lang="en-US" altLang="zh-CN" sz="1800" i="1" baseline="-25000" dirty="0">
                <a:latin typeface="Times New Roman" panose="02020603050405020304" pitchFamily="18" charset="0"/>
              </a:rPr>
              <a:t>2</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2</a:t>
            </a:r>
            <a:r>
              <a:rPr lang="en-US" altLang="zh-CN" i="1" dirty="0">
                <a:latin typeface="Times New Roman" panose="02020603050405020304" pitchFamily="18" charset="0"/>
              </a:rPr>
              <a:t>)x</a:t>
            </a:r>
            <a:r>
              <a:rPr lang="en-US" altLang="zh-CN" i="1" baseline="30000" dirty="0">
                <a:latin typeface="Times New Roman" panose="02020603050405020304" pitchFamily="18" charset="0"/>
              </a:rPr>
              <a:t>2</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m</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m</a:t>
            </a:r>
            <a:r>
              <a:rPr lang="en-US" altLang="zh-CN" i="1" dirty="0">
                <a:latin typeface="Times New Roman" panose="02020603050405020304" pitchFamily="18" charset="0"/>
              </a:rPr>
              <a:t>) x</a:t>
            </a:r>
            <a:r>
              <a:rPr lang="en-US" altLang="zh-CN" i="1" baseline="30000" dirty="0">
                <a:latin typeface="Times New Roman" panose="02020603050405020304" pitchFamily="18" charset="0"/>
              </a:rPr>
              <a:t>m</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m+1</a:t>
            </a:r>
            <a:r>
              <a:rPr lang="en-US" altLang="zh-CN" i="1" dirty="0">
                <a:latin typeface="Times New Roman" panose="02020603050405020304" pitchFamily="18" charset="0"/>
              </a:rPr>
              <a:t> x</a:t>
            </a:r>
            <a:r>
              <a:rPr lang="en-US" altLang="zh-CN" i="1" baseline="30000" dirty="0">
                <a:latin typeface="Times New Roman" panose="02020603050405020304" pitchFamily="18" charset="0"/>
              </a:rPr>
              <a:t>m+1 </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n</a:t>
            </a:r>
            <a:r>
              <a:rPr lang="en-US" altLang="zh-CN" i="1" dirty="0">
                <a:latin typeface="Times New Roman" panose="02020603050405020304" pitchFamily="18" charset="0"/>
              </a:rPr>
              <a:t> x</a:t>
            </a:r>
            <a:r>
              <a:rPr lang="en-US" altLang="zh-CN" i="1" baseline="30000" dirty="0">
                <a:latin typeface="Times New Roman" panose="02020603050405020304" pitchFamily="18" charset="0"/>
              </a:rPr>
              <a:t>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58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mn-ea"/>
              </a:rPr>
              <a:t>引例</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一元多项式的表示和相加</a:t>
            </a:r>
          </a:p>
        </p:txBody>
      </p:sp>
      <p:sp>
        <p:nvSpPr>
          <p:cNvPr id="9758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数据存储方式</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顺序表</a:t>
            </a: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方案一：数组下标对应指数，数组元素对应系数</a:t>
            </a: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方案二：数组元素包含两个项：指数和系数</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单链表</a:t>
            </a: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方案三：节点包含三个项：指数，系数和链域</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506" name="Picture 4"/>
          <p:cNvPicPr>
            <a:picLocks noChangeAspect="1"/>
          </p:cNvPicPr>
          <p:nvPr/>
        </p:nvPicPr>
        <p:blipFill>
          <a:blip r:embed="rId2"/>
          <a:srcRect r="2777" b="-23119"/>
          <a:stretch>
            <a:fillRect/>
          </a:stretch>
        </p:blipFill>
        <p:spPr>
          <a:xfrm>
            <a:off x="250825" y="1484313"/>
            <a:ext cx="3889375" cy="530225"/>
          </a:xfrm>
          <a:prstGeom prst="rect">
            <a:avLst/>
          </a:prstGeom>
          <a:noFill/>
          <a:ln w="9525">
            <a:noFill/>
          </a:ln>
        </p:spPr>
      </p:pic>
      <p:grpSp>
        <p:nvGrpSpPr>
          <p:cNvPr id="21507" name="Group 5"/>
          <p:cNvGrpSpPr/>
          <p:nvPr/>
        </p:nvGrpSpPr>
        <p:grpSpPr>
          <a:xfrm>
            <a:off x="323850" y="2205038"/>
            <a:ext cx="3097213" cy="504825"/>
            <a:chOff x="2064" y="2568"/>
            <a:chExt cx="1568" cy="156"/>
          </a:xfrm>
        </p:grpSpPr>
        <p:pic>
          <p:nvPicPr>
            <p:cNvPr id="21698" name="Picture 6"/>
            <p:cNvPicPr>
              <a:picLocks noChangeAspect="1"/>
            </p:cNvPicPr>
            <p:nvPr/>
          </p:nvPicPr>
          <p:blipFill>
            <a:blip r:embed="rId3"/>
            <a:stretch>
              <a:fillRect/>
            </a:stretch>
          </p:blipFill>
          <p:spPr>
            <a:xfrm>
              <a:off x="2064" y="2568"/>
              <a:ext cx="960" cy="150"/>
            </a:xfrm>
            <a:prstGeom prst="rect">
              <a:avLst/>
            </a:prstGeom>
            <a:noFill/>
            <a:ln w="9525">
              <a:noFill/>
            </a:ln>
          </p:spPr>
        </p:pic>
        <p:pic>
          <p:nvPicPr>
            <p:cNvPr id="21699" name="Picture 7"/>
            <p:cNvPicPr>
              <a:picLocks noChangeAspect="1"/>
            </p:cNvPicPr>
            <p:nvPr/>
          </p:nvPicPr>
          <p:blipFill>
            <a:blip r:embed="rId4"/>
            <a:stretch>
              <a:fillRect/>
            </a:stretch>
          </p:blipFill>
          <p:spPr>
            <a:xfrm>
              <a:off x="2864" y="2568"/>
              <a:ext cx="768" cy="156"/>
            </a:xfrm>
            <a:prstGeom prst="rect">
              <a:avLst/>
            </a:prstGeom>
            <a:noFill/>
            <a:ln w="9525">
              <a:noFill/>
            </a:ln>
          </p:spPr>
        </p:pic>
      </p:grpSp>
      <p:graphicFrame>
        <p:nvGraphicFramePr>
          <p:cNvPr id="125956" name="表格 125955"/>
          <p:cNvGraphicFramePr/>
          <p:nvPr/>
        </p:nvGraphicFramePr>
        <p:xfrm>
          <a:off x="4859338" y="96838"/>
          <a:ext cx="3217863" cy="6577013"/>
        </p:xfrm>
        <a:graphic>
          <a:graphicData uri="http://schemas.openxmlformats.org/drawingml/2006/table">
            <a:tbl>
              <a:tblPr/>
              <a:tblGrid>
                <a:gridCol w="718994">
                  <a:extLst>
                    <a:ext uri="{9D8B030D-6E8A-4147-A177-3AD203B41FA5}">
                      <a16:colId xmlns:a16="http://schemas.microsoft.com/office/drawing/2014/main" val="20000"/>
                    </a:ext>
                  </a:extLst>
                </a:gridCol>
                <a:gridCol w="647570">
                  <a:extLst>
                    <a:ext uri="{9D8B030D-6E8A-4147-A177-3AD203B41FA5}">
                      <a16:colId xmlns:a16="http://schemas.microsoft.com/office/drawing/2014/main" val="20001"/>
                    </a:ext>
                  </a:extLst>
                </a:gridCol>
                <a:gridCol w="208244">
                  <a:extLst>
                    <a:ext uri="{9D8B030D-6E8A-4147-A177-3AD203B41FA5}">
                      <a16:colId xmlns:a16="http://schemas.microsoft.com/office/drawing/2014/main" val="20002"/>
                    </a:ext>
                  </a:extLst>
                </a:gridCol>
                <a:gridCol w="680901">
                  <a:extLst>
                    <a:ext uri="{9D8B030D-6E8A-4147-A177-3AD203B41FA5}">
                      <a16:colId xmlns:a16="http://schemas.microsoft.com/office/drawing/2014/main" val="20003"/>
                    </a:ext>
                  </a:extLst>
                </a:gridCol>
                <a:gridCol w="208244">
                  <a:extLst>
                    <a:ext uri="{9D8B030D-6E8A-4147-A177-3AD203B41FA5}">
                      <a16:colId xmlns:a16="http://schemas.microsoft.com/office/drawing/2014/main" val="20004"/>
                    </a:ext>
                  </a:extLst>
                </a:gridCol>
                <a:gridCol w="753911">
                  <a:extLst>
                    <a:ext uri="{9D8B030D-6E8A-4147-A177-3AD203B41FA5}">
                      <a16:colId xmlns:a16="http://schemas.microsoft.com/office/drawing/2014/main" val="20005"/>
                    </a:ext>
                  </a:extLst>
                </a:gridCol>
              </a:tblGrid>
              <a:tr h="335272">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zh-CN" altLang="en-US" sz="1600" dirty="0">
                          <a:solidFill>
                            <a:schemeClr val="tx1"/>
                          </a:solidFill>
                          <a:effectLst>
                            <a:outerShdw blurRad="38100" dist="38100" dir="2700000">
                              <a:srgbClr val="C0C0C0"/>
                            </a:outerShdw>
                          </a:effectLst>
                          <a:latin typeface="Verdana" panose="020B0604030504040204" pitchFamily="34" charset="0"/>
                        </a:rPr>
                        <a:t>下标</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A</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B</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A+B</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7</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7</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3</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8</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11</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2</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3</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9213">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4</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5</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6</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7</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22</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22</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8</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9</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-9</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9</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9213">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10</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11</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12</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13</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14</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15</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49213">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16</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335272">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17</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5</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5</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bl>
          </a:graphicData>
        </a:graphic>
      </p:graphicFrame>
      <p:sp>
        <p:nvSpPr>
          <p:cNvPr id="977344" name="Text Box 448"/>
          <p:cNvSpPr txBox="1">
            <a:spLocks noChangeArrowheads="1"/>
          </p:cNvSpPr>
          <p:nvPr/>
        </p:nvSpPr>
        <p:spPr bwMode="auto">
          <a:xfrm>
            <a:off x="568325" y="457200"/>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方案一</a:t>
            </a:r>
          </a:p>
        </p:txBody>
      </p:sp>
      <p:pic>
        <p:nvPicPr>
          <p:cNvPr id="977345" name="Picture 449"/>
          <p:cNvPicPr>
            <a:picLocks noChangeAspect="1"/>
          </p:cNvPicPr>
          <p:nvPr/>
        </p:nvPicPr>
        <p:blipFill>
          <a:blip r:embed="rId5"/>
          <a:stretch>
            <a:fillRect/>
          </a:stretch>
        </p:blipFill>
        <p:spPr>
          <a:xfrm>
            <a:off x="179388" y="6021388"/>
            <a:ext cx="4176712" cy="4699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77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530" name="Picture 2"/>
          <p:cNvPicPr>
            <a:picLocks noChangeAspect="1"/>
          </p:cNvPicPr>
          <p:nvPr/>
        </p:nvPicPr>
        <p:blipFill>
          <a:blip r:embed="rId2"/>
          <a:srcRect r="2777" b="-23119"/>
          <a:stretch>
            <a:fillRect/>
          </a:stretch>
        </p:blipFill>
        <p:spPr>
          <a:xfrm>
            <a:off x="1547813" y="404813"/>
            <a:ext cx="3348037" cy="457200"/>
          </a:xfrm>
          <a:prstGeom prst="rect">
            <a:avLst/>
          </a:prstGeom>
          <a:noFill/>
          <a:ln w="9525">
            <a:noFill/>
          </a:ln>
        </p:spPr>
      </p:pic>
      <p:grpSp>
        <p:nvGrpSpPr>
          <p:cNvPr id="22531" name="Group 3"/>
          <p:cNvGrpSpPr/>
          <p:nvPr/>
        </p:nvGrpSpPr>
        <p:grpSpPr>
          <a:xfrm>
            <a:off x="5580063" y="404813"/>
            <a:ext cx="2879725" cy="287337"/>
            <a:chOff x="2064" y="2568"/>
            <a:chExt cx="1568" cy="156"/>
          </a:xfrm>
        </p:grpSpPr>
        <p:pic>
          <p:nvPicPr>
            <p:cNvPr id="22618" name="Picture 4"/>
            <p:cNvPicPr>
              <a:picLocks noChangeAspect="1"/>
            </p:cNvPicPr>
            <p:nvPr/>
          </p:nvPicPr>
          <p:blipFill>
            <a:blip r:embed="rId3"/>
            <a:stretch>
              <a:fillRect/>
            </a:stretch>
          </p:blipFill>
          <p:spPr>
            <a:xfrm>
              <a:off x="2064" y="2568"/>
              <a:ext cx="960" cy="150"/>
            </a:xfrm>
            <a:prstGeom prst="rect">
              <a:avLst/>
            </a:prstGeom>
            <a:noFill/>
            <a:ln w="9525">
              <a:noFill/>
            </a:ln>
          </p:spPr>
        </p:pic>
        <p:pic>
          <p:nvPicPr>
            <p:cNvPr id="22619" name="Picture 5"/>
            <p:cNvPicPr>
              <a:picLocks noChangeAspect="1"/>
            </p:cNvPicPr>
            <p:nvPr/>
          </p:nvPicPr>
          <p:blipFill>
            <a:blip r:embed="rId4"/>
            <a:stretch>
              <a:fillRect/>
            </a:stretch>
          </p:blipFill>
          <p:spPr>
            <a:xfrm>
              <a:off x="2864" y="2568"/>
              <a:ext cx="768" cy="156"/>
            </a:xfrm>
            <a:prstGeom prst="rect">
              <a:avLst/>
            </a:prstGeom>
            <a:noFill/>
            <a:ln w="9525">
              <a:noFill/>
            </a:ln>
          </p:spPr>
        </p:pic>
      </p:grpSp>
      <p:graphicFrame>
        <p:nvGraphicFramePr>
          <p:cNvPr id="126980" name="表格 126979"/>
          <p:cNvGraphicFramePr/>
          <p:nvPr/>
        </p:nvGraphicFramePr>
        <p:xfrm>
          <a:off x="900113" y="1412875"/>
          <a:ext cx="6985000" cy="3168650"/>
        </p:xfrm>
        <a:graphic>
          <a:graphicData uri="http://schemas.openxmlformats.org/drawingml/2006/table">
            <a:tbl>
              <a:tblPr/>
              <a:tblGrid>
                <a:gridCol w="912813">
                  <a:extLst>
                    <a:ext uri="{9D8B030D-6E8A-4147-A177-3AD203B41FA5}">
                      <a16:colId xmlns:a16="http://schemas.microsoft.com/office/drawing/2014/main" val="20000"/>
                    </a:ext>
                  </a:extLst>
                </a:gridCol>
                <a:gridCol w="1098550">
                  <a:extLst>
                    <a:ext uri="{9D8B030D-6E8A-4147-A177-3AD203B41FA5}">
                      <a16:colId xmlns:a16="http://schemas.microsoft.com/office/drawing/2014/main" val="20001"/>
                    </a:ext>
                  </a:extLst>
                </a:gridCol>
                <a:gridCol w="868362">
                  <a:extLst>
                    <a:ext uri="{9D8B030D-6E8A-4147-A177-3AD203B41FA5}">
                      <a16:colId xmlns:a16="http://schemas.microsoft.com/office/drawing/2014/main" val="20002"/>
                    </a:ext>
                  </a:extLst>
                </a:gridCol>
                <a:gridCol w="23177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231775">
                  <a:extLst>
                    <a:ext uri="{9D8B030D-6E8A-4147-A177-3AD203B41FA5}">
                      <a16:colId xmlns:a16="http://schemas.microsoft.com/office/drawing/2014/main" val="20006"/>
                    </a:ext>
                  </a:extLst>
                </a:gridCol>
                <a:gridCol w="957263">
                  <a:extLst>
                    <a:ext uri="{9D8B030D-6E8A-4147-A177-3AD203B41FA5}">
                      <a16:colId xmlns:a16="http://schemas.microsoft.com/office/drawing/2014/main" val="20007"/>
                    </a:ext>
                  </a:extLst>
                </a:gridCol>
                <a:gridCol w="957262">
                  <a:extLst>
                    <a:ext uri="{9D8B030D-6E8A-4147-A177-3AD203B41FA5}">
                      <a16:colId xmlns:a16="http://schemas.microsoft.com/office/drawing/2014/main" val="20008"/>
                    </a:ext>
                  </a:extLst>
                </a:gridCol>
              </a:tblGrid>
              <a:tr h="515938">
                <a:tc row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zh-CN" altLang="en-US" dirty="0">
                          <a:solidFill>
                            <a:schemeClr val="tx1"/>
                          </a:solidFill>
                          <a:effectLst>
                            <a:outerShdw blurRad="38100" dist="38100" dir="2700000">
                              <a:srgbClr val="C0C0C0"/>
                            </a:outerShdw>
                          </a:effectLst>
                          <a:latin typeface="Verdana" panose="020B0604030504040204" pitchFamily="34" charset="0"/>
                        </a:rPr>
                        <a:t>下标</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grid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A</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grid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B</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grid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A+B</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514350">
                <a:tc vMerge="1">
                  <a:txBody>
                    <a:bodyPr/>
                    <a:lstStyle/>
                    <a:p>
                      <a:endParaRPr lang="zh-CN"/>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coef</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exp</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coef</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exp</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coef</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exp</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7">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8</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4988">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22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657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9</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-9</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22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1812">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78121" name="Text Box 201"/>
          <p:cNvSpPr txBox="1">
            <a:spLocks noChangeArrowheads="1"/>
          </p:cNvSpPr>
          <p:nvPr/>
        </p:nvSpPr>
        <p:spPr bwMode="auto">
          <a:xfrm>
            <a:off x="395288" y="404813"/>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方案二</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线性表</a:t>
            </a:r>
          </a:p>
        </p:txBody>
      </p:sp>
      <p:sp>
        <p:nvSpPr>
          <p:cNvPr id="542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2.1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线性表的类型定义</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2.2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线性表的顺序表示和实现</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2.3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线性表的链式表示和实现</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2.3.1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线性链表</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mn-lt"/>
                <a:ea typeface="+mn-ea"/>
                <a:cs typeface="+mn-ea"/>
              </a:rPr>
              <a:t>2.3.2  </a:t>
            </a:r>
            <a:r>
              <a:rPr kumimoji="0" lang="zh-CN" altLang="en-US" sz="26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mn-lt"/>
                <a:ea typeface="+mn-ea"/>
                <a:cs typeface="+mn-ea"/>
              </a:rPr>
              <a:t>循环链表</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mn-lt"/>
                <a:ea typeface="+mn-ea"/>
                <a:cs typeface="+mn-ea"/>
              </a:rPr>
              <a:t>2.3.3  </a:t>
            </a:r>
            <a:r>
              <a:rPr kumimoji="0" lang="zh-CN" altLang="en-US" sz="26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mn-lt"/>
                <a:ea typeface="+mn-ea"/>
                <a:cs typeface="+mn-ea"/>
              </a:rPr>
              <a:t>双向链表</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2.4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一元多项式的表示及相加</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线性表的类型定义</a:t>
            </a:r>
          </a:p>
        </p:txBody>
      </p:sp>
      <p:sp>
        <p:nvSpPr>
          <p:cNvPr id="55299"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线性表</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(Linear List) </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：由</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n(n</a:t>
            </a:r>
            <a:r>
              <a:rPr kumimoji="0" lang="en-US"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0)</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个数据元素</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结点</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组成的有限序列。其中数据元素的个数</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定义为表的长度。当</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n=0</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时称为空表，常常将非空的线性表</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(n&gt;0)</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记作：</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这里的</a:t>
            </a:r>
            <a:r>
              <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数据元素</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(1≦i≦n)</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只是一个抽象的符号，其具体含义在不同的情况下可以不同。</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1. 26</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个英文字母组成的字母表</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B</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C</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Z</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 </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某校从</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1978</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年到</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1983</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年各种型号的计算机拥有量的变化情况。</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17</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28</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50</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92</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188</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3" name="Rectangle 3"/>
          <p:cNvSpPr>
            <a:spLocks noGrp="1" noChangeArrowheads="1"/>
          </p:cNvSpPr>
          <p:nvPr>
            <p:ph type="body" sz="half" idx="1"/>
          </p:nvPr>
        </p:nvSpPr>
        <p:spPr>
          <a:xfrm>
            <a:off x="611188" y="2060575"/>
            <a:ext cx="4679950" cy="596900"/>
          </a:xfrm>
        </p:spPr>
        <p:txBody>
          <a:bodyPr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anose="02010609030101010101" pitchFamily="49" charset="-122"/>
                <a:cs typeface="+mn-cs"/>
              </a:rPr>
              <a:t>例</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anose="02010609030101010101" pitchFamily="49" charset="-122"/>
                <a:cs typeface="+mn-cs"/>
              </a:rPr>
              <a:t>3.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anose="02010609030101010101" pitchFamily="49" charset="-122"/>
                <a:cs typeface="+mn-cs"/>
              </a:rPr>
              <a:t>学生健康情况登记表</a:t>
            </a:r>
          </a:p>
        </p:txBody>
      </p:sp>
      <p:graphicFrame>
        <p:nvGraphicFramePr>
          <p:cNvPr id="56373" name="Group 53"/>
          <p:cNvGraphicFramePr>
            <a:graphicFrameLocks noGrp="1"/>
          </p:cNvGraphicFramePr>
          <p:nvPr>
            <p:ph sz="half" idx="1"/>
          </p:nvPr>
        </p:nvGraphicFramePr>
        <p:xfrm>
          <a:off x="684213" y="3141663"/>
          <a:ext cx="7956550" cy="2378075"/>
        </p:xfrm>
        <a:graphic>
          <a:graphicData uri="http://schemas.openxmlformats.org/drawingml/2006/table">
            <a:tbl>
              <a:tblPr/>
              <a:tblGrid>
                <a:gridCol w="1593850">
                  <a:extLst>
                    <a:ext uri="{9D8B030D-6E8A-4147-A177-3AD203B41FA5}">
                      <a16:colId xmlns:a16="http://schemas.microsoft.com/office/drawing/2014/main" val="20000"/>
                    </a:ext>
                  </a:extLst>
                </a:gridCol>
                <a:gridCol w="1589087">
                  <a:extLst>
                    <a:ext uri="{9D8B030D-6E8A-4147-A177-3AD203B41FA5}">
                      <a16:colId xmlns:a16="http://schemas.microsoft.com/office/drawing/2014/main" val="20001"/>
                    </a:ext>
                  </a:extLst>
                </a:gridCol>
                <a:gridCol w="134937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gridCol w="2255838">
                  <a:extLst>
                    <a:ext uri="{9D8B030D-6E8A-4147-A177-3AD203B41FA5}">
                      <a16:colId xmlns:a16="http://schemas.microsoft.com/office/drawing/2014/main" val="20004"/>
                    </a:ext>
                  </a:extLst>
                </a:gridCol>
              </a:tblGrid>
              <a:tr h="39634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姓   名</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学    号</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性   别</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年龄</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健康情况</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王小林</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790631</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男</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18</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健康</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陈   红</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790632</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女</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20</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一般</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4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刘建平</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790633</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男</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21</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健康</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4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张立立</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790634</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男</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17</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神经衰弱</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4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a:t>
                      </a:r>
                    </a:p>
                  </a:txBody>
                  <a:tcPr marT="45732" marB="4573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r>
                        <a:rPr kumimoji="0" lang="en-US" altLang="zh-CN" sz="20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6374" name="Rectangle 54"/>
          <p:cNvSpPr>
            <a:spLocks noChangeArrowheads="1"/>
          </p:cNvSpPr>
          <p:nvPr/>
        </p:nvSpPr>
        <p:spPr bwMode="auto">
          <a:xfrm>
            <a:off x="611188" y="692150"/>
            <a:ext cx="8281988" cy="1081088"/>
          </a:xfrm>
          <a:prstGeom prst="rect">
            <a:avLst/>
          </a:prstGeom>
          <a:noFill/>
          <a:ln w="9525">
            <a:noFill/>
            <a:miter lim="800000"/>
          </a:ln>
          <a:effectLst/>
        </p:spPr>
        <p:txBody>
          <a:bodyPr/>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复杂的线性表</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数据元素由若干个数据项（</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item</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）组成，数据元素也称为记录（</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record</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），此时线性表又被称为文件（</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file</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仿宋_GB2312" panose="02010609030101010101" pitchFamily="49" charset="-122"/>
                <a:cs typeface="+mn-cs"/>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56373"/>
                                        </p:tgtEl>
                                        <p:attrNameLst>
                                          <p:attrName>style.visibility</p:attrName>
                                        </p:attrNameLst>
                                      </p:cBhvr>
                                      <p:to>
                                        <p:strVal val="visible"/>
                                      </p:to>
                                    </p:set>
                                    <p:animEffect transition="in" filter="barn(outHorizontal)">
                                      <p:cBhvr>
                                        <p:cTn id="7" dur="500"/>
                                        <p:tgtEl>
                                          <p:spTgt spid="56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线性表性质</a:t>
            </a:r>
          </a:p>
        </p:txBody>
      </p:sp>
      <p:sp>
        <p:nvSpPr>
          <p:cNvPr id="58371"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若将线性表记为</a:t>
            </a:r>
          </a:p>
          <a:p>
            <a:pPr marL="0" marR="0" lvl="0" indent="0" algn="ctr"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 </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则</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的直接前驱元素，</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的直接后继元素。下标</a:t>
            </a:r>
            <a:r>
              <a:rPr kumimoji="0" lang="en-US" altLang="zh-CN" sz="22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是元素</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在线性表中的</a:t>
            </a:r>
            <a:r>
              <a:rPr kumimoji="0" lang="zh-CN" altLang="en-US" sz="22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mn-lt"/>
                <a:ea typeface="+mn-ea"/>
                <a:cs typeface="+mn-cs"/>
              </a:rPr>
              <a:t>位序</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那么：</a:t>
            </a:r>
          </a:p>
          <a:p>
            <a:pPr marL="0" marR="0" lvl="0" indent="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Char char="Ø"/>
              <a:defRPr/>
            </a:pP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在非空的线性表，有且仅有一个开始结点</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，它没有直接前驱，而仅有一个直接后继</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2</a:t>
            </a: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Char char="Ø"/>
              <a:defRPr/>
            </a:pP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有且仅有一个终端结点</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n</a:t>
            </a: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，它没有直接后继，而仅有一个直接前驱</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n-1</a:t>
            </a: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Char char="Ø"/>
              <a:defRPr/>
            </a:pP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其余的内部结点</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i</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(2</a:t>
            </a:r>
            <a:r>
              <a:rPr kumimoji="0" lang="en-US"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i</a:t>
            </a:r>
            <a:r>
              <a:rPr kumimoji="0" lang="en-US"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 n-1)</a:t>
            </a: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都有且仅有一个直接前驱</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i-1</a:t>
            </a:r>
            <a:r>
              <a:rPr kumimoji="0" lang="zh-CN" altLang="en-US"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和一个直接后继</a:t>
            </a:r>
            <a:r>
              <a:rPr kumimoji="0" lang="en-US" altLang="zh-CN" sz="2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a</a:t>
            </a:r>
            <a:r>
              <a:rPr kumimoji="0" lang="en-US" altLang="zh-CN" sz="2200" b="1" i="0" u="none" strike="noStrike" kern="0" cap="none" spc="0" normalizeH="0" baseline="-25000" noProof="0" dirty="0">
                <a:ln>
                  <a:noFill/>
                </a:ln>
                <a:solidFill>
                  <a:srgbClr val="000000"/>
                </a:solidFill>
                <a:effectLst>
                  <a:outerShdw blurRad="38100" dist="38100" dir="2700000" algn="tl">
                    <a:srgbClr val="C0C0C0"/>
                  </a:outerShdw>
                </a:effectLst>
                <a:uLnTx/>
                <a:uFillTx/>
                <a:latin typeface="+mn-lt"/>
                <a:ea typeface="+mn-ea"/>
                <a:cs typeface="+mn-cs"/>
              </a:rPr>
              <a:t>i+1</a:t>
            </a:r>
          </a:p>
          <a:p>
            <a:pPr marL="0" marR="0" lvl="0" indent="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长度可变（插入和删除）</a:t>
            </a:r>
          </a:p>
          <a:p>
            <a:pPr marL="0" marR="0" lvl="0" indent="0" algn="ctr"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0" y="73025"/>
            <a:ext cx="2555875" cy="260350"/>
          </a:xfrm>
        </p:spPr>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线性表的抽象类型定义</a:t>
            </a:r>
          </a:p>
        </p:txBody>
      </p:sp>
      <p:pic>
        <p:nvPicPr>
          <p:cNvPr id="27651" name="20 1"/>
          <p:cNvPicPr>
            <a:picLocks noChangeAspect="1"/>
          </p:cNvPicPr>
          <p:nvPr>
            <p:custDataLst>
              <p:tags r:id="rId1"/>
            </p:custDataLst>
          </p:nvPr>
        </p:nvPicPr>
        <p:blipFill>
          <a:blip r:embed="rId3"/>
          <a:stretch>
            <a:fillRect/>
          </a:stretch>
        </p:blipFill>
        <p:spPr>
          <a:xfrm>
            <a:off x="514350" y="320675"/>
            <a:ext cx="8266113" cy="6332538"/>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74" name="20 1"/>
          <p:cNvPicPr>
            <a:picLocks noChangeAspect="1"/>
          </p:cNvPicPr>
          <p:nvPr/>
        </p:nvPicPr>
        <p:blipFill>
          <a:blip r:embed="rId3"/>
          <a:stretch>
            <a:fillRect/>
          </a:stretch>
        </p:blipFill>
        <p:spPr>
          <a:xfrm>
            <a:off x="611188" y="188913"/>
            <a:ext cx="7396162" cy="2938462"/>
          </a:xfrm>
          <a:prstGeom prst="rect">
            <a:avLst/>
          </a:prstGeom>
          <a:noFill/>
          <a:ln w="9525">
            <a:noFill/>
          </a:ln>
        </p:spPr>
      </p:pic>
      <p:pic>
        <p:nvPicPr>
          <p:cNvPr id="28675" name="20 2"/>
          <p:cNvPicPr>
            <a:picLocks noChangeAspect="1"/>
          </p:cNvPicPr>
          <p:nvPr/>
        </p:nvPicPr>
        <p:blipFill>
          <a:blip r:embed="rId4"/>
          <a:stretch>
            <a:fillRect/>
          </a:stretch>
        </p:blipFill>
        <p:spPr>
          <a:xfrm>
            <a:off x="250825" y="3141663"/>
            <a:ext cx="7769225" cy="173672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线性表复杂操作</a:t>
            </a:r>
          </a:p>
        </p:txBody>
      </p:sp>
      <p:pic>
        <p:nvPicPr>
          <p:cNvPr id="30723" name="20 1"/>
          <p:cNvPicPr>
            <a:picLocks noChangeAspect="1"/>
          </p:cNvPicPr>
          <p:nvPr/>
        </p:nvPicPr>
        <p:blipFill>
          <a:blip r:embed="rId2"/>
          <a:stretch>
            <a:fillRect/>
          </a:stretch>
        </p:blipFill>
        <p:spPr>
          <a:xfrm>
            <a:off x="611188" y="1773238"/>
            <a:ext cx="7843837" cy="4346575"/>
          </a:xfrm>
          <a:prstGeom prst="rect">
            <a:avLst/>
          </a:prstGeom>
          <a:noFill/>
          <a:ln w="9525">
            <a:noFill/>
          </a:ln>
        </p:spPr>
      </p:pic>
      <p:sp>
        <p:nvSpPr>
          <p:cNvPr id="62469" name="Line 5"/>
          <p:cNvSpPr>
            <a:spLocks noChangeShapeType="1"/>
          </p:cNvSpPr>
          <p:nvPr/>
        </p:nvSpPr>
        <p:spPr bwMode="auto">
          <a:xfrm>
            <a:off x="2411413" y="3573463"/>
            <a:ext cx="287338" cy="0"/>
          </a:xfrm>
          <a:prstGeom prst="line">
            <a:avLst/>
          </a:prstGeom>
          <a:noFill/>
          <a:ln w="285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2470" name="Line 6"/>
          <p:cNvSpPr>
            <a:spLocks noChangeShapeType="1"/>
          </p:cNvSpPr>
          <p:nvPr/>
        </p:nvSpPr>
        <p:spPr bwMode="auto">
          <a:xfrm>
            <a:off x="5219700" y="4868863"/>
            <a:ext cx="792163" cy="0"/>
          </a:xfrm>
          <a:prstGeom prst="line">
            <a:avLst/>
          </a:prstGeom>
          <a:noFill/>
          <a:ln w="285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30726" name="20 2"/>
          <p:cNvPicPr>
            <a:picLocks noChangeAspect="1"/>
          </p:cNvPicPr>
          <p:nvPr/>
        </p:nvPicPr>
        <p:blipFill>
          <a:blip r:embed="rId3"/>
          <a:stretch>
            <a:fillRect/>
          </a:stretch>
        </p:blipFill>
        <p:spPr>
          <a:xfrm>
            <a:off x="682625" y="6165850"/>
            <a:ext cx="7826375" cy="5365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线性表复杂操作</a:t>
            </a:r>
          </a:p>
        </p:txBody>
      </p:sp>
      <p:pic>
        <p:nvPicPr>
          <p:cNvPr id="32771" name="20 1"/>
          <p:cNvPicPr>
            <a:picLocks noChangeAspect="1"/>
          </p:cNvPicPr>
          <p:nvPr/>
        </p:nvPicPr>
        <p:blipFill>
          <a:blip r:embed="rId2"/>
          <a:stretch>
            <a:fillRect/>
          </a:stretch>
        </p:blipFill>
        <p:spPr>
          <a:xfrm>
            <a:off x="288925" y="1520825"/>
            <a:ext cx="8286750" cy="3879850"/>
          </a:xfrm>
          <a:prstGeom prst="rect">
            <a:avLst/>
          </a:prstGeom>
          <a:noFill/>
          <a:ln w="9525">
            <a:noFill/>
          </a:ln>
        </p:spPr>
      </p:pic>
      <p:sp>
        <p:nvSpPr>
          <p:cNvPr id="64519" name="Line 7"/>
          <p:cNvSpPr>
            <a:spLocks noChangeShapeType="1"/>
          </p:cNvSpPr>
          <p:nvPr/>
        </p:nvSpPr>
        <p:spPr bwMode="auto">
          <a:xfrm>
            <a:off x="4324350" y="3429000"/>
            <a:ext cx="215900" cy="0"/>
          </a:xfrm>
          <a:prstGeom prst="line">
            <a:avLst/>
          </a:prstGeom>
          <a:noFill/>
          <a:ln w="127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4520" name="Line 8"/>
          <p:cNvSpPr>
            <a:spLocks noChangeShapeType="1"/>
          </p:cNvSpPr>
          <p:nvPr/>
        </p:nvSpPr>
        <p:spPr bwMode="auto">
          <a:xfrm>
            <a:off x="5075238" y="3429000"/>
            <a:ext cx="215900" cy="0"/>
          </a:xfrm>
          <a:prstGeom prst="line">
            <a:avLst/>
          </a:prstGeom>
          <a:noFill/>
          <a:ln w="127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32774" name="20 2"/>
          <p:cNvPicPr>
            <a:picLocks noChangeAspect="1"/>
          </p:cNvPicPr>
          <p:nvPr/>
        </p:nvPicPr>
        <p:blipFill>
          <a:blip r:embed="rId3"/>
          <a:stretch>
            <a:fillRect/>
          </a:stretch>
        </p:blipFill>
        <p:spPr>
          <a:xfrm>
            <a:off x="611188" y="5445125"/>
            <a:ext cx="7853362" cy="712788"/>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794" name="20 1"/>
          <p:cNvPicPr>
            <a:picLocks noChangeAspect="1"/>
          </p:cNvPicPr>
          <p:nvPr/>
        </p:nvPicPr>
        <p:blipFill>
          <a:blip r:embed="rId2"/>
          <a:stretch>
            <a:fillRect/>
          </a:stretch>
        </p:blipFill>
        <p:spPr>
          <a:xfrm>
            <a:off x="466725" y="260350"/>
            <a:ext cx="7508875" cy="651192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时间复杂度</a:t>
            </a:r>
          </a:p>
        </p:txBody>
      </p:sp>
      <p:sp>
        <p:nvSpPr>
          <p:cNvPr id="675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假设</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GetElem</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ListInsert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操作时间与表长无关，</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locateElem</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操作时间与表长成正比则：</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算法</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2.1 O(ListLength(LA)*ListLength(LB))</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算法</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2.2 O(ListLength(LA)+ListLength(LB))</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2.2 </a:t>
            </a:r>
            <a:r>
              <a:rPr kumimoji="0" lang="zh-CN" altLang="en-US" sz="36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线性表的顺序表示和实现</a:t>
            </a:r>
          </a:p>
        </p:txBody>
      </p:sp>
      <p:sp>
        <p:nvSpPr>
          <p:cNvPr id="68611" name="Rectangle 3"/>
          <p:cNvSpPr>
            <a:spLocks noGrp="1" noChangeArrowheads="1"/>
          </p:cNvSpPr>
          <p:nvPr>
            <p:ph idx="1"/>
          </p:nvPr>
        </p:nvSpPr>
        <p:spPr/>
        <p:txBody>
          <a:bodyPr vert="horz" wrap="square" lIns="91440" tIns="45720" rIns="91440" bIns="45720" numCol="1" anchor="t" anchorCtr="0" compatLnSpc="1"/>
          <a:lstStyle/>
          <a:p>
            <a:pPr marL="0" marR="0" lvl="0" indent="53975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把线性表的结点按逻辑顺序依次存放在一组地址连续的存储单元里。用这种方法存储的线性表简称</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顺序表</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53975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假设线性表的每个元素需占用</a:t>
            </a:r>
            <a:r>
              <a:rPr kumimoji="0" lang="en-US" altLang="zh-CN" sz="22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个存储单元，并以所占的第一个单元的存储地址作为数据元素的存储位置。则线性表中第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个数据元素的存储位置</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 a</a:t>
            </a:r>
            <a:r>
              <a:rPr kumimoji="0" lang="en-US" altLang="zh-CN" sz="2200" b="1" i="0" u="none" strike="noStrike" kern="0" cap="none" spc="0" normalizeH="0" baseline="-24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个数据元素的存储位置</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LOC(a</a:t>
            </a:r>
            <a:r>
              <a:rPr kumimoji="0" lang="en-US" altLang="zh-CN" sz="22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之间满足下列关系：</a:t>
            </a:r>
          </a:p>
          <a:p>
            <a:pPr marL="0" marR="0" lvl="0" indent="539750" algn="ctr"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LOC(a</a:t>
            </a:r>
            <a:r>
              <a:rPr kumimoji="0" lang="en-US" altLang="zh-CN" sz="22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)=LOC(a</a:t>
            </a:r>
            <a:r>
              <a:rPr kumimoji="0" lang="en-US" altLang="zh-CN" sz="22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2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p>
          <a:p>
            <a:pPr marL="0" marR="0" lvl="0" indent="53975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线性表的第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个数据元素</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22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的存储位置为：</a:t>
            </a:r>
          </a:p>
          <a:p>
            <a:pPr marL="0" marR="0" lvl="0" indent="539750" algn="ctr"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LOC(a</a:t>
            </a:r>
            <a:r>
              <a:rPr kumimoji="0" lang="en-US" altLang="zh-CN" sz="22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)=LOC(a</a:t>
            </a:r>
            <a:r>
              <a:rPr kumimoji="0" lang="en-US" altLang="zh-CN" sz="22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en-US" altLang="zh-CN" sz="22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p>
          <a:p>
            <a:pPr marL="0" marR="0" lvl="0" indent="53975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顺序表特性</a:t>
            </a:r>
          </a:p>
        </p:txBody>
      </p:sp>
      <p:sp>
        <p:nvSpPr>
          <p:cNvPr id="69635" name="Rectangle 3"/>
          <p:cNvSpPr>
            <a:spLocks noGrp="1" noChangeArrowheads="1"/>
          </p:cNvSpPr>
          <p:nvPr>
            <p:ph idx="1"/>
          </p:nvPr>
        </p:nvSpPr>
        <p:spPr>
          <a:xfrm>
            <a:off x="566738" y="1752600"/>
            <a:ext cx="3068638"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只要确定了存储线性表的起始位置，表中任何一个元素都可以</a:t>
            </a:r>
            <a:r>
              <a:rPr kumimoji="0" lang="zh-CN" altLang="en-US" sz="30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随机存取</a:t>
            </a:r>
          </a:p>
        </p:txBody>
      </p:sp>
      <p:pic>
        <p:nvPicPr>
          <p:cNvPr id="36868" name="20 1"/>
          <p:cNvPicPr>
            <a:picLocks noChangeAspect="1"/>
          </p:cNvPicPr>
          <p:nvPr>
            <p:custDataLst>
              <p:tags r:id="rId1"/>
            </p:custDataLst>
          </p:nvPr>
        </p:nvPicPr>
        <p:blipFill>
          <a:blip r:embed="rId3"/>
          <a:stretch>
            <a:fillRect/>
          </a:stretch>
        </p:blipFill>
        <p:spPr>
          <a:xfrm>
            <a:off x="3995738" y="1557338"/>
            <a:ext cx="4062412" cy="44958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顺序表的</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C</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语言定义</a:t>
            </a:r>
          </a:p>
        </p:txBody>
      </p:sp>
      <p:sp>
        <p:nvSpPr>
          <p:cNvPr id="70659" name="Rectangle 3"/>
          <p:cNvSpPr>
            <a:spLocks noGrp="1" noChangeArrowheads="1"/>
          </p:cNvSpPr>
          <p:nvPr>
            <p:ph idx="1"/>
          </p:nvPr>
        </p:nvSpPr>
        <p:spPr>
          <a:xfrm>
            <a:off x="566738" y="1752600"/>
            <a:ext cx="7966075" cy="12446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由于</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C</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语言中的一维数组也是采用顺序存储表示，故可以用数组类型来描述顺序表。又因为除了用数组来存储线性表的元素之外，顺序表还应该用一个变量来表示线性表的长度属性，所以我们用结构类型来定义顺序表类型</a:t>
            </a:r>
          </a:p>
        </p:txBody>
      </p:sp>
      <p:pic>
        <p:nvPicPr>
          <p:cNvPr id="37892" name="20 1"/>
          <p:cNvPicPr>
            <a:picLocks noChangeAspect="1"/>
          </p:cNvPicPr>
          <p:nvPr/>
        </p:nvPicPr>
        <p:blipFill>
          <a:blip r:embed="rId2"/>
          <a:stretch>
            <a:fillRect/>
          </a:stretch>
        </p:blipFill>
        <p:spPr>
          <a:xfrm>
            <a:off x="73025" y="3228975"/>
            <a:ext cx="9070975" cy="274637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顺序表上的基本操作</a:t>
            </a:r>
          </a:p>
        </p:txBody>
      </p:sp>
      <p:sp>
        <p:nvSpPr>
          <p:cNvPr id="7168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初始化</a:t>
            </a:r>
          </a:p>
        </p:txBody>
      </p:sp>
      <p:pic>
        <p:nvPicPr>
          <p:cNvPr id="38916" name="20 1"/>
          <p:cNvPicPr>
            <a:picLocks noChangeAspect="1"/>
          </p:cNvPicPr>
          <p:nvPr/>
        </p:nvPicPr>
        <p:blipFill>
          <a:blip r:embed="rId2"/>
          <a:stretch>
            <a:fillRect/>
          </a:stretch>
        </p:blipFill>
        <p:spPr>
          <a:xfrm>
            <a:off x="395288" y="2708275"/>
            <a:ext cx="8469312" cy="3490913"/>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顺序表上的基本操作</a:t>
            </a:r>
          </a:p>
        </p:txBody>
      </p:sp>
      <p:sp>
        <p:nvSpPr>
          <p:cNvPr id="72707"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第</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个元素的访问</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注意：</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C</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语言中的数组下标从“</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0”</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开始，因此，若</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Sqlist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类型的顺序表，则表中第</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个元素是</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L.elem[i-1]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前情提要</a:t>
            </a:r>
          </a:p>
        </p:txBody>
      </p:sp>
      <p:sp>
        <p:nvSpPr>
          <p:cNvPr id="53251" name="Rectangle 3"/>
          <p:cNvSpPr>
            <a:spLocks noGrp="1" noChangeArrowheads="1"/>
          </p:cNvSpPr>
          <p:nvPr>
            <p:ph idx="1"/>
          </p:nvPr>
        </p:nvSpPr>
        <p:spPr>
          <a:xfrm>
            <a:off x="303213" y="1752600"/>
            <a:ext cx="8528050" cy="4267200"/>
          </a:xfrm>
        </p:spPr>
        <p:txBody>
          <a:bodyPr vert="horz" wrap="square" lIns="91440" tIns="45720" rIns="91440" bIns="45720" numCol="1" anchor="t" anchorCtr="0" compatLnSpc="1"/>
          <a:lstStyle/>
          <a:p>
            <a:pPr marL="514350" marR="0" lvl="0" indent="-51435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时间复杂度、空间复杂度</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514350" marR="0" lvl="0" indent="-51435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线性表的定义和性质</a:t>
            </a:r>
          </a:p>
          <a:p>
            <a:pPr marL="514350" marR="0" lvl="0" indent="-51435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线性表抽象类型定义</a:t>
            </a:r>
          </a:p>
          <a:p>
            <a:pPr marL="0" marR="0" lvl="0" indent="0" algn="l" defTabSz="914400" rtl="0" eaLnBrk="1" fontAlgn="base" latinLnBrk="0" hangingPunct="1">
              <a:lnSpc>
                <a:spcPct val="150000"/>
              </a:lnSpc>
              <a:spcBef>
                <a:spcPct val="20000"/>
              </a:spcBef>
              <a:spcAft>
                <a:spcPct val="0"/>
              </a:spcAft>
              <a:buClr>
                <a:schemeClr val="accent2"/>
              </a:buClr>
              <a:buSzTx/>
              <a:buFont typeface="+mj-lt"/>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（包括的操作有：建立、销毁、插入元素、元素值比较等）</a:t>
            </a: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C00000"/>
                </a:solidFill>
                <a:effectLst>
                  <a:outerShdw blurRad="38100" dist="38100" dir="2700000" algn="tl">
                    <a:srgbClr val="C0C0C0"/>
                  </a:outerShdw>
                </a:effectLst>
                <a:uLnTx/>
                <a:uFillTx/>
                <a:latin typeface="+mn-lt"/>
                <a:ea typeface="+mn-ea"/>
                <a:cs typeface="+mn-cs"/>
              </a:rPr>
              <a:t>4.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线性表的存储方式：</a:t>
            </a:r>
            <a:r>
              <a:rPr kumimoji="0" lang="zh-CN" altLang="en-US" sz="2400" b="1" i="0" u="sng" strike="noStrike" kern="0" cap="none" spc="0" normalizeH="0" baseline="0" noProof="0" dirty="0">
                <a:ln>
                  <a:noFill/>
                </a:ln>
                <a:solidFill>
                  <a:srgbClr val="C00000"/>
                </a:solidFill>
                <a:effectLst>
                  <a:outerShdw blurRad="38100" dist="38100" dir="2700000" algn="tl">
                    <a:srgbClr val="C0C0C0"/>
                  </a:outerShdw>
                </a:effectLst>
                <a:uLnTx/>
                <a:uFillTx/>
                <a:latin typeface="+mn-lt"/>
                <a:ea typeface="+mn-ea"/>
                <a:cs typeface="+mn-cs"/>
              </a:rPr>
              <a:t>顺序表</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，链式表</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C00000"/>
                </a:solidFill>
                <a:effectLst>
                  <a:outerShdw blurRad="38100" dist="38100" dir="2700000" algn="tl">
                    <a:srgbClr val="C0C0C0"/>
                  </a:outerShdw>
                </a:effectLst>
                <a:uLnTx/>
                <a:uFillTx/>
                <a:latin typeface="+mn-lt"/>
                <a:ea typeface="+mn-ea"/>
                <a:cs typeface="+mn-cs"/>
              </a:rPr>
              <a:t>5.</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对线性表定义中基本操作的应用（算法</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仿宋_GB2312" panose="02010609030101010101" pitchFamily="49" charset="-122"/>
                <a:ea typeface="仿宋_GB2312" panose="02010609030101010101" pitchFamily="49" charset="-122"/>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cs typeface="+mn-cs"/>
              </a:rPr>
              <a:t>算法2.2</a:t>
            </a:r>
            <a:r>
              <a:rPr lang="en-US" altLang="zh-CN" sz="2400" noProof="0" dirty="0">
                <a:ln>
                  <a:noFill/>
                </a:ln>
                <a:uLnTx/>
                <a:uFillTx/>
                <a:latin typeface="仿宋_GB2312" panose="02010609030101010101" pitchFamily="49" charset="-122"/>
                <a:ea typeface="仿宋_GB2312" panose="02010609030101010101" pitchFamily="49" charset="-122"/>
                <a:sym typeface="+mn-ea"/>
              </a:rPr>
              <a:t>、</a:t>
            </a:r>
            <a:r>
              <a:rPr lang="zh-CN" altLang="en-US" sz="2400" noProof="0" dirty="0">
                <a:ln>
                  <a:noFill/>
                </a:ln>
                <a:uLnTx/>
                <a:uFillTx/>
                <a:sym typeface="+mn-ea"/>
              </a:rPr>
              <a:t>算法2.3</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mj-lt"/>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3213" y="1752600"/>
            <a:ext cx="8528050" cy="4267200"/>
          </a:xfrm>
        </p:spPr>
        <p:txBody>
          <a:bodyPr vert="horz" wrap="square" lIns="91440" tIns="45720" rIns="91440" bIns="45720" numCol="1" anchor="t" anchorCtr="0" compatLnSpc="1"/>
          <a:lstStyle/>
          <a:p>
            <a:pPr marL="514350" marR="0" lvl="0" indent="-51435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顺序表定义</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514350" marR="0" lvl="0" indent="-51435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线性表的第</a:t>
            </a:r>
            <a:r>
              <a:rPr kumimoji="0" lang="en-US" altLang="zh-CN" sz="24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个数据元素</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ai</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的存储位置为：</a:t>
            </a: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LOC(ai)=LOC(a1)+(i-1)*l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随机存取</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514350" marR="0" lvl="0" indent="-514350" algn="l" defTabSz="914400" rtl="0" eaLnBrk="1" fontAlgn="base" latinLnBrk="0" hangingPunct="1">
              <a:lnSpc>
                <a:spcPct val="150000"/>
              </a:lnSpc>
              <a:spcBef>
                <a:spcPct val="20000"/>
              </a:spcBef>
              <a:spcAft>
                <a:spcPct val="0"/>
              </a:spcAft>
              <a:buClr>
                <a:schemeClr val="accent2"/>
              </a:buClr>
              <a:buSzTx/>
              <a:buFont typeface="+mj-lt"/>
              <a:buAutoNum type="arabicPeriod"/>
              <a:defRPr/>
            </a:pP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mj-lt"/>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3.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顺序表的</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C</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语言定义</a:t>
            </a:r>
          </a:p>
        </p:txBody>
      </p:sp>
      <p:sp>
        <p:nvSpPr>
          <p:cNvPr id="70659" name="Rectangle 3"/>
          <p:cNvSpPr>
            <a:spLocks noGrp="1" noChangeArrowheads="1"/>
          </p:cNvSpPr>
          <p:nvPr>
            <p:ph idx="1"/>
          </p:nvPr>
        </p:nvSpPr>
        <p:spPr>
          <a:xfrm>
            <a:off x="566738" y="1752600"/>
            <a:ext cx="7966075" cy="12446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由于</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C</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语言中的一维数组也是采用顺序存储表示，故可以用数组类型来描述顺序表。又因为除了用数组来存储线性表的元素之外，顺序表还应该用一个变量来表示线性表的长度属性，所以我们用结构类型来定义顺序表类型</a:t>
            </a:r>
          </a:p>
        </p:txBody>
      </p:sp>
      <p:pic>
        <p:nvPicPr>
          <p:cNvPr id="55300" name="20 1"/>
          <p:cNvPicPr>
            <a:picLocks noChangeAspect="1"/>
          </p:cNvPicPr>
          <p:nvPr>
            <p:custDataLst>
              <p:tags r:id="rId1"/>
            </p:custDataLst>
          </p:nvPr>
        </p:nvPicPr>
        <p:blipFill>
          <a:blip r:embed="rId3"/>
          <a:stretch>
            <a:fillRect/>
          </a:stretch>
        </p:blipFill>
        <p:spPr>
          <a:xfrm>
            <a:off x="39688" y="2997200"/>
            <a:ext cx="9070975" cy="2746375"/>
          </a:xfrm>
          <a:prstGeom prst="rect">
            <a:avLst/>
          </a:prstGeom>
          <a:noFill/>
          <a:ln w="9525">
            <a:noFill/>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3213" y="1752600"/>
            <a:ext cx="8528050" cy="4267200"/>
          </a:xfrm>
        </p:spPr>
        <p:txBody>
          <a:bodyPr vert="horz" wrap="square" lIns="91440" tIns="45720" rIns="91440" bIns="45720" numCol="1" anchor="t" anchorCtr="0" compatLnSpc="1"/>
          <a:lstStyle/>
          <a:p>
            <a:pPr marL="457200" marR="0" lvl="0" indent="-457200" algn="l" defTabSz="914400" rtl="0" eaLnBrk="1" fontAlgn="base" latinLnBrk="0" hangingPunct="1">
              <a:lnSpc>
                <a:spcPct val="150000"/>
              </a:lnSpc>
              <a:spcBef>
                <a:spcPct val="20000"/>
              </a:spcBef>
              <a:spcAft>
                <a:spcPct val="0"/>
              </a:spcAft>
              <a:buClr>
                <a:schemeClr val="accent2"/>
              </a:buClr>
              <a:buSzTx/>
              <a:buFont typeface="+mj-lt"/>
              <a:buAutoNum type="arabicPeriod" startAt="4"/>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插入操作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在第</a:t>
            </a:r>
            <a:r>
              <a:rPr kumimoji="0" lang="en-US" altLang="zh-CN" sz="24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元素前插入，则需将第</a:t>
            </a:r>
            <a:r>
              <a:rPr kumimoji="0" lang="en-US" altLang="zh-CN" sz="24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至第</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（共</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）个元素后移一个位置</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mj-lt"/>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插入操作</a:t>
            </a:r>
          </a:p>
        </p:txBody>
      </p:sp>
      <p:sp>
        <p:nvSpPr>
          <p:cNvPr id="73731" name="Rectangle 3"/>
          <p:cNvSpPr>
            <a:spLocks noGrp="1" noChangeArrowheads="1"/>
          </p:cNvSpPr>
          <p:nvPr>
            <p:ph idx="1"/>
          </p:nvPr>
        </p:nvSpPr>
        <p:spPr>
          <a:xfrm>
            <a:off x="566738" y="1752600"/>
            <a:ext cx="4149725"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在第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个元素与第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个元素之间插入一个新元素，即使长度为</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的线性表</a:t>
            </a: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 </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变成长度为</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的线性表</a:t>
            </a: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 </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x</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由于物理位置上的相邻，则除非在表尾插入，否则必须移动元素</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在第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元素前插入，则需将第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至第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（共</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）个元素后移一个位置</a:t>
            </a:r>
          </a:p>
        </p:txBody>
      </p:sp>
      <p:pic>
        <p:nvPicPr>
          <p:cNvPr id="40964" name="20 1"/>
          <p:cNvPicPr>
            <a:picLocks noChangeAspect="1"/>
          </p:cNvPicPr>
          <p:nvPr/>
        </p:nvPicPr>
        <p:blipFill>
          <a:blip r:embed="rId3"/>
          <a:stretch>
            <a:fillRect/>
          </a:stretch>
        </p:blipFill>
        <p:spPr>
          <a:xfrm>
            <a:off x="4787900" y="836613"/>
            <a:ext cx="3270250" cy="5265737"/>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010" name="20 1"/>
          <p:cNvPicPr>
            <a:picLocks noChangeAspect="1"/>
          </p:cNvPicPr>
          <p:nvPr/>
        </p:nvPicPr>
        <p:blipFill>
          <a:blip r:embed="rId2"/>
          <a:stretch>
            <a:fillRect/>
          </a:stretch>
        </p:blipFill>
        <p:spPr>
          <a:xfrm>
            <a:off x="323850" y="195263"/>
            <a:ext cx="8297863" cy="646747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时间复杂度</a:t>
            </a:r>
          </a:p>
        </p:txBody>
      </p:sp>
      <p:sp>
        <p:nvSpPr>
          <p:cNvPr id="77827" name="Rectangle 3"/>
          <p:cNvSpPr>
            <a:spLocks noGrp="1" noChangeArrowheads="1"/>
          </p:cNvSpPr>
          <p:nvPr>
            <p:ph idx="1"/>
          </p:nvPr>
        </p:nvSpPr>
        <p:spPr/>
        <p:txBody>
          <a:bodyPr vert="horz" wrap="square" lIns="91440" tIns="45720" rIns="91440" bIns="45720" numCol="1" anchor="t" anchorCtr="0" compatLnSpc="1"/>
          <a:lstStyle/>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Char char="o"/>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这里的问题规模是表的长度，设它的值为</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。该算法的时间主要耗费在循环的元素后移语句上，所需移动次数不仅依赖于表的长度，而且还与插入位置有关。</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Char char="o"/>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最好情况：当</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时，循环变量的终值大于初值，后移语句不进行，则时间复杂度为</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Char char="o"/>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最坏情况：当</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时，后移语句将循环执行</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次，需移动表中所有结点，则时间复杂度为</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Char char="o"/>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平均复杂度：</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在长度为</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的线性表中第</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个位置上插入一个结点，令</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is</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表示移动结点的期望值（即移动的平均次数），则在第</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个位置上插入一个结点的移动次数为</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n-i+1</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，故</a:t>
            </a:r>
          </a:p>
          <a:p>
            <a:pPr marL="0" marR="0" lvl="0" indent="360680" algn="ctr"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is</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(n-i+1)</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i=1~n+1</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不失一般性，假设在表中任何位置</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en-US" altLang="en-US" sz="1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 </a:t>
            </a:r>
            <a:r>
              <a:rPr kumimoji="0" lang="en-US" altLang="en-US" sz="1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n+1)</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上插入结点的机会是均等的，则</a:t>
            </a:r>
          </a:p>
          <a:p>
            <a:pPr marL="0" marR="0" lvl="0" indent="360680" algn="ctr"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3</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 </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n+1</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=1/(n+1)</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因此，在等概率插入的情况下，</a:t>
            </a:r>
          </a:p>
          <a:p>
            <a:pPr marL="0" marR="0" lvl="0" indent="360680" algn="ctr"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is</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(n-i+1)/(n+1)=n/2</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i=1~n+1</a:t>
            </a:r>
          </a:p>
          <a:p>
            <a:pPr marL="0" marR="0" lvl="0" indent="360680" algn="l" defTabSz="914400" rtl="0" eaLnBrk="1" fontAlgn="base" latinLnBrk="0" hangingPunct="1">
              <a:lnSpc>
                <a:spcPct val="95000"/>
              </a:lnSpc>
              <a:spcBef>
                <a:spcPct val="20000"/>
              </a:spcBef>
              <a:spcAft>
                <a:spcPct val="0"/>
              </a:spcAft>
              <a:buClr>
                <a:schemeClr val="accent2"/>
              </a:buClr>
              <a:buSzTx/>
              <a:buFont typeface="Wingdings" panose="05000000000000000000" pitchFamily="2" charset="2"/>
              <a:buNone/>
              <a:defRPr/>
            </a:pP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也就是说，在顺序表上做插入运算，平均要移动表上一半结点。当表长 </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较大时，算法的效率相当低。虽然</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is</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中</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的的系数较小，但就数量级而言，它仍然是线性阶的。因此算法的平均时间复杂度为</a:t>
            </a:r>
            <a:r>
              <a:rPr kumimoji="0" lang="en-US" altLang="zh-CN" sz="1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删除操作</a:t>
            </a:r>
          </a:p>
        </p:txBody>
      </p:sp>
      <p:sp>
        <p:nvSpPr>
          <p:cNvPr id="75779" name="Rectangle 3"/>
          <p:cNvSpPr>
            <a:spLocks noGrp="1" noChangeArrowheads="1"/>
          </p:cNvSpPr>
          <p:nvPr>
            <p:ph idx="1"/>
          </p:nvPr>
        </p:nvSpPr>
        <p:spPr>
          <a:xfrm>
            <a:off x="566738" y="1752600"/>
            <a:ext cx="4076700"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删除第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个元素，即使长度为</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的线性表</a:t>
            </a: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 </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 </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变成长度为</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的线性表</a:t>
            </a: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 </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a:t>
            </a:r>
            <a:r>
              <a:rPr kumimoji="0" lang="en-US" altLang="zh-CN" sz="19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由于物理位置上的相邻，则除非在表尾删除，否则必须移动元素</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删除第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元素，则需将第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至第</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（共</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）个元素前移一个位置</a:t>
            </a: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45060" name="20 1"/>
          <p:cNvPicPr>
            <a:picLocks noChangeAspect="1"/>
          </p:cNvPicPr>
          <p:nvPr/>
        </p:nvPicPr>
        <p:blipFill>
          <a:blip r:embed="rId2"/>
          <a:stretch>
            <a:fillRect/>
          </a:stretch>
        </p:blipFill>
        <p:spPr>
          <a:xfrm>
            <a:off x="4714875" y="476250"/>
            <a:ext cx="3425825" cy="5634038"/>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082" name="20 3"/>
          <p:cNvPicPr>
            <a:picLocks noChangeAspect="1"/>
          </p:cNvPicPr>
          <p:nvPr/>
        </p:nvPicPr>
        <p:blipFill>
          <a:blip r:embed="rId2"/>
          <a:stretch>
            <a:fillRect/>
          </a:stretch>
        </p:blipFill>
        <p:spPr>
          <a:xfrm>
            <a:off x="323850" y="908050"/>
            <a:ext cx="8264525" cy="2452688"/>
          </a:xfrm>
          <a:prstGeom prst="rect">
            <a:avLst/>
          </a:prstGeom>
          <a:noFill/>
          <a:ln w="9525">
            <a:noFill/>
          </a:ln>
        </p:spPr>
      </p:pic>
      <p:pic>
        <p:nvPicPr>
          <p:cNvPr id="46083" name="20 5"/>
          <p:cNvPicPr>
            <a:picLocks noChangeAspect="1"/>
          </p:cNvPicPr>
          <p:nvPr/>
        </p:nvPicPr>
        <p:blipFill>
          <a:blip r:embed="rId3"/>
          <a:stretch>
            <a:fillRect/>
          </a:stretch>
        </p:blipFill>
        <p:spPr>
          <a:xfrm>
            <a:off x="250825" y="3429000"/>
            <a:ext cx="6608763" cy="149225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时间复杂度</a:t>
            </a:r>
          </a:p>
        </p:txBody>
      </p:sp>
      <p:sp>
        <p:nvSpPr>
          <p:cNvPr id="78851" name="Rectangle 3"/>
          <p:cNvSpPr>
            <a:spLocks noGrp="1" noChangeArrowheads="1"/>
          </p:cNvSpPr>
          <p:nvPr>
            <p:ph idx="1"/>
          </p:nvPr>
        </p:nvSpPr>
        <p:spPr/>
        <p:txBody>
          <a:bodyPr vert="horz" wrap="square" lIns="91440" tIns="45720" rIns="91440" bIns="45720" numCol="1" anchor="t" anchorCtr="0" compatLnSpc="1"/>
          <a:lstStyle/>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该算法的时间分析与插入算法相似，移动次数也是由表长</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和位置</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决定。</a:t>
            </a:r>
          </a:p>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最好情况：当</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i=n</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时，循环变量的初值大于终值，前移语句将不执行，无需移动结点，时间复杂度为</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O(1) </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最坏情况：当</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，则前移语句将循环执行</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n-1</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次，需移动表中除开始元素外的所有元素，则时间复杂度为</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O(n)</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删除算法的平均性能分析与插入算法相似。在长度为</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的线性表中删除一个结点，令</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de</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表示所需移动结点的平均次数，删除表中第</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个结点的移动次数为</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n-i</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，故</a:t>
            </a:r>
          </a:p>
          <a:p>
            <a:pPr marL="0" marR="0" lvl="0" indent="360680" algn="ctr"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de</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q</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(n-i)</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i=1~n</a:t>
            </a:r>
          </a:p>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式中，</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q</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表示删除表中第</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个结点的概率。在等概率的假设下，</a:t>
            </a:r>
          </a:p>
          <a:p>
            <a:pPr marL="0" marR="0" lvl="0" indent="360680" algn="ctr"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3</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=1/n</a:t>
            </a:r>
          </a:p>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由此可得：</a:t>
            </a:r>
          </a:p>
          <a:p>
            <a:pPr marL="0" marR="0" lvl="0" indent="360680" algn="ctr"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en-US" altLang="zh-CN" sz="18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de</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(n-i)/n=(n-1)/2 </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i=1~n</a:t>
            </a:r>
          </a:p>
          <a:p>
            <a:pPr marL="0" marR="0" lvl="0" indent="3606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即在顺序表上做删除运算，平均要移动表中约一半的元素点，平均时间复杂度也是</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6"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查找</a:t>
            </a:r>
          </a:p>
        </p:txBody>
      </p:sp>
      <p:grpSp>
        <p:nvGrpSpPr>
          <p:cNvPr id="48131" name="Group 7"/>
          <p:cNvGrpSpPr/>
          <p:nvPr/>
        </p:nvGrpSpPr>
        <p:grpSpPr>
          <a:xfrm>
            <a:off x="468313" y="2060575"/>
            <a:ext cx="8064500" cy="4176713"/>
            <a:chOff x="249" y="1117"/>
            <a:chExt cx="3739" cy="1941"/>
          </a:xfrm>
        </p:grpSpPr>
        <p:pic>
          <p:nvPicPr>
            <p:cNvPr id="48135" name="Picture 5"/>
            <p:cNvPicPr>
              <a:picLocks noChangeAspect="1"/>
            </p:cNvPicPr>
            <p:nvPr/>
          </p:nvPicPr>
          <p:blipFill>
            <a:blip r:embed="rId3"/>
            <a:stretch>
              <a:fillRect/>
            </a:stretch>
          </p:blipFill>
          <p:spPr>
            <a:xfrm>
              <a:off x="340" y="1117"/>
              <a:ext cx="3648" cy="468"/>
            </a:xfrm>
            <a:prstGeom prst="rect">
              <a:avLst/>
            </a:prstGeom>
            <a:noFill/>
            <a:ln w="9525">
              <a:noFill/>
            </a:ln>
          </p:spPr>
        </p:pic>
        <p:pic>
          <p:nvPicPr>
            <p:cNvPr id="48136" name="Picture 6"/>
            <p:cNvPicPr>
              <a:picLocks noChangeAspect="1"/>
            </p:cNvPicPr>
            <p:nvPr/>
          </p:nvPicPr>
          <p:blipFill>
            <a:blip r:embed="rId4"/>
            <a:stretch>
              <a:fillRect/>
            </a:stretch>
          </p:blipFill>
          <p:spPr>
            <a:xfrm>
              <a:off x="249" y="1570"/>
              <a:ext cx="3456" cy="1488"/>
            </a:xfrm>
            <a:prstGeom prst="rect">
              <a:avLst/>
            </a:prstGeom>
            <a:noFill/>
            <a:ln w="9525">
              <a:noFill/>
            </a:ln>
          </p:spPr>
        </p:pic>
      </p:grpSp>
      <p:sp>
        <p:nvSpPr>
          <p:cNvPr id="79880" name="Line 8"/>
          <p:cNvSpPr>
            <a:spLocks noChangeShapeType="1"/>
          </p:cNvSpPr>
          <p:nvPr/>
        </p:nvSpPr>
        <p:spPr bwMode="auto">
          <a:xfrm>
            <a:off x="3276600" y="2708275"/>
            <a:ext cx="4175125" cy="0"/>
          </a:xfrm>
          <a:prstGeom prst="line">
            <a:avLst/>
          </a:prstGeom>
          <a:noFill/>
          <a:ln w="28575">
            <a:solidFill>
              <a:srgbClr val="FF0000"/>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9881" name="Line 9"/>
          <p:cNvSpPr>
            <a:spLocks noChangeShapeType="1"/>
          </p:cNvSpPr>
          <p:nvPr/>
        </p:nvSpPr>
        <p:spPr bwMode="auto">
          <a:xfrm>
            <a:off x="5724525" y="4437063"/>
            <a:ext cx="576263" cy="0"/>
          </a:xfrm>
          <a:prstGeom prst="line">
            <a:avLst/>
          </a:prstGeom>
          <a:noFill/>
          <a:ln w="28575">
            <a:solidFill>
              <a:srgbClr val="FF0000"/>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8134" name="AutoShape 10"/>
          <p:cNvSpPr/>
          <p:nvPr/>
        </p:nvSpPr>
        <p:spPr>
          <a:xfrm rot="10800000">
            <a:off x="5148263" y="4581525"/>
            <a:ext cx="914400" cy="609600"/>
          </a:xfrm>
          <a:prstGeom prst="wedgeRectCallout">
            <a:avLst>
              <a:gd name="adj1" fmla="val -43750"/>
              <a:gd name="adj2" fmla="val 70000"/>
            </a:avLst>
          </a:prstGeom>
          <a:solidFill>
            <a:schemeClr val="accent1"/>
          </a:solidFill>
          <a:ln w="9525">
            <a:noFill/>
          </a:ln>
        </p:spPr>
        <p:txBody>
          <a:bodyPr rot="10800000"/>
          <a:lstStyle/>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(1) *p;</a:t>
            </a:r>
          </a:p>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(2) 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查找</a:t>
            </a:r>
          </a:p>
        </p:txBody>
      </p:sp>
      <p:pic>
        <p:nvPicPr>
          <p:cNvPr id="50179" name="20 1"/>
          <p:cNvPicPr>
            <a:picLocks noChangeAspect="1"/>
          </p:cNvPicPr>
          <p:nvPr/>
        </p:nvPicPr>
        <p:blipFill>
          <a:blip r:embed="rId3"/>
          <a:stretch>
            <a:fillRect/>
          </a:stretch>
        </p:blipFill>
        <p:spPr>
          <a:xfrm>
            <a:off x="611188" y="1773238"/>
            <a:ext cx="7967662" cy="1155700"/>
          </a:xfrm>
          <a:prstGeom prst="rect">
            <a:avLst/>
          </a:prstGeom>
          <a:noFill/>
          <a:ln w="9525">
            <a:noFill/>
          </a:ln>
        </p:spPr>
      </p:pic>
      <p:sp>
        <p:nvSpPr>
          <p:cNvPr id="79880" name="Line 8"/>
          <p:cNvSpPr>
            <a:spLocks noChangeShapeType="1"/>
          </p:cNvSpPr>
          <p:nvPr/>
        </p:nvSpPr>
        <p:spPr bwMode="auto">
          <a:xfrm>
            <a:off x="3419475" y="2492375"/>
            <a:ext cx="4175125" cy="0"/>
          </a:xfrm>
          <a:prstGeom prst="line">
            <a:avLst/>
          </a:prstGeom>
          <a:noFill/>
          <a:ln w="28575">
            <a:solidFill>
              <a:srgbClr val="FF0000"/>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50181" name="20 3"/>
          <p:cNvPicPr>
            <a:picLocks noChangeAspect="1"/>
          </p:cNvPicPr>
          <p:nvPr/>
        </p:nvPicPr>
        <p:blipFill>
          <a:blip r:embed="rId4"/>
          <a:stretch>
            <a:fillRect/>
          </a:stretch>
        </p:blipFill>
        <p:spPr>
          <a:xfrm>
            <a:off x="250825" y="2781300"/>
            <a:ext cx="7510463" cy="3295650"/>
          </a:xfrm>
          <a:prstGeom prst="rect">
            <a:avLst/>
          </a:prstGeom>
          <a:noFill/>
          <a:ln w="9525">
            <a:noFill/>
          </a:ln>
        </p:spPr>
      </p:pic>
      <p:sp>
        <p:nvSpPr>
          <p:cNvPr id="79881" name="Line 9"/>
          <p:cNvSpPr>
            <a:spLocks noChangeShapeType="1"/>
          </p:cNvSpPr>
          <p:nvPr/>
        </p:nvSpPr>
        <p:spPr bwMode="auto">
          <a:xfrm>
            <a:off x="5724525" y="4437063"/>
            <a:ext cx="576263" cy="0"/>
          </a:xfrm>
          <a:prstGeom prst="line">
            <a:avLst/>
          </a:prstGeom>
          <a:noFill/>
          <a:ln w="28575">
            <a:solidFill>
              <a:srgbClr val="FF0000"/>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0183" name="AutoShape 10"/>
          <p:cNvSpPr/>
          <p:nvPr/>
        </p:nvSpPr>
        <p:spPr>
          <a:xfrm rot="10800000">
            <a:off x="5148263" y="4581525"/>
            <a:ext cx="914400" cy="609600"/>
          </a:xfrm>
          <a:prstGeom prst="wedgeRectCallout">
            <a:avLst>
              <a:gd name="adj1" fmla="val -43750"/>
              <a:gd name="adj2" fmla="val 70000"/>
            </a:avLst>
          </a:prstGeom>
          <a:solidFill>
            <a:schemeClr val="accent1"/>
          </a:solidFill>
          <a:ln w="9525">
            <a:noFill/>
          </a:ln>
        </p:spPr>
        <p:txBody>
          <a:bodyPr rot="10800000"/>
          <a:lstStyle/>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(1) *p;</a:t>
            </a:r>
          </a:p>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(2) 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2226" name="20 1"/>
          <p:cNvPicPr>
            <a:picLocks noChangeAspect="1"/>
          </p:cNvPicPr>
          <p:nvPr>
            <p:custDataLst>
              <p:tags r:id="rId1"/>
            </p:custDataLst>
          </p:nvPr>
        </p:nvPicPr>
        <p:blipFill>
          <a:blip r:embed="rId3"/>
          <a:stretch>
            <a:fillRect/>
          </a:stretch>
        </p:blipFill>
        <p:spPr>
          <a:xfrm>
            <a:off x="574675" y="1628775"/>
            <a:ext cx="7354888" cy="5187950"/>
          </a:xfrm>
          <a:prstGeom prst="rect">
            <a:avLst/>
          </a:prstGeom>
          <a:noFill/>
          <a:ln w="9525">
            <a:noFill/>
          </a:ln>
        </p:spPr>
      </p:pic>
      <p:sp>
        <p:nvSpPr>
          <p:cNvPr id="819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算法</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2.2</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在顺序表上的实现</a:t>
            </a:r>
          </a:p>
        </p:txBody>
      </p:sp>
      <p:sp>
        <p:nvSpPr>
          <p:cNvPr id="52228" name="AutoShape 5"/>
          <p:cNvSpPr/>
          <p:nvPr/>
        </p:nvSpPr>
        <p:spPr>
          <a:xfrm>
            <a:off x="6659563" y="3716338"/>
            <a:ext cx="1873250" cy="914400"/>
          </a:xfrm>
          <a:prstGeom prst="borderCallout1">
            <a:avLst>
              <a:gd name="adj1" fmla="val 108333"/>
              <a:gd name="adj2" fmla="val 93898"/>
              <a:gd name="adj3" fmla="val 108333"/>
              <a:gd name="adj4" fmla="val -84829"/>
            </a:avLst>
          </a:prstGeom>
          <a:solidFill>
            <a:schemeClr val="accent1"/>
          </a:solidFill>
          <a:ln w="9525" cap="flat" cmpd="sng">
            <a:solidFill>
              <a:schemeClr val="tx1"/>
            </a:solidFill>
            <a:prstDash val="solid"/>
            <a:miter/>
            <a:headEnd type="none" w="med" len="med"/>
            <a:tailEnd type="triangle" w="med" len="med"/>
          </a:ln>
        </p:spPr>
        <p:txBody>
          <a:bodyPr/>
          <a:lstStyle/>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*pc = *pa;</a:t>
            </a:r>
          </a:p>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pc++;</a:t>
            </a:r>
          </a:p>
          <a:p>
            <a:pPr algn="ctr" eaLnBrk="1" hangingPunct="1">
              <a:lnSpc>
                <a:spcPct val="90000"/>
              </a:lnSpc>
              <a:spcBef>
                <a:spcPct val="20000"/>
              </a:spcBef>
              <a:buClr>
                <a:schemeClr val="accent2"/>
              </a:buClr>
              <a:buFont typeface="Wingdings" panose="05000000000000000000" pitchFamily="2" charset="2"/>
            </a:pPr>
            <a:r>
              <a:rPr lang="en-US" altLang="zh-CN" sz="1800" b="0" dirty="0">
                <a:solidFill>
                  <a:schemeClr val="tx1"/>
                </a:solidFill>
                <a:latin typeface="Times New Roman" panose="02020603050405020304" pitchFamily="18" charset="0"/>
              </a:rPr>
              <a:t>pa++;</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4</a:t>
            </a:r>
          </a:p>
        </p:txBody>
      </p:sp>
      <p:sp>
        <p:nvSpPr>
          <p:cNvPr id="4" name="内容占位符 3"/>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编程题：在顺序线性表</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L</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中第</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个位置之前插入新的元素</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e</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（参考算法</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2.4</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实现）</a:t>
            </a: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顺序表编程练习题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1</a:t>
            </a: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顺序表的就地逆置</a:t>
            </a:r>
          </a:p>
        </p:txBody>
      </p:sp>
      <p:sp>
        <p:nvSpPr>
          <p:cNvPr id="100" name="文本框 99"/>
          <p:cNvSpPr txBox="1"/>
          <p:nvPr/>
        </p:nvSpPr>
        <p:spPr>
          <a:xfrm>
            <a:off x="723900" y="2492375"/>
            <a:ext cx="7686675" cy="2646363"/>
          </a:xfrm>
          <a:prstGeom prst="rect">
            <a:avLst/>
          </a:prstGeom>
          <a:noFill/>
          <a:ln w="9525">
            <a:noFill/>
          </a:ln>
        </p:spPr>
        <p:txBody>
          <a:bodyPr>
            <a:spAutoFit/>
          </a:bodyPr>
          <a:lstStyle/>
          <a:p>
            <a:pPr marR="0" defTabSz="914400">
              <a:lnSpc>
                <a:spcPct val="150000"/>
              </a:lnSpc>
              <a:spcBef>
                <a:spcPct val="20000"/>
              </a:spcBef>
              <a:buClr>
                <a:schemeClr val="accent2"/>
              </a:buClr>
              <a:buSzTx/>
              <a:buFontTx/>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void reverse(SqList &amp;A)//顺序表的就地逆置</a:t>
            </a:r>
          </a:p>
          <a:p>
            <a:pPr marR="0" defTabSz="914400">
              <a:lnSpc>
                <a:spcPct val="150000"/>
              </a:lnSpc>
              <a:spcBef>
                <a:spcPct val="20000"/>
              </a:spcBef>
              <a:buClr>
                <a:schemeClr val="accent2"/>
              </a:buClr>
              <a:buSzTx/>
              <a:buFontTx/>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p>
          <a:p>
            <a:pPr marR="0" defTabSz="914400">
              <a:lnSpc>
                <a:spcPct val="150000"/>
              </a:lnSpc>
              <a:spcBef>
                <a:spcPct val="20000"/>
              </a:spcBef>
              <a:buClr>
                <a:schemeClr val="accent2"/>
              </a:buClr>
              <a:buSzTx/>
              <a:buFontTx/>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for(i=0,j=A.length-1;i&lt;j;i++,j--)    </a:t>
            </a:r>
          </a:p>
          <a:p>
            <a:pPr marR="0" defTabSz="914400">
              <a:lnSpc>
                <a:spcPct val="150000"/>
              </a:lnSpc>
              <a:spcBef>
                <a:spcPct val="20000"/>
              </a:spcBef>
              <a:buClr>
                <a:schemeClr val="accent2"/>
              </a:buClr>
              <a:buSzTx/>
              <a:buFontTx/>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A.elem[i]&lt;-&gt;A.elem[j];</a:t>
            </a:r>
          </a:p>
          <a:p>
            <a:pPr marR="0" defTabSz="914400">
              <a:lnSpc>
                <a:spcPct val="150000"/>
              </a:lnSpc>
              <a:spcBef>
                <a:spcPct val="20000"/>
              </a:spcBef>
              <a:buClr>
                <a:schemeClr val="accent2"/>
              </a:buClr>
              <a:buSzTx/>
              <a:buFontTx/>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}//reverse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顺序表编程练习题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2</a:t>
            </a:r>
          </a:p>
        </p:txBody>
      </p:sp>
      <p:sp>
        <p:nvSpPr>
          <p:cNvPr id="3" name="内容占位符 2"/>
          <p:cNvSpPr>
            <a:spLocks noGrp="1"/>
          </p:cNvSpPr>
          <p:nvPr>
            <p:ph idx="1"/>
          </p:nvPr>
        </p:nvSpPr>
        <p:spPr>
          <a:xfrm>
            <a:off x="466725" y="1557338"/>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求元素递增排列的线性表A和B的元素的交集并存入C中</a:t>
            </a:r>
          </a:p>
        </p:txBody>
      </p:sp>
      <p:sp>
        <p:nvSpPr>
          <p:cNvPr id="5" name="文本框 4"/>
          <p:cNvSpPr txBox="1"/>
          <p:nvPr/>
        </p:nvSpPr>
        <p:spPr>
          <a:xfrm>
            <a:off x="352425" y="2492375"/>
            <a:ext cx="8791575" cy="4254500"/>
          </a:xfrm>
          <a:prstGeom prst="rect">
            <a:avLst/>
          </a:prstGeom>
          <a:noFill/>
          <a:ln w="9525">
            <a:noFill/>
          </a:ln>
        </p:spPr>
        <p:txBody>
          <a:bodyPr>
            <a:spAutoFit/>
          </a:bodyPr>
          <a:lstStyle/>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void SqList_Intersect(SqList A,SqList B,SqList &amp;C)</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en-US" altLang="zh-CN"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i=</a:t>
            </a:r>
            <a:r>
              <a:rPr kumimoji="0" lang="en-US" altLang="zh-CN"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0</a:t>
            </a: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;j=</a:t>
            </a:r>
            <a:r>
              <a:rPr kumimoji="0" lang="en-US" altLang="zh-CN"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0</a:t>
            </a: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;k=0;</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while(A.elem[i]&amp;&amp;B.elem[j])</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if(A.elem[i]&lt;B.elem[j]) i++;</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if(A.elem[i]&gt;B.elem[j]) j++;</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if(A.elem[i]==B.elem[j])</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C.elem[++k]=A.elem[i]; //当发现了一个在A,B中都存在的元素,</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i++;j++; //就添加到C中</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}//while</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sz="1600"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}//SqList_Intersect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顺序表编程练习题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3</a:t>
            </a: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删除线性表a中第i个元素起的k个元素</a:t>
            </a:r>
          </a:p>
        </p:txBody>
      </p:sp>
      <p:sp>
        <p:nvSpPr>
          <p:cNvPr id="5" name="文本框 4"/>
          <p:cNvSpPr txBox="1"/>
          <p:nvPr/>
        </p:nvSpPr>
        <p:spPr>
          <a:xfrm>
            <a:off x="309563" y="2492375"/>
            <a:ext cx="8793163" cy="3802063"/>
          </a:xfrm>
          <a:prstGeom prst="rect">
            <a:avLst/>
          </a:prstGeom>
          <a:noFill/>
          <a:ln w="9525">
            <a:noFill/>
          </a:ln>
        </p:spPr>
        <p:txBody>
          <a:bodyPr>
            <a:spAutoFit/>
          </a:bodyPr>
          <a:lstStyle/>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Status DeleteK(SqList &amp;a,int i,int k)</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//删除线性表a中第i个元素起的k个元素</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if(i&lt;1||k&lt;0||i+k-1&gt;a.length) return</a:t>
            </a: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INFEASIBLE;  </a:t>
            </a: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for(count=</a:t>
            </a: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0</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;i+count-1&lt;=a.length-k</a:t>
            </a: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-1</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;count++)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//注意循环结束的条件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a.elem[i+count-1]=a.elem[i+count+k-1];  </a:t>
            </a: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a.length-=k;  </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en-US" altLang="zh-CN"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	</a:t>
            </a: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return OK;</a:t>
            </a:r>
          </a:p>
          <a:p>
            <a:pPr marR="0" defTabSz="914400">
              <a:lnSpc>
                <a:spcPct val="120000"/>
              </a:lnSpc>
              <a:spcBef>
                <a:spcPts val="20"/>
              </a:spcBef>
              <a:spcAft>
                <a:spcPts val="0"/>
              </a:spcAft>
              <a:buClr>
                <a:schemeClr val="accent2"/>
              </a:buClr>
              <a:buSzTx/>
              <a:buFont typeface="Wingdings" panose="05000000000000000000" pitchFamily="2" charset="2"/>
              <a:buNone/>
              <a:defRPr/>
            </a:pPr>
            <a:r>
              <a:rPr kumimoji="0" lang="zh-CN" altLang="en-US" kern="0" cap="none" spc="0" normalizeH="0" baseline="0" noProof="1">
                <a:solidFill>
                  <a:schemeClr val="tx1"/>
                </a:solidFill>
                <a:effectLst>
                  <a:outerShdw blurRad="38100" dist="38100" dir="2700000" algn="tl">
                    <a:srgbClr val="C0C0C0"/>
                  </a:outerShdw>
                </a:effectLst>
                <a:latin typeface="+mn-lt"/>
                <a:ea typeface="+mn-ea"/>
                <a:cs typeface="+mn-cs"/>
                <a:sym typeface="Symbol" panose="05050102010706020507" pitchFamily="18" charset="2"/>
              </a:rPr>
              <a:t>}//DeleteK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2.3 </a:t>
            </a:r>
            <a:r>
              <a:rPr kumimoji="0" lang="zh-CN" altLang="en-US" sz="4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线性表的链式表示和实现</a:t>
            </a:r>
          </a:p>
        </p:txBody>
      </p:sp>
      <p:sp>
        <p:nvSpPr>
          <p:cNvPr id="83971"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线性表的顺序表示的特点是用物理位置上的邻接关系来表示结点间的逻辑关系，这一特点使我们可以随机存取表中的任一结点，但它也使得插入和删除操作会移动大量的结点。</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为避免大量结点的移动，我们介绍线性表的另一种存储方式，</a:t>
            </a:r>
            <a:r>
              <a:rPr kumimoji="0" lang="zh-CN" altLang="en-US" sz="2400" b="1"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链式存储结构</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，简称为链表</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(Linked List)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链表不要求逻辑上相邻的元素在物理位置也相邻，因此它没有顺序存储结构的缺陷，但同时也不具有随机存取的特点。</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2.3 </a:t>
            </a:r>
            <a:r>
              <a:rPr kumimoji="0" lang="zh-CN" altLang="en-US" sz="4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线性表的链式表示和实现</a:t>
            </a:r>
          </a:p>
        </p:txBody>
      </p:sp>
      <p:sp>
        <p:nvSpPr>
          <p:cNvPr id="8499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第</a:t>
            </a:r>
            <a:r>
              <a:rPr kumimoji="0" lang="en-US" altLang="zh-CN"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2.3.1</a:t>
            </a: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节 线性链表</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第</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2.3.2</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节 循环链表</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第</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2.3.3</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节 双向链表</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rPr>
              <a:t>2.3.1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rPr>
              <a:t>线性链表</a:t>
            </a:r>
          </a:p>
        </p:txBody>
      </p:sp>
      <p:sp>
        <p:nvSpPr>
          <p:cNvPr id="8601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链表是指用一组任意的存储单元来依次存放线性表的结点，这组存储单元即可以是连续的，也可以是不连续的，甚至是零散分布在内存中的任意位置上的。因此，链表中结点的逻辑次序和物理次序不一定相同。</a:t>
            </a: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为了能正确表示线性表中元素之间的逻辑关系，链表中的每个结点（</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node</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）包含两个部分：</a:t>
            </a: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数据域。存储数据元素信息</a:t>
            </a: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指针域。存储直接后继存储位置信息。指针域中的信息又称作指针或链</a:t>
            </a: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链表正是通过每个结点的链域将线性表的</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个结点按其逻辑次序链接在一起的。由于上述链表的每一个结点只有一个指针域，故将这种链表称为</a:t>
            </a:r>
            <a:r>
              <a:rPr kumimoji="0" lang="zh-CN" altLang="en-US" sz="1900" b="1"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线性链表</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或</a:t>
            </a:r>
            <a:r>
              <a:rPr kumimoji="0" lang="zh-CN" altLang="en-US" sz="1900" b="1"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单链表</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单链表中每个结点的存储地址是存放在其前趋结点指针域中，而开始结点无前趋，故设</a:t>
            </a:r>
            <a:r>
              <a:rPr kumimoji="0" lang="zh-CN" altLang="en-US" sz="1900" b="1"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头指针</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指向开始结点。同时，由于终端结点无后继，故终端结点的指针域为空，即</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null</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（图示中也可用</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表示</a:t>
            </a:r>
            <a:r>
              <a:rPr kumimoji="0"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3490" name="20 1"/>
          <p:cNvPicPr>
            <a:picLocks noChangeAspect="1"/>
          </p:cNvPicPr>
          <p:nvPr/>
        </p:nvPicPr>
        <p:blipFill>
          <a:blip r:embed="rId2"/>
          <a:stretch>
            <a:fillRect/>
          </a:stretch>
        </p:blipFill>
        <p:spPr>
          <a:xfrm>
            <a:off x="755650" y="981075"/>
            <a:ext cx="6000750" cy="327025"/>
          </a:xfrm>
          <a:prstGeom prst="rect">
            <a:avLst/>
          </a:prstGeom>
          <a:noFill/>
          <a:ln w="9525">
            <a:noFill/>
          </a:ln>
        </p:spPr>
      </p:pic>
      <p:pic>
        <p:nvPicPr>
          <p:cNvPr id="63491" name="20 2"/>
          <p:cNvPicPr>
            <a:picLocks noChangeAspect="1"/>
          </p:cNvPicPr>
          <p:nvPr/>
        </p:nvPicPr>
        <p:blipFill>
          <a:blip r:embed="rId3"/>
          <a:stretch>
            <a:fillRect/>
          </a:stretch>
        </p:blipFill>
        <p:spPr>
          <a:xfrm>
            <a:off x="1403350" y="1628775"/>
            <a:ext cx="6361113" cy="4254500"/>
          </a:xfrm>
          <a:prstGeom prst="rect">
            <a:avLst/>
          </a:prstGeom>
          <a:noFill/>
          <a:ln w="9525">
            <a:noFill/>
          </a:ln>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线性链表的逻辑图示</a:t>
            </a:r>
          </a:p>
        </p:txBody>
      </p:sp>
      <p:pic>
        <p:nvPicPr>
          <p:cNvPr id="64515" name="20 1"/>
          <p:cNvPicPr>
            <a:picLocks noChangeAspect="1"/>
          </p:cNvPicPr>
          <p:nvPr/>
        </p:nvPicPr>
        <p:blipFill>
          <a:blip r:embed="rId2"/>
          <a:stretch>
            <a:fillRect/>
          </a:stretch>
        </p:blipFill>
        <p:spPr>
          <a:xfrm>
            <a:off x="755650" y="2205038"/>
            <a:ext cx="7343775" cy="2762250"/>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5538" name="20 2"/>
          <p:cNvPicPr>
            <a:picLocks noChangeAspect="1"/>
          </p:cNvPicPr>
          <p:nvPr/>
        </p:nvPicPr>
        <p:blipFill>
          <a:blip r:embed="rId2"/>
          <a:stretch>
            <a:fillRect/>
          </a:stretch>
        </p:blipFill>
        <p:spPr>
          <a:xfrm>
            <a:off x="1763713" y="4076700"/>
            <a:ext cx="5081587" cy="1666875"/>
          </a:xfrm>
          <a:prstGeom prst="rect">
            <a:avLst/>
          </a:prstGeom>
          <a:noFill/>
          <a:ln w="9525">
            <a:noFill/>
          </a:ln>
        </p:spPr>
      </p:pic>
      <p:pic>
        <p:nvPicPr>
          <p:cNvPr id="65539" name="20 1"/>
          <p:cNvPicPr>
            <a:picLocks noChangeAspect="1"/>
          </p:cNvPicPr>
          <p:nvPr/>
        </p:nvPicPr>
        <p:blipFill>
          <a:blip r:embed="rId3"/>
          <a:stretch>
            <a:fillRect/>
          </a:stretch>
        </p:blipFill>
        <p:spPr>
          <a:xfrm>
            <a:off x="539750" y="1520825"/>
            <a:ext cx="5767388" cy="1816100"/>
          </a:xfrm>
          <a:prstGeom prst="rect">
            <a:avLst/>
          </a:prstGeom>
          <a:noFill/>
          <a:ln w="9525">
            <a:noFill/>
          </a:ln>
        </p:spPr>
      </p:pic>
      <p:sp>
        <p:nvSpPr>
          <p:cNvPr id="911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C</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语言定义</a:t>
            </a:r>
          </a:p>
        </p:txBody>
      </p:sp>
      <p:sp>
        <p:nvSpPr>
          <p:cNvPr id="65541" name="AutoShape 7"/>
          <p:cNvSpPr/>
          <p:nvPr/>
        </p:nvSpPr>
        <p:spPr>
          <a:xfrm>
            <a:off x="0" y="4149725"/>
            <a:ext cx="1547813" cy="1008063"/>
          </a:xfrm>
          <a:prstGeom prst="accentCallout2">
            <a:avLst>
              <a:gd name="adj1" fmla="val 11338"/>
              <a:gd name="adj2" fmla="val 104921"/>
              <a:gd name="adj3" fmla="val 11338"/>
              <a:gd name="adj4" fmla="val 108000"/>
              <a:gd name="adj5" fmla="val 21417"/>
              <a:gd name="adj6" fmla="val 118769"/>
            </a:avLst>
          </a:prstGeom>
          <a:noFill/>
          <a:ln w="9525" cap="flat" cmpd="sng">
            <a:solidFill>
              <a:schemeClr val="tx1"/>
            </a:solidFill>
            <a:prstDash val="solid"/>
            <a:miter/>
            <a:headEnd type="triangle" w="med" len="med"/>
            <a:tailEnd type="none" w="med" len="med"/>
          </a:ln>
        </p:spPr>
        <p:txBody>
          <a:bodyPr/>
          <a:lstStyle/>
          <a:p>
            <a:pPr eaLnBrk="1" hangingPunct="1">
              <a:lnSpc>
                <a:spcPct val="90000"/>
              </a:lnSpc>
              <a:spcBef>
                <a:spcPct val="20000"/>
              </a:spcBef>
              <a:buClr>
                <a:schemeClr val="accent2"/>
              </a:buClr>
              <a:buFont typeface="Wingdings" panose="05000000000000000000" pitchFamily="2" charset="2"/>
            </a:pPr>
            <a:r>
              <a:rPr lang="zh-CN" altLang="en-US" sz="1600" b="0" dirty="0">
                <a:solidFill>
                  <a:schemeClr val="tx1"/>
                </a:solidFill>
                <a:latin typeface="Times New Roman" panose="02020603050405020304" pitchFamily="18" charset="0"/>
              </a:rPr>
              <a:t>假设</a:t>
            </a:r>
            <a:r>
              <a:rPr lang="en-US" altLang="zh-CN" sz="1600" b="0" dirty="0">
                <a:solidFill>
                  <a:schemeClr val="tx1"/>
                </a:solidFill>
                <a:latin typeface="Times New Roman" panose="02020603050405020304" pitchFamily="18" charset="0"/>
              </a:rPr>
              <a:t>L</a:t>
            </a:r>
            <a:r>
              <a:rPr lang="zh-CN" altLang="en-US" sz="1600" b="0" dirty="0">
                <a:solidFill>
                  <a:schemeClr val="tx1"/>
                </a:solidFill>
                <a:latin typeface="Times New Roman" panose="02020603050405020304" pitchFamily="18" charset="0"/>
              </a:rPr>
              <a:t>为</a:t>
            </a:r>
            <a:r>
              <a:rPr lang="en-US" altLang="zh-CN" sz="1600" b="0" dirty="0">
                <a:solidFill>
                  <a:schemeClr val="tx1"/>
                </a:solidFill>
                <a:latin typeface="Times New Roman" panose="02020603050405020304" pitchFamily="18" charset="0"/>
              </a:rPr>
              <a:t>LinkList</a:t>
            </a:r>
            <a:r>
              <a:rPr lang="zh-CN" altLang="en-US" sz="1600" b="0" dirty="0">
                <a:solidFill>
                  <a:schemeClr val="tx1"/>
                </a:solidFill>
                <a:latin typeface="Times New Roman" panose="02020603050405020304" pitchFamily="18" charset="0"/>
              </a:rPr>
              <a:t>类型的变量，它指向表中</a:t>
            </a:r>
            <a:r>
              <a:rPr lang="zh-CN" altLang="en-US" sz="1600" b="0" dirty="0">
                <a:solidFill>
                  <a:schemeClr val="hlink"/>
                </a:solidFill>
                <a:latin typeface="Times New Roman" panose="02020603050405020304" pitchFamily="18" charset="0"/>
              </a:rPr>
              <a:t>头结点</a:t>
            </a:r>
          </a:p>
        </p:txBody>
      </p:sp>
      <p:sp>
        <p:nvSpPr>
          <p:cNvPr id="65542" name="AutoShape 8"/>
          <p:cNvSpPr/>
          <p:nvPr/>
        </p:nvSpPr>
        <p:spPr>
          <a:xfrm>
            <a:off x="4500563" y="2781300"/>
            <a:ext cx="2547937" cy="1008063"/>
          </a:xfrm>
          <a:prstGeom prst="accentCallout2">
            <a:avLst>
              <a:gd name="adj1" fmla="val 11338"/>
              <a:gd name="adj2" fmla="val -2991"/>
              <a:gd name="adj3" fmla="val 11338"/>
              <a:gd name="adj4" fmla="val -16509"/>
              <a:gd name="adj5" fmla="val 134644"/>
              <a:gd name="adj6" fmla="val -63926"/>
            </a:avLst>
          </a:prstGeom>
          <a:noFill/>
          <a:ln w="9525" cap="flat" cmpd="sng">
            <a:solidFill>
              <a:schemeClr val="tx1"/>
            </a:solidFill>
            <a:prstDash val="solid"/>
            <a:miter/>
            <a:headEnd type="triangle" w="med" len="med"/>
            <a:tailEnd type="none" w="med" len="med"/>
          </a:ln>
        </p:spPr>
        <p:txBody>
          <a:bodyPr/>
          <a:lstStyle/>
          <a:p>
            <a:pPr eaLnBrk="1" hangingPunct="1">
              <a:lnSpc>
                <a:spcPct val="90000"/>
              </a:lnSpc>
              <a:spcBef>
                <a:spcPct val="20000"/>
              </a:spcBef>
              <a:buClr>
                <a:schemeClr val="accent2"/>
              </a:buClr>
              <a:buFont typeface="Wingdings" panose="05000000000000000000" pitchFamily="2" charset="2"/>
            </a:pPr>
            <a:r>
              <a:rPr lang="zh-CN" altLang="en-US" sz="1600" b="0" dirty="0">
                <a:solidFill>
                  <a:schemeClr val="hlink"/>
                </a:solidFill>
                <a:latin typeface="Times New Roman" panose="02020603050405020304" pitchFamily="18" charset="0"/>
              </a:rPr>
              <a:t>头结点</a:t>
            </a:r>
            <a:r>
              <a:rPr lang="zh-CN" altLang="en-US" sz="1600" b="0" dirty="0">
                <a:solidFill>
                  <a:schemeClr val="tx1"/>
                </a:solidFill>
                <a:latin typeface="Times New Roman" panose="02020603050405020304" pitchFamily="18" charset="0"/>
              </a:rPr>
              <a:t>，其数据域可不存储任何信息，也可存储表长度等附加信息，其指针域指向第一个结点</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头结点的作用</a:t>
            </a:r>
          </a:p>
        </p:txBody>
      </p:sp>
      <p:sp>
        <p:nvSpPr>
          <p:cNvPr id="66563" name="文本框 2"/>
          <p:cNvSpPr txBox="1"/>
          <p:nvPr/>
        </p:nvSpPr>
        <p:spPr>
          <a:xfrm>
            <a:off x="368300" y="1628775"/>
            <a:ext cx="8407400" cy="4708525"/>
          </a:xfrm>
          <a:prstGeom prst="rect">
            <a:avLst/>
          </a:prstGeom>
          <a:noFill/>
          <a:ln w="9525">
            <a:noFill/>
          </a:ln>
        </p:spPr>
        <p:txBody>
          <a:bodyPr>
            <a:spAutoFit/>
          </a:bodyPr>
          <a:lstStyle/>
          <a:p>
            <a:pPr eaLnBrk="1" hangingPunct="1">
              <a:lnSpc>
                <a:spcPct val="150000"/>
              </a:lnSpc>
            </a:pPr>
            <a:r>
              <a:rPr lang="zh-CN" altLang="en-US" dirty="0">
                <a:latin typeface="Verdana" panose="020B0604030504040204" pitchFamily="34" charset="0"/>
              </a:rPr>
              <a:t>1、防止单链表是空的而设的，当链表为空的时候,带头结点的头指针就指向头结点，如果当链表为空的时候，单链表没有带头结点，那么它的头指针就为NULL。</a:t>
            </a:r>
          </a:p>
          <a:p>
            <a:pPr eaLnBrk="1" hangingPunct="1">
              <a:lnSpc>
                <a:spcPct val="150000"/>
              </a:lnSpc>
            </a:pPr>
            <a:r>
              <a:rPr lang="zh-CN" altLang="en-US" dirty="0">
                <a:latin typeface="Verdana" panose="020B0604030504040204" pitchFamily="34" charset="0"/>
              </a:rPr>
              <a:t>2、是为了方便单链表的特殊操作，能有效减少代码量，在插入在表头或者删除第一个结点时不用考虑特殊情况，删除或插入用户的第一个节点的值和删除或插入中间的值用一样的代码，这样就保持了单链表操作的统一性!</a:t>
            </a:r>
          </a:p>
          <a:p>
            <a:pPr eaLnBrk="1" hangingPunct="1">
              <a:lnSpc>
                <a:spcPct val="150000"/>
              </a:lnSpc>
            </a:pPr>
            <a:r>
              <a:rPr lang="zh-CN" altLang="en-US" dirty="0">
                <a:latin typeface="Verdana" panose="020B0604030504040204" pitchFamily="34" charset="0"/>
              </a:rPr>
              <a:t>3、单链表加上头结点之后，无论单链表是否为空，头指针始终指向头结点，因此空表和非空表的处理也统一了，方便了单链表的操作，也减少了程序的复杂性和出现bug的机会。</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-1</a:t>
            </a:r>
          </a:p>
        </p:txBody>
      </p:sp>
      <p:pic>
        <p:nvPicPr>
          <p:cNvPr id="67587" name="20 2"/>
          <p:cNvPicPr>
            <a:picLocks noChangeAspect="1"/>
          </p:cNvPicPr>
          <p:nvPr/>
        </p:nvPicPr>
        <p:blipFill>
          <a:blip r:embed="rId2"/>
          <a:stretch>
            <a:fillRect/>
          </a:stretch>
        </p:blipFill>
        <p:spPr>
          <a:xfrm>
            <a:off x="574675" y="1628775"/>
            <a:ext cx="7539038" cy="367665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-2</a:t>
            </a:r>
          </a:p>
        </p:txBody>
      </p:sp>
      <p:pic>
        <p:nvPicPr>
          <p:cNvPr id="68611"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68612" name="20 4"/>
          <p:cNvPicPr>
            <a:picLocks noChangeAspect="1"/>
          </p:cNvPicPr>
          <p:nvPr/>
        </p:nvPicPr>
        <p:blipFill>
          <a:blip r:embed="rId3"/>
          <a:stretch>
            <a:fillRect/>
          </a:stretch>
        </p:blipFill>
        <p:spPr>
          <a:xfrm>
            <a:off x="717550" y="3327400"/>
            <a:ext cx="3302000" cy="2959100"/>
          </a:xfrm>
          <a:prstGeom prst="rect">
            <a:avLst/>
          </a:prstGeom>
          <a:noFill/>
          <a:ln w="9525">
            <a:noFill/>
          </a:ln>
        </p:spPr>
      </p:pic>
      <p:pic>
        <p:nvPicPr>
          <p:cNvPr id="68613" name="20 5"/>
          <p:cNvPicPr>
            <a:picLocks noChangeAspect="1"/>
          </p:cNvPicPr>
          <p:nvPr/>
        </p:nvPicPr>
        <p:blipFill>
          <a:blip r:embed="rId4"/>
          <a:stretch>
            <a:fillRect/>
          </a:stretch>
        </p:blipFill>
        <p:spPr>
          <a:xfrm>
            <a:off x="4302125" y="3384550"/>
            <a:ext cx="3536950" cy="29464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-3</a:t>
            </a:r>
          </a:p>
        </p:txBody>
      </p:sp>
      <p:pic>
        <p:nvPicPr>
          <p:cNvPr id="69635"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69636" name="20 2"/>
          <p:cNvPicPr>
            <a:picLocks noChangeAspect="1"/>
          </p:cNvPicPr>
          <p:nvPr/>
        </p:nvPicPr>
        <p:blipFill>
          <a:blip r:embed="rId3"/>
          <a:stretch>
            <a:fillRect/>
          </a:stretch>
        </p:blipFill>
        <p:spPr>
          <a:xfrm>
            <a:off x="1546225" y="3692525"/>
            <a:ext cx="2241550" cy="57785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-3</a:t>
            </a:r>
          </a:p>
        </p:txBody>
      </p:sp>
      <p:pic>
        <p:nvPicPr>
          <p:cNvPr id="70659"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70660" name="20 2"/>
          <p:cNvPicPr>
            <a:picLocks noChangeAspect="1"/>
          </p:cNvPicPr>
          <p:nvPr/>
        </p:nvPicPr>
        <p:blipFill>
          <a:blip r:embed="rId3"/>
          <a:stretch>
            <a:fillRect/>
          </a:stretch>
        </p:blipFill>
        <p:spPr>
          <a:xfrm>
            <a:off x="1546225" y="3692525"/>
            <a:ext cx="2241550" cy="577850"/>
          </a:xfrm>
          <a:prstGeom prst="rect">
            <a:avLst/>
          </a:prstGeom>
          <a:noFill/>
          <a:ln w="9525">
            <a:noFill/>
          </a:ln>
        </p:spPr>
      </p:pic>
      <p:pic>
        <p:nvPicPr>
          <p:cNvPr id="7" name="20 6"/>
          <p:cNvPicPr>
            <a:picLocks noChangeAspect="1"/>
          </p:cNvPicPr>
          <p:nvPr/>
        </p:nvPicPr>
        <p:blipFill>
          <a:blip r:embed="rId4"/>
          <a:stretch>
            <a:fillRect/>
          </a:stretch>
        </p:blipFill>
        <p:spPr>
          <a:xfrm>
            <a:off x="644525" y="4600575"/>
            <a:ext cx="7283450" cy="11366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-4</a:t>
            </a:r>
          </a:p>
        </p:txBody>
      </p:sp>
      <p:pic>
        <p:nvPicPr>
          <p:cNvPr id="71683"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71684" name="20 4"/>
          <p:cNvPicPr>
            <a:picLocks noChangeAspect="1"/>
          </p:cNvPicPr>
          <p:nvPr/>
        </p:nvPicPr>
        <p:blipFill>
          <a:blip r:embed="rId3"/>
          <a:stretch>
            <a:fillRect/>
          </a:stretch>
        </p:blipFill>
        <p:spPr>
          <a:xfrm>
            <a:off x="1597025" y="3673475"/>
            <a:ext cx="2038350" cy="501650"/>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-4</a:t>
            </a:r>
          </a:p>
        </p:txBody>
      </p:sp>
      <p:pic>
        <p:nvPicPr>
          <p:cNvPr id="72707"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72708" name="20 4"/>
          <p:cNvPicPr>
            <a:picLocks noChangeAspect="1"/>
          </p:cNvPicPr>
          <p:nvPr/>
        </p:nvPicPr>
        <p:blipFill>
          <a:blip r:embed="rId3"/>
          <a:stretch>
            <a:fillRect/>
          </a:stretch>
        </p:blipFill>
        <p:spPr>
          <a:xfrm>
            <a:off x="1597025" y="3673475"/>
            <a:ext cx="2038350" cy="501650"/>
          </a:xfrm>
          <a:prstGeom prst="rect">
            <a:avLst/>
          </a:prstGeom>
          <a:noFill/>
          <a:ln w="9525">
            <a:noFill/>
          </a:ln>
        </p:spPr>
      </p:pic>
      <p:pic>
        <p:nvPicPr>
          <p:cNvPr id="6" name="20 5"/>
          <p:cNvPicPr>
            <a:picLocks noChangeAspect="1"/>
          </p:cNvPicPr>
          <p:nvPr/>
        </p:nvPicPr>
        <p:blipFill>
          <a:blip r:embed="rId4"/>
          <a:stretch>
            <a:fillRect/>
          </a:stretch>
        </p:blipFill>
        <p:spPr>
          <a:xfrm>
            <a:off x="2555875" y="4437063"/>
            <a:ext cx="3898900" cy="1187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-5</a:t>
            </a:r>
          </a:p>
        </p:txBody>
      </p:sp>
      <p:pic>
        <p:nvPicPr>
          <p:cNvPr id="73731"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73732" name="20 2"/>
          <p:cNvPicPr>
            <a:picLocks noChangeAspect="1"/>
          </p:cNvPicPr>
          <p:nvPr/>
        </p:nvPicPr>
        <p:blipFill>
          <a:blip r:embed="rId3"/>
          <a:stretch>
            <a:fillRect/>
          </a:stretch>
        </p:blipFill>
        <p:spPr>
          <a:xfrm>
            <a:off x="1009650" y="3559175"/>
            <a:ext cx="5105400" cy="552450"/>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-5</a:t>
            </a:r>
          </a:p>
        </p:txBody>
      </p:sp>
      <p:pic>
        <p:nvPicPr>
          <p:cNvPr id="74755" name="20 3"/>
          <p:cNvPicPr>
            <a:picLocks noChangeAspect="1"/>
          </p:cNvPicPr>
          <p:nvPr/>
        </p:nvPicPr>
        <p:blipFill>
          <a:blip r:embed="rId2"/>
          <a:stretch>
            <a:fillRect/>
          </a:stretch>
        </p:blipFill>
        <p:spPr>
          <a:xfrm>
            <a:off x="574675" y="1727200"/>
            <a:ext cx="7150100" cy="1600200"/>
          </a:xfrm>
          <a:prstGeom prst="rect">
            <a:avLst/>
          </a:prstGeom>
          <a:noFill/>
          <a:ln w="9525">
            <a:noFill/>
          </a:ln>
        </p:spPr>
      </p:pic>
      <p:pic>
        <p:nvPicPr>
          <p:cNvPr id="74756" name="20 2"/>
          <p:cNvPicPr>
            <a:picLocks noChangeAspect="1"/>
          </p:cNvPicPr>
          <p:nvPr/>
        </p:nvPicPr>
        <p:blipFill>
          <a:blip r:embed="rId3"/>
          <a:stretch>
            <a:fillRect/>
          </a:stretch>
        </p:blipFill>
        <p:spPr>
          <a:xfrm>
            <a:off x="1009650" y="3559175"/>
            <a:ext cx="5105400" cy="552450"/>
          </a:xfrm>
          <a:prstGeom prst="rect">
            <a:avLst/>
          </a:prstGeom>
          <a:noFill/>
          <a:ln w="9525">
            <a:noFill/>
          </a:ln>
        </p:spPr>
      </p:pic>
      <p:pic>
        <p:nvPicPr>
          <p:cNvPr id="7" name="20 6"/>
          <p:cNvPicPr>
            <a:picLocks noChangeAspect="1"/>
          </p:cNvPicPr>
          <p:nvPr/>
        </p:nvPicPr>
        <p:blipFill>
          <a:blip r:embed="rId4"/>
          <a:stretch>
            <a:fillRect/>
          </a:stretch>
        </p:blipFill>
        <p:spPr>
          <a:xfrm>
            <a:off x="2397125" y="4403725"/>
            <a:ext cx="4806950" cy="1060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链表的指针相关课堂练习题</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-6</a:t>
            </a:r>
          </a:p>
        </p:txBody>
      </p:sp>
      <p:pic>
        <p:nvPicPr>
          <p:cNvPr id="75779" name="20 4"/>
          <p:cNvPicPr>
            <a:picLocks noChangeAspect="1"/>
          </p:cNvPicPr>
          <p:nvPr/>
        </p:nvPicPr>
        <p:blipFill>
          <a:blip r:embed="rId2"/>
          <a:stretch>
            <a:fillRect/>
          </a:stretch>
        </p:blipFill>
        <p:spPr>
          <a:xfrm>
            <a:off x="698500" y="1828800"/>
            <a:ext cx="4686300" cy="1536700"/>
          </a:xfrm>
          <a:prstGeom prst="rect">
            <a:avLst/>
          </a:prstGeom>
          <a:noFill/>
          <a:ln w="9525">
            <a:noFill/>
          </a:ln>
        </p:spPr>
      </p:pic>
      <p:pic>
        <p:nvPicPr>
          <p:cNvPr id="75780" name="20 5"/>
          <p:cNvPicPr>
            <a:picLocks noChangeAspect="1"/>
          </p:cNvPicPr>
          <p:nvPr/>
        </p:nvPicPr>
        <p:blipFill>
          <a:blip r:embed="rId3"/>
          <a:stretch>
            <a:fillRect/>
          </a:stretch>
        </p:blipFill>
        <p:spPr>
          <a:xfrm>
            <a:off x="730250" y="4076700"/>
            <a:ext cx="4622800" cy="1555750"/>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前情提要</a:t>
            </a:r>
          </a:p>
        </p:txBody>
      </p:sp>
      <p:sp>
        <p:nvSpPr>
          <p:cNvPr id="53251" name="Rectangle 3"/>
          <p:cNvSpPr>
            <a:spLocks noGrp="1" noChangeArrowheads="1"/>
          </p:cNvSpPr>
          <p:nvPr>
            <p:ph idx="1"/>
          </p:nvPr>
        </p:nvSpPr>
        <p:spPr>
          <a:xfrm>
            <a:off x="323850" y="1412875"/>
            <a:ext cx="8528050" cy="4267200"/>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 typeface="+mj-lt"/>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线性表的链式表示和实现（线性链表）</a:t>
            </a: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数据域。存储数据元素信息</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指针域。存储直接后继存储位置信息。指针域中的信息又称作指针或链</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0" marR="0" lvl="0" indent="0" algn="l" defTabSz="914400" rtl="0" eaLnBrk="1" fontAlgn="base" latinLnBrk="0" hangingPunct="1">
              <a:lnSpc>
                <a:spcPct val="150000"/>
              </a:lnSpc>
              <a:spcBef>
                <a:spcPct val="20000"/>
              </a:spcBef>
              <a:spcAft>
                <a:spcPct val="0"/>
              </a:spcAft>
              <a:buClr>
                <a:schemeClr val="accent2"/>
              </a:buClr>
              <a:buSzTx/>
              <a:buFont typeface="+mj-lt"/>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2.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链表的</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C</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语言声明和定义</a:t>
            </a:r>
          </a:p>
          <a:p>
            <a:pPr marL="0" marR="0" lvl="0" indent="0" algn="l" defTabSz="914400" rtl="0" eaLnBrk="1" fontAlgn="base" latinLnBrk="0" hangingPunct="1">
              <a:lnSpc>
                <a:spcPct val="100000"/>
              </a:lnSpc>
              <a:spcBef>
                <a:spcPct val="20000"/>
              </a:spcBef>
              <a:spcAft>
                <a:spcPct val="0"/>
              </a:spcAft>
              <a:buClr>
                <a:schemeClr val="accent2"/>
              </a:buClr>
              <a:buSzTx/>
              <a:buFont typeface="+mj-lt"/>
              <a:buNone/>
              <a:defRPr/>
            </a:pP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76804" name="20 1"/>
          <p:cNvPicPr>
            <a:picLocks noChangeAspect="1"/>
          </p:cNvPicPr>
          <p:nvPr>
            <p:custDataLst>
              <p:tags r:id="rId1"/>
            </p:custDataLst>
          </p:nvPr>
        </p:nvPicPr>
        <p:blipFill>
          <a:blip r:embed="rId3"/>
          <a:stretch>
            <a:fillRect/>
          </a:stretch>
        </p:blipFill>
        <p:spPr>
          <a:xfrm>
            <a:off x="1331913" y="4510088"/>
            <a:ext cx="5767387" cy="1816100"/>
          </a:xfrm>
          <a:prstGeom prst="rect">
            <a:avLst/>
          </a:prstGeom>
          <a:noFill/>
          <a:ln w="9525">
            <a:noFill/>
          </a:ln>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7826" name="20 1"/>
          <p:cNvPicPr>
            <a:picLocks noChangeAspect="1"/>
          </p:cNvPicPr>
          <p:nvPr/>
        </p:nvPicPr>
        <p:blipFill>
          <a:blip r:embed="rId3"/>
          <a:stretch>
            <a:fillRect/>
          </a:stretch>
        </p:blipFill>
        <p:spPr>
          <a:xfrm>
            <a:off x="682625" y="1754188"/>
            <a:ext cx="8051800" cy="3746500"/>
          </a:xfrm>
          <a:prstGeom prst="rect">
            <a:avLst/>
          </a:prstGeom>
          <a:noFill/>
          <a:ln w="9525">
            <a:noFill/>
          </a:ln>
        </p:spPr>
      </p:pic>
      <p:sp>
        <p:nvSpPr>
          <p:cNvPr id="931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元素存取操作</a:t>
            </a:r>
          </a:p>
        </p:txBody>
      </p:sp>
      <p:sp>
        <p:nvSpPr>
          <p:cNvPr id="77828" name="Text Box 7"/>
          <p:cNvSpPr txBox="1"/>
          <p:nvPr/>
        </p:nvSpPr>
        <p:spPr>
          <a:xfrm>
            <a:off x="6516688" y="5734050"/>
            <a:ext cx="2292350" cy="339725"/>
          </a:xfrm>
          <a:prstGeom prst="rect">
            <a:avLst/>
          </a:prstGeom>
          <a:noFill/>
          <a:ln w="9525">
            <a:noFill/>
          </a:ln>
        </p:spPr>
        <p:txBody>
          <a:bodyPr wrap="none">
            <a:spAutoFit/>
          </a:bodyPr>
          <a:lstStyle/>
          <a:p>
            <a:pPr algn="ct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时间复杂度为</a:t>
            </a:r>
            <a:r>
              <a:rPr lang="en-US" altLang="zh-CN" sz="1800" b="0" dirty="0">
                <a:solidFill>
                  <a:schemeClr val="tx1"/>
                </a:solidFill>
                <a:latin typeface="Times New Roman" panose="02020603050405020304" pitchFamily="18" charset="0"/>
              </a:rPr>
              <a:t>O</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n</a:t>
            </a:r>
            <a:r>
              <a:rPr lang="zh-CN" altLang="en-US" sz="1800" b="0" dirty="0">
                <a:solidFill>
                  <a:schemeClr val="tx1"/>
                </a:solidFill>
                <a:latin typeface="Times New Roman" panose="02020603050405020304" pitchFamily="18" charset="0"/>
              </a:rPr>
              <a:t>）</a:t>
            </a:r>
          </a:p>
        </p:txBody>
      </p:sp>
      <p:sp>
        <p:nvSpPr>
          <p:cNvPr id="93192" name="Line 8"/>
          <p:cNvSpPr>
            <a:spLocks noChangeShapeType="1"/>
          </p:cNvSpPr>
          <p:nvPr/>
        </p:nvSpPr>
        <p:spPr bwMode="auto">
          <a:xfrm>
            <a:off x="2051050" y="4076700"/>
            <a:ext cx="360363" cy="0"/>
          </a:xfrm>
          <a:prstGeom prst="line">
            <a:avLst/>
          </a:prstGeom>
          <a:noFill/>
          <a:ln w="381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7830" name="Text Box 9"/>
          <p:cNvSpPr txBox="1"/>
          <p:nvPr/>
        </p:nvSpPr>
        <p:spPr>
          <a:xfrm>
            <a:off x="5940425" y="3789363"/>
            <a:ext cx="1604963" cy="304800"/>
          </a:xfrm>
          <a:prstGeom prst="rect">
            <a:avLst/>
          </a:prstGeom>
          <a:noFill/>
          <a:ln w="9525">
            <a:noFill/>
          </a:ln>
        </p:spPr>
        <p:txBody>
          <a:bodyPr anchor="b" anchorCtr="0">
            <a:spAutoFit/>
          </a:bodyPr>
          <a:lstStyle/>
          <a:p>
            <a:pPr algn="ctr" eaLnBrk="1" hangingPunct="1"/>
            <a:r>
              <a:rPr lang="zh-CN" altLang="en-US" sz="1400" b="0" dirty="0">
                <a:latin typeface="Verdana" panose="020B0604030504040204" pitchFamily="34" charset="0"/>
              </a:rPr>
              <a:t>输入非法</a:t>
            </a:r>
            <a:r>
              <a:rPr lang="en-US" altLang="zh-CN" sz="1400" b="0" dirty="0">
                <a:latin typeface="Verdana" panose="020B0604030504040204" pitchFamily="34" charset="0"/>
              </a:rPr>
              <a:t>0</a:t>
            </a:r>
            <a:r>
              <a:rPr lang="zh-CN" altLang="en-US" sz="1400" b="0" dirty="0">
                <a:latin typeface="Verdana" panose="020B0604030504040204" pitchFamily="34" charset="0"/>
              </a:rPr>
              <a:t>或负数</a:t>
            </a:r>
          </a:p>
        </p:txBody>
      </p:sp>
      <p:sp>
        <p:nvSpPr>
          <p:cNvPr id="93194" name="Line 10"/>
          <p:cNvSpPr>
            <a:spLocks noChangeShapeType="1"/>
          </p:cNvSpPr>
          <p:nvPr/>
        </p:nvSpPr>
        <p:spPr bwMode="auto">
          <a:xfrm>
            <a:off x="1835150" y="3213100"/>
            <a:ext cx="1008063" cy="0"/>
          </a:xfrm>
          <a:prstGeom prst="line">
            <a:avLst/>
          </a:prstGeom>
          <a:noFill/>
          <a:ln w="38100">
            <a:solidFill>
              <a:schemeClr val="accent2"/>
            </a:solidFill>
            <a:roun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3195" name="Line 11"/>
          <p:cNvSpPr>
            <a:spLocks noChangeShapeType="1"/>
          </p:cNvSpPr>
          <p:nvPr/>
        </p:nvSpPr>
        <p:spPr bwMode="auto">
          <a:xfrm>
            <a:off x="1835150" y="2349500"/>
            <a:ext cx="1008063" cy="0"/>
          </a:xfrm>
          <a:prstGeom prst="line">
            <a:avLst/>
          </a:prstGeom>
          <a:noFill/>
          <a:ln w="38100">
            <a:solidFill>
              <a:schemeClr val="accent2"/>
            </a:solidFill>
            <a:roun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77833" name="20 2"/>
          <p:cNvPicPr>
            <a:picLocks noChangeAspect="1"/>
          </p:cNvPicPr>
          <p:nvPr/>
        </p:nvPicPr>
        <p:blipFill>
          <a:blip r:embed="rId4"/>
          <a:stretch>
            <a:fillRect/>
          </a:stretch>
        </p:blipFill>
        <p:spPr>
          <a:xfrm>
            <a:off x="827088" y="5589588"/>
            <a:ext cx="3765550" cy="558800"/>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插入操作</a:t>
            </a:r>
          </a:p>
        </p:txBody>
      </p:sp>
      <p:sp>
        <p:nvSpPr>
          <p:cNvPr id="79875" name="Text Box 5"/>
          <p:cNvSpPr txBox="1"/>
          <p:nvPr/>
        </p:nvSpPr>
        <p:spPr>
          <a:xfrm>
            <a:off x="539750" y="1844675"/>
            <a:ext cx="7345363" cy="1497013"/>
          </a:xfrm>
          <a:prstGeom prst="rect">
            <a:avLst/>
          </a:prstGeom>
          <a:noFill/>
          <a:ln w="9525">
            <a:noFill/>
          </a:ln>
        </p:spPr>
        <p:txBody>
          <a:bodyPr>
            <a:spAutoFit/>
          </a:bodyPr>
          <a:lstStyle/>
          <a:p>
            <a:pP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假设在元素</a:t>
            </a:r>
            <a:r>
              <a:rPr lang="en-US" altLang="zh-CN" sz="1800" b="0" dirty="0">
                <a:solidFill>
                  <a:schemeClr val="tx1"/>
                </a:solidFill>
                <a:latin typeface="Times New Roman" panose="02020603050405020304" pitchFamily="18" charset="0"/>
              </a:rPr>
              <a:t>a</a:t>
            </a:r>
            <a:r>
              <a:rPr lang="zh-CN" altLang="en-US" sz="1800" b="0" dirty="0">
                <a:solidFill>
                  <a:schemeClr val="tx1"/>
                </a:solidFill>
                <a:latin typeface="Times New Roman" panose="02020603050405020304" pitchFamily="18" charset="0"/>
              </a:rPr>
              <a:t>和</a:t>
            </a:r>
            <a:r>
              <a:rPr lang="en-US" altLang="zh-CN" sz="1800" b="0" dirty="0">
                <a:solidFill>
                  <a:schemeClr val="tx1"/>
                </a:solidFill>
                <a:latin typeface="Times New Roman" panose="02020603050405020304" pitchFamily="18" charset="0"/>
              </a:rPr>
              <a:t>b</a:t>
            </a:r>
            <a:r>
              <a:rPr lang="zh-CN" altLang="en-US" sz="1800" b="0" dirty="0">
                <a:solidFill>
                  <a:schemeClr val="tx1"/>
                </a:solidFill>
                <a:latin typeface="Times New Roman" panose="02020603050405020304" pitchFamily="18" charset="0"/>
              </a:rPr>
              <a:t>之间插入元素</a:t>
            </a:r>
            <a:r>
              <a:rPr lang="en-US" altLang="zh-CN" sz="1800" b="0" dirty="0">
                <a:solidFill>
                  <a:schemeClr val="tx1"/>
                </a:solidFill>
                <a:latin typeface="Times New Roman" panose="02020603050405020304" pitchFamily="18" charset="0"/>
              </a:rPr>
              <a:t>x</a:t>
            </a:r>
            <a:r>
              <a:rPr lang="zh-CN" altLang="en-US" sz="1800" b="0" dirty="0">
                <a:solidFill>
                  <a:schemeClr val="tx1"/>
                </a:solidFill>
                <a:latin typeface="Times New Roman" panose="02020603050405020304" pitchFamily="18" charset="0"/>
              </a:rPr>
              <a:t>，设</a:t>
            </a:r>
            <a:r>
              <a:rPr lang="en-US" altLang="zh-CN" sz="1800" b="0" dirty="0">
                <a:solidFill>
                  <a:schemeClr val="tx1"/>
                </a:solidFill>
                <a:latin typeface="Times New Roman" panose="02020603050405020304" pitchFamily="18" charset="0"/>
              </a:rPr>
              <a:t>p</a:t>
            </a:r>
            <a:r>
              <a:rPr lang="zh-CN" altLang="en-US" sz="1800" b="0" dirty="0">
                <a:solidFill>
                  <a:schemeClr val="tx1"/>
                </a:solidFill>
                <a:latin typeface="Times New Roman" panose="02020603050405020304" pitchFamily="18" charset="0"/>
              </a:rPr>
              <a:t>为指向</a:t>
            </a:r>
            <a:r>
              <a:rPr lang="en-US" altLang="zh-CN" sz="1800" b="0" dirty="0">
                <a:solidFill>
                  <a:schemeClr val="tx1"/>
                </a:solidFill>
                <a:latin typeface="Times New Roman" panose="02020603050405020304" pitchFamily="18" charset="0"/>
              </a:rPr>
              <a:t>a</a:t>
            </a:r>
            <a:r>
              <a:rPr lang="zh-CN" altLang="en-US" sz="1800" b="0" dirty="0">
                <a:solidFill>
                  <a:schemeClr val="tx1"/>
                </a:solidFill>
                <a:latin typeface="Times New Roman" panose="02020603050405020304" pitchFamily="18" charset="0"/>
              </a:rPr>
              <a:t>结点</a:t>
            </a:r>
            <a:r>
              <a:rPr lang="en-US" altLang="zh-CN" sz="1800" b="0" dirty="0">
                <a:solidFill>
                  <a:schemeClr val="tx1"/>
                </a:solidFill>
                <a:latin typeface="Times New Roman" panose="02020603050405020304" pitchFamily="18" charset="0"/>
              </a:rPr>
              <a:t>(</a:t>
            </a:r>
            <a:r>
              <a:rPr lang="zh-CN" altLang="en-US" sz="1800" b="0" dirty="0">
                <a:solidFill>
                  <a:schemeClr val="tx1"/>
                </a:solidFill>
                <a:latin typeface="Times New Roman" panose="02020603050405020304" pitchFamily="18" charset="0"/>
              </a:rPr>
              <a:t>数据域为元素</a:t>
            </a:r>
            <a:r>
              <a:rPr lang="en-US" altLang="zh-CN" sz="1800" b="0" dirty="0">
                <a:solidFill>
                  <a:schemeClr val="tx1"/>
                </a:solidFill>
                <a:latin typeface="Times New Roman" panose="02020603050405020304" pitchFamily="18" charset="0"/>
              </a:rPr>
              <a:t>a</a:t>
            </a:r>
            <a:r>
              <a:rPr lang="zh-CN" altLang="en-US" sz="1800" b="0" dirty="0">
                <a:solidFill>
                  <a:schemeClr val="tx1"/>
                </a:solidFill>
                <a:latin typeface="Times New Roman" panose="02020603050405020304" pitchFamily="18" charset="0"/>
              </a:rPr>
              <a:t>的节点</a:t>
            </a:r>
            <a:r>
              <a:rPr lang="en-US" altLang="zh-CN" sz="1800" b="0" dirty="0">
                <a:solidFill>
                  <a:schemeClr val="tx1"/>
                </a:solidFill>
                <a:latin typeface="Times New Roman" panose="02020603050405020304" pitchFamily="18" charset="0"/>
              </a:rPr>
              <a:t>)</a:t>
            </a:r>
            <a:r>
              <a:rPr lang="zh-CN" altLang="en-US" sz="1800" b="0" dirty="0">
                <a:solidFill>
                  <a:schemeClr val="tx1"/>
                </a:solidFill>
                <a:latin typeface="Times New Roman" panose="02020603050405020304" pitchFamily="18" charset="0"/>
              </a:rPr>
              <a:t>的指针，则</a:t>
            </a:r>
          </a:p>
          <a:p>
            <a:pP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1</a:t>
            </a:r>
            <a:r>
              <a:rPr lang="zh-CN" altLang="en-US" sz="1800" b="0" dirty="0">
                <a:solidFill>
                  <a:schemeClr val="tx1"/>
                </a:solidFill>
                <a:latin typeface="Times New Roman" panose="02020603050405020304" pitchFamily="18" charset="0"/>
              </a:rPr>
              <a:t>）生成数据域为</a:t>
            </a:r>
            <a:r>
              <a:rPr lang="en-US" altLang="zh-CN" sz="1800" b="0" dirty="0">
                <a:solidFill>
                  <a:schemeClr val="tx1"/>
                </a:solidFill>
                <a:latin typeface="Times New Roman" panose="02020603050405020304" pitchFamily="18" charset="0"/>
              </a:rPr>
              <a:t>x</a:t>
            </a:r>
            <a:r>
              <a:rPr lang="zh-CN" altLang="en-US" sz="1800" b="0" dirty="0">
                <a:solidFill>
                  <a:schemeClr val="tx1"/>
                </a:solidFill>
                <a:latin typeface="Times New Roman" panose="02020603050405020304" pitchFamily="18" charset="0"/>
              </a:rPr>
              <a:t>的结点；并设</a:t>
            </a:r>
            <a:r>
              <a:rPr lang="en-US" altLang="zh-CN" sz="1800" b="0" dirty="0">
                <a:solidFill>
                  <a:schemeClr val="tx1"/>
                </a:solidFill>
                <a:latin typeface="Times New Roman" panose="02020603050405020304" pitchFamily="18" charset="0"/>
              </a:rPr>
              <a:t>s</a:t>
            </a:r>
            <a:r>
              <a:rPr lang="zh-CN" altLang="en-US" sz="1800" b="0" dirty="0">
                <a:solidFill>
                  <a:schemeClr val="tx1"/>
                </a:solidFill>
                <a:latin typeface="Times New Roman" panose="02020603050405020304" pitchFamily="18" charset="0"/>
              </a:rPr>
              <a:t>为指向其指针；</a:t>
            </a:r>
          </a:p>
          <a:p>
            <a:pP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2</a:t>
            </a:r>
            <a:r>
              <a:rPr lang="zh-CN" altLang="en-US" sz="1800" b="0" dirty="0">
                <a:solidFill>
                  <a:schemeClr val="tx1"/>
                </a:solidFill>
                <a:latin typeface="Times New Roman" panose="02020603050405020304" pitchFamily="18" charset="0"/>
              </a:rPr>
              <a:t>）修改</a:t>
            </a:r>
            <a:r>
              <a:rPr lang="en-US" altLang="zh-CN" sz="1800" b="0" dirty="0">
                <a:solidFill>
                  <a:schemeClr val="tx1"/>
                </a:solidFill>
                <a:latin typeface="Times New Roman" panose="02020603050405020304" pitchFamily="18" charset="0"/>
              </a:rPr>
              <a:t>x</a:t>
            </a:r>
            <a:r>
              <a:rPr lang="zh-CN" altLang="en-US" sz="1800" b="0" dirty="0">
                <a:solidFill>
                  <a:schemeClr val="tx1"/>
                </a:solidFill>
                <a:latin typeface="Times New Roman" panose="02020603050405020304" pitchFamily="18" charset="0"/>
              </a:rPr>
              <a:t>中的指针，使其指向</a:t>
            </a:r>
            <a:r>
              <a:rPr lang="en-US" altLang="zh-CN" sz="1800" b="0" dirty="0">
                <a:solidFill>
                  <a:schemeClr val="tx1"/>
                </a:solidFill>
                <a:latin typeface="Times New Roman" panose="02020603050405020304" pitchFamily="18" charset="0"/>
              </a:rPr>
              <a:t>b</a:t>
            </a:r>
            <a:r>
              <a:rPr lang="zh-CN" altLang="en-US" sz="1800" b="0" dirty="0">
                <a:solidFill>
                  <a:schemeClr val="tx1"/>
                </a:solidFill>
                <a:latin typeface="Times New Roman" panose="02020603050405020304" pitchFamily="18" charset="0"/>
              </a:rPr>
              <a:t>，即</a:t>
            </a:r>
            <a:r>
              <a:rPr lang="en-US" altLang="zh-CN" sz="1800" b="0" dirty="0">
                <a:solidFill>
                  <a:schemeClr val="tx1"/>
                </a:solidFill>
                <a:latin typeface="Times New Roman" panose="02020603050405020304" pitchFamily="18" charset="0"/>
              </a:rPr>
              <a:t>s</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&gt;next=p</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&gt;next</a:t>
            </a:r>
          </a:p>
          <a:p>
            <a:pP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3</a:t>
            </a:r>
            <a:r>
              <a:rPr lang="zh-CN" altLang="en-US" sz="1800" b="0" dirty="0">
                <a:solidFill>
                  <a:schemeClr val="tx1"/>
                </a:solidFill>
                <a:latin typeface="Times New Roman" panose="02020603050405020304" pitchFamily="18" charset="0"/>
              </a:rPr>
              <a:t>）修改</a:t>
            </a:r>
            <a:r>
              <a:rPr lang="en-US" altLang="zh-CN" sz="1800" b="0" dirty="0">
                <a:solidFill>
                  <a:schemeClr val="tx1"/>
                </a:solidFill>
                <a:latin typeface="Times New Roman" panose="02020603050405020304" pitchFamily="18" charset="0"/>
              </a:rPr>
              <a:t>a</a:t>
            </a:r>
            <a:r>
              <a:rPr lang="zh-CN" altLang="en-US" sz="1800" b="0" dirty="0">
                <a:solidFill>
                  <a:schemeClr val="tx1"/>
                </a:solidFill>
                <a:latin typeface="Times New Roman" panose="02020603050405020304" pitchFamily="18" charset="0"/>
              </a:rPr>
              <a:t>结点中的指针，使其指向</a:t>
            </a:r>
            <a:r>
              <a:rPr lang="en-US" altLang="zh-CN" sz="1800" b="0" dirty="0">
                <a:solidFill>
                  <a:schemeClr val="tx1"/>
                </a:solidFill>
                <a:latin typeface="Times New Roman" panose="02020603050405020304" pitchFamily="18" charset="0"/>
              </a:rPr>
              <a:t>x</a:t>
            </a:r>
            <a:r>
              <a:rPr lang="zh-CN" altLang="en-US" sz="1800" b="0" dirty="0">
                <a:solidFill>
                  <a:schemeClr val="tx1"/>
                </a:solidFill>
                <a:latin typeface="Times New Roman" panose="02020603050405020304" pitchFamily="18" charset="0"/>
              </a:rPr>
              <a:t>， 即</a:t>
            </a:r>
            <a:r>
              <a:rPr lang="en-US" altLang="zh-CN" sz="1800" b="0" dirty="0">
                <a:solidFill>
                  <a:schemeClr val="tx1"/>
                </a:solidFill>
                <a:latin typeface="Times New Roman" panose="02020603050405020304" pitchFamily="18" charset="0"/>
              </a:rPr>
              <a:t>p</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&gt;next = s</a:t>
            </a:r>
            <a:r>
              <a:rPr lang="zh-CN" altLang="en-US" sz="1800" b="0" dirty="0">
                <a:solidFill>
                  <a:schemeClr val="tx1"/>
                </a:solidFill>
                <a:latin typeface="Times New Roman" panose="02020603050405020304" pitchFamily="18" charset="0"/>
              </a:rPr>
              <a:t>；</a:t>
            </a:r>
          </a:p>
        </p:txBody>
      </p:sp>
      <p:pic>
        <p:nvPicPr>
          <p:cNvPr id="79876" name="20 1"/>
          <p:cNvPicPr>
            <a:picLocks noChangeAspect="1"/>
          </p:cNvPicPr>
          <p:nvPr/>
        </p:nvPicPr>
        <p:blipFill>
          <a:blip r:embed="rId2"/>
          <a:stretch>
            <a:fillRect/>
          </a:stretch>
        </p:blipFill>
        <p:spPr>
          <a:xfrm>
            <a:off x="2057400" y="3502025"/>
            <a:ext cx="5018088" cy="2719388"/>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0898" name="20 1"/>
          <p:cNvPicPr>
            <a:picLocks noChangeAspect="1"/>
          </p:cNvPicPr>
          <p:nvPr/>
        </p:nvPicPr>
        <p:blipFill>
          <a:blip r:embed="rId2"/>
          <a:stretch>
            <a:fillRect/>
          </a:stretch>
        </p:blipFill>
        <p:spPr>
          <a:xfrm>
            <a:off x="466725" y="1966913"/>
            <a:ext cx="7600950" cy="1339850"/>
          </a:xfrm>
          <a:prstGeom prst="rect">
            <a:avLst/>
          </a:prstGeom>
          <a:noFill/>
          <a:ln w="9525">
            <a:noFill/>
          </a:ln>
        </p:spPr>
      </p:pic>
      <p:sp>
        <p:nvSpPr>
          <p:cNvPr id="97285" name="Line 5"/>
          <p:cNvSpPr>
            <a:spLocks noChangeShapeType="1"/>
          </p:cNvSpPr>
          <p:nvPr/>
        </p:nvSpPr>
        <p:spPr bwMode="auto">
          <a:xfrm>
            <a:off x="1547813" y="2636838"/>
            <a:ext cx="1008063" cy="0"/>
          </a:xfrm>
          <a:prstGeom prst="line">
            <a:avLst/>
          </a:prstGeom>
          <a:noFill/>
          <a:ln w="38100">
            <a:solidFill>
              <a:schemeClr val="accent2"/>
            </a:solidFill>
            <a:roun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80900" name="20 2"/>
          <p:cNvPicPr>
            <a:picLocks noChangeAspect="1"/>
          </p:cNvPicPr>
          <p:nvPr/>
        </p:nvPicPr>
        <p:blipFill>
          <a:blip r:embed="rId3"/>
          <a:stretch>
            <a:fillRect/>
          </a:stretch>
        </p:blipFill>
        <p:spPr>
          <a:xfrm>
            <a:off x="466725" y="3357563"/>
            <a:ext cx="8312150" cy="243840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删除操作</a:t>
            </a:r>
          </a:p>
        </p:txBody>
      </p:sp>
      <p:sp>
        <p:nvSpPr>
          <p:cNvPr id="81923" name="Text Box 4"/>
          <p:cNvSpPr txBox="1"/>
          <p:nvPr/>
        </p:nvSpPr>
        <p:spPr>
          <a:xfrm>
            <a:off x="539750" y="1844675"/>
            <a:ext cx="7345363" cy="587375"/>
          </a:xfrm>
          <a:prstGeom prst="rect">
            <a:avLst/>
          </a:prstGeom>
          <a:noFill/>
          <a:ln w="9525">
            <a:noFill/>
          </a:ln>
        </p:spPr>
        <p:txBody>
          <a:bodyPr>
            <a:spAutoFit/>
          </a:bodyPr>
          <a:lstStyle/>
          <a:p>
            <a:pP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假设删除图</a:t>
            </a:r>
            <a:r>
              <a:rPr lang="en-US" altLang="zh-CN" sz="1800" b="0" dirty="0">
                <a:solidFill>
                  <a:schemeClr val="tx1"/>
                </a:solidFill>
                <a:latin typeface="Times New Roman" panose="02020603050405020304" pitchFamily="18" charset="0"/>
              </a:rPr>
              <a:t>2.9</a:t>
            </a:r>
            <a:r>
              <a:rPr lang="zh-CN" altLang="en-US" sz="1800" b="0" dirty="0">
                <a:solidFill>
                  <a:schemeClr val="tx1"/>
                </a:solidFill>
                <a:latin typeface="Times New Roman" panose="02020603050405020304" pitchFamily="18" charset="0"/>
              </a:rPr>
              <a:t>中的元素</a:t>
            </a:r>
            <a:r>
              <a:rPr lang="en-US" altLang="zh-CN" sz="1800" b="0" dirty="0">
                <a:solidFill>
                  <a:schemeClr val="tx1"/>
                </a:solidFill>
                <a:latin typeface="Times New Roman" panose="02020603050405020304" pitchFamily="18" charset="0"/>
              </a:rPr>
              <a:t>b</a:t>
            </a:r>
            <a:r>
              <a:rPr lang="zh-CN" altLang="en-US" sz="1800" b="0" dirty="0">
                <a:solidFill>
                  <a:schemeClr val="tx1"/>
                </a:solidFill>
                <a:latin typeface="Times New Roman" panose="02020603050405020304" pitchFamily="18" charset="0"/>
              </a:rPr>
              <a:t>，设</a:t>
            </a:r>
            <a:r>
              <a:rPr lang="en-US" altLang="zh-CN" sz="1800" b="0" dirty="0">
                <a:solidFill>
                  <a:schemeClr val="tx1"/>
                </a:solidFill>
                <a:latin typeface="Times New Roman" panose="02020603050405020304" pitchFamily="18" charset="0"/>
              </a:rPr>
              <a:t>p</a:t>
            </a:r>
            <a:r>
              <a:rPr lang="zh-CN" altLang="en-US" sz="1800" b="0" dirty="0">
                <a:solidFill>
                  <a:schemeClr val="tx1"/>
                </a:solidFill>
                <a:latin typeface="Times New Roman" panose="02020603050405020304" pitchFamily="18" charset="0"/>
              </a:rPr>
              <a:t>为指向</a:t>
            </a:r>
            <a:r>
              <a:rPr lang="en-US" altLang="zh-CN" sz="1800" b="0" dirty="0">
                <a:solidFill>
                  <a:schemeClr val="tx1"/>
                </a:solidFill>
                <a:latin typeface="Times New Roman" panose="02020603050405020304" pitchFamily="18" charset="0"/>
              </a:rPr>
              <a:t>a</a:t>
            </a:r>
            <a:r>
              <a:rPr lang="zh-CN" altLang="en-US" sz="1800" b="0" dirty="0">
                <a:solidFill>
                  <a:schemeClr val="tx1"/>
                </a:solidFill>
                <a:latin typeface="Times New Roman" panose="02020603050405020304" pitchFamily="18" charset="0"/>
              </a:rPr>
              <a:t>结点的指针，则仅需修改</a:t>
            </a:r>
            <a:r>
              <a:rPr lang="en-US" altLang="zh-CN" sz="1800" b="0" dirty="0">
                <a:solidFill>
                  <a:schemeClr val="tx1"/>
                </a:solidFill>
                <a:latin typeface="Times New Roman" panose="02020603050405020304" pitchFamily="18" charset="0"/>
              </a:rPr>
              <a:t>a</a:t>
            </a:r>
            <a:r>
              <a:rPr lang="zh-CN" altLang="en-US" sz="1800" b="0" dirty="0">
                <a:solidFill>
                  <a:schemeClr val="tx1"/>
                </a:solidFill>
                <a:latin typeface="Times New Roman" panose="02020603050405020304" pitchFamily="18" charset="0"/>
              </a:rPr>
              <a:t>中的指针，使其指向</a:t>
            </a:r>
            <a:r>
              <a:rPr lang="en-US" altLang="zh-CN" sz="1800" b="0" dirty="0">
                <a:solidFill>
                  <a:schemeClr val="tx1"/>
                </a:solidFill>
                <a:latin typeface="Times New Roman" panose="02020603050405020304" pitchFamily="18" charset="0"/>
              </a:rPr>
              <a:t>c</a:t>
            </a:r>
            <a:r>
              <a:rPr lang="zh-CN" altLang="en-US" sz="1800" b="0" dirty="0">
                <a:solidFill>
                  <a:schemeClr val="tx1"/>
                </a:solidFill>
                <a:latin typeface="Times New Roman" panose="02020603050405020304" pitchFamily="18" charset="0"/>
              </a:rPr>
              <a:t>，即</a:t>
            </a:r>
            <a:r>
              <a:rPr lang="en-US" altLang="zh-CN" sz="1800" b="0" dirty="0">
                <a:solidFill>
                  <a:schemeClr val="tx1"/>
                </a:solidFill>
                <a:latin typeface="Times New Roman" panose="02020603050405020304" pitchFamily="18" charset="0"/>
              </a:rPr>
              <a:t>p</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&gt;next=p</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&gt;next </a:t>
            </a:r>
            <a:r>
              <a:rPr lang="zh-CN" altLang="en-US" sz="1800" b="0" dirty="0">
                <a:solidFill>
                  <a:schemeClr val="tx1"/>
                </a:solidFill>
                <a:latin typeface="Times New Roman" panose="02020603050405020304" pitchFamily="18" charset="0"/>
              </a:rPr>
              <a:t>－</a:t>
            </a:r>
            <a:r>
              <a:rPr lang="en-US" altLang="zh-CN" sz="1800" b="0" dirty="0">
                <a:solidFill>
                  <a:schemeClr val="tx1"/>
                </a:solidFill>
                <a:latin typeface="Times New Roman" panose="02020603050405020304" pitchFamily="18" charset="0"/>
              </a:rPr>
              <a:t>&gt;next</a:t>
            </a:r>
          </a:p>
        </p:txBody>
      </p:sp>
      <p:pic>
        <p:nvPicPr>
          <p:cNvPr id="81924" name="20 1"/>
          <p:cNvPicPr>
            <a:picLocks noChangeAspect="1"/>
          </p:cNvPicPr>
          <p:nvPr/>
        </p:nvPicPr>
        <p:blipFill>
          <a:blip r:embed="rId3"/>
          <a:stretch>
            <a:fillRect/>
          </a:stretch>
        </p:blipFill>
        <p:spPr>
          <a:xfrm>
            <a:off x="1258888" y="2852738"/>
            <a:ext cx="6088062" cy="2624137"/>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3970" name="20 1"/>
          <p:cNvPicPr>
            <a:picLocks noChangeAspect="1"/>
          </p:cNvPicPr>
          <p:nvPr/>
        </p:nvPicPr>
        <p:blipFill>
          <a:blip r:embed="rId3"/>
          <a:stretch>
            <a:fillRect/>
          </a:stretch>
        </p:blipFill>
        <p:spPr>
          <a:xfrm>
            <a:off x="466725" y="1268413"/>
            <a:ext cx="8085138" cy="4446587"/>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时间复杂度</a:t>
            </a:r>
          </a:p>
        </p:txBody>
      </p:sp>
      <p:sp>
        <p:nvSpPr>
          <p:cNvPr id="10137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2.9</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和</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2.10</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的复杂度实际上为查找结点的复杂度，即为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7042" name="20 1"/>
          <p:cNvPicPr>
            <a:picLocks noChangeAspect="1"/>
          </p:cNvPicPr>
          <p:nvPr/>
        </p:nvPicPr>
        <p:blipFill>
          <a:blip r:embed="rId3"/>
          <a:stretch>
            <a:fillRect/>
          </a:stretch>
        </p:blipFill>
        <p:spPr>
          <a:xfrm>
            <a:off x="971550" y="2060575"/>
            <a:ext cx="6502400" cy="1898650"/>
          </a:xfrm>
          <a:prstGeom prst="rect">
            <a:avLst/>
          </a:prstGeom>
          <a:noFill/>
          <a:ln w="9525">
            <a:noFill/>
          </a:ln>
        </p:spPr>
      </p:pic>
      <p:sp>
        <p:nvSpPr>
          <p:cNvPr id="1024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创建链表</a:t>
            </a:r>
          </a:p>
        </p:txBody>
      </p:sp>
      <p:sp>
        <p:nvSpPr>
          <p:cNvPr id="102407" name="Line 7"/>
          <p:cNvSpPr>
            <a:spLocks noChangeShapeType="1"/>
          </p:cNvSpPr>
          <p:nvPr/>
        </p:nvSpPr>
        <p:spPr bwMode="auto">
          <a:xfrm>
            <a:off x="1835150" y="2636838"/>
            <a:ext cx="720725" cy="0"/>
          </a:xfrm>
          <a:prstGeom prst="line">
            <a:avLst/>
          </a:prstGeom>
          <a:noFill/>
          <a:ln w="28575">
            <a:solidFill>
              <a:srgbClr val="FF0000"/>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87045" name="20 2"/>
          <p:cNvPicPr>
            <a:picLocks noChangeAspect="1"/>
          </p:cNvPicPr>
          <p:nvPr/>
        </p:nvPicPr>
        <p:blipFill>
          <a:blip r:embed="rId4"/>
          <a:stretch>
            <a:fillRect/>
          </a:stretch>
        </p:blipFill>
        <p:spPr>
          <a:xfrm>
            <a:off x="793750" y="3933825"/>
            <a:ext cx="6680200" cy="1962150"/>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合并有序表</a:t>
            </a:r>
          </a:p>
        </p:txBody>
      </p:sp>
      <p:sp>
        <p:nvSpPr>
          <p:cNvPr id="89091" name="Text Box 5"/>
          <p:cNvSpPr txBox="1"/>
          <p:nvPr/>
        </p:nvSpPr>
        <p:spPr>
          <a:xfrm>
            <a:off x="468313" y="6308725"/>
            <a:ext cx="8426450" cy="339725"/>
          </a:xfrm>
          <a:prstGeom prst="rect">
            <a:avLst/>
          </a:prstGeom>
          <a:noFill/>
          <a:ln w="9525">
            <a:noFill/>
          </a:ln>
        </p:spPr>
        <p:txBody>
          <a:bodyPr>
            <a:spAutoFit/>
          </a:bodyPr>
          <a:lstStyle/>
          <a:p>
            <a:pPr algn="ctr" eaLnBrk="1" hangingPunct="1">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Times New Roman" panose="02020603050405020304" pitchFamily="18" charset="0"/>
              </a:rPr>
              <a:t>算法</a:t>
            </a:r>
            <a:r>
              <a:rPr lang="en-US" altLang="zh-CN" sz="1800" b="0" dirty="0">
                <a:solidFill>
                  <a:schemeClr val="tx1"/>
                </a:solidFill>
                <a:latin typeface="Times New Roman" panose="02020603050405020304" pitchFamily="18" charset="0"/>
              </a:rPr>
              <a:t>2.12</a:t>
            </a:r>
            <a:r>
              <a:rPr lang="zh-CN" altLang="en-US" sz="1800" b="0" dirty="0">
                <a:solidFill>
                  <a:schemeClr val="tx1"/>
                </a:solidFill>
                <a:latin typeface="Times New Roman" panose="02020603050405020304" pitchFamily="18" charset="0"/>
              </a:rPr>
              <a:t>同算法</a:t>
            </a:r>
            <a:r>
              <a:rPr lang="en-US" altLang="zh-CN" sz="1800" b="0" dirty="0">
                <a:solidFill>
                  <a:schemeClr val="tx1"/>
                </a:solidFill>
                <a:latin typeface="Times New Roman" panose="02020603050405020304" pitchFamily="18" charset="0"/>
              </a:rPr>
              <a:t>2.7</a:t>
            </a:r>
            <a:r>
              <a:rPr lang="zh-CN" altLang="en-US" sz="1800" b="0" dirty="0">
                <a:solidFill>
                  <a:schemeClr val="tx1"/>
                </a:solidFill>
                <a:latin typeface="Times New Roman" panose="02020603050405020304" pitchFamily="18" charset="0"/>
              </a:rPr>
              <a:t>相比，时间复杂度相同，但空间复杂度要低，因为不需要创建</a:t>
            </a:r>
            <a:r>
              <a:rPr lang="en-US" altLang="zh-CN" sz="1800" b="0" dirty="0">
                <a:solidFill>
                  <a:schemeClr val="tx1"/>
                </a:solidFill>
                <a:latin typeface="Times New Roman" panose="02020603050405020304" pitchFamily="18" charset="0"/>
              </a:rPr>
              <a:t>Lc</a:t>
            </a:r>
          </a:p>
        </p:txBody>
      </p:sp>
      <p:pic>
        <p:nvPicPr>
          <p:cNvPr id="89092" name="20 1"/>
          <p:cNvPicPr>
            <a:picLocks noChangeAspect="1"/>
          </p:cNvPicPr>
          <p:nvPr/>
        </p:nvPicPr>
        <p:blipFill>
          <a:blip r:embed="rId2"/>
          <a:stretch>
            <a:fillRect/>
          </a:stretch>
        </p:blipFill>
        <p:spPr>
          <a:xfrm>
            <a:off x="900113" y="1520825"/>
            <a:ext cx="7348537" cy="4670425"/>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顺序表          </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v.s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链表</a:t>
            </a:r>
          </a:p>
        </p:txBody>
      </p:sp>
      <p:sp>
        <p:nvSpPr>
          <p:cNvPr id="124933" name="Rectangle 5"/>
          <p:cNvSpPr>
            <a:spLocks noGrp="1" noChangeArrowheads="1"/>
          </p:cNvSpPr>
          <p:nvPr>
            <p:ph sz="half"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随机存取－</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插入、删除－</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需要移动</a:t>
            </a:r>
          </a:p>
        </p:txBody>
      </p:sp>
      <p:sp>
        <p:nvSpPr>
          <p:cNvPr id="124934" name="Rectangle 6"/>
          <p:cNvSpPr>
            <a:spLocks noGrp="1" noChangeArrowheads="1"/>
          </p:cNvSpPr>
          <p:nvPr>
            <p:ph sz="half" idx="2"/>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遍历表－</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插入、删除－</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不需要移动</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5</a:t>
            </a:r>
          </a:p>
        </p:txBody>
      </p:sp>
      <p:sp>
        <p:nvSpPr>
          <p:cNvPr id="4" name="内容占位符 3"/>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编程题：实现在带头结点的单链线性表</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L</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中第</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个位置之前插入元素</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e</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（参考算法</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2.9</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实现</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a:t>
            </a: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a:xfrm>
          <a:off x="0" y="0"/>
          <a:ext cx="0" cy="0"/>
          <a:chOff x="0" y="0"/>
          <a:chExt cx="0" cy="0"/>
        </a:xfrm>
      </p:grpSpPr>
      <p:sp>
        <p:nvSpPr>
          <p:cNvPr id="124932" name="Rectangle 4"/>
          <p:cNvSpPr>
            <a:spLocks noGrp="1" noChangeArrowheads="1"/>
          </p:cNvSpPr>
          <p:nvPr>
            <p:ph type="title"/>
          </p:nvPr>
        </p:nvSpPr>
        <p:spPr>
          <a:xfrm>
            <a:off x="642938" y="1844675"/>
            <a:ext cx="8001000" cy="8556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顺序表          </a:t>
            </a:r>
            <a:r>
              <a:rPr kumimoji="0" lang="en-US" altLang="zh-CN" sz="3800" b="1" i="0" u="none" strike="noStrike" kern="0" cap="none" spc="0" normalizeH="0" baseline="0" noProof="0" dirty="0" err="1">
                <a:ln>
                  <a:noFill/>
                </a:ln>
                <a:solidFill>
                  <a:schemeClr val="tx2"/>
                </a:solidFill>
                <a:effectLst>
                  <a:outerShdw blurRad="38100" dist="38100" dir="2700000" algn="tl">
                    <a:srgbClr val="C0C0C0"/>
                  </a:outerShdw>
                </a:effectLst>
                <a:uLnTx/>
                <a:uFillTx/>
                <a:latin typeface="+mj-lt"/>
                <a:ea typeface="+mj-ea"/>
                <a:cs typeface="+mj-cs"/>
              </a:rPr>
              <a:t>v.s</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链表</a:t>
            </a:r>
          </a:p>
        </p:txBody>
      </p:sp>
      <p:sp>
        <p:nvSpPr>
          <p:cNvPr id="124933" name="Rectangle 5"/>
          <p:cNvSpPr>
            <a:spLocks noGrp="1" noChangeArrowheads="1"/>
          </p:cNvSpPr>
          <p:nvPr>
            <p:ph sz="half" idx="1"/>
          </p:nvPr>
        </p:nvSpPr>
        <p:spPr>
          <a:xfrm>
            <a:off x="566738" y="3068638"/>
            <a:ext cx="3924300" cy="2951163"/>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随机存取－</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插入、删除－</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需要移动</a:t>
            </a:r>
          </a:p>
        </p:txBody>
      </p:sp>
      <p:sp>
        <p:nvSpPr>
          <p:cNvPr id="124934" name="Rectangle 6"/>
          <p:cNvSpPr>
            <a:spLocks noGrp="1" noChangeArrowheads="1"/>
          </p:cNvSpPr>
          <p:nvPr>
            <p:ph sz="half" idx="2"/>
          </p:nvPr>
        </p:nvSpPr>
        <p:spPr>
          <a:xfrm>
            <a:off x="4643438" y="3068638"/>
            <a:ext cx="3924300" cy="2951163"/>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遍历表－</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插入、删除－</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不需要移动</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92165" name="文本框 1"/>
          <p:cNvSpPr txBox="1"/>
          <p:nvPr/>
        </p:nvSpPr>
        <p:spPr>
          <a:xfrm>
            <a:off x="619125" y="638175"/>
            <a:ext cx="7343775" cy="708025"/>
          </a:xfrm>
          <a:prstGeom prst="rect">
            <a:avLst/>
          </a:prstGeom>
          <a:noFill/>
          <a:ln w="9525">
            <a:noFill/>
          </a:ln>
        </p:spPr>
        <p:txBody>
          <a:bodyPr>
            <a:spAutoFit/>
          </a:bodyPr>
          <a:lstStyle/>
          <a:p>
            <a:r>
              <a:rPr lang="zh-CN" altLang="en-US" sz="4000" dirty="0">
                <a:latin typeface="Verdana" panose="020B0604030504040204" pitchFamily="34" charset="0"/>
              </a:rPr>
              <a:t>前情提要</a:t>
            </a: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2.3.2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循环链表</a:t>
            </a:r>
          </a:p>
        </p:txBody>
      </p:sp>
      <p:sp>
        <p:nvSpPr>
          <p:cNvPr id="112643" name="Rectangle 3"/>
          <p:cNvSpPr>
            <a:spLocks noGrp="1" noChangeArrowheads="1"/>
          </p:cNvSpPr>
          <p:nvPr>
            <p:ph idx="1"/>
          </p:nvPr>
        </p:nvSpPr>
        <p:spPr>
          <a:xfrm>
            <a:off x="566738" y="1752600"/>
            <a:ext cx="8001000" cy="1676400"/>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循环链表（</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circular linked list</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）是一种头尾相连的链式存储结构，即最后一个结点指针域指向头节点</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从表中任一结点出发均可找到表中其他结点</a:t>
            </a: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循环链表与单链表操作基本一致，差别仅在于循环条件不是</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或</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&gt;next</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是否为空，而是是否等于头指针</a:t>
            </a: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93188" name="20 1"/>
          <p:cNvPicPr>
            <a:picLocks noChangeAspect="1"/>
          </p:cNvPicPr>
          <p:nvPr>
            <p:custDataLst>
              <p:tags r:id="rId1"/>
            </p:custDataLst>
          </p:nvPr>
        </p:nvPicPr>
        <p:blipFill>
          <a:blip r:embed="rId3"/>
          <a:stretch>
            <a:fillRect/>
          </a:stretch>
        </p:blipFill>
        <p:spPr>
          <a:xfrm>
            <a:off x="971550" y="3660775"/>
            <a:ext cx="6924675" cy="2122488"/>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7" name="Rectangle 3"/>
          <p:cNvSpPr>
            <a:spLocks noGrp="1" noChangeArrowheads="1"/>
          </p:cNvSpPr>
          <p:nvPr>
            <p:ph type="body" idx="1"/>
          </p:nvPr>
        </p:nvSpPr>
        <p:spPr>
          <a:xfrm>
            <a:off x="611188" y="404813"/>
            <a:ext cx="2952750" cy="1316038"/>
          </a:xfrm>
        </p:spPr>
        <p:txBody>
          <a:bodyPr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头指针</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尾指针</a:t>
            </a:r>
          </a:p>
        </p:txBody>
      </p:sp>
      <p:pic>
        <p:nvPicPr>
          <p:cNvPr id="94211" name="20 1"/>
          <p:cNvPicPr>
            <a:picLocks noChangeAspect="1"/>
          </p:cNvPicPr>
          <p:nvPr/>
        </p:nvPicPr>
        <p:blipFill>
          <a:blip r:embed="rId2"/>
          <a:stretch>
            <a:fillRect/>
          </a:stretch>
        </p:blipFill>
        <p:spPr>
          <a:xfrm>
            <a:off x="3995738" y="1433513"/>
            <a:ext cx="4811712" cy="4570412"/>
          </a:xfrm>
          <a:prstGeom prst="rect">
            <a:avLst/>
          </a:prstGeom>
          <a:noFill/>
          <a:ln w="9525">
            <a:noFill/>
          </a:ln>
        </p:spPr>
      </p:pic>
      <p:sp>
        <p:nvSpPr>
          <p:cNvPr id="94212" name="文本框 1"/>
          <p:cNvSpPr txBox="1"/>
          <p:nvPr/>
        </p:nvSpPr>
        <p:spPr>
          <a:xfrm>
            <a:off x="611188" y="1557338"/>
            <a:ext cx="3313112" cy="4446587"/>
          </a:xfrm>
          <a:prstGeom prst="rect">
            <a:avLst/>
          </a:prstGeom>
          <a:noFill/>
          <a:ln w="9525">
            <a:noFill/>
          </a:ln>
        </p:spPr>
        <p:txBody>
          <a:bodyPr>
            <a:spAutoFit/>
          </a:bodyPr>
          <a:lstStyle/>
          <a:p>
            <a:pPr eaLnBrk="1" hangingPunct="1">
              <a:lnSpc>
                <a:spcPct val="150000"/>
              </a:lnSpc>
            </a:pPr>
            <a:r>
              <a:rPr lang="zh-CN" altLang="en-US" sz="2400" dirty="0">
                <a:latin typeface="Verdana" panose="020B0604030504040204" pitchFamily="34" charset="0"/>
              </a:rPr>
              <a:t>若在循环链表中设立尾指针而不设头指针，可使某些操作简化。</a:t>
            </a:r>
            <a:endParaRPr lang="en-US" altLang="zh-CN" sz="2400" dirty="0">
              <a:latin typeface="Verdana" panose="020B0604030504040204" pitchFamily="34" charset="0"/>
            </a:endParaRPr>
          </a:p>
          <a:p>
            <a:pPr eaLnBrk="1" hangingPunct="1">
              <a:lnSpc>
                <a:spcPct val="150000"/>
              </a:lnSpc>
            </a:pPr>
            <a:endParaRPr lang="en-US" altLang="zh-CN" sz="2400" dirty="0">
              <a:latin typeface="Verdana" panose="020B0604030504040204" pitchFamily="34" charset="0"/>
            </a:endParaRPr>
          </a:p>
          <a:p>
            <a:pPr eaLnBrk="1" hangingPunct="1">
              <a:lnSpc>
                <a:spcPct val="150000"/>
              </a:lnSpc>
            </a:pPr>
            <a:r>
              <a:rPr lang="zh-CN" altLang="en-US" sz="2400" dirty="0">
                <a:latin typeface="Verdana" panose="020B0604030504040204" pitchFamily="34" charset="0"/>
              </a:rPr>
              <a:t>例如将两个线性表合并成一个表时，仅需将一个表的表尾和另一个表的表头相接。</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2.3.3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双向链表</a:t>
            </a:r>
          </a:p>
        </p:txBody>
      </p:sp>
      <p:sp>
        <p:nvSpPr>
          <p:cNvPr id="11469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单链表、循环链表：从某个结点出发只能顺指针查询后继。若要寻找结点的前驱，则只能从表头开始。</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NextElem</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PriorElem</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双向链表（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double linked list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两个指针域：指向直接后继，指向直接前驱</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C</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语言定义</a:t>
            </a:r>
          </a:p>
        </p:txBody>
      </p:sp>
      <p:sp>
        <p:nvSpPr>
          <p:cNvPr id="96259" name="Text Box 8"/>
          <p:cNvSpPr txBox="1"/>
          <p:nvPr/>
        </p:nvSpPr>
        <p:spPr>
          <a:xfrm>
            <a:off x="6011863" y="4797425"/>
            <a:ext cx="2770187" cy="1006475"/>
          </a:xfrm>
          <a:prstGeom prst="rect">
            <a:avLst/>
          </a:prstGeom>
          <a:noFill/>
          <a:ln w="9525">
            <a:noFill/>
          </a:ln>
        </p:spPr>
        <p:txBody>
          <a:bodyPr wrap="none" anchor="b" anchorCtr="0">
            <a:spAutoFit/>
          </a:bodyPr>
          <a:lstStyle/>
          <a:p>
            <a:pPr eaLnBrk="1" hangingPunct="1"/>
            <a:r>
              <a:rPr lang="en-US" altLang="zh-CN" b="0" dirty="0">
                <a:latin typeface="Verdana" panose="020B0604030504040204" pitchFamily="34" charset="0"/>
              </a:rPr>
              <a:t>d</a:t>
            </a:r>
            <a:r>
              <a:rPr lang="zh-CN" altLang="en-US" b="0" dirty="0">
                <a:latin typeface="Verdana" panose="020B0604030504040204" pitchFamily="34" charset="0"/>
              </a:rPr>
              <a:t>－</a:t>
            </a:r>
            <a:r>
              <a:rPr lang="en-US" altLang="zh-CN" b="0" dirty="0">
                <a:latin typeface="Verdana" panose="020B0604030504040204" pitchFamily="34" charset="0"/>
              </a:rPr>
              <a:t>&gt;next</a:t>
            </a:r>
            <a:r>
              <a:rPr lang="zh-CN" altLang="en-US" b="0" dirty="0">
                <a:latin typeface="Verdana" panose="020B0604030504040204" pitchFamily="34" charset="0"/>
              </a:rPr>
              <a:t>－</a:t>
            </a:r>
            <a:r>
              <a:rPr lang="en-US" altLang="zh-CN" b="0" dirty="0">
                <a:latin typeface="Verdana" panose="020B0604030504040204" pitchFamily="34" charset="0"/>
              </a:rPr>
              <a:t>&gt;prior </a:t>
            </a:r>
            <a:r>
              <a:rPr lang="zh-CN" altLang="en-US" b="0" dirty="0">
                <a:latin typeface="Verdana" panose="020B0604030504040204" pitchFamily="34" charset="0"/>
              </a:rPr>
              <a:t>＝</a:t>
            </a:r>
          </a:p>
          <a:p>
            <a:pPr eaLnBrk="1" hangingPunct="1"/>
            <a:r>
              <a:rPr lang="en-US" altLang="zh-CN" b="0" dirty="0">
                <a:latin typeface="Verdana" panose="020B0604030504040204" pitchFamily="34" charset="0"/>
              </a:rPr>
              <a:t>d</a:t>
            </a:r>
            <a:r>
              <a:rPr lang="zh-CN" altLang="en-US" b="0" dirty="0">
                <a:latin typeface="Verdana" panose="020B0604030504040204" pitchFamily="34" charset="0"/>
              </a:rPr>
              <a:t>－</a:t>
            </a:r>
            <a:r>
              <a:rPr lang="en-US" altLang="zh-CN" b="0" dirty="0">
                <a:latin typeface="Verdana" panose="020B0604030504040204" pitchFamily="34" charset="0"/>
              </a:rPr>
              <a:t>&gt;prior</a:t>
            </a:r>
            <a:r>
              <a:rPr lang="zh-CN" altLang="en-US" b="0" dirty="0">
                <a:latin typeface="Verdana" panose="020B0604030504040204" pitchFamily="34" charset="0"/>
              </a:rPr>
              <a:t>－</a:t>
            </a:r>
            <a:r>
              <a:rPr lang="en-US" altLang="zh-CN" b="0" dirty="0">
                <a:latin typeface="Verdana" panose="020B0604030504040204" pitchFamily="34" charset="0"/>
              </a:rPr>
              <a:t>&gt;next </a:t>
            </a:r>
            <a:r>
              <a:rPr lang="zh-CN" altLang="en-US" b="0" dirty="0">
                <a:latin typeface="Verdana" panose="020B0604030504040204" pitchFamily="34" charset="0"/>
              </a:rPr>
              <a:t>＝</a:t>
            </a:r>
          </a:p>
          <a:p>
            <a:pPr eaLnBrk="1" hangingPunct="1"/>
            <a:r>
              <a:rPr lang="en-US" altLang="zh-CN" b="0" dirty="0">
                <a:latin typeface="Verdana" panose="020B0604030504040204" pitchFamily="34" charset="0"/>
              </a:rPr>
              <a:t>d</a:t>
            </a:r>
          </a:p>
        </p:txBody>
      </p:sp>
      <p:pic>
        <p:nvPicPr>
          <p:cNvPr id="96260" name="20 1"/>
          <p:cNvPicPr>
            <a:picLocks noChangeAspect="1"/>
          </p:cNvPicPr>
          <p:nvPr/>
        </p:nvPicPr>
        <p:blipFill>
          <a:blip r:embed="rId2"/>
          <a:stretch>
            <a:fillRect/>
          </a:stretch>
        </p:blipFill>
        <p:spPr>
          <a:xfrm>
            <a:off x="574675" y="1600200"/>
            <a:ext cx="5511800" cy="1289050"/>
          </a:xfrm>
          <a:prstGeom prst="rect">
            <a:avLst/>
          </a:prstGeom>
          <a:noFill/>
          <a:ln w="9525">
            <a:noFill/>
          </a:ln>
        </p:spPr>
      </p:pic>
      <p:pic>
        <p:nvPicPr>
          <p:cNvPr id="96261" name="20 2"/>
          <p:cNvPicPr>
            <a:picLocks noChangeAspect="1"/>
          </p:cNvPicPr>
          <p:nvPr/>
        </p:nvPicPr>
        <p:blipFill>
          <a:blip r:embed="rId3"/>
          <a:stretch>
            <a:fillRect/>
          </a:stretch>
        </p:blipFill>
        <p:spPr>
          <a:xfrm>
            <a:off x="539750" y="2852738"/>
            <a:ext cx="3429000" cy="660400"/>
          </a:xfrm>
          <a:prstGeom prst="rect">
            <a:avLst/>
          </a:prstGeom>
          <a:noFill/>
          <a:ln w="9525">
            <a:noFill/>
          </a:ln>
        </p:spPr>
      </p:pic>
      <p:sp>
        <p:nvSpPr>
          <p:cNvPr id="96262" name="Text Box 9"/>
          <p:cNvSpPr txBox="1"/>
          <p:nvPr/>
        </p:nvSpPr>
        <p:spPr>
          <a:xfrm>
            <a:off x="4859338" y="3213100"/>
            <a:ext cx="342900" cy="396875"/>
          </a:xfrm>
          <a:prstGeom prst="rect">
            <a:avLst/>
          </a:prstGeom>
          <a:noFill/>
          <a:ln w="9525">
            <a:noFill/>
          </a:ln>
        </p:spPr>
        <p:txBody>
          <a:bodyPr wrap="none" anchor="b" anchorCtr="0">
            <a:spAutoFit/>
          </a:bodyPr>
          <a:lstStyle/>
          <a:p>
            <a:pPr algn="ctr" eaLnBrk="1" hangingPunct="1"/>
            <a:r>
              <a:rPr lang="en-US" altLang="zh-CN" b="0" dirty="0">
                <a:latin typeface="Verdana" panose="020B0604030504040204" pitchFamily="34" charset="0"/>
              </a:rPr>
              <a:t>d</a:t>
            </a:r>
          </a:p>
        </p:txBody>
      </p:sp>
      <p:pic>
        <p:nvPicPr>
          <p:cNvPr id="96263" name="20 3"/>
          <p:cNvPicPr>
            <a:picLocks noChangeAspect="1"/>
          </p:cNvPicPr>
          <p:nvPr/>
        </p:nvPicPr>
        <p:blipFill>
          <a:blip r:embed="rId4"/>
          <a:stretch>
            <a:fillRect/>
          </a:stretch>
        </p:blipFill>
        <p:spPr>
          <a:xfrm>
            <a:off x="749300" y="4076700"/>
            <a:ext cx="5262563" cy="1906588"/>
          </a:xfrm>
          <a:prstGeom prst="rect">
            <a:avLst/>
          </a:prstGeom>
          <a:noFill/>
          <a:ln w="9525">
            <a:noFill/>
          </a:ln>
        </p:spPr>
      </p:pic>
      <p:sp>
        <p:nvSpPr>
          <p:cNvPr id="115722" name="Line 10"/>
          <p:cNvSpPr>
            <a:spLocks noChangeShapeType="1"/>
          </p:cNvSpPr>
          <p:nvPr/>
        </p:nvSpPr>
        <p:spPr bwMode="auto">
          <a:xfrm flipH="1">
            <a:off x="4500563" y="3573463"/>
            <a:ext cx="358775" cy="647700"/>
          </a:xfrm>
          <a:prstGeom prst="line">
            <a:avLst/>
          </a:prstGeom>
          <a:noFill/>
          <a:ln w="9525">
            <a:solidFill>
              <a:schemeClr val="tx1"/>
            </a:solidFill>
            <a:round/>
            <a:tailEnd type="triangle" w="med" len="me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删除操作</a:t>
            </a:r>
          </a:p>
        </p:txBody>
      </p:sp>
      <p:sp>
        <p:nvSpPr>
          <p:cNvPr id="97283" name="Text Box 7"/>
          <p:cNvSpPr txBox="1"/>
          <p:nvPr/>
        </p:nvSpPr>
        <p:spPr>
          <a:xfrm>
            <a:off x="8172450" y="6237288"/>
            <a:ext cx="714375" cy="366712"/>
          </a:xfrm>
          <a:prstGeom prst="rect">
            <a:avLst/>
          </a:prstGeom>
          <a:noFill/>
          <a:ln w="9525">
            <a:noFill/>
          </a:ln>
        </p:spPr>
        <p:txBody>
          <a:bodyPr wrap="none" anchor="b" anchorCtr="0">
            <a:spAutoFit/>
          </a:bodyPr>
          <a:lstStyle/>
          <a:p>
            <a:pPr eaLnBrk="1" hangingPunct="1"/>
            <a:r>
              <a:rPr lang="en-US" altLang="zh-CN" sz="1800" b="0" dirty="0">
                <a:latin typeface="Verdana" panose="020B0604030504040204" pitchFamily="34" charset="0"/>
              </a:rPr>
              <a:t>O(n)</a:t>
            </a:r>
          </a:p>
        </p:txBody>
      </p:sp>
      <p:pic>
        <p:nvPicPr>
          <p:cNvPr id="97284" name="20 1"/>
          <p:cNvPicPr>
            <a:picLocks noChangeAspect="1"/>
          </p:cNvPicPr>
          <p:nvPr/>
        </p:nvPicPr>
        <p:blipFill>
          <a:blip r:embed="rId2"/>
          <a:stretch>
            <a:fillRect/>
          </a:stretch>
        </p:blipFill>
        <p:spPr>
          <a:xfrm>
            <a:off x="4643438" y="188913"/>
            <a:ext cx="3867150" cy="2076450"/>
          </a:xfrm>
          <a:prstGeom prst="rect">
            <a:avLst/>
          </a:prstGeom>
          <a:noFill/>
          <a:ln w="9525">
            <a:noFill/>
          </a:ln>
        </p:spPr>
      </p:pic>
      <p:pic>
        <p:nvPicPr>
          <p:cNvPr id="97285" name="20 2"/>
          <p:cNvPicPr>
            <a:picLocks noChangeAspect="1"/>
          </p:cNvPicPr>
          <p:nvPr/>
        </p:nvPicPr>
        <p:blipFill>
          <a:blip r:embed="rId3"/>
          <a:stretch>
            <a:fillRect/>
          </a:stretch>
        </p:blipFill>
        <p:spPr>
          <a:xfrm>
            <a:off x="323850" y="2349500"/>
            <a:ext cx="8191500" cy="3260725"/>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2"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插入操作</a:t>
            </a:r>
          </a:p>
        </p:txBody>
      </p:sp>
      <p:sp>
        <p:nvSpPr>
          <p:cNvPr id="98307" name="Text Box 9"/>
          <p:cNvSpPr txBox="1"/>
          <p:nvPr/>
        </p:nvSpPr>
        <p:spPr>
          <a:xfrm>
            <a:off x="8172450" y="6237288"/>
            <a:ext cx="714375" cy="366712"/>
          </a:xfrm>
          <a:prstGeom prst="rect">
            <a:avLst/>
          </a:prstGeom>
          <a:noFill/>
          <a:ln w="9525">
            <a:noFill/>
          </a:ln>
        </p:spPr>
        <p:txBody>
          <a:bodyPr wrap="none" anchor="b" anchorCtr="0">
            <a:spAutoFit/>
          </a:bodyPr>
          <a:lstStyle/>
          <a:p>
            <a:pPr eaLnBrk="1" hangingPunct="1"/>
            <a:r>
              <a:rPr lang="en-US" altLang="zh-CN" sz="1800" b="0" dirty="0">
                <a:latin typeface="Verdana" panose="020B0604030504040204" pitchFamily="34" charset="0"/>
              </a:rPr>
              <a:t>O(n)</a:t>
            </a:r>
          </a:p>
        </p:txBody>
      </p:sp>
      <p:pic>
        <p:nvPicPr>
          <p:cNvPr id="98308" name="20 1"/>
          <p:cNvPicPr>
            <a:picLocks noChangeAspect="1"/>
          </p:cNvPicPr>
          <p:nvPr/>
        </p:nvPicPr>
        <p:blipFill>
          <a:blip r:embed="rId2"/>
          <a:stretch>
            <a:fillRect/>
          </a:stretch>
        </p:blipFill>
        <p:spPr>
          <a:xfrm>
            <a:off x="5148263" y="103188"/>
            <a:ext cx="3297237" cy="2173287"/>
          </a:xfrm>
          <a:prstGeom prst="rect">
            <a:avLst/>
          </a:prstGeom>
          <a:noFill/>
          <a:ln w="9525">
            <a:noFill/>
          </a:ln>
        </p:spPr>
      </p:pic>
      <p:pic>
        <p:nvPicPr>
          <p:cNvPr id="98309" name="20 2"/>
          <p:cNvPicPr>
            <a:picLocks noChangeAspect="1"/>
          </p:cNvPicPr>
          <p:nvPr/>
        </p:nvPicPr>
        <p:blipFill>
          <a:blip r:embed="rId3"/>
          <a:stretch>
            <a:fillRect/>
          </a:stretch>
        </p:blipFill>
        <p:spPr>
          <a:xfrm>
            <a:off x="395288" y="2243138"/>
            <a:ext cx="7439025" cy="4259262"/>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2.4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一元多项式的表示和相加</a:t>
            </a:r>
          </a:p>
        </p:txBody>
      </p:sp>
      <p:pic>
        <p:nvPicPr>
          <p:cNvPr id="99331" name="Picture 4"/>
          <p:cNvPicPr>
            <a:picLocks noChangeAspect="1"/>
          </p:cNvPicPr>
          <p:nvPr/>
        </p:nvPicPr>
        <p:blipFill>
          <a:blip r:embed="rId2"/>
          <a:stretch>
            <a:fillRect/>
          </a:stretch>
        </p:blipFill>
        <p:spPr>
          <a:xfrm>
            <a:off x="900113" y="2392363"/>
            <a:ext cx="4130675" cy="366712"/>
          </a:xfrm>
          <a:prstGeom prst="rect">
            <a:avLst/>
          </a:prstGeom>
          <a:noFill/>
          <a:ln w="9525">
            <a:noFill/>
          </a:ln>
        </p:spPr>
      </p:pic>
      <p:sp>
        <p:nvSpPr>
          <p:cNvPr id="99332" name="Text Box 6"/>
          <p:cNvSpPr txBox="1"/>
          <p:nvPr/>
        </p:nvSpPr>
        <p:spPr>
          <a:xfrm>
            <a:off x="2339975" y="2895600"/>
            <a:ext cx="438150" cy="396875"/>
          </a:xfrm>
          <a:prstGeom prst="rect">
            <a:avLst/>
          </a:prstGeom>
          <a:noFill/>
          <a:ln w="9525">
            <a:noFill/>
          </a:ln>
        </p:spPr>
        <p:txBody>
          <a:bodyPr wrap="none" anchor="b" anchorCtr="0">
            <a:spAutoFit/>
          </a:bodyPr>
          <a:lstStyle/>
          <a:p>
            <a:pPr algn="ctr" eaLnBrk="1" hangingPunct="1"/>
            <a:r>
              <a:rPr lang="zh-CN" altLang="en-US" b="0" dirty="0">
                <a:latin typeface="Verdana" panose="020B0604030504040204" pitchFamily="34" charset="0"/>
              </a:rPr>
              <a:t>＋</a:t>
            </a:r>
          </a:p>
        </p:txBody>
      </p:sp>
      <p:sp>
        <p:nvSpPr>
          <p:cNvPr id="128010" name="AutoShape 10"/>
          <p:cNvSpPr>
            <a:spLocks noChangeArrowheads="1"/>
          </p:cNvSpPr>
          <p:nvPr/>
        </p:nvSpPr>
        <p:spPr bwMode="auto">
          <a:xfrm>
            <a:off x="5435600" y="2968625"/>
            <a:ext cx="749300" cy="447675"/>
          </a:xfrm>
          <a:prstGeom prst="rightArrow">
            <a:avLst>
              <a:gd name="adj1" fmla="val 50000"/>
              <a:gd name="adj2" fmla="val 41844"/>
            </a:avLst>
          </a:prstGeom>
          <a:noFill/>
          <a:ln w="9525" algn="ctr">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9334" name="Text Box 11"/>
          <p:cNvSpPr txBox="1"/>
          <p:nvPr/>
        </p:nvSpPr>
        <p:spPr>
          <a:xfrm>
            <a:off x="736600" y="1782763"/>
            <a:ext cx="3155950" cy="396875"/>
          </a:xfrm>
          <a:prstGeom prst="rect">
            <a:avLst/>
          </a:prstGeom>
          <a:noFill/>
          <a:ln w="9525">
            <a:noFill/>
          </a:ln>
        </p:spPr>
        <p:txBody>
          <a:bodyPr wrap="none" anchor="b" anchorCtr="0">
            <a:spAutoFit/>
          </a:bodyPr>
          <a:lstStyle/>
          <a:p>
            <a:pPr algn="ctr" eaLnBrk="1" hangingPunct="1"/>
            <a:r>
              <a:rPr lang="zh-CN" altLang="en-US" b="0" dirty="0">
                <a:latin typeface="Verdana" panose="020B0604030504040204" pitchFamily="34" charset="0"/>
              </a:rPr>
              <a:t>多项式的数学形式</a:t>
            </a:r>
            <a:r>
              <a:rPr lang="en-US" altLang="zh-CN" b="0" dirty="0">
                <a:latin typeface="Verdana" panose="020B0604030504040204" pitchFamily="34" charset="0"/>
              </a:rPr>
              <a:t>:m&lt;=n</a:t>
            </a:r>
          </a:p>
        </p:txBody>
      </p:sp>
      <p:sp>
        <p:nvSpPr>
          <p:cNvPr id="128019" name="Text Box 19"/>
          <p:cNvSpPr txBox="1">
            <a:spLocks noChangeArrowheads="1"/>
          </p:cNvSpPr>
          <p:nvPr/>
        </p:nvSpPr>
        <p:spPr bwMode="auto">
          <a:xfrm>
            <a:off x="923925" y="3349625"/>
            <a:ext cx="3071813" cy="366713"/>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i="1"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 = </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0</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1</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kern="1200" cap="none" spc="0" normalizeH="0" baseline="30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18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a:t>
            </a:r>
            <a:r>
              <a:rPr kumimoji="0" lang="en-US" altLang="zh-CN" sz="1800" i="1"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r>
              <a:rPr kumimoji="0" lang="en-US" altLang="zh-CN" sz="1800"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zh-CN" sz="1800" i="1" kern="1200" cap="none" spc="0" normalizeH="0" baseline="30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p>
        </p:txBody>
      </p:sp>
      <p:sp>
        <p:nvSpPr>
          <p:cNvPr id="99336" name="Text Box 20"/>
          <p:cNvSpPr txBox="1"/>
          <p:nvPr/>
        </p:nvSpPr>
        <p:spPr>
          <a:xfrm>
            <a:off x="323850" y="4581525"/>
            <a:ext cx="8378825" cy="396875"/>
          </a:xfrm>
          <a:prstGeom prst="rect">
            <a:avLst/>
          </a:prstGeom>
          <a:noFill/>
          <a:ln w="9525">
            <a:noFill/>
          </a:ln>
        </p:spPr>
        <p:txBody>
          <a:bodyPr wrap="none" anchor="b" anchorCtr="0">
            <a:spAutoFit/>
          </a:bodyPr>
          <a:lstStyle/>
          <a:p>
            <a:pPr algn="ctr" eaLnBrk="1" hangingPunct="1"/>
            <a:r>
              <a:rPr lang="en-US" altLang="zh-CN" i="1" dirty="0">
                <a:latin typeface="Times New Roman" panose="02020603050405020304" pitchFamily="18" charset="0"/>
              </a:rPr>
              <a:t>P</a:t>
            </a:r>
            <a:r>
              <a:rPr lang="en-US" altLang="zh-CN" sz="1600" i="1" dirty="0">
                <a:latin typeface="Times New Roman" panose="02020603050405020304" pitchFamily="18" charset="0"/>
              </a:rPr>
              <a:t>n</a:t>
            </a:r>
            <a:r>
              <a:rPr lang="en-US" altLang="zh-CN" i="1" dirty="0">
                <a:latin typeface="Times New Roman" panose="02020603050405020304" pitchFamily="18" charset="0"/>
              </a:rPr>
              <a:t>(x)+Q</a:t>
            </a:r>
            <a:r>
              <a:rPr lang="en-US" altLang="zh-CN" sz="1600" i="1" dirty="0">
                <a:latin typeface="Times New Roman" panose="02020603050405020304" pitchFamily="18" charset="0"/>
              </a:rPr>
              <a:t>m</a:t>
            </a:r>
            <a:r>
              <a:rPr lang="en-US" altLang="zh-CN" i="1" dirty="0">
                <a:latin typeface="Times New Roman" panose="02020603050405020304" pitchFamily="18" charset="0"/>
              </a:rPr>
              <a:t>(x) = (p</a:t>
            </a:r>
            <a:r>
              <a:rPr lang="en-US" altLang="zh-CN" sz="1800" i="1" baseline="-25000" dirty="0">
                <a:latin typeface="Times New Roman" panose="02020603050405020304" pitchFamily="18" charset="0"/>
              </a:rPr>
              <a:t>0</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0</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1</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1</a:t>
            </a:r>
            <a:r>
              <a:rPr lang="en-US" altLang="zh-CN" i="1" dirty="0">
                <a:latin typeface="Times New Roman" panose="02020603050405020304" pitchFamily="18" charset="0"/>
              </a:rPr>
              <a:t>)x+(p</a:t>
            </a:r>
            <a:r>
              <a:rPr lang="en-US" altLang="zh-CN" sz="1800" i="1" baseline="-25000" dirty="0">
                <a:latin typeface="Times New Roman" panose="02020603050405020304" pitchFamily="18" charset="0"/>
              </a:rPr>
              <a:t>2</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2</a:t>
            </a:r>
            <a:r>
              <a:rPr lang="en-US" altLang="zh-CN" i="1" dirty="0">
                <a:latin typeface="Times New Roman" panose="02020603050405020304" pitchFamily="18" charset="0"/>
              </a:rPr>
              <a:t>)x</a:t>
            </a:r>
            <a:r>
              <a:rPr lang="en-US" altLang="zh-CN" i="1" baseline="30000" dirty="0">
                <a:latin typeface="Times New Roman" panose="02020603050405020304" pitchFamily="18" charset="0"/>
              </a:rPr>
              <a:t>2</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m</a:t>
            </a:r>
            <a:r>
              <a:rPr lang="en-US" altLang="zh-CN" i="1" dirty="0">
                <a:latin typeface="Times New Roman" panose="02020603050405020304" pitchFamily="18" charset="0"/>
              </a:rPr>
              <a:t>+q</a:t>
            </a:r>
            <a:r>
              <a:rPr lang="en-US" altLang="zh-CN" sz="1800" i="1" baseline="-25000" dirty="0">
                <a:latin typeface="Times New Roman" panose="02020603050405020304" pitchFamily="18" charset="0"/>
              </a:rPr>
              <a:t>m</a:t>
            </a:r>
            <a:r>
              <a:rPr lang="en-US" altLang="zh-CN" i="1" dirty="0">
                <a:latin typeface="Times New Roman" panose="02020603050405020304" pitchFamily="18" charset="0"/>
              </a:rPr>
              <a:t>) x</a:t>
            </a:r>
            <a:r>
              <a:rPr lang="en-US" altLang="zh-CN" i="1" baseline="30000" dirty="0">
                <a:latin typeface="Times New Roman" panose="02020603050405020304" pitchFamily="18" charset="0"/>
              </a:rPr>
              <a:t>m</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m+1</a:t>
            </a:r>
            <a:r>
              <a:rPr lang="en-US" altLang="zh-CN" i="1" dirty="0">
                <a:latin typeface="Times New Roman" panose="02020603050405020304" pitchFamily="18" charset="0"/>
              </a:rPr>
              <a:t> x</a:t>
            </a:r>
            <a:r>
              <a:rPr lang="en-US" altLang="zh-CN" i="1" baseline="30000" dirty="0">
                <a:latin typeface="Times New Roman" panose="02020603050405020304" pitchFamily="18" charset="0"/>
              </a:rPr>
              <a:t>m+1 </a:t>
            </a:r>
            <a:r>
              <a:rPr lang="en-US" altLang="zh-CN" i="1" dirty="0">
                <a:latin typeface="Times New Roman" panose="02020603050405020304" pitchFamily="18" charset="0"/>
              </a:rPr>
              <a:t>+…+p</a:t>
            </a:r>
            <a:r>
              <a:rPr lang="en-US" altLang="zh-CN" sz="1800" i="1" baseline="-25000" dirty="0">
                <a:latin typeface="Times New Roman" panose="02020603050405020304" pitchFamily="18" charset="0"/>
              </a:rPr>
              <a:t>n</a:t>
            </a:r>
            <a:r>
              <a:rPr lang="en-US" altLang="zh-CN" i="1" dirty="0">
                <a:latin typeface="Times New Roman" panose="02020603050405020304" pitchFamily="18" charset="0"/>
              </a:rPr>
              <a:t> x</a:t>
            </a:r>
            <a:r>
              <a:rPr lang="en-US" altLang="zh-CN" i="1" baseline="30000" dirty="0">
                <a:latin typeface="Times New Roman" panose="02020603050405020304" pitchFamily="18" charset="0"/>
              </a:rPr>
              <a:t>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58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2.4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一元多项式的表示和相加</a:t>
            </a:r>
          </a:p>
        </p:txBody>
      </p:sp>
      <p:sp>
        <p:nvSpPr>
          <p:cNvPr id="9758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数据存储方式</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顺序表</a:t>
            </a: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方案一：数组下标对应指数，数组元素对应系数</a:t>
            </a: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方案二：数组元素包含两个项：指数和系数</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单链表</a:t>
            </a: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方案三：节点包含三个项：指数，系数和链域</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1378" name="Picture 4"/>
          <p:cNvPicPr>
            <a:picLocks noChangeAspect="1"/>
          </p:cNvPicPr>
          <p:nvPr/>
        </p:nvPicPr>
        <p:blipFill>
          <a:blip r:embed="rId2"/>
          <a:srcRect r="2777" b="-23119"/>
          <a:stretch>
            <a:fillRect/>
          </a:stretch>
        </p:blipFill>
        <p:spPr>
          <a:xfrm>
            <a:off x="250825" y="1484313"/>
            <a:ext cx="3889375" cy="530225"/>
          </a:xfrm>
          <a:prstGeom prst="rect">
            <a:avLst/>
          </a:prstGeom>
          <a:noFill/>
          <a:ln w="9525">
            <a:noFill/>
          </a:ln>
        </p:spPr>
      </p:pic>
      <p:grpSp>
        <p:nvGrpSpPr>
          <p:cNvPr id="101379" name="Group 5"/>
          <p:cNvGrpSpPr/>
          <p:nvPr/>
        </p:nvGrpSpPr>
        <p:grpSpPr>
          <a:xfrm>
            <a:off x="323850" y="2205038"/>
            <a:ext cx="3097213" cy="504825"/>
            <a:chOff x="2064" y="2568"/>
            <a:chExt cx="1568" cy="156"/>
          </a:xfrm>
        </p:grpSpPr>
        <p:pic>
          <p:nvPicPr>
            <p:cNvPr id="101570" name="Picture 6"/>
            <p:cNvPicPr>
              <a:picLocks noChangeAspect="1"/>
            </p:cNvPicPr>
            <p:nvPr/>
          </p:nvPicPr>
          <p:blipFill>
            <a:blip r:embed="rId3"/>
            <a:stretch>
              <a:fillRect/>
            </a:stretch>
          </p:blipFill>
          <p:spPr>
            <a:xfrm>
              <a:off x="2064" y="2568"/>
              <a:ext cx="960" cy="150"/>
            </a:xfrm>
            <a:prstGeom prst="rect">
              <a:avLst/>
            </a:prstGeom>
            <a:noFill/>
            <a:ln w="9525">
              <a:noFill/>
            </a:ln>
          </p:spPr>
        </p:pic>
        <p:pic>
          <p:nvPicPr>
            <p:cNvPr id="101571" name="Picture 7"/>
            <p:cNvPicPr>
              <a:picLocks noChangeAspect="1"/>
            </p:cNvPicPr>
            <p:nvPr/>
          </p:nvPicPr>
          <p:blipFill>
            <a:blip r:embed="rId4"/>
            <a:stretch>
              <a:fillRect/>
            </a:stretch>
          </p:blipFill>
          <p:spPr>
            <a:xfrm>
              <a:off x="2864" y="2568"/>
              <a:ext cx="768" cy="156"/>
            </a:xfrm>
            <a:prstGeom prst="rect">
              <a:avLst/>
            </a:prstGeom>
            <a:noFill/>
            <a:ln w="9525">
              <a:noFill/>
            </a:ln>
          </p:spPr>
        </p:pic>
      </p:grpSp>
      <p:graphicFrame>
        <p:nvGraphicFramePr>
          <p:cNvPr id="125956" name="表格 125955"/>
          <p:cNvGraphicFramePr/>
          <p:nvPr/>
        </p:nvGraphicFramePr>
        <p:xfrm>
          <a:off x="4859338" y="96838"/>
          <a:ext cx="3217863" cy="6577013"/>
        </p:xfrm>
        <a:graphic>
          <a:graphicData uri="http://schemas.openxmlformats.org/drawingml/2006/table">
            <a:tbl>
              <a:tblPr/>
              <a:tblGrid>
                <a:gridCol w="718994">
                  <a:extLst>
                    <a:ext uri="{9D8B030D-6E8A-4147-A177-3AD203B41FA5}">
                      <a16:colId xmlns:a16="http://schemas.microsoft.com/office/drawing/2014/main" val="20000"/>
                    </a:ext>
                  </a:extLst>
                </a:gridCol>
                <a:gridCol w="647570">
                  <a:extLst>
                    <a:ext uri="{9D8B030D-6E8A-4147-A177-3AD203B41FA5}">
                      <a16:colId xmlns:a16="http://schemas.microsoft.com/office/drawing/2014/main" val="20001"/>
                    </a:ext>
                  </a:extLst>
                </a:gridCol>
                <a:gridCol w="208244">
                  <a:extLst>
                    <a:ext uri="{9D8B030D-6E8A-4147-A177-3AD203B41FA5}">
                      <a16:colId xmlns:a16="http://schemas.microsoft.com/office/drawing/2014/main" val="20002"/>
                    </a:ext>
                  </a:extLst>
                </a:gridCol>
                <a:gridCol w="680901">
                  <a:extLst>
                    <a:ext uri="{9D8B030D-6E8A-4147-A177-3AD203B41FA5}">
                      <a16:colId xmlns:a16="http://schemas.microsoft.com/office/drawing/2014/main" val="20003"/>
                    </a:ext>
                  </a:extLst>
                </a:gridCol>
                <a:gridCol w="208244">
                  <a:extLst>
                    <a:ext uri="{9D8B030D-6E8A-4147-A177-3AD203B41FA5}">
                      <a16:colId xmlns:a16="http://schemas.microsoft.com/office/drawing/2014/main" val="20004"/>
                    </a:ext>
                  </a:extLst>
                </a:gridCol>
                <a:gridCol w="753911">
                  <a:extLst>
                    <a:ext uri="{9D8B030D-6E8A-4147-A177-3AD203B41FA5}">
                      <a16:colId xmlns:a16="http://schemas.microsoft.com/office/drawing/2014/main" val="20005"/>
                    </a:ext>
                  </a:extLst>
                </a:gridCol>
              </a:tblGrid>
              <a:tr h="335272">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zh-CN" altLang="en-US" sz="1600" dirty="0">
                          <a:solidFill>
                            <a:schemeClr val="tx1"/>
                          </a:solidFill>
                          <a:effectLst>
                            <a:outerShdw blurRad="38100" dist="38100" dir="2700000">
                              <a:srgbClr val="C0C0C0"/>
                            </a:outerShdw>
                          </a:effectLst>
                          <a:latin typeface="Verdana" panose="020B0604030504040204" pitchFamily="34" charset="0"/>
                        </a:rPr>
                        <a:t>下标</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A</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B</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A+B</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7</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7</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3</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8</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11</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2</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3</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9213">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4</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5</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6</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7</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22</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22</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8</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9</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-9</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9</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9213">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10</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11</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12</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47626">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13</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476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14</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46039">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15</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49213">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16</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0</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335272">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17</a:t>
                      </a:r>
                    </a:p>
                  </a:txBody>
                  <a:tcPr marL="91422" marR="91422" marT="45716" marB="4571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5</a:t>
                      </a:r>
                    </a:p>
                  </a:txBody>
                  <a:tcPr marL="91422" marR="91422" marT="45716" marB="457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1600" dirty="0">
                        <a:solidFill>
                          <a:schemeClr val="tx1"/>
                        </a:solidFill>
                        <a:effectLst>
                          <a:outerShdw blurRad="38100" dist="38100" dir="2700000">
                            <a:srgbClr val="C0C0C0"/>
                          </a:outerShdw>
                        </a:effectLst>
                        <a:latin typeface="Verdana" panose="020B0604030504040204" pitchFamily="34" charset="0"/>
                      </a:endParaRP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600" dirty="0">
                          <a:solidFill>
                            <a:schemeClr val="tx1"/>
                          </a:solidFill>
                          <a:effectLst>
                            <a:outerShdw blurRad="38100" dist="38100" dir="2700000">
                              <a:srgbClr val="C0C0C0"/>
                            </a:outerShdw>
                          </a:effectLst>
                          <a:latin typeface="Verdana" panose="020B0604030504040204" pitchFamily="34" charset="0"/>
                        </a:rPr>
                        <a:t>5</a:t>
                      </a:r>
                    </a:p>
                  </a:txBody>
                  <a:tcPr marL="91422" marR="91422" marT="45716" marB="457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bl>
          </a:graphicData>
        </a:graphic>
      </p:graphicFrame>
      <p:sp>
        <p:nvSpPr>
          <p:cNvPr id="977344" name="Text Box 448"/>
          <p:cNvSpPr txBox="1">
            <a:spLocks noChangeArrowheads="1"/>
          </p:cNvSpPr>
          <p:nvPr/>
        </p:nvSpPr>
        <p:spPr bwMode="auto">
          <a:xfrm>
            <a:off x="568325" y="457200"/>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方案一</a:t>
            </a:r>
          </a:p>
        </p:txBody>
      </p:sp>
      <p:pic>
        <p:nvPicPr>
          <p:cNvPr id="977345" name="Picture 449"/>
          <p:cNvPicPr>
            <a:picLocks noChangeAspect="1"/>
          </p:cNvPicPr>
          <p:nvPr/>
        </p:nvPicPr>
        <p:blipFill>
          <a:blip r:embed="rId5"/>
          <a:stretch>
            <a:fillRect/>
          </a:stretch>
        </p:blipFill>
        <p:spPr>
          <a:xfrm>
            <a:off x="179388" y="6021388"/>
            <a:ext cx="4176712" cy="4699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77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402" name="Picture 2"/>
          <p:cNvPicPr>
            <a:picLocks noChangeAspect="1"/>
          </p:cNvPicPr>
          <p:nvPr/>
        </p:nvPicPr>
        <p:blipFill>
          <a:blip r:embed="rId2"/>
          <a:srcRect r="2777" b="-23119"/>
          <a:stretch>
            <a:fillRect/>
          </a:stretch>
        </p:blipFill>
        <p:spPr>
          <a:xfrm>
            <a:off x="1547813" y="404813"/>
            <a:ext cx="3348037" cy="457200"/>
          </a:xfrm>
          <a:prstGeom prst="rect">
            <a:avLst/>
          </a:prstGeom>
          <a:noFill/>
          <a:ln w="9525">
            <a:noFill/>
          </a:ln>
        </p:spPr>
      </p:pic>
      <p:grpSp>
        <p:nvGrpSpPr>
          <p:cNvPr id="102403" name="Group 3"/>
          <p:cNvGrpSpPr/>
          <p:nvPr/>
        </p:nvGrpSpPr>
        <p:grpSpPr>
          <a:xfrm>
            <a:off x="5580063" y="404813"/>
            <a:ext cx="2879725" cy="287337"/>
            <a:chOff x="2064" y="2568"/>
            <a:chExt cx="1568" cy="156"/>
          </a:xfrm>
        </p:grpSpPr>
        <p:pic>
          <p:nvPicPr>
            <p:cNvPr id="102490" name="Picture 4"/>
            <p:cNvPicPr>
              <a:picLocks noChangeAspect="1"/>
            </p:cNvPicPr>
            <p:nvPr/>
          </p:nvPicPr>
          <p:blipFill>
            <a:blip r:embed="rId3"/>
            <a:stretch>
              <a:fillRect/>
            </a:stretch>
          </p:blipFill>
          <p:spPr>
            <a:xfrm>
              <a:off x="2064" y="2568"/>
              <a:ext cx="960" cy="150"/>
            </a:xfrm>
            <a:prstGeom prst="rect">
              <a:avLst/>
            </a:prstGeom>
            <a:noFill/>
            <a:ln w="9525">
              <a:noFill/>
            </a:ln>
          </p:spPr>
        </p:pic>
        <p:pic>
          <p:nvPicPr>
            <p:cNvPr id="102491" name="Picture 5"/>
            <p:cNvPicPr>
              <a:picLocks noChangeAspect="1"/>
            </p:cNvPicPr>
            <p:nvPr/>
          </p:nvPicPr>
          <p:blipFill>
            <a:blip r:embed="rId4"/>
            <a:stretch>
              <a:fillRect/>
            </a:stretch>
          </p:blipFill>
          <p:spPr>
            <a:xfrm>
              <a:off x="2864" y="2568"/>
              <a:ext cx="768" cy="156"/>
            </a:xfrm>
            <a:prstGeom prst="rect">
              <a:avLst/>
            </a:prstGeom>
            <a:noFill/>
            <a:ln w="9525">
              <a:noFill/>
            </a:ln>
          </p:spPr>
        </p:pic>
      </p:grpSp>
      <p:graphicFrame>
        <p:nvGraphicFramePr>
          <p:cNvPr id="126980" name="表格 126979"/>
          <p:cNvGraphicFramePr/>
          <p:nvPr/>
        </p:nvGraphicFramePr>
        <p:xfrm>
          <a:off x="900113" y="1412875"/>
          <a:ext cx="6985000" cy="3168650"/>
        </p:xfrm>
        <a:graphic>
          <a:graphicData uri="http://schemas.openxmlformats.org/drawingml/2006/table">
            <a:tbl>
              <a:tblPr/>
              <a:tblGrid>
                <a:gridCol w="912813">
                  <a:extLst>
                    <a:ext uri="{9D8B030D-6E8A-4147-A177-3AD203B41FA5}">
                      <a16:colId xmlns:a16="http://schemas.microsoft.com/office/drawing/2014/main" val="20000"/>
                    </a:ext>
                  </a:extLst>
                </a:gridCol>
                <a:gridCol w="1098550">
                  <a:extLst>
                    <a:ext uri="{9D8B030D-6E8A-4147-A177-3AD203B41FA5}">
                      <a16:colId xmlns:a16="http://schemas.microsoft.com/office/drawing/2014/main" val="20001"/>
                    </a:ext>
                  </a:extLst>
                </a:gridCol>
                <a:gridCol w="868362">
                  <a:extLst>
                    <a:ext uri="{9D8B030D-6E8A-4147-A177-3AD203B41FA5}">
                      <a16:colId xmlns:a16="http://schemas.microsoft.com/office/drawing/2014/main" val="20002"/>
                    </a:ext>
                  </a:extLst>
                </a:gridCol>
                <a:gridCol w="23177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231775">
                  <a:extLst>
                    <a:ext uri="{9D8B030D-6E8A-4147-A177-3AD203B41FA5}">
                      <a16:colId xmlns:a16="http://schemas.microsoft.com/office/drawing/2014/main" val="20006"/>
                    </a:ext>
                  </a:extLst>
                </a:gridCol>
                <a:gridCol w="957263">
                  <a:extLst>
                    <a:ext uri="{9D8B030D-6E8A-4147-A177-3AD203B41FA5}">
                      <a16:colId xmlns:a16="http://schemas.microsoft.com/office/drawing/2014/main" val="20007"/>
                    </a:ext>
                  </a:extLst>
                </a:gridCol>
                <a:gridCol w="957262">
                  <a:extLst>
                    <a:ext uri="{9D8B030D-6E8A-4147-A177-3AD203B41FA5}">
                      <a16:colId xmlns:a16="http://schemas.microsoft.com/office/drawing/2014/main" val="20008"/>
                    </a:ext>
                  </a:extLst>
                </a:gridCol>
              </a:tblGrid>
              <a:tr h="515938">
                <a:tc row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zh-CN" altLang="en-US" dirty="0">
                          <a:solidFill>
                            <a:schemeClr val="tx1"/>
                          </a:solidFill>
                          <a:effectLst>
                            <a:outerShdw blurRad="38100" dist="38100" dir="2700000">
                              <a:srgbClr val="C0C0C0"/>
                            </a:outerShdw>
                          </a:effectLst>
                          <a:latin typeface="Verdana" panose="020B0604030504040204" pitchFamily="34" charset="0"/>
                        </a:rPr>
                        <a:t>下标</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grid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A</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grid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B</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gridSpan="2">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A+B</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514350">
                <a:tc vMerge="1">
                  <a:txBody>
                    <a:bodyPr/>
                    <a:lstStyle/>
                    <a:p>
                      <a:endParaRPr lang="zh-CN"/>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coef</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exp</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coef</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exp</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coef</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exp</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7">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8</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4988">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22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657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9</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-9</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22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1812">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dirty="0">
                          <a:solidFill>
                            <a:schemeClr val="tx1"/>
                          </a:solidFill>
                          <a:effectLst>
                            <a:outerShdw blurRad="38100" dist="38100" dir="2700000">
                              <a:srgbClr val="C0C0C0"/>
                            </a:outerShdw>
                          </a:effectLst>
                          <a:latin typeface="Verdana" panose="020B0604030504040204" pitchFamily="34" charset="0"/>
                        </a:rPr>
                        <a:t>17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78121" name="Text Box 201"/>
          <p:cNvSpPr txBox="1">
            <a:spLocks noChangeArrowheads="1"/>
          </p:cNvSpPr>
          <p:nvPr/>
        </p:nvSpPr>
        <p:spPr bwMode="auto">
          <a:xfrm>
            <a:off x="395288" y="404813"/>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方案二</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426" name="Picture 5"/>
          <p:cNvPicPr>
            <a:picLocks noChangeAspect="1"/>
          </p:cNvPicPr>
          <p:nvPr/>
        </p:nvPicPr>
        <p:blipFill>
          <a:blip r:embed="rId2"/>
          <a:srcRect r="2777" b="-23119"/>
          <a:stretch>
            <a:fillRect/>
          </a:stretch>
        </p:blipFill>
        <p:spPr>
          <a:xfrm>
            <a:off x="1547813" y="333375"/>
            <a:ext cx="3168650" cy="431800"/>
          </a:xfrm>
          <a:prstGeom prst="rect">
            <a:avLst/>
          </a:prstGeom>
          <a:noFill/>
          <a:ln w="9525">
            <a:noFill/>
          </a:ln>
        </p:spPr>
      </p:pic>
      <p:grpSp>
        <p:nvGrpSpPr>
          <p:cNvPr id="103427" name="Group 8"/>
          <p:cNvGrpSpPr/>
          <p:nvPr/>
        </p:nvGrpSpPr>
        <p:grpSpPr>
          <a:xfrm>
            <a:off x="5364163" y="260350"/>
            <a:ext cx="2879725" cy="358775"/>
            <a:chOff x="2064" y="2568"/>
            <a:chExt cx="1568" cy="156"/>
          </a:xfrm>
        </p:grpSpPr>
        <p:pic>
          <p:nvPicPr>
            <p:cNvPr id="103431" name="Picture 6"/>
            <p:cNvPicPr>
              <a:picLocks noChangeAspect="1"/>
            </p:cNvPicPr>
            <p:nvPr/>
          </p:nvPicPr>
          <p:blipFill>
            <a:blip r:embed="rId3"/>
            <a:stretch>
              <a:fillRect/>
            </a:stretch>
          </p:blipFill>
          <p:spPr>
            <a:xfrm>
              <a:off x="2064" y="2568"/>
              <a:ext cx="960" cy="150"/>
            </a:xfrm>
            <a:prstGeom prst="rect">
              <a:avLst/>
            </a:prstGeom>
            <a:noFill/>
            <a:ln w="9525">
              <a:noFill/>
            </a:ln>
          </p:spPr>
        </p:pic>
        <p:pic>
          <p:nvPicPr>
            <p:cNvPr id="103432" name="Picture 7"/>
            <p:cNvPicPr>
              <a:picLocks noChangeAspect="1"/>
            </p:cNvPicPr>
            <p:nvPr/>
          </p:nvPicPr>
          <p:blipFill>
            <a:blip r:embed="rId4"/>
            <a:stretch>
              <a:fillRect/>
            </a:stretch>
          </p:blipFill>
          <p:spPr>
            <a:xfrm>
              <a:off x="2864" y="2568"/>
              <a:ext cx="768" cy="156"/>
            </a:xfrm>
            <a:prstGeom prst="rect">
              <a:avLst/>
            </a:prstGeom>
            <a:noFill/>
            <a:ln w="9525">
              <a:noFill/>
            </a:ln>
          </p:spPr>
        </p:pic>
      </p:grpSp>
      <p:sp>
        <p:nvSpPr>
          <p:cNvPr id="131084" name="Text Box 12"/>
          <p:cNvSpPr txBox="1">
            <a:spLocks noChangeArrowheads="1"/>
          </p:cNvSpPr>
          <p:nvPr/>
        </p:nvSpPr>
        <p:spPr bwMode="auto">
          <a:xfrm>
            <a:off x="179388" y="333375"/>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方案三</a:t>
            </a:r>
          </a:p>
        </p:txBody>
      </p:sp>
      <p:pic>
        <p:nvPicPr>
          <p:cNvPr id="103429" name="20 1"/>
          <p:cNvPicPr>
            <a:picLocks noChangeAspect="1"/>
          </p:cNvPicPr>
          <p:nvPr/>
        </p:nvPicPr>
        <p:blipFill>
          <a:blip r:embed="rId5"/>
          <a:stretch>
            <a:fillRect/>
          </a:stretch>
        </p:blipFill>
        <p:spPr>
          <a:xfrm>
            <a:off x="539750" y="1196975"/>
            <a:ext cx="7512050" cy="1558925"/>
          </a:xfrm>
          <a:prstGeom prst="rect">
            <a:avLst/>
          </a:prstGeom>
          <a:noFill/>
          <a:ln w="9525">
            <a:noFill/>
          </a:ln>
        </p:spPr>
      </p:pic>
      <p:pic>
        <p:nvPicPr>
          <p:cNvPr id="103430" name="20 2"/>
          <p:cNvPicPr>
            <a:picLocks noChangeAspect="1"/>
          </p:cNvPicPr>
          <p:nvPr/>
        </p:nvPicPr>
        <p:blipFill>
          <a:blip r:embed="rId6"/>
          <a:stretch>
            <a:fillRect/>
          </a:stretch>
        </p:blipFill>
        <p:spPr>
          <a:xfrm>
            <a:off x="684213" y="2924175"/>
            <a:ext cx="7054850" cy="1463675"/>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小结</a:t>
            </a: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线性表的类型定义</a:t>
            </a: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线性表的顺序表示和实现</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线性表的链式表示和实现</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endParaRPr>
          </a:p>
          <a:p>
            <a:pPr marL="753110" marR="0" lvl="0" indent="-10160" algn="l" defTabSz="914400" rtl="0" eaLnBrk="0" fontAlgn="base" latinLnBrk="0" hangingPunct="0">
              <a:lnSpc>
                <a:spcPct val="100000"/>
              </a:lnSpc>
              <a:spcBef>
                <a:spcPct val="20000"/>
              </a:spcBef>
              <a:spcAft>
                <a:spcPct val="0"/>
              </a:spcAft>
              <a:buClr>
                <a:schemeClr val="accent2"/>
              </a:buClr>
              <a:buSzTx/>
              <a:buFont typeface="+mj-ea"/>
              <a:buAutoNum type="circleNumDbPlain"/>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mn-ea"/>
              </a:rPr>
              <a:t>线性链表</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753110" marR="0" lvl="0" indent="-10160" algn="l" defTabSz="914400" rtl="0" eaLnBrk="0" fontAlgn="base" latinLnBrk="0" hangingPunct="0">
              <a:lnSpc>
                <a:spcPct val="100000"/>
              </a:lnSpc>
              <a:spcBef>
                <a:spcPct val="20000"/>
              </a:spcBef>
              <a:spcAft>
                <a:spcPct val="0"/>
              </a:spcAft>
              <a:buClr>
                <a:schemeClr val="accent2"/>
              </a:buClr>
              <a:buSzTx/>
              <a:buFont typeface="+mj-ea"/>
              <a:buAutoNum type="circleNumDbPlain"/>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 </a:t>
            </a:r>
            <a:r>
              <a:rPr kumimoji="0" lang="zh-CN" altLang="en-US" sz="3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mn-lt"/>
                <a:ea typeface="+mn-ea"/>
                <a:cs typeface="+mn-ea"/>
                <a:sym typeface="+mn-ea"/>
              </a:rPr>
              <a:t>循环链表、双向链表</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一元多项式的表示及相加</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04452" name="Picture 4"/>
          <p:cNvPicPr>
            <a:picLocks noChangeAspect="1"/>
          </p:cNvPicPr>
          <p:nvPr/>
        </p:nvPicPr>
        <p:blipFill>
          <a:blip r:embed="rId2"/>
          <a:srcRect t="27455" b="60715"/>
          <a:stretch>
            <a:fillRect/>
          </a:stretch>
        </p:blipFill>
        <p:spPr>
          <a:xfrm>
            <a:off x="4787900" y="476250"/>
            <a:ext cx="3924300" cy="504825"/>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线性表课堂练习</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1</a:t>
            </a:r>
            <a:endParaRPr kumimoji="0" lang="zh-CN"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16131"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已知带有头节点的单链表</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头指针为</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L),</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其节点已非递减排序</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编写算法消除链表中重复节点</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只保留一个重复节点</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DelDuplication</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0"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LinkList</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L)</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endPar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idx="1"/>
          </p:nvPr>
        </p:nvSpPr>
        <p:spPr>
          <a:xfrm>
            <a:off x="107950" y="260350"/>
            <a:ext cx="8459788" cy="575945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DelDuplication</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LinkList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L)</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p=L-&gt;next;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while(p!=null)</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r=p-&gt;next;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while(r!=null &amp;&amp; p-&gt;data == r-&gt;data) </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 q=r; r=r-&gt;next; </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free(q); p-&gt;next = r;}</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p=p-&gt;next;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8" name="Rectangle 4"/>
          <p:cNvSpPr>
            <a:spLocks noChangeArrowheads="1"/>
          </p:cNvSpPr>
          <p:nvPr/>
        </p:nvSpPr>
        <p:spPr bwMode="auto">
          <a:xfrm>
            <a:off x="611188" y="1773238"/>
            <a:ext cx="7905750" cy="946150"/>
          </a:xfrm>
          <a:prstGeom prst="rect">
            <a:avLst/>
          </a:prstGeom>
          <a:noFill/>
          <a:ln w="9525" algn="ctr">
            <a:noFill/>
            <a:miter lim="800000"/>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编写对</a:t>
            </a:r>
            <a:r>
              <a:rPr kumimoji="0" lang="zh-CN" altLang="en-US"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不带头结点</a:t>
            </a:r>
            <a:r>
              <a:rPr kumimoji="0" lang="zh-CN" altLang="en-US" sz="2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的单链表进行就地逆置的算法，算法用</a:t>
            </a:r>
            <a:r>
              <a:rPr kumimoji="0" lang="en-US" altLang="zh-CN" sz="2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L</a:t>
            </a:r>
            <a:r>
              <a:rPr kumimoji="0" lang="zh-CN" altLang="en-US" sz="2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返回逆置后的链表的头指针 </a:t>
            </a:r>
          </a:p>
        </p:txBody>
      </p:sp>
      <p:sp>
        <p:nvSpPr>
          <p:cNvPr id="953349" name="Rectangle 5"/>
          <p:cNvSpPr>
            <a:spLocks noChangeArrowheads="1"/>
          </p:cNvSpPr>
          <p:nvPr/>
        </p:nvSpPr>
        <p:spPr bwMode="auto">
          <a:xfrm>
            <a:off x="1254125" y="3001963"/>
            <a:ext cx="6348413" cy="1800225"/>
          </a:xfrm>
          <a:prstGeom prst="rect">
            <a:avLst/>
          </a:prstGeom>
          <a:noFill/>
          <a:ln w="9525" algn="ctr">
            <a:noFill/>
            <a:miter lim="800000"/>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void  reverse</a:t>
            </a:r>
            <a:r>
              <a:rPr kumimoji="0" lang="zh-CN" altLang="en-US"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Linkedlist &amp;L</a:t>
            </a:r>
            <a:r>
              <a:rPr kumimoji="0" lang="zh-CN" altLang="en-US"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 </a:t>
            </a: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Arial" panose="020B0604020202020204"/>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 </a:t>
            </a:r>
          </a:p>
        </p:txBody>
      </p:sp>
      <p:sp>
        <p:nvSpPr>
          <p:cNvPr id="108548" name="文本框 1"/>
          <p:cNvSpPr txBox="1"/>
          <p:nvPr/>
        </p:nvSpPr>
        <p:spPr>
          <a:xfrm>
            <a:off x="611188" y="847725"/>
            <a:ext cx="7634287" cy="677863"/>
          </a:xfrm>
          <a:prstGeom prst="rect">
            <a:avLst/>
          </a:prstGeom>
          <a:noFill/>
          <a:ln w="9525">
            <a:noFill/>
          </a:ln>
        </p:spPr>
        <p:txBody>
          <a:bodyPr>
            <a:spAutoFit/>
          </a:bodyPr>
          <a:lstStyle/>
          <a:p>
            <a:r>
              <a:rPr lang="zh-CN" altLang="en-US" sz="3800" dirty="0">
                <a:latin typeface="Verdana" panose="020B0604030504040204" pitchFamily="34" charset="0"/>
              </a:rPr>
              <a:t>线性表课堂练习</a:t>
            </a:r>
            <a:r>
              <a:rPr lang="en-US" altLang="zh-CN" sz="3800" dirty="0">
                <a:latin typeface="Verdana" panose="020B0604030504040204" pitchFamily="34" charset="0"/>
              </a:rPr>
              <a:t>2</a:t>
            </a:r>
            <a:endParaRPr lang="zh-CN" altLang="en-US" sz="3800" dirty="0">
              <a:latin typeface="Verdana" panose="020B060403050404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idx="1"/>
          </p:nvPr>
        </p:nvSpPr>
        <p:spPr>
          <a:xfrm>
            <a:off x="341313" y="404813"/>
            <a:ext cx="8461375" cy="575945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void  reverse</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linklist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&amp;L</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p=null</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q=L</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while</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q</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=null</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L=L-&gt;next; ∥</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暂存后继</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q-&gt;next=p</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p=q</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q=L; ∥</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待逆置结点</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L=p; ∥</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头指针仍为</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L</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线性表课后思考题</a:t>
            </a: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假设有两个按元素值</a:t>
            </a: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递增</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次序排列的线性表，均以单链表形式存储。请编写算法将这两个单链表归并为一个按元素值</a:t>
            </a: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递减</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次序排列的单链表，并要求利用原来两个单链表的结点存放归并后的单链表。</a:t>
            </a:r>
            <a:endPar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（北京大学</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1998</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）（厦门大学</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2006</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线性结构</a:t>
            </a:r>
          </a:p>
        </p:txBody>
      </p:sp>
      <p:sp>
        <p:nvSpPr>
          <p:cNvPr id="5325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在数据元素的非空有限集中，</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）存在唯一的一个被称为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第一个</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的元素</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）存在唯一的一个被称为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最后一个</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的元素</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）除第一个元素外，集合中的每个数据元素均只有一个前驱</a:t>
            </a: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）除最后一个元素外，集合中的每个数据元素均只有一个后继</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线性表－第</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章 </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栈和队列－第</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章</a:t>
            </a: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串－第</a:t>
            </a:r>
            <a:r>
              <a:rPr kumimoji="0" lang="en-US" altLang="zh-CN"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4</a:t>
            </a:r>
            <a:r>
              <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章</a:t>
            </a:r>
          </a:p>
        </p:txBody>
      </p:sp>
      <p:pic>
        <p:nvPicPr>
          <p:cNvPr id="112644" name="Picture 4"/>
          <p:cNvPicPr>
            <a:picLocks noChangeAspect="1"/>
          </p:cNvPicPr>
          <p:nvPr/>
        </p:nvPicPr>
        <p:blipFill>
          <a:blip r:embed="rId2"/>
          <a:srcRect t="27455" b="60715"/>
          <a:stretch>
            <a:fillRect/>
          </a:stretch>
        </p:blipFill>
        <p:spPr>
          <a:xfrm>
            <a:off x="4787900" y="836613"/>
            <a:ext cx="3924300" cy="504825"/>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FiN2NjNWM5Yjc2ZDdhMWExZGQ5OTBjOGZlOGJiODQ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120,&quot;width&quot;:799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720,&quot;width&quot;:5170}"/>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25,&quot;width&quot;:14285}"/>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90,&quot;width&quot;:8350}"/>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860,&quot;width&quot;:9082.500787401576}"/>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880,&quot;width&quot;:9400}"/>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2</TotalTime>
  <Words>4565</Words>
  <Application>Microsoft Office PowerPoint</Application>
  <PresentationFormat>全屏显示(4:3)</PresentationFormat>
  <Paragraphs>588</Paragraphs>
  <Slides>83</Slides>
  <Notes>10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83</vt:i4>
      </vt:variant>
    </vt:vector>
  </HeadingPairs>
  <TitlesOfParts>
    <vt:vector size="89" baseType="lpstr">
      <vt:lpstr>仿宋_GB2312</vt:lpstr>
      <vt:lpstr>Arial</vt:lpstr>
      <vt:lpstr>Times New Roman</vt:lpstr>
      <vt:lpstr>Verdana</vt:lpstr>
      <vt:lpstr>Wingdings</vt:lpstr>
      <vt:lpstr>Profile</vt:lpstr>
      <vt:lpstr>线性结构</vt:lpstr>
      <vt:lpstr>引例 一元多项式的表示和相加</vt:lpstr>
      <vt:lpstr>引例 一元多项式的表示和相加</vt:lpstr>
      <vt:lpstr>PowerPoint 演示文稿</vt:lpstr>
      <vt:lpstr>PowerPoint 演示文稿</vt:lpstr>
      <vt:lpstr>第2章 线性表</vt:lpstr>
      <vt:lpstr>2.1 线性表的类型定义</vt:lpstr>
      <vt:lpstr>PowerPoint 演示文稿</vt:lpstr>
      <vt:lpstr>线性表性质</vt:lpstr>
      <vt:lpstr>线性表的抽象类型定义</vt:lpstr>
      <vt:lpstr>PowerPoint 演示文稿</vt:lpstr>
      <vt:lpstr>线性表复杂操作</vt:lpstr>
      <vt:lpstr>线性表复杂操作</vt:lpstr>
      <vt:lpstr>PowerPoint 演示文稿</vt:lpstr>
      <vt:lpstr>时间复杂度</vt:lpstr>
      <vt:lpstr>2.2 线性表的顺序表示和实现</vt:lpstr>
      <vt:lpstr>顺序表特性</vt:lpstr>
      <vt:lpstr>顺序表的C语言定义</vt:lpstr>
      <vt:lpstr>顺序表上的基本操作</vt:lpstr>
      <vt:lpstr>顺序表上的基本操作</vt:lpstr>
      <vt:lpstr>前情提要</vt:lpstr>
      <vt:lpstr>PowerPoint 演示文稿</vt:lpstr>
      <vt:lpstr>3. 顺序表的C语言定义</vt:lpstr>
      <vt:lpstr>PowerPoint 演示文稿</vt:lpstr>
      <vt:lpstr>插入操作</vt:lpstr>
      <vt:lpstr>PowerPoint 演示文稿</vt:lpstr>
      <vt:lpstr>时间复杂度</vt:lpstr>
      <vt:lpstr>删除操作</vt:lpstr>
      <vt:lpstr>PowerPoint 演示文稿</vt:lpstr>
      <vt:lpstr>时间复杂度</vt:lpstr>
      <vt:lpstr>查找</vt:lpstr>
      <vt:lpstr>查找</vt:lpstr>
      <vt:lpstr>算法2.2在顺序表上的实现</vt:lpstr>
      <vt:lpstr>课后作业4</vt:lpstr>
      <vt:lpstr>顺序表编程练习题1</vt:lpstr>
      <vt:lpstr>顺序表编程练习题2</vt:lpstr>
      <vt:lpstr>顺序表编程练习题3</vt:lpstr>
      <vt:lpstr>2.3 线性表的链式表示和实现</vt:lpstr>
      <vt:lpstr>2.3 线性表的链式表示和实现</vt:lpstr>
      <vt:lpstr>2.3.1 线性链表</vt:lpstr>
      <vt:lpstr>PowerPoint 演示文稿</vt:lpstr>
      <vt:lpstr>线性链表的逻辑图示</vt:lpstr>
      <vt:lpstr>C语言定义</vt:lpstr>
      <vt:lpstr>头结点的作用</vt:lpstr>
      <vt:lpstr>链表的指针相关课堂练习题-1</vt:lpstr>
      <vt:lpstr>链表的指针相关课堂练习题-2</vt:lpstr>
      <vt:lpstr>链表的指针相关课堂练习题-3</vt:lpstr>
      <vt:lpstr>链表的指针相关课堂练习题-3</vt:lpstr>
      <vt:lpstr>链表的指针相关课堂练习题-4</vt:lpstr>
      <vt:lpstr>链表的指针相关课堂练习题-4</vt:lpstr>
      <vt:lpstr>链表的指针相关课堂练习题-5</vt:lpstr>
      <vt:lpstr>链表的指针相关课堂练习题-5</vt:lpstr>
      <vt:lpstr>链表的指针相关课堂练习题-6</vt:lpstr>
      <vt:lpstr>前情提要</vt:lpstr>
      <vt:lpstr>元素存取操作</vt:lpstr>
      <vt:lpstr>插入操作</vt:lpstr>
      <vt:lpstr>PowerPoint 演示文稿</vt:lpstr>
      <vt:lpstr>删除操作</vt:lpstr>
      <vt:lpstr>PowerPoint 演示文稿</vt:lpstr>
      <vt:lpstr>时间复杂度</vt:lpstr>
      <vt:lpstr>创建链表</vt:lpstr>
      <vt:lpstr>合并有序表</vt:lpstr>
      <vt:lpstr>顺序表          v.s        链表</vt:lpstr>
      <vt:lpstr>课后作业5</vt:lpstr>
      <vt:lpstr>顺序表          v.s        链表</vt:lpstr>
      <vt:lpstr>2.3.2 循环链表</vt:lpstr>
      <vt:lpstr>PowerPoint 演示文稿</vt:lpstr>
      <vt:lpstr>2.3.3 双向链表</vt:lpstr>
      <vt:lpstr>C语言定义</vt:lpstr>
      <vt:lpstr>删除操作</vt:lpstr>
      <vt:lpstr>插入操作</vt:lpstr>
      <vt:lpstr>2.4 一元多项式的表示和相加</vt:lpstr>
      <vt:lpstr>2.4 一元多项式的表示和相加</vt:lpstr>
      <vt:lpstr>PowerPoint 演示文稿</vt:lpstr>
      <vt:lpstr>PowerPoint 演示文稿</vt:lpstr>
      <vt:lpstr>PowerPoint 演示文稿</vt:lpstr>
      <vt:lpstr>小结</vt:lpstr>
      <vt:lpstr>线性表课堂练习1</vt:lpstr>
      <vt:lpstr>PowerPoint 演示文稿</vt:lpstr>
      <vt:lpstr>PowerPoint 演示文稿</vt:lpstr>
      <vt:lpstr>PowerPoint 演示文稿</vt:lpstr>
      <vt:lpstr>线性表课后思考题</vt:lpstr>
      <vt:lpstr>线性结构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数据结构（Data Structure）</dc:title>
  <dc:creator>MC SYSTEM</dc:creator>
  <cp:lastModifiedBy>Administrator</cp:lastModifiedBy>
  <cp:revision>540</cp:revision>
  <dcterms:created xsi:type="dcterms:W3CDTF">2007-02-11T07:05:06Z</dcterms:created>
  <dcterms:modified xsi:type="dcterms:W3CDTF">2023-09-12T07:06:21Z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2052-12.1.0.15120</vt:lpwstr>
  </property>
  <property fmtid="{D5CDD505-2E9C-101B-9397-08002B2CF9AE}" pid="3" name="ICV">
    <vt:lpwstr>1F767D5A973E442B9C92669183CFDFDF_12</vt:lpwstr>
  </property>
</Properties>
</file>