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1064" r:id="rId3"/>
    <p:sldId id="469" r:id="rId5"/>
    <p:sldId id="545" r:id="rId6"/>
    <p:sldId id="472" r:id="rId7"/>
    <p:sldId id="546" r:id="rId8"/>
    <p:sldId id="547" r:id="rId9"/>
    <p:sldId id="548" r:id="rId10"/>
    <p:sldId id="549" r:id="rId11"/>
    <p:sldId id="558" r:id="rId12"/>
    <p:sldId id="550" r:id="rId13"/>
    <p:sldId id="551" r:id="rId14"/>
    <p:sldId id="552" r:id="rId15"/>
    <p:sldId id="885" r:id="rId16"/>
    <p:sldId id="886" r:id="rId17"/>
    <p:sldId id="1065" r:id="rId18"/>
    <p:sldId id="1066" r:id="rId19"/>
    <p:sldId id="1067" r:id="rId20"/>
    <p:sldId id="1068" r:id="rId21"/>
    <p:sldId id="1069" r:id="rId22"/>
    <p:sldId id="1070" r:id="rId23"/>
    <p:sldId id="1071" r:id="rId24"/>
    <p:sldId id="951" r:id="rId25"/>
    <p:sldId id="560" r:id="rId26"/>
    <p:sldId id="562" r:id="rId27"/>
    <p:sldId id="1360" r:id="rId28"/>
    <p:sldId id="1357" r:id="rId29"/>
    <p:sldId id="1358" r:id="rId30"/>
    <p:sldId id="1356" r:id="rId31"/>
    <p:sldId id="563" r:id="rId32"/>
    <p:sldId id="564" r:id="rId33"/>
    <p:sldId id="1361" r:id="rId34"/>
    <p:sldId id="578" r:id="rId35"/>
    <p:sldId id="1332" r:id="rId36"/>
    <p:sldId id="1393" r:id="rId37"/>
    <p:sldId id="1390" r:id="rId38"/>
    <p:sldId id="1394" r:id="rId39"/>
    <p:sldId id="1395" r:id="rId40"/>
    <p:sldId id="1391" r:id="rId41"/>
    <p:sldId id="1072" r:id="rId42"/>
    <p:sldId id="579" r:id="rId43"/>
    <p:sldId id="641" r:id="rId44"/>
    <p:sldId id="1335" r:id="rId45"/>
    <p:sldId id="642" r:id="rId46"/>
    <p:sldId id="571" r:id="rId47"/>
    <p:sldId id="573" r:id="rId48"/>
    <p:sldId id="645" r:id="rId49"/>
    <p:sldId id="890" r:id="rId50"/>
    <p:sldId id="577" r:id="rId51"/>
    <p:sldId id="952" r:id="rId52"/>
    <p:sldId id="580" r:id="rId53"/>
    <p:sldId id="888" r:id="rId54"/>
    <p:sldId id="582" r:id="rId55"/>
    <p:sldId id="583" r:id="rId56"/>
    <p:sldId id="584" r:id="rId57"/>
    <p:sldId id="653" r:id="rId58"/>
    <p:sldId id="586" r:id="rId59"/>
    <p:sldId id="585" r:id="rId60"/>
    <p:sldId id="587" r:id="rId61"/>
    <p:sldId id="588" r:id="rId62"/>
  </p:sldIdLst>
  <p:sldSz cx="9144000" cy="6858000" type="screen4x3"/>
  <p:notesSz cx="6858000" cy="9144000"/>
  <p:custDataLst>
    <p:tags r:id="rId66"/>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1pPr>
    <a:lvl2pPr marL="457200" lvl="1"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vl6pPr marL="2286000" lvl="5"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6pPr>
    <a:lvl7pPr marL="2743200" lvl="6"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7pPr>
    <a:lvl8pPr marL="3200400" lvl="7"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8pPr>
    <a:lvl9pPr marL="3657600" lvl="8"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9pPr>
  </p:defaultTextStyle>
  <p:extLst>
    <p:ext uri="{EFAFB233-063F-42B5-8137-9DF3F51BA10A}">
      <p15:sldGuideLst xmlns:p15="http://schemas.microsoft.com/office/powerpoint/2012/main">
        <p15:guide id="1" orient="horz" pos="2196" userDrawn="1">
          <p15:clr>
            <a:srgbClr val="A4A3A4"/>
          </p15:clr>
        </p15:guide>
        <p15:guide id="2" pos="287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D9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51"/>
    <p:restoredTop sz="89728"/>
  </p:normalViewPr>
  <p:slideViewPr>
    <p:cSldViewPr showGuides="1">
      <p:cViewPr varScale="1">
        <p:scale>
          <a:sx n="82" d="100"/>
          <a:sy n="82" d="100"/>
        </p:scale>
        <p:origin x="1356" y="64"/>
      </p:cViewPr>
      <p:guideLst>
        <p:guide orient="horz" pos="2196"/>
        <p:guide pos="2877"/>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90" d="100"/>
        <a:sy n="9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6" Type="http://schemas.openxmlformats.org/officeDocument/2006/relationships/tags" Target="tags/tag1.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621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b="0">
                <a:solidFill>
                  <a:schemeClr val="tx1"/>
                </a:solidFill>
                <a:effectLst/>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sp>
        <p:nvSpPr>
          <p:cNvPr id="26214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solidFill>
                  <a:schemeClr val="tx1"/>
                </a:solidFill>
                <a:effectLst/>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sp>
        <p:nvSpPr>
          <p:cNvPr id="3076"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6214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215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b="0">
                <a:solidFill>
                  <a:schemeClr val="tx1"/>
                </a:solidFill>
                <a:effectLst/>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sp>
        <p:nvSpPr>
          <p:cNvPr id="262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幻灯片图像占位符 1"/>
          <p:cNvSpPr>
            <a:spLocks noGrp="1" noRot="1" noChangeAspect="1" noTextEdit="1"/>
          </p:cNvSpPr>
          <p:nvPr>
            <p:ph type="sldImg"/>
          </p:nvPr>
        </p:nvSpPr>
        <p:spPr/>
      </p:sp>
      <p:sp>
        <p:nvSpPr>
          <p:cNvPr id="5123" name="备注占位符 2"/>
          <p:cNvSpPr>
            <a:spLocks noGrp="1"/>
          </p:cNvSpPr>
          <p:nvPr>
            <p:ph type="body"/>
          </p:nvPr>
        </p:nvSpPr>
        <p:spPr/>
        <p:txBody>
          <a:bodyPr wrap="square" lIns="91440" tIns="45720" rIns="91440" bIns="45720" anchor="t" anchorCtr="0"/>
          <a:p>
            <a:pPr lvl="0"/>
            <a:endParaRPr lang="zh-CN" altLang="en-US" dirty="0"/>
          </a:p>
        </p:txBody>
      </p:sp>
      <p:sp>
        <p:nvSpPr>
          <p:cNvPr id="5124" name="灯片编号占位符 3"/>
          <p:cNvSpPr txBox="1">
            <a:spLocks noGrp="1"/>
          </p:cNvSpPr>
          <p:nvPr>
            <p:ph type="sldNum" sz="quarter"/>
          </p:nvPr>
        </p:nvSpPr>
        <p:spPr>
          <a:xfrm>
            <a:off x="3886200" y="8686800"/>
            <a:ext cx="2971800" cy="457200"/>
          </a:xfrm>
          <a:prstGeom prst="rect">
            <a:avLst/>
          </a:prstGeom>
          <a:noFill/>
          <a:ln w="12700">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幻灯片图像占位符 1"/>
          <p:cNvSpPr>
            <a:spLocks noGrp="1" noRot="1" noChangeAspect="1" noTextEdit="1"/>
          </p:cNvSpPr>
          <p:nvPr>
            <p:ph type="sldImg"/>
          </p:nvPr>
        </p:nvSpPr>
        <p:spPr/>
      </p:sp>
      <p:sp>
        <p:nvSpPr>
          <p:cNvPr id="20483" name="备注占位符 2"/>
          <p:cNvSpPr>
            <a:spLocks noGrp="1"/>
          </p:cNvSpPr>
          <p:nvPr>
            <p:ph type="body"/>
          </p:nvPr>
        </p:nvSpPr>
        <p:spPr/>
        <p:txBody>
          <a:bodyPr wrap="square" lIns="91440" tIns="45720" rIns="91440" bIns="45720" anchor="t" anchorCtr="0"/>
          <a:p>
            <a:pPr lvl="0"/>
            <a:endParaRPr lang="zh-CN" altLang="en-US" dirty="0"/>
          </a:p>
        </p:txBody>
      </p:sp>
      <p:sp>
        <p:nvSpPr>
          <p:cNvPr id="20484" name="灯片编号占位符 3"/>
          <p:cNvSpPr txBox="1">
            <a:spLocks noGrp="1"/>
          </p:cNvSpPr>
          <p:nvPr>
            <p:ph type="sldNum" sz="quarter"/>
          </p:nvPr>
        </p:nvSpPr>
        <p:spPr>
          <a:xfrm>
            <a:off x="3886200" y="8686800"/>
            <a:ext cx="2971800" cy="457200"/>
          </a:xfrm>
          <a:prstGeom prst="rect">
            <a:avLst/>
          </a:prstGeom>
          <a:noFill/>
          <a:ln w="12700">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幻灯片图像占位符 1"/>
          <p:cNvSpPr>
            <a:spLocks noGrp="1" noRot="1" noChangeAspect="1" noTextEdit="1"/>
          </p:cNvSpPr>
          <p:nvPr>
            <p:ph type="sldImg"/>
          </p:nvPr>
        </p:nvSpPr>
        <p:spPr/>
      </p:sp>
      <p:sp>
        <p:nvSpPr>
          <p:cNvPr id="22531" name="备注占位符 2"/>
          <p:cNvSpPr>
            <a:spLocks noGrp="1"/>
          </p:cNvSpPr>
          <p:nvPr>
            <p:ph type="body"/>
          </p:nvPr>
        </p:nvSpPr>
        <p:spPr/>
        <p:txBody>
          <a:bodyPr wrap="square" lIns="91440" tIns="45720" rIns="91440" bIns="45720" anchor="t" anchorCtr="0"/>
          <a:p>
            <a:pPr lvl="0"/>
            <a:endParaRPr lang="zh-CN" altLang="en-US" dirty="0"/>
          </a:p>
        </p:txBody>
      </p:sp>
      <p:sp>
        <p:nvSpPr>
          <p:cNvPr id="22532" name="灯片编号占位符 3"/>
          <p:cNvSpPr txBox="1">
            <a:spLocks noGrp="1"/>
          </p:cNvSpPr>
          <p:nvPr>
            <p:ph type="sldNum" sz="quarter"/>
          </p:nvPr>
        </p:nvSpPr>
        <p:spPr>
          <a:xfrm>
            <a:off x="3886200" y="8686800"/>
            <a:ext cx="2971800" cy="457200"/>
          </a:xfrm>
          <a:prstGeom prst="rect">
            <a:avLst/>
          </a:prstGeom>
          <a:noFill/>
          <a:ln w="12700">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幻灯片图像占位符 1"/>
          <p:cNvSpPr>
            <a:spLocks noGrp="1" noRot="1" noChangeAspect="1" noTextEdit="1"/>
          </p:cNvSpPr>
          <p:nvPr>
            <p:ph type="sldImg"/>
          </p:nvPr>
        </p:nvSpPr>
        <p:spPr/>
      </p:sp>
      <p:sp>
        <p:nvSpPr>
          <p:cNvPr id="24579" name="备注占位符 2"/>
          <p:cNvSpPr>
            <a:spLocks noGrp="1"/>
          </p:cNvSpPr>
          <p:nvPr>
            <p:ph type="body"/>
          </p:nvPr>
        </p:nvSpPr>
        <p:spPr/>
        <p:txBody>
          <a:bodyPr wrap="square" lIns="91440" tIns="45720" rIns="91440" bIns="45720" anchor="t" anchorCtr="0"/>
          <a:p>
            <a:pPr lvl="0"/>
            <a:endParaRPr lang="zh-CN" altLang="en-US" dirty="0"/>
          </a:p>
        </p:txBody>
      </p:sp>
      <p:sp>
        <p:nvSpPr>
          <p:cNvPr id="24580" name="灯片编号占位符 3"/>
          <p:cNvSpPr txBox="1">
            <a:spLocks noGrp="1"/>
          </p:cNvSpPr>
          <p:nvPr>
            <p:ph type="sldNum" sz="quarter"/>
          </p:nvPr>
        </p:nvSpPr>
        <p:spPr>
          <a:xfrm>
            <a:off x="3886200" y="8686800"/>
            <a:ext cx="2971800" cy="457200"/>
          </a:xfrm>
          <a:prstGeom prst="rect">
            <a:avLst/>
          </a:prstGeom>
          <a:noFill/>
          <a:ln w="12700">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幻灯片图像占位符 1"/>
          <p:cNvSpPr>
            <a:spLocks noGrp="1" noRot="1" noChangeAspect="1" noTextEdit="1"/>
          </p:cNvSpPr>
          <p:nvPr>
            <p:ph type="sldImg"/>
          </p:nvPr>
        </p:nvSpPr>
        <p:spPr/>
      </p:sp>
      <p:sp>
        <p:nvSpPr>
          <p:cNvPr id="26627" name="备注占位符 2"/>
          <p:cNvSpPr>
            <a:spLocks noGrp="1"/>
          </p:cNvSpPr>
          <p:nvPr>
            <p:ph type="body"/>
          </p:nvPr>
        </p:nvSpPr>
        <p:spPr/>
        <p:txBody>
          <a:bodyPr wrap="square" lIns="91440" tIns="45720" rIns="91440" bIns="45720" anchor="t" anchorCtr="0"/>
          <a:p>
            <a:pPr lvl="0"/>
            <a:endParaRPr lang="zh-CN" altLang="en-US" dirty="0"/>
          </a:p>
        </p:txBody>
      </p:sp>
      <p:sp>
        <p:nvSpPr>
          <p:cNvPr id="26628" name="灯片编号占位符 3"/>
          <p:cNvSpPr txBox="1">
            <a:spLocks noGrp="1"/>
          </p:cNvSpPr>
          <p:nvPr>
            <p:ph type="sldNum" sz="quarter"/>
          </p:nvPr>
        </p:nvSpPr>
        <p:spPr>
          <a:xfrm>
            <a:off x="3886200" y="8686800"/>
            <a:ext cx="2971800" cy="457200"/>
          </a:xfrm>
          <a:prstGeom prst="rect">
            <a:avLst/>
          </a:prstGeom>
          <a:noFill/>
          <a:ln w="12700">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幻灯片图像占位符 1"/>
          <p:cNvSpPr>
            <a:spLocks noGrp="1" noRot="1" noChangeAspect="1" noTextEdit="1"/>
          </p:cNvSpPr>
          <p:nvPr>
            <p:ph type="sldImg"/>
          </p:nvPr>
        </p:nvSpPr>
        <p:spPr/>
      </p:sp>
      <p:sp>
        <p:nvSpPr>
          <p:cNvPr id="28675" name="备注占位符 2"/>
          <p:cNvSpPr>
            <a:spLocks noGrp="1"/>
          </p:cNvSpPr>
          <p:nvPr>
            <p:ph type="body"/>
          </p:nvPr>
        </p:nvSpPr>
        <p:spPr/>
        <p:txBody>
          <a:bodyPr wrap="square" lIns="91440" tIns="45720" rIns="91440" bIns="45720" anchor="t" anchorCtr="0"/>
          <a:p>
            <a:pPr lvl="0"/>
            <a:endParaRPr lang="zh-CN" altLang="en-US" dirty="0"/>
          </a:p>
        </p:txBody>
      </p:sp>
      <p:sp>
        <p:nvSpPr>
          <p:cNvPr id="28676" name="灯片编号占位符 3"/>
          <p:cNvSpPr txBox="1">
            <a:spLocks noGrp="1"/>
          </p:cNvSpPr>
          <p:nvPr>
            <p:ph type="sldNum" sz="quarter"/>
          </p:nvPr>
        </p:nvSpPr>
        <p:spPr>
          <a:xfrm>
            <a:off x="3886200" y="8686800"/>
            <a:ext cx="2971800" cy="457200"/>
          </a:xfrm>
          <a:prstGeom prst="rect">
            <a:avLst/>
          </a:prstGeom>
          <a:noFill/>
          <a:ln w="12700">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幻灯片图像占位符 1"/>
          <p:cNvSpPr>
            <a:spLocks noGrp="1" noRot="1" noChangeAspect="1" noTextEdit="1"/>
          </p:cNvSpPr>
          <p:nvPr>
            <p:ph type="sldImg"/>
          </p:nvPr>
        </p:nvSpPr>
        <p:spPr/>
      </p:sp>
      <p:sp>
        <p:nvSpPr>
          <p:cNvPr id="30723" name="备注占位符 2"/>
          <p:cNvSpPr>
            <a:spLocks noGrp="1"/>
          </p:cNvSpPr>
          <p:nvPr>
            <p:ph type="body"/>
          </p:nvPr>
        </p:nvSpPr>
        <p:spPr/>
        <p:txBody>
          <a:bodyPr wrap="square" lIns="91440" tIns="45720" rIns="91440" bIns="45720" anchor="t" anchorCtr="0"/>
          <a:p>
            <a:pPr lvl="0"/>
            <a:endParaRPr lang="zh-CN" altLang="en-US" dirty="0"/>
          </a:p>
        </p:txBody>
      </p:sp>
      <p:sp>
        <p:nvSpPr>
          <p:cNvPr id="30724" name="灯片编号占位符 3"/>
          <p:cNvSpPr txBox="1">
            <a:spLocks noGrp="1"/>
          </p:cNvSpPr>
          <p:nvPr>
            <p:ph type="sldNum" sz="quarter"/>
          </p:nvPr>
        </p:nvSpPr>
        <p:spPr>
          <a:xfrm>
            <a:off x="3886200" y="8686800"/>
            <a:ext cx="2971800" cy="457200"/>
          </a:xfrm>
          <a:prstGeom prst="rect">
            <a:avLst/>
          </a:prstGeom>
          <a:noFill/>
          <a:ln w="12700">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幻灯片图像占位符 1"/>
          <p:cNvSpPr>
            <a:spLocks noGrp="1" noRot="1" noChangeAspect="1" noTextEdit="1"/>
          </p:cNvSpPr>
          <p:nvPr>
            <p:ph type="sldImg"/>
          </p:nvPr>
        </p:nvSpPr>
        <p:spPr/>
      </p:sp>
      <p:sp>
        <p:nvSpPr>
          <p:cNvPr id="32771" name="备注占位符 2"/>
          <p:cNvSpPr>
            <a:spLocks noGrp="1"/>
          </p:cNvSpPr>
          <p:nvPr>
            <p:ph type="body"/>
          </p:nvPr>
        </p:nvSpPr>
        <p:spPr/>
        <p:txBody>
          <a:bodyPr wrap="square" lIns="91440" tIns="45720" rIns="91440" bIns="45720" anchor="t" anchorCtr="0"/>
          <a:p>
            <a:pPr lvl="0"/>
            <a:endParaRPr lang="zh-CN" altLang="en-US" dirty="0"/>
          </a:p>
        </p:txBody>
      </p:sp>
      <p:sp>
        <p:nvSpPr>
          <p:cNvPr id="32772" name="灯片编号占位符 3"/>
          <p:cNvSpPr txBox="1">
            <a:spLocks noGrp="1"/>
          </p:cNvSpPr>
          <p:nvPr>
            <p:ph type="sldNum" sz="quarter"/>
          </p:nvPr>
        </p:nvSpPr>
        <p:spPr>
          <a:xfrm>
            <a:off x="3886200" y="8686800"/>
            <a:ext cx="2971800" cy="457200"/>
          </a:xfrm>
          <a:prstGeom prst="rect">
            <a:avLst/>
          </a:prstGeom>
          <a:noFill/>
          <a:ln w="12700">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幻灯片图像占位符 1"/>
          <p:cNvSpPr>
            <a:spLocks noGrp="1" noRot="1" noChangeAspect="1" noTextEdit="1"/>
          </p:cNvSpPr>
          <p:nvPr>
            <p:ph type="sldImg"/>
          </p:nvPr>
        </p:nvSpPr>
        <p:spPr/>
      </p:sp>
      <p:sp>
        <p:nvSpPr>
          <p:cNvPr id="20483" name="备注占位符 2"/>
          <p:cNvSpPr>
            <a:spLocks noGrp="1"/>
          </p:cNvSpPr>
          <p:nvPr>
            <p:ph type="body"/>
          </p:nvPr>
        </p:nvSpPr>
        <p:spPr/>
        <p:txBody>
          <a:bodyPr wrap="square" lIns="91440" tIns="45720" rIns="91440" bIns="45720" anchor="t" anchorCtr="0"/>
          <a:p>
            <a:pPr lvl="0"/>
            <a:endParaRPr lang="zh-CN" altLang="en-US" dirty="0"/>
          </a:p>
        </p:txBody>
      </p:sp>
      <p:sp>
        <p:nvSpPr>
          <p:cNvPr id="20484" name="灯片编号占位符 3"/>
          <p:cNvSpPr txBox="1">
            <a:spLocks noGrp="1"/>
          </p:cNvSpPr>
          <p:nvPr>
            <p:ph type="sldNum" sz="quarter"/>
          </p:nvPr>
        </p:nvSpPr>
        <p:spPr>
          <a:xfrm>
            <a:off x="3886200" y="8686800"/>
            <a:ext cx="2971800" cy="457200"/>
          </a:xfrm>
          <a:prstGeom prst="rect">
            <a:avLst/>
          </a:prstGeom>
          <a:noFill/>
          <a:ln w="12700">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2050" name="AutoShape 7"/>
          <p:cNvSpPr/>
          <p:nvPr/>
        </p:nvSpPr>
        <p:spPr>
          <a:xfrm>
            <a:off x="685800" y="2393950"/>
            <a:ext cx="7772400" cy="109538"/>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122" name="Rectangle 2"/>
          <p:cNvSpPr>
            <a:spLocks noGrp="1" noChangeArrowheads="1"/>
          </p:cNvSpPr>
          <p:nvPr>
            <p:ph type="ctrTitle"/>
          </p:nvPr>
        </p:nvSpPr>
        <p:spPr>
          <a:xfrm>
            <a:off x="685800" y="990600"/>
            <a:ext cx="7772400" cy="1371600"/>
          </a:xfrm>
        </p:spPr>
        <p:txBody>
          <a:bodyPr/>
          <a:lstStyle>
            <a:lvl1pPr>
              <a:defRPr sz="4000"/>
            </a:lvl1pPr>
          </a:lstStyle>
          <a:p>
            <a:r>
              <a:rPr lang="zh-CN" altLang="en-US" noProof="1"/>
              <a:t>单击此处编辑母版标题样式</a:t>
            </a:r>
            <a:endParaRPr lang="zh-CN" altLang="en-US" noProof="1"/>
          </a:p>
        </p:txBody>
      </p:sp>
      <p:sp>
        <p:nvSpPr>
          <p:cNvPr id="5123"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r>
              <a:rPr lang="zh-CN" altLang="en-US" noProof="1"/>
              <a:t>单击此处编辑母版副标题样式</a:t>
            </a:r>
            <a:endParaRPr lang="zh-CN" altLang="en-US" noProof="1"/>
          </a:p>
        </p:txBody>
      </p:sp>
      <p:sp>
        <p:nvSpPr>
          <p:cNvPr id="3" name="Rectangle 4"/>
          <p:cNvSpPr>
            <a:spLocks noGrp="1" noChangeArrowheads="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Rectangle 6"/>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20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566738" y="1752600"/>
            <a:ext cx="3924300" cy="4267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剪贴画占位符 3"/>
          <p:cNvSpPr>
            <a:spLocks noGrp="1"/>
          </p:cNvSpPr>
          <p:nvPr>
            <p:ph type="clipArt" sz="half" idx="2"/>
          </p:nvPr>
        </p:nvSpPr>
        <p:spPr>
          <a:xfrm>
            <a:off x="4643438" y="1752600"/>
            <a:ext cx="3924300" cy="426720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566738" y="1752600"/>
            <a:ext cx="3924300" cy="4267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3438" y="1752600"/>
            <a:ext cx="3924300" cy="4267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noProof="1"/>
              <a:t>单击此处编辑母版标题样式</a:t>
            </a:r>
            <a:endParaRPr lang="zh-CN" altLang="en-US" noProof="1"/>
          </a:p>
        </p:txBody>
      </p:sp>
      <p:sp>
        <p:nvSpPr>
          <p:cNvPr id="3" name="表格占位符 2"/>
          <p:cNvSpPr>
            <a:spLocks noGrp="1"/>
          </p:cNvSpPr>
          <p:nvPr>
            <p:ph type="tbl" idx="1"/>
          </p:nvPr>
        </p:nvSpPr>
        <p:spPr>
          <a:xfrm>
            <a:off x="566738" y="1752600"/>
            <a:ext cx="8001000" cy="426720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566738" y="1752600"/>
            <a:ext cx="8001000" cy="20574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66738" y="3962400"/>
            <a:ext cx="8001000" cy="20574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Rectangle 2"/>
          <p:cNvSpPr>
            <a:spLocks noGrp="1" noChangeArrowheads="1"/>
          </p:cNvSpPr>
          <p:nvPr>
            <p:ph type="title"/>
          </p:nvPr>
        </p:nvSpPr>
        <p:spPr bwMode="auto">
          <a:xfrm>
            <a:off x="574675" y="304800"/>
            <a:ext cx="8001000" cy="1216025"/>
          </a:xfrm>
          <a:prstGeom prst="rect">
            <a:avLst/>
          </a:prstGeom>
          <a:noFill/>
          <a:ln w="9525">
            <a:noFill/>
            <a:miter lim="800000"/>
          </a:ln>
          <a:effectLst/>
        </p:spPr>
        <p:txBody>
          <a:bodyPr vert="horz" wrap="square" lIns="91440" tIns="45720" rIns="91440" bIns="45720" numCol="1" anchor="b" anchorCtr="0" compatLnSpc="1"/>
          <a:lstStyle/>
          <a:p>
            <a:pPr lvl="0"/>
            <a:r>
              <a:rPr lang="zh-CN" altLang="en-US" noProof="1"/>
              <a:t>单击此处编辑母版标题样式</a:t>
            </a:r>
            <a:endParaRPr lang="zh-CN" altLang="en-US" noProof="1"/>
          </a:p>
        </p:txBody>
      </p:sp>
      <p:sp>
        <p:nvSpPr>
          <p:cNvPr id="4099" name="Rectangle 3"/>
          <p:cNvSpPr>
            <a:spLocks noGrp="1" noChangeArrowheads="1"/>
          </p:cNvSpPr>
          <p:nvPr>
            <p:ph type="body" idx="1"/>
          </p:nvPr>
        </p:nvSpPr>
        <p:spPr bwMode="auto">
          <a:xfrm>
            <a:off x="566738" y="1752600"/>
            <a:ext cx="8001000" cy="42672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28" name="AutoShape 4"/>
          <p:cNvSpPr/>
          <p:nvPr/>
        </p:nvSpPr>
        <p:spPr>
          <a:xfrm>
            <a:off x="609600" y="1566863"/>
            <a:ext cx="7958138"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4101" name="Line 5"/>
          <p:cNvSpPr>
            <a:spLocks noChangeShapeType="1"/>
          </p:cNvSpPr>
          <p:nvPr/>
        </p:nvSpPr>
        <p:spPr bwMode="auto">
          <a:xfrm flipV="1">
            <a:off x="609600" y="6172200"/>
            <a:ext cx="7924800" cy="0"/>
          </a:xfrm>
          <a:prstGeom prst="line">
            <a:avLst/>
          </a:prstGeom>
          <a:noFill/>
          <a:ln w="3175">
            <a:solidFill>
              <a:schemeClr val="accent2"/>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02" name="Rectangle 6"/>
          <p:cNvSpPr>
            <a:spLocks noGrp="1" noChangeArrowheads="1"/>
          </p:cNvSpPr>
          <p:nvPr>
            <p:ph type="dt" sz="half" idx="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b="0">
                <a:solidFill>
                  <a:schemeClr val="tx1"/>
                </a:solidFill>
                <a:effectLs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03" name="Rectangle 7"/>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b="0">
                <a:solidFill>
                  <a:schemeClr val="tx1"/>
                </a:solidFill>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04" name="Rectangle 8"/>
          <p:cNvSpPr>
            <a:spLocks noGrp="1" noChangeArrowheads="1"/>
          </p:cNvSpPr>
          <p:nvPr>
            <p:ph type="sldNum" sz="quarter" idx="4"/>
          </p:nvPr>
        </p:nvSpPr>
        <p:spPr bwMode="auto">
          <a:xfrm>
            <a:off x="65532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r">
              <a:defRPr sz="1200" b="0">
                <a:solidFill>
                  <a:schemeClr val="tx1"/>
                </a:solidFill>
              </a:defRPr>
            </a:lvl1pPr>
          </a:lstStyle>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marL="4572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marL="9144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marL="13716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marL="18288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effectLst>
            <a:outerShdw blurRad="38100" dist="38100" dir="2700000" algn="tl">
              <a:srgbClr val="C0C0C0"/>
            </a:outerShdw>
          </a:effectLst>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effectLst>
            <a:outerShdw blurRad="38100" dist="38100" dir="2700000" algn="tl">
              <a:srgbClr val="C0C0C0"/>
            </a:outerShdw>
          </a:effectLst>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effectLst>
            <a:outerShdw blurRad="38100" dist="38100" dir="2700000" algn="tl">
              <a:srgbClr val="C0C0C0"/>
            </a:outerShdw>
          </a:effectLst>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effectLst>
            <a:outerShdw blurRad="38100" dist="38100" dir="2700000" algn="tl">
              <a:srgbClr val="C0C0C0"/>
            </a:outerShdw>
          </a:effectLst>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slide" Target="slide1.xml"/><Relationship Id="rId3" Type="http://schemas.openxmlformats.org/officeDocument/2006/relationships/slide" Target="slide52.xml"/><Relationship Id="rId2" Type="http://schemas.openxmlformats.org/officeDocument/2006/relationships/slide" Target="slide30.xml"/><Relationship Id="rId1" Type="http://schemas.openxmlformats.org/officeDocument/2006/relationships/slide" Target="slide4.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4.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3.xml"/><Relationship Id="rId2" Type="http://schemas.openxmlformats.org/officeDocument/2006/relationships/image" Target="../media/image7.wmf"/><Relationship Id="rId1"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7.xml"/><Relationship Id="rId5" Type="http://schemas.openxmlformats.org/officeDocument/2006/relationships/slide" Target="slide16.xml"/><Relationship Id="rId4" Type="http://schemas.openxmlformats.org/officeDocument/2006/relationships/slide" Target="slide17.xml"/><Relationship Id="rId3" Type="http://schemas.openxmlformats.org/officeDocument/2006/relationships/slide" Target="slide13.xml"/><Relationship Id="rId2" Type="http://schemas.openxmlformats.org/officeDocument/2006/relationships/slide" Target="slide14.xml"/><Relationship Id="rId1" Type="http://schemas.openxmlformats.org/officeDocument/2006/relationships/slide" Target="slide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13.wmf"/><Relationship Id="rId1" Type="http://schemas.openxmlformats.org/officeDocument/2006/relationships/oleObject" Target="../embeddings/oleObject2.bin"/></Relationships>
</file>

<file path=ppt/slides/_rels/slide27.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7.xml"/><Relationship Id="rId3" Type="http://schemas.openxmlformats.org/officeDocument/2006/relationships/image" Target="../media/image16.png"/><Relationship Id="rId2" Type="http://schemas.openxmlformats.org/officeDocument/2006/relationships/image" Target="../media/image15.wmf"/><Relationship Id="rId1" Type="http://schemas.openxmlformats.org/officeDocument/2006/relationships/oleObject" Target="../embeddings/oleObject3.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31.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7.xml"/><Relationship Id="rId3" Type="http://schemas.openxmlformats.org/officeDocument/2006/relationships/image" Target="../media/image20.png"/><Relationship Id="rId2" Type="http://schemas.openxmlformats.org/officeDocument/2006/relationships/image" Target="../media/image19.wmf"/><Relationship Id="rId1" Type="http://schemas.openxmlformats.org/officeDocument/2006/relationships/oleObject" Target="../embeddings/oleObject4.bin"/></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7.xml"/><Relationship Id="rId5" Type="http://schemas.openxmlformats.org/officeDocument/2006/relationships/slide" Target="slide16.xml"/><Relationship Id="rId4" Type="http://schemas.openxmlformats.org/officeDocument/2006/relationships/slide" Target="slide17.xml"/><Relationship Id="rId3" Type="http://schemas.openxmlformats.org/officeDocument/2006/relationships/slide" Target="slide13.xml"/><Relationship Id="rId2" Type="http://schemas.openxmlformats.org/officeDocument/2006/relationships/slide" Target="slide14.xml"/><Relationship Id="rId1" Type="http://schemas.openxmlformats.org/officeDocument/2006/relationships/slide" Target="slide15.xml"/></Relationships>
</file>

<file path=ppt/slides/_rels/slide35.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7.xml"/><Relationship Id="rId3" Type="http://schemas.openxmlformats.org/officeDocument/2006/relationships/image" Target="../media/image20.png"/><Relationship Id="rId2" Type="http://schemas.openxmlformats.org/officeDocument/2006/relationships/image" Target="../media/image19.wmf"/><Relationship Id="rId1" Type="http://schemas.openxmlformats.org/officeDocument/2006/relationships/oleObject" Target="../embeddings/oleObject5.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8.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4.png"/><Relationship Id="rId1" Type="http://schemas.openxmlformats.org/officeDocument/2006/relationships/image" Target="../media/image3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1" name="Text Box 3">
            <a:hlinkClick r:id="rId1" action="ppaction://hlinksldjump"/>
          </p:cNvPr>
          <p:cNvSpPr txBox="1"/>
          <p:nvPr/>
        </p:nvSpPr>
        <p:spPr>
          <a:xfrm>
            <a:off x="1411288" y="2038350"/>
            <a:ext cx="3217862" cy="520700"/>
          </a:xfrm>
          <a:prstGeom prst="rect">
            <a:avLst/>
          </a:prstGeom>
          <a:noFill/>
          <a:ln w="12700">
            <a:noFill/>
          </a:ln>
        </p:spPr>
        <p:txBody>
          <a:bodyPr wrap="none">
            <a:spAutoFit/>
          </a:bodyPr>
          <a:p>
            <a:pPr eaLnBrk="1" hangingPunct="1"/>
            <a:r>
              <a:rPr lang="en-US" altLang="zh-CN" sz="2800" dirty="0">
                <a:solidFill>
                  <a:schemeClr val="tx1"/>
                </a:solidFill>
                <a:latin typeface="Times New Roman" panose="02020603050405020304" pitchFamily="18" charset="0"/>
                <a:ea typeface="楷体_GB2312" pitchFamily="49" charset="-122"/>
              </a:rPr>
              <a:t>7.1 </a:t>
            </a:r>
            <a:r>
              <a:rPr lang="zh-CN" altLang="en-US" sz="2800" dirty="0">
                <a:solidFill>
                  <a:schemeClr val="tx1"/>
                </a:solidFill>
                <a:latin typeface="Times New Roman" panose="02020603050405020304" pitchFamily="18" charset="0"/>
                <a:ea typeface="楷体_GB2312" pitchFamily="49" charset="-122"/>
              </a:rPr>
              <a:t>图的定义和术语</a:t>
            </a:r>
            <a:endParaRPr lang="zh-CN" altLang="en-US" sz="2800" dirty="0">
              <a:solidFill>
                <a:schemeClr val="tx1"/>
              </a:solidFill>
              <a:latin typeface="Times New Roman" panose="02020603050405020304" pitchFamily="18" charset="0"/>
              <a:ea typeface="楷体_GB2312" pitchFamily="49" charset="-122"/>
            </a:endParaRPr>
          </a:p>
        </p:txBody>
      </p:sp>
      <p:sp>
        <p:nvSpPr>
          <p:cNvPr id="2054" name="Text Box 6">
            <a:hlinkClick r:id="rId2" action="ppaction://hlinksldjump"/>
          </p:cNvPr>
          <p:cNvSpPr txBox="1"/>
          <p:nvPr/>
        </p:nvSpPr>
        <p:spPr>
          <a:xfrm>
            <a:off x="1411288" y="2508250"/>
            <a:ext cx="2860675" cy="522288"/>
          </a:xfrm>
          <a:prstGeom prst="rect">
            <a:avLst/>
          </a:prstGeom>
          <a:noFill/>
          <a:ln w="12700">
            <a:noFill/>
          </a:ln>
        </p:spPr>
        <p:txBody>
          <a:bodyPr wrap="none">
            <a:spAutoFit/>
          </a:bodyPr>
          <a:p>
            <a:pPr eaLnBrk="1" hangingPunct="1"/>
            <a:r>
              <a:rPr lang="en-US" altLang="zh-CN" sz="2800" dirty="0">
                <a:solidFill>
                  <a:schemeClr val="tx1"/>
                </a:solidFill>
                <a:latin typeface="Times New Roman" panose="02020603050405020304" pitchFamily="18" charset="0"/>
              </a:rPr>
              <a:t>7.2 </a:t>
            </a:r>
            <a:r>
              <a:rPr lang="zh-CN" altLang="en-US" sz="2800" dirty="0">
                <a:solidFill>
                  <a:schemeClr val="tx1"/>
                </a:solidFill>
                <a:latin typeface="Times New Roman" panose="02020603050405020304" pitchFamily="18" charset="0"/>
                <a:ea typeface="楷体_GB2312" pitchFamily="49" charset="-122"/>
              </a:rPr>
              <a:t>图的存储表示</a:t>
            </a:r>
            <a:endParaRPr lang="zh-CN" altLang="en-US" sz="2800" dirty="0">
              <a:solidFill>
                <a:schemeClr val="tx1"/>
              </a:solidFill>
              <a:latin typeface="Times New Roman" panose="02020603050405020304" pitchFamily="18" charset="0"/>
              <a:ea typeface="楷体_GB2312" pitchFamily="49" charset="-122"/>
            </a:endParaRPr>
          </a:p>
        </p:txBody>
      </p:sp>
      <p:sp>
        <p:nvSpPr>
          <p:cNvPr id="2055" name="Text Box 7">
            <a:hlinkClick r:id="rId3" action="ppaction://hlinksldjump"/>
          </p:cNvPr>
          <p:cNvSpPr txBox="1"/>
          <p:nvPr/>
        </p:nvSpPr>
        <p:spPr>
          <a:xfrm>
            <a:off x="1411288" y="2940050"/>
            <a:ext cx="2146300" cy="522288"/>
          </a:xfrm>
          <a:prstGeom prst="rect">
            <a:avLst/>
          </a:prstGeom>
          <a:noFill/>
          <a:ln w="12700">
            <a:noFill/>
          </a:ln>
        </p:spPr>
        <p:txBody>
          <a:bodyPr wrap="none">
            <a:spAutoFit/>
          </a:bodyPr>
          <a:p>
            <a:pPr eaLnBrk="1" hangingPunct="1"/>
            <a:r>
              <a:rPr lang="en-US" altLang="zh-CN" sz="2800" dirty="0">
                <a:solidFill>
                  <a:schemeClr val="tx1"/>
                </a:solidFill>
                <a:latin typeface="Times New Roman" panose="02020603050405020304" pitchFamily="18" charset="0"/>
                <a:ea typeface="楷体_GB2312" pitchFamily="49" charset="-122"/>
              </a:rPr>
              <a:t>7.3 </a:t>
            </a:r>
            <a:r>
              <a:rPr lang="zh-CN" altLang="en-US" sz="2800" dirty="0">
                <a:solidFill>
                  <a:schemeClr val="tx1"/>
                </a:solidFill>
                <a:latin typeface="Times New Roman" panose="02020603050405020304" pitchFamily="18" charset="0"/>
                <a:ea typeface="楷体_GB2312" pitchFamily="49" charset="-122"/>
              </a:rPr>
              <a:t>图的遍历</a:t>
            </a:r>
            <a:endParaRPr lang="zh-CN" altLang="en-US" sz="2800" dirty="0">
              <a:solidFill>
                <a:schemeClr val="tx1"/>
              </a:solidFill>
              <a:latin typeface="Times New Roman" panose="02020603050405020304" pitchFamily="18" charset="0"/>
              <a:ea typeface="楷体_GB2312" pitchFamily="49" charset="-122"/>
            </a:endParaRPr>
          </a:p>
        </p:txBody>
      </p:sp>
      <p:sp>
        <p:nvSpPr>
          <p:cNvPr id="2056" name="Text Box 8">
            <a:hlinkClick r:id="" action="ppaction://noaction"/>
          </p:cNvPr>
          <p:cNvSpPr txBox="1"/>
          <p:nvPr/>
        </p:nvSpPr>
        <p:spPr>
          <a:xfrm>
            <a:off x="1411288" y="3360738"/>
            <a:ext cx="2503487" cy="522287"/>
          </a:xfrm>
          <a:prstGeom prst="rect">
            <a:avLst/>
          </a:prstGeom>
          <a:noFill/>
          <a:ln w="12700">
            <a:noFill/>
          </a:ln>
        </p:spPr>
        <p:txBody>
          <a:bodyPr wrap="none">
            <a:spAutoFit/>
          </a:bodyPr>
          <a:p>
            <a:pPr eaLnBrk="1" hangingPunct="1"/>
            <a:r>
              <a:rPr lang="en-US" altLang="zh-CN" sz="2800" dirty="0">
                <a:solidFill>
                  <a:schemeClr val="tx1"/>
                </a:solidFill>
                <a:latin typeface="Times New Roman" panose="02020603050405020304" pitchFamily="18" charset="0"/>
                <a:ea typeface="楷体_GB2312" pitchFamily="49" charset="-122"/>
              </a:rPr>
              <a:t>7.4 </a:t>
            </a:r>
            <a:r>
              <a:rPr lang="zh-CN" altLang="en-US" sz="2800" dirty="0">
                <a:solidFill>
                  <a:schemeClr val="tx1"/>
                </a:solidFill>
                <a:latin typeface="Times New Roman" panose="02020603050405020304" pitchFamily="18" charset="0"/>
                <a:ea typeface="楷体_GB2312" pitchFamily="49" charset="-122"/>
              </a:rPr>
              <a:t>最小生成树</a:t>
            </a:r>
            <a:endParaRPr lang="zh-CN" altLang="en-US" sz="2800" dirty="0">
              <a:solidFill>
                <a:schemeClr val="tx1"/>
              </a:solidFill>
              <a:latin typeface="Times New Roman" panose="02020603050405020304" pitchFamily="18" charset="0"/>
              <a:ea typeface="楷体_GB2312" pitchFamily="49" charset="-122"/>
            </a:endParaRPr>
          </a:p>
        </p:txBody>
      </p:sp>
      <p:sp>
        <p:nvSpPr>
          <p:cNvPr id="2057" name="Text Box 9">
            <a:hlinkClick r:id="rId4" action="ppaction://hlinksldjump"/>
          </p:cNvPr>
          <p:cNvSpPr txBox="1"/>
          <p:nvPr/>
        </p:nvSpPr>
        <p:spPr>
          <a:xfrm>
            <a:off x="1411288" y="3822700"/>
            <a:ext cx="3933825" cy="520700"/>
          </a:xfrm>
          <a:prstGeom prst="rect">
            <a:avLst/>
          </a:prstGeom>
          <a:noFill/>
          <a:ln w="12700">
            <a:noFill/>
          </a:ln>
        </p:spPr>
        <p:txBody>
          <a:bodyPr wrap="none">
            <a:spAutoFit/>
          </a:bodyPr>
          <a:p>
            <a:pPr eaLnBrk="1" hangingPunct="1"/>
            <a:r>
              <a:rPr lang="en-US" altLang="zh-CN" sz="2800" dirty="0">
                <a:solidFill>
                  <a:schemeClr val="tx1"/>
                </a:solidFill>
                <a:latin typeface="Times New Roman" panose="02020603050405020304" pitchFamily="18" charset="0"/>
                <a:ea typeface="楷体_GB2312" pitchFamily="49" charset="-122"/>
              </a:rPr>
              <a:t>7.5 </a:t>
            </a:r>
            <a:r>
              <a:rPr lang="zh-CN" altLang="en-US" sz="2800" dirty="0">
                <a:solidFill>
                  <a:schemeClr val="tx1"/>
                </a:solidFill>
                <a:latin typeface="Times New Roman" panose="02020603050405020304" pitchFamily="18" charset="0"/>
                <a:ea typeface="楷体_GB2312" pitchFamily="49" charset="-122"/>
              </a:rPr>
              <a:t>拓扑排序和关键路径</a:t>
            </a:r>
            <a:endParaRPr lang="zh-CN" altLang="en-US" sz="2800" dirty="0">
              <a:solidFill>
                <a:schemeClr val="tx1"/>
              </a:solidFill>
              <a:latin typeface="Times New Roman" panose="02020603050405020304" pitchFamily="18" charset="0"/>
              <a:ea typeface="楷体_GB2312" pitchFamily="49" charset="-122"/>
            </a:endParaRPr>
          </a:p>
        </p:txBody>
      </p:sp>
      <p:sp>
        <p:nvSpPr>
          <p:cNvPr id="2059" name="Text Box 11">
            <a:hlinkClick r:id="rId4" action="ppaction://hlinksldjump"/>
          </p:cNvPr>
          <p:cNvSpPr txBox="1"/>
          <p:nvPr/>
        </p:nvSpPr>
        <p:spPr>
          <a:xfrm>
            <a:off x="1411288" y="4230688"/>
            <a:ext cx="2146300" cy="522287"/>
          </a:xfrm>
          <a:prstGeom prst="rect">
            <a:avLst/>
          </a:prstGeom>
          <a:noFill/>
          <a:ln w="12700">
            <a:noFill/>
          </a:ln>
        </p:spPr>
        <p:txBody>
          <a:bodyPr wrap="none">
            <a:spAutoFit/>
          </a:bodyPr>
          <a:p>
            <a:pPr eaLnBrk="1" hangingPunct="1"/>
            <a:r>
              <a:rPr lang="en-US" altLang="zh-CN" sz="2800" dirty="0">
                <a:solidFill>
                  <a:schemeClr val="tx1"/>
                </a:solidFill>
                <a:latin typeface="Times New Roman" panose="02020603050405020304" pitchFamily="18" charset="0"/>
                <a:ea typeface="楷体_GB2312" pitchFamily="49" charset="-122"/>
              </a:rPr>
              <a:t>7.6 </a:t>
            </a:r>
            <a:r>
              <a:rPr lang="zh-CN" altLang="en-US" sz="2800" dirty="0">
                <a:solidFill>
                  <a:schemeClr val="tx1"/>
                </a:solidFill>
                <a:latin typeface="Times New Roman" panose="02020603050405020304" pitchFamily="18" charset="0"/>
                <a:ea typeface="楷体_GB2312" pitchFamily="49" charset="-122"/>
              </a:rPr>
              <a:t>最短路径</a:t>
            </a:r>
            <a:endParaRPr lang="zh-CN" altLang="en-US" sz="2800" dirty="0">
              <a:solidFill>
                <a:schemeClr val="tx1"/>
              </a:solidFill>
              <a:latin typeface="Times New Roman" panose="02020603050405020304" pitchFamily="18" charset="0"/>
              <a:ea typeface="楷体_GB2312" pitchFamily="49" charset="-122"/>
            </a:endParaRPr>
          </a:p>
        </p:txBody>
      </p:sp>
      <p:sp>
        <p:nvSpPr>
          <p:cNvPr id="323586" name="Rectangle 2"/>
          <p:cNvSpPr>
            <a:spLocks noGrp="1" noChangeArrowheads="1"/>
          </p:cNvSpPr>
          <p:nvPr/>
        </p:nvSpPr>
        <p:spPr>
          <a:xfrm>
            <a:off x="574675" y="304800"/>
            <a:ext cx="8001000" cy="1216025"/>
          </a:xfrm>
          <a:prstGeom prst="rect">
            <a:avLst/>
          </a:prstGeom>
          <a:noFill/>
          <a:ln w="9525">
            <a:noFill/>
            <a:miter lim="800000"/>
          </a:ln>
          <a:effectLst/>
        </p:spPr>
        <p:txBody>
          <a:bodyPr anchor="b"/>
          <a:lstStyle>
            <a:lvl1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marL="4572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marL="9144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marL="13716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marL="18288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sym typeface="Symbol" panose="05050102010706020507" pitchFamily="18" charset="2"/>
              </a:rPr>
              <a:t>第</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sym typeface="Symbol" panose="05050102010706020507" pitchFamily="18" charset="2"/>
              </a:rPr>
              <a:t>7</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sym typeface="Symbol" panose="05050102010706020507" pitchFamily="18" charset="2"/>
              </a:rPr>
              <a:t>章 图</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sym typeface="Symbol" panose="05050102010706020507" pitchFamily="18" charset="2"/>
            </a:endParaRPr>
          </a:p>
        </p:txBody>
      </p:sp>
    </p:spTree>
  </p:cSld>
  <p:clrMapOvr>
    <a:masterClrMapping/>
  </p:clrMapOvr>
  <p:transition>
    <p:cover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slide(fromRight)">
                                      <p:cBhvr>
                                        <p:cTn id="7" dur="500"/>
                                        <p:tgtEl>
                                          <p:spTgt spid="2051"/>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2" fill="hold" grpId="0" nodeType="clickEffect">
                                  <p:stCondLst>
                                    <p:cond delay="0"/>
                                  </p:stCondLst>
                                  <p:childTnLst>
                                    <p:set>
                                      <p:cBhvr>
                                        <p:cTn id="11" dur="1" fill="hold">
                                          <p:stCondLst>
                                            <p:cond delay="0"/>
                                          </p:stCondLst>
                                        </p:cTn>
                                        <p:tgtEl>
                                          <p:spTgt spid="2054"/>
                                        </p:tgtEl>
                                        <p:attrNameLst>
                                          <p:attrName>style.visibility</p:attrName>
                                        </p:attrNameLst>
                                      </p:cBhvr>
                                      <p:to>
                                        <p:strVal val="visible"/>
                                      </p:to>
                                    </p:set>
                                    <p:animEffect transition="in" filter="slide(fromRight)">
                                      <p:cBhvr>
                                        <p:cTn id="12" dur="500"/>
                                        <p:tgtEl>
                                          <p:spTgt spid="205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2" fill="hold" grpId="0" nodeType="clickEffect">
                                  <p:stCondLst>
                                    <p:cond delay="0"/>
                                  </p:stCondLst>
                                  <p:childTnLst>
                                    <p:set>
                                      <p:cBhvr>
                                        <p:cTn id="16" dur="1" fill="hold">
                                          <p:stCondLst>
                                            <p:cond delay="0"/>
                                          </p:stCondLst>
                                        </p:cTn>
                                        <p:tgtEl>
                                          <p:spTgt spid="2055"/>
                                        </p:tgtEl>
                                        <p:attrNameLst>
                                          <p:attrName>style.visibility</p:attrName>
                                        </p:attrNameLst>
                                      </p:cBhvr>
                                      <p:to>
                                        <p:strVal val="visible"/>
                                      </p:to>
                                    </p:set>
                                    <p:animEffect transition="in" filter="slide(fromRight)">
                                      <p:cBhvr>
                                        <p:cTn id="17" dur="500"/>
                                        <p:tgtEl>
                                          <p:spTgt spid="2055"/>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2" fill="hold" grpId="0" nodeType="clickEffect">
                                  <p:stCondLst>
                                    <p:cond delay="0"/>
                                  </p:stCondLst>
                                  <p:childTnLst>
                                    <p:set>
                                      <p:cBhvr>
                                        <p:cTn id="21" dur="1" fill="hold">
                                          <p:stCondLst>
                                            <p:cond delay="0"/>
                                          </p:stCondLst>
                                        </p:cTn>
                                        <p:tgtEl>
                                          <p:spTgt spid="2056"/>
                                        </p:tgtEl>
                                        <p:attrNameLst>
                                          <p:attrName>style.visibility</p:attrName>
                                        </p:attrNameLst>
                                      </p:cBhvr>
                                      <p:to>
                                        <p:strVal val="visible"/>
                                      </p:to>
                                    </p:set>
                                    <p:animEffect transition="in" filter="slide(fromRight)">
                                      <p:cBhvr>
                                        <p:cTn id="22" dur="500"/>
                                        <p:tgtEl>
                                          <p:spTgt spid="2056"/>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2" fill="hold" grpId="0" nodeType="clickEffect">
                                  <p:stCondLst>
                                    <p:cond delay="0"/>
                                  </p:stCondLst>
                                  <p:childTnLst>
                                    <p:set>
                                      <p:cBhvr>
                                        <p:cTn id="26" dur="1" fill="hold">
                                          <p:stCondLst>
                                            <p:cond delay="0"/>
                                          </p:stCondLst>
                                        </p:cTn>
                                        <p:tgtEl>
                                          <p:spTgt spid="2057"/>
                                        </p:tgtEl>
                                        <p:attrNameLst>
                                          <p:attrName>style.visibility</p:attrName>
                                        </p:attrNameLst>
                                      </p:cBhvr>
                                      <p:to>
                                        <p:strVal val="visible"/>
                                      </p:to>
                                    </p:set>
                                    <p:animEffect transition="in" filter="slide(fromRight)">
                                      <p:cBhvr>
                                        <p:cTn id="27" dur="500"/>
                                        <p:tgtEl>
                                          <p:spTgt spid="2057"/>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2" fill="hold" grpId="0" nodeType="clickEffect">
                                  <p:stCondLst>
                                    <p:cond delay="0"/>
                                  </p:stCondLst>
                                  <p:childTnLst>
                                    <p:set>
                                      <p:cBhvr>
                                        <p:cTn id="31" dur="1" fill="hold">
                                          <p:stCondLst>
                                            <p:cond delay="0"/>
                                          </p:stCondLst>
                                        </p:cTn>
                                        <p:tgtEl>
                                          <p:spTgt spid="2059"/>
                                        </p:tgtEl>
                                        <p:attrNameLst>
                                          <p:attrName>style.visibility</p:attrName>
                                        </p:attrNameLst>
                                      </p:cBhvr>
                                      <p:to>
                                        <p:strVal val="visible"/>
                                      </p:to>
                                    </p:set>
                                    <p:animEffect transition="in" filter="slide(fromRight)">
                                      <p:cBhvr>
                                        <p:cTn id="32" dur="500"/>
                                        <p:tgtEl>
                                          <p:spTgt spid="2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p:bldP spid="2054" grpId="0"/>
      <p:bldP spid="2055" grpId="0"/>
      <p:bldP spid="2056" grpId="0"/>
      <p:bldP spid="2057" grpId="0"/>
      <p:bldP spid="205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358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第</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7</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章 图</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23587"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多对多的数据结构</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6148" name="文本框 1"/>
          <p:cNvSpPr txBox="1"/>
          <p:nvPr/>
        </p:nvSpPr>
        <p:spPr>
          <a:xfrm>
            <a:off x="477838" y="5057775"/>
            <a:ext cx="8462962" cy="522288"/>
          </a:xfrm>
          <a:prstGeom prst="rect">
            <a:avLst/>
          </a:prstGeom>
          <a:noFill/>
          <a:ln w="9525">
            <a:noFill/>
          </a:ln>
        </p:spPr>
        <p:txBody>
          <a:bodyPr wrap="none">
            <a:spAutoFit/>
          </a:bodyPr>
          <a:p>
            <a:pPr eaLnBrk="1" hangingPunct="1"/>
            <a:r>
              <a:rPr lang="zh-CN" altLang="zh-CN" sz="2800" dirty="0">
                <a:solidFill>
                  <a:srgbClr val="CC0000"/>
                </a:solidFill>
                <a:latin typeface="Times New Roman" panose="02020603050405020304" pitchFamily="18" charset="0"/>
                <a:ea typeface="楷体_GB2312" pitchFamily="49" charset="-122"/>
              </a:rPr>
              <a:t>图</a:t>
            </a:r>
            <a:r>
              <a:rPr lang="zh-CN" altLang="zh-CN" sz="2800" dirty="0">
                <a:solidFill>
                  <a:srgbClr val="333399"/>
                </a:solidFill>
                <a:latin typeface="Times New Roman" panose="02020603050405020304" pitchFamily="18" charset="0"/>
                <a:ea typeface="楷体_GB2312" pitchFamily="49" charset="-122"/>
              </a:rPr>
              <a:t>是由一个</a:t>
            </a:r>
            <a:r>
              <a:rPr lang="zh-CN" altLang="en-US" sz="2800" dirty="0">
                <a:solidFill>
                  <a:srgbClr val="CC3300"/>
                </a:solidFill>
                <a:latin typeface="Times New Roman" panose="02020603050405020304" pitchFamily="18" charset="0"/>
                <a:ea typeface="楷体_GB2312" pitchFamily="49" charset="-122"/>
              </a:rPr>
              <a:t>顶点集 </a:t>
            </a:r>
            <a:r>
              <a:rPr lang="en-US" altLang="zh-CN" sz="2800" dirty="0">
                <a:solidFill>
                  <a:srgbClr val="CC0000"/>
                </a:solidFill>
                <a:latin typeface="Times New Roman" panose="02020603050405020304" pitchFamily="18" charset="0"/>
                <a:ea typeface="楷体_GB2312" pitchFamily="49" charset="-122"/>
              </a:rPr>
              <a:t>V </a:t>
            </a:r>
            <a:r>
              <a:rPr lang="zh-CN" altLang="zh-CN" sz="2800" dirty="0">
                <a:solidFill>
                  <a:srgbClr val="333399"/>
                </a:solidFill>
                <a:latin typeface="Times New Roman" panose="02020603050405020304" pitchFamily="18" charset="0"/>
                <a:ea typeface="楷体_GB2312" pitchFamily="49" charset="-122"/>
              </a:rPr>
              <a:t>和一个</a:t>
            </a:r>
            <a:r>
              <a:rPr lang="zh-CN" altLang="en-US" sz="2800" dirty="0">
                <a:solidFill>
                  <a:srgbClr val="CC3300"/>
                </a:solidFill>
                <a:latin typeface="Times New Roman" panose="02020603050405020304" pitchFamily="18" charset="0"/>
                <a:ea typeface="楷体_GB2312" pitchFamily="49" charset="-122"/>
              </a:rPr>
              <a:t>弧集 </a:t>
            </a:r>
            <a:r>
              <a:rPr lang="en-US" altLang="zh-CN" sz="2800" dirty="0">
                <a:solidFill>
                  <a:srgbClr val="CC0000"/>
                </a:solidFill>
                <a:latin typeface="Times New Roman" panose="02020603050405020304" pitchFamily="18" charset="0"/>
                <a:ea typeface="楷体_GB2312" pitchFamily="49" charset="-122"/>
              </a:rPr>
              <a:t>R</a:t>
            </a:r>
            <a:r>
              <a:rPr lang="zh-CN" altLang="zh-CN" sz="2800" dirty="0">
                <a:solidFill>
                  <a:srgbClr val="333399"/>
                </a:solidFill>
                <a:latin typeface="Times New Roman" panose="02020603050405020304" pitchFamily="18" charset="0"/>
                <a:ea typeface="楷体_GB2312" pitchFamily="49" charset="-122"/>
              </a:rPr>
              <a:t>构成的数据结构。</a:t>
            </a:r>
            <a:endParaRPr lang="zh-CN" altLang="en-US" sz="2800" dirty="0">
              <a:latin typeface="Verdana" panose="020B0604030504040204" pitchFamily="34" charset="0"/>
            </a:endParaRPr>
          </a:p>
        </p:txBody>
      </p:sp>
      <p:pic>
        <p:nvPicPr>
          <p:cNvPr id="6149" name="20 2"/>
          <p:cNvPicPr>
            <a:picLocks noChangeAspect="1"/>
          </p:cNvPicPr>
          <p:nvPr/>
        </p:nvPicPr>
        <p:blipFill>
          <a:blip r:embed="rId1"/>
          <a:stretch>
            <a:fillRect/>
          </a:stretch>
        </p:blipFill>
        <p:spPr>
          <a:xfrm>
            <a:off x="2051050" y="2295525"/>
            <a:ext cx="4752975" cy="272415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141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7.1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图的定义和术语</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01411" name="Rectangle 3"/>
          <p:cNvSpPr>
            <a:spLocks noGrp="1" noChangeArrowheads="1"/>
          </p:cNvSpPr>
          <p:nvPr>
            <p:ph idx="1"/>
          </p:nvPr>
        </p:nvSpPr>
        <p:spPr>
          <a:xfrm>
            <a:off x="566738" y="1752600"/>
            <a:ext cx="8001000" cy="3189288"/>
          </a:xfrm>
        </p:spPr>
        <p:txBody>
          <a:bodyPr vert="horz" wrap="square" lIns="91440" tIns="45720" rIns="91440" bIns="45720" numCol="1" anchor="t" anchorCtr="0" compatLnSpc="1"/>
          <a:lstStyle/>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顶点（</a:t>
            </a:r>
            <a:r>
              <a:rPr kumimoji="0" lang="en-US" altLang="zh-CN"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Vertex</a:t>
            </a:r>
            <a:r>
              <a:rPr kumimoji="0" lang="zh-CN" altLang="en-US"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：图的数据元素</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设</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V</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是顶点的有穷非空集合；</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VR</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是两个顶点之间的关系的集合；</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弧（</a:t>
            </a:r>
            <a:r>
              <a:rPr kumimoji="0" lang="en-US" altLang="zh-CN"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Arc</a:t>
            </a:r>
            <a:r>
              <a:rPr kumimoji="0" lang="zh-CN" altLang="en-US"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&lt;v,w&gt;∈VR</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表示从</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v</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到</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w</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的一条弧，</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v</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为</a:t>
            </a:r>
            <a:r>
              <a:rPr kumimoji="0" lang="zh-CN" altLang="en-US"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弧尾（</a:t>
            </a:r>
            <a:r>
              <a:rPr kumimoji="0" lang="en-US" altLang="zh-CN"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tail</a:t>
            </a:r>
            <a:r>
              <a:rPr kumimoji="0" lang="zh-CN" altLang="en-US"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）或初始点（</a:t>
            </a:r>
            <a:r>
              <a:rPr kumimoji="0" lang="en-US" altLang="zh-CN"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initial node</a:t>
            </a:r>
            <a:r>
              <a:rPr kumimoji="0" lang="zh-CN" altLang="en-US"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w</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为</a:t>
            </a:r>
            <a:r>
              <a:rPr kumimoji="0" lang="zh-CN" altLang="en-US"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弧头（</a:t>
            </a:r>
            <a:r>
              <a:rPr kumimoji="0" lang="en-US" altLang="zh-CN"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head</a:t>
            </a:r>
            <a:r>
              <a:rPr kumimoji="0" lang="zh-CN" altLang="en-US"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）或终端点（</a:t>
            </a:r>
            <a:r>
              <a:rPr kumimoji="0" lang="en-US" altLang="zh-CN"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terminal node</a:t>
            </a:r>
            <a:r>
              <a:rPr kumimoji="0" lang="zh-CN" altLang="en-US"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a:t>
            </a:r>
            <a:endParaRPr kumimoji="0" lang="zh-CN" altLang="en-US"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若任意</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&lt;v,w&gt;∈VR</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必有</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&lt;w, v&gt;∈VR</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，则</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VR</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为无序的， </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&lt;v,w&gt;→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v</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w</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），称（</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v</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w</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）为</a:t>
            </a:r>
            <a:r>
              <a:rPr kumimoji="0" lang="zh-CN" altLang="en-US"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边（</a:t>
            </a:r>
            <a:r>
              <a:rPr kumimoji="0" lang="en-US" altLang="zh-CN"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Edge</a:t>
            </a:r>
            <a:r>
              <a:rPr kumimoji="0" lang="zh-CN" altLang="en-US"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a:t>
            </a:r>
            <a:endParaRPr kumimoji="0" lang="zh-CN" altLang="en-US"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7172" name="Picture 4"/>
          <p:cNvPicPr>
            <a:picLocks noChangeAspect="1"/>
          </p:cNvPicPr>
          <p:nvPr/>
        </p:nvPicPr>
        <p:blipFill>
          <a:blip r:embed="rId1">
            <a:clrChange>
              <a:clrFrom>
                <a:srgbClr val="FFFFFF"/>
              </a:clrFrom>
              <a:clrTo>
                <a:srgbClr val="FFFFFF">
                  <a:alpha val="0"/>
                </a:srgbClr>
              </a:clrTo>
            </a:clrChange>
          </a:blip>
          <a:stretch>
            <a:fillRect/>
          </a:stretch>
        </p:blipFill>
        <p:spPr>
          <a:xfrm>
            <a:off x="2916238" y="4527550"/>
            <a:ext cx="3671887" cy="1709738"/>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6658" name="Rectangle 2"/>
          <p:cNvSpPr>
            <a:spLocks noGrp="1" noChangeArrowheads="1"/>
          </p:cNvSpPr>
          <p:nvPr>
            <p:ph type="title"/>
          </p:nvPr>
        </p:nvSpPr>
        <p:spPr>
          <a:xfrm>
            <a:off x="611188" y="620713"/>
            <a:ext cx="7924800" cy="901700"/>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7.1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图的定义和术语</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26659" name="Rectangle 3"/>
          <p:cNvSpPr>
            <a:spLocks noGrp="1" noChangeArrowheads="1"/>
          </p:cNvSpPr>
          <p:nvPr>
            <p:ph idx="1"/>
          </p:nvPr>
        </p:nvSpPr>
        <p:spPr>
          <a:xfrm>
            <a:off x="609600" y="1673225"/>
            <a:ext cx="7923213" cy="4419600"/>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一个图</a:t>
            </a: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G</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是由两个集合</a:t>
            </a: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和</a:t>
            </a: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E</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组成，</a:t>
            </a: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是有限的非空顶点集，</a:t>
            </a: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E</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是</a:t>
            </a: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上的顶点对所构成的边集，分别用</a:t>
            </a: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G</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）和</a:t>
            </a: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E</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G</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）来表示图中的顶点集和边集。</a:t>
            </a:r>
            <a:endPar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0" marR="0" lvl="0" indent="0" algn="l"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用二元组  </a:t>
            </a: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G=</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E</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）来表示图</a:t>
            </a: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G</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p:txBody>
      </p:sp>
    </p:spTree>
  </p:cSld>
  <p:clrMapOvr>
    <a:masterClrMapping/>
  </p:clrMapOvr>
  <p:transition>
    <p:blinds/>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243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7.1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图的定义和术语</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0243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有向图（</a:t>
            </a: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Digraph</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a:t>
            </a: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若图</a:t>
            </a: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G</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中的每条边都是有方向的，即为弧，则称</a:t>
            </a: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G</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为有向图</a:t>
            </a: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无向图（</a:t>
            </a: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Undigraph</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a:t>
            </a: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若图</a:t>
            </a: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G</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中的每条边都是没有方向的，则称</a:t>
            </a: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G</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为无向图</a:t>
            </a: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endParaRPr>
          </a:p>
        </p:txBody>
      </p:sp>
      <p:pic>
        <p:nvPicPr>
          <p:cNvPr id="9220" name="Picture 4"/>
          <p:cNvPicPr>
            <a:picLocks noChangeAspect="1"/>
          </p:cNvPicPr>
          <p:nvPr/>
        </p:nvPicPr>
        <p:blipFill>
          <a:blip r:embed="rId1">
            <a:clrChange>
              <a:clrFrom>
                <a:srgbClr val="FFFFFF"/>
              </a:clrFrom>
              <a:clrTo>
                <a:srgbClr val="FFFFFF">
                  <a:alpha val="0"/>
                </a:srgbClr>
              </a:clrTo>
            </a:clrChange>
          </a:blip>
          <a:stretch>
            <a:fillRect/>
          </a:stretch>
        </p:blipFill>
        <p:spPr>
          <a:xfrm>
            <a:off x="5292725" y="4652963"/>
            <a:ext cx="3048000" cy="141922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2" name="20 2"/>
          <p:cNvPicPr>
            <a:picLocks noChangeAspect="1"/>
          </p:cNvPicPr>
          <p:nvPr/>
        </p:nvPicPr>
        <p:blipFill>
          <a:blip r:embed="rId1"/>
          <a:stretch>
            <a:fillRect/>
          </a:stretch>
        </p:blipFill>
        <p:spPr>
          <a:xfrm>
            <a:off x="581025" y="2924175"/>
            <a:ext cx="8405813" cy="2592388"/>
          </a:xfrm>
          <a:prstGeom prst="rect">
            <a:avLst/>
          </a:prstGeom>
          <a:noFill/>
          <a:ln w="9525">
            <a:noFill/>
          </a:ln>
        </p:spPr>
      </p:pic>
      <p:sp>
        <p:nvSpPr>
          <p:cNvPr id="40345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7.1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图的定义和术语</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10244" name="Picture 4"/>
          <p:cNvPicPr>
            <a:picLocks noChangeAspect="1"/>
          </p:cNvPicPr>
          <p:nvPr/>
        </p:nvPicPr>
        <p:blipFill>
          <a:blip r:embed="rId2"/>
          <a:srcRect r="49084"/>
          <a:stretch>
            <a:fillRect/>
          </a:stretch>
        </p:blipFill>
        <p:spPr>
          <a:xfrm>
            <a:off x="684213" y="1773238"/>
            <a:ext cx="1943100" cy="1776412"/>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5508" name="Rectangle 4"/>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7.1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图的定义和术语</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11267" name="Picture 5"/>
          <p:cNvPicPr>
            <a:picLocks noChangeAspect="1"/>
          </p:cNvPicPr>
          <p:nvPr/>
        </p:nvPicPr>
        <p:blipFill>
          <a:blip r:embed="rId1"/>
          <a:srcRect l="49043"/>
          <a:stretch>
            <a:fillRect/>
          </a:stretch>
        </p:blipFill>
        <p:spPr>
          <a:xfrm>
            <a:off x="611188" y="1700213"/>
            <a:ext cx="1944687" cy="1776412"/>
          </a:xfrm>
          <a:prstGeom prst="rect">
            <a:avLst/>
          </a:prstGeom>
          <a:noFill/>
          <a:ln w="9525">
            <a:noFill/>
          </a:ln>
        </p:spPr>
      </p:pic>
      <p:pic>
        <p:nvPicPr>
          <p:cNvPr id="11268" name="20 2"/>
          <p:cNvPicPr>
            <a:picLocks noChangeAspect="1"/>
          </p:cNvPicPr>
          <p:nvPr/>
        </p:nvPicPr>
        <p:blipFill>
          <a:blip r:embed="rId2"/>
          <a:stretch>
            <a:fillRect/>
          </a:stretch>
        </p:blipFill>
        <p:spPr>
          <a:xfrm>
            <a:off x="628650" y="3429000"/>
            <a:ext cx="8166100" cy="1439863"/>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755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7.1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图的定义和术语</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07555" name="Rectangle 3"/>
          <p:cNvSpPr>
            <a:spLocks noGrp="1" noChangeArrowheads="1"/>
          </p:cNvSpPr>
          <p:nvPr>
            <p:ph idx="1"/>
          </p:nvPr>
        </p:nvSpPr>
        <p:spPr/>
        <p:txBody>
          <a:bodyPr vert="horz" wrap="square" lIns="91440" tIns="45720" rIns="91440" bIns="45720" numCol="1" anchor="t" anchorCtr="0" compatLnSpc="1"/>
          <a:lstStyle/>
          <a:p>
            <a:pPr marL="352425" marR="0" lvl="0" indent="-35242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设</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为顶点数目，</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e</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为边或弧数，且忽略到自身的边或弧</a:t>
            </a: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352425" marR="0" lvl="0" indent="-35242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对于无向图</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G</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，其顶点数为</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，则</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0≤e ≤ n(n-1)/2</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。如果</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e= n(n-1)/2</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，则称</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G</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为</a:t>
            </a:r>
            <a:r>
              <a:rPr kumimoji="0" lang="zh-CN" altLang="en-US" sz="2400" b="1" i="0" u="none" strike="noStrike" kern="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mn-ea"/>
                <a:cs typeface="+mn-cs"/>
              </a:rPr>
              <a:t>无向完全图</a:t>
            </a:r>
            <a:endParaRPr kumimoji="0" lang="zh-CN" altLang="en-US" sz="2400" b="1" i="0" u="none" strike="noStrike" kern="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mn-ea"/>
              <a:cs typeface="+mn-cs"/>
            </a:endParaRPr>
          </a:p>
          <a:p>
            <a:pPr marL="352425" marR="0" lvl="0" indent="-35242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对于有向图</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G</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，其顶点数为</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，则</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0≤e ≤ n(n-1)</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。如果</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e= n(n-1)</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，则称</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G</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为</a:t>
            </a:r>
            <a:r>
              <a:rPr kumimoji="0" lang="zh-CN" altLang="en-US" sz="2400" b="1" i="0" u="none" strike="noStrike" kern="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mn-ea"/>
                <a:cs typeface="+mn-cs"/>
              </a:rPr>
              <a:t>有向完全图</a:t>
            </a:r>
            <a:endParaRPr kumimoji="0" lang="zh-CN" altLang="en-US" sz="2400" b="1" i="0" u="none" strike="noStrike" kern="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mn-ea"/>
              <a:cs typeface="+mn-cs"/>
            </a:endParaRPr>
          </a:p>
          <a:p>
            <a:pPr marL="352425" marR="0" lvl="0" indent="-35242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如果图边或弧很少（如</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e&lt;nlogn</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），则图为</a:t>
            </a:r>
            <a:r>
              <a:rPr kumimoji="0" lang="zh-CN" altLang="en-US" sz="2400" b="1" i="0" u="none" strike="noStrike" kern="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mn-ea"/>
                <a:cs typeface="+mn-cs"/>
              </a:rPr>
              <a:t>稀疏图</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sparse graph</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），反之，</a:t>
            </a:r>
            <a:r>
              <a:rPr kumimoji="0" lang="zh-CN" altLang="en-US" sz="2400" b="1" i="0" u="none" strike="noStrike" kern="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mn-ea"/>
                <a:cs typeface="+mn-cs"/>
              </a:rPr>
              <a:t>稠密图</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dense graph</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352425" marR="0" lvl="0" indent="-35242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如果边或弧带有相关的数，则称该数为</a:t>
            </a:r>
            <a:r>
              <a:rPr kumimoji="0" lang="zh-CN" altLang="en-US" sz="24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权</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weight</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），称图为</a:t>
            </a:r>
            <a:r>
              <a:rPr kumimoji="0" lang="zh-CN" altLang="en-US" sz="24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网</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Network</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352425" marR="0" lvl="0" indent="-35242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352425" marR="0" lvl="0" indent="-35242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Oval 2"/>
          <p:cNvSpPr/>
          <p:nvPr/>
        </p:nvSpPr>
        <p:spPr>
          <a:xfrm>
            <a:off x="762000" y="25146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1</a:t>
            </a:r>
            <a:endParaRPr lang="en-US" altLang="zh-CN" sz="2400" b="0" dirty="0">
              <a:solidFill>
                <a:schemeClr val="tx1"/>
              </a:solidFill>
              <a:latin typeface="Times New Roman" panose="02020603050405020304" pitchFamily="18" charset="0"/>
            </a:endParaRPr>
          </a:p>
        </p:txBody>
      </p:sp>
      <p:sp>
        <p:nvSpPr>
          <p:cNvPr id="13315" name="Oval 3"/>
          <p:cNvSpPr/>
          <p:nvPr/>
        </p:nvSpPr>
        <p:spPr>
          <a:xfrm>
            <a:off x="1524000" y="19812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2</a:t>
            </a:r>
            <a:endParaRPr lang="en-US" altLang="zh-CN" sz="2400" b="0" dirty="0">
              <a:solidFill>
                <a:schemeClr val="tx1"/>
              </a:solidFill>
              <a:latin typeface="Times New Roman" panose="02020603050405020304" pitchFamily="18" charset="0"/>
            </a:endParaRPr>
          </a:p>
        </p:txBody>
      </p:sp>
      <p:sp>
        <p:nvSpPr>
          <p:cNvPr id="13316" name="Oval 4"/>
          <p:cNvSpPr/>
          <p:nvPr/>
        </p:nvSpPr>
        <p:spPr>
          <a:xfrm>
            <a:off x="1676400" y="28194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3</a:t>
            </a:r>
            <a:endParaRPr lang="en-US" altLang="zh-CN" sz="2400" b="0" dirty="0">
              <a:solidFill>
                <a:schemeClr val="tx1"/>
              </a:solidFill>
              <a:latin typeface="Times New Roman" panose="02020603050405020304" pitchFamily="18" charset="0"/>
            </a:endParaRPr>
          </a:p>
        </p:txBody>
      </p:sp>
      <p:sp>
        <p:nvSpPr>
          <p:cNvPr id="13317" name="Oval 5"/>
          <p:cNvSpPr/>
          <p:nvPr/>
        </p:nvSpPr>
        <p:spPr>
          <a:xfrm>
            <a:off x="2590800" y="19812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5</a:t>
            </a:r>
            <a:endParaRPr lang="en-US" altLang="zh-CN" sz="2400" b="0" dirty="0">
              <a:solidFill>
                <a:schemeClr val="tx1"/>
              </a:solidFill>
              <a:latin typeface="Times New Roman" panose="02020603050405020304" pitchFamily="18" charset="0"/>
            </a:endParaRPr>
          </a:p>
        </p:txBody>
      </p:sp>
      <p:sp>
        <p:nvSpPr>
          <p:cNvPr id="13318" name="Oval 6"/>
          <p:cNvSpPr/>
          <p:nvPr/>
        </p:nvSpPr>
        <p:spPr>
          <a:xfrm>
            <a:off x="2514600" y="32004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6</a:t>
            </a:r>
            <a:endParaRPr lang="en-US" altLang="zh-CN" sz="2400" b="0" dirty="0">
              <a:solidFill>
                <a:schemeClr val="tx1"/>
              </a:solidFill>
              <a:latin typeface="Times New Roman" panose="02020603050405020304" pitchFamily="18" charset="0"/>
            </a:endParaRPr>
          </a:p>
        </p:txBody>
      </p:sp>
      <p:sp>
        <p:nvSpPr>
          <p:cNvPr id="13319" name="Oval 7"/>
          <p:cNvSpPr/>
          <p:nvPr/>
        </p:nvSpPr>
        <p:spPr>
          <a:xfrm>
            <a:off x="3429000" y="26670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8</a:t>
            </a:r>
            <a:endParaRPr lang="en-US" altLang="zh-CN" sz="2400" b="0" dirty="0">
              <a:solidFill>
                <a:schemeClr val="tx1"/>
              </a:solidFill>
              <a:latin typeface="Times New Roman" panose="02020603050405020304" pitchFamily="18" charset="0"/>
            </a:endParaRPr>
          </a:p>
        </p:txBody>
      </p:sp>
      <p:sp>
        <p:nvSpPr>
          <p:cNvPr id="13320" name="Oval 8"/>
          <p:cNvSpPr/>
          <p:nvPr/>
        </p:nvSpPr>
        <p:spPr>
          <a:xfrm>
            <a:off x="3200400" y="38100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7</a:t>
            </a:r>
            <a:endParaRPr lang="en-US" altLang="zh-CN" sz="2400" b="0" dirty="0">
              <a:solidFill>
                <a:schemeClr val="tx1"/>
              </a:solidFill>
              <a:latin typeface="Times New Roman" panose="02020603050405020304" pitchFamily="18" charset="0"/>
            </a:endParaRPr>
          </a:p>
        </p:txBody>
      </p:sp>
      <p:sp>
        <p:nvSpPr>
          <p:cNvPr id="13321" name="Oval 9"/>
          <p:cNvSpPr/>
          <p:nvPr/>
        </p:nvSpPr>
        <p:spPr>
          <a:xfrm>
            <a:off x="1143000" y="38100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4</a:t>
            </a:r>
            <a:endParaRPr lang="en-US" altLang="zh-CN" sz="2400" b="0" dirty="0">
              <a:solidFill>
                <a:schemeClr val="tx1"/>
              </a:solidFill>
              <a:latin typeface="Times New Roman" panose="02020603050405020304" pitchFamily="18" charset="0"/>
            </a:endParaRPr>
          </a:p>
        </p:txBody>
      </p:sp>
      <p:sp>
        <p:nvSpPr>
          <p:cNvPr id="417802" name="Line 10"/>
          <p:cNvSpPr>
            <a:spLocks noChangeShapeType="1"/>
          </p:cNvSpPr>
          <p:nvPr/>
        </p:nvSpPr>
        <p:spPr bwMode="auto">
          <a:xfrm flipV="1">
            <a:off x="1066800" y="2286000"/>
            <a:ext cx="457200" cy="304800"/>
          </a:xfrm>
          <a:prstGeom prst="line">
            <a:avLst/>
          </a:prstGeom>
          <a:noFill/>
          <a:ln w="9525">
            <a:solidFill>
              <a:schemeClr val="tx1"/>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7803" name="Line 11"/>
          <p:cNvSpPr>
            <a:spLocks noChangeShapeType="1"/>
          </p:cNvSpPr>
          <p:nvPr/>
        </p:nvSpPr>
        <p:spPr bwMode="auto">
          <a:xfrm>
            <a:off x="1905000" y="2133600"/>
            <a:ext cx="685800" cy="0"/>
          </a:xfrm>
          <a:prstGeom prst="line">
            <a:avLst/>
          </a:prstGeom>
          <a:noFill/>
          <a:ln w="9525">
            <a:solidFill>
              <a:schemeClr val="tx1"/>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7804" name="Line 12"/>
          <p:cNvSpPr>
            <a:spLocks noChangeShapeType="1"/>
          </p:cNvSpPr>
          <p:nvPr/>
        </p:nvSpPr>
        <p:spPr bwMode="auto">
          <a:xfrm>
            <a:off x="2971800" y="2286000"/>
            <a:ext cx="533400" cy="381000"/>
          </a:xfrm>
          <a:prstGeom prst="line">
            <a:avLst/>
          </a:prstGeom>
          <a:noFill/>
          <a:ln w="9525">
            <a:solidFill>
              <a:schemeClr val="tx1"/>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7805" name="Line 13"/>
          <p:cNvSpPr>
            <a:spLocks noChangeShapeType="1"/>
          </p:cNvSpPr>
          <p:nvPr/>
        </p:nvSpPr>
        <p:spPr bwMode="auto">
          <a:xfrm>
            <a:off x="1143000" y="2743200"/>
            <a:ext cx="533400" cy="228600"/>
          </a:xfrm>
          <a:prstGeom prst="line">
            <a:avLst/>
          </a:prstGeom>
          <a:noFill/>
          <a:ln w="9525">
            <a:solidFill>
              <a:schemeClr val="tx1"/>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7806" name="Line 14"/>
          <p:cNvSpPr>
            <a:spLocks noChangeShapeType="1"/>
          </p:cNvSpPr>
          <p:nvPr/>
        </p:nvSpPr>
        <p:spPr bwMode="auto">
          <a:xfrm>
            <a:off x="990600" y="2895600"/>
            <a:ext cx="304800" cy="914400"/>
          </a:xfrm>
          <a:prstGeom prst="line">
            <a:avLst/>
          </a:prstGeom>
          <a:noFill/>
          <a:ln w="9525">
            <a:solidFill>
              <a:schemeClr val="tx1"/>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7807" name="Line 15"/>
          <p:cNvSpPr>
            <a:spLocks noChangeShapeType="1"/>
          </p:cNvSpPr>
          <p:nvPr/>
        </p:nvSpPr>
        <p:spPr bwMode="auto">
          <a:xfrm>
            <a:off x="1524000" y="3962400"/>
            <a:ext cx="1676400" cy="0"/>
          </a:xfrm>
          <a:prstGeom prst="line">
            <a:avLst/>
          </a:prstGeom>
          <a:noFill/>
          <a:ln w="9525">
            <a:solidFill>
              <a:schemeClr val="tx1"/>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7808" name="Line 16"/>
          <p:cNvSpPr>
            <a:spLocks noChangeShapeType="1"/>
          </p:cNvSpPr>
          <p:nvPr/>
        </p:nvSpPr>
        <p:spPr bwMode="auto">
          <a:xfrm>
            <a:off x="2057400" y="3048000"/>
            <a:ext cx="457200" cy="228600"/>
          </a:xfrm>
          <a:prstGeom prst="line">
            <a:avLst/>
          </a:prstGeom>
          <a:noFill/>
          <a:ln w="9525">
            <a:solidFill>
              <a:schemeClr val="tx1"/>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7809" name="Line 17"/>
          <p:cNvSpPr>
            <a:spLocks noChangeShapeType="1"/>
          </p:cNvSpPr>
          <p:nvPr/>
        </p:nvSpPr>
        <p:spPr bwMode="auto">
          <a:xfrm>
            <a:off x="2819400" y="3505200"/>
            <a:ext cx="457200" cy="381000"/>
          </a:xfrm>
          <a:prstGeom prst="line">
            <a:avLst/>
          </a:prstGeom>
          <a:noFill/>
          <a:ln w="9525">
            <a:solidFill>
              <a:schemeClr val="tx1"/>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7810" name="Line 18"/>
          <p:cNvSpPr>
            <a:spLocks noChangeShapeType="1"/>
          </p:cNvSpPr>
          <p:nvPr/>
        </p:nvSpPr>
        <p:spPr bwMode="auto">
          <a:xfrm flipV="1">
            <a:off x="3505200" y="3048000"/>
            <a:ext cx="152400" cy="762000"/>
          </a:xfrm>
          <a:prstGeom prst="line">
            <a:avLst/>
          </a:prstGeom>
          <a:noFill/>
          <a:ln w="9525">
            <a:solidFill>
              <a:schemeClr val="tx1"/>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3331" name="Oval 19"/>
          <p:cNvSpPr/>
          <p:nvPr/>
        </p:nvSpPr>
        <p:spPr>
          <a:xfrm>
            <a:off x="5410200" y="26670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A</a:t>
            </a:r>
            <a:endParaRPr lang="en-US" altLang="zh-CN" sz="2400" b="0" dirty="0">
              <a:solidFill>
                <a:schemeClr val="tx1"/>
              </a:solidFill>
              <a:latin typeface="Times New Roman" panose="02020603050405020304" pitchFamily="18" charset="0"/>
            </a:endParaRPr>
          </a:p>
        </p:txBody>
      </p:sp>
      <p:sp>
        <p:nvSpPr>
          <p:cNvPr id="13332" name="Oval 20"/>
          <p:cNvSpPr/>
          <p:nvPr/>
        </p:nvSpPr>
        <p:spPr>
          <a:xfrm>
            <a:off x="6324600" y="19812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B</a:t>
            </a:r>
            <a:endParaRPr lang="en-US" altLang="zh-CN" sz="2400" b="0" dirty="0">
              <a:solidFill>
                <a:schemeClr val="tx1"/>
              </a:solidFill>
              <a:latin typeface="Times New Roman" panose="02020603050405020304" pitchFamily="18" charset="0"/>
            </a:endParaRPr>
          </a:p>
        </p:txBody>
      </p:sp>
      <p:sp>
        <p:nvSpPr>
          <p:cNvPr id="13333" name="Oval 21"/>
          <p:cNvSpPr/>
          <p:nvPr/>
        </p:nvSpPr>
        <p:spPr>
          <a:xfrm>
            <a:off x="5791200" y="36576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D</a:t>
            </a:r>
            <a:endParaRPr lang="en-US" altLang="zh-CN" sz="2400" b="0" dirty="0">
              <a:solidFill>
                <a:schemeClr val="tx1"/>
              </a:solidFill>
              <a:latin typeface="Times New Roman" panose="02020603050405020304" pitchFamily="18" charset="0"/>
            </a:endParaRPr>
          </a:p>
        </p:txBody>
      </p:sp>
      <p:sp>
        <p:nvSpPr>
          <p:cNvPr id="13334" name="Oval 22"/>
          <p:cNvSpPr/>
          <p:nvPr/>
        </p:nvSpPr>
        <p:spPr>
          <a:xfrm>
            <a:off x="7239000" y="26670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C</a:t>
            </a:r>
            <a:endParaRPr lang="en-US" altLang="zh-CN" sz="2400" b="0" dirty="0">
              <a:solidFill>
                <a:schemeClr val="tx1"/>
              </a:solidFill>
              <a:latin typeface="Times New Roman" panose="02020603050405020304" pitchFamily="18" charset="0"/>
            </a:endParaRPr>
          </a:p>
        </p:txBody>
      </p:sp>
      <p:sp>
        <p:nvSpPr>
          <p:cNvPr id="13335" name="Oval 23"/>
          <p:cNvSpPr/>
          <p:nvPr/>
        </p:nvSpPr>
        <p:spPr>
          <a:xfrm>
            <a:off x="6858000" y="36576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E</a:t>
            </a:r>
            <a:endParaRPr lang="en-US" altLang="zh-CN" sz="2400" b="0" dirty="0">
              <a:solidFill>
                <a:schemeClr val="tx1"/>
              </a:solidFill>
              <a:latin typeface="Times New Roman" panose="02020603050405020304" pitchFamily="18" charset="0"/>
            </a:endParaRPr>
          </a:p>
        </p:txBody>
      </p:sp>
      <p:sp>
        <p:nvSpPr>
          <p:cNvPr id="417816" name="Line 24"/>
          <p:cNvSpPr>
            <a:spLocks noChangeShapeType="1"/>
          </p:cNvSpPr>
          <p:nvPr/>
        </p:nvSpPr>
        <p:spPr bwMode="auto">
          <a:xfrm flipH="1">
            <a:off x="5715000" y="2209800"/>
            <a:ext cx="609600" cy="5334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7817" name="Line 25"/>
          <p:cNvSpPr>
            <a:spLocks noChangeShapeType="1"/>
          </p:cNvSpPr>
          <p:nvPr/>
        </p:nvSpPr>
        <p:spPr bwMode="auto">
          <a:xfrm>
            <a:off x="5715000" y="3048000"/>
            <a:ext cx="228600" cy="6096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7818" name="Line 26"/>
          <p:cNvSpPr>
            <a:spLocks noChangeShapeType="1"/>
          </p:cNvSpPr>
          <p:nvPr/>
        </p:nvSpPr>
        <p:spPr bwMode="auto">
          <a:xfrm>
            <a:off x="6172200" y="3886200"/>
            <a:ext cx="685800" cy="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7819" name="Line 27"/>
          <p:cNvSpPr>
            <a:spLocks noChangeShapeType="1"/>
          </p:cNvSpPr>
          <p:nvPr/>
        </p:nvSpPr>
        <p:spPr bwMode="auto">
          <a:xfrm flipV="1">
            <a:off x="7086600" y="3048000"/>
            <a:ext cx="304800" cy="6096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7820" name="Line 28"/>
          <p:cNvSpPr>
            <a:spLocks noChangeShapeType="1"/>
          </p:cNvSpPr>
          <p:nvPr/>
        </p:nvSpPr>
        <p:spPr bwMode="auto">
          <a:xfrm>
            <a:off x="6705600" y="2209800"/>
            <a:ext cx="6096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7821" name="Line 29"/>
          <p:cNvSpPr>
            <a:spLocks noChangeShapeType="1"/>
          </p:cNvSpPr>
          <p:nvPr/>
        </p:nvSpPr>
        <p:spPr bwMode="auto">
          <a:xfrm>
            <a:off x="5791200" y="2819400"/>
            <a:ext cx="1447800" cy="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7822" name="Line 30"/>
          <p:cNvSpPr>
            <a:spLocks noChangeShapeType="1"/>
          </p:cNvSpPr>
          <p:nvPr/>
        </p:nvSpPr>
        <p:spPr bwMode="auto">
          <a:xfrm flipH="1">
            <a:off x="6096000" y="2362200"/>
            <a:ext cx="381000" cy="12954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3343" name="Text Box 31"/>
          <p:cNvSpPr txBox="1"/>
          <p:nvPr/>
        </p:nvSpPr>
        <p:spPr>
          <a:xfrm>
            <a:off x="838200" y="21336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10</a:t>
            </a:r>
            <a:endParaRPr lang="en-US" altLang="zh-CN" sz="1600" b="0" dirty="0">
              <a:solidFill>
                <a:schemeClr val="tx1"/>
              </a:solidFill>
              <a:latin typeface="Times New Roman" panose="02020603050405020304" pitchFamily="18" charset="0"/>
            </a:endParaRPr>
          </a:p>
        </p:txBody>
      </p:sp>
      <p:sp>
        <p:nvSpPr>
          <p:cNvPr id="13344" name="Text Box 32"/>
          <p:cNvSpPr txBox="1"/>
          <p:nvPr/>
        </p:nvSpPr>
        <p:spPr>
          <a:xfrm>
            <a:off x="1905000" y="18288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7</a:t>
            </a:r>
            <a:endParaRPr lang="en-US" altLang="zh-CN" sz="1600" b="0" dirty="0">
              <a:solidFill>
                <a:schemeClr val="tx1"/>
              </a:solidFill>
              <a:latin typeface="Times New Roman" panose="02020603050405020304" pitchFamily="18" charset="0"/>
            </a:endParaRPr>
          </a:p>
        </p:txBody>
      </p:sp>
      <p:sp>
        <p:nvSpPr>
          <p:cNvPr id="13345" name="Text Box 33"/>
          <p:cNvSpPr txBox="1"/>
          <p:nvPr/>
        </p:nvSpPr>
        <p:spPr>
          <a:xfrm>
            <a:off x="3048000" y="22098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9</a:t>
            </a:r>
            <a:endParaRPr lang="en-US" altLang="zh-CN" sz="1600" b="0" dirty="0">
              <a:solidFill>
                <a:schemeClr val="tx1"/>
              </a:solidFill>
              <a:latin typeface="Times New Roman" panose="02020603050405020304" pitchFamily="18" charset="0"/>
            </a:endParaRPr>
          </a:p>
        </p:txBody>
      </p:sp>
      <p:sp>
        <p:nvSpPr>
          <p:cNvPr id="13346" name="Text Box 34"/>
          <p:cNvSpPr txBox="1"/>
          <p:nvPr/>
        </p:nvSpPr>
        <p:spPr>
          <a:xfrm>
            <a:off x="3429000" y="32766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6</a:t>
            </a:r>
            <a:endParaRPr lang="en-US" altLang="zh-CN" sz="1600" b="0" dirty="0">
              <a:solidFill>
                <a:schemeClr val="tx1"/>
              </a:solidFill>
              <a:latin typeface="Times New Roman" panose="02020603050405020304" pitchFamily="18" charset="0"/>
            </a:endParaRPr>
          </a:p>
        </p:txBody>
      </p:sp>
      <p:sp>
        <p:nvSpPr>
          <p:cNvPr id="13347" name="Text Box 35"/>
          <p:cNvSpPr txBox="1"/>
          <p:nvPr/>
        </p:nvSpPr>
        <p:spPr>
          <a:xfrm>
            <a:off x="1066800" y="28194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6</a:t>
            </a:r>
            <a:endParaRPr lang="en-US" altLang="zh-CN" sz="1600" b="0" dirty="0">
              <a:solidFill>
                <a:schemeClr val="tx1"/>
              </a:solidFill>
              <a:latin typeface="Times New Roman" panose="02020603050405020304" pitchFamily="18" charset="0"/>
            </a:endParaRPr>
          </a:p>
        </p:txBody>
      </p:sp>
      <p:sp>
        <p:nvSpPr>
          <p:cNvPr id="13348" name="Text Box 36"/>
          <p:cNvSpPr txBox="1"/>
          <p:nvPr/>
        </p:nvSpPr>
        <p:spPr>
          <a:xfrm>
            <a:off x="1905000" y="31242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7</a:t>
            </a:r>
            <a:endParaRPr lang="en-US" altLang="zh-CN" sz="1600" b="0" dirty="0">
              <a:solidFill>
                <a:schemeClr val="tx1"/>
              </a:solidFill>
              <a:latin typeface="Times New Roman" panose="02020603050405020304" pitchFamily="18" charset="0"/>
            </a:endParaRPr>
          </a:p>
        </p:txBody>
      </p:sp>
      <p:sp>
        <p:nvSpPr>
          <p:cNvPr id="417829" name="Line 37"/>
          <p:cNvSpPr>
            <a:spLocks noChangeShapeType="1"/>
          </p:cNvSpPr>
          <p:nvPr/>
        </p:nvSpPr>
        <p:spPr bwMode="auto">
          <a:xfrm flipV="1">
            <a:off x="1981200" y="2286000"/>
            <a:ext cx="609600" cy="609600"/>
          </a:xfrm>
          <a:prstGeom prst="line">
            <a:avLst/>
          </a:prstGeom>
          <a:noFill/>
          <a:ln w="9525">
            <a:solidFill>
              <a:schemeClr val="tx1"/>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3350" name="Text Box 38"/>
          <p:cNvSpPr txBox="1"/>
          <p:nvPr/>
        </p:nvSpPr>
        <p:spPr>
          <a:xfrm>
            <a:off x="2133600" y="25146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12</a:t>
            </a:r>
            <a:endParaRPr lang="en-US" altLang="zh-CN" sz="1600" b="0" dirty="0">
              <a:solidFill>
                <a:schemeClr val="tx1"/>
              </a:solidFill>
              <a:latin typeface="Times New Roman" panose="02020603050405020304" pitchFamily="18" charset="0"/>
            </a:endParaRPr>
          </a:p>
        </p:txBody>
      </p:sp>
      <p:sp>
        <p:nvSpPr>
          <p:cNvPr id="13351" name="Text Box 39"/>
          <p:cNvSpPr txBox="1"/>
          <p:nvPr/>
        </p:nvSpPr>
        <p:spPr>
          <a:xfrm>
            <a:off x="2819400" y="34290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3</a:t>
            </a:r>
            <a:endParaRPr lang="en-US" altLang="zh-CN" sz="1600" b="0" dirty="0">
              <a:solidFill>
                <a:schemeClr val="tx1"/>
              </a:solidFill>
              <a:latin typeface="Times New Roman" panose="02020603050405020304" pitchFamily="18" charset="0"/>
            </a:endParaRPr>
          </a:p>
        </p:txBody>
      </p:sp>
      <p:sp>
        <p:nvSpPr>
          <p:cNvPr id="13352" name="Text Box 40"/>
          <p:cNvSpPr txBox="1"/>
          <p:nvPr/>
        </p:nvSpPr>
        <p:spPr>
          <a:xfrm>
            <a:off x="685800" y="32766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15</a:t>
            </a:r>
            <a:endParaRPr lang="en-US" altLang="zh-CN" sz="1600" b="0" dirty="0">
              <a:solidFill>
                <a:schemeClr val="tx1"/>
              </a:solidFill>
              <a:latin typeface="Times New Roman" panose="02020603050405020304" pitchFamily="18" charset="0"/>
            </a:endParaRPr>
          </a:p>
        </p:txBody>
      </p:sp>
      <p:sp>
        <p:nvSpPr>
          <p:cNvPr id="13353" name="Text Box 41"/>
          <p:cNvSpPr txBox="1"/>
          <p:nvPr/>
        </p:nvSpPr>
        <p:spPr>
          <a:xfrm>
            <a:off x="1828800" y="39624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16</a:t>
            </a:r>
            <a:endParaRPr lang="en-US" altLang="zh-CN" sz="1600" b="0" dirty="0">
              <a:solidFill>
                <a:schemeClr val="tx1"/>
              </a:solidFill>
              <a:latin typeface="Times New Roman" panose="02020603050405020304" pitchFamily="18" charset="0"/>
            </a:endParaRPr>
          </a:p>
        </p:txBody>
      </p:sp>
      <p:sp>
        <p:nvSpPr>
          <p:cNvPr id="13354" name="Text Box 42"/>
          <p:cNvSpPr txBox="1"/>
          <p:nvPr/>
        </p:nvSpPr>
        <p:spPr>
          <a:xfrm>
            <a:off x="5562600" y="22098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60</a:t>
            </a:r>
            <a:endParaRPr lang="en-US" altLang="zh-CN" sz="1600" b="0" dirty="0">
              <a:solidFill>
                <a:schemeClr val="tx1"/>
              </a:solidFill>
              <a:latin typeface="Times New Roman" panose="02020603050405020304" pitchFamily="18" charset="0"/>
            </a:endParaRPr>
          </a:p>
        </p:txBody>
      </p:sp>
      <p:sp>
        <p:nvSpPr>
          <p:cNvPr id="13355" name="Text Box 43"/>
          <p:cNvSpPr txBox="1"/>
          <p:nvPr/>
        </p:nvSpPr>
        <p:spPr>
          <a:xfrm>
            <a:off x="5334000" y="316865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30</a:t>
            </a:r>
            <a:endParaRPr lang="en-US" altLang="zh-CN" sz="1600" b="0" dirty="0">
              <a:solidFill>
                <a:schemeClr val="tx1"/>
              </a:solidFill>
              <a:latin typeface="Times New Roman" panose="02020603050405020304" pitchFamily="18" charset="0"/>
            </a:endParaRPr>
          </a:p>
        </p:txBody>
      </p:sp>
      <p:sp>
        <p:nvSpPr>
          <p:cNvPr id="13356" name="Text Box 44"/>
          <p:cNvSpPr txBox="1"/>
          <p:nvPr/>
        </p:nvSpPr>
        <p:spPr>
          <a:xfrm>
            <a:off x="6248400" y="385445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45</a:t>
            </a:r>
            <a:endParaRPr lang="en-US" altLang="zh-CN" sz="1600" b="0" dirty="0">
              <a:solidFill>
                <a:schemeClr val="tx1"/>
              </a:solidFill>
              <a:latin typeface="Times New Roman" panose="02020603050405020304" pitchFamily="18" charset="0"/>
            </a:endParaRPr>
          </a:p>
        </p:txBody>
      </p:sp>
      <p:sp>
        <p:nvSpPr>
          <p:cNvPr id="13357" name="Text Box 45"/>
          <p:cNvSpPr txBox="1"/>
          <p:nvPr/>
        </p:nvSpPr>
        <p:spPr>
          <a:xfrm>
            <a:off x="7086600" y="32004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35</a:t>
            </a:r>
            <a:endParaRPr lang="en-US" altLang="zh-CN" sz="1600" b="0" dirty="0">
              <a:solidFill>
                <a:schemeClr val="tx1"/>
              </a:solidFill>
              <a:latin typeface="Times New Roman" panose="02020603050405020304" pitchFamily="18" charset="0"/>
            </a:endParaRPr>
          </a:p>
        </p:txBody>
      </p:sp>
      <p:sp>
        <p:nvSpPr>
          <p:cNvPr id="13358" name="Text Box 46"/>
          <p:cNvSpPr txBox="1"/>
          <p:nvPr/>
        </p:nvSpPr>
        <p:spPr>
          <a:xfrm>
            <a:off x="6400800" y="25146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80</a:t>
            </a:r>
            <a:endParaRPr lang="en-US" altLang="zh-CN" sz="1600" b="0" dirty="0">
              <a:solidFill>
                <a:schemeClr val="tx1"/>
              </a:solidFill>
              <a:latin typeface="Times New Roman" panose="02020603050405020304" pitchFamily="18" charset="0"/>
            </a:endParaRPr>
          </a:p>
        </p:txBody>
      </p:sp>
      <p:sp>
        <p:nvSpPr>
          <p:cNvPr id="13359" name="Text Box 47"/>
          <p:cNvSpPr txBox="1"/>
          <p:nvPr/>
        </p:nvSpPr>
        <p:spPr>
          <a:xfrm>
            <a:off x="6934200" y="22098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40</a:t>
            </a:r>
            <a:endParaRPr lang="en-US" altLang="zh-CN" sz="1600" b="0" dirty="0">
              <a:solidFill>
                <a:schemeClr val="tx1"/>
              </a:solidFill>
              <a:latin typeface="Times New Roman" panose="02020603050405020304" pitchFamily="18" charset="0"/>
            </a:endParaRPr>
          </a:p>
        </p:txBody>
      </p:sp>
      <p:sp>
        <p:nvSpPr>
          <p:cNvPr id="13360" name="Text Box 48"/>
          <p:cNvSpPr txBox="1"/>
          <p:nvPr/>
        </p:nvSpPr>
        <p:spPr>
          <a:xfrm>
            <a:off x="6096000" y="31242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75</a:t>
            </a:r>
            <a:endParaRPr lang="en-US" altLang="zh-CN" sz="1600" b="0" dirty="0">
              <a:solidFill>
                <a:schemeClr val="tx1"/>
              </a:solidFill>
              <a:latin typeface="Times New Roman" panose="02020603050405020304" pitchFamily="18" charset="0"/>
            </a:endParaRPr>
          </a:p>
        </p:txBody>
      </p:sp>
      <p:sp>
        <p:nvSpPr>
          <p:cNvPr id="417841" name="Rectangle 49"/>
          <p:cNvSpPr>
            <a:spLocks noChangeArrowheads="1"/>
          </p:cNvSpPr>
          <p:nvPr/>
        </p:nvSpPr>
        <p:spPr bwMode="auto">
          <a:xfrm>
            <a:off x="4114800" y="4953000"/>
            <a:ext cx="2041525" cy="519113"/>
          </a:xfrm>
          <a:prstGeom prst="rect">
            <a:avLst/>
          </a:prstGeom>
          <a:noFill/>
          <a:ln w="9525">
            <a:noFill/>
            <a:miter lim="800000"/>
          </a:ln>
          <a:effec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rPr>
              <a:t>网（权图）</a:t>
            </a:r>
            <a:endPar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endParaRPr>
          </a:p>
        </p:txBody>
      </p:sp>
    </p:spTree>
  </p:cSld>
  <p:clrMapOvr>
    <a:masterClrMapping/>
  </p:clrMapOvr>
  <p:transition>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857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7.1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图的定义和术语</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08579"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设图</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G=(V, E)</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和 </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G</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=(V</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,E</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，如果</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V</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V</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且</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E</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E</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，称</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G</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是</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G</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子图（</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subgraph</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14340" name="Picture 4"/>
          <p:cNvPicPr>
            <a:picLocks noChangeAspect="1"/>
          </p:cNvPicPr>
          <p:nvPr/>
        </p:nvPicPr>
        <p:blipFill>
          <a:blip r:embed="rId1">
            <a:clrChange>
              <a:clrFrom>
                <a:srgbClr val="FFFFFF"/>
              </a:clrFrom>
              <a:clrTo>
                <a:srgbClr val="FFFFFF">
                  <a:alpha val="0"/>
                </a:srgbClr>
              </a:clrTo>
            </a:clrChange>
          </a:blip>
          <a:stretch>
            <a:fillRect/>
          </a:stretch>
        </p:blipFill>
        <p:spPr>
          <a:xfrm>
            <a:off x="3203575" y="2924175"/>
            <a:ext cx="5689600" cy="3644900"/>
          </a:xfrm>
          <a:prstGeom prst="rect">
            <a:avLst/>
          </a:prstGeom>
          <a:noFill/>
          <a:ln w="9525">
            <a:noFill/>
          </a:ln>
        </p:spPr>
      </p:pic>
      <p:pic>
        <p:nvPicPr>
          <p:cNvPr id="14341" name="Picture 5"/>
          <p:cNvPicPr>
            <a:picLocks noChangeAspect="1"/>
          </p:cNvPicPr>
          <p:nvPr/>
        </p:nvPicPr>
        <p:blipFill>
          <a:blip r:embed="rId2">
            <a:clrChange>
              <a:clrFrom>
                <a:srgbClr val="FFFFFF"/>
              </a:clrFrom>
              <a:clrTo>
                <a:srgbClr val="FFFFFF">
                  <a:alpha val="0"/>
                </a:srgbClr>
              </a:clrTo>
            </a:clrChange>
          </a:blip>
          <a:stretch>
            <a:fillRect/>
          </a:stretch>
        </p:blipFill>
        <p:spPr>
          <a:xfrm>
            <a:off x="-323850" y="3068638"/>
            <a:ext cx="3959225" cy="2665412"/>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0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7.1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图的定义和术语</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09603" name="Rectangle 3"/>
          <p:cNvSpPr>
            <a:spLocks noGrp="1" noChangeArrowheads="1"/>
          </p:cNvSpPr>
          <p:nvPr>
            <p:ph idx="1"/>
          </p:nvPr>
        </p:nvSpPr>
        <p:spPr>
          <a:xfrm>
            <a:off x="566738" y="1752600"/>
            <a:ext cx="8108950" cy="3116263"/>
          </a:xfrm>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000" b="0"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mn-ea"/>
                <a:cs typeface="+mn-cs"/>
              </a:rPr>
              <a:t>邻接点</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若（</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0" lang="en-US" altLang="zh-CN" sz="2000" b="0"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0" lang="en-US" altLang="zh-CN" sz="2000" b="0"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j</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）是一条无向边，则称顶点</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0" lang="en-US" altLang="zh-CN" sz="2000" b="0"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和</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0" lang="en-US" altLang="zh-CN" sz="2000" b="0"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j</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互为邻接点，或称</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0" lang="en-US" altLang="zh-CN" sz="2000" b="0"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和</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0" lang="en-US" altLang="zh-CN" sz="2000" b="0"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j</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相邻接，并称边（</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0" lang="en-US" altLang="zh-CN" sz="2000" b="0"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0" lang="en-US" altLang="zh-CN" sz="2000" b="0"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j</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）关联（依附）于顶点</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0" lang="en-US" altLang="zh-CN" sz="2000" b="0"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和</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0" lang="en-US" altLang="zh-CN" sz="2000" b="0"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j</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，或称（</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0" lang="en-US" altLang="zh-CN" sz="2000" b="0"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0" lang="en-US" altLang="zh-CN" sz="2000" b="0"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j</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）与顶点</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0" lang="en-US" altLang="zh-CN" sz="2000" b="0"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和</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0" lang="en-US" altLang="zh-CN" sz="2000" b="0"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j</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相关联</a:t>
            </a:r>
            <a:endPar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1" lang="zh-CN" altLang="en-US" sz="2000" b="0"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mn-ea"/>
                <a:cs typeface="+mn-cs"/>
              </a:rPr>
              <a:t>顶点的度（</a:t>
            </a:r>
            <a:r>
              <a:rPr kumimoji="1" lang="en-US" altLang="zh-CN" sz="2000" b="0"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mn-ea"/>
                <a:cs typeface="+mn-cs"/>
              </a:rPr>
              <a:t>degree</a:t>
            </a:r>
            <a:r>
              <a:rPr kumimoji="1" lang="zh-CN" altLang="en-US" sz="2000" b="0"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mn-ea"/>
                <a:cs typeface="+mn-cs"/>
              </a:rPr>
              <a:t>）</a:t>
            </a:r>
            <a:r>
              <a:rPr kumimoji="1"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一个顶点</a:t>
            </a:r>
            <a:r>
              <a:rPr kumimoji="1" lang="en-US" altLang="zh-CN" sz="2000" b="0"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1"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的度是与它相关联的边的条数，记作</a:t>
            </a:r>
            <a:r>
              <a:rPr kumimoji="1"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TD(</a:t>
            </a:r>
            <a:r>
              <a:rPr kumimoji="1" lang="en-US" altLang="zh-CN" sz="2000" b="0"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1"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endParaRPr kumimoji="1"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1" lang="zh-CN" altLang="en-US" sz="2000" b="0"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mn-ea"/>
                <a:cs typeface="+mn-cs"/>
              </a:rPr>
              <a:t>顶点 </a:t>
            </a:r>
            <a:r>
              <a:rPr kumimoji="1" lang="en-US" altLang="zh-CN" sz="2000" b="0"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mn-ea"/>
                <a:cs typeface="+mn-cs"/>
              </a:rPr>
              <a:t>v </a:t>
            </a:r>
            <a:r>
              <a:rPr kumimoji="1" lang="zh-CN" altLang="en-US" sz="2000" b="0"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mn-ea"/>
                <a:cs typeface="+mn-cs"/>
              </a:rPr>
              <a:t>的入度（</a:t>
            </a:r>
            <a:r>
              <a:rPr kumimoji="1" lang="en-US" altLang="zh-CN" sz="2000" b="0"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mn-ea"/>
                <a:cs typeface="+mn-cs"/>
              </a:rPr>
              <a:t>InDegree</a:t>
            </a:r>
            <a:r>
              <a:rPr kumimoji="1" lang="zh-CN" altLang="en-US" sz="2000" b="0"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mn-ea"/>
                <a:cs typeface="+mn-cs"/>
              </a:rPr>
              <a:t>）</a:t>
            </a:r>
            <a:r>
              <a:rPr kumimoji="1"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是以 </a:t>
            </a:r>
            <a:r>
              <a:rPr kumimoji="1"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 </a:t>
            </a:r>
            <a:r>
              <a:rPr kumimoji="1"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为终点的有向边的条数</a:t>
            </a:r>
            <a:r>
              <a:rPr kumimoji="1"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r>
              <a:rPr kumimoji="1"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记作</a:t>
            </a:r>
            <a:r>
              <a:rPr kumimoji="1"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ID(v)</a:t>
            </a:r>
            <a:r>
              <a:rPr kumimoji="1"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endParaRPr kumimoji="1"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1" lang="zh-CN" altLang="en-US" sz="2000" b="0"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mn-ea"/>
                <a:cs typeface="+mn-cs"/>
              </a:rPr>
              <a:t>顶点 </a:t>
            </a:r>
            <a:r>
              <a:rPr kumimoji="1" lang="en-US" altLang="zh-CN" sz="2000" b="0"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mn-ea"/>
                <a:cs typeface="+mn-cs"/>
              </a:rPr>
              <a:t>v </a:t>
            </a:r>
            <a:r>
              <a:rPr kumimoji="1" lang="zh-CN" altLang="en-US" sz="2000" b="0"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mn-ea"/>
                <a:cs typeface="+mn-cs"/>
              </a:rPr>
              <a:t>的出度（</a:t>
            </a:r>
            <a:r>
              <a:rPr kumimoji="1" lang="en-US" altLang="zh-CN" sz="2000" b="0"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mn-ea"/>
                <a:cs typeface="+mn-cs"/>
              </a:rPr>
              <a:t>OutDegree</a:t>
            </a:r>
            <a:r>
              <a:rPr kumimoji="1" lang="zh-CN" altLang="en-US" sz="2000" b="0"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mn-ea"/>
                <a:cs typeface="+mn-cs"/>
              </a:rPr>
              <a:t>）</a:t>
            </a:r>
            <a:r>
              <a:rPr kumimoji="1"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是以 </a:t>
            </a:r>
            <a:r>
              <a:rPr kumimoji="1"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 </a:t>
            </a:r>
            <a:r>
              <a:rPr kumimoji="1"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为始点的有向边的条数</a:t>
            </a:r>
            <a:r>
              <a:rPr kumimoji="1"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r>
              <a:rPr kumimoji="1"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记作</a:t>
            </a:r>
            <a:r>
              <a:rPr kumimoji="1"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OD(v)</a:t>
            </a:r>
            <a:r>
              <a:rPr kumimoji="1"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endParaRPr kumimoji="1"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1"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TD(</a:t>
            </a:r>
            <a:r>
              <a:rPr kumimoji="1" lang="en-US" altLang="zh-CN" sz="2000" b="0"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v</a:t>
            </a:r>
            <a:r>
              <a:rPr kumimoji="1"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1"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r>
              <a:rPr kumimoji="1"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ID(v)</a:t>
            </a:r>
            <a:r>
              <a:rPr kumimoji="1"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r>
              <a:rPr kumimoji="1"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OD(v)</a:t>
            </a:r>
            <a:endParaRPr kumimoji="1"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endParaRPr kumimoji="1"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endParaRPr kumimoji="1"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pic>
        <p:nvPicPr>
          <p:cNvPr id="15364" name="Picture 4"/>
          <p:cNvPicPr>
            <a:picLocks noChangeAspect="1"/>
          </p:cNvPicPr>
          <p:nvPr/>
        </p:nvPicPr>
        <p:blipFill>
          <a:blip r:embed="rId1">
            <a:clrChange>
              <a:clrFrom>
                <a:srgbClr val="FEFEFE"/>
              </a:clrFrom>
              <a:clrTo>
                <a:srgbClr val="FEFEFE">
                  <a:alpha val="0"/>
                </a:srgbClr>
              </a:clrTo>
            </a:clrChange>
          </a:blip>
          <a:stretch>
            <a:fillRect/>
          </a:stretch>
        </p:blipFill>
        <p:spPr>
          <a:xfrm>
            <a:off x="4572000" y="4292600"/>
            <a:ext cx="4140200" cy="1928813"/>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062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7.1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图的定义和术语</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10627" name="Rectangle 3"/>
          <p:cNvSpPr>
            <a:spLocks noGrp="1" noChangeArrowheads="1"/>
          </p:cNvSpPr>
          <p:nvPr>
            <p:ph type="body" sz="half" idx="1"/>
          </p:nvPr>
        </p:nvSpPr>
        <p:spPr>
          <a:xfrm>
            <a:off x="566738" y="1752600"/>
            <a:ext cx="7821613" cy="42672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一般的，如果顶点</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vi</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的度为</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TD</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vi</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），那么一个有</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个顶点，</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e</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条边或弧的图，满足：</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graphicFrame>
        <p:nvGraphicFramePr>
          <p:cNvPr id="16388" name="Object 4"/>
          <p:cNvGraphicFramePr/>
          <p:nvPr>
            <p:ph sz="half" idx="2"/>
          </p:nvPr>
        </p:nvGraphicFramePr>
        <p:xfrm>
          <a:off x="2555875" y="3068638"/>
          <a:ext cx="3529013" cy="1614487"/>
        </p:xfrm>
        <a:graphic>
          <a:graphicData uri="http://schemas.openxmlformats.org/presentationml/2006/ole">
            <mc:AlternateContent xmlns:mc="http://schemas.openxmlformats.org/markup-compatibility/2006">
              <mc:Choice xmlns:v="urn:schemas-microsoft-com:vml" Requires="v">
                <p:oleObj spid="_x0000_s3076" name="" r:id="rId1" imgW="748665" imgH="342900" progId="Equation.3">
                  <p:embed/>
                </p:oleObj>
              </mc:Choice>
              <mc:Fallback>
                <p:oleObj name="" r:id="rId1" imgW="748665" imgH="342900" progId="Equation.3">
                  <p:embed/>
                  <p:pic>
                    <p:nvPicPr>
                      <p:cNvPr id="0" name="20 3075"/>
                      <p:cNvPicPr/>
                      <p:nvPr/>
                    </p:nvPicPr>
                    <p:blipFill>
                      <a:blip r:embed="rId2"/>
                      <a:srcRect/>
                      <a:stretch>
                        <a:fillRect/>
                      </a:stretch>
                    </p:blipFill>
                    <p:spPr>
                      <a:xfrm>
                        <a:off x="2555875" y="3068638"/>
                        <a:ext cx="3529013" cy="1614487"/>
                      </a:xfrm>
                      <a:prstGeom prst="rect">
                        <a:avLst/>
                      </a:prstGeom>
                      <a:noFill/>
                      <a:ln w="38100">
                        <a:miter/>
                      </a:ln>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17410" name="20 2"/>
          <p:cNvPicPr>
            <a:picLocks noChangeAspect="1"/>
          </p:cNvPicPr>
          <p:nvPr/>
        </p:nvPicPr>
        <p:blipFill>
          <a:blip r:embed="rId1"/>
          <a:stretch>
            <a:fillRect/>
          </a:stretch>
        </p:blipFill>
        <p:spPr>
          <a:xfrm>
            <a:off x="0" y="34925"/>
            <a:ext cx="7861300" cy="6823075"/>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18434" name="20 2"/>
          <p:cNvPicPr>
            <a:picLocks noChangeAspect="1"/>
          </p:cNvPicPr>
          <p:nvPr/>
        </p:nvPicPr>
        <p:blipFill>
          <a:blip r:embed="rId1"/>
          <a:stretch>
            <a:fillRect/>
          </a:stretch>
        </p:blipFill>
        <p:spPr>
          <a:xfrm>
            <a:off x="0" y="-26987"/>
            <a:ext cx="7343775" cy="6884987"/>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Text Box 3"/>
          <p:cNvSpPr txBox="1"/>
          <p:nvPr/>
        </p:nvSpPr>
        <p:spPr>
          <a:xfrm>
            <a:off x="762000" y="1489075"/>
            <a:ext cx="3867150" cy="750888"/>
          </a:xfrm>
          <a:prstGeom prst="rect">
            <a:avLst/>
          </a:prstGeom>
          <a:noFill/>
          <a:ln w="12700">
            <a:noFill/>
          </a:ln>
        </p:spPr>
        <p:txBody>
          <a:bodyPr wrap="none">
            <a:spAutoFit/>
          </a:bodyPr>
          <a:p>
            <a:pPr eaLnBrk="1" hangingPunct="1">
              <a:lnSpc>
                <a:spcPct val="120000"/>
              </a:lnSpc>
            </a:pPr>
            <a:r>
              <a:rPr lang="zh-CN" altLang="en-US" sz="3600" dirty="0">
                <a:solidFill>
                  <a:srgbClr val="0000FF"/>
                </a:solidFill>
                <a:latin typeface="Times New Roman" panose="02020603050405020304" pitchFamily="18" charset="0"/>
                <a:ea typeface="楷体_GB2312" pitchFamily="49" charset="-122"/>
              </a:rPr>
              <a:t>结构的建立和销毁</a:t>
            </a:r>
            <a:endParaRPr lang="zh-CN" altLang="en-US" dirty="0">
              <a:solidFill>
                <a:srgbClr val="008080"/>
              </a:solidFill>
              <a:latin typeface="Times New Roman" panose="02020603050405020304" pitchFamily="18" charset="0"/>
              <a:ea typeface="楷体_GB2312" pitchFamily="49" charset="-122"/>
            </a:endParaRPr>
          </a:p>
        </p:txBody>
      </p:sp>
      <p:sp>
        <p:nvSpPr>
          <p:cNvPr id="9220" name="Text Box 4">
            <a:hlinkClick r:id="rId1" action="ppaction://hlinksldjump"/>
          </p:cNvPr>
          <p:cNvSpPr txBox="1"/>
          <p:nvPr/>
        </p:nvSpPr>
        <p:spPr>
          <a:xfrm>
            <a:off x="685800" y="3048000"/>
            <a:ext cx="3406775" cy="750888"/>
          </a:xfrm>
          <a:prstGeom prst="rect">
            <a:avLst/>
          </a:prstGeom>
          <a:noFill/>
          <a:ln w="12700">
            <a:noFill/>
          </a:ln>
        </p:spPr>
        <p:txBody>
          <a:bodyPr wrap="none">
            <a:spAutoFit/>
          </a:bodyPr>
          <a:p>
            <a:pPr eaLnBrk="1" hangingPunct="1">
              <a:lnSpc>
                <a:spcPct val="120000"/>
              </a:lnSpc>
            </a:pPr>
            <a:r>
              <a:rPr lang="zh-CN" altLang="en-US" sz="3600" dirty="0">
                <a:solidFill>
                  <a:srgbClr val="0000FF"/>
                </a:solidFill>
                <a:latin typeface="Times New Roman" panose="02020603050405020304" pitchFamily="18" charset="0"/>
                <a:ea typeface="楷体_GB2312" pitchFamily="49" charset="-122"/>
              </a:rPr>
              <a:t>插入或删除顶点</a:t>
            </a:r>
            <a:endParaRPr lang="zh-CN" altLang="en-US" sz="4000" dirty="0">
              <a:solidFill>
                <a:srgbClr val="0000FF"/>
              </a:solidFill>
              <a:latin typeface="Times New Roman" panose="02020603050405020304" pitchFamily="18" charset="0"/>
              <a:ea typeface="楷体_GB2312" pitchFamily="49" charset="-122"/>
            </a:endParaRPr>
          </a:p>
        </p:txBody>
      </p:sp>
      <p:sp>
        <p:nvSpPr>
          <p:cNvPr id="9221" name="Text Box 5">
            <a:hlinkClick r:id="rId2" action="ppaction://hlinksldjump"/>
          </p:cNvPr>
          <p:cNvSpPr txBox="1"/>
          <p:nvPr/>
        </p:nvSpPr>
        <p:spPr>
          <a:xfrm>
            <a:off x="784225" y="4572000"/>
            <a:ext cx="3406775" cy="750888"/>
          </a:xfrm>
          <a:prstGeom prst="rect">
            <a:avLst/>
          </a:prstGeom>
          <a:noFill/>
          <a:ln w="12700">
            <a:noFill/>
          </a:ln>
        </p:spPr>
        <p:txBody>
          <a:bodyPr wrap="none">
            <a:spAutoFit/>
          </a:bodyPr>
          <a:p>
            <a:pPr eaLnBrk="1" hangingPunct="1">
              <a:lnSpc>
                <a:spcPct val="120000"/>
              </a:lnSpc>
            </a:pPr>
            <a:r>
              <a:rPr lang="zh-CN" altLang="en-US" sz="3600" dirty="0">
                <a:solidFill>
                  <a:srgbClr val="0000FF"/>
                </a:solidFill>
                <a:latin typeface="Times New Roman" panose="02020603050405020304" pitchFamily="18" charset="0"/>
                <a:ea typeface="楷体_GB2312" pitchFamily="49" charset="-122"/>
              </a:rPr>
              <a:t>对邻接点的操作</a:t>
            </a:r>
            <a:endParaRPr lang="zh-CN" altLang="en-US" sz="4000" dirty="0">
              <a:solidFill>
                <a:srgbClr val="0000FF"/>
              </a:solidFill>
              <a:latin typeface="Times New Roman" panose="02020603050405020304" pitchFamily="18" charset="0"/>
              <a:ea typeface="楷体_GB2312" pitchFamily="49" charset="-122"/>
            </a:endParaRPr>
          </a:p>
        </p:txBody>
      </p:sp>
      <p:sp>
        <p:nvSpPr>
          <p:cNvPr id="9222" name="Text Box 6">
            <a:hlinkClick r:id="rId3" action="ppaction://hlinksldjump"/>
          </p:cNvPr>
          <p:cNvSpPr txBox="1"/>
          <p:nvPr/>
        </p:nvSpPr>
        <p:spPr>
          <a:xfrm>
            <a:off x="4572000" y="2286000"/>
            <a:ext cx="3867150" cy="750888"/>
          </a:xfrm>
          <a:prstGeom prst="rect">
            <a:avLst/>
          </a:prstGeom>
          <a:noFill/>
          <a:ln w="12700">
            <a:noFill/>
          </a:ln>
        </p:spPr>
        <p:txBody>
          <a:bodyPr wrap="none">
            <a:spAutoFit/>
          </a:bodyPr>
          <a:p>
            <a:pPr eaLnBrk="1" hangingPunct="1">
              <a:lnSpc>
                <a:spcPct val="120000"/>
              </a:lnSpc>
            </a:pPr>
            <a:r>
              <a:rPr lang="zh-CN" altLang="en-US" sz="3600" dirty="0">
                <a:solidFill>
                  <a:srgbClr val="0000FF"/>
                </a:solidFill>
                <a:latin typeface="Times New Roman" panose="02020603050405020304" pitchFamily="18" charset="0"/>
                <a:ea typeface="楷体_GB2312" pitchFamily="49" charset="-122"/>
              </a:rPr>
              <a:t>对顶点的访问操作</a:t>
            </a:r>
            <a:endParaRPr lang="zh-CN" altLang="en-US" sz="2400" dirty="0">
              <a:latin typeface="Times New Roman" panose="02020603050405020304" pitchFamily="18" charset="0"/>
            </a:endParaRPr>
          </a:p>
        </p:txBody>
      </p:sp>
      <p:sp>
        <p:nvSpPr>
          <p:cNvPr id="9223" name="Text Box 7">
            <a:hlinkClick r:id="rId4" action="ppaction://hlinksldjump"/>
          </p:cNvPr>
          <p:cNvSpPr txBox="1"/>
          <p:nvPr/>
        </p:nvSpPr>
        <p:spPr>
          <a:xfrm>
            <a:off x="4572000" y="5334000"/>
            <a:ext cx="1104900" cy="750888"/>
          </a:xfrm>
          <a:prstGeom prst="rect">
            <a:avLst/>
          </a:prstGeom>
          <a:noFill/>
          <a:ln w="12700">
            <a:noFill/>
          </a:ln>
        </p:spPr>
        <p:txBody>
          <a:bodyPr wrap="none">
            <a:spAutoFit/>
          </a:bodyPr>
          <a:p>
            <a:pPr eaLnBrk="1" hangingPunct="1">
              <a:lnSpc>
                <a:spcPct val="120000"/>
              </a:lnSpc>
            </a:pPr>
            <a:r>
              <a:rPr lang="zh-CN" altLang="en-US" sz="3600" dirty="0">
                <a:solidFill>
                  <a:srgbClr val="0000FF"/>
                </a:solidFill>
                <a:latin typeface="Times New Roman" panose="02020603050405020304" pitchFamily="18" charset="0"/>
                <a:ea typeface="楷体_GB2312" pitchFamily="49" charset="-122"/>
              </a:rPr>
              <a:t>遍历</a:t>
            </a:r>
            <a:endParaRPr lang="zh-CN" altLang="en-US" sz="4000" dirty="0">
              <a:solidFill>
                <a:srgbClr val="0000FF"/>
              </a:solidFill>
              <a:latin typeface="Times New Roman" panose="02020603050405020304" pitchFamily="18" charset="0"/>
              <a:ea typeface="楷体_GB2312" pitchFamily="49" charset="-122"/>
            </a:endParaRPr>
          </a:p>
        </p:txBody>
      </p:sp>
      <p:sp>
        <p:nvSpPr>
          <p:cNvPr id="9224" name="Text Box 8">
            <a:hlinkClick r:id="rId1" action="ppaction://hlinksldjump"/>
          </p:cNvPr>
          <p:cNvSpPr txBox="1"/>
          <p:nvPr/>
        </p:nvSpPr>
        <p:spPr>
          <a:xfrm>
            <a:off x="4572000" y="3810000"/>
            <a:ext cx="2946400" cy="750888"/>
          </a:xfrm>
          <a:prstGeom prst="rect">
            <a:avLst/>
          </a:prstGeom>
          <a:noFill/>
          <a:ln w="12700">
            <a:noFill/>
          </a:ln>
        </p:spPr>
        <p:txBody>
          <a:bodyPr wrap="none">
            <a:spAutoFit/>
          </a:bodyPr>
          <a:p>
            <a:pPr eaLnBrk="1" hangingPunct="1">
              <a:lnSpc>
                <a:spcPct val="120000"/>
              </a:lnSpc>
            </a:pPr>
            <a:r>
              <a:rPr lang="zh-CN" altLang="en-US" sz="3600" dirty="0">
                <a:solidFill>
                  <a:srgbClr val="0000FF"/>
                </a:solidFill>
                <a:latin typeface="Times New Roman" panose="02020603050405020304" pitchFamily="18" charset="0"/>
                <a:ea typeface="楷体_GB2312" pitchFamily="49" charset="-122"/>
              </a:rPr>
              <a:t>插入和删除弧</a:t>
            </a:r>
            <a:endParaRPr lang="zh-CN" altLang="en-US" sz="2400" dirty="0">
              <a:latin typeface="Times New Roman" panose="02020603050405020304" pitchFamily="18" charset="0"/>
            </a:endParaRPr>
          </a:p>
        </p:txBody>
      </p:sp>
      <p:sp>
        <p:nvSpPr>
          <p:cNvPr id="9226" name="AutoShape 10">
            <a:hlinkClick r:id="" action="ppaction://hlinkshowjump?jump=nextslide"/>
          </p:cNvPr>
          <p:cNvSpPr/>
          <p:nvPr/>
        </p:nvSpPr>
        <p:spPr>
          <a:xfrm>
            <a:off x="4800600" y="1905000"/>
            <a:ext cx="228600" cy="228600"/>
          </a:xfrm>
          <a:prstGeom prst="downArrow">
            <a:avLst>
              <a:gd name="adj1" fmla="val 50000"/>
              <a:gd name="adj2" fmla="val 25000"/>
            </a:avLst>
          </a:prstGeom>
          <a:solidFill>
            <a:srgbClr val="996633"/>
          </a:solidFill>
          <a:ln w="12700" cap="sq" cmpd="sng">
            <a:solidFill>
              <a:schemeClr val="tx1"/>
            </a:solidFill>
            <a:prstDash val="solid"/>
            <a:miter/>
            <a:headEnd type="none" w="sm" len="sm"/>
            <a:tailEnd type="none" w="sm" len="sm"/>
          </a:ln>
        </p:spPr>
        <p:txBody>
          <a:bodyPr vert="eaVert" wrap="none" anchor="ctr" anchorCtr="0"/>
          <a:p>
            <a:pPr eaLnBrk="1" hangingPunct="1"/>
            <a:endParaRPr lang="en-US" altLang="zh-CN" dirty="0">
              <a:latin typeface="Times New Roman" panose="02020603050405020304" pitchFamily="18" charset="0"/>
            </a:endParaRPr>
          </a:p>
        </p:txBody>
      </p:sp>
      <p:sp>
        <p:nvSpPr>
          <p:cNvPr id="9227" name="AutoShape 11">
            <a:hlinkClick r:id="rId2" action="ppaction://hlinksldjump"/>
          </p:cNvPr>
          <p:cNvSpPr/>
          <p:nvPr/>
        </p:nvSpPr>
        <p:spPr>
          <a:xfrm>
            <a:off x="4267200" y="4953000"/>
            <a:ext cx="228600" cy="228600"/>
          </a:xfrm>
          <a:prstGeom prst="downArrow">
            <a:avLst>
              <a:gd name="adj1" fmla="val 50000"/>
              <a:gd name="adj2" fmla="val 25000"/>
            </a:avLst>
          </a:prstGeom>
          <a:solidFill>
            <a:srgbClr val="996633"/>
          </a:solidFill>
          <a:ln w="12700" cap="sq" cmpd="sng">
            <a:solidFill>
              <a:schemeClr val="tx1"/>
            </a:solidFill>
            <a:prstDash val="solid"/>
            <a:miter/>
            <a:headEnd type="none" w="sm" len="sm"/>
            <a:tailEnd type="none" w="sm" len="sm"/>
          </a:ln>
        </p:spPr>
        <p:txBody>
          <a:bodyPr vert="eaVert" wrap="none" anchor="ctr" anchorCtr="0"/>
          <a:p>
            <a:pPr eaLnBrk="1" hangingPunct="1"/>
            <a:endParaRPr lang="en-US" altLang="zh-CN" dirty="0">
              <a:latin typeface="Times New Roman" panose="02020603050405020304" pitchFamily="18" charset="0"/>
            </a:endParaRPr>
          </a:p>
        </p:txBody>
      </p:sp>
      <p:sp>
        <p:nvSpPr>
          <p:cNvPr id="9228" name="AutoShape 12">
            <a:hlinkClick r:id="rId1" action="ppaction://hlinksldjump"/>
          </p:cNvPr>
          <p:cNvSpPr/>
          <p:nvPr/>
        </p:nvSpPr>
        <p:spPr>
          <a:xfrm>
            <a:off x="4267200" y="3429000"/>
            <a:ext cx="228600" cy="228600"/>
          </a:xfrm>
          <a:prstGeom prst="downArrow">
            <a:avLst>
              <a:gd name="adj1" fmla="val 50000"/>
              <a:gd name="adj2" fmla="val 25000"/>
            </a:avLst>
          </a:prstGeom>
          <a:solidFill>
            <a:srgbClr val="996633"/>
          </a:solidFill>
          <a:ln w="12700" cap="sq" cmpd="sng">
            <a:solidFill>
              <a:schemeClr val="tx1"/>
            </a:solidFill>
            <a:prstDash val="solid"/>
            <a:miter/>
            <a:headEnd type="none" w="sm" len="sm"/>
            <a:tailEnd type="none" w="sm" len="sm"/>
          </a:ln>
        </p:spPr>
        <p:txBody>
          <a:bodyPr vert="eaVert" wrap="none" anchor="ctr" anchorCtr="0"/>
          <a:p>
            <a:pPr eaLnBrk="1" hangingPunct="1"/>
            <a:endParaRPr lang="en-US" altLang="zh-CN" dirty="0">
              <a:latin typeface="Times New Roman" panose="02020603050405020304" pitchFamily="18" charset="0"/>
            </a:endParaRPr>
          </a:p>
        </p:txBody>
      </p:sp>
      <p:sp>
        <p:nvSpPr>
          <p:cNvPr id="9229" name="AutoShape 13">
            <a:hlinkClick r:id="rId5" action="ppaction://hlinksldjump"/>
          </p:cNvPr>
          <p:cNvSpPr/>
          <p:nvPr/>
        </p:nvSpPr>
        <p:spPr>
          <a:xfrm>
            <a:off x="7696200" y="4191000"/>
            <a:ext cx="228600" cy="228600"/>
          </a:xfrm>
          <a:prstGeom prst="downArrow">
            <a:avLst>
              <a:gd name="adj1" fmla="val 50000"/>
              <a:gd name="adj2" fmla="val 25000"/>
            </a:avLst>
          </a:prstGeom>
          <a:solidFill>
            <a:srgbClr val="996633"/>
          </a:solidFill>
          <a:ln w="12700" cap="sq" cmpd="sng">
            <a:solidFill>
              <a:schemeClr val="tx1"/>
            </a:solidFill>
            <a:prstDash val="solid"/>
            <a:miter/>
            <a:headEnd type="none" w="sm" len="sm"/>
            <a:tailEnd type="none" w="sm" len="sm"/>
          </a:ln>
        </p:spPr>
        <p:txBody>
          <a:bodyPr vert="eaVert" wrap="none" anchor="ctr" anchorCtr="0"/>
          <a:p>
            <a:pPr eaLnBrk="1" hangingPunct="1"/>
            <a:endParaRPr lang="en-US" altLang="zh-CN" dirty="0">
              <a:latin typeface="Times New Roman" panose="02020603050405020304" pitchFamily="18" charset="0"/>
            </a:endParaRPr>
          </a:p>
        </p:txBody>
      </p:sp>
      <p:sp>
        <p:nvSpPr>
          <p:cNvPr id="9230" name="AutoShape 14">
            <a:hlinkClick r:id="rId4" action="ppaction://hlinksldjump"/>
          </p:cNvPr>
          <p:cNvSpPr/>
          <p:nvPr/>
        </p:nvSpPr>
        <p:spPr>
          <a:xfrm>
            <a:off x="5867400" y="5715000"/>
            <a:ext cx="228600" cy="228600"/>
          </a:xfrm>
          <a:prstGeom prst="downArrow">
            <a:avLst>
              <a:gd name="adj1" fmla="val 50000"/>
              <a:gd name="adj2" fmla="val 25000"/>
            </a:avLst>
          </a:prstGeom>
          <a:solidFill>
            <a:srgbClr val="996633"/>
          </a:solidFill>
          <a:ln w="12700" cap="sq" cmpd="sng">
            <a:solidFill>
              <a:schemeClr val="tx1"/>
            </a:solidFill>
            <a:prstDash val="solid"/>
            <a:miter/>
            <a:headEnd type="none" w="sm" len="sm"/>
            <a:tailEnd type="none" w="sm" len="sm"/>
          </a:ln>
        </p:spPr>
        <p:txBody>
          <a:bodyPr vert="eaVert" wrap="none" anchor="ctr" anchorCtr="0"/>
          <a:p>
            <a:pPr eaLnBrk="1" hangingPunct="1"/>
            <a:endParaRPr lang="en-US" altLang="zh-CN" dirty="0">
              <a:latin typeface="Times New Roman" panose="02020603050405020304" pitchFamily="18" charset="0"/>
            </a:endParaRPr>
          </a:p>
        </p:txBody>
      </p:sp>
      <p:sp>
        <p:nvSpPr>
          <p:cNvPr id="9232" name="Comment 16"/>
          <p:cNvSpPr/>
          <p:nvPr/>
        </p:nvSpPr>
        <p:spPr>
          <a:xfrm>
            <a:off x="3352800" y="292100"/>
            <a:ext cx="2498725" cy="774700"/>
          </a:xfrm>
          <a:prstGeom prst="rect">
            <a:avLst/>
          </a:prstGeom>
          <a:solidFill>
            <a:srgbClr val="FCFDC6"/>
          </a:solidFill>
          <a:ln w="12700" cap="sq" cmpd="sng">
            <a:solidFill>
              <a:schemeClr val="tx1"/>
            </a:solidFill>
            <a:prstDash val="solid"/>
            <a:miter/>
            <a:headEnd type="none" w="sm" len="sm"/>
            <a:tailEnd type="none" w="sm" len="sm"/>
          </a:ln>
          <a:effectLst>
            <a:outerShdw dist="107763" dir="2699999" algn="ctr" rotWithShape="0">
              <a:schemeClr val="bg2"/>
            </a:outerShdw>
          </a:effectLst>
        </p:spPr>
        <p:txBody>
          <a:bodyPr>
            <a:spAutoFit/>
          </a:bodyPr>
          <a:p>
            <a:pPr eaLnBrk="1" hangingPunct="1">
              <a:spcBef>
                <a:spcPct val="50000"/>
              </a:spcBef>
            </a:pPr>
            <a:r>
              <a:rPr lang="zh-CN" altLang="en-US" sz="4400" dirty="0">
                <a:solidFill>
                  <a:srgbClr val="800000"/>
                </a:solidFill>
                <a:latin typeface="Arial" panose="020B0604020202020204" pitchFamily="34" charset="0"/>
                <a:ea typeface="隶书" panose="02010509060101010101" pitchFamily="49" charset="-122"/>
              </a:rPr>
              <a:t>基本操作</a:t>
            </a:r>
            <a:endParaRPr lang="zh-CN" altLang="en-US" sz="1600" b="0" dirty="0">
              <a:solidFill>
                <a:srgbClr val="000000"/>
              </a:solidFill>
              <a:latin typeface="Arial" panose="020B0604020202020204" pitchFamily="34" charset="0"/>
            </a:endParaRPr>
          </a:p>
        </p:txBody>
      </p:sp>
      <p:sp>
        <p:nvSpPr>
          <p:cNvPr id="9233" name="AutoShape 17">
            <a:hlinkClick r:id="rId3" action="ppaction://hlinksldjump"/>
          </p:cNvPr>
          <p:cNvSpPr/>
          <p:nvPr/>
        </p:nvSpPr>
        <p:spPr>
          <a:xfrm>
            <a:off x="8534400" y="2667000"/>
            <a:ext cx="228600" cy="228600"/>
          </a:xfrm>
          <a:prstGeom prst="downArrow">
            <a:avLst>
              <a:gd name="adj1" fmla="val 50000"/>
              <a:gd name="adj2" fmla="val 25000"/>
            </a:avLst>
          </a:prstGeom>
          <a:solidFill>
            <a:srgbClr val="996633"/>
          </a:solidFill>
          <a:ln w="12700" cap="sq" cmpd="sng">
            <a:solidFill>
              <a:schemeClr val="tx1"/>
            </a:solidFill>
            <a:prstDash val="solid"/>
            <a:miter/>
            <a:headEnd type="none" w="sm" len="sm"/>
            <a:tailEnd type="none" w="sm" len="sm"/>
          </a:ln>
        </p:spPr>
        <p:txBody>
          <a:bodyPr vert="eaVert" wrap="none" anchor="ctr" anchorCtr="0"/>
          <a:p>
            <a:pPr eaLnBrk="1" hangingPunct="1"/>
            <a:endParaRPr lang="en-US" altLang="zh-CN" dirty="0">
              <a:latin typeface="Times New Roman" panose="02020603050405020304" pitchFamily="18" charset="0"/>
            </a:endParaRPr>
          </a:p>
        </p:txBody>
      </p:sp>
    </p:spTree>
  </p:cSld>
  <p:clrMapOvr>
    <a:masterClrMapping/>
  </p:clrMapOvr>
  <p:transition>
    <p:cover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232"/>
                                        </p:tgtEl>
                                        <p:attrNameLst>
                                          <p:attrName>style.visibility</p:attrName>
                                        </p:attrNameLst>
                                      </p:cBhvr>
                                      <p:to>
                                        <p:strVal val="visible"/>
                                      </p:to>
                                    </p:set>
                                    <p:anim calcmode="lin" valueType="num">
                                      <p:cBhvr>
                                        <p:cTn id="7" dur="500" fill="hold"/>
                                        <p:tgtEl>
                                          <p:spTgt spid="9232"/>
                                        </p:tgtEl>
                                        <p:attrNameLst>
                                          <p:attrName>ppt_x</p:attrName>
                                        </p:attrNameLst>
                                      </p:cBhvr>
                                      <p:tavLst>
                                        <p:tav tm="0">
                                          <p:val>
                                            <p:strVal val="#ppt_x"/>
                                          </p:val>
                                        </p:tav>
                                        <p:tav tm="100000">
                                          <p:val>
                                            <p:strVal val="#ppt_x"/>
                                          </p:val>
                                        </p:tav>
                                      </p:tavLst>
                                    </p:anim>
                                    <p:anim calcmode="lin" valueType="num">
                                      <p:cBhvr>
                                        <p:cTn id="8" dur="500" fill="hold"/>
                                        <p:tgtEl>
                                          <p:spTgt spid="923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9219"/>
                                        </p:tgtEl>
                                        <p:attrNameLst>
                                          <p:attrName>style.visibility</p:attrName>
                                        </p:attrNameLst>
                                      </p:cBhvr>
                                      <p:to>
                                        <p:strVal val="visible"/>
                                      </p:to>
                                    </p:set>
                                    <p:animEffect transition="in" filter="wipe(left)">
                                      <p:cBhvr>
                                        <p:cTn id="13" dur="500"/>
                                        <p:tgtEl>
                                          <p:spTgt spid="9219"/>
                                        </p:tgtEl>
                                      </p:cBhvr>
                                    </p:animEffect>
                                  </p:childTnLst>
                                </p:cTn>
                              </p:par>
                            </p:childTnLst>
                          </p:cTn>
                        </p:par>
                        <p:par>
                          <p:cTn id="14" fill="hold">
                            <p:stCondLst>
                              <p:cond delay="500"/>
                            </p:stCondLst>
                            <p:childTnLst>
                              <p:par>
                                <p:cTn id="15" presetID="17" presetClass="entr" presetSubtype="1" fill="hold" grpId="0" nodeType="afterEffect">
                                  <p:stCondLst>
                                    <p:cond delay="0"/>
                                  </p:stCondLst>
                                  <p:childTnLst>
                                    <p:set>
                                      <p:cBhvr>
                                        <p:cTn id="16" dur="1" fill="hold">
                                          <p:stCondLst>
                                            <p:cond delay="0"/>
                                          </p:stCondLst>
                                        </p:cTn>
                                        <p:tgtEl>
                                          <p:spTgt spid="9226"/>
                                        </p:tgtEl>
                                        <p:attrNameLst>
                                          <p:attrName>style.visibility</p:attrName>
                                        </p:attrNameLst>
                                      </p:cBhvr>
                                      <p:to>
                                        <p:strVal val="visible"/>
                                      </p:to>
                                    </p:set>
                                    <p:anim calcmode="lin" valueType="num">
                                      <p:cBhvr>
                                        <p:cTn id="17" dur="500" fill="hold"/>
                                        <p:tgtEl>
                                          <p:spTgt spid="9226"/>
                                        </p:tgtEl>
                                        <p:attrNameLst>
                                          <p:attrName>ppt_x</p:attrName>
                                        </p:attrNameLst>
                                      </p:cBhvr>
                                      <p:tavLst>
                                        <p:tav tm="0">
                                          <p:val>
                                            <p:strVal val="#ppt_x"/>
                                          </p:val>
                                        </p:tav>
                                        <p:tav tm="100000">
                                          <p:val>
                                            <p:strVal val="#ppt_x"/>
                                          </p:val>
                                        </p:tav>
                                      </p:tavLst>
                                    </p:anim>
                                    <p:anim calcmode="lin" valueType="num">
                                      <p:cBhvr>
                                        <p:cTn id="18" dur="500" fill="hold"/>
                                        <p:tgtEl>
                                          <p:spTgt spid="9226"/>
                                        </p:tgtEl>
                                        <p:attrNameLst>
                                          <p:attrName>ppt_y</p:attrName>
                                        </p:attrNameLst>
                                      </p:cBhvr>
                                      <p:tavLst>
                                        <p:tav tm="0">
                                          <p:val>
                                            <p:strVal val="#ppt_y-#ppt_h/2"/>
                                          </p:val>
                                        </p:tav>
                                        <p:tav tm="100000">
                                          <p:val>
                                            <p:strVal val="#ppt_y"/>
                                          </p:val>
                                        </p:tav>
                                      </p:tavLst>
                                    </p:anim>
                                    <p:anim calcmode="lin" valueType="num">
                                      <p:cBhvr>
                                        <p:cTn id="19" dur="500" fill="hold"/>
                                        <p:tgtEl>
                                          <p:spTgt spid="9226"/>
                                        </p:tgtEl>
                                        <p:attrNameLst>
                                          <p:attrName>ppt_w</p:attrName>
                                        </p:attrNameLst>
                                      </p:cBhvr>
                                      <p:tavLst>
                                        <p:tav tm="0">
                                          <p:val>
                                            <p:strVal val="#ppt_w"/>
                                          </p:val>
                                        </p:tav>
                                        <p:tav tm="100000">
                                          <p:val>
                                            <p:strVal val="#ppt_w"/>
                                          </p:val>
                                        </p:tav>
                                      </p:tavLst>
                                    </p:anim>
                                    <p:anim calcmode="lin" valueType="num">
                                      <p:cBhvr>
                                        <p:cTn id="20" dur="500" fill="hold"/>
                                        <p:tgtEl>
                                          <p:spTgt spid="9226"/>
                                        </p:tgtEl>
                                        <p:attrNameLst>
                                          <p:attrName>ppt_h</p:attrName>
                                        </p:attrNameLst>
                                      </p:cBhvr>
                                      <p:tavLst>
                                        <p:tav tm="0">
                                          <p:val>
                                            <p:fltVal val="0.00000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222"/>
                                        </p:tgtEl>
                                        <p:attrNameLst>
                                          <p:attrName>style.visibility</p:attrName>
                                        </p:attrNameLst>
                                      </p:cBhvr>
                                      <p:to>
                                        <p:strVal val="visible"/>
                                      </p:to>
                                    </p:set>
                                    <p:animEffect transition="in" filter="wipe(left)">
                                      <p:cBhvr>
                                        <p:cTn id="25" dur="500"/>
                                        <p:tgtEl>
                                          <p:spTgt spid="9222"/>
                                        </p:tgtEl>
                                      </p:cBhvr>
                                    </p:animEffect>
                                  </p:childTnLst>
                                </p:cTn>
                              </p:par>
                            </p:childTnLst>
                          </p:cTn>
                        </p:par>
                        <p:par>
                          <p:cTn id="26" fill="hold">
                            <p:stCondLst>
                              <p:cond delay="500"/>
                            </p:stCondLst>
                            <p:childTnLst>
                              <p:par>
                                <p:cTn id="27" presetID="17" presetClass="entr" presetSubtype="1" fill="hold" grpId="0" nodeType="afterEffect">
                                  <p:stCondLst>
                                    <p:cond delay="0"/>
                                  </p:stCondLst>
                                  <p:childTnLst>
                                    <p:set>
                                      <p:cBhvr>
                                        <p:cTn id="28" dur="1" fill="hold">
                                          <p:stCondLst>
                                            <p:cond delay="0"/>
                                          </p:stCondLst>
                                        </p:cTn>
                                        <p:tgtEl>
                                          <p:spTgt spid="9233"/>
                                        </p:tgtEl>
                                        <p:attrNameLst>
                                          <p:attrName>style.visibility</p:attrName>
                                        </p:attrNameLst>
                                      </p:cBhvr>
                                      <p:to>
                                        <p:strVal val="visible"/>
                                      </p:to>
                                    </p:set>
                                    <p:anim calcmode="lin" valueType="num">
                                      <p:cBhvr>
                                        <p:cTn id="29" dur="500" fill="hold"/>
                                        <p:tgtEl>
                                          <p:spTgt spid="9233"/>
                                        </p:tgtEl>
                                        <p:attrNameLst>
                                          <p:attrName>ppt_x</p:attrName>
                                        </p:attrNameLst>
                                      </p:cBhvr>
                                      <p:tavLst>
                                        <p:tav tm="0">
                                          <p:val>
                                            <p:strVal val="#ppt_x"/>
                                          </p:val>
                                        </p:tav>
                                        <p:tav tm="100000">
                                          <p:val>
                                            <p:strVal val="#ppt_x"/>
                                          </p:val>
                                        </p:tav>
                                      </p:tavLst>
                                    </p:anim>
                                    <p:anim calcmode="lin" valueType="num">
                                      <p:cBhvr>
                                        <p:cTn id="30" dur="500" fill="hold"/>
                                        <p:tgtEl>
                                          <p:spTgt spid="9233"/>
                                        </p:tgtEl>
                                        <p:attrNameLst>
                                          <p:attrName>ppt_y</p:attrName>
                                        </p:attrNameLst>
                                      </p:cBhvr>
                                      <p:tavLst>
                                        <p:tav tm="0">
                                          <p:val>
                                            <p:strVal val="#ppt_y-#ppt_h/2"/>
                                          </p:val>
                                        </p:tav>
                                        <p:tav tm="100000">
                                          <p:val>
                                            <p:strVal val="#ppt_y"/>
                                          </p:val>
                                        </p:tav>
                                      </p:tavLst>
                                    </p:anim>
                                    <p:anim calcmode="lin" valueType="num">
                                      <p:cBhvr>
                                        <p:cTn id="31" dur="500" fill="hold"/>
                                        <p:tgtEl>
                                          <p:spTgt spid="9233"/>
                                        </p:tgtEl>
                                        <p:attrNameLst>
                                          <p:attrName>ppt_w</p:attrName>
                                        </p:attrNameLst>
                                      </p:cBhvr>
                                      <p:tavLst>
                                        <p:tav tm="0">
                                          <p:val>
                                            <p:strVal val="#ppt_w"/>
                                          </p:val>
                                        </p:tav>
                                        <p:tav tm="100000">
                                          <p:val>
                                            <p:strVal val="#ppt_w"/>
                                          </p:val>
                                        </p:tav>
                                      </p:tavLst>
                                    </p:anim>
                                    <p:anim calcmode="lin" valueType="num">
                                      <p:cBhvr>
                                        <p:cTn id="32" dur="500" fill="hold"/>
                                        <p:tgtEl>
                                          <p:spTgt spid="9233"/>
                                        </p:tgtEl>
                                        <p:attrNameLst>
                                          <p:attrName>ppt_h</p:attrName>
                                        </p:attrNameLst>
                                      </p:cBhvr>
                                      <p:tavLst>
                                        <p:tav tm="0">
                                          <p:val>
                                            <p:fltVal val="0.00000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221"/>
                                        </p:tgtEl>
                                        <p:attrNameLst>
                                          <p:attrName>style.visibility</p:attrName>
                                        </p:attrNameLst>
                                      </p:cBhvr>
                                      <p:to>
                                        <p:strVal val="visible"/>
                                      </p:to>
                                    </p:set>
                                    <p:animEffect transition="in" filter="wipe(left)">
                                      <p:cBhvr>
                                        <p:cTn id="37" dur="500"/>
                                        <p:tgtEl>
                                          <p:spTgt spid="9221"/>
                                        </p:tgtEl>
                                      </p:cBhvr>
                                    </p:animEffect>
                                  </p:childTnLst>
                                </p:cTn>
                              </p:par>
                            </p:childTnLst>
                          </p:cTn>
                        </p:par>
                        <p:par>
                          <p:cTn id="38" fill="hold">
                            <p:stCondLst>
                              <p:cond delay="500"/>
                            </p:stCondLst>
                            <p:childTnLst>
                              <p:par>
                                <p:cTn id="39" presetID="17" presetClass="entr" presetSubtype="1" fill="hold" grpId="0" nodeType="afterEffect">
                                  <p:stCondLst>
                                    <p:cond delay="0"/>
                                  </p:stCondLst>
                                  <p:childTnLst>
                                    <p:set>
                                      <p:cBhvr>
                                        <p:cTn id="40" dur="1" fill="hold">
                                          <p:stCondLst>
                                            <p:cond delay="0"/>
                                          </p:stCondLst>
                                        </p:cTn>
                                        <p:tgtEl>
                                          <p:spTgt spid="9227"/>
                                        </p:tgtEl>
                                        <p:attrNameLst>
                                          <p:attrName>style.visibility</p:attrName>
                                        </p:attrNameLst>
                                      </p:cBhvr>
                                      <p:to>
                                        <p:strVal val="visible"/>
                                      </p:to>
                                    </p:set>
                                    <p:anim calcmode="lin" valueType="num">
                                      <p:cBhvr>
                                        <p:cTn id="41" dur="500" fill="hold"/>
                                        <p:tgtEl>
                                          <p:spTgt spid="9227"/>
                                        </p:tgtEl>
                                        <p:attrNameLst>
                                          <p:attrName>ppt_x</p:attrName>
                                        </p:attrNameLst>
                                      </p:cBhvr>
                                      <p:tavLst>
                                        <p:tav tm="0">
                                          <p:val>
                                            <p:strVal val="#ppt_x"/>
                                          </p:val>
                                        </p:tav>
                                        <p:tav tm="100000">
                                          <p:val>
                                            <p:strVal val="#ppt_x"/>
                                          </p:val>
                                        </p:tav>
                                      </p:tavLst>
                                    </p:anim>
                                    <p:anim calcmode="lin" valueType="num">
                                      <p:cBhvr>
                                        <p:cTn id="42" dur="500" fill="hold"/>
                                        <p:tgtEl>
                                          <p:spTgt spid="9227"/>
                                        </p:tgtEl>
                                        <p:attrNameLst>
                                          <p:attrName>ppt_y</p:attrName>
                                        </p:attrNameLst>
                                      </p:cBhvr>
                                      <p:tavLst>
                                        <p:tav tm="0">
                                          <p:val>
                                            <p:strVal val="#ppt_y-#ppt_h/2"/>
                                          </p:val>
                                        </p:tav>
                                        <p:tav tm="100000">
                                          <p:val>
                                            <p:strVal val="#ppt_y"/>
                                          </p:val>
                                        </p:tav>
                                      </p:tavLst>
                                    </p:anim>
                                    <p:anim calcmode="lin" valueType="num">
                                      <p:cBhvr>
                                        <p:cTn id="43" dur="500" fill="hold"/>
                                        <p:tgtEl>
                                          <p:spTgt spid="9227"/>
                                        </p:tgtEl>
                                        <p:attrNameLst>
                                          <p:attrName>ppt_w</p:attrName>
                                        </p:attrNameLst>
                                      </p:cBhvr>
                                      <p:tavLst>
                                        <p:tav tm="0">
                                          <p:val>
                                            <p:strVal val="#ppt_w"/>
                                          </p:val>
                                        </p:tav>
                                        <p:tav tm="100000">
                                          <p:val>
                                            <p:strVal val="#ppt_w"/>
                                          </p:val>
                                        </p:tav>
                                      </p:tavLst>
                                    </p:anim>
                                    <p:anim calcmode="lin" valueType="num">
                                      <p:cBhvr>
                                        <p:cTn id="44" dur="500" fill="hold"/>
                                        <p:tgtEl>
                                          <p:spTgt spid="9227"/>
                                        </p:tgtEl>
                                        <p:attrNameLst>
                                          <p:attrName>ppt_h</p:attrName>
                                        </p:attrNameLst>
                                      </p:cBhvr>
                                      <p:tavLst>
                                        <p:tav tm="0">
                                          <p:val>
                                            <p:fltVal val="0.00000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9220"/>
                                        </p:tgtEl>
                                        <p:attrNameLst>
                                          <p:attrName>style.visibility</p:attrName>
                                        </p:attrNameLst>
                                      </p:cBhvr>
                                      <p:to>
                                        <p:strVal val="visible"/>
                                      </p:to>
                                    </p:set>
                                    <p:animEffect transition="in" filter="wipe(left)">
                                      <p:cBhvr>
                                        <p:cTn id="49" dur="500"/>
                                        <p:tgtEl>
                                          <p:spTgt spid="9220"/>
                                        </p:tgtEl>
                                      </p:cBhvr>
                                    </p:animEffect>
                                  </p:childTnLst>
                                </p:cTn>
                              </p:par>
                            </p:childTnLst>
                          </p:cTn>
                        </p:par>
                        <p:par>
                          <p:cTn id="50" fill="hold">
                            <p:stCondLst>
                              <p:cond delay="500"/>
                            </p:stCondLst>
                            <p:childTnLst>
                              <p:par>
                                <p:cTn id="51" presetID="17" presetClass="entr" presetSubtype="1" fill="hold" grpId="0" nodeType="afterEffect">
                                  <p:stCondLst>
                                    <p:cond delay="0"/>
                                  </p:stCondLst>
                                  <p:childTnLst>
                                    <p:set>
                                      <p:cBhvr>
                                        <p:cTn id="52" dur="1" fill="hold">
                                          <p:stCondLst>
                                            <p:cond delay="0"/>
                                          </p:stCondLst>
                                        </p:cTn>
                                        <p:tgtEl>
                                          <p:spTgt spid="9228"/>
                                        </p:tgtEl>
                                        <p:attrNameLst>
                                          <p:attrName>style.visibility</p:attrName>
                                        </p:attrNameLst>
                                      </p:cBhvr>
                                      <p:to>
                                        <p:strVal val="visible"/>
                                      </p:to>
                                    </p:set>
                                    <p:anim calcmode="lin" valueType="num">
                                      <p:cBhvr>
                                        <p:cTn id="53" dur="500" fill="hold"/>
                                        <p:tgtEl>
                                          <p:spTgt spid="9228"/>
                                        </p:tgtEl>
                                        <p:attrNameLst>
                                          <p:attrName>ppt_x</p:attrName>
                                        </p:attrNameLst>
                                      </p:cBhvr>
                                      <p:tavLst>
                                        <p:tav tm="0">
                                          <p:val>
                                            <p:strVal val="#ppt_x"/>
                                          </p:val>
                                        </p:tav>
                                        <p:tav tm="100000">
                                          <p:val>
                                            <p:strVal val="#ppt_x"/>
                                          </p:val>
                                        </p:tav>
                                      </p:tavLst>
                                    </p:anim>
                                    <p:anim calcmode="lin" valueType="num">
                                      <p:cBhvr>
                                        <p:cTn id="54" dur="500" fill="hold"/>
                                        <p:tgtEl>
                                          <p:spTgt spid="9228"/>
                                        </p:tgtEl>
                                        <p:attrNameLst>
                                          <p:attrName>ppt_y</p:attrName>
                                        </p:attrNameLst>
                                      </p:cBhvr>
                                      <p:tavLst>
                                        <p:tav tm="0">
                                          <p:val>
                                            <p:strVal val="#ppt_y-#ppt_h/2"/>
                                          </p:val>
                                        </p:tav>
                                        <p:tav tm="100000">
                                          <p:val>
                                            <p:strVal val="#ppt_y"/>
                                          </p:val>
                                        </p:tav>
                                      </p:tavLst>
                                    </p:anim>
                                    <p:anim calcmode="lin" valueType="num">
                                      <p:cBhvr>
                                        <p:cTn id="55" dur="500" fill="hold"/>
                                        <p:tgtEl>
                                          <p:spTgt spid="9228"/>
                                        </p:tgtEl>
                                        <p:attrNameLst>
                                          <p:attrName>ppt_w</p:attrName>
                                        </p:attrNameLst>
                                      </p:cBhvr>
                                      <p:tavLst>
                                        <p:tav tm="0">
                                          <p:val>
                                            <p:strVal val="#ppt_w"/>
                                          </p:val>
                                        </p:tav>
                                        <p:tav tm="100000">
                                          <p:val>
                                            <p:strVal val="#ppt_w"/>
                                          </p:val>
                                        </p:tav>
                                      </p:tavLst>
                                    </p:anim>
                                    <p:anim calcmode="lin" valueType="num">
                                      <p:cBhvr>
                                        <p:cTn id="56" dur="500" fill="hold"/>
                                        <p:tgtEl>
                                          <p:spTgt spid="9228"/>
                                        </p:tgtEl>
                                        <p:attrNameLst>
                                          <p:attrName>ppt_h</p:attrName>
                                        </p:attrNameLst>
                                      </p:cBhvr>
                                      <p:tavLst>
                                        <p:tav tm="0">
                                          <p:val>
                                            <p:fltVal val="0.00000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9224"/>
                                        </p:tgtEl>
                                        <p:attrNameLst>
                                          <p:attrName>style.visibility</p:attrName>
                                        </p:attrNameLst>
                                      </p:cBhvr>
                                      <p:to>
                                        <p:strVal val="visible"/>
                                      </p:to>
                                    </p:set>
                                    <p:animEffect transition="in" filter="wipe(left)">
                                      <p:cBhvr>
                                        <p:cTn id="61" dur="500"/>
                                        <p:tgtEl>
                                          <p:spTgt spid="9224"/>
                                        </p:tgtEl>
                                      </p:cBhvr>
                                    </p:animEffect>
                                  </p:childTnLst>
                                </p:cTn>
                              </p:par>
                            </p:childTnLst>
                          </p:cTn>
                        </p:par>
                        <p:par>
                          <p:cTn id="62" fill="hold">
                            <p:stCondLst>
                              <p:cond delay="500"/>
                            </p:stCondLst>
                            <p:childTnLst>
                              <p:par>
                                <p:cTn id="63" presetID="17" presetClass="entr" presetSubtype="1" fill="hold" grpId="0" nodeType="afterEffect">
                                  <p:stCondLst>
                                    <p:cond delay="0"/>
                                  </p:stCondLst>
                                  <p:childTnLst>
                                    <p:set>
                                      <p:cBhvr>
                                        <p:cTn id="64" dur="1" fill="hold">
                                          <p:stCondLst>
                                            <p:cond delay="0"/>
                                          </p:stCondLst>
                                        </p:cTn>
                                        <p:tgtEl>
                                          <p:spTgt spid="9229"/>
                                        </p:tgtEl>
                                        <p:attrNameLst>
                                          <p:attrName>style.visibility</p:attrName>
                                        </p:attrNameLst>
                                      </p:cBhvr>
                                      <p:to>
                                        <p:strVal val="visible"/>
                                      </p:to>
                                    </p:set>
                                    <p:anim calcmode="lin" valueType="num">
                                      <p:cBhvr>
                                        <p:cTn id="65" dur="500" fill="hold"/>
                                        <p:tgtEl>
                                          <p:spTgt spid="9229"/>
                                        </p:tgtEl>
                                        <p:attrNameLst>
                                          <p:attrName>ppt_x</p:attrName>
                                        </p:attrNameLst>
                                      </p:cBhvr>
                                      <p:tavLst>
                                        <p:tav tm="0">
                                          <p:val>
                                            <p:strVal val="#ppt_x"/>
                                          </p:val>
                                        </p:tav>
                                        <p:tav tm="100000">
                                          <p:val>
                                            <p:strVal val="#ppt_x"/>
                                          </p:val>
                                        </p:tav>
                                      </p:tavLst>
                                    </p:anim>
                                    <p:anim calcmode="lin" valueType="num">
                                      <p:cBhvr>
                                        <p:cTn id="66" dur="500" fill="hold"/>
                                        <p:tgtEl>
                                          <p:spTgt spid="9229"/>
                                        </p:tgtEl>
                                        <p:attrNameLst>
                                          <p:attrName>ppt_y</p:attrName>
                                        </p:attrNameLst>
                                      </p:cBhvr>
                                      <p:tavLst>
                                        <p:tav tm="0">
                                          <p:val>
                                            <p:strVal val="#ppt_y-#ppt_h/2"/>
                                          </p:val>
                                        </p:tav>
                                        <p:tav tm="100000">
                                          <p:val>
                                            <p:strVal val="#ppt_y"/>
                                          </p:val>
                                        </p:tav>
                                      </p:tavLst>
                                    </p:anim>
                                    <p:anim calcmode="lin" valueType="num">
                                      <p:cBhvr>
                                        <p:cTn id="67" dur="500" fill="hold"/>
                                        <p:tgtEl>
                                          <p:spTgt spid="9229"/>
                                        </p:tgtEl>
                                        <p:attrNameLst>
                                          <p:attrName>ppt_w</p:attrName>
                                        </p:attrNameLst>
                                      </p:cBhvr>
                                      <p:tavLst>
                                        <p:tav tm="0">
                                          <p:val>
                                            <p:strVal val="#ppt_w"/>
                                          </p:val>
                                        </p:tav>
                                        <p:tav tm="100000">
                                          <p:val>
                                            <p:strVal val="#ppt_w"/>
                                          </p:val>
                                        </p:tav>
                                      </p:tavLst>
                                    </p:anim>
                                    <p:anim calcmode="lin" valueType="num">
                                      <p:cBhvr>
                                        <p:cTn id="68" dur="500" fill="hold"/>
                                        <p:tgtEl>
                                          <p:spTgt spid="9229"/>
                                        </p:tgtEl>
                                        <p:attrNameLst>
                                          <p:attrName>ppt_h</p:attrName>
                                        </p:attrNameLst>
                                      </p:cBhvr>
                                      <p:tavLst>
                                        <p:tav tm="0">
                                          <p:val>
                                            <p:fltVal val="0.00000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9223"/>
                                        </p:tgtEl>
                                        <p:attrNameLst>
                                          <p:attrName>style.visibility</p:attrName>
                                        </p:attrNameLst>
                                      </p:cBhvr>
                                      <p:to>
                                        <p:strVal val="visible"/>
                                      </p:to>
                                    </p:set>
                                    <p:animEffect transition="in" filter="wipe(left)">
                                      <p:cBhvr>
                                        <p:cTn id="73" dur="500"/>
                                        <p:tgtEl>
                                          <p:spTgt spid="9223"/>
                                        </p:tgtEl>
                                      </p:cBhvr>
                                    </p:animEffect>
                                  </p:childTnLst>
                                </p:cTn>
                              </p:par>
                            </p:childTnLst>
                          </p:cTn>
                        </p:par>
                        <p:par>
                          <p:cTn id="74" fill="hold">
                            <p:stCondLst>
                              <p:cond delay="500"/>
                            </p:stCondLst>
                            <p:childTnLst>
                              <p:par>
                                <p:cTn id="75" presetID="1" presetClass="entr" presetSubtype="0" fill="hold" grpId="0" nodeType="afterEffect">
                                  <p:stCondLst>
                                    <p:cond delay="0"/>
                                  </p:stCondLst>
                                  <p:childTnLst>
                                    <p:set>
                                      <p:cBhvr>
                                        <p:cTn id="76" dur="1" fill="hold">
                                          <p:stCondLst>
                                            <p:cond delay="499"/>
                                          </p:stCondLst>
                                        </p:cTn>
                                        <p:tgtEl>
                                          <p:spTgt spid="9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p:bldP spid="9220" grpId="0"/>
      <p:bldP spid="9221" grpId="0"/>
      <p:bldP spid="9222" grpId="0"/>
      <p:bldP spid="9223" grpId="0"/>
      <p:bldP spid="9224" grpId="0"/>
      <p:bldP spid="9226" grpId="0" bldLvl="0" animBg="1"/>
      <p:bldP spid="9227" grpId="0" bldLvl="0" animBg="1"/>
      <p:bldP spid="9228" grpId="0" bldLvl="0" animBg="1"/>
      <p:bldP spid="9229" grpId="0" bldLvl="0" animBg="1"/>
      <p:bldP spid="9230" grpId="0" bldLvl="0" animBg="1"/>
      <p:bldP spid="9232" grpId="0" bldLvl="0" animBg="1"/>
      <p:bldP spid="9233"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Text Box 2"/>
          <p:cNvSpPr txBox="1"/>
          <p:nvPr/>
        </p:nvSpPr>
        <p:spPr>
          <a:xfrm>
            <a:off x="1169988" y="1660525"/>
            <a:ext cx="5802312" cy="1616075"/>
          </a:xfrm>
          <a:prstGeom prst="rect">
            <a:avLst/>
          </a:prstGeom>
          <a:noFill/>
          <a:ln w="12700">
            <a:noFill/>
          </a:ln>
        </p:spPr>
        <p:txBody>
          <a:bodyPr wrap="none">
            <a:spAutoFit/>
          </a:bodyPr>
          <a:p>
            <a:pPr eaLnBrk="1" hangingPunct="1">
              <a:lnSpc>
                <a:spcPct val="125000"/>
              </a:lnSpc>
            </a:pPr>
            <a:r>
              <a:rPr lang="en-US" altLang="zh-CN" sz="4000" dirty="0">
                <a:solidFill>
                  <a:srgbClr val="000099"/>
                </a:solidFill>
                <a:latin typeface="Times New Roman" panose="02020603050405020304" pitchFamily="18" charset="0"/>
              </a:rPr>
              <a:t>CreatGraph(&amp;G, V, VR):</a:t>
            </a:r>
            <a:endParaRPr lang="en-US" altLang="zh-CN" sz="4000" dirty="0">
              <a:solidFill>
                <a:srgbClr val="000099"/>
              </a:solidFill>
              <a:latin typeface="Times New Roman" panose="02020603050405020304" pitchFamily="18" charset="0"/>
            </a:endParaRPr>
          </a:p>
          <a:p>
            <a:pPr eaLnBrk="1" hangingPunct="1">
              <a:lnSpc>
                <a:spcPct val="125000"/>
              </a:lnSpc>
            </a:pPr>
            <a:r>
              <a:rPr lang="en-US" altLang="zh-CN" sz="4000" dirty="0">
                <a:solidFill>
                  <a:srgbClr val="000099"/>
                </a:solidFill>
                <a:latin typeface="Times New Roman" panose="02020603050405020304" pitchFamily="18" charset="0"/>
              </a:rPr>
              <a:t>  // </a:t>
            </a:r>
            <a:r>
              <a:rPr lang="zh-CN" altLang="en-US" sz="4000" dirty="0">
                <a:solidFill>
                  <a:srgbClr val="000099"/>
                </a:solidFill>
                <a:latin typeface="Times New Roman" panose="02020603050405020304" pitchFamily="18" charset="0"/>
                <a:ea typeface="楷体_GB2312" pitchFamily="49" charset="-122"/>
              </a:rPr>
              <a:t>按定义</a:t>
            </a:r>
            <a:r>
              <a:rPr lang="en-US" altLang="zh-CN" sz="4000" dirty="0">
                <a:solidFill>
                  <a:srgbClr val="000099"/>
                </a:solidFill>
                <a:latin typeface="Times New Roman" panose="02020603050405020304" pitchFamily="18" charset="0"/>
              </a:rPr>
              <a:t>(V, VR) </a:t>
            </a:r>
            <a:r>
              <a:rPr lang="zh-CN" altLang="en-US" sz="4000" dirty="0">
                <a:solidFill>
                  <a:srgbClr val="000099"/>
                </a:solidFill>
                <a:latin typeface="Times New Roman" panose="02020603050405020304" pitchFamily="18" charset="0"/>
                <a:ea typeface="楷体_GB2312" pitchFamily="49" charset="-122"/>
              </a:rPr>
              <a:t>构造图</a:t>
            </a:r>
            <a:endParaRPr lang="zh-CN" altLang="en-US" sz="4000" dirty="0">
              <a:latin typeface="Times New Roman" panose="02020603050405020304" pitchFamily="18" charset="0"/>
            </a:endParaRPr>
          </a:p>
        </p:txBody>
      </p:sp>
      <p:sp>
        <p:nvSpPr>
          <p:cNvPr id="90115" name="Text Box 3"/>
          <p:cNvSpPr txBox="1"/>
          <p:nvPr/>
        </p:nvSpPr>
        <p:spPr>
          <a:xfrm>
            <a:off x="1143000" y="3717925"/>
            <a:ext cx="4646613" cy="1616075"/>
          </a:xfrm>
          <a:prstGeom prst="rect">
            <a:avLst/>
          </a:prstGeom>
          <a:noFill/>
          <a:ln w="12700">
            <a:noFill/>
          </a:ln>
        </p:spPr>
        <p:txBody>
          <a:bodyPr wrap="none">
            <a:spAutoFit/>
          </a:bodyPr>
          <a:p>
            <a:pPr eaLnBrk="1" hangingPunct="1">
              <a:lnSpc>
                <a:spcPct val="125000"/>
              </a:lnSpc>
            </a:pPr>
            <a:r>
              <a:rPr lang="en-US" altLang="zh-CN" sz="4000" dirty="0">
                <a:solidFill>
                  <a:srgbClr val="000099"/>
                </a:solidFill>
                <a:latin typeface="Times New Roman" panose="02020603050405020304" pitchFamily="18" charset="0"/>
              </a:rPr>
              <a:t>DestroyGraph(&amp;G):</a:t>
            </a:r>
            <a:endParaRPr lang="en-US" altLang="zh-CN" sz="4000" dirty="0">
              <a:solidFill>
                <a:srgbClr val="000099"/>
              </a:solidFill>
              <a:latin typeface="Times New Roman" panose="02020603050405020304" pitchFamily="18" charset="0"/>
            </a:endParaRPr>
          </a:p>
          <a:p>
            <a:pPr eaLnBrk="1" hangingPunct="1">
              <a:lnSpc>
                <a:spcPct val="125000"/>
              </a:lnSpc>
            </a:pPr>
            <a:r>
              <a:rPr lang="en-US" altLang="zh-CN" sz="4000" dirty="0">
                <a:solidFill>
                  <a:srgbClr val="000099"/>
                </a:solidFill>
                <a:latin typeface="Times New Roman" panose="02020603050405020304" pitchFamily="18" charset="0"/>
              </a:rPr>
              <a:t>  // </a:t>
            </a:r>
            <a:r>
              <a:rPr lang="zh-CN" altLang="en-US" sz="4000" dirty="0">
                <a:solidFill>
                  <a:srgbClr val="000099"/>
                </a:solidFill>
                <a:latin typeface="Times New Roman" panose="02020603050405020304" pitchFamily="18" charset="0"/>
                <a:ea typeface="楷体_GB2312" pitchFamily="49" charset="-122"/>
              </a:rPr>
              <a:t>销毁图</a:t>
            </a:r>
            <a:endParaRPr lang="zh-CN" altLang="en-US" sz="4000" dirty="0">
              <a:latin typeface="Times New Roman" panose="02020603050405020304" pitchFamily="18" charset="0"/>
            </a:endParaRPr>
          </a:p>
        </p:txBody>
      </p:sp>
      <p:sp>
        <p:nvSpPr>
          <p:cNvPr id="90117" name="Text Box 5"/>
          <p:cNvSpPr txBox="1"/>
          <p:nvPr/>
        </p:nvSpPr>
        <p:spPr>
          <a:xfrm>
            <a:off x="2209800" y="333375"/>
            <a:ext cx="4692650" cy="895350"/>
          </a:xfrm>
          <a:prstGeom prst="rect">
            <a:avLst/>
          </a:prstGeom>
          <a:noFill/>
          <a:ln w="12700">
            <a:noFill/>
          </a:ln>
        </p:spPr>
        <p:txBody>
          <a:bodyPr wrap="none">
            <a:spAutoFit/>
          </a:bodyPr>
          <a:p>
            <a:pPr eaLnBrk="1" hangingPunct="1">
              <a:lnSpc>
                <a:spcPct val="120000"/>
              </a:lnSpc>
            </a:pPr>
            <a:r>
              <a:rPr lang="zh-CN" altLang="en-US" sz="4400" dirty="0">
                <a:solidFill>
                  <a:srgbClr val="0000FF"/>
                </a:solidFill>
                <a:latin typeface="Times New Roman" panose="02020603050405020304" pitchFamily="18" charset="0"/>
                <a:ea typeface="楷体_GB2312" pitchFamily="49" charset="-122"/>
              </a:rPr>
              <a:t>结构的建立和销毁</a:t>
            </a:r>
            <a:endParaRPr lang="zh-CN" altLang="en-US" dirty="0">
              <a:solidFill>
                <a:srgbClr val="008080"/>
              </a:solidFill>
              <a:latin typeface="Times New Roman" panose="02020603050405020304" pitchFamily="18" charset="0"/>
              <a:ea typeface="楷体_GB2312" pitchFamily="49" charset="-122"/>
            </a:endParaRPr>
          </a:p>
        </p:txBody>
      </p:sp>
    </p:spTree>
  </p:cSld>
  <p:clrMapOvr>
    <a:masterClrMapping/>
  </p:clrMapOvr>
  <p:transition>
    <p:cover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90117"/>
                                        </p:tgtEl>
                                        <p:attrNameLst>
                                          <p:attrName>style.visibility</p:attrName>
                                        </p:attrNameLst>
                                      </p:cBhvr>
                                      <p:to>
                                        <p:strVal val="visible"/>
                                      </p:to>
                                    </p:set>
                                    <p:animEffect transition="in" filter="slide(fromLeft)">
                                      <p:cBhvr>
                                        <p:cTn id="7" dur="500"/>
                                        <p:tgtEl>
                                          <p:spTgt spid="9011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90114"/>
                                        </p:tgtEl>
                                        <p:attrNameLst>
                                          <p:attrName>style.visibility</p:attrName>
                                        </p:attrNameLst>
                                      </p:cBhvr>
                                      <p:to>
                                        <p:strVal val="visible"/>
                                      </p:to>
                                    </p:set>
                                    <p:anim calcmode="lin" valueType="num">
                                      <p:cBhvr>
                                        <p:cTn id="12" dur="500" fill="hold"/>
                                        <p:tgtEl>
                                          <p:spTgt spid="90114"/>
                                        </p:tgtEl>
                                        <p:attrNameLst>
                                          <p:attrName>ppt_x</p:attrName>
                                        </p:attrNameLst>
                                      </p:cBhvr>
                                      <p:tavLst>
                                        <p:tav tm="0">
                                          <p:val>
                                            <p:strVal val="1+#ppt_w/2"/>
                                          </p:val>
                                        </p:tav>
                                        <p:tav tm="100000">
                                          <p:val>
                                            <p:strVal val="#ppt_x"/>
                                          </p:val>
                                        </p:tav>
                                      </p:tavLst>
                                    </p:anim>
                                    <p:anim calcmode="lin" valueType="num">
                                      <p:cBhvr>
                                        <p:cTn id="13" dur="500" fill="hold"/>
                                        <p:tgtEl>
                                          <p:spTgt spid="9011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90115"/>
                                        </p:tgtEl>
                                        <p:attrNameLst>
                                          <p:attrName>style.visibility</p:attrName>
                                        </p:attrNameLst>
                                      </p:cBhvr>
                                      <p:to>
                                        <p:strVal val="visible"/>
                                      </p:to>
                                    </p:set>
                                    <p:anim calcmode="lin" valueType="num">
                                      <p:cBhvr>
                                        <p:cTn id="18" dur="500" fill="hold"/>
                                        <p:tgtEl>
                                          <p:spTgt spid="90115"/>
                                        </p:tgtEl>
                                        <p:attrNameLst>
                                          <p:attrName>ppt_x</p:attrName>
                                        </p:attrNameLst>
                                      </p:cBhvr>
                                      <p:tavLst>
                                        <p:tav tm="0">
                                          <p:val>
                                            <p:strVal val="1+#ppt_w/2"/>
                                          </p:val>
                                        </p:tav>
                                        <p:tav tm="100000">
                                          <p:val>
                                            <p:strVal val="#ppt_x"/>
                                          </p:val>
                                        </p:tav>
                                      </p:tavLst>
                                    </p:anim>
                                    <p:anim calcmode="lin" valueType="num">
                                      <p:cBhvr>
                                        <p:cTn id="19" dur="500" fill="hold"/>
                                        <p:tgtEl>
                                          <p:spTgt spid="901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p:bldP spid="90115" grpId="0"/>
      <p:bldP spid="901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ext Box 2"/>
          <p:cNvSpPr txBox="1"/>
          <p:nvPr/>
        </p:nvSpPr>
        <p:spPr>
          <a:xfrm>
            <a:off x="2241550" y="360363"/>
            <a:ext cx="4692650" cy="762000"/>
          </a:xfrm>
          <a:prstGeom prst="rect">
            <a:avLst/>
          </a:prstGeom>
          <a:noFill/>
          <a:ln w="12700">
            <a:noFill/>
          </a:ln>
        </p:spPr>
        <p:txBody>
          <a:bodyPr wrap="none">
            <a:spAutoFit/>
          </a:bodyPr>
          <a:p>
            <a:pPr eaLnBrk="1" hangingPunct="1"/>
            <a:r>
              <a:rPr lang="zh-CN" altLang="en-US" sz="4400" dirty="0">
                <a:solidFill>
                  <a:srgbClr val="0000FF"/>
                </a:solidFill>
                <a:latin typeface="Times New Roman" panose="02020603050405020304" pitchFamily="18" charset="0"/>
                <a:ea typeface="楷体_GB2312" pitchFamily="49" charset="-122"/>
              </a:rPr>
              <a:t>对顶点的访问操作</a:t>
            </a:r>
            <a:endParaRPr lang="zh-CN" altLang="en-US" sz="5400" dirty="0">
              <a:solidFill>
                <a:srgbClr val="0000FF"/>
              </a:solidFill>
              <a:latin typeface="Times New Roman" panose="02020603050405020304" pitchFamily="18" charset="0"/>
              <a:ea typeface="楷体_GB2312" pitchFamily="49" charset="-122"/>
            </a:endParaRPr>
          </a:p>
        </p:txBody>
      </p:sp>
      <p:sp>
        <p:nvSpPr>
          <p:cNvPr id="11267" name="Text Box 3"/>
          <p:cNvSpPr txBox="1"/>
          <p:nvPr/>
        </p:nvSpPr>
        <p:spPr>
          <a:xfrm>
            <a:off x="473075" y="1725613"/>
            <a:ext cx="8505825" cy="2084387"/>
          </a:xfrm>
          <a:prstGeom prst="rect">
            <a:avLst/>
          </a:prstGeom>
          <a:noFill/>
          <a:ln w="12700">
            <a:noFill/>
          </a:ln>
        </p:spPr>
        <p:txBody>
          <a:bodyPr>
            <a:spAutoFit/>
          </a:bodyPr>
          <a:p>
            <a:pPr eaLnBrk="1" hangingPunct="1">
              <a:lnSpc>
                <a:spcPct val="120000"/>
              </a:lnSpc>
            </a:pPr>
            <a:r>
              <a:rPr lang="en-US" altLang="zh-CN" sz="3600" dirty="0">
                <a:solidFill>
                  <a:srgbClr val="000099"/>
                </a:solidFill>
                <a:latin typeface="Times New Roman" panose="02020603050405020304" pitchFamily="18" charset="0"/>
                <a:ea typeface="楷体_GB2312" pitchFamily="49" charset="-122"/>
              </a:rPr>
              <a:t>LocateVex(G, u);  </a:t>
            </a:r>
            <a:endParaRPr lang="en-US" altLang="zh-CN" sz="3600" dirty="0">
              <a:solidFill>
                <a:srgbClr val="000099"/>
              </a:solidFill>
              <a:latin typeface="Times New Roman" panose="02020603050405020304" pitchFamily="18" charset="0"/>
              <a:ea typeface="楷体_GB2312" pitchFamily="49" charset="-122"/>
            </a:endParaRPr>
          </a:p>
          <a:p>
            <a:pPr eaLnBrk="1" hangingPunct="1">
              <a:lnSpc>
                <a:spcPct val="120000"/>
              </a:lnSpc>
            </a:pPr>
            <a:r>
              <a:rPr lang="en-US" altLang="zh-CN" sz="3600" dirty="0">
                <a:solidFill>
                  <a:srgbClr val="000099"/>
                </a:solidFill>
                <a:latin typeface="Times New Roman" panose="02020603050405020304" pitchFamily="18" charset="0"/>
                <a:ea typeface="楷体_GB2312" pitchFamily="49" charset="-122"/>
              </a:rPr>
              <a:t> // </a:t>
            </a:r>
            <a:r>
              <a:rPr lang="zh-CN" altLang="en-US" sz="3600" dirty="0">
                <a:solidFill>
                  <a:srgbClr val="000099"/>
                </a:solidFill>
                <a:latin typeface="Times New Roman" panose="02020603050405020304" pitchFamily="18" charset="0"/>
                <a:ea typeface="楷体_GB2312" pitchFamily="49" charset="-122"/>
              </a:rPr>
              <a:t>若</a:t>
            </a:r>
            <a:r>
              <a:rPr lang="en-US" altLang="zh-CN" sz="3600" dirty="0">
                <a:solidFill>
                  <a:srgbClr val="000099"/>
                </a:solidFill>
                <a:latin typeface="Times New Roman" panose="02020603050405020304" pitchFamily="18" charset="0"/>
                <a:ea typeface="楷体_GB2312" pitchFamily="49" charset="-122"/>
              </a:rPr>
              <a:t>G</a:t>
            </a:r>
            <a:r>
              <a:rPr lang="zh-CN" altLang="en-US" sz="3600" dirty="0">
                <a:solidFill>
                  <a:srgbClr val="000099"/>
                </a:solidFill>
                <a:latin typeface="Times New Roman" panose="02020603050405020304" pitchFamily="18" charset="0"/>
                <a:ea typeface="楷体_GB2312" pitchFamily="49" charset="-122"/>
              </a:rPr>
              <a:t>中存在顶点</a:t>
            </a:r>
            <a:r>
              <a:rPr lang="en-US" altLang="zh-CN" sz="3600" dirty="0">
                <a:solidFill>
                  <a:srgbClr val="000099"/>
                </a:solidFill>
                <a:latin typeface="Times New Roman" panose="02020603050405020304" pitchFamily="18" charset="0"/>
                <a:ea typeface="楷体_GB2312" pitchFamily="49" charset="-122"/>
              </a:rPr>
              <a:t>u</a:t>
            </a:r>
            <a:r>
              <a:rPr lang="zh-CN" altLang="en-US" sz="3600" dirty="0">
                <a:solidFill>
                  <a:srgbClr val="000099"/>
                </a:solidFill>
                <a:latin typeface="Times New Roman" panose="02020603050405020304" pitchFamily="18" charset="0"/>
                <a:ea typeface="楷体_GB2312" pitchFamily="49" charset="-122"/>
              </a:rPr>
              <a:t>，则返回该顶点在</a:t>
            </a:r>
            <a:endParaRPr lang="zh-CN" altLang="en-US" sz="3600" dirty="0">
              <a:solidFill>
                <a:srgbClr val="000099"/>
              </a:solidFill>
              <a:latin typeface="Times New Roman" panose="02020603050405020304" pitchFamily="18" charset="0"/>
              <a:ea typeface="楷体_GB2312" pitchFamily="49" charset="-122"/>
            </a:endParaRPr>
          </a:p>
          <a:p>
            <a:pPr eaLnBrk="1" hangingPunct="1">
              <a:lnSpc>
                <a:spcPct val="120000"/>
              </a:lnSpc>
            </a:pPr>
            <a:r>
              <a:rPr lang="zh-CN" altLang="en-US" sz="3600" dirty="0">
                <a:solidFill>
                  <a:srgbClr val="000099"/>
                </a:solidFill>
                <a:latin typeface="Times New Roman" panose="02020603050405020304" pitchFamily="18" charset="0"/>
                <a:ea typeface="楷体_GB2312" pitchFamily="49" charset="-122"/>
              </a:rPr>
              <a:t> </a:t>
            </a:r>
            <a:r>
              <a:rPr lang="en-US" altLang="zh-CN" sz="3600" dirty="0">
                <a:solidFill>
                  <a:srgbClr val="000099"/>
                </a:solidFill>
                <a:latin typeface="Times New Roman" panose="02020603050405020304" pitchFamily="18" charset="0"/>
                <a:ea typeface="楷体_GB2312" pitchFamily="49" charset="-122"/>
              </a:rPr>
              <a:t>// </a:t>
            </a:r>
            <a:r>
              <a:rPr lang="zh-CN" altLang="en-US" sz="3600" dirty="0">
                <a:solidFill>
                  <a:srgbClr val="000099"/>
                </a:solidFill>
                <a:latin typeface="Times New Roman" panose="02020603050405020304" pitchFamily="18" charset="0"/>
                <a:ea typeface="楷体_GB2312" pitchFamily="49" charset="-122"/>
              </a:rPr>
              <a:t>图中“</a:t>
            </a:r>
            <a:r>
              <a:rPr lang="zh-CN" altLang="en-US" sz="3600" dirty="0">
                <a:solidFill>
                  <a:srgbClr val="800000"/>
                </a:solidFill>
                <a:latin typeface="Times New Roman" panose="02020603050405020304" pitchFamily="18" charset="0"/>
                <a:ea typeface="楷体_GB2312" pitchFamily="49" charset="-122"/>
              </a:rPr>
              <a:t>位置</a:t>
            </a:r>
            <a:r>
              <a:rPr lang="zh-CN" altLang="en-US" sz="3600" dirty="0">
                <a:solidFill>
                  <a:srgbClr val="000099"/>
                </a:solidFill>
                <a:latin typeface="Times New Roman" panose="02020603050405020304" pitchFamily="18" charset="0"/>
                <a:ea typeface="楷体_GB2312" pitchFamily="49" charset="-122"/>
              </a:rPr>
              <a:t>”</a:t>
            </a:r>
            <a:r>
              <a:rPr lang="zh-CN" altLang="en-US" sz="3600" dirty="0">
                <a:solidFill>
                  <a:srgbClr val="800000"/>
                </a:solidFill>
                <a:latin typeface="Times New Roman" panose="02020603050405020304" pitchFamily="18" charset="0"/>
                <a:ea typeface="楷体_GB2312" pitchFamily="49" charset="-122"/>
              </a:rPr>
              <a:t> </a:t>
            </a:r>
            <a:r>
              <a:rPr lang="zh-CN" altLang="en-US" sz="3600" dirty="0">
                <a:solidFill>
                  <a:srgbClr val="000099"/>
                </a:solidFill>
                <a:latin typeface="Times New Roman" panose="02020603050405020304" pitchFamily="18" charset="0"/>
                <a:ea typeface="楷体_GB2312" pitchFamily="49" charset="-122"/>
              </a:rPr>
              <a:t>；否则返回其它信息。</a:t>
            </a:r>
            <a:endParaRPr lang="zh-CN" altLang="en-US" sz="3600" dirty="0">
              <a:solidFill>
                <a:srgbClr val="000099"/>
              </a:solidFill>
              <a:latin typeface="Times New Roman" panose="02020603050405020304" pitchFamily="18" charset="0"/>
              <a:ea typeface="楷体_GB2312" pitchFamily="49" charset="-122"/>
            </a:endParaRPr>
          </a:p>
        </p:txBody>
      </p:sp>
      <p:sp>
        <p:nvSpPr>
          <p:cNvPr id="11269" name="Rectangle 5"/>
          <p:cNvSpPr/>
          <p:nvPr/>
        </p:nvSpPr>
        <p:spPr>
          <a:xfrm>
            <a:off x="473075" y="3810000"/>
            <a:ext cx="6804025" cy="644525"/>
          </a:xfrm>
          <a:prstGeom prst="rect">
            <a:avLst/>
          </a:prstGeom>
          <a:noFill/>
          <a:ln w="12700">
            <a:noFill/>
          </a:ln>
        </p:spPr>
        <p:txBody>
          <a:bodyPr wrap="none">
            <a:spAutoFit/>
          </a:bodyPr>
          <a:p>
            <a:pPr eaLnBrk="1" hangingPunct="1"/>
            <a:r>
              <a:rPr lang="en-US" altLang="zh-CN" sz="3600" dirty="0">
                <a:solidFill>
                  <a:srgbClr val="000099"/>
                </a:solidFill>
                <a:latin typeface="Times New Roman" panose="02020603050405020304" pitchFamily="18" charset="0"/>
                <a:ea typeface="楷体_GB2312" pitchFamily="49" charset="-122"/>
              </a:rPr>
              <a:t>GetVex(G, v);       // </a:t>
            </a:r>
            <a:r>
              <a:rPr lang="zh-CN" altLang="en-US" sz="3600" dirty="0">
                <a:solidFill>
                  <a:srgbClr val="000099"/>
                </a:solidFill>
                <a:latin typeface="Times New Roman" panose="02020603050405020304" pitchFamily="18" charset="0"/>
                <a:ea typeface="楷体_GB2312" pitchFamily="49" charset="-122"/>
              </a:rPr>
              <a:t>返回 </a:t>
            </a:r>
            <a:r>
              <a:rPr lang="en-US" altLang="zh-CN" sz="3600" dirty="0">
                <a:solidFill>
                  <a:srgbClr val="000099"/>
                </a:solidFill>
                <a:latin typeface="Times New Roman" panose="02020603050405020304" pitchFamily="18" charset="0"/>
                <a:ea typeface="楷体_GB2312" pitchFamily="49" charset="-122"/>
              </a:rPr>
              <a:t>v </a:t>
            </a:r>
            <a:r>
              <a:rPr lang="zh-CN" altLang="en-US" sz="3600" dirty="0">
                <a:solidFill>
                  <a:srgbClr val="000099"/>
                </a:solidFill>
                <a:latin typeface="Times New Roman" panose="02020603050405020304" pitchFamily="18" charset="0"/>
                <a:ea typeface="楷体_GB2312" pitchFamily="49" charset="-122"/>
              </a:rPr>
              <a:t>的值。</a:t>
            </a:r>
            <a:endParaRPr lang="zh-CN" altLang="en-US" sz="3600" dirty="0">
              <a:latin typeface="Times New Roman" panose="02020603050405020304" pitchFamily="18" charset="0"/>
              <a:ea typeface="楷体_GB2312" pitchFamily="49" charset="-122"/>
            </a:endParaRPr>
          </a:p>
        </p:txBody>
      </p:sp>
      <p:sp>
        <p:nvSpPr>
          <p:cNvPr id="11270" name="Rectangle 6"/>
          <p:cNvSpPr/>
          <p:nvPr/>
        </p:nvSpPr>
        <p:spPr>
          <a:xfrm>
            <a:off x="473075" y="4527550"/>
            <a:ext cx="4483100" cy="1419225"/>
          </a:xfrm>
          <a:prstGeom prst="rect">
            <a:avLst/>
          </a:prstGeom>
          <a:noFill/>
          <a:ln w="12700">
            <a:noFill/>
          </a:ln>
        </p:spPr>
        <p:txBody>
          <a:bodyPr wrap="none">
            <a:spAutoFit/>
          </a:bodyPr>
          <a:p>
            <a:pPr eaLnBrk="1" hangingPunct="1">
              <a:lnSpc>
                <a:spcPct val="120000"/>
              </a:lnSpc>
            </a:pPr>
            <a:r>
              <a:rPr lang="en-US" altLang="zh-CN" sz="3600" dirty="0">
                <a:solidFill>
                  <a:srgbClr val="000099"/>
                </a:solidFill>
                <a:latin typeface="Times New Roman" panose="02020603050405020304" pitchFamily="18" charset="0"/>
                <a:ea typeface="楷体_GB2312" pitchFamily="49" charset="-122"/>
              </a:rPr>
              <a:t>PutVex(&amp;G, v, value);</a:t>
            </a:r>
            <a:endParaRPr lang="en-US" altLang="zh-CN" sz="3600" dirty="0">
              <a:solidFill>
                <a:srgbClr val="000099"/>
              </a:solidFill>
              <a:latin typeface="Times New Roman" panose="02020603050405020304" pitchFamily="18" charset="0"/>
              <a:ea typeface="楷体_GB2312" pitchFamily="49" charset="-122"/>
            </a:endParaRPr>
          </a:p>
          <a:p>
            <a:pPr eaLnBrk="1" hangingPunct="1">
              <a:lnSpc>
                <a:spcPct val="120000"/>
              </a:lnSpc>
            </a:pPr>
            <a:r>
              <a:rPr lang="en-US" altLang="zh-CN" sz="3600" dirty="0">
                <a:solidFill>
                  <a:srgbClr val="000099"/>
                </a:solidFill>
                <a:latin typeface="Times New Roman" panose="02020603050405020304" pitchFamily="18" charset="0"/>
                <a:ea typeface="楷体_GB2312" pitchFamily="49" charset="-122"/>
              </a:rPr>
              <a:t>  // </a:t>
            </a:r>
            <a:r>
              <a:rPr lang="zh-CN" altLang="en-US" sz="3600" dirty="0">
                <a:solidFill>
                  <a:srgbClr val="000099"/>
                </a:solidFill>
                <a:latin typeface="Times New Roman" panose="02020603050405020304" pitchFamily="18" charset="0"/>
                <a:ea typeface="楷体_GB2312" pitchFamily="49" charset="-122"/>
              </a:rPr>
              <a:t>对 </a:t>
            </a:r>
            <a:r>
              <a:rPr lang="en-US" altLang="zh-CN" sz="3600" dirty="0">
                <a:solidFill>
                  <a:srgbClr val="000099"/>
                </a:solidFill>
                <a:latin typeface="Times New Roman" panose="02020603050405020304" pitchFamily="18" charset="0"/>
                <a:ea typeface="楷体_GB2312" pitchFamily="49" charset="-122"/>
              </a:rPr>
              <a:t>v </a:t>
            </a:r>
            <a:r>
              <a:rPr lang="zh-CN" altLang="en-US" sz="3600" dirty="0">
                <a:solidFill>
                  <a:srgbClr val="000099"/>
                </a:solidFill>
                <a:latin typeface="Times New Roman" panose="02020603050405020304" pitchFamily="18" charset="0"/>
                <a:ea typeface="楷体_GB2312" pitchFamily="49" charset="-122"/>
              </a:rPr>
              <a:t>赋值</a:t>
            </a:r>
            <a:r>
              <a:rPr lang="en-US" altLang="zh-CN" sz="3600" dirty="0">
                <a:solidFill>
                  <a:srgbClr val="000099"/>
                </a:solidFill>
                <a:latin typeface="Times New Roman" panose="02020603050405020304" pitchFamily="18" charset="0"/>
                <a:ea typeface="楷体_GB2312" pitchFamily="49" charset="-122"/>
              </a:rPr>
              <a:t>value</a:t>
            </a:r>
            <a:r>
              <a:rPr lang="zh-CN" altLang="en-US" sz="3600" dirty="0">
                <a:solidFill>
                  <a:srgbClr val="000099"/>
                </a:solidFill>
                <a:latin typeface="Times New Roman" panose="02020603050405020304" pitchFamily="18" charset="0"/>
                <a:ea typeface="楷体_GB2312" pitchFamily="49" charset="-122"/>
              </a:rPr>
              <a:t>。</a:t>
            </a:r>
            <a:endParaRPr lang="zh-CN" altLang="en-US" sz="3600" dirty="0">
              <a:latin typeface="Times New Roman" panose="02020603050405020304" pitchFamily="18" charset="0"/>
              <a:ea typeface="楷体_GB2312" pitchFamily="49" charset="-122"/>
            </a:endParaRPr>
          </a:p>
        </p:txBody>
      </p:sp>
    </p:spTree>
  </p:cSld>
  <p:clrMapOvr>
    <a:masterClrMapping/>
  </p:clrMapOvr>
  <p:transition>
    <p:cover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p:cTn id="7" dur="500" fill="hold"/>
                                        <p:tgtEl>
                                          <p:spTgt spid="11266"/>
                                        </p:tgtEl>
                                        <p:attrNameLst>
                                          <p:attrName>ppt_x</p:attrName>
                                        </p:attrNameLst>
                                      </p:cBhvr>
                                      <p:tavLst>
                                        <p:tav tm="0">
                                          <p:val>
                                            <p:strVal val="#ppt_x"/>
                                          </p:val>
                                        </p:tav>
                                        <p:tav tm="100000">
                                          <p:val>
                                            <p:strVal val="#ppt_x"/>
                                          </p:val>
                                        </p:tav>
                                      </p:tavLst>
                                    </p:anim>
                                    <p:anim calcmode="lin" valueType="num">
                                      <p:cBhvr>
                                        <p:cTn id="8" dur="500" fill="hold"/>
                                        <p:tgtEl>
                                          <p:spTgt spid="1126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11267"/>
                                        </p:tgtEl>
                                        <p:attrNameLst>
                                          <p:attrName>style.visibility</p:attrName>
                                        </p:attrNameLst>
                                      </p:cBhvr>
                                      <p:to>
                                        <p:strVal val="visible"/>
                                      </p:to>
                                    </p:set>
                                    <p:animEffect transition="in" filter="strips(downRight)">
                                      <p:cBhvr>
                                        <p:cTn id="13" dur="500"/>
                                        <p:tgtEl>
                                          <p:spTgt spid="11267"/>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11269"/>
                                        </p:tgtEl>
                                        <p:attrNameLst>
                                          <p:attrName>style.visibility</p:attrName>
                                        </p:attrNameLst>
                                      </p:cBhvr>
                                      <p:to>
                                        <p:strVal val="visible"/>
                                      </p:to>
                                    </p:set>
                                    <p:animEffect transition="in" filter="strips(downRight)">
                                      <p:cBhvr>
                                        <p:cTn id="18" dur="500"/>
                                        <p:tgtEl>
                                          <p:spTgt spid="11269"/>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11270"/>
                                        </p:tgtEl>
                                        <p:attrNameLst>
                                          <p:attrName>style.visibility</p:attrName>
                                        </p:attrNameLst>
                                      </p:cBhvr>
                                      <p:to>
                                        <p:strVal val="visible"/>
                                      </p:to>
                                    </p:set>
                                    <p:animEffect transition="in" filter="strips(downRight)">
                                      <p:cBhvr>
                                        <p:cTn id="23" dur="500"/>
                                        <p:tgtEl>
                                          <p:spTgt spid="11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11267" grpId="0"/>
      <p:bldP spid="11269" grpId="0"/>
      <p:bldP spid="1127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1" name="Text Box 3"/>
          <p:cNvSpPr txBox="1"/>
          <p:nvPr/>
        </p:nvSpPr>
        <p:spPr>
          <a:xfrm>
            <a:off x="2500313" y="228600"/>
            <a:ext cx="4129087" cy="762000"/>
          </a:xfrm>
          <a:prstGeom prst="rect">
            <a:avLst/>
          </a:prstGeom>
          <a:noFill/>
          <a:ln w="12700">
            <a:noFill/>
          </a:ln>
        </p:spPr>
        <p:txBody>
          <a:bodyPr wrap="none">
            <a:spAutoFit/>
          </a:bodyPr>
          <a:p>
            <a:pPr eaLnBrk="1" hangingPunct="1"/>
            <a:r>
              <a:rPr lang="zh-CN" altLang="en-US" sz="4400" dirty="0">
                <a:solidFill>
                  <a:srgbClr val="0000FF"/>
                </a:solidFill>
                <a:latin typeface="Times New Roman" panose="02020603050405020304" pitchFamily="18" charset="0"/>
                <a:ea typeface="楷体_GB2312" pitchFamily="49" charset="-122"/>
              </a:rPr>
              <a:t>对邻接点的操作</a:t>
            </a:r>
            <a:endParaRPr lang="zh-CN" altLang="en-US" sz="5400" dirty="0">
              <a:solidFill>
                <a:srgbClr val="0000FF"/>
              </a:solidFill>
              <a:latin typeface="Times New Roman" panose="02020603050405020304" pitchFamily="18" charset="0"/>
              <a:ea typeface="楷体_GB2312" pitchFamily="49" charset="-122"/>
            </a:endParaRPr>
          </a:p>
        </p:txBody>
      </p:sp>
      <p:sp>
        <p:nvSpPr>
          <p:cNvPr id="12292" name="Text Box 4"/>
          <p:cNvSpPr txBox="1"/>
          <p:nvPr/>
        </p:nvSpPr>
        <p:spPr>
          <a:xfrm>
            <a:off x="228600" y="1565275"/>
            <a:ext cx="8763000" cy="2084388"/>
          </a:xfrm>
          <a:prstGeom prst="rect">
            <a:avLst/>
          </a:prstGeom>
          <a:noFill/>
          <a:ln w="12700">
            <a:noFill/>
          </a:ln>
        </p:spPr>
        <p:txBody>
          <a:bodyPr>
            <a:spAutoFit/>
          </a:bodyPr>
          <a:p>
            <a:pPr eaLnBrk="1" hangingPunct="1">
              <a:lnSpc>
                <a:spcPct val="120000"/>
              </a:lnSpc>
            </a:pPr>
            <a:r>
              <a:rPr lang="en-US" altLang="zh-CN" sz="3600" dirty="0">
                <a:solidFill>
                  <a:srgbClr val="000099"/>
                </a:solidFill>
                <a:latin typeface="Times New Roman" panose="02020603050405020304" pitchFamily="18" charset="0"/>
                <a:ea typeface="楷体_GB2312" pitchFamily="49" charset="-122"/>
              </a:rPr>
              <a:t>FirstAdjVex(G, v); </a:t>
            </a:r>
            <a:endParaRPr lang="en-US" altLang="zh-CN" sz="3600" dirty="0">
              <a:solidFill>
                <a:srgbClr val="000099"/>
              </a:solidFill>
              <a:latin typeface="Times New Roman" panose="02020603050405020304" pitchFamily="18" charset="0"/>
              <a:ea typeface="楷体_GB2312" pitchFamily="49" charset="-122"/>
            </a:endParaRPr>
          </a:p>
          <a:p>
            <a:pPr eaLnBrk="1" hangingPunct="1">
              <a:lnSpc>
                <a:spcPct val="120000"/>
              </a:lnSpc>
            </a:pPr>
            <a:r>
              <a:rPr lang="en-US" altLang="zh-CN" sz="3600" dirty="0">
                <a:solidFill>
                  <a:srgbClr val="000099"/>
                </a:solidFill>
                <a:latin typeface="Times New Roman" panose="02020603050405020304" pitchFamily="18" charset="0"/>
                <a:ea typeface="楷体_GB2312" pitchFamily="49" charset="-122"/>
              </a:rPr>
              <a:t>// </a:t>
            </a:r>
            <a:r>
              <a:rPr lang="zh-CN" altLang="en-US" sz="3600" dirty="0">
                <a:solidFill>
                  <a:srgbClr val="000099"/>
                </a:solidFill>
                <a:latin typeface="Times New Roman" panose="02020603050405020304" pitchFamily="18" charset="0"/>
                <a:ea typeface="楷体_GB2312" pitchFamily="49" charset="-122"/>
              </a:rPr>
              <a:t>返回 </a:t>
            </a:r>
            <a:r>
              <a:rPr lang="en-US" altLang="zh-CN" sz="3600" dirty="0">
                <a:solidFill>
                  <a:srgbClr val="000099"/>
                </a:solidFill>
                <a:latin typeface="Times New Roman" panose="02020603050405020304" pitchFamily="18" charset="0"/>
                <a:ea typeface="楷体_GB2312" pitchFamily="49" charset="-122"/>
              </a:rPr>
              <a:t>v </a:t>
            </a:r>
            <a:r>
              <a:rPr lang="zh-CN" altLang="en-US" sz="3600" dirty="0">
                <a:solidFill>
                  <a:srgbClr val="000099"/>
                </a:solidFill>
                <a:latin typeface="Times New Roman" panose="02020603050405020304" pitchFamily="18" charset="0"/>
                <a:ea typeface="楷体_GB2312" pitchFamily="49" charset="-122"/>
              </a:rPr>
              <a:t>的“</a:t>
            </a:r>
            <a:r>
              <a:rPr lang="zh-CN" altLang="en-US" sz="3600" dirty="0">
                <a:solidFill>
                  <a:srgbClr val="800000"/>
                </a:solidFill>
                <a:latin typeface="Times New Roman" panose="02020603050405020304" pitchFamily="18" charset="0"/>
                <a:ea typeface="楷体_GB2312" pitchFamily="49" charset="-122"/>
              </a:rPr>
              <a:t>第一个邻接点</a:t>
            </a:r>
            <a:r>
              <a:rPr lang="zh-CN" altLang="en-US" sz="3600" dirty="0">
                <a:solidFill>
                  <a:srgbClr val="000099"/>
                </a:solidFill>
                <a:latin typeface="Times New Roman" panose="02020603050405020304" pitchFamily="18" charset="0"/>
                <a:ea typeface="楷体_GB2312" pitchFamily="49" charset="-122"/>
              </a:rPr>
              <a:t>” 。若该顶点</a:t>
            </a:r>
            <a:endParaRPr lang="zh-CN" altLang="en-US" sz="3600" dirty="0">
              <a:solidFill>
                <a:srgbClr val="000099"/>
              </a:solidFill>
              <a:latin typeface="Times New Roman" panose="02020603050405020304" pitchFamily="18" charset="0"/>
              <a:ea typeface="楷体_GB2312" pitchFamily="49" charset="-122"/>
            </a:endParaRPr>
          </a:p>
          <a:p>
            <a:pPr eaLnBrk="1" hangingPunct="1">
              <a:lnSpc>
                <a:spcPct val="120000"/>
              </a:lnSpc>
            </a:pPr>
            <a:r>
              <a:rPr lang="en-US" altLang="zh-CN" sz="3600" dirty="0">
                <a:solidFill>
                  <a:srgbClr val="000099"/>
                </a:solidFill>
                <a:latin typeface="Times New Roman" panose="02020603050405020304" pitchFamily="18" charset="0"/>
                <a:ea typeface="楷体_GB2312" pitchFamily="49" charset="-122"/>
              </a:rPr>
              <a:t>//</a:t>
            </a:r>
            <a:r>
              <a:rPr lang="zh-CN" altLang="en-US" sz="3600" dirty="0">
                <a:solidFill>
                  <a:srgbClr val="000099"/>
                </a:solidFill>
                <a:latin typeface="Times New Roman" panose="02020603050405020304" pitchFamily="18" charset="0"/>
                <a:ea typeface="楷体_GB2312" pitchFamily="49" charset="-122"/>
              </a:rPr>
              <a:t>在 </a:t>
            </a:r>
            <a:r>
              <a:rPr lang="en-US" altLang="zh-CN" sz="3600" dirty="0">
                <a:solidFill>
                  <a:srgbClr val="000099"/>
                </a:solidFill>
                <a:latin typeface="Times New Roman" panose="02020603050405020304" pitchFamily="18" charset="0"/>
                <a:ea typeface="楷体_GB2312" pitchFamily="49" charset="-122"/>
              </a:rPr>
              <a:t>G </a:t>
            </a:r>
            <a:r>
              <a:rPr lang="zh-CN" altLang="en-US" sz="3600" dirty="0">
                <a:solidFill>
                  <a:srgbClr val="000099"/>
                </a:solidFill>
                <a:latin typeface="Times New Roman" panose="02020603050405020304" pitchFamily="18" charset="0"/>
                <a:ea typeface="楷体_GB2312" pitchFamily="49" charset="-122"/>
              </a:rPr>
              <a:t>中没有邻接点，则返回“空”。</a:t>
            </a:r>
            <a:endParaRPr lang="zh-CN" altLang="en-US" sz="3600" dirty="0">
              <a:solidFill>
                <a:srgbClr val="000099"/>
              </a:solidFill>
              <a:latin typeface="Times New Roman" panose="02020603050405020304" pitchFamily="18" charset="0"/>
              <a:ea typeface="楷体_GB2312" pitchFamily="49" charset="-122"/>
            </a:endParaRPr>
          </a:p>
        </p:txBody>
      </p:sp>
      <p:sp>
        <p:nvSpPr>
          <p:cNvPr id="12294" name="Rectangle 6"/>
          <p:cNvSpPr/>
          <p:nvPr/>
        </p:nvSpPr>
        <p:spPr>
          <a:xfrm>
            <a:off x="228600" y="3505200"/>
            <a:ext cx="8763000" cy="2747963"/>
          </a:xfrm>
          <a:prstGeom prst="rect">
            <a:avLst/>
          </a:prstGeom>
          <a:noFill/>
          <a:ln w="12700">
            <a:noFill/>
          </a:ln>
        </p:spPr>
        <p:txBody>
          <a:bodyPr>
            <a:spAutoFit/>
          </a:bodyPr>
          <a:p>
            <a:pPr eaLnBrk="1" hangingPunct="1">
              <a:lnSpc>
                <a:spcPct val="120000"/>
              </a:lnSpc>
            </a:pPr>
            <a:r>
              <a:rPr lang="en-US" altLang="zh-CN" sz="3600" dirty="0">
                <a:solidFill>
                  <a:srgbClr val="000099"/>
                </a:solidFill>
                <a:latin typeface="Times New Roman" panose="02020603050405020304" pitchFamily="18" charset="0"/>
                <a:ea typeface="楷体_GB2312" pitchFamily="49" charset="-122"/>
              </a:rPr>
              <a:t>NextAdjVex(G, v, w); </a:t>
            </a:r>
            <a:endParaRPr lang="en-US" altLang="zh-CN" sz="3600" dirty="0">
              <a:solidFill>
                <a:srgbClr val="000099"/>
              </a:solidFill>
              <a:latin typeface="Times New Roman" panose="02020603050405020304" pitchFamily="18" charset="0"/>
              <a:ea typeface="楷体_GB2312" pitchFamily="49" charset="-122"/>
            </a:endParaRPr>
          </a:p>
          <a:p>
            <a:pPr eaLnBrk="1" hangingPunct="1">
              <a:lnSpc>
                <a:spcPct val="120000"/>
              </a:lnSpc>
            </a:pPr>
            <a:r>
              <a:rPr lang="en-US" altLang="zh-CN" sz="3600" dirty="0">
                <a:solidFill>
                  <a:srgbClr val="000099"/>
                </a:solidFill>
                <a:latin typeface="Times New Roman" panose="02020603050405020304" pitchFamily="18" charset="0"/>
                <a:ea typeface="楷体_GB2312" pitchFamily="49" charset="-122"/>
              </a:rPr>
              <a:t>// </a:t>
            </a:r>
            <a:r>
              <a:rPr lang="zh-CN" altLang="en-US" sz="3600" dirty="0">
                <a:solidFill>
                  <a:srgbClr val="000099"/>
                </a:solidFill>
                <a:latin typeface="Times New Roman" panose="02020603050405020304" pitchFamily="18" charset="0"/>
                <a:ea typeface="楷体_GB2312" pitchFamily="49" charset="-122"/>
              </a:rPr>
              <a:t>返回 </a:t>
            </a:r>
            <a:r>
              <a:rPr lang="en-US" altLang="zh-CN" sz="3600" dirty="0">
                <a:solidFill>
                  <a:srgbClr val="000099"/>
                </a:solidFill>
                <a:latin typeface="Times New Roman" panose="02020603050405020304" pitchFamily="18" charset="0"/>
                <a:ea typeface="楷体_GB2312" pitchFamily="49" charset="-122"/>
              </a:rPr>
              <a:t>v </a:t>
            </a:r>
            <a:r>
              <a:rPr lang="zh-CN" altLang="en-US" sz="3600" dirty="0">
                <a:solidFill>
                  <a:srgbClr val="000099"/>
                </a:solidFill>
                <a:latin typeface="Times New Roman" panose="02020603050405020304" pitchFamily="18" charset="0"/>
                <a:ea typeface="楷体_GB2312" pitchFamily="49" charset="-122"/>
              </a:rPr>
              <a:t>的（相对于 </a:t>
            </a:r>
            <a:r>
              <a:rPr lang="en-US" altLang="zh-CN" sz="3600" dirty="0">
                <a:solidFill>
                  <a:srgbClr val="000099"/>
                </a:solidFill>
                <a:latin typeface="Times New Roman" panose="02020603050405020304" pitchFamily="18" charset="0"/>
                <a:ea typeface="楷体_GB2312" pitchFamily="49" charset="-122"/>
              </a:rPr>
              <a:t>w </a:t>
            </a:r>
            <a:r>
              <a:rPr lang="zh-CN" altLang="en-US" sz="3600" dirty="0">
                <a:solidFill>
                  <a:srgbClr val="000099"/>
                </a:solidFill>
                <a:latin typeface="Times New Roman" panose="02020603050405020304" pitchFamily="18" charset="0"/>
                <a:ea typeface="楷体_GB2312" pitchFamily="49" charset="-122"/>
              </a:rPr>
              <a:t>的） “</a:t>
            </a:r>
            <a:r>
              <a:rPr lang="zh-CN" altLang="en-US" sz="3600" dirty="0">
                <a:solidFill>
                  <a:srgbClr val="800000"/>
                </a:solidFill>
                <a:latin typeface="Times New Roman" panose="02020603050405020304" pitchFamily="18" charset="0"/>
                <a:ea typeface="楷体_GB2312" pitchFamily="49" charset="-122"/>
              </a:rPr>
              <a:t>下一个邻接</a:t>
            </a:r>
            <a:endParaRPr lang="zh-CN" altLang="en-US" sz="3600" dirty="0">
              <a:solidFill>
                <a:srgbClr val="800000"/>
              </a:solidFill>
              <a:latin typeface="Times New Roman" panose="02020603050405020304" pitchFamily="18" charset="0"/>
              <a:ea typeface="楷体_GB2312" pitchFamily="49" charset="-122"/>
            </a:endParaRPr>
          </a:p>
          <a:p>
            <a:pPr eaLnBrk="1" hangingPunct="1">
              <a:lnSpc>
                <a:spcPct val="120000"/>
              </a:lnSpc>
            </a:pPr>
            <a:r>
              <a:rPr lang="en-US" altLang="zh-CN" sz="3600" dirty="0">
                <a:solidFill>
                  <a:srgbClr val="000099"/>
                </a:solidFill>
                <a:latin typeface="Times New Roman" panose="02020603050405020304" pitchFamily="18" charset="0"/>
                <a:ea typeface="楷体_GB2312" pitchFamily="49" charset="-122"/>
              </a:rPr>
              <a:t>// </a:t>
            </a:r>
            <a:r>
              <a:rPr lang="zh-CN" altLang="en-US" sz="3600" dirty="0">
                <a:solidFill>
                  <a:srgbClr val="800000"/>
                </a:solidFill>
                <a:latin typeface="Times New Roman" panose="02020603050405020304" pitchFamily="18" charset="0"/>
                <a:ea typeface="楷体_GB2312" pitchFamily="49" charset="-122"/>
              </a:rPr>
              <a:t>点</a:t>
            </a:r>
            <a:r>
              <a:rPr lang="zh-CN" altLang="en-US" sz="3600" dirty="0">
                <a:solidFill>
                  <a:srgbClr val="000099"/>
                </a:solidFill>
                <a:latin typeface="Times New Roman" panose="02020603050405020304" pitchFamily="18" charset="0"/>
                <a:ea typeface="楷体_GB2312" pitchFamily="49" charset="-122"/>
              </a:rPr>
              <a:t>”。若 </a:t>
            </a:r>
            <a:r>
              <a:rPr lang="en-US" altLang="zh-CN" sz="3600" dirty="0">
                <a:solidFill>
                  <a:srgbClr val="000099"/>
                </a:solidFill>
                <a:latin typeface="Times New Roman" panose="02020603050405020304" pitchFamily="18" charset="0"/>
                <a:ea typeface="楷体_GB2312" pitchFamily="49" charset="-122"/>
              </a:rPr>
              <a:t>w </a:t>
            </a:r>
            <a:r>
              <a:rPr lang="zh-CN" altLang="en-US" sz="3600" dirty="0">
                <a:solidFill>
                  <a:srgbClr val="000099"/>
                </a:solidFill>
                <a:latin typeface="Times New Roman" panose="02020603050405020304" pitchFamily="18" charset="0"/>
                <a:ea typeface="楷体_GB2312" pitchFamily="49" charset="-122"/>
              </a:rPr>
              <a:t>是 </a:t>
            </a:r>
            <a:r>
              <a:rPr lang="en-US" altLang="zh-CN" sz="3600" dirty="0">
                <a:solidFill>
                  <a:srgbClr val="000099"/>
                </a:solidFill>
                <a:latin typeface="Times New Roman" panose="02020603050405020304" pitchFamily="18" charset="0"/>
                <a:ea typeface="楷体_GB2312" pitchFamily="49" charset="-122"/>
              </a:rPr>
              <a:t>v </a:t>
            </a:r>
            <a:r>
              <a:rPr lang="zh-CN" altLang="en-US" sz="3600" dirty="0">
                <a:solidFill>
                  <a:srgbClr val="000099"/>
                </a:solidFill>
                <a:latin typeface="Times New Roman" panose="02020603050405020304" pitchFamily="18" charset="0"/>
                <a:ea typeface="楷体_GB2312" pitchFamily="49" charset="-122"/>
              </a:rPr>
              <a:t>的最后一个邻接点，则</a:t>
            </a:r>
            <a:endParaRPr lang="zh-CN" altLang="en-US" sz="3600" dirty="0">
              <a:solidFill>
                <a:srgbClr val="000099"/>
              </a:solidFill>
              <a:latin typeface="Times New Roman" panose="02020603050405020304" pitchFamily="18" charset="0"/>
              <a:ea typeface="楷体_GB2312" pitchFamily="49" charset="-122"/>
            </a:endParaRPr>
          </a:p>
          <a:p>
            <a:pPr eaLnBrk="1" hangingPunct="1">
              <a:lnSpc>
                <a:spcPct val="120000"/>
              </a:lnSpc>
            </a:pPr>
            <a:r>
              <a:rPr lang="en-US" altLang="zh-CN" sz="3600" dirty="0">
                <a:solidFill>
                  <a:srgbClr val="000099"/>
                </a:solidFill>
                <a:latin typeface="Times New Roman" panose="02020603050405020304" pitchFamily="18" charset="0"/>
                <a:ea typeface="楷体_GB2312" pitchFamily="49" charset="-122"/>
              </a:rPr>
              <a:t>// </a:t>
            </a:r>
            <a:r>
              <a:rPr lang="zh-CN" altLang="en-US" sz="3600" dirty="0">
                <a:solidFill>
                  <a:srgbClr val="000099"/>
                </a:solidFill>
                <a:latin typeface="Times New Roman" panose="02020603050405020304" pitchFamily="18" charset="0"/>
                <a:ea typeface="楷体_GB2312" pitchFamily="49" charset="-122"/>
              </a:rPr>
              <a:t>返回“空”。</a:t>
            </a:r>
            <a:endParaRPr lang="zh-CN" altLang="en-US" sz="3600" dirty="0">
              <a:solidFill>
                <a:srgbClr val="000099"/>
              </a:solidFill>
              <a:latin typeface="Times New Roman" panose="02020603050405020304" pitchFamily="18" charset="0"/>
              <a:ea typeface="楷体_GB2312" pitchFamily="49" charset="-122"/>
            </a:endParaRPr>
          </a:p>
        </p:txBody>
      </p:sp>
    </p:spTree>
  </p:cSld>
  <p:clrMapOvr>
    <a:masterClrMapping/>
  </p:clrMapOvr>
  <p:transition>
    <p:cover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500" fill="hold"/>
                                        <p:tgtEl>
                                          <p:spTgt spid="12291"/>
                                        </p:tgtEl>
                                        <p:attrNameLst>
                                          <p:attrName>ppt_x</p:attrName>
                                        </p:attrNameLst>
                                      </p:cBhvr>
                                      <p:tavLst>
                                        <p:tav tm="0">
                                          <p:val>
                                            <p:strVal val="#ppt_x"/>
                                          </p:val>
                                        </p:tav>
                                        <p:tav tm="100000">
                                          <p:val>
                                            <p:strVal val="#ppt_x"/>
                                          </p:val>
                                        </p:tav>
                                      </p:tavLst>
                                    </p:anim>
                                    <p:anim calcmode="lin" valueType="num">
                                      <p:cBhvr>
                                        <p:cTn id="8" dur="500" fill="hold"/>
                                        <p:tgtEl>
                                          <p:spTgt spid="12291"/>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12292"/>
                                        </p:tgtEl>
                                        <p:attrNameLst>
                                          <p:attrName>style.visibility</p:attrName>
                                        </p:attrNameLst>
                                      </p:cBhvr>
                                      <p:to>
                                        <p:strVal val="visible"/>
                                      </p:to>
                                    </p:set>
                                    <p:animEffect transition="in" filter="strips(downRight)">
                                      <p:cBhvr>
                                        <p:cTn id="13" dur="500"/>
                                        <p:tgtEl>
                                          <p:spTgt spid="12292"/>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12294"/>
                                        </p:tgtEl>
                                        <p:attrNameLst>
                                          <p:attrName>style.visibility</p:attrName>
                                        </p:attrNameLst>
                                      </p:cBhvr>
                                      <p:to>
                                        <p:strVal val="visible"/>
                                      </p:to>
                                    </p:set>
                                    <p:animEffect transition="in" filter="strips(downRight)">
                                      <p:cBhvr>
                                        <p:cTn id="18" dur="500"/>
                                        <p:tgtEl>
                                          <p:spTgt spid="12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p:bldP spid="12292" grpId="0"/>
      <p:bldP spid="1229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ext Box 2"/>
          <p:cNvSpPr txBox="1"/>
          <p:nvPr/>
        </p:nvSpPr>
        <p:spPr>
          <a:xfrm>
            <a:off x="2500313" y="609600"/>
            <a:ext cx="4129087" cy="762000"/>
          </a:xfrm>
          <a:prstGeom prst="rect">
            <a:avLst/>
          </a:prstGeom>
          <a:noFill/>
          <a:ln w="12700">
            <a:noFill/>
          </a:ln>
        </p:spPr>
        <p:txBody>
          <a:bodyPr wrap="none">
            <a:spAutoFit/>
          </a:bodyPr>
          <a:p>
            <a:pPr eaLnBrk="1" hangingPunct="1"/>
            <a:r>
              <a:rPr lang="zh-CN" altLang="en-US" sz="4400" dirty="0">
                <a:solidFill>
                  <a:srgbClr val="0000FF"/>
                </a:solidFill>
                <a:latin typeface="Times New Roman" panose="02020603050405020304" pitchFamily="18" charset="0"/>
                <a:ea typeface="楷体_GB2312" pitchFamily="49" charset="-122"/>
              </a:rPr>
              <a:t>插入或删除顶点</a:t>
            </a:r>
            <a:endParaRPr lang="zh-CN" altLang="en-US" sz="5000" dirty="0">
              <a:solidFill>
                <a:srgbClr val="0000FF"/>
              </a:solidFill>
              <a:latin typeface="Times New Roman" panose="02020603050405020304" pitchFamily="18" charset="0"/>
              <a:ea typeface="楷体_GB2312" pitchFamily="49" charset="-122"/>
            </a:endParaRPr>
          </a:p>
        </p:txBody>
      </p:sp>
      <p:sp>
        <p:nvSpPr>
          <p:cNvPr id="13315" name="Text Box 3"/>
          <p:cNvSpPr txBox="1"/>
          <p:nvPr/>
        </p:nvSpPr>
        <p:spPr>
          <a:xfrm>
            <a:off x="893763" y="1693863"/>
            <a:ext cx="5659437" cy="1616075"/>
          </a:xfrm>
          <a:prstGeom prst="rect">
            <a:avLst/>
          </a:prstGeom>
          <a:noFill/>
          <a:ln w="12700">
            <a:noFill/>
          </a:ln>
        </p:spPr>
        <p:txBody>
          <a:bodyPr wrap="none">
            <a:spAutoFit/>
          </a:bodyPr>
          <a:p>
            <a:pPr eaLnBrk="1" hangingPunct="1">
              <a:lnSpc>
                <a:spcPct val="125000"/>
              </a:lnSpc>
            </a:pPr>
            <a:r>
              <a:rPr lang="en-US" altLang="zh-CN" sz="4000" dirty="0">
                <a:solidFill>
                  <a:srgbClr val="000099"/>
                </a:solidFill>
                <a:latin typeface="Times New Roman" panose="02020603050405020304" pitchFamily="18" charset="0"/>
                <a:ea typeface="楷体_GB2312" pitchFamily="49" charset="-122"/>
              </a:rPr>
              <a:t>InsertVex(&amp;G, v); </a:t>
            </a:r>
            <a:endParaRPr lang="en-US" altLang="zh-CN" sz="4000" dirty="0">
              <a:solidFill>
                <a:srgbClr val="000099"/>
              </a:solidFill>
              <a:latin typeface="Times New Roman" panose="02020603050405020304" pitchFamily="18" charset="0"/>
              <a:ea typeface="楷体_GB2312" pitchFamily="49" charset="-122"/>
            </a:endParaRPr>
          </a:p>
          <a:p>
            <a:pPr eaLnBrk="1" hangingPunct="1">
              <a:lnSpc>
                <a:spcPct val="125000"/>
              </a:lnSpc>
            </a:pPr>
            <a:r>
              <a:rPr lang="en-US" altLang="zh-CN" sz="4000" dirty="0">
                <a:solidFill>
                  <a:srgbClr val="000099"/>
                </a:solidFill>
                <a:latin typeface="Times New Roman" panose="02020603050405020304" pitchFamily="18" charset="0"/>
                <a:ea typeface="楷体_GB2312" pitchFamily="49" charset="-122"/>
              </a:rPr>
              <a:t>//</a:t>
            </a:r>
            <a:r>
              <a:rPr lang="zh-CN" altLang="en-US" sz="4000" dirty="0">
                <a:solidFill>
                  <a:srgbClr val="000099"/>
                </a:solidFill>
                <a:latin typeface="Times New Roman" panose="02020603050405020304" pitchFamily="18" charset="0"/>
                <a:ea typeface="楷体_GB2312" pitchFamily="49" charset="-122"/>
              </a:rPr>
              <a:t>在图</a:t>
            </a:r>
            <a:r>
              <a:rPr lang="en-US" altLang="zh-CN" sz="4000" dirty="0">
                <a:solidFill>
                  <a:srgbClr val="000099"/>
                </a:solidFill>
                <a:latin typeface="Times New Roman" panose="02020603050405020304" pitchFamily="18" charset="0"/>
                <a:ea typeface="楷体_GB2312" pitchFamily="49" charset="-122"/>
              </a:rPr>
              <a:t>G</a:t>
            </a:r>
            <a:r>
              <a:rPr lang="zh-CN" altLang="en-US" sz="4000" dirty="0">
                <a:solidFill>
                  <a:srgbClr val="000099"/>
                </a:solidFill>
                <a:latin typeface="Times New Roman" panose="02020603050405020304" pitchFamily="18" charset="0"/>
                <a:ea typeface="楷体_GB2312" pitchFamily="49" charset="-122"/>
              </a:rPr>
              <a:t>中增添新顶点</a:t>
            </a:r>
            <a:r>
              <a:rPr lang="en-US" altLang="zh-CN" sz="4000" dirty="0">
                <a:solidFill>
                  <a:srgbClr val="000099"/>
                </a:solidFill>
                <a:latin typeface="Times New Roman" panose="02020603050405020304" pitchFamily="18" charset="0"/>
                <a:ea typeface="楷体_GB2312" pitchFamily="49" charset="-122"/>
              </a:rPr>
              <a:t>v</a:t>
            </a:r>
            <a:r>
              <a:rPr lang="zh-CN" altLang="en-US" sz="4000" dirty="0">
                <a:solidFill>
                  <a:srgbClr val="000099"/>
                </a:solidFill>
                <a:latin typeface="Times New Roman" panose="02020603050405020304" pitchFamily="18" charset="0"/>
                <a:ea typeface="楷体_GB2312" pitchFamily="49" charset="-122"/>
              </a:rPr>
              <a:t>。</a:t>
            </a:r>
            <a:endParaRPr lang="zh-CN" altLang="en-US" sz="4000" dirty="0">
              <a:latin typeface="Times New Roman" panose="02020603050405020304" pitchFamily="18" charset="0"/>
              <a:ea typeface="楷体_GB2312" pitchFamily="49" charset="-122"/>
            </a:endParaRPr>
          </a:p>
        </p:txBody>
      </p:sp>
      <p:sp>
        <p:nvSpPr>
          <p:cNvPr id="13319" name="Rectangle 7"/>
          <p:cNvSpPr/>
          <p:nvPr/>
        </p:nvSpPr>
        <p:spPr>
          <a:xfrm>
            <a:off x="868363" y="3717925"/>
            <a:ext cx="7437437" cy="1616075"/>
          </a:xfrm>
          <a:prstGeom prst="rect">
            <a:avLst/>
          </a:prstGeom>
          <a:noFill/>
          <a:ln w="12700">
            <a:noFill/>
          </a:ln>
        </p:spPr>
        <p:txBody>
          <a:bodyPr wrap="none">
            <a:spAutoFit/>
          </a:bodyPr>
          <a:p>
            <a:pPr eaLnBrk="1" hangingPunct="1">
              <a:lnSpc>
                <a:spcPct val="125000"/>
              </a:lnSpc>
            </a:pPr>
            <a:r>
              <a:rPr lang="en-US" altLang="zh-CN" sz="4000" dirty="0">
                <a:solidFill>
                  <a:srgbClr val="000099"/>
                </a:solidFill>
                <a:latin typeface="Times New Roman" panose="02020603050405020304" pitchFamily="18" charset="0"/>
                <a:ea typeface="楷体_GB2312" pitchFamily="49" charset="-122"/>
              </a:rPr>
              <a:t>DeleteVex(&amp;G, v);</a:t>
            </a:r>
            <a:endParaRPr lang="en-US" altLang="zh-CN" sz="4000" dirty="0">
              <a:solidFill>
                <a:srgbClr val="000099"/>
              </a:solidFill>
              <a:latin typeface="Times New Roman" panose="02020603050405020304" pitchFamily="18" charset="0"/>
              <a:ea typeface="楷体_GB2312" pitchFamily="49" charset="-122"/>
            </a:endParaRPr>
          </a:p>
          <a:p>
            <a:pPr eaLnBrk="1" hangingPunct="1">
              <a:lnSpc>
                <a:spcPct val="125000"/>
              </a:lnSpc>
            </a:pPr>
            <a:r>
              <a:rPr lang="en-US" altLang="zh-CN" sz="4000" dirty="0">
                <a:solidFill>
                  <a:srgbClr val="000099"/>
                </a:solidFill>
                <a:latin typeface="Times New Roman" panose="02020603050405020304" pitchFamily="18" charset="0"/>
                <a:ea typeface="楷体_GB2312" pitchFamily="49" charset="-122"/>
              </a:rPr>
              <a:t> // </a:t>
            </a:r>
            <a:r>
              <a:rPr lang="zh-CN" altLang="en-US" sz="4000" dirty="0">
                <a:solidFill>
                  <a:srgbClr val="000099"/>
                </a:solidFill>
                <a:latin typeface="Times New Roman" panose="02020603050405020304" pitchFamily="18" charset="0"/>
                <a:ea typeface="楷体_GB2312" pitchFamily="49" charset="-122"/>
              </a:rPr>
              <a:t>删除</a:t>
            </a:r>
            <a:r>
              <a:rPr lang="en-US" altLang="zh-CN" sz="4000" dirty="0">
                <a:solidFill>
                  <a:srgbClr val="000099"/>
                </a:solidFill>
                <a:latin typeface="Times New Roman" panose="02020603050405020304" pitchFamily="18" charset="0"/>
                <a:ea typeface="楷体_GB2312" pitchFamily="49" charset="-122"/>
              </a:rPr>
              <a:t>G</a:t>
            </a:r>
            <a:r>
              <a:rPr lang="zh-CN" altLang="en-US" sz="4000" dirty="0">
                <a:solidFill>
                  <a:srgbClr val="000099"/>
                </a:solidFill>
                <a:latin typeface="Times New Roman" panose="02020603050405020304" pitchFamily="18" charset="0"/>
                <a:ea typeface="楷体_GB2312" pitchFamily="49" charset="-122"/>
              </a:rPr>
              <a:t>中顶点</a:t>
            </a:r>
            <a:r>
              <a:rPr lang="en-US" altLang="zh-CN" sz="4000" dirty="0">
                <a:solidFill>
                  <a:srgbClr val="000099"/>
                </a:solidFill>
                <a:latin typeface="Times New Roman" panose="02020603050405020304" pitchFamily="18" charset="0"/>
                <a:ea typeface="楷体_GB2312" pitchFamily="49" charset="-122"/>
              </a:rPr>
              <a:t>v</a:t>
            </a:r>
            <a:r>
              <a:rPr lang="zh-CN" altLang="en-US" sz="4000" dirty="0">
                <a:solidFill>
                  <a:srgbClr val="000099"/>
                </a:solidFill>
                <a:latin typeface="Times New Roman" panose="02020603050405020304" pitchFamily="18" charset="0"/>
                <a:ea typeface="楷体_GB2312" pitchFamily="49" charset="-122"/>
              </a:rPr>
              <a:t>及其相关的弧。</a:t>
            </a:r>
            <a:endParaRPr lang="zh-CN" altLang="en-US" sz="4000" dirty="0">
              <a:latin typeface="Times New Roman" panose="02020603050405020304" pitchFamily="18" charset="0"/>
              <a:ea typeface="楷体_GB2312" pitchFamily="49" charset="-122"/>
            </a:endParaRPr>
          </a:p>
        </p:txBody>
      </p:sp>
    </p:spTree>
  </p:cSld>
  <p:clrMapOvr>
    <a:masterClrMapping/>
  </p:clrMapOvr>
  <p:transition>
    <p:cover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3314"/>
                                        </p:tgtEl>
                                        <p:attrNameLst>
                                          <p:attrName>style.visibility</p:attrName>
                                        </p:attrNameLst>
                                      </p:cBhvr>
                                      <p:to>
                                        <p:strVal val="visible"/>
                                      </p:to>
                                    </p:set>
                                    <p:anim calcmode="lin" valueType="num">
                                      <p:cBhvr>
                                        <p:cTn id="7" dur="500" fill="hold"/>
                                        <p:tgtEl>
                                          <p:spTgt spid="13314"/>
                                        </p:tgtEl>
                                        <p:attrNameLst>
                                          <p:attrName>ppt_x</p:attrName>
                                        </p:attrNameLst>
                                      </p:cBhvr>
                                      <p:tavLst>
                                        <p:tav tm="0">
                                          <p:val>
                                            <p:strVal val="#ppt_x"/>
                                          </p:val>
                                        </p:tav>
                                        <p:tav tm="100000">
                                          <p:val>
                                            <p:strVal val="#ppt_x"/>
                                          </p:val>
                                        </p:tav>
                                      </p:tavLst>
                                    </p:anim>
                                    <p:anim calcmode="lin" valueType="num">
                                      <p:cBhvr>
                                        <p:cTn id="8" dur="500" fill="hold"/>
                                        <p:tgtEl>
                                          <p:spTgt spid="1331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13315"/>
                                        </p:tgtEl>
                                        <p:attrNameLst>
                                          <p:attrName>style.visibility</p:attrName>
                                        </p:attrNameLst>
                                      </p:cBhvr>
                                      <p:to>
                                        <p:strVal val="visible"/>
                                      </p:to>
                                    </p:set>
                                    <p:animEffect transition="in" filter="strips(downRight)">
                                      <p:cBhvr>
                                        <p:cTn id="13" dur="500"/>
                                        <p:tgtEl>
                                          <p:spTgt spid="13315"/>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13319"/>
                                        </p:tgtEl>
                                        <p:attrNameLst>
                                          <p:attrName>style.visibility</p:attrName>
                                        </p:attrNameLst>
                                      </p:cBhvr>
                                      <p:to>
                                        <p:strVal val="visible"/>
                                      </p:to>
                                    </p:set>
                                    <p:animEffect transition="in" filter="strips(downRight)">
                                      <p:cBhvr>
                                        <p:cTn id="18" dur="500"/>
                                        <p:tgtEl>
                                          <p:spTgt spid="13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5" grpId="0"/>
      <p:bldP spid="1331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Text Box 2"/>
          <p:cNvSpPr txBox="1"/>
          <p:nvPr/>
        </p:nvSpPr>
        <p:spPr>
          <a:xfrm>
            <a:off x="2819400" y="461963"/>
            <a:ext cx="3565525" cy="762000"/>
          </a:xfrm>
          <a:prstGeom prst="rect">
            <a:avLst/>
          </a:prstGeom>
          <a:noFill/>
          <a:ln w="12700">
            <a:noFill/>
          </a:ln>
        </p:spPr>
        <p:txBody>
          <a:bodyPr wrap="none">
            <a:spAutoFit/>
          </a:bodyPr>
          <a:p>
            <a:pPr eaLnBrk="1" hangingPunct="1"/>
            <a:r>
              <a:rPr lang="zh-CN" altLang="en-US" sz="4400" dirty="0">
                <a:solidFill>
                  <a:srgbClr val="0000FF"/>
                </a:solidFill>
                <a:latin typeface="Times New Roman" panose="02020603050405020304" pitchFamily="18" charset="0"/>
                <a:ea typeface="楷体_GB2312" pitchFamily="49" charset="-122"/>
              </a:rPr>
              <a:t>插入和删除弧</a:t>
            </a:r>
            <a:endParaRPr lang="zh-CN" altLang="en-US" sz="5000" dirty="0">
              <a:solidFill>
                <a:srgbClr val="0000FF"/>
              </a:solidFill>
              <a:latin typeface="Times New Roman" panose="02020603050405020304" pitchFamily="18" charset="0"/>
              <a:ea typeface="楷体_GB2312" pitchFamily="49" charset="-122"/>
            </a:endParaRPr>
          </a:p>
        </p:txBody>
      </p:sp>
      <p:sp>
        <p:nvSpPr>
          <p:cNvPr id="88067" name="Text Box 3"/>
          <p:cNvSpPr txBox="1"/>
          <p:nvPr/>
        </p:nvSpPr>
        <p:spPr>
          <a:xfrm>
            <a:off x="457200" y="1589088"/>
            <a:ext cx="8377238" cy="2068512"/>
          </a:xfrm>
          <a:prstGeom prst="rect">
            <a:avLst/>
          </a:prstGeom>
          <a:noFill/>
          <a:ln w="12700">
            <a:noFill/>
          </a:ln>
        </p:spPr>
        <p:txBody>
          <a:bodyPr>
            <a:spAutoFit/>
          </a:bodyPr>
          <a:p>
            <a:pPr eaLnBrk="1" hangingPunct="1">
              <a:lnSpc>
                <a:spcPct val="120000"/>
              </a:lnSpc>
            </a:pPr>
            <a:r>
              <a:rPr lang="en-US" altLang="zh-CN" sz="3600" dirty="0">
                <a:solidFill>
                  <a:srgbClr val="000099"/>
                </a:solidFill>
                <a:latin typeface="Times New Roman" panose="02020603050405020304" pitchFamily="18" charset="0"/>
                <a:ea typeface="楷体_GB2312" pitchFamily="49" charset="-122"/>
              </a:rPr>
              <a:t>InsertArc(&amp;G, v, w); </a:t>
            </a:r>
            <a:endParaRPr lang="en-US" altLang="zh-CN" sz="3600" dirty="0">
              <a:solidFill>
                <a:srgbClr val="000099"/>
              </a:solidFill>
              <a:latin typeface="Times New Roman" panose="02020603050405020304" pitchFamily="18" charset="0"/>
              <a:ea typeface="楷体_GB2312" pitchFamily="49" charset="-122"/>
            </a:endParaRPr>
          </a:p>
          <a:p>
            <a:pPr eaLnBrk="1" hangingPunct="1">
              <a:lnSpc>
                <a:spcPct val="120000"/>
              </a:lnSpc>
            </a:pPr>
            <a:r>
              <a:rPr lang="en-US" altLang="zh-CN" sz="3600" dirty="0">
                <a:solidFill>
                  <a:srgbClr val="000099"/>
                </a:solidFill>
                <a:latin typeface="Times New Roman" panose="02020603050405020304" pitchFamily="18" charset="0"/>
                <a:ea typeface="楷体_GB2312" pitchFamily="49" charset="-122"/>
              </a:rPr>
              <a:t> // </a:t>
            </a:r>
            <a:r>
              <a:rPr lang="zh-CN" altLang="en-US" sz="3600" dirty="0">
                <a:solidFill>
                  <a:srgbClr val="000099"/>
                </a:solidFill>
                <a:latin typeface="Times New Roman" panose="02020603050405020304" pitchFamily="18" charset="0"/>
                <a:ea typeface="楷体_GB2312" pitchFamily="49" charset="-122"/>
              </a:rPr>
              <a:t>在</a:t>
            </a:r>
            <a:r>
              <a:rPr lang="en-US" altLang="zh-CN" sz="3600" dirty="0">
                <a:solidFill>
                  <a:srgbClr val="000099"/>
                </a:solidFill>
                <a:latin typeface="Times New Roman" panose="02020603050405020304" pitchFamily="18" charset="0"/>
                <a:ea typeface="楷体_GB2312" pitchFamily="49" charset="-122"/>
              </a:rPr>
              <a:t>G</a:t>
            </a:r>
            <a:r>
              <a:rPr lang="zh-CN" altLang="en-US" sz="3600" dirty="0">
                <a:solidFill>
                  <a:srgbClr val="000099"/>
                </a:solidFill>
                <a:latin typeface="Times New Roman" panose="02020603050405020304" pitchFamily="18" charset="0"/>
                <a:ea typeface="楷体_GB2312" pitchFamily="49" charset="-122"/>
              </a:rPr>
              <a:t>中增添弧</a:t>
            </a:r>
            <a:r>
              <a:rPr lang="en-US" altLang="zh-CN" sz="3600" dirty="0">
                <a:solidFill>
                  <a:srgbClr val="000099"/>
                </a:solidFill>
                <a:latin typeface="Times New Roman" panose="02020603050405020304" pitchFamily="18" charset="0"/>
                <a:ea typeface="楷体_GB2312" pitchFamily="49" charset="-122"/>
              </a:rPr>
              <a:t>&lt;v,w&gt;</a:t>
            </a:r>
            <a:r>
              <a:rPr lang="zh-CN" altLang="en-US" sz="3600" dirty="0">
                <a:solidFill>
                  <a:srgbClr val="000099"/>
                </a:solidFill>
                <a:latin typeface="Times New Roman" panose="02020603050405020304" pitchFamily="18" charset="0"/>
                <a:ea typeface="楷体_GB2312" pitchFamily="49" charset="-122"/>
              </a:rPr>
              <a:t>，若</a:t>
            </a:r>
            <a:r>
              <a:rPr lang="en-US" altLang="zh-CN" sz="3600" dirty="0">
                <a:solidFill>
                  <a:srgbClr val="000099"/>
                </a:solidFill>
                <a:latin typeface="Times New Roman" panose="02020603050405020304" pitchFamily="18" charset="0"/>
                <a:ea typeface="楷体_GB2312" pitchFamily="49" charset="-122"/>
              </a:rPr>
              <a:t>G</a:t>
            </a:r>
            <a:r>
              <a:rPr lang="zh-CN" altLang="en-US" sz="3600" dirty="0">
                <a:solidFill>
                  <a:srgbClr val="000099"/>
                </a:solidFill>
                <a:latin typeface="Times New Roman" panose="02020603050405020304" pitchFamily="18" charset="0"/>
                <a:ea typeface="楷体_GB2312" pitchFamily="49" charset="-122"/>
              </a:rPr>
              <a:t>是无向的，</a:t>
            </a:r>
            <a:endParaRPr lang="zh-CN" altLang="en-US" sz="3600" dirty="0">
              <a:solidFill>
                <a:srgbClr val="000099"/>
              </a:solidFill>
              <a:latin typeface="Times New Roman" panose="02020603050405020304" pitchFamily="18" charset="0"/>
              <a:ea typeface="楷体_GB2312" pitchFamily="49" charset="-122"/>
            </a:endParaRPr>
          </a:p>
          <a:p>
            <a:pPr eaLnBrk="1" hangingPunct="1">
              <a:lnSpc>
                <a:spcPct val="120000"/>
              </a:lnSpc>
            </a:pPr>
            <a:r>
              <a:rPr lang="zh-CN" altLang="en-US" sz="3600" dirty="0">
                <a:solidFill>
                  <a:srgbClr val="000099"/>
                </a:solidFill>
                <a:latin typeface="Times New Roman" panose="02020603050405020304" pitchFamily="18" charset="0"/>
                <a:ea typeface="楷体_GB2312" pitchFamily="49" charset="-122"/>
              </a:rPr>
              <a:t> </a:t>
            </a:r>
            <a:r>
              <a:rPr lang="en-US" altLang="zh-CN" sz="3600" dirty="0">
                <a:solidFill>
                  <a:srgbClr val="000099"/>
                </a:solidFill>
                <a:latin typeface="Times New Roman" panose="02020603050405020304" pitchFamily="18" charset="0"/>
                <a:ea typeface="楷体_GB2312" pitchFamily="49" charset="-122"/>
              </a:rPr>
              <a:t>//</a:t>
            </a:r>
            <a:r>
              <a:rPr lang="zh-CN" altLang="en-US" sz="3600" dirty="0">
                <a:solidFill>
                  <a:srgbClr val="000099"/>
                </a:solidFill>
                <a:latin typeface="Times New Roman" panose="02020603050405020304" pitchFamily="18" charset="0"/>
                <a:ea typeface="楷体_GB2312" pitchFamily="49" charset="-122"/>
              </a:rPr>
              <a:t>则还增添对称弧</a:t>
            </a:r>
            <a:r>
              <a:rPr lang="en-US" altLang="zh-CN" sz="3600" dirty="0">
                <a:solidFill>
                  <a:srgbClr val="000099"/>
                </a:solidFill>
                <a:latin typeface="Times New Roman" panose="02020603050405020304" pitchFamily="18" charset="0"/>
                <a:ea typeface="楷体_GB2312" pitchFamily="49" charset="-122"/>
              </a:rPr>
              <a:t>&lt;w,v&gt;</a:t>
            </a:r>
            <a:r>
              <a:rPr lang="zh-CN" altLang="en-US" sz="3600" dirty="0">
                <a:solidFill>
                  <a:srgbClr val="000099"/>
                </a:solidFill>
                <a:latin typeface="Times New Roman" panose="02020603050405020304" pitchFamily="18" charset="0"/>
                <a:ea typeface="楷体_GB2312" pitchFamily="49" charset="-122"/>
              </a:rPr>
              <a:t>。</a:t>
            </a:r>
            <a:endParaRPr lang="zh-CN" altLang="en-US" sz="3600" dirty="0">
              <a:solidFill>
                <a:srgbClr val="000099"/>
              </a:solidFill>
              <a:latin typeface="Times New Roman" panose="02020603050405020304" pitchFamily="18" charset="0"/>
              <a:ea typeface="楷体_GB2312" pitchFamily="49" charset="-122"/>
            </a:endParaRPr>
          </a:p>
        </p:txBody>
      </p:sp>
      <p:sp>
        <p:nvSpPr>
          <p:cNvPr id="88068" name="Rectangle 4"/>
          <p:cNvSpPr/>
          <p:nvPr/>
        </p:nvSpPr>
        <p:spPr>
          <a:xfrm>
            <a:off x="381000" y="3962400"/>
            <a:ext cx="8402638" cy="2068513"/>
          </a:xfrm>
          <a:prstGeom prst="rect">
            <a:avLst/>
          </a:prstGeom>
          <a:noFill/>
          <a:ln w="12700">
            <a:noFill/>
          </a:ln>
        </p:spPr>
        <p:txBody>
          <a:bodyPr>
            <a:spAutoFit/>
          </a:bodyPr>
          <a:p>
            <a:pPr eaLnBrk="1" hangingPunct="1">
              <a:lnSpc>
                <a:spcPct val="120000"/>
              </a:lnSpc>
            </a:pPr>
            <a:r>
              <a:rPr lang="en-US" altLang="zh-CN" sz="3600" dirty="0">
                <a:solidFill>
                  <a:srgbClr val="000099"/>
                </a:solidFill>
                <a:latin typeface="Times New Roman" panose="02020603050405020304" pitchFamily="18" charset="0"/>
                <a:ea typeface="楷体_GB2312" pitchFamily="49" charset="-122"/>
              </a:rPr>
              <a:t>DeleteArc(&amp;G, v, w);  </a:t>
            </a:r>
            <a:endParaRPr lang="en-US" altLang="zh-CN" sz="3600" dirty="0">
              <a:solidFill>
                <a:srgbClr val="000099"/>
              </a:solidFill>
              <a:latin typeface="Times New Roman" panose="02020603050405020304" pitchFamily="18" charset="0"/>
              <a:ea typeface="楷体_GB2312" pitchFamily="49" charset="-122"/>
            </a:endParaRPr>
          </a:p>
          <a:p>
            <a:pPr eaLnBrk="1" hangingPunct="1">
              <a:lnSpc>
                <a:spcPct val="120000"/>
              </a:lnSpc>
            </a:pPr>
            <a:r>
              <a:rPr lang="en-US" altLang="zh-CN" sz="3600" dirty="0">
                <a:solidFill>
                  <a:srgbClr val="000099"/>
                </a:solidFill>
                <a:latin typeface="Times New Roman" panose="02020603050405020304" pitchFamily="18" charset="0"/>
                <a:ea typeface="楷体_GB2312" pitchFamily="49" charset="-122"/>
              </a:rPr>
              <a:t> //</a:t>
            </a:r>
            <a:r>
              <a:rPr lang="zh-CN" altLang="en-US" sz="3600" dirty="0">
                <a:solidFill>
                  <a:srgbClr val="000099"/>
                </a:solidFill>
                <a:latin typeface="Times New Roman" panose="02020603050405020304" pitchFamily="18" charset="0"/>
                <a:ea typeface="楷体_GB2312" pitchFamily="49" charset="-122"/>
              </a:rPr>
              <a:t>在</a:t>
            </a:r>
            <a:r>
              <a:rPr lang="en-US" altLang="zh-CN" sz="3600" dirty="0">
                <a:solidFill>
                  <a:srgbClr val="000099"/>
                </a:solidFill>
                <a:latin typeface="Times New Roman" panose="02020603050405020304" pitchFamily="18" charset="0"/>
                <a:ea typeface="楷体_GB2312" pitchFamily="49" charset="-122"/>
              </a:rPr>
              <a:t>G</a:t>
            </a:r>
            <a:r>
              <a:rPr lang="zh-CN" altLang="en-US" sz="3600" dirty="0">
                <a:solidFill>
                  <a:srgbClr val="000099"/>
                </a:solidFill>
                <a:latin typeface="Times New Roman" panose="02020603050405020304" pitchFamily="18" charset="0"/>
                <a:ea typeface="楷体_GB2312" pitchFamily="49" charset="-122"/>
              </a:rPr>
              <a:t>中删除弧</a:t>
            </a:r>
            <a:r>
              <a:rPr lang="en-US" altLang="zh-CN" sz="3600" dirty="0">
                <a:solidFill>
                  <a:srgbClr val="000099"/>
                </a:solidFill>
                <a:latin typeface="Times New Roman" panose="02020603050405020304" pitchFamily="18" charset="0"/>
                <a:ea typeface="楷体_GB2312" pitchFamily="49" charset="-122"/>
              </a:rPr>
              <a:t>&lt;v,w&gt;</a:t>
            </a:r>
            <a:r>
              <a:rPr lang="zh-CN" altLang="en-US" sz="3600" dirty="0">
                <a:solidFill>
                  <a:srgbClr val="000099"/>
                </a:solidFill>
                <a:latin typeface="Times New Roman" panose="02020603050405020304" pitchFamily="18" charset="0"/>
                <a:ea typeface="楷体_GB2312" pitchFamily="49" charset="-122"/>
              </a:rPr>
              <a:t>，若</a:t>
            </a:r>
            <a:r>
              <a:rPr lang="en-US" altLang="zh-CN" sz="3600" dirty="0">
                <a:solidFill>
                  <a:srgbClr val="000099"/>
                </a:solidFill>
                <a:latin typeface="Times New Roman" panose="02020603050405020304" pitchFamily="18" charset="0"/>
                <a:ea typeface="楷体_GB2312" pitchFamily="49" charset="-122"/>
              </a:rPr>
              <a:t>G</a:t>
            </a:r>
            <a:r>
              <a:rPr lang="zh-CN" altLang="en-US" sz="3600" dirty="0">
                <a:solidFill>
                  <a:srgbClr val="000099"/>
                </a:solidFill>
                <a:latin typeface="Times New Roman" panose="02020603050405020304" pitchFamily="18" charset="0"/>
                <a:ea typeface="楷体_GB2312" pitchFamily="49" charset="-122"/>
              </a:rPr>
              <a:t>是无向的，</a:t>
            </a:r>
            <a:endParaRPr lang="zh-CN" altLang="en-US" sz="3600" dirty="0">
              <a:solidFill>
                <a:srgbClr val="000099"/>
              </a:solidFill>
              <a:latin typeface="Times New Roman" panose="02020603050405020304" pitchFamily="18" charset="0"/>
              <a:ea typeface="楷体_GB2312" pitchFamily="49" charset="-122"/>
            </a:endParaRPr>
          </a:p>
          <a:p>
            <a:pPr eaLnBrk="1" hangingPunct="1">
              <a:lnSpc>
                <a:spcPct val="120000"/>
              </a:lnSpc>
            </a:pPr>
            <a:r>
              <a:rPr lang="zh-CN" altLang="en-US" sz="3600" dirty="0">
                <a:solidFill>
                  <a:srgbClr val="000099"/>
                </a:solidFill>
                <a:latin typeface="Times New Roman" panose="02020603050405020304" pitchFamily="18" charset="0"/>
                <a:ea typeface="楷体_GB2312" pitchFamily="49" charset="-122"/>
              </a:rPr>
              <a:t> </a:t>
            </a:r>
            <a:r>
              <a:rPr lang="en-US" altLang="zh-CN" sz="3600" dirty="0">
                <a:solidFill>
                  <a:srgbClr val="000099"/>
                </a:solidFill>
                <a:latin typeface="Times New Roman" panose="02020603050405020304" pitchFamily="18" charset="0"/>
                <a:ea typeface="楷体_GB2312" pitchFamily="49" charset="-122"/>
              </a:rPr>
              <a:t>//</a:t>
            </a:r>
            <a:r>
              <a:rPr lang="zh-CN" altLang="en-US" sz="3600" dirty="0">
                <a:solidFill>
                  <a:srgbClr val="000099"/>
                </a:solidFill>
                <a:latin typeface="Times New Roman" panose="02020603050405020304" pitchFamily="18" charset="0"/>
                <a:ea typeface="楷体_GB2312" pitchFamily="49" charset="-122"/>
              </a:rPr>
              <a:t>则还删除对称弧</a:t>
            </a:r>
            <a:r>
              <a:rPr lang="en-US" altLang="zh-CN" sz="3600" dirty="0">
                <a:solidFill>
                  <a:srgbClr val="000099"/>
                </a:solidFill>
                <a:latin typeface="Times New Roman" panose="02020603050405020304" pitchFamily="18" charset="0"/>
                <a:ea typeface="楷体_GB2312" pitchFamily="49" charset="-122"/>
              </a:rPr>
              <a:t>&lt;w,v&gt;</a:t>
            </a:r>
            <a:r>
              <a:rPr lang="zh-CN" altLang="en-US" sz="3600" dirty="0">
                <a:solidFill>
                  <a:srgbClr val="000099"/>
                </a:solidFill>
                <a:latin typeface="Times New Roman" panose="02020603050405020304" pitchFamily="18" charset="0"/>
                <a:ea typeface="楷体_GB2312" pitchFamily="49" charset="-122"/>
              </a:rPr>
              <a:t>。</a:t>
            </a:r>
            <a:endParaRPr lang="zh-CN" altLang="en-US" sz="3600" dirty="0">
              <a:solidFill>
                <a:srgbClr val="000099"/>
              </a:solidFill>
              <a:latin typeface="Times New Roman" panose="02020603050405020304" pitchFamily="18" charset="0"/>
              <a:ea typeface="楷体_GB2312" pitchFamily="49" charset="-122"/>
            </a:endParaRPr>
          </a:p>
        </p:txBody>
      </p:sp>
    </p:spTree>
  </p:cSld>
  <p:clrMapOvr>
    <a:masterClrMapping/>
  </p:clrMapOvr>
  <p:transition>
    <p:cover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8066"/>
                                        </p:tgtEl>
                                        <p:attrNameLst>
                                          <p:attrName>style.visibility</p:attrName>
                                        </p:attrNameLst>
                                      </p:cBhvr>
                                      <p:to>
                                        <p:strVal val="visible"/>
                                      </p:to>
                                    </p:set>
                                    <p:animEffect transition="in" filter="slide(fromTop)">
                                      <p:cBhvr>
                                        <p:cTn id="7" dur="500"/>
                                        <p:tgtEl>
                                          <p:spTgt spid="8806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88067"/>
                                        </p:tgtEl>
                                        <p:attrNameLst>
                                          <p:attrName>style.visibility</p:attrName>
                                        </p:attrNameLst>
                                      </p:cBhvr>
                                      <p:to>
                                        <p:strVal val="visible"/>
                                      </p:to>
                                    </p:set>
                                    <p:animEffect transition="in" filter="strips(downRight)">
                                      <p:cBhvr>
                                        <p:cTn id="12" dur="500"/>
                                        <p:tgtEl>
                                          <p:spTgt spid="8806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88068"/>
                                        </p:tgtEl>
                                        <p:attrNameLst>
                                          <p:attrName>style.visibility</p:attrName>
                                        </p:attrNameLst>
                                      </p:cBhvr>
                                      <p:to>
                                        <p:strVal val="visible"/>
                                      </p:to>
                                    </p:set>
                                    <p:animEffect transition="in" filter="strips(downRight)">
                                      <p:cBhvr>
                                        <p:cTn id="17" dur="500"/>
                                        <p:tgtEl>
                                          <p:spTgt spid="88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p:bldP spid="88067" grpId="0"/>
      <p:bldP spid="8806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ext Box 2"/>
          <p:cNvSpPr txBox="1"/>
          <p:nvPr/>
        </p:nvSpPr>
        <p:spPr>
          <a:xfrm>
            <a:off x="3679825" y="423863"/>
            <a:ext cx="1730375" cy="762000"/>
          </a:xfrm>
          <a:prstGeom prst="rect">
            <a:avLst/>
          </a:prstGeom>
          <a:noFill/>
          <a:ln w="12700">
            <a:noFill/>
          </a:ln>
        </p:spPr>
        <p:txBody>
          <a:bodyPr wrap="none">
            <a:spAutoFit/>
          </a:bodyPr>
          <a:p>
            <a:pPr eaLnBrk="1" hangingPunct="1"/>
            <a:r>
              <a:rPr lang="zh-CN" altLang="en-US" sz="4400" dirty="0">
                <a:solidFill>
                  <a:srgbClr val="0000FF"/>
                </a:solidFill>
                <a:latin typeface="Times New Roman" panose="02020603050405020304" pitchFamily="18" charset="0"/>
                <a:ea typeface="楷体_GB2312" pitchFamily="49" charset="-122"/>
              </a:rPr>
              <a:t>遍   历</a:t>
            </a:r>
            <a:endParaRPr lang="zh-CN" altLang="en-US" sz="6000" dirty="0">
              <a:solidFill>
                <a:srgbClr val="0000FF"/>
              </a:solidFill>
              <a:latin typeface="Times New Roman" panose="02020603050405020304" pitchFamily="18" charset="0"/>
              <a:ea typeface="楷体_GB2312" pitchFamily="49" charset="-122"/>
            </a:endParaRPr>
          </a:p>
        </p:txBody>
      </p:sp>
      <p:sp>
        <p:nvSpPr>
          <p:cNvPr id="14339" name="Text Box 3"/>
          <p:cNvSpPr txBox="1"/>
          <p:nvPr/>
        </p:nvSpPr>
        <p:spPr>
          <a:xfrm>
            <a:off x="638175" y="1655763"/>
            <a:ext cx="7867650" cy="2154237"/>
          </a:xfrm>
          <a:prstGeom prst="rect">
            <a:avLst/>
          </a:prstGeom>
          <a:noFill/>
          <a:ln w="12700">
            <a:noFill/>
          </a:ln>
        </p:spPr>
        <p:txBody>
          <a:bodyPr wrap="none">
            <a:spAutoFit/>
          </a:bodyPr>
          <a:p>
            <a:pPr eaLnBrk="1" hangingPunct="1">
              <a:lnSpc>
                <a:spcPct val="125000"/>
              </a:lnSpc>
            </a:pPr>
            <a:r>
              <a:rPr lang="en-US" altLang="zh-CN" sz="3600" dirty="0">
                <a:solidFill>
                  <a:srgbClr val="000099"/>
                </a:solidFill>
                <a:latin typeface="Times New Roman" panose="02020603050405020304" pitchFamily="18" charset="0"/>
                <a:ea typeface="楷体_GB2312" pitchFamily="49" charset="-122"/>
              </a:rPr>
              <a:t>DFSTraverse(G, v, Visit()); </a:t>
            </a:r>
            <a:endParaRPr lang="en-US" altLang="zh-CN" sz="3600" dirty="0">
              <a:solidFill>
                <a:srgbClr val="000099"/>
              </a:solidFill>
              <a:latin typeface="Times New Roman" panose="02020603050405020304" pitchFamily="18" charset="0"/>
              <a:ea typeface="楷体_GB2312" pitchFamily="49" charset="-122"/>
            </a:endParaRPr>
          </a:p>
          <a:p>
            <a:pPr eaLnBrk="1" hangingPunct="1">
              <a:lnSpc>
                <a:spcPct val="125000"/>
              </a:lnSpc>
            </a:pPr>
            <a:r>
              <a:rPr lang="en-US" altLang="zh-CN" sz="3600" dirty="0">
                <a:solidFill>
                  <a:srgbClr val="000099"/>
                </a:solidFill>
                <a:latin typeface="Times New Roman" panose="02020603050405020304" pitchFamily="18" charset="0"/>
                <a:ea typeface="楷体_GB2312" pitchFamily="49" charset="-122"/>
              </a:rPr>
              <a:t>//</a:t>
            </a:r>
            <a:r>
              <a:rPr lang="zh-CN" altLang="en-US" sz="3600" dirty="0">
                <a:solidFill>
                  <a:srgbClr val="000099"/>
                </a:solidFill>
                <a:latin typeface="Times New Roman" panose="02020603050405020304" pitchFamily="18" charset="0"/>
                <a:ea typeface="楷体_GB2312" pitchFamily="49" charset="-122"/>
              </a:rPr>
              <a:t>从顶点</a:t>
            </a:r>
            <a:r>
              <a:rPr lang="en-US" altLang="zh-CN" sz="3600" dirty="0">
                <a:solidFill>
                  <a:srgbClr val="000099"/>
                </a:solidFill>
                <a:latin typeface="Times New Roman" panose="02020603050405020304" pitchFamily="18" charset="0"/>
                <a:ea typeface="楷体_GB2312" pitchFamily="49" charset="-122"/>
              </a:rPr>
              <a:t>v</a:t>
            </a:r>
            <a:r>
              <a:rPr lang="zh-CN" altLang="en-US" sz="3600" dirty="0">
                <a:solidFill>
                  <a:srgbClr val="000099"/>
                </a:solidFill>
                <a:latin typeface="Times New Roman" panose="02020603050405020304" pitchFamily="18" charset="0"/>
                <a:ea typeface="楷体_GB2312" pitchFamily="49" charset="-122"/>
              </a:rPr>
              <a:t>起</a:t>
            </a:r>
            <a:r>
              <a:rPr lang="zh-CN" altLang="en-US" sz="3600" dirty="0">
                <a:solidFill>
                  <a:srgbClr val="800000"/>
                </a:solidFill>
                <a:latin typeface="Times New Roman" panose="02020603050405020304" pitchFamily="18" charset="0"/>
                <a:ea typeface="楷体_GB2312" pitchFamily="49" charset="-122"/>
              </a:rPr>
              <a:t>深度优先</a:t>
            </a:r>
            <a:r>
              <a:rPr lang="zh-CN" altLang="en-US" sz="3600" dirty="0">
                <a:solidFill>
                  <a:srgbClr val="000099"/>
                </a:solidFill>
                <a:latin typeface="Times New Roman" panose="02020603050405020304" pitchFamily="18" charset="0"/>
                <a:ea typeface="楷体_GB2312" pitchFamily="49" charset="-122"/>
              </a:rPr>
              <a:t>遍历图</a:t>
            </a:r>
            <a:r>
              <a:rPr lang="en-US" altLang="zh-CN" sz="3600" dirty="0">
                <a:solidFill>
                  <a:srgbClr val="000099"/>
                </a:solidFill>
                <a:latin typeface="Times New Roman" panose="02020603050405020304" pitchFamily="18" charset="0"/>
                <a:ea typeface="楷体_GB2312" pitchFamily="49" charset="-122"/>
              </a:rPr>
              <a:t>G</a:t>
            </a:r>
            <a:r>
              <a:rPr lang="zh-CN" altLang="en-US" sz="3600" dirty="0">
                <a:solidFill>
                  <a:srgbClr val="000099"/>
                </a:solidFill>
                <a:latin typeface="Times New Roman" panose="02020603050405020304" pitchFamily="18" charset="0"/>
                <a:ea typeface="楷体_GB2312" pitchFamily="49" charset="-122"/>
              </a:rPr>
              <a:t>，并对每</a:t>
            </a:r>
            <a:endParaRPr lang="zh-CN" altLang="en-US" sz="3600" dirty="0">
              <a:solidFill>
                <a:srgbClr val="000099"/>
              </a:solidFill>
              <a:latin typeface="Times New Roman" panose="02020603050405020304" pitchFamily="18" charset="0"/>
              <a:ea typeface="楷体_GB2312" pitchFamily="49" charset="-122"/>
            </a:endParaRPr>
          </a:p>
          <a:p>
            <a:pPr eaLnBrk="1" hangingPunct="1">
              <a:lnSpc>
                <a:spcPct val="125000"/>
              </a:lnSpc>
            </a:pPr>
            <a:r>
              <a:rPr lang="en-US" altLang="zh-CN" sz="3600" dirty="0">
                <a:solidFill>
                  <a:srgbClr val="000099"/>
                </a:solidFill>
                <a:latin typeface="Times New Roman" panose="02020603050405020304" pitchFamily="18" charset="0"/>
                <a:ea typeface="楷体_GB2312" pitchFamily="49" charset="-122"/>
              </a:rPr>
              <a:t>//</a:t>
            </a:r>
            <a:r>
              <a:rPr lang="zh-CN" altLang="en-US" sz="3600" dirty="0">
                <a:solidFill>
                  <a:srgbClr val="000099"/>
                </a:solidFill>
                <a:latin typeface="Times New Roman" panose="02020603050405020304" pitchFamily="18" charset="0"/>
                <a:ea typeface="楷体_GB2312" pitchFamily="49" charset="-122"/>
              </a:rPr>
              <a:t>个顶点调用函数</a:t>
            </a:r>
            <a:r>
              <a:rPr lang="en-US" altLang="zh-CN" sz="3600" dirty="0">
                <a:solidFill>
                  <a:srgbClr val="000099"/>
                </a:solidFill>
                <a:latin typeface="Times New Roman" panose="02020603050405020304" pitchFamily="18" charset="0"/>
                <a:ea typeface="楷体_GB2312" pitchFamily="49" charset="-122"/>
              </a:rPr>
              <a:t>Visit</a:t>
            </a:r>
            <a:r>
              <a:rPr lang="zh-CN" altLang="en-US" sz="3600" dirty="0">
                <a:solidFill>
                  <a:srgbClr val="000099"/>
                </a:solidFill>
                <a:latin typeface="Times New Roman" panose="02020603050405020304" pitchFamily="18" charset="0"/>
                <a:ea typeface="楷体_GB2312" pitchFamily="49" charset="-122"/>
              </a:rPr>
              <a:t>一次且仅一次。</a:t>
            </a:r>
            <a:endParaRPr lang="zh-CN" altLang="en-US" sz="3600" dirty="0">
              <a:latin typeface="Times New Roman" panose="02020603050405020304" pitchFamily="18" charset="0"/>
              <a:ea typeface="楷体_GB2312" pitchFamily="49" charset="-122"/>
            </a:endParaRPr>
          </a:p>
        </p:txBody>
      </p:sp>
      <p:sp>
        <p:nvSpPr>
          <p:cNvPr id="14341" name="Rectangle 5"/>
          <p:cNvSpPr/>
          <p:nvPr/>
        </p:nvSpPr>
        <p:spPr>
          <a:xfrm>
            <a:off x="679450" y="3810000"/>
            <a:ext cx="7867650" cy="2154238"/>
          </a:xfrm>
          <a:prstGeom prst="rect">
            <a:avLst/>
          </a:prstGeom>
          <a:noFill/>
          <a:ln w="12700">
            <a:noFill/>
          </a:ln>
        </p:spPr>
        <p:txBody>
          <a:bodyPr wrap="none">
            <a:spAutoFit/>
          </a:bodyPr>
          <a:p>
            <a:pPr eaLnBrk="1" hangingPunct="1">
              <a:lnSpc>
                <a:spcPct val="125000"/>
              </a:lnSpc>
            </a:pPr>
            <a:r>
              <a:rPr lang="en-US" altLang="zh-CN" sz="3600" dirty="0">
                <a:solidFill>
                  <a:srgbClr val="000099"/>
                </a:solidFill>
                <a:latin typeface="Times New Roman" panose="02020603050405020304" pitchFamily="18" charset="0"/>
                <a:ea typeface="楷体_GB2312" pitchFamily="49" charset="-122"/>
              </a:rPr>
              <a:t>BFSTraverse(G, v, Visit()); </a:t>
            </a:r>
            <a:endParaRPr lang="en-US" altLang="zh-CN" sz="3600" dirty="0">
              <a:solidFill>
                <a:srgbClr val="000099"/>
              </a:solidFill>
              <a:latin typeface="Times New Roman" panose="02020603050405020304" pitchFamily="18" charset="0"/>
              <a:ea typeface="楷体_GB2312" pitchFamily="49" charset="-122"/>
            </a:endParaRPr>
          </a:p>
          <a:p>
            <a:pPr eaLnBrk="1" hangingPunct="1">
              <a:lnSpc>
                <a:spcPct val="125000"/>
              </a:lnSpc>
            </a:pPr>
            <a:r>
              <a:rPr lang="en-US" altLang="zh-CN" sz="3600" dirty="0">
                <a:solidFill>
                  <a:srgbClr val="000099"/>
                </a:solidFill>
                <a:latin typeface="Times New Roman" panose="02020603050405020304" pitchFamily="18" charset="0"/>
                <a:ea typeface="楷体_GB2312" pitchFamily="49" charset="-122"/>
              </a:rPr>
              <a:t>//</a:t>
            </a:r>
            <a:r>
              <a:rPr lang="zh-CN" altLang="en-US" sz="3600" dirty="0">
                <a:solidFill>
                  <a:srgbClr val="000099"/>
                </a:solidFill>
                <a:latin typeface="Times New Roman" panose="02020603050405020304" pitchFamily="18" charset="0"/>
                <a:ea typeface="楷体_GB2312" pitchFamily="49" charset="-122"/>
              </a:rPr>
              <a:t>从顶点</a:t>
            </a:r>
            <a:r>
              <a:rPr lang="en-US" altLang="zh-CN" sz="3600" dirty="0">
                <a:solidFill>
                  <a:srgbClr val="000099"/>
                </a:solidFill>
                <a:latin typeface="Times New Roman" panose="02020603050405020304" pitchFamily="18" charset="0"/>
                <a:ea typeface="楷体_GB2312" pitchFamily="49" charset="-122"/>
              </a:rPr>
              <a:t>v</a:t>
            </a:r>
            <a:r>
              <a:rPr lang="zh-CN" altLang="en-US" sz="3600" dirty="0">
                <a:solidFill>
                  <a:srgbClr val="000099"/>
                </a:solidFill>
                <a:latin typeface="Times New Roman" panose="02020603050405020304" pitchFamily="18" charset="0"/>
                <a:ea typeface="楷体_GB2312" pitchFamily="49" charset="-122"/>
              </a:rPr>
              <a:t>起</a:t>
            </a:r>
            <a:r>
              <a:rPr lang="zh-CN" altLang="en-US" sz="3600" dirty="0">
                <a:solidFill>
                  <a:srgbClr val="800000"/>
                </a:solidFill>
                <a:latin typeface="Times New Roman" panose="02020603050405020304" pitchFamily="18" charset="0"/>
                <a:ea typeface="楷体_GB2312" pitchFamily="49" charset="-122"/>
              </a:rPr>
              <a:t>广度优先</a:t>
            </a:r>
            <a:r>
              <a:rPr lang="zh-CN" altLang="en-US" sz="3600" dirty="0">
                <a:solidFill>
                  <a:srgbClr val="000099"/>
                </a:solidFill>
                <a:latin typeface="Times New Roman" panose="02020603050405020304" pitchFamily="18" charset="0"/>
                <a:ea typeface="楷体_GB2312" pitchFamily="49" charset="-122"/>
              </a:rPr>
              <a:t>遍历图</a:t>
            </a:r>
            <a:r>
              <a:rPr lang="en-US" altLang="zh-CN" sz="3600" dirty="0">
                <a:solidFill>
                  <a:srgbClr val="000099"/>
                </a:solidFill>
                <a:latin typeface="Times New Roman" panose="02020603050405020304" pitchFamily="18" charset="0"/>
                <a:ea typeface="楷体_GB2312" pitchFamily="49" charset="-122"/>
              </a:rPr>
              <a:t>G</a:t>
            </a:r>
            <a:r>
              <a:rPr lang="zh-CN" altLang="en-US" sz="3600" dirty="0">
                <a:solidFill>
                  <a:srgbClr val="000099"/>
                </a:solidFill>
                <a:latin typeface="Times New Roman" panose="02020603050405020304" pitchFamily="18" charset="0"/>
                <a:ea typeface="楷体_GB2312" pitchFamily="49" charset="-122"/>
              </a:rPr>
              <a:t>，并对每</a:t>
            </a:r>
            <a:endParaRPr lang="zh-CN" altLang="en-US" sz="3600" dirty="0">
              <a:solidFill>
                <a:srgbClr val="000099"/>
              </a:solidFill>
              <a:latin typeface="Times New Roman" panose="02020603050405020304" pitchFamily="18" charset="0"/>
              <a:ea typeface="楷体_GB2312" pitchFamily="49" charset="-122"/>
            </a:endParaRPr>
          </a:p>
          <a:p>
            <a:pPr eaLnBrk="1" hangingPunct="1">
              <a:lnSpc>
                <a:spcPct val="125000"/>
              </a:lnSpc>
            </a:pPr>
            <a:r>
              <a:rPr lang="en-US" altLang="zh-CN" sz="3600" dirty="0">
                <a:solidFill>
                  <a:srgbClr val="000099"/>
                </a:solidFill>
                <a:latin typeface="Times New Roman" panose="02020603050405020304" pitchFamily="18" charset="0"/>
                <a:ea typeface="楷体_GB2312" pitchFamily="49" charset="-122"/>
              </a:rPr>
              <a:t>//</a:t>
            </a:r>
            <a:r>
              <a:rPr lang="zh-CN" altLang="en-US" sz="3600" dirty="0">
                <a:solidFill>
                  <a:srgbClr val="000099"/>
                </a:solidFill>
                <a:latin typeface="Times New Roman" panose="02020603050405020304" pitchFamily="18" charset="0"/>
                <a:ea typeface="楷体_GB2312" pitchFamily="49" charset="-122"/>
              </a:rPr>
              <a:t>个顶点调用函数</a:t>
            </a:r>
            <a:r>
              <a:rPr lang="en-US" altLang="zh-CN" sz="3600" dirty="0">
                <a:solidFill>
                  <a:srgbClr val="000099"/>
                </a:solidFill>
                <a:latin typeface="Times New Roman" panose="02020603050405020304" pitchFamily="18" charset="0"/>
                <a:ea typeface="楷体_GB2312" pitchFamily="49" charset="-122"/>
              </a:rPr>
              <a:t>Visit</a:t>
            </a:r>
            <a:r>
              <a:rPr lang="zh-CN" altLang="en-US" sz="3600" dirty="0">
                <a:solidFill>
                  <a:srgbClr val="000099"/>
                </a:solidFill>
                <a:latin typeface="Times New Roman" panose="02020603050405020304" pitchFamily="18" charset="0"/>
                <a:ea typeface="楷体_GB2312" pitchFamily="49" charset="-122"/>
              </a:rPr>
              <a:t>一次且仅一次。</a:t>
            </a:r>
            <a:endParaRPr lang="zh-CN" altLang="en-US" sz="3600" dirty="0">
              <a:latin typeface="Times New Roman" panose="02020603050405020304" pitchFamily="18" charset="0"/>
              <a:ea typeface="楷体_GB2312" pitchFamily="49" charset="-122"/>
            </a:endParaRPr>
          </a:p>
        </p:txBody>
      </p:sp>
      <p:pic>
        <p:nvPicPr>
          <p:cNvPr id="31749" name="Picture 9" descr="tuli"/>
          <p:cNvPicPr>
            <a:picLocks noChangeAspect="1"/>
          </p:cNvPicPr>
          <p:nvPr/>
        </p:nvPicPr>
        <p:blipFill>
          <a:blip r:embed="rId1"/>
          <a:stretch>
            <a:fillRect/>
          </a:stretch>
        </p:blipFill>
        <p:spPr>
          <a:xfrm>
            <a:off x="7740650" y="5516563"/>
            <a:ext cx="1133475" cy="1143000"/>
          </a:xfrm>
          <a:prstGeom prst="rect">
            <a:avLst/>
          </a:prstGeom>
          <a:noFill/>
          <a:ln w="9525">
            <a:noFill/>
          </a:ln>
        </p:spPr>
      </p:pic>
    </p:spTree>
  </p:cSld>
  <p:clrMapOvr>
    <a:masterClrMapping/>
  </p:clrMapOvr>
  <p:transition>
    <p:cover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slide(fromTop)">
                                      <p:cBhvr>
                                        <p:cTn id="7" dur="500"/>
                                        <p:tgtEl>
                                          <p:spTgt spid="1433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4339"/>
                                        </p:tgtEl>
                                        <p:attrNameLst>
                                          <p:attrName>style.visibility</p:attrName>
                                        </p:attrNameLst>
                                      </p:cBhvr>
                                      <p:to>
                                        <p:strVal val="visible"/>
                                      </p:to>
                                    </p:set>
                                    <p:animEffect transition="in" filter="strips(downRight)">
                                      <p:cBhvr>
                                        <p:cTn id="12" dur="500"/>
                                        <p:tgtEl>
                                          <p:spTgt spid="1433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4341"/>
                                        </p:tgtEl>
                                        <p:attrNameLst>
                                          <p:attrName>style.visibility</p:attrName>
                                        </p:attrNameLst>
                                      </p:cBhvr>
                                      <p:to>
                                        <p:strVal val="visible"/>
                                      </p:to>
                                    </p:set>
                                    <p:animEffect transition="in" filter="strips(downRight)">
                                      <p:cBhvr>
                                        <p:cTn id="17" dur="500"/>
                                        <p:tgtEl>
                                          <p:spTgt spid="14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P spid="14339" grpId="0"/>
      <p:bldP spid="1434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051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7.2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图的存储结构</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96051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顺序存储</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Wingdings" panose="05000000000000000000" pitchFamily="2" charset="2"/>
              </a:rPr>
              <a:t></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Wingdings" panose="05000000000000000000" pitchFamily="2" charset="2"/>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Wingdings" panose="05000000000000000000" pitchFamily="2" charset="2"/>
              </a:rPr>
              <a:t>多重链表</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33796" name="20 2"/>
          <p:cNvPicPr>
            <a:picLocks noChangeAspect="1"/>
          </p:cNvPicPr>
          <p:nvPr/>
        </p:nvPicPr>
        <p:blipFill>
          <a:blip r:embed="rId1"/>
          <a:stretch>
            <a:fillRect/>
          </a:stretch>
        </p:blipFill>
        <p:spPr>
          <a:xfrm>
            <a:off x="684213" y="3141663"/>
            <a:ext cx="4243387" cy="2382837"/>
          </a:xfrm>
          <a:prstGeom prst="rect">
            <a:avLst/>
          </a:prstGeom>
          <a:noFill/>
          <a:ln w="9525">
            <a:noFill/>
          </a:ln>
        </p:spPr>
      </p:pic>
      <p:pic>
        <p:nvPicPr>
          <p:cNvPr id="33797" name="20 4"/>
          <p:cNvPicPr>
            <a:picLocks noChangeAspect="1"/>
          </p:cNvPicPr>
          <p:nvPr/>
        </p:nvPicPr>
        <p:blipFill>
          <a:blip r:embed="rId2"/>
          <a:stretch>
            <a:fillRect/>
          </a:stretch>
        </p:blipFill>
        <p:spPr>
          <a:xfrm>
            <a:off x="5184775" y="1770063"/>
            <a:ext cx="3240088" cy="4267200"/>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4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7.2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图的存储结构</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19843"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数组表示法</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邻接矩阵表示法（ </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Adjacency Matrix</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邻接表（</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Adjacency List</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bg2">
                    <a:lumMod val="75000"/>
                  </a:schemeClr>
                </a:solidFill>
                <a:effectLst>
                  <a:outerShdw blurRad="38100" dist="38100" dir="2700000" algn="tl">
                    <a:srgbClr val="C0C0C0"/>
                  </a:outerShdw>
                </a:effectLst>
                <a:uLnTx/>
                <a:uFillTx/>
                <a:latin typeface="+mn-lt"/>
                <a:ea typeface="+mn-ea"/>
                <a:cs typeface="+mn-cs"/>
              </a:rPr>
              <a:t>十字链表（</a:t>
            </a:r>
            <a:r>
              <a:rPr kumimoji="0" lang="en-US" altLang="zh-CN" sz="3000" b="1" i="0" u="none" strike="noStrike" kern="0" cap="none" spc="0" normalizeH="0" baseline="0" noProof="0" dirty="0">
                <a:ln>
                  <a:noFill/>
                </a:ln>
                <a:solidFill>
                  <a:schemeClr val="bg2">
                    <a:lumMod val="75000"/>
                  </a:schemeClr>
                </a:solidFill>
                <a:effectLst>
                  <a:outerShdw blurRad="38100" dist="38100" dir="2700000" algn="tl">
                    <a:srgbClr val="C0C0C0"/>
                  </a:outerShdw>
                </a:effectLst>
                <a:uLnTx/>
                <a:uFillTx/>
                <a:latin typeface="+mn-lt"/>
                <a:ea typeface="+mn-ea"/>
                <a:cs typeface="+mn-cs"/>
              </a:rPr>
              <a:t>orthogonal list</a:t>
            </a:r>
            <a:r>
              <a:rPr kumimoji="0" lang="zh-CN" altLang="en-US" sz="3000" b="1" i="0" u="none" strike="noStrike" kern="0" cap="none" spc="0" normalizeH="0" baseline="0" noProof="0" dirty="0">
                <a:ln>
                  <a:noFill/>
                </a:ln>
                <a:solidFill>
                  <a:schemeClr val="bg2">
                    <a:lumMod val="75000"/>
                  </a:schemeClr>
                </a:solidFill>
                <a:effectLst>
                  <a:outerShdw blurRad="38100" dist="38100" dir="2700000" algn="tl">
                    <a:srgbClr val="C0C0C0"/>
                  </a:outerShdw>
                </a:effectLst>
                <a:uLnTx/>
                <a:uFillTx/>
                <a:latin typeface="+mn-lt"/>
                <a:ea typeface="+mn-ea"/>
                <a:cs typeface="+mn-cs"/>
              </a:rPr>
              <a:t>）</a:t>
            </a:r>
            <a:endParaRPr kumimoji="0" lang="zh-CN" altLang="en-US" sz="3000" b="1" i="0" u="none" strike="noStrike" kern="0" cap="none" spc="0" normalizeH="0" baseline="0" noProof="0" dirty="0">
              <a:ln>
                <a:noFill/>
              </a:ln>
              <a:solidFill>
                <a:schemeClr val="bg2">
                  <a:lumMod val="75000"/>
                </a:schemeClr>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bg2">
                    <a:lumMod val="75000"/>
                  </a:schemeClr>
                </a:solidFill>
                <a:effectLst>
                  <a:outerShdw blurRad="38100" dist="38100" dir="2700000" algn="tl">
                    <a:srgbClr val="C0C0C0"/>
                  </a:outerShdw>
                </a:effectLst>
                <a:uLnTx/>
                <a:uFillTx/>
                <a:latin typeface="+mn-lt"/>
                <a:ea typeface="+mn-ea"/>
                <a:cs typeface="+mn-cs"/>
              </a:rPr>
              <a:t>邻接多重表（ </a:t>
            </a:r>
            <a:r>
              <a:rPr kumimoji="0" lang="en-US" altLang="zh-CN" sz="3000" b="1" i="0" u="none" strike="noStrike" kern="0" cap="none" spc="0" normalizeH="0" baseline="0" noProof="0" dirty="0">
                <a:ln>
                  <a:noFill/>
                </a:ln>
                <a:solidFill>
                  <a:schemeClr val="bg2">
                    <a:lumMod val="75000"/>
                  </a:schemeClr>
                </a:solidFill>
                <a:effectLst>
                  <a:outerShdw blurRad="38100" dist="38100" dir="2700000" algn="tl">
                    <a:srgbClr val="C0C0C0"/>
                  </a:outerShdw>
                </a:effectLst>
                <a:uLnTx/>
                <a:uFillTx/>
                <a:latin typeface="+mn-lt"/>
                <a:ea typeface="+mn-ea"/>
                <a:cs typeface="+mn-cs"/>
              </a:rPr>
              <a:t>Adjacency </a:t>
            </a:r>
            <a:r>
              <a:rPr kumimoji="0" lang="en-US" altLang="zh-CN" sz="3000" b="1" i="0" u="none" strike="noStrike" kern="0" cap="none" spc="0" normalizeH="0" baseline="0" noProof="0" dirty="0" err="1">
                <a:ln>
                  <a:noFill/>
                </a:ln>
                <a:solidFill>
                  <a:schemeClr val="bg2">
                    <a:lumMod val="75000"/>
                  </a:schemeClr>
                </a:solidFill>
                <a:effectLst>
                  <a:outerShdw blurRad="38100" dist="38100" dir="2700000" algn="tl">
                    <a:srgbClr val="C0C0C0"/>
                  </a:outerShdw>
                </a:effectLst>
                <a:uLnTx/>
                <a:uFillTx/>
                <a:latin typeface="+mn-lt"/>
                <a:ea typeface="+mn-ea"/>
                <a:cs typeface="+mn-cs"/>
              </a:rPr>
              <a:t>Multilist</a:t>
            </a:r>
            <a:r>
              <a:rPr kumimoji="0" lang="en-US" altLang="zh-CN" sz="3000" b="1" i="0" u="none" strike="noStrike" kern="0" cap="none" spc="0" normalizeH="0" baseline="0" noProof="0" dirty="0">
                <a:ln>
                  <a:noFill/>
                </a:ln>
                <a:solidFill>
                  <a:schemeClr val="bg2">
                    <a:lumMod val="75000"/>
                  </a:schemeClr>
                </a:solidFill>
                <a:effectLst>
                  <a:outerShdw blurRad="38100" dist="38100" dir="2700000" algn="tl">
                    <a:srgbClr val="C0C0C0"/>
                  </a:outerShdw>
                </a:effectLst>
                <a:uLnTx/>
                <a:uFillTx/>
                <a:latin typeface="+mn-lt"/>
                <a:ea typeface="+mn-ea"/>
                <a:cs typeface="+mn-cs"/>
              </a:rPr>
              <a:t> </a:t>
            </a:r>
            <a:r>
              <a:rPr kumimoji="0" lang="zh-CN" altLang="en-US" sz="3000" b="1" i="0" u="none" strike="noStrike" kern="0" cap="none" spc="0" normalizeH="0" baseline="0" noProof="0" dirty="0">
                <a:ln>
                  <a:noFill/>
                </a:ln>
                <a:solidFill>
                  <a:schemeClr val="bg2">
                    <a:lumMod val="75000"/>
                  </a:schemeClr>
                </a:solidFill>
                <a:effectLst>
                  <a:outerShdw blurRad="38100" dist="38100" dir="2700000" algn="tl">
                    <a:srgbClr val="C0C0C0"/>
                  </a:outerShdw>
                </a:effectLst>
                <a:uLnTx/>
                <a:uFillTx/>
                <a:latin typeface="+mn-lt"/>
                <a:ea typeface="+mn-ea"/>
                <a:cs typeface="+mn-cs"/>
              </a:rPr>
              <a:t>）</a:t>
            </a:r>
            <a:endParaRPr kumimoji="0" lang="zh-CN" altLang="en-US" sz="3000" b="1" i="0" u="none" strike="noStrike" kern="0" cap="none" spc="0" normalizeH="0" baseline="0" noProof="0" dirty="0">
              <a:ln>
                <a:noFill/>
              </a:ln>
              <a:solidFill>
                <a:schemeClr val="bg2">
                  <a:lumMod val="75000"/>
                </a:schemeClr>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1890" name="Rectangle 2"/>
          <p:cNvSpPr>
            <a:spLocks noGrp="1" noChangeArrowheads="1"/>
          </p:cNvSpPr>
          <p:nvPr>
            <p:ph type="title"/>
          </p:nvPr>
        </p:nvSpPr>
        <p:spPr/>
        <p:txBody>
          <a:bodyPr vert="horz" wrap="square" lIns="91440" tIns="45720" rIns="91440" bIns="45720" numCol="1" anchor="b" anchorCtr="0" compatLnSpc="1"/>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rPr>
              <a:t>   </a:t>
            </a:r>
            <a:endParaRPr kumimoji="0" lang="en-US" altLang="zh-CN" sz="38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endParaRPr>
          </a:p>
        </p:txBody>
      </p:sp>
      <p:sp>
        <p:nvSpPr>
          <p:cNvPr id="421892" name="Rectangle 4"/>
          <p:cNvSpPr>
            <a:spLocks noGrp="1" noChangeArrowheads="1"/>
          </p:cNvSpPr>
          <p:nvPr>
            <p:ph idx="1"/>
          </p:nvPr>
        </p:nvSpPr>
        <p:spPr/>
        <p:txBody>
          <a:bodyPr vert="horz" wrap="square" lIns="92075" tIns="46038" rIns="92075" bIns="46038" numCol="1" anchor="t" anchorCtr="0" compatLnSpc="1"/>
          <a:lstStyle/>
          <a:p>
            <a:pPr marL="469900" marR="0" lvl="0" indent="-469900" algn="l" defTabSz="914400" rtl="0" eaLnBrk="1" fontAlgn="base" latinLnBrk="0" hangingPunct="1">
              <a:lnSpc>
                <a:spcPct val="150000"/>
              </a:lnSpc>
              <a:spcBef>
                <a:spcPct val="20000"/>
              </a:spcBef>
              <a:spcAft>
                <a:spcPct val="0"/>
              </a:spcAft>
              <a:buClr>
                <a:srgbClr val="FF3300"/>
              </a:buClr>
              <a:buSzTx/>
              <a:buFont typeface="Wingdings" panose="05000000000000000000" pitchFamily="2" charset="2"/>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在图的邻接矩阵表示中，有一个记录各个顶点信息的</a:t>
            </a:r>
            <a:r>
              <a:rPr kumimoji="0" lang="zh-CN" altLang="en-US" sz="2800" b="1" i="0" u="none" strike="noStrike" kern="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顶点表</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，还有一个表示各个顶点之间关系的</a:t>
            </a:r>
            <a:r>
              <a:rPr kumimoji="0" lang="zh-CN" altLang="en-US" sz="2800" b="1" i="0" u="none" strike="noStrike" kern="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邻接矩阵</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p:txBody>
      </p:sp>
      <p:sp>
        <p:nvSpPr>
          <p:cNvPr id="421893" name="Rectangle 5"/>
          <p:cNvSpPr>
            <a:spLocks noChangeArrowheads="1"/>
          </p:cNvSpPr>
          <p:nvPr/>
        </p:nvSpPr>
        <p:spPr bwMode="auto">
          <a:xfrm>
            <a:off x="395288" y="836613"/>
            <a:ext cx="7696200" cy="579438"/>
          </a:xfrm>
          <a:prstGeom prst="rect">
            <a:avLst/>
          </a:prstGeom>
          <a:noFill/>
          <a:ln w="9525">
            <a:noFill/>
            <a:miter lim="800000"/>
          </a:ln>
        </p:spPr>
        <p:txBody>
          <a:bodyPr>
            <a:spAutoFit/>
          </a:bodyPr>
          <a:lstStyle/>
          <a:p>
            <a:pPr marL="457200" marR="0" lvl="1"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邻接矩阵 </a:t>
            </a:r>
            <a:r>
              <a:rPr kumimoji="1" lang="en-US" altLang="zh-CN" sz="3200" b="1"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(Adjacency Matrix)</a:t>
            </a:r>
            <a:r>
              <a:rPr kumimoji="1" lang="zh-CN" altLang="en-US" sz="3200" b="1"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表示法</a:t>
            </a:r>
            <a:endParaRPr kumimoji="1" lang="zh-CN" altLang="en-US" sz="3200" b="1"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endParaRPr>
          </a:p>
        </p:txBody>
      </p:sp>
    </p:spTree>
  </p:cSld>
  <p:clrMapOvr>
    <a:masterClrMapping/>
  </p:clrMapOvr>
  <p:transition>
    <p:blinds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1890" name="Rectangle 2"/>
          <p:cNvSpPr>
            <a:spLocks noGrp="1" noChangeArrowheads="1"/>
          </p:cNvSpPr>
          <p:nvPr>
            <p:ph type="title"/>
          </p:nvPr>
        </p:nvSpPr>
        <p:spPr/>
        <p:txBody>
          <a:bodyPr vert="horz" wrap="square" lIns="91440" tIns="45720" rIns="91440" bIns="45720" numCol="1" anchor="b" anchorCtr="0" compatLnSpc="1"/>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rPr>
              <a:t>   </a:t>
            </a:r>
            <a:endParaRPr kumimoji="0" lang="en-US" altLang="zh-CN" sz="38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endParaRPr>
          </a:p>
        </p:txBody>
      </p:sp>
      <p:sp>
        <p:nvSpPr>
          <p:cNvPr id="421892" name="Rectangle 4"/>
          <p:cNvSpPr>
            <a:spLocks noGrp="1" noChangeArrowheads="1"/>
          </p:cNvSpPr>
          <p:nvPr>
            <p:ph idx="1"/>
          </p:nvPr>
        </p:nvSpPr>
        <p:spPr/>
        <p:txBody>
          <a:bodyPr vert="horz" wrap="square" lIns="92075" tIns="46038" rIns="92075" bIns="46038" numCol="1" anchor="t" anchorCtr="0" compatLnSpc="1"/>
          <a:lstStyle/>
          <a:p>
            <a:pPr marL="469900" marR="0" lvl="0" indent="-469900" algn="l" defTabSz="914400" rtl="0" eaLnBrk="1" fontAlgn="base" latinLnBrk="0" hangingPunct="1">
              <a:lnSpc>
                <a:spcPct val="150000"/>
              </a:lnSpc>
              <a:spcBef>
                <a:spcPct val="20000"/>
              </a:spcBef>
              <a:spcAft>
                <a:spcPct val="0"/>
              </a:spcAft>
              <a:buClr>
                <a:srgbClr val="FF3300"/>
              </a:buClr>
              <a:buSzTx/>
              <a:buFont typeface="Wingdings" panose="05000000000000000000" pitchFamily="2" charset="2"/>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设图 </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 = (V, E)</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是一个有 </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n </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个顶点的图，则图的邻接矩阵是一个二维数组 </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 .arcs[n][n]</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，定义：</a:t>
            </a: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908050" marR="0" lvl="1" indent="-436880" algn="l" defTabSz="914400" rtl="0" eaLnBrk="1" fontAlgn="base" latinLnBrk="0" hangingPunct="1">
              <a:lnSpc>
                <a:spcPct val="150000"/>
              </a:lnSpc>
              <a:spcBef>
                <a:spcPct val="20000"/>
              </a:spcBef>
              <a:spcAft>
                <a:spcPct val="0"/>
              </a:spcAft>
              <a:buClr>
                <a:srgbClr val="FF3300"/>
              </a:buClr>
              <a:buSzTx/>
              <a:buFont typeface="Wingdings" panose="05000000000000000000" pitchFamily="2" charset="2"/>
              <a:buChar char="§"/>
              <a:defRPr/>
            </a:pP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rPr>
              <a:t>A .arcs[i][j]</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rPr>
              <a:t>1</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rPr>
              <a:t>，如果</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rPr>
              <a:t>&lt;i, j&gt;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sym typeface="Symbol" panose="05050102010706020507" pitchFamily="18" charset="2"/>
              </a:rPr>
              <a:t>E, </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sym typeface="Symbol" panose="05050102010706020507" pitchFamily="18" charset="2"/>
              </a:rPr>
              <a:t>或（</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rPr>
              <a:t>i, j</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sym typeface="Symbol" panose="05050102010706020507" pitchFamily="18" charset="2"/>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sym typeface="Symbol" panose="05050102010706020507" pitchFamily="18" charset="2"/>
              </a:rPr>
              <a:t>E</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sym typeface="Symbol" panose="05050102010706020507" pitchFamily="18" charset="2"/>
              </a:rPr>
              <a:t>；否则</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sym typeface="Symbol" panose="05050102010706020507" pitchFamily="18" charset="2"/>
            </a:endParaRPr>
          </a:p>
          <a:p>
            <a:pPr marL="908050" marR="0" lvl="1" indent="-436880" algn="l" defTabSz="914400" rtl="0" eaLnBrk="1" fontAlgn="base" latinLnBrk="0" hangingPunct="1">
              <a:lnSpc>
                <a:spcPct val="150000"/>
              </a:lnSpc>
              <a:spcBef>
                <a:spcPct val="20000"/>
              </a:spcBef>
              <a:spcAft>
                <a:spcPct val="0"/>
              </a:spcAft>
              <a:buClr>
                <a:srgbClr val="FF3300"/>
              </a:buClr>
              <a:buSzTx/>
              <a:buFont typeface="Wingdings" panose="05000000000000000000" pitchFamily="2" charset="2"/>
              <a:buChar char="§"/>
              <a:defRPr/>
            </a:pP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rPr>
              <a:t>A .arcs[i][j]</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rPr>
              <a:t>0</a:t>
            </a:r>
            <a:endPar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endParaRPr>
          </a:p>
          <a:p>
            <a:pPr marL="0" marR="0" lvl="0" indent="0" algn="l" defTabSz="914400" rtl="0" eaLnBrk="1" fontAlgn="base" latinLnBrk="0" hangingPunct="1">
              <a:lnSpc>
                <a:spcPct val="90000"/>
              </a:lnSpc>
              <a:spcBef>
                <a:spcPct val="20000"/>
              </a:spcBef>
              <a:spcAft>
                <a:spcPct val="0"/>
              </a:spcAft>
              <a:buClr>
                <a:srgbClr val="FF3300"/>
              </a:buClr>
              <a:buSzTx/>
              <a:buFont typeface="Wingdings" panose="05000000000000000000" pitchFamily="2" charset="2"/>
              <a:buNone/>
              <a:defRPr/>
            </a:pP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p:txBody>
      </p:sp>
      <p:sp>
        <p:nvSpPr>
          <p:cNvPr id="421893" name="Rectangle 5"/>
          <p:cNvSpPr>
            <a:spLocks noChangeArrowheads="1"/>
          </p:cNvSpPr>
          <p:nvPr/>
        </p:nvSpPr>
        <p:spPr bwMode="auto">
          <a:xfrm>
            <a:off x="395288" y="836613"/>
            <a:ext cx="7696200" cy="579438"/>
          </a:xfrm>
          <a:prstGeom prst="rect">
            <a:avLst/>
          </a:prstGeom>
          <a:noFill/>
          <a:ln w="9525">
            <a:noFill/>
            <a:miter lim="800000"/>
          </a:ln>
        </p:spPr>
        <p:txBody>
          <a:bodyPr>
            <a:spAutoFit/>
          </a:bodyPr>
          <a:lstStyle/>
          <a:p>
            <a:pPr marL="457200" marR="0" lvl="1"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邻接矩阵 </a:t>
            </a:r>
            <a:r>
              <a:rPr kumimoji="1" lang="en-US" altLang="zh-CN" sz="3200" b="1"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(Adjacency Matrix)</a:t>
            </a:r>
            <a:r>
              <a:rPr kumimoji="1" lang="zh-CN" altLang="en-US" sz="3200" b="1"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表示法</a:t>
            </a:r>
            <a:endParaRPr kumimoji="1" lang="zh-CN" altLang="en-US" sz="3200" b="1"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endParaRPr>
          </a:p>
        </p:txBody>
      </p:sp>
    </p:spTree>
  </p:cSld>
  <p:clrMapOvr>
    <a:masterClrMapping/>
  </p:clrMapOvr>
  <p:transition>
    <p:blinds dir="vert"/>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1986" name="Oval 2"/>
          <p:cNvSpPr/>
          <p:nvPr/>
        </p:nvSpPr>
        <p:spPr>
          <a:xfrm>
            <a:off x="1219200" y="17526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2</a:t>
            </a:r>
            <a:endParaRPr lang="en-US" altLang="zh-CN" sz="2400" b="0" dirty="0">
              <a:solidFill>
                <a:schemeClr val="tx1"/>
              </a:solidFill>
              <a:latin typeface="Times New Roman" panose="02020603050405020304" pitchFamily="18" charset="0"/>
            </a:endParaRPr>
          </a:p>
        </p:txBody>
      </p:sp>
      <p:sp>
        <p:nvSpPr>
          <p:cNvPr id="41987" name="Oval 3"/>
          <p:cNvSpPr/>
          <p:nvPr/>
        </p:nvSpPr>
        <p:spPr>
          <a:xfrm>
            <a:off x="304800" y="25908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1</a:t>
            </a:r>
            <a:endParaRPr lang="en-US" altLang="zh-CN" sz="2400" b="0" dirty="0">
              <a:solidFill>
                <a:schemeClr val="tx1"/>
              </a:solidFill>
              <a:latin typeface="Times New Roman" panose="02020603050405020304" pitchFamily="18" charset="0"/>
            </a:endParaRPr>
          </a:p>
        </p:txBody>
      </p:sp>
      <p:sp>
        <p:nvSpPr>
          <p:cNvPr id="41988" name="Oval 4"/>
          <p:cNvSpPr/>
          <p:nvPr/>
        </p:nvSpPr>
        <p:spPr>
          <a:xfrm>
            <a:off x="2209800" y="25908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4</a:t>
            </a:r>
            <a:endParaRPr lang="en-US" altLang="zh-CN" sz="2400" b="0" dirty="0">
              <a:solidFill>
                <a:schemeClr val="tx1"/>
              </a:solidFill>
              <a:latin typeface="Times New Roman" panose="02020603050405020304" pitchFamily="18" charset="0"/>
            </a:endParaRPr>
          </a:p>
        </p:txBody>
      </p:sp>
      <p:sp>
        <p:nvSpPr>
          <p:cNvPr id="41989" name="Oval 5"/>
          <p:cNvSpPr/>
          <p:nvPr/>
        </p:nvSpPr>
        <p:spPr>
          <a:xfrm>
            <a:off x="609600" y="36576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3</a:t>
            </a:r>
            <a:endParaRPr lang="en-US" altLang="zh-CN" sz="2400" b="0" dirty="0">
              <a:solidFill>
                <a:schemeClr val="tx1"/>
              </a:solidFill>
              <a:latin typeface="Times New Roman" panose="02020603050405020304" pitchFamily="18" charset="0"/>
            </a:endParaRPr>
          </a:p>
        </p:txBody>
      </p:sp>
      <p:sp>
        <p:nvSpPr>
          <p:cNvPr id="41990" name="Oval 6"/>
          <p:cNvSpPr/>
          <p:nvPr/>
        </p:nvSpPr>
        <p:spPr>
          <a:xfrm>
            <a:off x="1752600" y="36576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5</a:t>
            </a:r>
            <a:endParaRPr lang="en-US" altLang="zh-CN" sz="2400" b="0" dirty="0">
              <a:solidFill>
                <a:schemeClr val="tx1"/>
              </a:solidFill>
              <a:latin typeface="Times New Roman" panose="02020603050405020304" pitchFamily="18" charset="0"/>
            </a:endParaRPr>
          </a:p>
        </p:txBody>
      </p:sp>
      <p:sp>
        <p:nvSpPr>
          <p:cNvPr id="425991" name="Line 7"/>
          <p:cNvSpPr>
            <a:spLocks noChangeShapeType="1"/>
          </p:cNvSpPr>
          <p:nvPr/>
        </p:nvSpPr>
        <p:spPr bwMode="auto">
          <a:xfrm flipV="1">
            <a:off x="762000" y="2209800"/>
            <a:ext cx="5334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25992" name="Line 8"/>
          <p:cNvSpPr>
            <a:spLocks noChangeShapeType="1"/>
          </p:cNvSpPr>
          <p:nvPr/>
        </p:nvSpPr>
        <p:spPr bwMode="auto">
          <a:xfrm flipH="1" flipV="1">
            <a:off x="1752600" y="2133600"/>
            <a:ext cx="533400" cy="5334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25993" name="Line 9"/>
          <p:cNvSpPr>
            <a:spLocks noChangeShapeType="1"/>
          </p:cNvSpPr>
          <p:nvPr/>
        </p:nvSpPr>
        <p:spPr bwMode="auto">
          <a:xfrm>
            <a:off x="838200" y="2819400"/>
            <a:ext cx="1371600" cy="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25994" name="Line 10"/>
          <p:cNvSpPr>
            <a:spLocks noChangeShapeType="1"/>
          </p:cNvSpPr>
          <p:nvPr/>
        </p:nvSpPr>
        <p:spPr bwMode="auto">
          <a:xfrm>
            <a:off x="762000" y="3048000"/>
            <a:ext cx="1066800" cy="6858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25995" name="Line 11"/>
          <p:cNvSpPr>
            <a:spLocks noChangeShapeType="1"/>
          </p:cNvSpPr>
          <p:nvPr/>
        </p:nvSpPr>
        <p:spPr bwMode="auto">
          <a:xfrm>
            <a:off x="609600" y="3124200"/>
            <a:ext cx="228600" cy="5334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25996" name="Line 12"/>
          <p:cNvSpPr>
            <a:spLocks noChangeShapeType="1"/>
          </p:cNvSpPr>
          <p:nvPr/>
        </p:nvSpPr>
        <p:spPr bwMode="auto">
          <a:xfrm>
            <a:off x="1143000" y="3962400"/>
            <a:ext cx="609600" cy="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aphicFrame>
        <p:nvGraphicFramePr>
          <p:cNvPr id="425997" name="Object 13"/>
          <p:cNvGraphicFramePr/>
          <p:nvPr/>
        </p:nvGraphicFramePr>
        <p:xfrm>
          <a:off x="3924300" y="3429000"/>
          <a:ext cx="2514600" cy="3048000"/>
        </p:xfrm>
        <a:graphic>
          <a:graphicData uri="http://schemas.openxmlformats.org/presentationml/2006/ole">
            <mc:AlternateContent xmlns:mc="http://schemas.openxmlformats.org/markup-compatibility/2006">
              <mc:Choice xmlns:v="urn:schemas-microsoft-com:vml" Requires="v">
                <p:oleObj spid="_x0000_s3077" name="" r:id="rId1" imgW="685800" imgH="1143000" progId="Equation.3">
                  <p:embed/>
                </p:oleObj>
              </mc:Choice>
              <mc:Fallback>
                <p:oleObj name="" r:id="rId1" imgW="685800" imgH="1143000" progId="Equation.3">
                  <p:embed/>
                  <p:pic>
                    <p:nvPicPr>
                      <p:cNvPr id="0" name="20 3076"/>
                      <p:cNvPicPr/>
                      <p:nvPr/>
                    </p:nvPicPr>
                    <p:blipFill>
                      <a:blip r:embed="rId2"/>
                      <a:stretch>
                        <a:fillRect/>
                      </a:stretch>
                    </p:blipFill>
                    <p:spPr>
                      <a:xfrm>
                        <a:off x="3924300" y="3429000"/>
                        <a:ext cx="2514600" cy="3048000"/>
                      </a:xfrm>
                      <a:prstGeom prst="rect">
                        <a:avLst/>
                      </a:prstGeom>
                      <a:noFill/>
                      <a:ln w="38100">
                        <a:noFill/>
                        <a:miter/>
                      </a:ln>
                    </p:spPr>
                  </p:pic>
                </p:oleObj>
              </mc:Fallback>
            </mc:AlternateContent>
          </a:graphicData>
        </a:graphic>
      </p:graphicFrame>
      <p:sp>
        <p:nvSpPr>
          <p:cNvPr id="425999" name="Rectangle 15"/>
          <p:cNvSpPr>
            <a:spLocks noChangeArrowheads="1"/>
          </p:cNvSpPr>
          <p:nvPr/>
        </p:nvSpPr>
        <p:spPr bwMode="auto">
          <a:xfrm>
            <a:off x="2057400" y="5791200"/>
            <a:ext cx="1260475" cy="519113"/>
          </a:xfrm>
          <a:prstGeom prst="rect">
            <a:avLst/>
          </a:prstGeom>
          <a:noFill/>
          <a:ln w="9525">
            <a:noFill/>
            <a:miter lim="800000"/>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无向图</a:t>
            </a:r>
            <a:endPar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endParaRPr>
          </a:p>
        </p:txBody>
      </p:sp>
      <p:pic>
        <p:nvPicPr>
          <p:cNvPr id="426018" name="Picture 34"/>
          <p:cNvPicPr>
            <a:picLocks noChangeAspect="1"/>
          </p:cNvPicPr>
          <p:nvPr/>
        </p:nvPicPr>
        <p:blipFill>
          <a:blip r:embed="rId3"/>
          <a:stretch>
            <a:fillRect/>
          </a:stretch>
        </p:blipFill>
        <p:spPr>
          <a:xfrm>
            <a:off x="4067175" y="260350"/>
            <a:ext cx="4438650" cy="3057525"/>
          </a:xfrm>
          <a:prstGeom prst="rect">
            <a:avLst/>
          </a:prstGeom>
          <a:noFill/>
          <a:ln w="9525">
            <a:noFill/>
          </a:ln>
        </p:spPr>
      </p:pic>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6018"/>
                                        </p:tgtEl>
                                        <p:attrNameLst>
                                          <p:attrName>style.visibility</p:attrName>
                                        </p:attrNameLst>
                                      </p:cBhvr>
                                      <p:to>
                                        <p:strVal val="visible"/>
                                      </p:to>
                                    </p:set>
                                    <p:anim calcmode="lin" valueType="num">
                                      <p:cBhvr additive="base">
                                        <p:cTn id="7" dur="500" fill="hold"/>
                                        <p:tgtEl>
                                          <p:spTgt spid="426018"/>
                                        </p:tgtEl>
                                        <p:attrNameLst>
                                          <p:attrName>ppt_x</p:attrName>
                                        </p:attrNameLst>
                                      </p:cBhvr>
                                      <p:tavLst>
                                        <p:tav tm="0">
                                          <p:val>
                                            <p:strVal val="#ppt_x"/>
                                          </p:val>
                                        </p:tav>
                                        <p:tav tm="100000">
                                          <p:val>
                                            <p:strVal val="#ppt_x"/>
                                          </p:val>
                                        </p:tav>
                                      </p:tavLst>
                                    </p:anim>
                                    <p:anim calcmode="lin" valueType="num">
                                      <p:cBhvr additive="base">
                                        <p:cTn id="8" dur="500" fill="hold"/>
                                        <p:tgtEl>
                                          <p:spTgt spid="4260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25997"/>
                                        </p:tgtEl>
                                        <p:attrNameLst>
                                          <p:attrName>style.visibility</p:attrName>
                                        </p:attrNameLst>
                                      </p:cBhvr>
                                      <p:to>
                                        <p:strVal val="visible"/>
                                      </p:to>
                                    </p:set>
                                    <p:anim calcmode="lin" valueType="num">
                                      <p:cBhvr additive="base">
                                        <p:cTn id="11" dur="500" fill="hold"/>
                                        <p:tgtEl>
                                          <p:spTgt spid="425997"/>
                                        </p:tgtEl>
                                        <p:attrNameLst>
                                          <p:attrName>ppt_x</p:attrName>
                                        </p:attrNameLst>
                                      </p:cBhvr>
                                      <p:tavLst>
                                        <p:tav tm="0">
                                          <p:val>
                                            <p:strVal val="#ppt_x"/>
                                          </p:val>
                                        </p:tav>
                                        <p:tav tm="100000">
                                          <p:val>
                                            <p:strVal val="#ppt_x"/>
                                          </p:val>
                                        </p:tav>
                                      </p:tavLst>
                                    </p:anim>
                                    <p:anim calcmode="lin" valueType="num">
                                      <p:cBhvr additive="base">
                                        <p:cTn id="12" dur="500" fill="hold"/>
                                        <p:tgtEl>
                                          <p:spTgt spid="4259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3010" name="Oval 2"/>
          <p:cNvSpPr/>
          <p:nvPr/>
        </p:nvSpPr>
        <p:spPr>
          <a:xfrm>
            <a:off x="1219200" y="17526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B</a:t>
            </a:r>
            <a:endParaRPr lang="en-US" altLang="zh-CN" sz="2400" b="0" dirty="0">
              <a:solidFill>
                <a:schemeClr val="tx1"/>
              </a:solidFill>
              <a:latin typeface="Times New Roman" panose="02020603050405020304" pitchFamily="18" charset="0"/>
            </a:endParaRPr>
          </a:p>
        </p:txBody>
      </p:sp>
      <p:sp>
        <p:nvSpPr>
          <p:cNvPr id="43011" name="Oval 3"/>
          <p:cNvSpPr/>
          <p:nvPr/>
        </p:nvSpPr>
        <p:spPr>
          <a:xfrm>
            <a:off x="304800" y="25908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A</a:t>
            </a:r>
            <a:endParaRPr lang="en-US" altLang="zh-CN" sz="2400" b="0" dirty="0">
              <a:solidFill>
                <a:schemeClr val="tx1"/>
              </a:solidFill>
              <a:latin typeface="Times New Roman" panose="02020603050405020304" pitchFamily="18" charset="0"/>
            </a:endParaRPr>
          </a:p>
        </p:txBody>
      </p:sp>
      <p:sp>
        <p:nvSpPr>
          <p:cNvPr id="43012" name="Oval 4"/>
          <p:cNvSpPr/>
          <p:nvPr/>
        </p:nvSpPr>
        <p:spPr>
          <a:xfrm>
            <a:off x="2209800" y="25908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D</a:t>
            </a:r>
            <a:endParaRPr lang="en-US" altLang="zh-CN" sz="2400" b="0" dirty="0">
              <a:solidFill>
                <a:schemeClr val="tx1"/>
              </a:solidFill>
              <a:latin typeface="Times New Roman" panose="02020603050405020304" pitchFamily="18" charset="0"/>
            </a:endParaRPr>
          </a:p>
        </p:txBody>
      </p:sp>
      <p:sp>
        <p:nvSpPr>
          <p:cNvPr id="43013" name="Oval 5"/>
          <p:cNvSpPr/>
          <p:nvPr/>
        </p:nvSpPr>
        <p:spPr>
          <a:xfrm>
            <a:off x="609600" y="36576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C</a:t>
            </a:r>
            <a:endParaRPr lang="en-US" altLang="zh-CN" sz="2400" b="0" dirty="0">
              <a:solidFill>
                <a:schemeClr val="tx1"/>
              </a:solidFill>
              <a:latin typeface="Times New Roman" panose="02020603050405020304" pitchFamily="18" charset="0"/>
            </a:endParaRPr>
          </a:p>
        </p:txBody>
      </p:sp>
      <p:sp>
        <p:nvSpPr>
          <p:cNvPr id="43014" name="Oval 6"/>
          <p:cNvSpPr/>
          <p:nvPr/>
        </p:nvSpPr>
        <p:spPr>
          <a:xfrm>
            <a:off x="1752600" y="36576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E</a:t>
            </a:r>
            <a:endParaRPr lang="en-US" altLang="zh-CN" sz="2400" b="0" dirty="0">
              <a:solidFill>
                <a:schemeClr val="tx1"/>
              </a:solidFill>
              <a:latin typeface="Times New Roman" panose="02020603050405020304" pitchFamily="18" charset="0"/>
            </a:endParaRPr>
          </a:p>
        </p:txBody>
      </p:sp>
      <p:sp>
        <p:nvSpPr>
          <p:cNvPr id="427015" name="Line 7"/>
          <p:cNvSpPr>
            <a:spLocks noChangeShapeType="1"/>
          </p:cNvSpPr>
          <p:nvPr/>
        </p:nvSpPr>
        <p:spPr bwMode="auto">
          <a:xfrm flipV="1">
            <a:off x="762000" y="2209800"/>
            <a:ext cx="533400" cy="457200"/>
          </a:xfrm>
          <a:prstGeom prst="line">
            <a:avLst/>
          </a:prstGeom>
          <a:noFill/>
          <a:ln w="9525">
            <a:solidFill>
              <a:schemeClr val="tx1"/>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27016" name="Line 8"/>
          <p:cNvSpPr>
            <a:spLocks noChangeShapeType="1"/>
          </p:cNvSpPr>
          <p:nvPr/>
        </p:nvSpPr>
        <p:spPr bwMode="auto">
          <a:xfrm flipH="1" flipV="1">
            <a:off x="1752600" y="2133600"/>
            <a:ext cx="533400" cy="533400"/>
          </a:xfrm>
          <a:prstGeom prst="line">
            <a:avLst/>
          </a:prstGeom>
          <a:noFill/>
          <a:ln w="9525">
            <a:solidFill>
              <a:schemeClr val="tx1"/>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27017" name="Line 9"/>
          <p:cNvSpPr>
            <a:spLocks noChangeShapeType="1"/>
          </p:cNvSpPr>
          <p:nvPr/>
        </p:nvSpPr>
        <p:spPr bwMode="auto">
          <a:xfrm>
            <a:off x="838200" y="2819400"/>
            <a:ext cx="1371600" cy="0"/>
          </a:xfrm>
          <a:prstGeom prst="line">
            <a:avLst/>
          </a:prstGeom>
          <a:noFill/>
          <a:ln w="9525">
            <a:solidFill>
              <a:schemeClr val="tx1"/>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27018" name="Line 10"/>
          <p:cNvSpPr>
            <a:spLocks noChangeShapeType="1"/>
          </p:cNvSpPr>
          <p:nvPr/>
        </p:nvSpPr>
        <p:spPr bwMode="auto">
          <a:xfrm>
            <a:off x="762000" y="3048000"/>
            <a:ext cx="1066800" cy="685800"/>
          </a:xfrm>
          <a:prstGeom prst="line">
            <a:avLst/>
          </a:prstGeom>
          <a:noFill/>
          <a:ln w="9525">
            <a:solidFill>
              <a:schemeClr val="tx1"/>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27019" name="Line 11"/>
          <p:cNvSpPr>
            <a:spLocks noChangeShapeType="1"/>
          </p:cNvSpPr>
          <p:nvPr/>
        </p:nvSpPr>
        <p:spPr bwMode="auto">
          <a:xfrm>
            <a:off x="609600" y="3124200"/>
            <a:ext cx="228600" cy="533400"/>
          </a:xfrm>
          <a:prstGeom prst="line">
            <a:avLst/>
          </a:prstGeom>
          <a:noFill/>
          <a:ln w="9525">
            <a:solidFill>
              <a:schemeClr val="tx1"/>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27020" name="Line 12"/>
          <p:cNvSpPr>
            <a:spLocks noChangeShapeType="1"/>
          </p:cNvSpPr>
          <p:nvPr/>
        </p:nvSpPr>
        <p:spPr bwMode="auto">
          <a:xfrm>
            <a:off x="1143000" y="3962400"/>
            <a:ext cx="609600" cy="0"/>
          </a:xfrm>
          <a:prstGeom prst="line">
            <a:avLst/>
          </a:prstGeom>
          <a:noFill/>
          <a:ln w="9525">
            <a:solidFill>
              <a:schemeClr val="tx1"/>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aphicFrame>
        <p:nvGraphicFramePr>
          <p:cNvPr id="427021" name="Object 13"/>
          <p:cNvGraphicFramePr/>
          <p:nvPr/>
        </p:nvGraphicFramePr>
        <p:xfrm>
          <a:off x="3717925" y="3429000"/>
          <a:ext cx="2700338" cy="3048000"/>
        </p:xfrm>
        <a:graphic>
          <a:graphicData uri="http://schemas.openxmlformats.org/presentationml/2006/ole">
            <mc:AlternateContent xmlns:mc="http://schemas.openxmlformats.org/markup-compatibility/2006">
              <mc:Choice xmlns:v="urn:schemas-microsoft-com:vml" Requires="v">
                <p:oleObj spid="_x0000_s3078" name="" r:id="rId1" imgW="736600" imgH="1143000" progId="Equation.3">
                  <p:embed/>
                </p:oleObj>
              </mc:Choice>
              <mc:Fallback>
                <p:oleObj name="" r:id="rId1" imgW="736600" imgH="1143000" progId="Equation.3">
                  <p:embed/>
                  <p:pic>
                    <p:nvPicPr>
                      <p:cNvPr id="0" name="20 3077"/>
                      <p:cNvPicPr/>
                      <p:nvPr/>
                    </p:nvPicPr>
                    <p:blipFill>
                      <a:blip r:embed="rId2"/>
                      <a:stretch>
                        <a:fillRect/>
                      </a:stretch>
                    </p:blipFill>
                    <p:spPr>
                      <a:xfrm>
                        <a:off x="3717925" y="3429000"/>
                        <a:ext cx="2700338" cy="3048000"/>
                      </a:xfrm>
                      <a:prstGeom prst="rect">
                        <a:avLst/>
                      </a:prstGeom>
                      <a:noFill/>
                      <a:ln w="38100">
                        <a:noFill/>
                        <a:miter/>
                      </a:ln>
                    </p:spPr>
                  </p:pic>
                </p:oleObj>
              </mc:Fallback>
            </mc:AlternateContent>
          </a:graphicData>
        </a:graphic>
      </p:graphicFrame>
      <p:sp>
        <p:nvSpPr>
          <p:cNvPr id="427023" name="Rectangle 15"/>
          <p:cNvSpPr>
            <a:spLocks noChangeArrowheads="1"/>
          </p:cNvSpPr>
          <p:nvPr/>
        </p:nvSpPr>
        <p:spPr bwMode="auto">
          <a:xfrm>
            <a:off x="2133600" y="5715000"/>
            <a:ext cx="1260475" cy="519113"/>
          </a:xfrm>
          <a:prstGeom prst="rect">
            <a:avLst/>
          </a:prstGeom>
          <a:noFill/>
          <a:ln w="9525">
            <a:noFill/>
            <a:miter lim="800000"/>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有向图</a:t>
            </a:r>
            <a:endPar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endParaRPr>
          </a:p>
        </p:txBody>
      </p:sp>
      <p:pic>
        <p:nvPicPr>
          <p:cNvPr id="427024" name="Picture 16"/>
          <p:cNvPicPr>
            <a:picLocks noChangeAspect="1"/>
          </p:cNvPicPr>
          <p:nvPr/>
        </p:nvPicPr>
        <p:blipFill>
          <a:blip r:embed="rId3"/>
          <a:stretch>
            <a:fillRect/>
          </a:stretch>
        </p:blipFill>
        <p:spPr>
          <a:xfrm>
            <a:off x="3492500" y="188913"/>
            <a:ext cx="4267200" cy="2924175"/>
          </a:xfrm>
          <a:prstGeom prst="rect">
            <a:avLst/>
          </a:prstGeom>
          <a:noFill/>
          <a:ln w="9525">
            <a:noFill/>
          </a:ln>
        </p:spPr>
      </p:pic>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7024"/>
                                        </p:tgtEl>
                                        <p:attrNameLst>
                                          <p:attrName>style.visibility</p:attrName>
                                        </p:attrNameLst>
                                      </p:cBhvr>
                                      <p:to>
                                        <p:strVal val="visible"/>
                                      </p:to>
                                    </p:set>
                                    <p:anim calcmode="lin" valueType="num">
                                      <p:cBhvr additive="base">
                                        <p:cTn id="7" dur="500" fill="hold"/>
                                        <p:tgtEl>
                                          <p:spTgt spid="427024"/>
                                        </p:tgtEl>
                                        <p:attrNameLst>
                                          <p:attrName>ppt_x</p:attrName>
                                        </p:attrNameLst>
                                      </p:cBhvr>
                                      <p:tavLst>
                                        <p:tav tm="0">
                                          <p:val>
                                            <p:strVal val="#ppt_x"/>
                                          </p:val>
                                        </p:tav>
                                        <p:tav tm="100000">
                                          <p:val>
                                            <p:strVal val="#ppt_x"/>
                                          </p:val>
                                        </p:tav>
                                      </p:tavLst>
                                    </p:anim>
                                    <p:anim calcmode="lin" valueType="num">
                                      <p:cBhvr additive="base">
                                        <p:cTn id="8" dur="500" fill="hold"/>
                                        <p:tgtEl>
                                          <p:spTgt spid="42702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27021"/>
                                        </p:tgtEl>
                                        <p:attrNameLst>
                                          <p:attrName>style.visibility</p:attrName>
                                        </p:attrNameLst>
                                      </p:cBhvr>
                                      <p:to>
                                        <p:strVal val="visible"/>
                                      </p:to>
                                    </p:set>
                                    <p:anim calcmode="lin" valueType="num">
                                      <p:cBhvr additive="base">
                                        <p:cTn id="11" dur="500" fill="hold"/>
                                        <p:tgtEl>
                                          <p:spTgt spid="427021"/>
                                        </p:tgtEl>
                                        <p:attrNameLst>
                                          <p:attrName>ppt_x</p:attrName>
                                        </p:attrNameLst>
                                      </p:cBhvr>
                                      <p:tavLst>
                                        <p:tav tm="0">
                                          <p:val>
                                            <p:strVal val="#ppt_x"/>
                                          </p:val>
                                        </p:tav>
                                        <p:tav tm="100000">
                                          <p:val>
                                            <p:strVal val="#ppt_x"/>
                                          </p:val>
                                        </p:tav>
                                      </p:tavLst>
                                    </p:anim>
                                    <p:anim calcmode="lin" valueType="num">
                                      <p:cBhvr additive="base">
                                        <p:cTn id="12" dur="500" fill="hold"/>
                                        <p:tgtEl>
                                          <p:spTgt spid="4270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1890" name="Rectangle 2"/>
          <p:cNvSpPr>
            <a:spLocks noGrp="1" noChangeArrowheads="1"/>
          </p:cNvSpPr>
          <p:nvPr>
            <p:ph type="title"/>
          </p:nvPr>
        </p:nvSpPr>
        <p:spPr/>
        <p:txBody>
          <a:bodyPr vert="horz" wrap="square" lIns="91440" tIns="45720" rIns="91440" bIns="45720" numCol="1" anchor="b" anchorCtr="0" compatLnSpc="1"/>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rPr>
              <a:t>   </a:t>
            </a:r>
            <a:endParaRPr kumimoji="0" lang="en-US" altLang="zh-CN" sz="38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endParaRPr>
          </a:p>
        </p:txBody>
      </p:sp>
      <p:sp>
        <p:nvSpPr>
          <p:cNvPr id="421892" name="Rectangle 4"/>
          <p:cNvSpPr>
            <a:spLocks noGrp="1" noChangeArrowheads="1"/>
          </p:cNvSpPr>
          <p:nvPr>
            <p:ph idx="1"/>
          </p:nvPr>
        </p:nvSpPr>
        <p:spPr/>
        <p:txBody>
          <a:bodyPr vert="horz" wrap="square" lIns="92075" tIns="46038" rIns="92075" bIns="46038" numCol="1" anchor="t" anchorCtr="0" compatLnSpc="1"/>
          <a:lstStyle/>
          <a:p>
            <a:pPr marL="469900" marR="0" lvl="0" indent="-469900" algn="l" defTabSz="914400" rtl="0" eaLnBrk="1" fontAlgn="base" latinLnBrk="0" hangingPunct="1">
              <a:lnSpc>
                <a:spcPct val="150000"/>
              </a:lnSpc>
              <a:spcBef>
                <a:spcPct val="20000"/>
              </a:spcBef>
              <a:spcAft>
                <a:spcPct val="0"/>
              </a:spcAft>
              <a:buClr>
                <a:srgbClr val="FF3300"/>
              </a:buClr>
              <a:buSzTx/>
              <a:buFont typeface="Wingdings" panose="05000000000000000000" pitchFamily="2" charset="2"/>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无向图的邻接矩阵是对称的，有向图的邻接矩阵一般情况下是不对称的。</a:t>
            </a: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p:txBody>
      </p:sp>
      <p:sp>
        <p:nvSpPr>
          <p:cNvPr id="421893" name="Rectangle 5"/>
          <p:cNvSpPr>
            <a:spLocks noChangeArrowheads="1"/>
          </p:cNvSpPr>
          <p:nvPr/>
        </p:nvSpPr>
        <p:spPr bwMode="auto">
          <a:xfrm>
            <a:off x="395288" y="836613"/>
            <a:ext cx="7696200" cy="579438"/>
          </a:xfrm>
          <a:prstGeom prst="rect">
            <a:avLst/>
          </a:prstGeom>
          <a:noFill/>
          <a:ln w="9525">
            <a:noFill/>
            <a:miter lim="800000"/>
          </a:ln>
        </p:spPr>
        <p:txBody>
          <a:bodyPr>
            <a:spAutoFit/>
          </a:bodyPr>
          <a:lstStyle/>
          <a:p>
            <a:pPr marL="457200" marR="0" lvl="1"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邻接矩阵 </a:t>
            </a:r>
            <a:r>
              <a:rPr kumimoji="1" lang="en-US" altLang="zh-CN" sz="3200" b="1"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(Adjacency Matrix)</a:t>
            </a:r>
            <a:r>
              <a:rPr kumimoji="1" lang="zh-CN" altLang="en-US" sz="3200" b="1"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表示法</a:t>
            </a:r>
            <a:endParaRPr kumimoji="1" lang="zh-CN" altLang="en-US" sz="3200" b="1"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endParaRPr>
          </a:p>
        </p:txBody>
      </p:sp>
    </p:spTree>
  </p:cSld>
  <p:clrMapOvr>
    <a:masterClrMapping/>
  </p:clrMapOvr>
  <p:transition>
    <p:blinds dir="vert"/>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22914" name="Rectangle 2"/>
          <p:cNvSpPr>
            <a:spLocks noGrp="1" noChangeArrowheads="1"/>
          </p:cNvSpPr>
          <p:nvPr>
            <p:ph type="body" idx="1"/>
          </p:nvPr>
        </p:nvSpPr>
        <p:spPr>
          <a:xfrm>
            <a:off x="0" y="4800600"/>
            <a:ext cx="8839200" cy="1676400"/>
          </a:xfrm>
        </p:spPr>
        <p:txBody>
          <a:bodyPr wrap="square" lIns="91440" tIns="45720" rIns="91440" bIns="45720" numCol="1" anchor="t" anchorCtr="0" compatLnSpc="1"/>
          <a:lstStyle/>
          <a:p>
            <a:pPr marL="469900" marR="0" lvl="0" indent="-4699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在有向图中</a:t>
            </a:r>
            <a:r>
              <a:rPr kumimoji="0" lang="en-US" altLang="zh-CN"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r>
              <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统计第 </a:t>
            </a:r>
            <a:r>
              <a:rPr kumimoji="0" lang="en-US" altLang="zh-CN" sz="3000" b="0"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i</a:t>
            </a:r>
            <a:r>
              <a:rPr kumimoji="0" lang="en-US" altLang="zh-CN"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r>
              <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行 </a:t>
            </a:r>
            <a:r>
              <a:rPr kumimoji="0" lang="en-US" altLang="zh-CN"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1 </a:t>
            </a:r>
            <a:r>
              <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的个数可得顶点 </a:t>
            </a:r>
            <a:r>
              <a:rPr kumimoji="0" lang="en-US" altLang="zh-CN" sz="3000" b="0"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i</a:t>
            </a:r>
            <a:r>
              <a:rPr kumimoji="0" lang="en-US" altLang="zh-CN"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r>
              <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的出度，统计第 </a:t>
            </a:r>
            <a:r>
              <a:rPr kumimoji="0" lang="en-US" altLang="zh-CN" sz="3000" b="0"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j </a:t>
            </a:r>
            <a:r>
              <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列 </a:t>
            </a:r>
            <a:r>
              <a:rPr kumimoji="0" lang="en-US" altLang="zh-CN"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1 </a:t>
            </a:r>
            <a:r>
              <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的个数可得顶点 </a:t>
            </a:r>
            <a:r>
              <a:rPr kumimoji="0" lang="en-US" altLang="zh-CN" sz="3000" b="0"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j</a:t>
            </a:r>
            <a:r>
              <a:rPr kumimoji="0" lang="en-US" altLang="zh-CN"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r>
              <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的入度。</a:t>
            </a:r>
            <a:endPar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469900" marR="0" lvl="0" indent="-4699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在无向图中</a:t>
            </a:r>
            <a:r>
              <a:rPr kumimoji="0" lang="en-US" altLang="zh-CN"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r>
              <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统计第 </a:t>
            </a:r>
            <a:r>
              <a:rPr kumimoji="0" lang="en-US" altLang="zh-CN" sz="3000" b="0"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i</a:t>
            </a:r>
            <a:r>
              <a:rPr kumimoji="0" lang="en-US" altLang="zh-CN"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r>
              <a:rPr kumimoji="0" lang="zh-CN" altLang="zh-CN"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行 (列) 1 的个数可得顶点</a:t>
            </a:r>
            <a:r>
              <a:rPr kumimoji="0" lang="en-US" altLang="zh-CN" sz="3000" b="0"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i</a:t>
            </a:r>
            <a:r>
              <a:rPr kumimoji="0" lang="en-US" altLang="zh-CN"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r>
              <a:rPr kumimoji="0" lang="zh-CN" altLang="zh-CN"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的度。</a:t>
            </a:r>
            <a:endPar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36867" name="Picture 4"/>
          <p:cNvPicPr>
            <a:picLocks noChangeAspect="1"/>
          </p:cNvPicPr>
          <p:nvPr/>
        </p:nvPicPr>
        <p:blipFill>
          <a:blip r:embed="rId1"/>
          <a:stretch>
            <a:fillRect/>
          </a:stretch>
        </p:blipFill>
        <p:spPr>
          <a:xfrm>
            <a:off x="0" y="0"/>
            <a:ext cx="9031288" cy="4733925"/>
          </a:xfrm>
          <a:prstGeom prst="rect">
            <a:avLst/>
          </a:prstGeom>
          <a:noFill/>
          <a:ln w="9525">
            <a:noFill/>
          </a:ln>
        </p:spPr>
      </p:pic>
    </p:spTree>
  </p:cSld>
  <p:clrMapOvr>
    <a:masterClrMapping/>
  </p:clrMapOvr>
  <p:transition>
    <p:cover dir="r"/>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23938" name="Rectangle 2"/>
          <p:cNvSpPr>
            <a:spLocks noGrp="1" noChangeArrowheads="1"/>
          </p:cNvSpPr>
          <p:nvPr>
            <p:ph type="title" idx="4294967295"/>
          </p:nvPr>
        </p:nvSpPr>
        <p:spPr>
          <a:xfrm>
            <a:off x="0" y="44450"/>
            <a:ext cx="5024438" cy="685800"/>
          </a:xfrm>
        </p:spPr>
        <p:txBody>
          <a:bodyPr wrap="square" lIns="91440" tIns="45720" rIns="91440" bIns="45720" numCol="1" anchor="b" anchorCtr="0" compatLnSpc="1"/>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0" cap="none" spc="0" normalizeH="0" baseline="0" noProof="0">
                <a:ln>
                  <a:noFill/>
                </a:ln>
                <a:solidFill>
                  <a:srgbClr val="FF3300"/>
                </a:solidFill>
                <a:effectLst>
                  <a:outerShdw blurRad="38100" dist="38100" dir="2700000" algn="tl">
                    <a:srgbClr val="C0C0C0"/>
                  </a:outerShdw>
                </a:effectLst>
                <a:uLnTx/>
                <a:uFillTx/>
                <a:latin typeface="+mj-lt"/>
                <a:ea typeface="楷体_GB2312" pitchFamily="49" charset="-122"/>
                <a:cs typeface="+mj-cs"/>
              </a:rPr>
              <a:t>有向网和它的邻接矩阵</a:t>
            </a:r>
            <a:endParaRPr kumimoji="0" lang="zh-CN" altLang="en-US" sz="3200" b="0" i="0" u="none" strike="noStrike" kern="0" cap="none" spc="0" normalizeH="0" baseline="0" noProof="0">
              <a:ln>
                <a:noFill/>
              </a:ln>
              <a:solidFill>
                <a:srgbClr val="FF3300"/>
              </a:solidFill>
              <a:effectLst>
                <a:outerShdw blurRad="38100" dist="38100" dir="2700000" algn="tl">
                  <a:srgbClr val="C0C0C0"/>
                </a:outerShdw>
              </a:effectLst>
              <a:uLnTx/>
              <a:uFillTx/>
              <a:latin typeface="+mj-lt"/>
              <a:ea typeface="楷体_GB2312" pitchFamily="49" charset="-122"/>
              <a:cs typeface="+mj-cs"/>
            </a:endParaRPr>
          </a:p>
        </p:txBody>
      </p:sp>
      <p:sp>
        <p:nvSpPr>
          <p:cNvPr id="423941" name="Rectangle 5"/>
          <p:cNvSpPr>
            <a:spLocks noChangeArrowheads="1"/>
          </p:cNvSpPr>
          <p:nvPr/>
        </p:nvSpPr>
        <p:spPr bwMode="auto">
          <a:xfrm>
            <a:off x="250825" y="615950"/>
            <a:ext cx="8353425" cy="1373188"/>
          </a:xfrm>
          <a:prstGeom prst="rect">
            <a:avLst/>
          </a:prstGeom>
          <a:noFill/>
          <a:ln w="9525" algn="ctr">
            <a:noFill/>
            <a:miter lim="800000"/>
          </a:ln>
          <a:effectLst/>
        </p:spPr>
        <p:txBody>
          <a:bodyPr anchor="b">
            <a:spAutoFit/>
          </a:bodyPr>
          <a:lstStyle/>
          <a:p>
            <a:pPr marL="457200" marR="0" lvl="1"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 .arcs[i][j]</a:t>
            </a:r>
            <a:r>
              <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w</a:t>
            </a:r>
            <a:r>
              <a:rPr kumimoji="0" lang="en-US" altLang="zh-CN" sz="28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ij</a:t>
            </a:r>
            <a:r>
              <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，如果</a:t>
            </a:r>
            <a:r>
              <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&lt;i, j&gt;E, </a:t>
            </a:r>
            <a:r>
              <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或（</a:t>
            </a:r>
            <a:r>
              <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i, j</a:t>
            </a:r>
            <a:r>
              <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E</a:t>
            </a:r>
            <a:r>
              <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；否则</a:t>
            </a:r>
            <a:endPar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457200" marR="0" lvl="1"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 .arcs[i][j]</a:t>
            </a:r>
            <a:r>
              <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0" lang="en-US"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pic>
        <p:nvPicPr>
          <p:cNvPr id="37892" name="Picture 6"/>
          <p:cNvPicPr>
            <a:picLocks noChangeAspect="1"/>
          </p:cNvPicPr>
          <p:nvPr/>
        </p:nvPicPr>
        <p:blipFill>
          <a:blip r:embed="rId1"/>
          <a:stretch>
            <a:fillRect/>
          </a:stretch>
        </p:blipFill>
        <p:spPr>
          <a:xfrm>
            <a:off x="71438" y="1916113"/>
            <a:ext cx="8964612" cy="4630737"/>
          </a:xfrm>
          <a:prstGeom prst="rect">
            <a:avLst/>
          </a:prstGeom>
          <a:noFill/>
          <a:ln w="9525">
            <a:noFill/>
          </a:ln>
        </p:spPr>
      </p:pic>
    </p:spTree>
  </p:cSld>
  <p:clrMapOvr>
    <a:masterClrMapping/>
  </p:clrMapOvr>
  <p:transition>
    <p:cover dir="u"/>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4034" name="Oval 2"/>
          <p:cNvSpPr/>
          <p:nvPr/>
        </p:nvSpPr>
        <p:spPr>
          <a:xfrm>
            <a:off x="990600" y="16764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2</a:t>
            </a:r>
            <a:endParaRPr lang="en-US" altLang="zh-CN" sz="2400" b="0" dirty="0">
              <a:solidFill>
                <a:schemeClr val="tx1"/>
              </a:solidFill>
              <a:latin typeface="Times New Roman" panose="02020603050405020304" pitchFamily="18" charset="0"/>
            </a:endParaRPr>
          </a:p>
        </p:txBody>
      </p:sp>
      <p:sp>
        <p:nvSpPr>
          <p:cNvPr id="44035" name="Oval 3"/>
          <p:cNvSpPr/>
          <p:nvPr/>
        </p:nvSpPr>
        <p:spPr>
          <a:xfrm>
            <a:off x="152400" y="25908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1</a:t>
            </a:r>
            <a:endParaRPr lang="en-US" altLang="zh-CN" sz="2400" b="0" dirty="0">
              <a:solidFill>
                <a:schemeClr val="tx1"/>
              </a:solidFill>
              <a:latin typeface="Times New Roman" panose="02020603050405020304" pitchFamily="18" charset="0"/>
            </a:endParaRPr>
          </a:p>
        </p:txBody>
      </p:sp>
      <p:sp>
        <p:nvSpPr>
          <p:cNvPr id="44036" name="Oval 4"/>
          <p:cNvSpPr/>
          <p:nvPr/>
        </p:nvSpPr>
        <p:spPr>
          <a:xfrm>
            <a:off x="2590800" y="19812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5</a:t>
            </a:r>
            <a:endParaRPr lang="en-US" altLang="zh-CN" sz="2400" b="0" dirty="0">
              <a:solidFill>
                <a:schemeClr val="tx1"/>
              </a:solidFill>
              <a:latin typeface="Times New Roman" panose="02020603050405020304" pitchFamily="18" charset="0"/>
            </a:endParaRPr>
          </a:p>
        </p:txBody>
      </p:sp>
      <p:sp>
        <p:nvSpPr>
          <p:cNvPr id="44037" name="Oval 5"/>
          <p:cNvSpPr/>
          <p:nvPr/>
        </p:nvSpPr>
        <p:spPr>
          <a:xfrm>
            <a:off x="914400" y="36576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3</a:t>
            </a:r>
            <a:endParaRPr lang="en-US" altLang="zh-CN" sz="2400" b="0" dirty="0">
              <a:solidFill>
                <a:schemeClr val="tx1"/>
              </a:solidFill>
              <a:latin typeface="Times New Roman" panose="02020603050405020304" pitchFamily="18" charset="0"/>
            </a:endParaRPr>
          </a:p>
        </p:txBody>
      </p:sp>
      <p:sp>
        <p:nvSpPr>
          <p:cNvPr id="44038" name="Oval 6"/>
          <p:cNvSpPr/>
          <p:nvPr/>
        </p:nvSpPr>
        <p:spPr>
          <a:xfrm>
            <a:off x="1600200" y="25908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4</a:t>
            </a:r>
            <a:endParaRPr lang="en-US" altLang="zh-CN" sz="2400" b="0" dirty="0">
              <a:solidFill>
                <a:schemeClr val="tx1"/>
              </a:solidFill>
              <a:latin typeface="Times New Roman" panose="02020603050405020304" pitchFamily="18" charset="0"/>
            </a:endParaRPr>
          </a:p>
        </p:txBody>
      </p:sp>
      <p:sp>
        <p:nvSpPr>
          <p:cNvPr id="428039" name="Line 7"/>
          <p:cNvSpPr>
            <a:spLocks noChangeShapeType="1"/>
          </p:cNvSpPr>
          <p:nvPr/>
        </p:nvSpPr>
        <p:spPr bwMode="auto">
          <a:xfrm flipV="1">
            <a:off x="609600" y="2133600"/>
            <a:ext cx="457200" cy="5334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28040" name="Line 8"/>
          <p:cNvSpPr>
            <a:spLocks noChangeShapeType="1"/>
          </p:cNvSpPr>
          <p:nvPr/>
        </p:nvSpPr>
        <p:spPr bwMode="auto">
          <a:xfrm>
            <a:off x="457200" y="3124200"/>
            <a:ext cx="533400" cy="6096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aphicFrame>
        <p:nvGraphicFramePr>
          <p:cNvPr id="428041" name="Object 9"/>
          <p:cNvGraphicFramePr/>
          <p:nvPr/>
        </p:nvGraphicFramePr>
        <p:xfrm>
          <a:off x="3657600" y="3352800"/>
          <a:ext cx="2252663" cy="3276600"/>
        </p:xfrm>
        <a:graphic>
          <a:graphicData uri="http://schemas.openxmlformats.org/presentationml/2006/ole">
            <mc:AlternateContent xmlns:mc="http://schemas.openxmlformats.org/markup-compatibility/2006">
              <mc:Choice xmlns:v="urn:schemas-microsoft-com:vml" Requires="v">
                <p:oleObj spid="_x0000_s3079" name="" r:id="rId1" imgW="685800" imgH="1371600" progId="Equation.DSMT4">
                  <p:embed/>
                </p:oleObj>
              </mc:Choice>
              <mc:Fallback>
                <p:oleObj name="" r:id="rId1" imgW="685800" imgH="1371600" progId="Equation.DSMT4">
                  <p:embed/>
                  <p:pic>
                    <p:nvPicPr>
                      <p:cNvPr id="0" name="20 3078"/>
                      <p:cNvPicPr/>
                      <p:nvPr/>
                    </p:nvPicPr>
                    <p:blipFill>
                      <a:blip r:embed="rId2"/>
                      <a:stretch>
                        <a:fillRect/>
                      </a:stretch>
                    </p:blipFill>
                    <p:spPr>
                      <a:xfrm>
                        <a:off x="3657600" y="3352800"/>
                        <a:ext cx="2252663" cy="3276600"/>
                      </a:xfrm>
                      <a:prstGeom prst="rect">
                        <a:avLst/>
                      </a:prstGeom>
                      <a:noFill/>
                      <a:ln w="38100">
                        <a:noFill/>
                        <a:miter/>
                      </a:ln>
                    </p:spPr>
                  </p:pic>
                </p:oleObj>
              </mc:Fallback>
            </mc:AlternateContent>
          </a:graphicData>
        </a:graphic>
      </p:graphicFrame>
      <p:sp>
        <p:nvSpPr>
          <p:cNvPr id="44042" name="Oval 11"/>
          <p:cNvSpPr/>
          <p:nvPr/>
        </p:nvSpPr>
        <p:spPr>
          <a:xfrm>
            <a:off x="2514600" y="35052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6</a:t>
            </a:r>
            <a:endParaRPr lang="en-US" altLang="zh-CN" sz="2400" b="0" dirty="0">
              <a:solidFill>
                <a:schemeClr val="tx1"/>
              </a:solidFill>
              <a:latin typeface="Times New Roman" panose="02020603050405020304" pitchFamily="18" charset="0"/>
            </a:endParaRPr>
          </a:p>
        </p:txBody>
      </p:sp>
      <p:sp>
        <p:nvSpPr>
          <p:cNvPr id="428044" name="Line 12"/>
          <p:cNvSpPr>
            <a:spLocks noChangeShapeType="1"/>
          </p:cNvSpPr>
          <p:nvPr/>
        </p:nvSpPr>
        <p:spPr bwMode="auto">
          <a:xfrm>
            <a:off x="1447800" y="2133600"/>
            <a:ext cx="304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28045" name="Line 13"/>
          <p:cNvSpPr>
            <a:spLocks noChangeShapeType="1"/>
          </p:cNvSpPr>
          <p:nvPr/>
        </p:nvSpPr>
        <p:spPr bwMode="auto">
          <a:xfrm flipV="1">
            <a:off x="1371600" y="3124200"/>
            <a:ext cx="381000" cy="6096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28046" name="Line 14"/>
          <p:cNvSpPr>
            <a:spLocks noChangeShapeType="1"/>
          </p:cNvSpPr>
          <p:nvPr/>
        </p:nvSpPr>
        <p:spPr bwMode="auto">
          <a:xfrm flipV="1">
            <a:off x="2057400" y="22860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28047" name="Line 15"/>
          <p:cNvSpPr>
            <a:spLocks noChangeShapeType="1"/>
          </p:cNvSpPr>
          <p:nvPr/>
        </p:nvSpPr>
        <p:spPr bwMode="auto">
          <a:xfrm>
            <a:off x="2057400" y="3048000"/>
            <a:ext cx="533400" cy="5334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4047" name="Text Box 16"/>
          <p:cNvSpPr txBox="1"/>
          <p:nvPr/>
        </p:nvSpPr>
        <p:spPr>
          <a:xfrm>
            <a:off x="457200" y="21336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20</a:t>
            </a:r>
            <a:endParaRPr lang="en-US" altLang="zh-CN" sz="1600" b="0" dirty="0">
              <a:solidFill>
                <a:schemeClr val="tx1"/>
              </a:solidFill>
              <a:latin typeface="Times New Roman" panose="02020603050405020304" pitchFamily="18" charset="0"/>
            </a:endParaRPr>
          </a:p>
        </p:txBody>
      </p:sp>
      <p:sp>
        <p:nvSpPr>
          <p:cNvPr id="44048" name="Text Box 17"/>
          <p:cNvSpPr txBox="1"/>
          <p:nvPr/>
        </p:nvSpPr>
        <p:spPr>
          <a:xfrm>
            <a:off x="228600" y="32766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30</a:t>
            </a:r>
            <a:endParaRPr lang="en-US" altLang="zh-CN" sz="1600" b="0" dirty="0">
              <a:solidFill>
                <a:schemeClr val="tx1"/>
              </a:solidFill>
              <a:latin typeface="Times New Roman" panose="02020603050405020304" pitchFamily="18" charset="0"/>
            </a:endParaRPr>
          </a:p>
        </p:txBody>
      </p:sp>
      <p:sp>
        <p:nvSpPr>
          <p:cNvPr id="44049" name="Text Box 18"/>
          <p:cNvSpPr txBox="1"/>
          <p:nvPr/>
        </p:nvSpPr>
        <p:spPr>
          <a:xfrm>
            <a:off x="1066800" y="32004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50</a:t>
            </a:r>
            <a:endParaRPr lang="en-US" altLang="zh-CN" sz="1600" b="0" dirty="0">
              <a:solidFill>
                <a:schemeClr val="tx1"/>
              </a:solidFill>
              <a:latin typeface="Times New Roman" panose="02020603050405020304" pitchFamily="18" charset="0"/>
            </a:endParaRPr>
          </a:p>
        </p:txBody>
      </p:sp>
      <p:sp>
        <p:nvSpPr>
          <p:cNvPr id="44050" name="Text Box 19"/>
          <p:cNvSpPr txBox="1"/>
          <p:nvPr/>
        </p:nvSpPr>
        <p:spPr>
          <a:xfrm>
            <a:off x="1524000" y="21336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40</a:t>
            </a:r>
            <a:endParaRPr lang="en-US" altLang="zh-CN" sz="1600" b="0" dirty="0">
              <a:solidFill>
                <a:schemeClr val="tx1"/>
              </a:solidFill>
              <a:latin typeface="Times New Roman" panose="02020603050405020304" pitchFamily="18" charset="0"/>
            </a:endParaRPr>
          </a:p>
        </p:txBody>
      </p:sp>
      <p:sp>
        <p:nvSpPr>
          <p:cNvPr id="44051" name="Text Box 20"/>
          <p:cNvSpPr txBox="1"/>
          <p:nvPr/>
        </p:nvSpPr>
        <p:spPr>
          <a:xfrm>
            <a:off x="2057400" y="248285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70</a:t>
            </a:r>
            <a:endParaRPr lang="en-US" altLang="zh-CN" sz="1600" b="0" dirty="0">
              <a:solidFill>
                <a:schemeClr val="tx1"/>
              </a:solidFill>
              <a:latin typeface="Times New Roman" panose="02020603050405020304" pitchFamily="18" charset="0"/>
            </a:endParaRPr>
          </a:p>
        </p:txBody>
      </p:sp>
      <p:sp>
        <p:nvSpPr>
          <p:cNvPr id="44052" name="Text Box 21"/>
          <p:cNvSpPr txBox="1"/>
          <p:nvPr/>
        </p:nvSpPr>
        <p:spPr>
          <a:xfrm>
            <a:off x="1905000" y="324485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80</a:t>
            </a:r>
            <a:endParaRPr lang="en-US" altLang="zh-CN" sz="1600" b="0" dirty="0">
              <a:solidFill>
                <a:schemeClr val="tx1"/>
              </a:solidFill>
              <a:latin typeface="Times New Roman" panose="02020603050405020304" pitchFamily="18" charset="0"/>
            </a:endParaRPr>
          </a:p>
        </p:txBody>
      </p:sp>
      <p:sp>
        <p:nvSpPr>
          <p:cNvPr id="428054" name="Rectangle 22"/>
          <p:cNvSpPr>
            <a:spLocks noChangeArrowheads="1"/>
          </p:cNvSpPr>
          <p:nvPr/>
        </p:nvSpPr>
        <p:spPr bwMode="auto">
          <a:xfrm>
            <a:off x="1905000" y="5638800"/>
            <a:ext cx="539750" cy="519113"/>
          </a:xfrm>
          <a:prstGeom prst="rect">
            <a:avLst/>
          </a:prstGeom>
          <a:noFill/>
          <a:ln w="9525">
            <a:noFill/>
            <a:miter lim="800000"/>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网</a:t>
            </a:r>
            <a:endPar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endParaRPr>
          </a:p>
        </p:txBody>
      </p:sp>
      <p:pic>
        <p:nvPicPr>
          <p:cNvPr id="428055" name="Picture 23"/>
          <p:cNvPicPr>
            <a:picLocks noChangeAspect="1"/>
          </p:cNvPicPr>
          <p:nvPr/>
        </p:nvPicPr>
        <p:blipFill>
          <a:blip r:embed="rId3"/>
          <a:stretch>
            <a:fillRect/>
          </a:stretch>
        </p:blipFill>
        <p:spPr>
          <a:xfrm>
            <a:off x="3348038" y="404813"/>
            <a:ext cx="5143500" cy="2905125"/>
          </a:xfrm>
          <a:prstGeom prst="rect">
            <a:avLst/>
          </a:prstGeom>
          <a:noFill/>
          <a:ln w="9525">
            <a:noFill/>
          </a:ln>
        </p:spPr>
      </p:pic>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8055"/>
                                        </p:tgtEl>
                                        <p:attrNameLst>
                                          <p:attrName>style.visibility</p:attrName>
                                        </p:attrNameLst>
                                      </p:cBhvr>
                                      <p:to>
                                        <p:strVal val="visible"/>
                                      </p:to>
                                    </p:set>
                                    <p:anim calcmode="lin" valueType="num">
                                      <p:cBhvr additive="base">
                                        <p:cTn id="7" dur="500" fill="hold"/>
                                        <p:tgtEl>
                                          <p:spTgt spid="428055"/>
                                        </p:tgtEl>
                                        <p:attrNameLst>
                                          <p:attrName>ppt_x</p:attrName>
                                        </p:attrNameLst>
                                      </p:cBhvr>
                                      <p:tavLst>
                                        <p:tav tm="0">
                                          <p:val>
                                            <p:strVal val="#ppt_x"/>
                                          </p:val>
                                        </p:tav>
                                        <p:tav tm="100000">
                                          <p:val>
                                            <p:strVal val="#ppt_x"/>
                                          </p:val>
                                        </p:tav>
                                      </p:tavLst>
                                    </p:anim>
                                    <p:anim calcmode="lin" valueType="num">
                                      <p:cBhvr additive="base">
                                        <p:cTn id="8" dur="500" fill="hold"/>
                                        <p:tgtEl>
                                          <p:spTgt spid="42805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28041"/>
                                        </p:tgtEl>
                                        <p:attrNameLst>
                                          <p:attrName>style.visibility</p:attrName>
                                        </p:attrNameLst>
                                      </p:cBhvr>
                                      <p:to>
                                        <p:strVal val="visible"/>
                                      </p:to>
                                    </p:set>
                                    <p:anim calcmode="lin" valueType="num">
                                      <p:cBhvr additive="base">
                                        <p:cTn id="11" dur="500" fill="hold"/>
                                        <p:tgtEl>
                                          <p:spTgt spid="428041"/>
                                        </p:tgtEl>
                                        <p:attrNameLst>
                                          <p:attrName>ppt_x</p:attrName>
                                        </p:attrNameLst>
                                      </p:cBhvr>
                                      <p:tavLst>
                                        <p:tav tm="0">
                                          <p:val>
                                            <p:strVal val="#ppt_x"/>
                                          </p:val>
                                        </p:tav>
                                        <p:tav tm="100000">
                                          <p:val>
                                            <p:strVal val="#ppt_x"/>
                                          </p:val>
                                        </p:tav>
                                      </p:tavLst>
                                    </p:anim>
                                    <p:anim calcmode="lin" valueType="num">
                                      <p:cBhvr additive="base">
                                        <p:cTn id="12" dur="500" fill="hold"/>
                                        <p:tgtEl>
                                          <p:spTgt spid="4280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38914" name="20 2"/>
          <p:cNvPicPr>
            <a:picLocks noChangeAspect="1"/>
          </p:cNvPicPr>
          <p:nvPr/>
        </p:nvPicPr>
        <p:blipFill>
          <a:blip r:embed="rId1"/>
          <a:stretch>
            <a:fillRect/>
          </a:stretch>
        </p:blipFill>
        <p:spPr>
          <a:xfrm>
            <a:off x="130175" y="998538"/>
            <a:ext cx="8883650" cy="4860925"/>
          </a:xfrm>
          <a:prstGeom prst="rect">
            <a:avLst/>
          </a:prstGeom>
          <a:noFill/>
          <a:ln w="9525">
            <a:noFill/>
          </a:ln>
        </p:spPr>
      </p:pic>
      <p:sp>
        <p:nvSpPr>
          <p:cNvPr id="438278" name="Line 6"/>
          <p:cNvSpPr>
            <a:spLocks noChangeShapeType="1"/>
          </p:cNvSpPr>
          <p:nvPr/>
        </p:nvSpPr>
        <p:spPr bwMode="auto">
          <a:xfrm>
            <a:off x="630238" y="4579938"/>
            <a:ext cx="3600450" cy="0"/>
          </a:xfrm>
          <a:prstGeom prst="line">
            <a:avLst/>
          </a:prstGeom>
          <a:noFill/>
          <a:ln w="76200">
            <a:solidFill>
              <a:schemeClr val="accent2"/>
            </a:solidFill>
            <a:round/>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38279" name="Line 7"/>
          <p:cNvSpPr>
            <a:spLocks noChangeShapeType="1"/>
          </p:cNvSpPr>
          <p:nvPr/>
        </p:nvSpPr>
        <p:spPr bwMode="auto">
          <a:xfrm>
            <a:off x="1628775" y="3960813"/>
            <a:ext cx="4681538" cy="0"/>
          </a:xfrm>
          <a:prstGeom prst="line">
            <a:avLst/>
          </a:prstGeom>
          <a:noFill/>
          <a:ln w="76200">
            <a:solidFill>
              <a:schemeClr val="accent2"/>
            </a:solidFill>
            <a:round/>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38277" name="Line 5"/>
          <p:cNvSpPr>
            <a:spLocks noChangeShapeType="1"/>
          </p:cNvSpPr>
          <p:nvPr/>
        </p:nvSpPr>
        <p:spPr bwMode="auto">
          <a:xfrm>
            <a:off x="630238" y="4887913"/>
            <a:ext cx="3600450" cy="0"/>
          </a:xfrm>
          <a:prstGeom prst="line">
            <a:avLst/>
          </a:prstGeom>
          <a:noFill/>
          <a:ln w="76200">
            <a:solidFill>
              <a:schemeClr val="accent2"/>
            </a:solidFill>
            <a:round/>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8918" name="文本框 3"/>
          <p:cNvSpPr txBox="1"/>
          <p:nvPr/>
        </p:nvSpPr>
        <p:spPr>
          <a:xfrm>
            <a:off x="6604000" y="4181475"/>
            <a:ext cx="1619250" cy="398463"/>
          </a:xfrm>
          <a:prstGeom prst="rect">
            <a:avLst/>
          </a:prstGeom>
          <a:noFill/>
          <a:ln w="9525">
            <a:noFill/>
          </a:ln>
        </p:spPr>
        <p:txBody>
          <a:bodyPr>
            <a:spAutoFit/>
          </a:bodyPr>
          <a:p>
            <a:pPr eaLnBrk="1" hangingPunct="1"/>
            <a:r>
              <a:rPr lang="zh-CN" altLang="en-US" dirty="0">
                <a:solidFill>
                  <a:srgbClr val="FF0000"/>
                </a:solidFill>
                <a:latin typeface="Verdana" panose="020B0604030504040204" pitchFamily="34" charset="0"/>
              </a:rPr>
              <a:t>顶点表</a:t>
            </a:r>
            <a:endParaRPr lang="zh-CN" altLang="en-US" dirty="0">
              <a:solidFill>
                <a:srgbClr val="FF0000"/>
              </a:solidFill>
              <a:latin typeface="Verdana" panose="020B0604030504040204" pitchFamily="34" charset="0"/>
            </a:endParaRPr>
          </a:p>
        </p:txBody>
      </p:sp>
      <p:sp>
        <p:nvSpPr>
          <p:cNvPr id="38919" name="文本框 4"/>
          <p:cNvSpPr txBox="1"/>
          <p:nvPr/>
        </p:nvSpPr>
        <p:spPr>
          <a:xfrm>
            <a:off x="6604000" y="4489450"/>
            <a:ext cx="1365250" cy="398463"/>
          </a:xfrm>
          <a:prstGeom prst="rect">
            <a:avLst/>
          </a:prstGeom>
          <a:noFill/>
          <a:ln w="9525">
            <a:noFill/>
          </a:ln>
        </p:spPr>
        <p:txBody>
          <a:bodyPr>
            <a:spAutoFit/>
          </a:bodyPr>
          <a:p>
            <a:pPr eaLnBrk="1" hangingPunct="1"/>
            <a:r>
              <a:rPr lang="zh-CN" altLang="en-US" dirty="0">
                <a:solidFill>
                  <a:srgbClr val="FF0000"/>
                </a:solidFill>
                <a:latin typeface="Verdana" panose="020B0604030504040204" pitchFamily="34" charset="0"/>
              </a:rPr>
              <a:t>弧的表</a:t>
            </a:r>
            <a:endParaRPr lang="zh-CN" altLang="en-US" dirty="0">
              <a:solidFill>
                <a:srgbClr val="FF0000"/>
              </a:solidFill>
              <a:latin typeface="Verdana" panose="020B0604030504040204" pitchFamily="34" charset="0"/>
            </a:endParaRPr>
          </a:p>
        </p:txBody>
      </p:sp>
      <p:sp>
        <p:nvSpPr>
          <p:cNvPr id="38920" name="文本框 5"/>
          <p:cNvSpPr txBox="1"/>
          <p:nvPr/>
        </p:nvSpPr>
        <p:spPr>
          <a:xfrm>
            <a:off x="2249488" y="3960813"/>
            <a:ext cx="1339850" cy="398462"/>
          </a:xfrm>
          <a:prstGeom prst="rect">
            <a:avLst/>
          </a:prstGeom>
          <a:noFill/>
          <a:ln w="9525">
            <a:noFill/>
          </a:ln>
        </p:spPr>
        <p:txBody>
          <a:bodyPr>
            <a:spAutoFit/>
          </a:bodyPr>
          <a:p>
            <a:pPr eaLnBrk="1" hangingPunct="1"/>
            <a:r>
              <a:rPr lang="zh-CN" altLang="en-US" dirty="0">
                <a:solidFill>
                  <a:srgbClr val="FF0000"/>
                </a:solidFill>
                <a:latin typeface="Verdana" panose="020B0604030504040204" pitchFamily="34" charset="0"/>
              </a:rPr>
              <a:t>图的定义</a:t>
            </a:r>
            <a:endParaRPr lang="zh-CN" altLang="en-US" dirty="0">
              <a:solidFill>
                <a:srgbClr val="FF0000"/>
              </a:solidFill>
              <a:latin typeface="Verdana" panose="020B0604030504040204" pitchFamily="34" charset="0"/>
            </a:endParaRPr>
          </a:p>
        </p:txBody>
      </p:sp>
      <p:sp>
        <p:nvSpPr>
          <p:cNvPr id="38921" name="文本框 6"/>
          <p:cNvSpPr txBox="1"/>
          <p:nvPr/>
        </p:nvSpPr>
        <p:spPr>
          <a:xfrm>
            <a:off x="2990850" y="2322513"/>
            <a:ext cx="1339850" cy="398462"/>
          </a:xfrm>
          <a:prstGeom prst="rect">
            <a:avLst/>
          </a:prstGeom>
          <a:noFill/>
          <a:ln w="9525">
            <a:noFill/>
          </a:ln>
        </p:spPr>
        <p:txBody>
          <a:bodyPr>
            <a:spAutoFit/>
          </a:bodyPr>
          <a:p>
            <a:pPr eaLnBrk="1" hangingPunct="1"/>
            <a:r>
              <a:rPr lang="zh-CN" altLang="en-US" dirty="0">
                <a:solidFill>
                  <a:srgbClr val="FF0000"/>
                </a:solidFill>
                <a:latin typeface="Verdana" panose="020B0604030504040204" pitchFamily="34" charset="0"/>
              </a:rPr>
              <a:t>弧的定义</a:t>
            </a:r>
            <a:endParaRPr lang="zh-CN" altLang="en-US" dirty="0">
              <a:solidFill>
                <a:srgbClr val="FF0000"/>
              </a:solidFill>
              <a:latin typeface="Verdana" panose="020B060403050404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D9D"/>
        </a:solidFill>
        <a:effectLst/>
      </p:bgPr>
    </p:bg>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前情提要</a:t>
            </a:r>
            <a:r>
              <a:rPr kumimoji="0" lang="en-US" altLang="zh-CN"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a:t>
            </a: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图</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0419" name="文本框 2"/>
          <p:cNvSpPr txBox="1">
            <a:spLocks noChangeArrowheads="1"/>
          </p:cNvSpPr>
          <p:nvPr/>
        </p:nvSpPr>
        <p:spPr bwMode="auto">
          <a:xfrm>
            <a:off x="660400" y="1721485"/>
            <a:ext cx="7872730" cy="4439920"/>
          </a:xfrm>
          <a:prstGeom prst="rect">
            <a:avLst/>
          </a:prstGeom>
          <a:noFill/>
          <a:ln>
            <a:noFill/>
          </a:ln>
        </p:spPr>
        <p:txBody>
          <a:bodyPr>
            <a:noAutofit/>
          </a:bodyPr>
          <a:lstStyle>
            <a:lvl1pPr>
              <a:defRPr sz="2000" b="1">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742950" indent="-285750">
              <a:defRPr sz="2000" b="1">
                <a:solidFill>
                  <a:schemeClr val="tx2"/>
                </a:solidFill>
                <a:latin typeface="Verdana" panose="020B0604030504040204" pitchFamily="34" charset="0"/>
                <a:ea typeface="宋体" panose="02010600030101010101" pitchFamily="2" charset="-122"/>
                <a:sym typeface="Symbol" panose="05050102010706020507" pitchFamily="18" charset="2"/>
              </a:defRPr>
            </a:lvl2pPr>
            <a:lvl3pPr marL="1143000" indent="-228600">
              <a:defRPr sz="2000" b="1">
                <a:solidFill>
                  <a:schemeClr val="tx2"/>
                </a:solidFill>
                <a:latin typeface="Verdana" panose="020B0604030504040204" pitchFamily="34" charset="0"/>
                <a:ea typeface="宋体" panose="02010600030101010101" pitchFamily="2" charset="-122"/>
                <a:sym typeface="Symbol" panose="05050102010706020507" pitchFamily="18" charset="2"/>
              </a:defRPr>
            </a:lvl3pPr>
            <a:lvl4pPr marL="1600200" indent="-228600">
              <a:defRPr sz="2000" b="1">
                <a:solidFill>
                  <a:schemeClr val="tx2"/>
                </a:solidFill>
                <a:latin typeface="Verdana" panose="020B0604030504040204" pitchFamily="34" charset="0"/>
                <a:ea typeface="宋体" panose="02010600030101010101" pitchFamily="2" charset="-122"/>
                <a:sym typeface="Symbol" panose="05050102010706020507" pitchFamily="18" charset="2"/>
              </a:defRPr>
            </a:lvl4pPr>
            <a:lvl5pPr marL="2057400" indent="-228600">
              <a:defRPr sz="2000" b="1">
                <a:solidFill>
                  <a:schemeClr val="tx2"/>
                </a:solidFill>
                <a:latin typeface="Verdana" panose="020B0604030504040204" pitchFamily="34" charset="0"/>
                <a:ea typeface="宋体" panose="02010600030101010101" pitchFamily="2" charset="-122"/>
                <a:sym typeface="Symbol" panose="05050102010706020507" pitchFamily="18" charset="2"/>
              </a:defRPr>
            </a:lvl5pPr>
            <a:lvl6pPr marL="2514600" indent="-228600" eaLnBrk="0" fontAlgn="base" hangingPunct="0">
              <a:spcBef>
                <a:spcPct val="0"/>
              </a:spcBef>
              <a:spcAft>
                <a:spcPct val="0"/>
              </a:spcAft>
              <a:defRPr sz="2000" b="1">
                <a:solidFill>
                  <a:schemeClr val="tx2"/>
                </a:solidFill>
                <a:latin typeface="Verdana" panose="020B0604030504040204" pitchFamily="34" charset="0"/>
                <a:ea typeface="宋体" panose="02010600030101010101" pitchFamily="2" charset="-122"/>
                <a:sym typeface="Symbol" panose="05050102010706020507" pitchFamily="18" charset="2"/>
              </a:defRPr>
            </a:lvl6pPr>
            <a:lvl7pPr marL="2971800" indent="-228600" eaLnBrk="0" fontAlgn="base" hangingPunct="0">
              <a:spcBef>
                <a:spcPct val="0"/>
              </a:spcBef>
              <a:spcAft>
                <a:spcPct val="0"/>
              </a:spcAft>
              <a:defRPr sz="2000" b="1">
                <a:solidFill>
                  <a:schemeClr val="tx2"/>
                </a:solidFill>
                <a:latin typeface="Verdana" panose="020B0604030504040204" pitchFamily="34" charset="0"/>
                <a:ea typeface="宋体" panose="02010600030101010101" pitchFamily="2" charset="-122"/>
                <a:sym typeface="Symbol" panose="05050102010706020507" pitchFamily="18" charset="2"/>
              </a:defRPr>
            </a:lvl7pPr>
            <a:lvl8pPr marL="3429000" indent="-228600" eaLnBrk="0" fontAlgn="base" hangingPunct="0">
              <a:spcBef>
                <a:spcPct val="0"/>
              </a:spcBef>
              <a:spcAft>
                <a:spcPct val="0"/>
              </a:spcAft>
              <a:defRPr sz="2000" b="1">
                <a:solidFill>
                  <a:schemeClr val="tx2"/>
                </a:solidFill>
                <a:latin typeface="Verdana" panose="020B0604030504040204" pitchFamily="34" charset="0"/>
                <a:ea typeface="宋体" panose="02010600030101010101" pitchFamily="2" charset="-122"/>
                <a:sym typeface="Symbol" panose="05050102010706020507" pitchFamily="18" charset="2"/>
              </a:defRPr>
            </a:lvl8pPr>
            <a:lvl9pPr marL="3886200" indent="-228600" eaLnBrk="0" fontAlgn="base" hangingPunct="0">
              <a:spcBef>
                <a:spcPct val="0"/>
              </a:spcBef>
              <a:spcAft>
                <a:spcPct val="0"/>
              </a:spcAft>
              <a:defRPr sz="2000" b="1">
                <a:solidFill>
                  <a:schemeClr val="tx2"/>
                </a:solidFill>
                <a:latin typeface="Verdana" panose="020B0604030504040204" pitchFamily="34" charset="0"/>
                <a:ea typeface="宋体" panose="02010600030101010101" pitchFamily="2" charset="-122"/>
                <a:sym typeface="Symbol" panose="05050102010706020507" pitchFamily="18" charset="2"/>
              </a:defRPr>
            </a:lvl9pPr>
          </a:lstStyle>
          <a:p>
            <a:pPr marL="514350" marR="0" lvl="0" indent="-514350" algn="l" defTabSz="914400" rtl="0" eaLnBrk="1" fontAlgn="base" latinLnBrk="0" hangingPunct="1">
              <a:lnSpc>
                <a:spcPct val="150000"/>
              </a:lnSpc>
              <a:spcBef>
                <a:spcPct val="0"/>
              </a:spcBef>
              <a:spcAft>
                <a:spcPct val="0"/>
              </a:spcAft>
              <a:buClrTx/>
              <a:buSzTx/>
              <a:buFontTx/>
              <a:buAutoNum type="arabicPeriod"/>
              <a:defRPr/>
            </a:pPr>
            <a:r>
              <a:rPr kumimoji="0" lang="zh-CN" altLang="en-US" sz="3200" b="1" i="0" u="none" strike="noStrike" kern="1200" cap="none" spc="0" normalizeH="0" baseline="0" noProof="0" dirty="0">
                <a:ln>
                  <a:noFill/>
                </a:ln>
                <a:solidFill>
                  <a:schemeClr val="tx2"/>
                </a:solidFill>
                <a:effectLst/>
                <a:uLnTx/>
                <a:uFillTx/>
                <a:latin typeface="Verdana" panose="020B0604030504040204" pitchFamily="34" charset="0"/>
                <a:ea typeface="宋体" panose="02010600030101010101" pitchFamily="2" charset="-122"/>
                <a:cs typeface="+mn-cs"/>
                <a:sym typeface="Symbol" panose="05050102010706020507" pitchFamily="18" charset="2"/>
              </a:rPr>
              <a:t>图的定义和术语</a:t>
            </a:r>
            <a:endParaRPr kumimoji="0" lang="zh-CN" altLang="en-US" sz="3200" b="1" i="0" u="none" strike="noStrike" kern="1200" cap="none" spc="0" normalizeH="0" baseline="0" noProof="0" dirty="0">
              <a:ln>
                <a:noFill/>
              </a:ln>
              <a:solidFill>
                <a:schemeClr val="tx2"/>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a:p>
            <a:pPr marR="0" lvl="0" indent="457200" algn="l" defTabSz="914400" rtl="0" eaLnBrk="1" fontAlgn="base" latinLnBrk="0" hangingPunct="1">
              <a:lnSpc>
                <a:spcPct val="150000"/>
              </a:lnSpc>
              <a:spcBef>
                <a:spcPct val="0"/>
              </a:spcBef>
              <a:spcAft>
                <a:spcPct val="0"/>
              </a:spcAft>
              <a:buClrTx/>
              <a:buSzTx/>
              <a:buFontTx/>
              <a:defRPr/>
            </a:pPr>
            <a:r>
              <a:rPr kumimoji="0" lang="zh-CN" altLang="en-US" sz="3200" b="1" i="0" u="none" strike="noStrike" kern="1200" cap="none" spc="0" normalizeH="0" baseline="0" noProof="0" dirty="0">
                <a:ln>
                  <a:noFill/>
                </a:ln>
                <a:solidFill>
                  <a:schemeClr val="tx2"/>
                </a:solidFill>
                <a:effectLst/>
                <a:uLnTx/>
                <a:uFillTx/>
                <a:latin typeface="+mn-ea"/>
                <a:ea typeface="+mn-ea"/>
                <a:cs typeface="+mn-cs"/>
                <a:sym typeface="Symbol" panose="05050102010706020507" pitchFamily="18" charset="2"/>
              </a:rPr>
              <a:t>顶点、弧</a:t>
            </a:r>
            <a:r>
              <a:rPr lang="zh-CN" altLang="en-US" sz="3200" noProof="0" dirty="0">
                <a:ln>
                  <a:noFill/>
                </a:ln>
                <a:effectLst/>
                <a:uLnTx/>
                <a:uFillTx/>
                <a:latin typeface="+mn-ea"/>
                <a:ea typeface="+mn-ea"/>
                <a:sym typeface="Symbol" panose="05050102010706020507" pitchFamily="18" charset="2"/>
              </a:rPr>
              <a:t>、边、有向（完全）图、无向（</a:t>
            </a:r>
            <a:r>
              <a:rPr lang="zh-CN" altLang="en-US" sz="3200" noProof="0" dirty="0">
                <a:ln>
                  <a:noFill/>
                </a:ln>
                <a:effectLst/>
                <a:uLnTx/>
                <a:uFillTx/>
                <a:latin typeface="+mn-ea"/>
                <a:ea typeface="+mn-ea"/>
                <a:sym typeface="Symbol" panose="05050102010706020507" pitchFamily="18" charset="2"/>
              </a:rPr>
              <a:t>完全）图、权、网、邻接点、顶点的（度、入度、出度）</a:t>
            </a:r>
            <a:endParaRPr lang="zh-CN" altLang="en-US" sz="3200" noProof="0" dirty="0">
              <a:ln>
                <a:noFill/>
              </a:ln>
              <a:effectLst/>
              <a:uLnTx/>
              <a:uFillTx/>
              <a:latin typeface="+mn-ea"/>
              <a:ea typeface="+mn-ea"/>
              <a:sym typeface="Symbol" panose="05050102010706020507" pitchFamily="18" charset="2"/>
            </a:endParaRPr>
          </a:p>
          <a:p>
            <a:pPr marR="0" lvl="0" algn="l" defTabSz="914400" rtl="0" eaLnBrk="1" fontAlgn="base" latinLnBrk="0" hangingPunct="1">
              <a:lnSpc>
                <a:spcPct val="150000"/>
              </a:lnSpc>
              <a:buClrTx/>
              <a:buSzTx/>
              <a:buFontTx/>
              <a:defRPr/>
            </a:pPr>
            <a:r>
              <a:rPr lang="en-US" altLang="zh-CN" sz="3200" noProof="0" dirty="0">
                <a:ln>
                  <a:noFill/>
                </a:ln>
                <a:effectLst/>
                <a:uLnTx/>
                <a:uFillTx/>
                <a:sym typeface="Symbol" panose="05050102010706020507" pitchFamily="18" charset="2"/>
              </a:rPr>
              <a:t>2. 图的基本操作</a:t>
            </a:r>
            <a:endParaRPr kumimoji="0" lang="en-US" altLang="zh-CN" sz="3200" b="1" i="0" u="none" strike="noStrike" kern="1200" cap="none" spc="0" normalizeH="0" baseline="0" noProof="0" dirty="0">
              <a:ln>
                <a:noFill/>
              </a:ln>
              <a:solidFill>
                <a:schemeClr val="tx2"/>
              </a:solidFill>
              <a:effectLst/>
              <a:uLnTx/>
              <a:uFillTx/>
              <a:cs typeface="+mn-cs"/>
              <a:sym typeface="Symbol" panose="05050102010706020507" pitchFamily="18" charset="2"/>
            </a:endParaRPr>
          </a:p>
          <a:p>
            <a:pPr marR="0" lvl="0" algn="l" defTabSz="914400" rtl="0" eaLnBrk="1" fontAlgn="base" latinLnBrk="0" hangingPunct="1">
              <a:lnSpc>
                <a:spcPct val="150000"/>
              </a:lnSpc>
              <a:spcBef>
                <a:spcPct val="0"/>
              </a:spcBef>
              <a:spcAft>
                <a:spcPct val="0"/>
              </a:spcAft>
              <a:buClrTx/>
              <a:buSzTx/>
              <a:buFontTx/>
              <a:defRPr/>
            </a:pPr>
            <a:r>
              <a:rPr kumimoji="0" lang="en-US" altLang="zh-CN" sz="3200" b="1" i="0" u="none" strike="noStrike" kern="1200" cap="none" spc="0" normalizeH="0" baseline="0" noProof="0" dirty="0">
                <a:ln>
                  <a:noFill/>
                </a:ln>
                <a:solidFill>
                  <a:schemeClr val="tx2"/>
                </a:solidFill>
                <a:effectLst/>
                <a:uLnTx/>
                <a:uFillTx/>
                <a:latin typeface="Verdana" panose="020B0604030504040204" pitchFamily="34" charset="0"/>
                <a:ea typeface="宋体" panose="02010600030101010101" pitchFamily="2" charset="-122"/>
                <a:cs typeface="+mn-cs"/>
                <a:sym typeface="Symbol" panose="05050102010706020507" pitchFamily="18" charset="2"/>
              </a:rPr>
              <a:t>3. </a:t>
            </a:r>
            <a:r>
              <a:rPr kumimoji="0" lang="zh-CN" altLang="en-US" sz="3200" b="1" i="0" u="none" strike="noStrike" kern="1200" cap="none" spc="0" normalizeH="0" baseline="0" noProof="0" dirty="0">
                <a:ln>
                  <a:noFill/>
                </a:ln>
                <a:solidFill>
                  <a:schemeClr val="tx2"/>
                </a:solidFill>
                <a:effectLst/>
                <a:uLnTx/>
                <a:uFillTx/>
                <a:latin typeface="Verdana" panose="020B0604030504040204" pitchFamily="34" charset="0"/>
                <a:ea typeface="宋体" panose="02010600030101010101" pitchFamily="2" charset="-122"/>
                <a:cs typeface="+mn-cs"/>
                <a:sym typeface="Symbol" panose="05050102010706020507" pitchFamily="18" charset="2"/>
              </a:rPr>
              <a:t>图的存储</a:t>
            </a:r>
            <a:r>
              <a:rPr kumimoji="0" lang="zh-CN" altLang="en-US" sz="3200" b="1" i="0" u="none" strike="noStrike" kern="1200" cap="none" spc="0" normalizeH="0" baseline="0" noProof="0" dirty="0">
                <a:ln>
                  <a:noFill/>
                </a:ln>
                <a:solidFill>
                  <a:schemeClr val="tx2"/>
                </a:solidFill>
                <a:effectLst/>
                <a:uLnTx/>
                <a:uFillTx/>
                <a:latin typeface="Verdana" panose="020B0604030504040204" pitchFamily="34" charset="0"/>
                <a:ea typeface="宋体" panose="02010600030101010101" pitchFamily="2" charset="-122"/>
                <a:cs typeface="+mn-cs"/>
                <a:sym typeface="Symbol" panose="05050102010706020507" pitchFamily="18" charset="2"/>
              </a:rPr>
              <a:t>表示：邻接矩阵</a:t>
            </a:r>
            <a:endParaRPr kumimoji="0" lang="zh-CN" altLang="en-US" sz="3200" b="1" i="0" u="none" strike="noStrike" kern="1200" cap="none" spc="0" normalizeH="0" baseline="0" noProof="0" dirty="0">
              <a:ln>
                <a:noFill/>
              </a:ln>
              <a:solidFill>
                <a:schemeClr val="tx2"/>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rgbClr val="F7FD9D"/>
        </a:solidFill>
        <a:effectLst/>
      </p:bgPr>
    </p:bg>
    <p:spTree>
      <p:nvGrpSpPr>
        <p:cNvPr id="1" name=""/>
        <p:cNvGrpSpPr/>
        <p:nvPr/>
      </p:nvGrpSpPr>
      <p:grpSpPr/>
      <p:sp>
        <p:nvSpPr>
          <p:cNvPr id="9219" name="Text Box 3"/>
          <p:cNvSpPr txBox="1"/>
          <p:nvPr/>
        </p:nvSpPr>
        <p:spPr>
          <a:xfrm>
            <a:off x="762000" y="1489075"/>
            <a:ext cx="3867150" cy="750888"/>
          </a:xfrm>
          <a:prstGeom prst="rect">
            <a:avLst/>
          </a:prstGeom>
          <a:noFill/>
          <a:ln w="12700">
            <a:noFill/>
          </a:ln>
        </p:spPr>
        <p:txBody>
          <a:bodyPr wrap="none">
            <a:spAutoFit/>
          </a:bodyPr>
          <a:p>
            <a:pPr eaLnBrk="1" hangingPunct="1">
              <a:lnSpc>
                <a:spcPct val="120000"/>
              </a:lnSpc>
            </a:pPr>
            <a:r>
              <a:rPr lang="zh-CN" altLang="en-US" sz="3600" dirty="0">
                <a:solidFill>
                  <a:srgbClr val="0000FF"/>
                </a:solidFill>
                <a:latin typeface="Times New Roman" panose="02020603050405020304" pitchFamily="18" charset="0"/>
                <a:ea typeface="楷体_GB2312" pitchFamily="49" charset="-122"/>
              </a:rPr>
              <a:t>结构的建立和销毁</a:t>
            </a:r>
            <a:endParaRPr lang="zh-CN" altLang="en-US" dirty="0">
              <a:solidFill>
                <a:srgbClr val="008080"/>
              </a:solidFill>
              <a:latin typeface="Times New Roman" panose="02020603050405020304" pitchFamily="18" charset="0"/>
              <a:ea typeface="楷体_GB2312" pitchFamily="49" charset="-122"/>
            </a:endParaRPr>
          </a:p>
        </p:txBody>
      </p:sp>
      <p:sp>
        <p:nvSpPr>
          <p:cNvPr id="9220" name="Text Box 4">
            <a:hlinkClick r:id="rId1" action="ppaction://hlinksldjump"/>
          </p:cNvPr>
          <p:cNvSpPr txBox="1"/>
          <p:nvPr/>
        </p:nvSpPr>
        <p:spPr>
          <a:xfrm>
            <a:off x="685800" y="3048000"/>
            <a:ext cx="3406775" cy="750888"/>
          </a:xfrm>
          <a:prstGeom prst="rect">
            <a:avLst/>
          </a:prstGeom>
          <a:noFill/>
          <a:ln w="12700">
            <a:noFill/>
          </a:ln>
        </p:spPr>
        <p:txBody>
          <a:bodyPr wrap="none">
            <a:spAutoFit/>
          </a:bodyPr>
          <a:p>
            <a:pPr eaLnBrk="1" hangingPunct="1">
              <a:lnSpc>
                <a:spcPct val="120000"/>
              </a:lnSpc>
            </a:pPr>
            <a:r>
              <a:rPr lang="zh-CN" altLang="en-US" sz="3600" dirty="0">
                <a:solidFill>
                  <a:srgbClr val="0000FF"/>
                </a:solidFill>
                <a:latin typeface="Times New Roman" panose="02020603050405020304" pitchFamily="18" charset="0"/>
                <a:ea typeface="楷体_GB2312" pitchFamily="49" charset="-122"/>
              </a:rPr>
              <a:t>插入或删除顶点</a:t>
            </a:r>
            <a:endParaRPr lang="zh-CN" altLang="en-US" sz="4000" dirty="0">
              <a:solidFill>
                <a:srgbClr val="0000FF"/>
              </a:solidFill>
              <a:latin typeface="Times New Roman" panose="02020603050405020304" pitchFamily="18" charset="0"/>
              <a:ea typeface="楷体_GB2312" pitchFamily="49" charset="-122"/>
            </a:endParaRPr>
          </a:p>
        </p:txBody>
      </p:sp>
      <p:sp>
        <p:nvSpPr>
          <p:cNvPr id="9221" name="Text Box 5">
            <a:hlinkClick r:id="rId2" action="ppaction://hlinksldjump"/>
          </p:cNvPr>
          <p:cNvSpPr txBox="1"/>
          <p:nvPr/>
        </p:nvSpPr>
        <p:spPr>
          <a:xfrm>
            <a:off x="784225" y="4572000"/>
            <a:ext cx="3406775" cy="750888"/>
          </a:xfrm>
          <a:prstGeom prst="rect">
            <a:avLst/>
          </a:prstGeom>
          <a:noFill/>
          <a:ln w="12700">
            <a:noFill/>
          </a:ln>
        </p:spPr>
        <p:txBody>
          <a:bodyPr wrap="none">
            <a:spAutoFit/>
          </a:bodyPr>
          <a:p>
            <a:pPr eaLnBrk="1" hangingPunct="1">
              <a:lnSpc>
                <a:spcPct val="120000"/>
              </a:lnSpc>
            </a:pPr>
            <a:r>
              <a:rPr lang="zh-CN" altLang="en-US" sz="3600" dirty="0">
                <a:solidFill>
                  <a:srgbClr val="0000FF"/>
                </a:solidFill>
                <a:latin typeface="Times New Roman" panose="02020603050405020304" pitchFamily="18" charset="0"/>
                <a:ea typeface="楷体_GB2312" pitchFamily="49" charset="-122"/>
              </a:rPr>
              <a:t>对邻接点的操作</a:t>
            </a:r>
            <a:endParaRPr lang="zh-CN" altLang="en-US" sz="4000" dirty="0">
              <a:solidFill>
                <a:srgbClr val="0000FF"/>
              </a:solidFill>
              <a:latin typeface="Times New Roman" panose="02020603050405020304" pitchFamily="18" charset="0"/>
              <a:ea typeface="楷体_GB2312" pitchFamily="49" charset="-122"/>
            </a:endParaRPr>
          </a:p>
        </p:txBody>
      </p:sp>
      <p:sp>
        <p:nvSpPr>
          <p:cNvPr id="9222" name="Text Box 6">
            <a:hlinkClick r:id="rId3" action="ppaction://hlinksldjump"/>
          </p:cNvPr>
          <p:cNvSpPr txBox="1"/>
          <p:nvPr/>
        </p:nvSpPr>
        <p:spPr>
          <a:xfrm>
            <a:off x="4572000" y="2286000"/>
            <a:ext cx="3867150" cy="750888"/>
          </a:xfrm>
          <a:prstGeom prst="rect">
            <a:avLst/>
          </a:prstGeom>
          <a:noFill/>
          <a:ln w="12700">
            <a:noFill/>
          </a:ln>
        </p:spPr>
        <p:txBody>
          <a:bodyPr wrap="none">
            <a:spAutoFit/>
          </a:bodyPr>
          <a:p>
            <a:pPr eaLnBrk="1" hangingPunct="1">
              <a:lnSpc>
                <a:spcPct val="120000"/>
              </a:lnSpc>
            </a:pPr>
            <a:r>
              <a:rPr lang="zh-CN" altLang="en-US" sz="3600" dirty="0">
                <a:solidFill>
                  <a:srgbClr val="0000FF"/>
                </a:solidFill>
                <a:latin typeface="Times New Roman" panose="02020603050405020304" pitchFamily="18" charset="0"/>
                <a:ea typeface="楷体_GB2312" pitchFamily="49" charset="-122"/>
              </a:rPr>
              <a:t>对顶点的访问操作</a:t>
            </a:r>
            <a:endParaRPr lang="zh-CN" altLang="en-US" sz="2400" dirty="0">
              <a:latin typeface="Times New Roman" panose="02020603050405020304" pitchFamily="18" charset="0"/>
            </a:endParaRPr>
          </a:p>
        </p:txBody>
      </p:sp>
      <p:sp>
        <p:nvSpPr>
          <p:cNvPr id="9223" name="Text Box 7">
            <a:hlinkClick r:id="rId4" action="ppaction://hlinksldjump"/>
          </p:cNvPr>
          <p:cNvSpPr txBox="1"/>
          <p:nvPr/>
        </p:nvSpPr>
        <p:spPr>
          <a:xfrm>
            <a:off x="4572000" y="5334000"/>
            <a:ext cx="1104900" cy="750888"/>
          </a:xfrm>
          <a:prstGeom prst="rect">
            <a:avLst/>
          </a:prstGeom>
          <a:noFill/>
          <a:ln w="12700">
            <a:noFill/>
          </a:ln>
        </p:spPr>
        <p:txBody>
          <a:bodyPr wrap="none">
            <a:spAutoFit/>
          </a:bodyPr>
          <a:p>
            <a:pPr eaLnBrk="1" hangingPunct="1">
              <a:lnSpc>
                <a:spcPct val="120000"/>
              </a:lnSpc>
            </a:pPr>
            <a:r>
              <a:rPr lang="zh-CN" altLang="en-US" sz="3600" dirty="0">
                <a:solidFill>
                  <a:srgbClr val="0000FF"/>
                </a:solidFill>
                <a:latin typeface="Times New Roman" panose="02020603050405020304" pitchFamily="18" charset="0"/>
                <a:ea typeface="楷体_GB2312" pitchFamily="49" charset="-122"/>
              </a:rPr>
              <a:t>遍历</a:t>
            </a:r>
            <a:endParaRPr lang="zh-CN" altLang="en-US" sz="4000" dirty="0">
              <a:solidFill>
                <a:srgbClr val="0000FF"/>
              </a:solidFill>
              <a:latin typeface="Times New Roman" panose="02020603050405020304" pitchFamily="18" charset="0"/>
              <a:ea typeface="楷体_GB2312" pitchFamily="49" charset="-122"/>
            </a:endParaRPr>
          </a:p>
        </p:txBody>
      </p:sp>
      <p:sp>
        <p:nvSpPr>
          <p:cNvPr id="9224" name="Text Box 8">
            <a:hlinkClick r:id="rId1" action="ppaction://hlinksldjump"/>
          </p:cNvPr>
          <p:cNvSpPr txBox="1"/>
          <p:nvPr/>
        </p:nvSpPr>
        <p:spPr>
          <a:xfrm>
            <a:off x="4572000" y="3810000"/>
            <a:ext cx="2946400" cy="750888"/>
          </a:xfrm>
          <a:prstGeom prst="rect">
            <a:avLst/>
          </a:prstGeom>
          <a:noFill/>
          <a:ln w="12700">
            <a:noFill/>
          </a:ln>
        </p:spPr>
        <p:txBody>
          <a:bodyPr wrap="none">
            <a:spAutoFit/>
          </a:bodyPr>
          <a:p>
            <a:pPr eaLnBrk="1" hangingPunct="1">
              <a:lnSpc>
                <a:spcPct val="120000"/>
              </a:lnSpc>
            </a:pPr>
            <a:r>
              <a:rPr lang="zh-CN" altLang="en-US" sz="3600" dirty="0">
                <a:solidFill>
                  <a:srgbClr val="0000FF"/>
                </a:solidFill>
                <a:latin typeface="Times New Roman" panose="02020603050405020304" pitchFamily="18" charset="0"/>
                <a:ea typeface="楷体_GB2312" pitchFamily="49" charset="-122"/>
              </a:rPr>
              <a:t>插入和删除弧</a:t>
            </a:r>
            <a:endParaRPr lang="zh-CN" altLang="en-US" sz="2400" dirty="0">
              <a:latin typeface="Times New Roman" panose="02020603050405020304" pitchFamily="18" charset="0"/>
            </a:endParaRPr>
          </a:p>
        </p:txBody>
      </p:sp>
      <p:sp>
        <p:nvSpPr>
          <p:cNvPr id="9226" name="AutoShape 10">
            <a:hlinkClick r:id="" action="ppaction://hlinkshowjump?jump=nextslide"/>
          </p:cNvPr>
          <p:cNvSpPr/>
          <p:nvPr/>
        </p:nvSpPr>
        <p:spPr>
          <a:xfrm>
            <a:off x="4800600" y="1905000"/>
            <a:ext cx="228600" cy="228600"/>
          </a:xfrm>
          <a:prstGeom prst="downArrow">
            <a:avLst>
              <a:gd name="adj1" fmla="val 50000"/>
              <a:gd name="adj2" fmla="val 25000"/>
            </a:avLst>
          </a:prstGeom>
          <a:solidFill>
            <a:srgbClr val="996633"/>
          </a:solidFill>
          <a:ln w="12700" cap="sq" cmpd="sng">
            <a:solidFill>
              <a:schemeClr val="tx1"/>
            </a:solidFill>
            <a:prstDash val="solid"/>
            <a:miter/>
            <a:headEnd type="none" w="sm" len="sm"/>
            <a:tailEnd type="none" w="sm" len="sm"/>
          </a:ln>
        </p:spPr>
        <p:txBody>
          <a:bodyPr vert="eaVert" wrap="none" anchor="ctr" anchorCtr="0"/>
          <a:p>
            <a:pPr eaLnBrk="1" hangingPunct="1"/>
            <a:endParaRPr lang="en-US" altLang="zh-CN" dirty="0">
              <a:latin typeface="Times New Roman" panose="02020603050405020304" pitchFamily="18" charset="0"/>
            </a:endParaRPr>
          </a:p>
        </p:txBody>
      </p:sp>
      <p:sp>
        <p:nvSpPr>
          <p:cNvPr id="9227" name="AutoShape 11">
            <a:hlinkClick r:id="rId2" action="ppaction://hlinksldjump"/>
          </p:cNvPr>
          <p:cNvSpPr/>
          <p:nvPr/>
        </p:nvSpPr>
        <p:spPr>
          <a:xfrm>
            <a:off x="4267200" y="4953000"/>
            <a:ext cx="228600" cy="228600"/>
          </a:xfrm>
          <a:prstGeom prst="downArrow">
            <a:avLst>
              <a:gd name="adj1" fmla="val 50000"/>
              <a:gd name="adj2" fmla="val 25000"/>
            </a:avLst>
          </a:prstGeom>
          <a:solidFill>
            <a:srgbClr val="996633"/>
          </a:solidFill>
          <a:ln w="12700" cap="sq" cmpd="sng">
            <a:solidFill>
              <a:schemeClr val="tx1"/>
            </a:solidFill>
            <a:prstDash val="solid"/>
            <a:miter/>
            <a:headEnd type="none" w="sm" len="sm"/>
            <a:tailEnd type="none" w="sm" len="sm"/>
          </a:ln>
        </p:spPr>
        <p:txBody>
          <a:bodyPr vert="eaVert" wrap="none" anchor="ctr" anchorCtr="0"/>
          <a:p>
            <a:pPr eaLnBrk="1" hangingPunct="1"/>
            <a:endParaRPr lang="en-US" altLang="zh-CN" dirty="0">
              <a:latin typeface="Times New Roman" panose="02020603050405020304" pitchFamily="18" charset="0"/>
            </a:endParaRPr>
          </a:p>
        </p:txBody>
      </p:sp>
      <p:sp>
        <p:nvSpPr>
          <p:cNvPr id="9228" name="AutoShape 12">
            <a:hlinkClick r:id="rId1" action="ppaction://hlinksldjump"/>
          </p:cNvPr>
          <p:cNvSpPr/>
          <p:nvPr/>
        </p:nvSpPr>
        <p:spPr>
          <a:xfrm>
            <a:off x="4267200" y="3429000"/>
            <a:ext cx="228600" cy="228600"/>
          </a:xfrm>
          <a:prstGeom prst="downArrow">
            <a:avLst>
              <a:gd name="adj1" fmla="val 50000"/>
              <a:gd name="adj2" fmla="val 25000"/>
            </a:avLst>
          </a:prstGeom>
          <a:solidFill>
            <a:srgbClr val="996633"/>
          </a:solidFill>
          <a:ln w="12700" cap="sq" cmpd="sng">
            <a:solidFill>
              <a:schemeClr val="tx1"/>
            </a:solidFill>
            <a:prstDash val="solid"/>
            <a:miter/>
            <a:headEnd type="none" w="sm" len="sm"/>
            <a:tailEnd type="none" w="sm" len="sm"/>
          </a:ln>
        </p:spPr>
        <p:txBody>
          <a:bodyPr vert="eaVert" wrap="none" anchor="ctr" anchorCtr="0"/>
          <a:p>
            <a:pPr eaLnBrk="1" hangingPunct="1"/>
            <a:endParaRPr lang="en-US" altLang="zh-CN" dirty="0">
              <a:latin typeface="Times New Roman" panose="02020603050405020304" pitchFamily="18" charset="0"/>
            </a:endParaRPr>
          </a:p>
        </p:txBody>
      </p:sp>
      <p:sp>
        <p:nvSpPr>
          <p:cNvPr id="9229" name="AutoShape 13">
            <a:hlinkClick r:id="rId5" action="ppaction://hlinksldjump"/>
          </p:cNvPr>
          <p:cNvSpPr/>
          <p:nvPr/>
        </p:nvSpPr>
        <p:spPr>
          <a:xfrm>
            <a:off x="7696200" y="4191000"/>
            <a:ext cx="228600" cy="228600"/>
          </a:xfrm>
          <a:prstGeom prst="downArrow">
            <a:avLst>
              <a:gd name="adj1" fmla="val 50000"/>
              <a:gd name="adj2" fmla="val 25000"/>
            </a:avLst>
          </a:prstGeom>
          <a:solidFill>
            <a:srgbClr val="996633"/>
          </a:solidFill>
          <a:ln w="12700" cap="sq" cmpd="sng">
            <a:solidFill>
              <a:schemeClr val="tx1"/>
            </a:solidFill>
            <a:prstDash val="solid"/>
            <a:miter/>
            <a:headEnd type="none" w="sm" len="sm"/>
            <a:tailEnd type="none" w="sm" len="sm"/>
          </a:ln>
        </p:spPr>
        <p:txBody>
          <a:bodyPr vert="eaVert" wrap="none" anchor="ctr" anchorCtr="0"/>
          <a:p>
            <a:pPr eaLnBrk="1" hangingPunct="1"/>
            <a:endParaRPr lang="en-US" altLang="zh-CN" dirty="0">
              <a:latin typeface="Times New Roman" panose="02020603050405020304" pitchFamily="18" charset="0"/>
            </a:endParaRPr>
          </a:p>
        </p:txBody>
      </p:sp>
      <p:sp>
        <p:nvSpPr>
          <p:cNvPr id="9230" name="AutoShape 14">
            <a:hlinkClick r:id="rId4" action="ppaction://hlinksldjump"/>
          </p:cNvPr>
          <p:cNvSpPr/>
          <p:nvPr/>
        </p:nvSpPr>
        <p:spPr>
          <a:xfrm>
            <a:off x="5867400" y="5715000"/>
            <a:ext cx="228600" cy="228600"/>
          </a:xfrm>
          <a:prstGeom prst="downArrow">
            <a:avLst>
              <a:gd name="adj1" fmla="val 50000"/>
              <a:gd name="adj2" fmla="val 25000"/>
            </a:avLst>
          </a:prstGeom>
          <a:solidFill>
            <a:srgbClr val="996633"/>
          </a:solidFill>
          <a:ln w="12700" cap="sq" cmpd="sng">
            <a:solidFill>
              <a:schemeClr val="tx1"/>
            </a:solidFill>
            <a:prstDash val="solid"/>
            <a:miter/>
            <a:headEnd type="none" w="sm" len="sm"/>
            <a:tailEnd type="none" w="sm" len="sm"/>
          </a:ln>
        </p:spPr>
        <p:txBody>
          <a:bodyPr vert="eaVert" wrap="none" anchor="ctr" anchorCtr="0"/>
          <a:p>
            <a:pPr eaLnBrk="1" hangingPunct="1"/>
            <a:endParaRPr lang="en-US" altLang="zh-CN" dirty="0">
              <a:latin typeface="Times New Roman" panose="02020603050405020304" pitchFamily="18" charset="0"/>
            </a:endParaRPr>
          </a:p>
        </p:txBody>
      </p:sp>
      <p:sp>
        <p:nvSpPr>
          <p:cNvPr id="9232" name="Comment 16"/>
          <p:cNvSpPr/>
          <p:nvPr/>
        </p:nvSpPr>
        <p:spPr>
          <a:xfrm>
            <a:off x="3352800" y="292100"/>
            <a:ext cx="2498725" cy="774700"/>
          </a:xfrm>
          <a:prstGeom prst="rect">
            <a:avLst/>
          </a:prstGeom>
          <a:solidFill>
            <a:srgbClr val="FCFDC6"/>
          </a:solidFill>
          <a:ln w="12700" cap="sq" cmpd="sng">
            <a:solidFill>
              <a:schemeClr val="tx1"/>
            </a:solidFill>
            <a:prstDash val="solid"/>
            <a:miter/>
            <a:headEnd type="none" w="sm" len="sm"/>
            <a:tailEnd type="none" w="sm" len="sm"/>
          </a:ln>
          <a:effectLst>
            <a:outerShdw dist="107763" dir="2699999" algn="ctr" rotWithShape="0">
              <a:schemeClr val="bg2"/>
            </a:outerShdw>
          </a:effectLst>
        </p:spPr>
        <p:txBody>
          <a:bodyPr>
            <a:spAutoFit/>
          </a:bodyPr>
          <a:p>
            <a:pPr eaLnBrk="1" hangingPunct="1">
              <a:spcBef>
                <a:spcPct val="50000"/>
              </a:spcBef>
            </a:pPr>
            <a:r>
              <a:rPr lang="zh-CN" altLang="en-US" sz="4400" dirty="0">
                <a:solidFill>
                  <a:srgbClr val="800000"/>
                </a:solidFill>
                <a:latin typeface="Arial" panose="020B0604020202020204" pitchFamily="34" charset="0"/>
                <a:ea typeface="隶书" panose="02010509060101010101" pitchFamily="49" charset="-122"/>
              </a:rPr>
              <a:t>基本操作</a:t>
            </a:r>
            <a:endParaRPr lang="zh-CN" altLang="en-US" sz="1600" b="0" dirty="0">
              <a:solidFill>
                <a:srgbClr val="000000"/>
              </a:solidFill>
              <a:latin typeface="Arial" panose="020B0604020202020204" pitchFamily="34" charset="0"/>
            </a:endParaRPr>
          </a:p>
        </p:txBody>
      </p:sp>
      <p:sp>
        <p:nvSpPr>
          <p:cNvPr id="9233" name="AutoShape 17">
            <a:hlinkClick r:id="rId3" action="ppaction://hlinksldjump"/>
          </p:cNvPr>
          <p:cNvSpPr/>
          <p:nvPr/>
        </p:nvSpPr>
        <p:spPr>
          <a:xfrm>
            <a:off x="8534400" y="2667000"/>
            <a:ext cx="228600" cy="228600"/>
          </a:xfrm>
          <a:prstGeom prst="downArrow">
            <a:avLst>
              <a:gd name="adj1" fmla="val 50000"/>
              <a:gd name="adj2" fmla="val 25000"/>
            </a:avLst>
          </a:prstGeom>
          <a:solidFill>
            <a:srgbClr val="996633"/>
          </a:solidFill>
          <a:ln w="12700" cap="sq" cmpd="sng">
            <a:solidFill>
              <a:schemeClr val="tx1"/>
            </a:solidFill>
            <a:prstDash val="solid"/>
            <a:miter/>
            <a:headEnd type="none" w="sm" len="sm"/>
            <a:tailEnd type="none" w="sm" len="sm"/>
          </a:ln>
        </p:spPr>
        <p:txBody>
          <a:bodyPr vert="eaVert" wrap="none" anchor="ctr" anchorCtr="0"/>
          <a:p>
            <a:pPr eaLnBrk="1" hangingPunct="1"/>
            <a:endParaRPr lang="en-US" altLang="zh-CN" dirty="0">
              <a:latin typeface="Times New Roman" panose="02020603050405020304" pitchFamily="18" charset="0"/>
            </a:endParaRPr>
          </a:p>
        </p:txBody>
      </p:sp>
    </p:spTree>
  </p:cSld>
  <p:clrMapOvr>
    <a:masterClrMapping/>
  </p:clrMapOvr>
  <p:transition>
    <p:cover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232"/>
                                        </p:tgtEl>
                                        <p:attrNameLst>
                                          <p:attrName>style.visibility</p:attrName>
                                        </p:attrNameLst>
                                      </p:cBhvr>
                                      <p:to>
                                        <p:strVal val="visible"/>
                                      </p:to>
                                    </p:set>
                                    <p:anim calcmode="lin" valueType="num">
                                      <p:cBhvr>
                                        <p:cTn id="7" dur="500" fill="hold"/>
                                        <p:tgtEl>
                                          <p:spTgt spid="9232"/>
                                        </p:tgtEl>
                                        <p:attrNameLst>
                                          <p:attrName>ppt_x</p:attrName>
                                        </p:attrNameLst>
                                      </p:cBhvr>
                                      <p:tavLst>
                                        <p:tav tm="0">
                                          <p:val>
                                            <p:strVal val="#ppt_x"/>
                                          </p:val>
                                        </p:tav>
                                        <p:tav tm="100000">
                                          <p:val>
                                            <p:strVal val="#ppt_x"/>
                                          </p:val>
                                        </p:tav>
                                      </p:tavLst>
                                    </p:anim>
                                    <p:anim calcmode="lin" valueType="num">
                                      <p:cBhvr>
                                        <p:cTn id="8" dur="500" fill="hold"/>
                                        <p:tgtEl>
                                          <p:spTgt spid="923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9219"/>
                                        </p:tgtEl>
                                        <p:attrNameLst>
                                          <p:attrName>style.visibility</p:attrName>
                                        </p:attrNameLst>
                                      </p:cBhvr>
                                      <p:to>
                                        <p:strVal val="visible"/>
                                      </p:to>
                                    </p:set>
                                    <p:animEffect transition="in" filter="wipe(left)">
                                      <p:cBhvr>
                                        <p:cTn id="13" dur="500"/>
                                        <p:tgtEl>
                                          <p:spTgt spid="9219"/>
                                        </p:tgtEl>
                                      </p:cBhvr>
                                    </p:animEffect>
                                  </p:childTnLst>
                                </p:cTn>
                              </p:par>
                            </p:childTnLst>
                          </p:cTn>
                        </p:par>
                        <p:par>
                          <p:cTn id="14" fill="hold">
                            <p:stCondLst>
                              <p:cond delay="500"/>
                            </p:stCondLst>
                            <p:childTnLst>
                              <p:par>
                                <p:cTn id="15" presetID="17" presetClass="entr" presetSubtype="1" fill="hold" grpId="0" nodeType="afterEffect">
                                  <p:stCondLst>
                                    <p:cond delay="0"/>
                                  </p:stCondLst>
                                  <p:childTnLst>
                                    <p:set>
                                      <p:cBhvr>
                                        <p:cTn id="16" dur="1" fill="hold">
                                          <p:stCondLst>
                                            <p:cond delay="0"/>
                                          </p:stCondLst>
                                        </p:cTn>
                                        <p:tgtEl>
                                          <p:spTgt spid="9226"/>
                                        </p:tgtEl>
                                        <p:attrNameLst>
                                          <p:attrName>style.visibility</p:attrName>
                                        </p:attrNameLst>
                                      </p:cBhvr>
                                      <p:to>
                                        <p:strVal val="visible"/>
                                      </p:to>
                                    </p:set>
                                    <p:anim calcmode="lin" valueType="num">
                                      <p:cBhvr>
                                        <p:cTn id="17" dur="500" fill="hold"/>
                                        <p:tgtEl>
                                          <p:spTgt spid="9226"/>
                                        </p:tgtEl>
                                        <p:attrNameLst>
                                          <p:attrName>ppt_x</p:attrName>
                                        </p:attrNameLst>
                                      </p:cBhvr>
                                      <p:tavLst>
                                        <p:tav tm="0">
                                          <p:val>
                                            <p:strVal val="#ppt_x"/>
                                          </p:val>
                                        </p:tav>
                                        <p:tav tm="100000">
                                          <p:val>
                                            <p:strVal val="#ppt_x"/>
                                          </p:val>
                                        </p:tav>
                                      </p:tavLst>
                                    </p:anim>
                                    <p:anim calcmode="lin" valueType="num">
                                      <p:cBhvr>
                                        <p:cTn id="18" dur="500" fill="hold"/>
                                        <p:tgtEl>
                                          <p:spTgt spid="9226"/>
                                        </p:tgtEl>
                                        <p:attrNameLst>
                                          <p:attrName>ppt_y</p:attrName>
                                        </p:attrNameLst>
                                      </p:cBhvr>
                                      <p:tavLst>
                                        <p:tav tm="0">
                                          <p:val>
                                            <p:strVal val="#ppt_y-#ppt_h/2"/>
                                          </p:val>
                                        </p:tav>
                                        <p:tav tm="100000">
                                          <p:val>
                                            <p:strVal val="#ppt_y"/>
                                          </p:val>
                                        </p:tav>
                                      </p:tavLst>
                                    </p:anim>
                                    <p:anim calcmode="lin" valueType="num">
                                      <p:cBhvr>
                                        <p:cTn id="19" dur="500" fill="hold"/>
                                        <p:tgtEl>
                                          <p:spTgt spid="9226"/>
                                        </p:tgtEl>
                                        <p:attrNameLst>
                                          <p:attrName>ppt_w</p:attrName>
                                        </p:attrNameLst>
                                      </p:cBhvr>
                                      <p:tavLst>
                                        <p:tav tm="0">
                                          <p:val>
                                            <p:strVal val="#ppt_w"/>
                                          </p:val>
                                        </p:tav>
                                        <p:tav tm="100000">
                                          <p:val>
                                            <p:strVal val="#ppt_w"/>
                                          </p:val>
                                        </p:tav>
                                      </p:tavLst>
                                    </p:anim>
                                    <p:anim calcmode="lin" valueType="num">
                                      <p:cBhvr>
                                        <p:cTn id="20" dur="500" fill="hold"/>
                                        <p:tgtEl>
                                          <p:spTgt spid="9226"/>
                                        </p:tgtEl>
                                        <p:attrNameLst>
                                          <p:attrName>ppt_h</p:attrName>
                                        </p:attrNameLst>
                                      </p:cBhvr>
                                      <p:tavLst>
                                        <p:tav tm="0">
                                          <p:val>
                                            <p:fltVal val="0.00000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222"/>
                                        </p:tgtEl>
                                        <p:attrNameLst>
                                          <p:attrName>style.visibility</p:attrName>
                                        </p:attrNameLst>
                                      </p:cBhvr>
                                      <p:to>
                                        <p:strVal val="visible"/>
                                      </p:to>
                                    </p:set>
                                    <p:animEffect transition="in" filter="wipe(left)">
                                      <p:cBhvr>
                                        <p:cTn id="25" dur="500"/>
                                        <p:tgtEl>
                                          <p:spTgt spid="9222"/>
                                        </p:tgtEl>
                                      </p:cBhvr>
                                    </p:animEffect>
                                  </p:childTnLst>
                                </p:cTn>
                              </p:par>
                            </p:childTnLst>
                          </p:cTn>
                        </p:par>
                        <p:par>
                          <p:cTn id="26" fill="hold">
                            <p:stCondLst>
                              <p:cond delay="500"/>
                            </p:stCondLst>
                            <p:childTnLst>
                              <p:par>
                                <p:cTn id="27" presetID="17" presetClass="entr" presetSubtype="1" fill="hold" grpId="0" nodeType="afterEffect">
                                  <p:stCondLst>
                                    <p:cond delay="0"/>
                                  </p:stCondLst>
                                  <p:childTnLst>
                                    <p:set>
                                      <p:cBhvr>
                                        <p:cTn id="28" dur="1" fill="hold">
                                          <p:stCondLst>
                                            <p:cond delay="0"/>
                                          </p:stCondLst>
                                        </p:cTn>
                                        <p:tgtEl>
                                          <p:spTgt spid="9233"/>
                                        </p:tgtEl>
                                        <p:attrNameLst>
                                          <p:attrName>style.visibility</p:attrName>
                                        </p:attrNameLst>
                                      </p:cBhvr>
                                      <p:to>
                                        <p:strVal val="visible"/>
                                      </p:to>
                                    </p:set>
                                    <p:anim calcmode="lin" valueType="num">
                                      <p:cBhvr>
                                        <p:cTn id="29" dur="500" fill="hold"/>
                                        <p:tgtEl>
                                          <p:spTgt spid="9233"/>
                                        </p:tgtEl>
                                        <p:attrNameLst>
                                          <p:attrName>ppt_x</p:attrName>
                                        </p:attrNameLst>
                                      </p:cBhvr>
                                      <p:tavLst>
                                        <p:tav tm="0">
                                          <p:val>
                                            <p:strVal val="#ppt_x"/>
                                          </p:val>
                                        </p:tav>
                                        <p:tav tm="100000">
                                          <p:val>
                                            <p:strVal val="#ppt_x"/>
                                          </p:val>
                                        </p:tav>
                                      </p:tavLst>
                                    </p:anim>
                                    <p:anim calcmode="lin" valueType="num">
                                      <p:cBhvr>
                                        <p:cTn id="30" dur="500" fill="hold"/>
                                        <p:tgtEl>
                                          <p:spTgt spid="9233"/>
                                        </p:tgtEl>
                                        <p:attrNameLst>
                                          <p:attrName>ppt_y</p:attrName>
                                        </p:attrNameLst>
                                      </p:cBhvr>
                                      <p:tavLst>
                                        <p:tav tm="0">
                                          <p:val>
                                            <p:strVal val="#ppt_y-#ppt_h/2"/>
                                          </p:val>
                                        </p:tav>
                                        <p:tav tm="100000">
                                          <p:val>
                                            <p:strVal val="#ppt_y"/>
                                          </p:val>
                                        </p:tav>
                                      </p:tavLst>
                                    </p:anim>
                                    <p:anim calcmode="lin" valueType="num">
                                      <p:cBhvr>
                                        <p:cTn id="31" dur="500" fill="hold"/>
                                        <p:tgtEl>
                                          <p:spTgt spid="9233"/>
                                        </p:tgtEl>
                                        <p:attrNameLst>
                                          <p:attrName>ppt_w</p:attrName>
                                        </p:attrNameLst>
                                      </p:cBhvr>
                                      <p:tavLst>
                                        <p:tav tm="0">
                                          <p:val>
                                            <p:strVal val="#ppt_w"/>
                                          </p:val>
                                        </p:tav>
                                        <p:tav tm="100000">
                                          <p:val>
                                            <p:strVal val="#ppt_w"/>
                                          </p:val>
                                        </p:tav>
                                      </p:tavLst>
                                    </p:anim>
                                    <p:anim calcmode="lin" valueType="num">
                                      <p:cBhvr>
                                        <p:cTn id="32" dur="500" fill="hold"/>
                                        <p:tgtEl>
                                          <p:spTgt spid="9233"/>
                                        </p:tgtEl>
                                        <p:attrNameLst>
                                          <p:attrName>ppt_h</p:attrName>
                                        </p:attrNameLst>
                                      </p:cBhvr>
                                      <p:tavLst>
                                        <p:tav tm="0">
                                          <p:val>
                                            <p:fltVal val="0.00000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221"/>
                                        </p:tgtEl>
                                        <p:attrNameLst>
                                          <p:attrName>style.visibility</p:attrName>
                                        </p:attrNameLst>
                                      </p:cBhvr>
                                      <p:to>
                                        <p:strVal val="visible"/>
                                      </p:to>
                                    </p:set>
                                    <p:animEffect transition="in" filter="wipe(left)">
                                      <p:cBhvr>
                                        <p:cTn id="37" dur="500"/>
                                        <p:tgtEl>
                                          <p:spTgt spid="9221"/>
                                        </p:tgtEl>
                                      </p:cBhvr>
                                    </p:animEffect>
                                  </p:childTnLst>
                                </p:cTn>
                              </p:par>
                            </p:childTnLst>
                          </p:cTn>
                        </p:par>
                        <p:par>
                          <p:cTn id="38" fill="hold">
                            <p:stCondLst>
                              <p:cond delay="500"/>
                            </p:stCondLst>
                            <p:childTnLst>
                              <p:par>
                                <p:cTn id="39" presetID="17" presetClass="entr" presetSubtype="1" fill="hold" grpId="0" nodeType="afterEffect">
                                  <p:stCondLst>
                                    <p:cond delay="0"/>
                                  </p:stCondLst>
                                  <p:childTnLst>
                                    <p:set>
                                      <p:cBhvr>
                                        <p:cTn id="40" dur="1" fill="hold">
                                          <p:stCondLst>
                                            <p:cond delay="0"/>
                                          </p:stCondLst>
                                        </p:cTn>
                                        <p:tgtEl>
                                          <p:spTgt spid="9227"/>
                                        </p:tgtEl>
                                        <p:attrNameLst>
                                          <p:attrName>style.visibility</p:attrName>
                                        </p:attrNameLst>
                                      </p:cBhvr>
                                      <p:to>
                                        <p:strVal val="visible"/>
                                      </p:to>
                                    </p:set>
                                    <p:anim calcmode="lin" valueType="num">
                                      <p:cBhvr>
                                        <p:cTn id="41" dur="500" fill="hold"/>
                                        <p:tgtEl>
                                          <p:spTgt spid="9227"/>
                                        </p:tgtEl>
                                        <p:attrNameLst>
                                          <p:attrName>ppt_x</p:attrName>
                                        </p:attrNameLst>
                                      </p:cBhvr>
                                      <p:tavLst>
                                        <p:tav tm="0">
                                          <p:val>
                                            <p:strVal val="#ppt_x"/>
                                          </p:val>
                                        </p:tav>
                                        <p:tav tm="100000">
                                          <p:val>
                                            <p:strVal val="#ppt_x"/>
                                          </p:val>
                                        </p:tav>
                                      </p:tavLst>
                                    </p:anim>
                                    <p:anim calcmode="lin" valueType="num">
                                      <p:cBhvr>
                                        <p:cTn id="42" dur="500" fill="hold"/>
                                        <p:tgtEl>
                                          <p:spTgt spid="9227"/>
                                        </p:tgtEl>
                                        <p:attrNameLst>
                                          <p:attrName>ppt_y</p:attrName>
                                        </p:attrNameLst>
                                      </p:cBhvr>
                                      <p:tavLst>
                                        <p:tav tm="0">
                                          <p:val>
                                            <p:strVal val="#ppt_y-#ppt_h/2"/>
                                          </p:val>
                                        </p:tav>
                                        <p:tav tm="100000">
                                          <p:val>
                                            <p:strVal val="#ppt_y"/>
                                          </p:val>
                                        </p:tav>
                                      </p:tavLst>
                                    </p:anim>
                                    <p:anim calcmode="lin" valueType="num">
                                      <p:cBhvr>
                                        <p:cTn id="43" dur="500" fill="hold"/>
                                        <p:tgtEl>
                                          <p:spTgt spid="9227"/>
                                        </p:tgtEl>
                                        <p:attrNameLst>
                                          <p:attrName>ppt_w</p:attrName>
                                        </p:attrNameLst>
                                      </p:cBhvr>
                                      <p:tavLst>
                                        <p:tav tm="0">
                                          <p:val>
                                            <p:strVal val="#ppt_w"/>
                                          </p:val>
                                        </p:tav>
                                        <p:tav tm="100000">
                                          <p:val>
                                            <p:strVal val="#ppt_w"/>
                                          </p:val>
                                        </p:tav>
                                      </p:tavLst>
                                    </p:anim>
                                    <p:anim calcmode="lin" valueType="num">
                                      <p:cBhvr>
                                        <p:cTn id="44" dur="500" fill="hold"/>
                                        <p:tgtEl>
                                          <p:spTgt spid="9227"/>
                                        </p:tgtEl>
                                        <p:attrNameLst>
                                          <p:attrName>ppt_h</p:attrName>
                                        </p:attrNameLst>
                                      </p:cBhvr>
                                      <p:tavLst>
                                        <p:tav tm="0">
                                          <p:val>
                                            <p:fltVal val="0.00000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9220"/>
                                        </p:tgtEl>
                                        <p:attrNameLst>
                                          <p:attrName>style.visibility</p:attrName>
                                        </p:attrNameLst>
                                      </p:cBhvr>
                                      <p:to>
                                        <p:strVal val="visible"/>
                                      </p:to>
                                    </p:set>
                                    <p:animEffect transition="in" filter="wipe(left)">
                                      <p:cBhvr>
                                        <p:cTn id="49" dur="500"/>
                                        <p:tgtEl>
                                          <p:spTgt spid="9220"/>
                                        </p:tgtEl>
                                      </p:cBhvr>
                                    </p:animEffect>
                                  </p:childTnLst>
                                </p:cTn>
                              </p:par>
                            </p:childTnLst>
                          </p:cTn>
                        </p:par>
                        <p:par>
                          <p:cTn id="50" fill="hold">
                            <p:stCondLst>
                              <p:cond delay="500"/>
                            </p:stCondLst>
                            <p:childTnLst>
                              <p:par>
                                <p:cTn id="51" presetID="17" presetClass="entr" presetSubtype="1" fill="hold" grpId="0" nodeType="afterEffect">
                                  <p:stCondLst>
                                    <p:cond delay="0"/>
                                  </p:stCondLst>
                                  <p:childTnLst>
                                    <p:set>
                                      <p:cBhvr>
                                        <p:cTn id="52" dur="1" fill="hold">
                                          <p:stCondLst>
                                            <p:cond delay="0"/>
                                          </p:stCondLst>
                                        </p:cTn>
                                        <p:tgtEl>
                                          <p:spTgt spid="9228"/>
                                        </p:tgtEl>
                                        <p:attrNameLst>
                                          <p:attrName>style.visibility</p:attrName>
                                        </p:attrNameLst>
                                      </p:cBhvr>
                                      <p:to>
                                        <p:strVal val="visible"/>
                                      </p:to>
                                    </p:set>
                                    <p:anim calcmode="lin" valueType="num">
                                      <p:cBhvr>
                                        <p:cTn id="53" dur="500" fill="hold"/>
                                        <p:tgtEl>
                                          <p:spTgt spid="9228"/>
                                        </p:tgtEl>
                                        <p:attrNameLst>
                                          <p:attrName>ppt_x</p:attrName>
                                        </p:attrNameLst>
                                      </p:cBhvr>
                                      <p:tavLst>
                                        <p:tav tm="0">
                                          <p:val>
                                            <p:strVal val="#ppt_x"/>
                                          </p:val>
                                        </p:tav>
                                        <p:tav tm="100000">
                                          <p:val>
                                            <p:strVal val="#ppt_x"/>
                                          </p:val>
                                        </p:tav>
                                      </p:tavLst>
                                    </p:anim>
                                    <p:anim calcmode="lin" valueType="num">
                                      <p:cBhvr>
                                        <p:cTn id="54" dur="500" fill="hold"/>
                                        <p:tgtEl>
                                          <p:spTgt spid="9228"/>
                                        </p:tgtEl>
                                        <p:attrNameLst>
                                          <p:attrName>ppt_y</p:attrName>
                                        </p:attrNameLst>
                                      </p:cBhvr>
                                      <p:tavLst>
                                        <p:tav tm="0">
                                          <p:val>
                                            <p:strVal val="#ppt_y-#ppt_h/2"/>
                                          </p:val>
                                        </p:tav>
                                        <p:tav tm="100000">
                                          <p:val>
                                            <p:strVal val="#ppt_y"/>
                                          </p:val>
                                        </p:tav>
                                      </p:tavLst>
                                    </p:anim>
                                    <p:anim calcmode="lin" valueType="num">
                                      <p:cBhvr>
                                        <p:cTn id="55" dur="500" fill="hold"/>
                                        <p:tgtEl>
                                          <p:spTgt spid="9228"/>
                                        </p:tgtEl>
                                        <p:attrNameLst>
                                          <p:attrName>ppt_w</p:attrName>
                                        </p:attrNameLst>
                                      </p:cBhvr>
                                      <p:tavLst>
                                        <p:tav tm="0">
                                          <p:val>
                                            <p:strVal val="#ppt_w"/>
                                          </p:val>
                                        </p:tav>
                                        <p:tav tm="100000">
                                          <p:val>
                                            <p:strVal val="#ppt_w"/>
                                          </p:val>
                                        </p:tav>
                                      </p:tavLst>
                                    </p:anim>
                                    <p:anim calcmode="lin" valueType="num">
                                      <p:cBhvr>
                                        <p:cTn id="56" dur="500" fill="hold"/>
                                        <p:tgtEl>
                                          <p:spTgt spid="9228"/>
                                        </p:tgtEl>
                                        <p:attrNameLst>
                                          <p:attrName>ppt_h</p:attrName>
                                        </p:attrNameLst>
                                      </p:cBhvr>
                                      <p:tavLst>
                                        <p:tav tm="0">
                                          <p:val>
                                            <p:fltVal val="0.00000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9224"/>
                                        </p:tgtEl>
                                        <p:attrNameLst>
                                          <p:attrName>style.visibility</p:attrName>
                                        </p:attrNameLst>
                                      </p:cBhvr>
                                      <p:to>
                                        <p:strVal val="visible"/>
                                      </p:to>
                                    </p:set>
                                    <p:animEffect transition="in" filter="wipe(left)">
                                      <p:cBhvr>
                                        <p:cTn id="61" dur="500"/>
                                        <p:tgtEl>
                                          <p:spTgt spid="9224"/>
                                        </p:tgtEl>
                                      </p:cBhvr>
                                    </p:animEffect>
                                  </p:childTnLst>
                                </p:cTn>
                              </p:par>
                            </p:childTnLst>
                          </p:cTn>
                        </p:par>
                        <p:par>
                          <p:cTn id="62" fill="hold">
                            <p:stCondLst>
                              <p:cond delay="500"/>
                            </p:stCondLst>
                            <p:childTnLst>
                              <p:par>
                                <p:cTn id="63" presetID="17" presetClass="entr" presetSubtype="1" fill="hold" grpId="0" nodeType="afterEffect">
                                  <p:stCondLst>
                                    <p:cond delay="0"/>
                                  </p:stCondLst>
                                  <p:childTnLst>
                                    <p:set>
                                      <p:cBhvr>
                                        <p:cTn id="64" dur="1" fill="hold">
                                          <p:stCondLst>
                                            <p:cond delay="0"/>
                                          </p:stCondLst>
                                        </p:cTn>
                                        <p:tgtEl>
                                          <p:spTgt spid="9229"/>
                                        </p:tgtEl>
                                        <p:attrNameLst>
                                          <p:attrName>style.visibility</p:attrName>
                                        </p:attrNameLst>
                                      </p:cBhvr>
                                      <p:to>
                                        <p:strVal val="visible"/>
                                      </p:to>
                                    </p:set>
                                    <p:anim calcmode="lin" valueType="num">
                                      <p:cBhvr>
                                        <p:cTn id="65" dur="500" fill="hold"/>
                                        <p:tgtEl>
                                          <p:spTgt spid="9229"/>
                                        </p:tgtEl>
                                        <p:attrNameLst>
                                          <p:attrName>ppt_x</p:attrName>
                                        </p:attrNameLst>
                                      </p:cBhvr>
                                      <p:tavLst>
                                        <p:tav tm="0">
                                          <p:val>
                                            <p:strVal val="#ppt_x"/>
                                          </p:val>
                                        </p:tav>
                                        <p:tav tm="100000">
                                          <p:val>
                                            <p:strVal val="#ppt_x"/>
                                          </p:val>
                                        </p:tav>
                                      </p:tavLst>
                                    </p:anim>
                                    <p:anim calcmode="lin" valueType="num">
                                      <p:cBhvr>
                                        <p:cTn id="66" dur="500" fill="hold"/>
                                        <p:tgtEl>
                                          <p:spTgt spid="9229"/>
                                        </p:tgtEl>
                                        <p:attrNameLst>
                                          <p:attrName>ppt_y</p:attrName>
                                        </p:attrNameLst>
                                      </p:cBhvr>
                                      <p:tavLst>
                                        <p:tav tm="0">
                                          <p:val>
                                            <p:strVal val="#ppt_y-#ppt_h/2"/>
                                          </p:val>
                                        </p:tav>
                                        <p:tav tm="100000">
                                          <p:val>
                                            <p:strVal val="#ppt_y"/>
                                          </p:val>
                                        </p:tav>
                                      </p:tavLst>
                                    </p:anim>
                                    <p:anim calcmode="lin" valueType="num">
                                      <p:cBhvr>
                                        <p:cTn id="67" dur="500" fill="hold"/>
                                        <p:tgtEl>
                                          <p:spTgt spid="9229"/>
                                        </p:tgtEl>
                                        <p:attrNameLst>
                                          <p:attrName>ppt_w</p:attrName>
                                        </p:attrNameLst>
                                      </p:cBhvr>
                                      <p:tavLst>
                                        <p:tav tm="0">
                                          <p:val>
                                            <p:strVal val="#ppt_w"/>
                                          </p:val>
                                        </p:tav>
                                        <p:tav tm="100000">
                                          <p:val>
                                            <p:strVal val="#ppt_w"/>
                                          </p:val>
                                        </p:tav>
                                      </p:tavLst>
                                    </p:anim>
                                    <p:anim calcmode="lin" valueType="num">
                                      <p:cBhvr>
                                        <p:cTn id="68" dur="500" fill="hold"/>
                                        <p:tgtEl>
                                          <p:spTgt spid="9229"/>
                                        </p:tgtEl>
                                        <p:attrNameLst>
                                          <p:attrName>ppt_h</p:attrName>
                                        </p:attrNameLst>
                                      </p:cBhvr>
                                      <p:tavLst>
                                        <p:tav tm="0">
                                          <p:val>
                                            <p:fltVal val="0.00000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9223"/>
                                        </p:tgtEl>
                                        <p:attrNameLst>
                                          <p:attrName>style.visibility</p:attrName>
                                        </p:attrNameLst>
                                      </p:cBhvr>
                                      <p:to>
                                        <p:strVal val="visible"/>
                                      </p:to>
                                    </p:set>
                                    <p:animEffect transition="in" filter="wipe(left)">
                                      <p:cBhvr>
                                        <p:cTn id="73" dur="500"/>
                                        <p:tgtEl>
                                          <p:spTgt spid="9223"/>
                                        </p:tgtEl>
                                      </p:cBhvr>
                                    </p:animEffect>
                                  </p:childTnLst>
                                </p:cTn>
                              </p:par>
                            </p:childTnLst>
                          </p:cTn>
                        </p:par>
                        <p:par>
                          <p:cTn id="74" fill="hold">
                            <p:stCondLst>
                              <p:cond delay="500"/>
                            </p:stCondLst>
                            <p:childTnLst>
                              <p:par>
                                <p:cTn id="75" presetID="1" presetClass="entr" presetSubtype="0" fill="hold" grpId="0" nodeType="afterEffect">
                                  <p:stCondLst>
                                    <p:cond delay="0"/>
                                  </p:stCondLst>
                                  <p:childTnLst>
                                    <p:set>
                                      <p:cBhvr>
                                        <p:cTn id="76" dur="1" fill="hold">
                                          <p:stCondLst>
                                            <p:cond delay="499"/>
                                          </p:stCondLst>
                                        </p:cTn>
                                        <p:tgtEl>
                                          <p:spTgt spid="9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p:bldP spid="9220" grpId="0"/>
      <p:bldP spid="9221" grpId="0"/>
      <p:bldP spid="9222" grpId="0"/>
      <p:bldP spid="9223" grpId="0"/>
      <p:bldP spid="9224" grpId="0"/>
      <p:bldP spid="9226" grpId="0" bldLvl="0" animBg="1"/>
      <p:bldP spid="9227" grpId="0" bldLvl="0" animBg="1"/>
      <p:bldP spid="9228" grpId="0" bldLvl="0" animBg="1"/>
      <p:bldP spid="9229" grpId="0" bldLvl="0" animBg="1"/>
      <p:bldP spid="9230" grpId="0" bldLvl="0" animBg="1"/>
      <p:bldP spid="9232" grpId="0" bldLvl="0" animBg="1"/>
      <p:bldP spid="9233"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rgbClr val="F7FD9D"/>
        </a:solidFill>
        <a:effectLst/>
      </p:bgPr>
    </p:bg>
    <p:spTree>
      <p:nvGrpSpPr>
        <p:cNvPr id="1" name=""/>
        <p:cNvGrpSpPr/>
        <p:nvPr/>
      </p:nvGrpSpPr>
      <p:grpSpPr/>
      <p:sp>
        <p:nvSpPr>
          <p:cNvPr id="44034" name="Oval 2"/>
          <p:cNvSpPr/>
          <p:nvPr/>
        </p:nvSpPr>
        <p:spPr>
          <a:xfrm>
            <a:off x="990600" y="16764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2</a:t>
            </a:r>
            <a:endParaRPr lang="en-US" altLang="zh-CN" sz="2400" b="0" dirty="0">
              <a:solidFill>
                <a:schemeClr val="tx1"/>
              </a:solidFill>
              <a:latin typeface="Times New Roman" panose="02020603050405020304" pitchFamily="18" charset="0"/>
            </a:endParaRPr>
          </a:p>
        </p:txBody>
      </p:sp>
      <p:sp>
        <p:nvSpPr>
          <p:cNvPr id="44035" name="Oval 3"/>
          <p:cNvSpPr/>
          <p:nvPr/>
        </p:nvSpPr>
        <p:spPr>
          <a:xfrm>
            <a:off x="152400" y="25908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1</a:t>
            </a:r>
            <a:endParaRPr lang="en-US" altLang="zh-CN" sz="2400" b="0" dirty="0">
              <a:solidFill>
                <a:schemeClr val="tx1"/>
              </a:solidFill>
              <a:latin typeface="Times New Roman" panose="02020603050405020304" pitchFamily="18" charset="0"/>
            </a:endParaRPr>
          </a:p>
        </p:txBody>
      </p:sp>
      <p:sp>
        <p:nvSpPr>
          <p:cNvPr id="44036" name="Oval 4"/>
          <p:cNvSpPr/>
          <p:nvPr/>
        </p:nvSpPr>
        <p:spPr>
          <a:xfrm>
            <a:off x="2590800" y="19812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5</a:t>
            </a:r>
            <a:endParaRPr lang="en-US" altLang="zh-CN" sz="2400" b="0" dirty="0">
              <a:solidFill>
                <a:schemeClr val="tx1"/>
              </a:solidFill>
              <a:latin typeface="Times New Roman" panose="02020603050405020304" pitchFamily="18" charset="0"/>
            </a:endParaRPr>
          </a:p>
        </p:txBody>
      </p:sp>
      <p:sp>
        <p:nvSpPr>
          <p:cNvPr id="44037" name="Oval 5"/>
          <p:cNvSpPr/>
          <p:nvPr/>
        </p:nvSpPr>
        <p:spPr>
          <a:xfrm>
            <a:off x="914400" y="36576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3</a:t>
            </a:r>
            <a:endParaRPr lang="en-US" altLang="zh-CN" sz="2400" b="0" dirty="0">
              <a:solidFill>
                <a:schemeClr val="tx1"/>
              </a:solidFill>
              <a:latin typeface="Times New Roman" panose="02020603050405020304" pitchFamily="18" charset="0"/>
            </a:endParaRPr>
          </a:p>
        </p:txBody>
      </p:sp>
      <p:sp>
        <p:nvSpPr>
          <p:cNvPr id="44038" name="Oval 6"/>
          <p:cNvSpPr/>
          <p:nvPr/>
        </p:nvSpPr>
        <p:spPr>
          <a:xfrm>
            <a:off x="1600200" y="25908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4</a:t>
            </a:r>
            <a:endParaRPr lang="en-US" altLang="zh-CN" sz="2400" b="0" dirty="0">
              <a:solidFill>
                <a:schemeClr val="tx1"/>
              </a:solidFill>
              <a:latin typeface="Times New Roman" panose="02020603050405020304" pitchFamily="18" charset="0"/>
            </a:endParaRPr>
          </a:p>
        </p:txBody>
      </p:sp>
      <p:sp>
        <p:nvSpPr>
          <p:cNvPr id="428039" name="Line 7"/>
          <p:cNvSpPr>
            <a:spLocks noChangeShapeType="1"/>
          </p:cNvSpPr>
          <p:nvPr/>
        </p:nvSpPr>
        <p:spPr bwMode="auto">
          <a:xfrm flipV="1">
            <a:off x="609600" y="2133600"/>
            <a:ext cx="457200" cy="5334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28040" name="Line 8"/>
          <p:cNvSpPr>
            <a:spLocks noChangeShapeType="1"/>
          </p:cNvSpPr>
          <p:nvPr/>
        </p:nvSpPr>
        <p:spPr bwMode="auto">
          <a:xfrm>
            <a:off x="457200" y="3124200"/>
            <a:ext cx="533400" cy="6096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aphicFrame>
        <p:nvGraphicFramePr>
          <p:cNvPr id="428041" name="Object 9"/>
          <p:cNvGraphicFramePr/>
          <p:nvPr/>
        </p:nvGraphicFramePr>
        <p:xfrm>
          <a:off x="3657600" y="3352800"/>
          <a:ext cx="2252663" cy="3276600"/>
        </p:xfrm>
        <a:graphic>
          <a:graphicData uri="http://schemas.openxmlformats.org/presentationml/2006/ole">
            <mc:AlternateContent xmlns:mc="http://schemas.openxmlformats.org/markup-compatibility/2006">
              <mc:Choice xmlns:v="urn:schemas-microsoft-com:vml" Requires="v">
                <p:oleObj spid="_x0000_s3079" name="" r:id="rId1" imgW="685800" imgH="1371600" progId="Equation.DSMT4">
                  <p:embed/>
                </p:oleObj>
              </mc:Choice>
              <mc:Fallback>
                <p:oleObj name="" r:id="rId1" imgW="685800" imgH="1371600" progId="Equation.DSMT4">
                  <p:embed/>
                  <p:pic>
                    <p:nvPicPr>
                      <p:cNvPr id="0" name="20 3078"/>
                      <p:cNvPicPr/>
                      <p:nvPr/>
                    </p:nvPicPr>
                    <p:blipFill>
                      <a:blip r:embed="rId2"/>
                      <a:stretch>
                        <a:fillRect/>
                      </a:stretch>
                    </p:blipFill>
                    <p:spPr>
                      <a:xfrm>
                        <a:off x="3657600" y="3352800"/>
                        <a:ext cx="2252663" cy="3276600"/>
                      </a:xfrm>
                      <a:prstGeom prst="rect">
                        <a:avLst/>
                      </a:prstGeom>
                      <a:noFill/>
                      <a:ln w="38100">
                        <a:noFill/>
                        <a:miter/>
                      </a:ln>
                    </p:spPr>
                  </p:pic>
                </p:oleObj>
              </mc:Fallback>
            </mc:AlternateContent>
          </a:graphicData>
        </a:graphic>
      </p:graphicFrame>
      <p:sp>
        <p:nvSpPr>
          <p:cNvPr id="44042" name="Oval 11"/>
          <p:cNvSpPr/>
          <p:nvPr/>
        </p:nvSpPr>
        <p:spPr>
          <a:xfrm>
            <a:off x="2514600" y="3505200"/>
            <a:ext cx="5334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6</a:t>
            </a:r>
            <a:endParaRPr lang="en-US" altLang="zh-CN" sz="2400" b="0" dirty="0">
              <a:solidFill>
                <a:schemeClr val="tx1"/>
              </a:solidFill>
              <a:latin typeface="Times New Roman" panose="02020603050405020304" pitchFamily="18" charset="0"/>
            </a:endParaRPr>
          </a:p>
        </p:txBody>
      </p:sp>
      <p:sp>
        <p:nvSpPr>
          <p:cNvPr id="428044" name="Line 12"/>
          <p:cNvSpPr>
            <a:spLocks noChangeShapeType="1"/>
          </p:cNvSpPr>
          <p:nvPr/>
        </p:nvSpPr>
        <p:spPr bwMode="auto">
          <a:xfrm>
            <a:off x="1447800" y="2133600"/>
            <a:ext cx="304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28045" name="Line 13"/>
          <p:cNvSpPr>
            <a:spLocks noChangeShapeType="1"/>
          </p:cNvSpPr>
          <p:nvPr/>
        </p:nvSpPr>
        <p:spPr bwMode="auto">
          <a:xfrm flipV="1">
            <a:off x="1371600" y="3124200"/>
            <a:ext cx="381000" cy="6096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28046" name="Line 14"/>
          <p:cNvSpPr>
            <a:spLocks noChangeShapeType="1"/>
          </p:cNvSpPr>
          <p:nvPr/>
        </p:nvSpPr>
        <p:spPr bwMode="auto">
          <a:xfrm flipV="1">
            <a:off x="2057400" y="22860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28047" name="Line 15"/>
          <p:cNvSpPr>
            <a:spLocks noChangeShapeType="1"/>
          </p:cNvSpPr>
          <p:nvPr/>
        </p:nvSpPr>
        <p:spPr bwMode="auto">
          <a:xfrm>
            <a:off x="2057400" y="3048000"/>
            <a:ext cx="533400" cy="5334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4047" name="Text Box 16"/>
          <p:cNvSpPr txBox="1"/>
          <p:nvPr/>
        </p:nvSpPr>
        <p:spPr>
          <a:xfrm>
            <a:off x="457200" y="21336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20</a:t>
            </a:r>
            <a:endParaRPr lang="en-US" altLang="zh-CN" sz="1600" b="0" dirty="0">
              <a:solidFill>
                <a:schemeClr val="tx1"/>
              </a:solidFill>
              <a:latin typeface="Times New Roman" panose="02020603050405020304" pitchFamily="18" charset="0"/>
            </a:endParaRPr>
          </a:p>
        </p:txBody>
      </p:sp>
      <p:sp>
        <p:nvSpPr>
          <p:cNvPr id="44048" name="Text Box 17"/>
          <p:cNvSpPr txBox="1"/>
          <p:nvPr/>
        </p:nvSpPr>
        <p:spPr>
          <a:xfrm>
            <a:off x="228600" y="32766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30</a:t>
            </a:r>
            <a:endParaRPr lang="en-US" altLang="zh-CN" sz="1600" b="0" dirty="0">
              <a:solidFill>
                <a:schemeClr val="tx1"/>
              </a:solidFill>
              <a:latin typeface="Times New Roman" panose="02020603050405020304" pitchFamily="18" charset="0"/>
            </a:endParaRPr>
          </a:p>
        </p:txBody>
      </p:sp>
      <p:sp>
        <p:nvSpPr>
          <p:cNvPr id="44049" name="Text Box 18"/>
          <p:cNvSpPr txBox="1"/>
          <p:nvPr/>
        </p:nvSpPr>
        <p:spPr>
          <a:xfrm>
            <a:off x="1066800" y="32004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50</a:t>
            </a:r>
            <a:endParaRPr lang="en-US" altLang="zh-CN" sz="1600" b="0" dirty="0">
              <a:solidFill>
                <a:schemeClr val="tx1"/>
              </a:solidFill>
              <a:latin typeface="Times New Roman" panose="02020603050405020304" pitchFamily="18" charset="0"/>
            </a:endParaRPr>
          </a:p>
        </p:txBody>
      </p:sp>
      <p:sp>
        <p:nvSpPr>
          <p:cNvPr id="44050" name="Text Box 19"/>
          <p:cNvSpPr txBox="1"/>
          <p:nvPr/>
        </p:nvSpPr>
        <p:spPr>
          <a:xfrm>
            <a:off x="1524000" y="213360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40</a:t>
            </a:r>
            <a:endParaRPr lang="en-US" altLang="zh-CN" sz="1600" b="0" dirty="0">
              <a:solidFill>
                <a:schemeClr val="tx1"/>
              </a:solidFill>
              <a:latin typeface="Times New Roman" panose="02020603050405020304" pitchFamily="18" charset="0"/>
            </a:endParaRPr>
          </a:p>
        </p:txBody>
      </p:sp>
      <p:sp>
        <p:nvSpPr>
          <p:cNvPr id="44051" name="Text Box 20"/>
          <p:cNvSpPr txBox="1"/>
          <p:nvPr/>
        </p:nvSpPr>
        <p:spPr>
          <a:xfrm>
            <a:off x="2057400" y="248285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70</a:t>
            </a:r>
            <a:endParaRPr lang="en-US" altLang="zh-CN" sz="1600" b="0" dirty="0">
              <a:solidFill>
                <a:schemeClr val="tx1"/>
              </a:solidFill>
              <a:latin typeface="Times New Roman" panose="02020603050405020304" pitchFamily="18" charset="0"/>
            </a:endParaRPr>
          </a:p>
        </p:txBody>
      </p:sp>
      <p:sp>
        <p:nvSpPr>
          <p:cNvPr id="44052" name="Text Box 21"/>
          <p:cNvSpPr txBox="1"/>
          <p:nvPr/>
        </p:nvSpPr>
        <p:spPr>
          <a:xfrm>
            <a:off x="1905000" y="3244850"/>
            <a:ext cx="609600" cy="336550"/>
          </a:xfrm>
          <a:prstGeom prst="rect">
            <a:avLst/>
          </a:prstGeom>
          <a:noFill/>
          <a:ln w="9525">
            <a:noFill/>
          </a:ln>
        </p:spPr>
        <p:txBody>
          <a:bodyPr>
            <a:spAutoFit/>
          </a:bodyPr>
          <a:p>
            <a:pPr algn="ctr">
              <a:spcBef>
                <a:spcPct val="50000"/>
              </a:spcBef>
            </a:pPr>
            <a:r>
              <a:rPr lang="en-US" altLang="zh-CN" sz="1600" b="0" dirty="0">
                <a:solidFill>
                  <a:schemeClr val="tx1"/>
                </a:solidFill>
                <a:latin typeface="Times New Roman" panose="02020603050405020304" pitchFamily="18" charset="0"/>
              </a:rPr>
              <a:t>80</a:t>
            </a:r>
            <a:endParaRPr lang="en-US" altLang="zh-CN" sz="1600" b="0" dirty="0">
              <a:solidFill>
                <a:schemeClr val="tx1"/>
              </a:solidFill>
              <a:latin typeface="Times New Roman" panose="02020603050405020304" pitchFamily="18" charset="0"/>
            </a:endParaRPr>
          </a:p>
        </p:txBody>
      </p:sp>
      <p:sp>
        <p:nvSpPr>
          <p:cNvPr id="428054" name="Rectangle 22"/>
          <p:cNvSpPr>
            <a:spLocks noChangeArrowheads="1"/>
          </p:cNvSpPr>
          <p:nvPr/>
        </p:nvSpPr>
        <p:spPr bwMode="auto">
          <a:xfrm>
            <a:off x="1905000" y="5638800"/>
            <a:ext cx="539750" cy="519113"/>
          </a:xfrm>
          <a:prstGeom prst="rect">
            <a:avLst/>
          </a:prstGeom>
          <a:noFill/>
          <a:ln w="9525">
            <a:noFill/>
            <a:miter lim="800000"/>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网</a:t>
            </a:r>
            <a:endPar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endParaRPr>
          </a:p>
        </p:txBody>
      </p:sp>
      <p:pic>
        <p:nvPicPr>
          <p:cNvPr id="428055" name="Picture 23"/>
          <p:cNvPicPr>
            <a:picLocks noChangeAspect="1"/>
          </p:cNvPicPr>
          <p:nvPr/>
        </p:nvPicPr>
        <p:blipFill>
          <a:blip r:embed="rId3"/>
          <a:stretch>
            <a:fillRect/>
          </a:stretch>
        </p:blipFill>
        <p:spPr>
          <a:xfrm>
            <a:off x="3348038" y="404813"/>
            <a:ext cx="5143500" cy="2905125"/>
          </a:xfrm>
          <a:prstGeom prst="rect">
            <a:avLst/>
          </a:prstGeom>
          <a:noFill/>
          <a:ln w="9525">
            <a:noFill/>
          </a:ln>
        </p:spPr>
      </p:pic>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8055"/>
                                        </p:tgtEl>
                                        <p:attrNameLst>
                                          <p:attrName>style.visibility</p:attrName>
                                        </p:attrNameLst>
                                      </p:cBhvr>
                                      <p:to>
                                        <p:strVal val="visible"/>
                                      </p:to>
                                    </p:set>
                                    <p:anim calcmode="lin" valueType="num">
                                      <p:cBhvr additive="base">
                                        <p:cTn id="7" dur="500" fill="hold"/>
                                        <p:tgtEl>
                                          <p:spTgt spid="428055"/>
                                        </p:tgtEl>
                                        <p:attrNameLst>
                                          <p:attrName>ppt_x</p:attrName>
                                        </p:attrNameLst>
                                      </p:cBhvr>
                                      <p:tavLst>
                                        <p:tav tm="0">
                                          <p:val>
                                            <p:strVal val="#ppt_x"/>
                                          </p:val>
                                        </p:tav>
                                        <p:tav tm="100000">
                                          <p:val>
                                            <p:strVal val="#ppt_x"/>
                                          </p:val>
                                        </p:tav>
                                      </p:tavLst>
                                    </p:anim>
                                    <p:anim calcmode="lin" valueType="num">
                                      <p:cBhvr additive="base">
                                        <p:cTn id="8" dur="500" fill="hold"/>
                                        <p:tgtEl>
                                          <p:spTgt spid="42805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28041"/>
                                        </p:tgtEl>
                                        <p:attrNameLst>
                                          <p:attrName>style.visibility</p:attrName>
                                        </p:attrNameLst>
                                      </p:cBhvr>
                                      <p:to>
                                        <p:strVal val="visible"/>
                                      </p:to>
                                    </p:set>
                                    <p:anim calcmode="lin" valueType="num">
                                      <p:cBhvr additive="base">
                                        <p:cTn id="11" dur="500" fill="hold"/>
                                        <p:tgtEl>
                                          <p:spTgt spid="428041"/>
                                        </p:tgtEl>
                                        <p:attrNameLst>
                                          <p:attrName>ppt_x</p:attrName>
                                        </p:attrNameLst>
                                      </p:cBhvr>
                                      <p:tavLst>
                                        <p:tav tm="0">
                                          <p:val>
                                            <p:strVal val="#ppt_x"/>
                                          </p:val>
                                        </p:tav>
                                        <p:tav tm="100000">
                                          <p:val>
                                            <p:strVal val="#ppt_x"/>
                                          </p:val>
                                        </p:tav>
                                      </p:tavLst>
                                    </p:anim>
                                    <p:anim calcmode="lin" valueType="num">
                                      <p:cBhvr additive="base">
                                        <p:cTn id="12" dur="500" fill="hold"/>
                                        <p:tgtEl>
                                          <p:spTgt spid="4280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 name="文本框 1"/>
          <p:cNvSpPr txBox="1"/>
          <p:nvPr/>
        </p:nvSpPr>
        <p:spPr>
          <a:xfrm>
            <a:off x="467360" y="621030"/>
            <a:ext cx="8034020" cy="5779135"/>
          </a:xfrm>
          <a:prstGeom prst="rect">
            <a:avLst/>
          </a:prstGeom>
          <a:noFill/>
        </p:spPr>
        <p:txBody>
          <a:bodyPr wrap="square" rtlCol="0" anchor="t">
            <a:noAutofit/>
          </a:bodyPr>
          <a:p>
            <a:r>
              <a:rPr lang="zh-CN" altLang="en-US" sz="2400">
                <a:sym typeface="+mn-ea"/>
              </a:rPr>
              <a:t>问题：权图中没有关系的两个顶点之间的权重为什么要用正无穷表示。</a:t>
            </a:r>
            <a:endParaRPr lang="zh-CN" altLang="en-US" sz="2400"/>
          </a:p>
          <a:p>
            <a:endParaRPr lang="zh-CN" altLang="en-US" sz="2400"/>
          </a:p>
          <a:p>
            <a:r>
              <a:rPr lang="zh-CN" altLang="en-US" sz="2400"/>
              <a:t>在图论中，当两个顶点之间没有边相连时，通常使用正无穷表示它们之间的权重。这是为了在算法和数据结构中能够明确表示两个顶点之间没有连接，而不与具体的权重值混淆。</a:t>
            </a:r>
            <a:endParaRPr lang="zh-CN" altLang="en-US" sz="2400"/>
          </a:p>
          <a:p>
            <a:endParaRPr lang="zh-CN" altLang="en-US" sz="2400"/>
          </a:p>
          <a:p>
            <a:r>
              <a:rPr lang="zh-CN" altLang="en-US" sz="2400"/>
              <a:t>使用正无穷的主要原因包括：</a:t>
            </a:r>
            <a:endParaRPr lang="zh-CN" altLang="en-US" sz="2400"/>
          </a:p>
          <a:p>
            <a:endParaRPr lang="zh-CN" altLang="en-US" sz="2400"/>
          </a:p>
          <a:p>
            <a:r>
              <a:rPr lang="zh-CN" altLang="en-US" sz="2400">
                <a:solidFill>
                  <a:srgbClr val="FF0000"/>
                </a:solidFill>
              </a:rPr>
              <a:t>明确的区分：</a:t>
            </a:r>
            <a:r>
              <a:rPr lang="zh-CN" altLang="en-US" sz="2400"/>
              <a:t>正无穷是一个非常大的数值，远大于通常的权重值。因此，它可以明确表示两个顶点之间没有连接，而不会与实际的权重值混淆。</a:t>
            </a:r>
            <a:endParaRPr lang="zh-CN" altLang="en-US" sz="2400"/>
          </a:p>
          <a:p>
            <a:endParaRPr lang="zh-CN" altLang="en-US"/>
          </a:p>
          <a:p>
            <a:endParaRPr lang="zh-CN" altLang="en-US"/>
          </a:p>
        </p:txBody>
      </p:sp>
      <p:sp>
        <p:nvSpPr>
          <p:cNvPr id="3" name="文本框 2"/>
          <p:cNvSpPr txBox="1"/>
          <p:nvPr/>
        </p:nvSpPr>
        <p:spPr>
          <a:xfrm>
            <a:off x="683260" y="764540"/>
            <a:ext cx="7867650" cy="398780"/>
          </a:xfrm>
          <a:prstGeom prst="rect">
            <a:avLst/>
          </a:prstGeom>
          <a:noFill/>
        </p:spPr>
        <p:txBody>
          <a:bodyPr wrap="square" rtlCol="0" anchor="t">
            <a:spAutoFit/>
          </a:bodyPr>
          <a:p>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 name="文本框 1"/>
          <p:cNvSpPr txBox="1"/>
          <p:nvPr/>
        </p:nvSpPr>
        <p:spPr>
          <a:xfrm>
            <a:off x="395605" y="908685"/>
            <a:ext cx="8034020" cy="4317365"/>
          </a:xfrm>
          <a:prstGeom prst="rect">
            <a:avLst/>
          </a:prstGeom>
          <a:noFill/>
        </p:spPr>
        <p:txBody>
          <a:bodyPr wrap="square" rtlCol="0" anchor="t">
            <a:noAutofit/>
          </a:bodyPr>
          <a:p>
            <a:endParaRPr lang="zh-CN" altLang="en-US"/>
          </a:p>
          <a:p>
            <a:r>
              <a:rPr lang="zh-CN" altLang="en-US" sz="2400">
                <a:solidFill>
                  <a:srgbClr val="FF0000"/>
                </a:solidFill>
              </a:rPr>
              <a:t>算法的一般性：</a:t>
            </a:r>
            <a:r>
              <a:rPr lang="zh-CN" altLang="en-US" sz="2400"/>
              <a:t>许多图算法需要处理有权图和无权图，使用正无穷使得这些算法能够适用于不同类型的图，而无需修改太多代码。</a:t>
            </a:r>
            <a:endParaRPr lang="zh-CN" altLang="en-US" sz="2400"/>
          </a:p>
          <a:p>
            <a:endParaRPr lang="zh-CN" altLang="en-US" sz="2400"/>
          </a:p>
          <a:p>
            <a:r>
              <a:rPr lang="zh-CN" altLang="en-US" sz="2400">
                <a:solidFill>
                  <a:srgbClr val="FF0000"/>
                </a:solidFill>
              </a:rPr>
              <a:t>便于比较：</a:t>
            </a:r>
            <a:r>
              <a:rPr lang="zh-CN" altLang="en-US" sz="2400"/>
              <a:t>使用正无穷使得比较两个权重值的大小更容易，因为它明确表示一方是无穷大，另一方是有限的。</a:t>
            </a:r>
            <a:endParaRPr lang="zh-CN" altLang="en-US" sz="2400"/>
          </a:p>
          <a:p>
            <a:endParaRPr lang="zh-CN" altLang="en-US" sz="2400"/>
          </a:p>
          <a:p>
            <a:r>
              <a:rPr lang="zh-CN" altLang="en-US" sz="2400">
                <a:solidFill>
                  <a:srgbClr val="FF0000"/>
                </a:solidFill>
              </a:rPr>
              <a:t>便于算法实现：</a:t>
            </a:r>
            <a:r>
              <a:rPr lang="zh-CN" altLang="en-US" sz="2400"/>
              <a:t>在编写算法时，可以将正无穷作为特殊值来处理，从而减少边界情况的复杂性。</a:t>
            </a:r>
            <a:endParaRPr lang="zh-CN" altLang="en-US" sz="2400"/>
          </a:p>
          <a:p>
            <a:endParaRPr lang="zh-CN" altLang="en-US" sz="2400"/>
          </a:p>
        </p:txBody>
      </p:sp>
      <p:sp>
        <p:nvSpPr>
          <p:cNvPr id="3" name="文本框 2"/>
          <p:cNvSpPr txBox="1"/>
          <p:nvPr/>
        </p:nvSpPr>
        <p:spPr>
          <a:xfrm>
            <a:off x="683260" y="764540"/>
            <a:ext cx="7867650" cy="398780"/>
          </a:xfrm>
          <a:prstGeom prst="rect">
            <a:avLst/>
          </a:prstGeom>
          <a:noFill/>
        </p:spPr>
        <p:txBody>
          <a:bodyPr wrap="square" rtlCol="0" anchor="t">
            <a:spAutoFit/>
          </a:bodyPr>
          <a:p>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7FD9D"/>
        </a:solidFill>
        <a:effectLst/>
      </p:bgPr>
    </p:bg>
    <p:spTree>
      <p:nvGrpSpPr>
        <p:cNvPr id="1" name=""/>
        <p:cNvGrpSpPr/>
        <p:nvPr/>
      </p:nvGrpSpPr>
      <p:grpSpPr/>
      <p:pic>
        <p:nvPicPr>
          <p:cNvPr id="38914" name="20 2"/>
          <p:cNvPicPr>
            <a:picLocks noChangeAspect="1"/>
          </p:cNvPicPr>
          <p:nvPr/>
        </p:nvPicPr>
        <p:blipFill>
          <a:blip r:embed="rId1"/>
          <a:stretch>
            <a:fillRect/>
          </a:stretch>
        </p:blipFill>
        <p:spPr>
          <a:xfrm>
            <a:off x="130175" y="998538"/>
            <a:ext cx="8883650" cy="4860925"/>
          </a:xfrm>
          <a:prstGeom prst="rect">
            <a:avLst/>
          </a:prstGeom>
          <a:noFill/>
          <a:ln w="9525">
            <a:noFill/>
          </a:ln>
        </p:spPr>
      </p:pic>
      <p:sp>
        <p:nvSpPr>
          <p:cNvPr id="438278" name="Line 6"/>
          <p:cNvSpPr>
            <a:spLocks noChangeShapeType="1"/>
          </p:cNvSpPr>
          <p:nvPr/>
        </p:nvSpPr>
        <p:spPr bwMode="auto">
          <a:xfrm>
            <a:off x="630238" y="4579938"/>
            <a:ext cx="3600450" cy="0"/>
          </a:xfrm>
          <a:prstGeom prst="line">
            <a:avLst/>
          </a:prstGeom>
          <a:noFill/>
          <a:ln w="76200">
            <a:solidFill>
              <a:schemeClr val="accent2"/>
            </a:solidFill>
            <a:round/>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38279" name="Line 7"/>
          <p:cNvSpPr>
            <a:spLocks noChangeShapeType="1"/>
          </p:cNvSpPr>
          <p:nvPr/>
        </p:nvSpPr>
        <p:spPr bwMode="auto">
          <a:xfrm>
            <a:off x="1628775" y="3960813"/>
            <a:ext cx="4681538" cy="0"/>
          </a:xfrm>
          <a:prstGeom prst="line">
            <a:avLst/>
          </a:prstGeom>
          <a:noFill/>
          <a:ln w="76200">
            <a:solidFill>
              <a:schemeClr val="accent2"/>
            </a:solidFill>
            <a:round/>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38277" name="Line 5"/>
          <p:cNvSpPr>
            <a:spLocks noChangeShapeType="1"/>
          </p:cNvSpPr>
          <p:nvPr/>
        </p:nvSpPr>
        <p:spPr bwMode="auto">
          <a:xfrm>
            <a:off x="630238" y="4887913"/>
            <a:ext cx="3600450" cy="0"/>
          </a:xfrm>
          <a:prstGeom prst="line">
            <a:avLst/>
          </a:prstGeom>
          <a:noFill/>
          <a:ln w="76200">
            <a:solidFill>
              <a:schemeClr val="accent2"/>
            </a:solidFill>
            <a:round/>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8918" name="文本框 3"/>
          <p:cNvSpPr txBox="1"/>
          <p:nvPr/>
        </p:nvSpPr>
        <p:spPr>
          <a:xfrm>
            <a:off x="6604000" y="4181475"/>
            <a:ext cx="1619250" cy="398463"/>
          </a:xfrm>
          <a:prstGeom prst="rect">
            <a:avLst/>
          </a:prstGeom>
          <a:noFill/>
          <a:ln w="9525">
            <a:noFill/>
          </a:ln>
        </p:spPr>
        <p:txBody>
          <a:bodyPr>
            <a:spAutoFit/>
          </a:bodyPr>
          <a:p>
            <a:pPr eaLnBrk="1" hangingPunct="1"/>
            <a:r>
              <a:rPr lang="zh-CN" altLang="en-US" dirty="0">
                <a:solidFill>
                  <a:srgbClr val="FF0000"/>
                </a:solidFill>
                <a:latin typeface="Verdana" panose="020B0604030504040204" pitchFamily="34" charset="0"/>
              </a:rPr>
              <a:t>顶点表</a:t>
            </a:r>
            <a:endParaRPr lang="zh-CN" altLang="en-US" dirty="0">
              <a:solidFill>
                <a:srgbClr val="FF0000"/>
              </a:solidFill>
              <a:latin typeface="Verdana" panose="020B0604030504040204" pitchFamily="34" charset="0"/>
            </a:endParaRPr>
          </a:p>
        </p:txBody>
      </p:sp>
      <p:sp>
        <p:nvSpPr>
          <p:cNvPr id="38919" name="文本框 4"/>
          <p:cNvSpPr txBox="1"/>
          <p:nvPr/>
        </p:nvSpPr>
        <p:spPr>
          <a:xfrm>
            <a:off x="6604000" y="4489450"/>
            <a:ext cx="1365250" cy="398463"/>
          </a:xfrm>
          <a:prstGeom prst="rect">
            <a:avLst/>
          </a:prstGeom>
          <a:noFill/>
          <a:ln w="9525">
            <a:noFill/>
          </a:ln>
        </p:spPr>
        <p:txBody>
          <a:bodyPr>
            <a:spAutoFit/>
          </a:bodyPr>
          <a:p>
            <a:pPr eaLnBrk="1" hangingPunct="1"/>
            <a:r>
              <a:rPr lang="zh-CN" altLang="en-US" dirty="0">
                <a:solidFill>
                  <a:srgbClr val="FF0000"/>
                </a:solidFill>
                <a:latin typeface="Verdana" panose="020B0604030504040204" pitchFamily="34" charset="0"/>
              </a:rPr>
              <a:t>弧的表</a:t>
            </a:r>
            <a:endParaRPr lang="zh-CN" altLang="en-US" dirty="0">
              <a:solidFill>
                <a:srgbClr val="FF0000"/>
              </a:solidFill>
              <a:latin typeface="Verdana" panose="020B0604030504040204" pitchFamily="34" charset="0"/>
            </a:endParaRPr>
          </a:p>
        </p:txBody>
      </p:sp>
      <p:sp>
        <p:nvSpPr>
          <p:cNvPr id="38920" name="文本框 5"/>
          <p:cNvSpPr txBox="1"/>
          <p:nvPr/>
        </p:nvSpPr>
        <p:spPr>
          <a:xfrm>
            <a:off x="2249488" y="3960813"/>
            <a:ext cx="1339850" cy="398462"/>
          </a:xfrm>
          <a:prstGeom prst="rect">
            <a:avLst/>
          </a:prstGeom>
          <a:noFill/>
          <a:ln w="9525">
            <a:noFill/>
          </a:ln>
        </p:spPr>
        <p:txBody>
          <a:bodyPr>
            <a:spAutoFit/>
          </a:bodyPr>
          <a:p>
            <a:pPr eaLnBrk="1" hangingPunct="1"/>
            <a:r>
              <a:rPr lang="zh-CN" altLang="en-US" dirty="0">
                <a:solidFill>
                  <a:srgbClr val="FF0000"/>
                </a:solidFill>
                <a:latin typeface="Verdana" panose="020B0604030504040204" pitchFamily="34" charset="0"/>
              </a:rPr>
              <a:t>图的定义</a:t>
            </a:r>
            <a:endParaRPr lang="zh-CN" altLang="en-US" dirty="0">
              <a:solidFill>
                <a:srgbClr val="FF0000"/>
              </a:solidFill>
              <a:latin typeface="Verdana" panose="020B0604030504040204" pitchFamily="34" charset="0"/>
            </a:endParaRPr>
          </a:p>
        </p:txBody>
      </p:sp>
      <p:sp>
        <p:nvSpPr>
          <p:cNvPr id="38921" name="文本框 6"/>
          <p:cNvSpPr txBox="1"/>
          <p:nvPr/>
        </p:nvSpPr>
        <p:spPr>
          <a:xfrm>
            <a:off x="2990850" y="2322513"/>
            <a:ext cx="1339850" cy="398462"/>
          </a:xfrm>
          <a:prstGeom prst="rect">
            <a:avLst/>
          </a:prstGeom>
          <a:noFill/>
          <a:ln w="9525">
            <a:noFill/>
          </a:ln>
        </p:spPr>
        <p:txBody>
          <a:bodyPr>
            <a:spAutoFit/>
          </a:bodyPr>
          <a:p>
            <a:pPr eaLnBrk="1" hangingPunct="1"/>
            <a:r>
              <a:rPr lang="zh-CN" altLang="en-US" dirty="0">
                <a:solidFill>
                  <a:srgbClr val="FF0000"/>
                </a:solidFill>
                <a:latin typeface="Verdana" panose="020B0604030504040204" pitchFamily="34" charset="0"/>
              </a:rPr>
              <a:t>弧的定义</a:t>
            </a:r>
            <a:endParaRPr lang="zh-CN" altLang="en-US" dirty="0">
              <a:solidFill>
                <a:srgbClr val="FF0000"/>
              </a:solidFill>
              <a:latin typeface="Verdana" panose="020B060403050404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9938" name="20 1"/>
          <p:cNvPicPr>
            <a:picLocks noChangeAspect="1"/>
          </p:cNvPicPr>
          <p:nvPr/>
        </p:nvPicPr>
        <p:blipFill>
          <a:blip r:embed="rId1"/>
          <a:stretch>
            <a:fillRect/>
          </a:stretch>
        </p:blipFill>
        <p:spPr>
          <a:xfrm>
            <a:off x="901700" y="1785938"/>
            <a:ext cx="6559550" cy="4289425"/>
          </a:xfrm>
          <a:prstGeom prst="rect">
            <a:avLst/>
          </a:prstGeom>
          <a:noFill/>
          <a:ln w="9525">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929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构造图算法</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39299"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采用数组（邻接矩阵法）构造无向网的算法（算法</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7.2</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46082" name="20 2"/>
          <p:cNvPicPr>
            <a:picLocks noChangeAspect="1"/>
          </p:cNvPicPr>
          <p:nvPr/>
        </p:nvPicPr>
        <p:blipFill>
          <a:blip r:embed="rId1"/>
          <a:stretch>
            <a:fillRect/>
          </a:stretch>
        </p:blipFill>
        <p:spPr>
          <a:xfrm>
            <a:off x="0" y="908050"/>
            <a:ext cx="9169400" cy="4465638"/>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7106" name="20 2"/>
          <p:cNvPicPr>
            <a:picLocks noChangeAspect="1"/>
          </p:cNvPicPr>
          <p:nvPr/>
        </p:nvPicPr>
        <p:blipFill>
          <a:blip r:embed="rId1"/>
          <a:stretch>
            <a:fillRect/>
          </a:stretch>
        </p:blipFill>
        <p:spPr>
          <a:xfrm>
            <a:off x="739775" y="1657350"/>
            <a:ext cx="7664450" cy="3543300"/>
          </a:xfrm>
          <a:prstGeom prst="rect">
            <a:avLst/>
          </a:prstGeom>
          <a:noFill/>
          <a:ln w="9525">
            <a:noFill/>
          </a:ln>
        </p:spPr>
      </p:pic>
      <p:sp>
        <p:nvSpPr>
          <p:cNvPr id="47107" name="文本框 3"/>
          <p:cNvSpPr txBox="1"/>
          <p:nvPr/>
        </p:nvSpPr>
        <p:spPr>
          <a:xfrm>
            <a:off x="827088" y="908050"/>
            <a:ext cx="5689600" cy="647700"/>
          </a:xfrm>
          <a:prstGeom prst="rect">
            <a:avLst/>
          </a:prstGeom>
          <a:noFill/>
          <a:ln w="9525">
            <a:noFill/>
          </a:ln>
        </p:spPr>
        <p:txBody>
          <a:bodyPr>
            <a:spAutoFit/>
          </a:bodyPr>
          <a:p>
            <a:r>
              <a:rPr lang="en-US" altLang="zh-CN" sz="3600" dirty="0">
                <a:solidFill>
                  <a:srgbClr val="4F4F4F"/>
                </a:solidFill>
                <a:latin typeface="PingFang SC"/>
              </a:rPr>
              <a:t>Locatevex</a:t>
            </a:r>
            <a:r>
              <a:rPr lang="zh-CN" altLang="en-US" sz="3600" dirty="0">
                <a:solidFill>
                  <a:srgbClr val="4F4F4F"/>
                </a:solidFill>
                <a:latin typeface="PingFang SC"/>
              </a:rPr>
              <a:t>函数</a:t>
            </a:r>
            <a:endParaRPr lang="zh-CN" altLang="en-US" sz="3600" dirty="0">
              <a:solidFill>
                <a:srgbClr val="4F4F4F"/>
              </a:solidFill>
              <a:latin typeface="PingFang SC"/>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917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数组（邻接矩阵）表示法</a:t>
            </a:r>
            <a:r>
              <a:rPr kumimoji="0" lang="en-US" altLang="zh-CN"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a:t>
            </a: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分析</a:t>
            </a:r>
            <a:endParaRPr kumimoji="0" lang="zh-CN" altLang="zh-CN"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519171"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构造具有</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个顶点和</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e</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条边的无向网的时间复杂度－</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O</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a:t>
            </a:r>
            <a:r>
              <a:rPr kumimoji="0" lang="en-US" altLang="zh-CN" sz="30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mn-lt"/>
                <a:ea typeface="+mn-ea"/>
                <a:cs typeface="+mn-cs"/>
              </a:rPr>
              <a:t>2</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30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e×n</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问题规模：顶点数</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n</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，边数</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e</a:t>
            </a:r>
            <a:endPar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对邻接矩阵的初始化耗费了：</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O</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n</a:t>
            </a:r>
            <a:r>
              <a:rPr kumimoji="0" lang="en-US" altLang="zh-CN" sz="26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mn-lt"/>
                <a:ea typeface="+mn-ea"/>
                <a:cs typeface="+mn-ea"/>
              </a:rPr>
              <a:t>2</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对每个边</a:t>
            </a:r>
            <a:r>
              <a:rPr kumimoji="0" lang="en-US" altLang="zh-CN" sz="26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ea"/>
              </a:rPr>
              <a:t>LocateVex</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 : O</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ea"/>
              </a:rPr>
              <a:t>e×n</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p:txBody>
      </p:sp>
      <p:sp>
        <p:nvSpPr>
          <p:cNvPr id="3" name="剪去同侧角的矩形 2"/>
          <p:cNvSpPr/>
          <p:nvPr/>
        </p:nvSpPr>
        <p:spPr>
          <a:xfrm>
            <a:off x="795338" y="4240213"/>
            <a:ext cx="303213" cy="423863"/>
          </a:xfrm>
          <a:prstGeom prst="snip2SameRect">
            <a:avLst/>
          </a:prstGeom>
          <a:solidFill>
            <a:schemeClr val="bg1"/>
          </a:solidFill>
          <a:ln w="9525" cap="flat" cmpd="sng" algn="ctr">
            <a:noFill/>
            <a:prstDash val="solid"/>
            <a:round/>
            <a:headEnd type="none" w="med" len="med"/>
            <a:tailEnd type="none" w="med" len="med"/>
          </a:ln>
        </p:spPr>
        <p:txBody>
          <a:bodyPr anchor="b">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1">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31106" name="Rectangle 2"/>
          <p:cNvSpPr>
            <a:spLocks noGrp="1" noChangeArrowheads="1"/>
          </p:cNvSpPr>
          <p:nvPr>
            <p:ph type="title" idx="4294967295"/>
          </p:nvPr>
        </p:nvSpPr>
        <p:spPr>
          <a:xfrm>
            <a:off x="2268538" y="188913"/>
            <a:ext cx="4392613" cy="6096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j-cs"/>
              </a:rPr>
              <a:t>邻接表 </a:t>
            </a:r>
            <a:r>
              <a:rPr kumimoji="0" lang="en-US" altLang="zh-CN" sz="3200" b="1"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j-cs"/>
              </a:rPr>
              <a:t>(Adjacency List)</a:t>
            </a:r>
            <a:endParaRPr kumimoji="0" lang="en-US" altLang="zh-CN" sz="3200" b="1"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j-cs"/>
            </a:endParaRPr>
          </a:p>
        </p:txBody>
      </p:sp>
      <p:sp>
        <p:nvSpPr>
          <p:cNvPr id="431107" name="Text Box 3"/>
          <p:cNvSpPr txBox="1">
            <a:spLocks noChangeArrowheads="1"/>
          </p:cNvSpPr>
          <p:nvPr/>
        </p:nvSpPr>
        <p:spPr bwMode="auto">
          <a:xfrm>
            <a:off x="395288" y="692150"/>
            <a:ext cx="3352800" cy="579438"/>
          </a:xfrm>
          <a:prstGeom prst="rect">
            <a:avLst/>
          </a:prstGeom>
          <a:noFill/>
          <a:ln w="9525">
            <a:noFill/>
            <a:miter lim="800000"/>
          </a:ln>
          <a:effectLst/>
        </p:spPr>
        <p:txBody>
          <a:bodyPr>
            <a:spAutoFit/>
          </a:bodyPr>
          <a:lstStyle/>
          <a:p>
            <a:pPr marR="0" defTabSz="914400" eaLnBrk="1" hangingPunct="1">
              <a:spcBef>
                <a:spcPct val="20000"/>
              </a:spcBef>
              <a:buClr>
                <a:srgbClr val="FF3300"/>
              </a:buClr>
              <a:buSzTx/>
              <a:buFont typeface="Wingdings" panose="05000000000000000000" pitchFamily="2" charset="2"/>
              <a:buChar char="§"/>
              <a:defRPr/>
            </a:pPr>
            <a:r>
              <a:rPr kumimoji="0" lang="zh-CN" altLang="en-US" sz="3200" kern="1200" cap="none" spc="0" normalizeH="0" baseline="0" noProof="0">
                <a:solidFill>
                  <a:srgbClr val="FF3300"/>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链式存储</a:t>
            </a:r>
            <a:endParaRPr kumimoji="1" lang="zh-CN" altLang="en-US" sz="3200" kern="1200" cap="none" spc="0" normalizeH="0" baseline="0" noProof="0">
              <a:solidFill>
                <a:srgbClr val="FF3300"/>
              </a:solidFill>
              <a:effectLst>
                <a:outerShdw blurRad="38100" dist="38100" dir="2700000" algn="tl">
                  <a:srgbClr val="C0C0C0"/>
                </a:outerShdw>
              </a:effectLst>
              <a:latin typeface="Arial" panose="020B0604020202020204" pitchFamily="34" charset="0"/>
              <a:ea typeface="楷体_GB2312" pitchFamily="49" charset="-122"/>
              <a:cs typeface="+mn-cs"/>
              <a:sym typeface="Symbol" panose="05050102010706020507" pitchFamily="18" charset="2"/>
            </a:endParaRPr>
          </a:p>
        </p:txBody>
      </p:sp>
      <p:sp>
        <p:nvSpPr>
          <p:cNvPr id="431108" name="Text Box 4"/>
          <p:cNvSpPr txBox="1">
            <a:spLocks noChangeArrowheads="1"/>
          </p:cNvSpPr>
          <p:nvPr/>
        </p:nvSpPr>
        <p:spPr bwMode="auto">
          <a:xfrm>
            <a:off x="5219700" y="1160463"/>
            <a:ext cx="1460500" cy="457200"/>
          </a:xfrm>
          <a:prstGeom prst="rect">
            <a:avLst/>
          </a:prstGeom>
          <a:noFill/>
          <a:ln w="9525">
            <a:noFill/>
            <a:miter lim="800000"/>
          </a:ln>
          <a:effectLst/>
        </p:spPr>
        <p:txBody>
          <a:bodyPr>
            <a:spAutoFit/>
          </a:bodyPr>
          <a:lstStyle/>
          <a:p>
            <a:pPr marR="0" algn="ctr" defTabSz="914400">
              <a:spcBef>
                <a:spcPct val="50000"/>
              </a:spcBef>
              <a:buClrTx/>
              <a:buSzTx/>
              <a:buFontTx/>
              <a:buNone/>
              <a:defRPr/>
            </a:pPr>
            <a:r>
              <a:rPr kumimoji="1" lang="zh-CN" altLang="en-US" sz="2400"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表结点</a:t>
            </a:r>
            <a:endParaRPr kumimoji="1" lang="zh-CN" altLang="en-US" sz="2400"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endParaRPr>
          </a:p>
        </p:txBody>
      </p:sp>
      <p:sp>
        <p:nvSpPr>
          <p:cNvPr id="431109" name="Text Box 5"/>
          <p:cNvSpPr txBox="1">
            <a:spLocks noChangeArrowheads="1"/>
          </p:cNvSpPr>
          <p:nvPr/>
        </p:nvSpPr>
        <p:spPr bwMode="auto">
          <a:xfrm>
            <a:off x="1258888" y="1231900"/>
            <a:ext cx="1558925" cy="457200"/>
          </a:xfrm>
          <a:prstGeom prst="rect">
            <a:avLst/>
          </a:prstGeom>
          <a:noFill/>
          <a:ln w="9525">
            <a:noFill/>
            <a:miter lim="800000"/>
          </a:ln>
          <a:effectLst/>
        </p:spPr>
        <p:txBody>
          <a:bodyPr>
            <a:spAutoFit/>
          </a:bodyPr>
          <a:lstStyle/>
          <a:p>
            <a:pPr marR="0" algn="ctr" defTabSz="914400">
              <a:spcBef>
                <a:spcPct val="50000"/>
              </a:spcBef>
              <a:buClrTx/>
              <a:buSzTx/>
              <a:buFontTx/>
              <a:buNone/>
              <a:defRPr/>
            </a:pPr>
            <a:r>
              <a:rPr kumimoji="1" lang="zh-CN" altLang="en-US" sz="2400"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表头结点</a:t>
            </a:r>
            <a:endParaRPr kumimoji="1" lang="zh-CN" altLang="en-US" sz="2400"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endParaRPr>
          </a:p>
        </p:txBody>
      </p:sp>
      <p:graphicFrame>
        <p:nvGraphicFramePr>
          <p:cNvPr id="431215" name="Group 111"/>
          <p:cNvGraphicFramePr>
            <a:graphicFrameLocks noGrp="1"/>
          </p:cNvGraphicFramePr>
          <p:nvPr/>
        </p:nvGraphicFramePr>
        <p:xfrm>
          <a:off x="611188" y="1893888"/>
          <a:ext cx="2808288" cy="457200"/>
        </p:xfrm>
        <a:graphic>
          <a:graphicData uri="http://schemas.openxmlformats.org/drawingml/2006/table">
            <a:tbl>
              <a:tblPr/>
              <a:tblGrid>
                <a:gridCol w="1058862"/>
                <a:gridCol w="1749425"/>
              </a:tblGrid>
              <a:tr h="43180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data</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firstarc</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31213" name="Group 109"/>
          <p:cNvGraphicFramePr>
            <a:graphicFrameLocks noGrp="1"/>
          </p:cNvGraphicFramePr>
          <p:nvPr/>
        </p:nvGraphicFramePr>
        <p:xfrm>
          <a:off x="3562350" y="1881188"/>
          <a:ext cx="5037138" cy="457200"/>
        </p:xfrm>
        <a:graphic>
          <a:graphicData uri="http://schemas.openxmlformats.org/drawingml/2006/table">
            <a:tbl>
              <a:tblPr/>
              <a:tblGrid>
                <a:gridCol w="1679575"/>
                <a:gridCol w="1677988"/>
                <a:gridCol w="1679575"/>
              </a:tblGrid>
              <a:tr h="44450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adjvex</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nextarc</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info</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49176" name="Picture 112"/>
          <p:cNvPicPr>
            <a:picLocks noChangeAspect="1"/>
          </p:cNvPicPr>
          <p:nvPr/>
        </p:nvPicPr>
        <p:blipFill>
          <a:blip r:embed="rId1">
            <a:clrChange>
              <a:clrFrom>
                <a:srgbClr val="FFFFFF"/>
              </a:clrFrom>
              <a:clrTo>
                <a:srgbClr val="FFFFFF">
                  <a:alpha val="0"/>
                </a:srgbClr>
              </a:clrTo>
            </a:clrChange>
          </a:blip>
          <a:stretch>
            <a:fillRect/>
          </a:stretch>
        </p:blipFill>
        <p:spPr>
          <a:xfrm>
            <a:off x="3270250" y="2335213"/>
            <a:ext cx="6011863" cy="4522787"/>
          </a:xfrm>
          <a:prstGeom prst="rect">
            <a:avLst/>
          </a:prstGeom>
          <a:noFill/>
          <a:ln w="9525">
            <a:noFill/>
          </a:ln>
        </p:spPr>
      </p:pic>
      <p:pic>
        <p:nvPicPr>
          <p:cNvPr id="49177" name="Picture 113"/>
          <p:cNvPicPr>
            <a:picLocks noChangeAspect="1"/>
          </p:cNvPicPr>
          <p:nvPr/>
        </p:nvPicPr>
        <p:blipFill>
          <a:blip r:embed="rId2">
            <a:clrChange>
              <a:clrFrom>
                <a:srgbClr val="FEFEFE"/>
              </a:clrFrom>
              <a:clrTo>
                <a:srgbClr val="FEFEFE">
                  <a:alpha val="0"/>
                </a:srgbClr>
              </a:clrTo>
            </a:clrChange>
          </a:blip>
          <a:stretch>
            <a:fillRect/>
          </a:stretch>
        </p:blipFill>
        <p:spPr>
          <a:xfrm>
            <a:off x="168275" y="3160713"/>
            <a:ext cx="3503613" cy="1631950"/>
          </a:xfrm>
          <a:prstGeom prst="rect">
            <a:avLst/>
          </a:prstGeom>
          <a:noFill/>
          <a:ln w="9525">
            <a:noFill/>
          </a:ln>
        </p:spPr>
      </p:pic>
    </p:spTree>
  </p:cSld>
  <p:clrMapOvr>
    <a:masterClrMapping/>
  </p:clrMapOvr>
  <p:transition>
    <p:blinds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3240" name="Rectangle 88"/>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0" i="0" u="none" strike="noStrike" kern="0" cap="none" spc="0" normalizeH="0" baseline="0" noProof="0">
                <a:ln>
                  <a:noFill/>
                </a:ln>
                <a:solidFill>
                  <a:srgbClr val="FF3300"/>
                </a:solidFill>
                <a:effectLst>
                  <a:outerShdw blurRad="38100" dist="38100" dir="2700000" algn="tl">
                    <a:srgbClr val="C0C0C0"/>
                  </a:outerShdw>
                </a:effectLst>
                <a:uLnTx/>
                <a:uFillTx/>
                <a:latin typeface="+mj-lt"/>
                <a:ea typeface="+mj-ea"/>
                <a:cs typeface="+mj-cs"/>
              </a:rPr>
              <a:t>有向图的邻接表</a:t>
            </a:r>
            <a:endParaRPr kumimoji="0" lang="zh-CN" altLang="en-US" sz="3800" b="0" i="0" u="none" strike="noStrike" kern="0" cap="none" spc="0" normalizeH="0" baseline="0" noProof="0">
              <a:ln>
                <a:noFill/>
              </a:ln>
              <a:solidFill>
                <a:srgbClr val="FF3300"/>
              </a:solidFill>
              <a:effectLst>
                <a:outerShdw blurRad="38100" dist="38100" dir="2700000" algn="tl">
                  <a:srgbClr val="C0C0C0"/>
                </a:outerShdw>
              </a:effectLst>
              <a:uLnTx/>
              <a:uFillTx/>
              <a:latin typeface="+mj-lt"/>
              <a:ea typeface="+mj-ea"/>
              <a:cs typeface="+mj-cs"/>
            </a:endParaRPr>
          </a:p>
        </p:txBody>
      </p:sp>
      <p:sp>
        <p:nvSpPr>
          <p:cNvPr id="433154" name="Rectangle 2"/>
          <p:cNvSpPr>
            <a:spLocks noGrp="1" noChangeArrowheads="1"/>
          </p:cNvSpPr>
          <p:nvPr>
            <p:ph idx="1"/>
          </p:nvPr>
        </p:nvSpPr>
        <p:spPr>
          <a:xfrm>
            <a:off x="539750" y="3933825"/>
            <a:ext cx="8027988" cy="2085975"/>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在有向图的邻接表中，第 </a:t>
            </a:r>
            <a:r>
              <a:rPr kumimoji="0" lang="en-US" altLang="zh-CN" sz="3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i</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个链表链接的都是顶点 </a:t>
            </a:r>
            <a:r>
              <a:rPr kumimoji="0" lang="en-US" altLang="zh-CN" sz="3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i</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r>
              <a:rPr kumimoji="0" lang="zh-CN"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发出的边</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的终端，</a:t>
            </a:r>
            <a:r>
              <a:rPr kumimoji="0" lang="zh-CN"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也叫做</a:t>
            </a:r>
            <a:r>
              <a:rPr kumimoji="0" lang="zh-CN" altLang="zh-CN" sz="3000" b="1"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出边表</a:t>
            </a:r>
            <a:r>
              <a:rPr kumimoji="0" lang="zh-CN"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908050" marR="0" lvl="1" indent="-43688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Char char="§"/>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rPr>
              <a:t>出度计算</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sym typeface="Wingdings" panose="05000000000000000000" pitchFamily="2" charset="2"/>
              </a:rPr>
              <a:t></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sym typeface="Wingdings" panose="05000000000000000000" pitchFamily="2" charset="2"/>
            </a:endParaRPr>
          </a:p>
          <a:p>
            <a:pPr marL="908050" marR="0" lvl="1" indent="-43688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Char char="§"/>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sym typeface="Wingdings" panose="05000000000000000000" pitchFamily="2" charset="2"/>
              </a:rPr>
              <a:t>入度计算－遍历</a:t>
            </a:r>
            <a:endParaRPr kumimoji="0" lang="zh-CN"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ea"/>
            </a:endParaRPr>
          </a:p>
        </p:txBody>
      </p:sp>
      <p:grpSp>
        <p:nvGrpSpPr>
          <p:cNvPr id="50180" name="Group 3"/>
          <p:cNvGrpSpPr/>
          <p:nvPr/>
        </p:nvGrpSpPr>
        <p:grpSpPr>
          <a:xfrm>
            <a:off x="5022850" y="2341563"/>
            <a:ext cx="2286000" cy="990600"/>
            <a:chOff x="4622" y="4313"/>
            <a:chExt cx="3240" cy="1092"/>
          </a:xfrm>
        </p:grpSpPr>
        <p:sp>
          <p:nvSpPr>
            <p:cNvPr id="50205" name="Rectangle 4"/>
            <p:cNvSpPr/>
            <p:nvPr/>
          </p:nvSpPr>
          <p:spPr>
            <a:xfrm>
              <a:off x="5162" y="4313"/>
              <a:ext cx="1080" cy="468"/>
            </a:xfrm>
            <a:prstGeom prst="rect">
              <a:avLst/>
            </a:prstGeom>
            <a:solidFill>
              <a:srgbClr val="FFFFFF"/>
            </a:solidFill>
            <a:ln w="9525" cap="flat" cmpd="sng">
              <a:solidFill>
                <a:srgbClr val="000000"/>
              </a:solidFill>
              <a:prstDash val="solid"/>
              <a:miter/>
              <a:headEnd type="none" w="med" len="med"/>
              <a:tailEnd type="none" w="med" len="med"/>
            </a:ln>
          </p:spPr>
          <p:txBody>
            <a:bodyPr/>
            <a:p>
              <a:pPr algn="just"/>
              <a:r>
                <a:rPr lang="en-US" altLang="zh-CN" b="0" dirty="0">
                  <a:solidFill>
                    <a:schemeClr val="tx1"/>
                  </a:solidFill>
                  <a:latin typeface="Times New Roman" panose="02020603050405020304" pitchFamily="18" charset="0"/>
                </a:rPr>
                <a:t>1     ^</a:t>
              </a:r>
              <a:endParaRPr lang="en-US" altLang="zh-CN" b="0" dirty="0">
                <a:solidFill>
                  <a:schemeClr val="tx1"/>
                </a:solidFill>
                <a:latin typeface="Times New Roman" panose="02020603050405020304" pitchFamily="18" charset="0"/>
              </a:endParaRPr>
            </a:p>
          </p:txBody>
        </p:sp>
        <p:sp>
          <p:nvSpPr>
            <p:cNvPr id="50206" name="Rectangle 5"/>
            <p:cNvSpPr/>
            <p:nvPr/>
          </p:nvSpPr>
          <p:spPr>
            <a:xfrm>
              <a:off x="5162" y="4937"/>
              <a:ext cx="1080" cy="468"/>
            </a:xfrm>
            <a:prstGeom prst="rect">
              <a:avLst/>
            </a:prstGeom>
            <a:solidFill>
              <a:srgbClr val="FFFFFF"/>
            </a:solidFill>
            <a:ln w="9525" cap="flat" cmpd="sng">
              <a:solidFill>
                <a:srgbClr val="000000"/>
              </a:solidFill>
              <a:prstDash val="solid"/>
              <a:miter/>
              <a:headEnd type="none" w="med" len="med"/>
              <a:tailEnd type="none" w="med" len="med"/>
            </a:ln>
          </p:spPr>
          <p:txBody>
            <a:bodyPr/>
            <a:p>
              <a:pPr algn="just"/>
              <a:r>
                <a:rPr lang="en-US" altLang="zh-CN" b="0" dirty="0">
                  <a:solidFill>
                    <a:schemeClr val="tx1"/>
                  </a:solidFill>
                  <a:latin typeface="Times New Roman" panose="02020603050405020304" pitchFamily="18" charset="0"/>
                </a:rPr>
                <a:t>0</a:t>
              </a:r>
              <a:endParaRPr lang="en-US" altLang="zh-CN" b="0" dirty="0">
                <a:solidFill>
                  <a:schemeClr val="tx1"/>
                </a:solidFill>
                <a:latin typeface="Times New Roman" panose="02020603050405020304" pitchFamily="18" charset="0"/>
              </a:endParaRPr>
            </a:p>
          </p:txBody>
        </p:sp>
        <p:sp>
          <p:nvSpPr>
            <p:cNvPr id="50207" name="Rectangle 6"/>
            <p:cNvSpPr/>
            <p:nvPr/>
          </p:nvSpPr>
          <p:spPr>
            <a:xfrm>
              <a:off x="6782" y="4937"/>
              <a:ext cx="1080" cy="468"/>
            </a:xfrm>
            <a:prstGeom prst="rect">
              <a:avLst/>
            </a:prstGeom>
            <a:solidFill>
              <a:srgbClr val="FFFFFF"/>
            </a:solidFill>
            <a:ln w="9525" cap="flat" cmpd="sng">
              <a:solidFill>
                <a:srgbClr val="000000"/>
              </a:solidFill>
              <a:prstDash val="solid"/>
              <a:miter/>
              <a:headEnd type="none" w="med" len="med"/>
              <a:tailEnd type="none" w="med" len="med"/>
            </a:ln>
          </p:spPr>
          <p:txBody>
            <a:bodyPr/>
            <a:p>
              <a:pPr algn="just"/>
              <a:r>
                <a:rPr lang="en-US" altLang="zh-CN" b="0" dirty="0">
                  <a:solidFill>
                    <a:schemeClr val="tx1"/>
                  </a:solidFill>
                  <a:latin typeface="Times New Roman" panose="02020603050405020304" pitchFamily="18" charset="0"/>
                </a:rPr>
                <a:t>2    ^</a:t>
              </a:r>
              <a:endParaRPr lang="en-US" altLang="zh-CN" b="0" dirty="0">
                <a:solidFill>
                  <a:schemeClr val="tx1"/>
                </a:solidFill>
                <a:latin typeface="Times New Roman" panose="02020603050405020304" pitchFamily="18" charset="0"/>
              </a:endParaRPr>
            </a:p>
          </p:txBody>
        </p:sp>
        <p:sp>
          <p:nvSpPr>
            <p:cNvPr id="433159" name="Line 7"/>
            <p:cNvSpPr>
              <a:spLocks noChangeShapeType="1"/>
            </p:cNvSpPr>
            <p:nvPr/>
          </p:nvSpPr>
          <p:spPr bwMode="auto">
            <a:xfrm>
              <a:off x="5702" y="4313"/>
              <a:ext cx="0" cy="467"/>
            </a:xfrm>
            <a:prstGeom prst="line">
              <a:avLst/>
            </a:prstGeom>
            <a:noFill/>
            <a:ln w="9525">
              <a:solidFill>
                <a:srgbClr val="000000"/>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33160" name="Line 8"/>
            <p:cNvSpPr>
              <a:spLocks noChangeShapeType="1"/>
            </p:cNvSpPr>
            <p:nvPr/>
          </p:nvSpPr>
          <p:spPr bwMode="auto">
            <a:xfrm>
              <a:off x="7322" y="4938"/>
              <a:ext cx="0" cy="467"/>
            </a:xfrm>
            <a:prstGeom prst="line">
              <a:avLst/>
            </a:prstGeom>
            <a:noFill/>
            <a:ln w="9525">
              <a:solidFill>
                <a:srgbClr val="000000"/>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33161" name="Line 9"/>
            <p:cNvSpPr>
              <a:spLocks noChangeShapeType="1"/>
            </p:cNvSpPr>
            <p:nvPr/>
          </p:nvSpPr>
          <p:spPr bwMode="auto">
            <a:xfrm>
              <a:off x="5702" y="4938"/>
              <a:ext cx="0" cy="467"/>
            </a:xfrm>
            <a:prstGeom prst="line">
              <a:avLst/>
            </a:prstGeom>
            <a:noFill/>
            <a:ln w="9525">
              <a:solidFill>
                <a:srgbClr val="000000"/>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33162" name="Line 10"/>
            <p:cNvSpPr>
              <a:spLocks noChangeShapeType="1"/>
            </p:cNvSpPr>
            <p:nvPr/>
          </p:nvSpPr>
          <p:spPr bwMode="auto">
            <a:xfrm>
              <a:off x="4622" y="4469"/>
              <a:ext cx="540" cy="0"/>
            </a:xfrm>
            <a:prstGeom prst="line">
              <a:avLst/>
            </a:prstGeom>
            <a:noFill/>
            <a:ln w="9525">
              <a:solidFill>
                <a:srgbClr val="000000"/>
              </a:solidFill>
              <a:round/>
              <a:tailEnd type="stealth" w="sm" len="sm"/>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33163" name="Line 11"/>
            <p:cNvSpPr>
              <a:spLocks noChangeShapeType="1"/>
            </p:cNvSpPr>
            <p:nvPr/>
          </p:nvSpPr>
          <p:spPr bwMode="auto">
            <a:xfrm>
              <a:off x="6062" y="5094"/>
              <a:ext cx="720" cy="0"/>
            </a:xfrm>
            <a:prstGeom prst="line">
              <a:avLst/>
            </a:prstGeom>
            <a:noFill/>
            <a:ln w="9525">
              <a:solidFill>
                <a:srgbClr val="000000"/>
              </a:solidFill>
              <a:round/>
              <a:tailEnd type="stealth" w="sm" len="sm"/>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33164" name="Line 12"/>
            <p:cNvSpPr>
              <a:spLocks noChangeShapeType="1"/>
            </p:cNvSpPr>
            <p:nvPr/>
          </p:nvSpPr>
          <p:spPr bwMode="auto">
            <a:xfrm>
              <a:off x="4622" y="5094"/>
              <a:ext cx="540" cy="0"/>
            </a:xfrm>
            <a:prstGeom prst="line">
              <a:avLst/>
            </a:prstGeom>
            <a:noFill/>
            <a:ln w="9525">
              <a:solidFill>
                <a:srgbClr val="000000"/>
              </a:solidFill>
              <a:round/>
              <a:tailEnd type="stealth" w="sm" len="sm"/>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aphicFrame>
        <p:nvGraphicFramePr>
          <p:cNvPr id="314373" name="表格 314372"/>
          <p:cNvGraphicFramePr/>
          <p:nvPr/>
        </p:nvGraphicFramePr>
        <p:xfrm>
          <a:off x="4108450" y="2265363"/>
          <a:ext cx="1143000" cy="1443038"/>
        </p:xfrm>
        <a:graphic>
          <a:graphicData uri="http://schemas.openxmlformats.org/drawingml/2006/table">
            <a:tbl>
              <a:tblPr/>
              <a:tblGrid>
                <a:gridCol w="571500"/>
                <a:gridCol w="571500"/>
              </a:tblGrid>
              <a:tr h="472931">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700" dirty="0">
                          <a:solidFill>
                            <a:schemeClr val="tx1"/>
                          </a:solidFill>
                          <a:effectLst>
                            <a:outerShdw blurRad="38100" dist="38100" dir="2700000">
                              <a:srgbClr val="C0C0C0"/>
                            </a:outerShdw>
                          </a:effectLst>
                          <a:latin typeface="Times New Roman" panose="02020603050405020304" pitchFamily="18" charset="0"/>
                        </a:rPr>
                        <a:t>V1</a:t>
                      </a:r>
                      <a:endParaRPr lang="en-US" altLang="zh-CN" sz="1700" dirty="0">
                        <a:solidFill>
                          <a:schemeClr val="tx1"/>
                        </a:solidFill>
                        <a:effectLst>
                          <a:outerShdw blurRad="38100" dist="38100" dir="2700000">
                            <a:srgbClr val="C0C0C0"/>
                          </a:outerShdw>
                        </a:effectLst>
                        <a:latin typeface="Times New Roman" panose="02020603050405020304" pitchFamily="18" charset="0"/>
                      </a:endParaRPr>
                    </a:p>
                  </a:txBody>
                  <a:tcPr marT="45706" marB="4570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2200" dirty="0">
                        <a:solidFill>
                          <a:schemeClr val="tx1"/>
                        </a:solidFill>
                        <a:effectLst>
                          <a:outerShdw blurRad="38100" dist="38100" dir="2700000">
                            <a:srgbClr val="C0C0C0"/>
                          </a:outerShdw>
                        </a:effectLst>
                        <a:latin typeface="Verdana" panose="020B0604030504040204" pitchFamily="34" charset="0"/>
                      </a:endParaRPr>
                    </a:p>
                  </a:txBody>
                  <a:tcPr marT="45706" marB="4570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82454">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700" dirty="0">
                          <a:solidFill>
                            <a:schemeClr val="tx1"/>
                          </a:solidFill>
                          <a:effectLst>
                            <a:outerShdw blurRad="38100" dist="38100" dir="2700000">
                              <a:srgbClr val="C0C0C0"/>
                            </a:outerShdw>
                          </a:effectLst>
                          <a:latin typeface="Times New Roman" panose="02020603050405020304" pitchFamily="18" charset="0"/>
                        </a:rPr>
                        <a:t>V2</a:t>
                      </a:r>
                      <a:endParaRPr lang="en-US" altLang="zh-CN" sz="1700" dirty="0">
                        <a:solidFill>
                          <a:schemeClr val="tx1"/>
                        </a:solidFill>
                        <a:effectLst>
                          <a:outerShdw blurRad="38100" dist="38100" dir="2700000">
                            <a:srgbClr val="C0C0C0"/>
                          </a:outerShdw>
                        </a:effectLst>
                        <a:latin typeface="Times New Roman" panose="02020603050405020304" pitchFamily="18" charset="0"/>
                      </a:endParaRPr>
                    </a:p>
                  </a:txBody>
                  <a:tcPr marT="45706" marB="4570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endParaRPr lang="zh-CN" altLang="zh-CN" sz="2200" dirty="0">
                        <a:solidFill>
                          <a:schemeClr val="tx1"/>
                        </a:solidFill>
                        <a:effectLst>
                          <a:outerShdw blurRad="38100" dist="38100" dir="2700000">
                            <a:srgbClr val="C0C0C0"/>
                          </a:outerShdw>
                        </a:effectLst>
                        <a:latin typeface="Verdana" panose="020B0604030504040204" pitchFamily="34" charset="0"/>
                      </a:endParaRPr>
                    </a:p>
                  </a:txBody>
                  <a:tcPr marT="45706" marB="4570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87651">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1700" dirty="0">
                          <a:solidFill>
                            <a:schemeClr val="tx1"/>
                          </a:solidFill>
                          <a:effectLst>
                            <a:outerShdw blurRad="38100" dist="38100" dir="2700000">
                              <a:srgbClr val="C0C0C0"/>
                            </a:outerShdw>
                          </a:effectLst>
                          <a:latin typeface="Times New Roman" panose="02020603050405020304" pitchFamily="18" charset="0"/>
                        </a:rPr>
                        <a:t>V3</a:t>
                      </a:r>
                      <a:endParaRPr lang="en-US" altLang="zh-CN" sz="1700" dirty="0">
                        <a:solidFill>
                          <a:schemeClr val="tx1"/>
                        </a:solidFill>
                        <a:effectLst>
                          <a:outerShdw blurRad="38100" dist="38100" dir="2700000">
                            <a:srgbClr val="C0C0C0"/>
                          </a:outerShdw>
                        </a:effectLst>
                        <a:latin typeface="Times New Roman" panose="02020603050405020304" pitchFamily="18" charset="0"/>
                      </a:endParaRPr>
                    </a:p>
                  </a:txBody>
                  <a:tcPr marT="45706" marB="4570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eaLnBrk="1" hangingPunct="1">
                        <a:spcBef>
                          <a:spcPct val="20000"/>
                        </a:spcBef>
                        <a:buClr>
                          <a:schemeClr val="accent2"/>
                        </a:buClr>
                        <a:buFont typeface="Wingdings" panose="05000000000000000000" pitchFamily="2" charset="2"/>
                        <a:buNone/>
                      </a:pPr>
                      <a:r>
                        <a:rPr lang="en-US" altLang="zh-CN" sz="2600" dirty="0">
                          <a:solidFill>
                            <a:schemeClr val="tx1"/>
                          </a:solidFill>
                          <a:effectLst>
                            <a:outerShdw blurRad="38100" dist="38100" dir="2700000">
                              <a:srgbClr val="C0C0C0"/>
                            </a:outerShdw>
                          </a:effectLst>
                          <a:latin typeface="Verdana" panose="020B0604030504040204" pitchFamily="34" charset="0"/>
                        </a:rPr>
                        <a:t>^</a:t>
                      </a:r>
                      <a:endParaRPr lang="en-US" altLang="zh-CN" sz="2600" dirty="0">
                        <a:solidFill>
                          <a:schemeClr val="tx1"/>
                        </a:solidFill>
                        <a:effectLst>
                          <a:outerShdw blurRad="38100" dist="38100" dir="2700000">
                            <a:srgbClr val="C0C0C0"/>
                          </a:outerShdw>
                        </a:effectLst>
                        <a:latin typeface="Verdana" panose="020B0604030504040204" pitchFamily="34" charset="0"/>
                      </a:endParaRPr>
                    </a:p>
                  </a:txBody>
                  <a:tcPr marT="45706" marB="4570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50195" name="Rectangle 52"/>
          <p:cNvSpPr/>
          <p:nvPr/>
        </p:nvSpPr>
        <p:spPr>
          <a:xfrm>
            <a:off x="4413250" y="1731963"/>
            <a:ext cx="1295400" cy="396875"/>
          </a:xfrm>
          <a:prstGeom prst="rect">
            <a:avLst/>
          </a:prstGeom>
          <a:noFill/>
          <a:ln w="9525">
            <a:noFill/>
          </a:ln>
        </p:spPr>
        <p:txBody>
          <a:bodyPr>
            <a:spAutoFit/>
          </a:bodyPr>
          <a:p>
            <a:pPr algn="just" defTabSz="914400">
              <a:tabLst>
                <a:tab pos="1143000" algn="l"/>
              </a:tabLst>
            </a:pPr>
            <a:r>
              <a:rPr lang="zh-CN" altLang="en-US" b="0" dirty="0">
                <a:solidFill>
                  <a:schemeClr val="tx1"/>
                </a:solidFill>
                <a:latin typeface="Times New Roman" panose="02020603050405020304" pitchFamily="18" charset="0"/>
              </a:rPr>
              <a:t>邻接表</a:t>
            </a:r>
            <a:endParaRPr lang="zh-CN" altLang="en-US" b="0" dirty="0">
              <a:solidFill>
                <a:schemeClr val="tx1"/>
              </a:solidFill>
              <a:latin typeface="Times New Roman" panose="02020603050405020304" pitchFamily="18" charset="0"/>
            </a:endParaRPr>
          </a:p>
        </p:txBody>
      </p:sp>
      <p:grpSp>
        <p:nvGrpSpPr>
          <p:cNvPr id="50196" name="Group 54"/>
          <p:cNvGrpSpPr/>
          <p:nvPr/>
        </p:nvGrpSpPr>
        <p:grpSpPr>
          <a:xfrm>
            <a:off x="2432050" y="2036763"/>
            <a:ext cx="1295400" cy="1752600"/>
            <a:chOff x="2138" y="4325"/>
            <a:chExt cx="1535" cy="1776"/>
          </a:xfrm>
        </p:grpSpPr>
        <p:sp>
          <p:nvSpPr>
            <p:cNvPr id="433207" name="Line 55"/>
            <p:cNvSpPr>
              <a:spLocks noChangeShapeType="1"/>
            </p:cNvSpPr>
            <p:nvPr/>
          </p:nvSpPr>
          <p:spPr bwMode="auto">
            <a:xfrm>
              <a:off x="2858" y="5417"/>
              <a:ext cx="179" cy="0"/>
            </a:xfrm>
            <a:prstGeom prst="line">
              <a:avLst/>
            </a:prstGeom>
            <a:noFill/>
            <a:ln w="9525">
              <a:solidFill>
                <a:srgbClr val="000000"/>
              </a:solidFill>
              <a:round/>
              <a:tailEnd type="stealth" w="sm" len="sm"/>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nvGrpSpPr>
            <p:cNvPr id="50198" name="Group 56"/>
            <p:cNvGrpSpPr/>
            <p:nvPr/>
          </p:nvGrpSpPr>
          <p:grpSpPr>
            <a:xfrm>
              <a:off x="2138" y="4325"/>
              <a:ext cx="1535" cy="1776"/>
              <a:chOff x="2138" y="4325"/>
              <a:chExt cx="1535" cy="1776"/>
            </a:xfrm>
          </p:grpSpPr>
          <p:sp>
            <p:nvSpPr>
              <p:cNvPr id="50199" name="Oval 57"/>
              <p:cNvSpPr/>
              <p:nvPr/>
            </p:nvSpPr>
            <p:spPr>
              <a:xfrm>
                <a:off x="2318" y="4325"/>
                <a:ext cx="636" cy="528"/>
              </a:xfrm>
              <a:prstGeom prst="ellipse">
                <a:avLst/>
              </a:prstGeom>
              <a:solidFill>
                <a:srgbClr val="FFFFFF"/>
              </a:solidFill>
              <a:ln w="9525" cap="flat" cmpd="sng">
                <a:solidFill>
                  <a:srgbClr val="000000"/>
                </a:solidFill>
                <a:prstDash val="solid"/>
                <a:headEnd type="none" w="med" len="med"/>
                <a:tailEnd type="none" w="med" len="med"/>
              </a:ln>
            </p:spPr>
            <p:txBody>
              <a:bodyPr/>
              <a:p>
                <a:pPr algn="just"/>
                <a:r>
                  <a:rPr lang="en-US" altLang="zh-CN" sz="1600" b="0" dirty="0">
                    <a:solidFill>
                      <a:schemeClr val="tx1"/>
                    </a:solidFill>
                    <a:latin typeface="Times New Roman" panose="02020603050405020304" pitchFamily="18" charset="0"/>
                  </a:rPr>
                  <a:t>v</a:t>
                </a:r>
                <a:r>
                  <a:rPr lang="en-US" altLang="zh-CN" sz="1600" b="0" baseline="-25000" dirty="0">
                    <a:solidFill>
                      <a:schemeClr val="tx1"/>
                    </a:solidFill>
                    <a:latin typeface="Times New Roman" panose="02020603050405020304" pitchFamily="18" charset="0"/>
                  </a:rPr>
                  <a:t>1</a:t>
                </a:r>
                <a:endParaRPr lang="en-US" altLang="zh-CN" sz="1600" b="0" baseline="-25000" dirty="0">
                  <a:solidFill>
                    <a:schemeClr val="tx1"/>
                  </a:solidFill>
                  <a:latin typeface="Times New Roman" panose="02020603050405020304" pitchFamily="18" charset="0"/>
                </a:endParaRPr>
              </a:p>
            </p:txBody>
          </p:sp>
          <p:sp>
            <p:nvSpPr>
              <p:cNvPr id="50200" name="Oval 58"/>
              <p:cNvSpPr/>
              <p:nvPr/>
            </p:nvSpPr>
            <p:spPr>
              <a:xfrm>
                <a:off x="3038" y="5105"/>
                <a:ext cx="635" cy="528"/>
              </a:xfrm>
              <a:prstGeom prst="ellipse">
                <a:avLst/>
              </a:prstGeom>
              <a:solidFill>
                <a:srgbClr val="FFFFFF"/>
              </a:solidFill>
              <a:ln w="9525" cap="flat" cmpd="sng">
                <a:solidFill>
                  <a:srgbClr val="000000"/>
                </a:solidFill>
                <a:prstDash val="solid"/>
                <a:headEnd type="none" w="med" len="med"/>
                <a:tailEnd type="none" w="med" len="med"/>
              </a:ln>
            </p:spPr>
            <p:txBody>
              <a:bodyPr/>
              <a:p>
                <a:pPr algn="just"/>
                <a:r>
                  <a:rPr lang="en-US" altLang="zh-CN" sz="1600" b="0" dirty="0">
                    <a:solidFill>
                      <a:schemeClr val="tx1"/>
                    </a:solidFill>
                    <a:latin typeface="Times New Roman" panose="02020603050405020304" pitchFamily="18" charset="0"/>
                  </a:rPr>
                  <a:t>v</a:t>
                </a:r>
                <a:r>
                  <a:rPr lang="en-US" altLang="zh-CN" sz="1600" b="0" baseline="-25000" dirty="0">
                    <a:solidFill>
                      <a:schemeClr val="tx1"/>
                    </a:solidFill>
                    <a:latin typeface="Times New Roman" panose="02020603050405020304" pitchFamily="18" charset="0"/>
                  </a:rPr>
                  <a:t>2</a:t>
                </a:r>
                <a:endParaRPr lang="en-US" altLang="zh-CN" sz="1600" b="0" baseline="-25000" dirty="0">
                  <a:solidFill>
                    <a:schemeClr val="tx1"/>
                  </a:solidFill>
                  <a:latin typeface="Times New Roman" panose="02020603050405020304" pitchFamily="18" charset="0"/>
                </a:endParaRPr>
              </a:p>
            </p:txBody>
          </p:sp>
          <p:sp>
            <p:nvSpPr>
              <p:cNvPr id="50201" name="Oval 59"/>
              <p:cNvSpPr/>
              <p:nvPr/>
            </p:nvSpPr>
            <p:spPr>
              <a:xfrm>
                <a:off x="2138" y="5573"/>
                <a:ext cx="635" cy="528"/>
              </a:xfrm>
              <a:prstGeom prst="ellipse">
                <a:avLst/>
              </a:prstGeom>
              <a:solidFill>
                <a:srgbClr val="FFFFFF"/>
              </a:solidFill>
              <a:ln w="9525" cap="flat" cmpd="sng">
                <a:solidFill>
                  <a:srgbClr val="000000"/>
                </a:solidFill>
                <a:prstDash val="solid"/>
                <a:headEnd type="none" w="med" len="med"/>
                <a:tailEnd type="none" w="med" len="med"/>
              </a:ln>
            </p:spPr>
            <p:txBody>
              <a:bodyPr/>
              <a:p>
                <a:pPr algn="just"/>
                <a:r>
                  <a:rPr lang="en-US" altLang="zh-CN" sz="1600" b="0" dirty="0">
                    <a:solidFill>
                      <a:schemeClr val="tx1"/>
                    </a:solidFill>
                    <a:latin typeface="Times New Roman" panose="02020603050405020304" pitchFamily="18" charset="0"/>
                  </a:rPr>
                  <a:t>v</a:t>
                </a:r>
                <a:r>
                  <a:rPr lang="en-US" altLang="zh-CN" sz="1600" b="0" baseline="-25000" dirty="0">
                    <a:solidFill>
                      <a:schemeClr val="tx1"/>
                    </a:solidFill>
                    <a:latin typeface="Times New Roman" panose="02020603050405020304" pitchFamily="18" charset="0"/>
                  </a:rPr>
                  <a:t>3</a:t>
                </a:r>
                <a:endParaRPr lang="en-US" altLang="zh-CN" sz="1600" b="0" baseline="-25000" dirty="0">
                  <a:solidFill>
                    <a:schemeClr val="tx1"/>
                  </a:solidFill>
                  <a:latin typeface="Times New Roman" panose="02020603050405020304" pitchFamily="18" charset="0"/>
                </a:endParaRPr>
              </a:p>
            </p:txBody>
          </p:sp>
          <p:sp>
            <p:nvSpPr>
              <p:cNvPr id="433212" name="Line 60"/>
              <p:cNvSpPr>
                <a:spLocks noChangeShapeType="1"/>
              </p:cNvSpPr>
              <p:nvPr/>
            </p:nvSpPr>
            <p:spPr bwMode="auto">
              <a:xfrm flipH="1">
                <a:off x="2678" y="5573"/>
                <a:ext cx="540" cy="156"/>
              </a:xfrm>
              <a:prstGeom prst="line">
                <a:avLst/>
              </a:prstGeom>
              <a:noFill/>
              <a:ln w="9525">
                <a:solidFill>
                  <a:srgbClr val="000000"/>
                </a:solidFill>
                <a:round/>
                <a:tailEnd type="triangle" w="sm" len="me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33213" name="Line 61"/>
              <p:cNvSpPr>
                <a:spLocks noChangeShapeType="1"/>
              </p:cNvSpPr>
              <p:nvPr/>
            </p:nvSpPr>
            <p:spPr bwMode="auto">
              <a:xfrm flipH="1" flipV="1">
                <a:off x="2858" y="4793"/>
                <a:ext cx="359" cy="312"/>
              </a:xfrm>
              <a:prstGeom prst="line">
                <a:avLst/>
              </a:prstGeom>
              <a:noFill/>
              <a:ln w="9525">
                <a:solidFill>
                  <a:srgbClr val="000000"/>
                </a:solidFill>
                <a:round/>
                <a:tailEnd type="stealth" w="sm" len="sm"/>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33214" name="Freeform 62"/>
              <p:cNvSpPr/>
              <p:nvPr/>
            </p:nvSpPr>
            <p:spPr bwMode="auto">
              <a:xfrm>
                <a:off x="2497" y="4793"/>
                <a:ext cx="361" cy="624"/>
              </a:xfrm>
              <a:custGeom>
                <a:avLst/>
                <a:gdLst/>
                <a:ahLst/>
                <a:cxnLst>
                  <a:cxn ang="0">
                    <a:pos x="0" y="0"/>
                  </a:cxn>
                  <a:cxn ang="0">
                    <a:pos x="180" y="468"/>
                  </a:cxn>
                  <a:cxn ang="0">
                    <a:pos x="540" y="624"/>
                  </a:cxn>
                </a:cxnLst>
                <a:rect l="0" t="0" r="r" b="b"/>
                <a:pathLst>
                  <a:path w="540" h="624">
                    <a:moveTo>
                      <a:pt x="0" y="0"/>
                    </a:moveTo>
                    <a:cubicBezTo>
                      <a:pt x="45" y="182"/>
                      <a:pt x="90" y="364"/>
                      <a:pt x="180" y="468"/>
                    </a:cubicBezTo>
                    <a:cubicBezTo>
                      <a:pt x="270" y="572"/>
                      <a:pt x="405" y="598"/>
                      <a:pt x="540" y="624"/>
                    </a:cubicBezTo>
                  </a:path>
                </a:pathLst>
              </a:custGeom>
              <a:noFill/>
              <a:ln w="9525">
                <a:solidFill>
                  <a:srgbClr val="000000"/>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spTree>
  </p:cSld>
  <p:clrMapOvr>
    <a:masterClrMapping/>
  </p:clrMapOvr>
  <p:transition>
    <p:split orient="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326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0" i="0" u="none" strike="noStrike" kern="0" cap="none" spc="0" normalizeH="0" baseline="0" noProof="0">
                <a:ln>
                  <a:noFill/>
                </a:ln>
                <a:solidFill>
                  <a:srgbClr val="FF3300"/>
                </a:solidFill>
                <a:effectLst>
                  <a:outerShdw blurRad="38100" dist="38100" dir="2700000" algn="tl">
                    <a:srgbClr val="C0C0C0"/>
                  </a:outerShdw>
                </a:effectLst>
                <a:uLnTx/>
                <a:uFillTx/>
                <a:latin typeface="+mj-lt"/>
                <a:ea typeface="+mj-ea"/>
                <a:cs typeface="+mj-cs"/>
              </a:rPr>
              <a:t>有向图的逆邻接表</a:t>
            </a:r>
            <a:endParaRPr kumimoji="0" lang="zh-CN" altLang="en-US" sz="3800" b="0" i="0" u="none" strike="noStrike" kern="0" cap="none" spc="0" normalizeH="0" baseline="0" noProof="0">
              <a:ln>
                <a:noFill/>
              </a:ln>
              <a:solidFill>
                <a:srgbClr val="FF3300"/>
              </a:solidFill>
              <a:effectLst>
                <a:outerShdw blurRad="38100" dist="38100" dir="2700000" algn="tl">
                  <a:srgbClr val="C0C0C0"/>
                </a:outerShdw>
              </a:effectLst>
              <a:uLnTx/>
              <a:uFillTx/>
              <a:latin typeface="+mj-lt"/>
              <a:ea typeface="+mj-ea"/>
              <a:cs typeface="+mj-cs"/>
            </a:endParaRPr>
          </a:p>
        </p:txBody>
      </p:sp>
      <p:sp>
        <p:nvSpPr>
          <p:cNvPr id="523267" name="Rectangle 3"/>
          <p:cNvSpPr>
            <a:spLocks noGrp="1" noChangeArrowheads="1"/>
          </p:cNvSpPr>
          <p:nvPr>
            <p:ph idx="1"/>
          </p:nvPr>
        </p:nvSpPr>
        <p:spPr>
          <a:xfrm>
            <a:off x="566738" y="1752600"/>
            <a:ext cx="8001000" cy="1531938"/>
          </a:xfrm>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rgbClr val="FF3300"/>
              </a:buClr>
              <a:buSzTx/>
              <a:buFont typeface="Wingdings" panose="05000000000000000000" pitchFamily="2" charset="2"/>
              <a:buChar char="§"/>
              <a:defRPr/>
            </a:pP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在有向图的逆邻接表中，第 </a:t>
            </a:r>
            <a:r>
              <a:rPr kumimoji="0" lang="en-US" altLang="zh-CN" sz="34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i</a:t>
            </a: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个链表链接的都是进入顶点 </a:t>
            </a:r>
            <a:r>
              <a:rPr kumimoji="0" lang="en-US" altLang="zh-CN" sz="34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i</a:t>
            </a: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的边的始端，也叫做</a:t>
            </a:r>
            <a:r>
              <a:rPr kumimoji="0" lang="zh-CN" altLang="en-US" sz="3400" b="1"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入边表</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endPar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grpSp>
        <p:nvGrpSpPr>
          <p:cNvPr id="51204" name="Group 28"/>
          <p:cNvGrpSpPr/>
          <p:nvPr/>
        </p:nvGrpSpPr>
        <p:grpSpPr>
          <a:xfrm>
            <a:off x="5862638" y="4357688"/>
            <a:ext cx="1219200" cy="1371600"/>
            <a:chOff x="4082" y="1828"/>
            <a:chExt cx="1656" cy="1717"/>
          </a:xfrm>
        </p:grpSpPr>
        <p:sp>
          <p:nvSpPr>
            <p:cNvPr id="51229" name="Rectangle 29"/>
            <p:cNvSpPr/>
            <p:nvPr/>
          </p:nvSpPr>
          <p:spPr>
            <a:xfrm>
              <a:off x="4622" y="1828"/>
              <a:ext cx="1080" cy="468"/>
            </a:xfrm>
            <a:prstGeom prst="rect">
              <a:avLst/>
            </a:prstGeom>
            <a:solidFill>
              <a:srgbClr val="FFFFFF"/>
            </a:solidFill>
            <a:ln w="9525" cap="flat" cmpd="sng">
              <a:solidFill>
                <a:srgbClr val="000000"/>
              </a:solidFill>
              <a:prstDash val="solid"/>
              <a:miter/>
              <a:headEnd type="none" w="med" len="med"/>
              <a:tailEnd type="none" w="med" len="med"/>
            </a:ln>
          </p:spPr>
          <p:txBody>
            <a:bodyPr/>
            <a:p>
              <a:pPr algn="just"/>
              <a:r>
                <a:rPr lang="en-US" altLang="zh-CN" b="0" dirty="0">
                  <a:solidFill>
                    <a:schemeClr val="tx1"/>
                  </a:solidFill>
                  <a:latin typeface="Times New Roman" panose="02020603050405020304" pitchFamily="18" charset="0"/>
                </a:rPr>
                <a:t>1     ^</a:t>
              </a:r>
              <a:endParaRPr lang="en-US" altLang="zh-CN" b="0" dirty="0">
                <a:solidFill>
                  <a:schemeClr val="tx1"/>
                </a:solidFill>
                <a:latin typeface="Times New Roman" panose="02020603050405020304" pitchFamily="18" charset="0"/>
              </a:endParaRPr>
            </a:p>
          </p:txBody>
        </p:sp>
        <p:sp>
          <p:nvSpPr>
            <p:cNvPr id="51230" name="Rectangle 30"/>
            <p:cNvSpPr/>
            <p:nvPr/>
          </p:nvSpPr>
          <p:spPr>
            <a:xfrm>
              <a:off x="4622" y="2452"/>
              <a:ext cx="1080" cy="468"/>
            </a:xfrm>
            <a:prstGeom prst="rect">
              <a:avLst/>
            </a:prstGeom>
            <a:solidFill>
              <a:srgbClr val="FFFFFF"/>
            </a:solidFill>
            <a:ln w="9525" cap="flat" cmpd="sng">
              <a:solidFill>
                <a:srgbClr val="000000"/>
              </a:solidFill>
              <a:prstDash val="solid"/>
              <a:miter/>
              <a:headEnd type="none" w="med" len="med"/>
              <a:tailEnd type="none" w="med" len="med"/>
            </a:ln>
          </p:spPr>
          <p:txBody>
            <a:bodyPr/>
            <a:p>
              <a:pPr algn="just"/>
              <a:r>
                <a:rPr lang="en-US" altLang="zh-CN" b="0" dirty="0">
                  <a:solidFill>
                    <a:schemeClr val="tx1"/>
                  </a:solidFill>
                  <a:latin typeface="Times New Roman" panose="02020603050405020304" pitchFamily="18" charset="0"/>
                </a:rPr>
                <a:t>0     ^</a:t>
              </a:r>
              <a:endParaRPr lang="en-US" altLang="zh-CN" b="0" dirty="0">
                <a:solidFill>
                  <a:schemeClr val="tx1"/>
                </a:solidFill>
                <a:latin typeface="Times New Roman" panose="02020603050405020304" pitchFamily="18" charset="0"/>
              </a:endParaRPr>
            </a:p>
          </p:txBody>
        </p:sp>
        <p:sp>
          <p:nvSpPr>
            <p:cNvPr id="51231" name="Rectangle 31"/>
            <p:cNvSpPr/>
            <p:nvPr/>
          </p:nvSpPr>
          <p:spPr>
            <a:xfrm>
              <a:off x="4658" y="3077"/>
              <a:ext cx="1080" cy="468"/>
            </a:xfrm>
            <a:prstGeom prst="rect">
              <a:avLst/>
            </a:prstGeom>
            <a:solidFill>
              <a:srgbClr val="FFFFFF"/>
            </a:solidFill>
            <a:ln w="9525" cap="flat" cmpd="sng">
              <a:solidFill>
                <a:srgbClr val="000000"/>
              </a:solidFill>
              <a:prstDash val="solid"/>
              <a:miter/>
              <a:headEnd type="none" w="med" len="med"/>
              <a:tailEnd type="none" w="med" len="med"/>
            </a:ln>
          </p:spPr>
          <p:txBody>
            <a:bodyPr/>
            <a:p>
              <a:pPr algn="just"/>
              <a:r>
                <a:rPr lang="en-US" altLang="zh-CN" b="0" dirty="0">
                  <a:solidFill>
                    <a:schemeClr val="tx1"/>
                  </a:solidFill>
                  <a:latin typeface="Times New Roman" panose="02020603050405020304" pitchFamily="18" charset="0"/>
                </a:rPr>
                <a:t>1     ^</a:t>
              </a:r>
              <a:endParaRPr lang="en-US" altLang="zh-CN" b="0" dirty="0">
                <a:solidFill>
                  <a:schemeClr val="tx1"/>
                </a:solidFill>
                <a:latin typeface="Times New Roman" panose="02020603050405020304" pitchFamily="18" charset="0"/>
              </a:endParaRPr>
            </a:p>
          </p:txBody>
        </p:sp>
        <p:sp>
          <p:nvSpPr>
            <p:cNvPr id="523296" name="Line 32"/>
            <p:cNvSpPr>
              <a:spLocks noChangeShapeType="1"/>
            </p:cNvSpPr>
            <p:nvPr/>
          </p:nvSpPr>
          <p:spPr bwMode="auto">
            <a:xfrm>
              <a:off x="5162" y="1828"/>
              <a:ext cx="0" cy="467"/>
            </a:xfrm>
            <a:prstGeom prst="line">
              <a:avLst/>
            </a:prstGeom>
            <a:noFill/>
            <a:ln w="9525">
              <a:solidFill>
                <a:srgbClr val="000000"/>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23297" name="Line 33"/>
            <p:cNvSpPr>
              <a:spLocks noChangeShapeType="1"/>
            </p:cNvSpPr>
            <p:nvPr/>
          </p:nvSpPr>
          <p:spPr bwMode="auto">
            <a:xfrm>
              <a:off x="5199" y="3078"/>
              <a:ext cx="0" cy="467"/>
            </a:xfrm>
            <a:prstGeom prst="line">
              <a:avLst/>
            </a:prstGeom>
            <a:noFill/>
            <a:ln w="9525">
              <a:solidFill>
                <a:srgbClr val="000000"/>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23298" name="Line 34"/>
            <p:cNvSpPr>
              <a:spLocks noChangeShapeType="1"/>
            </p:cNvSpPr>
            <p:nvPr/>
          </p:nvSpPr>
          <p:spPr bwMode="auto">
            <a:xfrm>
              <a:off x="5162" y="2452"/>
              <a:ext cx="0" cy="467"/>
            </a:xfrm>
            <a:prstGeom prst="line">
              <a:avLst/>
            </a:prstGeom>
            <a:noFill/>
            <a:ln w="9525">
              <a:solidFill>
                <a:srgbClr val="000000"/>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23299" name="Line 35"/>
            <p:cNvSpPr>
              <a:spLocks noChangeShapeType="1"/>
            </p:cNvSpPr>
            <p:nvPr/>
          </p:nvSpPr>
          <p:spPr bwMode="auto">
            <a:xfrm>
              <a:off x="4082" y="1983"/>
              <a:ext cx="539" cy="0"/>
            </a:xfrm>
            <a:prstGeom prst="line">
              <a:avLst/>
            </a:prstGeom>
            <a:noFill/>
            <a:ln w="9525">
              <a:solidFill>
                <a:srgbClr val="000000"/>
              </a:solidFill>
              <a:round/>
              <a:tailEnd type="stealth" w="sm" len="sm"/>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23300" name="Line 36"/>
            <p:cNvSpPr>
              <a:spLocks noChangeShapeType="1"/>
            </p:cNvSpPr>
            <p:nvPr/>
          </p:nvSpPr>
          <p:spPr bwMode="auto">
            <a:xfrm>
              <a:off x="4119" y="3233"/>
              <a:ext cx="539" cy="0"/>
            </a:xfrm>
            <a:prstGeom prst="line">
              <a:avLst/>
            </a:prstGeom>
            <a:noFill/>
            <a:ln w="9525">
              <a:solidFill>
                <a:srgbClr val="000000"/>
              </a:solidFill>
              <a:round/>
              <a:tailEnd type="stealth" w="sm" len="sm"/>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23301" name="Line 37"/>
            <p:cNvSpPr>
              <a:spLocks noChangeShapeType="1"/>
            </p:cNvSpPr>
            <p:nvPr/>
          </p:nvSpPr>
          <p:spPr bwMode="auto">
            <a:xfrm>
              <a:off x="4082" y="2607"/>
              <a:ext cx="539" cy="0"/>
            </a:xfrm>
            <a:prstGeom prst="line">
              <a:avLst/>
            </a:prstGeom>
            <a:noFill/>
            <a:ln w="9525">
              <a:solidFill>
                <a:srgbClr val="000000"/>
              </a:solidFill>
              <a:round/>
              <a:tailEnd type="stealth" w="sm" len="sm"/>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aphicFrame>
        <p:nvGraphicFramePr>
          <p:cNvPr id="523302" name="Group 38"/>
          <p:cNvGraphicFramePr>
            <a:graphicFrameLocks noGrp="1"/>
          </p:cNvGraphicFramePr>
          <p:nvPr/>
        </p:nvGraphicFramePr>
        <p:xfrm>
          <a:off x="4872038" y="4322763"/>
          <a:ext cx="1143000" cy="1406525"/>
        </p:xfrm>
        <a:graphic>
          <a:graphicData uri="http://schemas.openxmlformats.org/drawingml/2006/table">
            <a:tbl>
              <a:tblPr/>
              <a:tblGrid>
                <a:gridCol w="571500"/>
                <a:gridCol w="571500"/>
              </a:tblGrid>
              <a:tr h="44132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7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rPr>
                        <a:t>V1</a:t>
                      </a:r>
                      <a:endParaRPr kumimoji="0" lang="en-US" altLang="zh-CN" sz="17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zh-CN" sz="22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260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7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rPr>
                        <a:t>V2</a:t>
                      </a:r>
                      <a:endParaRPr kumimoji="0" lang="en-US" altLang="zh-CN" sz="17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zh-CN" sz="22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260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7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rPr>
                        <a:t>V3</a:t>
                      </a:r>
                      <a:endParaRPr kumimoji="0" lang="en-US" altLang="zh-CN" sz="17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zh-CN" sz="22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1219" name="Rectangle 53"/>
          <p:cNvSpPr/>
          <p:nvPr/>
        </p:nvSpPr>
        <p:spPr>
          <a:xfrm>
            <a:off x="5176838" y="3748088"/>
            <a:ext cx="1600200" cy="396875"/>
          </a:xfrm>
          <a:prstGeom prst="rect">
            <a:avLst/>
          </a:prstGeom>
          <a:noFill/>
          <a:ln w="9525">
            <a:noFill/>
          </a:ln>
        </p:spPr>
        <p:txBody>
          <a:bodyPr>
            <a:spAutoFit/>
          </a:bodyPr>
          <a:p>
            <a:pPr algn="just" defTabSz="914400">
              <a:tabLst>
                <a:tab pos="1143000" algn="l"/>
              </a:tabLst>
            </a:pPr>
            <a:r>
              <a:rPr lang="zh-CN" altLang="en-US" b="0" dirty="0">
                <a:solidFill>
                  <a:schemeClr val="tx1"/>
                </a:solidFill>
                <a:latin typeface="Times New Roman" panose="02020603050405020304" pitchFamily="18" charset="0"/>
              </a:rPr>
              <a:t>逆邻接表</a:t>
            </a:r>
            <a:endParaRPr lang="zh-CN" altLang="en-US" b="0" dirty="0">
              <a:solidFill>
                <a:schemeClr val="tx1"/>
              </a:solidFill>
              <a:latin typeface="Times New Roman" panose="02020603050405020304" pitchFamily="18" charset="0"/>
            </a:endParaRPr>
          </a:p>
        </p:txBody>
      </p:sp>
      <p:grpSp>
        <p:nvGrpSpPr>
          <p:cNvPr id="51220" name="Group 54"/>
          <p:cNvGrpSpPr/>
          <p:nvPr/>
        </p:nvGrpSpPr>
        <p:grpSpPr>
          <a:xfrm>
            <a:off x="2339975" y="4052888"/>
            <a:ext cx="1295400" cy="1752600"/>
            <a:chOff x="2138" y="4325"/>
            <a:chExt cx="1535" cy="1776"/>
          </a:xfrm>
        </p:grpSpPr>
        <p:sp>
          <p:nvSpPr>
            <p:cNvPr id="523319" name="Line 55"/>
            <p:cNvSpPr>
              <a:spLocks noChangeShapeType="1"/>
            </p:cNvSpPr>
            <p:nvPr/>
          </p:nvSpPr>
          <p:spPr bwMode="auto">
            <a:xfrm>
              <a:off x="2858" y="5417"/>
              <a:ext cx="179" cy="0"/>
            </a:xfrm>
            <a:prstGeom prst="line">
              <a:avLst/>
            </a:prstGeom>
            <a:noFill/>
            <a:ln w="9525">
              <a:solidFill>
                <a:srgbClr val="000000"/>
              </a:solidFill>
              <a:round/>
              <a:tailEnd type="stealth" w="sm" len="sm"/>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nvGrpSpPr>
            <p:cNvPr id="51222" name="Group 56"/>
            <p:cNvGrpSpPr/>
            <p:nvPr/>
          </p:nvGrpSpPr>
          <p:grpSpPr>
            <a:xfrm>
              <a:off x="2138" y="4325"/>
              <a:ext cx="1535" cy="1776"/>
              <a:chOff x="2138" y="4325"/>
              <a:chExt cx="1535" cy="1776"/>
            </a:xfrm>
          </p:grpSpPr>
          <p:sp>
            <p:nvSpPr>
              <p:cNvPr id="51223" name="Oval 57"/>
              <p:cNvSpPr/>
              <p:nvPr/>
            </p:nvSpPr>
            <p:spPr>
              <a:xfrm>
                <a:off x="2318" y="4325"/>
                <a:ext cx="636" cy="528"/>
              </a:xfrm>
              <a:prstGeom prst="ellipse">
                <a:avLst/>
              </a:prstGeom>
              <a:solidFill>
                <a:srgbClr val="FFFFFF"/>
              </a:solidFill>
              <a:ln w="9525" cap="flat" cmpd="sng">
                <a:solidFill>
                  <a:srgbClr val="000000"/>
                </a:solidFill>
                <a:prstDash val="solid"/>
                <a:headEnd type="none" w="med" len="med"/>
                <a:tailEnd type="none" w="med" len="med"/>
              </a:ln>
            </p:spPr>
            <p:txBody>
              <a:bodyPr/>
              <a:p>
                <a:pPr algn="just"/>
                <a:r>
                  <a:rPr lang="en-US" altLang="zh-CN" sz="1800" b="0" dirty="0">
                    <a:solidFill>
                      <a:schemeClr val="tx1"/>
                    </a:solidFill>
                    <a:latin typeface="Times New Roman" panose="02020603050405020304" pitchFamily="18" charset="0"/>
                  </a:rPr>
                  <a:t>v</a:t>
                </a:r>
                <a:r>
                  <a:rPr lang="en-US" altLang="zh-CN" sz="1800" b="0" baseline="-25000" dirty="0">
                    <a:solidFill>
                      <a:schemeClr val="tx1"/>
                    </a:solidFill>
                    <a:latin typeface="Times New Roman" panose="02020603050405020304" pitchFamily="18" charset="0"/>
                  </a:rPr>
                  <a:t>1</a:t>
                </a:r>
                <a:endParaRPr lang="en-US" altLang="zh-CN" sz="1800" b="0" baseline="-25000" dirty="0">
                  <a:solidFill>
                    <a:schemeClr val="tx1"/>
                  </a:solidFill>
                  <a:latin typeface="Times New Roman" panose="02020603050405020304" pitchFamily="18" charset="0"/>
                </a:endParaRPr>
              </a:p>
            </p:txBody>
          </p:sp>
          <p:sp>
            <p:nvSpPr>
              <p:cNvPr id="51224" name="Oval 58"/>
              <p:cNvSpPr/>
              <p:nvPr/>
            </p:nvSpPr>
            <p:spPr>
              <a:xfrm>
                <a:off x="3038" y="5105"/>
                <a:ext cx="635" cy="528"/>
              </a:xfrm>
              <a:prstGeom prst="ellipse">
                <a:avLst/>
              </a:prstGeom>
              <a:solidFill>
                <a:srgbClr val="FFFFFF"/>
              </a:solidFill>
              <a:ln w="9525" cap="flat" cmpd="sng">
                <a:solidFill>
                  <a:srgbClr val="000000"/>
                </a:solidFill>
                <a:prstDash val="solid"/>
                <a:headEnd type="none" w="med" len="med"/>
                <a:tailEnd type="none" w="med" len="med"/>
              </a:ln>
            </p:spPr>
            <p:txBody>
              <a:bodyPr/>
              <a:p>
                <a:pPr algn="just"/>
                <a:r>
                  <a:rPr lang="en-US" altLang="zh-CN" sz="1800" b="0" dirty="0">
                    <a:solidFill>
                      <a:schemeClr val="tx1"/>
                    </a:solidFill>
                    <a:latin typeface="Times New Roman" panose="02020603050405020304" pitchFamily="18" charset="0"/>
                  </a:rPr>
                  <a:t>v</a:t>
                </a:r>
                <a:r>
                  <a:rPr lang="en-US" altLang="zh-CN" sz="1800" b="0" baseline="-25000" dirty="0">
                    <a:solidFill>
                      <a:schemeClr val="tx1"/>
                    </a:solidFill>
                    <a:latin typeface="Times New Roman" panose="02020603050405020304" pitchFamily="18" charset="0"/>
                  </a:rPr>
                  <a:t>2</a:t>
                </a:r>
                <a:endParaRPr lang="en-US" altLang="zh-CN" sz="1800" b="0" baseline="-25000" dirty="0">
                  <a:solidFill>
                    <a:schemeClr val="tx1"/>
                  </a:solidFill>
                  <a:latin typeface="Times New Roman" panose="02020603050405020304" pitchFamily="18" charset="0"/>
                </a:endParaRPr>
              </a:p>
            </p:txBody>
          </p:sp>
          <p:sp>
            <p:nvSpPr>
              <p:cNvPr id="51225" name="Oval 59"/>
              <p:cNvSpPr/>
              <p:nvPr/>
            </p:nvSpPr>
            <p:spPr>
              <a:xfrm>
                <a:off x="2138" y="5573"/>
                <a:ext cx="635" cy="528"/>
              </a:xfrm>
              <a:prstGeom prst="ellipse">
                <a:avLst/>
              </a:prstGeom>
              <a:solidFill>
                <a:srgbClr val="FFFFFF"/>
              </a:solidFill>
              <a:ln w="9525" cap="flat" cmpd="sng">
                <a:solidFill>
                  <a:srgbClr val="000000"/>
                </a:solidFill>
                <a:prstDash val="solid"/>
                <a:headEnd type="none" w="med" len="med"/>
                <a:tailEnd type="none" w="med" len="med"/>
              </a:ln>
            </p:spPr>
            <p:txBody>
              <a:bodyPr/>
              <a:p>
                <a:pPr algn="just"/>
                <a:r>
                  <a:rPr lang="en-US" altLang="zh-CN" sz="1800" b="0" dirty="0">
                    <a:solidFill>
                      <a:schemeClr val="tx1"/>
                    </a:solidFill>
                    <a:latin typeface="Times New Roman" panose="02020603050405020304" pitchFamily="18" charset="0"/>
                  </a:rPr>
                  <a:t>v</a:t>
                </a:r>
                <a:r>
                  <a:rPr lang="en-US" altLang="zh-CN" sz="1800" b="0" baseline="-25000" dirty="0">
                    <a:solidFill>
                      <a:schemeClr val="tx1"/>
                    </a:solidFill>
                    <a:latin typeface="Times New Roman" panose="02020603050405020304" pitchFamily="18" charset="0"/>
                  </a:rPr>
                  <a:t>3</a:t>
                </a:r>
                <a:endParaRPr lang="en-US" altLang="zh-CN" sz="1800" b="0" baseline="-25000" dirty="0">
                  <a:solidFill>
                    <a:schemeClr val="tx1"/>
                  </a:solidFill>
                  <a:latin typeface="Times New Roman" panose="02020603050405020304" pitchFamily="18" charset="0"/>
                </a:endParaRPr>
              </a:p>
            </p:txBody>
          </p:sp>
          <p:sp>
            <p:nvSpPr>
              <p:cNvPr id="523324" name="Line 60"/>
              <p:cNvSpPr>
                <a:spLocks noChangeShapeType="1"/>
              </p:cNvSpPr>
              <p:nvPr/>
            </p:nvSpPr>
            <p:spPr bwMode="auto">
              <a:xfrm flipH="1">
                <a:off x="2678" y="5573"/>
                <a:ext cx="540" cy="156"/>
              </a:xfrm>
              <a:prstGeom prst="line">
                <a:avLst/>
              </a:prstGeom>
              <a:noFill/>
              <a:ln w="9525">
                <a:solidFill>
                  <a:srgbClr val="000000"/>
                </a:solidFill>
                <a:round/>
                <a:tailEnd type="triangle" w="sm" len="me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23325" name="Line 61"/>
              <p:cNvSpPr>
                <a:spLocks noChangeShapeType="1"/>
              </p:cNvSpPr>
              <p:nvPr/>
            </p:nvSpPr>
            <p:spPr bwMode="auto">
              <a:xfrm flipH="1" flipV="1">
                <a:off x="2858" y="4793"/>
                <a:ext cx="359" cy="312"/>
              </a:xfrm>
              <a:prstGeom prst="line">
                <a:avLst/>
              </a:prstGeom>
              <a:noFill/>
              <a:ln w="9525">
                <a:solidFill>
                  <a:srgbClr val="000000"/>
                </a:solidFill>
                <a:round/>
                <a:tailEnd type="stealth" w="sm" len="sm"/>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23326" name="Freeform 62"/>
              <p:cNvSpPr/>
              <p:nvPr/>
            </p:nvSpPr>
            <p:spPr bwMode="auto">
              <a:xfrm>
                <a:off x="2497" y="4793"/>
                <a:ext cx="361" cy="624"/>
              </a:xfrm>
              <a:custGeom>
                <a:avLst/>
                <a:gdLst/>
                <a:ahLst/>
                <a:cxnLst>
                  <a:cxn ang="0">
                    <a:pos x="0" y="0"/>
                  </a:cxn>
                  <a:cxn ang="0">
                    <a:pos x="180" y="468"/>
                  </a:cxn>
                  <a:cxn ang="0">
                    <a:pos x="540" y="624"/>
                  </a:cxn>
                </a:cxnLst>
                <a:rect l="0" t="0" r="r" b="b"/>
                <a:pathLst>
                  <a:path w="540" h="624">
                    <a:moveTo>
                      <a:pt x="0" y="0"/>
                    </a:moveTo>
                    <a:cubicBezTo>
                      <a:pt x="45" y="182"/>
                      <a:pt x="90" y="364"/>
                      <a:pt x="180" y="468"/>
                    </a:cubicBezTo>
                    <a:cubicBezTo>
                      <a:pt x="270" y="572"/>
                      <a:pt x="405" y="598"/>
                      <a:pt x="540" y="624"/>
                    </a:cubicBezTo>
                  </a:path>
                </a:pathLst>
              </a:custGeom>
              <a:noFill/>
              <a:ln w="9525">
                <a:solidFill>
                  <a:srgbClr val="000000"/>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787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800" b="1" i="0" u="none" strike="noStrike" kern="0" cap="none" spc="0" normalizeH="0" baseline="0" noProof="0">
                <a:ln>
                  <a:noFill/>
                </a:ln>
                <a:solidFill>
                  <a:srgbClr val="FF3300"/>
                </a:solidFill>
                <a:effectLst>
                  <a:outerShdw blurRad="38100" dist="38100" dir="2700000" algn="tl">
                    <a:srgbClr val="C0C0C0"/>
                  </a:outerShdw>
                </a:effectLst>
                <a:uLnTx/>
                <a:uFillTx/>
                <a:latin typeface="+mj-lt"/>
                <a:ea typeface="+mj-ea"/>
                <a:cs typeface="+mj-cs"/>
              </a:rPr>
              <a:t>无向图的邻接表</a:t>
            </a:r>
            <a:endParaRPr kumimoji="1" lang="zh-CN" altLang="en-US" sz="3800" b="1" i="0" u="none" strike="noStrike" kern="0" cap="none" spc="0" normalizeH="0" baseline="0" noProof="0">
              <a:ln>
                <a:noFill/>
              </a:ln>
              <a:solidFill>
                <a:srgbClr val="FF3300"/>
              </a:solidFill>
              <a:effectLst>
                <a:outerShdw blurRad="38100" dist="38100" dir="2700000" algn="tl">
                  <a:srgbClr val="C0C0C0"/>
                </a:outerShdw>
              </a:effectLst>
              <a:uLnTx/>
              <a:uFillTx/>
              <a:latin typeface="+mj-lt"/>
              <a:ea typeface="+mj-ea"/>
              <a:cs typeface="+mj-cs"/>
            </a:endParaRPr>
          </a:p>
        </p:txBody>
      </p:sp>
      <p:grpSp>
        <p:nvGrpSpPr>
          <p:cNvPr id="52227" name="Group 3"/>
          <p:cNvGrpSpPr/>
          <p:nvPr/>
        </p:nvGrpSpPr>
        <p:grpSpPr>
          <a:xfrm>
            <a:off x="1130300" y="2760663"/>
            <a:ext cx="1762125" cy="1676400"/>
            <a:chOff x="1238" y="11033"/>
            <a:chExt cx="1906" cy="1716"/>
          </a:xfrm>
        </p:grpSpPr>
        <p:grpSp>
          <p:nvGrpSpPr>
            <p:cNvPr id="52282" name="Group 4"/>
            <p:cNvGrpSpPr/>
            <p:nvPr/>
          </p:nvGrpSpPr>
          <p:grpSpPr>
            <a:xfrm>
              <a:off x="1238" y="11033"/>
              <a:ext cx="1906" cy="1716"/>
              <a:chOff x="2572" y="11033"/>
              <a:chExt cx="1906" cy="1716"/>
            </a:xfrm>
          </p:grpSpPr>
          <p:sp>
            <p:nvSpPr>
              <p:cNvPr id="52284" name="Oval 5"/>
              <p:cNvSpPr/>
              <p:nvPr/>
            </p:nvSpPr>
            <p:spPr>
              <a:xfrm>
                <a:off x="3218" y="11033"/>
                <a:ext cx="636" cy="528"/>
              </a:xfrm>
              <a:prstGeom prst="ellipse">
                <a:avLst/>
              </a:prstGeom>
              <a:solidFill>
                <a:srgbClr val="FFFFFF"/>
              </a:solidFill>
              <a:ln w="9525" cap="flat" cmpd="sng">
                <a:solidFill>
                  <a:srgbClr val="000000"/>
                </a:solidFill>
                <a:prstDash val="solid"/>
                <a:headEnd type="none" w="med" len="med"/>
                <a:tailEnd type="none" w="med" len="med"/>
              </a:ln>
            </p:spPr>
            <p:txBody>
              <a:bodyPr/>
              <a:p>
                <a:pPr algn="just"/>
                <a:r>
                  <a:rPr lang="en-US" altLang="zh-CN" b="0" dirty="0">
                    <a:solidFill>
                      <a:schemeClr val="tx1"/>
                    </a:solidFill>
                    <a:latin typeface="Times New Roman" panose="02020603050405020304" pitchFamily="18" charset="0"/>
                    <a:ea typeface="楷体_GB2312" pitchFamily="49" charset="-122"/>
                  </a:rPr>
                  <a:t>v</a:t>
                </a:r>
                <a:r>
                  <a:rPr lang="en-US" altLang="zh-CN" b="0" baseline="-25000" dirty="0">
                    <a:solidFill>
                      <a:schemeClr val="tx1"/>
                    </a:solidFill>
                    <a:latin typeface="Times New Roman" panose="02020603050405020304" pitchFamily="18" charset="0"/>
                    <a:ea typeface="楷体_GB2312" pitchFamily="49" charset="-122"/>
                  </a:rPr>
                  <a:t>1</a:t>
                </a:r>
                <a:endParaRPr lang="en-US" altLang="zh-CN" b="0" baseline="-25000" dirty="0">
                  <a:solidFill>
                    <a:schemeClr val="tx1"/>
                  </a:solidFill>
                  <a:latin typeface="Times New Roman" panose="02020603050405020304" pitchFamily="18" charset="0"/>
                  <a:ea typeface="楷体_GB2312" pitchFamily="49" charset="-122"/>
                </a:endParaRPr>
              </a:p>
            </p:txBody>
          </p:sp>
          <p:sp>
            <p:nvSpPr>
              <p:cNvPr id="52285" name="Oval 6"/>
              <p:cNvSpPr/>
              <p:nvPr/>
            </p:nvSpPr>
            <p:spPr>
              <a:xfrm>
                <a:off x="2572" y="11561"/>
                <a:ext cx="635" cy="528"/>
              </a:xfrm>
              <a:prstGeom prst="ellipse">
                <a:avLst/>
              </a:prstGeom>
              <a:solidFill>
                <a:srgbClr val="FFFFFF"/>
              </a:solidFill>
              <a:ln w="9525" cap="flat" cmpd="sng">
                <a:solidFill>
                  <a:srgbClr val="000000"/>
                </a:solidFill>
                <a:prstDash val="solid"/>
                <a:headEnd type="none" w="med" len="med"/>
                <a:tailEnd type="none" w="med" len="med"/>
              </a:ln>
            </p:spPr>
            <p:txBody>
              <a:bodyPr/>
              <a:p>
                <a:pPr algn="just"/>
                <a:r>
                  <a:rPr lang="en-US" altLang="zh-CN" b="0" dirty="0">
                    <a:solidFill>
                      <a:schemeClr val="tx1"/>
                    </a:solidFill>
                    <a:latin typeface="Times New Roman" panose="02020603050405020304" pitchFamily="18" charset="0"/>
                    <a:ea typeface="楷体_GB2312" pitchFamily="49" charset="-122"/>
                  </a:rPr>
                  <a:t>v</a:t>
                </a:r>
                <a:r>
                  <a:rPr lang="en-US" altLang="zh-CN" b="0" baseline="-25000" dirty="0">
                    <a:solidFill>
                      <a:schemeClr val="tx1"/>
                    </a:solidFill>
                    <a:latin typeface="Times New Roman" panose="02020603050405020304" pitchFamily="18" charset="0"/>
                    <a:ea typeface="楷体_GB2312" pitchFamily="49" charset="-122"/>
                  </a:rPr>
                  <a:t>2</a:t>
                </a:r>
                <a:endParaRPr lang="en-US" altLang="zh-CN" b="0" baseline="-25000" dirty="0">
                  <a:solidFill>
                    <a:schemeClr val="tx1"/>
                  </a:solidFill>
                  <a:latin typeface="Times New Roman" panose="02020603050405020304" pitchFamily="18" charset="0"/>
                  <a:ea typeface="楷体_GB2312" pitchFamily="49" charset="-122"/>
                </a:endParaRPr>
              </a:p>
            </p:txBody>
          </p:sp>
          <p:sp>
            <p:nvSpPr>
              <p:cNvPr id="52286" name="Oval 7"/>
              <p:cNvSpPr/>
              <p:nvPr/>
            </p:nvSpPr>
            <p:spPr>
              <a:xfrm>
                <a:off x="3843" y="11561"/>
                <a:ext cx="635" cy="528"/>
              </a:xfrm>
              <a:prstGeom prst="ellipse">
                <a:avLst/>
              </a:prstGeom>
              <a:solidFill>
                <a:srgbClr val="FFFFFF"/>
              </a:solidFill>
              <a:ln w="9525" cap="flat" cmpd="sng">
                <a:solidFill>
                  <a:srgbClr val="000000"/>
                </a:solidFill>
                <a:prstDash val="solid"/>
                <a:headEnd type="none" w="med" len="med"/>
                <a:tailEnd type="none" w="med" len="med"/>
              </a:ln>
            </p:spPr>
            <p:txBody>
              <a:bodyPr/>
              <a:p>
                <a:pPr algn="just"/>
                <a:r>
                  <a:rPr lang="en-US" altLang="zh-CN" b="0" dirty="0">
                    <a:solidFill>
                      <a:schemeClr val="tx1"/>
                    </a:solidFill>
                    <a:latin typeface="Times New Roman" panose="02020603050405020304" pitchFamily="18" charset="0"/>
                    <a:ea typeface="楷体_GB2312" pitchFamily="49" charset="-122"/>
                  </a:rPr>
                  <a:t>v</a:t>
                </a:r>
                <a:r>
                  <a:rPr lang="en-US" altLang="zh-CN" b="0" baseline="-25000" dirty="0">
                    <a:solidFill>
                      <a:schemeClr val="tx1"/>
                    </a:solidFill>
                    <a:latin typeface="Times New Roman" panose="02020603050405020304" pitchFamily="18" charset="0"/>
                    <a:ea typeface="楷体_GB2312" pitchFamily="49" charset="-122"/>
                  </a:rPr>
                  <a:t>3</a:t>
                </a:r>
                <a:endParaRPr lang="en-US" altLang="zh-CN" b="0" baseline="-25000" dirty="0">
                  <a:solidFill>
                    <a:schemeClr val="tx1"/>
                  </a:solidFill>
                  <a:latin typeface="Times New Roman" panose="02020603050405020304" pitchFamily="18" charset="0"/>
                  <a:ea typeface="楷体_GB2312" pitchFamily="49" charset="-122"/>
                </a:endParaRPr>
              </a:p>
            </p:txBody>
          </p:sp>
          <p:sp>
            <p:nvSpPr>
              <p:cNvPr id="52287" name="Oval 8"/>
              <p:cNvSpPr/>
              <p:nvPr/>
            </p:nvSpPr>
            <p:spPr>
              <a:xfrm>
                <a:off x="3366" y="12221"/>
                <a:ext cx="636" cy="528"/>
              </a:xfrm>
              <a:prstGeom prst="ellipse">
                <a:avLst/>
              </a:prstGeom>
              <a:solidFill>
                <a:srgbClr val="FFFFFF"/>
              </a:solidFill>
              <a:ln w="9525" cap="flat" cmpd="sng">
                <a:solidFill>
                  <a:srgbClr val="000000"/>
                </a:solidFill>
                <a:prstDash val="solid"/>
                <a:headEnd type="none" w="med" len="med"/>
                <a:tailEnd type="none" w="med" len="med"/>
              </a:ln>
            </p:spPr>
            <p:txBody>
              <a:bodyPr/>
              <a:p>
                <a:pPr algn="just"/>
                <a:r>
                  <a:rPr lang="en-US" altLang="zh-CN" b="0" dirty="0">
                    <a:solidFill>
                      <a:schemeClr val="tx1"/>
                    </a:solidFill>
                    <a:latin typeface="Times New Roman" panose="02020603050405020304" pitchFamily="18" charset="0"/>
                    <a:ea typeface="楷体_GB2312" pitchFamily="49" charset="-122"/>
                  </a:rPr>
                  <a:t>v</a:t>
                </a:r>
                <a:r>
                  <a:rPr lang="en-US" altLang="zh-CN" b="0" baseline="-25000" dirty="0">
                    <a:solidFill>
                      <a:schemeClr val="tx1"/>
                    </a:solidFill>
                    <a:latin typeface="Times New Roman" panose="02020603050405020304" pitchFamily="18" charset="0"/>
                    <a:ea typeface="楷体_GB2312" pitchFamily="49" charset="-122"/>
                  </a:rPr>
                  <a:t>4</a:t>
                </a:r>
                <a:endParaRPr lang="en-US" altLang="zh-CN" b="0" baseline="-25000" dirty="0">
                  <a:solidFill>
                    <a:schemeClr val="tx1"/>
                  </a:solidFill>
                  <a:latin typeface="Times New Roman" panose="02020603050405020304" pitchFamily="18" charset="0"/>
                  <a:ea typeface="楷体_GB2312" pitchFamily="49" charset="-122"/>
                </a:endParaRPr>
              </a:p>
            </p:txBody>
          </p:sp>
          <p:sp>
            <p:nvSpPr>
              <p:cNvPr id="847881" name="Line 9"/>
              <p:cNvSpPr>
                <a:spLocks noChangeShapeType="1"/>
              </p:cNvSpPr>
              <p:nvPr/>
            </p:nvSpPr>
            <p:spPr bwMode="auto">
              <a:xfrm flipH="1">
                <a:off x="3049" y="11430"/>
                <a:ext cx="158" cy="133"/>
              </a:xfrm>
              <a:prstGeom prst="line">
                <a:avLst/>
              </a:prstGeom>
              <a:noFill/>
              <a:ln w="9525">
                <a:solidFill>
                  <a:srgbClr val="000000"/>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47882" name="Line 10"/>
              <p:cNvSpPr>
                <a:spLocks noChangeShapeType="1"/>
              </p:cNvSpPr>
              <p:nvPr/>
            </p:nvSpPr>
            <p:spPr bwMode="auto">
              <a:xfrm flipH="1">
                <a:off x="3843" y="12089"/>
                <a:ext cx="160" cy="132"/>
              </a:xfrm>
              <a:prstGeom prst="line">
                <a:avLst/>
              </a:prstGeom>
              <a:noFill/>
              <a:ln w="9525">
                <a:solidFill>
                  <a:srgbClr val="000000"/>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47883" name="Line 11"/>
              <p:cNvSpPr>
                <a:spLocks noChangeShapeType="1"/>
              </p:cNvSpPr>
              <p:nvPr/>
            </p:nvSpPr>
            <p:spPr bwMode="auto">
              <a:xfrm>
                <a:off x="3843" y="11430"/>
                <a:ext cx="160" cy="133"/>
              </a:xfrm>
              <a:prstGeom prst="line">
                <a:avLst/>
              </a:prstGeom>
              <a:noFill/>
              <a:ln w="9525">
                <a:solidFill>
                  <a:srgbClr val="000000"/>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847884" name="Line 12"/>
            <p:cNvSpPr>
              <a:spLocks noChangeShapeType="1"/>
            </p:cNvSpPr>
            <p:nvPr/>
          </p:nvSpPr>
          <p:spPr bwMode="auto">
            <a:xfrm>
              <a:off x="1777" y="11969"/>
              <a:ext cx="361" cy="312"/>
            </a:xfrm>
            <a:prstGeom prst="line">
              <a:avLst/>
            </a:prstGeom>
            <a:noFill/>
            <a:ln w="9525">
              <a:solidFill>
                <a:srgbClr val="000000"/>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52228" name="Group 13"/>
          <p:cNvGrpSpPr/>
          <p:nvPr/>
        </p:nvGrpSpPr>
        <p:grpSpPr>
          <a:xfrm>
            <a:off x="4514850" y="2824163"/>
            <a:ext cx="1600200" cy="1828800"/>
            <a:chOff x="-3" y="-3"/>
            <a:chExt cx="581" cy="1926"/>
          </a:xfrm>
        </p:grpSpPr>
        <p:grpSp>
          <p:nvGrpSpPr>
            <p:cNvPr id="52256" name="Group 14"/>
            <p:cNvGrpSpPr/>
            <p:nvPr/>
          </p:nvGrpSpPr>
          <p:grpSpPr>
            <a:xfrm>
              <a:off x="0" y="0"/>
              <a:ext cx="575" cy="1920"/>
              <a:chOff x="0" y="0"/>
              <a:chExt cx="575" cy="1920"/>
            </a:xfrm>
          </p:grpSpPr>
          <p:grpSp>
            <p:nvGrpSpPr>
              <p:cNvPr id="52258" name="Group 15"/>
              <p:cNvGrpSpPr/>
              <p:nvPr/>
            </p:nvGrpSpPr>
            <p:grpSpPr>
              <a:xfrm>
                <a:off x="0" y="0"/>
                <a:ext cx="308" cy="480"/>
                <a:chOff x="0" y="0"/>
                <a:chExt cx="308" cy="480"/>
              </a:xfrm>
            </p:grpSpPr>
            <p:sp>
              <p:nvSpPr>
                <p:cNvPr id="52280" name="Rectangle 16"/>
                <p:cNvSpPr/>
                <p:nvPr/>
              </p:nvSpPr>
              <p:spPr>
                <a:xfrm>
                  <a:off x="43" y="0"/>
                  <a:ext cx="222" cy="480"/>
                </a:xfrm>
                <a:prstGeom prst="rect">
                  <a:avLst/>
                </a:prstGeom>
                <a:noFill/>
                <a:ln w="9525">
                  <a:noFill/>
                </a:ln>
              </p:spPr>
              <p:txBody>
                <a:bodyPr/>
                <a:p>
                  <a:pPr algn="just" defTabSz="914400">
                    <a:tabLst>
                      <a:tab pos="1143000" algn="l"/>
                    </a:tabLst>
                  </a:pPr>
                  <a:r>
                    <a:rPr lang="en-US" altLang="zh-CN" b="0" dirty="0">
                      <a:solidFill>
                        <a:schemeClr val="tx1"/>
                      </a:solidFill>
                      <a:latin typeface="Times New Roman" panose="02020603050405020304" pitchFamily="18" charset="0"/>
                    </a:rPr>
                    <a:t>v</a:t>
                  </a:r>
                  <a:r>
                    <a:rPr lang="en-US" altLang="zh-CN" b="0" baseline="-30000" dirty="0">
                      <a:solidFill>
                        <a:schemeClr val="tx1"/>
                      </a:solidFill>
                      <a:latin typeface="Times New Roman" panose="02020603050405020304" pitchFamily="18" charset="0"/>
                    </a:rPr>
                    <a:t>1</a:t>
                  </a:r>
                  <a:endParaRPr lang="en-US" altLang="zh-CN" b="0" dirty="0">
                    <a:solidFill>
                      <a:schemeClr val="tx1"/>
                    </a:solidFill>
                    <a:latin typeface="Times New Roman" panose="02020603050405020304" pitchFamily="18" charset="0"/>
                  </a:endParaRPr>
                </a:p>
                <a:p>
                  <a:pPr algn="just" defTabSz="914400">
                    <a:tabLst>
                      <a:tab pos="1143000" algn="l"/>
                    </a:tabLst>
                  </a:pPr>
                  <a:endParaRPr lang="en-US" altLang="zh-CN" b="0" dirty="0">
                    <a:solidFill>
                      <a:schemeClr val="tx1"/>
                    </a:solidFill>
                    <a:latin typeface="Times New Roman" panose="02020603050405020304" pitchFamily="18" charset="0"/>
                  </a:endParaRPr>
                </a:p>
              </p:txBody>
            </p:sp>
            <p:sp>
              <p:nvSpPr>
                <p:cNvPr id="847889" name="Rectangle 17"/>
                <p:cNvSpPr>
                  <a:spLocks noChangeArrowheads="1"/>
                </p:cNvSpPr>
                <p:nvPr/>
              </p:nvSpPr>
              <p:spPr bwMode="auto">
                <a:xfrm>
                  <a:off x="0" y="0"/>
                  <a:ext cx="308" cy="480"/>
                </a:xfrm>
                <a:prstGeom prst="rect">
                  <a:avLst/>
                </a:prstGeom>
                <a:noFill/>
                <a:ln w="7">
                  <a:solidFill>
                    <a:schemeClr val="tx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52259" name="Group 18"/>
              <p:cNvGrpSpPr/>
              <p:nvPr/>
            </p:nvGrpSpPr>
            <p:grpSpPr>
              <a:xfrm>
                <a:off x="308" y="0"/>
                <a:ext cx="267" cy="480"/>
                <a:chOff x="308" y="0"/>
                <a:chExt cx="267" cy="480"/>
              </a:xfrm>
            </p:grpSpPr>
            <p:sp>
              <p:nvSpPr>
                <p:cNvPr id="52278" name="Rectangle 19"/>
                <p:cNvSpPr/>
                <p:nvPr/>
              </p:nvSpPr>
              <p:spPr>
                <a:xfrm>
                  <a:off x="351" y="0"/>
                  <a:ext cx="181" cy="480"/>
                </a:xfrm>
                <a:prstGeom prst="rect">
                  <a:avLst/>
                </a:prstGeom>
                <a:noFill/>
                <a:ln w="9525">
                  <a:noFill/>
                </a:ln>
              </p:spPr>
              <p:txBody>
                <a:bodyPr/>
                <a:p>
                  <a:pPr algn="just" defTabSz="914400">
                    <a:tabLst>
                      <a:tab pos="1143000" algn="l"/>
                    </a:tabLst>
                  </a:pPr>
                  <a:r>
                    <a:rPr lang="en-US" altLang="zh-CN" b="0" dirty="0">
                      <a:solidFill>
                        <a:schemeClr val="tx1"/>
                      </a:solidFill>
                      <a:latin typeface="Times New Roman" panose="02020603050405020304" pitchFamily="18" charset="0"/>
                    </a:rPr>
                    <a:t> </a:t>
                  </a:r>
                  <a:endParaRPr lang="en-US" altLang="zh-CN" b="0" dirty="0">
                    <a:solidFill>
                      <a:schemeClr val="tx1"/>
                    </a:solidFill>
                    <a:latin typeface="Times New Roman" panose="02020603050405020304" pitchFamily="18" charset="0"/>
                  </a:endParaRPr>
                </a:p>
                <a:p>
                  <a:pPr algn="just" defTabSz="914400">
                    <a:tabLst>
                      <a:tab pos="1143000" algn="l"/>
                    </a:tabLst>
                  </a:pPr>
                  <a:endParaRPr lang="en-US" altLang="zh-CN" b="0" dirty="0">
                    <a:solidFill>
                      <a:schemeClr val="tx1"/>
                    </a:solidFill>
                    <a:latin typeface="Times New Roman" panose="02020603050405020304" pitchFamily="18" charset="0"/>
                  </a:endParaRPr>
                </a:p>
              </p:txBody>
            </p:sp>
            <p:sp>
              <p:nvSpPr>
                <p:cNvPr id="847892" name="Rectangle 20"/>
                <p:cNvSpPr>
                  <a:spLocks noChangeArrowheads="1"/>
                </p:cNvSpPr>
                <p:nvPr/>
              </p:nvSpPr>
              <p:spPr bwMode="auto">
                <a:xfrm>
                  <a:off x="308" y="0"/>
                  <a:ext cx="267" cy="480"/>
                </a:xfrm>
                <a:prstGeom prst="rect">
                  <a:avLst/>
                </a:prstGeom>
                <a:noFill/>
                <a:ln w="7">
                  <a:solidFill>
                    <a:schemeClr val="tx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52260" name="Group 21"/>
              <p:cNvGrpSpPr/>
              <p:nvPr/>
            </p:nvGrpSpPr>
            <p:grpSpPr>
              <a:xfrm>
                <a:off x="0" y="480"/>
                <a:ext cx="308" cy="480"/>
                <a:chOff x="0" y="480"/>
                <a:chExt cx="308" cy="480"/>
              </a:xfrm>
            </p:grpSpPr>
            <p:sp>
              <p:nvSpPr>
                <p:cNvPr id="52276" name="Rectangle 22"/>
                <p:cNvSpPr/>
                <p:nvPr/>
              </p:nvSpPr>
              <p:spPr>
                <a:xfrm>
                  <a:off x="43" y="480"/>
                  <a:ext cx="222" cy="480"/>
                </a:xfrm>
                <a:prstGeom prst="rect">
                  <a:avLst/>
                </a:prstGeom>
                <a:noFill/>
                <a:ln w="9525">
                  <a:noFill/>
                </a:ln>
              </p:spPr>
              <p:txBody>
                <a:bodyPr/>
                <a:p>
                  <a:pPr algn="just" defTabSz="914400">
                    <a:tabLst>
                      <a:tab pos="1143000" algn="l"/>
                    </a:tabLst>
                  </a:pPr>
                  <a:r>
                    <a:rPr lang="en-US" altLang="zh-CN" b="0" dirty="0">
                      <a:solidFill>
                        <a:schemeClr val="tx1"/>
                      </a:solidFill>
                      <a:latin typeface="Times New Roman" panose="02020603050405020304" pitchFamily="18" charset="0"/>
                    </a:rPr>
                    <a:t>v</a:t>
                  </a:r>
                  <a:r>
                    <a:rPr lang="en-US" altLang="zh-CN" b="0" baseline="-30000" dirty="0">
                      <a:solidFill>
                        <a:schemeClr val="tx1"/>
                      </a:solidFill>
                      <a:latin typeface="Times New Roman" panose="02020603050405020304" pitchFamily="18" charset="0"/>
                    </a:rPr>
                    <a:t>2</a:t>
                  </a:r>
                  <a:endParaRPr lang="en-US" altLang="zh-CN" b="0" dirty="0">
                    <a:solidFill>
                      <a:schemeClr val="tx1"/>
                    </a:solidFill>
                    <a:latin typeface="Times New Roman" panose="02020603050405020304" pitchFamily="18" charset="0"/>
                  </a:endParaRPr>
                </a:p>
                <a:p>
                  <a:pPr algn="just" defTabSz="914400">
                    <a:tabLst>
                      <a:tab pos="1143000" algn="l"/>
                    </a:tabLst>
                  </a:pPr>
                  <a:endParaRPr lang="en-US" altLang="zh-CN" b="0" dirty="0">
                    <a:solidFill>
                      <a:schemeClr val="tx1"/>
                    </a:solidFill>
                    <a:latin typeface="Times New Roman" panose="02020603050405020304" pitchFamily="18" charset="0"/>
                  </a:endParaRPr>
                </a:p>
              </p:txBody>
            </p:sp>
            <p:sp>
              <p:nvSpPr>
                <p:cNvPr id="847895" name="Rectangle 23"/>
                <p:cNvSpPr>
                  <a:spLocks noChangeArrowheads="1"/>
                </p:cNvSpPr>
                <p:nvPr/>
              </p:nvSpPr>
              <p:spPr bwMode="auto">
                <a:xfrm>
                  <a:off x="0" y="480"/>
                  <a:ext cx="308" cy="480"/>
                </a:xfrm>
                <a:prstGeom prst="rect">
                  <a:avLst/>
                </a:prstGeom>
                <a:noFill/>
                <a:ln w="7">
                  <a:solidFill>
                    <a:schemeClr val="tx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52261" name="Group 24"/>
              <p:cNvGrpSpPr/>
              <p:nvPr/>
            </p:nvGrpSpPr>
            <p:grpSpPr>
              <a:xfrm>
                <a:off x="308" y="480"/>
                <a:ext cx="267" cy="480"/>
                <a:chOff x="308" y="480"/>
                <a:chExt cx="267" cy="480"/>
              </a:xfrm>
            </p:grpSpPr>
            <p:sp>
              <p:nvSpPr>
                <p:cNvPr id="52274" name="Rectangle 25"/>
                <p:cNvSpPr/>
                <p:nvPr/>
              </p:nvSpPr>
              <p:spPr>
                <a:xfrm>
                  <a:off x="351" y="480"/>
                  <a:ext cx="181" cy="480"/>
                </a:xfrm>
                <a:prstGeom prst="rect">
                  <a:avLst/>
                </a:prstGeom>
                <a:noFill/>
                <a:ln w="9525">
                  <a:noFill/>
                </a:ln>
              </p:spPr>
              <p:txBody>
                <a:bodyPr/>
                <a:p>
                  <a:pPr algn="just" defTabSz="914400">
                    <a:tabLst>
                      <a:tab pos="1143000" algn="l"/>
                    </a:tabLst>
                  </a:pPr>
                  <a:r>
                    <a:rPr lang="en-US" altLang="zh-CN" b="0" dirty="0">
                      <a:solidFill>
                        <a:schemeClr val="tx1"/>
                      </a:solidFill>
                      <a:latin typeface="Times New Roman" panose="02020603050405020304" pitchFamily="18" charset="0"/>
                    </a:rPr>
                    <a:t> </a:t>
                  </a:r>
                  <a:endParaRPr lang="en-US" altLang="zh-CN" b="0" dirty="0">
                    <a:solidFill>
                      <a:schemeClr val="tx1"/>
                    </a:solidFill>
                    <a:latin typeface="Times New Roman" panose="02020603050405020304" pitchFamily="18" charset="0"/>
                  </a:endParaRPr>
                </a:p>
                <a:p>
                  <a:pPr algn="just" defTabSz="914400">
                    <a:tabLst>
                      <a:tab pos="1143000" algn="l"/>
                    </a:tabLst>
                  </a:pPr>
                  <a:endParaRPr lang="en-US" altLang="zh-CN" b="0" dirty="0">
                    <a:solidFill>
                      <a:schemeClr val="tx1"/>
                    </a:solidFill>
                    <a:latin typeface="Times New Roman" panose="02020603050405020304" pitchFamily="18" charset="0"/>
                  </a:endParaRPr>
                </a:p>
              </p:txBody>
            </p:sp>
            <p:sp>
              <p:nvSpPr>
                <p:cNvPr id="847898" name="Rectangle 26"/>
                <p:cNvSpPr>
                  <a:spLocks noChangeArrowheads="1"/>
                </p:cNvSpPr>
                <p:nvPr/>
              </p:nvSpPr>
              <p:spPr bwMode="auto">
                <a:xfrm>
                  <a:off x="308" y="480"/>
                  <a:ext cx="267" cy="480"/>
                </a:xfrm>
                <a:prstGeom prst="rect">
                  <a:avLst/>
                </a:prstGeom>
                <a:noFill/>
                <a:ln w="7">
                  <a:solidFill>
                    <a:schemeClr val="tx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52262" name="Group 27"/>
              <p:cNvGrpSpPr/>
              <p:nvPr/>
            </p:nvGrpSpPr>
            <p:grpSpPr>
              <a:xfrm>
                <a:off x="0" y="960"/>
                <a:ext cx="308" cy="480"/>
                <a:chOff x="0" y="960"/>
                <a:chExt cx="308" cy="480"/>
              </a:xfrm>
            </p:grpSpPr>
            <p:sp>
              <p:nvSpPr>
                <p:cNvPr id="52272" name="Rectangle 28"/>
                <p:cNvSpPr/>
                <p:nvPr/>
              </p:nvSpPr>
              <p:spPr>
                <a:xfrm>
                  <a:off x="43" y="960"/>
                  <a:ext cx="222" cy="480"/>
                </a:xfrm>
                <a:prstGeom prst="rect">
                  <a:avLst/>
                </a:prstGeom>
                <a:noFill/>
                <a:ln w="9525">
                  <a:noFill/>
                </a:ln>
              </p:spPr>
              <p:txBody>
                <a:bodyPr/>
                <a:p>
                  <a:pPr algn="just" defTabSz="914400">
                    <a:tabLst>
                      <a:tab pos="1143000" algn="l"/>
                    </a:tabLst>
                  </a:pPr>
                  <a:r>
                    <a:rPr lang="en-US" altLang="zh-CN" b="0" dirty="0">
                      <a:solidFill>
                        <a:schemeClr val="tx1"/>
                      </a:solidFill>
                      <a:latin typeface="Times New Roman" panose="02020603050405020304" pitchFamily="18" charset="0"/>
                    </a:rPr>
                    <a:t>v</a:t>
                  </a:r>
                  <a:r>
                    <a:rPr lang="en-US" altLang="zh-CN" b="0" baseline="-30000" dirty="0">
                      <a:solidFill>
                        <a:schemeClr val="tx1"/>
                      </a:solidFill>
                      <a:latin typeface="Times New Roman" panose="02020603050405020304" pitchFamily="18" charset="0"/>
                    </a:rPr>
                    <a:t>3</a:t>
                  </a:r>
                  <a:endParaRPr lang="en-US" altLang="zh-CN" b="0" dirty="0">
                    <a:solidFill>
                      <a:schemeClr val="tx1"/>
                    </a:solidFill>
                    <a:latin typeface="Times New Roman" panose="02020603050405020304" pitchFamily="18" charset="0"/>
                  </a:endParaRPr>
                </a:p>
                <a:p>
                  <a:pPr algn="just" defTabSz="914400">
                    <a:tabLst>
                      <a:tab pos="1143000" algn="l"/>
                    </a:tabLst>
                  </a:pPr>
                  <a:endParaRPr lang="en-US" altLang="zh-CN" b="0" dirty="0">
                    <a:solidFill>
                      <a:schemeClr val="tx1"/>
                    </a:solidFill>
                    <a:latin typeface="Times New Roman" panose="02020603050405020304" pitchFamily="18" charset="0"/>
                  </a:endParaRPr>
                </a:p>
              </p:txBody>
            </p:sp>
            <p:sp>
              <p:nvSpPr>
                <p:cNvPr id="847901" name="Rectangle 29"/>
                <p:cNvSpPr>
                  <a:spLocks noChangeArrowheads="1"/>
                </p:cNvSpPr>
                <p:nvPr/>
              </p:nvSpPr>
              <p:spPr bwMode="auto">
                <a:xfrm>
                  <a:off x="0" y="960"/>
                  <a:ext cx="308" cy="480"/>
                </a:xfrm>
                <a:prstGeom prst="rect">
                  <a:avLst/>
                </a:prstGeom>
                <a:noFill/>
                <a:ln w="7">
                  <a:solidFill>
                    <a:schemeClr val="tx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52263" name="Group 30"/>
              <p:cNvGrpSpPr/>
              <p:nvPr/>
            </p:nvGrpSpPr>
            <p:grpSpPr>
              <a:xfrm>
                <a:off x="308" y="960"/>
                <a:ext cx="267" cy="480"/>
                <a:chOff x="308" y="960"/>
                <a:chExt cx="267" cy="480"/>
              </a:xfrm>
            </p:grpSpPr>
            <p:sp>
              <p:nvSpPr>
                <p:cNvPr id="52270" name="Rectangle 31"/>
                <p:cNvSpPr/>
                <p:nvPr/>
              </p:nvSpPr>
              <p:spPr>
                <a:xfrm>
                  <a:off x="351" y="960"/>
                  <a:ext cx="181" cy="480"/>
                </a:xfrm>
                <a:prstGeom prst="rect">
                  <a:avLst/>
                </a:prstGeom>
                <a:noFill/>
                <a:ln w="9525">
                  <a:noFill/>
                </a:ln>
              </p:spPr>
              <p:txBody>
                <a:bodyPr/>
                <a:p>
                  <a:pPr algn="just" defTabSz="914400">
                    <a:tabLst>
                      <a:tab pos="1143000" algn="l"/>
                    </a:tabLst>
                  </a:pPr>
                  <a:r>
                    <a:rPr lang="en-US" altLang="zh-CN" b="0" dirty="0">
                      <a:solidFill>
                        <a:schemeClr val="tx1"/>
                      </a:solidFill>
                      <a:latin typeface="Times New Roman" panose="02020603050405020304" pitchFamily="18" charset="0"/>
                    </a:rPr>
                    <a:t> </a:t>
                  </a:r>
                  <a:endParaRPr lang="en-US" altLang="zh-CN" b="0" dirty="0">
                    <a:solidFill>
                      <a:schemeClr val="tx1"/>
                    </a:solidFill>
                    <a:latin typeface="Times New Roman" panose="02020603050405020304" pitchFamily="18" charset="0"/>
                  </a:endParaRPr>
                </a:p>
                <a:p>
                  <a:pPr algn="just" defTabSz="914400">
                    <a:tabLst>
                      <a:tab pos="1143000" algn="l"/>
                    </a:tabLst>
                  </a:pPr>
                  <a:endParaRPr lang="en-US" altLang="zh-CN" b="0" dirty="0">
                    <a:solidFill>
                      <a:schemeClr val="tx1"/>
                    </a:solidFill>
                    <a:latin typeface="Times New Roman" panose="02020603050405020304" pitchFamily="18" charset="0"/>
                  </a:endParaRPr>
                </a:p>
              </p:txBody>
            </p:sp>
            <p:sp>
              <p:nvSpPr>
                <p:cNvPr id="847904" name="Rectangle 32"/>
                <p:cNvSpPr>
                  <a:spLocks noChangeArrowheads="1"/>
                </p:cNvSpPr>
                <p:nvPr/>
              </p:nvSpPr>
              <p:spPr bwMode="auto">
                <a:xfrm>
                  <a:off x="308" y="960"/>
                  <a:ext cx="267" cy="480"/>
                </a:xfrm>
                <a:prstGeom prst="rect">
                  <a:avLst/>
                </a:prstGeom>
                <a:noFill/>
                <a:ln w="7">
                  <a:solidFill>
                    <a:schemeClr val="tx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52264" name="Group 33"/>
              <p:cNvGrpSpPr/>
              <p:nvPr/>
            </p:nvGrpSpPr>
            <p:grpSpPr>
              <a:xfrm>
                <a:off x="0" y="1440"/>
                <a:ext cx="308" cy="480"/>
                <a:chOff x="0" y="1440"/>
                <a:chExt cx="308" cy="480"/>
              </a:xfrm>
            </p:grpSpPr>
            <p:sp>
              <p:nvSpPr>
                <p:cNvPr id="52268" name="Rectangle 34"/>
                <p:cNvSpPr/>
                <p:nvPr/>
              </p:nvSpPr>
              <p:spPr>
                <a:xfrm>
                  <a:off x="43" y="1440"/>
                  <a:ext cx="222" cy="480"/>
                </a:xfrm>
                <a:prstGeom prst="rect">
                  <a:avLst/>
                </a:prstGeom>
                <a:noFill/>
                <a:ln w="9525">
                  <a:noFill/>
                </a:ln>
              </p:spPr>
              <p:txBody>
                <a:bodyPr/>
                <a:p>
                  <a:pPr algn="just" defTabSz="914400">
                    <a:tabLst>
                      <a:tab pos="1143000" algn="l"/>
                    </a:tabLst>
                  </a:pPr>
                  <a:r>
                    <a:rPr lang="en-US" altLang="zh-CN" b="0" dirty="0">
                      <a:solidFill>
                        <a:schemeClr val="tx1"/>
                      </a:solidFill>
                      <a:latin typeface="Times New Roman" panose="02020603050405020304" pitchFamily="18" charset="0"/>
                    </a:rPr>
                    <a:t>v</a:t>
                  </a:r>
                  <a:r>
                    <a:rPr lang="en-US" altLang="zh-CN" b="0" baseline="-30000" dirty="0">
                      <a:solidFill>
                        <a:schemeClr val="tx1"/>
                      </a:solidFill>
                      <a:latin typeface="Times New Roman" panose="02020603050405020304" pitchFamily="18" charset="0"/>
                    </a:rPr>
                    <a:t>4</a:t>
                  </a:r>
                  <a:endParaRPr lang="en-US" altLang="zh-CN" b="0" dirty="0">
                    <a:solidFill>
                      <a:schemeClr val="tx1"/>
                    </a:solidFill>
                    <a:latin typeface="Times New Roman" panose="02020603050405020304" pitchFamily="18" charset="0"/>
                  </a:endParaRPr>
                </a:p>
                <a:p>
                  <a:pPr algn="just" defTabSz="914400">
                    <a:tabLst>
                      <a:tab pos="1143000" algn="l"/>
                    </a:tabLst>
                  </a:pPr>
                  <a:endParaRPr lang="en-US" altLang="zh-CN" b="0" dirty="0">
                    <a:solidFill>
                      <a:schemeClr val="tx1"/>
                    </a:solidFill>
                    <a:latin typeface="Times New Roman" panose="02020603050405020304" pitchFamily="18" charset="0"/>
                  </a:endParaRPr>
                </a:p>
              </p:txBody>
            </p:sp>
            <p:sp>
              <p:nvSpPr>
                <p:cNvPr id="847907" name="Rectangle 35"/>
                <p:cNvSpPr>
                  <a:spLocks noChangeArrowheads="1"/>
                </p:cNvSpPr>
                <p:nvPr/>
              </p:nvSpPr>
              <p:spPr bwMode="auto">
                <a:xfrm>
                  <a:off x="0" y="1440"/>
                  <a:ext cx="308" cy="480"/>
                </a:xfrm>
                <a:prstGeom prst="rect">
                  <a:avLst/>
                </a:prstGeom>
                <a:noFill/>
                <a:ln w="7">
                  <a:solidFill>
                    <a:schemeClr val="tx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52265" name="Group 36"/>
              <p:cNvGrpSpPr/>
              <p:nvPr/>
            </p:nvGrpSpPr>
            <p:grpSpPr>
              <a:xfrm>
                <a:off x="308" y="1440"/>
                <a:ext cx="267" cy="480"/>
                <a:chOff x="308" y="1440"/>
                <a:chExt cx="267" cy="480"/>
              </a:xfrm>
            </p:grpSpPr>
            <p:sp>
              <p:nvSpPr>
                <p:cNvPr id="52266" name="Rectangle 37"/>
                <p:cNvSpPr/>
                <p:nvPr/>
              </p:nvSpPr>
              <p:spPr>
                <a:xfrm>
                  <a:off x="351" y="1440"/>
                  <a:ext cx="181" cy="480"/>
                </a:xfrm>
                <a:prstGeom prst="rect">
                  <a:avLst/>
                </a:prstGeom>
                <a:noFill/>
                <a:ln w="9525">
                  <a:noFill/>
                </a:ln>
              </p:spPr>
              <p:txBody>
                <a:bodyPr/>
                <a:p>
                  <a:pPr algn="just" defTabSz="914400">
                    <a:tabLst>
                      <a:tab pos="1143000" algn="l"/>
                    </a:tabLst>
                  </a:pPr>
                  <a:r>
                    <a:rPr lang="en-US" altLang="zh-CN" b="0" dirty="0">
                      <a:solidFill>
                        <a:schemeClr val="tx1"/>
                      </a:solidFill>
                      <a:latin typeface="Times New Roman" panose="02020603050405020304" pitchFamily="18" charset="0"/>
                    </a:rPr>
                    <a:t> </a:t>
                  </a:r>
                  <a:endParaRPr lang="en-US" altLang="zh-CN" b="0" dirty="0">
                    <a:solidFill>
                      <a:schemeClr val="tx1"/>
                    </a:solidFill>
                    <a:latin typeface="Times New Roman" panose="02020603050405020304" pitchFamily="18" charset="0"/>
                  </a:endParaRPr>
                </a:p>
                <a:p>
                  <a:pPr algn="just" defTabSz="914400">
                    <a:tabLst>
                      <a:tab pos="1143000" algn="l"/>
                    </a:tabLst>
                  </a:pPr>
                  <a:endParaRPr lang="en-US" altLang="zh-CN" b="0" dirty="0">
                    <a:solidFill>
                      <a:schemeClr val="tx1"/>
                    </a:solidFill>
                    <a:latin typeface="Times New Roman" panose="02020603050405020304" pitchFamily="18" charset="0"/>
                  </a:endParaRPr>
                </a:p>
              </p:txBody>
            </p:sp>
            <p:sp>
              <p:nvSpPr>
                <p:cNvPr id="847910" name="Rectangle 38"/>
                <p:cNvSpPr>
                  <a:spLocks noChangeArrowheads="1"/>
                </p:cNvSpPr>
                <p:nvPr/>
              </p:nvSpPr>
              <p:spPr bwMode="auto">
                <a:xfrm>
                  <a:off x="308" y="1440"/>
                  <a:ext cx="267" cy="480"/>
                </a:xfrm>
                <a:prstGeom prst="rect">
                  <a:avLst/>
                </a:prstGeom>
                <a:noFill/>
                <a:ln w="7">
                  <a:solidFill>
                    <a:schemeClr val="tx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sp>
          <p:nvSpPr>
            <p:cNvPr id="847911" name="Rectangle 39"/>
            <p:cNvSpPr>
              <a:spLocks noChangeArrowheads="1"/>
            </p:cNvSpPr>
            <p:nvPr/>
          </p:nvSpPr>
          <p:spPr bwMode="auto">
            <a:xfrm>
              <a:off x="-3" y="-3"/>
              <a:ext cx="581" cy="1926"/>
            </a:xfrm>
            <a:prstGeom prst="rect">
              <a:avLst/>
            </a:prstGeom>
            <a:noFill/>
            <a:ln w="11112">
              <a:solidFill>
                <a:schemeClr val="tx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52229" name="Group 40"/>
          <p:cNvGrpSpPr/>
          <p:nvPr/>
        </p:nvGrpSpPr>
        <p:grpSpPr>
          <a:xfrm>
            <a:off x="6107113" y="2773363"/>
            <a:ext cx="2133600" cy="1828800"/>
            <a:chOff x="4658" y="11033"/>
            <a:chExt cx="3240" cy="2340"/>
          </a:xfrm>
        </p:grpSpPr>
        <p:sp>
          <p:nvSpPr>
            <p:cNvPr id="52232" name="Rectangle 41"/>
            <p:cNvSpPr/>
            <p:nvPr/>
          </p:nvSpPr>
          <p:spPr>
            <a:xfrm>
              <a:off x="5198" y="11033"/>
              <a:ext cx="1080" cy="468"/>
            </a:xfrm>
            <a:prstGeom prst="rect">
              <a:avLst/>
            </a:prstGeom>
            <a:solidFill>
              <a:srgbClr val="FFFFFF"/>
            </a:solidFill>
            <a:ln w="9525" cap="flat" cmpd="sng">
              <a:solidFill>
                <a:srgbClr val="000000"/>
              </a:solidFill>
              <a:prstDash val="solid"/>
              <a:miter/>
              <a:headEnd type="none" w="med" len="med"/>
              <a:tailEnd type="none" w="med" len="med"/>
            </a:ln>
          </p:spPr>
          <p:txBody>
            <a:bodyPr/>
            <a:p>
              <a:pPr algn="just"/>
              <a:r>
                <a:rPr lang="en-US" altLang="zh-CN" b="0" dirty="0">
                  <a:solidFill>
                    <a:schemeClr val="tx1"/>
                  </a:solidFill>
                  <a:latin typeface="Times New Roman" panose="02020603050405020304" pitchFamily="18" charset="0"/>
                  <a:ea typeface="楷体_GB2312" pitchFamily="49" charset="-122"/>
                </a:rPr>
                <a:t>1</a:t>
              </a:r>
              <a:endParaRPr lang="en-US" altLang="zh-CN" b="0" dirty="0">
                <a:solidFill>
                  <a:schemeClr val="tx1"/>
                </a:solidFill>
                <a:latin typeface="Times New Roman" panose="02020603050405020304" pitchFamily="18" charset="0"/>
                <a:ea typeface="楷体_GB2312" pitchFamily="49" charset="-122"/>
              </a:endParaRPr>
            </a:p>
          </p:txBody>
        </p:sp>
        <p:sp>
          <p:nvSpPr>
            <p:cNvPr id="52233" name="Rectangle 42"/>
            <p:cNvSpPr/>
            <p:nvPr/>
          </p:nvSpPr>
          <p:spPr>
            <a:xfrm>
              <a:off x="5198" y="11657"/>
              <a:ext cx="1080" cy="468"/>
            </a:xfrm>
            <a:prstGeom prst="rect">
              <a:avLst/>
            </a:prstGeom>
            <a:solidFill>
              <a:srgbClr val="FFFFFF"/>
            </a:solidFill>
            <a:ln w="9525" cap="flat" cmpd="sng">
              <a:solidFill>
                <a:srgbClr val="000000"/>
              </a:solidFill>
              <a:prstDash val="solid"/>
              <a:miter/>
              <a:headEnd type="none" w="med" len="med"/>
              <a:tailEnd type="none" w="med" len="med"/>
            </a:ln>
          </p:spPr>
          <p:txBody>
            <a:bodyPr/>
            <a:p>
              <a:pPr algn="just"/>
              <a:r>
                <a:rPr lang="en-US" altLang="zh-CN" b="0" dirty="0">
                  <a:solidFill>
                    <a:schemeClr val="tx1"/>
                  </a:solidFill>
                  <a:latin typeface="Times New Roman" panose="02020603050405020304" pitchFamily="18" charset="0"/>
                  <a:ea typeface="楷体_GB2312" pitchFamily="49" charset="-122"/>
                </a:rPr>
                <a:t>0</a:t>
              </a:r>
              <a:endParaRPr lang="en-US" altLang="zh-CN" b="0" dirty="0">
                <a:solidFill>
                  <a:schemeClr val="tx1"/>
                </a:solidFill>
                <a:latin typeface="Times New Roman" panose="02020603050405020304" pitchFamily="18" charset="0"/>
                <a:ea typeface="楷体_GB2312" pitchFamily="49" charset="-122"/>
              </a:endParaRPr>
            </a:p>
          </p:txBody>
        </p:sp>
        <p:sp>
          <p:nvSpPr>
            <p:cNvPr id="52234" name="Rectangle 43"/>
            <p:cNvSpPr/>
            <p:nvPr/>
          </p:nvSpPr>
          <p:spPr>
            <a:xfrm>
              <a:off x="5198" y="12281"/>
              <a:ext cx="1080" cy="468"/>
            </a:xfrm>
            <a:prstGeom prst="rect">
              <a:avLst/>
            </a:prstGeom>
            <a:solidFill>
              <a:srgbClr val="FFFFFF"/>
            </a:solidFill>
            <a:ln w="9525" cap="flat" cmpd="sng">
              <a:solidFill>
                <a:srgbClr val="000000"/>
              </a:solidFill>
              <a:prstDash val="solid"/>
              <a:miter/>
              <a:headEnd type="none" w="med" len="med"/>
              <a:tailEnd type="none" w="med" len="med"/>
            </a:ln>
          </p:spPr>
          <p:txBody>
            <a:bodyPr/>
            <a:p>
              <a:pPr algn="just"/>
              <a:r>
                <a:rPr lang="en-US" altLang="zh-CN" b="0" dirty="0">
                  <a:solidFill>
                    <a:schemeClr val="tx1"/>
                  </a:solidFill>
                  <a:latin typeface="Times New Roman" panose="02020603050405020304" pitchFamily="18" charset="0"/>
                  <a:ea typeface="楷体_GB2312" pitchFamily="49" charset="-122"/>
                </a:rPr>
                <a:t>0</a:t>
              </a:r>
              <a:endParaRPr lang="en-US" altLang="zh-CN" b="0" dirty="0">
                <a:solidFill>
                  <a:schemeClr val="tx1"/>
                </a:solidFill>
                <a:latin typeface="Times New Roman" panose="02020603050405020304" pitchFamily="18" charset="0"/>
                <a:ea typeface="楷体_GB2312" pitchFamily="49" charset="-122"/>
              </a:endParaRPr>
            </a:p>
          </p:txBody>
        </p:sp>
        <p:sp>
          <p:nvSpPr>
            <p:cNvPr id="52235" name="Rectangle 44"/>
            <p:cNvSpPr/>
            <p:nvPr/>
          </p:nvSpPr>
          <p:spPr>
            <a:xfrm>
              <a:off x="5198" y="12905"/>
              <a:ext cx="1080" cy="468"/>
            </a:xfrm>
            <a:prstGeom prst="rect">
              <a:avLst/>
            </a:prstGeom>
            <a:solidFill>
              <a:srgbClr val="FFFFFF"/>
            </a:solidFill>
            <a:ln w="9525" cap="flat" cmpd="sng">
              <a:solidFill>
                <a:srgbClr val="000000"/>
              </a:solidFill>
              <a:prstDash val="solid"/>
              <a:miter/>
              <a:headEnd type="none" w="med" len="med"/>
              <a:tailEnd type="none" w="med" len="med"/>
            </a:ln>
          </p:spPr>
          <p:txBody>
            <a:bodyPr/>
            <a:p>
              <a:pPr algn="just"/>
              <a:r>
                <a:rPr lang="en-US" altLang="zh-CN" b="0" dirty="0">
                  <a:solidFill>
                    <a:schemeClr val="tx1"/>
                  </a:solidFill>
                  <a:latin typeface="Times New Roman" panose="02020603050405020304" pitchFamily="18" charset="0"/>
                  <a:ea typeface="楷体_GB2312" pitchFamily="49" charset="-122"/>
                </a:rPr>
                <a:t>1</a:t>
              </a:r>
              <a:endParaRPr lang="en-US" altLang="zh-CN" b="0" dirty="0">
                <a:solidFill>
                  <a:schemeClr val="tx1"/>
                </a:solidFill>
                <a:latin typeface="Times New Roman" panose="02020603050405020304" pitchFamily="18" charset="0"/>
                <a:ea typeface="楷体_GB2312" pitchFamily="49" charset="-122"/>
              </a:endParaRPr>
            </a:p>
          </p:txBody>
        </p:sp>
        <p:sp>
          <p:nvSpPr>
            <p:cNvPr id="52236" name="Rectangle 45"/>
            <p:cNvSpPr/>
            <p:nvPr/>
          </p:nvSpPr>
          <p:spPr>
            <a:xfrm>
              <a:off x="6818" y="11033"/>
              <a:ext cx="1080" cy="468"/>
            </a:xfrm>
            <a:prstGeom prst="rect">
              <a:avLst/>
            </a:prstGeom>
            <a:solidFill>
              <a:srgbClr val="FFFFFF"/>
            </a:solidFill>
            <a:ln w="9525" cap="flat" cmpd="sng">
              <a:solidFill>
                <a:srgbClr val="000000"/>
              </a:solidFill>
              <a:prstDash val="solid"/>
              <a:miter/>
              <a:headEnd type="none" w="med" len="med"/>
              <a:tailEnd type="none" w="med" len="med"/>
            </a:ln>
          </p:spPr>
          <p:txBody>
            <a:bodyPr/>
            <a:p>
              <a:pPr algn="just"/>
              <a:r>
                <a:rPr lang="en-US" altLang="zh-CN" b="0" dirty="0">
                  <a:solidFill>
                    <a:schemeClr val="tx1"/>
                  </a:solidFill>
                  <a:latin typeface="Times New Roman" panose="02020603050405020304" pitchFamily="18" charset="0"/>
                  <a:ea typeface="楷体_GB2312" pitchFamily="49" charset="-122"/>
                </a:rPr>
                <a:t>2    ^</a:t>
              </a:r>
              <a:endParaRPr lang="en-US" altLang="zh-CN" b="0" dirty="0">
                <a:solidFill>
                  <a:schemeClr val="tx1"/>
                </a:solidFill>
                <a:latin typeface="Times New Roman" panose="02020603050405020304" pitchFamily="18" charset="0"/>
                <a:ea typeface="楷体_GB2312" pitchFamily="49" charset="-122"/>
              </a:endParaRPr>
            </a:p>
          </p:txBody>
        </p:sp>
        <p:sp>
          <p:nvSpPr>
            <p:cNvPr id="52237" name="Rectangle 46"/>
            <p:cNvSpPr/>
            <p:nvPr/>
          </p:nvSpPr>
          <p:spPr>
            <a:xfrm>
              <a:off x="6818" y="11657"/>
              <a:ext cx="1080" cy="468"/>
            </a:xfrm>
            <a:prstGeom prst="rect">
              <a:avLst/>
            </a:prstGeom>
            <a:solidFill>
              <a:srgbClr val="FFFFFF"/>
            </a:solidFill>
            <a:ln w="9525" cap="flat" cmpd="sng">
              <a:solidFill>
                <a:srgbClr val="000000"/>
              </a:solidFill>
              <a:prstDash val="solid"/>
              <a:miter/>
              <a:headEnd type="none" w="med" len="med"/>
              <a:tailEnd type="none" w="med" len="med"/>
            </a:ln>
          </p:spPr>
          <p:txBody>
            <a:bodyPr/>
            <a:p>
              <a:pPr algn="just"/>
              <a:r>
                <a:rPr lang="en-US" altLang="zh-CN" b="0" dirty="0">
                  <a:solidFill>
                    <a:schemeClr val="tx1"/>
                  </a:solidFill>
                  <a:latin typeface="Times New Roman" panose="02020603050405020304" pitchFamily="18" charset="0"/>
                  <a:ea typeface="楷体_GB2312" pitchFamily="49" charset="-122"/>
                </a:rPr>
                <a:t>3    ^</a:t>
              </a:r>
              <a:endParaRPr lang="en-US" altLang="zh-CN" b="0" dirty="0">
                <a:solidFill>
                  <a:schemeClr val="tx1"/>
                </a:solidFill>
                <a:latin typeface="Times New Roman" panose="02020603050405020304" pitchFamily="18" charset="0"/>
                <a:ea typeface="楷体_GB2312" pitchFamily="49" charset="-122"/>
              </a:endParaRPr>
            </a:p>
          </p:txBody>
        </p:sp>
        <p:sp>
          <p:nvSpPr>
            <p:cNvPr id="52238" name="Rectangle 47"/>
            <p:cNvSpPr/>
            <p:nvPr/>
          </p:nvSpPr>
          <p:spPr>
            <a:xfrm>
              <a:off x="6818" y="12281"/>
              <a:ext cx="1080" cy="468"/>
            </a:xfrm>
            <a:prstGeom prst="rect">
              <a:avLst/>
            </a:prstGeom>
            <a:solidFill>
              <a:srgbClr val="FFFFFF"/>
            </a:solidFill>
            <a:ln w="9525" cap="flat" cmpd="sng">
              <a:solidFill>
                <a:srgbClr val="000000"/>
              </a:solidFill>
              <a:prstDash val="solid"/>
              <a:miter/>
              <a:headEnd type="none" w="med" len="med"/>
              <a:tailEnd type="none" w="med" len="med"/>
            </a:ln>
          </p:spPr>
          <p:txBody>
            <a:bodyPr/>
            <a:p>
              <a:pPr algn="just"/>
              <a:r>
                <a:rPr lang="en-US" altLang="zh-CN" b="0" dirty="0">
                  <a:solidFill>
                    <a:schemeClr val="tx1"/>
                  </a:solidFill>
                  <a:latin typeface="Times New Roman" panose="02020603050405020304" pitchFamily="18" charset="0"/>
                  <a:ea typeface="楷体_GB2312" pitchFamily="49" charset="-122"/>
                </a:rPr>
                <a:t>3    ^</a:t>
              </a:r>
              <a:endParaRPr lang="en-US" altLang="zh-CN" b="0" dirty="0">
                <a:solidFill>
                  <a:schemeClr val="tx1"/>
                </a:solidFill>
                <a:latin typeface="Times New Roman" panose="02020603050405020304" pitchFamily="18" charset="0"/>
                <a:ea typeface="楷体_GB2312" pitchFamily="49" charset="-122"/>
              </a:endParaRPr>
            </a:p>
          </p:txBody>
        </p:sp>
        <p:sp>
          <p:nvSpPr>
            <p:cNvPr id="52239" name="Rectangle 48"/>
            <p:cNvSpPr/>
            <p:nvPr/>
          </p:nvSpPr>
          <p:spPr>
            <a:xfrm>
              <a:off x="6818" y="12905"/>
              <a:ext cx="1080" cy="468"/>
            </a:xfrm>
            <a:prstGeom prst="rect">
              <a:avLst/>
            </a:prstGeom>
            <a:solidFill>
              <a:srgbClr val="FFFFFF"/>
            </a:solidFill>
            <a:ln w="9525" cap="flat" cmpd="sng">
              <a:solidFill>
                <a:srgbClr val="000000"/>
              </a:solidFill>
              <a:prstDash val="solid"/>
              <a:miter/>
              <a:headEnd type="none" w="med" len="med"/>
              <a:tailEnd type="none" w="med" len="med"/>
            </a:ln>
          </p:spPr>
          <p:txBody>
            <a:bodyPr/>
            <a:p>
              <a:pPr algn="just"/>
              <a:r>
                <a:rPr lang="en-US" altLang="zh-CN" b="0" dirty="0">
                  <a:solidFill>
                    <a:schemeClr val="tx1"/>
                  </a:solidFill>
                  <a:latin typeface="Times New Roman" panose="02020603050405020304" pitchFamily="18" charset="0"/>
                  <a:ea typeface="楷体_GB2312" pitchFamily="49" charset="-122"/>
                </a:rPr>
                <a:t>2    ^</a:t>
              </a:r>
              <a:endParaRPr lang="en-US" altLang="zh-CN" b="0" dirty="0">
                <a:solidFill>
                  <a:schemeClr val="tx1"/>
                </a:solidFill>
                <a:latin typeface="Times New Roman" panose="02020603050405020304" pitchFamily="18" charset="0"/>
                <a:ea typeface="楷体_GB2312" pitchFamily="49" charset="-122"/>
              </a:endParaRPr>
            </a:p>
          </p:txBody>
        </p:sp>
        <p:sp>
          <p:nvSpPr>
            <p:cNvPr id="847921" name="Line 49"/>
            <p:cNvSpPr>
              <a:spLocks noChangeShapeType="1"/>
            </p:cNvSpPr>
            <p:nvPr/>
          </p:nvSpPr>
          <p:spPr bwMode="auto">
            <a:xfrm>
              <a:off x="5738" y="11033"/>
              <a:ext cx="0" cy="467"/>
            </a:xfrm>
            <a:prstGeom prst="line">
              <a:avLst/>
            </a:prstGeom>
            <a:noFill/>
            <a:ln w="9525">
              <a:solidFill>
                <a:srgbClr val="000000"/>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47922" name="Line 50"/>
            <p:cNvSpPr>
              <a:spLocks noChangeShapeType="1"/>
            </p:cNvSpPr>
            <p:nvPr/>
          </p:nvSpPr>
          <p:spPr bwMode="auto">
            <a:xfrm>
              <a:off x="7358" y="11033"/>
              <a:ext cx="0" cy="467"/>
            </a:xfrm>
            <a:prstGeom prst="line">
              <a:avLst/>
            </a:prstGeom>
            <a:noFill/>
            <a:ln w="9525">
              <a:solidFill>
                <a:srgbClr val="000000"/>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47923" name="Line 51"/>
            <p:cNvSpPr>
              <a:spLocks noChangeShapeType="1"/>
            </p:cNvSpPr>
            <p:nvPr/>
          </p:nvSpPr>
          <p:spPr bwMode="auto">
            <a:xfrm>
              <a:off x="7358" y="11657"/>
              <a:ext cx="0" cy="469"/>
            </a:xfrm>
            <a:prstGeom prst="line">
              <a:avLst/>
            </a:prstGeom>
            <a:noFill/>
            <a:ln w="9525">
              <a:solidFill>
                <a:srgbClr val="000000"/>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47924" name="Line 52"/>
            <p:cNvSpPr>
              <a:spLocks noChangeShapeType="1"/>
            </p:cNvSpPr>
            <p:nvPr/>
          </p:nvSpPr>
          <p:spPr bwMode="auto">
            <a:xfrm>
              <a:off x="7358" y="12280"/>
              <a:ext cx="0" cy="469"/>
            </a:xfrm>
            <a:prstGeom prst="line">
              <a:avLst/>
            </a:prstGeom>
            <a:noFill/>
            <a:ln w="9525">
              <a:solidFill>
                <a:srgbClr val="000000"/>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47925" name="Line 53"/>
            <p:cNvSpPr>
              <a:spLocks noChangeShapeType="1"/>
            </p:cNvSpPr>
            <p:nvPr/>
          </p:nvSpPr>
          <p:spPr bwMode="auto">
            <a:xfrm>
              <a:off x="7358" y="12906"/>
              <a:ext cx="0" cy="467"/>
            </a:xfrm>
            <a:prstGeom prst="line">
              <a:avLst/>
            </a:prstGeom>
            <a:noFill/>
            <a:ln w="9525">
              <a:solidFill>
                <a:srgbClr val="000000"/>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47926" name="Line 54"/>
            <p:cNvSpPr>
              <a:spLocks noChangeShapeType="1"/>
            </p:cNvSpPr>
            <p:nvPr/>
          </p:nvSpPr>
          <p:spPr bwMode="auto">
            <a:xfrm>
              <a:off x="5738" y="12906"/>
              <a:ext cx="0" cy="467"/>
            </a:xfrm>
            <a:prstGeom prst="line">
              <a:avLst/>
            </a:prstGeom>
            <a:noFill/>
            <a:ln w="9525">
              <a:solidFill>
                <a:srgbClr val="000000"/>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47927" name="Line 55"/>
            <p:cNvSpPr>
              <a:spLocks noChangeShapeType="1"/>
            </p:cNvSpPr>
            <p:nvPr/>
          </p:nvSpPr>
          <p:spPr bwMode="auto">
            <a:xfrm>
              <a:off x="5738" y="11657"/>
              <a:ext cx="0" cy="469"/>
            </a:xfrm>
            <a:prstGeom prst="line">
              <a:avLst/>
            </a:prstGeom>
            <a:noFill/>
            <a:ln w="9525">
              <a:solidFill>
                <a:srgbClr val="000000"/>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47928" name="Line 56"/>
            <p:cNvSpPr>
              <a:spLocks noChangeShapeType="1"/>
            </p:cNvSpPr>
            <p:nvPr/>
          </p:nvSpPr>
          <p:spPr bwMode="auto">
            <a:xfrm>
              <a:off x="5738" y="12280"/>
              <a:ext cx="0" cy="469"/>
            </a:xfrm>
            <a:prstGeom prst="line">
              <a:avLst/>
            </a:prstGeom>
            <a:noFill/>
            <a:ln w="9525">
              <a:solidFill>
                <a:srgbClr val="000000"/>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47929" name="Line 57"/>
            <p:cNvSpPr>
              <a:spLocks noChangeShapeType="1"/>
            </p:cNvSpPr>
            <p:nvPr/>
          </p:nvSpPr>
          <p:spPr bwMode="auto">
            <a:xfrm>
              <a:off x="4658" y="11189"/>
              <a:ext cx="540" cy="0"/>
            </a:xfrm>
            <a:prstGeom prst="line">
              <a:avLst/>
            </a:prstGeom>
            <a:noFill/>
            <a:ln w="9525">
              <a:solidFill>
                <a:srgbClr val="000000"/>
              </a:solidFill>
              <a:round/>
              <a:tailEnd type="stealth" w="sm" len="sm"/>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47930" name="Line 58"/>
            <p:cNvSpPr>
              <a:spLocks noChangeShapeType="1"/>
            </p:cNvSpPr>
            <p:nvPr/>
          </p:nvSpPr>
          <p:spPr bwMode="auto">
            <a:xfrm>
              <a:off x="6097" y="11189"/>
              <a:ext cx="721" cy="0"/>
            </a:xfrm>
            <a:prstGeom prst="line">
              <a:avLst/>
            </a:prstGeom>
            <a:noFill/>
            <a:ln w="9525">
              <a:solidFill>
                <a:srgbClr val="000000"/>
              </a:solidFill>
              <a:round/>
              <a:tailEnd type="stealth" w="sm" len="sm"/>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47931" name="Line 59"/>
            <p:cNvSpPr>
              <a:spLocks noChangeShapeType="1"/>
            </p:cNvSpPr>
            <p:nvPr/>
          </p:nvSpPr>
          <p:spPr bwMode="auto">
            <a:xfrm>
              <a:off x="6097" y="11813"/>
              <a:ext cx="721" cy="0"/>
            </a:xfrm>
            <a:prstGeom prst="line">
              <a:avLst/>
            </a:prstGeom>
            <a:noFill/>
            <a:ln w="9525">
              <a:solidFill>
                <a:srgbClr val="000000"/>
              </a:solidFill>
              <a:round/>
              <a:tailEnd type="stealth" w="sm" len="sm"/>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47932" name="Line 60"/>
            <p:cNvSpPr>
              <a:spLocks noChangeShapeType="1"/>
            </p:cNvSpPr>
            <p:nvPr/>
          </p:nvSpPr>
          <p:spPr bwMode="auto">
            <a:xfrm>
              <a:off x="6097" y="12437"/>
              <a:ext cx="721" cy="0"/>
            </a:xfrm>
            <a:prstGeom prst="line">
              <a:avLst/>
            </a:prstGeom>
            <a:noFill/>
            <a:ln w="9525">
              <a:solidFill>
                <a:srgbClr val="000000"/>
              </a:solidFill>
              <a:round/>
              <a:tailEnd type="stealth" w="sm" len="sm"/>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47933" name="Line 61"/>
            <p:cNvSpPr>
              <a:spLocks noChangeShapeType="1"/>
            </p:cNvSpPr>
            <p:nvPr/>
          </p:nvSpPr>
          <p:spPr bwMode="auto">
            <a:xfrm>
              <a:off x="6097" y="13060"/>
              <a:ext cx="721" cy="0"/>
            </a:xfrm>
            <a:prstGeom prst="line">
              <a:avLst/>
            </a:prstGeom>
            <a:noFill/>
            <a:ln w="9525">
              <a:solidFill>
                <a:srgbClr val="000000"/>
              </a:solidFill>
              <a:round/>
              <a:tailEnd type="stealth" w="sm" len="sm"/>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47934" name="Line 62"/>
            <p:cNvSpPr>
              <a:spLocks noChangeShapeType="1"/>
            </p:cNvSpPr>
            <p:nvPr/>
          </p:nvSpPr>
          <p:spPr bwMode="auto">
            <a:xfrm>
              <a:off x="4658" y="11813"/>
              <a:ext cx="540" cy="0"/>
            </a:xfrm>
            <a:prstGeom prst="line">
              <a:avLst/>
            </a:prstGeom>
            <a:noFill/>
            <a:ln w="9525">
              <a:solidFill>
                <a:srgbClr val="000000"/>
              </a:solidFill>
              <a:round/>
              <a:tailEnd type="stealth" w="sm" len="sm"/>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47935" name="Line 63"/>
            <p:cNvSpPr>
              <a:spLocks noChangeShapeType="1"/>
            </p:cNvSpPr>
            <p:nvPr/>
          </p:nvSpPr>
          <p:spPr bwMode="auto">
            <a:xfrm>
              <a:off x="4658" y="12437"/>
              <a:ext cx="540" cy="0"/>
            </a:xfrm>
            <a:prstGeom prst="line">
              <a:avLst/>
            </a:prstGeom>
            <a:noFill/>
            <a:ln w="9525">
              <a:solidFill>
                <a:srgbClr val="000000"/>
              </a:solidFill>
              <a:round/>
              <a:tailEnd type="stealth" w="sm" len="sm"/>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47936" name="Line 64"/>
            <p:cNvSpPr>
              <a:spLocks noChangeShapeType="1"/>
            </p:cNvSpPr>
            <p:nvPr/>
          </p:nvSpPr>
          <p:spPr bwMode="auto">
            <a:xfrm>
              <a:off x="4658" y="13060"/>
              <a:ext cx="540" cy="0"/>
            </a:xfrm>
            <a:prstGeom prst="line">
              <a:avLst/>
            </a:prstGeom>
            <a:noFill/>
            <a:ln w="9525">
              <a:solidFill>
                <a:srgbClr val="000000"/>
              </a:solidFill>
              <a:round/>
              <a:tailEnd type="stealth" w="sm" len="sm"/>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847937" name="Rectangle 65"/>
          <p:cNvSpPr>
            <a:spLocks noChangeArrowheads="1"/>
          </p:cNvSpPr>
          <p:nvPr/>
        </p:nvSpPr>
        <p:spPr bwMode="auto">
          <a:xfrm>
            <a:off x="4572000" y="2163763"/>
            <a:ext cx="3581400" cy="396875"/>
          </a:xfrm>
          <a:prstGeom prst="rect">
            <a:avLst/>
          </a:prstGeom>
          <a:noFill/>
          <a:ln w="9525">
            <a:noFill/>
            <a:miter lim="800000"/>
          </a:ln>
          <a:effectLst/>
        </p:spPr>
        <p:txBody>
          <a:bodyPr>
            <a:spAutoFit/>
          </a:bodyPr>
          <a:lstStyle/>
          <a:p>
            <a:pPr marL="0" marR="0" lvl="0" indent="0" algn="just" defTabSz="914400" rtl="0" eaLnBrk="0" fontAlgn="base" latinLnBrk="0" hangingPunct="0">
              <a:lnSpc>
                <a:spcPct val="100000"/>
              </a:lnSpc>
              <a:spcBef>
                <a:spcPct val="0"/>
              </a:spcBef>
              <a:spcAft>
                <a:spcPct val="0"/>
              </a:spcAft>
              <a:buClrTx/>
              <a:buSzTx/>
              <a:buFontTx/>
              <a:buNone/>
              <a:tabLst>
                <a:tab pos="1143000" algn="l"/>
              </a:tabLst>
              <a:defRPr/>
            </a:pPr>
            <a:r>
              <a:rPr kumimoji="1" lang="en-US" altLang="zh-CN" sz="1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r>
              <a:rPr kumimoji="1"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data   firstarc  adjvex nextarc</a:t>
            </a:r>
            <a:endParaRPr kumimoji="1"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sp>
        <p:nvSpPr>
          <p:cNvPr id="847938" name="Text Box 66"/>
          <p:cNvSpPr txBox="1">
            <a:spLocks noChangeArrowheads="1"/>
          </p:cNvSpPr>
          <p:nvPr/>
        </p:nvSpPr>
        <p:spPr bwMode="auto">
          <a:xfrm>
            <a:off x="1630363" y="5232400"/>
            <a:ext cx="1690688" cy="579438"/>
          </a:xfrm>
          <a:prstGeom prst="rect">
            <a:avLst/>
          </a:prstGeom>
          <a:noFill/>
          <a:ln w="9525" algn="ctr">
            <a:noFill/>
            <a:miter lim="800000"/>
          </a:ln>
          <a:effectLst/>
        </p:spPr>
        <p:txBody>
          <a:bodyPr wrap="none" anchor="b">
            <a:spAutoFit/>
          </a:bodyPr>
          <a:lstStyle/>
          <a:p>
            <a:pPr marR="0" algn="ctr" defTabSz="914400" eaLnBrk="1" hangingPunct="1">
              <a:buClrTx/>
              <a:buSzTx/>
              <a:buFontTx/>
              <a:buChar char="•"/>
              <a:defRPr/>
            </a:pPr>
            <a:r>
              <a:rPr kumimoji="0" lang="en-US" altLang="zh-CN" sz="32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 </a:t>
            </a:r>
            <a:r>
              <a:rPr kumimoji="0" lang="zh-CN" altLang="en-US" sz="32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度计算</a:t>
            </a:r>
            <a:endParaRPr kumimoji="0" lang="zh-CN" altLang="en-US" sz="32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53250" name="Picture 14" descr="qutu"/>
          <p:cNvPicPr>
            <a:picLocks noChangeAspect="1"/>
          </p:cNvPicPr>
          <p:nvPr/>
        </p:nvPicPr>
        <p:blipFill>
          <a:blip r:embed="rId1"/>
          <a:stretch>
            <a:fillRect/>
          </a:stretch>
        </p:blipFill>
        <p:spPr>
          <a:xfrm>
            <a:off x="0" y="1627188"/>
            <a:ext cx="9144000" cy="3455987"/>
          </a:xfrm>
          <a:prstGeom prst="rect">
            <a:avLst/>
          </a:prstGeom>
          <a:noFill/>
          <a:ln w="9525">
            <a:noFill/>
          </a:ln>
        </p:spPr>
      </p:pic>
      <p:sp>
        <p:nvSpPr>
          <p:cNvPr id="437250" name="Rectangle 2"/>
          <p:cNvSpPr>
            <a:spLocks noGrp="1" noChangeArrowheads="1"/>
          </p:cNvSpPr>
          <p:nvPr>
            <p:ph type="title" idx="4294967295"/>
          </p:nvPr>
        </p:nvSpPr>
        <p:spPr>
          <a:xfrm>
            <a:off x="0" y="188913"/>
            <a:ext cx="7200900" cy="811213"/>
          </a:xfrm>
        </p:spPr>
        <p:txBody>
          <a:bodyPr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j-cs"/>
              </a:rPr>
              <a:t>网络 </a:t>
            </a:r>
            <a:r>
              <a:rPr kumimoji="0" lang="en-US" altLang="zh-CN" sz="3200" b="0"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j-cs"/>
              </a:rPr>
              <a:t>(</a:t>
            </a:r>
            <a:r>
              <a:rPr kumimoji="0" lang="zh-CN" altLang="en-US" sz="3200" b="0"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j-cs"/>
              </a:rPr>
              <a:t>带权图</a:t>
            </a:r>
            <a:r>
              <a:rPr kumimoji="0" lang="en-US" altLang="zh-CN" sz="3200" b="0"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j-cs"/>
              </a:rPr>
              <a:t>) </a:t>
            </a:r>
            <a:r>
              <a:rPr kumimoji="0" lang="zh-CN" altLang="en-US" sz="3200" b="0"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j-cs"/>
              </a:rPr>
              <a:t>的邻接表</a:t>
            </a:r>
            <a:endParaRPr kumimoji="0" lang="zh-CN" altLang="en-US" sz="3200" b="0" i="0"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j-cs"/>
            </a:endParaRPr>
          </a:p>
        </p:txBody>
      </p:sp>
      <p:sp>
        <p:nvSpPr>
          <p:cNvPr id="53252" name="AutoShape 17"/>
          <p:cNvSpPr/>
          <p:nvPr/>
        </p:nvSpPr>
        <p:spPr>
          <a:xfrm>
            <a:off x="4211638" y="0"/>
            <a:ext cx="3527425" cy="793750"/>
          </a:xfrm>
          <a:prstGeom prst="cloudCallout">
            <a:avLst>
              <a:gd name="adj1" fmla="val -56616"/>
              <a:gd name="adj2" fmla="val 203801"/>
            </a:avLst>
          </a:prstGeom>
          <a:noFill/>
          <a:ln w="9525" cap="flat" cmpd="sng">
            <a:solidFill>
              <a:schemeClr val="accent2"/>
            </a:solidFill>
            <a:prstDash val="solid"/>
            <a:headEnd type="none" w="med" len="med"/>
            <a:tailEnd type="none" w="med" len="med"/>
          </a:ln>
        </p:spPr>
        <p:txBody>
          <a:bodyPr anchor="b" anchorCtr="0"/>
          <a:p>
            <a:pPr algn="ctr" eaLnBrk="1" hangingPunct="1"/>
            <a:r>
              <a:rPr lang="zh-CN" altLang="en-US" b="0" dirty="0">
                <a:latin typeface="Verdana" panose="020B0604030504040204" pitchFamily="34" charset="0"/>
              </a:rPr>
              <a:t>顶点在头表的下标</a:t>
            </a:r>
            <a:endParaRPr lang="zh-CN" altLang="en-US" b="0" dirty="0">
              <a:latin typeface="Verdana" panose="020B0604030504040204" pitchFamily="34" charset="0"/>
            </a:endParaRPr>
          </a:p>
        </p:txBody>
      </p:sp>
      <p:sp>
        <p:nvSpPr>
          <p:cNvPr id="53253" name="AutoShape 18"/>
          <p:cNvSpPr/>
          <p:nvPr/>
        </p:nvSpPr>
        <p:spPr>
          <a:xfrm>
            <a:off x="5616575" y="981075"/>
            <a:ext cx="1979613" cy="793750"/>
          </a:xfrm>
          <a:prstGeom prst="cloudCallout">
            <a:avLst>
              <a:gd name="adj1" fmla="val -102769"/>
              <a:gd name="adj2" fmla="val 89602"/>
            </a:avLst>
          </a:prstGeom>
          <a:noFill/>
          <a:ln w="9525" cap="flat" cmpd="sng">
            <a:solidFill>
              <a:schemeClr val="accent2"/>
            </a:solidFill>
            <a:prstDash val="solid"/>
            <a:headEnd type="none" w="med" len="med"/>
            <a:tailEnd type="none" w="med" len="med"/>
          </a:ln>
        </p:spPr>
        <p:txBody>
          <a:bodyPr anchor="b" anchorCtr="0"/>
          <a:p>
            <a:pPr algn="ctr" eaLnBrk="1" hangingPunct="1"/>
            <a:r>
              <a:rPr lang="zh-CN" altLang="en-US" b="0" dirty="0">
                <a:latin typeface="Verdana" panose="020B0604030504040204" pitchFamily="34" charset="0"/>
              </a:rPr>
              <a:t>权重（</a:t>
            </a:r>
            <a:r>
              <a:rPr lang="en-US" altLang="zh-CN" b="0" dirty="0">
                <a:latin typeface="Verdana" panose="020B0604030504040204" pitchFamily="34" charset="0"/>
              </a:rPr>
              <a:t>info</a:t>
            </a:r>
            <a:r>
              <a:rPr lang="zh-CN" altLang="en-US" b="0" dirty="0">
                <a:latin typeface="Verdana" panose="020B0604030504040204" pitchFamily="34" charset="0"/>
              </a:rPr>
              <a:t>）</a:t>
            </a:r>
            <a:endParaRPr lang="zh-CN" altLang="en-US" b="0" dirty="0">
              <a:latin typeface="Verdana" panose="020B0604030504040204" pitchFamily="34" charset="0"/>
            </a:endParaRPr>
          </a:p>
        </p:txBody>
      </p:sp>
    </p:spTree>
  </p:cSld>
  <p:clrMapOvr>
    <a:masterClrMapping/>
  </p:clrMapOvr>
  <p:transition>
    <p:pull/>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54274" name="20 2"/>
          <p:cNvPicPr>
            <a:picLocks noChangeAspect="1"/>
          </p:cNvPicPr>
          <p:nvPr/>
        </p:nvPicPr>
        <p:blipFill>
          <a:blip r:embed="rId1"/>
          <a:stretch>
            <a:fillRect/>
          </a:stretch>
        </p:blipFill>
        <p:spPr>
          <a:xfrm>
            <a:off x="180975" y="549275"/>
            <a:ext cx="8891588" cy="5832475"/>
          </a:xfrm>
          <a:prstGeom prst="rect">
            <a:avLst/>
          </a:prstGeom>
          <a:noFill/>
          <a:ln w="9525">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2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邻接表 </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v.s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邻接矩阵</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40323"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defRPr/>
            </a:pPr>
            <a:r>
              <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对</a:t>
            </a:r>
            <a:r>
              <a:rPr kumimoji="0" lang="en-US" altLang="zh-CN"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个顶点，</a:t>
            </a:r>
            <a:r>
              <a:rPr kumimoji="0" lang="en-US" altLang="zh-CN"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e</a:t>
            </a:r>
            <a:r>
              <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条边的图</a:t>
            </a:r>
            <a:endPar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时间</a:t>
            </a:r>
            <a:endPar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邻接表：如果输入的顶点信息即为顶点编号，则建立邻接表的时间</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复杂度－</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O</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n</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e</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），否则为</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O</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n×e</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）（查找）</a:t>
            </a: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邻接矩阵</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:O</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n</a:t>
            </a:r>
            <a:r>
              <a:rPr kumimoji="0" lang="en-US" altLang="zh-CN" sz="2000"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mn-ea"/>
              </a:rPr>
              <a:t>2</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e×n</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空间</a:t>
            </a:r>
            <a:endPar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邻接矩阵：空间复杂度</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O</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n</a:t>
            </a:r>
            <a:r>
              <a:rPr kumimoji="0" lang="en-US" altLang="zh-CN" sz="2000"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mn-ea"/>
              </a:rPr>
              <a:t>2</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邻接表：空间复杂度：</a:t>
            </a: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有向图</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O</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n</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e</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）无向图 </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O</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n</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2e</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 </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sym typeface="Wingdings" panose="05000000000000000000" pitchFamily="2" charset="2"/>
              </a:rPr>
              <a:t></a:t>
            </a:r>
            <a:endPar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sym typeface="Wingdings" panose="05000000000000000000" pitchFamily="2" charset="2"/>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邻接点查找</a:t>
            </a:r>
            <a:endPar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邻接表～邻接矩阵</a:t>
            </a: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R="0" lvl="2" algn="l" defTabSz="914400" rtl="0" eaLnBrk="1" fontAlgn="base" latinLnBrk="0" hangingPunct="1">
              <a:lnSpc>
                <a:spcPct val="80000"/>
              </a:lnSpc>
              <a:spcBef>
                <a:spcPct val="20000"/>
              </a:spcBef>
              <a:buClr>
                <a:schemeClr val="accent2"/>
              </a:buClr>
              <a:buSzTx/>
              <a:buFont typeface="Wingdings" panose="05000000000000000000" pitchFamily="2" charset="2"/>
              <a:buChar char="o"/>
              <a:defRPr/>
            </a:pP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邻接表上容易找到任一顶点的所有邻接点。</a:t>
            </a:r>
            <a:endPar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确定两个顶点间是否存在边或弧</a:t>
            </a:r>
            <a:endPar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邻接表弱于邻接矩阵</a:t>
            </a: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endPar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endParaRPr kumimoji="0" lang="en-US" altLang="zh-CN"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2756" name="Rectangle 4"/>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作业</a:t>
            </a:r>
            <a:r>
              <a:rPr kumimoji="0" lang="en-US" altLang="zh-CN" sz="3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8 </a:t>
            </a:r>
            <a:r>
              <a:rPr kumimoji="0" lang="zh-CN" altLang="en-US" sz="3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画出下图的邻接表和逆邻接表</a:t>
            </a:r>
            <a:r>
              <a:rPr kumimoji="0" lang="en-US" altLang="zh-CN" sz="3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a:t>
            </a:r>
            <a:r>
              <a:rPr kumimoji="0" lang="zh-CN" altLang="en-US" sz="3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出边表和入边表</a:t>
            </a:r>
            <a:r>
              <a:rPr kumimoji="0" lang="en-US" altLang="zh-CN" sz="3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a:t>
            </a:r>
            <a:endParaRPr kumimoji="0" lang="en-US" altLang="zh-CN" sz="3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56323" name="Picture 5"/>
          <p:cNvPicPr>
            <a:picLocks noChangeAspect="1"/>
          </p:cNvPicPr>
          <p:nvPr/>
        </p:nvPicPr>
        <p:blipFill>
          <a:blip r:embed="rId1">
            <a:clrChange>
              <a:clrFrom>
                <a:srgbClr val="FFFFFF"/>
              </a:clrFrom>
              <a:clrTo>
                <a:srgbClr val="FFFFFF">
                  <a:alpha val="0"/>
                </a:srgbClr>
              </a:clrTo>
            </a:clrChange>
          </a:blip>
          <a:stretch>
            <a:fillRect/>
          </a:stretch>
        </p:blipFill>
        <p:spPr>
          <a:xfrm>
            <a:off x="2700338" y="1557338"/>
            <a:ext cx="3683000" cy="4608512"/>
          </a:xfrm>
          <a:prstGeom prst="rect">
            <a:avLst/>
          </a:prstGeom>
          <a:noFill/>
          <a:ln w="9525">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237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7.3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图的遍历</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42371" name="Rectangle 3"/>
          <p:cNvSpPr>
            <a:spLocks noGrp="1" noChangeArrowheads="1"/>
          </p:cNvSpPr>
          <p:nvPr>
            <p:ph idx="1"/>
          </p:nvPr>
        </p:nvSpPr>
        <p:spPr>
          <a:xfrm>
            <a:off x="566738" y="1752600"/>
            <a:ext cx="8253413" cy="4197350"/>
          </a:xfrm>
        </p:spPr>
        <p:txBody>
          <a:bodyPr vert="horz" wrap="square" lIns="91440" tIns="45720" rIns="91440" bIns="45720" numCol="1" anchor="t" anchorCtr="0" compatLnSpc="1"/>
          <a:lstStyle/>
          <a:p>
            <a:pPr marL="469900" marR="0" lvl="0" indent="-469900" algn="l" defTabSz="914400" rtl="0" eaLnBrk="1" fontAlgn="base" latinLnBrk="0" hangingPunct="1">
              <a:lnSpc>
                <a:spcPct val="105000"/>
              </a:lnSpc>
              <a:spcBef>
                <a:spcPct val="0"/>
              </a:spcBef>
              <a:spcAft>
                <a:spcPct val="0"/>
              </a:spcAft>
              <a:buClr>
                <a:srgbClr val="FF3300"/>
              </a:buClr>
              <a:buSzTx/>
              <a:buFont typeface="Wingdings" panose="05000000000000000000" pitchFamily="2" charset="2"/>
              <a:buChar char="§"/>
              <a:defRPr/>
            </a:pPr>
            <a:r>
              <a:rPr kumimoji="0" lang="zh-CN" altLang="en-US" sz="2600" b="1" i="0" u="none" strike="noStrike" kern="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mn-ea"/>
                <a:cs typeface="+mn-cs"/>
              </a:rPr>
              <a:t>图的遍历</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Graph Traversal ): </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访问图中所有的顶点，且使每个顶点仅被访问一次。</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469900" marR="0" lvl="0" indent="-469900" algn="l" defTabSz="914400" rtl="0" eaLnBrk="1" fontAlgn="base" latinLnBrk="0" hangingPunct="1">
              <a:lnSpc>
                <a:spcPct val="105000"/>
              </a:lnSpc>
              <a:spcBef>
                <a:spcPct val="0"/>
              </a:spcBef>
              <a:spcAft>
                <a:spcPct val="0"/>
              </a:spcAft>
              <a:buClr>
                <a:srgbClr val="FF3300"/>
              </a:buClr>
              <a:buSzTx/>
              <a:buFont typeface="Wingdings" panose="05000000000000000000" pitchFamily="2" charset="2"/>
              <a:buChar char="§"/>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图中可能存在回路，且图的任一顶点都可能与其它顶点相通，在访问完某个顶点之后可能会沿着某些边又回到了曾经访问过的顶点。</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469900" marR="0" lvl="0" indent="-469900" algn="l" defTabSz="914400" rtl="0" eaLnBrk="1" fontAlgn="base" latinLnBrk="0" hangingPunct="1">
              <a:lnSpc>
                <a:spcPct val="105000"/>
              </a:lnSpc>
              <a:spcBef>
                <a:spcPct val="0"/>
              </a:spcBef>
              <a:spcAft>
                <a:spcPct val="0"/>
              </a:spcAft>
              <a:buClr>
                <a:srgbClr val="FF3300"/>
              </a:buClr>
              <a:buSzTx/>
              <a:buFont typeface="Wingdings" panose="05000000000000000000" pitchFamily="2" charset="2"/>
              <a:buChar char="§"/>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避免重复访问</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908050" marR="0" lvl="1" indent="-436880" algn="l" defTabSz="914400" rtl="0" eaLnBrk="1" fontAlgn="base" latinLnBrk="0" hangingPunct="1">
              <a:lnSpc>
                <a:spcPct val="105000"/>
              </a:lnSpc>
              <a:spcBef>
                <a:spcPct val="0"/>
              </a:spcBef>
              <a:spcAft>
                <a:spcPct val="0"/>
              </a:spcAft>
              <a:buClr>
                <a:srgbClr val="FF3300"/>
              </a:buClr>
              <a:buSzTx/>
              <a:buFont typeface="Wingdings" panose="05000000000000000000" pitchFamily="2" charset="2"/>
              <a:buChar char="§"/>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设置一个标志顶点是否被访问过的辅助数组 </a:t>
            </a:r>
            <a:r>
              <a:rPr kumimoji="0" lang="en-US" altLang="zh-CN" sz="2200" b="1" i="0" u="none" strike="noStrike" kern="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mn-ea"/>
                <a:cs typeface="+mn-ea"/>
              </a:rPr>
              <a:t>visited [ ]</a:t>
            </a:r>
            <a:endPar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469900" marR="0" lvl="0" indent="-469900" algn="l" defTabSz="914400" rtl="0" eaLnBrk="1" fontAlgn="base" latinLnBrk="0" hangingPunct="1">
              <a:lnSpc>
                <a:spcPct val="105000"/>
              </a:lnSpc>
              <a:spcBef>
                <a:spcPct val="0"/>
              </a:spcBef>
              <a:spcAft>
                <a:spcPct val="0"/>
              </a:spcAft>
              <a:buClr>
                <a:srgbClr val="FF3300"/>
              </a:buClr>
              <a:buSzTx/>
              <a:buFont typeface="Wingdings" panose="05000000000000000000" pitchFamily="2" charset="2"/>
              <a:buChar char="§"/>
              <a:defRPr/>
            </a:pPr>
            <a:r>
              <a:rPr kumimoji="0" lang="zh-CN" altLang="en-US" sz="2600" b="1" i="0"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cs"/>
              </a:rPr>
              <a:t>深度优先搜索</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和</a:t>
            </a:r>
            <a:r>
              <a:rPr kumimoji="0" lang="zh-CN" altLang="en-US" sz="2600" b="1" i="0"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cs"/>
              </a:rPr>
              <a:t>广度优先搜索</a:t>
            </a:r>
            <a:endParaRPr kumimoji="0" lang="zh-CN" altLang="en-US" sz="2600" b="1" i="0"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cs"/>
            </a:endParaRPr>
          </a:p>
          <a:p>
            <a:pPr marL="908050" marR="0" lvl="1" indent="-436880" algn="l" defTabSz="914400" rtl="0" eaLnBrk="1" fontAlgn="base" latinLnBrk="0" hangingPunct="1">
              <a:lnSpc>
                <a:spcPct val="105000"/>
              </a:lnSpc>
              <a:spcBef>
                <a:spcPct val="0"/>
              </a:spcBef>
              <a:spcAft>
                <a:spcPct val="0"/>
              </a:spcAft>
              <a:buClr>
                <a:srgbClr val="FF3300"/>
              </a:buClr>
              <a:buSzTx/>
              <a:buFont typeface="Wingdings" panose="05000000000000000000" pitchFamily="2" charset="2"/>
              <a:buChar char="§"/>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适用于有向图和无向图</a:t>
            </a:r>
            <a:endPar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pic>
        <p:nvPicPr>
          <p:cNvPr id="57348" name="Picture 4"/>
          <p:cNvPicPr>
            <a:picLocks noChangeAspect="1"/>
          </p:cNvPicPr>
          <p:nvPr/>
        </p:nvPicPr>
        <p:blipFill>
          <a:blip r:embed="rId1"/>
          <a:srcRect b="3242"/>
          <a:stretch>
            <a:fillRect/>
          </a:stretch>
        </p:blipFill>
        <p:spPr>
          <a:xfrm>
            <a:off x="6588125" y="4718050"/>
            <a:ext cx="2387600" cy="2133600"/>
          </a:xfrm>
          <a:prstGeom prst="rect">
            <a:avLst/>
          </a:prstGeom>
          <a:noFill/>
          <a:ln w="9525">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339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7.3.1 </a:t>
            </a:r>
            <a:r>
              <a:rPr kumimoji="0" lang="zh-CN" altLang="en-US" sz="3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深度优先遍历（</a:t>
            </a:r>
            <a:r>
              <a:rPr kumimoji="0" lang="en-US" altLang="zh-CN" sz="3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Depth First Search</a:t>
            </a:r>
            <a:r>
              <a:rPr kumimoji="0" lang="zh-CN" altLang="en-US" sz="3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t>
            </a:r>
            <a:r>
              <a:rPr kumimoji="0" lang="en-US" altLang="zh-CN" sz="3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DFS</a:t>
            </a:r>
            <a:r>
              <a:rPr kumimoji="0" lang="zh-CN" altLang="en-US" sz="3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t>
            </a:r>
            <a:endParaRPr kumimoji="0" lang="zh-CN" altLang="en-US" sz="3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43395" name="Rectangle 3"/>
          <p:cNvSpPr>
            <a:spLocks noGrp="1" noChangeArrowheads="1"/>
          </p:cNvSpPr>
          <p:nvPr>
            <p:ph idx="1"/>
          </p:nvPr>
        </p:nvSpPr>
        <p:spPr/>
        <p:txBody>
          <a:bodyPr vert="horz" wrap="square" lIns="91440" tIns="45720" rIns="91440" bIns="45720" numCol="1" anchor="t" anchorCtr="0" compatLnSpc="1"/>
          <a:lstStyle/>
          <a:p>
            <a:pPr marL="400050" marR="0" lvl="0" indent="-400050" algn="l" defTabSz="914400" rtl="0" eaLnBrk="1" fontAlgn="base" latinLnBrk="0" hangingPunct="1">
              <a:lnSpc>
                <a:spcPct val="110000"/>
              </a:lnSpc>
              <a:spcBef>
                <a:spcPct val="0"/>
              </a:spcBef>
              <a:spcAft>
                <a:spcPct val="0"/>
              </a:spcAft>
              <a:buClr>
                <a:schemeClr val="accent2"/>
              </a:buClr>
              <a:buSzTx/>
              <a:buFont typeface="Wingdings" panose="05000000000000000000" pitchFamily="2" charset="2"/>
              <a:buChar char="o"/>
              <a:defRPr/>
            </a:pP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类似于树的先根遍历</a:t>
            </a:r>
            <a:endPar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400050" marR="0" lvl="0" indent="-400050" algn="l" defTabSz="914400" rtl="0" eaLnBrk="1" fontAlgn="base" latinLnBrk="0" hangingPunct="1">
              <a:lnSpc>
                <a:spcPct val="110000"/>
              </a:lnSpc>
              <a:spcBef>
                <a:spcPct val="0"/>
              </a:spcBef>
              <a:spcAft>
                <a:spcPct val="0"/>
              </a:spcAft>
              <a:buClr>
                <a:schemeClr val="accent2"/>
              </a:buClr>
              <a:buSzTx/>
              <a:buFont typeface="Wingdings" panose="05000000000000000000" pitchFamily="2" charset="2"/>
              <a:buChar char="o"/>
              <a:defRPr/>
            </a:pPr>
            <a:r>
              <a:rPr kumimoji="0" lang="en-US" altLang="zh-CN" sz="2900" b="1" i="1"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DFS</a:t>
            </a:r>
            <a:r>
              <a:rPr kumimoji="0" lang="en-US" altLang="zh-CN"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步骤</a:t>
            </a:r>
            <a:r>
              <a:rPr kumimoji="0" lang="en-US" altLang="zh-CN" sz="2900" b="1" i="1"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endParaRPr kumimoji="0" lang="en-US" altLang="zh-CN" sz="2900" b="1" i="1"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400050" marR="0" lvl="0" indent="-400050" algn="l" defTabSz="914400" rtl="0" eaLnBrk="1" fontAlgn="base" latinLnBrk="0" hangingPunct="1">
              <a:lnSpc>
                <a:spcPct val="110000"/>
              </a:lnSpc>
              <a:spcBef>
                <a:spcPct val="0"/>
              </a:spcBef>
              <a:spcAft>
                <a:spcPct val="0"/>
              </a:spcAft>
              <a:buClr>
                <a:schemeClr val="accent2"/>
              </a:buClr>
              <a:buSzTx/>
              <a:buFont typeface="Wingdings" panose="05000000000000000000" pitchFamily="2" charset="2"/>
              <a:buAutoNum type="arabicPeriod"/>
              <a:defRPr/>
            </a:pP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从未被访问的顶点 </a:t>
            </a:r>
            <a:r>
              <a:rPr kumimoji="0" lang="en-US" altLang="zh-CN" sz="2900" b="1" i="1"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v </a:t>
            </a: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出发，访问</a:t>
            </a:r>
            <a:r>
              <a:rPr lang="en-US" altLang="zh-CN" sz="2900" i="1" noProof="0" dirty="0">
                <a:ln>
                  <a:noFill/>
                </a:ln>
                <a:uLnTx/>
                <a:uFillTx/>
                <a:latin typeface="Times New Roman" panose="02020603050405020304" pitchFamily="18" charset="0"/>
                <a:ea typeface="楷体_GB2312" pitchFamily="49" charset="-122"/>
                <a:sym typeface="+mn-ea"/>
              </a:rPr>
              <a:t>v </a:t>
            </a:r>
            <a:endParaRPr kumimoji="0" lang="en-US" altLang="zh-CN"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400050" marR="0" lvl="0" indent="-400050" algn="l" defTabSz="914400" rtl="0" eaLnBrk="1" fontAlgn="base" latinLnBrk="0" hangingPunct="1">
              <a:lnSpc>
                <a:spcPct val="110000"/>
              </a:lnSpc>
              <a:spcBef>
                <a:spcPct val="0"/>
              </a:spcBef>
              <a:spcAft>
                <a:spcPct val="0"/>
              </a:spcAft>
              <a:buClr>
                <a:schemeClr val="accent2"/>
              </a:buClr>
              <a:buSzTx/>
              <a:buFont typeface="Wingdings" panose="05000000000000000000" pitchFamily="2" charset="2"/>
              <a:buAutoNum type="arabicPeriod"/>
              <a:defRPr/>
            </a:pP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依次从</a:t>
            </a:r>
            <a:r>
              <a:rPr kumimoji="0" lang="en-US" altLang="zh-CN" sz="2900" b="1" i="1"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v</a:t>
            </a:r>
            <a:r>
              <a:rPr kumimoji="0" lang="zh-CN" altLang="en-US" sz="2900" b="1" i="0"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的未被访问的邻接顶点出发</a:t>
            </a: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进行</a:t>
            </a:r>
            <a:r>
              <a:rPr kumimoji="0" lang="en-US" altLang="zh-CN"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DFS</a:t>
            </a:r>
            <a:endParaRPr kumimoji="0" lang="en-US" altLang="zh-CN"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400050" marR="0" lvl="0" indent="-400050" algn="l" defTabSz="914400" rtl="0" eaLnBrk="1" fontAlgn="base" latinLnBrk="0" hangingPunct="1">
              <a:lnSpc>
                <a:spcPct val="110000"/>
              </a:lnSpc>
              <a:spcBef>
                <a:spcPct val="0"/>
              </a:spcBef>
              <a:spcAft>
                <a:spcPct val="0"/>
              </a:spcAft>
              <a:buClr>
                <a:schemeClr val="accent2"/>
              </a:buClr>
              <a:buSzTx/>
              <a:buFont typeface="Wingdings" panose="05000000000000000000" pitchFamily="2" charset="2"/>
              <a:buAutoNum type="arabicPeriod"/>
              <a:defRPr/>
            </a:pP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直到图中所有与顶点</a:t>
            </a:r>
            <a:r>
              <a:rPr kumimoji="0" lang="en-US" altLang="zh-CN"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v</a:t>
            </a: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有路径相连的顶点都被访问过为止。</a:t>
            </a:r>
            <a:endPar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400050" marR="0" lvl="0" indent="-400050" algn="l" defTabSz="914400" rtl="0" eaLnBrk="1" fontAlgn="base" latinLnBrk="0" hangingPunct="1">
              <a:lnSpc>
                <a:spcPct val="110000"/>
              </a:lnSpc>
              <a:spcBef>
                <a:spcPct val="0"/>
              </a:spcBef>
              <a:spcAft>
                <a:spcPct val="0"/>
              </a:spcAft>
              <a:buClr>
                <a:schemeClr val="accent2"/>
              </a:buClr>
              <a:buSzTx/>
              <a:buFont typeface="Wingdings" panose="05000000000000000000" pitchFamily="2" charset="2"/>
              <a:buAutoNum type="arabicPeriod"/>
              <a:defRPr/>
            </a:pP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若图中有未访问的顶点</a:t>
            </a:r>
            <a:r>
              <a:rPr kumimoji="0" lang="en-US" altLang="zh-CN"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选择其一</a:t>
            </a:r>
            <a:r>
              <a:rPr kumimoji="0" lang="en-US" altLang="zh-CN"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重复步骤</a:t>
            </a:r>
            <a:r>
              <a:rPr kumimoji="0" lang="en-US" altLang="zh-CN"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1~3</a:t>
            </a: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做</a:t>
            </a:r>
            <a:r>
              <a:rPr kumimoji="0" lang="en-US" altLang="zh-CN"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DFS</a:t>
            </a: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直至图中所有顶点均被访问</a:t>
            </a:r>
            <a:endPar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59394" name="Picture 4"/>
          <p:cNvPicPr>
            <a:picLocks noChangeAspect="1"/>
          </p:cNvPicPr>
          <p:nvPr/>
        </p:nvPicPr>
        <p:blipFill>
          <a:blip r:embed="rId1"/>
          <a:stretch>
            <a:fillRect/>
          </a:stretch>
        </p:blipFill>
        <p:spPr>
          <a:xfrm>
            <a:off x="0" y="0"/>
            <a:ext cx="4500563" cy="2851150"/>
          </a:xfrm>
          <a:prstGeom prst="rect">
            <a:avLst/>
          </a:prstGeom>
          <a:noFill/>
          <a:ln w="9525">
            <a:noFill/>
          </a:ln>
        </p:spPr>
      </p:pic>
      <p:pic>
        <p:nvPicPr>
          <p:cNvPr id="59395" name="Picture 6"/>
          <p:cNvPicPr>
            <a:picLocks noChangeAspect="1"/>
          </p:cNvPicPr>
          <p:nvPr/>
        </p:nvPicPr>
        <p:blipFill>
          <a:blip r:embed="rId2"/>
          <a:stretch>
            <a:fillRect/>
          </a:stretch>
        </p:blipFill>
        <p:spPr>
          <a:xfrm>
            <a:off x="609600" y="5962650"/>
            <a:ext cx="7850188" cy="490538"/>
          </a:xfrm>
          <a:prstGeom prst="rect">
            <a:avLst/>
          </a:prstGeom>
          <a:noFill/>
          <a:ln w="9525">
            <a:noFill/>
          </a:ln>
        </p:spPr>
      </p:pic>
      <p:pic>
        <p:nvPicPr>
          <p:cNvPr id="59396" name="20 1"/>
          <p:cNvPicPr>
            <a:picLocks noChangeAspect="1"/>
          </p:cNvPicPr>
          <p:nvPr/>
        </p:nvPicPr>
        <p:blipFill>
          <a:blip r:embed="rId3"/>
          <a:stretch>
            <a:fillRect/>
          </a:stretch>
        </p:blipFill>
        <p:spPr>
          <a:xfrm>
            <a:off x="4359275" y="1295400"/>
            <a:ext cx="4375150" cy="4551363"/>
          </a:xfrm>
          <a:prstGeom prst="rect">
            <a:avLst/>
          </a:prstGeom>
          <a:noFill/>
          <a:ln w="9525">
            <a:noFill/>
          </a:ln>
        </p:spPr>
      </p:pic>
      <p:sp>
        <p:nvSpPr>
          <p:cNvPr id="59397" name="文本框 1"/>
          <p:cNvSpPr txBox="1"/>
          <p:nvPr/>
        </p:nvSpPr>
        <p:spPr>
          <a:xfrm>
            <a:off x="250825" y="3168650"/>
            <a:ext cx="3875088" cy="1938338"/>
          </a:xfrm>
          <a:prstGeom prst="rect">
            <a:avLst/>
          </a:prstGeom>
          <a:noFill/>
          <a:ln w="9525">
            <a:noFill/>
          </a:ln>
        </p:spPr>
        <p:txBody>
          <a:bodyPr>
            <a:spAutoFit/>
          </a:bodyPr>
          <a:p>
            <a:pPr eaLnBrk="1" hangingPunct="1"/>
            <a:r>
              <a:rPr lang="en-US" altLang="zh-CN" dirty="0">
                <a:latin typeface="Verdana" panose="020B0604030504040204" pitchFamily="34" charset="0"/>
              </a:rPr>
              <a:t>1.</a:t>
            </a:r>
            <a:r>
              <a:rPr lang="zh-CN" altLang="en-US" dirty="0">
                <a:latin typeface="Verdana" panose="020B0604030504040204" pitchFamily="34" charset="0"/>
              </a:rPr>
              <a:t>图中以带箭头的粗实线表示遍历时的访问路径；</a:t>
            </a:r>
            <a:endParaRPr lang="zh-CN" altLang="en-US" dirty="0">
              <a:latin typeface="Verdana" panose="020B0604030504040204" pitchFamily="34" charset="0"/>
            </a:endParaRPr>
          </a:p>
          <a:p>
            <a:pPr eaLnBrk="1" hangingPunct="1"/>
            <a:r>
              <a:rPr lang="en-US" altLang="zh-CN" dirty="0">
                <a:latin typeface="Verdana" panose="020B0604030504040204" pitchFamily="34" charset="0"/>
              </a:rPr>
              <a:t>2.</a:t>
            </a:r>
            <a:r>
              <a:rPr lang="zh-CN" altLang="en-US" dirty="0">
                <a:latin typeface="Verdana" panose="020B0604030504040204" pitchFamily="34" charset="0"/>
              </a:rPr>
              <a:t>带箭头的虚线表示回溯的路径；</a:t>
            </a:r>
            <a:endParaRPr lang="zh-CN" altLang="en-US" dirty="0">
              <a:latin typeface="Verdana" panose="020B0604030504040204" pitchFamily="34" charset="0"/>
            </a:endParaRPr>
          </a:p>
          <a:p>
            <a:pPr eaLnBrk="1" hangingPunct="1"/>
            <a:r>
              <a:rPr lang="en-US" altLang="zh-CN" dirty="0">
                <a:latin typeface="Verdana" panose="020B0604030504040204" pitchFamily="34" charset="0"/>
              </a:rPr>
              <a:t>3.</a:t>
            </a:r>
            <a:r>
              <a:rPr lang="zh-CN" altLang="en-US" dirty="0">
                <a:latin typeface="Verdana" panose="020B0604030504040204" pitchFamily="34" charset="0"/>
              </a:rPr>
              <a:t>图中的小圆圈表示已被访问过的邻接点；</a:t>
            </a:r>
            <a:endParaRPr lang="zh-CN" altLang="en-US" dirty="0">
              <a:latin typeface="Verdana" panose="020B0604030504040204" pitchFamily="34" charset="0"/>
            </a:endParaRPr>
          </a:p>
          <a:p>
            <a:pPr eaLnBrk="1" hangingPunct="1"/>
            <a:r>
              <a:rPr lang="en-US" altLang="zh-CN" dirty="0">
                <a:latin typeface="Verdana" panose="020B0604030504040204" pitchFamily="34" charset="0"/>
              </a:rPr>
              <a:t>4.</a:t>
            </a:r>
            <a:r>
              <a:rPr lang="zh-CN" altLang="en-US" dirty="0">
                <a:latin typeface="Verdana" panose="020B0604030504040204" pitchFamily="34" charset="0"/>
              </a:rPr>
              <a:t>大圆圈表示访问的邻接点；</a:t>
            </a:r>
            <a:endParaRPr lang="zh-CN" altLang="en-US" dirty="0">
              <a:latin typeface="Verdana" panose="020B0604030504040204" pitchFamily="34" charset="0"/>
            </a:endParaRPr>
          </a:p>
        </p:txBody>
      </p:sp>
      <p:sp>
        <p:nvSpPr>
          <p:cNvPr id="59398" name="文本框 1"/>
          <p:cNvSpPr txBox="1"/>
          <p:nvPr/>
        </p:nvSpPr>
        <p:spPr>
          <a:xfrm>
            <a:off x="4578350" y="666750"/>
            <a:ext cx="4375150" cy="401638"/>
          </a:xfrm>
          <a:prstGeom prst="rect">
            <a:avLst/>
          </a:prstGeom>
          <a:noFill/>
          <a:ln w="9525">
            <a:noFill/>
          </a:ln>
        </p:spPr>
        <p:txBody>
          <a:bodyPr>
            <a:spAutoFit/>
          </a:bodyPr>
          <a:p>
            <a:r>
              <a:rPr lang="zh-CN" altLang="en-US" dirty="0">
                <a:solidFill>
                  <a:srgbClr val="FF0000"/>
                </a:solidFill>
                <a:latin typeface="黑体" panose="02010609060101010101" pitchFamily="49" charset="-122"/>
                <a:ea typeface="黑体" panose="02010609060101010101" pitchFamily="49" charset="-122"/>
              </a:rPr>
              <a:t>回溯判断上一个顶点的下一个邻接点</a:t>
            </a:r>
            <a:endParaRPr lang="zh-CN" altLang="en-US" dirty="0">
              <a:solidFill>
                <a:srgbClr val="FF0000"/>
              </a:solidFill>
              <a:latin typeface="黑体" panose="02010609060101010101" pitchFamily="49" charset="-122"/>
              <a:ea typeface="黑体" panose="02010609060101010101" pitchFamily="49"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60418" name="Picture 6"/>
          <p:cNvPicPr>
            <a:picLocks noChangeAspect="1"/>
          </p:cNvPicPr>
          <p:nvPr/>
        </p:nvPicPr>
        <p:blipFill>
          <a:blip r:embed="rId1">
            <a:clrChange>
              <a:clrFrom>
                <a:srgbClr val="FFFFFF"/>
              </a:clrFrom>
              <a:clrTo>
                <a:srgbClr val="FFFFFF">
                  <a:alpha val="0"/>
                </a:srgbClr>
              </a:clrTo>
            </a:clrChange>
          </a:blip>
          <a:stretch>
            <a:fillRect/>
          </a:stretch>
        </p:blipFill>
        <p:spPr>
          <a:xfrm>
            <a:off x="2916238" y="0"/>
            <a:ext cx="6227762" cy="4724400"/>
          </a:xfrm>
          <a:prstGeom prst="rect">
            <a:avLst/>
          </a:prstGeom>
          <a:noFill/>
          <a:ln w="9525">
            <a:noFill/>
          </a:ln>
        </p:spPr>
      </p:pic>
      <p:pic>
        <p:nvPicPr>
          <p:cNvPr id="60419" name="Picture 7"/>
          <p:cNvPicPr>
            <a:picLocks noChangeAspect="1"/>
          </p:cNvPicPr>
          <p:nvPr/>
        </p:nvPicPr>
        <p:blipFill>
          <a:blip r:embed="rId2"/>
          <a:stretch>
            <a:fillRect/>
          </a:stretch>
        </p:blipFill>
        <p:spPr>
          <a:xfrm>
            <a:off x="0" y="0"/>
            <a:ext cx="2987675" cy="2789238"/>
          </a:xfrm>
          <a:prstGeom prst="rect">
            <a:avLst/>
          </a:prstGeom>
          <a:noFill/>
          <a:ln w="9525">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6466" name="Rectangle 2"/>
          <p:cNvSpPr>
            <a:spLocks noGrp="1" noChangeArrowheads="1"/>
          </p:cNvSpPr>
          <p:nvPr>
            <p:ph type="title"/>
          </p:nvPr>
        </p:nvSpPr>
        <p:spPr>
          <a:xfrm>
            <a:off x="755650" y="765175"/>
            <a:ext cx="2590800" cy="609600"/>
          </a:xfrm>
        </p:spPr>
        <p:txBody>
          <a:bodyPr vert="horz" wrap="square" lIns="91440" tIns="45720" rIns="91440" bIns="45720" numCol="1" anchor="b" anchorCtr="0" compatLnSpc="1"/>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49" charset="-122"/>
                <a:cs typeface="+mj-cs"/>
              </a:rPr>
              <a:t>算法分析</a:t>
            </a:r>
            <a:endPar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49" charset="-122"/>
              <a:cs typeface="+mj-cs"/>
            </a:endParaRPr>
          </a:p>
        </p:txBody>
      </p:sp>
      <p:sp>
        <p:nvSpPr>
          <p:cNvPr id="446467" name="Rectangle 3"/>
          <p:cNvSpPr>
            <a:spLocks noGrp="1" noChangeArrowheads="1"/>
          </p:cNvSpPr>
          <p:nvPr>
            <p:ph idx="1"/>
          </p:nvPr>
        </p:nvSpPr>
        <p:spPr>
          <a:xfrm>
            <a:off x="611188" y="1846263"/>
            <a:ext cx="7921625" cy="4103688"/>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Char char="§"/>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图中有 </a:t>
            </a:r>
            <a:r>
              <a:rPr kumimoji="0" lang="en-US" altLang="zh-CN" sz="24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n </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个顶点，</a:t>
            </a:r>
            <a:r>
              <a:rPr kumimoji="0" lang="en-US" altLang="zh-CN" sz="24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e </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条边。</a:t>
            </a: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469900" marR="0" lvl="0" indent="-46990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Char char="§"/>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遍历图的过程实质上是对每个顶点查找其邻接点的过程。</a:t>
            </a: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469900" marR="0" lvl="0" indent="-46990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Char char="§"/>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如果用邻接表表示图，沿链可以找到某个顶点 </a:t>
            </a:r>
            <a:r>
              <a:rPr kumimoji="0" lang="en-US" altLang="zh-CN" sz="24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v </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的所有邻接顶点 </a:t>
            </a:r>
            <a:r>
              <a:rPr kumimoji="0" lang="en-US" altLang="zh-CN" sz="24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v</a:t>
            </a:r>
            <a:r>
              <a:rPr kumimoji="0" lang="en-US" altLang="zh-CN" sz="2400" b="1" i="1"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i</a:t>
            </a:r>
            <a:r>
              <a:rPr kumimoji="0" lang="en-US" altLang="zh-CN" sz="24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，所以扫描边的时间为</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O(</a:t>
            </a:r>
            <a:r>
              <a:rPr kumimoji="0" lang="en-US" altLang="zh-CN" sz="24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e</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。而且对所有顶点递归访问</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1</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次，所以遍历图的时间复杂性为</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O(</a:t>
            </a:r>
            <a:r>
              <a:rPr kumimoji="0" lang="en-US" altLang="zh-CN" sz="24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n</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r>
              <a:rPr kumimoji="0" lang="en-US" altLang="zh-CN" sz="24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e</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469900" marR="0" lvl="0" indent="-46990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Char char="§"/>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如果用邻接矩阵表示图，则查找每一个顶点的所有邻接点，所需时间为</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O(</a:t>
            </a:r>
            <a:r>
              <a:rPr kumimoji="0" lang="en-US" altLang="zh-CN" sz="24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n</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，则遍历图中所有的顶点所需的时间为</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O(</a:t>
            </a:r>
            <a:r>
              <a:rPr kumimoji="0" lang="en-US" altLang="zh-CN" sz="24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n</a:t>
            </a:r>
            <a:r>
              <a:rPr kumimoji="0" lang="en-US" altLang="zh-CN" sz="2400" b="1" i="0" u="none" strike="noStrike" kern="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2</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p:txBody>
      </p:sp>
    </p:spTree>
  </p:cSld>
  <p:clrMapOvr>
    <a:masterClrMapping/>
  </p:clrMapOvr>
  <p:transition>
    <p:cover di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544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7.3.2 </a:t>
            </a:r>
            <a:r>
              <a:rPr kumimoji="0" lang="zh-CN" altLang="en-US" sz="3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广度优先搜索（</a:t>
            </a:r>
            <a:r>
              <a:rPr kumimoji="0" lang="en-US" altLang="zh-CN" sz="3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Breadth First Search</a:t>
            </a:r>
            <a:r>
              <a:rPr kumimoji="0" lang="zh-CN" altLang="en-US" sz="3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t>
            </a:r>
            <a:r>
              <a:rPr kumimoji="0" lang="en-US" altLang="zh-CN" sz="3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BFS</a:t>
            </a:r>
            <a:r>
              <a:rPr kumimoji="0" lang="zh-CN" altLang="en-US" sz="3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t>
            </a:r>
            <a:endParaRPr kumimoji="0" lang="zh-CN" altLang="en-US" sz="3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45443"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105000"/>
              </a:lnSpc>
              <a:spcBef>
                <a:spcPct val="0"/>
              </a:spcBef>
              <a:spcAft>
                <a:spcPct val="0"/>
              </a:spcAft>
              <a:buClr>
                <a:srgbClr val="FF3300"/>
              </a:buClr>
              <a:buSzTx/>
              <a:buFont typeface="Wingdings" panose="05000000000000000000" pitchFamily="2" charset="2"/>
              <a:buNone/>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类似于树的层次遍历</a:t>
            </a: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0" marR="0" lvl="0" indent="0" algn="l" defTabSz="914400" rtl="0" eaLnBrk="1" fontAlgn="base" latinLnBrk="0" hangingPunct="1">
              <a:lnSpc>
                <a:spcPct val="105000"/>
              </a:lnSpc>
              <a:spcBef>
                <a:spcPct val="0"/>
              </a:spcBef>
              <a:spcAft>
                <a:spcPct val="0"/>
              </a:spcAft>
              <a:buClr>
                <a:srgbClr val="FF3300"/>
              </a:buClr>
              <a:buSzTx/>
              <a:buFont typeface="Wingdings" panose="05000000000000000000" pitchFamily="2" charset="2"/>
              <a:buNone/>
              <a:defRPr/>
            </a:pP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BFS</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过程</a:t>
            </a: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469900" marR="0" lvl="0" indent="-469900" algn="l" defTabSz="914400" rtl="0" eaLnBrk="1" fontAlgn="base" latinLnBrk="0" hangingPunct="1">
              <a:lnSpc>
                <a:spcPct val="105000"/>
              </a:lnSpc>
              <a:spcBef>
                <a:spcPct val="0"/>
              </a:spcBef>
              <a:spcAft>
                <a:spcPct val="0"/>
              </a:spcAft>
              <a:buClr>
                <a:srgbClr val="FF3300"/>
              </a:buClr>
              <a:buSzTx/>
              <a:buFont typeface="Wingdings" panose="05000000000000000000" pitchFamily="2" charset="2"/>
              <a:buAutoNum type="arabicPeriod"/>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从图中未被访问的顶点</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v</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出发</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访问顶点</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v; </a:t>
            </a:r>
            <a:endPar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469900" marR="0" lvl="0" indent="-469900" algn="l" defTabSz="914400" rtl="0" eaLnBrk="1" fontAlgn="base" latinLnBrk="0" hangingPunct="1">
              <a:lnSpc>
                <a:spcPct val="105000"/>
              </a:lnSpc>
              <a:spcBef>
                <a:spcPct val="0"/>
              </a:spcBef>
              <a:spcAft>
                <a:spcPct val="0"/>
              </a:spcAft>
              <a:buClr>
                <a:srgbClr val="FF3300"/>
              </a:buClr>
              <a:buSzTx/>
              <a:buFont typeface="Wingdings" panose="05000000000000000000" pitchFamily="2" charset="2"/>
              <a:buAutoNum type="arabicPeriod"/>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由 </a:t>
            </a:r>
            <a:r>
              <a:rPr kumimoji="0" lang="en-US" altLang="zh-CN" sz="2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v </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出发，依次访问 </a:t>
            </a:r>
            <a:r>
              <a:rPr kumimoji="0" lang="en-US" altLang="zh-CN" sz="2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v </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的各个未曾被访问过的邻接顶点 </a:t>
            </a:r>
            <a:r>
              <a:rPr kumimoji="0" lang="en-US" altLang="zh-CN" sz="2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v </a:t>
            </a:r>
            <a:r>
              <a:rPr kumimoji="0" lang="en-US" altLang="zh-CN" sz="20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1</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r>
              <a:rPr kumimoji="0" lang="en-US" altLang="zh-CN" sz="2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v </a:t>
            </a:r>
            <a:r>
              <a:rPr kumimoji="0" lang="en-US" altLang="zh-CN" sz="20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2</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 </a:t>
            </a:r>
            <a:r>
              <a:rPr kumimoji="0" lang="en-US" altLang="zh-CN" sz="2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v </a:t>
            </a:r>
            <a:r>
              <a:rPr kumimoji="0" lang="en-US" altLang="zh-CN" sz="2000" b="1" i="1"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t</a:t>
            </a:r>
            <a:endParaRPr kumimoji="0" lang="en-US" altLang="zh-CN" sz="2000" b="1" i="1"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469900" marR="0" lvl="0" indent="-469900" algn="l" defTabSz="914400" rtl="0" eaLnBrk="1" fontAlgn="base" latinLnBrk="0" hangingPunct="1">
              <a:lnSpc>
                <a:spcPct val="105000"/>
              </a:lnSpc>
              <a:spcBef>
                <a:spcPct val="0"/>
              </a:spcBef>
              <a:spcAft>
                <a:spcPct val="0"/>
              </a:spcAft>
              <a:buClr>
                <a:srgbClr val="FF3300"/>
              </a:buClr>
              <a:buSzTx/>
              <a:buFont typeface="Wingdings" panose="05000000000000000000" pitchFamily="2" charset="2"/>
              <a:buAutoNum type="arabicPeriod"/>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顺序访问 </a:t>
            </a:r>
            <a:r>
              <a:rPr kumimoji="0" lang="en-US" altLang="zh-CN" sz="2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v </a:t>
            </a:r>
            <a:r>
              <a:rPr kumimoji="0" lang="en-US" altLang="zh-CN" sz="20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1</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r>
              <a:rPr kumimoji="0" lang="en-US" altLang="zh-CN" sz="2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v </a:t>
            </a:r>
            <a:r>
              <a:rPr kumimoji="0" lang="en-US" altLang="zh-CN" sz="20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2</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 </a:t>
            </a:r>
            <a:r>
              <a:rPr kumimoji="0" lang="en-US" altLang="zh-CN" sz="2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v </a:t>
            </a:r>
            <a:r>
              <a:rPr kumimoji="0" lang="en-US" altLang="zh-CN" sz="2000" b="1" i="1"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t</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的所有还未被访问过的邻接顶点。再从这些访问过的顶点出发，再访问它们的所有还未被访问过的邻接顶点</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直到所有与</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v</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有路径相通的顶点都被访问到为止。</a:t>
            </a: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469900" marR="0" lvl="0" indent="-469900" algn="l" defTabSz="914400" rtl="0" eaLnBrk="1" fontAlgn="base" latinLnBrk="0" hangingPunct="1">
              <a:lnSpc>
                <a:spcPct val="105000"/>
              </a:lnSpc>
              <a:spcBef>
                <a:spcPct val="0"/>
              </a:spcBef>
              <a:spcAft>
                <a:spcPct val="0"/>
              </a:spcAft>
              <a:buClr>
                <a:srgbClr val="FF3300"/>
              </a:buClr>
              <a:buSzTx/>
              <a:buFont typeface="Wingdings" panose="05000000000000000000" pitchFamily="2" charset="2"/>
              <a:buAutoNum type="arabicPeriod"/>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若图中有未访问的顶点</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选择其一</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重复步骤</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1~3</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做</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BFS,</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直至图中所有顶点均被访问</a:t>
            </a: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469900" marR="0" lvl="0" indent="-469900" algn="l" defTabSz="914400" rtl="0" eaLnBrk="1" fontAlgn="base" latinLnBrk="0" hangingPunct="1">
              <a:lnSpc>
                <a:spcPct val="105000"/>
              </a:lnSpc>
              <a:spcBef>
                <a:spcPct val="0"/>
              </a:spcBef>
              <a:spcAft>
                <a:spcPct val="0"/>
              </a:spcAft>
              <a:buClr>
                <a:srgbClr val="FF3300"/>
              </a:buClr>
              <a:buSzTx/>
              <a:buFont typeface="Wingdings" panose="05000000000000000000" pitchFamily="2" charset="2"/>
              <a:buChar char="§"/>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广度优先搜索是一种分层的搜索过程，每向前走一步可能访问一批顶点，不像深度优先搜索那样有往回退的情况。因此，广度优先搜索不是一个递归的过程，其算法也不是递归的</a:t>
            </a: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63490" name="20 1"/>
          <p:cNvPicPr>
            <a:picLocks noChangeAspect="1"/>
          </p:cNvPicPr>
          <p:nvPr/>
        </p:nvPicPr>
        <p:blipFill>
          <a:blip r:embed="rId1"/>
          <a:stretch>
            <a:fillRect/>
          </a:stretch>
        </p:blipFill>
        <p:spPr>
          <a:xfrm>
            <a:off x="2801938" y="1508125"/>
            <a:ext cx="5440362" cy="3435350"/>
          </a:xfrm>
          <a:prstGeom prst="rect">
            <a:avLst/>
          </a:prstGeom>
          <a:noFill/>
          <a:ln w="9525">
            <a:noFill/>
          </a:ln>
        </p:spPr>
      </p:pic>
      <p:pic>
        <p:nvPicPr>
          <p:cNvPr id="63491" name="Picture 6"/>
          <p:cNvPicPr>
            <a:picLocks noChangeAspect="1"/>
          </p:cNvPicPr>
          <p:nvPr/>
        </p:nvPicPr>
        <p:blipFill>
          <a:blip r:embed="rId2"/>
          <a:stretch>
            <a:fillRect/>
          </a:stretch>
        </p:blipFill>
        <p:spPr>
          <a:xfrm>
            <a:off x="539750" y="5445125"/>
            <a:ext cx="8208963" cy="568325"/>
          </a:xfrm>
          <a:prstGeom prst="rect">
            <a:avLst/>
          </a:prstGeom>
          <a:noFill/>
          <a:ln w="9525">
            <a:noFill/>
          </a:ln>
        </p:spPr>
      </p:pic>
      <p:pic>
        <p:nvPicPr>
          <p:cNvPr id="63492" name="Picture 4"/>
          <p:cNvPicPr>
            <a:picLocks noChangeAspect="1"/>
          </p:cNvPicPr>
          <p:nvPr/>
        </p:nvPicPr>
        <p:blipFill>
          <a:blip r:embed="rId3"/>
          <a:stretch>
            <a:fillRect/>
          </a:stretch>
        </p:blipFill>
        <p:spPr>
          <a:xfrm>
            <a:off x="0" y="39688"/>
            <a:ext cx="4211638" cy="2813050"/>
          </a:xfrm>
          <a:prstGeom prst="rect">
            <a:avLst/>
          </a:prstGeom>
          <a:noFill/>
          <a:ln w="9525">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8514" name="Rectangle 2"/>
          <p:cNvSpPr>
            <a:spLocks noChangeArrowheads="1"/>
          </p:cNvSpPr>
          <p:nvPr/>
        </p:nvSpPr>
        <p:spPr bwMode="auto">
          <a:xfrm>
            <a:off x="684213" y="836613"/>
            <a:ext cx="2057400" cy="641350"/>
          </a:xfrm>
          <a:prstGeom prst="rect">
            <a:avLst/>
          </a:prstGeom>
          <a:noFill/>
          <a:ln w="9525">
            <a:noFill/>
            <a:miter lim="800000"/>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算法分析</a:t>
            </a:r>
            <a:endParaRPr kumimoji="1" lang="zh-CN" altLang="en-US" sz="3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endParaRPr>
          </a:p>
        </p:txBody>
      </p:sp>
      <p:sp>
        <p:nvSpPr>
          <p:cNvPr id="448515" name="Rectangle 3"/>
          <p:cNvSpPr>
            <a:spLocks noChangeArrowheads="1"/>
          </p:cNvSpPr>
          <p:nvPr/>
        </p:nvSpPr>
        <p:spPr bwMode="auto">
          <a:xfrm>
            <a:off x="533400" y="1844675"/>
            <a:ext cx="7924800" cy="4479925"/>
          </a:xfrm>
          <a:prstGeom prst="rect">
            <a:avLst/>
          </a:prstGeom>
          <a:noFill/>
          <a:ln w="9525">
            <a:noFill/>
            <a:miter lim="800000"/>
          </a:ln>
          <a:effectLst/>
        </p:spPr>
        <p:txBody>
          <a:bodyPr lIns="92075" tIns="46038" rIns="92075" bIns="46038"/>
          <a:lstStyle/>
          <a:p>
            <a:pPr marL="469900" marR="0" lvl="0" indent="-46990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Char char="§"/>
              <a:defRPr/>
            </a:pP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当使用邻接矩阵表示图时，因为每个顶点均入队、出队一次，所以算法</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BFS</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的外循环次数为</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n</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，且其内循环也是</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n</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次，因此算法</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BFS</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的时间复杂度为</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O(</a:t>
            </a:r>
            <a:r>
              <a:rPr kumimoji="0" lang="en-US" altLang="zh-CN" sz="2800" b="1" i="1"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n</a:t>
            </a:r>
            <a:r>
              <a:rPr kumimoji="0" lang="en-US" altLang="zh-CN" sz="2800" b="1" i="0" u="none" strike="noStrike" kern="1200" cap="none" spc="0" normalizeH="0" baseline="30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2</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endPar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endParaRPr>
          </a:p>
          <a:p>
            <a:pPr marL="469900" marR="0" lvl="0" indent="-46990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Char char="§"/>
              <a:defRPr/>
            </a:pP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当使用邻接表表示图时，同样知道函数</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BFS</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的外循环次数也是</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n</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，因此执行函数</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BFS</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的时间复杂度是</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O(</a:t>
            </a:r>
            <a:r>
              <a:rPr kumimoji="0" lang="en-US" altLang="zh-CN" sz="2800" b="1" i="1" u="none" strike="noStrike" kern="1200" cap="none" spc="0" normalizeH="0" baseline="0" noProof="0" dirty="0" err="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n+e</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。其中</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e</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是无向图中边的数，有向图中弧的数。</a:t>
            </a:r>
            <a:endPar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endParaRPr>
          </a:p>
          <a:p>
            <a:pPr marL="469900" marR="0" lvl="0" indent="-46990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Char char="§"/>
              <a:defRPr/>
            </a:pPr>
            <a:endPar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endParaRPr>
          </a:p>
        </p:txBody>
      </p:sp>
    </p:spTree>
  </p:cSld>
  <p:clrMapOvr>
    <a:masterClrMapping/>
  </p:clrMapOvr>
  <p:transition>
    <p:cover dir="lu"/>
  </p:transition>
</p:sld>
</file>

<file path=ppt/tags/tag1.xml><?xml version="1.0" encoding="utf-8"?>
<p:tagLst xmlns:p="http://schemas.openxmlformats.org/presentationml/2006/main">
  <p:tag name="commondata" val="eyJoZGlkIjoiYjFiN2NjNWM5Yjc2ZDdhMWExZGQ5OTBjOGZlOGJiODQifQ=="/>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b"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1" i="0" u="none" strike="noStrike" cap="none" normalizeH="0" baseline="0" smtClean="0">
            <a:ln>
              <a:noFill/>
            </a:ln>
            <a:solidFill>
              <a:schemeClr val="tx2"/>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sym typeface="Symbol" panose="05050102010706020507" pitchFamily="18" charset="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b"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1" i="0" u="none" strike="noStrike" cap="none" normalizeH="0" baseline="0" smtClean="0">
            <a:ln>
              <a:noFill/>
            </a:ln>
            <a:solidFill>
              <a:schemeClr val="tx2"/>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sym typeface="Symbol" panose="05050102010706020507" pitchFamily="18" charset="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0</TotalTime>
  <Words>4823</Words>
  <Application>WPS 演示</Application>
  <PresentationFormat>全屏显示(4:3)</PresentationFormat>
  <Paragraphs>590</Paragraphs>
  <Slides>59</Slides>
  <Notes>8</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5</vt:i4>
      </vt:variant>
      <vt:variant>
        <vt:lpstr>幻灯片标题</vt:lpstr>
      </vt:variant>
      <vt:variant>
        <vt:i4>59</vt:i4>
      </vt:variant>
    </vt:vector>
  </HeadingPairs>
  <TitlesOfParts>
    <vt:vector size="80" baseType="lpstr">
      <vt:lpstr>Arial</vt:lpstr>
      <vt:lpstr>宋体</vt:lpstr>
      <vt:lpstr>Wingdings</vt:lpstr>
      <vt:lpstr>Verdana</vt:lpstr>
      <vt:lpstr>Symbol</vt:lpstr>
      <vt:lpstr>Times New Roman</vt:lpstr>
      <vt:lpstr>楷体_GB2312</vt:lpstr>
      <vt:lpstr>新宋体</vt:lpstr>
      <vt:lpstr>Arial</vt:lpstr>
      <vt:lpstr>微软雅黑</vt:lpstr>
      <vt:lpstr>Arial Unicode MS</vt:lpstr>
      <vt:lpstr>隶书</vt:lpstr>
      <vt:lpstr>PingFang SC</vt:lpstr>
      <vt:lpstr>Segoe Print</vt:lpstr>
      <vt:lpstr>黑体</vt:lpstr>
      <vt:lpstr>Profile</vt:lpstr>
      <vt:lpstr>Equation.3</vt:lpstr>
      <vt:lpstr>Equation.3</vt:lpstr>
      <vt:lpstr>Equation.3</vt:lpstr>
      <vt:lpstr>Equation.DSMT4</vt:lpstr>
      <vt:lpstr>Equation.DSMT4</vt:lpstr>
      <vt:lpstr>PowerPoint 演示文稿</vt:lpstr>
      <vt:lpstr>第7章 图</vt:lpstr>
      <vt:lpstr>7.1 图的定义和术语</vt:lpstr>
      <vt:lpstr>7.1 图的定义和术语</vt:lpstr>
      <vt:lpstr>7.1 图的定义和术语</vt:lpstr>
      <vt:lpstr>7.1 图的定义和术语</vt:lpstr>
      <vt:lpstr>7.1 图的定义和术语</vt:lpstr>
      <vt:lpstr>7.1 图的定义和术语</vt:lpstr>
      <vt:lpstr>PowerPoint 演示文稿</vt:lpstr>
      <vt:lpstr>7.1 图的定义和术语</vt:lpstr>
      <vt:lpstr>7.1 图的定义和术语</vt:lpstr>
      <vt:lpstr>7.1 图的定义和术语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7.2 图的存储结构</vt:lpstr>
      <vt:lpstr>7.2 图的存储结构</vt:lpstr>
      <vt:lpstr>   </vt:lpstr>
      <vt:lpstr>   </vt:lpstr>
      <vt:lpstr>PowerPoint 演示文稿</vt:lpstr>
      <vt:lpstr>PowerPoint 演示文稿</vt:lpstr>
      <vt:lpstr>   </vt:lpstr>
      <vt:lpstr>PowerPoint 演示文稿</vt:lpstr>
      <vt:lpstr>有向网和它的邻接矩阵</vt:lpstr>
      <vt:lpstr>PowerPoint 演示文稿</vt:lpstr>
      <vt:lpstr>PowerPoint 演示文稿</vt:lpstr>
      <vt:lpstr>前情提要——图</vt:lpstr>
      <vt:lpstr>PowerPoint 演示文稿</vt:lpstr>
      <vt:lpstr>PowerPoint 演示文稿</vt:lpstr>
      <vt:lpstr>PowerPoint 演示文稿</vt:lpstr>
      <vt:lpstr>PowerPoint 演示文稿</vt:lpstr>
      <vt:lpstr>PowerPoint 演示文稿</vt:lpstr>
      <vt:lpstr>PowerPoint 演示文稿</vt:lpstr>
      <vt:lpstr>构造图算法</vt:lpstr>
      <vt:lpstr>PowerPoint 演示文稿</vt:lpstr>
      <vt:lpstr>PowerPoint 演示文稿</vt:lpstr>
      <vt:lpstr>数组（邻接矩阵）表示法—分析</vt:lpstr>
      <vt:lpstr>邻接表 (Adjacency List)</vt:lpstr>
      <vt:lpstr>有向图的邻接表</vt:lpstr>
      <vt:lpstr>有向图的逆邻接表</vt:lpstr>
      <vt:lpstr>无向图的邻接表</vt:lpstr>
      <vt:lpstr>网络 (带权图) 的邻接表</vt:lpstr>
      <vt:lpstr>PowerPoint 演示文稿</vt:lpstr>
      <vt:lpstr>邻接表 v.s 邻接矩阵</vt:lpstr>
      <vt:lpstr>作业8 画出下图的邻接表和逆邻接表(出边表和入边表)</vt:lpstr>
      <vt:lpstr>7.3 图的遍历</vt:lpstr>
      <vt:lpstr>7.3.1 深度优先遍历（Depth First Search，DFS）</vt:lpstr>
      <vt:lpstr>PowerPoint 演示文稿</vt:lpstr>
      <vt:lpstr>PowerPoint 演示文稿</vt:lpstr>
      <vt:lpstr>算法分析</vt:lpstr>
      <vt:lpstr>7.3.2 广度优先搜索（Breadth First Search，BFS）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数据结构（Data Structure）</dc:title>
  <dc:creator>MC SYSTEM</dc:creator>
  <cp:lastModifiedBy>鱼丸粗面</cp:lastModifiedBy>
  <cp:revision>510</cp:revision>
  <dcterms:created xsi:type="dcterms:W3CDTF">2007-02-11T07:05:00Z</dcterms:created>
  <dcterms:modified xsi:type="dcterms:W3CDTF">2023-10-29T14:56:43Z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D83DDB6079EB47DAB72FCF5B18E5EA57_12</vt:lpwstr>
  </property>
</Properties>
</file>