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1597" r:id="rId5"/>
    <p:sldId id="1826" r:id="rId6"/>
    <p:sldId id="1551" r:id="rId7"/>
    <p:sldId id="258" r:id="rId8"/>
    <p:sldId id="260" r:id="rId9"/>
    <p:sldId id="261" r:id="rId10"/>
    <p:sldId id="262" r:id="rId11"/>
    <p:sldId id="1773" r:id="rId12"/>
    <p:sldId id="259" r:id="rId13"/>
    <p:sldId id="1774" r:id="rId14"/>
    <p:sldId id="1598" r:id="rId15"/>
    <p:sldId id="1599" r:id="rId16"/>
    <p:sldId id="1600" r:id="rId17"/>
    <p:sldId id="1678" r:id="rId18"/>
    <p:sldId id="1601" r:id="rId19"/>
    <p:sldId id="1602" r:id="rId20"/>
    <p:sldId id="1603" r:id="rId21"/>
    <p:sldId id="1679" r:id="rId22"/>
    <p:sldId id="1772" r:id="rId23"/>
    <p:sldId id="263" r:id="rId24"/>
    <p:sldId id="264" r:id="rId25"/>
    <p:sldId id="1716" r:id="rId26"/>
    <p:sldId id="1885" r:id="rId27"/>
    <p:sldId id="265" r:id="rId28"/>
    <p:sldId id="266" r:id="rId29"/>
    <p:sldId id="267" r:id="rId30"/>
    <p:sldId id="268" r:id="rId31"/>
    <p:sldId id="269" r:id="rId32"/>
    <p:sldId id="270" r:id="rId33"/>
    <p:sldId id="271" r:id="rId34"/>
    <p:sldId id="934" r:id="rId35"/>
    <p:sldId id="272" r:id="rId36"/>
    <p:sldId id="273" r:id="rId37"/>
    <p:sldId id="274" r:id="rId38"/>
    <p:sldId id="275" r:id="rId39"/>
    <p:sldId id="276" r:id="rId40"/>
    <p:sldId id="277" r:id="rId41"/>
    <p:sldId id="902" r:id="rId42"/>
    <p:sldId id="1924" r:id="rId43"/>
    <p:sldId id="1927" r:id="rId44"/>
    <p:sldId id="1928" r:id="rId45"/>
    <p:sldId id="1929" r:id="rId46"/>
    <p:sldId id="1751" r:id="rId47"/>
    <p:sldId id="1749" r:id="rId48"/>
    <p:sldId id="1752" r:id="rId49"/>
    <p:sldId id="1753" r:id="rId50"/>
    <p:sldId id="1754" r:id="rId51"/>
    <p:sldId id="278" r:id="rId52"/>
    <p:sldId id="279" r:id="rId53"/>
    <p:sldId id="280" r:id="rId54"/>
    <p:sldId id="281" r:id="rId55"/>
    <p:sldId id="1776" r:id="rId56"/>
    <p:sldId id="406" r:id="rId57"/>
    <p:sldId id="858" r:id="rId58"/>
    <p:sldId id="284" r:id="rId59"/>
    <p:sldId id="1952" r:id="rId60"/>
    <p:sldId id="282" r:id="rId61"/>
    <p:sldId id="283" r:id="rId62"/>
    <p:sldId id="285" r:id="rId63"/>
    <p:sldId id="286" r:id="rId64"/>
    <p:sldId id="1554" r:id="rId65"/>
    <p:sldId id="957" r:id="rId66"/>
    <p:sldId id="287" r:id="rId67"/>
    <p:sldId id="1775" r:id="rId68"/>
    <p:sldId id="859" r:id="rId69"/>
  </p:sldIdLst>
  <p:sldSz cx="9144000" cy="6858000" type="screen4x3"/>
  <p:notesSz cx="6858000" cy="9144000"/>
  <p:custDataLst>
    <p:tags r:id="rId74"/>
  </p:custDataLst>
  <p:defaultTextStyle>
    <a:defPPr>
      <a:defRPr lang="zh-CN"/>
    </a:defPPr>
    <a:lvl1pPr marL="0" lvl="0"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5pPr>
    <a:lvl6pPr marL="2286000" lvl="5"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6pPr>
    <a:lvl7pPr marL="2743200" lvl="6"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7pPr>
    <a:lvl8pPr marL="3200400" lvl="7"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8pPr>
    <a:lvl9pPr marL="3657600" lvl="8" indent="0" algn="l" defTabSz="914400" rtl="0" eaLnBrk="1" fontAlgn="base" latinLnBrk="0" hangingPunct="1">
      <a:lnSpc>
        <a:spcPct val="100000"/>
      </a:lnSpc>
      <a:spcBef>
        <a:spcPct val="0"/>
      </a:spcBef>
      <a:spcAft>
        <a:spcPct val="0"/>
      </a:spcAft>
      <a:buNone/>
      <a:defRPr sz="2000" b="1" i="0" u="none" kern="1200" baseline="0">
        <a:solidFill>
          <a:schemeClr val="tx2"/>
        </a:solidFill>
        <a:latin typeface="Verdana" panose="020B0604030504040204" pitchFamily="34" charset="0"/>
        <a:ea typeface="宋体" panose="02010600030101010101" pitchFamily="2" charset="-122"/>
        <a:cs typeface="+mn-cs"/>
        <a:sym typeface="Symbol" panose="05050102010706020507" pitchFamily="18" charset="2"/>
      </a:defRPr>
    </a:lvl9pPr>
  </p:defaultTextStyle>
  <p:extLst>
    <p:ext uri="{EFAFB233-063F-42B5-8137-9DF3F51BA10A}">
      <p15:sldGuideLst xmlns:p15="http://schemas.microsoft.com/office/powerpoint/2012/main">
        <p15:guide id="1" orient="horz" pos="2115" userDrawn="1">
          <p15:clr>
            <a:srgbClr val="A4A3A4"/>
          </p15:clr>
        </p15:guide>
        <p15:guide id="2" pos="29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TT"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51"/>
    <p:restoredTop sz="54636"/>
  </p:normalViewPr>
  <p:slideViewPr>
    <p:cSldViewPr showGuides="1">
      <p:cViewPr varScale="1">
        <p:scale>
          <a:sx n="31" d="100"/>
          <a:sy n="31" d="100"/>
        </p:scale>
        <p:origin x="2228" y="36"/>
      </p:cViewPr>
      <p:guideLst>
        <p:guide orient="horz" pos="2115"/>
        <p:guide pos="293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90" d="100"/>
        <a:sy n="90" d="100"/>
      </p:scale>
      <p:origin x="0" y="0"/>
    </p:cViewPr>
  </p:sorter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tags" Target="tags/tag4.xml"/><Relationship Id="rId73" Type="http://schemas.openxmlformats.org/officeDocument/2006/relationships/commentAuthors" Target="commentAuthors.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21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4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effectLst/>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3076"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214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215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b="0">
                <a:solidFill>
                  <a:schemeClr val="tx1"/>
                </a:solidFill>
                <a:effectLst/>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Symbol" panose="05050102010706020507" pitchFamily="18" charset="2"/>
            </a:endParaRPr>
          </a:p>
        </p:txBody>
      </p:sp>
      <p:sp>
        <p:nvSpPr>
          <p:cNvPr id="262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b="0" strike="noStrike" noProof="1" dirty="0">
                <a:solidFill>
                  <a:schemeClr val="tx1"/>
                </a:solidFill>
                <a:latin typeface="Arial" panose="020B0604020202020204" pitchFamily="34" charset="0"/>
                <a:ea typeface="宋体" panose="02010600030101010101" pitchFamily="2" charset="-122"/>
                <a:cs typeface="+mn-cs"/>
              </a:rPr>
            </a:fld>
            <a:endParaRPr lang="en-US" altLang="zh-CN" sz="1200" b="0" strike="noStrike" noProof="1"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幻灯片图像占位符 1"/>
          <p:cNvSpPr>
            <a:spLocks noRot="1" noTextEdit="1"/>
          </p:cNvSpPr>
          <p:nvPr>
            <p:ph type="sldImg"/>
          </p:nvPr>
        </p:nvSpPr>
        <p:spPr>
          <a:ln/>
        </p:spPr>
      </p:sp>
      <p:sp>
        <p:nvSpPr>
          <p:cNvPr id="5122" name="文本占位符 2"/>
          <p:cNvSpPr/>
          <p:nvPr>
            <p:ph type="body"/>
          </p:nvPr>
        </p:nvSpPr>
        <p:spPr>
          <a:ln/>
        </p:spPr>
        <p:txBody>
          <a:bodyPr wrap="square" lIns="91440" tIns="45720" rIns="91440" bIns="45720" anchor="t" anchorCtr="0"/>
          <a:p>
            <a:pPr lvl="0"/>
            <a:r>
              <a:rPr lang="zh-CN" altLang="en-US" dirty="0"/>
              <a:t>学习指标，标准</a:t>
            </a:r>
            <a:endParaRPr lang="zh-CN" altLang="en-US" dirty="0"/>
          </a:p>
          <a:p>
            <a:pPr lvl="0"/>
            <a:r>
              <a:rPr lang="zh-CN" altLang="en-US" dirty="0"/>
              <a:t>数据结构课程的重要性</a:t>
            </a:r>
            <a:endParaRPr lang="zh-CN" altLang="en-US" dirty="0"/>
          </a:p>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幻灯片图像占位符 1"/>
          <p:cNvSpPr>
            <a:spLocks noRot="1" noTextEdit="1"/>
          </p:cNvSpPr>
          <p:nvPr>
            <p:ph type="sldImg"/>
          </p:nvPr>
        </p:nvSpPr>
        <p:spPr>
          <a:ln/>
        </p:spPr>
      </p:sp>
      <p:sp>
        <p:nvSpPr>
          <p:cNvPr id="11266" name="文本占位符 2"/>
          <p:cNvSpPr/>
          <p:nvPr>
            <p:ph type="body"/>
          </p:nvPr>
        </p:nvSpPr>
        <p:spPr>
          <a:ln/>
        </p:spPr>
        <p:txBody>
          <a:bodyPr wrap="square" lIns="91440" tIns="45720" rIns="91440" bIns="45720" anchor="t" anchorCtr="0"/>
          <a:p>
            <a:pPr lvl="0"/>
            <a:r>
              <a:rPr lang="zh-CN" altLang="en-US" dirty="0"/>
              <a:t>例如：买</a:t>
            </a:r>
            <a:r>
              <a:rPr lang="en-US" altLang="zh-CN" dirty="0"/>
              <a:t>“</a:t>
            </a:r>
            <a:r>
              <a:rPr lang="zh-CN" altLang="en-US" dirty="0"/>
              <a:t>狗不理</a:t>
            </a:r>
            <a:r>
              <a:rPr lang="en-US" altLang="zh-CN" dirty="0"/>
              <a:t>”</a:t>
            </a:r>
            <a:r>
              <a:rPr lang="zh-CN" altLang="en-US" dirty="0"/>
              <a:t>包子的人一个接着一个排成队。</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幻灯片图像占位符 1"/>
          <p:cNvSpPr>
            <a:spLocks noRot="1" noTextEdit="1"/>
          </p:cNvSpPr>
          <p:nvPr>
            <p:ph type="sldImg"/>
          </p:nvPr>
        </p:nvSpPr>
        <p:spPr>
          <a:ln/>
        </p:spPr>
      </p:sp>
      <p:sp>
        <p:nvSpPr>
          <p:cNvPr id="13314" name="文本占位符 2"/>
          <p:cNvSpPr/>
          <p:nvPr>
            <p:ph type="body"/>
          </p:nvPr>
        </p:nvSpPr>
        <p:spPr>
          <a:ln/>
        </p:spPr>
        <p:txBody>
          <a:bodyPr wrap="square" lIns="91440" tIns="45720" rIns="91440" bIns="45720" anchor="t" anchorCtr="0"/>
          <a:p>
            <a:pPr lvl="0"/>
            <a:r>
              <a:rPr lang="zh-CN" altLang="en-US" dirty="0"/>
              <a:t>又例如，文件系统组织。</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幻灯片图像占位符 1"/>
          <p:cNvSpPr>
            <a:spLocks noRot="1" noTextEdit="1"/>
          </p:cNvSpPr>
          <p:nvPr>
            <p:ph type="sldImg"/>
          </p:nvPr>
        </p:nvSpPr>
        <p:spPr>
          <a:ln/>
        </p:spPr>
      </p:sp>
      <p:sp>
        <p:nvSpPr>
          <p:cNvPr id="15362" name="文本占位符 2"/>
          <p:cNvSpPr/>
          <p:nvPr>
            <p:ph type="body"/>
          </p:nvPr>
        </p:nvSpPr>
        <p:spPr>
          <a:ln/>
        </p:spPr>
        <p:txBody>
          <a:bodyPr wrap="square" lIns="91440" tIns="45720" rIns="91440" bIns="45720" anchor="t" anchorCtr="0"/>
          <a:p>
            <a:pPr lvl="0"/>
            <a:r>
              <a:rPr lang="zh-CN" altLang="en-US" dirty="0"/>
              <a:t>又例如，教学计划编排</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幻灯片图像占位符 1"/>
          <p:cNvSpPr>
            <a:spLocks noRot="1" noTextEdit="1"/>
          </p:cNvSpPr>
          <p:nvPr>
            <p:ph type="sldImg"/>
          </p:nvPr>
        </p:nvSpPr>
        <p:spPr>
          <a:ln/>
        </p:spPr>
      </p:sp>
      <p:sp>
        <p:nvSpPr>
          <p:cNvPr id="18434" name="文本占位符 2"/>
          <p:cNvSpPr/>
          <p:nvPr>
            <p:ph type="body"/>
          </p:nvPr>
        </p:nvSpPr>
        <p:spPr>
          <a:ln/>
        </p:spPr>
        <p:txBody>
          <a:bodyPr wrap="square" lIns="91440" tIns="45720" rIns="91440" bIns="45720" anchor="t" anchorCtr="0"/>
          <a:p>
            <a:pPr lvl="0"/>
            <a:r>
              <a:rPr lang="zh-CN" altLang="en-US" dirty="0"/>
              <a:t>综上</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Rot="1" noTextEdit="1"/>
          </p:cNvSpPr>
          <p:nvPr>
            <p:ph type="sldImg"/>
          </p:nvPr>
        </p:nvSpPr>
        <p:spPr>
          <a:ln/>
        </p:spPr>
      </p:sp>
      <p:sp>
        <p:nvSpPr>
          <p:cNvPr id="28674" name="文本占位符 2"/>
          <p:cNvSpPr/>
          <p:nvPr>
            <p:ph type="body"/>
          </p:nvPr>
        </p:nvSpPr>
        <p:spPr>
          <a:ln/>
        </p:spPr>
        <p:txBody>
          <a:bodyPr wrap="square" lIns="91440" tIns="45720" rIns="91440" bIns="45720" anchor="t" anchorCtr="0"/>
          <a:p>
            <a:pPr lvl="0"/>
            <a:r>
              <a:rPr lang="zh-CN" altLang="en-US" dirty="0"/>
              <a:t>综上</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幻灯片图像占位符 1"/>
          <p:cNvSpPr>
            <a:spLocks noRot="1" noTextEdit="1"/>
          </p:cNvSpPr>
          <p:nvPr>
            <p:ph type="sldImg"/>
          </p:nvPr>
        </p:nvSpPr>
        <p:spPr>
          <a:ln/>
        </p:spPr>
      </p:sp>
      <p:sp>
        <p:nvSpPr>
          <p:cNvPr id="38914" name="文本占位符 2"/>
          <p:cNvSpPr/>
          <p:nvPr>
            <p:ph type="body"/>
          </p:nvPr>
        </p:nvSpPr>
        <p:spPr>
          <a:ln/>
        </p:spPr>
        <p:txBody>
          <a:bodyPr wrap="square" lIns="91440" tIns="45720" rIns="91440" bIns="45720" anchor="t" anchorCtr="0"/>
          <a:p>
            <a:pPr lvl="0"/>
            <a:r>
              <a:rPr lang="zh-CN" altLang="en-US" dirty="0"/>
              <a:t>数据类型与数据结构密切相关。</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幻灯片图像占位符 1"/>
          <p:cNvSpPr>
            <a:spLocks noRot="1" noTextEdit="1"/>
          </p:cNvSpPr>
          <p:nvPr>
            <p:ph type="sldImg"/>
          </p:nvPr>
        </p:nvSpPr>
        <p:spPr>
          <a:ln/>
        </p:spPr>
      </p:sp>
      <p:sp>
        <p:nvSpPr>
          <p:cNvPr id="40962" name="文本占位符 2"/>
          <p:cNvSpPr/>
          <p:nvPr>
            <p:ph type="body"/>
          </p:nvPr>
        </p:nvSpPr>
        <p:spPr>
          <a:ln/>
        </p:spPr>
        <p:txBody>
          <a:bodyPr wrap="square" lIns="91440" tIns="45720" rIns="91440" bIns="45720" anchor="t" anchorCtr="0"/>
          <a:p>
            <a:pPr lvl="0"/>
            <a:r>
              <a:rPr lang="zh-CN" altLang="en-US" dirty="0"/>
              <a:t>所以可以用数据类型来表达数据结构</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幻灯片图像占位符 1"/>
          <p:cNvSpPr>
            <a:spLocks noGrp="1" noRot="1" noChangeAspect="1" noTextEdit="1"/>
          </p:cNvSpPr>
          <p:nvPr>
            <p:ph type="sldImg"/>
          </p:nvPr>
        </p:nvSpPr>
        <p:spPr>
          <a:ln/>
        </p:spPr>
      </p:sp>
      <p:sp>
        <p:nvSpPr>
          <p:cNvPr id="64514" name="备注占位符 2"/>
          <p:cNvSpPr>
            <a:spLocks noGrp="1"/>
          </p:cNvSpPr>
          <p:nvPr>
            <p:ph type="body"/>
          </p:nvPr>
        </p:nvSpPr>
        <p:spPr>
          <a:ln/>
        </p:spPr>
        <p:txBody>
          <a:bodyPr wrap="square" lIns="91440" tIns="45720" rIns="91440" bIns="45720" anchor="t" anchorCtr="0"/>
          <a:p>
            <a:pPr lvl="0" eaLnBrk="1" hangingPunct="1"/>
            <a:r>
              <a:rPr lang="zh-CN" altLang="en-US" dirty="0"/>
              <a:t>时间</a:t>
            </a:r>
            <a:r>
              <a:rPr lang="en-US" altLang="zh-CN" dirty="0"/>
              <a:t>-》</a:t>
            </a:r>
            <a:r>
              <a:rPr lang="zh-CN" altLang="en-US" dirty="0"/>
              <a:t>工作量</a:t>
            </a:r>
            <a:endParaRPr lang="zh-CN" altLang="en-US" dirty="0"/>
          </a:p>
        </p:txBody>
      </p:sp>
      <p:sp>
        <p:nvSpPr>
          <p:cNvPr id="6451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68610" name="Rectangle 2"/>
          <p:cNvSpPr>
            <a:spLocks noRot="1" noTextEdit="1"/>
          </p:cNvSpPr>
          <p:nvPr>
            <p:ph type="sldImg"/>
          </p:nvPr>
        </p:nvSpPr>
        <p:spPr>
          <a:ln/>
        </p:spPr>
      </p:sp>
      <p:sp>
        <p:nvSpPr>
          <p:cNvPr id="68611" name="Rectangle 3"/>
          <p:cNvSpPr>
            <a:spLocks noGrp="1"/>
          </p:cNvSpPr>
          <p:nvPr>
            <p:ph type="body"/>
          </p:nvPr>
        </p:nvSpPr>
        <p:spPr>
          <a:ln/>
        </p:spPr>
        <p:txBody>
          <a:bodyPr wrap="square" lIns="91440" tIns="45720" rIns="91440" bIns="45720" anchor="t" anchorCtr="0"/>
          <a:p>
            <a:pPr lvl="0" eaLnBrk="1" hangingPunct="1"/>
            <a:r>
              <a:rPr lang="zh-CN" altLang="en-US" dirty="0"/>
              <a:t>增长率相同：也意味着通过硬件可以弥补常数</a:t>
            </a:r>
            <a:r>
              <a:rPr lang="en-US" altLang="zh-CN" dirty="0"/>
              <a:t>c</a:t>
            </a:r>
            <a:r>
              <a:rPr lang="zh-CN" altLang="en-US" dirty="0"/>
              <a:t>带来的效率不同，并且可行。例如</a:t>
            </a:r>
            <a:r>
              <a:rPr lang="en-US" altLang="zh-CN" dirty="0"/>
              <a:t>2n</a:t>
            </a:r>
            <a:r>
              <a:rPr lang="zh-CN" altLang="en-US" dirty="0"/>
              <a:t>和</a:t>
            </a:r>
            <a:r>
              <a:rPr lang="en-US" altLang="zh-CN" dirty="0"/>
              <a:t>4n</a:t>
            </a:r>
            <a:r>
              <a:rPr lang="zh-CN" altLang="en-US" dirty="0"/>
              <a:t>均为</a:t>
            </a:r>
            <a:r>
              <a:rPr lang="en-US" altLang="zh-CN" dirty="0"/>
              <a:t>O</a:t>
            </a:r>
            <a:r>
              <a:rPr lang="zh-CN" altLang="en-US" dirty="0"/>
              <a:t>（</a:t>
            </a:r>
            <a:r>
              <a:rPr lang="en-US" altLang="zh-CN" dirty="0"/>
              <a:t>n</a:t>
            </a:r>
            <a:r>
              <a:rPr lang="zh-CN" altLang="en-US" dirty="0"/>
              <a:t>），</a:t>
            </a:r>
            <a:r>
              <a:rPr lang="en-US" altLang="zh-CN" dirty="0"/>
              <a:t>cpu</a:t>
            </a:r>
            <a:r>
              <a:rPr lang="zh-CN" altLang="en-US" dirty="0"/>
              <a:t>加倍就可以获得同样的效率，但</a:t>
            </a:r>
            <a:r>
              <a:rPr lang="en-US" altLang="zh-CN" dirty="0"/>
              <a:t>2n</a:t>
            </a:r>
            <a:r>
              <a:rPr lang="zh-CN" altLang="en-US" dirty="0"/>
              <a:t>与</a:t>
            </a:r>
            <a:r>
              <a:rPr lang="en-US" altLang="zh-CN" dirty="0"/>
              <a:t>n</a:t>
            </a:r>
            <a:r>
              <a:rPr lang="en-US" altLang="zh-CN" baseline="30000" dirty="0"/>
              <a:t>2</a:t>
            </a:r>
            <a:r>
              <a:rPr lang="en-US" altLang="zh-CN" dirty="0"/>
              <a:t>,</a:t>
            </a:r>
            <a:r>
              <a:rPr lang="zh-CN" altLang="en-US" dirty="0"/>
              <a:t>当</a:t>
            </a:r>
            <a:r>
              <a:rPr lang="en-US" altLang="zh-CN" dirty="0"/>
              <a:t>n</a:t>
            </a:r>
            <a:r>
              <a:rPr lang="zh-CN" altLang="en-US" dirty="0"/>
              <a:t>较大时，如</a:t>
            </a:r>
            <a:r>
              <a:rPr lang="en-US" altLang="zh-CN" dirty="0"/>
              <a:t>n</a:t>
            </a:r>
            <a:r>
              <a:rPr lang="zh-CN" altLang="en-US" dirty="0"/>
              <a:t>＝</a:t>
            </a:r>
            <a:r>
              <a:rPr lang="en-US" altLang="zh-CN" dirty="0"/>
              <a:t>10</a:t>
            </a:r>
            <a:r>
              <a:rPr lang="zh-CN" altLang="en-US" dirty="0"/>
              <a:t>，则</a:t>
            </a:r>
            <a:r>
              <a:rPr lang="en-US" altLang="zh-CN" dirty="0"/>
              <a:t>n</a:t>
            </a:r>
            <a:r>
              <a:rPr lang="zh-CN" altLang="en-US" dirty="0"/>
              <a:t>增加</a:t>
            </a:r>
            <a:r>
              <a:rPr lang="en-US" altLang="zh-CN" dirty="0"/>
              <a:t>1</a:t>
            </a:r>
            <a:r>
              <a:rPr lang="zh-CN" altLang="en-US" dirty="0"/>
              <a:t>，则</a:t>
            </a:r>
            <a:r>
              <a:rPr lang="en-US" altLang="zh-CN" dirty="0"/>
              <a:t>2n</a:t>
            </a:r>
            <a:r>
              <a:rPr lang="zh-CN" altLang="en-US" dirty="0"/>
              <a:t>增加</a:t>
            </a:r>
            <a:r>
              <a:rPr lang="en-US" altLang="zh-CN" dirty="0"/>
              <a:t>2</a:t>
            </a:r>
            <a:r>
              <a:rPr lang="zh-CN" altLang="en-US" dirty="0"/>
              <a:t>，而</a:t>
            </a:r>
            <a:r>
              <a:rPr lang="en-US" altLang="zh-CN" dirty="0"/>
              <a:t>n</a:t>
            </a:r>
            <a:r>
              <a:rPr lang="en-US" altLang="zh-CN" baseline="30000" dirty="0"/>
              <a:t>2</a:t>
            </a:r>
            <a:r>
              <a:rPr lang="zh-CN" altLang="en-US" dirty="0"/>
              <a:t>增加</a:t>
            </a:r>
            <a:r>
              <a:rPr lang="en-US" altLang="zh-CN" dirty="0"/>
              <a:t>20</a:t>
            </a:r>
            <a:r>
              <a:rPr lang="zh-CN" altLang="en-US" dirty="0"/>
              <a:t>。</a:t>
            </a:r>
            <a:endParaRPr lang="en-US" altLang="zh-CN" dirty="0"/>
          </a:p>
          <a:p>
            <a:pPr lvl="0" eaLnBrk="1" hangingPunct="1"/>
            <a:endParaRPr lang="en-US" altLang="zh-CN" dirty="0"/>
          </a:p>
          <a:p>
            <a:pPr lvl="0" eaLnBrk="1" hangingPunct="1"/>
            <a:r>
              <a:rPr lang="zh-CN" altLang="en-US" dirty="0"/>
              <a:t>大</a:t>
            </a:r>
            <a:r>
              <a:rPr lang="en-US" altLang="zh-CN" dirty="0"/>
              <a:t>O :</a:t>
            </a:r>
            <a:r>
              <a:rPr lang="zh-CN" altLang="en-US" dirty="0"/>
              <a:t>上确界 </a:t>
            </a:r>
            <a:r>
              <a:rPr lang="en-US" altLang="zh-CN" dirty="0"/>
              <a:t>《=c</a:t>
            </a:r>
            <a:endParaRPr lang="en-US" altLang="zh-CN" dirty="0"/>
          </a:p>
          <a:p>
            <a:pPr lvl="0" eaLnBrk="1" hangingPunct="1"/>
            <a:r>
              <a:rPr lang="zh-CN" altLang="en-US" dirty="0"/>
              <a:t>小</a:t>
            </a:r>
            <a:r>
              <a:rPr lang="en-US" altLang="zh-CN" dirty="0"/>
              <a:t>o</a:t>
            </a:r>
            <a:r>
              <a:rPr lang="zh-CN" altLang="en-US" dirty="0"/>
              <a:t>：上界 </a:t>
            </a:r>
            <a:r>
              <a:rPr lang="en-US" altLang="zh-CN" dirty="0"/>
              <a:t>= 0</a:t>
            </a:r>
            <a:endParaRPr lang="en-US" altLang="zh-CN" dirty="0"/>
          </a:p>
          <a:p>
            <a:pPr lvl="0" eaLnBrk="1" hangingPunct="1"/>
            <a:r>
              <a:rPr lang="en-US" altLang="zh-CN" dirty="0"/>
              <a:t>\THETA</a:t>
            </a:r>
            <a:r>
              <a:rPr lang="zh-CN" altLang="en-US" dirty="0"/>
              <a:t>：确界 </a:t>
            </a:r>
            <a:r>
              <a:rPr lang="en-US" altLang="zh-CN" dirty="0"/>
              <a:t>= c</a:t>
            </a:r>
            <a:endParaRPr lang="en-US" altLang="zh-CN" dirty="0"/>
          </a:p>
          <a:p>
            <a:pPr lvl="0" eaLnBrk="1" hangingPunct="1"/>
            <a:r>
              <a:rPr lang="en-US" altLang="zh-CN" dirty="0"/>
              <a:t>\omega</a:t>
            </a:r>
            <a:r>
              <a:rPr lang="zh-CN" altLang="en-US" dirty="0"/>
              <a:t>：下确界 </a:t>
            </a:r>
            <a:r>
              <a:rPr lang="en-US" altLang="zh-CN" dirty="0"/>
              <a:t>》=c </a:t>
            </a:r>
            <a:endParaRPr lang="zh-CN" altLang="en-US" dirty="0"/>
          </a:p>
          <a:p>
            <a:pPr lvl="0"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幻灯片图像占位符 1"/>
          <p:cNvSpPr>
            <a:spLocks noRot="1" noTextEdit="1"/>
          </p:cNvSpPr>
          <p:nvPr>
            <p:ph type="sldImg"/>
          </p:nvPr>
        </p:nvSpPr>
        <p:spPr>
          <a:ln/>
        </p:spPr>
      </p:sp>
      <p:sp>
        <p:nvSpPr>
          <p:cNvPr id="78850" name="文本占位符 2"/>
          <p:cNvSpPr/>
          <p:nvPr>
            <p:ph type="body"/>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b="0" dirty="0">
                <a:solidFill>
                  <a:schemeClr val="tx1"/>
                </a:solidFill>
                <a:latin typeface="Arial" panose="020B0604020202020204" pitchFamily="34" charset="0"/>
              </a:rPr>
            </a:fld>
            <a:endParaRPr lang="en-US" altLang="zh-CN" sz="1200" b="0" dirty="0">
              <a:solidFill>
                <a:schemeClr val="tx1"/>
              </a:solidFill>
              <a:latin typeface="Arial" panose="020B0604020202020204" pitchFamily="34" charset="0"/>
            </a:endParaRPr>
          </a:p>
        </p:txBody>
      </p:sp>
      <p:sp>
        <p:nvSpPr>
          <p:cNvPr id="82946" name="Rectangle 2"/>
          <p:cNvSpPr>
            <a:spLocks noRot="1" noTextEdit="1"/>
          </p:cNvSpPr>
          <p:nvPr>
            <p:ph type="sldImg"/>
          </p:nvPr>
        </p:nvSpPr>
        <p:spPr>
          <a:ln/>
        </p:spPr>
      </p:sp>
      <p:sp>
        <p:nvSpPr>
          <p:cNvPr id="82947" name="Rectangle 3"/>
          <p:cNvSpPr>
            <a:spLocks noGrp="1"/>
          </p:cNvSpPr>
          <p:nvPr>
            <p:ph type="body"/>
          </p:nvPr>
        </p:nvSpPr>
        <p:spPr>
          <a:ln/>
        </p:spPr>
        <p:txBody>
          <a:bodyPr wrap="square" lIns="91440" tIns="45720" rIns="91440" bIns="45720" anchor="t" anchorCtr="0"/>
          <a:p>
            <a:pPr lvl="0" eaLnBrk="1" hangingPunct="1"/>
            <a:r>
              <a:rPr lang="en-US" altLang="zh-CN" dirty="0"/>
              <a:t>(1) n</a:t>
            </a:r>
            <a:r>
              <a:rPr lang="zh-CN" altLang="en-US" dirty="0"/>
              <a:t>－</a:t>
            </a:r>
            <a:r>
              <a:rPr lang="en-US" altLang="zh-CN" dirty="0"/>
              <a:t>1</a:t>
            </a:r>
            <a:endParaRPr lang="en-US" altLang="zh-CN" dirty="0"/>
          </a:p>
          <a:p>
            <a:pPr lvl="0" eaLnBrk="1" hangingPunct="1"/>
            <a:r>
              <a:rPr lang="en-US" altLang="zh-CN" dirty="0"/>
              <a:t>(2) When n=1 then 1 else n-1</a:t>
            </a:r>
            <a:endParaRPr lang="en-US" altLang="zh-CN" dirty="0"/>
          </a:p>
          <a:p>
            <a:pPr lvl="0" eaLnBrk="1" hangingPunct="1"/>
            <a:r>
              <a:rPr lang="en-US" altLang="zh-CN" dirty="0"/>
              <a:t>(3) n-1</a:t>
            </a:r>
            <a:endParaRPr lang="en-US" altLang="zh-CN" dirty="0"/>
          </a:p>
          <a:p>
            <a:pPr lvl="0" eaLnBrk="1" hangingPunct="1"/>
            <a:r>
              <a:rPr lang="en-US" altLang="zh-CN" dirty="0"/>
              <a:t>(4) n(n+1)/2</a:t>
            </a:r>
            <a:endParaRPr lang="en-US" altLang="zh-CN" baseline="30000" dirty="0"/>
          </a:p>
          <a:p>
            <a:pPr lvl="0" eaLnBrk="1" hangingPunct="1"/>
            <a:r>
              <a:rPr lang="en-US" altLang="zh-CN" dirty="0"/>
              <a:t>(5) ∑</a:t>
            </a:r>
            <a:r>
              <a:rPr lang="en-US" altLang="zh-CN" baseline="-25000" dirty="0"/>
              <a:t>i=1</a:t>
            </a:r>
            <a:r>
              <a:rPr lang="en-US" altLang="zh-CN" baseline="30000" dirty="0"/>
              <a:t>n</a:t>
            </a:r>
            <a:r>
              <a:rPr lang="en-US" altLang="zh-CN" dirty="0"/>
              <a:t> ∑</a:t>
            </a:r>
            <a:r>
              <a:rPr lang="en-US" altLang="zh-CN" baseline="-25000" dirty="0"/>
              <a:t>j=1</a:t>
            </a:r>
            <a:r>
              <a:rPr lang="en-US" altLang="zh-CN" baseline="30000" dirty="0"/>
              <a:t>i</a:t>
            </a:r>
            <a:r>
              <a:rPr lang="en-US" altLang="zh-CN" dirty="0"/>
              <a:t>j= ∑</a:t>
            </a:r>
            <a:r>
              <a:rPr lang="en-US" altLang="zh-CN" baseline="-25000" dirty="0"/>
              <a:t>i=1</a:t>
            </a:r>
            <a:r>
              <a:rPr lang="en-US" altLang="zh-CN" baseline="30000" dirty="0"/>
              <a:t>n</a:t>
            </a:r>
            <a:r>
              <a:rPr lang="en-US" altLang="zh-CN" dirty="0"/>
              <a:t> (i(i+1)/2) = ∑</a:t>
            </a:r>
            <a:r>
              <a:rPr lang="en-US" altLang="zh-CN" baseline="-25000" dirty="0"/>
              <a:t>i=1</a:t>
            </a:r>
            <a:r>
              <a:rPr lang="en-US" altLang="zh-CN" baseline="30000" dirty="0"/>
              <a:t>n</a:t>
            </a:r>
            <a:r>
              <a:rPr lang="en-US" altLang="zh-CN" dirty="0"/>
              <a:t> (i</a:t>
            </a:r>
            <a:r>
              <a:rPr lang="en-US" altLang="zh-CN" baseline="30000" dirty="0"/>
              <a:t>2</a:t>
            </a:r>
            <a:r>
              <a:rPr lang="en-US" altLang="zh-CN" dirty="0"/>
              <a:t>+i)/2 =(n(n+1)(2n+1</a:t>
            </a:r>
            <a:r>
              <a:rPr lang="zh-CN" altLang="en-US" dirty="0"/>
              <a:t>）</a:t>
            </a:r>
            <a:r>
              <a:rPr lang="en-US" altLang="zh-CN" dirty="0"/>
              <a:t>/6+n(n+1)/2)/2 = n(n+1)(n+2)/6</a:t>
            </a:r>
            <a:endParaRPr lang="en-US" altLang="zh-CN" dirty="0"/>
          </a:p>
          <a:p>
            <a:pPr lvl="0" eaLnBrk="1" hangingPunct="1"/>
            <a:r>
              <a:rPr lang="en-US" altLang="zh-CN" dirty="0"/>
              <a:t>(6) n/2</a:t>
            </a:r>
            <a:r>
              <a:rPr lang="zh-CN" altLang="en-US" dirty="0"/>
              <a:t>向上取整（当</a:t>
            </a:r>
            <a:r>
              <a:rPr lang="en-US" altLang="zh-CN" dirty="0"/>
              <a:t>i</a:t>
            </a:r>
            <a:r>
              <a:rPr lang="zh-CN" altLang="en-US" dirty="0"/>
              <a:t>＝</a:t>
            </a:r>
            <a:r>
              <a:rPr lang="en-US" altLang="zh-CN" dirty="0"/>
              <a:t>j</a:t>
            </a:r>
            <a:r>
              <a:rPr lang="zh-CN" altLang="en-US" dirty="0"/>
              <a:t>时，此时已执行</a:t>
            </a:r>
            <a:r>
              <a:rPr lang="en-US" altLang="zh-CN" dirty="0"/>
              <a:t>j</a:t>
            </a:r>
            <a:r>
              <a:rPr lang="zh-CN" altLang="en-US" dirty="0"/>
              <a:t>次，那么考虑边界情况，如果</a:t>
            </a:r>
            <a:r>
              <a:rPr lang="en-US" altLang="zh-CN" dirty="0"/>
              <a:t>n</a:t>
            </a:r>
            <a:r>
              <a:rPr lang="zh-CN" altLang="en-US" dirty="0"/>
              <a:t>可以被</a:t>
            </a:r>
            <a:r>
              <a:rPr lang="en-US" altLang="zh-CN" dirty="0"/>
              <a:t>2</a:t>
            </a:r>
            <a:r>
              <a:rPr lang="zh-CN" altLang="en-US" dirty="0"/>
              <a:t>整除，即</a:t>
            </a:r>
            <a:r>
              <a:rPr lang="en-US" altLang="zh-CN" dirty="0"/>
              <a:t>i</a:t>
            </a:r>
            <a:r>
              <a:rPr lang="zh-CN" altLang="en-US" dirty="0"/>
              <a:t>＝</a:t>
            </a:r>
            <a:r>
              <a:rPr lang="en-US" altLang="zh-CN" dirty="0"/>
              <a:t>j</a:t>
            </a:r>
            <a:r>
              <a:rPr lang="zh-CN" altLang="en-US" dirty="0"/>
              <a:t>＝</a:t>
            </a:r>
            <a:r>
              <a:rPr lang="en-US" altLang="zh-CN" dirty="0"/>
              <a:t>n/2</a:t>
            </a:r>
            <a:r>
              <a:rPr lang="zh-CN" altLang="en-US" dirty="0"/>
              <a:t>时，不执行◎且退出，则为</a:t>
            </a:r>
            <a:r>
              <a:rPr lang="en-US" altLang="zh-CN" dirty="0"/>
              <a:t>n/2,</a:t>
            </a:r>
            <a:r>
              <a:rPr lang="zh-CN" altLang="en-US" dirty="0"/>
              <a:t>如果</a:t>
            </a:r>
            <a:r>
              <a:rPr lang="en-US" altLang="zh-CN" dirty="0"/>
              <a:t>n</a:t>
            </a:r>
            <a:r>
              <a:rPr lang="zh-CN" altLang="en-US" dirty="0"/>
              <a:t>不能被</a:t>
            </a:r>
            <a:r>
              <a:rPr lang="en-US" altLang="zh-CN" dirty="0"/>
              <a:t>2</a:t>
            </a:r>
            <a:endParaRPr lang="en-US" altLang="zh-CN" dirty="0"/>
          </a:p>
          <a:p>
            <a:pPr lvl="0" eaLnBrk="1" hangingPunct="1"/>
            <a:r>
              <a:rPr lang="zh-CN" altLang="en-US" dirty="0"/>
              <a:t>整除，即</a:t>
            </a:r>
            <a:r>
              <a:rPr lang="en-US" altLang="zh-CN" dirty="0"/>
              <a:t>i</a:t>
            </a:r>
            <a:r>
              <a:rPr lang="zh-CN" altLang="en-US" dirty="0"/>
              <a:t>＝</a:t>
            </a:r>
            <a:r>
              <a:rPr lang="en-US" altLang="zh-CN" dirty="0"/>
              <a:t>j</a:t>
            </a:r>
            <a:r>
              <a:rPr lang="zh-CN" altLang="en-US" dirty="0"/>
              <a:t>＝</a:t>
            </a:r>
            <a:r>
              <a:rPr lang="en-US" altLang="zh-CN" dirty="0"/>
              <a:t>n/2 </a:t>
            </a:r>
            <a:r>
              <a:rPr lang="zh-CN" altLang="en-US" dirty="0"/>
              <a:t>向下取整时，还将执行◎ 一次，则为</a:t>
            </a:r>
            <a:r>
              <a:rPr lang="en-US" altLang="zh-CN" dirty="0"/>
              <a:t>n/2 </a:t>
            </a:r>
            <a:r>
              <a:rPr lang="zh-CN" altLang="en-US" dirty="0"/>
              <a:t>向下取整＋</a:t>
            </a:r>
            <a:r>
              <a:rPr lang="en-US" altLang="zh-CN" dirty="0"/>
              <a:t>1</a:t>
            </a:r>
            <a:r>
              <a:rPr lang="zh-CN" altLang="en-US" dirty="0"/>
              <a:t>，综上可得</a:t>
            </a:r>
            <a:r>
              <a:rPr lang="en-US" altLang="zh-CN" dirty="0"/>
              <a:t>n/2</a:t>
            </a:r>
            <a:r>
              <a:rPr lang="zh-CN" altLang="en-US" dirty="0"/>
              <a:t>向上取整）</a:t>
            </a:r>
            <a:endParaRPr lang="zh-CN" altLang="en-US" dirty="0"/>
          </a:p>
          <a:p>
            <a:pPr lvl="0" eaLnBrk="1" hangingPunct="1"/>
            <a:r>
              <a:rPr lang="en-US" altLang="zh-CN" dirty="0"/>
              <a:t>(7) n</a:t>
            </a:r>
            <a:r>
              <a:rPr lang="en-US" altLang="zh-CN" baseline="30000" dirty="0"/>
              <a:t>1/2</a:t>
            </a:r>
            <a:r>
              <a:rPr lang="zh-CN" altLang="en-US" dirty="0"/>
              <a:t>向下取整（ </a:t>
            </a:r>
            <a:r>
              <a:rPr lang="en-US" altLang="zh-CN" dirty="0"/>
              <a:t>x</a:t>
            </a:r>
            <a:r>
              <a:rPr lang="en-US" altLang="zh-CN" baseline="30000" dirty="0"/>
              <a:t>1/2</a:t>
            </a:r>
            <a:r>
              <a:rPr lang="en-US" altLang="zh-CN" dirty="0"/>
              <a:t> -1&gt;=y </a:t>
            </a:r>
            <a:r>
              <a:rPr lang="zh-CN" altLang="en-US" dirty="0"/>
              <a:t>）</a:t>
            </a:r>
            <a:endParaRPr lang="zh-CN" altLang="en-US" dirty="0"/>
          </a:p>
          <a:p>
            <a:pPr lvl="0" eaLnBrk="1" hangingPunct="1"/>
            <a:r>
              <a:rPr lang="en-US" altLang="zh-CN" dirty="0"/>
              <a:t>(8) 100</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alpha val="0"/>
          </a:schemeClr>
        </a:solidFill>
        <a:effectLst/>
      </p:bgPr>
    </p:bg>
    <p:spTree>
      <p:nvGrpSpPr>
        <p:cNvPr id="1" name=""/>
        <p:cNvGrpSpPr/>
        <p:nvPr/>
      </p:nvGrpSpPr>
      <p:grpSpPr>
        <a:xfrm>
          <a:off x="0" y="0"/>
          <a:ext cx="0" cy="0"/>
          <a:chOff x="0" y="0"/>
          <a:chExt cx="0" cy="0"/>
        </a:xfrm>
      </p:grpSpPr>
      <p:sp>
        <p:nvSpPr>
          <p:cNvPr id="2052" name="AutoShape 7"/>
          <p:cNvSpPr/>
          <p:nvPr/>
        </p:nvSpPr>
        <p:spPr>
          <a:xfrm>
            <a:off x="685800" y="2393950"/>
            <a:ext cx="7772400" cy="109538"/>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pPr fontAlgn="base"/>
            <a:r>
              <a:rPr lang="zh-CN" altLang="en-US" strike="noStrike" noProof="1"/>
              <a:t>单击此处编辑母版标题样式</a:t>
            </a:r>
            <a:endParaRPr lang="zh-CN" altLang="en-US" strike="noStrike" noProof="1"/>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endParaRPr lang="zh-CN" altLang="en-US" strike="noStrike" noProof="1"/>
          </a:p>
        </p:txBody>
      </p:sp>
      <p:sp>
        <p:nvSpPr>
          <p:cNvPr id="1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12"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20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566738" y="304800"/>
            <a:ext cx="585470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566738" y="1752600"/>
            <a:ext cx="3924300" cy="4267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剪贴画占位符 3"/>
          <p:cNvSpPr>
            <a:spLocks noGrp="1"/>
          </p:cNvSpPr>
          <p:nvPr>
            <p:ph type="clipArt" sz="half" idx="2"/>
          </p:nvPr>
        </p:nvSpPr>
        <p:spPr>
          <a:xfrm>
            <a:off x="4643438" y="1752600"/>
            <a:ext cx="39243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566738" y="1752600"/>
            <a:ext cx="3924300" cy="4267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3438" y="1752600"/>
            <a:ext cx="3924300" cy="42672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566738" y="1752600"/>
            <a:ext cx="800100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566738" y="1752600"/>
            <a:ext cx="8001000" cy="20574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566738" y="3962400"/>
            <a:ext cx="8001000" cy="20574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p:sp>
        <p:nvSpPr>
          <p:cNvPr id="4098" name="Rectangle 2"/>
          <p:cNvSpPr>
            <a:spLocks noGrp="1" noChangeArrowheads="1"/>
          </p:cNvSpPr>
          <p:nvPr>
            <p:ph type="title"/>
          </p:nvPr>
        </p:nvSpPr>
        <p:spPr bwMode="auto">
          <a:xfrm>
            <a:off x="574675" y="304800"/>
            <a:ext cx="8001000" cy="1216025"/>
          </a:xfrm>
          <a:prstGeom prst="rect">
            <a:avLst/>
          </a:prstGeom>
          <a:noFill/>
          <a:ln w="9525">
            <a:noFill/>
            <a:miter lim="800000"/>
          </a:ln>
          <a:effectLst/>
        </p:spPr>
        <p:txBody>
          <a:bodyPr vert="horz" wrap="square" lIns="91440" tIns="45720" rIns="91440" bIns="45720" numCol="1" anchor="b" anchorCtr="0" compatLnSpc="1"/>
          <a:lstStyle/>
          <a:p>
            <a:pPr lvl="0" fontAlgn="base"/>
            <a:r>
              <a:rPr lang="zh-CN" altLang="en-US" strike="noStrike" noProof="1"/>
              <a:t>单击此处编辑母版标题样式</a:t>
            </a:r>
            <a:endParaRPr lang="zh-CN" altLang="en-US" strike="noStrike" noProof="1"/>
          </a:p>
        </p:txBody>
      </p:sp>
      <p:sp>
        <p:nvSpPr>
          <p:cNvPr id="4099" name="Rectangle 3"/>
          <p:cNvSpPr>
            <a:spLocks noGrp="1" noChangeArrowheads="1"/>
          </p:cNvSpPr>
          <p:nvPr>
            <p:ph type="body" idx="1"/>
          </p:nvPr>
        </p:nvSpPr>
        <p:spPr bwMode="auto">
          <a:xfrm>
            <a:off x="566738" y="1752600"/>
            <a:ext cx="8001000" cy="4267200"/>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28" name="AutoShape 4"/>
          <p:cNvSpPr/>
          <p:nvPr/>
        </p:nvSpPr>
        <p:spPr>
          <a:xfrm>
            <a:off x="609600" y="1566863"/>
            <a:ext cx="7958138" cy="109537"/>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4101" name="Line 5"/>
          <p:cNvSpPr>
            <a:spLocks noChangeShapeType="1"/>
          </p:cNvSpPr>
          <p:nvPr/>
        </p:nvSpPr>
        <p:spPr bwMode="auto">
          <a:xfrm flipV="1">
            <a:off x="609600" y="6172200"/>
            <a:ext cx="7924800" cy="0"/>
          </a:xfrm>
          <a:prstGeom prst="line">
            <a:avLst/>
          </a:prstGeom>
          <a:noFill/>
          <a:ln w="3175">
            <a:solidFill>
              <a:schemeClr val="accent2"/>
            </a:solidFill>
            <a:roun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b="0">
                <a:solidFill>
                  <a:schemeClr val="tx1"/>
                </a:solidFill>
                <a:effectLs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b="0">
                <a:solidFill>
                  <a:schemeClr val="tx1"/>
                </a:solidFill>
                <a:effectLs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sym typeface="Symbol" panose="05050102010706020507" pitchFamily="18" charset="2"/>
            </a:endParaRPr>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chemeClr val="tx1"/>
                </a:solidFill>
              </a:defRPr>
            </a:lvl1pPr>
          </a:lstStyle>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l" rtl="0" fontAlgn="base">
        <a:spcBef>
          <a:spcPct val="0"/>
        </a:spcBef>
        <a:spcAft>
          <a:spcPct val="0"/>
        </a:spcAft>
        <a:defRPr sz="3800" b="1">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effectLst>
            <a:outerShdw blurRad="38100" dist="38100" dir="2700000" algn="tl">
              <a:srgbClr val="C0C0C0"/>
            </a:outerShdw>
          </a:effectLst>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effectLst>
            <a:outerShdw blurRad="38100" dist="38100" dir="2700000" algn="tl">
              <a:srgbClr val="C0C0C0"/>
            </a:outerShdw>
          </a:effectLst>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effectLst>
            <a:outerShdw blurRad="38100" dist="38100" dir="2700000" algn="tl">
              <a:srgbClr val="C0C0C0"/>
            </a:outerShdw>
          </a:effectLst>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effectLst>
            <a:outerShdw blurRad="38100" dist="38100" dir="2700000" algn="tl">
              <a:srgbClr val="C0C0C0"/>
            </a:outerShdw>
          </a:effectLst>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3.w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4.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jackyyu.synology.me:5001/sharing/pOddKmiKH"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w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image" Target="../media/image16.wm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w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w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image" Target="../media/image22.w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wm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tags" Target="../tags/tag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tags" Target="../tags/tag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tags" Target="../tags/tag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Rectangle 2"/>
          <p:cNvSpPr>
            <a:spLocks noGrp="1" noChangeArrowheads="1"/>
          </p:cNvSpPr>
          <p:nvPr>
            <p:ph type="ctr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数据结构（</a:t>
            </a:r>
            <a:r>
              <a:rPr kumimoji="0" lang="en-US" altLang="zh-CN"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Data Structure</a:t>
            </a:r>
            <a:r>
              <a:rPr kumimoji="0" lang="zh-CN" altLang="en-US"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endParaRPr kumimoji="0" lang="zh-CN" altLang="en-US"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51" name="Rectangle 3"/>
          <p:cNvSpPr>
            <a:spLocks noGrp="1" noChangeArrowheads="1"/>
          </p:cNvSpPr>
          <p:nvPr>
            <p:ph type="subTitle" idx="1"/>
          </p:nvPr>
        </p:nvSpPr>
        <p:spPr>
          <a:xfrm>
            <a:off x="899795" y="3644900"/>
            <a:ext cx="7010400" cy="1600200"/>
          </a:xfrm>
        </p:spPr>
        <p:txBody>
          <a:bodyPr vert="horz" wrap="square" lIns="91440" tIns="45720" rIns="91440" bIns="45720" numCol="1" anchor="t" anchorCtr="0" compatLnSpc="1"/>
          <a:lstStyle/>
          <a:p>
            <a:pPr marL="457200" marR="0" lvl="1" indent="-4572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刘婷婷</a:t>
            </a: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Email</a:t>
            </a:r>
            <a:r>
              <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liutingting@lnu.edu.cn</a:t>
            </a:r>
            <a:endParaRPr kumimoji="0" lang="en-US" altLang="zh-CN"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第一章 绪论</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14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1.1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什么是数据结构</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1.2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基本概念和术语</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1.3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抽象数据类型的表示与实现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1.4  </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算法和算法分析</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1.4.1  </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算法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1.4.2  </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算法设计的要求</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1.4.3  </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算法效率的度量</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1.4.4  </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算法的存储空间的需求</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3800" b="1" i="0" u="none" strike="noStrike" kern="0" cap="none" spc="0" normalizeH="0" baseline="0" noProof="1">
                <a:solidFill>
                  <a:srgbClr val="FF0000"/>
                </a:solidFill>
                <a:effectLst>
                  <a:outerShdw blurRad="38100" dist="38100" dir="2700000" algn="tl">
                    <a:srgbClr val="C0C0C0"/>
                  </a:outerShdw>
                </a:effectLst>
                <a:latin typeface="+mj-lt"/>
                <a:ea typeface="+mj-ea"/>
                <a:cs typeface="+mj-cs"/>
                <a:sym typeface="+mn-ea"/>
              </a:rPr>
              <a:t>本节课的</a:t>
            </a:r>
            <a:r>
              <a:rPr kumimoji="0" lang="zh-CN" altLang="en-US" sz="3800" b="1" i="0" u="none" strike="noStrike" kern="0" cap="none" spc="0" normalizeH="0" baseline="0" noProof="1">
                <a:solidFill>
                  <a:srgbClr val="FF0000"/>
                </a:solidFill>
                <a:effectLst>
                  <a:outerShdw blurRad="38100" dist="38100" dir="2700000" algn="tl">
                    <a:srgbClr val="C0C0C0"/>
                  </a:outerShdw>
                </a:effectLst>
                <a:latin typeface="+mj-lt"/>
                <a:ea typeface="+mj-ea"/>
                <a:cs typeface="+mj-cs"/>
                <a:sym typeface="+mn-ea"/>
              </a:rPr>
              <a:t>学习重点：</a:t>
            </a:r>
            <a:endParaRPr kumimoji="0" lang="zh-CN" altLang="en-US" sz="3800" b="1" i="0" u="none" strike="noStrike" kern="0" cap="none" spc="0" normalizeH="0" baseline="0" noProof="1">
              <a:solidFill>
                <a:schemeClr val="tx2"/>
              </a:solidFill>
              <a:effectLst>
                <a:outerShdw blurRad="38100" dist="38100" dir="2700000" algn="tl">
                  <a:srgbClr val="C0C0C0"/>
                </a:outerShdw>
              </a:effectLst>
              <a:latin typeface="+mj-lt"/>
              <a:ea typeface="+mj-ea"/>
              <a:cs typeface="+mj-cs"/>
            </a:endParaRPr>
          </a:p>
        </p:txBody>
      </p:sp>
      <p:sp>
        <p:nvSpPr>
          <p:cNvPr id="3" name="内容占位符 2"/>
          <p:cNvSpPr>
            <a:spLocks noGrp="1"/>
          </p:cNvSpPr>
          <p:nvPr>
            <p:ph idx="1"/>
          </p:nvPr>
        </p:nvSpPr>
        <p:spPr/>
        <p:txBody>
          <a:bodyPr/>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pPr>
            <a:endParaRPr kumimoji="0" lang="zh-CN" altLang="en-US" sz="4000" b="1" i="0" u="none" strike="noStrike" kern="0" cap="none" spc="0" normalizeH="0" baseline="0" noProof="1">
              <a:solidFill>
                <a:srgbClr val="FF0000"/>
              </a:solidFill>
              <a:effectLst>
                <a:outerShdw blurRad="38100" dist="38100" dir="2700000" algn="tl">
                  <a:srgbClr val="C0C0C0"/>
                </a:outerShdw>
              </a:effectLst>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4000" b="1" i="0" u="none" strike="noStrike" kern="0" cap="none" spc="0" normalizeH="0" baseline="0" noProof="1">
                <a:solidFill>
                  <a:srgbClr val="FF0000"/>
                </a:solidFill>
                <a:effectLst>
                  <a:outerShdw blurRad="38100" dist="38100" dir="2700000" algn="tl">
                    <a:srgbClr val="C0C0C0"/>
                  </a:outerShdw>
                </a:effectLst>
                <a:latin typeface="+mn-lt"/>
                <a:ea typeface="+mn-ea"/>
                <a:cs typeface="+mn-cs"/>
              </a:rPr>
              <a:t>理解，什么是数据结构。</a:t>
            </a:r>
            <a:endParaRPr kumimoji="0" lang="zh-CN" altLang="en-US" sz="4000" b="1" i="0" u="none" strike="noStrike" kern="0" cap="none" spc="0" normalizeH="0" baseline="0" noProof="1">
              <a:solidFill>
                <a:srgbClr val="FF0000"/>
              </a:solidFill>
              <a:effectLst>
                <a:outerShdw blurRad="38100" dist="38100" dir="2700000" algn="tl">
                  <a:srgbClr val="C0C0C0"/>
                </a:outerShdw>
              </a:effectLst>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mn-ea"/>
              </a:rPr>
              <a:t>1.1  </a:t>
            </a: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mn-ea"/>
              </a:rPr>
              <a:t>什么是数据结构</a:t>
            </a:r>
            <a:b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mn-ea"/>
              </a:rPr>
            </a:br>
            <a:r>
              <a:rPr kumimoji="0"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mn-ea"/>
              </a:rPr>
              <a:t>       </a:t>
            </a:r>
            <a:r>
              <a:rPr kumimoji="0" lang="en-US" altLang="zh-CN"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sym typeface="+mn-ea"/>
              </a:rPr>
              <a:t>——</a:t>
            </a:r>
            <a:r>
              <a:rPr kumimoji="0" lang="zh-CN" altLang="en-US"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数据结构的产生背景</a:t>
            </a:r>
            <a:endParaRPr kumimoji="0" lang="zh-CN" altLang="en-US" sz="32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早期计算机主要用于科学计算；</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计算机的应用已经不再局限于科学计算，更多的控制</a:t>
            </a:r>
            <a:r>
              <a:rPr kumimoji="0" lang="zh-CN" altLang="en-US" sz="3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非数值型数据</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领域；</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计算机可以处理的</a:t>
            </a:r>
            <a:r>
              <a:rPr kumimoji="0" lang="zh-CN" altLang="en-US" sz="3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数据类型</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包括：字符、表格、图形、图像、声音等；</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如何</a:t>
            </a:r>
            <a:r>
              <a:rPr kumimoji="0" lang="zh-CN" altLang="en-US" sz="3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组织</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存储</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处理</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这些数据呢；</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人们提出</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Arial" panose="020B0604020202020204" pitchFamily="34" charset="0"/>
                <a:ea typeface="+mn-ea"/>
                <a:cs typeface="Arial" panose="020B0604020202020204" pitchFamily="34" charset="0"/>
              </a:rPr>
              <a:t>→数据结构。</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什么是数据结构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717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数值计算问题</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鸡兔同笼</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二元一次方程组</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求解梁架结构中应力</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线性方程组</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预报人口增长</a:t>
            </a:r>
            <a:r>
              <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微分方程</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非数值计算问题（本课程研究的     ）</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图书馆检索系统</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人机对弈</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多叉路口交通灯管理</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★操作对象的结构</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endParaRPr kumimoji="0" lang="en-US" altLang="zh-CN"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pic>
        <p:nvPicPr>
          <p:cNvPr id="9219" name="20 8"/>
          <p:cNvPicPr>
            <a:picLocks noChangeAspect="1"/>
          </p:cNvPicPr>
          <p:nvPr/>
        </p:nvPicPr>
        <p:blipFill>
          <a:blip r:embed="rId1"/>
          <a:stretch>
            <a:fillRect/>
          </a:stretch>
        </p:blipFill>
        <p:spPr>
          <a:xfrm>
            <a:off x="6516688" y="3598863"/>
            <a:ext cx="628650" cy="4064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2" name="Rectangle 6"/>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图书馆检索系统</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0242" name="Picture 7"/>
          <p:cNvPicPr>
            <a:picLocks noChangeAspect="1"/>
          </p:cNvPicPr>
          <p:nvPr/>
        </p:nvPicPr>
        <p:blipFill>
          <a:blip r:embed="rId1"/>
          <a:stretch>
            <a:fillRect/>
          </a:stretch>
        </p:blipFill>
        <p:spPr>
          <a:xfrm>
            <a:off x="539750" y="2133600"/>
            <a:ext cx="8064500" cy="4516438"/>
          </a:xfrm>
          <a:prstGeom prst="rect">
            <a:avLst/>
          </a:prstGeom>
          <a:noFill/>
          <a:ln w="9525">
            <a:noFill/>
          </a:ln>
        </p:spPr>
      </p:pic>
      <p:sp>
        <p:nvSpPr>
          <p:cNvPr id="10243" name="Rectangle 5"/>
          <p:cNvSpPr/>
          <p:nvPr/>
        </p:nvSpPr>
        <p:spPr>
          <a:xfrm>
            <a:off x="539750" y="1844675"/>
            <a:ext cx="1200150" cy="396875"/>
          </a:xfrm>
          <a:prstGeom prst="rect">
            <a:avLst/>
          </a:prstGeom>
          <a:noFill/>
          <a:ln w="9525">
            <a:noFill/>
          </a:ln>
        </p:spPr>
        <p:txBody>
          <a:bodyPr wrap="none" anchor="b" anchorCtr="0">
            <a:spAutoFit/>
          </a:bodyPr>
          <a:p>
            <a:pPr algn="ctr"/>
            <a:r>
              <a:rPr lang="zh-CN" altLang="en-US" b="0" dirty="0">
                <a:solidFill>
                  <a:schemeClr val="tx1"/>
                </a:solidFill>
                <a:latin typeface="Verdana" panose="020B0604030504040204" pitchFamily="34" charset="0"/>
                <a:ea typeface="宋体" panose="02010600030101010101" pitchFamily="2" charset="-122"/>
              </a:rPr>
              <a:t>线性结构</a:t>
            </a:r>
            <a:endParaRPr lang="zh-CN" altLang="en-US" b="0" dirty="0">
              <a:solidFill>
                <a:schemeClr val="tx1"/>
              </a:solidFill>
              <a:latin typeface="Verdana" panose="020B060403050404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5"/>
          <p:cNvSpPr/>
          <p:nvPr/>
        </p:nvSpPr>
        <p:spPr>
          <a:xfrm>
            <a:off x="684213" y="1916113"/>
            <a:ext cx="946150" cy="396875"/>
          </a:xfrm>
          <a:prstGeom prst="rect">
            <a:avLst/>
          </a:prstGeom>
          <a:noFill/>
          <a:ln w="9525">
            <a:noFill/>
          </a:ln>
        </p:spPr>
        <p:txBody>
          <a:bodyPr wrap="none" anchor="b" anchorCtr="0">
            <a:spAutoFit/>
          </a:bodyPr>
          <a:p>
            <a:pPr algn="ctr"/>
            <a:r>
              <a:rPr lang="zh-CN" altLang="en-US" b="0" dirty="0">
                <a:solidFill>
                  <a:schemeClr val="tx1"/>
                </a:solidFill>
                <a:latin typeface="Verdana" panose="020B0604030504040204" pitchFamily="34" charset="0"/>
                <a:ea typeface="宋体" panose="02010600030101010101" pitchFamily="2" charset="-122"/>
              </a:rPr>
              <a:t>树结构</a:t>
            </a:r>
            <a:endParaRPr lang="zh-CN" altLang="en-US" b="0" dirty="0">
              <a:solidFill>
                <a:schemeClr val="tx1"/>
              </a:solidFill>
              <a:latin typeface="Verdana" panose="020B0604030504040204" pitchFamily="34" charset="0"/>
              <a:ea typeface="宋体" panose="02010600030101010101" pitchFamily="2" charset="-122"/>
            </a:endParaRPr>
          </a:p>
        </p:txBody>
      </p:sp>
      <p:sp>
        <p:nvSpPr>
          <p:cNvPr id="10246" name="Rectangle 6"/>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人机对弈</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2291" name="Picture 7"/>
          <p:cNvPicPr>
            <a:picLocks noChangeAspect="1"/>
          </p:cNvPicPr>
          <p:nvPr/>
        </p:nvPicPr>
        <p:blipFill>
          <a:blip r:embed="rId1"/>
          <a:stretch>
            <a:fillRect/>
          </a:stretch>
        </p:blipFill>
        <p:spPr>
          <a:xfrm>
            <a:off x="1116013" y="2636838"/>
            <a:ext cx="6896100" cy="3078162"/>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70" name="Rectangle 6"/>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多叉路口交通灯管理</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14338" name="Picture 7"/>
          <p:cNvPicPr>
            <a:picLocks noChangeAspect="1"/>
          </p:cNvPicPr>
          <p:nvPr/>
        </p:nvPicPr>
        <p:blipFill>
          <a:blip r:embed="rId1"/>
          <a:stretch>
            <a:fillRect/>
          </a:stretch>
        </p:blipFill>
        <p:spPr>
          <a:xfrm>
            <a:off x="684213" y="1628775"/>
            <a:ext cx="8115300" cy="4643438"/>
          </a:xfrm>
          <a:prstGeom prst="rect">
            <a:avLst/>
          </a:prstGeom>
          <a:noFill/>
          <a:ln w="9525">
            <a:noFill/>
          </a:ln>
        </p:spPr>
      </p:pic>
      <p:sp>
        <p:nvSpPr>
          <p:cNvPr id="14339" name="Rectangle 5"/>
          <p:cNvSpPr/>
          <p:nvPr/>
        </p:nvSpPr>
        <p:spPr>
          <a:xfrm>
            <a:off x="611188" y="1844675"/>
            <a:ext cx="946150" cy="396875"/>
          </a:xfrm>
          <a:prstGeom prst="rect">
            <a:avLst/>
          </a:prstGeom>
          <a:noFill/>
          <a:ln w="9525">
            <a:noFill/>
          </a:ln>
        </p:spPr>
        <p:txBody>
          <a:bodyPr wrap="none" anchor="b" anchorCtr="0">
            <a:spAutoFit/>
          </a:bodyPr>
          <a:p>
            <a:pPr algn="ctr"/>
            <a:r>
              <a:rPr lang="zh-CN" altLang="en-US" b="0" dirty="0">
                <a:solidFill>
                  <a:schemeClr val="tx1"/>
                </a:solidFill>
                <a:latin typeface="Verdana" panose="020B0604030504040204" pitchFamily="34" charset="0"/>
                <a:ea typeface="宋体" panose="02010600030101010101" pitchFamily="2" charset="-122"/>
              </a:rPr>
              <a:t>图结构</a:t>
            </a:r>
            <a:endParaRPr lang="zh-CN" altLang="en-US" b="0" dirty="0">
              <a:solidFill>
                <a:schemeClr val="tx1"/>
              </a:solidFill>
              <a:latin typeface="Verdana" panose="020B060403050404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1.1  </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什么是数据结构</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6386" name="文本框 3"/>
          <p:cNvSpPr txBox="1"/>
          <p:nvPr/>
        </p:nvSpPr>
        <p:spPr>
          <a:xfrm>
            <a:off x="468313" y="2405063"/>
            <a:ext cx="8107362" cy="2232025"/>
          </a:xfrm>
          <a:prstGeom prst="rect">
            <a:avLst/>
          </a:prstGeom>
          <a:noFill/>
          <a:ln w="9525">
            <a:noFill/>
          </a:ln>
        </p:spPr>
        <p:txBody>
          <a:bodyPr anchor="t" anchorCtr="0">
            <a:spAutoFit/>
          </a:bodyPr>
          <a:p>
            <a:pPr marL="177800" algn="just">
              <a:lnSpc>
                <a:spcPct val="150000"/>
              </a:lnSpc>
              <a:buClrTx/>
              <a:buFontTx/>
            </a:pPr>
            <a:r>
              <a:rPr lang="zh-CN" altLang="zh-CN" sz="3200" dirty="0">
                <a:latin typeface="等线" panose="02010600030101010101" pitchFamily="2" charset="-122"/>
                <a:ea typeface="等线" panose="02010600030101010101" pitchFamily="2" charset="-122"/>
              </a:rPr>
              <a:t>综上，描述这类非数值计算问题的数学模型不再是数学方程，而是诸如表、树和图之类的数据结构</a:t>
            </a:r>
            <a:r>
              <a:rPr lang="zh-CN" altLang="en-US" sz="3200" dirty="0">
                <a:latin typeface="等线" panose="02010600030101010101" pitchFamily="2" charset="-122"/>
                <a:ea typeface="等线" panose="02010600030101010101" pitchFamily="2" charset="-122"/>
              </a:rPr>
              <a:t>（狭义）</a:t>
            </a:r>
            <a:r>
              <a:rPr lang="zh-CN" altLang="zh-CN" sz="3200" dirty="0">
                <a:latin typeface="等线" panose="02010600030101010101" pitchFamily="2" charset="-122"/>
                <a:ea typeface="等线" panose="02010600030101010101" pitchFamily="2" charset="-122"/>
              </a:rPr>
              <a:t>。</a:t>
            </a:r>
            <a:endParaRPr lang="zh-CN" altLang="zh-CN" sz="3200" dirty="0">
              <a:latin typeface="等线" panose="02010600030101010101" pitchFamily="2" charset="-122"/>
              <a:ea typeface="等线"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1.1  </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什么是数据结构</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195" name="Rectangle 3"/>
          <p:cNvSpPr>
            <a:spLocks noGrp="1" noChangeArrowheads="1"/>
          </p:cNvSpPr>
          <p:nvPr>
            <p:ph idx="1"/>
          </p:nvPr>
        </p:nvSpPr>
        <p:spPr>
          <a:xfrm>
            <a:off x="566738" y="1752600"/>
            <a:ext cx="3860800"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数据结构是一门研究非数值计算的程序设计问题中计算机操作</a:t>
            </a:r>
            <a:r>
              <a:rPr kumimoji="0" lang="zh-CN" altLang="en-US"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对象</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以及它们之间</a:t>
            </a:r>
            <a:r>
              <a:rPr kumimoji="0" lang="zh-CN" altLang="en-US" sz="30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mn-lt"/>
                <a:ea typeface="+mn-ea"/>
                <a:cs typeface="+mn-cs"/>
              </a:rPr>
              <a:t>关系和操作</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等的学科</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17411" name="Picture 5"/>
          <p:cNvPicPr>
            <a:picLocks noChangeAspect="1"/>
          </p:cNvPicPr>
          <p:nvPr/>
        </p:nvPicPr>
        <p:blipFill>
          <a:blip r:embed="rId1"/>
          <a:stretch>
            <a:fillRect/>
          </a:stretch>
        </p:blipFill>
        <p:spPr>
          <a:xfrm>
            <a:off x="4427538" y="1916113"/>
            <a:ext cx="4222750" cy="3862387"/>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1.1  </a:t>
            </a: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什么是数据结构</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请同学们结合以下三个例子思考：</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）如何理解对象、关系、操作？</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）关注对象、关系、操作，对我们解决问题有帮助吗？</a:t>
            </a:r>
            <a:endParaRPr kumimoji="0" lang="en-US" altLang="zh-CN"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：如何在书架上摆放图书？</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方法一：随便放</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方法二：按照书名的拼音字母顺序摆放</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方法三：先按照图书类别分区，再在区域内按照书名拼音字母顺序摆放</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存在的两个问题：</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存储空间如何划分？</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图书类别分区的粒度？</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15" end="23"/>
                                            </p:txEl>
                                          </p:spTgt>
                                        </p:tgtEl>
                                        <p:attrNameLst>
                                          <p:attrName>style.visibility</p:attrName>
                                        </p:attrNameLst>
                                      </p:cBhvr>
                                      <p:to>
                                        <p:strVal val="visible"/>
                                      </p:to>
                                    </p:set>
                                    <p:anim calcmode="lin" valueType="num">
                                      <p:cBhvr>
                                        <p:cTn id="7" dur="500" fill="hold"/>
                                        <p:tgtEl>
                                          <p:spTgt spid="3">
                                            <p:txEl>
                                              <p:charRg st="15" end="23"/>
                                            </p:txEl>
                                          </p:spTgt>
                                        </p:tgtEl>
                                        <p:attrNameLst>
                                          <p:attrName>ppt_x</p:attrName>
                                        </p:attrNameLst>
                                      </p:cBhvr>
                                      <p:tavLst>
                                        <p:tav tm="0">
                                          <p:val>
                                            <p:strVal val="#ppt_x"/>
                                          </p:val>
                                        </p:tav>
                                        <p:tav tm="100000">
                                          <p:val>
                                            <p:strVal val="#ppt_x"/>
                                          </p:val>
                                        </p:tav>
                                      </p:tavLst>
                                    </p:anim>
                                    <p:anim calcmode="lin" valueType="num">
                                      <p:cBhvr>
                                        <p:cTn id="8" dur="500" fill="hold"/>
                                        <p:tgtEl>
                                          <p:spTgt spid="3">
                                            <p:txEl>
                                              <p:charRg st="15" end="2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charRg st="23" end="41"/>
                                            </p:txEl>
                                          </p:spTgt>
                                        </p:tgtEl>
                                        <p:attrNameLst>
                                          <p:attrName>style.visibility</p:attrName>
                                        </p:attrNameLst>
                                      </p:cBhvr>
                                      <p:to>
                                        <p:strVal val="visible"/>
                                      </p:to>
                                    </p:set>
                                    <p:anim calcmode="lin" valueType="num">
                                      <p:cBhvr>
                                        <p:cTn id="13" dur="500" fill="hold"/>
                                        <p:tgtEl>
                                          <p:spTgt spid="3">
                                            <p:txEl>
                                              <p:charRg st="23" end="41"/>
                                            </p:txEl>
                                          </p:spTgt>
                                        </p:tgtEl>
                                        <p:attrNameLst>
                                          <p:attrName>ppt_x</p:attrName>
                                        </p:attrNameLst>
                                      </p:cBhvr>
                                      <p:tavLst>
                                        <p:tav tm="0">
                                          <p:val>
                                            <p:strVal val="#ppt_x"/>
                                          </p:val>
                                        </p:tav>
                                        <p:tav tm="100000">
                                          <p:val>
                                            <p:strVal val="#ppt_x"/>
                                          </p:val>
                                        </p:tav>
                                      </p:tavLst>
                                    </p:anim>
                                    <p:anim calcmode="lin" valueType="num">
                                      <p:cBhvr>
                                        <p:cTn id="14" dur="500" fill="hold"/>
                                        <p:tgtEl>
                                          <p:spTgt spid="3">
                                            <p:txEl>
                                              <p:charRg st="23" end="4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charRg st="41" end="73"/>
                                            </p:txEl>
                                          </p:spTgt>
                                        </p:tgtEl>
                                        <p:attrNameLst>
                                          <p:attrName>style.visibility</p:attrName>
                                        </p:attrNameLst>
                                      </p:cBhvr>
                                      <p:to>
                                        <p:strVal val="visible"/>
                                      </p:to>
                                    </p:set>
                                    <p:anim calcmode="lin" valueType="num">
                                      <p:cBhvr>
                                        <p:cTn id="19" dur="500" fill="hold"/>
                                        <p:tgtEl>
                                          <p:spTgt spid="3">
                                            <p:txEl>
                                              <p:charRg st="41" end="73"/>
                                            </p:txEl>
                                          </p:spTgt>
                                        </p:tgtEl>
                                        <p:attrNameLst>
                                          <p:attrName>ppt_x</p:attrName>
                                        </p:attrNameLst>
                                      </p:cBhvr>
                                      <p:tavLst>
                                        <p:tav tm="0">
                                          <p:val>
                                            <p:strVal val="#ppt_x"/>
                                          </p:val>
                                        </p:tav>
                                        <p:tav tm="100000">
                                          <p:val>
                                            <p:strVal val="#ppt_x"/>
                                          </p:val>
                                        </p:tav>
                                      </p:tavLst>
                                    </p:anim>
                                    <p:anim calcmode="lin" valueType="num">
                                      <p:cBhvr>
                                        <p:cTn id="20" dur="500" fill="hold"/>
                                        <p:tgtEl>
                                          <p:spTgt spid="3">
                                            <p:txEl>
                                              <p:charRg st="41" end="7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charRg st="73" end="82"/>
                                            </p:txEl>
                                          </p:spTgt>
                                        </p:tgtEl>
                                        <p:attrNameLst>
                                          <p:attrName>style.visibility</p:attrName>
                                        </p:attrNameLst>
                                      </p:cBhvr>
                                      <p:to>
                                        <p:strVal val="visible"/>
                                      </p:to>
                                    </p:set>
                                    <p:anim calcmode="lin" valueType="num">
                                      <p:cBhvr>
                                        <p:cTn id="25" dur="500" fill="hold"/>
                                        <p:tgtEl>
                                          <p:spTgt spid="3">
                                            <p:txEl>
                                              <p:charRg st="73" end="82"/>
                                            </p:txEl>
                                          </p:spTgt>
                                        </p:tgtEl>
                                        <p:attrNameLst>
                                          <p:attrName>ppt_x</p:attrName>
                                        </p:attrNameLst>
                                      </p:cBhvr>
                                      <p:tavLst>
                                        <p:tav tm="0">
                                          <p:val>
                                            <p:strVal val="#ppt_x"/>
                                          </p:val>
                                        </p:tav>
                                        <p:tav tm="100000">
                                          <p:val>
                                            <p:strVal val="#ppt_x"/>
                                          </p:val>
                                        </p:tav>
                                      </p:tavLst>
                                    </p:anim>
                                    <p:anim calcmode="lin" valueType="num">
                                      <p:cBhvr>
                                        <p:cTn id="26" dur="500" fill="hold"/>
                                        <p:tgtEl>
                                          <p:spTgt spid="3">
                                            <p:txEl>
                                              <p:charRg st="73" end="8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charRg st="82" end="92"/>
                                            </p:txEl>
                                          </p:spTgt>
                                        </p:tgtEl>
                                        <p:attrNameLst>
                                          <p:attrName>style.visibility</p:attrName>
                                        </p:attrNameLst>
                                      </p:cBhvr>
                                      <p:to>
                                        <p:strVal val="visible"/>
                                      </p:to>
                                    </p:set>
                                    <p:anim calcmode="lin" valueType="num">
                                      <p:cBhvr>
                                        <p:cTn id="29" dur="500" fill="hold"/>
                                        <p:tgtEl>
                                          <p:spTgt spid="3">
                                            <p:txEl>
                                              <p:charRg st="82" end="92"/>
                                            </p:txEl>
                                          </p:spTgt>
                                        </p:tgtEl>
                                        <p:attrNameLst>
                                          <p:attrName>ppt_x</p:attrName>
                                        </p:attrNameLst>
                                      </p:cBhvr>
                                      <p:tavLst>
                                        <p:tav tm="0">
                                          <p:val>
                                            <p:strVal val="#ppt_x"/>
                                          </p:val>
                                        </p:tav>
                                        <p:tav tm="100000">
                                          <p:val>
                                            <p:strVal val="#ppt_x"/>
                                          </p:val>
                                        </p:tav>
                                      </p:tavLst>
                                    </p:anim>
                                    <p:anim calcmode="lin" valueType="num">
                                      <p:cBhvr>
                                        <p:cTn id="30" dur="500" fill="hold"/>
                                        <p:tgtEl>
                                          <p:spTgt spid="3">
                                            <p:txEl>
                                              <p:charRg st="82" end="92"/>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charRg st="92" end="103"/>
                                            </p:txEl>
                                          </p:spTgt>
                                        </p:tgtEl>
                                        <p:attrNameLst>
                                          <p:attrName>style.visibility</p:attrName>
                                        </p:attrNameLst>
                                      </p:cBhvr>
                                      <p:to>
                                        <p:strVal val="visible"/>
                                      </p:to>
                                    </p:set>
                                    <p:anim calcmode="lin" valueType="num">
                                      <p:cBhvr>
                                        <p:cTn id="33" dur="500" fill="hold"/>
                                        <p:tgtEl>
                                          <p:spTgt spid="3">
                                            <p:txEl>
                                              <p:charRg st="92" end="103"/>
                                            </p:txEl>
                                          </p:spTgt>
                                        </p:tgtEl>
                                        <p:attrNameLst>
                                          <p:attrName>ppt_x</p:attrName>
                                        </p:attrNameLst>
                                      </p:cBhvr>
                                      <p:tavLst>
                                        <p:tav tm="0">
                                          <p:val>
                                            <p:strVal val="#ppt_x"/>
                                          </p:val>
                                        </p:tav>
                                        <p:tav tm="100000">
                                          <p:val>
                                            <p:strVal val="#ppt_x"/>
                                          </p:val>
                                        </p:tav>
                                      </p:tavLst>
                                    </p:anim>
                                    <p:anim calcmode="lin" valueType="num">
                                      <p:cBhvr>
                                        <p:cTn id="34" dur="500" fill="hold"/>
                                        <p:tgtEl>
                                          <p:spTgt spid="3">
                                            <p:txEl>
                                              <p:charRg st="92" end="10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想说明的问题是：</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解决问题方法的效率，</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跟</a:t>
            </a:r>
            <a:r>
              <a:rPr kumimoji="0" lang="zh-CN" altLang="en-US" sz="3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数据的组织方式</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有关。</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：写程序实现一个函数</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PrintN,</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使得传入一个正整数为</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的参数后，能顺序打印从</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到</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的全部正整数。</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22531" name="20 3"/>
          <p:cNvPicPr>
            <a:picLocks noChangeAspect="1"/>
          </p:cNvPicPr>
          <p:nvPr/>
        </p:nvPicPr>
        <p:blipFill>
          <a:blip r:embed="rId1"/>
          <a:stretch>
            <a:fillRect/>
          </a:stretch>
        </p:blipFill>
        <p:spPr>
          <a:xfrm>
            <a:off x="674688" y="3368675"/>
            <a:ext cx="3257550" cy="1763713"/>
          </a:xfrm>
          <a:prstGeom prst="rect">
            <a:avLst/>
          </a:prstGeom>
          <a:noFill/>
          <a:ln w="9525">
            <a:noFill/>
          </a:ln>
        </p:spPr>
      </p:pic>
      <p:pic>
        <p:nvPicPr>
          <p:cNvPr id="22532" name="20 4"/>
          <p:cNvPicPr>
            <a:picLocks noChangeAspect="1"/>
          </p:cNvPicPr>
          <p:nvPr/>
        </p:nvPicPr>
        <p:blipFill>
          <a:blip r:embed="rId2"/>
          <a:stretch>
            <a:fillRect/>
          </a:stretch>
        </p:blipFill>
        <p:spPr>
          <a:xfrm>
            <a:off x="4849813" y="3368675"/>
            <a:ext cx="3117850" cy="168910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递归过程示意图</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graphicFrame>
        <p:nvGraphicFramePr>
          <p:cNvPr id="23554" name="内容占位符 3"/>
          <p:cNvGraphicFramePr>
            <a:graphicFrameLocks noChangeAspect="1"/>
          </p:cNvGraphicFramePr>
          <p:nvPr>
            <p:ph idx="1"/>
          </p:nvPr>
        </p:nvGraphicFramePr>
        <p:xfrm>
          <a:off x="568325" y="2465388"/>
          <a:ext cx="7997825" cy="2838450"/>
        </p:xfrm>
        <a:graphic>
          <a:graphicData uri="http://schemas.openxmlformats.org/presentationml/2006/ole">
            <mc:AlternateContent xmlns:mc="http://schemas.openxmlformats.org/markup-compatibility/2006">
              <mc:Choice xmlns:v="urn:schemas-microsoft-com:vml" Requires="v">
                <p:oleObj spid="_x0000_s3076" name="" r:id="rId1" imgW="7998460" imgH="2842260" progId="Visio.Drawing.15">
                  <p:embed/>
                </p:oleObj>
              </mc:Choice>
              <mc:Fallback>
                <p:oleObj name="" r:id="rId1" imgW="7998460" imgH="2842260" progId="Visio.Drawing.15">
                  <p:embed/>
                  <p:pic>
                    <p:nvPicPr>
                      <p:cNvPr id="0" name="20 3075"/>
                      <p:cNvPicPr/>
                      <p:nvPr/>
                    </p:nvPicPr>
                    <p:blipFill>
                      <a:blip r:embed="rId2"/>
                      <a:stretch>
                        <a:fillRect/>
                      </a:stretch>
                    </p:blipFill>
                    <p:spPr>
                      <a:xfrm>
                        <a:off x="568325" y="2465388"/>
                        <a:ext cx="7997825" cy="2838450"/>
                      </a:xfrm>
                      <a:prstGeom prst="rect">
                        <a:avLst/>
                      </a:prstGeom>
                      <a:noFill/>
                      <a:ln w="38100">
                        <a:miter/>
                      </a:ln>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想说明的问题是：</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解决问题方法的效率，</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跟</a:t>
            </a:r>
            <a:r>
              <a:rPr kumimoji="0" lang="zh-CN" altLang="en-US" sz="3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空间的利用效率</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有关。</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：写程序</a:t>
            </a:r>
            <a:r>
              <a:rPr kumimoji="0" 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计算给定多项式在给定点</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x</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处的值</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25603" name="20 5"/>
          <p:cNvPicPr>
            <a:picLocks noChangeAspect="1"/>
          </p:cNvPicPr>
          <p:nvPr/>
        </p:nvPicPr>
        <p:blipFill>
          <a:blip r:embed="rId1"/>
          <a:stretch>
            <a:fillRect/>
          </a:stretch>
        </p:blipFill>
        <p:spPr>
          <a:xfrm>
            <a:off x="766763" y="2212975"/>
            <a:ext cx="3976687" cy="446088"/>
          </a:xfrm>
          <a:prstGeom prst="rect">
            <a:avLst/>
          </a:prstGeom>
          <a:noFill/>
          <a:ln w="9525">
            <a:noFill/>
          </a:ln>
        </p:spPr>
      </p:pic>
      <p:pic>
        <p:nvPicPr>
          <p:cNvPr id="25604" name="20 6"/>
          <p:cNvPicPr>
            <a:picLocks noChangeAspect="1"/>
          </p:cNvPicPr>
          <p:nvPr/>
        </p:nvPicPr>
        <p:blipFill>
          <a:blip r:embed="rId2"/>
          <a:stretch>
            <a:fillRect/>
          </a:stretch>
        </p:blipFill>
        <p:spPr>
          <a:xfrm>
            <a:off x="766763" y="2717800"/>
            <a:ext cx="4491037" cy="1422400"/>
          </a:xfrm>
          <a:prstGeom prst="rect">
            <a:avLst/>
          </a:prstGeom>
          <a:noFill/>
          <a:ln w="9525">
            <a:noFill/>
          </a:ln>
        </p:spPr>
      </p:pic>
      <p:pic>
        <p:nvPicPr>
          <p:cNvPr id="25605" name="20 7"/>
          <p:cNvPicPr>
            <a:picLocks noChangeAspect="1"/>
          </p:cNvPicPr>
          <p:nvPr/>
        </p:nvPicPr>
        <p:blipFill>
          <a:blip r:embed="rId3"/>
          <a:stretch>
            <a:fillRect/>
          </a:stretch>
        </p:blipFill>
        <p:spPr>
          <a:xfrm>
            <a:off x="666750" y="4279900"/>
            <a:ext cx="4176713" cy="319088"/>
          </a:xfrm>
          <a:prstGeom prst="rect">
            <a:avLst/>
          </a:prstGeom>
          <a:noFill/>
          <a:ln w="9525">
            <a:noFill/>
          </a:ln>
        </p:spPr>
      </p:pic>
      <p:pic>
        <p:nvPicPr>
          <p:cNvPr id="25606" name="20 8"/>
          <p:cNvPicPr>
            <a:picLocks noChangeAspect="1"/>
          </p:cNvPicPr>
          <p:nvPr/>
        </p:nvPicPr>
        <p:blipFill>
          <a:blip r:embed="rId4"/>
          <a:stretch>
            <a:fillRect/>
          </a:stretch>
        </p:blipFill>
        <p:spPr>
          <a:xfrm>
            <a:off x="766763" y="4702175"/>
            <a:ext cx="4421187" cy="138747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引例</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想说明的问题是：</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解决问题方法的效率，</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跟</a:t>
            </a:r>
            <a:r>
              <a:rPr kumimoji="0" lang="zh-CN" altLang="en-US" sz="30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算法的巧妙程度</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有关。</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1.1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到底什么是数据结构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195" name="Rectangle 3"/>
          <p:cNvSpPr>
            <a:spLocks noGrp="1" noChangeArrowheads="1"/>
          </p:cNvSpPr>
          <p:nvPr>
            <p:ph idx="1"/>
          </p:nvPr>
        </p:nvSpPr>
        <p:spPr>
          <a:xfrm>
            <a:off x="574675" y="1841500"/>
            <a:ext cx="7899400" cy="4267200"/>
          </a:xfrm>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6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数据对象</a:t>
            </a:r>
            <a:r>
              <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在计算机中的组织方式</a:t>
            </a:r>
            <a:endPar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707390" marR="0" lvl="0" indent="12700" algn="l" defTabSz="914400" rtl="0" eaLnBrk="1" fontAlgn="base" latinLnBrk="0" hangingPunct="1">
              <a:lnSpc>
                <a:spcPct val="100000"/>
              </a:lnSpc>
              <a:spcBef>
                <a:spcPct val="20000"/>
              </a:spcBef>
              <a:spcAft>
                <a:spcPct val="0"/>
              </a:spcAft>
              <a:buClr>
                <a:schemeClr val="accent2"/>
              </a:buClr>
              <a:buSzTx/>
              <a:buFont typeface="Arial" panose="020B0604020202020204" pitchFamily="34" charset="0"/>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逻辑结构</a:t>
            </a: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707390" marR="0" lvl="0" indent="12700" algn="l" defTabSz="914400" rtl="0" eaLnBrk="1" fontAlgn="base" latinLnBrk="0" hangingPunct="1">
              <a:lnSpc>
                <a:spcPct val="100000"/>
              </a:lnSpc>
              <a:spcBef>
                <a:spcPct val="20000"/>
              </a:spcBef>
              <a:spcAft>
                <a:spcPct val="0"/>
              </a:spcAft>
              <a:buClr>
                <a:schemeClr val="accent2"/>
              </a:buClr>
              <a:buSzTx/>
              <a:buFont typeface="Arial" panose="020B0604020202020204" pitchFamily="34" charset="0"/>
              <a:buChar char="•"/>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物理结构</a:t>
            </a: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数据对象必定与一系列加在其上的</a:t>
            </a:r>
            <a:r>
              <a:rPr kumimoji="0" lang="zh-CN" altLang="en-US" sz="36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操作</a:t>
            </a:r>
            <a:r>
              <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相关联</a:t>
            </a:r>
            <a:endPar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完成这些操作所用的方法就是</a:t>
            </a:r>
            <a:r>
              <a:rPr kumimoji="0" lang="zh-CN" altLang="en-US" sz="36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算法</a:t>
            </a:r>
            <a:endParaRPr kumimoji="0" lang="zh-CN" altLang="en-US" sz="36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5">
                                            <p:txEl>
                                              <p:charRg st="15" end="21"/>
                                            </p:txEl>
                                          </p:spTgt>
                                        </p:tgtEl>
                                        <p:attrNameLst>
                                          <p:attrName>style.visibility</p:attrName>
                                        </p:attrNameLst>
                                      </p:cBhvr>
                                      <p:to>
                                        <p:strVal val="visible"/>
                                      </p:to>
                                    </p:set>
                                    <p:animEffect transition="in" filter="blinds(horizontal)">
                                      <p:cBhvr>
                                        <p:cTn id="7" dur="500"/>
                                        <p:tgtEl>
                                          <p:spTgt spid="8195">
                                            <p:txEl>
                                              <p:charRg st="15" end="2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195">
                                            <p:txEl>
                                              <p:charRg st="21" end="27"/>
                                            </p:txEl>
                                          </p:spTgt>
                                        </p:tgtEl>
                                        <p:attrNameLst>
                                          <p:attrName>style.visibility</p:attrName>
                                        </p:attrNameLst>
                                      </p:cBhvr>
                                      <p:to>
                                        <p:strVal val="visible"/>
                                      </p:to>
                                    </p:set>
                                    <p:animEffect transition="in" filter="blinds(horizontal)">
                                      <p:cBhvr>
                                        <p:cTn id="10" dur="500"/>
                                        <p:tgtEl>
                                          <p:spTgt spid="8195">
                                            <p:txEl>
                                              <p:charRg st="21" end="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课后作业</a:t>
            </a:r>
            <a:r>
              <a:rPr kumimoji="0" lang="en-US" altLang="zh-CN"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1</a:t>
            </a:r>
            <a:endParaRPr kumimoji="0" lang="zh-CN" altLang="en-US" sz="3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468630" y="1773555"/>
            <a:ext cx="8001000" cy="446278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根据第一堂课的学习内容，请同学们用自己的话说说，到底什么是数据结构。</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作业提交方式！！！</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hlinkClick r:id="rId1"/>
              </a:rPr>
              <a:t>https://www.jackyzone.cn:15001/sharing/2DzYAhtri</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hlinkClick r:id="rId1"/>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作业文档的命名方式！！！</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20：20</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周杰伦（</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2022111111-</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周杰伦）</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WORD</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文档命名：20</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周杰伦</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作业</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1</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作业提交截止时间：下次上课之前</a:t>
            </a:r>
            <a:endPar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基本概念和术语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331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数据</a:t>
            </a:r>
            <a:r>
              <a:rPr kumimoji="0" lang="en-US" altLang="zh-CN" sz="26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(Data</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是对信息的一种符号表示。在计算机科学中是指所有能输入到计算机中并被计算机程序处理的符号的总称。</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数据元素</a:t>
            </a:r>
            <a:r>
              <a:rPr kumimoji="0" lang="en-US" altLang="zh-CN" sz="26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(Data Element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是数据的基本单位，在计算机程序中通常作为一个整体进行考虑和处理。</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一个数据元素可由若干个数据项</a:t>
            </a:r>
            <a:r>
              <a:rPr kumimoji="0" lang="en-US" altLang="zh-CN"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ea"/>
              </a:rPr>
              <a:t>(Data Item)</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组成。数据项是数据的不可分割的最小单位。</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数据对象</a:t>
            </a:r>
            <a:r>
              <a:rPr kumimoji="0" lang="en-US" altLang="zh-CN" sz="26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(Data Object)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：是性质相同的数据元素的集合。是数据的一个子集。</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整数数据对象、字符数据对象</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数据结构</a:t>
            </a:r>
            <a:r>
              <a:rPr kumimoji="0" lang="en-US" altLang="zh-CN" sz="26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(Data Structure)</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：是相互之间存在一种或多种特定关系的数据元素的集合</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Rectangle 3"/>
          <p:cNvSpPr>
            <a:spLocks noGrp="1" noChangeArrowheads="1"/>
          </p:cNvSpPr>
          <p:nvPr>
            <p:ph type="body" sz="half"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数据结构主要指逻辑结构和物理结构</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数据之间的相互逻辑关系称为逻辑结构，通常分为四类基本结构：</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一、</a:t>
            </a:r>
            <a:r>
              <a:rPr kumimoji="0" lang="zh-CN" altLang="en-US" sz="18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ea"/>
              </a:rPr>
              <a:t>集合。</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结构中的数据元素除了同属于一种类型外，别无其它关系。</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二、</a:t>
            </a:r>
            <a:r>
              <a:rPr kumimoji="0" lang="zh-CN" altLang="en-US" sz="18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ea"/>
              </a:rPr>
              <a:t>线性结构。</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结构中的数据元素之间存在一对一的关系。</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三、</a:t>
            </a:r>
            <a:r>
              <a:rPr kumimoji="0" lang="zh-CN" altLang="en-US" sz="18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ea"/>
              </a:rPr>
              <a:t>树型结构。</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结构中的数据元素之间存在一对多的关系。</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四、</a:t>
            </a:r>
            <a:r>
              <a:rPr kumimoji="0" lang="zh-CN" altLang="en-US" sz="18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ea"/>
              </a:rPr>
              <a:t>图状结构或网状结构。</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结构中的数据元素之间存在多对多的关系。</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p:txBody>
      </p:sp>
      <p:sp>
        <p:nvSpPr>
          <p:cNvPr id="14338"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基本概念和术语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31747" name="Picture 6"/>
          <p:cNvPicPr>
            <a:picLocks noChangeAspect="1"/>
          </p:cNvPicPr>
          <p:nvPr>
            <p:ph type="clipArt" sz="half" idx="2"/>
          </p:nvPr>
        </p:nvPicPr>
        <p:blipFill>
          <a:blip r:embed="rId1"/>
          <a:stretch>
            <a:fillRect/>
          </a:stretch>
        </p:blipFill>
        <p:spPr>
          <a:xfrm>
            <a:off x="5268913" y="1752600"/>
            <a:ext cx="2671762" cy="4267200"/>
          </a:xfr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文本占位符 2"/>
          <p:cNvSpPr>
            <a:spLocks noGrp="1"/>
          </p:cNvSpPr>
          <p:nvPr>
            <p:ph type="body" sz="half" idx="1"/>
          </p:nvPr>
        </p:nvSpPr>
        <p:spPr>
          <a:xfrm>
            <a:off x="566738" y="1752600"/>
            <a:ext cx="8008938"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 </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为什么要学习数据结构</a:t>
            </a: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    非数值型数据</a:t>
            </a: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——————&gt;</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实现程序运行效率更高</a:t>
            </a:r>
            <a:endPar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2. </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数据结构研究哪两个方面内容</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1442085" marR="0" lvl="0" indent="0" algn="l" defTabSz="914400" rtl="0" eaLnBrk="0" fontAlgn="base" latinLnBrk="0" hangingPunct="0">
              <a:lnSpc>
                <a:spcPct val="100000"/>
              </a:lnSpc>
              <a:spcBef>
                <a:spcPct val="20000"/>
              </a:spcBef>
              <a:spcAft>
                <a:spcPct val="0"/>
              </a:spcAft>
              <a:buClr>
                <a:schemeClr val="accent2"/>
              </a:buClr>
              <a:buSzTx/>
              <a:buFont typeface="+mj-ea"/>
              <a:buAutoNum type="circleNumDbPlain"/>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计算机操作对象</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1442085" marR="0" lvl="0" indent="0" algn="l" defTabSz="914400" rtl="0" eaLnBrk="0" fontAlgn="base" latinLnBrk="0" hangingPunct="0">
              <a:lnSpc>
                <a:spcPct val="100000"/>
              </a:lnSpc>
              <a:spcBef>
                <a:spcPct val="20000"/>
              </a:spcBef>
              <a:spcAft>
                <a:spcPct val="0"/>
              </a:spcAft>
              <a:buClr>
                <a:schemeClr val="accent2"/>
              </a:buClr>
              <a:buSzTx/>
              <a:buFont typeface="+mj-ea"/>
              <a:buAutoNum type="circleNumDbPlain"/>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与       之间的关系和操作</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3. </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数据之间的结构 （包括逻辑结构和物理结构）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endParaRPr kumimoji="0" lang="en-US" altLang="zh-CN" sz="2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
        <p:nvSpPr>
          <p:cNvPr id="32771" name="文本框 4"/>
          <p:cNvSpPr txBox="1"/>
          <p:nvPr/>
        </p:nvSpPr>
        <p:spPr>
          <a:xfrm>
            <a:off x="2905125" y="2714625"/>
            <a:ext cx="2019300" cy="336550"/>
          </a:xfrm>
          <a:prstGeom prst="rect">
            <a:avLst/>
          </a:prstGeom>
          <a:noFill/>
          <a:ln w="9525">
            <a:noFill/>
          </a:ln>
        </p:spPr>
        <p:txBody>
          <a:bodyPr anchor="t" anchorCtr="0">
            <a:spAutoFit/>
          </a:bodyPr>
          <a:p>
            <a:r>
              <a:rPr lang="zh-CN" altLang="en-US" sz="1600" dirty="0">
                <a:latin typeface="Verdana" panose="020B0604030504040204" pitchFamily="34" charset="0"/>
                <a:ea typeface="宋体" panose="02010600030101010101" pitchFamily="2" charset="-122"/>
              </a:rPr>
              <a:t>组织、存储、处理</a:t>
            </a:r>
            <a:endParaRPr lang="zh-CN" altLang="en-US" sz="1600" dirty="0">
              <a:latin typeface="Verdana" panose="020B0604030504040204" pitchFamily="34" charset="0"/>
              <a:ea typeface="宋体" panose="02010600030101010101" pitchFamily="2" charset="-122"/>
            </a:endParaRPr>
          </a:p>
        </p:txBody>
      </p:sp>
      <p:sp>
        <p:nvSpPr>
          <p:cNvPr id="6" name="文本框 5"/>
          <p:cNvSpPr txBox="1"/>
          <p:nvPr/>
        </p:nvSpPr>
        <p:spPr>
          <a:xfrm>
            <a:off x="5857875" y="2779713"/>
            <a:ext cx="2241550" cy="336550"/>
          </a:xfrm>
          <a:prstGeom prst="rect">
            <a:avLst/>
          </a:prstGeom>
          <a:noFill/>
          <a:ln w="9525">
            <a:noFill/>
          </a:ln>
        </p:spPr>
        <p:txBody>
          <a:bodyPr anchor="t" anchorCtr="0">
            <a:spAutoFit/>
          </a:bodyPr>
          <a:p>
            <a:r>
              <a:rPr lang="zh-CN" altLang="en-US" sz="1600" dirty="0">
                <a:latin typeface="Verdana" panose="020B0604030504040204" pitchFamily="34" charset="0"/>
                <a:ea typeface="宋体" panose="02010600030101010101" pitchFamily="2" charset="-122"/>
              </a:rPr>
              <a:t>程序运行速度更快</a:t>
            </a:r>
            <a:endParaRPr lang="zh-CN" altLang="en-US" sz="1600" dirty="0">
              <a:latin typeface="Verdana" panose="020B0604030504040204" pitchFamily="34" charset="0"/>
              <a:ea typeface="宋体" panose="02010600030101010101" pitchFamily="2" charset="-122"/>
            </a:endParaRPr>
          </a:p>
        </p:txBody>
      </p:sp>
      <p:sp>
        <p:nvSpPr>
          <p:cNvPr id="7" name="文本框 6"/>
          <p:cNvSpPr txBox="1"/>
          <p:nvPr/>
        </p:nvSpPr>
        <p:spPr>
          <a:xfrm>
            <a:off x="5857875" y="3190875"/>
            <a:ext cx="2930525" cy="336550"/>
          </a:xfrm>
          <a:prstGeom prst="rect">
            <a:avLst/>
          </a:prstGeom>
          <a:noFill/>
          <a:ln w="9525">
            <a:noFill/>
          </a:ln>
        </p:spPr>
        <p:txBody>
          <a:bodyPr anchor="t" anchorCtr="0">
            <a:spAutoFit/>
          </a:bodyPr>
          <a:p>
            <a:r>
              <a:rPr lang="zh-CN" altLang="en-US" sz="1600" dirty="0">
                <a:latin typeface="Verdana" panose="020B0604030504040204" pitchFamily="34" charset="0"/>
                <a:ea typeface="宋体" panose="02010600030101010101" pitchFamily="2" charset="-122"/>
              </a:rPr>
              <a:t>程序运行占用空间更少</a:t>
            </a:r>
            <a:endParaRPr lang="zh-CN" altLang="en-US" sz="1600" dirty="0">
              <a:latin typeface="Verdana" panose="020B0604030504040204" pitchFamily="34" charset="0"/>
              <a:ea typeface="宋体" panose="02010600030101010101" pitchFamily="2" charset="-122"/>
            </a:endParaRPr>
          </a:p>
        </p:txBody>
      </p:sp>
      <p:sp>
        <p:nvSpPr>
          <p:cNvPr id="8" name="文本框 7"/>
          <p:cNvSpPr txBox="1"/>
          <p:nvPr/>
        </p:nvSpPr>
        <p:spPr>
          <a:xfrm>
            <a:off x="2800350" y="3160713"/>
            <a:ext cx="2228850" cy="398462"/>
          </a:xfrm>
          <a:prstGeom prst="rect">
            <a:avLst/>
          </a:prstGeom>
          <a:noFill/>
          <a:ln w="9525">
            <a:noFill/>
          </a:ln>
        </p:spPr>
        <p:txBody>
          <a:bodyPr anchor="t" anchorCtr="0">
            <a:spAutoFit/>
          </a:bodyPr>
          <a:p>
            <a:r>
              <a:rPr lang="zh-CN" altLang="en-US" dirty="0">
                <a:latin typeface="Verdana" panose="020B0604030504040204" pitchFamily="34" charset="0"/>
                <a:ea typeface="宋体" panose="02010600030101010101" pitchFamily="2" charset="-122"/>
              </a:rPr>
              <a:t>数据结构发挥作用</a:t>
            </a:r>
            <a:endParaRPr lang="zh-CN" altLang="en-US" dirty="0">
              <a:latin typeface="Verdana" panose="020B0604030504040204" pitchFamily="34" charset="0"/>
              <a:ea typeface="宋体" panose="02010600030101010101" pitchFamily="2" charset="-122"/>
            </a:endParaRPr>
          </a:p>
        </p:txBody>
      </p:sp>
      <p:pic>
        <p:nvPicPr>
          <p:cNvPr id="32775" name="20 8"/>
          <p:cNvPicPr>
            <a:picLocks noChangeAspect="1"/>
          </p:cNvPicPr>
          <p:nvPr/>
        </p:nvPicPr>
        <p:blipFill>
          <a:blip r:embed="rId1"/>
          <a:stretch>
            <a:fillRect/>
          </a:stretch>
        </p:blipFill>
        <p:spPr>
          <a:xfrm>
            <a:off x="4775200" y="4167188"/>
            <a:ext cx="628650" cy="406400"/>
          </a:xfrm>
          <a:prstGeom prst="rect">
            <a:avLst/>
          </a:prstGeom>
          <a:noFill/>
          <a:ln w="9525">
            <a:noFill/>
          </a:ln>
        </p:spPr>
      </p:pic>
      <p:pic>
        <p:nvPicPr>
          <p:cNvPr id="32776" name="20 9"/>
          <p:cNvPicPr>
            <a:picLocks noChangeAspect="1"/>
          </p:cNvPicPr>
          <p:nvPr/>
        </p:nvPicPr>
        <p:blipFill>
          <a:blip r:embed="rId1"/>
          <a:stretch>
            <a:fillRect/>
          </a:stretch>
        </p:blipFill>
        <p:spPr>
          <a:xfrm>
            <a:off x="2662238" y="4727575"/>
            <a:ext cx="628650" cy="406400"/>
          </a:xfrm>
          <a:prstGeom prst="rect">
            <a:avLst/>
          </a:prstGeom>
          <a:noFill/>
          <a:ln w="9525">
            <a:noFill/>
          </a:ln>
        </p:spPr>
      </p:pic>
      <p:pic>
        <p:nvPicPr>
          <p:cNvPr id="32777" name="20 10"/>
          <p:cNvPicPr>
            <a:picLocks noChangeAspect="1"/>
          </p:cNvPicPr>
          <p:nvPr/>
        </p:nvPicPr>
        <p:blipFill>
          <a:blip r:embed="rId1"/>
          <a:stretch>
            <a:fillRect/>
          </a:stretch>
        </p:blipFill>
        <p:spPr>
          <a:xfrm>
            <a:off x="3600450" y="4727575"/>
            <a:ext cx="628650" cy="4064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trips(downLef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 name="标题 1"/>
          <p:cNvSpPr>
            <a:spLocks noGrp="1"/>
          </p:cNvSpPr>
          <p:nvPr>
            <p:ph type="title"/>
          </p:nvPr>
        </p:nvSpPr>
        <p:spPr/>
        <p:txBody>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3800" b="1" i="0" u="none" strike="noStrike" kern="0" cap="none" spc="0" normalizeH="0" baseline="0" noProof="1">
                <a:solidFill>
                  <a:srgbClr val="FF0000"/>
                </a:solidFill>
                <a:effectLst>
                  <a:outerShdw blurRad="38100" dist="38100" dir="2700000" algn="tl">
                    <a:srgbClr val="C0C0C0"/>
                  </a:outerShdw>
                </a:effectLst>
                <a:latin typeface="+mj-lt"/>
                <a:ea typeface="+mj-ea"/>
                <a:cs typeface="+mj-cs"/>
                <a:sym typeface="+mn-ea"/>
              </a:rPr>
              <a:t>本节课的</a:t>
            </a:r>
            <a:r>
              <a:rPr kumimoji="0" lang="zh-CN" altLang="en-US" sz="3800" b="1" i="0" u="none" strike="noStrike" kern="0" cap="none" spc="0" normalizeH="0" baseline="0" noProof="1">
                <a:solidFill>
                  <a:srgbClr val="FF0000"/>
                </a:solidFill>
                <a:effectLst>
                  <a:outerShdw blurRad="38100" dist="38100" dir="2700000" algn="tl">
                    <a:srgbClr val="C0C0C0"/>
                  </a:outerShdw>
                </a:effectLst>
                <a:latin typeface="+mj-lt"/>
                <a:ea typeface="+mj-ea"/>
                <a:cs typeface="+mj-cs"/>
                <a:sym typeface="+mn-ea"/>
              </a:rPr>
              <a:t>学习重点：</a:t>
            </a:r>
            <a:endParaRPr kumimoji="0" lang="zh-CN" altLang="en-US" sz="3800" b="1" i="0" u="none" strike="noStrike" kern="0" cap="none" spc="0" normalizeH="0" baseline="0" noProof="1">
              <a:solidFill>
                <a:schemeClr val="tx2"/>
              </a:solidFill>
              <a:effectLst>
                <a:outerShdw blurRad="38100" dist="38100" dir="2700000" algn="tl">
                  <a:srgbClr val="C0C0C0"/>
                </a:outerShdw>
              </a:effectLst>
              <a:latin typeface="+mj-lt"/>
              <a:ea typeface="+mj-ea"/>
              <a:cs typeface="+mj-cs"/>
            </a:endParaRPr>
          </a:p>
        </p:txBody>
      </p:sp>
      <p:sp>
        <p:nvSpPr>
          <p:cNvPr id="3" name="内容占位符 2"/>
          <p:cNvSpPr>
            <a:spLocks noGrp="1"/>
          </p:cNvSpPr>
          <p:nvPr>
            <p:ph idx="1"/>
          </p:nvPr>
        </p:nvSpPr>
        <p:spPr/>
        <p:txBody>
          <a:bodyPr/>
          <a:p>
            <a:pPr marL="469900" marR="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pPr>
            <a:endParaRPr kumimoji="0" lang="zh-CN" altLang="en-US" sz="4000" b="1" i="0" u="none" strike="noStrike" kern="0" cap="none" spc="0" normalizeH="0" baseline="0" noProof="1">
              <a:solidFill>
                <a:srgbClr val="FF0000"/>
              </a:solidFill>
              <a:effectLst>
                <a:outerShdw blurRad="38100" dist="38100" dir="2700000" algn="tl">
                  <a:srgbClr val="C0C0C0"/>
                </a:outerShdw>
              </a:effectLst>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4000" b="1" i="0" u="none" strike="noStrike" kern="0" cap="none" spc="0" normalizeH="0" baseline="0" noProof="1">
                <a:solidFill>
                  <a:srgbClr val="FF0000"/>
                </a:solidFill>
                <a:effectLst>
                  <a:outerShdw blurRad="38100" dist="38100" dir="2700000" algn="tl">
                    <a:srgbClr val="C0C0C0"/>
                  </a:outerShdw>
                </a:effectLst>
                <a:latin typeface="+mn-lt"/>
                <a:ea typeface="+mn-ea"/>
                <a:cs typeface="+mn-cs"/>
              </a:rPr>
              <a:t>理解，非数值型数据，如何利用数据结构</a:t>
            </a:r>
            <a:r>
              <a:rPr kumimoji="0" lang="zh-CN" altLang="en-US" sz="4000" b="1" i="0" u="none" strike="noStrike" kern="0" cap="none" spc="0" normalizeH="0" baseline="0" noProof="1">
                <a:solidFill>
                  <a:srgbClr val="FF0000"/>
                </a:solidFill>
                <a:effectLst>
                  <a:outerShdw blurRad="38100" dist="38100" dir="2700000" algn="tl">
                    <a:srgbClr val="C0C0C0"/>
                  </a:outerShdw>
                </a:effectLst>
                <a:latin typeface="+mn-lt"/>
                <a:ea typeface="+mn-ea"/>
                <a:cs typeface="+mn-cs"/>
              </a:rPr>
              <a:t>表达。</a:t>
            </a:r>
            <a:endParaRPr kumimoji="0" lang="zh-CN" altLang="en-US" sz="4000" b="1" i="0" u="none" strike="noStrike" kern="0" cap="none" spc="0" normalizeH="0" baseline="0" noProof="1">
              <a:solidFill>
                <a:srgbClr val="FF0000"/>
              </a:solidFill>
              <a:effectLst>
                <a:outerShdw blurRad="38100" dist="38100" dir="2700000" algn="tl">
                  <a:srgbClr val="C0C0C0"/>
                </a:outerShdw>
              </a:effectLst>
              <a:latin typeface="+mn-lt"/>
              <a:ea typeface="+mn-ea"/>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基本概念和术语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6387"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数据结构的形式定义为：数据结构是一个二元组：</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Data-Structure=(D</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S)</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其中</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D</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是数据元素的有限集，</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S</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D</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上关系的有限集。</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1"/>
              </a:buClr>
              <a:buSzTx/>
              <a:buFont typeface="Wingdings" panose="05000000000000000000" pitchFamily="2" charset="2"/>
              <a:buNone/>
              <a:defRPr/>
            </a:pP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1"/>
              </a:buClr>
              <a:buSzTx/>
              <a:buFont typeface="Wingdings" panose="05000000000000000000" pitchFamily="2" charset="2"/>
              <a:buNone/>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1-4 </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复数的数据结构定义如下：</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1"/>
              </a:buClr>
              <a:buSzTx/>
              <a:buFont typeface="Wingdings" panose="05000000000000000000" pitchFamily="2" charset="2"/>
              <a:buNone/>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Complex=(C</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bg1"/>
              </a:buClr>
              <a:buSzTx/>
              <a:buFont typeface="Wingdings" panose="05000000000000000000" pitchFamily="2" charset="2"/>
              <a:buNone/>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其中</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是含两个实数的集合</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，分别表示复数的实部和虚部。</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R={P}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P</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是定义在集合上的一种关系</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。其中有序偶</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〈C1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C2〉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表示</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C1</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是复数的实部，</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C2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rPr>
              <a:t>是复数的虚部。</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1" name="Picture 5"/>
          <p:cNvPicPr>
            <a:picLocks noChangeAspect="1"/>
          </p:cNvPicPr>
          <p:nvPr/>
        </p:nvPicPr>
        <p:blipFill>
          <a:blip r:embed="rId1"/>
          <a:stretch>
            <a:fillRect/>
          </a:stretch>
        </p:blipFill>
        <p:spPr>
          <a:xfrm>
            <a:off x="68263" y="801688"/>
            <a:ext cx="8950325" cy="5221287"/>
          </a:xfrm>
          <a:prstGeom prst="rect">
            <a:avLst/>
          </a:prstGeom>
          <a:noFill/>
          <a:ln w="9525">
            <a:noFill/>
          </a:ln>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1.2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基本概念和术语</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18435" name="Rectangle 3"/>
          <p:cNvSpPr>
            <a:spLocks noGrp="1" noChangeArrowheads="1"/>
          </p:cNvSpPr>
          <p:nvPr>
            <p:ph type="body" sz="half" idx="1"/>
          </p:nvPr>
        </p:nvSpPr>
        <p:spPr>
          <a:xfrm>
            <a:off x="566738" y="1752600"/>
            <a:ext cx="4652963" cy="4556125"/>
          </a:xfrm>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数据结构在计算机中的表示（映像）称为数据的</a:t>
            </a:r>
            <a:r>
              <a:rPr kumimoji="0" lang="zh-CN" altLang="en-US" sz="20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物理结构</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，又称为</a:t>
            </a:r>
            <a:r>
              <a:rPr kumimoji="0" lang="zh-CN" altLang="en-US" sz="20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存储结构</a:t>
            </a:r>
            <a:endParaRPr kumimoji="0" lang="zh-CN" altLang="en-US" sz="20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数据元素的表示</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计算机中最小信息单位－</a:t>
            </a:r>
            <a:r>
              <a:rPr kumimoji="0" lang="zh-CN" altLang="en-US" sz="1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ea"/>
              </a:rPr>
              <a:t>位</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bit</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ea"/>
              </a:rPr>
              <a:t>位串</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（元素</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element</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或结点</a:t>
            </a:r>
            <a:r>
              <a:rPr kumimoji="0" lang="en-US" altLang="zh-CN"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node</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）－数据元素</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ea"/>
              </a:rPr>
              <a:t>子位串</a:t>
            </a: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（数据域）－数据项</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关系的表示</a:t>
            </a:r>
            <a:endParaRPr kumimoji="0" lang="zh-CN" altLang="en-US" sz="20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顺序映像（顺序存储结构）</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17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用数据元素在存储器中的相对位置来表示数据元素之间的逻辑关系</a:t>
            </a:r>
            <a:endParaRPr kumimoji="0" lang="zh-CN" altLang="en-US" sz="17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非顺序映像（链式存储结构）</a:t>
            </a:r>
            <a:endParaRPr kumimoji="0" lang="zh-CN" altLang="en-US" sz="1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1304925" marR="0" lvl="2" indent="-395605"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17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在每一个数据元素中增加一个存放地址的指针，用此指针来表示数据元素之间的逻辑关系</a:t>
            </a:r>
            <a:endParaRPr kumimoji="0" lang="zh-CN" altLang="en-US" sz="17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endParaRPr kumimoji="0" lang="en-US" altLang="zh-CN" sz="20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endParaRPr>
          </a:p>
        </p:txBody>
      </p:sp>
      <p:pic>
        <p:nvPicPr>
          <p:cNvPr id="36867" name="Picture 6"/>
          <p:cNvPicPr>
            <a:picLocks noChangeAspect="1"/>
          </p:cNvPicPr>
          <p:nvPr>
            <p:ph sz="half" idx="2"/>
          </p:nvPr>
        </p:nvPicPr>
        <p:blipFill>
          <a:blip r:embed="rId1"/>
          <a:stretch>
            <a:fillRect/>
          </a:stretch>
        </p:blipFill>
        <p:spPr>
          <a:xfrm>
            <a:off x="5076825" y="2003425"/>
            <a:ext cx="3490913" cy="3765550"/>
          </a:xfr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如何描述存储结构？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0483"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高级语言中的</a:t>
            </a:r>
            <a:r>
              <a:rPr kumimoji="0" lang="zh-CN" altLang="en-US" sz="30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数据类型</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Wingdings" panose="05000000000000000000" pitchFamily="2" charset="2"/>
              </a:rPr>
              <a:t></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sym typeface="Wingdings" panose="05000000000000000000" pitchFamily="2" charset="2"/>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数组－顺序结构</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指针－链式结构</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高级语言中的数据类型</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150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数据类型是</a:t>
            </a:r>
            <a:r>
              <a:rPr kumimoji="0" lang="zh-CN" altLang="en-US" sz="30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一个值的集合</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和定义在该集合上的</a:t>
            </a:r>
            <a:r>
              <a:rPr kumimoji="0" lang="zh-CN" altLang="en-US" sz="3000" b="1"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一组操作</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总称。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例如</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C</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中的</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int</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char</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float</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原子（基本）类型：整型</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(int, short, unsigned short, long)</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、浮点型</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(float, double)</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、字符型</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(char)</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、指针类型</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构造类型：数组</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、结构体</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(structure)</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、自定义</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(typedef)</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等等</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抽象数据类型（</a:t>
            </a:r>
            <a:r>
              <a:rPr kumimoji="0" lang="en-US" altLang="zh-CN"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abstract data type, ADT</a:t>
            </a:r>
            <a:r>
              <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a:t>
            </a:r>
            <a:endParaRPr kumimoji="0" lang="zh-CN" altLang="en-US" sz="3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253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一个数学模型以及定义在该模型上的一组操作</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抽象数据类型不仅定义了一个数据的逻辑结构，而且定义了在此结构上的一组算法</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高级语言中的数据类型实际上也为抽象数据类型，这里的抽象数据类型范畴更广</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41987" name="Picture 7"/>
          <p:cNvPicPr>
            <a:picLocks noChangeAspect="1"/>
          </p:cNvPicPr>
          <p:nvPr/>
        </p:nvPicPr>
        <p:blipFill>
          <a:blip r:embed="rId1"/>
          <a:stretch>
            <a:fillRect/>
          </a:stretch>
        </p:blipFill>
        <p:spPr>
          <a:xfrm>
            <a:off x="107950" y="4037013"/>
            <a:ext cx="4813300" cy="2416175"/>
          </a:xfrm>
          <a:prstGeom prst="rect">
            <a:avLst/>
          </a:prstGeom>
          <a:noFill/>
          <a:ln w="9525">
            <a:noFill/>
          </a:ln>
        </p:spPr>
      </p:pic>
      <p:pic>
        <p:nvPicPr>
          <p:cNvPr id="41988" name="Picture 8"/>
          <p:cNvPicPr>
            <a:picLocks noChangeAspect="1"/>
          </p:cNvPicPr>
          <p:nvPr/>
        </p:nvPicPr>
        <p:blipFill>
          <a:blip r:embed="rId2"/>
          <a:stretch>
            <a:fillRect/>
          </a:stretch>
        </p:blipFill>
        <p:spPr>
          <a:xfrm>
            <a:off x="4859338" y="3933825"/>
            <a:ext cx="4305300" cy="1436688"/>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009" name="Picture 9"/>
          <p:cNvPicPr>
            <a:picLocks noChangeAspect="1"/>
          </p:cNvPicPr>
          <p:nvPr/>
        </p:nvPicPr>
        <p:blipFill>
          <a:blip r:embed="rId1"/>
          <a:stretch>
            <a:fillRect/>
          </a:stretch>
        </p:blipFill>
        <p:spPr>
          <a:xfrm>
            <a:off x="0" y="0"/>
            <a:ext cx="9144000" cy="6858000"/>
          </a:xfrm>
          <a:prstGeom prst="rect">
            <a:avLst/>
          </a:prstGeom>
          <a:noFill/>
          <a:ln w="9525">
            <a:noFill/>
          </a:ln>
        </p:spPr>
      </p:pic>
      <p:sp>
        <p:nvSpPr>
          <p:cNvPr id="43010" name="文本框 1"/>
          <p:cNvSpPr txBox="1"/>
          <p:nvPr/>
        </p:nvSpPr>
        <p:spPr>
          <a:xfrm>
            <a:off x="5453063" y="2006600"/>
            <a:ext cx="3295650" cy="398463"/>
          </a:xfrm>
          <a:prstGeom prst="rect">
            <a:avLst/>
          </a:prstGeom>
          <a:noFill/>
          <a:ln w="9525">
            <a:noFill/>
          </a:ln>
        </p:spPr>
        <p:txBody>
          <a:bodyPr anchor="t" anchorCtr="0">
            <a:spAutoFit/>
          </a:bodyPr>
          <a:p>
            <a:r>
              <a:rPr lang="zh-CN" altLang="en-US" dirty="0">
                <a:latin typeface="Verdana" panose="020B0604030504040204" pitchFamily="34" charset="0"/>
                <a:ea typeface="宋体" panose="02010600030101010101" pitchFamily="2" charset="-122"/>
              </a:rPr>
              <a:t>抽象数据类型三元组的定义</a:t>
            </a:r>
            <a:endParaRPr lang="zh-CN" altLang="en-US" dirty="0">
              <a:latin typeface="Verdana" panose="020B0604030504040204" pitchFamily="3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97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1.3</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抽象数据类型的表示和实现</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2979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抽象数据类型可通过高级程序语言中的数据类型来表示和实现</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采用介于伪码和</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语言之间的类</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C</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语言作为描述工具</a:t>
            </a:r>
            <a:endPar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以下对其作简要说明：</a:t>
            </a:r>
            <a:endParaRPr kumimoji="0" 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1.3</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抽象数据类型的表示和实现</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45058" name="Picture 5"/>
          <p:cNvPicPr>
            <a:picLocks noChangeAspect="1"/>
          </p:cNvPicPr>
          <p:nvPr/>
        </p:nvPicPr>
        <p:blipFill>
          <a:blip r:embed="rId1"/>
          <a:stretch>
            <a:fillRect/>
          </a:stretch>
        </p:blipFill>
        <p:spPr>
          <a:xfrm>
            <a:off x="611188" y="1773238"/>
            <a:ext cx="7129462" cy="4273550"/>
          </a:xfrm>
          <a:prstGeom prst="rect">
            <a:avLst/>
          </a:prstGeom>
          <a:noFill/>
          <a:ln w="9525">
            <a:noFill/>
          </a:ln>
        </p:spPr>
      </p:pic>
      <p:sp>
        <p:nvSpPr>
          <p:cNvPr id="2" name="文本框 1"/>
          <p:cNvSpPr txBox="1"/>
          <p:nvPr/>
        </p:nvSpPr>
        <p:spPr>
          <a:xfrm>
            <a:off x="5105400" y="2535238"/>
            <a:ext cx="3282950" cy="1938337"/>
          </a:xfrm>
          <a:prstGeom prst="rect">
            <a:avLst/>
          </a:prstGeom>
          <a:noFill/>
          <a:ln w="9525">
            <a:noFill/>
          </a:ln>
        </p:spPr>
        <p:txBody>
          <a:bodyPr anchor="t" anchorCtr="0">
            <a:spAutoFit/>
          </a:bodyPr>
          <a:p>
            <a:r>
              <a:rPr lang="zh-CN" altLang="en-US" dirty="0">
                <a:latin typeface="Verdana" panose="020B0604030504040204" pitchFamily="34" charset="0"/>
                <a:ea typeface="宋体" panose="02010600030101010101" pitchFamily="2" charset="-122"/>
              </a:rPr>
              <a:t>第一，</a:t>
            </a:r>
            <a:r>
              <a:rPr lang="en-US" altLang="zh-CN" dirty="0">
                <a:latin typeface="Verdana" panose="020B0604030504040204" pitchFamily="34" charset="0"/>
                <a:ea typeface="宋体" panose="02010600030101010101" pitchFamily="2" charset="-122"/>
              </a:rPr>
              <a:t>status </a:t>
            </a:r>
            <a:r>
              <a:rPr lang="zh-CN" altLang="en-US" dirty="0">
                <a:latin typeface="Verdana" panose="020B0604030504040204" pitchFamily="34" charset="0"/>
                <a:ea typeface="宋体" panose="02010600030101010101" pitchFamily="2" charset="-122"/>
              </a:rPr>
              <a:t>是自定义的类型，用以描述返回状态值。</a:t>
            </a:r>
            <a:endParaRPr lang="zh-CN" altLang="en-US" dirty="0">
              <a:latin typeface="Verdana" panose="020B0604030504040204" pitchFamily="34" charset="0"/>
              <a:ea typeface="宋体" panose="02010600030101010101" pitchFamily="2" charset="-122"/>
            </a:endParaRPr>
          </a:p>
          <a:p>
            <a:r>
              <a:rPr lang="zh-CN" altLang="en-US" dirty="0">
                <a:latin typeface="Verdana" panose="020B0604030504040204" pitchFamily="34" charset="0"/>
                <a:ea typeface="宋体" panose="02010600030101010101" pitchFamily="2" charset="-122"/>
              </a:rPr>
              <a:t>第二，</a:t>
            </a:r>
            <a:r>
              <a:rPr lang="en-US" altLang="zh-CN" dirty="0">
                <a:latin typeface="Verdana" panose="020B0604030504040204" pitchFamily="34" charset="0"/>
                <a:ea typeface="宋体" panose="02010600030101010101" pitchFamily="2" charset="-122"/>
              </a:rPr>
              <a:t>status</a:t>
            </a:r>
            <a:r>
              <a:rPr lang="zh-CN" altLang="en-US" dirty="0">
                <a:latin typeface="Verdana" panose="020B0604030504040204" pitchFamily="34" charset="0"/>
                <a:ea typeface="宋体" panose="02010600030101010101" pitchFamily="2" charset="-122"/>
              </a:rPr>
              <a:t>是为了表示一般性，实际相当于把写</a:t>
            </a:r>
            <a:r>
              <a:rPr lang="en-US" altLang="zh-CN" dirty="0">
                <a:latin typeface="Verdana" panose="020B0604030504040204" pitchFamily="34" charset="0"/>
                <a:ea typeface="宋体" panose="02010600030101010101" pitchFamily="2" charset="-122"/>
              </a:rPr>
              <a:t>status</a:t>
            </a:r>
            <a:r>
              <a:rPr lang="zh-CN" altLang="en-US" dirty="0">
                <a:latin typeface="Verdana" panose="020B0604030504040204" pitchFamily="34" charset="0"/>
                <a:ea typeface="宋体" panose="02010600030101010101" pitchFamily="2" charset="-122"/>
              </a:rPr>
              <a:t>的地方换成对应的数据类型（如</a:t>
            </a:r>
            <a:r>
              <a:rPr lang="en-US" altLang="zh-CN" dirty="0">
                <a:latin typeface="Verdana" panose="020B0604030504040204" pitchFamily="34" charset="0"/>
                <a:ea typeface="宋体" panose="02010600030101010101" pitchFamily="2" charset="-122"/>
              </a:rPr>
              <a:t>int,float</a:t>
            </a:r>
            <a:r>
              <a:rPr lang="zh-CN" altLang="en-US" dirty="0">
                <a:latin typeface="Verdana" panose="020B0604030504040204" pitchFamily="34" charset="0"/>
                <a:ea typeface="宋体" panose="02010600030101010101" pitchFamily="2" charset="-122"/>
              </a:rPr>
              <a:t>等）</a:t>
            </a:r>
            <a:endParaRPr lang="zh-CN" altLang="en-US" dirty="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1" name="Picture 7"/>
          <p:cNvPicPr>
            <a:picLocks noChangeAspect="1"/>
          </p:cNvPicPr>
          <p:nvPr/>
        </p:nvPicPr>
        <p:blipFill>
          <a:blip r:embed="rId1"/>
          <a:stretch>
            <a:fillRect/>
          </a:stretch>
        </p:blipFill>
        <p:spPr>
          <a:xfrm>
            <a:off x="215900" y="752475"/>
            <a:ext cx="8737600" cy="560387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5" name="Picture 6"/>
          <p:cNvPicPr>
            <a:picLocks noChangeAspect="1"/>
          </p:cNvPicPr>
          <p:nvPr/>
        </p:nvPicPr>
        <p:blipFill>
          <a:blip r:embed="rId1"/>
          <a:stretch>
            <a:fillRect/>
          </a:stretch>
        </p:blipFill>
        <p:spPr>
          <a:xfrm>
            <a:off x="0" y="620713"/>
            <a:ext cx="9144000" cy="5184775"/>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48129" name="Picture 7"/>
          <p:cNvPicPr>
            <a:picLocks noChangeAspect="1"/>
          </p:cNvPicPr>
          <p:nvPr/>
        </p:nvPicPr>
        <p:blipFill>
          <a:blip r:embed="rId1"/>
          <a:stretch>
            <a:fillRect/>
          </a:stretch>
        </p:blipFill>
        <p:spPr>
          <a:xfrm>
            <a:off x="250825" y="260350"/>
            <a:ext cx="4465638" cy="1647825"/>
          </a:xfrm>
          <a:prstGeom prst="rect">
            <a:avLst/>
          </a:prstGeom>
          <a:noFill/>
          <a:ln w="9525">
            <a:noFill/>
          </a:ln>
        </p:spPr>
      </p:pic>
      <p:pic>
        <p:nvPicPr>
          <p:cNvPr id="48130" name="Picture 8"/>
          <p:cNvPicPr>
            <a:picLocks noChangeAspect="1"/>
          </p:cNvPicPr>
          <p:nvPr/>
        </p:nvPicPr>
        <p:blipFill>
          <a:blip r:embed="rId2"/>
          <a:stretch>
            <a:fillRect/>
          </a:stretch>
        </p:blipFill>
        <p:spPr>
          <a:xfrm>
            <a:off x="611188" y="1793875"/>
            <a:ext cx="6048375" cy="4803775"/>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9153" name="Picture 6"/>
          <p:cNvPicPr>
            <a:picLocks noChangeAspect="1"/>
          </p:cNvPicPr>
          <p:nvPr/>
        </p:nvPicPr>
        <p:blipFill>
          <a:blip r:embed="rId1"/>
          <a:stretch>
            <a:fillRect/>
          </a:stretch>
        </p:blipFill>
        <p:spPr>
          <a:xfrm>
            <a:off x="581025" y="1235075"/>
            <a:ext cx="7893050" cy="438785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0177" name="Picture 5"/>
          <p:cNvPicPr>
            <a:picLocks noChangeAspect="1"/>
          </p:cNvPicPr>
          <p:nvPr/>
        </p:nvPicPr>
        <p:blipFill>
          <a:blip r:embed="rId1"/>
          <a:stretch>
            <a:fillRect/>
          </a:stretch>
        </p:blipFill>
        <p:spPr>
          <a:xfrm>
            <a:off x="377825" y="169863"/>
            <a:ext cx="7673975" cy="6611937"/>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8594"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其他</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78595"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指针操作</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声明与使用</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结构体</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(struct)</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声明与使用</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内存分配与释放</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malloc, realloc, free</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E.g release a linked list</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函数参数传递方式</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类型定义</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(typedef)</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引用类型</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(&amp;)</a:t>
            </a: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623888" y="1700213"/>
            <a:ext cx="7954963" cy="4537075"/>
          </a:xfrm>
        </p:spPr>
        <p:txBody>
          <a:bodyPr vert="horz" wrap="square" lIns="91440" tIns="45720" rIns="91440" bIns="45720" numCol="1" anchor="t" anchorCtr="0" compatLnSpc="1"/>
          <a:lstStyle/>
          <a:p>
            <a:pPr marL="0" marR="0" lvl="0" indent="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 </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什么是数据结构？</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对象、关系、基本操作</a:t>
            </a:r>
            <a:endPar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2. </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数据结构有什么</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用？</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sym typeface="+mn-ea"/>
              </a:rPr>
              <a:t>实现程序运行效率更高</a:t>
            </a:r>
            <a:endPar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3. </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数据结构既然这么好，如何实现数据结构的表</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达，进而在此基础上解决实际的问题</a:t>
            </a:r>
            <a:r>
              <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呢？</a:t>
            </a: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1</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）明确数据元素之间的逻辑结构</a:t>
            </a:r>
            <a:endPar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2</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）逻辑结构需要通过物理结构实现存储</a:t>
            </a:r>
            <a:endPar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sym typeface="+mn-ea"/>
              </a:rPr>
              <a:t>（</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sym typeface="+mn-ea"/>
              </a:rPr>
              <a:t>3</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sym typeface="+mn-ea"/>
              </a:rPr>
              <a:t>）物理结构，即数据元素在计算机中的存储分为两种方式：顺序存储结构和非顺序存储结构（链式存储结构）</a:t>
            </a:r>
            <a:endPar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p"/>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p"/>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p"/>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52227" name="20 3"/>
          <p:cNvPicPr>
            <a:picLocks noChangeAspect="1"/>
          </p:cNvPicPr>
          <p:nvPr/>
        </p:nvPicPr>
        <p:blipFill>
          <a:blip r:embed="rId1"/>
          <a:stretch>
            <a:fillRect/>
          </a:stretch>
        </p:blipFill>
        <p:spPr>
          <a:xfrm>
            <a:off x="5859463" y="188913"/>
            <a:ext cx="2716212" cy="1311275"/>
          </a:xfrm>
          <a:prstGeom prst="rect">
            <a:avLst/>
          </a:prstGeom>
          <a:noFill/>
          <a:ln w="9525">
            <a:noFill/>
          </a:ln>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273050" y="1700213"/>
            <a:ext cx="8680450" cy="45370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（4）</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 </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使用以下两种数据类型正巧可以描述</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数据存储结构</a:t>
            </a:r>
            <a:endPar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数组－顺序结构</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rPr>
              <a:t>指针－链式结构</a:t>
            </a:r>
            <a:endParaRPr kumimoji="0" lang="zh-CN" altLang="en-US" sz="24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sym typeface="Wingdings" panose="05000000000000000000" pitchFamily="2" charset="2"/>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a:t>
            </a:r>
            <a:r>
              <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5</a:t>
            </a:r>
            <a:r>
              <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）其中，数据元素如何表达呢</a:t>
            </a:r>
            <a:endParaRPr kumimoji="0" lang="en-US" altLang="zh-CN"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pic>
        <p:nvPicPr>
          <p:cNvPr id="53251" name="20 3"/>
          <p:cNvPicPr>
            <a:picLocks noChangeAspect="1"/>
          </p:cNvPicPr>
          <p:nvPr/>
        </p:nvPicPr>
        <p:blipFill>
          <a:blip r:embed="rId1"/>
          <a:stretch>
            <a:fillRect/>
          </a:stretch>
        </p:blipFill>
        <p:spPr>
          <a:xfrm>
            <a:off x="5859463" y="188913"/>
            <a:ext cx="2716212" cy="1311275"/>
          </a:xfrm>
          <a:prstGeom prst="rect">
            <a:avLst/>
          </a:prstGeom>
          <a:noFill/>
          <a:ln w="9525">
            <a:noFill/>
          </a:ln>
        </p:spPr>
      </p:pic>
      <p:graphicFrame>
        <p:nvGraphicFramePr>
          <p:cNvPr id="5" name="表格 4"/>
          <p:cNvGraphicFramePr/>
          <p:nvPr/>
        </p:nvGraphicFramePr>
        <p:xfrm>
          <a:off x="1260475" y="3502025"/>
          <a:ext cx="7115175" cy="762000"/>
        </p:xfrm>
        <a:graphic>
          <a:graphicData uri="http://schemas.openxmlformats.org/drawingml/2006/table">
            <a:tbl>
              <a:tblPr firstRow="1" bandRow="1">
                <a:tableStyleId>{5C22544A-7EE6-4342-B048-85BDC9FD1C3A}</a:tableStyleId>
              </a:tblPr>
              <a:tblGrid>
                <a:gridCol w="1950085"/>
                <a:gridCol w="5165090"/>
              </a:tblGrid>
              <a:tr h="381000">
                <a:tc>
                  <a:txBody>
                    <a:bodyPr/>
                    <a:p>
                      <a:pPr>
                        <a:buNone/>
                      </a:pPr>
                      <a:r>
                        <a:rPr lang="zh-CN" altLang="en-US" sz="1800" kern="0">
                          <a:ln>
                            <a:noFill/>
                          </a:ln>
                          <a:solidFill>
                            <a:srgbClr val="FF0000"/>
                          </a:solidFill>
                          <a:effectLst>
                            <a:outerShdw blurRad="38100" dist="38100" dir="2700000" algn="tl">
                              <a:srgbClr val="C0C0C0"/>
                            </a:outerShdw>
                          </a:effectLst>
                          <a:uLnTx/>
                          <a:uFillTx/>
                          <a:sym typeface="+mn-ea"/>
                        </a:rPr>
                        <a:t>数据类型</a:t>
                      </a:r>
                      <a:endParaRPr lang="zh-CN" altLang="en-US"/>
                    </a:p>
                  </a:txBody>
                  <a:tcPr/>
                </a:tc>
                <a:tc>
                  <a:txBody>
                    <a:bodyPr/>
                    <a:p>
                      <a:pPr>
                        <a:buNone/>
                      </a:pPr>
                      <a:r>
                        <a:rPr lang="zh-CN" altLang="en-US" sz="1800" noProof="0">
                          <a:ln>
                            <a:noFill/>
                          </a:ln>
                          <a:solidFill>
                            <a:srgbClr val="FF0000"/>
                          </a:solidFill>
                          <a:uLnTx/>
                          <a:uFillTx/>
                          <a:sym typeface="+mn-ea"/>
                        </a:rPr>
                        <a:t>一个值的集合和定义在该集合上的一组操作总称</a:t>
                      </a:r>
                      <a:endParaRPr lang="zh-CN" altLang="en-US"/>
                    </a:p>
                  </a:txBody>
                  <a:tcPr/>
                </a:tc>
              </a:tr>
              <a:tr h="381000">
                <a:tc>
                  <a:txBody>
                    <a:bodyPr/>
                    <a:p>
                      <a:pPr>
                        <a:buNone/>
                      </a:pPr>
                      <a:r>
                        <a:rPr lang="zh-CN" altLang="en-US" sz="1800" b="1" kern="0">
                          <a:ln>
                            <a:noFill/>
                          </a:ln>
                          <a:solidFill>
                            <a:srgbClr val="FF0000"/>
                          </a:solidFill>
                          <a:effectLst>
                            <a:outerShdw blurRad="38100" dist="38100" dir="2700000" algn="tl">
                              <a:srgbClr val="C0C0C0"/>
                            </a:outerShdw>
                          </a:effectLst>
                          <a:uLnTx/>
                          <a:uFillTx/>
                          <a:sym typeface="+mn-ea"/>
                        </a:rPr>
                        <a:t>抽象数据类型</a:t>
                      </a:r>
                      <a:endParaRPr lang="zh-CN" altLang="en-US" sz="1800" b="1" kern="0">
                        <a:ln>
                          <a:noFill/>
                        </a:ln>
                        <a:solidFill>
                          <a:srgbClr val="FF0000"/>
                        </a:solidFill>
                        <a:effectLst>
                          <a:outerShdw blurRad="38100" dist="38100" dir="2700000" algn="tl">
                            <a:srgbClr val="C0C0C0"/>
                          </a:outerShdw>
                        </a:effectLst>
                        <a:uLnTx/>
                        <a:uFillTx/>
                        <a:sym typeface="+mn-ea"/>
                      </a:endParaRPr>
                    </a:p>
                  </a:txBody>
                  <a:tcPr/>
                </a:tc>
                <a:tc>
                  <a:txBody>
                    <a:bodyPr/>
                    <a:p>
                      <a:pPr>
                        <a:buNone/>
                      </a:pPr>
                      <a:r>
                        <a:rPr lang="zh-CN" altLang="en-US" sz="1800" b="1">
                          <a:ln>
                            <a:noFill/>
                          </a:ln>
                          <a:solidFill>
                            <a:srgbClr val="FF0000"/>
                          </a:solidFill>
                          <a:uLnTx/>
                          <a:uFillTx/>
                          <a:sym typeface="+mn-ea"/>
                        </a:rPr>
                        <a:t>一个数学模型以及定义在该模型上的一组操作</a:t>
                      </a:r>
                      <a:endParaRPr lang="zh-CN" altLang="en-US" sz="1800" b="1">
                        <a:ln>
                          <a:noFill/>
                        </a:ln>
                        <a:solidFill>
                          <a:srgbClr val="FF0000"/>
                        </a:solidFill>
                        <a:uLnTx/>
                        <a:uFillTx/>
                        <a:sym typeface="+mn-ea"/>
                      </a:endParaRPr>
                    </a:p>
                  </a:txBody>
                  <a:tcPr/>
                </a:tc>
              </a:tr>
            </a:tbl>
          </a:graphicData>
        </a:graphic>
      </p:graphicFrame>
      <p:pic>
        <p:nvPicPr>
          <p:cNvPr id="53263" name="20 3"/>
          <p:cNvPicPr>
            <a:picLocks noChangeAspect="1"/>
          </p:cNvPicPr>
          <p:nvPr/>
        </p:nvPicPr>
        <p:blipFill>
          <a:blip r:embed="rId2"/>
          <a:stretch>
            <a:fillRect/>
          </a:stretch>
        </p:blipFill>
        <p:spPr>
          <a:xfrm>
            <a:off x="1187450" y="4508500"/>
            <a:ext cx="3062288" cy="1571625"/>
          </a:xfrm>
          <a:prstGeom prst="rect">
            <a:avLst/>
          </a:prstGeom>
          <a:noFill/>
          <a:ln w="9525">
            <a:noFill/>
          </a:ln>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273050" y="1700213"/>
            <a:ext cx="4375150" cy="4537075"/>
          </a:xfrm>
        </p:spPr>
        <p:txBody>
          <a:bodyPr vert="horz" wrap="square" lIns="91440" tIns="45720" rIns="91440" bIns="45720" numCol="1" anchor="t" anchorCtr="0" compatLnSpc="1"/>
          <a:lstStyle/>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4. 关于函数结果状态码</a:t>
            </a:r>
            <a:endParaRPr kumimoji="0" lang="en-US" altLang="zh-CN"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#include&lt;stdio.h&gt;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#include&lt;malloc.h&gt;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#define OVERFLOW -2</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typedef int Status;</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Status a()</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int* 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T=(int*)malloc(3*sizeof(int));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if(T) </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return OVERFLOW;</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else return 0;</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
        <p:nvSpPr>
          <p:cNvPr id="6" name="文本框 5"/>
          <p:cNvSpPr txBox="1"/>
          <p:nvPr/>
        </p:nvSpPr>
        <p:spPr>
          <a:xfrm>
            <a:off x="4648200" y="2060575"/>
            <a:ext cx="3951288" cy="1706563"/>
          </a:xfrm>
          <a:prstGeom prst="rect">
            <a:avLst/>
          </a:prstGeom>
          <a:noFill/>
        </p:spPr>
        <p:txBody>
          <a:bodyPr wrap="square" rtlCol="0">
            <a:spAutoFit/>
          </a:bodyPr>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int main()</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 printf("%d\n",a());</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 return 0;</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a:t>
            </a:r>
            <a:endParaRPr lang="en-US" altLang="zh-CN" sz="1400" kern="0" noProof="1">
              <a:solidFill>
                <a:schemeClr val="tx1"/>
              </a:solidFill>
              <a:effectLst>
                <a:outerShdw blurRad="38100" dist="38100" dir="2700000" algn="tl">
                  <a:srgbClr val="C0C0C0"/>
                </a:outerShdw>
              </a:effectLst>
              <a:latin typeface="+mn-lt"/>
              <a:ea typeface="+mn-ea"/>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466725" y="2205038"/>
            <a:ext cx="4375150" cy="3781425"/>
          </a:xfrm>
        </p:spPr>
        <p:txBody>
          <a:bodyPr vert="horz" wrap="square" lIns="91440" tIns="45720" rIns="91440" bIns="45720" numCol="1" anchor="t" anchorCtr="0" compatLnSpc="1"/>
          <a:lstStyle/>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#include&lt;stdio.h&gt;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#include&lt;malloc.h&gt;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typedef int Status;</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typedef int* Triplet;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Status InitTriplet(Triplet &amp;T,int v1)</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T=(int*)malloc(sizeof(int));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T[0]=v1;</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printf("%d\n",T[0]);		</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return 0;</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469900" algn="l" defTabSz="914400" rtl="0" eaLnBrk="0" fontAlgn="base" latinLnBrk="0" hangingPunct="0">
              <a:lnSpc>
                <a:spcPct val="150000"/>
              </a:lnSpc>
              <a:spcBef>
                <a:spcPts val="0"/>
              </a:spcBef>
              <a:spcAft>
                <a:spcPct val="0"/>
              </a:spcAft>
              <a:buClr>
                <a:schemeClr val="accent2"/>
              </a:buClr>
              <a:buSzTx/>
              <a:buFont typeface="Wingdings" panose="05000000000000000000" pitchFamily="2" charset="2"/>
              <a:buNone/>
              <a:defRPr/>
            </a:pPr>
            <a:r>
              <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1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en-US" sz="2400" b="0"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
        <p:nvSpPr>
          <p:cNvPr id="6" name="文本框 5"/>
          <p:cNvSpPr txBox="1"/>
          <p:nvPr/>
        </p:nvSpPr>
        <p:spPr>
          <a:xfrm>
            <a:off x="4860925" y="2781300"/>
            <a:ext cx="3951288" cy="2352675"/>
          </a:xfrm>
          <a:prstGeom prst="rect">
            <a:avLst/>
          </a:prstGeom>
          <a:noFill/>
        </p:spPr>
        <p:txBody>
          <a:bodyPr wrap="square" rtlCol="0">
            <a:spAutoFit/>
          </a:bodyPr>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int main()</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 Triplet L = NULL;</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 InitTriplet(L,6);</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 printf("%d\n",L[0]);</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 return 0;</a:t>
            </a:r>
            <a:endParaRPr lang="en-US" altLang="zh-CN" sz="1400" kern="0" noProof="1">
              <a:solidFill>
                <a:schemeClr val="tx1"/>
              </a:solidFill>
              <a:effectLst>
                <a:outerShdw blurRad="38100" dist="38100" dir="2700000" algn="tl">
                  <a:srgbClr val="C0C0C0"/>
                </a:outerShdw>
              </a:effectLst>
              <a:latin typeface="+mn-lt"/>
              <a:ea typeface="+mn-ea"/>
            </a:endParaRPr>
          </a:p>
          <a:p>
            <a:pPr indent="-469900" eaLnBrk="0" hangingPunct="0">
              <a:lnSpc>
                <a:spcPct val="150000"/>
              </a:lnSpc>
              <a:spcBef>
                <a:spcPts val="0"/>
              </a:spcBef>
              <a:buClr>
                <a:schemeClr val="accent2"/>
              </a:buClr>
              <a:buSzTx/>
              <a:buNone/>
              <a:defRPr/>
            </a:pPr>
            <a:r>
              <a:rPr lang="en-US" altLang="zh-CN" sz="1400" kern="0" noProof="1">
                <a:solidFill>
                  <a:schemeClr val="tx1"/>
                </a:solidFill>
                <a:effectLst>
                  <a:outerShdw blurRad="38100" dist="38100" dir="2700000" algn="tl">
                    <a:srgbClr val="C0C0C0"/>
                  </a:outerShdw>
                </a:effectLst>
                <a:latin typeface="+mn-lt"/>
                <a:ea typeface="+mn-ea"/>
                <a:cs typeface="+mn-cs"/>
              </a:rPr>
              <a:t>}</a:t>
            </a:r>
            <a:endParaRPr lang="en-US" altLang="zh-CN" sz="1400" kern="0" noProof="1">
              <a:solidFill>
                <a:schemeClr val="tx1"/>
              </a:solidFill>
              <a:effectLst>
                <a:outerShdw blurRad="38100" dist="38100" dir="2700000" algn="tl">
                  <a:srgbClr val="C0C0C0"/>
                </a:outerShdw>
              </a:effectLst>
              <a:latin typeface="+mn-lt"/>
              <a:ea typeface="+mn-ea"/>
            </a:endParaRPr>
          </a:p>
        </p:txBody>
      </p:sp>
      <p:sp>
        <p:nvSpPr>
          <p:cNvPr id="4" name="文本框 3"/>
          <p:cNvSpPr txBox="1"/>
          <p:nvPr/>
        </p:nvSpPr>
        <p:spPr>
          <a:xfrm>
            <a:off x="466725" y="1773238"/>
            <a:ext cx="8274050" cy="460375"/>
          </a:xfrm>
          <a:prstGeom prst="rect">
            <a:avLst/>
          </a:prstGeom>
          <a:noFill/>
        </p:spPr>
        <p:txBody>
          <a:bodyPr wrap="square" rtlCol="0">
            <a:spAutoFit/>
          </a:bodyPr>
          <a:p>
            <a:r>
              <a:rPr lang="en-US" altLang="zh-CN" sz="2400" kern="0" noProof="1">
                <a:effectLst>
                  <a:outerShdw blurRad="38100" dist="38100" dir="2700000" algn="tl">
                    <a:srgbClr val="C0C0C0"/>
                  </a:outerShdw>
                </a:effectLst>
                <a:latin typeface="+mn-lt"/>
                <a:ea typeface="+mn-ea"/>
                <a:cs typeface="+mn-cs"/>
                <a:sym typeface="+mn-ea"/>
              </a:rPr>
              <a:t>5. 引用方式传参(函数参数带&amp;与不带&amp;的区别)</a:t>
            </a:r>
            <a:endParaRPr lang="zh-CN" altLang="en-US" sz="2400" noProof="1"/>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pic>
        <p:nvPicPr>
          <p:cNvPr id="56322" name="内容占位符 3"/>
          <p:cNvPicPr>
            <a:picLocks noChangeAspect="1"/>
          </p:cNvPicPr>
          <p:nvPr>
            <p:ph idx="1"/>
            <p:custDataLst>
              <p:tags r:id="rId1"/>
            </p:custDataLst>
          </p:nvPr>
        </p:nvPicPr>
        <p:blipFill>
          <a:blip r:embed="rId2"/>
          <a:stretch>
            <a:fillRect/>
          </a:stretch>
        </p:blipFill>
        <p:spPr>
          <a:xfrm>
            <a:off x="508000" y="304800"/>
            <a:ext cx="8067675" cy="6165850"/>
          </a:xfrm>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5" name="20 3"/>
          <p:cNvPicPr>
            <a:picLocks noChangeAspect="1"/>
          </p:cNvPicPr>
          <p:nvPr>
            <p:custDataLst>
              <p:tags r:id="rId1"/>
            </p:custDataLst>
          </p:nvPr>
        </p:nvPicPr>
        <p:blipFill>
          <a:blip r:embed="rId2"/>
          <a:stretch>
            <a:fillRect/>
          </a:stretch>
        </p:blipFill>
        <p:spPr>
          <a:xfrm>
            <a:off x="611188" y="260350"/>
            <a:ext cx="8042275" cy="6145213"/>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369" name="20 1"/>
          <p:cNvPicPr>
            <a:picLocks noChangeAspect="1"/>
          </p:cNvPicPr>
          <p:nvPr/>
        </p:nvPicPr>
        <p:blipFill>
          <a:blip r:embed="rId1"/>
          <a:stretch>
            <a:fillRect/>
          </a:stretch>
        </p:blipFill>
        <p:spPr>
          <a:xfrm>
            <a:off x="541338" y="184150"/>
            <a:ext cx="8345487" cy="6354763"/>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课后作业</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2</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312738" y="1752600"/>
            <a:ext cx="8424863"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编写</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C</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语言程序实现：</a:t>
            </a:r>
            <a:endPar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例</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1-7</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中抽象数据类型的表示和实现。可以简单谈谈完成该题目的心得体会。</a:t>
            </a:r>
            <a:endPar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（作业其他提交方面的要求同课后作业</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3800" b="1" i="0" u="none" strike="noStrike" kern="0" cap="none" spc="0" normalizeH="0" baseline="0" noProof="1">
              <a:ln>
                <a:noFill/>
              </a:ln>
              <a:solidFill>
                <a:srgbClr val="FF0000"/>
              </a:solidFill>
              <a:effectLst>
                <a:outerShdw blurRad="38100" dist="38100" dir="2700000" algn="tl">
                  <a:srgbClr val="C0C0C0"/>
                </a:outerShdw>
              </a:effectLst>
              <a:uLnTx/>
              <a:uFillTx/>
              <a:latin typeface="+mj-lt"/>
              <a:ea typeface="+mj-ea"/>
              <a:cs typeface="+mj-cs"/>
            </a:endParaRPr>
          </a:p>
        </p:txBody>
      </p:sp>
      <p:pic>
        <p:nvPicPr>
          <p:cNvPr id="60418" name="内容占位符 3"/>
          <p:cNvPicPr>
            <a:picLocks noChangeAspect="1"/>
          </p:cNvPicPr>
          <p:nvPr>
            <p:ph idx="1"/>
            <p:custDataLst>
              <p:tags r:id="rId1"/>
            </p:custDataLst>
          </p:nvPr>
        </p:nvPicPr>
        <p:blipFill>
          <a:blip r:embed="rId2"/>
          <a:stretch>
            <a:fillRect/>
          </a:stretch>
        </p:blipFill>
        <p:spPr>
          <a:xfrm>
            <a:off x="473075" y="196850"/>
            <a:ext cx="8204200" cy="6049963"/>
          </a:xfrm>
          <a:ln/>
        </p:spPr>
      </p:pic>
      <p:sp>
        <p:nvSpPr>
          <p:cNvPr id="60419" name="文本框 4"/>
          <p:cNvSpPr txBox="1"/>
          <p:nvPr/>
        </p:nvSpPr>
        <p:spPr>
          <a:xfrm>
            <a:off x="5413375" y="3022600"/>
            <a:ext cx="742950" cy="398463"/>
          </a:xfrm>
          <a:prstGeom prst="rect">
            <a:avLst/>
          </a:prstGeom>
          <a:noFill/>
          <a:ln w="9525">
            <a:noFill/>
          </a:ln>
        </p:spPr>
        <p:txBody>
          <a:bodyPr anchor="t" anchorCtr="0">
            <a:spAutoFit/>
          </a:bodyPr>
          <a:p>
            <a:r>
              <a:rPr lang="en-US" altLang="zh-CN" dirty="0">
                <a:solidFill>
                  <a:srgbClr val="FF0000"/>
                </a:solidFill>
                <a:latin typeface="Verdana" panose="020B0604030504040204" pitchFamily="34" charset="0"/>
                <a:ea typeface="宋体" panose="02010600030101010101" pitchFamily="2" charset="-122"/>
              </a:rPr>
              <a:t>0,5</a:t>
            </a:r>
            <a:endParaRPr lang="en-US" altLang="zh-CN" dirty="0">
              <a:solidFill>
                <a:srgbClr val="FF0000"/>
              </a:solidFill>
              <a:latin typeface="Verdana" panose="020B0604030504040204" pitchFamily="34" charset="0"/>
              <a:ea typeface="宋体" panose="02010600030101010101" pitchFamily="2" charset="-122"/>
            </a:endParaRPr>
          </a:p>
        </p:txBody>
      </p:sp>
      <p:sp>
        <p:nvSpPr>
          <p:cNvPr id="60420" name="文本框 5"/>
          <p:cNvSpPr txBox="1"/>
          <p:nvPr/>
        </p:nvSpPr>
        <p:spPr>
          <a:xfrm>
            <a:off x="5405438" y="3640138"/>
            <a:ext cx="677862" cy="398462"/>
          </a:xfrm>
          <a:prstGeom prst="rect">
            <a:avLst/>
          </a:prstGeom>
          <a:noFill/>
          <a:ln w="9525">
            <a:noFill/>
          </a:ln>
        </p:spPr>
        <p:txBody>
          <a:bodyPr anchor="t" anchorCtr="0">
            <a:spAutoFit/>
          </a:bodyPr>
          <a:p>
            <a:r>
              <a:rPr lang="en-US" altLang="zh-CN" dirty="0">
                <a:solidFill>
                  <a:srgbClr val="FF0000"/>
                </a:solidFill>
                <a:latin typeface="Verdana" panose="020B0604030504040204" pitchFamily="34" charset="0"/>
                <a:ea typeface="宋体" panose="02010600030101010101" pitchFamily="2" charset="-122"/>
              </a:rPr>
              <a:t>1,6</a:t>
            </a:r>
            <a:endParaRPr lang="en-US" altLang="zh-CN" dirty="0">
              <a:solidFill>
                <a:srgbClr val="FF0000"/>
              </a:solidFill>
              <a:latin typeface="Verdana" panose="020B0604030504040204" pitchFamily="34" charset="0"/>
              <a:ea typeface="宋体" panose="02010600030101010101" pitchFamily="2" charset="-122"/>
            </a:endParaRPr>
          </a:p>
        </p:txBody>
      </p:sp>
      <p:sp>
        <p:nvSpPr>
          <p:cNvPr id="60421" name="文本框 6"/>
          <p:cNvSpPr txBox="1"/>
          <p:nvPr/>
        </p:nvSpPr>
        <p:spPr>
          <a:xfrm>
            <a:off x="5456238" y="4360863"/>
            <a:ext cx="814387" cy="398462"/>
          </a:xfrm>
          <a:prstGeom prst="rect">
            <a:avLst/>
          </a:prstGeom>
          <a:noFill/>
          <a:ln w="9525">
            <a:noFill/>
          </a:ln>
        </p:spPr>
        <p:txBody>
          <a:bodyPr anchor="t" anchorCtr="0">
            <a:spAutoFit/>
          </a:bodyPr>
          <a:p>
            <a:r>
              <a:rPr lang="en-US" altLang="zh-CN" dirty="0">
                <a:solidFill>
                  <a:srgbClr val="FF0000"/>
                </a:solidFill>
                <a:latin typeface="Verdana" panose="020B0604030504040204" pitchFamily="34" charset="0"/>
                <a:ea typeface="宋体" panose="02010600030101010101" pitchFamily="2" charset="-122"/>
              </a:rPr>
              <a:t>2,7</a:t>
            </a:r>
            <a:endParaRPr lang="en-US" altLang="zh-CN" dirty="0">
              <a:solidFill>
                <a:srgbClr val="FF0000"/>
              </a:solidFill>
              <a:latin typeface="Verdana" panose="020B0604030504040204" pitchFamily="34" charset="0"/>
              <a:ea typeface="宋体" panose="02010600030101010101" pitchFamily="2" charset="-122"/>
            </a:endParaRPr>
          </a:p>
        </p:txBody>
      </p:sp>
      <p:sp>
        <p:nvSpPr>
          <p:cNvPr id="60422" name="文本框 7"/>
          <p:cNvSpPr txBox="1"/>
          <p:nvPr/>
        </p:nvSpPr>
        <p:spPr>
          <a:xfrm>
            <a:off x="5467350" y="4968875"/>
            <a:ext cx="733425" cy="398463"/>
          </a:xfrm>
          <a:prstGeom prst="rect">
            <a:avLst/>
          </a:prstGeom>
          <a:noFill/>
          <a:ln w="9525">
            <a:noFill/>
          </a:ln>
        </p:spPr>
        <p:txBody>
          <a:bodyPr anchor="t" anchorCtr="0">
            <a:spAutoFit/>
          </a:bodyPr>
          <a:p>
            <a:r>
              <a:rPr lang="en-US" altLang="zh-CN" dirty="0">
                <a:solidFill>
                  <a:srgbClr val="FF0000"/>
                </a:solidFill>
                <a:latin typeface="Verdana" panose="020B0604030504040204" pitchFamily="34" charset="0"/>
                <a:ea typeface="宋体" panose="02010600030101010101" pitchFamily="2" charset="-122"/>
              </a:rPr>
              <a:t>3,8</a:t>
            </a:r>
            <a:endParaRPr lang="en-US" altLang="zh-CN" dirty="0">
              <a:solidFill>
                <a:srgbClr val="FF0000"/>
              </a:solidFill>
              <a:latin typeface="Verdana" panose="020B0604030504040204" pitchFamily="34" charset="0"/>
              <a:ea typeface="宋体" panose="02010600030101010101" pitchFamily="2" charset="-122"/>
            </a:endParaRPr>
          </a:p>
        </p:txBody>
      </p:sp>
      <p:sp>
        <p:nvSpPr>
          <p:cNvPr id="60423" name="文本框 8"/>
          <p:cNvSpPr txBox="1"/>
          <p:nvPr/>
        </p:nvSpPr>
        <p:spPr>
          <a:xfrm>
            <a:off x="5468938" y="5576888"/>
            <a:ext cx="788987" cy="398462"/>
          </a:xfrm>
          <a:prstGeom prst="rect">
            <a:avLst/>
          </a:prstGeom>
          <a:noFill/>
          <a:ln w="9525">
            <a:noFill/>
          </a:ln>
        </p:spPr>
        <p:txBody>
          <a:bodyPr anchor="t" anchorCtr="0">
            <a:spAutoFit/>
          </a:bodyPr>
          <a:p>
            <a:r>
              <a:rPr lang="en-US" altLang="zh-CN" dirty="0">
                <a:solidFill>
                  <a:srgbClr val="FF0000"/>
                </a:solidFill>
                <a:latin typeface="Verdana" panose="020B0604030504040204" pitchFamily="34" charset="0"/>
                <a:ea typeface="宋体" panose="02010600030101010101" pitchFamily="2" charset="-122"/>
              </a:rPr>
              <a:t>4,9</a:t>
            </a:r>
            <a:endParaRPr lang="en-US" altLang="zh-CN" dirty="0">
              <a:solidFill>
                <a:srgbClr val="FF0000"/>
              </a:solidFill>
              <a:latin typeface="Verdana" panose="020B0604030504040204" pitchFamily="34"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1.4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算法和算法分析</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0963" name="Rectangle 3"/>
          <p:cNvSpPr>
            <a:spLocks noGrp="1" noChangeArrowheads="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算法</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：是对特定问题求解步骤的一种描述。 算法是指令的有限序列，其中每一条指令表示一个或多个操作。</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算法具有以下五个特性：</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有穷性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一个算法必须总是在执行有穷步之后结束，且每一步都在有穷时间内完成。</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确定性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算法中每一条指令必须有确切的含义。不存在二义性。且算法只有一个入口和一个出口。</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可行性</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一个算法是可行的。即算法描述的操作都是可以通过已经实现的基本运算执行有限次来实现的</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4</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输入</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一个算法有零个或多个输入，这些输入取自于某个特定的对象集合。</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5</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输出</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一个算法有一个或多个输出，这些输出是同输入有着某些特定关系的量</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1.4.2  </a:t>
            </a:r>
            <a:r>
              <a:rPr kumimoji="0"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算法设计的要求</a:t>
            </a:r>
            <a:endParaRPr kumimoji="0"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4198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评价一个好的算法有以下几个标准</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正确性</a:t>
            </a:r>
            <a:r>
              <a:rPr kumimoji="0" lang="en-US" altLang="zh-CN"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(Correctness )</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算法应满足具体问题的需求。</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n"/>
              <a:defRPr/>
            </a:pP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四个层次：语法、简单测试、复杂测试、完美测试</a:t>
            </a:r>
            <a:endPar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可读性</a:t>
            </a:r>
            <a:r>
              <a:rPr kumimoji="0" lang="en-US" altLang="zh-CN"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(Readability)</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算法应该好读。以有利于阅读者对程序的理解。</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健壮性</a:t>
            </a:r>
            <a:r>
              <a:rPr kumimoji="0" lang="en-US" altLang="zh-CN"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(Robustness)</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算法应具有容错处理。当输入非法数据时，算法应对其作出反应，而不是产生莫名其妙的输出结果</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(4)</a:t>
            </a:r>
            <a:r>
              <a:rPr kumimoji="0" lang="zh-CN" altLang="en-US" sz="2200" b="1" i="0" u="none" strike="noStrike" kern="0" cap="none" spc="0" normalizeH="0" baseline="0" noProof="0">
                <a:ln>
                  <a:noFill/>
                </a:ln>
                <a:solidFill>
                  <a:schemeClr val="hlink"/>
                </a:solidFill>
                <a:effectLst>
                  <a:outerShdw blurRad="38100" dist="38100" dir="2700000" algn="tl">
                    <a:srgbClr val="C0C0C0"/>
                  </a:outerShdw>
                </a:effectLst>
                <a:uLnTx/>
                <a:uFillTx/>
                <a:latin typeface="+mn-lt"/>
                <a:ea typeface="+mn-ea"/>
                <a:cs typeface="+mn-cs"/>
              </a:rPr>
              <a:t>效率与存储量需求</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   效率指的是算法执行的时间；存储量需求指算法执行过程中所需要的最大存储空间。一般，这两者与问题的规模有关</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1.4.3 </a:t>
            </a:r>
            <a:r>
              <a:rPr kumimoji="0"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算法效率的度量</a:t>
            </a:r>
            <a:endParaRPr kumimoji="0" lang="zh-CN" altLang="en-US" sz="38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43011" name="Rectangle 3"/>
          <p:cNvSpPr>
            <a:spLocks noGrp="1" noChangeArrowheads="1"/>
          </p:cNvSpPr>
          <p:nvPr>
            <p:ph idx="1"/>
          </p:nvPr>
        </p:nvSpPr>
        <p:spPr>
          <a:xfrm>
            <a:off x="566738" y="1752600"/>
            <a:ext cx="7893050" cy="4268788"/>
          </a:xfrm>
        </p:spPr>
        <p:txBody>
          <a:bodyPr vert="horz" wrap="square" lIns="91440" tIns="45720" rIns="91440" bIns="45720" numCol="1" anchor="t" anchorCtr="0" compatLnSpc="1"/>
          <a:lstStyle/>
          <a:p>
            <a:pPr marL="0" marR="0" lvl="0" indent="0" algn="l" defTabSz="90043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对一个算法要作出全面的分析有两种方法：</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84250" marR="0" lvl="1" indent="-361950" algn="l" defTabSz="90043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事后统计</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558925" marR="0" lvl="2" indent="-395605" algn="l" defTabSz="90043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编写、运行算法；软硬件环境；</a:t>
            </a:r>
            <a:endPar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84250" marR="0" lvl="1" indent="-361950" algn="l" defTabSz="90043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事前分析</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558925" marR="0" lvl="2" indent="-395605" algn="l" defTabSz="90043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算法选用策略；问题规模；语言；编译程序质量；执行指令的速度；</a:t>
            </a:r>
            <a:endParaRPr kumimoji="0" lang="zh-CN" altLang="en-US" sz="23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0043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算法</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运行工作量</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Arial" panose="020B0604020202020204"/>
                <a:ea typeface="+mn-ea"/>
                <a:cs typeface="+mn-cs"/>
              </a:rPr>
              <a:t>”</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只于问题规模相关，与软硬件无关</a:t>
            </a:r>
            <a:endPar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984250" marR="0" lvl="1" indent="-361950" algn="l" defTabSz="90043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工作量：控制＋基本操作（原操作）</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984250" marR="0" lvl="1" indent="-361950" algn="l" defTabSz="900430" rtl="0" eaLnBrk="1" fontAlgn="base" latinLnBrk="0" hangingPunct="1">
              <a:lnSpc>
                <a:spcPct val="90000"/>
              </a:lnSpc>
              <a:spcBef>
                <a:spcPct val="20000"/>
              </a:spcBef>
              <a:spcAft>
                <a:spcPct val="0"/>
              </a:spcAft>
              <a:buClr>
                <a:schemeClr val="accent2"/>
              </a:buClr>
              <a:buSzTx/>
              <a:buFont typeface="Wingdings" panose="05000000000000000000" pitchFamily="2" charset="2"/>
              <a:buChar char="n"/>
              <a:defRPr/>
            </a:pPr>
            <a:r>
              <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基本操作的执行次数与包含它的语句频度相同</a:t>
            </a:r>
            <a:endParaRPr kumimoji="0" lang="zh-CN" altLang="en-US" sz="26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5537" name="Rectangle 6"/>
          <p:cNvSpPr/>
          <p:nvPr/>
        </p:nvSpPr>
        <p:spPr>
          <a:xfrm>
            <a:off x="755650" y="5229225"/>
            <a:ext cx="7127875" cy="339725"/>
          </a:xfrm>
          <a:prstGeom prst="rect">
            <a:avLst/>
          </a:prstGeom>
          <a:noFill/>
          <a:ln w="9525">
            <a:noFill/>
          </a:ln>
        </p:spPr>
        <p:txBody>
          <a:bodyPr anchor="t" anchorCtr="0">
            <a:spAutoFit/>
          </a:bodyPr>
          <a:p>
            <a:pPr>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Verdana" panose="020B0604030504040204" pitchFamily="34" charset="0"/>
                <a:ea typeface="宋体" panose="02010600030101010101" pitchFamily="2" charset="-122"/>
              </a:rPr>
              <a:t>基本操作次数：</a:t>
            </a:r>
            <a:r>
              <a:rPr lang="en-US" altLang="zh-CN" sz="1800" b="0" dirty="0">
                <a:solidFill>
                  <a:schemeClr val="tx1"/>
                </a:solidFill>
                <a:latin typeface="Verdana" panose="020B0604030504040204" pitchFamily="34" charset="0"/>
                <a:ea typeface="宋体" panose="02010600030101010101" pitchFamily="2" charset="-122"/>
              </a:rPr>
              <a:t>n</a:t>
            </a:r>
            <a:r>
              <a:rPr lang="en-US" altLang="zh-CN" sz="1800" b="0" baseline="30000" dirty="0">
                <a:solidFill>
                  <a:schemeClr val="tx1"/>
                </a:solidFill>
                <a:latin typeface="Verdana" panose="020B0604030504040204" pitchFamily="34" charset="0"/>
                <a:ea typeface="宋体" panose="02010600030101010101" pitchFamily="2" charset="-122"/>
              </a:rPr>
              <a:t>3</a:t>
            </a:r>
            <a:r>
              <a:rPr lang="en-US" altLang="zh-CN" sz="1800" b="0" dirty="0">
                <a:solidFill>
                  <a:schemeClr val="tx1"/>
                </a:solidFill>
                <a:latin typeface="Verdana" panose="020B0604030504040204" pitchFamily="34" charset="0"/>
                <a:ea typeface="宋体" panose="02010600030101010101" pitchFamily="2" charset="-122"/>
              </a:rPr>
              <a:t>+n</a:t>
            </a:r>
            <a:r>
              <a:rPr lang="en-US" altLang="zh-CN" sz="1800" b="0" baseline="30000" dirty="0">
                <a:solidFill>
                  <a:schemeClr val="tx1"/>
                </a:solidFill>
                <a:latin typeface="Verdana" panose="020B0604030504040204" pitchFamily="34" charset="0"/>
                <a:ea typeface="宋体" panose="02010600030101010101" pitchFamily="2" charset="-122"/>
              </a:rPr>
              <a:t>2</a:t>
            </a:r>
            <a:endParaRPr lang="en-US" altLang="zh-CN" sz="1800" b="0" baseline="30000" dirty="0">
              <a:solidFill>
                <a:schemeClr val="tx1"/>
              </a:solidFill>
              <a:latin typeface="Verdana" panose="020B0604030504040204" pitchFamily="34" charset="0"/>
              <a:ea typeface="宋体" panose="02010600030101010101" pitchFamily="2" charset="-122"/>
            </a:endParaRPr>
          </a:p>
        </p:txBody>
      </p:sp>
      <p:sp>
        <p:nvSpPr>
          <p:cNvPr id="65538" name="Text Box 8"/>
          <p:cNvSpPr txBox="1"/>
          <p:nvPr/>
        </p:nvSpPr>
        <p:spPr>
          <a:xfrm>
            <a:off x="827088" y="260350"/>
            <a:ext cx="6727825" cy="4381500"/>
          </a:xfrm>
          <a:prstGeom prst="rect">
            <a:avLst/>
          </a:prstGeom>
          <a:noFill/>
          <a:ln w="9525">
            <a:noFill/>
          </a:ln>
        </p:spPr>
        <p:txBody>
          <a:bodyPr wrap="none" anchor="t" anchorCtr="0">
            <a:spAutoFit/>
          </a:bodyPr>
          <a:p>
            <a:pPr>
              <a:lnSpc>
                <a:spcPct val="168000"/>
              </a:lnSpc>
            </a:pPr>
            <a:r>
              <a:rPr lang="zh-CN" altLang="en-US" sz="2400" b="0" dirty="0">
                <a:solidFill>
                  <a:schemeClr val="tx1"/>
                </a:solidFill>
                <a:latin typeface="Times New Roman" panose="02020603050405020304" pitchFamily="18" charset="0"/>
                <a:ea typeface="宋体" panose="02010600030101010101" pitchFamily="2" charset="-122"/>
              </a:rPr>
              <a:t>例</a:t>
            </a:r>
            <a:r>
              <a:rPr lang="en-US" altLang="zh-CN" sz="2400" b="0" dirty="0">
                <a:solidFill>
                  <a:schemeClr val="tx1"/>
                </a:solidFill>
                <a:latin typeface="Times New Roman" panose="02020603050405020304" pitchFamily="18" charset="0"/>
                <a:ea typeface="宋体" panose="02010600030101010101" pitchFamily="2" charset="-122"/>
              </a:rPr>
              <a:t>1. </a:t>
            </a:r>
            <a:r>
              <a:rPr lang="zh-CN" altLang="en-US" sz="2400" b="0" dirty="0">
                <a:solidFill>
                  <a:schemeClr val="tx1"/>
                </a:solidFill>
                <a:latin typeface="Times New Roman" panose="02020603050405020304" pitchFamily="18" charset="0"/>
                <a:ea typeface="宋体" panose="02010600030101010101" pitchFamily="2" charset="-122"/>
              </a:rPr>
              <a:t>矩阵乘法</a:t>
            </a:r>
            <a:r>
              <a:rPr lang="en-US" altLang="zh-CN" sz="2400" b="0" dirty="0">
                <a:solidFill>
                  <a:schemeClr val="tx1"/>
                </a:solidFill>
                <a:latin typeface="Times New Roman" panose="02020603050405020304" pitchFamily="18" charset="0"/>
                <a:ea typeface="黑体" panose="02010609060101010101" pitchFamily="49" charset="-122"/>
              </a:rPr>
              <a:t>:</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for(i=0; i&lt;n; i++) 				/*  n  */</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for(j=0; j&lt;n; j++){			/* n */</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c[i][j]=0;                                          	 /* n</a:t>
            </a:r>
            <a:r>
              <a:rPr lang="en-US" altLang="zh-CN" sz="2400" b="0" baseline="30000" dirty="0">
                <a:solidFill>
                  <a:schemeClr val="tx1"/>
                </a:solidFill>
                <a:latin typeface="Times New Roman" panose="02020603050405020304" pitchFamily="18" charset="0"/>
                <a:ea typeface="宋体" panose="02010600030101010101" pitchFamily="2" charset="-122"/>
              </a:rPr>
              <a:t>2   </a:t>
            </a:r>
            <a:r>
              <a:rPr lang="en-US" altLang="zh-CN" sz="2400" b="0" dirty="0">
                <a:solidFill>
                  <a:schemeClr val="tx1"/>
                </a:solidFill>
                <a:latin typeface="Times New Roman" panose="02020603050405020304" pitchFamily="18" charset="0"/>
                <a:ea typeface="宋体" panose="02010600030101010101" pitchFamily="2" charset="-122"/>
              </a:rPr>
              <a:t>*/</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for(k=0; k&lt;n; k++) 			/* n</a:t>
            </a:r>
            <a:r>
              <a:rPr lang="en-US" altLang="zh-CN" sz="2400" b="0" baseline="30000" dirty="0">
                <a:solidFill>
                  <a:schemeClr val="tx1"/>
                </a:solidFill>
                <a:latin typeface="Times New Roman" panose="02020603050405020304" pitchFamily="18" charset="0"/>
                <a:ea typeface="宋体" panose="02010600030101010101" pitchFamily="2" charset="-122"/>
              </a:rPr>
              <a:t>2</a:t>
            </a:r>
            <a:r>
              <a:rPr lang="en-US" altLang="zh-CN" sz="2400" b="0" dirty="0">
                <a:solidFill>
                  <a:schemeClr val="tx1"/>
                </a:solidFill>
                <a:latin typeface="Times New Roman" panose="02020603050405020304" pitchFamily="18" charset="0"/>
                <a:ea typeface="宋体" panose="02010600030101010101" pitchFamily="2" charset="-122"/>
              </a:rPr>
              <a:t>n */</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c[i][j]+=a[i][k]*b[k][j]; 		  /* n</a:t>
            </a:r>
            <a:r>
              <a:rPr lang="en-US" altLang="zh-CN" sz="2400" b="0" baseline="30000" dirty="0">
                <a:solidFill>
                  <a:schemeClr val="tx1"/>
                </a:solidFill>
                <a:latin typeface="Times New Roman" panose="02020603050405020304" pitchFamily="18" charset="0"/>
                <a:ea typeface="宋体" panose="02010600030101010101" pitchFamily="2" charset="-122"/>
              </a:rPr>
              <a:t>3  </a:t>
            </a:r>
            <a:r>
              <a:rPr lang="en-US" altLang="zh-CN" sz="2400" b="0" dirty="0">
                <a:solidFill>
                  <a:schemeClr val="tx1"/>
                </a:solidFill>
                <a:latin typeface="Times New Roman" panose="02020603050405020304" pitchFamily="18" charset="0"/>
                <a:ea typeface="宋体" panose="02010600030101010101" pitchFamily="2" charset="-122"/>
              </a:rPr>
              <a:t>*/</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 </a:t>
            </a:r>
            <a:endParaRPr lang="en-US" altLang="zh-CN" sz="24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 name="标题 3"/>
          <p:cNvSpPr>
            <a:spLocks noGrp="1"/>
          </p:cNvSpPr>
          <p:nvPr>
            <p:ph type="title"/>
          </p:nvPr>
        </p:nvSpPr>
        <p:spPr/>
        <p:txBody>
          <a:bodyPr/>
          <a:p>
            <a:pPr marL="0" marR="0" indent="0" algn="l" defTabSz="914400" rtl="0" eaLnBrk="0" fontAlgn="base" latinLnBrk="0" hangingPunct="0">
              <a:lnSpc>
                <a:spcPct val="100000"/>
              </a:lnSpc>
              <a:spcBef>
                <a:spcPct val="0"/>
              </a:spcBef>
              <a:spcAft>
                <a:spcPct val="0"/>
              </a:spcAft>
              <a:buClrTx/>
              <a:buSzTx/>
              <a:buFontTx/>
              <a:buNone/>
            </a:pPr>
            <a:r>
              <a:rPr kumimoji="0" lang="zh-CN" altLang="en-US" sz="3800" b="1" i="0" u="none" strike="noStrike" kern="0" cap="none" spc="0" normalizeH="0" baseline="0" noProof="1">
                <a:solidFill>
                  <a:srgbClr val="FF0000"/>
                </a:solidFill>
                <a:effectLst>
                  <a:outerShdw blurRad="38100" dist="38100" dir="2700000" algn="tl">
                    <a:srgbClr val="C0C0C0"/>
                  </a:outerShdw>
                </a:effectLst>
                <a:latin typeface="+mj-lt"/>
                <a:ea typeface="+mj-ea"/>
                <a:cs typeface="+mj-cs"/>
              </a:rPr>
              <a:t>时间复杂度引例</a:t>
            </a:r>
            <a:endParaRPr kumimoji="0" lang="zh-CN" altLang="en-US" sz="3800" b="1" i="0" u="none" strike="noStrike" kern="0" cap="none" spc="0" normalizeH="0" baseline="0" noProof="1">
              <a:solidFill>
                <a:srgbClr val="FF0000"/>
              </a:solidFill>
              <a:effectLst>
                <a:outerShdw blurRad="38100" dist="38100" dir="2700000" algn="tl">
                  <a:srgbClr val="C0C0C0"/>
                </a:outerShdw>
              </a:effectLst>
              <a:latin typeface="+mj-lt"/>
              <a:ea typeface="+mj-ea"/>
              <a:cs typeface="+mj-cs"/>
            </a:endParaRPr>
          </a:p>
        </p:txBody>
      </p:sp>
      <p:sp>
        <p:nvSpPr>
          <p:cNvPr id="66562" name="Rectangle 6"/>
          <p:cNvSpPr/>
          <p:nvPr/>
        </p:nvSpPr>
        <p:spPr>
          <a:xfrm>
            <a:off x="827088" y="6165850"/>
            <a:ext cx="7127875" cy="339725"/>
          </a:xfrm>
          <a:prstGeom prst="rect">
            <a:avLst/>
          </a:prstGeom>
          <a:noFill/>
          <a:ln w="9525">
            <a:noFill/>
          </a:ln>
        </p:spPr>
        <p:txBody>
          <a:bodyPr anchor="t" anchorCtr="0">
            <a:spAutoFit/>
          </a:bodyPr>
          <a:p>
            <a:pPr>
              <a:lnSpc>
                <a:spcPct val="90000"/>
              </a:lnSpc>
              <a:spcBef>
                <a:spcPct val="20000"/>
              </a:spcBef>
              <a:buClr>
                <a:schemeClr val="accent2"/>
              </a:buClr>
              <a:buFont typeface="Wingdings" panose="05000000000000000000" pitchFamily="2" charset="2"/>
            </a:pPr>
            <a:r>
              <a:rPr lang="zh-CN" altLang="en-US" sz="1800" b="0" dirty="0">
                <a:solidFill>
                  <a:schemeClr val="tx1"/>
                </a:solidFill>
                <a:latin typeface="Verdana" panose="020B0604030504040204" pitchFamily="34" charset="0"/>
                <a:ea typeface="宋体" panose="02010600030101010101" pitchFamily="2" charset="-122"/>
              </a:rPr>
              <a:t>基本操作次数：</a:t>
            </a:r>
            <a:r>
              <a:rPr lang="en-US" altLang="zh-CN" sz="1800" b="0" dirty="0">
                <a:solidFill>
                  <a:schemeClr val="tx1"/>
                </a:solidFill>
                <a:latin typeface="Verdana" panose="020B0604030504040204" pitchFamily="34" charset="0"/>
                <a:ea typeface="宋体" panose="02010600030101010101" pitchFamily="2" charset="-122"/>
              </a:rPr>
              <a:t>n</a:t>
            </a:r>
            <a:r>
              <a:rPr lang="en-US" altLang="zh-CN" sz="1800" b="0" baseline="30000" dirty="0">
                <a:solidFill>
                  <a:schemeClr val="tx1"/>
                </a:solidFill>
                <a:latin typeface="Verdana" panose="020B0604030504040204" pitchFamily="34" charset="0"/>
                <a:ea typeface="宋体" panose="02010600030101010101" pitchFamily="2" charset="-122"/>
              </a:rPr>
              <a:t>3</a:t>
            </a:r>
            <a:r>
              <a:rPr lang="en-US" altLang="zh-CN" sz="1800" b="0" dirty="0">
                <a:solidFill>
                  <a:schemeClr val="tx1"/>
                </a:solidFill>
                <a:latin typeface="Verdana" panose="020B0604030504040204" pitchFamily="34" charset="0"/>
                <a:ea typeface="宋体" panose="02010600030101010101" pitchFamily="2" charset="-122"/>
              </a:rPr>
              <a:t>+n</a:t>
            </a:r>
            <a:r>
              <a:rPr lang="en-US" altLang="zh-CN" sz="1800" b="0" baseline="30000" dirty="0">
                <a:solidFill>
                  <a:schemeClr val="tx1"/>
                </a:solidFill>
                <a:latin typeface="Verdana" panose="020B0604030504040204" pitchFamily="34" charset="0"/>
                <a:ea typeface="宋体" panose="02010600030101010101" pitchFamily="2" charset="-122"/>
              </a:rPr>
              <a:t>2</a:t>
            </a:r>
            <a:endParaRPr lang="en-US" altLang="zh-CN" sz="1800" b="0" baseline="30000" dirty="0">
              <a:solidFill>
                <a:schemeClr val="tx1"/>
              </a:solidFill>
              <a:latin typeface="Verdana" panose="020B0604030504040204" pitchFamily="34" charset="0"/>
              <a:ea typeface="宋体" panose="02010600030101010101" pitchFamily="2" charset="-122"/>
            </a:endParaRPr>
          </a:p>
        </p:txBody>
      </p:sp>
      <p:sp>
        <p:nvSpPr>
          <p:cNvPr id="66563" name="Text Box 8"/>
          <p:cNvSpPr txBox="1"/>
          <p:nvPr/>
        </p:nvSpPr>
        <p:spPr>
          <a:xfrm>
            <a:off x="574675" y="1628775"/>
            <a:ext cx="7988300" cy="4432300"/>
          </a:xfrm>
          <a:prstGeom prst="rect">
            <a:avLst/>
          </a:prstGeom>
          <a:noFill/>
          <a:ln w="9525">
            <a:noFill/>
          </a:ln>
        </p:spPr>
        <p:txBody>
          <a:bodyPr wrap="square" anchor="t" anchorCtr="0">
            <a:spAutoFit/>
          </a:bodyPr>
          <a:p>
            <a:pPr>
              <a:lnSpc>
                <a:spcPct val="168000"/>
              </a:lnSpc>
            </a:pPr>
            <a:r>
              <a:rPr lang="zh-CN" altLang="en-US" sz="2400" b="0" dirty="0">
                <a:solidFill>
                  <a:schemeClr val="tx1"/>
                </a:solidFill>
                <a:latin typeface="Times New Roman" panose="02020603050405020304" pitchFamily="18" charset="0"/>
                <a:ea typeface="宋体" panose="02010600030101010101" pitchFamily="2" charset="-122"/>
              </a:rPr>
              <a:t>例</a:t>
            </a:r>
            <a:r>
              <a:rPr lang="en-US" altLang="zh-CN" sz="2400" b="0" dirty="0">
                <a:solidFill>
                  <a:schemeClr val="tx1"/>
                </a:solidFill>
                <a:latin typeface="Times New Roman" panose="02020603050405020304" pitchFamily="18" charset="0"/>
                <a:ea typeface="宋体" panose="02010600030101010101" pitchFamily="2" charset="-122"/>
              </a:rPr>
              <a:t>1. </a:t>
            </a:r>
            <a:r>
              <a:rPr lang="zh-CN" altLang="en-US" sz="2400" b="0" dirty="0">
                <a:solidFill>
                  <a:schemeClr val="tx1"/>
                </a:solidFill>
                <a:latin typeface="Times New Roman" panose="02020603050405020304" pitchFamily="18" charset="0"/>
                <a:ea typeface="宋体" panose="02010600030101010101" pitchFamily="2" charset="-122"/>
              </a:rPr>
              <a:t>矩阵乘法</a:t>
            </a:r>
            <a:r>
              <a:rPr lang="en-US" altLang="zh-CN" sz="2400" b="0" dirty="0">
                <a:solidFill>
                  <a:schemeClr val="tx1"/>
                </a:solidFill>
                <a:latin typeface="Times New Roman" panose="02020603050405020304" pitchFamily="18" charset="0"/>
                <a:ea typeface="黑体" panose="02010609060101010101" pitchFamily="49" charset="-122"/>
              </a:rPr>
              <a:t>:</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for(i=0; i&lt;n; i++) 				/*  n  */</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for(j=0; j&lt;n; j++){			/* n */</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c[i][j]=0;                                          	 /* n</a:t>
            </a:r>
            <a:r>
              <a:rPr lang="en-US" altLang="zh-CN" sz="2400" b="0" baseline="30000" dirty="0">
                <a:solidFill>
                  <a:schemeClr val="tx1"/>
                </a:solidFill>
                <a:latin typeface="Times New Roman" panose="02020603050405020304" pitchFamily="18" charset="0"/>
                <a:ea typeface="宋体" panose="02010600030101010101" pitchFamily="2" charset="-122"/>
              </a:rPr>
              <a:t>2   </a:t>
            </a:r>
            <a:r>
              <a:rPr lang="en-US" altLang="zh-CN" sz="2400" b="0" dirty="0">
                <a:solidFill>
                  <a:schemeClr val="tx1"/>
                </a:solidFill>
                <a:latin typeface="Times New Roman" panose="02020603050405020304" pitchFamily="18" charset="0"/>
                <a:ea typeface="宋体" panose="02010600030101010101" pitchFamily="2" charset="-122"/>
              </a:rPr>
              <a:t>*/</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for(k=0; k&lt;n; k++) 			/* n</a:t>
            </a:r>
            <a:r>
              <a:rPr lang="en-US" altLang="zh-CN" sz="2400" b="0" baseline="30000" dirty="0">
                <a:solidFill>
                  <a:schemeClr val="tx1"/>
                </a:solidFill>
                <a:latin typeface="Times New Roman" panose="02020603050405020304" pitchFamily="18" charset="0"/>
                <a:ea typeface="宋体" panose="02010600030101010101" pitchFamily="2" charset="-122"/>
              </a:rPr>
              <a:t>2</a:t>
            </a:r>
            <a:r>
              <a:rPr lang="en-US" altLang="zh-CN" sz="2400" b="0" dirty="0">
                <a:solidFill>
                  <a:schemeClr val="tx1"/>
                </a:solidFill>
                <a:latin typeface="Times New Roman" panose="02020603050405020304" pitchFamily="18" charset="0"/>
                <a:ea typeface="宋体" panose="02010600030101010101" pitchFamily="2" charset="-122"/>
              </a:rPr>
              <a:t>n */</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c[i][j]+=a[i][k]*b[k][j]; 		  /* n</a:t>
            </a:r>
            <a:r>
              <a:rPr lang="en-US" altLang="zh-CN" sz="2400" b="0" baseline="30000" dirty="0">
                <a:solidFill>
                  <a:schemeClr val="tx1"/>
                </a:solidFill>
                <a:latin typeface="Times New Roman" panose="02020603050405020304" pitchFamily="18" charset="0"/>
                <a:ea typeface="宋体" panose="02010600030101010101" pitchFamily="2" charset="-122"/>
              </a:rPr>
              <a:t>3  </a:t>
            </a:r>
            <a:r>
              <a:rPr lang="en-US" altLang="zh-CN" sz="2400" b="0" dirty="0">
                <a:solidFill>
                  <a:schemeClr val="tx1"/>
                </a:solidFill>
                <a:latin typeface="Times New Roman" panose="02020603050405020304" pitchFamily="18" charset="0"/>
                <a:ea typeface="宋体" panose="02010600030101010101" pitchFamily="2" charset="-122"/>
              </a:rPr>
              <a:t>*/</a:t>
            </a:r>
            <a:endParaRPr lang="en-US" altLang="zh-CN" sz="2400" b="0" dirty="0">
              <a:solidFill>
                <a:schemeClr val="tx1"/>
              </a:solidFill>
              <a:latin typeface="Times New Roman" panose="02020603050405020304" pitchFamily="18" charset="0"/>
              <a:ea typeface="宋体" panose="02010600030101010101" pitchFamily="2" charset="-122"/>
            </a:endParaRPr>
          </a:p>
          <a:p>
            <a:pPr lvl="1" indent="0" eaLnBrk="1" hangingPunct="1">
              <a:lnSpc>
                <a:spcPct val="168000"/>
              </a:lnSpc>
            </a:pPr>
            <a:r>
              <a:rPr lang="en-US" altLang="zh-CN" sz="2400" b="0" dirty="0">
                <a:solidFill>
                  <a:schemeClr val="tx1"/>
                </a:solidFill>
                <a:latin typeface="Times New Roman" panose="02020603050405020304" pitchFamily="18" charset="0"/>
                <a:ea typeface="宋体" panose="02010600030101010101" pitchFamily="2" charset="-122"/>
              </a:rPr>
              <a:t>  } </a:t>
            </a:r>
            <a:endParaRPr lang="en-US" altLang="zh-CN" sz="24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3" name="Rectangle 5"/>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5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rPr>
              <a:t>渐近时间复杂度</a:t>
            </a:r>
            <a:endParaRPr kumimoji="0" lang="zh-CN" altLang="en-US" sz="35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222211" name="Rectangle 3"/>
          <p:cNvSpPr>
            <a:spLocks noGrp="1" noChangeArrowheads="1"/>
          </p:cNvSpPr>
          <p:nvPr>
            <p:ph idx="1"/>
          </p:nvPr>
        </p:nvSpPr>
        <p:spPr>
          <a:xfrm>
            <a:off x="566738" y="1752600"/>
            <a:ext cx="8001000" cy="4772025"/>
          </a:xfrm>
        </p:spPr>
        <p:txBody>
          <a:bodyPr vert="horz" wrap="square" lIns="91440" tIns="45720" rIns="91440" bIns="45720" numCol="1" anchor="t" anchorCtr="0" compatLnSpc="1"/>
          <a:lstStyle/>
          <a:p>
            <a:pPr marL="0" marR="0" lvl="0" indent="0" algn="l" defTabSz="914400" rtl="0" eaLnBrk="1" fontAlgn="base" latinLnBrk="0" hangingPunct="1">
              <a:lnSpc>
                <a:spcPct val="110000"/>
              </a:lnSpc>
              <a:spcBef>
                <a:spcPct val="1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一般情况下，算法中</a:t>
            </a:r>
            <a:r>
              <a:rPr kumimoji="0" lang="zh-CN" altLang="en-US" sz="20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rPr>
              <a:t>基本操作</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重复执行的次数是问题规模</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的某个函数</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T(n)</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1059180" marR="0" lvl="1" indent="-436880" algn="l" defTabSz="914400" rtl="0" eaLnBrk="1" fontAlgn="base" latinLnBrk="0" hangingPunct="1">
              <a:lnSpc>
                <a:spcPct val="110000"/>
              </a:lnSpc>
              <a:spcBef>
                <a:spcPct val="1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例如，上面的矩阵计算</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T(n) </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a:t>
            </a:r>
            <a:r>
              <a:rPr kumimoji="1" lang="en-US" altLang="zh-CN" sz="2000" b="0" i="0" u="none" strike="noStrike" kern="0" cap="none" spc="0" normalizeH="0" baseline="0" noProof="0" dirty="0">
                <a:ln>
                  <a:noFill/>
                </a:ln>
                <a:solidFill>
                  <a:schemeClr val="tx1"/>
                </a:solidFill>
                <a:effectLst/>
                <a:uLnTx/>
                <a:uFillTx/>
                <a:latin typeface="+mn-lt"/>
                <a:ea typeface="+mn-ea"/>
                <a:cs typeface="+mn-ea"/>
              </a:rPr>
              <a:t>n</a:t>
            </a:r>
            <a:r>
              <a:rPr kumimoji="1" lang="en-US" altLang="zh-CN" sz="2000" b="0" i="0" u="none" strike="noStrike" kern="0" cap="none" spc="0" normalizeH="0" baseline="30000" noProof="0" dirty="0">
                <a:ln>
                  <a:noFill/>
                </a:ln>
                <a:solidFill>
                  <a:schemeClr val="tx1"/>
                </a:solidFill>
                <a:effectLst/>
                <a:uLnTx/>
                <a:uFillTx/>
                <a:latin typeface="+mn-lt"/>
                <a:ea typeface="+mn-ea"/>
                <a:cs typeface="+mn-ea"/>
              </a:rPr>
              <a:t>3</a:t>
            </a:r>
            <a:r>
              <a:rPr kumimoji="1" lang="en-US" altLang="zh-CN" sz="2000" b="0" i="0" u="none" strike="noStrike" kern="0" cap="none" spc="0" normalizeH="0" baseline="0" noProof="0" dirty="0">
                <a:ln>
                  <a:noFill/>
                </a:ln>
                <a:solidFill>
                  <a:schemeClr val="tx1"/>
                </a:solidFill>
                <a:effectLst/>
                <a:uLnTx/>
                <a:uFillTx/>
                <a:latin typeface="+mn-lt"/>
                <a:ea typeface="+mn-ea"/>
                <a:cs typeface="+mn-ea"/>
              </a:rPr>
              <a:t>+n</a:t>
            </a:r>
            <a:r>
              <a:rPr kumimoji="1" lang="en-US" altLang="zh-CN" sz="2000" b="0" i="0" u="none" strike="noStrike" kern="0" cap="none" spc="0" normalizeH="0" baseline="30000" noProof="0" dirty="0">
                <a:ln>
                  <a:noFill/>
                </a:ln>
                <a:solidFill>
                  <a:schemeClr val="tx1"/>
                </a:solidFill>
                <a:effectLst/>
                <a:uLnTx/>
                <a:uFillTx/>
                <a:latin typeface="+mn-lt"/>
                <a:ea typeface="+mn-ea"/>
                <a:cs typeface="+mn-ea"/>
              </a:rPr>
              <a:t>2</a:t>
            </a:r>
            <a:endParaRPr kumimoji="0" lang="en-US" altLang="zh-CN" sz="18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10000"/>
              </a:lnSpc>
              <a:spcBef>
                <a:spcPct val="10000"/>
              </a:spcBef>
              <a:spcAft>
                <a:spcPct val="0"/>
              </a:spcAft>
              <a:buClr>
                <a:schemeClr val="accent2"/>
              </a:buClr>
              <a:buSzTx/>
              <a:buFont typeface="Wingdings" panose="05000000000000000000" pitchFamily="2" charset="2"/>
              <a:buChar char="o"/>
              <a:defRPr/>
            </a:pP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令算法的基本操作次数为</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T(n)</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，设</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f(n)</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和</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T(n) </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是定义在正整数</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上的正函数，如果存在两个正常数</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c</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和</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en-US" altLang="zh-CN" sz="20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0</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，使得当</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n≥n</a:t>
            </a:r>
            <a:r>
              <a:rPr kumimoji="0" lang="en-US" altLang="zh-CN" sz="20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mn-lt"/>
                <a:ea typeface="+mn-ea"/>
                <a:cs typeface="+mn-cs"/>
              </a:rPr>
              <a:t>0</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时，有</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T(n)≤</a:t>
            </a:r>
            <a:r>
              <a:rPr kumimoji="0" lang="en-US" altLang="zh-CN" sz="20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cf</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 </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，称</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f(n)</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为算法的</a:t>
            </a:r>
            <a:r>
              <a:rPr kumimoji="0" lang="zh-CN" altLang="en-US" sz="20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rPr>
              <a:t>渐近时间复杂度</a:t>
            </a:r>
            <a:r>
              <a:rPr kumimoji="0" lang="zh-CN" altLang="en-US"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，记作</a:t>
            </a:r>
            <a:r>
              <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T(n)=O(f(n))</a:t>
            </a:r>
            <a:r>
              <a:rPr kumimoji="0" lang="en-US" altLang="zh-CN" sz="20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rPr>
              <a:t> </a:t>
            </a:r>
            <a:r>
              <a:rPr kumimoji="1" lang="zh-CN" altLang="en-US" sz="2000" b="0" i="0" u="none" strike="noStrike" kern="0" cap="none" spc="0" normalizeH="0" baseline="0" noProof="0" dirty="0">
                <a:ln>
                  <a:noFill/>
                </a:ln>
                <a:solidFill>
                  <a:schemeClr val="tx1"/>
                </a:solidFill>
                <a:effectLst/>
                <a:uLnTx/>
                <a:uFillTx/>
                <a:latin typeface="+mn-lt"/>
                <a:ea typeface="+mn-ea"/>
                <a:cs typeface="+mn-cs"/>
              </a:rPr>
              <a:t>。</a:t>
            </a:r>
            <a:endParaRPr kumimoji="0" lang="zh-CN" altLang="en-US" sz="20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endParaRPr>
          </a:p>
          <a:p>
            <a:pPr marL="1059180" marR="0" lvl="1" indent="-436880" algn="l" defTabSz="914400" rtl="0" eaLnBrk="1" fontAlgn="base" latinLnBrk="0" hangingPunct="1">
              <a:lnSpc>
                <a:spcPct val="110000"/>
              </a:lnSpc>
              <a:spcBef>
                <a:spcPct val="1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大</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O</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记号</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(bit-Oh notation)</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用以表达一个算法运行时间的上界。当我们说一个算法具有</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O(f(n))</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的运行时间时，是指该算法的实际运行时间不会超过</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f(n)</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的一个常数倍。</a:t>
            </a:r>
            <a:endPar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059180" marR="0" lvl="1" indent="-436880" algn="l" defTabSz="914400" rtl="0" eaLnBrk="1" fontAlgn="base" latinLnBrk="0" hangingPunct="1">
              <a:lnSpc>
                <a:spcPct val="110000"/>
              </a:lnSpc>
              <a:spcBef>
                <a:spcPct val="1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随着</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n</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的增加，算法执行时间</a:t>
            </a:r>
            <a:r>
              <a:rPr kumimoji="0" lang="zh-CN" altLang="en-US" sz="18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mn-lt"/>
                <a:ea typeface="+mn-ea"/>
                <a:cs typeface="+mn-ea"/>
              </a:rPr>
              <a:t>增长率</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和</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O(f(n))</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的</a:t>
            </a:r>
            <a:r>
              <a:rPr kumimoji="0" lang="zh-CN" altLang="en-US" sz="18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mn-lt"/>
                <a:ea typeface="+mn-ea"/>
                <a:cs typeface="+mn-ea"/>
              </a:rPr>
              <a:t>增长率</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相同（总会有一个常数</a:t>
            </a:r>
            <a:r>
              <a:rPr kumimoji="0" lang="en-US" altLang="zh-CN"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c</a:t>
            </a: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保证增长率相同）。</a:t>
            </a:r>
            <a:endPar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1059180" marR="0" lvl="1" indent="-436880" algn="l" defTabSz="914400" rtl="0" eaLnBrk="1" fontAlgn="base" latinLnBrk="0" hangingPunct="1">
              <a:lnSpc>
                <a:spcPct val="110000"/>
              </a:lnSpc>
              <a:spcBef>
                <a:spcPct val="10000"/>
              </a:spcBef>
              <a:spcAft>
                <a:spcPct val="0"/>
              </a:spcAft>
              <a:buClr>
                <a:schemeClr val="accent2"/>
              </a:buClr>
              <a:buSzTx/>
              <a:buFont typeface="Wingdings" panose="05000000000000000000" pitchFamily="2" charset="2"/>
              <a:buChar char="n"/>
              <a:defRPr/>
            </a:pPr>
            <a:r>
              <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rPr>
              <a:t>通常，精确的操作次数很难获得，常采用</a:t>
            </a:r>
            <a:r>
              <a:rPr kumimoji="0" lang="zh-CN" altLang="en-US" sz="18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ea"/>
              </a:rPr>
              <a:t>渐近时间复杂度来估计</a:t>
            </a:r>
            <a:endParaRPr kumimoji="0" lang="zh-CN" altLang="en-US" sz="1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ea"/>
            </a:endParaRPr>
          </a:p>
          <a:p>
            <a:pPr marL="0" marR="0" lvl="0" indent="0" algn="l" defTabSz="914400" rtl="0" eaLnBrk="1" fontAlgn="base" latinLnBrk="0" hangingPunct="1">
              <a:lnSpc>
                <a:spcPct val="110000"/>
              </a:lnSpc>
              <a:spcBef>
                <a:spcPct val="10000"/>
              </a:spcBef>
              <a:spcAft>
                <a:spcPct val="0"/>
              </a:spcAft>
              <a:buClr>
                <a:schemeClr val="accent2"/>
              </a:buClr>
              <a:buSzTx/>
              <a:buFont typeface="Wingdings" panose="05000000000000000000" pitchFamily="2" charset="2"/>
              <a:buNone/>
              <a:defRPr/>
            </a:pPr>
            <a:endParaRPr kumimoji="0" lang="zh-CN" altLang="en-US" sz="18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10000"/>
              </a:lnSpc>
              <a:spcBef>
                <a:spcPct val="10000"/>
              </a:spcBef>
              <a:spcAft>
                <a:spcPct val="0"/>
              </a:spcAft>
              <a:buClr>
                <a:schemeClr val="accent2"/>
              </a:buClr>
              <a:buSzTx/>
              <a:buFont typeface="Wingdings" panose="05000000000000000000" pitchFamily="2" charset="2"/>
              <a:buChar char="o"/>
              <a:defRPr/>
            </a:pPr>
            <a:endParaRPr kumimoji="0" lang="en-US" altLang="zh-CN" sz="2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Text Box 4"/>
          <p:cNvSpPr txBox="1"/>
          <p:nvPr/>
        </p:nvSpPr>
        <p:spPr>
          <a:xfrm>
            <a:off x="250825" y="3500438"/>
            <a:ext cx="8686800" cy="1130300"/>
          </a:xfrm>
          <a:prstGeom prst="rect">
            <a:avLst/>
          </a:prstGeom>
          <a:noFill/>
          <a:ln w="9525">
            <a:noFill/>
          </a:ln>
        </p:spPr>
        <p:txBody>
          <a:bodyPr anchor="t" anchorCtr="0">
            <a:spAutoFit/>
          </a:bodyPr>
          <a:p>
            <a:pPr>
              <a:lnSpc>
                <a:spcPct val="150000"/>
              </a:lnSpc>
              <a:spcBef>
                <a:spcPct val="50000"/>
              </a:spcBef>
            </a:pPr>
            <a:r>
              <a:rPr lang="en-US" altLang="zh-CN" sz="2400" b="0" dirty="0">
                <a:solidFill>
                  <a:schemeClr val="tx1"/>
                </a:solidFill>
                <a:latin typeface="Times New Roman" panose="02020603050405020304" pitchFamily="18" charset="0"/>
                <a:ea typeface="宋体" panose="02010600030101010101" pitchFamily="2" charset="-122"/>
              </a:rPr>
              <a:t>        </a:t>
            </a:r>
            <a:r>
              <a:rPr lang="zh-CN" altLang="en-US" sz="2400" b="0" dirty="0">
                <a:solidFill>
                  <a:schemeClr val="tx1"/>
                </a:solidFill>
                <a:latin typeface="Times New Roman" panose="02020603050405020304" pitchFamily="18" charset="0"/>
                <a:ea typeface="宋体" panose="02010600030101010101" pitchFamily="2" charset="-122"/>
              </a:rPr>
              <a:t>例如，设一个程序的实际执行工作量为</a:t>
            </a:r>
            <a:r>
              <a:rPr lang="en-US" altLang="zh-CN" sz="2400" b="0" dirty="0">
                <a:solidFill>
                  <a:schemeClr val="tx1"/>
                </a:solidFill>
                <a:latin typeface="Times New Roman" panose="02020603050405020304" pitchFamily="18" charset="0"/>
                <a:ea typeface="宋体" panose="02010600030101010101" pitchFamily="2" charset="-122"/>
              </a:rPr>
              <a:t>T(n)= 3.6n</a:t>
            </a:r>
            <a:r>
              <a:rPr lang="en-US" altLang="zh-CN" sz="2400" b="0" baseline="30000" dirty="0">
                <a:solidFill>
                  <a:schemeClr val="tx1"/>
                </a:solidFill>
                <a:latin typeface="Times New Roman" panose="02020603050405020304" pitchFamily="18" charset="0"/>
                <a:ea typeface="宋体" panose="02010600030101010101" pitchFamily="2" charset="-122"/>
              </a:rPr>
              <a:t>3 </a:t>
            </a:r>
            <a:r>
              <a:rPr lang="en-US" altLang="zh-CN" sz="2400" b="0" dirty="0">
                <a:solidFill>
                  <a:schemeClr val="tx1"/>
                </a:solidFill>
                <a:latin typeface="Times New Roman" panose="02020603050405020304" pitchFamily="18" charset="0"/>
                <a:ea typeface="宋体" panose="02010600030101010101" pitchFamily="2" charset="-122"/>
              </a:rPr>
              <a:t>+ 2.5 n</a:t>
            </a:r>
            <a:r>
              <a:rPr lang="en-US" altLang="zh-CN" sz="2400" b="0" baseline="30000" dirty="0">
                <a:solidFill>
                  <a:schemeClr val="tx1"/>
                </a:solidFill>
                <a:latin typeface="Times New Roman" panose="02020603050405020304" pitchFamily="18" charset="0"/>
                <a:ea typeface="宋体" panose="02010600030101010101" pitchFamily="2" charset="-122"/>
              </a:rPr>
              <a:t>2</a:t>
            </a:r>
            <a:r>
              <a:rPr lang="en-US" altLang="zh-CN" sz="2400" b="0" dirty="0">
                <a:solidFill>
                  <a:schemeClr val="tx1"/>
                </a:solidFill>
                <a:latin typeface="Times New Roman" panose="02020603050405020304" pitchFamily="18" charset="0"/>
                <a:ea typeface="宋体" panose="02010600030101010101" pitchFamily="2" charset="-122"/>
              </a:rPr>
              <a:t> + 2.8</a:t>
            </a:r>
            <a:r>
              <a:rPr lang="zh-CN" altLang="en-US" sz="2400" b="0" dirty="0">
                <a:solidFill>
                  <a:schemeClr val="tx1"/>
                </a:solidFill>
                <a:latin typeface="Times New Roman" panose="02020603050405020304" pitchFamily="18" charset="0"/>
                <a:ea typeface="宋体" panose="02010600030101010101" pitchFamily="2" charset="-122"/>
              </a:rPr>
              <a:t>，定理表明</a:t>
            </a:r>
            <a:r>
              <a:rPr lang="en-US" altLang="zh-CN" sz="2400" b="0" dirty="0">
                <a:solidFill>
                  <a:schemeClr val="tx1"/>
                </a:solidFill>
                <a:latin typeface="Times New Roman" panose="02020603050405020304" pitchFamily="18" charset="0"/>
                <a:ea typeface="宋体" panose="02010600030101010101" pitchFamily="2" charset="-122"/>
              </a:rPr>
              <a:t>T(n)=O(n</a:t>
            </a:r>
            <a:r>
              <a:rPr lang="en-US" altLang="zh-CN" sz="2400" b="0" baseline="30000" dirty="0">
                <a:solidFill>
                  <a:schemeClr val="tx1"/>
                </a:solidFill>
                <a:latin typeface="Times New Roman" panose="02020603050405020304" pitchFamily="18" charset="0"/>
                <a:ea typeface="宋体" panose="02010600030101010101" pitchFamily="2" charset="-122"/>
              </a:rPr>
              <a:t>3</a:t>
            </a:r>
            <a:r>
              <a:rPr lang="en-US" altLang="zh-CN" sz="2400" b="0" dirty="0">
                <a:solidFill>
                  <a:schemeClr val="tx1"/>
                </a:solidFill>
                <a:latin typeface="Times New Roman" panose="02020603050405020304" pitchFamily="18" charset="0"/>
                <a:ea typeface="宋体" panose="02010600030101010101" pitchFamily="2" charset="-122"/>
              </a:rPr>
              <a:t>)</a:t>
            </a:r>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69634" name="Text Box 5"/>
          <p:cNvSpPr txBox="1"/>
          <p:nvPr/>
        </p:nvSpPr>
        <p:spPr>
          <a:xfrm>
            <a:off x="179388" y="1700213"/>
            <a:ext cx="8686800" cy="1112837"/>
          </a:xfrm>
          <a:prstGeom prst="rect">
            <a:avLst/>
          </a:prstGeom>
          <a:noFill/>
          <a:ln w="9525">
            <a:noFill/>
          </a:ln>
        </p:spPr>
        <p:txBody>
          <a:bodyPr anchor="t" anchorCtr="0">
            <a:spAutoFit/>
          </a:bodyPr>
          <a:p>
            <a:pPr algn="just">
              <a:lnSpc>
                <a:spcPct val="138000"/>
              </a:lnSpc>
              <a:spcBef>
                <a:spcPct val="50000"/>
              </a:spcBef>
            </a:pPr>
            <a:r>
              <a:rPr lang="en-US" altLang="zh-CN" sz="2400" b="0" dirty="0">
                <a:solidFill>
                  <a:schemeClr val="tx1"/>
                </a:solidFill>
                <a:latin typeface="Times New Roman" panose="02020603050405020304" pitchFamily="18" charset="0"/>
                <a:ea typeface="黑体" panose="02010609060101010101" pitchFamily="49" charset="-122"/>
              </a:rPr>
              <a:t>   </a:t>
            </a:r>
            <a:r>
              <a:rPr lang="zh-CN" altLang="en-US" sz="2400" b="0" dirty="0">
                <a:solidFill>
                  <a:schemeClr val="tx1"/>
                </a:solidFill>
                <a:latin typeface="Times New Roman" panose="02020603050405020304" pitchFamily="18" charset="0"/>
                <a:ea typeface="黑体" panose="02010609060101010101" pitchFamily="49" charset="-122"/>
              </a:rPr>
              <a:t>定理：</a:t>
            </a:r>
            <a:r>
              <a:rPr lang="zh-CN" altLang="en-US" sz="2400" b="0" dirty="0">
                <a:solidFill>
                  <a:schemeClr val="tx1"/>
                </a:solidFill>
                <a:latin typeface="Times New Roman" panose="02020603050405020304" pitchFamily="18" charset="0"/>
                <a:ea typeface="宋体" panose="02010600030101010101" pitchFamily="2" charset="-122"/>
              </a:rPr>
              <a:t>如果</a:t>
            </a:r>
            <a:r>
              <a:rPr lang="en-US" altLang="zh-CN" sz="2400" b="0" dirty="0">
                <a:solidFill>
                  <a:schemeClr val="tx1"/>
                </a:solidFill>
                <a:latin typeface="Times New Roman" panose="02020603050405020304" pitchFamily="18" charset="0"/>
                <a:ea typeface="宋体" panose="02010600030101010101" pitchFamily="2" charset="-122"/>
              </a:rPr>
              <a:t>T(n)=a</a:t>
            </a:r>
            <a:r>
              <a:rPr lang="en-US" altLang="zh-CN" sz="2400" b="0" baseline="-30000" dirty="0">
                <a:solidFill>
                  <a:schemeClr val="tx1"/>
                </a:solidFill>
                <a:latin typeface="Times New Roman" panose="02020603050405020304" pitchFamily="18" charset="0"/>
                <a:ea typeface="宋体" panose="02010600030101010101" pitchFamily="2" charset="-122"/>
              </a:rPr>
              <a:t>m</a:t>
            </a:r>
            <a:r>
              <a:rPr lang="en-US" altLang="zh-CN" sz="2400" b="0" dirty="0">
                <a:solidFill>
                  <a:schemeClr val="tx1"/>
                </a:solidFill>
                <a:latin typeface="Times New Roman" panose="02020603050405020304" pitchFamily="18" charset="0"/>
                <a:ea typeface="宋体" panose="02010600030101010101" pitchFamily="2" charset="-122"/>
              </a:rPr>
              <a:t>n</a:t>
            </a:r>
            <a:r>
              <a:rPr lang="en-US" altLang="zh-CN" sz="2400" b="0" baseline="30000" dirty="0">
                <a:solidFill>
                  <a:schemeClr val="tx1"/>
                </a:solidFill>
                <a:latin typeface="Times New Roman" panose="02020603050405020304" pitchFamily="18" charset="0"/>
                <a:ea typeface="宋体" panose="02010600030101010101" pitchFamily="2" charset="-122"/>
              </a:rPr>
              <a:t>m</a:t>
            </a:r>
            <a:r>
              <a:rPr lang="en-US" altLang="zh-CN" sz="2400" b="0" dirty="0">
                <a:solidFill>
                  <a:schemeClr val="tx1"/>
                </a:solidFill>
                <a:latin typeface="Times New Roman" panose="02020603050405020304" pitchFamily="18" charset="0"/>
                <a:ea typeface="宋体" panose="02010600030101010101" pitchFamily="2" charset="-122"/>
              </a:rPr>
              <a:t>+a</a:t>
            </a:r>
            <a:r>
              <a:rPr lang="en-US" altLang="zh-CN" sz="2400" b="0" baseline="-30000" dirty="0">
                <a:solidFill>
                  <a:schemeClr val="tx1"/>
                </a:solidFill>
                <a:latin typeface="Times New Roman" panose="02020603050405020304" pitchFamily="18" charset="0"/>
                <a:ea typeface="宋体" panose="02010600030101010101" pitchFamily="2" charset="-122"/>
              </a:rPr>
              <a:t>m</a:t>
            </a:r>
            <a:r>
              <a:rPr lang="zh-CN" altLang="en-US" sz="2400" b="0" baseline="-30000" dirty="0">
                <a:solidFill>
                  <a:schemeClr val="tx1"/>
                </a:solidFill>
                <a:latin typeface="Times New Roman" panose="02020603050405020304" pitchFamily="18" charset="0"/>
                <a:ea typeface="宋体" panose="02010600030101010101" pitchFamily="2" charset="-122"/>
              </a:rPr>
              <a:t>－</a:t>
            </a:r>
            <a:r>
              <a:rPr lang="en-US" altLang="zh-CN" sz="2400" b="0" baseline="-30000" dirty="0">
                <a:solidFill>
                  <a:schemeClr val="tx1"/>
                </a:solidFill>
                <a:latin typeface="Times New Roman" panose="02020603050405020304" pitchFamily="18" charset="0"/>
                <a:ea typeface="宋体" panose="02010600030101010101" pitchFamily="2" charset="-122"/>
              </a:rPr>
              <a:t>1</a:t>
            </a:r>
            <a:r>
              <a:rPr lang="en-US" altLang="zh-CN" sz="2400" b="0" dirty="0">
                <a:solidFill>
                  <a:schemeClr val="tx1"/>
                </a:solidFill>
                <a:latin typeface="Times New Roman" panose="02020603050405020304" pitchFamily="18" charset="0"/>
                <a:ea typeface="宋体" panose="02010600030101010101" pitchFamily="2" charset="-122"/>
              </a:rPr>
              <a:t>n</a:t>
            </a:r>
            <a:r>
              <a:rPr lang="en-US" altLang="zh-CN" sz="2400" b="0" baseline="30000" dirty="0">
                <a:solidFill>
                  <a:schemeClr val="tx1"/>
                </a:solidFill>
                <a:latin typeface="Times New Roman" panose="02020603050405020304" pitchFamily="18" charset="0"/>
                <a:ea typeface="宋体" panose="02010600030101010101" pitchFamily="2" charset="-122"/>
              </a:rPr>
              <a:t>m</a:t>
            </a:r>
            <a:r>
              <a:rPr lang="zh-CN" altLang="en-US" sz="2400" b="0" baseline="30000" dirty="0">
                <a:solidFill>
                  <a:schemeClr val="tx1"/>
                </a:solidFill>
                <a:latin typeface="Times New Roman" panose="02020603050405020304" pitchFamily="18" charset="0"/>
                <a:ea typeface="宋体" panose="02010600030101010101" pitchFamily="2" charset="-122"/>
              </a:rPr>
              <a:t>－</a:t>
            </a:r>
            <a:r>
              <a:rPr lang="en-US" altLang="zh-CN" sz="2400" b="0" baseline="30000" dirty="0">
                <a:solidFill>
                  <a:schemeClr val="tx1"/>
                </a:solidFill>
                <a:latin typeface="Times New Roman" panose="02020603050405020304" pitchFamily="18" charset="0"/>
                <a:ea typeface="宋体" panose="02010600030101010101" pitchFamily="2" charset="-122"/>
              </a:rPr>
              <a:t>1</a:t>
            </a:r>
            <a:r>
              <a:rPr lang="en-US" altLang="zh-CN" sz="2400" b="0" dirty="0">
                <a:solidFill>
                  <a:schemeClr val="tx1"/>
                </a:solidFill>
                <a:latin typeface="Times New Roman" panose="02020603050405020304" pitchFamily="18" charset="0"/>
                <a:ea typeface="宋体" panose="02010600030101010101" pitchFamily="2" charset="-122"/>
              </a:rPr>
              <a:t>+</a:t>
            </a:r>
            <a:r>
              <a:rPr lang="en-US" altLang="zh-CN" sz="2400" b="0" dirty="0">
                <a:solidFill>
                  <a:schemeClr val="tx1"/>
                </a:solidFill>
                <a:latin typeface="Times New Roman" panose="02020603050405020304" pitchFamily="18" charset="0"/>
                <a:ea typeface="宋体" panose="02010600030101010101" pitchFamily="2" charset="-122"/>
                <a:sym typeface="MT Extra" panose="05050102010205020202" pitchFamily="18" charset="2"/>
              </a:rPr>
              <a:t></a:t>
            </a:r>
            <a:r>
              <a:rPr lang="en-US" altLang="zh-CN" sz="2400" b="0" dirty="0">
                <a:solidFill>
                  <a:schemeClr val="tx1"/>
                </a:solidFill>
                <a:latin typeface="Times New Roman" panose="02020603050405020304" pitchFamily="18" charset="0"/>
                <a:ea typeface="宋体" panose="02010600030101010101" pitchFamily="2" charset="-122"/>
              </a:rPr>
              <a:t>+a</a:t>
            </a:r>
            <a:r>
              <a:rPr lang="en-US" altLang="zh-CN" sz="2400" b="0" baseline="-30000" dirty="0">
                <a:solidFill>
                  <a:schemeClr val="tx1"/>
                </a:solidFill>
                <a:latin typeface="Times New Roman" panose="02020603050405020304" pitchFamily="18" charset="0"/>
                <a:ea typeface="宋体" panose="02010600030101010101" pitchFamily="2" charset="-122"/>
              </a:rPr>
              <a:t>1</a:t>
            </a:r>
            <a:r>
              <a:rPr lang="en-US" altLang="zh-CN" sz="2400" b="0" dirty="0">
                <a:solidFill>
                  <a:schemeClr val="tx1"/>
                </a:solidFill>
                <a:latin typeface="Times New Roman" panose="02020603050405020304" pitchFamily="18" charset="0"/>
                <a:ea typeface="宋体" panose="02010600030101010101" pitchFamily="2" charset="-122"/>
              </a:rPr>
              <a:t>n+ a</a:t>
            </a:r>
            <a:r>
              <a:rPr lang="en-US" altLang="zh-CN" sz="2400" b="0" baseline="-30000" dirty="0">
                <a:solidFill>
                  <a:schemeClr val="tx1"/>
                </a:solidFill>
                <a:latin typeface="Times New Roman" panose="02020603050405020304" pitchFamily="18" charset="0"/>
                <a:ea typeface="宋体" panose="02010600030101010101" pitchFamily="2" charset="-122"/>
              </a:rPr>
              <a:t>0</a:t>
            </a:r>
            <a:r>
              <a:rPr lang="zh-CN" altLang="en-US" sz="2400" b="0" dirty="0">
                <a:solidFill>
                  <a:schemeClr val="tx1"/>
                </a:solidFill>
                <a:latin typeface="Times New Roman" panose="02020603050405020304" pitchFamily="18" charset="0"/>
                <a:ea typeface="宋体" panose="02010600030101010101" pitchFamily="2" charset="-122"/>
              </a:rPr>
              <a:t>是</a:t>
            </a:r>
            <a:r>
              <a:rPr lang="en-US" altLang="zh-CN" sz="2400" b="0" dirty="0">
                <a:solidFill>
                  <a:schemeClr val="tx1"/>
                </a:solidFill>
                <a:latin typeface="Times New Roman" panose="02020603050405020304" pitchFamily="18" charset="0"/>
                <a:ea typeface="宋体" panose="02010600030101010101" pitchFamily="2" charset="-122"/>
              </a:rPr>
              <a:t>m</a:t>
            </a:r>
            <a:r>
              <a:rPr lang="zh-CN" altLang="en-US" sz="2400" b="0" dirty="0">
                <a:solidFill>
                  <a:schemeClr val="tx1"/>
                </a:solidFill>
                <a:latin typeface="Times New Roman" panose="02020603050405020304" pitchFamily="18" charset="0"/>
                <a:ea typeface="宋体" panose="02010600030101010101" pitchFamily="2" charset="-122"/>
              </a:rPr>
              <a:t>次多项式，则</a:t>
            </a:r>
            <a:r>
              <a:rPr lang="en-US" altLang="zh-CN" sz="2400" b="0" dirty="0">
                <a:solidFill>
                  <a:schemeClr val="tx1"/>
                </a:solidFill>
                <a:latin typeface="Times New Roman" panose="02020603050405020304" pitchFamily="18" charset="0"/>
                <a:ea typeface="宋体" panose="02010600030101010101" pitchFamily="2" charset="-122"/>
              </a:rPr>
              <a:t>T(n)=O(n</a:t>
            </a:r>
            <a:r>
              <a:rPr lang="en-US" altLang="zh-CN" sz="2400" b="0" baseline="30000" dirty="0">
                <a:solidFill>
                  <a:schemeClr val="tx1"/>
                </a:solidFill>
                <a:latin typeface="Times New Roman" panose="02020603050405020304" pitchFamily="18" charset="0"/>
                <a:ea typeface="宋体" panose="02010600030101010101" pitchFamily="2" charset="-122"/>
              </a:rPr>
              <a:t>m</a:t>
            </a:r>
            <a:r>
              <a:rPr lang="en-US" altLang="zh-CN" sz="2400" b="0" dirty="0">
                <a:solidFill>
                  <a:schemeClr val="tx1"/>
                </a:solidFill>
                <a:latin typeface="Times New Roman" panose="02020603050405020304" pitchFamily="18" charset="0"/>
                <a:ea typeface="宋体" panose="02010600030101010101" pitchFamily="2" charset="-122"/>
              </a:rPr>
              <a:t>)</a:t>
            </a:r>
            <a:endParaRPr lang="en-US" altLang="zh-CN" sz="24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4"/>
          <p:cNvSpPr/>
          <p:nvPr/>
        </p:nvSpPr>
        <p:spPr>
          <a:xfrm>
            <a:off x="1187450" y="2133600"/>
            <a:ext cx="6697663" cy="1223963"/>
          </a:xfrm>
          <a:prstGeom prst="rect">
            <a:avLst/>
          </a:prstGeom>
          <a:noFill/>
          <a:ln w="9525">
            <a:noFill/>
          </a:ln>
        </p:spPr>
        <p:txBody>
          <a:bodyPr anchor="t" anchorCtr="0">
            <a:spAutoFit/>
          </a:bodyPr>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for(i=2;i&lt;=n;++I)</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for(j=2;j&lt;=i-1;++j)</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{++x;a[i</a:t>
            </a:r>
            <a:r>
              <a:rPr lang="zh-CN" altLang="en-US" sz="2400" b="0" dirty="0">
                <a:solidFill>
                  <a:schemeClr val="tx1"/>
                </a:solidFill>
                <a:latin typeface="Verdana" panose="020B0604030504040204" pitchFamily="34" charset="0"/>
                <a:ea typeface="宋体" panose="02010600030101010101" pitchFamily="2" charset="-122"/>
              </a:rPr>
              <a:t>，</a:t>
            </a:r>
            <a:r>
              <a:rPr lang="en-US" altLang="zh-CN" sz="2400" b="0" dirty="0">
                <a:solidFill>
                  <a:schemeClr val="tx1"/>
                </a:solidFill>
                <a:latin typeface="Verdana" panose="020B0604030504040204" pitchFamily="34" charset="0"/>
                <a:ea typeface="宋体" panose="02010600030101010101" pitchFamily="2" charset="-122"/>
              </a:rPr>
              <a:t>j]=x;}</a:t>
            </a:r>
            <a:endParaRPr lang="en-US" altLang="zh-CN" sz="2400" b="0" dirty="0">
              <a:solidFill>
                <a:schemeClr val="tx1"/>
              </a:solidFill>
              <a:latin typeface="Verdana" panose="020B0604030504040204" pitchFamily="34" charset="0"/>
              <a:ea typeface="宋体" panose="02010600030101010101" pitchFamily="2" charset="-122"/>
            </a:endParaRPr>
          </a:p>
        </p:txBody>
      </p:sp>
      <p:sp>
        <p:nvSpPr>
          <p:cNvPr id="70658" name="Rectangle 5"/>
          <p:cNvSpPr/>
          <p:nvPr/>
        </p:nvSpPr>
        <p:spPr>
          <a:xfrm>
            <a:off x="1116013" y="3860800"/>
            <a:ext cx="6697662" cy="2046288"/>
          </a:xfrm>
          <a:prstGeom prst="rect">
            <a:avLst/>
          </a:prstGeom>
          <a:noFill/>
          <a:ln w="9525">
            <a:noFill/>
          </a:ln>
        </p:spPr>
        <p:txBody>
          <a:bodyPr anchor="t" anchorCtr="0">
            <a:spAutoFit/>
          </a:bodyPr>
          <a:p>
            <a:pPr>
              <a:lnSpc>
                <a:spcPct val="90000"/>
              </a:lnSpc>
              <a:spcBef>
                <a:spcPct val="20000"/>
              </a:spcBef>
              <a:buClr>
                <a:schemeClr val="accent2"/>
              </a:buClr>
              <a:buFont typeface="Wingdings" panose="05000000000000000000" pitchFamily="2" charset="2"/>
            </a:pPr>
            <a:r>
              <a:rPr lang="zh-CN" altLang="en-US" sz="2400" b="0" dirty="0">
                <a:solidFill>
                  <a:schemeClr val="tx1"/>
                </a:solidFill>
                <a:latin typeface="Verdana" panose="020B0604030504040204" pitchFamily="34" charset="0"/>
                <a:ea typeface="宋体" panose="02010600030101010101" pitchFamily="2" charset="-122"/>
              </a:rPr>
              <a:t>语句频度为：</a:t>
            </a:r>
            <a:endParaRPr lang="zh-CN" altLang="en-US"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zh-CN" altLang="en-US" sz="2400" b="0" dirty="0">
                <a:solidFill>
                  <a:schemeClr val="tx1"/>
                </a:solidFill>
                <a:latin typeface="Verdana" panose="020B0604030504040204" pitchFamily="34" charset="0"/>
                <a:ea typeface="宋体" panose="02010600030101010101" pitchFamily="2" charset="-122"/>
              </a:rPr>
              <a:t> </a:t>
            </a:r>
            <a:r>
              <a:rPr lang="en-US" altLang="zh-CN" sz="2400" b="0" dirty="0">
                <a:solidFill>
                  <a:schemeClr val="tx1"/>
                </a:solidFill>
                <a:latin typeface="Verdana" panose="020B0604030504040204" pitchFamily="34" charset="0"/>
                <a:ea typeface="宋体" panose="02010600030101010101" pitchFamily="2" charset="-122"/>
              </a:rPr>
              <a:t>1+2+3+</a:t>
            </a:r>
            <a:r>
              <a:rPr lang="en-US" altLang="zh-CN" sz="2400" b="0" dirty="0">
                <a:solidFill>
                  <a:schemeClr val="tx1"/>
                </a:solidFill>
                <a:latin typeface="Arial" panose="020B0604020202020204" pitchFamily="34" charset="0"/>
                <a:ea typeface="宋体" panose="02010600030101010101" pitchFamily="2" charset="-122"/>
              </a:rPr>
              <a:t>…</a:t>
            </a:r>
            <a:r>
              <a:rPr lang="en-US" altLang="zh-CN" sz="2400" b="0" dirty="0">
                <a:solidFill>
                  <a:schemeClr val="tx1"/>
                </a:solidFill>
                <a:latin typeface="Verdana" panose="020B0604030504040204" pitchFamily="34" charset="0"/>
                <a:ea typeface="宋体" panose="02010600030101010101" pitchFamily="2" charset="-122"/>
              </a:rPr>
              <a:t>+n-2=(1+n-2) ×(n-2)/2</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=(n-1)(n-2)/2</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=(n</a:t>
            </a:r>
            <a:r>
              <a:rPr lang="en-US" altLang="zh-CN" sz="2400" b="0" baseline="30000" dirty="0">
                <a:solidFill>
                  <a:schemeClr val="tx1"/>
                </a:solidFill>
                <a:latin typeface="Verdana" panose="020B0604030504040204" pitchFamily="34" charset="0"/>
                <a:ea typeface="宋体" panose="02010600030101010101" pitchFamily="2" charset="-122"/>
              </a:rPr>
              <a:t>2</a:t>
            </a:r>
            <a:r>
              <a:rPr lang="en-US" altLang="zh-CN" sz="2400" b="0" dirty="0">
                <a:solidFill>
                  <a:schemeClr val="tx1"/>
                </a:solidFill>
                <a:latin typeface="Verdana" panose="020B0604030504040204" pitchFamily="34" charset="0"/>
                <a:ea typeface="宋体" panose="02010600030101010101" pitchFamily="2" charset="-122"/>
              </a:rPr>
              <a:t>-3n+2)/2</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a:t>
            </a:r>
            <a:r>
              <a:rPr lang="zh-CN" altLang="en-US" sz="2400" b="0" dirty="0">
                <a:solidFill>
                  <a:schemeClr val="tx1"/>
                </a:solidFill>
                <a:latin typeface="Verdana" panose="020B0604030504040204" pitchFamily="34" charset="0"/>
                <a:ea typeface="宋体" panose="02010600030101010101" pitchFamily="2" charset="-122"/>
              </a:rPr>
              <a:t>时间复杂度为</a:t>
            </a:r>
            <a:r>
              <a:rPr lang="en-US" altLang="zh-CN" sz="2400" b="0" dirty="0">
                <a:solidFill>
                  <a:schemeClr val="tx1"/>
                </a:solidFill>
                <a:latin typeface="Verdana" panose="020B0604030504040204" pitchFamily="34" charset="0"/>
                <a:ea typeface="宋体" panose="02010600030101010101" pitchFamily="2" charset="-122"/>
              </a:rPr>
              <a:t>O(n</a:t>
            </a:r>
            <a:r>
              <a:rPr lang="en-US" altLang="zh-CN" sz="2400" b="0" baseline="30000" dirty="0">
                <a:solidFill>
                  <a:schemeClr val="tx1"/>
                </a:solidFill>
                <a:latin typeface="Verdana" panose="020B0604030504040204" pitchFamily="34" charset="0"/>
                <a:ea typeface="宋体" panose="02010600030101010101" pitchFamily="2" charset="-122"/>
              </a:rPr>
              <a:t>2</a:t>
            </a:r>
            <a:r>
              <a:rPr lang="en-US" altLang="zh-CN" sz="2400" b="0" dirty="0">
                <a:solidFill>
                  <a:schemeClr val="tx1"/>
                </a:solidFill>
                <a:latin typeface="Verdana" panose="020B0604030504040204" pitchFamily="34" charset="0"/>
                <a:ea typeface="宋体" panose="02010600030101010101" pitchFamily="2" charset="-122"/>
              </a:rPr>
              <a:t>)</a:t>
            </a:r>
            <a:endParaRPr lang="en-US" altLang="zh-CN" sz="2400" b="0" dirty="0">
              <a:solidFill>
                <a:schemeClr val="tx1"/>
              </a:solidFill>
              <a:latin typeface="Verdana" panose="020B0604030504040204" pitchFamily="34"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前情提要</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 name="文本框 3"/>
          <p:cNvSpPr txBox="1"/>
          <p:nvPr/>
        </p:nvSpPr>
        <p:spPr>
          <a:xfrm>
            <a:off x="466725" y="1773238"/>
            <a:ext cx="8274050" cy="2601913"/>
          </a:xfrm>
          <a:prstGeom prst="rect">
            <a:avLst/>
          </a:prstGeom>
          <a:noFill/>
        </p:spPr>
        <p:txBody>
          <a:bodyPr wrap="square" rtlCol="0">
            <a:spAutoFit/>
          </a:bodyPr>
          <a:p>
            <a:pPr>
              <a:lnSpc>
                <a:spcPct val="170000"/>
              </a:lnSpc>
            </a:pPr>
            <a:r>
              <a:rPr lang="en-US" altLang="zh-CN" sz="2400" kern="0" noProof="1">
                <a:solidFill>
                  <a:schemeClr val="tx1"/>
                </a:solidFill>
                <a:effectLst>
                  <a:outerShdw blurRad="38100" dist="38100" dir="2700000" algn="tl">
                    <a:srgbClr val="C0C0C0"/>
                  </a:outerShdw>
                </a:effectLst>
                <a:latin typeface="+mn-lt"/>
                <a:ea typeface="+mn-ea"/>
                <a:cs typeface="+mn-cs"/>
                <a:sym typeface="+mn-ea"/>
              </a:rPr>
              <a:t>1. </a:t>
            </a:r>
            <a:r>
              <a:rPr lang="zh-CN" altLang="en-US" sz="2400" kern="0" noProof="0">
                <a:solidFill>
                  <a:schemeClr val="tx1"/>
                </a:solidFill>
                <a:effectLst>
                  <a:outerShdw blurRad="38100" dist="38100" dir="2700000" algn="tl">
                    <a:srgbClr val="C0C0C0"/>
                  </a:outerShdw>
                </a:effectLst>
                <a:latin typeface="+mn-lt"/>
                <a:ea typeface="+mn-ea"/>
                <a:cs typeface="+mn-cs"/>
                <a:sym typeface="+mn-ea"/>
              </a:rPr>
              <a:t>算法：是对特定问题求解步骤的一种描述。 算法是指令的有限序列，其中每一条指令表示一个或多个操作。</a:t>
            </a:r>
            <a:endParaRPr kumimoji="0" lang="zh-CN" altLang="en-US" sz="2400" kern="0" cap="none" spc="0" normalizeH="0" baseline="0" noProof="0">
              <a:solidFill>
                <a:schemeClr val="tx1"/>
              </a:solidFill>
              <a:effectLst>
                <a:outerShdw blurRad="38100" dist="38100" dir="2700000" algn="tl">
                  <a:srgbClr val="C0C0C0"/>
                </a:outerShdw>
              </a:effectLst>
              <a:latin typeface="+mn-lt"/>
              <a:ea typeface="+mn-ea"/>
              <a:cs typeface="+mn-cs"/>
            </a:endParaRPr>
          </a:p>
          <a:p>
            <a:pPr>
              <a:lnSpc>
                <a:spcPct val="170000"/>
              </a:lnSpc>
            </a:pPr>
            <a:r>
              <a:rPr lang="en-US" altLang="zh-CN" sz="2400" kern="0" noProof="1">
                <a:solidFill>
                  <a:schemeClr val="tx1"/>
                </a:solidFill>
                <a:effectLst>
                  <a:outerShdw blurRad="38100" dist="38100" dir="2700000" algn="tl">
                    <a:srgbClr val="C0C0C0"/>
                  </a:outerShdw>
                </a:effectLst>
                <a:latin typeface="+mn-lt"/>
                <a:ea typeface="+mn-ea"/>
                <a:cs typeface="+mn-cs"/>
                <a:sym typeface="+mn-ea"/>
              </a:rPr>
              <a:t>2. </a:t>
            </a:r>
            <a:r>
              <a:rPr lang="zh-CN" altLang="en-US" sz="2400" kern="0" noProof="1">
                <a:solidFill>
                  <a:schemeClr val="tx1"/>
                </a:solidFill>
                <a:effectLst>
                  <a:outerShdw blurRad="38100" dist="38100" dir="2700000" algn="tl">
                    <a:srgbClr val="C0C0C0"/>
                  </a:outerShdw>
                </a:effectLst>
                <a:latin typeface="+mn-lt"/>
                <a:ea typeface="+mn-ea"/>
                <a:cs typeface="+mn-cs"/>
                <a:sym typeface="+mn-ea"/>
              </a:rPr>
              <a:t>算法的特性：有穷性、特定性、可行性、输入、输出</a:t>
            </a:r>
            <a:endParaRPr lang="zh-CN" altLang="en-US" sz="2400" kern="0" noProof="1">
              <a:solidFill>
                <a:schemeClr val="tx1"/>
              </a:solidFill>
              <a:effectLst>
                <a:outerShdw blurRad="38100" dist="38100" dir="2700000" algn="tl">
                  <a:srgbClr val="C0C0C0"/>
                </a:outerShdw>
              </a:effectLst>
              <a:latin typeface="+mn-lt"/>
              <a:ea typeface="+mn-ea"/>
              <a:cs typeface="+mn-cs"/>
              <a:sym typeface="+mn-ea"/>
            </a:endParaRPr>
          </a:p>
          <a:p>
            <a:pPr>
              <a:lnSpc>
                <a:spcPct val="170000"/>
              </a:lnSpc>
            </a:pPr>
            <a:r>
              <a:rPr lang="en-US" altLang="zh-CN" sz="2400" kern="0" noProof="1">
                <a:solidFill>
                  <a:schemeClr val="tx1"/>
                </a:solidFill>
                <a:effectLst>
                  <a:outerShdw blurRad="38100" dist="38100" dir="2700000" algn="tl">
                    <a:srgbClr val="C0C0C0"/>
                  </a:outerShdw>
                </a:effectLst>
                <a:latin typeface="+mn-lt"/>
                <a:ea typeface="+mn-ea"/>
                <a:cs typeface="+mn-cs"/>
                <a:sym typeface="+mn-ea"/>
              </a:rPr>
              <a:t>3. </a:t>
            </a:r>
            <a:r>
              <a:rPr lang="zh-CN" altLang="en-US" sz="2400" kern="0" noProof="0">
                <a:solidFill>
                  <a:schemeClr val="tx1"/>
                </a:solidFill>
                <a:effectLst>
                  <a:outerShdw blurRad="38100" dist="38100" dir="2700000" algn="tl">
                    <a:srgbClr val="C0C0C0"/>
                  </a:outerShdw>
                </a:effectLst>
                <a:latin typeface="+mj-lt"/>
                <a:ea typeface="+mj-ea"/>
                <a:cs typeface="+mj-cs"/>
                <a:sym typeface="+mn-ea"/>
              </a:rPr>
              <a:t>算法效率的度量：渐近时间复杂度</a:t>
            </a:r>
            <a:r>
              <a:rPr lang="en-US" altLang="zh-CN" sz="2400" kern="0" noProof="0" dirty="0">
                <a:solidFill>
                  <a:schemeClr val="tx1"/>
                </a:solidFill>
                <a:effectLst>
                  <a:outerShdw blurRad="38100" dist="38100" dir="2700000" algn="tl">
                    <a:srgbClr val="C0C0C0"/>
                  </a:outerShdw>
                </a:effectLst>
                <a:latin typeface="+mn-lt"/>
                <a:ea typeface="+mn-ea"/>
                <a:cs typeface="+mn-cs"/>
                <a:sym typeface="+mn-ea"/>
              </a:rPr>
              <a:t>O(f(n))</a:t>
            </a:r>
            <a:r>
              <a:rPr lang="en-US" altLang="zh-CN" sz="2400" kern="0" noProof="1">
                <a:solidFill>
                  <a:schemeClr val="tx1"/>
                </a:solidFill>
                <a:effectLst>
                  <a:outerShdw blurRad="38100" dist="38100" dir="2700000" algn="tl">
                    <a:srgbClr val="C0C0C0"/>
                  </a:outerShdw>
                </a:effectLst>
                <a:latin typeface="+mn-lt"/>
                <a:ea typeface="+mn-ea"/>
                <a:cs typeface="+mn-cs"/>
                <a:sym typeface="+mn-ea"/>
              </a:rPr>
              <a:t> </a:t>
            </a:r>
            <a:endParaRPr lang="en-US" altLang="zh-CN" sz="2400" kern="0" noProof="1">
              <a:solidFill>
                <a:schemeClr val="tx1"/>
              </a:solidFill>
              <a:effectLst>
                <a:outerShdw blurRad="38100" dist="38100" dir="2700000" algn="tl">
                  <a:srgbClr val="C0C0C0"/>
                </a:outerShdw>
              </a:effectLst>
              <a:latin typeface="+mn-lt"/>
              <a:ea typeface="+mn-ea"/>
              <a:cs typeface="+mn-cs"/>
              <a:sym typeface="+mn-ea"/>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1" name="Rectangle 3"/>
          <p:cNvSpPr>
            <a:spLocks noGrp="1" noChangeArrowheads="1"/>
          </p:cNvSpPr>
          <p:nvPr>
            <p:ph type="body" idx="1"/>
          </p:nvPr>
        </p:nvSpPr>
        <p:spPr>
          <a:xfrm>
            <a:off x="323850" y="476250"/>
            <a:ext cx="8712200" cy="6121400"/>
          </a:xfrm>
          <a:pattFill prst="pct5">
            <a:fgClr>
              <a:schemeClr val="accent1"/>
            </a:fgClr>
            <a:bgClr>
              <a:schemeClr val="bg1"/>
            </a:bgClr>
          </a:pattFill>
        </p:spPr>
        <p:txBody>
          <a:bodyPr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例２ </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en-US" altLang="zh-CN" sz="21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x;s</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=0;}</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将</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x</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自增看成是基本操作，则语句频度为１，即时间复杂度Ｏ</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如果将</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s=0</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也看成是基本操作，则语句频度为２，其时间复杂度仍为Ｏ</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(1)</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，即</a:t>
            </a:r>
            <a:r>
              <a:rPr kumimoji="0" lang="zh-CN" altLang="en-US" sz="21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rPr>
              <a:t>常量阶</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例３ </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for(I=1;I&lt;=n;++I)</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1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x;s</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+=x;}</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语句频度为：</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2n</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其时间复杂度为：</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O(n)</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，即时间复杂度为</a:t>
            </a:r>
            <a:r>
              <a:rPr kumimoji="0" lang="zh-CN" altLang="en-US" sz="21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rPr>
              <a:t>线性阶</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endPar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例４ </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for(I=1;I&lt;=n;++I)</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for(j=1;j&lt;=n;++j)</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r>
              <a:rPr kumimoji="0" lang="en-US" altLang="zh-CN" sz="2100" b="1" i="0" u="none" strike="noStrike" kern="0" cap="none" spc="0" normalizeH="0" baseline="0" noProof="0" dirty="0" err="1">
                <a:ln>
                  <a:noFill/>
                </a:ln>
                <a:solidFill>
                  <a:schemeClr val="tx1"/>
                </a:solidFill>
                <a:effectLst>
                  <a:outerShdw blurRad="38100" dist="38100" dir="2700000" algn="tl">
                    <a:srgbClr val="C0C0C0"/>
                  </a:outerShdw>
                </a:effectLst>
                <a:uLnTx/>
                <a:uFillTx/>
                <a:latin typeface="+mn-lt"/>
                <a:ea typeface="+mn-ea"/>
                <a:cs typeface="+mn-cs"/>
              </a:rPr>
              <a:t>x;s</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+=x;}</a:t>
            </a:r>
            <a:endPar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None/>
              <a:defRPr/>
            </a:pP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语句频度为：</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2n</a:t>
            </a:r>
            <a:r>
              <a:rPr kumimoji="0" lang="en-US" altLang="zh-CN" sz="2100" b="1" i="0" u="none" strike="noStrike" kern="0" cap="none" spc="0" normalizeH="0" baseline="26000" noProof="0" dirty="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，其时间复杂度为：</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O(n</a:t>
            </a:r>
            <a:r>
              <a:rPr kumimoji="0" lang="en-US" altLang="zh-CN" sz="2100" b="1" i="0" u="none" strike="noStrike" kern="0" cap="none" spc="0" normalizeH="0" baseline="26000" noProof="0" dirty="0">
                <a:ln>
                  <a:noFill/>
                </a:ln>
                <a:solidFill>
                  <a:schemeClr val="tx1"/>
                </a:solidFill>
                <a:effectLst>
                  <a:outerShdw blurRad="38100" dist="38100" dir="2700000" algn="tl">
                    <a:srgbClr val="C0C0C0"/>
                  </a:outerShdw>
                </a:effectLst>
                <a:uLnTx/>
                <a:uFillTx/>
                <a:latin typeface="+mn-lt"/>
                <a:ea typeface="+mn-ea"/>
                <a:cs typeface="+mn-cs"/>
              </a:rPr>
              <a:t>2</a:t>
            </a:r>
            <a:r>
              <a:rPr kumimoji="0" lang="en-US" altLang="zh-CN"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1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，即时间复杂度为</a:t>
            </a:r>
            <a:r>
              <a:rPr kumimoji="0" lang="zh-CN" altLang="en-US" sz="21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rPr>
              <a:t>平方阶</a:t>
            </a:r>
            <a:endParaRPr kumimoji="0" lang="zh-CN" altLang="en-US" sz="2100" b="1" i="0" u="none" strike="noStrike" kern="0" cap="none" spc="0" normalizeH="0" baseline="0" noProof="0" dirty="0">
              <a:ln>
                <a:noFill/>
              </a:ln>
              <a:solidFill>
                <a:schemeClr val="hlink"/>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5" name="Rectangle 3"/>
          <p:cNvSpPr>
            <a:spLocks noGrp="1" noChangeArrowheads="1"/>
          </p:cNvSpPr>
          <p:nvPr>
            <p:ph type="body" idx="1"/>
          </p:nvPr>
        </p:nvSpPr>
        <p:spPr>
          <a:xfrm>
            <a:off x="0" y="1752600"/>
            <a:ext cx="8001000" cy="4267200"/>
          </a:xfrm>
        </p:spPr>
        <p:txBody>
          <a:bodyPr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对数阶</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O(logn)</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指数阶</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O(2</a:t>
            </a:r>
            <a:r>
              <a:rPr kumimoji="0" lang="en-US" altLang="zh-CN" sz="3000" b="1" i="0" u="none" strike="noStrike" kern="0" cap="none" spc="0" normalizeH="0" baseline="30000" noProof="0">
                <a:ln>
                  <a:noFill/>
                </a:ln>
                <a:solidFill>
                  <a:schemeClr val="tx1"/>
                </a:solidFill>
                <a:effectLst>
                  <a:outerShdw blurRad="38100" dist="38100" dir="2700000" algn="tl">
                    <a:srgbClr val="C0C0C0"/>
                  </a:outerShdw>
                </a:effectLst>
                <a:uLnTx/>
                <a:uFillTx/>
                <a:latin typeface="+mn-lt"/>
                <a:ea typeface="+mn-ea"/>
                <a:cs typeface="+mn-cs"/>
              </a:rPr>
              <a:t>n</a:t>
            </a: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cs"/>
              </a:rPr>
              <a:t>…</a:t>
            </a:r>
            <a:endParaRPr kumimoji="0" lang="en-US" altLang="zh-CN"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
        <p:nvSpPr>
          <p:cNvPr id="73730" name="Rectangle 5"/>
          <p:cNvSpPr/>
          <p:nvPr/>
        </p:nvSpPr>
        <p:spPr>
          <a:xfrm>
            <a:off x="1112838" y="5589588"/>
            <a:ext cx="4773612" cy="396875"/>
          </a:xfrm>
          <a:prstGeom prst="rect">
            <a:avLst/>
          </a:prstGeom>
          <a:noFill/>
          <a:ln w="9525">
            <a:noFill/>
          </a:ln>
        </p:spPr>
        <p:txBody>
          <a:bodyPr wrap="none" anchor="b" anchorCtr="0">
            <a:spAutoFit/>
          </a:bodyPr>
          <a:p>
            <a:pPr algn="ctr"/>
            <a:r>
              <a:rPr lang="en-US" altLang="zh-CN" b="0" dirty="0">
                <a:solidFill>
                  <a:schemeClr val="tx1"/>
                </a:solidFill>
                <a:latin typeface="Verdana" panose="020B0604030504040204" pitchFamily="34" charset="0"/>
                <a:ea typeface="宋体" panose="02010600030101010101" pitchFamily="2" charset="-122"/>
              </a:rPr>
              <a:t>c&lt;</a:t>
            </a:r>
            <a:r>
              <a:rPr lang="en-US" altLang="zh-CN" b="0" i="1" dirty="0">
                <a:solidFill>
                  <a:schemeClr val="tx1"/>
                </a:solidFill>
                <a:latin typeface="Verdana" panose="020B0604030504040204" pitchFamily="34" charset="0"/>
                <a:ea typeface="宋体" panose="02010600030101010101" pitchFamily="2" charset="-122"/>
              </a:rPr>
              <a:t> log</a:t>
            </a:r>
            <a:r>
              <a:rPr lang="en-US" altLang="zh-CN" b="0" i="1" baseline="-25000" dirty="0">
                <a:solidFill>
                  <a:schemeClr val="tx1"/>
                </a:solidFill>
                <a:latin typeface="Verdana" panose="020B0604030504040204" pitchFamily="34" charset="0"/>
                <a:ea typeface="宋体" panose="02010600030101010101" pitchFamily="2" charset="-122"/>
              </a:rPr>
              <a:t>2</a:t>
            </a:r>
            <a:r>
              <a:rPr lang="en-US" altLang="zh-CN" b="0" i="1" dirty="0">
                <a:solidFill>
                  <a:schemeClr val="tx1"/>
                </a:solidFill>
                <a:latin typeface="Verdana" panose="020B0604030504040204" pitchFamily="34" charset="0"/>
                <a:ea typeface="宋体" panose="02010600030101010101" pitchFamily="2" charset="-122"/>
              </a:rPr>
              <a:t> n</a:t>
            </a:r>
            <a:r>
              <a:rPr lang="en-US" altLang="zh-CN" b="0" dirty="0">
                <a:solidFill>
                  <a:schemeClr val="tx1"/>
                </a:solidFill>
                <a:latin typeface="Verdana" panose="020B0604030504040204" pitchFamily="34" charset="0"/>
                <a:ea typeface="宋体" panose="02010600030101010101" pitchFamily="2" charset="-122"/>
              </a:rPr>
              <a:t>&lt;</a:t>
            </a:r>
            <a:r>
              <a:rPr lang="en-US" altLang="zh-CN" b="0" i="1" dirty="0">
                <a:solidFill>
                  <a:schemeClr val="tx1"/>
                </a:solidFill>
                <a:latin typeface="Verdana" panose="020B0604030504040204" pitchFamily="34" charset="0"/>
                <a:ea typeface="宋体" panose="02010600030101010101" pitchFamily="2" charset="-122"/>
              </a:rPr>
              <a:t> n</a:t>
            </a:r>
            <a:r>
              <a:rPr lang="en-US" altLang="zh-CN" b="0" dirty="0">
                <a:solidFill>
                  <a:schemeClr val="tx1"/>
                </a:solidFill>
                <a:latin typeface="Verdana" panose="020B0604030504040204" pitchFamily="34" charset="0"/>
                <a:ea typeface="宋体" panose="02010600030101010101" pitchFamily="2" charset="-122"/>
              </a:rPr>
              <a:t>&lt;</a:t>
            </a:r>
            <a:r>
              <a:rPr lang="en-US" altLang="zh-CN" b="0" i="1" dirty="0">
                <a:solidFill>
                  <a:schemeClr val="tx1"/>
                </a:solidFill>
                <a:latin typeface="Verdana" panose="020B0604030504040204" pitchFamily="34" charset="0"/>
                <a:ea typeface="宋体" panose="02010600030101010101" pitchFamily="2" charset="-122"/>
              </a:rPr>
              <a:t> n log</a:t>
            </a:r>
            <a:r>
              <a:rPr lang="en-US" altLang="zh-CN" b="0" i="1" baseline="-25000" dirty="0">
                <a:solidFill>
                  <a:schemeClr val="tx1"/>
                </a:solidFill>
                <a:latin typeface="Verdana" panose="020B0604030504040204" pitchFamily="34" charset="0"/>
                <a:ea typeface="宋体" panose="02010600030101010101" pitchFamily="2" charset="-122"/>
              </a:rPr>
              <a:t>2</a:t>
            </a:r>
            <a:r>
              <a:rPr lang="en-US" altLang="zh-CN" b="0" i="1" dirty="0">
                <a:solidFill>
                  <a:schemeClr val="tx1"/>
                </a:solidFill>
                <a:latin typeface="Verdana" panose="020B0604030504040204" pitchFamily="34" charset="0"/>
                <a:ea typeface="宋体" panose="02010600030101010101" pitchFamily="2" charset="-122"/>
              </a:rPr>
              <a:t> n</a:t>
            </a:r>
            <a:r>
              <a:rPr lang="en-US" altLang="zh-CN" b="0" dirty="0">
                <a:solidFill>
                  <a:schemeClr val="tx1"/>
                </a:solidFill>
                <a:latin typeface="Verdana" panose="020B0604030504040204" pitchFamily="34" charset="0"/>
                <a:ea typeface="宋体" panose="02010600030101010101" pitchFamily="2" charset="-122"/>
              </a:rPr>
              <a:t>&lt;</a:t>
            </a:r>
            <a:r>
              <a:rPr lang="en-US" altLang="zh-CN" b="0" i="1" dirty="0">
                <a:solidFill>
                  <a:schemeClr val="tx1"/>
                </a:solidFill>
                <a:latin typeface="Verdana" panose="020B0604030504040204" pitchFamily="34" charset="0"/>
                <a:ea typeface="宋体" panose="02010600030101010101" pitchFamily="2" charset="-122"/>
              </a:rPr>
              <a:t> n</a:t>
            </a:r>
            <a:r>
              <a:rPr lang="en-US" altLang="zh-CN" b="0" i="1" baseline="30000" dirty="0">
                <a:solidFill>
                  <a:schemeClr val="tx1"/>
                </a:solidFill>
                <a:latin typeface="Verdana" panose="020B0604030504040204" pitchFamily="34" charset="0"/>
                <a:ea typeface="宋体" panose="02010600030101010101" pitchFamily="2" charset="-122"/>
              </a:rPr>
              <a:t>2</a:t>
            </a:r>
            <a:r>
              <a:rPr lang="en-US" altLang="zh-CN" b="0" dirty="0">
                <a:solidFill>
                  <a:schemeClr val="tx1"/>
                </a:solidFill>
                <a:latin typeface="Verdana" panose="020B0604030504040204" pitchFamily="34" charset="0"/>
                <a:ea typeface="宋体" panose="02010600030101010101" pitchFamily="2" charset="-122"/>
              </a:rPr>
              <a:t>&lt;</a:t>
            </a:r>
            <a:r>
              <a:rPr lang="en-US" altLang="zh-CN" b="0" i="1" dirty="0">
                <a:solidFill>
                  <a:schemeClr val="tx1"/>
                </a:solidFill>
                <a:latin typeface="Verdana" panose="020B0604030504040204" pitchFamily="34" charset="0"/>
                <a:ea typeface="宋体" panose="02010600030101010101" pitchFamily="2" charset="-122"/>
              </a:rPr>
              <a:t> n</a:t>
            </a:r>
            <a:r>
              <a:rPr lang="en-US" altLang="zh-CN" b="0" i="1" baseline="30000" dirty="0">
                <a:solidFill>
                  <a:schemeClr val="tx1"/>
                </a:solidFill>
                <a:latin typeface="Verdana" panose="020B0604030504040204" pitchFamily="34" charset="0"/>
                <a:ea typeface="宋体" panose="02010600030101010101" pitchFamily="2" charset="-122"/>
              </a:rPr>
              <a:t>3</a:t>
            </a:r>
            <a:r>
              <a:rPr lang="en-US" altLang="zh-CN" b="0" dirty="0">
                <a:solidFill>
                  <a:schemeClr val="tx1"/>
                </a:solidFill>
                <a:latin typeface="Verdana" panose="020B0604030504040204" pitchFamily="34" charset="0"/>
                <a:ea typeface="宋体" panose="02010600030101010101" pitchFamily="2" charset="-122"/>
              </a:rPr>
              <a:t>&lt;</a:t>
            </a:r>
            <a:r>
              <a:rPr lang="en-US" altLang="zh-CN" b="0" i="1" dirty="0">
                <a:solidFill>
                  <a:schemeClr val="tx1"/>
                </a:solidFill>
                <a:latin typeface="Verdana" panose="020B0604030504040204" pitchFamily="34" charset="0"/>
                <a:ea typeface="宋体" panose="02010600030101010101" pitchFamily="2" charset="-122"/>
              </a:rPr>
              <a:t> </a:t>
            </a:r>
            <a:r>
              <a:rPr lang="en-US" altLang="zh-CN" b="0" dirty="0">
                <a:solidFill>
                  <a:schemeClr val="tx1"/>
                </a:solidFill>
                <a:latin typeface="Verdana" panose="020B0604030504040204" pitchFamily="34" charset="0"/>
                <a:ea typeface="宋体" panose="02010600030101010101" pitchFamily="2" charset="-122"/>
              </a:rPr>
              <a:t>2</a:t>
            </a:r>
            <a:r>
              <a:rPr lang="en-US" altLang="zh-CN" b="0" i="1" baseline="30000" dirty="0">
                <a:solidFill>
                  <a:schemeClr val="tx1"/>
                </a:solidFill>
                <a:latin typeface="Verdana" panose="020B0604030504040204" pitchFamily="34" charset="0"/>
                <a:ea typeface="宋体" panose="02010600030101010101" pitchFamily="2" charset="-122"/>
              </a:rPr>
              <a:t>n</a:t>
            </a:r>
            <a:endParaRPr lang="en-US" altLang="zh-CN" b="0" i="1" baseline="30000" dirty="0">
              <a:solidFill>
                <a:schemeClr val="tx1"/>
              </a:solidFill>
              <a:latin typeface="Verdana" panose="020B0604030504040204" pitchFamily="34" charset="0"/>
              <a:ea typeface="宋体" panose="02010600030101010101" pitchFamily="2" charset="-122"/>
            </a:endParaRPr>
          </a:p>
        </p:txBody>
      </p:sp>
      <p:pic>
        <p:nvPicPr>
          <p:cNvPr id="73731" name="Picture 6"/>
          <p:cNvPicPr>
            <a:picLocks noChangeAspect="1"/>
          </p:cNvPicPr>
          <p:nvPr/>
        </p:nvPicPr>
        <p:blipFill>
          <a:blip r:embed="rId1"/>
          <a:stretch>
            <a:fillRect/>
          </a:stretch>
        </p:blipFill>
        <p:spPr>
          <a:xfrm>
            <a:off x="3419475" y="1773238"/>
            <a:ext cx="4824413" cy="3857625"/>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4753" name="Rectangle 4"/>
          <p:cNvSpPr/>
          <p:nvPr/>
        </p:nvSpPr>
        <p:spPr>
          <a:xfrm>
            <a:off x="323850" y="188913"/>
            <a:ext cx="8496300" cy="6299200"/>
          </a:xfrm>
          <a:prstGeom prst="rect">
            <a:avLst/>
          </a:prstGeom>
          <a:noFill/>
          <a:ln w="9525">
            <a:noFill/>
          </a:ln>
        </p:spPr>
        <p:txBody>
          <a:bodyPr anchor="t" anchorCtr="0">
            <a:spAutoFit/>
          </a:bodyPr>
          <a:p>
            <a:pPr>
              <a:lnSpc>
                <a:spcPct val="90000"/>
              </a:lnSpc>
              <a:spcBef>
                <a:spcPct val="20000"/>
              </a:spcBef>
              <a:buClr>
                <a:schemeClr val="accent2"/>
              </a:buClr>
              <a:buFont typeface="Wingdings" panose="05000000000000000000" pitchFamily="2" charset="2"/>
            </a:pPr>
            <a:r>
              <a:rPr lang="zh-CN" altLang="en-US" sz="2400" b="0" dirty="0">
                <a:solidFill>
                  <a:schemeClr val="tx1"/>
                </a:solidFill>
                <a:latin typeface="Verdana" panose="020B0604030504040204" pitchFamily="34" charset="0"/>
                <a:ea typeface="宋体" panose="02010600030101010101" pitchFamily="2" charset="-122"/>
              </a:rPr>
              <a:t>有的情况下，算法中基本操作重复执行的次数还随问题的输入数据集不同而不同。</a:t>
            </a:r>
            <a:endParaRPr lang="zh-CN" altLang="en-US"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zh-CN" altLang="en-US" sz="2400" b="0" dirty="0">
                <a:solidFill>
                  <a:schemeClr val="tx1"/>
                </a:solidFill>
                <a:latin typeface="Verdana" panose="020B0604030504040204" pitchFamily="34" charset="0"/>
                <a:ea typeface="宋体" panose="02010600030101010101" pitchFamily="2" charset="-122"/>
              </a:rPr>
              <a:t>例如：</a:t>
            </a:r>
            <a:endParaRPr lang="zh-CN" altLang="en-US"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Void bubble-sort(int a[]</a:t>
            </a:r>
            <a:r>
              <a:rPr lang="zh-CN" altLang="en-US" sz="2400" b="0" dirty="0">
                <a:solidFill>
                  <a:schemeClr val="tx1"/>
                </a:solidFill>
                <a:latin typeface="Verdana" panose="020B0604030504040204" pitchFamily="34" charset="0"/>
                <a:ea typeface="宋体" panose="02010600030101010101" pitchFamily="2" charset="-122"/>
              </a:rPr>
              <a:t>，</a:t>
            </a:r>
            <a:r>
              <a:rPr lang="en-US" altLang="zh-CN" sz="2400" b="0" dirty="0">
                <a:solidFill>
                  <a:schemeClr val="tx1"/>
                </a:solidFill>
                <a:latin typeface="Verdana" panose="020B0604030504040204" pitchFamily="34" charset="0"/>
                <a:ea typeface="宋体" panose="02010600030101010101" pitchFamily="2" charset="-122"/>
              </a:rPr>
              <a:t>int n)</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for(I=n-1;change=TURE;I&gt;1 &amp;&amp; change;--I)</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change=false;</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for(j=0;j&lt;I;++j)</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if (a[j]&gt;a[j+1]) {</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a[j] ←→a[j+1];</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change=TURE;}</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en-US" altLang="zh-CN" sz="2400" b="0" dirty="0">
                <a:solidFill>
                  <a:schemeClr val="tx1"/>
                </a:solidFill>
                <a:latin typeface="Verdana" panose="020B0604030504040204" pitchFamily="34" charset="0"/>
                <a:ea typeface="宋体" panose="02010600030101010101" pitchFamily="2" charset="-122"/>
              </a:rPr>
              <a:t>      }</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zh-CN" altLang="en-US" sz="2400" b="0" dirty="0">
                <a:solidFill>
                  <a:schemeClr val="tx1"/>
                </a:solidFill>
                <a:latin typeface="Verdana" panose="020B0604030504040204" pitchFamily="34" charset="0"/>
                <a:ea typeface="宋体" panose="02010600030101010101" pitchFamily="2" charset="-122"/>
              </a:rPr>
              <a:t>最好情况：</a:t>
            </a:r>
            <a:r>
              <a:rPr lang="en-US" altLang="zh-CN" sz="2400" b="0" dirty="0">
                <a:solidFill>
                  <a:schemeClr val="tx1"/>
                </a:solidFill>
                <a:latin typeface="Verdana" panose="020B0604030504040204" pitchFamily="34" charset="0"/>
                <a:ea typeface="宋体" panose="02010600030101010101" pitchFamily="2" charset="-122"/>
              </a:rPr>
              <a:t>0</a:t>
            </a:r>
            <a:r>
              <a:rPr lang="zh-CN" altLang="en-US" sz="2400" b="0" dirty="0">
                <a:solidFill>
                  <a:schemeClr val="tx1"/>
                </a:solidFill>
                <a:latin typeface="Verdana" panose="020B0604030504040204" pitchFamily="34" charset="0"/>
                <a:ea typeface="宋体" panose="02010600030101010101" pitchFamily="2" charset="-122"/>
              </a:rPr>
              <a:t>次</a:t>
            </a:r>
            <a:endParaRPr lang="zh-CN" altLang="en-US"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zh-CN" altLang="en-US" sz="2400" b="0" dirty="0">
                <a:solidFill>
                  <a:schemeClr val="tx1"/>
                </a:solidFill>
                <a:latin typeface="Verdana" panose="020B0604030504040204" pitchFamily="34" charset="0"/>
                <a:ea typeface="宋体" panose="02010600030101010101" pitchFamily="2" charset="-122"/>
              </a:rPr>
              <a:t>最坏情况：</a:t>
            </a:r>
            <a:r>
              <a:rPr lang="en-US" altLang="zh-CN" sz="2400" b="0" dirty="0">
                <a:solidFill>
                  <a:schemeClr val="tx1"/>
                </a:solidFill>
                <a:latin typeface="Verdana" panose="020B0604030504040204" pitchFamily="34" charset="0"/>
                <a:ea typeface="宋体" panose="02010600030101010101" pitchFamily="2" charset="-122"/>
              </a:rPr>
              <a:t>1+2+3+</a:t>
            </a:r>
            <a:r>
              <a:rPr lang="en-US" altLang="zh-CN" sz="2400" b="0" dirty="0">
                <a:solidFill>
                  <a:schemeClr val="tx1"/>
                </a:solidFill>
                <a:latin typeface="Arial" panose="020B0604020202020204" pitchFamily="34" charset="0"/>
                <a:ea typeface="宋体" panose="02010600030101010101" pitchFamily="2" charset="-122"/>
              </a:rPr>
              <a:t>…</a:t>
            </a:r>
            <a:r>
              <a:rPr lang="en-US" altLang="zh-CN" sz="2400" b="0" dirty="0">
                <a:solidFill>
                  <a:schemeClr val="tx1"/>
                </a:solidFill>
                <a:latin typeface="Verdana" panose="020B0604030504040204" pitchFamily="34" charset="0"/>
                <a:ea typeface="宋体" panose="02010600030101010101" pitchFamily="2" charset="-122"/>
              </a:rPr>
              <a:t>+n-1=n(n-1)/2</a:t>
            </a:r>
            <a:endParaRPr lang="en-US" altLang="zh-CN" sz="2400" b="0" dirty="0">
              <a:solidFill>
                <a:schemeClr val="tx1"/>
              </a:solidFill>
              <a:latin typeface="Verdana" panose="020B0604030504040204" pitchFamily="34" charset="0"/>
              <a:ea typeface="宋体" panose="02010600030101010101" pitchFamily="2" charset="-122"/>
            </a:endParaRPr>
          </a:p>
          <a:p>
            <a:pPr>
              <a:lnSpc>
                <a:spcPct val="90000"/>
              </a:lnSpc>
              <a:spcBef>
                <a:spcPct val="20000"/>
              </a:spcBef>
              <a:buClr>
                <a:schemeClr val="accent2"/>
              </a:buClr>
              <a:buFont typeface="Wingdings" panose="05000000000000000000" pitchFamily="2" charset="2"/>
            </a:pPr>
            <a:r>
              <a:rPr lang="zh-CN" altLang="en-US" sz="2400" b="0" dirty="0">
                <a:solidFill>
                  <a:schemeClr val="tx1"/>
                </a:solidFill>
                <a:latin typeface="Verdana" panose="020B0604030504040204" pitchFamily="34" charset="0"/>
                <a:ea typeface="宋体" panose="02010600030101010101" pitchFamily="2" charset="-122"/>
              </a:rPr>
              <a:t>平均时间复杂度为</a:t>
            </a:r>
            <a:r>
              <a:rPr lang="en-US" altLang="zh-CN" sz="2400" b="0" dirty="0">
                <a:solidFill>
                  <a:schemeClr val="tx1"/>
                </a:solidFill>
                <a:latin typeface="Verdana" panose="020B0604030504040204" pitchFamily="34" charset="0"/>
                <a:ea typeface="宋体" panose="02010600030101010101" pitchFamily="2" charset="-122"/>
              </a:rPr>
              <a:t>:O(n</a:t>
            </a:r>
            <a:r>
              <a:rPr lang="en-US" altLang="zh-CN" sz="2400" b="0" baseline="30000" dirty="0">
                <a:solidFill>
                  <a:schemeClr val="tx1"/>
                </a:solidFill>
                <a:latin typeface="Verdana" panose="020B0604030504040204" pitchFamily="34" charset="0"/>
                <a:ea typeface="宋体" panose="02010600030101010101" pitchFamily="2" charset="-122"/>
              </a:rPr>
              <a:t>2</a:t>
            </a:r>
            <a:r>
              <a:rPr lang="en-US" altLang="zh-CN" sz="2400" b="0" dirty="0">
                <a:solidFill>
                  <a:schemeClr val="tx1"/>
                </a:solidFill>
                <a:latin typeface="Verdana" panose="020B0604030504040204" pitchFamily="34" charset="0"/>
                <a:ea typeface="宋体" panose="02010600030101010101" pitchFamily="2" charset="-122"/>
              </a:rPr>
              <a:t>)</a:t>
            </a:r>
            <a:r>
              <a:rPr lang="zh-CN" altLang="en-US" sz="2400" b="0" dirty="0">
                <a:solidFill>
                  <a:schemeClr val="tx1"/>
                </a:solidFill>
                <a:latin typeface="Verdana" panose="020B0604030504040204" pitchFamily="34" charset="0"/>
                <a:ea typeface="宋体" panose="02010600030101010101" pitchFamily="2" charset="-122"/>
              </a:rPr>
              <a:t>－－对所有可能的输入数据情况下的操作次数的期望值（前提：数据概率可确定）</a:t>
            </a:r>
            <a:endParaRPr lang="zh-CN" altLang="en-US" sz="2400" b="0" dirty="0">
              <a:solidFill>
                <a:schemeClr val="tx1"/>
              </a:solidFill>
              <a:latin typeface="Verdana" panose="020B0604030504040204" pitchFamily="34" charset="0"/>
              <a:ea typeface="宋体" panose="02010600030101010101" pitchFamily="2" charset="-122"/>
            </a:endParaRPr>
          </a:p>
        </p:txBody>
      </p:sp>
      <p:pic>
        <p:nvPicPr>
          <p:cNvPr id="74754" name="20 2"/>
          <p:cNvPicPr>
            <a:picLocks noChangeAspect="1"/>
          </p:cNvPicPr>
          <p:nvPr/>
        </p:nvPicPr>
        <p:blipFill>
          <a:blip r:embed="rId1"/>
          <a:stretch>
            <a:fillRect/>
          </a:stretch>
        </p:blipFill>
        <p:spPr>
          <a:xfrm>
            <a:off x="5795963" y="2349500"/>
            <a:ext cx="2582862" cy="2873375"/>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1.4.4 </a:t>
            </a: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算法的存储空间需求</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2227"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空间复杂度</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算法所需存储空间的度量，记作</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S(n)=O(f(n))            </a:t>
            </a:r>
            <a:endPar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其中</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n</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为问题的规模</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或大小</a:t>
            </a:r>
            <a:r>
              <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a:t>
            </a:r>
            <a:endParaRPr kumimoji="0" lang="en-US" altLang="zh-CN"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一个上机执行的程序除了需要存储空间来寄存本身所用的输入数据、指令、变量以外；</a:t>
            </a:r>
            <a:endPar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还</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需要辅助空间（额外空间）</a:t>
            </a:r>
            <a:endPar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相对于输入数据，额外空间为</a:t>
            </a:r>
            <a:r>
              <a:rPr kumimoji="0" lang="zh-CN" altLang="en-US" sz="29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mn-cs"/>
              </a:rPr>
              <a:t>常数</a:t>
            </a:r>
            <a:r>
              <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－则称此算法为原地工作</a:t>
            </a:r>
            <a:endParaRPr kumimoji="0" lang="zh-CN" altLang="en-US" sz="29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小结</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为什么要学习数据结构；</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数据结构的</a:t>
            </a: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基本概念和术语</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sym typeface="+mn-ea"/>
              </a:rPr>
              <a:t>；</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753110" marR="0" lvl="0" indent="-10160" algn="l" defTabSz="914400" rtl="0" eaLnBrk="0" fontAlgn="base" latinLnBrk="0" hangingPunct="0">
              <a:lnSpc>
                <a:spcPct val="100000"/>
              </a:lnSpc>
              <a:spcBef>
                <a:spcPct val="20000"/>
              </a:spcBef>
              <a:spcAft>
                <a:spcPct val="0"/>
              </a:spcAft>
              <a:buClr>
                <a:schemeClr val="accent2"/>
              </a:buClr>
              <a:buSzTx/>
              <a:buFont typeface="+mj-ea"/>
              <a:buAutoNum type="circleNumDbPlain"/>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逻辑结构</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753110" marR="0" lvl="0" indent="-10160" algn="l" defTabSz="914400" rtl="0" eaLnBrk="0" fontAlgn="base" latinLnBrk="0" hangingPunct="0">
              <a:lnSpc>
                <a:spcPct val="100000"/>
              </a:lnSpc>
              <a:spcBef>
                <a:spcPct val="20000"/>
              </a:spcBef>
              <a:spcAft>
                <a:spcPct val="0"/>
              </a:spcAft>
              <a:buClr>
                <a:schemeClr val="accent2"/>
              </a:buClr>
              <a:buSzTx/>
              <a:buFont typeface="+mj-ea"/>
              <a:buAutoNum type="circleNumDbPlain"/>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 存储结构</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sym typeface="+mn-ea"/>
              </a:rPr>
              <a:t>抽象数据类型的表示与实现；</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算法和算法分析；</a:t>
            </a: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48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数据结构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97485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复杂程序设计</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如何组织数据 </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 </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数据逻辑结构，物理结构</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如何实现操作 </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 </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算法设计</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算法</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程序设计的灵魂</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永久的话题 </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 </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时间，空间</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如何掌握</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基本原理</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算法代码 </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 </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读懂，改写</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熟练掌握计算机语言（</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C</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语言）和开发工具</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n"/>
              <a:defRPr/>
            </a:pP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Code</a:t>
            </a:r>
            <a:endPar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endPar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noChangeArrowheads="1"/>
          </p:cNvSpPr>
          <p:nvPr>
            <p:ph type="title"/>
          </p:nvPr>
        </p:nvSpPr>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rPr>
              <a:t>线性结构</a:t>
            </a:r>
            <a:endParaRPr kumimoji="0" lang="zh-CN" altLang="en-US" sz="38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53251" name="Rectangle 3"/>
          <p:cNvSpPr>
            <a:spLocks noGrp="1" noChangeArrowheads="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在数据元素的非空有限集中，</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1</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）存在唯一的一个被称为</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第一个</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的元素</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2</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）存在唯一的一个被称为</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最后一个</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a:ea typeface="+mn-ea"/>
                <a:cs typeface="+mn-ea"/>
              </a:rPr>
              <a:t>”</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的元素</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3</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）除第一个元素外，集合中的每个数据元素均只有一个前驱</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908050" marR="0" lvl="1" indent="-43688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a:t>
            </a:r>
            <a:r>
              <a:rPr kumimoji="0" lang="en-US" altLang="zh-CN"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4</a:t>
            </a:r>
            <a:r>
              <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rPr>
              <a:t>）除最后一个元素外，集合中的每个数据元素均只有一个后继</a:t>
            </a:r>
            <a:endParaRPr kumimoji="0" lang="zh-CN" altLang="en-US" sz="2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ea"/>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线性表－第</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2</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章 </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栈和队列－第</a:t>
            </a:r>
            <a:r>
              <a:rPr kumimoji="0" lang="en-US" altLang="zh-CN"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3</a:t>
            </a:r>
            <a:r>
              <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章</a:t>
            </a:r>
            <a:endParaRPr kumimoji="0" lang="zh-CN" altLang="en-US" sz="26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串－第</a:t>
            </a:r>
            <a:r>
              <a:rPr kumimoji="0" lang="en-US" altLang="zh-CN"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4</a:t>
            </a:r>
            <a:r>
              <a:rPr kumimoji="0" lang="zh-CN" altLang="en-US"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rPr>
              <a:t>章</a:t>
            </a:r>
            <a:endParaRPr kumimoji="0" lang="zh-CN" altLang="en-US" sz="2600" b="1" i="0" u="none" strike="noStrike" kern="0" cap="none" spc="0" normalizeH="0" baseline="0" noProof="0">
              <a:ln>
                <a:noFill/>
              </a:ln>
              <a:solidFill>
                <a:schemeClr val="accent1"/>
              </a:solidFill>
              <a:effectLst>
                <a:outerShdw blurRad="38100" dist="38100" dir="2700000" algn="tl">
                  <a:srgbClr val="C0C0C0"/>
                </a:outerShdw>
              </a:effectLst>
              <a:uLnTx/>
              <a:uFillTx/>
              <a:latin typeface="+mn-lt"/>
              <a:ea typeface="+mn-ea"/>
              <a:cs typeface="+mn-cs"/>
            </a:endParaRPr>
          </a:p>
        </p:txBody>
      </p:sp>
      <p:pic>
        <p:nvPicPr>
          <p:cNvPr id="79875" name="Picture 4"/>
          <p:cNvPicPr>
            <a:picLocks noChangeAspect="1"/>
          </p:cNvPicPr>
          <p:nvPr/>
        </p:nvPicPr>
        <p:blipFill>
          <a:blip r:embed="rId1"/>
          <a:srcRect t="27455" b="60715"/>
          <a:stretch>
            <a:fillRect/>
          </a:stretch>
        </p:blipFill>
        <p:spPr>
          <a:xfrm>
            <a:off x="4787900" y="836613"/>
            <a:ext cx="3924300" cy="504825"/>
          </a:xfrm>
          <a:prstGeom prst="rect">
            <a:avLst/>
          </a:prstGeom>
          <a:noFill/>
          <a:ln w="9525">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课后作业</a:t>
            </a:r>
            <a:r>
              <a:rPr kumimoji="0" lang="en-US" altLang="zh-CN"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rPr>
              <a:t>3</a:t>
            </a:r>
            <a:endParaRPr kumimoji="0" lang="zh-CN" altLang="en-US" sz="3800" b="1" i="0" u="none" strike="noStrike" kern="0" cap="none" spc="0" normalizeH="0" baseline="0" noProof="1">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 name="内容占位符 2"/>
          <p:cNvSpPr>
            <a:spLocks noGrp="1"/>
          </p:cNvSpPr>
          <p:nvPr>
            <p:ph idx="1"/>
          </p:nvPr>
        </p:nvSpPr>
        <p:spPr>
          <a:xfrm>
            <a:off x="312738" y="1752600"/>
            <a:ext cx="8578850" cy="42672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请同学们完成下页</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PPT</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中</a:t>
            </a:r>
            <a:r>
              <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8</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道小题的语句</a:t>
            </a:r>
            <a:r>
              <a:rPr kumimoji="0" lang="zh-CN" altLang="en-US"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rPr>
              <a:t>频度计算。</a:t>
            </a:r>
            <a:endPar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en-US" altLang="zh-CN" sz="3000" b="1" i="0" u="none" strike="noStrike" kern="0" cap="none" spc="0" normalizeH="0" baseline="0" noProof="1">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21" name="Picture 4"/>
          <p:cNvPicPr>
            <a:picLocks noChangeAspect="1"/>
          </p:cNvPicPr>
          <p:nvPr/>
        </p:nvPicPr>
        <p:blipFill>
          <a:blip r:embed="rId1"/>
          <a:stretch>
            <a:fillRect/>
          </a:stretch>
        </p:blipFill>
        <p:spPr>
          <a:xfrm>
            <a:off x="288925" y="0"/>
            <a:ext cx="8604250" cy="6807200"/>
          </a:xfrm>
          <a:prstGeom prst="rect">
            <a:avLst/>
          </a:prstGeom>
          <a:noFill/>
          <a:ln w="9525">
            <a:noFill/>
          </a:ln>
        </p:spPr>
      </p:pic>
    </p:spTree>
  </p:cSld>
  <p:clrMapOvr>
    <a:masterClrMapping/>
  </p:clrMapOvr>
  <p:transition spd="slow"/>
</p:sld>
</file>

<file path=ppt/tags/tag1.xml><?xml version="1.0" encoding="utf-8"?>
<p:tagLst xmlns:p="http://schemas.openxmlformats.org/presentationml/2006/main">
  <p:tag name="KSO_WM_UNIT_PLACING_PICTURE_USER_VIEWPORT" val="{&quot;height&quot;:6380,&quot;width&quot;:6760}"/>
</p:tagLst>
</file>

<file path=ppt/tags/tag2.xml><?xml version="1.0" encoding="utf-8"?>
<p:tagLst xmlns:p="http://schemas.openxmlformats.org/presentationml/2006/main">
  <p:tag name="KSO_WM_UNIT_PLACING_PICTURE_USER_VIEWPORT" val="{&quot;height&quot;:5370,&quot;width&quot;:6760}"/>
</p:tagLst>
</file>

<file path=ppt/tags/tag3.xml><?xml version="1.0" encoding="utf-8"?>
<p:tagLst xmlns:p="http://schemas.openxmlformats.org/presentationml/2006/main">
  <p:tag name="KSO_WM_UNIT_PLACING_PICTURE_USER_VIEWPORT" val="{&quot;height&quot;:6380,&quot;width&quot;:6760}"/>
</p:tagLst>
</file>

<file path=ppt/tags/tag4.xml><?xml version="1.0" encoding="utf-8"?>
<p:tagLst xmlns:p="http://schemas.openxmlformats.org/presentationml/2006/main">
  <p:tag name="COMMONDATA" val="eyJoZGlkIjoiNmI5NzVmMGRiMzExOGMyNTJmMmY4YmJjMGQxNzM3ZGYifQ=="/>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b"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2"/>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sym typeface="Symbol" panose="05050102010706020507" pitchFamily="18" charset="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6926</Words>
  <Application>WPS 演示</Application>
  <PresentationFormat>全屏显示(4:3)</PresentationFormat>
  <Paragraphs>526</Paragraphs>
  <Slides>66</Slides>
  <Notes>12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82" baseType="lpstr">
      <vt:lpstr>Arial</vt:lpstr>
      <vt:lpstr>宋体</vt:lpstr>
      <vt:lpstr>Wingdings</vt:lpstr>
      <vt:lpstr>Verdana</vt:lpstr>
      <vt:lpstr>Symbol</vt:lpstr>
      <vt:lpstr>+mn-ea</vt:lpstr>
      <vt:lpstr>Segoe Print</vt:lpstr>
      <vt:lpstr>等线</vt:lpstr>
      <vt:lpstr>Times New Roman</vt:lpstr>
      <vt:lpstr>黑体</vt:lpstr>
      <vt:lpstr>MT Extra</vt:lpstr>
      <vt:lpstr>微软雅黑</vt:lpstr>
      <vt:lpstr>Arial Unicode MS</vt:lpstr>
      <vt:lpstr>Arial</vt:lpstr>
      <vt:lpstr>Profile</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数据结构（Data Structure）</dc:title>
  <dc:creator>MC SYSTEM</dc:creator>
  <cp:lastModifiedBy>鱼丸粗面</cp:lastModifiedBy>
  <cp:revision>508</cp:revision>
  <dcterms:created xsi:type="dcterms:W3CDTF">2007-02-11T07:05:00Z</dcterms:created>
  <dcterms:modified xsi:type="dcterms:W3CDTF">2023-08-27T04:13:21Z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2052-12.1.0.15120</vt:lpwstr>
  </property>
  <property fmtid="{D5CDD505-2E9C-101B-9397-08002B2CF9AE}" pid="3" name="ICV">
    <vt:lpwstr>1EC2655FBDDC4140A9E7BDBE916EADCD_12</vt:lpwstr>
  </property>
</Properties>
</file>