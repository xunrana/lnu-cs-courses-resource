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768" r:id="rId3"/>
    <p:sldId id="1015" r:id="rId5"/>
    <p:sldId id="1225" r:id="rId6"/>
    <p:sldId id="903" r:id="rId7"/>
    <p:sldId id="769" r:id="rId8"/>
    <p:sldId id="1018" r:id="rId9"/>
    <p:sldId id="1019" r:id="rId10"/>
    <p:sldId id="1020" r:id="rId11"/>
    <p:sldId id="1021" r:id="rId12"/>
    <p:sldId id="1016" r:id="rId13"/>
    <p:sldId id="770" r:id="rId14"/>
    <p:sldId id="771" r:id="rId15"/>
    <p:sldId id="1126" r:id="rId16"/>
    <p:sldId id="1024" r:id="rId17"/>
    <p:sldId id="1022" r:id="rId18"/>
    <p:sldId id="904" r:id="rId19"/>
    <p:sldId id="1023" r:id="rId20"/>
    <p:sldId id="772" r:id="rId21"/>
    <p:sldId id="773" r:id="rId22"/>
    <p:sldId id="1025" r:id="rId23"/>
    <p:sldId id="1026" r:id="rId24"/>
    <p:sldId id="1027" r:id="rId25"/>
    <p:sldId id="1028" r:id="rId26"/>
    <p:sldId id="1230" r:id="rId27"/>
    <p:sldId id="775" r:id="rId28"/>
    <p:sldId id="1017" r:id="rId29"/>
    <p:sldId id="783" r:id="rId30"/>
    <p:sldId id="1129" r:id="rId31"/>
    <p:sldId id="785" r:id="rId32"/>
    <p:sldId id="784" r:id="rId33"/>
    <p:sldId id="789" r:id="rId34"/>
    <p:sldId id="788" r:id="rId35"/>
    <p:sldId id="790" r:id="rId36"/>
    <p:sldId id="1130" r:id="rId37"/>
    <p:sldId id="1231" r:id="rId38"/>
    <p:sldId id="787" r:id="rId39"/>
    <p:sldId id="1131" r:id="rId40"/>
    <p:sldId id="791" r:id="rId41"/>
    <p:sldId id="792" r:id="rId42"/>
    <p:sldId id="795" r:id="rId43"/>
    <p:sldId id="796" r:id="rId44"/>
    <p:sldId id="794" r:id="rId45"/>
    <p:sldId id="1133" r:id="rId46"/>
    <p:sldId id="913" r:id="rId47"/>
    <p:sldId id="914" r:id="rId48"/>
    <p:sldId id="915" r:id="rId49"/>
    <p:sldId id="916" r:id="rId50"/>
    <p:sldId id="917" r:id="rId51"/>
    <p:sldId id="918" r:id="rId52"/>
    <p:sldId id="919" r:id="rId53"/>
    <p:sldId id="797" r:id="rId54"/>
    <p:sldId id="798" r:id="rId55"/>
    <p:sldId id="799" r:id="rId56"/>
    <p:sldId id="800" r:id="rId57"/>
    <p:sldId id="801" r:id="rId58"/>
    <p:sldId id="802" r:id="rId59"/>
    <p:sldId id="1227" r:id="rId60"/>
    <p:sldId id="804" r:id="rId61"/>
    <p:sldId id="805" r:id="rId62"/>
    <p:sldId id="806" r:id="rId63"/>
    <p:sldId id="807" r:id="rId64"/>
    <p:sldId id="808" r:id="rId65"/>
    <p:sldId id="809" r:id="rId66"/>
    <p:sldId id="810" r:id="rId67"/>
    <p:sldId id="1223" r:id="rId68"/>
    <p:sldId id="811" r:id="rId69"/>
    <p:sldId id="812" r:id="rId70"/>
    <p:sldId id="813" r:id="rId71"/>
    <p:sldId id="1228" r:id="rId72"/>
    <p:sldId id="815" r:id="rId73"/>
    <p:sldId id="1229" r:id="rId74"/>
    <p:sldId id="816" r:id="rId75"/>
    <p:sldId id="818" r:id="rId76"/>
    <p:sldId id="819" r:id="rId77"/>
    <p:sldId id="820" r:id="rId78"/>
    <p:sldId id="821" r:id="rId79"/>
    <p:sldId id="822" r:id="rId80"/>
    <p:sldId id="823" r:id="rId81"/>
    <p:sldId id="825" r:id="rId82"/>
    <p:sldId id="826" r:id="rId83"/>
    <p:sldId id="827" r:id="rId84"/>
    <p:sldId id="828" r:id="rId85"/>
    <p:sldId id="829" r:id="rId86"/>
    <p:sldId id="830" r:id="rId87"/>
    <p:sldId id="831" r:id="rId88"/>
    <p:sldId id="832" r:id="rId89"/>
    <p:sldId id="833" r:id="rId90"/>
    <p:sldId id="834" r:id="rId91"/>
    <p:sldId id="835" r:id="rId92"/>
    <p:sldId id="836" r:id="rId93"/>
    <p:sldId id="837" r:id="rId94"/>
    <p:sldId id="838" r:id="rId95"/>
    <p:sldId id="846" r:id="rId96"/>
    <p:sldId id="839" r:id="rId97"/>
    <p:sldId id="817" r:id="rId98"/>
    <p:sldId id="1224" r:id="rId99"/>
    <p:sldId id="840" r:id="rId100"/>
    <p:sldId id="841" r:id="rId101"/>
    <p:sldId id="848" r:id="rId102"/>
    <p:sldId id="856" r:id="rId103"/>
    <p:sldId id="1222" r:id="rId104"/>
    <p:sldId id="1259" r:id="rId105"/>
    <p:sldId id="1260" r:id="rId106"/>
    <p:sldId id="1261" r:id="rId107"/>
    <p:sldId id="1262" r:id="rId108"/>
  </p:sldIdLst>
  <p:sldSz cx="9144000" cy="6858000" type="screen4x3"/>
  <p:notesSz cx="6858000" cy="9144000"/>
  <p:custDataLst>
    <p:tags r:id="rId112"/>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51" userDrawn="1">
          <p15:clr>
            <a:srgbClr val="A4A3A4"/>
          </p15:clr>
        </p15:guide>
        <p15:guide id="2" pos="28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7FD9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1"/>
    <p:restoredTop sz="93825"/>
  </p:normalViewPr>
  <p:slideViewPr>
    <p:cSldViewPr showGuides="1">
      <p:cViewPr varScale="1">
        <p:scale>
          <a:sx n="86" d="100"/>
          <a:sy n="86" d="100"/>
        </p:scale>
        <p:origin x="536" y="72"/>
      </p:cViewPr>
      <p:guideLst>
        <p:guide orient="horz" pos="2151"/>
        <p:guide pos="288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2" Type="http://schemas.openxmlformats.org/officeDocument/2006/relationships/tags" Target="tags/tag1.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 Target="slides/slide8.xml"/><Relationship Id="rId109" Type="http://schemas.openxmlformats.org/officeDocument/2006/relationships/presProps" Target="presProps.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5123" name="Rectangle 2"/>
          <p:cNvSpPr>
            <a:spLocks noRot="1" noTextEdit="1"/>
          </p:cNvSpPr>
          <p:nvPr>
            <p:ph type="sldImg"/>
          </p:nvPr>
        </p:nvSpPr>
        <p:spPr/>
      </p:sp>
      <p:sp>
        <p:nvSpPr>
          <p:cNvPr id="5124" name="Rectangle 3"/>
          <p:cNvSpPr>
            <a:spLocks noGrp="1"/>
          </p:cNvSpPr>
          <p:nvPr>
            <p:ph type="body"/>
          </p:nvPr>
        </p:nvSpPr>
        <p:spPr/>
        <p:txBody>
          <a:bodyPr wrap="square" lIns="91440" tIns="45720" rIns="91440" bIns="45720" anchor="t" anchorCtr="0"/>
          <a:p>
            <a:pPr lvl="0" eaLnBrk="1" hangingPunct="1"/>
            <a:r>
              <a:rPr lang="en-US" altLang="zh-CN" dirty="0"/>
              <a:t>1.Record and keyword</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7171" name="Rectangle 2"/>
          <p:cNvSpPr>
            <a:spLocks noRot="1" noTextEdit="1"/>
          </p:cNvSpPr>
          <p:nvPr>
            <p:ph type="sldImg"/>
          </p:nvPr>
        </p:nvSpPr>
        <p:spPr/>
      </p:sp>
      <p:sp>
        <p:nvSpPr>
          <p:cNvPr id="7172" name="Rectangle 3"/>
          <p:cNvSpPr>
            <a:spLocks noGrp="1"/>
          </p:cNvSpPr>
          <p:nvPr>
            <p:ph type="body"/>
          </p:nvPr>
        </p:nvSpPr>
        <p:spPr/>
        <p:txBody>
          <a:bodyPr wrap="square" lIns="91440" tIns="45720" rIns="91440" bIns="45720" anchor="t" anchorCtr="0"/>
          <a:p>
            <a:pPr lvl="0" eaLnBrk="1" hangingPunct="1"/>
            <a:r>
              <a:rPr lang="en-US" altLang="zh-CN" dirty="0"/>
              <a:t>1.Record and keyword</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9219" name="Rectangle 2"/>
          <p:cNvSpPr>
            <a:spLocks noRot="1" noTextEdit="1"/>
          </p:cNvSpPr>
          <p:nvPr>
            <p:ph type="sldImg"/>
          </p:nvPr>
        </p:nvSpPr>
        <p:spPr/>
      </p:sp>
      <p:sp>
        <p:nvSpPr>
          <p:cNvPr id="9220" name="Rectangle 3"/>
          <p:cNvSpPr>
            <a:spLocks noGrp="1"/>
          </p:cNvSpPr>
          <p:nvPr>
            <p:ph type="body"/>
          </p:nvPr>
        </p:nvSpPr>
        <p:spPr/>
        <p:txBody>
          <a:bodyPr wrap="square" lIns="91440" tIns="45720" rIns="91440" bIns="45720" anchor="t" anchorCtr="0"/>
          <a:p>
            <a:pPr lvl="0" eaLnBrk="1" hangingPunct="1"/>
            <a:r>
              <a:rPr lang="en-US" altLang="zh-CN" dirty="0"/>
              <a:t>1.Record and keyword</a:t>
            </a: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1331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幻灯片图像占位符 1"/>
          <p:cNvSpPr>
            <a:spLocks noGrp="1" noRot="1" noChangeAspect="1" noTextEdit="1"/>
          </p:cNvSpPr>
          <p:nvPr>
            <p:ph type="sldImg"/>
          </p:nvPr>
        </p:nvSpPr>
        <p:spPr/>
      </p:sp>
      <p:sp>
        <p:nvSpPr>
          <p:cNvPr id="15363"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1536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1741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1946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2560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2765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幻灯片图像占位符 1"/>
          <p:cNvSpPr>
            <a:spLocks noGrp="1" noRot="1" noChangeAspect="1" noTextEdit="1"/>
          </p:cNvSpPr>
          <p:nvPr>
            <p:ph type="sldImg"/>
          </p:nvPr>
        </p:nvSpPr>
        <p:spPr/>
      </p:sp>
      <p:sp>
        <p:nvSpPr>
          <p:cNvPr id="30723"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307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348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3686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3891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p:nvPr>
        </p:nvSpPr>
        <p:spPr/>
        <p:txBody>
          <a:bodyPr wrap="square" lIns="91440" tIns="45720" rIns="91440" bIns="45720" anchor="t" anchorCtr="0"/>
          <a:p>
            <a:pPr lvl="0" eaLnBrk="1" hangingPunct="1"/>
            <a:endParaRPr lang="zh-CN" altLang="en-US" dirty="0"/>
          </a:p>
        </p:txBody>
      </p:sp>
      <p:sp>
        <p:nvSpPr>
          <p:cNvPr id="4096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Rot="1" noTextEdit="1"/>
          </p:cNvSpPr>
          <p:nvPr>
            <p:ph type="sldImg"/>
          </p:nvPr>
        </p:nvSpPr>
        <p:spPr/>
      </p:sp>
      <p:sp>
        <p:nvSpPr>
          <p:cNvPr id="52227"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82947" name="Rectangle 2"/>
          <p:cNvSpPr>
            <a:spLocks noRot="1" noTextEdit="1"/>
          </p:cNvSpPr>
          <p:nvPr>
            <p:ph type="sldImg"/>
          </p:nvPr>
        </p:nvSpPr>
        <p:spPr/>
      </p:sp>
      <p:sp>
        <p:nvSpPr>
          <p:cNvPr id="82948" name="Rectangle 3"/>
          <p:cNvSpPr>
            <a:spLocks noGrp="1"/>
          </p:cNvSpPr>
          <p:nvPr>
            <p:ph type="body"/>
          </p:nvPr>
        </p:nvSpPr>
        <p:spPr/>
        <p:txBody>
          <a:bodyPr wrap="square" lIns="91440" tIns="45720" rIns="91440" bIns="45720" anchor="t" anchorCtr="0"/>
          <a:p>
            <a:pPr lvl="0" eaLnBrk="1" hangingPunct="1"/>
            <a:r>
              <a:rPr lang="en-US" altLang="zh-CN" dirty="0"/>
              <a:t>1,</a:t>
            </a:r>
            <a:r>
              <a:rPr lang="zh-CN" altLang="en-US" dirty="0"/>
              <a:t>如果为奇数</a:t>
            </a:r>
            <a:r>
              <a:rPr lang="en-US" altLang="zh-CN" dirty="0"/>
              <a:t>,</a:t>
            </a:r>
            <a:r>
              <a:rPr lang="zh-CN" altLang="en-US" dirty="0"/>
              <a:t>直接进级</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86019" name="Rectangle 2"/>
          <p:cNvSpPr>
            <a:spLocks noRot="1" noTextEdit="1"/>
          </p:cNvSpPr>
          <p:nvPr>
            <p:ph type="sldImg"/>
          </p:nvPr>
        </p:nvSpPr>
        <p:spPr/>
      </p:sp>
      <p:sp>
        <p:nvSpPr>
          <p:cNvPr id="86020" name="Rectangle 3"/>
          <p:cNvSpPr>
            <a:spLocks noGrp="1"/>
          </p:cNvSpPr>
          <p:nvPr>
            <p:ph type="body"/>
          </p:nvPr>
        </p:nvSpPr>
        <p:spPr/>
        <p:txBody>
          <a:bodyPr wrap="square" lIns="91440" tIns="45720" rIns="91440" bIns="45720" anchor="t" anchorCtr="0"/>
          <a:p>
            <a:pPr lvl="0" eaLnBrk="1" hangingPunct="1"/>
            <a:r>
              <a:rPr lang="zh-CN" altLang="en-US" dirty="0"/>
              <a:t>二叉树性质</a:t>
            </a:r>
            <a:endParaRPr lang="zh-CN" altLang="en-US" dirty="0"/>
          </a:p>
          <a:p>
            <a:pPr lvl="0" eaLnBrk="1" hangingPunct="1"/>
            <a:r>
              <a:rPr lang="zh-CN" altLang="en-US" dirty="0"/>
              <a:t>辅助空间：</a:t>
            </a:r>
            <a:r>
              <a:rPr lang="en-US" altLang="zh-CN" dirty="0"/>
              <a:t>n</a:t>
            </a:r>
            <a:r>
              <a:rPr lang="zh-CN" altLang="en-US" dirty="0"/>
              <a:t>个叶子的完全二叉树中度为</a:t>
            </a:r>
            <a:r>
              <a:rPr lang="en-US" altLang="zh-CN" dirty="0"/>
              <a:t>2</a:t>
            </a:r>
            <a:r>
              <a:rPr lang="zh-CN" altLang="en-US" dirty="0"/>
              <a:t>的有</a:t>
            </a:r>
            <a:r>
              <a:rPr lang="en-US" altLang="zh-CN" dirty="0"/>
              <a:t>n-1</a:t>
            </a:r>
            <a:r>
              <a:rPr lang="zh-CN" altLang="en-US" dirty="0"/>
              <a:t>个，度为</a:t>
            </a:r>
            <a:r>
              <a:rPr lang="en-US" altLang="zh-CN" dirty="0"/>
              <a:t>1</a:t>
            </a:r>
            <a:r>
              <a:rPr lang="zh-CN" altLang="en-US" dirty="0"/>
              <a:t>的有</a:t>
            </a:r>
            <a:r>
              <a:rPr lang="en-US" altLang="zh-CN" dirty="0"/>
              <a:t>0</a:t>
            </a:r>
            <a:r>
              <a:rPr lang="zh-CN" altLang="en-US" dirty="0"/>
              <a:t>或</a:t>
            </a:r>
            <a:r>
              <a:rPr lang="en-US" altLang="zh-CN" dirty="0"/>
              <a:t>1</a:t>
            </a:r>
            <a:r>
              <a:rPr lang="zh-CN" altLang="en-US" dirty="0"/>
              <a:t>个，所以辅助空间为</a:t>
            </a:r>
            <a:r>
              <a:rPr lang="en-US" altLang="zh-CN" dirty="0"/>
              <a:t>n</a:t>
            </a:r>
            <a:r>
              <a:rPr lang="zh-CN" altLang="en-US" dirty="0"/>
              <a:t>或</a:t>
            </a:r>
            <a:r>
              <a:rPr lang="en-US" altLang="zh-CN" dirty="0"/>
              <a:t>n-1</a:t>
            </a:r>
            <a:endParaRPr lang="en-US" altLang="zh-CN" dirty="0"/>
          </a:p>
          <a:p>
            <a:pPr lvl="0" eaLnBrk="1" hangingPunct="1"/>
            <a:r>
              <a:rPr lang="zh-CN" altLang="en-US" dirty="0"/>
              <a:t>完全二叉树深度为</a:t>
            </a:r>
            <a:r>
              <a:rPr lang="zh-CN" altLang="en-US" dirty="0">
                <a:sym typeface="Symbol" panose="05050102010706020507" pitchFamily="18" charset="2"/>
              </a:rPr>
              <a:t></a:t>
            </a:r>
            <a:r>
              <a:rPr lang="en-US" altLang="zh-CN" dirty="0">
                <a:sym typeface="Symbol" panose="05050102010706020507" pitchFamily="18" charset="2"/>
              </a:rPr>
              <a:t>log</a:t>
            </a:r>
            <a:r>
              <a:rPr lang="en-US" altLang="zh-CN" baseline="-25000" dirty="0">
                <a:sym typeface="Symbol" panose="05050102010706020507" pitchFamily="18" charset="2"/>
              </a:rPr>
              <a:t>2</a:t>
            </a:r>
            <a:r>
              <a:rPr lang="en-US" altLang="zh-CN" baseline="30000" dirty="0">
                <a:sym typeface="Symbol" panose="05050102010706020507" pitchFamily="18" charset="2"/>
              </a:rPr>
              <a:t>2n</a:t>
            </a:r>
            <a:r>
              <a:rPr lang="en-US" altLang="zh-CN" dirty="0">
                <a:sym typeface="Symbol" panose="05050102010706020507" pitchFamily="18" charset="2"/>
              </a:rPr>
              <a:t> or log</a:t>
            </a:r>
            <a:r>
              <a:rPr lang="en-US" altLang="zh-CN" baseline="-25000" dirty="0">
                <a:sym typeface="Symbol" panose="05050102010706020507" pitchFamily="18" charset="2"/>
              </a:rPr>
              <a:t>2</a:t>
            </a:r>
            <a:r>
              <a:rPr lang="en-US" altLang="zh-CN" dirty="0">
                <a:sym typeface="Symbol" panose="05050102010706020507" pitchFamily="18" charset="2"/>
              </a:rPr>
              <a:t> </a:t>
            </a:r>
            <a:r>
              <a:rPr lang="en-US" altLang="zh-CN" baseline="30000" dirty="0">
                <a:sym typeface="Symbol" panose="05050102010706020507" pitchFamily="18" charset="2"/>
              </a:rPr>
              <a:t>2n-1</a:t>
            </a:r>
            <a:r>
              <a:rPr lang="en-US" altLang="zh-CN" dirty="0">
                <a:sym typeface="Symbol" panose="05050102010706020507" pitchFamily="18" charset="2"/>
              </a:rPr>
              <a:t>+1 =&gt; </a:t>
            </a:r>
            <a:r>
              <a:rPr lang="en-US" altLang="zh-CN" dirty="0"/>
              <a:t>log</a:t>
            </a:r>
            <a:r>
              <a:rPr lang="en-US" altLang="zh-CN" baseline="-25000" dirty="0"/>
              <a:t>2</a:t>
            </a:r>
            <a:r>
              <a:rPr lang="en-US" altLang="zh-CN" baseline="30000" dirty="0"/>
              <a:t>n</a:t>
            </a:r>
            <a:r>
              <a:rPr lang="en-US" altLang="zh-CN" dirty="0">
                <a:sym typeface="Symbol" panose="05050102010706020507" pitchFamily="18" charset="2"/>
              </a:rPr>
              <a:t>+1</a:t>
            </a:r>
            <a:endParaRPr lang="en-US" altLang="zh-CN" dirty="0">
              <a:sym typeface="Symbol" panose="05050102010706020507" pitchFamily="18" charset="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p:txBody>
          <a:bodyPr wrap="square" lIns="91440" tIns="45720" rIns="91440" bIns="45720" anchor="t" anchorCtr="0"/>
          <a:p>
            <a:pPr lvl="0"/>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3"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66738" y="39624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28" name="AutoShape 4"/>
          <p:cNvSpPr/>
          <p:nvPr/>
        </p:nvSpPr>
        <p:spPr>
          <a:xfrm>
            <a:off x="609600" y="1566863"/>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 Target="slide11.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image" Target="../media/image14.png"/><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 Target="slide1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slide" Target="slide1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35.wmf"/><Relationship Id="rId1" Type="http://schemas.openxmlformats.org/officeDocument/2006/relationships/oleObject" Target="../embeddings/oleObject4.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12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第十章 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120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200000"/>
              </a:lnSpc>
              <a:spcBef>
                <a:spcPct val="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所谓排序（</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Sort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），就是按关键字非递增</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或非递减</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次序重新排列数据元素</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记录</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None/>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12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第十章 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120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None/>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Char char="o"/>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pic>
        <p:nvPicPr>
          <p:cNvPr id="6148" name="20 1"/>
          <p:cNvPicPr>
            <a:picLocks noChangeAspect="1"/>
          </p:cNvPicPr>
          <p:nvPr/>
        </p:nvPicPr>
        <p:blipFill>
          <a:blip r:embed="rId1"/>
          <a:stretch>
            <a:fillRect/>
          </a:stretch>
        </p:blipFill>
        <p:spPr>
          <a:xfrm>
            <a:off x="566738" y="1824038"/>
            <a:ext cx="8002587" cy="3805237"/>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12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第十章 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120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None/>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10000"/>
              </a:lnSpc>
              <a:spcBef>
                <a:spcPct val="0"/>
              </a:spcBef>
              <a:spcAft>
                <a:spcPct val="0"/>
              </a:spcAft>
              <a:buClr>
                <a:schemeClr val="accent2"/>
              </a:buClr>
              <a:buSzTx/>
              <a:buFont typeface="Wingdings" panose="05000000000000000000" pitchFamily="2" charset="2"/>
              <a:buChar char="o"/>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pic>
        <p:nvPicPr>
          <p:cNvPr id="8196" name="20 2"/>
          <p:cNvPicPr>
            <a:picLocks noChangeAspect="1"/>
          </p:cNvPicPr>
          <p:nvPr/>
        </p:nvPicPr>
        <p:blipFill>
          <a:blip r:embed="rId1"/>
          <a:stretch>
            <a:fillRect/>
          </a:stretch>
        </p:blipFill>
        <p:spPr>
          <a:xfrm>
            <a:off x="574675" y="1752600"/>
            <a:ext cx="5111750" cy="3695700"/>
          </a:xfrm>
          <a:prstGeom prst="rect">
            <a:avLst/>
          </a:prstGeom>
          <a:noFill/>
          <a:ln w="9525">
            <a:noFill/>
          </a:ln>
        </p:spPr>
      </p:pic>
      <p:pic>
        <p:nvPicPr>
          <p:cNvPr id="8197" name="20 4"/>
          <p:cNvPicPr>
            <a:picLocks noChangeAspect="1"/>
          </p:cNvPicPr>
          <p:nvPr/>
        </p:nvPicPr>
        <p:blipFill>
          <a:blip r:embed="rId2"/>
          <a:stretch>
            <a:fillRect/>
          </a:stretch>
        </p:blipFill>
        <p:spPr>
          <a:xfrm>
            <a:off x="5724525" y="1752600"/>
            <a:ext cx="2816225" cy="16764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96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79619" name="Rectangle 3"/>
          <p:cNvSpPr>
            <a:spLocks noGrp="1" noChangeArrowheads="1"/>
          </p:cNvSpPr>
          <p:nvPr>
            <p:ph idx="1"/>
          </p:nvPr>
        </p:nvSpPr>
        <p:spPr>
          <a:xfrm>
            <a:off x="439738" y="1617663"/>
            <a:ext cx="8288338" cy="4402138"/>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排序方法的稳定性</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08050" marR="0" lvl="1" indent="-43688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rPr>
              <a:t>如果按照主关键字排序</a:t>
            </a:r>
            <a:endPar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endParaRPr>
          </a:p>
          <a:p>
            <a:pPr marL="471170" marR="0" lvl="1" indent="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	</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（主关键字：唯一的标识一个记录）</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主关键字取值唯一</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排序结果唯一</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908050" marR="0" lvl="1" indent="-43688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rPr>
              <a:t>如果按照次关键字排序</a:t>
            </a:r>
            <a:endPar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endParaRPr>
          </a:p>
          <a:p>
            <a:pPr marL="471170" marR="0" lvl="1" indent="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defRPr/>
            </a:pPr>
            <a:r>
              <a:rPr kumimoji="0" lang="en-US" altLang="zh-CN"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rPr>
              <a:t>	</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sym typeface="+mn-ea"/>
              </a:rPr>
              <a:t>（次关键字：用以识别若干记录的关键字）</a:t>
            </a:r>
            <a:endPar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可以有两个或两个以上关键字相等的记录（元素）</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若存在多个关键字相等的记录（元素），经过排序后这些具有相同关键字的元素之间的相对次序保持不变，则称该排序方法是</a:t>
            </a:r>
            <a:r>
              <a:rPr kumimoji="0" lang="zh-CN" altLang="en-US" sz="22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ea"/>
              </a:rPr>
              <a:t>稳定</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的；否则，若具有相同关键字的元素之间的相对次序发生变化，则称该排序方法是</a:t>
            </a:r>
            <a:r>
              <a:rPr kumimoji="0" lang="zh-CN" altLang="en-US" sz="22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ea"/>
              </a:rPr>
              <a:t>不稳定</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的。</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22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2228" name="Rectangle 4"/>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排序方法的分类 </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按是否涉及数据的内、外存交换分类： </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外排序、</a:t>
            </a:r>
            <a:r>
              <a:rPr kumimoji="0" lang="zh-CN" altLang="en-US" sz="2000" b="1" i="1"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内排序</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按策略划分内部排序方法： </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插入排序、选择排序、交换排序、归并排序</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和</a:t>
            </a:r>
            <a:r>
              <a:rPr kumimoji="0" lang="zh-CN" altLang="en-US"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基数排序</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等。</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按时间复杂度分裂</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简单排序</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:O(n</a:t>
            </a:r>
            <a:r>
              <a:rPr kumimoji="0" lang="en-US" altLang="zh-CN" sz="2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先进的排序</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nlogn</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基数排序</a:t>
            </a: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排序算法性能评价</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）执行算法所需的时间；</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20000"/>
              </a:lnSpc>
              <a:spcBef>
                <a:spcPct val="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）执行算法所需的辅助空间。</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20000"/>
              </a:lnSpc>
              <a:spcBef>
                <a:spcPct val="0"/>
              </a:spcBef>
              <a:spcAft>
                <a:spcPct val="0"/>
              </a:spcAft>
              <a:buClr>
                <a:srgbClr val="FF3300"/>
              </a:buClr>
              <a:buSzTx/>
              <a:buFont typeface="Wingdings" panose="05000000000000000000" pitchFamily="2" charset="2"/>
              <a:buNone/>
              <a:defRPr/>
            </a:pPr>
            <a:r>
              <a:rPr kumimoji="0" lang="zh-CN" altLang="en-US" sz="1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a:t>
            </a:r>
            <a:endParaRPr kumimoji="0" lang="zh-CN" altLang="en-US" sz="1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Text Box 1026"/>
          <p:cNvSpPr txBox="1"/>
          <p:nvPr/>
        </p:nvSpPr>
        <p:spPr>
          <a:xfrm>
            <a:off x="792163" y="762000"/>
            <a:ext cx="2941637" cy="914400"/>
          </a:xfrm>
          <a:prstGeom prst="rect">
            <a:avLst/>
          </a:prstGeom>
          <a:noFill/>
          <a:ln w="9525">
            <a:noFill/>
          </a:ln>
        </p:spPr>
        <p:txBody>
          <a:bodyPr wrap="none">
            <a:spAutoFit/>
          </a:bodyPr>
          <a:p>
            <a:pPr eaLnBrk="1" hangingPunct="1"/>
            <a:r>
              <a:rPr lang="en-US" altLang="zh-CN" sz="5400" dirty="0">
                <a:solidFill>
                  <a:srgbClr val="800080"/>
                </a:solidFill>
                <a:latin typeface="Times New Roman" panose="02020603050405020304" pitchFamily="18" charset="0"/>
                <a:ea typeface="楷体_GB2312" pitchFamily="49" charset="-122"/>
              </a:rPr>
              <a:t>1. </a:t>
            </a:r>
            <a:r>
              <a:rPr lang="zh-CN" altLang="en-US" sz="5400" dirty="0">
                <a:solidFill>
                  <a:srgbClr val="800080"/>
                </a:solidFill>
                <a:latin typeface="Times New Roman" panose="02020603050405020304" pitchFamily="18" charset="0"/>
                <a:ea typeface="楷体_GB2312" pitchFamily="49" charset="-122"/>
              </a:rPr>
              <a:t>插入类</a:t>
            </a:r>
            <a:endParaRPr lang="zh-CN" altLang="en-US" sz="4800" dirty="0">
              <a:solidFill>
                <a:srgbClr val="800080"/>
              </a:solidFill>
              <a:latin typeface="Times New Roman" panose="02020603050405020304" pitchFamily="18" charset="0"/>
              <a:ea typeface="楷体_GB2312" pitchFamily="49" charset="-122"/>
            </a:endParaRPr>
          </a:p>
        </p:txBody>
      </p:sp>
      <p:sp>
        <p:nvSpPr>
          <p:cNvPr id="112643" name="Text Box 1027"/>
          <p:cNvSpPr txBox="1"/>
          <p:nvPr/>
        </p:nvSpPr>
        <p:spPr>
          <a:xfrm>
            <a:off x="762000" y="2133600"/>
            <a:ext cx="7696200" cy="2925763"/>
          </a:xfrm>
          <a:prstGeom prst="rect">
            <a:avLst/>
          </a:prstGeom>
          <a:noFill/>
          <a:ln w="9525">
            <a:noFill/>
          </a:ln>
        </p:spPr>
        <p:txBody>
          <a:bodyPr>
            <a:spAutoFit/>
          </a:bodyPr>
          <a:p>
            <a:pPr eaLnBrk="1" hangingPunct="1">
              <a:lnSpc>
                <a:spcPct val="150000"/>
              </a:lnSpc>
            </a:pPr>
            <a:r>
              <a:rPr lang="zh-CN" altLang="en-US" sz="4400" dirty="0">
                <a:latin typeface="Times New Roman" panose="02020603050405020304" pitchFamily="18" charset="0"/>
                <a:ea typeface="楷体_GB2312" pitchFamily="49" charset="-122"/>
              </a:rPr>
              <a:t>　　</a:t>
            </a:r>
            <a:r>
              <a:rPr lang="zh-CN" altLang="en-US" sz="4000" dirty="0">
                <a:solidFill>
                  <a:srgbClr val="006666"/>
                </a:solidFill>
                <a:latin typeface="Times New Roman" panose="02020603050405020304" pitchFamily="18" charset="0"/>
                <a:ea typeface="楷体_GB2312" pitchFamily="49" charset="-122"/>
              </a:rPr>
              <a:t>将无序子序列中的</a:t>
            </a:r>
            <a:r>
              <a:rPr lang="zh-CN" altLang="en-US" sz="4000" dirty="0">
                <a:solidFill>
                  <a:srgbClr val="9933FF"/>
                </a:solidFill>
                <a:latin typeface="Times New Roman" panose="02020603050405020304" pitchFamily="18" charset="0"/>
                <a:ea typeface="楷体_GB2312" pitchFamily="49" charset="-122"/>
              </a:rPr>
              <a:t>一个或几个记录</a:t>
            </a:r>
            <a:r>
              <a:rPr lang="zh-CN" altLang="en-US" sz="4000" dirty="0">
                <a:solidFill>
                  <a:srgbClr val="FF0000"/>
                </a:solidFill>
                <a:latin typeface="Times New Roman" panose="02020603050405020304" pitchFamily="18" charset="0"/>
                <a:ea typeface="楷体_GB2312" pitchFamily="49" charset="-122"/>
              </a:rPr>
              <a:t>“插入”</a:t>
            </a:r>
            <a:r>
              <a:rPr lang="zh-CN" altLang="en-US" sz="4000" dirty="0">
                <a:solidFill>
                  <a:srgbClr val="006666"/>
                </a:solidFill>
                <a:latin typeface="Times New Roman" panose="02020603050405020304" pitchFamily="18" charset="0"/>
                <a:ea typeface="楷体_GB2312" pitchFamily="49" charset="-122"/>
              </a:rPr>
              <a:t>到有序序列中，从而增加记录的有序子序列的长度。</a:t>
            </a:r>
            <a:endParaRPr lang="zh-CN" altLang="en-US" sz="4000" dirty="0">
              <a:latin typeface="Times New Roman" panose="02020603050405020304" pitchFamily="18" charset="0"/>
              <a:ea typeface="楷体_GB2312" pitchFamily="49" charset="-122"/>
            </a:endParaRPr>
          </a:p>
        </p:txBody>
      </p:sp>
      <p:pic>
        <p:nvPicPr>
          <p:cNvPr id="112644" name="Picture 1028" descr="Autumn Leaves"/>
          <p:cNvPicPr>
            <a:picLocks noChangeAspect="1"/>
          </p:cNvPicPr>
          <p:nvPr/>
        </p:nvPicPr>
        <p:blipFill>
          <a:blip r:embed="rId1"/>
          <a:stretch>
            <a:fillRect/>
          </a:stretch>
        </p:blipFill>
        <p:spPr>
          <a:xfrm>
            <a:off x="838200" y="1524000"/>
            <a:ext cx="2819400" cy="109538"/>
          </a:xfrm>
          <a:prstGeom prst="rect">
            <a:avLst/>
          </a:prstGeom>
          <a:noFill/>
          <a:ln w="9525">
            <a:noFill/>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p:cTn id="7" dur="500" fill="hold"/>
                                        <p:tgtEl>
                                          <p:spTgt spid="112642"/>
                                        </p:tgtEl>
                                        <p:attrNameLst>
                                          <p:attrName>ppt_x</p:attrName>
                                        </p:attrNameLst>
                                      </p:cBhvr>
                                      <p:tavLst>
                                        <p:tav tm="0">
                                          <p:val>
                                            <p:strVal val="#ppt_x"/>
                                          </p:val>
                                        </p:tav>
                                        <p:tav tm="100000">
                                          <p:val>
                                            <p:strVal val="#ppt_x"/>
                                          </p:val>
                                        </p:tav>
                                      </p:tavLst>
                                    </p:anim>
                                    <p:anim calcmode="lin" valueType="num">
                                      <p:cBhvr>
                                        <p:cTn id="8" dur="500" fill="hold"/>
                                        <p:tgtEl>
                                          <p:spTgt spid="11264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12644"/>
                                        </p:tgtEl>
                                        <p:attrNameLst>
                                          <p:attrName>style.visibility</p:attrName>
                                        </p:attrNameLst>
                                      </p:cBhvr>
                                      <p:to>
                                        <p:strVal val="visible"/>
                                      </p:to>
                                    </p:set>
                                    <p:anim calcmode="lin" valueType="num">
                                      <p:cBhvr>
                                        <p:cTn id="12" dur="500" fill="hold"/>
                                        <p:tgtEl>
                                          <p:spTgt spid="112644"/>
                                        </p:tgtEl>
                                        <p:attrNameLst>
                                          <p:attrName>ppt_w</p:attrName>
                                        </p:attrNameLst>
                                      </p:cBhvr>
                                      <p:tavLst>
                                        <p:tav tm="0">
                                          <p:val>
                                            <p:fltVal val="0.000000"/>
                                          </p:val>
                                        </p:tav>
                                        <p:tav tm="100000">
                                          <p:val>
                                            <p:strVal val="#ppt_w"/>
                                          </p:val>
                                        </p:tav>
                                      </p:tavLst>
                                    </p:anim>
                                    <p:anim calcmode="lin" valueType="num">
                                      <p:cBhvr>
                                        <p:cTn id="13" dur="500" fill="hold"/>
                                        <p:tgtEl>
                                          <p:spTgt spid="112644"/>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43"/>
                                        </p:tgtEl>
                                        <p:attrNameLst>
                                          <p:attrName>style.visibility</p:attrName>
                                        </p:attrNameLst>
                                      </p:cBhvr>
                                      <p:to>
                                        <p:strVal val="visible"/>
                                      </p:to>
                                    </p:set>
                                    <p:animEffect transition="in" filter="strips(downRight)">
                                      <p:cBhvr>
                                        <p:cTn id="18" dur="5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26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3" name="Text Box 7"/>
          <p:cNvSpPr txBox="1"/>
          <p:nvPr/>
        </p:nvSpPr>
        <p:spPr>
          <a:xfrm>
            <a:off x="735013" y="612775"/>
            <a:ext cx="2941637" cy="914400"/>
          </a:xfrm>
          <a:prstGeom prst="rect">
            <a:avLst/>
          </a:prstGeom>
          <a:noFill/>
          <a:ln w="9525">
            <a:noFill/>
          </a:ln>
        </p:spPr>
        <p:txBody>
          <a:bodyPr wrap="none">
            <a:spAutoFit/>
          </a:bodyPr>
          <a:p>
            <a:pPr eaLnBrk="1" hangingPunct="1"/>
            <a:r>
              <a:rPr lang="en-US" altLang="zh-CN" sz="5400" dirty="0">
                <a:solidFill>
                  <a:srgbClr val="800080"/>
                </a:solidFill>
                <a:latin typeface="Times New Roman" panose="02020603050405020304" pitchFamily="18" charset="0"/>
                <a:ea typeface="楷体_GB2312" pitchFamily="49" charset="-122"/>
              </a:rPr>
              <a:t>2. </a:t>
            </a:r>
            <a:r>
              <a:rPr lang="zh-CN" altLang="en-US" sz="5400" dirty="0">
                <a:solidFill>
                  <a:srgbClr val="800080"/>
                </a:solidFill>
                <a:latin typeface="Times New Roman" panose="02020603050405020304" pitchFamily="18" charset="0"/>
                <a:ea typeface="楷体_GB2312" pitchFamily="49" charset="-122"/>
              </a:rPr>
              <a:t>交换类</a:t>
            </a:r>
            <a:endParaRPr lang="zh-CN" altLang="en-US" sz="4800" dirty="0">
              <a:solidFill>
                <a:srgbClr val="800080"/>
              </a:solidFill>
              <a:latin typeface="Times New Roman" panose="02020603050405020304" pitchFamily="18" charset="0"/>
              <a:ea typeface="楷体_GB2312" pitchFamily="49" charset="-122"/>
            </a:endParaRPr>
          </a:p>
        </p:txBody>
      </p:sp>
      <p:sp>
        <p:nvSpPr>
          <p:cNvPr id="9224" name="Text Box 8"/>
          <p:cNvSpPr txBox="1"/>
          <p:nvPr/>
        </p:nvSpPr>
        <p:spPr>
          <a:xfrm>
            <a:off x="746125" y="1676400"/>
            <a:ext cx="8245475" cy="4362450"/>
          </a:xfrm>
          <a:prstGeom prst="rect">
            <a:avLst/>
          </a:prstGeom>
          <a:noFill/>
          <a:ln w="9525">
            <a:noFill/>
          </a:ln>
        </p:spPr>
        <p:txBody>
          <a:bodyPr>
            <a:spAutoFit/>
          </a:bodyPr>
          <a:p>
            <a:pPr eaLnBrk="1" hangingPunct="1">
              <a:lnSpc>
                <a:spcPct val="140000"/>
              </a:lnSpc>
            </a:pPr>
            <a:r>
              <a:rPr lang="zh-CN" altLang="en-US" sz="4000" dirty="0">
                <a:latin typeface="Times New Roman" panose="02020603050405020304" pitchFamily="18" charset="0"/>
                <a:ea typeface="楷体_GB2312" pitchFamily="49" charset="-122"/>
              </a:rPr>
              <a:t>　　</a:t>
            </a:r>
            <a:r>
              <a:rPr lang="zh-CN" altLang="en-US" sz="4000" dirty="0">
                <a:solidFill>
                  <a:srgbClr val="006666"/>
                </a:solidFill>
                <a:latin typeface="Times New Roman" panose="02020603050405020304" pitchFamily="18" charset="0"/>
                <a:ea typeface="楷体_GB2312" pitchFamily="49" charset="-122"/>
              </a:rPr>
              <a:t>通过</a:t>
            </a:r>
            <a:r>
              <a:rPr lang="zh-CN" altLang="en-US" sz="4000" dirty="0">
                <a:solidFill>
                  <a:srgbClr val="FF0000"/>
                </a:solidFill>
                <a:latin typeface="Times New Roman" panose="02020603050405020304" pitchFamily="18" charset="0"/>
                <a:ea typeface="楷体_GB2312" pitchFamily="49" charset="-122"/>
              </a:rPr>
              <a:t>“交换”</a:t>
            </a:r>
            <a:r>
              <a:rPr lang="zh-CN" altLang="en-US" sz="4000" dirty="0">
                <a:solidFill>
                  <a:srgbClr val="006666"/>
                </a:solidFill>
                <a:latin typeface="Times New Roman" panose="02020603050405020304" pitchFamily="18" charset="0"/>
                <a:ea typeface="楷体_GB2312" pitchFamily="49" charset="-122"/>
              </a:rPr>
              <a:t>无序序列中的记录从而得到其中</a:t>
            </a:r>
            <a:r>
              <a:rPr lang="zh-CN" altLang="en-US" sz="4000" dirty="0">
                <a:solidFill>
                  <a:srgbClr val="9933FF"/>
                </a:solidFill>
                <a:latin typeface="Times New Roman" panose="02020603050405020304" pitchFamily="18" charset="0"/>
                <a:ea typeface="楷体_GB2312" pitchFamily="49" charset="-122"/>
              </a:rPr>
              <a:t>关键字最小</a:t>
            </a:r>
            <a:r>
              <a:rPr lang="zh-CN" altLang="en-US" sz="4000" dirty="0">
                <a:solidFill>
                  <a:srgbClr val="006666"/>
                </a:solidFill>
                <a:latin typeface="Times New Roman" panose="02020603050405020304" pitchFamily="18" charset="0"/>
                <a:ea typeface="楷体_GB2312" pitchFamily="49" charset="-122"/>
              </a:rPr>
              <a:t>或</a:t>
            </a:r>
            <a:r>
              <a:rPr lang="zh-CN" altLang="en-US" sz="4000" dirty="0">
                <a:solidFill>
                  <a:srgbClr val="9933FF"/>
                </a:solidFill>
                <a:latin typeface="Times New Roman" panose="02020603050405020304" pitchFamily="18" charset="0"/>
                <a:ea typeface="楷体_GB2312" pitchFamily="49" charset="-122"/>
              </a:rPr>
              <a:t>最大</a:t>
            </a:r>
            <a:r>
              <a:rPr lang="zh-CN" altLang="en-US" sz="4000" dirty="0">
                <a:solidFill>
                  <a:srgbClr val="006666"/>
                </a:solidFill>
                <a:latin typeface="Times New Roman" panose="02020603050405020304" pitchFamily="18" charset="0"/>
                <a:ea typeface="楷体_GB2312" pitchFamily="49" charset="-122"/>
              </a:rPr>
              <a:t>的记录，并将它</a:t>
            </a:r>
            <a:r>
              <a:rPr lang="zh-CN" altLang="en-US" sz="4000" dirty="0">
                <a:solidFill>
                  <a:srgbClr val="9933FF"/>
                </a:solidFill>
                <a:latin typeface="Times New Roman" panose="02020603050405020304" pitchFamily="18" charset="0"/>
                <a:ea typeface="楷体_GB2312" pitchFamily="49" charset="-122"/>
              </a:rPr>
              <a:t>加入到有序子序列中</a:t>
            </a:r>
            <a:r>
              <a:rPr lang="zh-CN" altLang="en-US" sz="4000" dirty="0">
                <a:latin typeface="Times New Roman" panose="02020603050405020304" pitchFamily="18" charset="0"/>
                <a:ea typeface="楷体_GB2312" pitchFamily="49" charset="-122"/>
              </a:rPr>
              <a:t>，</a:t>
            </a:r>
            <a:r>
              <a:rPr lang="zh-CN" altLang="en-US" sz="4000" dirty="0">
                <a:solidFill>
                  <a:srgbClr val="006666"/>
                </a:solidFill>
                <a:latin typeface="Times New Roman" panose="02020603050405020304" pitchFamily="18" charset="0"/>
                <a:ea typeface="楷体_GB2312" pitchFamily="49" charset="-122"/>
              </a:rPr>
              <a:t>以此方法增加记录的有序子序列的长度。</a:t>
            </a:r>
            <a:endParaRPr lang="zh-CN" altLang="en-US" sz="4000" dirty="0">
              <a:latin typeface="Times New Roman" panose="02020603050405020304" pitchFamily="18" charset="0"/>
              <a:ea typeface="楷体_GB2312" pitchFamily="49" charset="-122"/>
            </a:endParaRPr>
          </a:p>
        </p:txBody>
      </p:sp>
      <p:pic>
        <p:nvPicPr>
          <p:cNvPr id="9225" name="Picture 9" descr="Autumn Leaves"/>
          <p:cNvPicPr>
            <a:picLocks noChangeAspect="1"/>
          </p:cNvPicPr>
          <p:nvPr/>
        </p:nvPicPr>
        <p:blipFill>
          <a:blip r:embed="rId1"/>
          <a:stretch>
            <a:fillRect/>
          </a:stretch>
        </p:blipFill>
        <p:spPr>
          <a:xfrm>
            <a:off x="762000" y="1447800"/>
            <a:ext cx="2743200" cy="106363"/>
          </a:xfrm>
          <a:prstGeom prst="rect">
            <a:avLst/>
          </a:prstGeom>
          <a:noFill/>
          <a:ln w="9525">
            <a:noFill/>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223"/>
                                        </p:tgtEl>
                                        <p:attrNameLst>
                                          <p:attrName>style.visibility</p:attrName>
                                        </p:attrNameLst>
                                      </p:cBhvr>
                                      <p:to>
                                        <p:strVal val="visible"/>
                                      </p:to>
                                    </p:set>
                                    <p:anim calcmode="lin" valueType="num">
                                      <p:cBhvr>
                                        <p:cTn id="7" dur="500" fill="hold"/>
                                        <p:tgtEl>
                                          <p:spTgt spid="9223"/>
                                        </p:tgtEl>
                                        <p:attrNameLst>
                                          <p:attrName>ppt_x</p:attrName>
                                        </p:attrNameLst>
                                      </p:cBhvr>
                                      <p:tavLst>
                                        <p:tav tm="0">
                                          <p:val>
                                            <p:strVal val="#ppt_x"/>
                                          </p:val>
                                        </p:tav>
                                        <p:tav tm="100000">
                                          <p:val>
                                            <p:strVal val="#ppt_x"/>
                                          </p:val>
                                        </p:tav>
                                      </p:tavLst>
                                    </p:anim>
                                    <p:anim calcmode="lin" valueType="num">
                                      <p:cBhvr>
                                        <p:cTn id="8" dur="500" fill="hold"/>
                                        <p:tgtEl>
                                          <p:spTgt spid="922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9225"/>
                                        </p:tgtEl>
                                        <p:attrNameLst>
                                          <p:attrName>style.visibility</p:attrName>
                                        </p:attrNameLst>
                                      </p:cBhvr>
                                      <p:to>
                                        <p:strVal val="visible"/>
                                      </p:to>
                                    </p:set>
                                    <p:anim calcmode="lin" valueType="num">
                                      <p:cBhvr>
                                        <p:cTn id="12" dur="500" fill="hold"/>
                                        <p:tgtEl>
                                          <p:spTgt spid="9225"/>
                                        </p:tgtEl>
                                        <p:attrNameLst>
                                          <p:attrName>ppt_w</p:attrName>
                                        </p:attrNameLst>
                                      </p:cBhvr>
                                      <p:tavLst>
                                        <p:tav tm="0">
                                          <p:val>
                                            <p:fltVal val="0.000000"/>
                                          </p:val>
                                        </p:tav>
                                        <p:tav tm="100000">
                                          <p:val>
                                            <p:strVal val="#ppt_w"/>
                                          </p:val>
                                        </p:tav>
                                      </p:tavLst>
                                    </p:anim>
                                    <p:anim calcmode="lin" valueType="num">
                                      <p:cBhvr>
                                        <p:cTn id="13" dur="500" fill="hold"/>
                                        <p:tgtEl>
                                          <p:spTgt spid="922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iterate type="wd">
                                    <p:tmPct val="100000"/>
                                  </p:iterate>
                                  <p:childTnLst>
                                    <p:set>
                                      <p:cBhvr>
                                        <p:cTn id="17" dur="1" fill="hold">
                                          <p:stCondLst>
                                            <p:cond delay="0"/>
                                          </p:stCondLst>
                                        </p:cTn>
                                        <p:tgtEl>
                                          <p:spTgt spid="9224"/>
                                        </p:tgtEl>
                                        <p:attrNameLst>
                                          <p:attrName>style.visibility</p:attrName>
                                        </p:attrNameLst>
                                      </p:cBhvr>
                                      <p:to>
                                        <p:strVal val="visible"/>
                                      </p:to>
                                    </p:set>
                                    <p:animEffect transition="in" filter="strips(downRight)">
                                      <p:cBhvr>
                                        <p:cTn id="18" dur="3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92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Text Box 3"/>
          <p:cNvSpPr txBox="1"/>
          <p:nvPr/>
        </p:nvSpPr>
        <p:spPr>
          <a:xfrm>
            <a:off x="792163" y="609600"/>
            <a:ext cx="2941637" cy="914400"/>
          </a:xfrm>
          <a:prstGeom prst="rect">
            <a:avLst/>
          </a:prstGeom>
          <a:noFill/>
          <a:ln w="9525">
            <a:noFill/>
          </a:ln>
        </p:spPr>
        <p:txBody>
          <a:bodyPr wrap="none">
            <a:spAutoFit/>
          </a:bodyPr>
          <a:p>
            <a:pPr eaLnBrk="1" hangingPunct="1"/>
            <a:r>
              <a:rPr lang="en-US" altLang="zh-CN" sz="5400" dirty="0">
                <a:solidFill>
                  <a:srgbClr val="800080"/>
                </a:solidFill>
                <a:latin typeface="Times New Roman" panose="02020603050405020304" pitchFamily="18" charset="0"/>
                <a:ea typeface="楷体_GB2312" pitchFamily="49" charset="-122"/>
              </a:rPr>
              <a:t>3. </a:t>
            </a:r>
            <a:r>
              <a:rPr lang="zh-CN" altLang="en-US" sz="5400" dirty="0">
                <a:solidFill>
                  <a:srgbClr val="800080"/>
                </a:solidFill>
                <a:latin typeface="Times New Roman" panose="02020603050405020304" pitchFamily="18" charset="0"/>
                <a:ea typeface="楷体_GB2312" pitchFamily="49" charset="-122"/>
              </a:rPr>
              <a:t>选择类</a:t>
            </a:r>
            <a:endParaRPr lang="zh-CN" altLang="en-US" sz="4800" dirty="0">
              <a:solidFill>
                <a:srgbClr val="800080"/>
              </a:solidFill>
              <a:latin typeface="Times New Roman" panose="02020603050405020304" pitchFamily="18" charset="0"/>
              <a:ea typeface="楷体_GB2312" pitchFamily="49" charset="-122"/>
            </a:endParaRPr>
          </a:p>
        </p:txBody>
      </p:sp>
      <p:sp>
        <p:nvSpPr>
          <p:cNvPr id="10244" name="Text Box 4"/>
          <p:cNvSpPr txBox="1"/>
          <p:nvPr/>
        </p:nvSpPr>
        <p:spPr>
          <a:xfrm>
            <a:off x="746125" y="1752600"/>
            <a:ext cx="7940675" cy="3508375"/>
          </a:xfrm>
          <a:prstGeom prst="rect">
            <a:avLst/>
          </a:prstGeom>
          <a:noFill/>
          <a:ln w="9525">
            <a:noFill/>
          </a:ln>
        </p:spPr>
        <p:txBody>
          <a:bodyPr>
            <a:spAutoFit/>
          </a:bodyPr>
          <a:p>
            <a:pPr eaLnBrk="1" hangingPunct="1">
              <a:lnSpc>
                <a:spcPct val="140000"/>
              </a:lnSpc>
            </a:pPr>
            <a:r>
              <a:rPr lang="zh-CN" altLang="en-US" sz="4000" dirty="0">
                <a:latin typeface="Times New Roman" panose="02020603050405020304" pitchFamily="18" charset="0"/>
                <a:ea typeface="楷体_GB2312" pitchFamily="49" charset="-122"/>
              </a:rPr>
              <a:t>　　</a:t>
            </a:r>
            <a:r>
              <a:rPr lang="zh-CN" altLang="en-US" sz="4000" dirty="0">
                <a:solidFill>
                  <a:srgbClr val="006666"/>
                </a:solidFill>
                <a:latin typeface="Times New Roman" panose="02020603050405020304" pitchFamily="18" charset="0"/>
                <a:ea typeface="楷体_GB2312" pitchFamily="49" charset="-122"/>
              </a:rPr>
              <a:t>从记录的无序子序列中</a:t>
            </a:r>
            <a:r>
              <a:rPr lang="zh-CN" altLang="en-US" sz="4000" dirty="0">
                <a:solidFill>
                  <a:srgbClr val="FF0000"/>
                </a:solidFill>
                <a:latin typeface="Times New Roman" panose="02020603050405020304" pitchFamily="18" charset="0"/>
                <a:ea typeface="楷体_GB2312" pitchFamily="49" charset="-122"/>
              </a:rPr>
              <a:t>“选择”</a:t>
            </a:r>
            <a:r>
              <a:rPr lang="zh-CN" altLang="en-US" sz="4000" dirty="0">
                <a:solidFill>
                  <a:srgbClr val="9933FF"/>
                </a:solidFill>
                <a:latin typeface="Times New Roman" panose="02020603050405020304" pitchFamily="18" charset="0"/>
                <a:ea typeface="楷体_GB2312" pitchFamily="49" charset="-122"/>
              </a:rPr>
              <a:t>关键字最小或最大</a:t>
            </a:r>
            <a:r>
              <a:rPr lang="zh-CN" altLang="en-US" sz="4000" dirty="0">
                <a:solidFill>
                  <a:srgbClr val="006666"/>
                </a:solidFill>
                <a:latin typeface="Times New Roman" panose="02020603050405020304" pitchFamily="18" charset="0"/>
                <a:ea typeface="楷体_GB2312" pitchFamily="49" charset="-122"/>
              </a:rPr>
              <a:t>的记录，并将它</a:t>
            </a:r>
            <a:r>
              <a:rPr lang="zh-CN" altLang="en-US" sz="4000" dirty="0">
                <a:solidFill>
                  <a:srgbClr val="9933FF"/>
                </a:solidFill>
                <a:latin typeface="Times New Roman" panose="02020603050405020304" pitchFamily="18" charset="0"/>
                <a:ea typeface="楷体_GB2312" pitchFamily="49" charset="-122"/>
              </a:rPr>
              <a:t>加入到有序子序列</a:t>
            </a:r>
            <a:r>
              <a:rPr lang="zh-CN" altLang="en-US" sz="4000" dirty="0">
                <a:solidFill>
                  <a:srgbClr val="006666"/>
                </a:solidFill>
                <a:latin typeface="Times New Roman" panose="02020603050405020304" pitchFamily="18" charset="0"/>
                <a:ea typeface="楷体_GB2312" pitchFamily="49" charset="-122"/>
              </a:rPr>
              <a:t>中，以此方法增加记录的有序子序列的长度。</a:t>
            </a:r>
            <a:endParaRPr lang="zh-CN" altLang="en-US" sz="4000" dirty="0">
              <a:latin typeface="Times New Roman" panose="02020603050405020304" pitchFamily="18" charset="0"/>
              <a:ea typeface="楷体_GB2312" pitchFamily="49" charset="-122"/>
            </a:endParaRPr>
          </a:p>
        </p:txBody>
      </p:sp>
      <p:pic>
        <p:nvPicPr>
          <p:cNvPr id="10245" name="Picture 5" descr="Autumn Leaves"/>
          <p:cNvPicPr>
            <a:picLocks noChangeAspect="1"/>
          </p:cNvPicPr>
          <p:nvPr/>
        </p:nvPicPr>
        <p:blipFill>
          <a:blip r:embed="rId1"/>
          <a:stretch>
            <a:fillRect/>
          </a:stretch>
        </p:blipFill>
        <p:spPr>
          <a:xfrm>
            <a:off x="762000" y="1427163"/>
            <a:ext cx="3048000" cy="117475"/>
          </a:xfrm>
          <a:prstGeom prst="rect">
            <a:avLst/>
          </a:prstGeom>
          <a:noFill/>
          <a:ln w="9525">
            <a:noFill/>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p:cTn id="7" dur="500" fill="hold"/>
                                        <p:tgtEl>
                                          <p:spTgt spid="10243"/>
                                        </p:tgtEl>
                                        <p:attrNameLst>
                                          <p:attrName>ppt_x</p:attrName>
                                        </p:attrNameLst>
                                      </p:cBhvr>
                                      <p:tavLst>
                                        <p:tav tm="0">
                                          <p:val>
                                            <p:strVal val="0-#ppt_w/2"/>
                                          </p:val>
                                        </p:tav>
                                        <p:tav tm="100000">
                                          <p:val>
                                            <p:strVal val="#ppt_x"/>
                                          </p:val>
                                        </p:tav>
                                      </p:tavLst>
                                    </p:anim>
                                    <p:anim calcmode="lin" valueType="num">
                                      <p:cBhvr>
                                        <p:cTn id="8" dur="500" fill="hold"/>
                                        <p:tgtEl>
                                          <p:spTgt spid="102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0245"/>
                                        </p:tgtEl>
                                        <p:attrNameLst>
                                          <p:attrName>style.visibility</p:attrName>
                                        </p:attrNameLst>
                                      </p:cBhvr>
                                      <p:to>
                                        <p:strVal val="visible"/>
                                      </p:to>
                                    </p:set>
                                    <p:anim calcmode="lin" valueType="num">
                                      <p:cBhvr>
                                        <p:cTn id="12" dur="500" fill="hold"/>
                                        <p:tgtEl>
                                          <p:spTgt spid="10245"/>
                                        </p:tgtEl>
                                        <p:attrNameLst>
                                          <p:attrName>ppt_w</p:attrName>
                                        </p:attrNameLst>
                                      </p:cBhvr>
                                      <p:tavLst>
                                        <p:tav tm="0">
                                          <p:val>
                                            <p:fltVal val="0.000000"/>
                                          </p:val>
                                        </p:tav>
                                        <p:tav tm="100000">
                                          <p:val>
                                            <p:strVal val="#ppt_w"/>
                                          </p:val>
                                        </p:tav>
                                      </p:tavLst>
                                    </p:anim>
                                    <p:anim calcmode="lin" valueType="num">
                                      <p:cBhvr>
                                        <p:cTn id="13" dur="500" fill="hold"/>
                                        <p:tgtEl>
                                          <p:spTgt spid="1024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strips(downRight)">
                                      <p:cBhvr>
                                        <p:cTn id="18"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3"/>
          <p:cNvSpPr txBox="1"/>
          <p:nvPr/>
        </p:nvSpPr>
        <p:spPr>
          <a:xfrm>
            <a:off x="792163" y="609600"/>
            <a:ext cx="2941637" cy="914400"/>
          </a:xfrm>
          <a:prstGeom prst="rect">
            <a:avLst/>
          </a:prstGeom>
          <a:noFill/>
          <a:ln w="9525">
            <a:noFill/>
          </a:ln>
        </p:spPr>
        <p:txBody>
          <a:bodyPr wrap="none">
            <a:spAutoFit/>
          </a:bodyPr>
          <a:p>
            <a:pPr eaLnBrk="1" hangingPunct="1"/>
            <a:r>
              <a:rPr lang="en-US" altLang="zh-CN" sz="5400" dirty="0">
                <a:solidFill>
                  <a:srgbClr val="800080"/>
                </a:solidFill>
                <a:latin typeface="Times New Roman" panose="02020603050405020304" pitchFamily="18" charset="0"/>
                <a:ea typeface="楷体_GB2312" pitchFamily="49" charset="-122"/>
              </a:rPr>
              <a:t>4. </a:t>
            </a:r>
            <a:r>
              <a:rPr lang="zh-CN" altLang="en-US" sz="5400" dirty="0">
                <a:solidFill>
                  <a:srgbClr val="800080"/>
                </a:solidFill>
                <a:latin typeface="Times New Roman" panose="02020603050405020304" pitchFamily="18" charset="0"/>
                <a:ea typeface="楷体_GB2312" pitchFamily="49" charset="-122"/>
              </a:rPr>
              <a:t>归并类</a:t>
            </a:r>
            <a:endParaRPr lang="zh-CN" altLang="en-US" sz="4800" dirty="0">
              <a:solidFill>
                <a:srgbClr val="800080"/>
              </a:solidFill>
              <a:latin typeface="Times New Roman" panose="02020603050405020304" pitchFamily="18" charset="0"/>
              <a:ea typeface="楷体_GB2312" pitchFamily="49" charset="-122"/>
            </a:endParaRPr>
          </a:p>
        </p:txBody>
      </p:sp>
      <p:sp>
        <p:nvSpPr>
          <p:cNvPr id="11268" name="Text Box 4"/>
          <p:cNvSpPr txBox="1"/>
          <p:nvPr/>
        </p:nvSpPr>
        <p:spPr>
          <a:xfrm>
            <a:off x="762000" y="1841500"/>
            <a:ext cx="7864475" cy="2654300"/>
          </a:xfrm>
          <a:prstGeom prst="rect">
            <a:avLst/>
          </a:prstGeom>
          <a:noFill/>
          <a:ln w="9525">
            <a:noFill/>
          </a:ln>
        </p:spPr>
        <p:txBody>
          <a:bodyPr>
            <a:spAutoFit/>
          </a:bodyPr>
          <a:p>
            <a:pPr eaLnBrk="1" hangingPunct="1">
              <a:lnSpc>
                <a:spcPct val="140000"/>
              </a:lnSpc>
            </a:pPr>
            <a:r>
              <a:rPr lang="zh-CN" altLang="en-US" sz="4000" dirty="0">
                <a:latin typeface="Times New Roman" panose="02020603050405020304" pitchFamily="18" charset="0"/>
                <a:ea typeface="楷体_GB2312" pitchFamily="49" charset="-122"/>
              </a:rPr>
              <a:t>　</a:t>
            </a:r>
            <a:r>
              <a:rPr lang="zh-CN" altLang="en-US" sz="4000" dirty="0">
                <a:solidFill>
                  <a:srgbClr val="006666"/>
                </a:solidFill>
                <a:latin typeface="Times New Roman" panose="02020603050405020304" pitchFamily="18" charset="0"/>
                <a:ea typeface="楷体_GB2312" pitchFamily="49" charset="-122"/>
              </a:rPr>
              <a:t>通过</a:t>
            </a:r>
            <a:r>
              <a:rPr lang="zh-CN" altLang="en-US" sz="4000" dirty="0">
                <a:solidFill>
                  <a:srgbClr val="FF6600"/>
                </a:solidFill>
                <a:latin typeface="Times New Roman" panose="02020603050405020304" pitchFamily="18" charset="0"/>
                <a:ea typeface="楷体_GB2312" pitchFamily="49" charset="-122"/>
              </a:rPr>
              <a:t>“归并”</a:t>
            </a:r>
            <a:r>
              <a:rPr lang="zh-CN" altLang="en-US" sz="4000" dirty="0">
                <a:solidFill>
                  <a:srgbClr val="006666"/>
                </a:solidFill>
                <a:latin typeface="Times New Roman" panose="02020603050405020304" pitchFamily="18" charset="0"/>
                <a:ea typeface="楷体_GB2312" pitchFamily="49" charset="-122"/>
              </a:rPr>
              <a:t>两个或两个以上的记录有序子序列，逐步增加记录有序序列的长度。</a:t>
            </a:r>
            <a:endParaRPr lang="zh-CN" altLang="en-US" sz="4000" dirty="0">
              <a:solidFill>
                <a:srgbClr val="006666"/>
              </a:solidFill>
              <a:latin typeface="Times New Roman" panose="02020603050405020304" pitchFamily="18" charset="0"/>
              <a:ea typeface="楷体_GB2312" pitchFamily="49" charset="-122"/>
            </a:endParaRPr>
          </a:p>
        </p:txBody>
      </p:sp>
      <p:sp>
        <p:nvSpPr>
          <p:cNvPr id="11269" name="Text Box 5"/>
          <p:cNvSpPr txBox="1"/>
          <p:nvPr/>
        </p:nvSpPr>
        <p:spPr>
          <a:xfrm>
            <a:off x="762000" y="5048250"/>
            <a:ext cx="3632200" cy="914400"/>
          </a:xfrm>
          <a:prstGeom prst="rect">
            <a:avLst/>
          </a:prstGeom>
          <a:noFill/>
          <a:ln w="9525">
            <a:noFill/>
          </a:ln>
        </p:spPr>
        <p:txBody>
          <a:bodyPr wrap="none">
            <a:spAutoFit/>
          </a:bodyPr>
          <a:p>
            <a:pPr eaLnBrk="1" hangingPunct="1"/>
            <a:r>
              <a:rPr lang="en-US" altLang="zh-CN" sz="5400" dirty="0">
                <a:solidFill>
                  <a:srgbClr val="800080"/>
                </a:solidFill>
                <a:latin typeface="Times New Roman" panose="02020603050405020304" pitchFamily="18" charset="0"/>
                <a:ea typeface="楷体_GB2312" pitchFamily="49" charset="-122"/>
              </a:rPr>
              <a:t>5. </a:t>
            </a:r>
            <a:r>
              <a:rPr lang="zh-CN" altLang="en-US" sz="5400" dirty="0">
                <a:solidFill>
                  <a:srgbClr val="800080"/>
                </a:solidFill>
                <a:latin typeface="Times New Roman" panose="02020603050405020304" pitchFamily="18" charset="0"/>
                <a:ea typeface="楷体_GB2312" pitchFamily="49" charset="-122"/>
              </a:rPr>
              <a:t>其它方法</a:t>
            </a:r>
            <a:endParaRPr lang="zh-CN" altLang="en-US" sz="5400" dirty="0">
              <a:solidFill>
                <a:srgbClr val="800080"/>
              </a:solidFill>
              <a:latin typeface="Times New Roman" panose="02020603050405020304" pitchFamily="18" charset="0"/>
              <a:ea typeface="楷体_GB2312" pitchFamily="49" charset="-122"/>
            </a:endParaRPr>
          </a:p>
        </p:txBody>
      </p:sp>
      <p:pic>
        <p:nvPicPr>
          <p:cNvPr id="11270" name="Picture 6" descr="Autumn Leaves"/>
          <p:cNvPicPr>
            <a:picLocks noChangeAspect="1"/>
          </p:cNvPicPr>
          <p:nvPr/>
        </p:nvPicPr>
        <p:blipFill>
          <a:blip r:embed="rId1"/>
          <a:stretch>
            <a:fillRect/>
          </a:stretch>
        </p:blipFill>
        <p:spPr>
          <a:xfrm>
            <a:off x="762000" y="1435100"/>
            <a:ext cx="2895600" cy="114300"/>
          </a:xfrm>
          <a:prstGeom prst="rect">
            <a:avLst/>
          </a:prstGeom>
          <a:noFill/>
          <a:ln w="9525">
            <a:noFill/>
          </a:ln>
        </p:spPr>
      </p:pic>
      <p:pic>
        <p:nvPicPr>
          <p:cNvPr id="11271" name="Picture 7" descr="Autumn Leaves"/>
          <p:cNvPicPr>
            <a:picLocks noChangeAspect="1"/>
          </p:cNvPicPr>
          <p:nvPr/>
        </p:nvPicPr>
        <p:blipFill>
          <a:blip r:embed="rId1"/>
          <a:stretch>
            <a:fillRect/>
          </a:stretch>
        </p:blipFill>
        <p:spPr>
          <a:xfrm>
            <a:off x="838200" y="5886450"/>
            <a:ext cx="3429000" cy="133350"/>
          </a:xfrm>
          <a:prstGeom prst="rect">
            <a:avLst/>
          </a:prstGeom>
          <a:noFill/>
          <a:ln w="9525">
            <a:noFill/>
          </a:ln>
        </p:spPr>
      </p:pic>
      <p:pic>
        <p:nvPicPr>
          <p:cNvPr id="18439" name="Picture 9" descr="tuli"/>
          <p:cNvPicPr>
            <a:picLocks noChangeAspect="1"/>
          </p:cNvPicPr>
          <p:nvPr/>
        </p:nvPicPr>
        <p:blipFill>
          <a:blip r:embed="rId2"/>
          <a:stretch>
            <a:fillRect/>
          </a:stretch>
        </p:blipFill>
        <p:spPr>
          <a:xfrm>
            <a:off x="7429500" y="5286375"/>
            <a:ext cx="1133475" cy="1143000"/>
          </a:xfrm>
          <a:prstGeom prst="rect">
            <a:avLst/>
          </a:prstGeom>
          <a:noFill/>
          <a:ln w="9525">
            <a:noFill/>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p:cTn id="7" dur="500" fill="hold"/>
                                        <p:tgtEl>
                                          <p:spTgt spid="11267"/>
                                        </p:tgtEl>
                                        <p:attrNameLst>
                                          <p:attrName>ppt_x</p:attrName>
                                        </p:attrNameLst>
                                      </p:cBhvr>
                                      <p:tavLst>
                                        <p:tav tm="0">
                                          <p:val>
                                            <p:strVal val="0-#ppt_w/2"/>
                                          </p:val>
                                        </p:tav>
                                        <p:tav tm="100000">
                                          <p:val>
                                            <p:strVal val="#ppt_x"/>
                                          </p:val>
                                        </p:tav>
                                      </p:tavLst>
                                    </p:anim>
                                    <p:anim calcmode="lin" valueType="num">
                                      <p:cBhvr>
                                        <p:cTn id="8" dur="500" fill="hold"/>
                                        <p:tgtEl>
                                          <p:spTgt spid="1126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1270"/>
                                        </p:tgtEl>
                                        <p:attrNameLst>
                                          <p:attrName>style.visibility</p:attrName>
                                        </p:attrNameLst>
                                      </p:cBhvr>
                                      <p:to>
                                        <p:strVal val="visible"/>
                                      </p:to>
                                    </p:set>
                                    <p:anim calcmode="lin" valueType="num">
                                      <p:cBhvr>
                                        <p:cTn id="12" dur="500" fill="hold"/>
                                        <p:tgtEl>
                                          <p:spTgt spid="11270"/>
                                        </p:tgtEl>
                                        <p:attrNameLst>
                                          <p:attrName>ppt_w</p:attrName>
                                        </p:attrNameLst>
                                      </p:cBhvr>
                                      <p:tavLst>
                                        <p:tav tm="0">
                                          <p:val>
                                            <p:fltVal val="0.000000"/>
                                          </p:val>
                                        </p:tav>
                                        <p:tav tm="100000">
                                          <p:val>
                                            <p:strVal val="#ppt_w"/>
                                          </p:val>
                                        </p:tav>
                                      </p:tavLst>
                                    </p:anim>
                                    <p:anim calcmode="lin" valueType="num">
                                      <p:cBhvr>
                                        <p:cTn id="13" dur="500" fill="hold"/>
                                        <p:tgtEl>
                                          <p:spTgt spid="11270"/>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8"/>
                                        </p:tgtEl>
                                        <p:attrNameLst>
                                          <p:attrName>style.visibility</p:attrName>
                                        </p:attrNameLst>
                                      </p:cBhvr>
                                      <p:to>
                                        <p:strVal val="visible"/>
                                      </p:to>
                                    </p:set>
                                    <p:animEffect transition="in" filter="strips(downRight)">
                                      <p:cBhvr>
                                        <p:cTn id="18" dur="500"/>
                                        <p:tgtEl>
                                          <p:spTgt spid="1126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1269"/>
                                        </p:tgtEl>
                                        <p:attrNameLst>
                                          <p:attrName>style.visibility</p:attrName>
                                        </p:attrNameLst>
                                      </p:cBhvr>
                                      <p:to>
                                        <p:strVal val="visible"/>
                                      </p:to>
                                    </p:set>
                                    <p:anim calcmode="lin" valueType="num">
                                      <p:cBhvr>
                                        <p:cTn id="23" dur="500" fill="hold"/>
                                        <p:tgtEl>
                                          <p:spTgt spid="11269"/>
                                        </p:tgtEl>
                                        <p:attrNameLst>
                                          <p:attrName>ppt_x</p:attrName>
                                        </p:attrNameLst>
                                      </p:cBhvr>
                                      <p:tavLst>
                                        <p:tav tm="0">
                                          <p:val>
                                            <p:strVal val="0-#ppt_w/2"/>
                                          </p:val>
                                        </p:tav>
                                        <p:tav tm="100000">
                                          <p:val>
                                            <p:strVal val="#ppt_x"/>
                                          </p:val>
                                        </p:tav>
                                      </p:tavLst>
                                    </p:anim>
                                    <p:anim calcmode="lin" valueType="num">
                                      <p:cBhvr>
                                        <p:cTn id="24" dur="500" fill="hold"/>
                                        <p:tgtEl>
                                          <p:spTgt spid="11269"/>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7" presetClass="entr" presetSubtype="10" fill="hold" nodeType="afterEffect">
                                  <p:stCondLst>
                                    <p:cond delay="0"/>
                                  </p:stCondLst>
                                  <p:childTnLst>
                                    <p:set>
                                      <p:cBhvr>
                                        <p:cTn id="27" dur="1" fill="hold">
                                          <p:stCondLst>
                                            <p:cond delay="0"/>
                                          </p:stCondLst>
                                        </p:cTn>
                                        <p:tgtEl>
                                          <p:spTgt spid="11271"/>
                                        </p:tgtEl>
                                        <p:attrNameLst>
                                          <p:attrName>style.visibility</p:attrName>
                                        </p:attrNameLst>
                                      </p:cBhvr>
                                      <p:to>
                                        <p:strVal val="visible"/>
                                      </p:to>
                                    </p:set>
                                    <p:anim calcmode="lin" valueType="num">
                                      <p:cBhvr>
                                        <p:cTn id="28" dur="500" fill="hold"/>
                                        <p:tgtEl>
                                          <p:spTgt spid="11271"/>
                                        </p:tgtEl>
                                        <p:attrNameLst>
                                          <p:attrName>ppt_w</p:attrName>
                                        </p:attrNameLst>
                                      </p:cBhvr>
                                      <p:tavLst>
                                        <p:tav tm="0">
                                          <p:val>
                                            <p:fltVal val="0.000000"/>
                                          </p:val>
                                        </p:tav>
                                        <p:tav tm="100000">
                                          <p:val>
                                            <p:strVal val="#ppt_w"/>
                                          </p:val>
                                        </p:tav>
                                      </p:tavLst>
                                    </p:anim>
                                    <p:anim calcmode="lin" valueType="num">
                                      <p:cBhvr>
                                        <p:cTn id="29" dur="500" fill="hold"/>
                                        <p:tgtEl>
                                          <p:spTgt spid="112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p:bldP spid="112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22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2228" name="Rectangle 4"/>
          <p:cNvSpPr>
            <a:spLocks noGrp="1" noChangeArrowheads="1"/>
          </p:cNvSpPr>
          <p:nvPr>
            <p:ph idx="1"/>
          </p:nvPr>
        </p:nvSpPr>
        <p:spPr/>
        <p:txBody>
          <a:bodyPr vert="horz" wrap="square" lIns="91440" tIns="45720" rIns="91440" bIns="45720" numCol="1" anchor="t" anchorCtr="0" compatLnSpc="1"/>
          <a:lstStyle/>
          <a:p>
            <a:pPr marL="389255" marR="0" lvl="1" indent="-20320" algn="l" defTabSz="914400" rtl="0" eaLnBrk="1" fontAlgn="base" latinLnBrk="0" hangingPunct="1">
              <a:lnSpc>
                <a:spcPct val="120000"/>
              </a:lnSpc>
              <a:spcBef>
                <a:spcPct val="0"/>
              </a:spcBef>
              <a:spcAft>
                <a:spcPct val="0"/>
              </a:spcAft>
              <a:buClr>
                <a:srgbClr val="FF3300"/>
              </a:buClr>
              <a:buSzTx/>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由于待排序的记录数量不同，使得排序过程中涉及的存储器不同，可将排序方法分为两大类：</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389255" marR="0" lvl="1" indent="-20320" algn="l" defTabSz="914400" rtl="0" eaLnBrk="1" fontAlgn="base" latinLnBrk="0" hangingPunct="1">
              <a:lnSpc>
                <a:spcPct val="120000"/>
              </a:lnSpc>
              <a:spcBef>
                <a:spcPct val="0"/>
              </a:spcBef>
              <a:spcAft>
                <a:spcPct val="0"/>
              </a:spcAft>
              <a:buClr>
                <a:srgbClr val="FF3300"/>
              </a:buClr>
              <a:buSzTx/>
              <a:buFont typeface="Wingdings" panose="05000000000000000000" pitchFamily="2" charset="2"/>
              <a:buNone/>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内部排序：待排序记录存放在计算机随机存储器中进行的排序过程；</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389255" marR="0" lvl="1" indent="-20320" algn="l" defTabSz="914400" rtl="0" eaLnBrk="1" fontAlgn="base" latinLnBrk="0" hangingPunct="1">
              <a:lnSpc>
                <a:spcPct val="120000"/>
              </a:lnSpc>
              <a:spcBef>
                <a:spcPct val="0"/>
              </a:spcBef>
              <a:spcAft>
                <a:spcPct val="0"/>
              </a:spcAft>
              <a:buClr>
                <a:srgbClr val="FF3300"/>
              </a:buClr>
              <a:buSzTx/>
              <a:buFont typeface="Wingdings" panose="05000000000000000000" pitchFamily="2" charset="2"/>
              <a:buNone/>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外部排序：待排序记录的数量很大，以致内存一次不能容纳全部记录，排序过程中尚需对外存进行访问的排序过程。 </a:t>
            </a:r>
            <a:r>
              <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endParaRPr kumimoji="0"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不同存储方式的排序过程</a:t>
            </a:r>
            <a:endParaRPr kumimoji="1"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3252" name="Text Box 4"/>
          <p:cNvSpPr txBox="1">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以顺序表作为存储结构</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对记录本身进行物理重排</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需要移动记录</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以链表作为存储结构</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无须移动记录，仅需修改指针</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在本书中如无特殊说明</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则采用第一种存储结构 </a:t>
            </a:r>
            <a:endPar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待排记录的数据类型</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1"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顺序表</a:t>
            </a:r>
            <a:r>
              <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(P264)</a:t>
            </a:r>
            <a:endParaRPr kumimoji="1"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just" defTabSz="914400" rtl="0" eaLnBrk="1" fontAlgn="base" latinLnBrk="0" hangingPunct="1">
              <a:lnSpc>
                <a:spcPct val="90000"/>
              </a:lnSpc>
              <a:spcBef>
                <a:spcPct val="0"/>
              </a:spcBef>
              <a:spcAft>
                <a:spcPct val="0"/>
              </a:spcAft>
              <a:buClr>
                <a:srgbClr val="FF3300"/>
              </a:buClr>
              <a:buSzTx/>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endParaRPr kumimoji="1"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42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10.2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插入排序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42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基本思想</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每步将一个待排序的记录，按其关键字大小，插入到前面已经排好序的一组记录适当位置上，直到记录全部插入为止</a:t>
            </a:r>
            <a:endPar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直接插入排序</a:t>
            </a:r>
            <a:endParaRPr kumimoji="1"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rPr>
              <a:t>折半插入排序</a:t>
            </a:r>
            <a:endPar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en-US" altLang="zh-CN"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rPr>
              <a:t>2</a:t>
            </a:r>
            <a:r>
              <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rPr>
              <a:t>－路插入排序</a:t>
            </a:r>
            <a:endPar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rPr>
              <a:t>表插入排序</a:t>
            </a:r>
            <a:endParaRPr kumimoji="1" lang="zh-CN" altLang="en-US" sz="2600" b="1" i="0" u="none" strike="noStrike" kern="0" cap="none" spc="0" normalizeH="0" baseline="0" noProof="0" dirty="0">
              <a:ln>
                <a:noFill/>
              </a:ln>
              <a:solidFill>
                <a:schemeClr val="accent1">
                  <a:lumMod val="40000"/>
                  <a:lumOff val="60000"/>
                </a:schemeClr>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希尔排序</a:t>
            </a:r>
            <a:endParaRPr kumimoji="1"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直接插入排序</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23555" name="20 4"/>
          <p:cNvPicPr>
            <a:picLocks noChangeAspect="1"/>
          </p:cNvPicPr>
          <p:nvPr/>
        </p:nvPicPr>
        <p:blipFill>
          <a:blip r:embed="rId1"/>
          <a:stretch>
            <a:fillRect/>
          </a:stretch>
        </p:blipFill>
        <p:spPr>
          <a:xfrm>
            <a:off x="601663" y="1989138"/>
            <a:ext cx="5016500" cy="3589337"/>
          </a:xfrm>
          <a:prstGeom prst="rect">
            <a:avLst/>
          </a:prstGeom>
          <a:noFill/>
          <a:ln w="9525">
            <a:noFill/>
          </a:ln>
        </p:spPr>
      </p:pic>
      <p:pic>
        <p:nvPicPr>
          <p:cNvPr id="23556" name="20 5"/>
          <p:cNvPicPr>
            <a:picLocks noChangeAspect="1"/>
          </p:cNvPicPr>
          <p:nvPr/>
        </p:nvPicPr>
        <p:blipFill>
          <a:blip r:embed="rId2"/>
          <a:stretch>
            <a:fillRect/>
          </a:stretch>
        </p:blipFill>
        <p:spPr>
          <a:xfrm>
            <a:off x="6156325" y="2205038"/>
            <a:ext cx="2146300" cy="2947987"/>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Text Box 1026">
            <a:hlinkClick r:id="" action="ppaction://hlinkshowjump?jump=nextslide"/>
          </p:cNvPr>
          <p:cNvSpPr txBox="1"/>
          <p:nvPr/>
        </p:nvSpPr>
        <p:spPr>
          <a:xfrm>
            <a:off x="1066800" y="1584325"/>
            <a:ext cx="6858000" cy="762000"/>
          </a:xfrm>
          <a:prstGeom prst="rect">
            <a:avLst/>
          </a:prstGeom>
          <a:noFill/>
          <a:ln w="9525">
            <a:noFill/>
          </a:ln>
        </p:spPr>
        <p:txBody>
          <a:bodyPr>
            <a:spAutoFit/>
          </a:bodyPr>
          <a:p>
            <a:pPr eaLnBrk="1" hangingPunct="1"/>
            <a:r>
              <a:rPr lang="zh-CN" altLang="en-US" sz="4400" dirty="0">
                <a:solidFill>
                  <a:srgbClr val="FF00FF"/>
                </a:solidFill>
                <a:latin typeface="Times New Roman" panose="02020603050405020304" pitchFamily="18" charset="0"/>
                <a:ea typeface="楷体_GB2312" pitchFamily="49" charset="-122"/>
              </a:rPr>
              <a:t>直接插入排序</a:t>
            </a:r>
            <a:r>
              <a:rPr lang="zh-CN" altLang="en-US" sz="3200" dirty="0">
                <a:solidFill>
                  <a:srgbClr val="990000"/>
                </a:solidFill>
                <a:latin typeface="Times New Roman" panose="02020603050405020304" pitchFamily="18" charset="0"/>
                <a:ea typeface="楷体_GB2312" pitchFamily="49" charset="-122"/>
              </a:rPr>
              <a:t>（基于顺序查找）</a:t>
            </a:r>
            <a:endParaRPr lang="zh-CN" altLang="en-US" sz="4400" dirty="0">
              <a:solidFill>
                <a:srgbClr val="FF00FF"/>
              </a:solidFill>
              <a:latin typeface="Times New Roman" panose="02020603050405020304" pitchFamily="18" charset="0"/>
              <a:ea typeface="楷体_GB2312" pitchFamily="49" charset="-122"/>
            </a:endParaRPr>
          </a:p>
        </p:txBody>
      </p:sp>
      <p:pic>
        <p:nvPicPr>
          <p:cNvPr id="113670" name="Picture 1030" descr="Pebble">
            <a:hlinkClick r:id="" action="ppaction://hlinkshowjump?jump=nextslide"/>
          </p:cNvPr>
          <p:cNvPicPr>
            <a:picLocks noChangeAspect="1"/>
          </p:cNvPicPr>
          <p:nvPr/>
        </p:nvPicPr>
        <p:blipFill>
          <a:blip r:embed="rId1"/>
          <a:stretch>
            <a:fillRect/>
          </a:stretch>
        </p:blipFill>
        <p:spPr>
          <a:xfrm>
            <a:off x="609600" y="1377950"/>
            <a:ext cx="457200" cy="434975"/>
          </a:xfrm>
          <a:prstGeom prst="rect">
            <a:avLst/>
          </a:prstGeom>
          <a:noFill/>
          <a:ln w="9525">
            <a:noFill/>
          </a:ln>
        </p:spPr>
      </p:pic>
      <p:pic>
        <p:nvPicPr>
          <p:cNvPr id="113674" name="Picture 1034" descr="Pebble">
            <a:hlinkClick r:id="" action="ppaction://noaction"/>
          </p:cNvPr>
          <p:cNvPicPr>
            <a:picLocks noChangeAspect="1"/>
          </p:cNvPicPr>
          <p:nvPr/>
        </p:nvPicPr>
        <p:blipFill>
          <a:blip r:embed="rId1"/>
          <a:stretch>
            <a:fillRect/>
          </a:stretch>
        </p:blipFill>
        <p:spPr>
          <a:xfrm>
            <a:off x="650875" y="2994025"/>
            <a:ext cx="457200" cy="434975"/>
          </a:xfrm>
          <a:prstGeom prst="rect">
            <a:avLst/>
          </a:prstGeom>
          <a:noFill/>
          <a:ln w="9525">
            <a:noFill/>
          </a:ln>
        </p:spPr>
      </p:pic>
      <p:sp>
        <p:nvSpPr>
          <p:cNvPr id="113676" name="Text Box 1036"/>
          <p:cNvSpPr txBox="1"/>
          <p:nvPr/>
        </p:nvSpPr>
        <p:spPr>
          <a:xfrm>
            <a:off x="425450" y="425450"/>
            <a:ext cx="8470900" cy="641350"/>
          </a:xfrm>
          <a:prstGeom prst="rect">
            <a:avLst/>
          </a:prstGeom>
          <a:noFill/>
          <a:ln w="9525">
            <a:noFill/>
          </a:ln>
        </p:spPr>
        <p:txBody>
          <a:bodyPr wrap="none">
            <a:spAutoFit/>
          </a:bodyPr>
          <a:p>
            <a:pPr eaLnBrk="1" hangingPunct="1"/>
            <a:r>
              <a:rPr lang="zh-CN" altLang="en-US" sz="3600" dirty="0">
                <a:solidFill>
                  <a:srgbClr val="008784"/>
                </a:solidFill>
                <a:latin typeface="Times New Roman" panose="02020603050405020304" pitchFamily="18" charset="0"/>
                <a:ea typeface="隶书" panose="02010509060101010101" pitchFamily="49" charset="-122"/>
              </a:rPr>
              <a:t>不同的具体实现方法导致不同的算法描述</a:t>
            </a:r>
            <a:endParaRPr lang="zh-CN" altLang="en-US" sz="3600" dirty="0">
              <a:latin typeface="Times New Roman" panose="02020603050405020304" pitchFamily="18" charset="0"/>
              <a:ea typeface="隶书" panose="02010509060101010101" pitchFamily="49" charset="-122"/>
            </a:endParaRPr>
          </a:p>
        </p:txBody>
      </p:sp>
      <p:sp>
        <p:nvSpPr>
          <p:cNvPr id="113678" name="Text Box 1038">
            <a:hlinkClick r:id="" action="ppaction://noaction"/>
          </p:cNvPr>
          <p:cNvSpPr txBox="1"/>
          <p:nvPr/>
        </p:nvSpPr>
        <p:spPr>
          <a:xfrm>
            <a:off x="1066800" y="3081338"/>
            <a:ext cx="6858000" cy="762000"/>
          </a:xfrm>
          <a:prstGeom prst="rect">
            <a:avLst/>
          </a:prstGeom>
          <a:noFill/>
          <a:ln w="9525">
            <a:noFill/>
          </a:ln>
        </p:spPr>
        <p:txBody>
          <a:bodyPr>
            <a:spAutoFit/>
          </a:bodyPr>
          <a:p>
            <a:pPr eaLnBrk="1" hangingPunct="1"/>
            <a:r>
              <a:rPr lang="zh-CN" altLang="en-US" sz="4400" dirty="0">
                <a:solidFill>
                  <a:srgbClr val="FF00FF"/>
                </a:solidFill>
                <a:latin typeface="Times New Roman" panose="02020603050405020304" pitchFamily="18" charset="0"/>
                <a:ea typeface="楷体_GB2312" pitchFamily="49" charset="-122"/>
              </a:rPr>
              <a:t>希尔排序</a:t>
            </a:r>
            <a:r>
              <a:rPr lang="zh-CN" altLang="en-US" sz="3200" dirty="0">
                <a:solidFill>
                  <a:srgbClr val="990000"/>
                </a:solidFill>
                <a:latin typeface="Times New Roman" panose="02020603050405020304" pitchFamily="18" charset="0"/>
                <a:ea typeface="楷体_GB2312" pitchFamily="49" charset="-122"/>
              </a:rPr>
              <a:t>（基于逐趟缩小增量）</a:t>
            </a:r>
            <a:endParaRPr lang="zh-CN" altLang="en-US" sz="4400" dirty="0">
              <a:solidFill>
                <a:srgbClr val="FF00FF"/>
              </a:solidFill>
              <a:latin typeface="Times New Roman" panose="02020603050405020304" pitchFamily="18" charset="0"/>
              <a:ea typeface="楷体_GB2312" pitchFamily="49"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3676"/>
                                        </p:tgtEl>
                                        <p:attrNameLst>
                                          <p:attrName>style.visibility</p:attrName>
                                        </p:attrNameLst>
                                      </p:cBhvr>
                                      <p:to>
                                        <p:strVal val="visible"/>
                                      </p:to>
                                    </p:set>
                                    <p:animEffect transition="in" filter="wipe(left)">
                                      <p:cBhvr>
                                        <p:cTn id="7" dur="500"/>
                                        <p:tgtEl>
                                          <p:spTgt spid="1136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3666"/>
                                        </p:tgtEl>
                                        <p:attrNameLst>
                                          <p:attrName>style.visibility</p:attrName>
                                        </p:attrNameLst>
                                      </p:cBhvr>
                                      <p:to>
                                        <p:strVal val="visible"/>
                                      </p:to>
                                    </p:set>
                                    <p:animEffect transition="in" filter="dissolve">
                                      <p:cBhvr>
                                        <p:cTn id="12" dur="500"/>
                                        <p:tgtEl>
                                          <p:spTgt spid="113666"/>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11367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3678"/>
                                        </p:tgtEl>
                                        <p:attrNameLst>
                                          <p:attrName>style.visibility</p:attrName>
                                        </p:attrNameLst>
                                      </p:cBhvr>
                                      <p:to>
                                        <p:strVal val="visible"/>
                                      </p:to>
                                    </p:set>
                                    <p:animEffect transition="in" filter="dissolve">
                                      <p:cBhvr>
                                        <p:cTn id="20" dur="500"/>
                                        <p:tgtEl>
                                          <p:spTgt spid="113678"/>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1136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P spid="113676" grpId="0"/>
      <p:bldP spid="113678"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172" name="Rectangle 4" descr="60%"/>
          <p:cNvSpPr/>
          <p:nvPr/>
        </p:nvSpPr>
        <p:spPr>
          <a:xfrm>
            <a:off x="533400" y="1676400"/>
            <a:ext cx="3352800" cy="838200"/>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p>
            <a:pPr eaLnBrk="1" hangingPunct="1"/>
            <a:r>
              <a:rPr lang="zh-CN" altLang="en-US" sz="3200" dirty="0">
                <a:latin typeface="Times New Roman" panose="02020603050405020304" pitchFamily="18" charset="0"/>
              </a:rPr>
              <a:t>有序序列</a:t>
            </a:r>
            <a:r>
              <a:rPr lang="en-US" altLang="zh-CN" sz="3200" dirty="0">
                <a:latin typeface="Times New Roman" panose="02020603050405020304" pitchFamily="18" charset="0"/>
              </a:rPr>
              <a:t>R[1..i-1]</a:t>
            </a:r>
            <a:endParaRPr lang="en-US" altLang="zh-CN" sz="3000" dirty="0">
              <a:latin typeface="Times New Roman" panose="02020603050405020304" pitchFamily="18" charset="0"/>
            </a:endParaRPr>
          </a:p>
        </p:txBody>
      </p:sp>
      <p:sp>
        <p:nvSpPr>
          <p:cNvPr id="7173" name="Rectangle 5"/>
          <p:cNvSpPr/>
          <p:nvPr/>
        </p:nvSpPr>
        <p:spPr>
          <a:xfrm>
            <a:off x="3886200" y="2819400"/>
            <a:ext cx="762000" cy="838200"/>
          </a:xfrm>
          <a:prstGeom prst="rect">
            <a:avLst/>
          </a:prstGeom>
          <a:gradFill rotWithShape="0">
            <a:gsLst>
              <a:gs pos="0">
                <a:srgbClr val="66FFFF"/>
              </a:gs>
              <a:gs pos="100000">
                <a:srgbClr val="60F0F0"/>
              </a:gs>
            </a:gsLst>
            <a:lin ang="5400000" scaled="1"/>
            <a:tileRect/>
          </a:gradFill>
          <a:ln w="9525" cap="flat" cmpd="sng">
            <a:solidFill>
              <a:schemeClr val="tx1"/>
            </a:solidFill>
            <a:prstDash val="solid"/>
            <a:miter/>
            <a:headEnd type="none" w="med" len="med"/>
            <a:tailEnd type="none" w="med" len="med"/>
          </a:ln>
        </p:spPr>
        <p:txBody>
          <a:bodyPr wrap="none" anchor="ctr" anchorCtr="0"/>
          <a:p>
            <a:pPr eaLnBrk="1" hangingPunct="1"/>
            <a:r>
              <a:rPr lang="en-US" altLang="zh-CN" sz="3200" dirty="0">
                <a:latin typeface="Times New Roman" panose="02020603050405020304" pitchFamily="18" charset="0"/>
              </a:rPr>
              <a:t>R[i]</a:t>
            </a:r>
            <a:endParaRPr lang="en-US" altLang="zh-CN" sz="3000" dirty="0">
              <a:latin typeface="Times New Roman" panose="02020603050405020304" pitchFamily="18" charset="0"/>
            </a:endParaRPr>
          </a:p>
        </p:txBody>
      </p:sp>
      <p:sp>
        <p:nvSpPr>
          <p:cNvPr id="7174" name="Rectangle 6" descr="棚架"/>
          <p:cNvSpPr/>
          <p:nvPr/>
        </p:nvSpPr>
        <p:spPr>
          <a:xfrm>
            <a:off x="3886200" y="1676400"/>
            <a:ext cx="4724400" cy="8382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p>
            <a:pPr eaLnBrk="1" hangingPunct="1"/>
            <a:r>
              <a:rPr lang="zh-CN" altLang="en-US" sz="3200" dirty="0">
                <a:latin typeface="Times New Roman" panose="02020603050405020304" pitchFamily="18" charset="0"/>
              </a:rPr>
              <a:t>无序序列 </a:t>
            </a:r>
            <a:r>
              <a:rPr lang="en-US" altLang="zh-CN" sz="3200" dirty="0">
                <a:latin typeface="Times New Roman" panose="02020603050405020304" pitchFamily="18" charset="0"/>
              </a:rPr>
              <a:t>R[i..n]</a:t>
            </a:r>
            <a:endParaRPr lang="en-US" altLang="zh-CN" sz="3200" dirty="0">
              <a:latin typeface="Times New Roman" panose="02020603050405020304" pitchFamily="18" charset="0"/>
            </a:endParaRPr>
          </a:p>
        </p:txBody>
      </p:sp>
      <p:sp>
        <p:nvSpPr>
          <p:cNvPr id="26629" name="Text Box 14"/>
          <p:cNvSpPr txBox="1"/>
          <p:nvPr/>
        </p:nvSpPr>
        <p:spPr>
          <a:xfrm>
            <a:off x="441325" y="441325"/>
            <a:ext cx="7296150" cy="701675"/>
          </a:xfrm>
          <a:prstGeom prst="rect">
            <a:avLst/>
          </a:prstGeom>
          <a:noFill/>
          <a:ln w="9525">
            <a:noFill/>
          </a:ln>
        </p:spPr>
        <p:txBody>
          <a:bodyPr wrap="none">
            <a:spAutoFit/>
          </a:bodyPr>
          <a:p>
            <a:pPr eaLnBrk="1" hangingPunct="1"/>
            <a:r>
              <a:rPr lang="zh-CN" altLang="en-US" sz="4000" dirty="0">
                <a:solidFill>
                  <a:srgbClr val="0000FF"/>
                </a:solidFill>
                <a:latin typeface="Times New Roman" panose="02020603050405020304" pitchFamily="18" charset="0"/>
                <a:ea typeface="楷体_GB2312" pitchFamily="49" charset="-122"/>
              </a:rPr>
              <a:t>一趟直接插入排序的基本思想：</a:t>
            </a:r>
            <a:endParaRPr lang="zh-CN" altLang="en-US" sz="4000" dirty="0">
              <a:solidFill>
                <a:srgbClr val="0000FF"/>
              </a:solidFill>
              <a:latin typeface="Times New Roman" panose="02020603050405020304" pitchFamily="18" charset="0"/>
              <a:ea typeface="楷体_GB2312" pitchFamily="49" charset="-122"/>
            </a:endParaRPr>
          </a:p>
        </p:txBody>
      </p:sp>
      <p:sp>
        <p:nvSpPr>
          <p:cNvPr id="7183" name="Rectangle 15" descr="60%"/>
          <p:cNvSpPr/>
          <p:nvPr/>
        </p:nvSpPr>
        <p:spPr>
          <a:xfrm>
            <a:off x="533400" y="5029200"/>
            <a:ext cx="4114800" cy="838200"/>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p>
            <a:pPr eaLnBrk="1" hangingPunct="1"/>
            <a:r>
              <a:rPr lang="zh-CN" altLang="en-US" sz="3200" dirty="0">
                <a:latin typeface="Times New Roman" panose="02020603050405020304" pitchFamily="18" charset="0"/>
              </a:rPr>
              <a:t>有序序列</a:t>
            </a:r>
            <a:r>
              <a:rPr lang="en-US" altLang="zh-CN" sz="3200" dirty="0">
                <a:latin typeface="Times New Roman" panose="02020603050405020304" pitchFamily="18" charset="0"/>
              </a:rPr>
              <a:t>R[1..i]</a:t>
            </a:r>
            <a:endParaRPr lang="en-US" altLang="zh-CN" sz="3000" dirty="0">
              <a:latin typeface="Times New Roman" panose="02020603050405020304" pitchFamily="18" charset="0"/>
            </a:endParaRPr>
          </a:p>
        </p:txBody>
      </p:sp>
      <p:sp>
        <p:nvSpPr>
          <p:cNvPr id="7184" name="Rectangle 16" descr="棚架"/>
          <p:cNvSpPr/>
          <p:nvPr/>
        </p:nvSpPr>
        <p:spPr>
          <a:xfrm>
            <a:off x="4648200" y="5029200"/>
            <a:ext cx="3962400" cy="8382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p>
            <a:pPr eaLnBrk="1" hangingPunct="1"/>
            <a:r>
              <a:rPr lang="zh-CN" altLang="en-US" sz="3200" dirty="0">
                <a:latin typeface="Times New Roman" panose="02020603050405020304" pitchFamily="18" charset="0"/>
              </a:rPr>
              <a:t>无序序列 </a:t>
            </a:r>
            <a:r>
              <a:rPr lang="en-US" altLang="zh-CN" sz="3200" dirty="0">
                <a:latin typeface="Times New Roman" panose="02020603050405020304" pitchFamily="18" charset="0"/>
              </a:rPr>
              <a:t>R[i+1..n]</a:t>
            </a:r>
            <a:endParaRPr lang="en-US" altLang="zh-CN" sz="3200" dirty="0">
              <a:latin typeface="Times New Roman" panose="02020603050405020304" pitchFamily="18" charset="0"/>
            </a:endParaRPr>
          </a:p>
        </p:txBody>
      </p:sp>
      <p:cxnSp>
        <p:nvCxnSpPr>
          <p:cNvPr id="26632" name="AutoShape 21"/>
          <p:cNvCxnSpPr>
            <a:stCxn id="7173" idx="1"/>
            <a:endCxn id="7172" idx="2"/>
          </p:cNvCxnSpPr>
          <p:nvPr/>
        </p:nvCxnSpPr>
        <p:spPr>
          <a:xfrm rot="10800000">
            <a:off x="2209800" y="2514600"/>
            <a:ext cx="1676400" cy="723900"/>
          </a:xfrm>
          <a:prstGeom prst="bentConnector2">
            <a:avLst/>
          </a:prstGeom>
          <a:ln w="57150" cap="flat" cmpd="sng">
            <a:solidFill>
              <a:schemeClr val="tx1"/>
            </a:solidFill>
            <a:prstDash val="solid"/>
            <a:miter/>
            <a:headEnd type="none" w="med" len="med"/>
            <a:tailEnd type="triangle" w="med" len="med"/>
          </a:ln>
        </p:spPr>
      </p:cxnSp>
      <p:sp>
        <p:nvSpPr>
          <p:cNvPr id="7190" name="AutoShape 22"/>
          <p:cNvSpPr/>
          <p:nvPr/>
        </p:nvSpPr>
        <p:spPr>
          <a:xfrm>
            <a:off x="2971800" y="3505200"/>
            <a:ext cx="838200" cy="1371600"/>
          </a:xfrm>
          <a:prstGeom prst="downArrow">
            <a:avLst>
              <a:gd name="adj1" fmla="val 50000"/>
              <a:gd name="adj2" fmla="val 40871"/>
            </a:avLst>
          </a:prstGeom>
          <a:solidFill>
            <a:schemeClr val="hlink"/>
          </a:solidFill>
          <a:ln w="9525" cap="flat" cmpd="sng">
            <a:solidFill>
              <a:schemeClr val="tx1"/>
            </a:solidFill>
            <a:prstDash val="solid"/>
            <a:miter/>
            <a:headEnd type="none" w="med" len="med"/>
            <a:tailEnd type="none" w="med" len="med"/>
          </a:ln>
        </p:spPr>
        <p:txBody>
          <a:bodyPr vert="eaVert" wrap="none" anchor="ctr" anchorCtr="0"/>
          <a:p>
            <a:pPr eaLnBrk="1" hangingPunct="1"/>
            <a:endParaRPr lang="zh-CN" altLang="en-US" dirty="0">
              <a:latin typeface="Times New Roman" panose="02020603050405020304" pitchFamily="18" charset="0"/>
            </a:endParaRPr>
          </a:p>
        </p:txBody>
      </p:sp>
      <p:sp>
        <p:nvSpPr>
          <p:cNvPr id="7191" name="Line 23"/>
          <p:cNvSpPr/>
          <p:nvPr/>
        </p:nvSpPr>
        <p:spPr>
          <a:xfrm>
            <a:off x="4648200" y="1676400"/>
            <a:ext cx="0" cy="838200"/>
          </a:xfrm>
          <a:prstGeom prst="line">
            <a:avLst/>
          </a:prstGeom>
          <a:ln w="9525" cap="flat" cmpd="sng">
            <a:solidFill>
              <a:schemeClr val="tx1"/>
            </a:solidFill>
            <a:prstDash val="dash"/>
            <a:headEnd type="none" w="med" len="med"/>
            <a:tailEnd type="none" w="med" len="med"/>
          </a:ln>
        </p:spPr>
      </p:sp>
      <p:sp>
        <p:nvSpPr>
          <p:cNvPr id="7192" name="Line 24"/>
          <p:cNvSpPr/>
          <p:nvPr/>
        </p:nvSpPr>
        <p:spPr>
          <a:xfrm>
            <a:off x="4648200" y="3657600"/>
            <a:ext cx="0" cy="1371600"/>
          </a:xfrm>
          <a:prstGeom prst="line">
            <a:avLst/>
          </a:prstGeom>
          <a:ln w="9525" cap="rnd" cmpd="sng">
            <a:solidFill>
              <a:schemeClr val="tx1"/>
            </a:solidFill>
            <a:prstDash val="sysDot"/>
            <a:headEnd type="none" w="med" len="med"/>
            <a:tailEnd type="none" w="med" len="med"/>
          </a:ln>
        </p:spPr>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wipe(left)">
                                      <p:cBhvr>
                                        <p:cTn id="7" dur="500"/>
                                        <p:tgtEl>
                                          <p:spTgt spid="717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174"/>
                                        </p:tgtEl>
                                        <p:attrNameLst>
                                          <p:attrName>style.visibility</p:attrName>
                                        </p:attrNameLst>
                                      </p:cBhvr>
                                      <p:to>
                                        <p:strVal val="visible"/>
                                      </p:to>
                                    </p:set>
                                    <p:animEffect transition="in" filter="wipe(left)">
                                      <p:cBhvr>
                                        <p:cTn id="11" dur="500"/>
                                        <p:tgtEl>
                                          <p:spTgt spid="7174"/>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 fill="hold" nodeType="clickEffect">
                                  <p:stCondLst>
                                    <p:cond delay="0"/>
                                  </p:stCondLst>
                                  <p:childTnLst>
                                    <p:set>
                                      <p:cBhvr>
                                        <p:cTn id="15" dur="1" fill="hold">
                                          <p:stCondLst>
                                            <p:cond delay="0"/>
                                          </p:stCondLst>
                                        </p:cTn>
                                        <p:tgtEl>
                                          <p:spTgt spid="7191"/>
                                        </p:tgtEl>
                                        <p:attrNameLst>
                                          <p:attrName>style.visibility</p:attrName>
                                        </p:attrNameLst>
                                      </p:cBhvr>
                                      <p:to>
                                        <p:strVal val="visible"/>
                                      </p:to>
                                    </p:set>
                                    <p:anim calcmode="lin" valueType="num">
                                      <p:cBhvr>
                                        <p:cTn id="16" dur="500" fill="hold"/>
                                        <p:tgtEl>
                                          <p:spTgt spid="7191"/>
                                        </p:tgtEl>
                                        <p:attrNameLst>
                                          <p:attrName>ppt_x</p:attrName>
                                        </p:attrNameLst>
                                      </p:cBhvr>
                                      <p:tavLst>
                                        <p:tav tm="0">
                                          <p:val>
                                            <p:strVal val="#ppt_x"/>
                                          </p:val>
                                        </p:tav>
                                        <p:tav tm="100000">
                                          <p:val>
                                            <p:strVal val="#ppt_x"/>
                                          </p:val>
                                        </p:tav>
                                      </p:tavLst>
                                    </p:anim>
                                    <p:anim calcmode="lin" valueType="num">
                                      <p:cBhvr>
                                        <p:cTn id="17" dur="500" fill="hold"/>
                                        <p:tgtEl>
                                          <p:spTgt spid="7191"/>
                                        </p:tgtEl>
                                        <p:attrNameLst>
                                          <p:attrName>ppt_y</p:attrName>
                                        </p:attrNameLst>
                                      </p:cBhvr>
                                      <p:tavLst>
                                        <p:tav tm="0">
                                          <p:val>
                                            <p:strVal val="#ppt_y-#ppt_h/2"/>
                                          </p:val>
                                        </p:tav>
                                        <p:tav tm="100000">
                                          <p:val>
                                            <p:strVal val="#ppt_y"/>
                                          </p:val>
                                        </p:tav>
                                      </p:tavLst>
                                    </p:anim>
                                    <p:anim calcmode="lin" valueType="num">
                                      <p:cBhvr>
                                        <p:cTn id="18" dur="500" fill="hold"/>
                                        <p:tgtEl>
                                          <p:spTgt spid="7191"/>
                                        </p:tgtEl>
                                        <p:attrNameLst>
                                          <p:attrName>ppt_w</p:attrName>
                                        </p:attrNameLst>
                                      </p:cBhvr>
                                      <p:tavLst>
                                        <p:tav tm="0">
                                          <p:val>
                                            <p:strVal val="#ppt_w"/>
                                          </p:val>
                                        </p:tav>
                                        <p:tav tm="100000">
                                          <p:val>
                                            <p:strVal val="#ppt_w"/>
                                          </p:val>
                                        </p:tav>
                                      </p:tavLst>
                                    </p:anim>
                                    <p:anim calcmode="lin" valueType="num">
                                      <p:cBhvr>
                                        <p:cTn id="19" dur="500" fill="hold"/>
                                        <p:tgtEl>
                                          <p:spTgt spid="7191"/>
                                        </p:tgtEl>
                                        <p:attrNameLst>
                                          <p:attrName>ppt_h</p:attrName>
                                        </p:attrNameLst>
                                      </p:cBhvr>
                                      <p:tavLst>
                                        <p:tav tm="0">
                                          <p:val>
                                            <p:fltVal val="0.000000"/>
                                          </p:val>
                                        </p:tav>
                                        <p:tav tm="100000">
                                          <p:val>
                                            <p:strVal val="#ppt_h"/>
                                          </p:val>
                                        </p:tav>
                                      </p:tavLst>
                                    </p:anim>
                                  </p:childTnLst>
                                </p:cTn>
                              </p:par>
                            </p:childTnLst>
                          </p:cTn>
                        </p:par>
                        <p:par>
                          <p:cTn id="20" fill="hold">
                            <p:stCondLst>
                              <p:cond delay="500"/>
                            </p:stCondLst>
                            <p:childTnLst>
                              <p:par>
                                <p:cTn id="21" presetID="12" presetClass="entr" presetSubtype="1" fill="hold" grpId="0" nodeType="afterEffect">
                                  <p:stCondLst>
                                    <p:cond delay="0"/>
                                  </p:stCondLst>
                                  <p:childTnLst>
                                    <p:set>
                                      <p:cBhvr>
                                        <p:cTn id="22" dur="1" fill="hold">
                                          <p:stCondLst>
                                            <p:cond delay="0"/>
                                          </p:stCondLst>
                                        </p:cTn>
                                        <p:tgtEl>
                                          <p:spTgt spid="7173"/>
                                        </p:tgtEl>
                                        <p:attrNameLst>
                                          <p:attrName>style.visibility</p:attrName>
                                        </p:attrNameLst>
                                      </p:cBhvr>
                                      <p:to>
                                        <p:strVal val="visible"/>
                                      </p:to>
                                    </p:set>
                                    <p:animEffect transition="in" filter="slide(fromTop)">
                                      <p:cBhvr>
                                        <p:cTn id="23" dur="500"/>
                                        <p:tgtEl>
                                          <p:spTgt spid="717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6632"/>
                                        </p:tgtEl>
                                        <p:attrNameLst>
                                          <p:attrName>style.visibility</p:attrName>
                                        </p:attrNameLst>
                                      </p:cBhvr>
                                      <p:to>
                                        <p:strVal val="visible"/>
                                      </p:to>
                                    </p:set>
                                    <p:animEffect transition="in" filter="wipe(right)">
                                      <p:cBhvr>
                                        <p:cTn id="28" dur="500"/>
                                        <p:tgtEl>
                                          <p:spTgt spid="26632"/>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7190"/>
                                        </p:tgtEl>
                                        <p:attrNameLst>
                                          <p:attrName>style.visibility</p:attrName>
                                        </p:attrNameLst>
                                      </p:cBhvr>
                                      <p:to>
                                        <p:strVal val="visible"/>
                                      </p:to>
                                    </p:set>
                                    <p:anim calcmode="lin" valueType="num">
                                      <p:cBhvr>
                                        <p:cTn id="33" dur="500" fill="hold"/>
                                        <p:tgtEl>
                                          <p:spTgt spid="7190"/>
                                        </p:tgtEl>
                                        <p:attrNameLst>
                                          <p:attrName>ppt_x</p:attrName>
                                        </p:attrNameLst>
                                      </p:cBhvr>
                                      <p:tavLst>
                                        <p:tav tm="0">
                                          <p:val>
                                            <p:strVal val="#ppt_x"/>
                                          </p:val>
                                        </p:tav>
                                        <p:tav tm="100000">
                                          <p:val>
                                            <p:strVal val="#ppt_x"/>
                                          </p:val>
                                        </p:tav>
                                      </p:tavLst>
                                    </p:anim>
                                    <p:anim calcmode="lin" valueType="num">
                                      <p:cBhvr>
                                        <p:cTn id="34" dur="500" fill="hold"/>
                                        <p:tgtEl>
                                          <p:spTgt spid="7190"/>
                                        </p:tgtEl>
                                        <p:attrNameLst>
                                          <p:attrName>ppt_y</p:attrName>
                                        </p:attrNameLst>
                                      </p:cBhvr>
                                      <p:tavLst>
                                        <p:tav tm="0">
                                          <p:val>
                                            <p:strVal val="#ppt_y-#ppt_h/2"/>
                                          </p:val>
                                        </p:tav>
                                        <p:tav tm="100000">
                                          <p:val>
                                            <p:strVal val="#ppt_y"/>
                                          </p:val>
                                        </p:tav>
                                      </p:tavLst>
                                    </p:anim>
                                    <p:anim calcmode="lin" valueType="num">
                                      <p:cBhvr>
                                        <p:cTn id="35" dur="500" fill="hold"/>
                                        <p:tgtEl>
                                          <p:spTgt spid="7190"/>
                                        </p:tgtEl>
                                        <p:attrNameLst>
                                          <p:attrName>ppt_w</p:attrName>
                                        </p:attrNameLst>
                                      </p:cBhvr>
                                      <p:tavLst>
                                        <p:tav tm="0">
                                          <p:val>
                                            <p:strVal val="#ppt_w"/>
                                          </p:val>
                                        </p:tav>
                                        <p:tav tm="100000">
                                          <p:val>
                                            <p:strVal val="#ppt_w"/>
                                          </p:val>
                                        </p:tav>
                                      </p:tavLst>
                                    </p:anim>
                                    <p:anim calcmode="lin" valueType="num">
                                      <p:cBhvr>
                                        <p:cTn id="36" dur="500" fill="hold"/>
                                        <p:tgtEl>
                                          <p:spTgt spid="7190"/>
                                        </p:tgtEl>
                                        <p:attrNameLst>
                                          <p:attrName>ppt_h</p:attrName>
                                        </p:attrNameLst>
                                      </p:cBhvr>
                                      <p:tavLst>
                                        <p:tav tm="0">
                                          <p:val>
                                            <p:fltVal val="0.000000"/>
                                          </p:val>
                                        </p:tav>
                                        <p:tav tm="100000">
                                          <p:val>
                                            <p:strVal val="#ppt_h"/>
                                          </p:val>
                                        </p:tav>
                                      </p:tavLst>
                                    </p:anim>
                                  </p:childTnLst>
                                </p:cTn>
                              </p:par>
                            </p:childTnLst>
                          </p:cTn>
                        </p:par>
                        <p:par>
                          <p:cTn id="37" fill="hold">
                            <p:stCondLst>
                              <p:cond delay="500"/>
                            </p:stCondLst>
                            <p:childTnLst>
                              <p:par>
                                <p:cTn id="38" presetID="17" presetClass="entr" presetSubtype="1" fill="hold" nodeType="afterEffect">
                                  <p:stCondLst>
                                    <p:cond delay="0"/>
                                  </p:stCondLst>
                                  <p:childTnLst>
                                    <p:set>
                                      <p:cBhvr>
                                        <p:cTn id="39" dur="1" fill="hold">
                                          <p:stCondLst>
                                            <p:cond delay="0"/>
                                          </p:stCondLst>
                                        </p:cTn>
                                        <p:tgtEl>
                                          <p:spTgt spid="7192"/>
                                        </p:tgtEl>
                                        <p:attrNameLst>
                                          <p:attrName>style.visibility</p:attrName>
                                        </p:attrNameLst>
                                      </p:cBhvr>
                                      <p:to>
                                        <p:strVal val="visible"/>
                                      </p:to>
                                    </p:set>
                                    <p:anim calcmode="lin" valueType="num">
                                      <p:cBhvr>
                                        <p:cTn id="40" dur="500" fill="hold"/>
                                        <p:tgtEl>
                                          <p:spTgt spid="7192"/>
                                        </p:tgtEl>
                                        <p:attrNameLst>
                                          <p:attrName>ppt_x</p:attrName>
                                        </p:attrNameLst>
                                      </p:cBhvr>
                                      <p:tavLst>
                                        <p:tav tm="0">
                                          <p:val>
                                            <p:strVal val="#ppt_x"/>
                                          </p:val>
                                        </p:tav>
                                        <p:tav tm="100000">
                                          <p:val>
                                            <p:strVal val="#ppt_x"/>
                                          </p:val>
                                        </p:tav>
                                      </p:tavLst>
                                    </p:anim>
                                    <p:anim calcmode="lin" valueType="num">
                                      <p:cBhvr>
                                        <p:cTn id="41" dur="500" fill="hold"/>
                                        <p:tgtEl>
                                          <p:spTgt spid="7192"/>
                                        </p:tgtEl>
                                        <p:attrNameLst>
                                          <p:attrName>ppt_y</p:attrName>
                                        </p:attrNameLst>
                                      </p:cBhvr>
                                      <p:tavLst>
                                        <p:tav tm="0">
                                          <p:val>
                                            <p:strVal val="#ppt_y-#ppt_h/2"/>
                                          </p:val>
                                        </p:tav>
                                        <p:tav tm="100000">
                                          <p:val>
                                            <p:strVal val="#ppt_y"/>
                                          </p:val>
                                        </p:tav>
                                      </p:tavLst>
                                    </p:anim>
                                    <p:anim calcmode="lin" valueType="num">
                                      <p:cBhvr>
                                        <p:cTn id="42" dur="500" fill="hold"/>
                                        <p:tgtEl>
                                          <p:spTgt spid="7192"/>
                                        </p:tgtEl>
                                        <p:attrNameLst>
                                          <p:attrName>ppt_w</p:attrName>
                                        </p:attrNameLst>
                                      </p:cBhvr>
                                      <p:tavLst>
                                        <p:tav tm="0">
                                          <p:val>
                                            <p:strVal val="#ppt_w"/>
                                          </p:val>
                                        </p:tav>
                                        <p:tav tm="100000">
                                          <p:val>
                                            <p:strVal val="#ppt_w"/>
                                          </p:val>
                                        </p:tav>
                                      </p:tavLst>
                                    </p:anim>
                                    <p:anim calcmode="lin" valueType="num">
                                      <p:cBhvr>
                                        <p:cTn id="43" dur="500" fill="hold"/>
                                        <p:tgtEl>
                                          <p:spTgt spid="7192"/>
                                        </p:tgtEl>
                                        <p:attrNameLst>
                                          <p:attrName>ppt_h</p:attrName>
                                        </p:attrNameLst>
                                      </p:cBhvr>
                                      <p:tavLst>
                                        <p:tav tm="0">
                                          <p:val>
                                            <p:fltVal val="0.00000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183"/>
                                        </p:tgtEl>
                                        <p:attrNameLst>
                                          <p:attrName>style.visibility</p:attrName>
                                        </p:attrNameLst>
                                      </p:cBhvr>
                                      <p:to>
                                        <p:strVal val="visible"/>
                                      </p:to>
                                    </p:set>
                                    <p:animEffect transition="in" filter="wipe(left)">
                                      <p:cBhvr>
                                        <p:cTn id="48" dur="500"/>
                                        <p:tgtEl>
                                          <p:spTgt spid="7183"/>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7184"/>
                                        </p:tgtEl>
                                        <p:attrNameLst>
                                          <p:attrName>style.visibility</p:attrName>
                                        </p:attrNameLst>
                                      </p:cBhvr>
                                      <p:to>
                                        <p:strVal val="visible"/>
                                      </p:to>
                                    </p:set>
                                    <p:animEffect transition="in" filter="wipe(left)">
                                      <p:cBhvr>
                                        <p:cTn id="52" dur="500"/>
                                        <p:tgtEl>
                                          <p:spTgt spid="7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ldLvl="0" animBg="1"/>
      <p:bldP spid="7173" grpId="0" bldLvl="0" animBg="1"/>
      <p:bldP spid="7174" grpId="0" bldLvl="0" animBg="1"/>
      <p:bldP spid="7183" grpId="0" bldLvl="0" animBg="1"/>
      <p:bldP spid="7184" grpId="0" bldLvl="0" animBg="1"/>
      <p:bldP spid="719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10.2.1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直接插入排序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8064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设初始记录序列</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R(49),R(38),R(65),R(97),R(76),R(13)</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假设已按关键字递增次序排好前</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个记录</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R(38),R(49),R(65),R(97)</a:t>
            </a: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那么对</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R(76),</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将其插入到该序列中</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即</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65&lt;76&lt;97,</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完成第</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5</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个记录的排序</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R(38),R(49),R(65), R(76), R(97)</a:t>
            </a: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3730" name="Text Box 3074"/>
          <p:cNvSpPr txBox="1"/>
          <p:nvPr/>
        </p:nvSpPr>
        <p:spPr>
          <a:xfrm>
            <a:off x="379413" y="304800"/>
            <a:ext cx="8383587" cy="823913"/>
          </a:xfrm>
          <a:prstGeom prst="rect">
            <a:avLst/>
          </a:prstGeom>
          <a:noFill/>
          <a:ln w="9525">
            <a:noFill/>
          </a:ln>
        </p:spPr>
        <p:txBody>
          <a:bodyPr wrap="none">
            <a:spAutoFit/>
          </a:bodyPr>
          <a:p>
            <a:pPr eaLnBrk="1" hangingPunct="1">
              <a:lnSpc>
                <a:spcPct val="120000"/>
              </a:lnSpc>
            </a:pPr>
            <a:r>
              <a:rPr lang="zh-CN" altLang="en-US" sz="4000" dirty="0">
                <a:solidFill>
                  <a:schemeClr val="tx1"/>
                </a:solidFill>
                <a:latin typeface="Times New Roman" panose="02020603050405020304" pitchFamily="18" charset="0"/>
                <a:ea typeface="楷体_GB2312" pitchFamily="49" charset="-122"/>
              </a:rPr>
              <a:t>实现“一趟插入排序”可分三步进行：</a:t>
            </a:r>
            <a:endParaRPr lang="zh-CN" altLang="en-US" sz="4000" dirty="0">
              <a:solidFill>
                <a:schemeClr val="tx1"/>
              </a:solidFill>
              <a:latin typeface="Times New Roman" panose="02020603050405020304" pitchFamily="18" charset="0"/>
              <a:ea typeface="楷体_GB2312" pitchFamily="49" charset="-122"/>
            </a:endParaRPr>
          </a:p>
        </p:txBody>
      </p:sp>
      <p:sp>
        <p:nvSpPr>
          <p:cNvPr id="73737" name="Text Box 3081"/>
          <p:cNvSpPr txBox="1"/>
          <p:nvPr/>
        </p:nvSpPr>
        <p:spPr>
          <a:xfrm>
            <a:off x="609600" y="5318125"/>
            <a:ext cx="8534400" cy="701675"/>
          </a:xfrm>
          <a:prstGeom prst="rect">
            <a:avLst/>
          </a:prstGeom>
          <a:noFill/>
          <a:ln w="9525">
            <a:noFill/>
          </a:ln>
        </p:spPr>
        <p:txBody>
          <a:bodyPr>
            <a:spAutoFit/>
          </a:bodyPr>
          <a:p>
            <a:pPr eaLnBrk="1" hangingPunct="1"/>
            <a:r>
              <a:rPr lang="en-US" altLang="zh-CN" sz="4000" dirty="0">
                <a:solidFill>
                  <a:schemeClr val="tx1"/>
                </a:solidFill>
                <a:latin typeface="Times New Roman" panose="02020603050405020304" pitchFamily="18" charset="0"/>
                <a:ea typeface="楷体_GB2312" pitchFamily="49" charset="-122"/>
              </a:rPr>
              <a:t>3</a:t>
            </a:r>
            <a:r>
              <a:rPr lang="zh-CN" altLang="en-US" sz="4000" dirty="0">
                <a:solidFill>
                  <a:schemeClr val="tx1"/>
                </a:solidFill>
                <a:latin typeface="Times New Roman" panose="02020603050405020304" pitchFamily="18" charset="0"/>
                <a:ea typeface="楷体_GB2312" pitchFamily="49" charset="-122"/>
              </a:rPr>
              <a:t>．</a:t>
            </a:r>
            <a:r>
              <a:rPr lang="zh-CN" altLang="en-US" sz="3600" dirty="0">
                <a:solidFill>
                  <a:schemeClr val="tx1"/>
                </a:solidFill>
                <a:latin typeface="Times New Roman" panose="02020603050405020304" pitchFamily="18" charset="0"/>
                <a:ea typeface="楷体_GB2312" pitchFamily="49" charset="-122"/>
              </a:rPr>
              <a:t>将</a:t>
            </a:r>
            <a:r>
              <a:rPr lang="en-US" altLang="zh-CN" sz="3600" dirty="0">
                <a:solidFill>
                  <a:schemeClr val="tx1"/>
                </a:solidFill>
                <a:latin typeface="Times New Roman" panose="02020603050405020304" pitchFamily="18" charset="0"/>
                <a:ea typeface="楷体_GB2312" pitchFamily="49" charset="-122"/>
              </a:rPr>
              <a:t>R[i] </a:t>
            </a:r>
            <a:r>
              <a:rPr lang="zh-CN" altLang="en-US" sz="4000" dirty="0">
                <a:solidFill>
                  <a:schemeClr val="tx1"/>
                </a:solidFill>
                <a:latin typeface="Times New Roman" panose="02020603050405020304" pitchFamily="18" charset="0"/>
                <a:ea typeface="楷体_GB2312" pitchFamily="49" charset="-122"/>
              </a:rPr>
              <a:t>插入</a:t>
            </a:r>
            <a:r>
              <a:rPr lang="en-US" altLang="zh-CN" sz="3600" dirty="0">
                <a:solidFill>
                  <a:schemeClr val="tx1"/>
                </a:solidFill>
                <a:latin typeface="Times New Roman" panose="02020603050405020304" pitchFamily="18" charset="0"/>
                <a:ea typeface="楷体_GB2312" pitchFamily="49" charset="-122"/>
              </a:rPr>
              <a:t>(</a:t>
            </a:r>
            <a:r>
              <a:rPr lang="zh-CN" altLang="en-US" sz="3600" dirty="0">
                <a:solidFill>
                  <a:schemeClr val="tx1"/>
                </a:solidFill>
                <a:latin typeface="Times New Roman" panose="02020603050405020304" pitchFamily="18" charset="0"/>
                <a:ea typeface="楷体_GB2312" pitchFamily="49" charset="-122"/>
              </a:rPr>
              <a:t>复制</a:t>
            </a:r>
            <a:r>
              <a:rPr lang="en-US" altLang="zh-CN" sz="3600" dirty="0">
                <a:solidFill>
                  <a:schemeClr val="tx1"/>
                </a:solidFill>
                <a:latin typeface="Times New Roman" panose="02020603050405020304" pitchFamily="18" charset="0"/>
                <a:ea typeface="楷体_GB2312" pitchFamily="49" charset="-122"/>
              </a:rPr>
              <a:t>)</a:t>
            </a:r>
            <a:r>
              <a:rPr lang="zh-CN" altLang="en-US" sz="3600" dirty="0">
                <a:solidFill>
                  <a:schemeClr val="tx1"/>
                </a:solidFill>
                <a:latin typeface="Times New Roman" panose="02020603050405020304" pitchFamily="18" charset="0"/>
                <a:ea typeface="楷体_GB2312" pitchFamily="49" charset="-122"/>
              </a:rPr>
              <a:t>到</a:t>
            </a:r>
            <a:r>
              <a:rPr lang="en-US" altLang="zh-CN" sz="3600" dirty="0">
                <a:solidFill>
                  <a:schemeClr val="tx1"/>
                </a:solidFill>
                <a:latin typeface="Times New Roman" panose="02020603050405020304" pitchFamily="18" charset="0"/>
                <a:ea typeface="楷体_GB2312" pitchFamily="49" charset="-122"/>
              </a:rPr>
              <a:t>R[j+1]</a:t>
            </a:r>
            <a:r>
              <a:rPr lang="zh-CN" altLang="en-US" sz="3600" dirty="0">
                <a:solidFill>
                  <a:schemeClr val="tx1"/>
                </a:solidFill>
                <a:latin typeface="Times New Roman" panose="02020603050405020304" pitchFamily="18" charset="0"/>
                <a:ea typeface="楷体_GB2312" pitchFamily="49" charset="-122"/>
              </a:rPr>
              <a:t>的位置上。</a:t>
            </a:r>
            <a:endParaRPr lang="zh-CN" altLang="en-US" sz="3600" dirty="0">
              <a:solidFill>
                <a:schemeClr val="tx1"/>
              </a:solidFill>
              <a:latin typeface="Times New Roman" panose="02020603050405020304" pitchFamily="18" charset="0"/>
              <a:ea typeface="楷体_GB2312" pitchFamily="49" charset="-122"/>
            </a:endParaRPr>
          </a:p>
        </p:txBody>
      </p:sp>
      <p:sp>
        <p:nvSpPr>
          <p:cNvPr id="73738" name="Rectangle 3082"/>
          <p:cNvSpPr/>
          <p:nvPr/>
        </p:nvSpPr>
        <p:spPr>
          <a:xfrm>
            <a:off x="609600" y="3276600"/>
            <a:ext cx="8534400" cy="1598613"/>
          </a:xfrm>
          <a:prstGeom prst="rect">
            <a:avLst/>
          </a:prstGeom>
          <a:noFill/>
          <a:ln w="9525">
            <a:noFill/>
          </a:ln>
        </p:spPr>
        <p:txBody>
          <a:bodyPr>
            <a:spAutoFit/>
          </a:bodyPr>
          <a:p>
            <a:pPr eaLnBrk="1" hangingPunct="1">
              <a:lnSpc>
                <a:spcPct val="130000"/>
              </a:lnSpc>
            </a:pPr>
            <a:r>
              <a:rPr lang="en-US" altLang="zh-CN" sz="4000" dirty="0">
                <a:solidFill>
                  <a:schemeClr val="tx1"/>
                </a:solidFill>
                <a:latin typeface="Times New Roman" panose="02020603050405020304" pitchFamily="18" charset="0"/>
                <a:ea typeface="楷体_GB2312" pitchFamily="49" charset="-122"/>
              </a:rPr>
              <a:t>2</a:t>
            </a:r>
            <a:r>
              <a:rPr lang="zh-CN" altLang="en-US" sz="4000" dirty="0">
                <a:solidFill>
                  <a:schemeClr val="tx1"/>
                </a:solidFill>
                <a:latin typeface="Times New Roman" panose="02020603050405020304" pitchFamily="18" charset="0"/>
                <a:ea typeface="楷体_GB2312" pitchFamily="49" charset="-122"/>
              </a:rPr>
              <a:t>．</a:t>
            </a:r>
            <a:r>
              <a:rPr lang="zh-CN" altLang="en-US" sz="3600" dirty="0">
                <a:solidFill>
                  <a:schemeClr val="tx1"/>
                </a:solidFill>
                <a:latin typeface="Times New Roman" panose="02020603050405020304" pitchFamily="18" charset="0"/>
                <a:ea typeface="楷体_GB2312" pitchFamily="49" charset="-122"/>
              </a:rPr>
              <a:t>将</a:t>
            </a:r>
            <a:r>
              <a:rPr lang="en-US" altLang="zh-CN" sz="3600" dirty="0">
                <a:solidFill>
                  <a:schemeClr val="tx1"/>
                </a:solidFill>
                <a:latin typeface="Times New Roman" panose="02020603050405020304" pitchFamily="18" charset="0"/>
                <a:ea typeface="楷体_GB2312" pitchFamily="49" charset="-122"/>
              </a:rPr>
              <a:t>R[j+1..i-1]</a:t>
            </a:r>
            <a:r>
              <a:rPr lang="zh-CN" altLang="en-US" sz="3600" dirty="0">
                <a:solidFill>
                  <a:schemeClr val="tx1"/>
                </a:solidFill>
                <a:latin typeface="Times New Roman" panose="02020603050405020304" pitchFamily="18" charset="0"/>
                <a:ea typeface="楷体_GB2312" pitchFamily="49" charset="-122"/>
              </a:rPr>
              <a:t>中的所有</a:t>
            </a:r>
            <a:r>
              <a:rPr lang="zh-CN" altLang="en-US" sz="4000" dirty="0">
                <a:solidFill>
                  <a:schemeClr val="tx1"/>
                </a:solidFill>
                <a:latin typeface="Times New Roman" panose="02020603050405020304" pitchFamily="18" charset="0"/>
                <a:ea typeface="楷体_GB2312" pitchFamily="49" charset="-122"/>
              </a:rPr>
              <a:t>记录</a:t>
            </a:r>
            <a:r>
              <a:rPr lang="zh-CN" altLang="en-US" sz="3600" dirty="0">
                <a:solidFill>
                  <a:schemeClr val="tx1"/>
                </a:solidFill>
                <a:latin typeface="Times New Roman" panose="02020603050405020304" pitchFamily="18" charset="0"/>
                <a:ea typeface="楷体_GB2312" pitchFamily="49" charset="-122"/>
              </a:rPr>
              <a:t>均</a:t>
            </a:r>
            <a:r>
              <a:rPr lang="zh-CN" altLang="en-US" sz="4000" dirty="0">
                <a:solidFill>
                  <a:schemeClr val="tx1"/>
                </a:solidFill>
                <a:latin typeface="Times New Roman" panose="02020603050405020304" pitchFamily="18" charset="0"/>
                <a:ea typeface="楷体_GB2312" pitchFamily="49" charset="-122"/>
              </a:rPr>
              <a:t>后移</a:t>
            </a:r>
            <a:endParaRPr lang="zh-CN" altLang="en-US" sz="3600" dirty="0">
              <a:solidFill>
                <a:schemeClr val="tx1"/>
              </a:solidFill>
              <a:latin typeface="Times New Roman" panose="02020603050405020304" pitchFamily="18" charset="0"/>
              <a:ea typeface="楷体_GB2312" pitchFamily="49" charset="-122"/>
            </a:endParaRPr>
          </a:p>
          <a:p>
            <a:pPr eaLnBrk="1" hangingPunct="1">
              <a:lnSpc>
                <a:spcPct val="130000"/>
              </a:lnSpc>
            </a:pPr>
            <a:r>
              <a:rPr lang="zh-CN" altLang="en-US" sz="3600" dirty="0">
                <a:solidFill>
                  <a:schemeClr val="tx1"/>
                </a:solidFill>
                <a:latin typeface="Times New Roman" panose="02020603050405020304" pitchFamily="18" charset="0"/>
                <a:ea typeface="楷体_GB2312" pitchFamily="49" charset="-122"/>
              </a:rPr>
              <a:t>     一个位置；</a:t>
            </a:r>
            <a:endParaRPr lang="zh-CN" altLang="en-US" sz="3600" dirty="0">
              <a:solidFill>
                <a:schemeClr val="tx1"/>
              </a:solidFill>
              <a:latin typeface="Times New Roman" panose="02020603050405020304" pitchFamily="18" charset="0"/>
              <a:ea typeface="楷体_GB2312" pitchFamily="49" charset="-122"/>
            </a:endParaRPr>
          </a:p>
        </p:txBody>
      </p:sp>
      <p:sp>
        <p:nvSpPr>
          <p:cNvPr id="73739" name="Rectangle 3083"/>
          <p:cNvSpPr/>
          <p:nvPr/>
        </p:nvSpPr>
        <p:spPr>
          <a:xfrm>
            <a:off x="552450" y="1398588"/>
            <a:ext cx="8280400" cy="1598612"/>
          </a:xfrm>
          <a:prstGeom prst="rect">
            <a:avLst/>
          </a:prstGeom>
          <a:noFill/>
          <a:ln w="9525">
            <a:noFill/>
          </a:ln>
        </p:spPr>
        <p:txBody>
          <a:bodyPr wrap="none">
            <a:spAutoFit/>
          </a:bodyPr>
          <a:p>
            <a:pPr eaLnBrk="1" hangingPunct="1">
              <a:lnSpc>
                <a:spcPct val="130000"/>
              </a:lnSpc>
            </a:pPr>
            <a:r>
              <a:rPr lang="en-US" altLang="zh-CN" sz="4000" dirty="0">
                <a:solidFill>
                  <a:schemeClr val="tx1"/>
                </a:solidFill>
                <a:latin typeface="Times New Roman" panose="02020603050405020304" pitchFamily="18" charset="0"/>
                <a:ea typeface="楷体_GB2312" pitchFamily="49" charset="-122"/>
              </a:rPr>
              <a:t>1</a:t>
            </a:r>
            <a:r>
              <a:rPr lang="zh-CN" altLang="en-US" sz="4000" dirty="0">
                <a:solidFill>
                  <a:schemeClr val="tx1"/>
                </a:solidFill>
                <a:latin typeface="Times New Roman" panose="02020603050405020304" pitchFamily="18" charset="0"/>
                <a:ea typeface="楷体_GB2312" pitchFamily="49" charset="-122"/>
              </a:rPr>
              <a:t>．</a:t>
            </a:r>
            <a:r>
              <a:rPr lang="zh-CN" altLang="en-US" sz="3600" dirty="0">
                <a:solidFill>
                  <a:schemeClr val="tx1"/>
                </a:solidFill>
                <a:latin typeface="Times New Roman" panose="02020603050405020304" pitchFamily="18" charset="0"/>
                <a:ea typeface="楷体_GB2312" pitchFamily="49" charset="-122"/>
              </a:rPr>
              <a:t>在</a:t>
            </a:r>
            <a:r>
              <a:rPr lang="en-US" altLang="zh-CN" sz="3600" dirty="0">
                <a:solidFill>
                  <a:schemeClr val="tx1"/>
                </a:solidFill>
                <a:latin typeface="Times New Roman" panose="02020603050405020304" pitchFamily="18" charset="0"/>
                <a:ea typeface="楷体_GB2312" pitchFamily="49" charset="-122"/>
              </a:rPr>
              <a:t>R[1..i-1]</a:t>
            </a:r>
            <a:r>
              <a:rPr lang="zh-CN" altLang="en-US" sz="3600" dirty="0">
                <a:solidFill>
                  <a:schemeClr val="tx1"/>
                </a:solidFill>
                <a:latin typeface="Times New Roman" panose="02020603050405020304" pitchFamily="18" charset="0"/>
                <a:ea typeface="楷体_GB2312" pitchFamily="49" charset="-122"/>
              </a:rPr>
              <a:t>中</a:t>
            </a:r>
            <a:r>
              <a:rPr lang="zh-CN" altLang="en-US" sz="4000" dirty="0">
                <a:solidFill>
                  <a:schemeClr val="tx1"/>
                </a:solidFill>
                <a:latin typeface="Times New Roman" panose="02020603050405020304" pitchFamily="18" charset="0"/>
                <a:ea typeface="楷体_GB2312" pitchFamily="49" charset="-122"/>
              </a:rPr>
              <a:t>查找</a:t>
            </a:r>
            <a:r>
              <a:rPr lang="en-US" altLang="zh-CN" sz="3600" dirty="0">
                <a:solidFill>
                  <a:schemeClr val="tx1"/>
                </a:solidFill>
                <a:latin typeface="Times New Roman" panose="02020603050405020304" pitchFamily="18" charset="0"/>
                <a:ea typeface="楷体_GB2312" pitchFamily="49" charset="-122"/>
              </a:rPr>
              <a:t>R[i]</a:t>
            </a:r>
            <a:r>
              <a:rPr lang="zh-CN" altLang="en-US" sz="3600" dirty="0">
                <a:solidFill>
                  <a:schemeClr val="tx1"/>
                </a:solidFill>
                <a:latin typeface="Times New Roman" panose="02020603050405020304" pitchFamily="18" charset="0"/>
                <a:ea typeface="楷体_GB2312" pitchFamily="49" charset="-122"/>
              </a:rPr>
              <a:t>的插入位置，</a:t>
            </a:r>
            <a:endParaRPr lang="zh-CN" altLang="en-US" sz="3600" dirty="0">
              <a:solidFill>
                <a:schemeClr val="tx1"/>
              </a:solidFill>
              <a:latin typeface="Times New Roman" panose="02020603050405020304" pitchFamily="18" charset="0"/>
              <a:ea typeface="楷体_GB2312" pitchFamily="49" charset="-122"/>
            </a:endParaRPr>
          </a:p>
          <a:p>
            <a:pPr eaLnBrk="1" hangingPunct="1">
              <a:lnSpc>
                <a:spcPct val="130000"/>
              </a:lnSpc>
            </a:pPr>
            <a:r>
              <a:rPr lang="zh-CN" altLang="en-US" sz="3600" dirty="0">
                <a:solidFill>
                  <a:schemeClr val="tx1"/>
                </a:solidFill>
                <a:latin typeface="Times New Roman" panose="02020603050405020304" pitchFamily="18" charset="0"/>
                <a:ea typeface="楷体_GB2312" pitchFamily="49" charset="-122"/>
              </a:rPr>
              <a:t>    </a:t>
            </a:r>
            <a:r>
              <a:rPr lang="en-US" altLang="zh-CN" sz="3600" dirty="0">
                <a:solidFill>
                  <a:schemeClr val="tx1"/>
                </a:solidFill>
                <a:latin typeface="Times New Roman" panose="02020603050405020304" pitchFamily="18" charset="0"/>
                <a:ea typeface="楷体_GB2312" pitchFamily="49" charset="-122"/>
              </a:rPr>
              <a:t>R[1..j].key  R[i].key &lt; R[j+1..i-1].key</a:t>
            </a:r>
            <a:r>
              <a:rPr lang="zh-CN" altLang="en-US" sz="3600" dirty="0">
                <a:solidFill>
                  <a:schemeClr val="tx1"/>
                </a:solidFill>
                <a:latin typeface="Times New Roman" panose="02020603050405020304" pitchFamily="18" charset="0"/>
                <a:ea typeface="楷体_GB2312" pitchFamily="49" charset="-122"/>
              </a:rPr>
              <a:t>；</a:t>
            </a:r>
            <a:endParaRPr lang="zh-CN" altLang="en-US" sz="3600" dirty="0">
              <a:solidFill>
                <a:schemeClr val="tx1"/>
              </a:solidFill>
              <a:latin typeface="Times New Roman" panose="02020603050405020304" pitchFamily="18" charset="0"/>
              <a:ea typeface="楷体_GB2312" pitchFamily="49"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strips(downRight)">
                                      <p:cBhvr>
                                        <p:cTn id="7" dur="500"/>
                                        <p:tgtEl>
                                          <p:spTgt spid="73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9"/>
                                        </p:tgtEl>
                                        <p:attrNameLst>
                                          <p:attrName>style.visibility</p:attrName>
                                        </p:attrNameLst>
                                      </p:cBhvr>
                                      <p:to>
                                        <p:strVal val="visible"/>
                                      </p:to>
                                    </p:set>
                                    <p:animEffect transition="in" filter="wipe(left)">
                                      <p:cBhvr>
                                        <p:cTn id="12" dur="500"/>
                                        <p:tgtEl>
                                          <p:spTgt spid="737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38"/>
                                        </p:tgtEl>
                                        <p:attrNameLst>
                                          <p:attrName>style.visibility</p:attrName>
                                        </p:attrNameLst>
                                      </p:cBhvr>
                                      <p:to>
                                        <p:strVal val="visible"/>
                                      </p:to>
                                    </p:set>
                                    <p:animEffect transition="in" filter="wipe(left)">
                                      <p:cBhvr>
                                        <p:cTn id="17" dur="500"/>
                                        <p:tgtEl>
                                          <p:spTgt spid="737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37"/>
                                        </p:tgtEl>
                                        <p:attrNameLst>
                                          <p:attrName>style.visibility</p:attrName>
                                        </p:attrNameLst>
                                      </p:cBhvr>
                                      <p:to>
                                        <p:strVal val="visible"/>
                                      </p:to>
                                    </p:set>
                                    <p:animEffect transition="in" filter="wipe(left)">
                                      <p:cBhvr>
                                        <p:cTn id="22" dur="500"/>
                                        <p:tgtEl>
                                          <p:spTgt spid="73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P spid="73737" grpId="0"/>
      <p:bldP spid="73738" grpId="0"/>
      <p:bldP spid="737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52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 插入排序</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95299"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直接插入排序：</a:t>
            </a:r>
            <a:endPar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假设待排序的记录存放在数组</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r[1..n]</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中（ </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r[1..n]</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表示数组元素的范围是从</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r[1]</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到</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r[n] </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r[0]</a:t>
            </a:r>
            <a:r>
              <a:rPr kumimoji="1"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为哨兵</a:t>
            </a:r>
            <a:r>
              <a:rPr kumimoji="1"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1"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避免查找出界</a:t>
            </a:r>
            <a:r>
              <a:rPr kumimoji="1"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1"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初始时，</a:t>
            </a:r>
            <a:r>
              <a:rPr kumimoji="1"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r[1]</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自成一个有序区，无序区为</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r[2..n]</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然后，从</a:t>
            </a:r>
            <a:r>
              <a:rPr kumimoji="1"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起直至</a:t>
            </a:r>
            <a:r>
              <a:rPr kumimoji="1"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，依次将</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a:t>
            </a:r>
            <a:r>
              <a:rPr kumimoji="1"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插入当前的有序区</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r[1..i-1]</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中，最后，生成含</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个记录的有序区。</a:t>
            </a:r>
            <a:endPar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2770" name="20 1"/>
          <p:cNvPicPr>
            <a:picLocks noChangeAspect="1"/>
          </p:cNvPicPr>
          <p:nvPr/>
        </p:nvPicPr>
        <p:blipFill>
          <a:blip r:embed="rId1"/>
          <a:stretch>
            <a:fillRect/>
          </a:stretch>
        </p:blipFill>
        <p:spPr>
          <a:xfrm>
            <a:off x="4763" y="1063625"/>
            <a:ext cx="9139237" cy="473392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ext Box 1026"/>
          <p:cNvSpPr txBox="1"/>
          <p:nvPr/>
        </p:nvSpPr>
        <p:spPr>
          <a:xfrm>
            <a:off x="762000" y="381000"/>
            <a:ext cx="5029200" cy="762000"/>
          </a:xfrm>
          <a:prstGeom prst="rect">
            <a:avLst/>
          </a:prstGeom>
          <a:noFill/>
          <a:ln w="9525">
            <a:noFill/>
          </a:ln>
        </p:spPr>
        <p:txBody>
          <a:bodyPr>
            <a:spAutoFit/>
          </a:bodyPr>
          <a:p>
            <a:pPr eaLnBrk="1" hangingPunct="1"/>
            <a:r>
              <a:rPr lang="zh-CN" altLang="en-US" sz="4400" dirty="0">
                <a:solidFill>
                  <a:srgbClr val="FF00FF"/>
                </a:solidFill>
                <a:latin typeface="Times New Roman" panose="02020603050405020304" pitchFamily="18" charset="0"/>
                <a:ea typeface="楷体_GB2312" pitchFamily="49" charset="-122"/>
              </a:rPr>
              <a:t>一、直接插入排序</a:t>
            </a:r>
            <a:endParaRPr lang="zh-CN" altLang="en-US" sz="4400" dirty="0">
              <a:solidFill>
                <a:srgbClr val="FF00FF"/>
              </a:solidFill>
              <a:latin typeface="Times New Roman" panose="02020603050405020304" pitchFamily="18" charset="0"/>
              <a:ea typeface="楷体_GB2312" pitchFamily="49" charset="-122"/>
            </a:endParaRPr>
          </a:p>
        </p:txBody>
      </p:sp>
      <p:sp>
        <p:nvSpPr>
          <p:cNvPr id="74755" name="Text Box 1027"/>
          <p:cNvSpPr txBox="1"/>
          <p:nvPr/>
        </p:nvSpPr>
        <p:spPr>
          <a:xfrm>
            <a:off x="561975" y="1447800"/>
            <a:ext cx="8201025" cy="2011363"/>
          </a:xfrm>
          <a:prstGeom prst="rect">
            <a:avLst/>
          </a:prstGeom>
          <a:noFill/>
          <a:ln w="9525">
            <a:noFill/>
          </a:ln>
        </p:spPr>
        <p:txBody>
          <a:bodyPr>
            <a:spAutoFit/>
          </a:bodyPr>
          <a:p>
            <a:pPr eaLnBrk="1" hangingPunct="1">
              <a:lnSpc>
                <a:spcPct val="150000"/>
              </a:lnSpc>
            </a:pPr>
            <a:r>
              <a:rPr lang="zh-CN" altLang="en-US" sz="3600" dirty="0">
                <a:latin typeface="Times New Roman" panose="02020603050405020304" pitchFamily="18" charset="0"/>
                <a:ea typeface="楷体_GB2312" pitchFamily="49" charset="-122"/>
              </a:rPr>
              <a:t>　　</a:t>
            </a:r>
            <a:r>
              <a:rPr lang="zh-CN" altLang="en-US" sz="4000" dirty="0">
                <a:latin typeface="Times New Roman" panose="02020603050405020304" pitchFamily="18" charset="0"/>
                <a:ea typeface="楷体_GB2312" pitchFamily="49" charset="-122"/>
              </a:rPr>
              <a:t>利用</a:t>
            </a:r>
            <a:r>
              <a:rPr lang="zh-CN" altLang="en-US" sz="4000" dirty="0">
                <a:solidFill>
                  <a:srgbClr val="9900CC"/>
                </a:solidFill>
                <a:latin typeface="Times New Roman" panose="02020603050405020304" pitchFamily="18" charset="0"/>
                <a:ea typeface="楷体_GB2312" pitchFamily="49" charset="-122"/>
              </a:rPr>
              <a:t> “顺序查找”</a:t>
            </a:r>
            <a:r>
              <a:rPr lang="zh-CN" altLang="en-US" sz="4000" dirty="0">
                <a:latin typeface="Times New Roman" panose="02020603050405020304" pitchFamily="18" charset="0"/>
                <a:ea typeface="楷体_GB2312" pitchFamily="49" charset="-122"/>
              </a:rPr>
              <a:t>实现</a:t>
            </a:r>
            <a:endParaRPr lang="zh-CN" altLang="en-US" sz="4000" dirty="0">
              <a:latin typeface="Times New Roman" panose="02020603050405020304" pitchFamily="18" charset="0"/>
              <a:ea typeface="楷体_GB2312" pitchFamily="49" charset="-122"/>
            </a:endParaRPr>
          </a:p>
          <a:p>
            <a:pPr eaLnBrk="1" hangingPunct="1">
              <a:lnSpc>
                <a:spcPct val="150000"/>
              </a:lnSpc>
            </a:pPr>
            <a:r>
              <a:rPr lang="zh-CN" altLang="en-US" sz="4000" dirty="0">
                <a:latin typeface="Times New Roman" panose="02020603050405020304" pitchFamily="18" charset="0"/>
                <a:ea typeface="楷体_GB2312" pitchFamily="49" charset="-122"/>
              </a:rPr>
              <a:t>“在</a:t>
            </a:r>
            <a:r>
              <a:rPr lang="en-US" altLang="zh-CN" sz="4000" dirty="0">
                <a:latin typeface="Times New Roman" panose="02020603050405020304" pitchFamily="18" charset="0"/>
                <a:ea typeface="楷体_GB2312" pitchFamily="49" charset="-122"/>
              </a:rPr>
              <a:t>R[1..i-1]</a:t>
            </a:r>
            <a:r>
              <a:rPr lang="zh-CN" altLang="en-US" sz="4000" dirty="0">
                <a:latin typeface="Times New Roman" panose="02020603050405020304" pitchFamily="18" charset="0"/>
                <a:ea typeface="楷体_GB2312" pitchFamily="49" charset="-122"/>
              </a:rPr>
              <a:t>中</a:t>
            </a:r>
            <a:r>
              <a:rPr lang="zh-CN" altLang="en-US" sz="4400" dirty="0">
                <a:solidFill>
                  <a:srgbClr val="0000FF"/>
                </a:solidFill>
                <a:latin typeface="Times New Roman" panose="02020603050405020304" pitchFamily="18" charset="0"/>
                <a:ea typeface="楷体_GB2312" pitchFamily="49" charset="-122"/>
              </a:rPr>
              <a:t>查找</a:t>
            </a:r>
            <a:r>
              <a:rPr lang="en-US" altLang="zh-CN" sz="4000" dirty="0">
                <a:latin typeface="Times New Roman" panose="02020603050405020304" pitchFamily="18" charset="0"/>
                <a:ea typeface="楷体_GB2312" pitchFamily="49" charset="-122"/>
              </a:rPr>
              <a:t>R[i]</a:t>
            </a:r>
            <a:r>
              <a:rPr lang="zh-CN" altLang="en-US" sz="4000" dirty="0">
                <a:latin typeface="Times New Roman" panose="02020603050405020304" pitchFamily="18" charset="0"/>
                <a:ea typeface="楷体_GB2312" pitchFamily="49" charset="-122"/>
              </a:rPr>
              <a:t>的插入位置”</a:t>
            </a:r>
            <a:endParaRPr lang="zh-CN" altLang="en-US" sz="4000" dirty="0">
              <a:latin typeface="Times New Roman" panose="02020603050405020304" pitchFamily="18" charset="0"/>
              <a:ea typeface="楷体_GB2312" pitchFamily="49" charset="-122"/>
            </a:endParaRPr>
          </a:p>
        </p:txBody>
      </p:sp>
      <p:sp>
        <p:nvSpPr>
          <p:cNvPr id="74757" name="Text Box 1029"/>
          <p:cNvSpPr txBox="1"/>
          <p:nvPr/>
        </p:nvSpPr>
        <p:spPr>
          <a:xfrm>
            <a:off x="1355725" y="4205288"/>
            <a:ext cx="5099050" cy="823912"/>
          </a:xfrm>
          <a:prstGeom prst="rect">
            <a:avLst/>
          </a:prstGeom>
          <a:noFill/>
          <a:ln w="9525">
            <a:noFill/>
          </a:ln>
        </p:spPr>
        <p:txBody>
          <a:bodyPr wrap="none">
            <a:spAutoFit/>
          </a:bodyPr>
          <a:p>
            <a:pPr eaLnBrk="1" hangingPunct="1"/>
            <a:r>
              <a:rPr lang="zh-CN" altLang="en-US" sz="4800" dirty="0">
                <a:solidFill>
                  <a:srgbClr val="840C26"/>
                </a:solidFill>
                <a:latin typeface="Times New Roman" panose="02020603050405020304" pitchFamily="18" charset="0"/>
                <a:ea typeface="楷体_GB2312" pitchFamily="49" charset="-122"/>
              </a:rPr>
              <a:t>算法的实现要点：</a:t>
            </a:r>
            <a:endParaRPr lang="zh-CN" altLang="en-US" dirty="0">
              <a:latin typeface="Times New Roman" panose="02020603050405020304" pitchFamily="18"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p:cTn id="7" dur="500" fill="hold"/>
                                        <p:tgtEl>
                                          <p:spTgt spid="74754"/>
                                        </p:tgtEl>
                                        <p:attrNameLst>
                                          <p:attrName>ppt_x</p:attrName>
                                        </p:attrNameLst>
                                      </p:cBhvr>
                                      <p:tavLst>
                                        <p:tav tm="0">
                                          <p:val>
                                            <p:strVal val="#ppt_x"/>
                                          </p:val>
                                        </p:tav>
                                        <p:tav tm="100000">
                                          <p:val>
                                            <p:strVal val="#ppt_x"/>
                                          </p:val>
                                        </p:tav>
                                      </p:tavLst>
                                    </p:anim>
                                    <p:anim calcmode="lin" valueType="num">
                                      <p:cBhvr>
                                        <p:cTn id="8" dur="500" fill="hold"/>
                                        <p:tgtEl>
                                          <p:spTgt spid="7475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4755"/>
                                        </p:tgtEl>
                                        <p:attrNameLst>
                                          <p:attrName>style.visibility</p:attrName>
                                        </p:attrNameLst>
                                      </p:cBhvr>
                                      <p:to>
                                        <p:strVal val="visible"/>
                                      </p:to>
                                    </p:set>
                                    <p:animEffect transition="in" filter="wipe(left)">
                                      <p:cBhvr>
                                        <p:cTn id="13" dur="500"/>
                                        <p:tgtEl>
                                          <p:spTgt spid="747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4757"/>
                                        </p:tgtEl>
                                        <p:attrNameLst>
                                          <p:attrName>style.visibility</p:attrName>
                                        </p:attrNameLst>
                                      </p:cBhvr>
                                      <p:to>
                                        <p:strVal val="visible"/>
                                      </p:to>
                                    </p:set>
                                    <p:animEffect transition="in" filter="wipe(left)">
                                      <p:cBhvr>
                                        <p:cTn id="18" dur="500"/>
                                        <p:tgtEl>
                                          <p:spTgt spid="74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P spid="74755" grpId="0"/>
      <p:bldP spid="7475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532" name="Text Box 4">
            <a:hlinkClick r:id="rId1" action="ppaction://hlinksldjump"/>
          </p:cNvPr>
          <p:cNvSpPr txBox="1"/>
          <p:nvPr/>
        </p:nvSpPr>
        <p:spPr>
          <a:xfrm>
            <a:off x="1127125" y="304800"/>
            <a:ext cx="6340475" cy="1466850"/>
          </a:xfrm>
          <a:prstGeom prst="rect">
            <a:avLst/>
          </a:prstGeom>
          <a:noFill/>
          <a:ln w="9525">
            <a:noFill/>
          </a:ln>
        </p:spPr>
        <p:txBody>
          <a:bodyPr>
            <a:spAutoFit/>
          </a:bodyPr>
          <a:p>
            <a:pPr eaLnBrk="1" hangingPunct="1">
              <a:lnSpc>
                <a:spcPct val="125000"/>
              </a:lnSpc>
            </a:pPr>
            <a:r>
              <a:rPr lang="zh-CN" altLang="en-US" sz="3600" dirty="0">
                <a:solidFill>
                  <a:srgbClr val="0000FF"/>
                </a:solidFill>
                <a:latin typeface="Times New Roman" panose="02020603050405020304" pitchFamily="18" charset="0"/>
                <a:ea typeface="楷体_GB2312" pitchFamily="49" charset="-122"/>
              </a:rPr>
              <a:t>从</a:t>
            </a:r>
            <a:r>
              <a:rPr lang="en-US" altLang="zh-CN" sz="3600" dirty="0">
                <a:solidFill>
                  <a:srgbClr val="0000FF"/>
                </a:solidFill>
                <a:latin typeface="Times New Roman" panose="02020603050405020304" pitchFamily="18" charset="0"/>
                <a:ea typeface="楷体_GB2312" pitchFamily="49" charset="-122"/>
              </a:rPr>
              <a:t>R[i-1]</a:t>
            </a:r>
            <a:r>
              <a:rPr lang="zh-CN" altLang="en-US" sz="3600" dirty="0">
                <a:solidFill>
                  <a:srgbClr val="0000FF"/>
                </a:solidFill>
                <a:latin typeface="Times New Roman" panose="02020603050405020304" pitchFamily="18" charset="0"/>
                <a:ea typeface="楷体_GB2312" pitchFamily="49" charset="-122"/>
              </a:rPr>
              <a:t>起向前进行顺序查找，            </a:t>
            </a:r>
            <a:r>
              <a:rPr lang="zh-CN" altLang="en-US" sz="3600" dirty="0">
                <a:solidFill>
                  <a:srgbClr val="FF6600"/>
                </a:solidFill>
                <a:latin typeface="Times New Roman" panose="02020603050405020304" pitchFamily="18" charset="0"/>
                <a:ea typeface="楷体_GB2312" pitchFamily="49" charset="-122"/>
              </a:rPr>
              <a:t>监视哨设置在</a:t>
            </a:r>
            <a:r>
              <a:rPr lang="en-US" altLang="zh-CN" sz="3600" dirty="0">
                <a:solidFill>
                  <a:srgbClr val="FF6600"/>
                </a:solidFill>
                <a:latin typeface="Times New Roman" panose="02020603050405020304" pitchFamily="18" charset="0"/>
                <a:ea typeface="楷体_GB2312" pitchFamily="49" charset="-122"/>
              </a:rPr>
              <a:t>R[0]</a:t>
            </a:r>
            <a:r>
              <a:rPr lang="zh-CN" altLang="en-US" sz="3600" dirty="0">
                <a:solidFill>
                  <a:srgbClr val="FF6600"/>
                </a:solidFill>
                <a:latin typeface="Times New Roman" panose="02020603050405020304" pitchFamily="18" charset="0"/>
                <a:ea typeface="楷体_GB2312" pitchFamily="49" charset="-122"/>
              </a:rPr>
              <a:t>；</a:t>
            </a:r>
            <a:endParaRPr lang="zh-CN" altLang="en-US" sz="3600" dirty="0">
              <a:solidFill>
                <a:srgbClr val="0000FF"/>
              </a:solidFill>
              <a:latin typeface="Times New Roman" panose="02020603050405020304" pitchFamily="18" charset="0"/>
              <a:ea typeface="楷体_GB2312" pitchFamily="49" charset="-122"/>
            </a:endParaRPr>
          </a:p>
        </p:txBody>
      </p:sp>
      <p:pic>
        <p:nvPicPr>
          <p:cNvPr id="22536" name="Picture 8" descr="Green Ball">
            <a:hlinkClick r:id="rId1" action="ppaction://hlinksldjump"/>
          </p:cNvPr>
          <p:cNvPicPr>
            <a:picLocks noChangeAspect="1"/>
          </p:cNvPicPr>
          <p:nvPr/>
        </p:nvPicPr>
        <p:blipFill>
          <a:blip r:embed="rId2"/>
          <a:stretch>
            <a:fillRect/>
          </a:stretch>
        </p:blipFill>
        <p:spPr>
          <a:xfrm>
            <a:off x="762000" y="609600"/>
            <a:ext cx="304800" cy="304800"/>
          </a:xfrm>
          <a:prstGeom prst="rect">
            <a:avLst/>
          </a:prstGeom>
          <a:noFill/>
          <a:ln w="9525">
            <a:noFill/>
          </a:ln>
        </p:spPr>
      </p:pic>
      <p:sp>
        <p:nvSpPr>
          <p:cNvPr id="22540" name="Text Box 12"/>
          <p:cNvSpPr txBox="1"/>
          <p:nvPr/>
        </p:nvSpPr>
        <p:spPr>
          <a:xfrm>
            <a:off x="1120775" y="3482975"/>
            <a:ext cx="6346825" cy="860425"/>
          </a:xfrm>
          <a:prstGeom prst="rect">
            <a:avLst/>
          </a:prstGeom>
          <a:noFill/>
          <a:ln w="9525">
            <a:noFill/>
          </a:ln>
        </p:spPr>
        <p:txBody>
          <a:bodyPr wrap="none">
            <a:spAutoFit/>
          </a:bodyPr>
          <a:p>
            <a:pPr eaLnBrk="1" hangingPunct="1">
              <a:lnSpc>
                <a:spcPct val="140000"/>
              </a:lnSpc>
            </a:pPr>
            <a:r>
              <a:rPr lang="en-US" altLang="zh-CN" sz="3600" dirty="0">
                <a:latin typeface="Times New Roman" panose="02020603050405020304" pitchFamily="18" charset="0"/>
                <a:ea typeface="楷体_GB2312" pitchFamily="49" charset="-122"/>
              </a:rPr>
              <a:t>R[0] = R[i];            // </a:t>
            </a:r>
            <a:r>
              <a:rPr lang="zh-CN" altLang="en-US" sz="3600" dirty="0">
                <a:latin typeface="Times New Roman" panose="02020603050405020304" pitchFamily="18" charset="0"/>
                <a:ea typeface="楷体_GB2312" pitchFamily="49" charset="-122"/>
              </a:rPr>
              <a:t>设置“哨兵”</a:t>
            </a:r>
            <a:endParaRPr lang="zh-CN" altLang="en-US" sz="3600" dirty="0">
              <a:latin typeface="Times New Roman" panose="02020603050405020304" pitchFamily="18" charset="0"/>
              <a:ea typeface="楷体_GB2312" pitchFamily="49" charset="-122"/>
            </a:endParaRPr>
          </a:p>
        </p:txBody>
      </p:sp>
      <p:sp>
        <p:nvSpPr>
          <p:cNvPr id="22541" name="Text Box 13"/>
          <p:cNvSpPr txBox="1"/>
          <p:nvPr/>
        </p:nvSpPr>
        <p:spPr>
          <a:xfrm>
            <a:off x="1133475" y="5845175"/>
            <a:ext cx="7251700" cy="860425"/>
          </a:xfrm>
          <a:prstGeom prst="rect">
            <a:avLst/>
          </a:prstGeom>
          <a:noFill/>
          <a:ln w="9525">
            <a:noFill/>
          </a:ln>
        </p:spPr>
        <p:txBody>
          <a:bodyPr wrap="none">
            <a:spAutoFit/>
          </a:bodyPr>
          <a:p>
            <a:pPr eaLnBrk="1" hangingPunct="1">
              <a:lnSpc>
                <a:spcPct val="140000"/>
              </a:lnSpc>
            </a:pPr>
            <a:r>
              <a:rPr lang="zh-CN" altLang="en-US" sz="3600" dirty="0">
                <a:solidFill>
                  <a:srgbClr val="840C26"/>
                </a:solidFill>
                <a:latin typeface="Times New Roman" panose="02020603050405020304" pitchFamily="18" charset="0"/>
                <a:ea typeface="楷体_GB2312" pitchFamily="49" charset="-122"/>
              </a:rPr>
              <a:t>循环结束表明</a:t>
            </a:r>
            <a:r>
              <a:rPr lang="en-US" altLang="zh-CN" sz="3600" dirty="0">
                <a:solidFill>
                  <a:srgbClr val="840C26"/>
                </a:solidFill>
                <a:latin typeface="Times New Roman" panose="02020603050405020304" pitchFamily="18" charset="0"/>
                <a:ea typeface="楷体_GB2312" pitchFamily="49" charset="-122"/>
              </a:rPr>
              <a:t>R[i]</a:t>
            </a:r>
            <a:r>
              <a:rPr lang="zh-CN" altLang="en-US" sz="3600" dirty="0">
                <a:solidFill>
                  <a:srgbClr val="840C26"/>
                </a:solidFill>
                <a:latin typeface="Times New Roman" panose="02020603050405020304" pitchFamily="18" charset="0"/>
                <a:ea typeface="楷体_GB2312" pitchFamily="49" charset="-122"/>
              </a:rPr>
              <a:t>的插入位置为 </a:t>
            </a:r>
            <a:r>
              <a:rPr lang="en-US" altLang="zh-CN" sz="3600" i="1" dirty="0">
                <a:solidFill>
                  <a:srgbClr val="840C26"/>
                </a:solidFill>
                <a:latin typeface="Times New Roman" panose="02020603050405020304" pitchFamily="18" charset="0"/>
                <a:ea typeface="楷体_GB2312" pitchFamily="49" charset="-122"/>
              </a:rPr>
              <a:t>j +1</a:t>
            </a:r>
            <a:endParaRPr lang="en-US" altLang="zh-CN" dirty="0">
              <a:solidFill>
                <a:srgbClr val="FF99FF"/>
              </a:solidFill>
              <a:latin typeface="Times New Roman" panose="02020603050405020304" pitchFamily="18" charset="0"/>
            </a:endParaRPr>
          </a:p>
        </p:txBody>
      </p:sp>
      <p:sp>
        <p:nvSpPr>
          <p:cNvPr id="22542" name="Rectangle 14" descr="大棋盘"/>
          <p:cNvSpPr/>
          <p:nvPr/>
        </p:nvSpPr>
        <p:spPr>
          <a:xfrm>
            <a:off x="1828800" y="2362200"/>
            <a:ext cx="3124200" cy="304800"/>
          </a:xfrm>
          <a:prstGeom prst="rect">
            <a:avLst/>
          </a:prstGeom>
          <a:blipFill rotWithShape="0">
            <a:blip r:embed="rId3"/>
          </a:blip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2544" name="Rectangle 16"/>
          <p:cNvSpPr/>
          <p:nvPr/>
        </p:nvSpPr>
        <p:spPr>
          <a:xfrm>
            <a:off x="1524000" y="2362200"/>
            <a:ext cx="304800" cy="30480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2545" name="Text Box 17"/>
          <p:cNvSpPr txBox="1"/>
          <p:nvPr/>
        </p:nvSpPr>
        <p:spPr>
          <a:xfrm>
            <a:off x="1295400" y="1752600"/>
            <a:ext cx="838200" cy="519113"/>
          </a:xfrm>
          <a:prstGeom prst="rect">
            <a:avLst/>
          </a:prstGeom>
          <a:noFill/>
          <a:ln w="9525">
            <a:noFill/>
          </a:ln>
        </p:spPr>
        <p:txBody>
          <a:bodyPr>
            <a:spAutoFit/>
          </a:bodyPr>
          <a:p>
            <a:pPr eaLnBrk="1" hangingPunct="1">
              <a:spcBef>
                <a:spcPct val="50000"/>
              </a:spcBef>
            </a:pPr>
            <a:r>
              <a:rPr lang="en-US" altLang="zh-CN" sz="2800" dirty="0">
                <a:latin typeface="Times New Roman" panose="02020603050405020304" pitchFamily="18" charset="0"/>
              </a:rPr>
              <a:t>R[0]</a:t>
            </a:r>
            <a:endParaRPr lang="en-US" altLang="zh-CN" sz="2800" dirty="0">
              <a:latin typeface="Times New Roman" panose="02020603050405020304" pitchFamily="18" charset="0"/>
            </a:endParaRPr>
          </a:p>
        </p:txBody>
      </p:sp>
      <p:sp>
        <p:nvSpPr>
          <p:cNvPr id="22546" name="Line 18"/>
          <p:cNvSpPr/>
          <p:nvPr/>
        </p:nvSpPr>
        <p:spPr>
          <a:xfrm>
            <a:off x="4800600" y="2667000"/>
            <a:ext cx="0" cy="762000"/>
          </a:xfrm>
          <a:prstGeom prst="line">
            <a:avLst/>
          </a:prstGeom>
          <a:ln w="9525" cap="flat" cmpd="sng">
            <a:solidFill>
              <a:schemeClr val="tx1"/>
            </a:solidFill>
            <a:prstDash val="solid"/>
            <a:headEnd type="stealth" w="med" len="lg"/>
            <a:tailEnd type="none" w="med" len="med"/>
          </a:ln>
        </p:spPr>
      </p:sp>
      <p:sp>
        <p:nvSpPr>
          <p:cNvPr id="22547" name="Line 19"/>
          <p:cNvSpPr/>
          <p:nvPr/>
        </p:nvSpPr>
        <p:spPr>
          <a:xfrm>
            <a:off x="3505200" y="2667000"/>
            <a:ext cx="0" cy="762000"/>
          </a:xfrm>
          <a:prstGeom prst="line">
            <a:avLst/>
          </a:prstGeom>
          <a:ln w="9525" cap="flat" cmpd="sng">
            <a:solidFill>
              <a:schemeClr val="tx1"/>
            </a:solidFill>
            <a:prstDash val="solid"/>
            <a:headEnd type="stealth" w="med" len="lg"/>
            <a:tailEnd type="none" w="med" len="med"/>
          </a:ln>
        </p:spPr>
      </p:sp>
      <p:sp>
        <p:nvSpPr>
          <p:cNvPr id="22548" name="Text Box 20"/>
          <p:cNvSpPr txBox="1"/>
          <p:nvPr/>
        </p:nvSpPr>
        <p:spPr>
          <a:xfrm>
            <a:off x="3527425" y="2819400"/>
            <a:ext cx="587375" cy="641350"/>
          </a:xfrm>
          <a:prstGeom prst="rect">
            <a:avLst/>
          </a:prstGeom>
          <a:noFill/>
          <a:ln w="9525">
            <a:noFill/>
          </a:ln>
        </p:spPr>
        <p:txBody>
          <a:bodyPr>
            <a:spAutoFit/>
          </a:bodyPr>
          <a:p>
            <a:pPr eaLnBrk="1" hangingPunct="1">
              <a:spcBef>
                <a:spcPct val="50000"/>
              </a:spcBef>
            </a:pPr>
            <a:r>
              <a:rPr lang="en-US" altLang="zh-CN" sz="3600" dirty="0">
                <a:latin typeface="Times New Roman" panose="02020603050405020304" pitchFamily="18" charset="0"/>
              </a:rPr>
              <a:t>j</a:t>
            </a:r>
            <a:endParaRPr lang="en-US" altLang="zh-CN" dirty="0">
              <a:latin typeface="Times New Roman" panose="02020603050405020304" pitchFamily="18" charset="0"/>
            </a:endParaRPr>
          </a:p>
        </p:txBody>
      </p:sp>
      <p:sp>
        <p:nvSpPr>
          <p:cNvPr id="22549" name="Rectangle 21" descr="60%"/>
          <p:cNvSpPr/>
          <p:nvPr/>
        </p:nvSpPr>
        <p:spPr>
          <a:xfrm>
            <a:off x="3657600" y="2362200"/>
            <a:ext cx="1295400" cy="304800"/>
          </a:xfrm>
          <a:prstGeom prst="rect">
            <a:avLst/>
          </a:prstGeom>
          <a:blipFill rotWithShape="0">
            <a:blip r:embed="rId4"/>
          </a:blip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2550" name="Rectangle 22"/>
          <p:cNvSpPr/>
          <p:nvPr/>
        </p:nvSpPr>
        <p:spPr>
          <a:xfrm>
            <a:off x="4953000" y="2362200"/>
            <a:ext cx="3429000" cy="3048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2551" name="Rectangle 23"/>
          <p:cNvSpPr/>
          <p:nvPr/>
        </p:nvSpPr>
        <p:spPr>
          <a:xfrm>
            <a:off x="4953000" y="2362200"/>
            <a:ext cx="304800" cy="30480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2552" name="Rectangle 24"/>
          <p:cNvSpPr/>
          <p:nvPr/>
        </p:nvSpPr>
        <p:spPr>
          <a:xfrm>
            <a:off x="4724400" y="1828800"/>
            <a:ext cx="757238" cy="519113"/>
          </a:xfrm>
          <a:prstGeom prst="rect">
            <a:avLst/>
          </a:prstGeom>
          <a:noFill/>
          <a:ln w="9525">
            <a:noFill/>
          </a:ln>
        </p:spPr>
        <p:txBody>
          <a:bodyPr wrap="none">
            <a:spAutoFit/>
          </a:bodyPr>
          <a:p>
            <a:pPr eaLnBrk="1" hangingPunct="1"/>
            <a:r>
              <a:rPr lang="en-US" altLang="zh-CN" sz="2800" dirty="0">
                <a:latin typeface="Times New Roman" panose="02020603050405020304" pitchFamily="18" charset="0"/>
              </a:rPr>
              <a:t>R[i]</a:t>
            </a:r>
            <a:endParaRPr lang="en-US" altLang="zh-CN" sz="2800" dirty="0">
              <a:latin typeface="Times New Roman" panose="02020603050405020304" pitchFamily="18" charset="0"/>
            </a:endParaRPr>
          </a:p>
        </p:txBody>
      </p:sp>
      <p:sp>
        <p:nvSpPr>
          <p:cNvPr id="22553" name="Rectangle 25"/>
          <p:cNvSpPr/>
          <p:nvPr/>
        </p:nvSpPr>
        <p:spPr>
          <a:xfrm>
            <a:off x="1117600" y="4343400"/>
            <a:ext cx="6731000" cy="1628775"/>
          </a:xfrm>
          <a:prstGeom prst="rect">
            <a:avLst/>
          </a:prstGeom>
          <a:noFill/>
          <a:ln w="9525">
            <a:noFill/>
          </a:ln>
        </p:spPr>
        <p:txBody>
          <a:bodyPr wrap="none">
            <a:spAutoFit/>
          </a:bodyPr>
          <a:p>
            <a:pPr eaLnBrk="1" hangingPunct="1">
              <a:lnSpc>
                <a:spcPct val="140000"/>
              </a:lnSpc>
            </a:pPr>
            <a:r>
              <a:rPr lang="en-US" altLang="zh-CN" sz="3600" dirty="0">
                <a:latin typeface="Times New Roman" panose="02020603050405020304" pitchFamily="18" charset="0"/>
                <a:ea typeface="楷体_GB2312" pitchFamily="49" charset="-122"/>
              </a:rPr>
              <a:t>for (j=i-1; R[0].key&lt;R[j].key; --j);  </a:t>
            </a:r>
            <a:endParaRPr lang="en-US" altLang="zh-CN" sz="3600" dirty="0">
              <a:latin typeface="Times New Roman" panose="02020603050405020304" pitchFamily="18" charset="0"/>
              <a:ea typeface="楷体_GB2312" pitchFamily="49" charset="-122"/>
            </a:endParaRPr>
          </a:p>
          <a:p>
            <a:pPr eaLnBrk="1" hangingPunct="1">
              <a:lnSpc>
                <a:spcPct val="140000"/>
              </a:lnSpc>
            </a:pPr>
            <a:r>
              <a:rPr lang="en-US" altLang="zh-CN" sz="3600" dirty="0">
                <a:latin typeface="Times New Roman" panose="02020603050405020304" pitchFamily="18" charset="0"/>
                <a:ea typeface="楷体_GB2312" pitchFamily="49" charset="-122"/>
              </a:rPr>
              <a:t>                              // </a:t>
            </a:r>
            <a:r>
              <a:rPr lang="zh-CN" altLang="en-US" sz="3600" dirty="0">
                <a:latin typeface="Times New Roman" panose="02020603050405020304" pitchFamily="18" charset="0"/>
                <a:ea typeface="楷体_GB2312" pitchFamily="49" charset="-122"/>
              </a:rPr>
              <a:t>从后往前找</a:t>
            </a:r>
            <a:endParaRPr lang="zh-CN" altLang="en-US" sz="3600" dirty="0">
              <a:latin typeface="Times New Roman" panose="02020603050405020304" pitchFamily="18" charset="0"/>
              <a:ea typeface="楷体_GB2312" pitchFamily="49" charset="-122"/>
            </a:endParaRPr>
          </a:p>
        </p:txBody>
      </p:sp>
      <p:sp>
        <p:nvSpPr>
          <p:cNvPr id="22554" name="Text Box 26"/>
          <p:cNvSpPr txBox="1"/>
          <p:nvPr/>
        </p:nvSpPr>
        <p:spPr>
          <a:xfrm>
            <a:off x="4876800" y="2971800"/>
            <a:ext cx="968375" cy="519113"/>
          </a:xfrm>
          <a:prstGeom prst="rect">
            <a:avLst/>
          </a:prstGeom>
          <a:noFill/>
          <a:ln w="9525">
            <a:noFill/>
          </a:ln>
        </p:spPr>
        <p:txBody>
          <a:bodyPr>
            <a:spAutoFit/>
          </a:bodyPr>
          <a:p>
            <a:pPr eaLnBrk="1" hangingPunct="1">
              <a:spcBef>
                <a:spcPct val="50000"/>
              </a:spcBef>
            </a:pPr>
            <a:r>
              <a:rPr lang="en-US" altLang="zh-CN" sz="2800" dirty="0">
                <a:latin typeface="Times New Roman" panose="02020603050405020304" pitchFamily="18" charset="0"/>
              </a:rPr>
              <a:t>j=i-1</a:t>
            </a:r>
            <a:endParaRPr lang="en-US" altLang="zh-CN" sz="2800" dirty="0">
              <a:latin typeface="Times New Roman" panose="02020603050405020304" pitchFamily="18" charset="0"/>
            </a:endParaRPr>
          </a:p>
        </p:txBody>
      </p:sp>
      <p:sp>
        <p:nvSpPr>
          <p:cNvPr id="22555" name="AutoShape 27"/>
          <p:cNvSpPr/>
          <p:nvPr/>
        </p:nvSpPr>
        <p:spPr>
          <a:xfrm>
            <a:off x="4267200" y="3048000"/>
            <a:ext cx="1600200" cy="457200"/>
          </a:xfrm>
          <a:prstGeom prst="wedgeRoundRectCallout">
            <a:avLst>
              <a:gd name="adj1" fmla="val -80653"/>
              <a:gd name="adj2" fmla="val -129861"/>
              <a:gd name="adj3" fmla="val 16667"/>
            </a:avLst>
          </a:prstGeom>
          <a:solidFill>
            <a:srgbClr val="FFFF99">
              <a:alpha val="50195"/>
            </a:srgbClr>
          </a:solidFill>
          <a:ln w="12700" cap="flat" cmpd="sng">
            <a:solidFill>
              <a:srgbClr val="800000"/>
            </a:solidFill>
            <a:prstDash val="solid"/>
            <a:miter/>
            <a:headEnd type="none" w="med" len="med"/>
            <a:tailEnd type="none" w="med" len="med"/>
          </a:ln>
        </p:spPr>
        <p:txBody>
          <a:bodyPr wrap="none" anchor="ctr" anchorCtr="0"/>
          <a:p>
            <a:pPr eaLnBrk="1" hangingPunct="1"/>
            <a:r>
              <a:rPr lang="zh-CN" altLang="en-US" sz="2800" dirty="0">
                <a:solidFill>
                  <a:srgbClr val="990000"/>
                </a:solidFill>
                <a:latin typeface="Times New Roman" panose="02020603050405020304" pitchFamily="18" charset="0"/>
                <a:ea typeface="楷体_GB2312" pitchFamily="49" charset="-122"/>
              </a:rPr>
              <a:t>插入位置</a:t>
            </a:r>
            <a:endParaRPr lang="zh-CN" altLang="en-US" sz="2800" dirty="0">
              <a:latin typeface="Times New Roman" panose="02020603050405020304" pitchFamily="18"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2536"/>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2532"/>
                                        </p:tgtEl>
                                        <p:attrNameLst>
                                          <p:attrName>style.visibility</p:attrName>
                                        </p:attrNameLst>
                                      </p:cBhvr>
                                      <p:to>
                                        <p:strVal val="visible"/>
                                      </p:to>
                                    </p:set>
                                    <p:animEffect transition="in" filter="strips(downRight)">
                                      <p:cBhvr>
                                        <p:cTn id="10" dur="500"/>
                                        <p:tgtEl>
                                          <p:spTgt spid="2253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542"/>
                                        </p:tgtEl>
                                        <p:attrNameLst>
                                          <p:attrName>style.visibility</p:attrName>
                                        </p:attrNameLst>
                                      </p:cBhvr>
                                      <p:to>
                                        <p:strVal val="visible"/>
                                      </p:to>
                                    </p:set>
                                    <p:animEffect transition="in" filter="wipe(left)">
                                      <p:cBhvr>
                                        <p:cTn id="15" dur="500"/>
                                        <p:tgtEl>
                                          <p:spTgt spid="2254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2550"/>
                                        </p:tgtEl>
                                        <p:attrNameLst>
                                          <p:attrName>style.visibility</p:attrName>
                                        </p:attrNameLst>
                                      </p:cBhvr>
                                      <p:to>
                                        <p:strVal val="visible"/>
                                      </p:to>
                                    </p:set>
                                    <p:animEffect transition="in" filter="wipe(left)">
                                      <p:cBhvr>
                                        <p:cTn id="19" dur="500"/>
                                        <p:tgtEl>
                                          <p:spTgt spid="22550"/>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childTnLst>
                                    <p:set>
                                      <p:cBhvr>
                                        <p:cTn id="23" dur="1" fill="hold">
                                          <p:stCondLst>
                                            <p:cond delay="0"/>
                                          </p:stCondLst>
                                        </p:cTn>
                                        <p:tgtEl>
                                          <p:spTgt spid="22552"/>
                                        </p:tgtEl>
                                        <p:attrNameLst>
                                          <p:attrName>style.visibility</p:attrName>
                                        </p:attrNameLst>
                                      </p:cBhvr>
                                      <p:to>
                                        <p:strVal val="visible"/>
                                      </p:to>
                                    </p:set>
                                    <p:animEffect transition="in" filter="slide(fromTop)">
                                      <p:cBhvr>
                                        <p:cTn id="24" dur="500"/>
                                        <p:tgtEl>
                                          <p:spTgt spid="22552"/>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22551"/>
                                        </p:tgtEl>
                                        <p:attrNameLst>
                                          <p:attrName>style.visibility</p:attrName>
                                        </p:attrNameLst>
                                      </p:cBhvr>
                                      <p:to>
                                        <p:strVal val="visible"/>
                                      </p:to>
                                    </p:set>
                                    <p:animEffect transition="in" filter="dissolve">
                                      <p:cBhvr>
                                        <p:cTn id="28" dur="500"/>
                                        <p:tgtEl>
                                          <p:spTgt spid="22551"/>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22540"/>
                                        </p:tgtEl>
                                        <p:attrNameLst>
                                          <p:attrName>style.visibility</p:attrName>
                                        </p:attrNameLst>
                                      </p:cBhvr>
                                      <p:to>
                                        <p:strVal val="visible"/>
                                      </p:to>
                                    </p:set>
                                    <p:animEffect transition="in" filter="strips(downRight)">
                                      <p:cBhvr>
                                        <p:cTn id="33" dur="500"/>
                                        <p:tgtEl>
                                          <p:spTgt spid="2254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22545"/>
                                        </p:tgtEl>
                                        <p:attrNameLst>
                                          <p:attrName>style.visibility</p:attrName>
                                        </p:attrNameLst>
                                      </p:cBhvr>
                                      <p:to>
                                        <p:strVal val="visible"/>
                                      </p:to>
                                    </p:set>
                                    <p:animEffect transition="in" filter="slide(fromTop)">
                                      <p:cBhvr>
                                        <p:cTn id="38" dur="500"/>
                                        <p:tgtEl>
                                          <p:spTgt spid="22545"/>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22544"/>
                                        </p:tgtEl>
                                        <p:attrNameLst>
                                          <p:attrName>style.visibility</p:attrName>
                                        </p:attrNameLst>
                                      </p:cBhvr>
                                      <p:to>
                                        <p:strVal val="visible"/>
                                      </p:to>
                                    </p:set>
                                    <p:animEffect transition="in" filter="dissolve">
                                      <p:cBhvr>
                                        <p:cTn id="42" dur="500"/>
                                        <p:tgtEl>
                                          <p:spTgt spid="22544"/>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22553"/>
                                        </p:tgtEl>
                                        <p:attrNameLst>
                                          <p:attrName>style.visibility</p:attrName>
                                        </p:attrNameLst>
                                      </p:cBhvr>
                                      <p:to>
                                        <p:strVal val="visible"/>
                                      </p:to>
                                    </p:set>
                                    <p:animEffect transition="in" filter="strips(downRight)">
                                      <p:cBhvr>
                                        <p:cTn id="47" dur="500"/>
                                        <p:tgtEl>
                                          <p:spTgt spid="22553"/>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4" fill="hold" nodeType="clickEffect">
                                  <p:stCondLst>
                                    <p:cond delay="0"/>
                                  </p:stCondLst>
                                  <p:childTnLst>
                                    <p:set>
                                      <p:cBhvr>
                                        <p:cTn id="51" dur="1" fill="hold">
                                          <p:stCondLst>
                                            <p:cond delay="0"/>
                                          </p:stCondLst>
                                        </p:cTn>
                                        <p:tgtEl>
                                          <p:spTgt spid="22546"/>
                                        </p:tgtEl>
                                        <p:attrNameLst>
                                          <p:attrName>style.visibility</p:attrName>
                                        </p:attrNameLst>
                                      </p:cBhvr>
                                      <p:to>
                                        <p:strVal val="visible"/>
                                      </p:to>
                                    </p:set>
                                    <p:anim calcmode="lin" valueType="num">
                                      <p:cBhvr>
                                        <p:cTn id="52" dur="500" fill="hold"/>
                                        <p:tgtEl>
                                          <p:spTgt spid="22546"/>
                                        </p:tgtEl>
                                        <p:attrNameLst>
                                          <p:attrName>ppt_x</p:attrName>
                                        </p:attrNameLst>
                                      </p:cBhvr>
                                      <p:tavLst>
                                        <p:tav tm="0">
                                          <p:val>
                                            <p:strVal val="#ppt_x"/>
                                          </p:val>
                                        </p:tav>
                                        <p:tav tm="100000">
                                          <p:val>
                                            <p:strVal val="#ppt_x"/>
                                          </p:val>
                                        </p:tav>
                                      </p:tavLst>
                                    </p:anim>
                                    <p:anim calcmode="lin" valueType="num">
                                      <p:cBhvr>
                                        <p:cTn id="53" dur="500" fill="hold"/>
                                        <p:tgtEl>
                                          <p:spTgt spid="22546"/>
                                        </p:tgtEl>
                                        <p:attrNameLst>
                                          <p:attrName>ppt_y</p:attrName>
                                        </p:attrNameLst>
                                      </p:cBhvr>
                                      <p:tavLst>
                                        <p:tav tm="0">
                                          <p:val>
                                            <p:strVal val="#ppt_y+#ppt_h/2"/>
                                          </p:val>
                                        </p:tav>
                                        <p:tav tm="100000">
                                          <p:val>
                                            <p:strVal val="#ppt_y"/>
                                          </p:val>
                                        </p:tav>
                                      </p:tavLst>
                                    </p:anim>
                                    <p:anim calcmode="lin" valueType="num">
                                      <p:cBhvr>
                                        <p:cTn id="54" dur="500" fill="hold"/>
                                        <p:tgtEl>
                                          <p:spTgt spid="22546"/>
                                        </p:tgtEl>
                                        <p:attrNameLst>
                                          <p:attrName>ppt_w</p:attrName>
                                        </p:attrNameLst>
                                      </p:cBhvr>
                                      <p:tavLst>
                                        <p:tav tm="0">
                                          <p:val>
                                            <p:strVal val="#ppt_w"/>
                                          </p:val>
                                        </p:tav>
                                        <p:tav tm="100000">
                                          <p:val>
                                            <p:strVal val="#ppt_w"/>
                                          </p:val>
                                        </p:tav>
                                      </p:tavLst>
                                    </p:anim>
                                    <p:anim calcmode="lin" valueType="num">
                                      <p:cBhvr>
                                        <p:cTn id="55" dur="500" fill="hold"/>
                                        <p:tgtEl>
                                          <p:spTgt spid="22546"/>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22546"/>
                                        </p:tgtEl>
                                        <p:attrNameLst>
                                          <p:attrName>style.visibility</p:attrName>
                                        </p:attrNameLst>
                                      </p:cBhvr>
                                      <p:to>
                                        <p:strVal val="hidden"/>
                                      </p:to>
                                    </p:set>
                                  </p:sub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2554"/>
                                        </p:tgtEl>
                                        <p:attrNameLst>
                                          <p:attrName>style.visibility</p:attrName>
                                        </p:attrNameLst>
                                      </p:cBhvr>
                                      <p:to>
                                        <p:strVal val="visible"/>
                                      </p:to>
                                    </p:set>
                                    <p:animEffect transition="in" filter="wipe(left)">
                                      <p:cBhvr>
                                        <p:cTn id="59" dur="500"/>
                                        <p:tgtEl>
                                          <p:spTgt spid="22554"/>
                                        </p:tgtEl>
                                      </p:cBhvr>
                                    </p:animEffect>
                                  </p:childTnLst>
                                  <p:subTnLst>
                                    <p:set>
                                      <p:cBhvr override="childStyle">
                                        <p:cTn dur="1" fill="hold" display="0" masterRel="nextClick" afterEffect="1"/>
                                        <p:tgtEl>
                                          <p:spTgt spid="22554"/>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17" presetClass="entr" presetSubtype="4" fill="hold" nodeType="clickEffect">
                                  <p:stCondLst>
                                    <p:cond delay="0"/>
                                  </p:stCondLst>
                                  <p:childTnLst>
                                    <p:set>
                                      <p:cBhvr>
                                        <p:cTn id="63" dur="1" fill="hold">
                                          <p:stCondLst>
                                            <p:cond delay="0"/>
                                          </p:stCondLst>
                                        </p:cTn>
                                        <p:tgtEl>
                                          <p:spTgt spid="22547"/>
                                        </p:tgtEl>
                                        <p:attrNameLst>
                                          <p:attrName>style.visibility</p:attrName>
                                        </p:attrNameLst>
                                      </p:cBhvr>
                                      <p:to>
                                        <p:strVal val="visible"/>
                                      </p:to>
                                    </p:set>
                                    <p:anim calcmode="lin" valueType="num">
                                      <p:cBhvr>
                                        <p:cTn id="64" dur="500" fill="hold"/>
                                        <p:tgtEl>
                                          <p:spTgt spid="22547"/>
                                        </p:tgtEl>
                                        <p:attrNameLst>
                                          <p:attrName>ppt_x</p:attrName>
                                        </p:attrNameLst>
                                      </p:cBhvr>
                                      <p:tavLst>
                                        <p:tav tm="0">
                                          <p:val>
                                            <p:strVal val="#ppt_x"/>
                                          </p:val>
                                        </p:tav>
                                        <p:tav tm="100000">
                                          <p:val>
                                            <p:strVal val="#ppt_x"/>
                                          </p:val>
                                        </p:tav>
                                      </p:tavLst>
                                    </p:anim>
                                    <p:anim calcmode="lin" valueType="num">
                                      <p:cBhvr>
                                        <p:cTn id="65" dur="500" fill="hold"/>
                                        <p:tgtEl>
                                          <p:spTgt spid="22547"/>
                                        </p:tgtEl>
                                        <p:attrNameLst>
                                          <p:attrName>ppt_y</p:attrName>
                                        </p:attrNameLst>
                                      </p:cBhvr>
                                      <p:tavLst>
                                        <p:tav tm="0">
                                          <p:val>
                                            <p:strVal val="#ppt_y+#ppt_h/2"/>
                                          </p:val>
                                        </p:tav>
                                        <p:tav tm="100000">
                                          <p:val>
                                            <p:strVal val="#ppt_y"/>
                                          </p:val>
                                        </p:tav>
                                      </p:tavLst>
                                    </p:anim>
                                    <p:anim calcmode="lin" valueType="num">
                                      <p:cBhvr>
                                        <p:cTn id="66" dur="500" fill="hold"/>
                                        <p:tgtEl>
                                          <p:spTgt spid="22547"/>
                                        </p:tgtEl>
                                        <p:attrNameLst>
                                          <p:attrName>ppt_w</p:attrName>
                                        </p:attrNameLst>
                                      </p:cBhvr>
                                      <p:tavLst>
                                        <p:tav tm="0">
                                          <p:val>
                                            <p:strVal val="#ppt_w"/>
                                          </p:val>
                                        </p:tav>
                                        <p:tav tm="100000">
                                          <p:val>
                                            <p:strVal val="#ppt_w"/>
                                          </p:val>
                                        </p:tav>
                                      </p:tavLst>
                                    </p:anim>
                                    <p:anim calcmode="lin" valueType="num">
                                      <p:cBhvr>
                                        <p:cTn id="67" dur="500" fill="hold"/>
                                        <p:tgtEl>
                                          <p:spTgt spid="22547"/>
                                        </p:tgtEl>
                                        <p:attrNameLst>
                                          <p:attrName>ppt_h</p:attrName>
                                        </p:attrNameLst>
                                      </p:cBhvr>
                                      <p:tavLst>
                                        <p:tav tm="0">
                                          <p:val>
                                            <p:fltVal val="0.000000"/>
                                          </p:val>
                                        </p:tav>
                                        <p:tav tm="100000">
                                          <p:val>
                                            <p:strVal val="#ppt_h"/>
                                          </p:val>
                                        </p:tav>
                                      </p:tavLst>
                                    </p:anim>
                                  </p:childTnLst>
                                </p:cTn>
                              </p:par>
                            </p:childTnLst>
                          </p:cTn>
                        </p:par>
                        <p:par>
                          <p:cTn id="68" fill="hold">
                            <p:stCondLst>
                              <p:cond delay="500"/>
                            </p:stCondLst>
                            <p:childTnLst>
                              <p:par>
                                <p:cTn id="69" presetID="9" presetClass="entr" presetSubtype="0" fill="hold" grpId="0" nodeType="afterEffect">
                                  <p:stCondLst>
                                    <p:cond delay="0"/>
                                  </p:stCondLst>
                                  <p:childTnLst>
                                    <p:set>
                                      <p:cBhvr>
                                        <p:cTn id="70" dur="1" fill="hold">
                                          <p:stCondLst>
                                            <p:cond delay="0"/>
                                          </p:stCondLst>
                                        </p:cTn>
                                        <p:tgtEl>
                                          <p:spTgt spid="22548"/>
                                        </p:tgtEl>
                                        <p:attrNameLst>
                                          <p:attrName>style.visibility</p:attrName>
                                        </p:attrNameLst>
                                      </p:cBhvr>
                                      <p:to>
                                        <p:strVal val="visible"/>
                                      </p:to>
                                    </p:set>
                                    <p:animEffect transition="in" filter="dissolve">
                                      <p:cBhvr>
                                        <p:cTn id="71" dur="500"/>
                                        <p:tgtEl>
                                          <p:spTgt spid="22548"/>
                                        </p:tgtEl>
                                      </p:cBhvr>
                                    </p:animEffect>
                                  </p:childTnLst>
                                </p:cTn>
                              </p:par>
                            </p:childTnLst>
                          </p:cTn>
                        </p:par>
                        <p:par>
                          <p:cTn id="72" fill="hold">
                            <p:stCondLst>
                              <p:cond delay="1000"/>
                            </p:stCondLst>
                            <p:childTnLst>
                              <p:par>
                                <p:cTn id="73" presetID="22" presetClass="entr" presetSubtype="2" fill="hold" grpId="0" nodeType="afterEffect">
                                  <p:stCondLst>
                                    <p:cond delay="0"/>
                                  </p:stCondLst>
                                  <p:childTnLst>
                                    <p:set>
                                      <p:cBhvr>
                                        <p:cTn id="74" dur="1" fill="hold">
                                          <p:stCondLst>
                                            <p:cond delay="0"/>
                                          </p:stCondLst>
                                        </p:cTn>
                                        <p:tgtEl>
                                          <p:spTgt spid="22549"/>
                                        </p:tgtEl>
                                        <p:attrNameLst>
                                          <p:attrName>style.visibility</p:attrName>
                                        </p:attrNameLst>
                                      </p:cBhvr>
                                      <p:to>
                                        <p:strVal val="visible"/>
                                      </p:to>
                                    </p:set>
                                    <p:animEffect transition="in" filter="wipe(right)">
                                      <p:cBhvr>
                                        <p:cTn id="75" dur="500"/>
                                        <p:tgtEl>
                                          <p:spTgt spid="22549"/>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22541"/>
                                        </p:tgtEl>
                                        <p:attrNameLst>
                                          <p:attrName>style.visibility</p:attrName>
                                        </p:attrNameLst>
                                      </p:cBhvr>
                                      <p:to>
                                        <p:strVal val="visible"/>
                                      </p:to>
                                    </p:set>
                                    <p:animEffect transition="in" filter="strips(downRight)">
                                      <p:cBhvr>
                                        <p:cTn id="80" dur="500"/>
                                        <p:tgtEl>
                                          <p:spTgt spid="22541"/>
                                        </p:tgtEl>
                                      </p:cBhvr>
                                    </p:animEffect>
                                  </p:childTnLst>
                                </p:cTn>
                              </p:par>
                            </p:childTnLst>
                          </p:cTn>
                        </p:par>
                        <p:par>
                          <p:cTn id="81" fill="hold">
                            <p:stCondLst>
                              <p:cond delay="500"/>
                            </p:stCondLst>
                            <p:childTnLst>
                              <p:par>
                                <p:cTn id="82" presetID="12" presetClass="entr" presetSubtype="2" fill="hold" grpId="0" nodeType="afterEffect">
                                  <p:stCondLst>
                                    <p:cond delay="0"/>
                                  </p:stCondLst>
                                  <p:childTnLst>
                                    <p:set>
                                      <p:cBhvr>
                                        <p:cTn id="83" dur="1" fill="hold">
                                          <p:stCondLst>
                                            <p:cond delay="0"/>
                                          </p:stCondLst>
                                        </p:cTn>
                                        <p:tgtEl>
                                          <p:spTgt spid="22555"/>
                                        </p:tgtEl>
                                        <p:attrNameLst>
                                          <p:attrName>style.visibility</p:attrName>
                                        </p:attrNameLst>
                                      </p:cBhvr>
                                      <p:to>
                                        <p:strVal val="visible"/>
                                      </p:to>
                                    </p:set>
                                    <p:animEffect transition="in" filter="slide(fromRight)">
                                      <p:cBhvr>
                                        <p:cTn id="84" dur="500"/>
                                        <p:tgtEl>
                                          <p:spTgt spid="22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22540" grpId="0"/>
      <p:bldP spid="22541" grpId="0"/>
      <p:bldP spid="22542" grpId="0" bldLvl="0" animBg="1"/>
      <p:bldP spid="22544" grpId="0" bldLvl="0" animBg="1"/>
      <p:bldP spid="22545" grpId="0"/>
      <p:bldP spid="22548" grpId="0"/>
      <p:bldP spid="22549" grpId="0" bldLvl="0" animBg="1"/>
      <p:bldP spid="22550" grpId="0" bldLvl="0" animBg="1"/>
      <p:bldP spid="22551" grpId="0" bldLvl="0" animBg="1"/>
      <p:bldP spid="22552" grpId="0"/>
      <p:bldP spid="22553" grpId="0"/>
      <p:bldP spid="22554" grpId="0"/>
      <p:bldP spid="2255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3556" name="Picture 4" descr="Green Ball">
            <a:hlinkClick r:id="rId1" action="ppaction://hlinksldjump"/>
          </p:cNvPr>
          <p:cNvPicPr>
            <a:picLocks noChangeAspect="1"/>
          </p:cNvPicPr>
          <p:nvPr/>
        </p:nvPicPr>
        <p:blipFill>
          <a:blip r:embed="rId2"/>
          <a:stretch>
            <a:fillRect/>
          </a:stretch>
        </p:blipFill>
        <p:spPr>
          <a:xfrm>
            <a:off x="914400" y="457200"/>
            <a:ext cx="304800" cy="304800"/>
          </a:xfrm>
          <a:prstGeom prst="rect">
            <a:avLst/>
          </a:prstGeom>
          <a:noFill/>
          <a:ln w="9525">
            <a:noFill/>
          </a:ln>
        </p:spPr>
      </p:pic>
      <p:sp>
        <p:nvSpPr>
          <p:cNvPr id="23557" name="Text Box 5"/>
          <p:cNvSpPr txBox="1"/>
          <p:nvPr/>
        </p:nvSpPr>
        <p:spPr>
          <a:xfrm>
            <a:off x="746125" y="152400"/>
            <a:ext cx="7940675" cy="2154238"/>
          </a:xfrm>
          <a:prstGeom prst="rect">
            <a:avLst/>
          </a:prstGeom>
          <a:noFill/>
          <a:ln w="9525">
            <a:noFill/>
          </a:ln>
        </p:spPr>
        <p:txBody>
          <a:bodyPr>
            <a:spAutoFit/>
          </a:bodyPr>
          <a:p>
            <a:pPr eaLnBrk="1" hangingPunct="1">
              <a:lnSpc>
                <a:spcPct val="125000"/>
              </a:lnSpc>
            </a:pPr>
            <a:r>
              <a:rPr lang="en-US" altLang="zh-CN" sz="3600" dirty="0">
                <a:solidFill>
                  <a:srgbClr val="0000FF"/>
                </a:solidFill>
                <a:latin typeface="Times New Roman" panose="02020603050405020304" pitchFamily="18" charset="0"/>
                <a:ea typeface="楷体_GB2312" pitchFamily="49" charset="-122"/>
              </a:rPr>
              <a:t>     </a:t>
            </a:r>
            <a:r>
              <a:rPr lang="zh-CN" altLang="en-US" sz="3600" dirty="0">
                <a:solidFill>
                  <a:srgbClr val="0000FF"/>
                </a:solidFill>
                <a:latin typeface="Times New Roman" panose="02020603050405020304" pitchFamily="18" charset="0"/>
                <a:ea typeface="楷体_GB2312" pitchFamily="49" charset="-122"/>
              </a:rPr>
              <a:t>对于在查找过程中找到的那些关键字不小于</a:t>
            </a:r>
            <a:r>
              <a:rPr lang="en-US" altLang="zh-CN" sz="3600" dirty="0">
                <a:solidFill>
                  <a:srgbClr val="0000FF"/>
                </a:solidFill>
                <a:latin typeface="Times New Roman" panose="02020603050405020304" pitchFamily="18" charset="0"/>
                <a:ea typeface="楷体_GB2312" pitchFamily="49" charset="-122"/>
              </a:rPr>
              <a:t>R[i].key</a:t>
            </a:r>
            <a:r>
              <a:rPr lang="zh-CN" altLang="en-US" sz="3600" dirty="0">
                <a:solidFill>
                  <a:srgbClr val="0000FF"/>
                </a:solidFill>
                <a:latin typeface="Times New Roman" panose="02020603050405020304" pitchFamily="18" charset="0"/>
                <a:ea typeface="楷体_GB2312" pitchFamily="49" charset="-122"/>
              </a:rPr>
              <a:t>的记录，并在查找的同时实现记录向后移动；</a:t>
            </a:r>
            <a:endParaRPr lang="zh-CN" altLang="en-US" sz="4000" dirty="0">
              <a:solidFill>
                <a:srgbClr val="0000FF"/>
              </a:solidFill>
              <a:latin typeface="Times New Roman" panose="02020603050405020304" pitchFamily="18" charset="0"/>
              <a:ea typeface="楷体_GB2312" pitchFamily="49" charset="-122"/>
            </a:endParaRPr>
          </a:p>
        </p:txBody>
      </p:sp>
      <p:sp>
        <p:nvSpPr>
          <p:cNvPr id="23558" name="Text Box 6"/>
          <p:cNvSpPr txBox="1"/>
          <p:nvPr/>
        </p:nvSpPr>
        <p:spPr>
          <a:xfrm>
            <a:off x="1117600" y="2362200"/>
            <a:ext cx="6731000" cy="1409700"/>
          </a:xfrm>
          <a:prstGeom prst="rect">
            <a:avLst/>
          </a:prstGeom>
          <a:noFill/>
          <a:ln w="9525">
            <a:noFill/>
          </a:ln>
        </p:spPr>
        <p:txBody>
          <a:bodyPr wrap="none">
            <a:spAutoFit/>
          </a:bodyPr>
          <a:p>
            <a:pPr eaLnBrk="1" hangingPunct="1">
              <a:lnSpc>
                <a:spcPct val="120000"/>
              </a:lnSpc>
            </a:pPr>
            <a:r>
              <a:rPr lang="en-US" altLang="zh-CN" sz="3600" dirty="0">
                <a:latin typeface="Times New Roman" panose="02020603050405020304" pitchFamily="18" charset="0"/>
                <a:ea typeface="楷体_GB2312" pitchFamily="49" charset="-122"/>
              </a:rPr>
              <a:t>for (j=i-1; R[0].key&lt;R[j].key; --j);  </a:t>
            </a:r>
            <a:endParaRPr lang="en-US" altLang="zh-CN" sz="3600" dirty="0">
              <a:latin typeface="Times New Roman" panose="02020603050405020304" pitchFamily="18" charset="0"/>
              <a:ea typeface="楷体_GB2312" pitchFamily="49" charset="-122"/>
            </a:endParaRPr>
          </a:p>
          <a:p>
            <a:pPr eaLnBrk="1" hangingPunct="1">
              <a:lnSpc>
                <a:spcPct val="120000"/>
              </a:lnSpc>
            </a:pPr>
            <a:r>
              <a:rPr lang="en-US" altLang="zh-CN" sz="3600" dirty="0">
                <a:latin typeface="Times New Roman" panose="02020603050405020304" pitchFamily="18" charset="0"/>
                <a:ea typeface="楷体_GB2312" pitchFamily="49" charset="-122"/>
              </a:rPr>
              <a:t>        </a:t>
            </a:r>
            <a:r>
              <a:rPr lang="en-US" altLang="zh-CN" sz="3600" dirty="0">
                <a:solidFill>
                  <a:srgbClr val="840C26"/>
                </a:solidFill>
                <a:latin typeface="Times New Roman" panose="02020603050405020304" pitchFamily="18" charset="0"/>
                <a:ea typeface="楷体_GB2312" pitchFamily="49" charset="-122"/>
              </a:rPr>
              <a:t>R[j+1] = R[j]</a:t>
            </a:r>
            <a:endParaRPr lang="en-US" altLang="zh-CN" dirty="0">
              <a:latin typeface="Times New Roman" panose="02020603050405020304" pitchFamily="18" charset="0"/>
            </a:endParaRPr>
          </a:p>
        </p:txBody>
      </p:sp>
      <p:sp>
        <p:nvSpPr>
          <p:cNvPr id="23569" name="Rectangle 17" descr="大棋盘"/>
          <p:cNvSpPr/>
          <p:nvPr/>
        </p:nvSpPr>
        <p:spPr>
          <a:xfrm>
            <a:off x="1828800" y="4648200"/>
            <a:ext cx="3124200" cy="457200"/>
          </a:xfrm>
          <a:prstGeom prst="rect">
            <a:avLst/>
          </a:prstGeom>
          <a:blipFill rotWithShape="0">
            <a:blip r:embed="rId3"/>
          </a:blipFill>
          <a:ln w="127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70" name="Rectangle 18"/>
          <p:cNvSpPr/>
          <p:nvPr/>
        </p:nvSpPr>
        <p:spPr>
          <a:xfrm>
            <a:off x="1524000" y="4648200"/>
            <a:ext cx="304800" cy="457200"/>
          </a:xfrm>
          <a:prstGeom prst="rect">
            <a:avLst/>
          </a:prstGeom>
          <a:solidFill>
            <a:srgbClr val="00FFFF"/>
          </a:solidFill>
          <a:ln w="127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71" name="Text Box 19"/>
          <p:cNvSpPr txBox="1"/>
          <p:nvPr/>
        </p:nvSpPr>
        <p:spPr>
          <a:xfrm>
            <a:off x="1295400" y="4038600"/>
            <a:ext cx="838200" cy="519113"/>
          </a:xfrm>
          <a:prstGeom prst="rect">
            <a:avLst/>
          </a:prstGeom>
          <a:noFill/>
          <a:ln w="9525">
            <a:noFill/>
          </a:ln>
        </p:spPr>
        <p:txBody>
          <a:bodyPr>
            <a:spAutoFit/>
          </a:bodyPr>
          <a:p>
            <a:pPr eaLnBrk="1" hangingPunct="1">
              <a:spcBef>
                <a:spcPct val="50000"/>
              </a:spcBef>
            </a:pPr>
            <a:r>
              <a:rPr lang="en-US" altLang="zh-CN" sz="2800" dirty="0">
                <a:latin typeface="Times New Roman" panose="02020603050405020304" pitchFamily="18" charset="0"/>
              </a:rPr>
              <a:t>R[0]</a:t>
            </a:r>
            <a:endParaRPr lang="en-US" altLang="zh-CN" sz="2800" dirty="0">
              <a:latin typeface="Times New Roman" panose="02020603050405020304" pitchFamily="18" charset="0"/>
            </a:endParaRPr>
          </a:p>
        </p:txBody>
      </p:sp>
      <p:sp>
        <p:nvSpPr>
          <p:cNvPr id="23572" name="Line 20"/>
          <p:cNvSpPr/>
          <p:nvPr/>
        </p:nvSpPr>
        <p:spPr>
          <a:xfrm>
            <a:off x="4800600" y="5181600"/>
            <a:ext cx="0" cy="762000"/>
          </a:xfrm>
          <a:prstGeom prst="line">
            <a:avLst/>
          </a:prstGeom>
          <a:ln w="9525" cap="flat" cmpd="sng">
            <a:solidFill>
              <a:schemeClr val="tx1"/>
            </a:solidFill>
            <a:prstDash val="solid"/>
            <a:headEnd type="stealth" w="med" len="lg"/>
            <a:tailEnd type="none" w="med" len="med"/>
          </a:ln>
        </p:spPr>
      </p:sp>
      <p:sp>
        <p:nvSpPr>
          <p:cNvPr id="23573" name="Line 21"/>
          <p:cNvSpPr/>
          <p:nvPr/>
        </p:nvSpPr>
        <p:spPr>
          <a:xfrm>
            <a:off x="3505200" y="5105400"/>
            <a:ext cx="0" cy="762000"/>
          </a:xfrm>
          <a:prstGeom prst="line">
            <a:avLst/>
          </a:prstGeom>
          <a:ln w="9525" cap="flat" cmpd="sng">
            <a:solidFill>
              <a:schemeClr val="tx1"/>
            </a:solidFill>
            <a:prstDash val="solid"/>
            <a:headEnd type="stealth" w="med" len="lg"/>
            <a:tailEnd type="none" w="med" len="med"/>
          </a:ln>
        </p:spPr>
      </p:sp>
      <p:sp>
        <p:nvSpPr>
          <p:cNvPr id="23574" name="Text Box 22"/>
          <p:cNvSpPr txBox="1"/>
          <p:nvPr/>
        </p:nvSpPr>
        <p:spPr>
          <a:xfrm>
            <a:off x="3527425" y="5181600"/>
            <a:ext cx="587375" cy="641350"/>
          </a:xfrm>
          <a:prstGeom prst="rect">
            <a:avLst/>
          </a:prstGeom>
          <a:noFill/>
          <a:ln w="9525">
            <a:noFill/>
          </a:ln>
        </p:spPr>
        <p:txBody>
          <a:bodyPr>
            <a:spAutoFit/>
          </a:bodyPr>
          <a:p>
            <a:pPr eaLnBrk="1" hangingPunct="1">
              <a:spcBef>
                <a:spcPct val="50000"/>
              </a:spcBef>
            </a:pPr>
            <a:r>
              <a:rPr lang="en-US" altLang="zh-CN" sz="3600" dirty="0">
                <a:latin typeface="Times New Roman" panose="02020603050405020304" pitchFamily="18" charset="0"/>
              </a:rPr>
              <a:t>j</a:t>
            </a:r>
            <a:endParaRPr lang="en-US" altLang="zh-CN" dirty="0">
              <a:latin typeface="Times New Roman" panose="02020603050405020304" pitchFamily="18" charset="0"/>
            </a:endParaRPr>
          </a:p>
        </p:txBody>
      </p:sp>
      <p:sp>
        <p:nvSpPr>
          <p:cNvPr id="23576" name="Rectangle 24"/>
          <p:cNvSpPr/>
          <p:nvPr/>
        </p:nvSpPr>
        <p:spPr>
          <a:xfrm>
            <a:off x="4953000" y="4648200"/>
            <a:ext cx="3429000" cy="457200"/>
          </a:xfrm>
          <a:prstGeom prst="rect">
            <a:avLst/>
          </a:prstGeom>
          <a:solidFill>
            <a:schemeClr val="hlink"/>
          </a:solidFill>
          <a:ln w="127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77" name="Rectangle 25"/>
          <p:cNvSpPr/>
          <p:nvPr/>
        </p:nvSpPr>
        <p:spPr>
          <a:xfrm>
            <a:off x="4953000" y="4648200"/>
            <a:ext cx="304800" cy="45720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78" name="Rectangle 26"/>
          <p:cNvSpPr/>
          <p:nvPr/>
        </p:nvSpPr>
        <p:spPr>
          <a:xfrm>
            <a:off x="4724400" y="4114800"/>
            <a:ext cx="757238" cy="519113"/>
          </a:xfrm>
          <a:prstGeom prst="rect">
            <a:avLst/>
          </a:prstGeom>
          <a:noFill/>
          <a:ln w="9525">
            <a:noFill/>
          </a:ln>
        </p:spPr>
        <p:txBody>
          <a:bodyPr wrap="none">
            <a:spAutoFit/>
          </a:bodyPr>
          <a:p>
            <a:pPr eaLnBrk="1" hangingPunct="1"/>
            <a:r>
              <a:rPr lang="en-US" altLang="zh-CN" sz="2800" dirty="0">
                <a:latin typeface="Times New Roman" panose="02020603050405020304" pitchFamily="18" charset="0"/>
              </a:rPr>
              <a:t>R[i]</a:t>
            </a:r>
            <a:endParaRPr lang="en-US" altLang="zh-CN" sz="2800" dirty="0">
              <a:latin typeface="Times New Roman" panose="02020603050405020304" pitchFamily="18" charset="0"/>
            </a:endParaRPr>
          </a:p>
        </p:txBody>
      </p:sp>
      <p:sp>
        <p:nvSpPr>
          <p:cNvPr id="23580" name="Rectangle 28" descr="60%"/>
          <p:cNvSpPr/>
          <p:nvPr/>
        </p:nvSpPr>
        <p:spPr>
          <a:xfrm>
            <a:off x="3962400" y="4648200"/>
            <a:ext cx="1295400" cy="457200"/>
          </a:xfrm>
          <a:prstGeom prst="rect">
            <a:avLst/>
          </a:prstGeom>
          <a:blipFill rotWithShape="0">
            <a:blip r:embed="rId4"/>
          </a:blipFill>
          <a:ln w="127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81" name="Rectangle 29" descr="大棋盘"/>
          <p:cNvSpPr/>
          <p:nvPr/>
        </p:nvSpPr>
        <p:spPr>
          <a:xfrm>
            <a:off x="3657600" y="4648200"/>
            <a:ext cx="304800" cy="457200"/>
          </a:xfrm>
          <a:prstGeom prst="rect">
            <a:avLst/>
          </a:prstGeom>
          <a:blipFill rotWithShape="0">
            <a:blip r:embed="rId3"/>
          </a:blipFill>
          <a:ln w="127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imes New Roman" panose="02020603050405020304" pitchFamily="18" charset="0"/>
            </a:endParaRPr>
          </a:p>
        </p:txBody>
      </p:sp>
      <p:sp>
        <p:nvSpPr>
          <p:cNvPr id="23582" name="Text Box 30"/>
          <p:cNvSpPr txBox="1"/>
          <p:nvPr/>
        </p:nvSpPr>
        <p:spPr>
          <a:xfrm>
            <a:off x="4876800" y="5181600"/>
            <a:ext cx="1196975" cy="641350"/>
          </a:xfrm>
          <a:prstGeom prst="rect">
            <a:avLst/>
          </a:prstGeom>
          <a:noFill/>
          <a:ln w="9525">
            <a:noFill/>
          </a:ln>
        </p:spPr>
        <p:txBody>
          <a:bodyPr>
            <a:spAutoFit/>
          </a:bodyPr>
          <a:p>
            <a:pPr eaLnBrk="1" hangingPunct="1">
              <a:spcBef>
                <a:spcPct val="50000"/>
              </a:spcBef>
            </a:pPr>
            <a:r>
              <a:rPr lang="en-US" altLang="zh-CN" sz="3600" dirty="0">
                <a:latin typeface="Times New Roman" panose="02020603050405020304" pitchFamily="18" charset="0"/>
              </a:rPr>
              <a:t>j= i-1</a:t>
            </a:r>
            <a:endParaRPr lang="en-US" altLang="zh-CN" dirty="0">
              <a:latin typeface="Times New Roman" panose="02020603050405020304" pitchFamily="18" charset="0"/>
            </a:endParaRPr>
          </a:p>
        </p:txBody>
      </p:sp>
      <p:sp>
        <p:nvSpPr>
          <p:cNvPr id="23585" name="Line 33"/>
          <p:cNvSpPr/>
          <p:nvPr/>
        </p:nvSpPr>
        <p:spPr>
          <a:xfrm>
            <a:off x="4953000" y="4648200"/>
            <a:ext cx="1588" cy="457200"/>
          </a:xfrm>
          <a:prstGeom prst="line">
            <a:avLst/>
          </a:prstGeom>
          <a:ln w="12700" cap="rnd" cmpd="sng">
            <a:solidFill>
              <a:schemeClr val="tx1"/>
            </a:solidFill>
            <a:prstDash val="sysDot"/>
            <a:headEnd type="none" w="med" len="med"/>
            <a:tailEnd type="none" w="med" len="med"/>
          </a:ln>
        </p:spPr>
      </p:sp>
      <p:sp>
        <p:nvSpPr>
          <p:cNvPr id="23586" name="Text Box 34"/>
          <p:cNvSpPr txBox="1"/>
          <p:nvPr/>
        </p:nvSpPr>
        <p:spPr>
          <a:xfrm>
            <a:off x="730250" y="5988050"/>
            <a:ext cx="7956550" cy="641350"/>
          </a:xfrm>
          <a:prstGeom prst="rect">
            <a:avLst/>
          </a:prstGeom>
          <a:noFill/>
          <a:ln w="9525">
            <a:noFill/>
          </a:ln>
        </p:spPr>
        <p:txBody>
          <a:bodyPr wrap="none">
            <a:spAutoFit/>
          </a:bodyPr>
          <a:p>
            <a:pPr eaLnBrk="1" hangingPunct="1"/>
            <a:r>
              <a:rPr lang="zh-CN" altLang="en-US" sz="3600" dirty="0">
                <a:solidFill>
                  <a:schemeClr val="accent2"/>
                </a:solidFill>
                <a:latin typeface="Times New Roman" panose="02020603050405020304" pitchFamily="18" charset="0"/>
                <a:ea typeface="楷体_GB2312" pitchFamily="49" charset="-122"/>
              </a:rPr>
              <a:t>上述循环结束后可以直接进行“插入”</a:t>
            </a:r>
            <a:endParaRPr lang="zh-CN" altLang="en-US" sz="3600" dirty="0">
              <a:latin typeface="Times New Roman" panose="02020603050405020304" pitchFamily="18" charset="0"/>
              <a:ea typeface="楷体_GB2312" pitchFamily="49" charset="-122"/>
            </a:endParaRPr>
          </a:p>
        </p:txBody>
      </p:sp>
      <p:pic>
        <p:nvPicPr>
          <p:cNvPr id="23587" name="Picture 35" descr="Green Ball">
            <a:hlinkClick r:id="rId5" action="ppaction://hlinksldjump"/>
          </p:cNvPr>
          <p:cNvPicPr>
            <a:picLocks noChangeAspect="1"/>
          </p:cNvPicPr>
          <p:nvPr/>
        </p:nvPicPr>
        <p:blipFill>
          <a:blip r:embed="rId2"/>
          <a:stretch>
            <a:fillRect/>
          </a:stretch>
        </p:blipFill>
        <p:spPr>
          <a:xfrm>
            <a:off x="609600" y="6019800"/>
            <a:ext cx="304800" cy="304800"/>
          </a:xfrm>
          <a:prstGeom prst="rect">
            <a:avLst/>
          </a:prstGeom>
          <a:noFill/>
          <a:ln w="9525">
            <a:noFill/>
          </a:ln>
        </p:spPr>
      </p:pic>
      <p:sp>
        <p:nvSpPr>
          <p:cNvPr id="23588" name="AutoShape 36"/>
          <p:cNvSpPr/>
          <p:nvPr/>
        </p:nvSpPr>
        <p:spPr>
          <a:xfrm>
            <a:off x="4419600" y="5410200"/>
            <a:ext cx="1600200" cy="457200"/>
          </a:xfrm>
          <a:prstGeom prst="wedgeRoundRectCallout">
            <a:avLst>
              <a:gd name="adj1" fmla="val -87796"/>
              <a:gd name="adj2" fmla="val -163194"/>
              <a:gd name="adj3" fmla="val 16667"/>
            </a:avLst>
          </a:prstGeom>
          <a:solidFill>
            <a:srgbClr val="FFFF99">
              <a:alpha val="50195"/>
            </a:srgbClr>
          </a:solidFill>
          <a:ln w="12700" cap="flat" cmpd="sng">
            <a:solidFill>
              <a:srgbClr val="800000"/>
            </a:solidFill>
            <a:prstDash val="solid"/>
            <a:miter/>
            <a:headEnd type="none" w="med" len="med"/>
            <a:tailEnd type="none" w="med" len="med"/>
          </a:ln>
        </p:spPr>
        <p:txBody>
          <a:bodyPr wrap="none" anchor="ctr" anchorCtr="0"/>
          <a:p>
            <a:pPr eaLnBrk="1" hangingPunct="1"/>
            <a:r>
              <a:rPr lang="zh-CN" altLang="en-US" sz="2800" dirty="0">
                <a:solidFill>
                  <a:srgbClr val="990000"/>
                </a:solidFill>
                <a:latin typeface="Times New Roman" panose="02020603050405020304" pitchFamily="18" charset="0"/>
                <a:ea typeface="楷体_GB2312" pitchFamily="49" charset="-122"/>
              </a:rPr>
              <a:t>插入位置</a:t>
            </a:r>
            <a:endParaRPr lang="zh-CN" altLang="en-US" sz="2800" dirty="0">
              <a:latin typeface="Times New Roman" panose="02020603050405020304" pitchFamily="18"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slide(fromLeft)">
                                      <p:cBhvr>
                                        <p:cTn id="7" dur="500"/>
                                        <p:tgtEl>
                                          <p:spTgt spid="23556"/>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23557"/>
                                        </p:tgtEl>
                                        <p:attrNameLst>
                                          <p:attrName>style.visibility</p:attrName>
                                        </p:attrNameLst>
                                      </p:cBhvr>
                                      <p:to>
                                        <p:strVal val="visible"/>
                                      </p:to>
                                    </p:set>
                                    <p:animEffect transition="in" filter="strips(downRight)">
                                      <p:cBhvr>
                                        <p:cTn id="11" dur="500"/>
                                        <p:tgtEl>
                                          <p:spTgt spid="23557"/>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23558"/>
                                        </p:tgtEl>
                                        <p:attrNameLst>
                                          <p:attrName>style.visibility</p:attrName>
                                        </p:attrNameLst>
                                      </p:cBhvr>
                                      <p:to>
                                        <p:strVal val="visible"/>
                                      </p:to>
                                    </p:set>
                                    <p:animEffect transition="in" filter="strips(downRight)">
                                      <p:cBhvr>
                                        <p:cTn id="16" dur="500"/>
                                        <p:tgtEl>
                                          <p:spTgt spid="2355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569"/>
                                        </p:tgtEl>
                                        <p:attrNameLst>
                                          <p:attrName>style.visibility</p:attrName>
                                        </p:attrNameLst>
                                      </p:cBhvr>
                                      <p:to>
                                        <p:strVal val="visible"/>
                                      </p:to>
                                    </p:set>
                                    <p:animEffect transition="in" filter="wipe(left)">
                                      <p:cBhvr>
                                        <p:cTn id="21" dur="500"/>
                                        <p:tgtEl>
                                          <p:spTgt spid="23569"/>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576"/>
                                        </p:tgtEl>
                                        <p:attrNameLst>
                                          <p:attrName>style.visibility</p:attrName>
                                        </p:attrNameLst>
                                      </p:cBhvr>
                                      <p:to>
                                        <p:strVal val="visible"/>
                                      </p:to>
                                    </p:set>
                                    <p:animEffect transition="in" filter="wipe(left)">
                                      <p:cBhvr>
                                        <p:cTn id="25" dur="500"/>
                                        <p:tgtEl>
                                          <p:spTgt spid="23576"/>
                                        </p:tgtEl>
                                      </p:cBhvr>
                                    </p:animEffect>
                                  </p:childTnLst>
                                </p:cTn>
                              </p:par>
                            </p:childTnLst>
                          </p:cTn>
                        </p:par>
                        <p:par>
                          <p:cTn id="26" fill="hold">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23578"/>
                                        </p:tgtEl>
                                        <p:attrNameLst>
                                          <p:attrName>style.visibility</p:attrName>
                                        </p:attrNameLst>
                                      </p:cBhvr>
                                      <p:to>
                                        <p:strVal val="visible"/>
                                      </p:to>
                                    </p:set>
                                    <p:animEffect transition="in" filter="slide(fromTop)">
                                      <p:cBhvr>
                                        <p:cTn id="29" dur="500"/>
                                        <p:tgtEl>
                                          <p:spTgt spid="23578"/>
                                        </p:tgtEl>
                                      </p:cBhvr>
                                    </p:animEffect>
                                  </p:childTnLst>
                                </p:cTn>
                              </p:par>
                            </p:childTnLst>
                          </p:cTn>
                        </p:par>
                        <p:par>
                          <p:cTn id="30" fill="hold">
                            <p:stCondLst>
                              <p:cond delay="1500"/>
                            </p:stCondLst>
                            <p:childTnLst>
                              <p:par>
                                <p:cTn id="31" presetID="9" presetClass="entr" presetSubtype="0" fill="hold" grpId="0" nodeType="afterEffect">
                                  <p:stCondLst>
                                    <p:cond delay="0"/>
                                  </p:stCondLst>
                                  <p:childTnLst>
                                    <p:set>
                                      <p:cBhvr>
                                        <p:cTn id="32" dur="1" fill="hold">
                                          <p:stCondLst>
                                            <p:cond delay="0"/>
                                          </p:stCondLst>
                                        </p:cTn>
                                        <p:tgtEl>
                                          <p:spTgt spid="23577"/>
                                        </p:tgtEl>
                                        <p:attrNameLst>
                                          <p:attrName>style.visibility</p:attrName>
                                        </p:attrNameLst>
                                      </p:cBhvr>
                                      <p:to>
                                        <p:strVal val="visible"/>
                                      </p:to>
                                    </p:set>
                                    <p:animEffect transition="in" filter="dissolve">
                                      <p:cBhvr>
                                        <p:cTn id="33" dur="500"/>
                                        <p:tgtEl>
                                          <p:spTgt spid="23577"/>
                                        </p:tgtEl>
                                      </p:cBhvr>
                                    </p:animEffect>
                                  </p:childTnLst>
                                </p:cTn>
                              </p:par>
                            </p:childTnLst>
                          </p:cTn>
                        </p:par>
                        <p:par>
                          <p:cTn id="34" fill="hold">
                            <p:stCondLst>
                              <p:cond delay="2000"/>
                            </p:stCondLst>
                            <p:childTnLst>
                              <p:par>
                                <p:cTn id="35" presetID="12" presetClass="entr" presetSubtype="1" fill="hold" grpId="0" nodeType="afterEffect">
                                  <p:stCondLst>
                                    <p:cond delay="0"/>
                                  </p:stCondLst>
                                  <p:childTnLst>
                                    <p:set>
                                      <p:cBhvr>
                                        <p:cTn id="36" dur="1" fill="hold">
                                          <p:stCondLst>
                                            <p:cond delay="0"/>
                                          </p:stCondLst>
                                        </p:cTn>
                                        <p:tgtEl>
                                          <p:spTgt spid="23571"/>
                                        </p:tgtEl>
                                        <p:attrNameLst>
                                          <p:attrName>style.visibility</p:attrName>
                                        </p:attrNameLst>
                                      </p:cBhvr>
                                      <p:to>
                                        <p:strVal val="visible"/>
                                      </p:to>
                                    </p:set>
                                    <p:animEffect transition="in" filter="slide(fromTop)">
                                      <p:cBhvr>
                                        <p:cTn id="37" dur="500"/>
                                        <p:tgtEl>
                                          <p:spTgt spid="23571"/>
                                        </p:tgtEl>
                                      </p:cBhvr>
                                    </p:animEffect>
                                  </p:childTnLst>
                                </p:cTn>
                              </p:par>
                            </p:childTnLst>
                          </p:cTn>
                        </p:par>
                        <p:par>
                          <p:cTn id="38" fill="hold">
                            <p:stCondLst>
                              <p:cond delay="2500"/>
                            </p:stCondLst>
                            <p:childTnLst>
                              <p:par>
                                <p:cTn id="39" presetID="9" presetClass="entr" presetSubtype="0" fill="hold" grpId="0" nodeType="afterEffect">
                                  <p:stCondLst>
                                    <p:cond delay="0"/>
                                  </p:stCondLst>
                                  <p:childTnLst>
                                    <p:set>
                                      <p:cBhvr>
                                        <p:cTn id="40" dur="1" fill="hold">
                                          <p:stCondLst>
                                            <p:cond delay="0"/>
                                          </p:stCondLst>
                                        </p:cTn>
                                        <p:tgtEl>
                                          <p:spTgt spid="23570"/>
                                        </p:tgtEl>
                                        <p:attrNameLst>
                                          <p:attrName>style.visibility</p:attrName>
                                        </p:attrNameLst>
                                      </p:cBhvr>
                                      <p:to>
                                        <p:strVal val="visible"/>
                                      </p:to>
                                    </p:set>
                                    <p:animEffect transition="in" filter="dissolve">
                                      <p:cBhvr>
                                        <p:cTn id="41" dur="500"/>
                                        <p:tgtEl>
                                          <p:spTgt spid="23570"/>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4" fill="hold" nodeType="clickEffect">
                                  <p:stCondLst>
                                    <p:cond delay="0"/>
                                  </p:stCondLst>
                                  <p:childTnLst>
                                    <p:set>
                                      <p:cBhvr>
                                        <p:cTn id="45" dur="1" fill="hold">
                                          <p:stCondLst>
                                            <p:cond delay="0"/>
                                          </p:stCondLst>
                                        </p:cTn>
                                        <p:tgtEl>
                                          <p:spTgt spid="23572"/>
                                        </p:tgtEl>
                                        <p:attrNameLst>
                                          <p:attrName>style.visibility</p:attrName>
                                        </p:attrNameLst>
                                      </p:cBhvr>
                                      <p:to>
                                        <p:strVal val="visible"/>
                                      </p:to>
                                    </p:set>
                                    <p:anim calcmode="lin" valueType="num">
                                      <p:cBhvr>
                                        <p:cTn id="46" dur="500" fill="hold"/>
                                        <p:tgtEl>
                                          <p:spTgt spid="23572"/>
                                        </p:tgtEl>
                                        <p:attrNameLst>
                                          <p:attrName>ppt_x</p:attrName>
                                        </p:attrNameLst>
                                      </p:cBhvr>
                                      <p:tavLst>
                                        <p:tav tm="0">
                                          <p:val>
                                            <p:strVal val="#ppt_x"/>
                                          </p:val>
                                        </p:tav>
                                        <p:tav tm="100000">
                                          <p:val>
                                            <p:strVal val="#ppt_x"/>
                                          </p:val>
                                        </p:tav>
                                      </p:tavLst>
                                    </p:anim>
                                    <p:anim calcmode="lin" valueType="num">
                                      <p:cBhvr>
                                        <p:cTn id="47" dur="500" fill="hold"/>
                                        <p:tgtEl>
                                          <p:spTgt spid="23572"/>
                                        </p:tgtEl>
                                        <p:attrNameLst>
                                          <p:attrName>ppt_y</p:attrName>
                                        </p:attrNameLst>
                                      </p:cBhvr>
                                      <p:tavLst>
                                        <p:tav tm="0">
                                          <p:val>
                                            <p:strVal val="#ppt_y+#ppt_h/2"/>
                                          </p:val>
                                        </p:tav>
                                        <p:tav tm="100000">
                                          <p:val>
                                            <p:strVal val="#ppt_y"/>
                                          </p:val>
                                        </p:tav>
                                      </p:tavLst>
                                    </p:anim>
                                    <p:anim calcmode="lin" valueType="num">
                                      <p:cBhvr>
                                        <p:cTn id="48" dur="500" fill="hold"/>
                                        <p:tgtEl>
                                          <p:spTgt spid="23572"/>
                                        </p:tgtEl>
                                        <p:attrNameLst>
                                          <p:attrName>ppt_w</p:attrName>
                                        </p:attrNameLst>
                                      </p:cBhvr>
                                      <p:tavLst>
                                        <p:tav tm="0">
                                          <p:val>
                                            <p:strVal val="#ppt_w"/>
                                          </p:val>
                                        </p:tav>
                                        <p:tav tm="100000">
                                          <p:val>
                                            <p:strVal val="#ppt_w"/>
                                          </p:val>
                                        </p:tav>
                                      </p:tavLst>
                                    </p:anim>
                                    <p:anim calcmode="lin" valueType="num">
                                      <p:cBhvr>
                                        <p:cTn id="49" dur="500" fill="hold"/>
                                        <p:tgtEl>
                                          <p:spTgt spid="23572"/>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23572"/>
                                        </p:tgtEl>
                                        <p:attrNameLst>
                                          <p:attrName>style.visibility</p:attrName>
                                        </p:attrNameLst>
                                      </p:cBhvr>
                                      <p:to>
                                        <p:strVal val="hidden"/>
                                      </p:to>
                                    </p:set>
                                  </p:sub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23582"/>
                                        </p:tgtEl>
                                        <p:attrNameLst>
                                          <p:attrName>style.visibility</p:attrName>
                                        </p:attrNameLst>
                                      </p:cBhvr>
                                      <p:to>
                                        <p:strVal val="visible"/>
                                      </p:to>
                                    </p:set>
                                    <p:animEffect transition="in" filter="dissolve">
                                      <p:cBhvr>
                                        <p:cTn id="53" dur="500"/>
                                        <p:tgtEl>
                                          <p:spTgt spid="23582"/>
                                        </p:tgtEl>
                                      </p:cBhvr>
                                    </p:animEffect>
                                  </p:childTnLst>
                                  <p:subTnLst>
                                    <p:set>
                                      <p:cBhvr override="childStyle">
                                        <p:cTn dur="1" fill="hold" display="0" masterRel="nextClick" afterEffect="1"/>
                                        <p:tgtEl>
                                          <p:spTgt spid="23582"/>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7" presetClass="entr" presetSubtype="4" fill="hold" nodeType="clickEffect">
                                  <p:stCondLst>
                                    <p:cond delay="0"/>
                                  </p:stCondLst>
                                  <p:childTnLst>
                                    <p:set>
                                      <p:cBhvr>
                                        <p:cTn id="57" dur="1" fill="hold">
                                          <p:stCondLst>
                                            <p:cond delay="0"/>
                                          </p:stCondLst>
                                        </p:cTn>
                                        <p:tgtEl>
                                          <p:spTgt spid="23573"/>
                                        </p:tgtEl>
                                        <p:attrNameLst>
                                          <p:attrName>style.visibility</p:attrName>
                                        </p:attrNameLst>
                                      </p:cBhvr>
                                      <p:to>
                                        <p:strVal val="visible"/>
                                      </p:to>
                                    </p:set>
                                    <p:anim calcmode="lin" valueType="num">
                                      <p:cBhvr>
                                        <p:cTn id="58" dur="500" fill="hold"/>
                                        <p:tgtEl>
                                          <p:spTgt spid="23573"/>
                                        </p:tgtEl>
                                        <p:attrNameLst>
                                          <p:attrName>ppt_x</p:attrName>
                                        </p:attrNameLst>
                                      </p:cBhvr>
                                      <p:tavLst>
                                        <p:tav tm="0">
                                          <p:val>
                                            <p:strVal val="#ppt_x"/>
                                          </p:val>
                                        </p:tav>
                                        <p:tav tm="100000">
                                          <p:val>
                                            <p:strVal val="#ppt_x"/>
                                          </p:val>
                                        </p:tav>
                                      </p:tavLst>
                                    </p:anim>
                                    <p:anim calcmode="lin" valueType="num">
                                      <p:cBhvr>
                                        <p:cTn id="59" dur="500" fill="hold"/>
                                        <p:tgtEl>
                                          <p:spTgt spid="23573"/>
                                        </p:tgtEl>
                                        <p:attrNameLst>
                                          <p:attrName>ppt_y</p:attrName>
                                        </p:attrNameLst>
                                      </p:cBhvr>
                                      <p:tavLst>
                                        <p:tav tm="0">
                                          <p:val>
                                            <p:strVal val="#ppt_y+#ppt_h/2"/>
                                          </p:val>
                                        </p:tav>
                                        <p:tav tm="100000">
                                          <p:val>
                                            <p:strVal val="#ppt_y"/>
                                          </p:val>
                                        </p:tav>
                                      </p:tavLst>
                                    </p:anim>
                                    <p:anim calcmode="lin" valueType="num">
                                      <p:cBhvr>
                                        <p:cTn id="60" dur="500" fill="hold"/>
                                        <p:tgtEl>
                                          <p:spTgt spid="23573"/>
                                        </p:tgtEl>
                                        <p:attrNameLst>
                                          <p:attrName>ppt_w</p:attrName>
                                        </p:attrNameLst>
                                      </p:cBhvr>
                                      <p:tavLst>
                                        <p:tav tm="0">
                                          <p:val>
                                            <p:strVal val="#ppt_w"/>
                                          </p:val>
                                        </p:tav>
                                        <p:tav tm="100000">
                                          <p:val>
                                            <p:strVal val="#ppt_w"/>
                                          </p:val>
                                        </p:tav>
                                      </p:tavLst>
                                    </p:anim>
                                    <p:anim calcmode="lin" valueType="num">
                                      <p:cBhvr>
                                        <p:cTn id="61" dur="500" fill="hold"/>
                                        <p:tgtEl>
                                          <p:spTgt spid="23573"/>
                                        </p:tgtEl>
                                        <p:attrNameLst>
                                          <p:attrName>ppt_h</p:attrName>
                                        </p:attrNameLst>
                                      </p:cBhvr>
                                      <p:tavLst>
                                        <p:tav tm="0">
                                          <p:val>
                                            <p:fltVal val="0.000000"/>
                                          </p:val>
                                        </p:tav>
                                        <p:tav tm="100000">
                                          <p:val>
                                            <p:strVal val="#ppt_h"/>
                                          </p:val>
                                        </p:tav>
                                      </p:tavLst>
                                    </p:anim>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23574"/>
                                        </p:tgtEl>
                                        <p:attrNameLst>
                                          <p:attrName>style.visibility</p:attrName>
                                        </p:attrNameLst>
                                      </p:cBhvr>
                                      <p:to>
                                        <p:strVal val="visible"/>
                                      </p:to>
                                    </p:set>
                                    <p:animEffect transition="in" filter="dissolve">
                                      <p:cBhvr>
                                        <p:cTn id="65" dur="500"/>
                                        <p:tgtEl>
                                          <p:spTgt spid="23574"/>
                                        </p:tgtEl>
                                      </p:cBhvr>
                                    </p:animEffect>
                                  </p:childTnLst>
                                </p:cTn>
                              </p:par>
                            </p:childTnLst>
                          </p:cTn>
                        </p:par>
                        <p:par>
                          <p:cTn id="66" fill="hold">
                            <p:stCondLst>
                              <p:cond delay="1000"/>
                            </p:stCondLst>
                            <p:childTnLst>
                              <p:par>
                                <p:cTn id="67" presetID="22" presetClass="entr" presetSubtype="2" fill="hold" grpId="0" nodeType="afterEffect">
                                  <p:stCondLst>
                                    <p:cond delay="0"/>
                                  </p:stCondLst>
                                  <p:childTnLst>
                                    <p:set>
                                      <p:cBhvr>
                                        <p:cTn id="68" dur="1" fill="hold">
                                          <p:stCondLst>
                                            <p:cond delay="0"/>
                                          </p:stCondLst>
                                        </p:cTn>
                                        <p:tgtEl>
                                          <p:spTgt spid="23580"/>
                                        </p:tgtEl>
                                        <p:attrNameLst>
                                          <p:attrName>style.visibility</p:attrName>
                                        </p:attrNameLst>
                                      </p:cBhvr>
                                      <p:to>
                                        <p:strVal val="visible"/>
                                      </p:to>
                                    </p:set>
                                    <p:animEffect transition="in" filter="wipe(right)">
                                      <p:cBhvr>
                                        <p:cTn id="69" dur="500"/>
                                        <p:tgtEl>
                                          <p:spTgt spid="23580"/>
                                        </p:tgtEl>
                                      </p:cBhvr>
                                    </p:animEffect>
                                  </p:childTnLst>
                                </p:cTn>
                              </p:par>
                            </p:childTnLst>
                          </p:cTn>
                        </p:par>
                        <p:par>
                          <p:cTn id="70" fill="hold">
                            <p:stCondLst>
                              <p:cond delay="1500"/>
                            </p:stCondLst>
                            <p:childTnLst>
                              <p:par>
                                <p:cTn id="71" presetID="1" presetClass="entr" presetSubtype="0" fill="hold" nodeType="afterEffect">
                                  <p:stCondLst>
                                    <p:cond delay="0"/>
                                  </p:stCondLst>
                                  <p:childTnLst>
                                    <p:set>
                                      <p:cBhvr>
                                        <p:cTn id="72" dur="1" fill="hold">
                                          <p:stCondLst>
                                            <p:cond delay="499"/>
                                          </p:stCondLst>
                                        </p:cTn>
                                        <p:tgtEl>
                                          <p:spTgt spid="23585"/>
                                        </p:tgtEl>
                                        <p:attrNameLst>
                                          <p:attrName>style.visibility</p:attrName>
                                        </p:attrNameLst>
                                      </p:cBhvr>
                                      <p:to>
                                        <p:strVal val="visible"/>
                                      </p:to>
                                    </p:se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3581"/>
                                        </p:tgtEl>
                                        <p:attrNameLst>
                                          <p:attrName>style.visibility</p:attrName>
                                        </p:attrNameLst>
                                      </p:cBhvr>
                                      <p:to>
                                        <p:strVal val="visible"/>
                                      </p:to>
                                    </p:set>
                                    <p:animEffect transition="in" filter="dissolve">
                                      <p:cBhvr>
                                        <p:cTn id="76" dur="500"/>
                                        <p:tgtEl>
                                          <p:spTgt spid="2358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3586"/>
                                        </p:tgtEl>
                                        <p:attrNameLst>
                                          <p:attrName>style.visibility</p:attrName>
                                        </p:attrNameLst>
                                      </p:cBhvr>
                                      <p:to>
                                        <p:strVal val="visible"/>
                                      </p:to>
                                    </p:set>
                                    <p:anim calcmode="lin" valueType="num">
                                      <p:cBhvr>
                                        <p:cTn id="81" dur="500" fill="hold"/>
                                        <p:tgtEl>
                                          <p:spTgt spid="23586"/>
                                        </p:tgtEl>
                                        <p:attrNameLst>
                                          <p:attrName>ppt_x</p:attrName>
                                        </p:attrNameLst>
                                      </p:cBhvr>
                                      <p:tavLst>
                                        <p:tav tm="0">
                                          <p:val>
                                            <p:strVal val="#ppt_x"/>
                                          </p:val>
                                        </p:tav>
                                        <p:tav tm="100000">
                                          <p:val>
                                            <p:strVal val="#ppt_x"/>
                                          </p:val>
                                        </p:tav>
                                      </p:tavLst>
                                    </p:anim>
                                    <p:anim calcmode="lin" valueType="num">
                                      <p:cBhvr>
                                        <p:cTn id="82" dur="500" fill="hold"/>
                                        <p:tgtEl>
                                          <p:spTgt spid="23586"/>
                                        </p:tgtEl>
                                        <p:attrNameLst>
                                          <p:attrName>ppt_y</p:attrName>
                                        </p:attrNameLst>
                                      </p:cBhvr>
                                      <p:tavLst>
                                        <p:tav tm="0">
                                          <p:val>
                                            <p:strVal val="1+#ppt_h/2"/>
                                          </p:val>
                                        </p:tav>
                                        <p:tav tm="100000">
                                          <p:val>
                                            <p:strVal val="#ppt_y"/>
                                          </p:val>
                                        </p:tav>
                                      </p:tavLst>
                                    </p:anim>
                                  </p:childTnLst>
                                </p:cTn>
                              </p:par>
                            </p:childTnLst>
                          </p:cTn>
                        </p:par>
                        <p:par>
                          <p:cTn id="83" fill="hold">
                            <p:stCondLst>
                              <p:cond delay="500"/>
                            </p:stCondLst>
                            <p:childTnLst>
                              <p:par>
                                <p:cTn id="84" presetID="1" presetClass="entr" presetSubtype="0" fill="hold" nodeType="afterEffect">
                                  <p:stCondLst>
                                    <p:cond delay="0"/>
                                  </p:stCondLst>
                                  <p:childTnLst>
                                    <p:set>
                                      <p:cBhvr>
                                        <p:cTn id="85" dur="1" fill="hold">
                                          <p:stCondLst>
                                            <p:cond delay="499"/>
                                          </p:stCondLst>
                                        </p:cTn>
                                        <p:tgtEl>
                                          <p:spTgt spid="23587"/>
                                        </p:tgtEl>
                                        <p:attrNameLst>
                                          <p:attrName>style.visibility</p:attrName>
                                        </p:attrNameLst>
                                      </p:cBhvr>
                                      <p:to>
                                        <p:strVal val="visible"/>
                                      </p:to>
                                    </p:set>
                                  </p:childTnLst>
                                </p:cTn>
                              </p:par>
                            </p:childTnLst>
                          </p:cTn>
                        </p:par>
                        <p:par>
                          <p:cTn id="86" fill="hold">
                            <p:stCondLst>
                              <p:cond delay="1000"/>
                            </p:stCondLst>
                            <p:childTnLst>
                              <p:par>
                                <p:cTn id="87" presetID="12" presetClass="entr" presetSubtype="2" fill="hold" grpId="0" nodeType="afterEffect">
                                  <p:stCondLst>
                                    <p:cond delay="0"/>
                                  </p:stCondLst>
                                  <p:childTnLst>
                                    <p:set>
                                      <p:cBhvr>
                                        <p:cTn id="88" dur="1" fill="hold">
                                          <p:stCondLst>
                                            <p:cond delay="0"/>
                                          </p:stCondLst>
                                        </p:cTn>
                                        <p:tgtEl>
                                          <p:spTgt spid="23588"/>
                                        </p:tgtEl>
                                        <p:attrNameLst>
                                          <p:attrName>style.visibility</p:attrName>
                                        </p:attrNameLst>
                                      </p:cBhvr>
                                      <p:to>
                                        <p:strVal val="visible"/>
                                      </p:to>
                                    </p:set>
                                    <p:animEffect transition="in" filter="slide(fromRight)">
                                      <p:cBhvr>
                                        <p:cTn id="89" dur="500"/>
                                        <p:tgtEl>
                                          <p:spTgt spid="2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58" grpId="0"/>
      <p:bldP spid="23569" grpId="0" bldLvl="0" animBg="1"/>
      <p:bldP spid="23570" grpId="0" bldLvl="0" animBg="1"/>
      <p:bldP spid="23571" grpId="0"/>
      <p:bldP spid="23574" grpId="0"/>
      <p:bldP spid="23576" grpId="0" bldLvl="0" animBg="1"/>
      <p:bldP spid="23577" grpId="0" bldLvl="0" animBg="1"/>
      <p:bldP spid="23578" grpId="0"/>
      <p:bldP spid="23580" grpId="0" bldLvl="0" animBg="1"/>
      <p:bldP spid="23581" grpId="0" bldLvl="0" animBg="1"/>
      <p:bldP spid="23582" grpId="0"/>
      <p:bldP spid="23586" grpId="0"/>
      <p:bldP spid="23588"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4581" name="Picture 5" descr="Green Ball">
            <a:hlinkClick r:id="rId1" action="ppaction://hlinksldjump"/>
          </p:cNvPr>
          <p:cNvPicPr>
            <a:picLocks noChangeAspect="1"/>
          </p:cNvPicPr>
          <p:nvPr/>
        </p:nvPicPr>
        <p:blipFill>
          <a:blip r:embed="rId2"/>
          <a:stretch>
            <a:fillRect/>
          </a:stretch>
        </p:blipFill>
        <p:spPr>
          <a:xfrm>
            <a:off x="685800" y="846138"/>
            <a:ext cx="304800" cy="304800"/>
          </a:xfrm>
          <a:prstGeom prst="rect">
            <a:avLst/>
          </a:prstGeom>
          <a:noFill/>
          <a:ln w="9525">
            <a:noFill/>
          </a:ln>
        </p:spPr>
      </p:pic>
      <p:sp>
        <p:nvSpPr>
          <p:cNvPr id="24582" name="Text Box 6"/>
          <p:cNvSpPr txBox="1"/>
          <p:nvPr/>
        </p:nvSpPr>
        <p:spPr>
          <a:xfrm>
            <a:off x="1143000" y="541338"/>
            <a:ext cx="5257800" cy="1628775"/>
          </a:xfrm>
          <a:prstGeom prst="rect">
            <a:avLst/>
          </a:prstGeom>
          <a:noFill/>
          <a:ln w="9525">
            <a:noFill/>
          </a:ln>
        </p:spPr>
        <p:txBody>
          <a:bodyPr>
            <a:spAutoFit/>
          </a:bodyPr>
          <a:p>
            <a:pPr eaLnBrk="1" hangingPunct="1">
              <a:lnSpc>
                <a:spcPct val="140000"/>
              </a:lnSpc>
            </a:pPr>
            <a:r>
              <a:rPr lang="zh-CN" altLang="zh-CN" sz="3600" dirty="0">
                <a:solidFill>
                  <a:srgbClr val="0000FF"/>
                </a:solidFill>
                <a:latin typeface="Times New Roman" panose="02020603050405020304" pitchFamily="18" charset="0"/>
                <a:ea typeface="楷体_GB2312" pitchFamily="49" charset="-122"/>
              </a:rPr>
              <a:t>令 </a:t>
            </a:r>
            <a:r>
              <a:rPr lang="en-US" altLang="zh-CN" sz="3600" dirty="0">
                <a:solidFill>
                  <a:srgbClr val="0000FF"/>
                </a:solidFill>
                <a:latin typeface="Times New Roman" panose="02020603050405020304" pitchFamily="18" charset="0"/>
                <a:ea typeface="楷体_GB2312" pitchFamily="49" charset="-122"/>
              </a:rPr>
              <a:t>i = 2</a:t>
            </a:r>
            <a:r>
              <a:rPr lang="zh-CN" altLang="en-US" sz="3600" dirty="0">
                <a:solidFill>
                  <a:srgbClr val="0000FF"/>
                </a:solidFill>
                <a:latin typeface="Times New Roman" panose="02020603050405020304" pitchFamily="18" charset="0"/>
                <a:ea typeface="楷体_GB2312" pitchFamily="49" charset="-122"/>
              </a:rPr>
              <a:t>，</a:t>
            </a:r>
            <a:r>
              <a:rPr lang="en-US" altLang="zh-CN" sz="3600" dirty="0">
                <a:solidFill>
                  <a:srgbClr val="0000FF"/>
                </a:solidFill>
                <a:latin typeface="Times New Roman" panose="02020603050405020304" pitchFamily="18" charset="0"/>
                <a:ea typeface="楷体_GB2312" pitchFamily="49" charset="-122"/>
              </a:rPr>
              <a:t>3</a:t>
            </a:r>
            <a:r>
              <a:rPr lang="zh-CN" altLang="en-US" sz="3600" dirty="0">
                <a:solidFill>
                  <a:srgbClr val="0000FF"/>
                </a:solidFill>
                <a:latin typeface="Times New Roman" panose="02020603050405020304" pitchFamily="18" charset="0"/>
                <a:ea typeface="楷体_GB2312" pitchFamily="49" charset="-122"/>
              </a:rPr>
              <a:t>，</a:t>
            </a:r>
            <a:r>
              <a:rPr lang="en-US" altLang="zh-CN" sz="3600" dirty="0">
                <a:solidFill>
                  <a:srgbClr val="0000FF"/>
                </a:solidFill>
                <a:latin typeface="Times New Roman" panose="02020603050405020304" pitchFamily="18" charset="0"/>
                <a:ea typeface="楷体_GB2312" pitchFamily="49" charset="-122"/>
              </a:rPr>
              <a:t>…, n, </a:t>
            </a:r>
            <a:endParaRPr lang="en-US" altLang="zh-CN" sz="3600" dirty="0">
              <a:solidFill>
                <a:srgbClr val="0000FF"/>
              </a:solidFill>
              <a:latin typeface="Times New Roman" panose="02020603050405020304" pitchFamily="18" charset="0"/>
              <a:ea typeface="楷体_GB2312" pitchFamily="49" charset="-122"/>
            </a:endParaRPr>
          </a:p>
          <a:p>
            <a:pPr eaLnBrk="1" hangingPunct="1">
              <a:lnSpc>
                <a:spcPct val="140000"/>
              </a:lnSpc>
            </a:pPr>
            <a:r>
              <a:rPr lang="zh-CN" altLang="en-US" sz="3600" dirty="0">
                <a:solidFill>
                  <a:srgbClr val="0000FF"/>
                </a:solidFill>
                <a:latin typeface="Times New Roman" panose="02020603050405020304" pitchFamily="18" charset="0"/>
                <a:ea typeface="楷体_GB2312" pitchFamily="49" charset="-122"/>
              </a:rPr>
              <a:t>实现整个序列的排序。</a:t>
            </a:r>
            <a:endParaRPr lang="zh-CN" altLang="en-US" dirty="0">
              <a:latin typeface="Times New Roman" panose="02020603050405020304" pitchFamily="18" charset="0"/>
            </a:endParaRPr>
          </a:p>
        </p:txBody>
      </p:sp>
      <p:sp>
        <p:nvSpPr>
          <p:cNvPr id="24583" name="Text Box 7"/>
          <p:cNvSpPr txBox="1"/>
          <p:nvPr/>
        </p:nvSpPr>
        <p:spPr>
          <a:xfrm>
            <a:off x="1004888" y="2141538"/>
            <a:ext cx="7831137" cy="3933825"/>
          </a:xfrm>
          <a:prstGeom prst="rect">
            <a:avLst/>
          </a:prstGeom>
          <a:noFill/>
          <a:ln w="9525">
            <a:noFill/>
          </a:ln>
        </p:spPr>
        <p:txBody>
          <a:bodyPr wrap="none">
            <a:spAutoFit/>
          </a:bodyPr>
          <a:p>
            <a:pPr eaLnBrk="1" hangingPunct="1">
              <a:lnSpc>
                <a:spcPct val="140000"/>
              </a:lnSpc>
            </a:pPr>
            <a:r>
              <a:rPr lang="en-US" altLang="zh-CN" sz="3600" dirty="0">
                <a:latin typeface="Times New Roman" panose="02020603050405020304" pitchFamily="18" charset="0"/>
              </a:rPr>
              <a:t>for ( i=2;  i&lt;=n;  ++i )</a:t>
            </a:r>
            <a:endParaRPr lang="en-US" altLang="zh-CN" sz="3600" dirty="0">
              <a:latin typeface="Times New Roman" panose="02020603050405020304" pitchFamily="18" charset="0"/>
            </a:endParaRPr>
          </a:p>
          <a:p>
            <a:pPr eaLnBrk="1" hangingPunct="1">
              <a:lnSpc>
                <a:spcPct val="140000"/>
              </a:lnSpc>
            </a:pPr>
            <a:r>
              <a:rPr lang="en-US" altLang="zh-CN" sz="3600" dirty="0">
                <a:latin typeface="Times New Roman" panose="02020603050405020304" pitchFamily="18" charset="0"/>
                <a:ea typeface="楷体_GB2312" pitchFamily="49" charset="-122"/>
              </a:rPr>
              <a:t>   </a:t>
            </a:r>
            <a:r>
              <a:rPr lang="en-US" altLang="zh-CN" sz="3600" dirty="0">
                <a:solidFill>
                  <a:schemeClr val="accent2"/>
                </a:solidFill>
                <a:latin typeface="Times New Roman" panose="02020603050405020304" pitchFamily="18" charset="0"/>
                <a:ea typeface="楷体_GB2312" pitchFamily="49" charset="-122"/>
              </a:rPr>
              <a:t>if (R[i].key&lt;R[i-1].key) </a:t>
            </a:r>
            <a:endParaRPr lang="en-US" altLang="zh-CN" sz="3600" dirty="0">
              <a:solidFill>
                <a:schemeClr val="accent2"/>
              </a:solidFill>
              <a:latin typeface="Times New Roman" panose="02020603050405020304" pitchFamily="18" charset="0"/>
              <a:ea typeface="楷体_GB2312" pitchFamily="49" charset="-122"/>
            </a:endParaRPr>
          </a:p>
          <a:p>
            <a:pPr eaLnBrk="1" hangingPunct="1">
              <a:lnSpc>
                <a:spcPct val="140000"/>
              </a:lnSpc>
            </a:pPr>
            <a:r>
              <a:rPr lang="en-US" altLang="zh-CN" sz="3600" dirty="0">
                <a:solidFill>
                  <a:schemeClr val="accent2"/>
                </a:solidFill>
                <a:latin typeface="Times New Roman" panose="02020603050405020304" pitchFamily="18" charset="0"/>
                <a:ea typeface="楷体_GB2312" pitchFamily="49" charset="-122"/>
              </a:rPr>
              <a:t>     {  </a:t>
            </a:r>
            <a:r>
              <a:rPr lang="zh-CN" altLang="en-US" sz="3600" dirty="0">
                <a:solidFill>
                  <a:srgbClr val="006666"/>
                </a:solidFill>
                <a:latin typeface="Times New Roman" panose="02020603050405020304" pitchFamily="18" charset="0"/>
                <a:ea typeface="楷体_GB2312" pitchFamily="49" charset="-122"/>
              </a:rPr>
              <a:t>在</a:t>
            </a:r>
            <a:r>
              <a:rPr lang="zh-CN" altLang="en-US" sz="3600" dirty="0">
                <a:solidFill>
                  <a:schemeClr val="accent2"/>
                </a:solidFill>
                <a:latin typeface="Times New Roman" panose="02020603050405020304" pitchFamily="18" charset="0"/>
                <a:ea typeface="楷体_GB2312" pitchFamily="49" charset="-122"/>
              </a:rPr>
              <a:t> </a:t>
            </a:r>
            <a:r>
              <a:rPr lang="en-US" altLang="zh-CN" sz="3600" dirty="0">
                <a:solidFill>
                  <a:srgbClr val="006666"/>
                </a:solidFill>
                <a:latin typeface="Times New Roman" panose="02020603050405020304" pitchFamily="18" charset="0"/>
                <a:ea typeface="楷体_GB2312" pitchFamily="49" charset="-122"/>
              </a:rPr>
              <a:t>R[1..i-1]</a:t>
            </a:r>
            <a:r>
              <a:rPr lang="zh-CN" altLang="en-US" sz="3600" dirty="0">
                <a:solidFill>
                  <a:srgbClr val="006666"/>
                </a:solidFill>
                <a:latin typeface="Times New Roman" panose="02020603050405020304" pitchFamily="18" charset="0"/>
                <a:ea typeface="楷体_GB2312" pitchFamily="49" charset="-122"/>
              </a:rPr>
              <a:t>中查找</a:t>
            </a:r>
            <a:r>
              <a:rPr lang="en-US" altLang="zh-CN" sz="3600" dirty="0">
                <a:solidFill>
                  <a:srgbClr val="006666"/>
                </a:solidFill>
                <a:latin typeface="Times New Roman" panose="02020603050405020304" pitchFamily="18" charset="0"/>
                <a:ea typeface="楷体_GB2312" pitchFamily="49" charset="-122"/>
              </a:rPr>
              <a:t>R[i]</a:t>
            </a:r>
            <a:r>
              <a:rPr lang="zh-CN" altLang="en-US" sz="3600" dirty="0">
                <a:solidFill>
                  <a:srgbClr val="006666"/>
                </a:solidFill>
                <a:latin typeface="Times New Roman" panose="02020603050405020304" pitchFamily="18" charset="0"/>
                <a:ea typeface="楷体_GB2312" pitchFamily="49" charset="-122"/>
              </a:rPr>
              <a:t>的插入位置</a:t>
            </a:r>
            <a:r>
              <a:rPr lang="en-US" altLang="zh-CN" sz="3600" dirty="0">
                <a:solidFill>
                  <a:srgbClr val="006666"/>
                </a:solidFill>
                <a:latin typeface="Times New Roman" panose="02020603050405020304" pitchFamily="18" charset="0"/>
                <a:ea typeface="楷体_GB2312" pitchFamily="49" charset="-122"/>
              </a:rPr>
              <a:t>;</a:t>
            </a:r>
            <a:endParaRPr lang="en-US" altLang="zh-CN" sz="3600" dirty="0">
              <a:solidFill>
                <a:srgbClr val="006666"/>
              </a:solidFill>
              <a:latin typeface="Times New Roman" panose="02020603050405020304" pitchFamily="18" charset="0"/>
              <a:ea typeface="楷体_GB2312" pitchFamily="49" charset="-122"/>
            </a:endParaRPr>
          </a:p>
          <a:p>
            <a:pPr eaLnBrk="1" hangingPunct="1">
              <a:lnSpc>
                <a:spcPct val="140000"/>
              </a:lnSpc>
            </a:pPr>
            <a:r>
              <a:rPr lang="en-US" altLang="zh-CN" sz="3600" dirty="0">
                <a:solidFill>
                  <a:srgbClr val="006666"/>
                </a:solidFill>
                <a:latin typeface="Times New Roman" panose="02020603050405020304" pitchFamily="18" charset="0"/>
                <a:ea typeface="楷体_GB2312" pitchFamily="49" charset="-122"/>
              </a:rPr>
              <a:t>         </a:t>
            </a:r>
            <a:r>
              <a:rPr lang="zh-CN" altLang="en-US" sz="3600" dirty="0">
                <a:solidFill>
                  <a:srgbClr val="006666"/>
                </a:solidFill>
                <a:latin typeface="Times New Roman" panose="02020603050405020304" pitchFamily="18" charset="0"/>
                <a:ea typeface="楷体_GB2312" pitchFamily="49" charset="-122"/>
              </a:rPr>
              <a:t>插入</a:t>
            </a:r>
            <a:r>
              <a:rPr lang="en-US" altLang="zh-CN" sz="3600" dirty="0">
                <a:solidFill>
                  <a:srgbClr val="006666"/>
                </a:solidFill>
                <a:latin typeface="Times New Roman" panose="02020603050405020304" pitchFamily="18" charset="0"/>
                <a:ea typeface="楷体_GB2312" pitchFamily="49" charset="-122"/>
              </a:rPr>
              <a:t>R[i] ;</a:t>
            </a:r>
            <a:endParaRPr lang="en-US" altLang="zh-CN" sz="3600" dirty="0">
              <a:solidFill>
                <a:srgbClr val="006666"/>
              </a:solidFill>
              <a:latin typeface="Times New Roman" panose="02020603050405020304" pitchFamily="18" charset="0"/>
              <a:ea typeface="楷体_GB2312" pitchFamily="49" charset="-122"/>
            </a:endParaRPr>
          </a:p>
          <a:p>
            <a:pPr eaLnBrk="1" hangingPunct="1">
              <a:lnSpc>
                <a:spcPct val="140000"/>
              </a:lnSpc>
            </a:pPr>
            <a:r>
              <a:rPr lang="en-US" altLang="zh-CN" sz="3600" dirty="0">
                <a:solidFill>
                  <a:srgbClr val="006666"/>
                </a:solidFill>
                <a:latin typeface="Times New Roman" panose="02020603050405020304" pitchFamily="18" charset="0"/>
                <a:ea typeface="楷体_GB2312" pitchFamily="49" charset="-122"/>
              </a:rPr>
              <a:t>     </a:t>
            </a:r>
            <a:r>
              <a:rPr lang="en-US" altLang="zh-CN" sz="3600" dirty="0">
                <a:solidFill>
                  <a:schemeClr val="accent2"/>
                </a:solidFill>
                <a:latin typeface="Times New Roman" panose="02020603050405020304" pitchFamily="18" charset="0"/>
                <a:ea typeface="楷体_GB2312" pitchFamily="49" charset="-122"/>
              </a:rPr>
              <a:t>}</a:t>
            </a:r>
            <a:endParaRPr lang="en-US" altLang="zh-CN" sz="3600" dirty="0">
              <a:solidFill>
                <a:schemeClr val="accent2"/>
              </a:solidFill>
              <a:latin typeface="Times New Roman" panose="02020603050405020304" pitchFamily="18" charset="0"/>
              <a:ea typeface="楷体_GB2312" pitchFamily="49"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4581"/>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4582"/>
                                        </p:tgtEl>
                                        <p:attrNameLst>
                                          <p:attrName>style.visibility</p:attrName>
                                        </p:attrNameLst>
                                      </p:cBhvr>
                                      <p:to>
                                        <p:strVal val="visible"/>
                                      </p:to>
                                    </p:set>
                                    <p:animEffect transition="in" filter="strips(downRight)">
                                      <p:cBhvr>
                                        <p:cTn id="10" dur="500"/>
                                        <p:tgtEl>
                                          <p:spTgt spid="24582"/>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24583"/>
                                        </p:tgtEl>
                                        <p:attrNameLst>
                                          <p:attrName>style.visibility</p:attrName>
                                        </p:attrNameLst>
                                      </p:cBhvr>
                                      <p:to>
                                        <p:strVal val="visible"/>
                                      </p:to>
                                    </p:set>
                                    <p:animEffect transition="in" filter="strips(downRight)">
                                      <p:cBhvr>
                                        <p:cTn id="15"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24583"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41986"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476250"/>
            <a:ext cx="9144000" cy="5400675"/>
          </a:xfrm>
          <a:prstGeom prst="rect">
            <a:avLst/>
          </a:prstGeom>
          <a:noFill/>
          <a:ln w="9525">
            <a:noFill/>
          </a:ln>
        </p:spPr>
      </p:pic>
      <p:sp>
        <p:nvSpPr>
          <p:cNvPr id="697349" name="AutoShape 5"/>
          <p:cNvSpPr/>
          <p:nvPr/>
        </p:nvSpPr>
        <p:spPr bwMode="auto">
          <a:xfrm>
            <a:off x="7596188" y="3594100"/>
            <a:ext cx="1296988" cy="1490663"/>
          </a:xfrm>
          <a:prstGeom prst="callout1">
            <a:avLst>
              <a:gd name="adj1" fmla="val -5111"/>
              <a:gd name="adj2" fmla="val 91185"/>
              <a:gd name="adj3" fmla="val -5111"/>
              <a:gd name="adj4" fmla="val -76255"/>
            </a:avLst>
          </a:prstGeom>
          <a:noFill/>
          <a:ln w="9525">
            <a:solidFill>
              <a:schemeClr val="accent2"/>
            </a:solid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如果没有哨兵</a:t>
            </a:r>
            <a:r>
              <a:rPr kumimoji="0" lang="en-US" altLang="zh-CN"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zh-CN" altLang="en-US"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必须添加一个</a:t>
            </a:r>
            <a:r>
              <a:rPr kumimoji="0" lang="en-US" altLang="zh-CN"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j&gt;0</a:t>
            </a:r>
            <a:r>
              <a:rPr kumimoji="0" lang="zh-CN" altLang="en-US"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的判断条件</a:t>
            </a:r>
            <a:endParaRPr kumimoji="0" lang="zh-CN" altLang="en-US"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当等于哨兵时</a:t>
            </a:r>
            <a:r>
              <a:rPr kumimoji="0" lang="en-US" altLang="zh-CN"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(j==0)</a:t>
            </a:r>
            <a:endParaRPr kumimoji="0" lang="en-US" altLang="zh-CN" sz="1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98370" name="Text Box 2"/>
          <p:cNvSpPr txBox="1">
            <a:spLocks noChangeArrowheads="1"/>
          </p:cNvSpPr>
          <p:nvPr/>
        </p:nvSpPr>
        <p:spPr bwMode="auto">
          <a:xfrm>
            <a:off x="381000" y="152400"/>
            <a:ext cx="6781800" cy="64135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36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直接插入排序的算法分析</a:t>
            </a:r>
            <a:endParaRPr kumimoji="1" lang="zh-CN" altLang="en-US" sz="36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endParaRPr>
          </a:p>
        </p:txBody>
      </p:sp>
      <p:sp>
        <p:nvSpPr>
          <p:cNvPr id="698371" name="Rectangle 3"/>
          <p:cNvSpPr>
            <a:spLocks noGrp="1" noChangeArrowheads="1"/>
          </p:cNvSpPr>
          <p:nvPr>
            <p:ph idx="1"/>
          </p:nvPr>
        </p:nvSpPr>
        <p:spPr>
          <a:xfrm>
            <a:off x="457200" y="838200"/>
            <a:ext cx="7924800" cy="3962400"/>
          </a:xfrm>
        </p:spPr>
        <p:txBody>
          <a:bodyPr vert="horz" wrap="square" lIns="91440" tIns="45720" rIns="91440" bIns="45720" numCol="1" anchor="t" anchorCtr="0" compatLnSpc="1"/>
          <a:lstStyle/>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只需一个辅助空间（哨兵）</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若初始时关键字递增有序（最好情况）。每一趟排序中仅需一次关键字的比较，所以总的比较次数为</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n-1,</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不需移动。</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若初始时关键字递减有序（最坏情况）。每一趟排序中记录比较和移动次数分别为：</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52500" marR="0" lvl="1" indent="-4953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对于第</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i</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个关键字</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比较次数为</a:t>
            </a:r>
            <a:r>
              <a:rPr kumimoji="0" lang="en-US" altLang="zh-CN" sz="2000" b="1" i="0" u="none" strike="noStrike" kern="0" cap="none" spc="0" normalizeH="0" baseline="0" noProof="0" dirty="0" err="1">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rPr>
              <a:t>i</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含哨兵</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移动次数为</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mn-ea"/>
                <a:cs typeface="+mn-ea"/>
              </a:rPr>
              <a:t>i+1</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复制哨兵一次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插入</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i</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关键字一次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其他</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i-1</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graphicFrame>
        <p:nvGraphicFramePr>
          <p:cNvPr id="43012" name="Object 4"/>
          <p:cNvGraphicFramePr/>
          <p:nvPr/>
        </p:nvGraphicFramePr>
        <p:xfrm>
          <a:off x="1042988" y="3817938"/>
          <a:ext cx="6337300" cy="1597025"/>
        </p:xfrm>
        <a:graphic>
          <a:graphicData uri="http://schemas.openxmlformats.org/presentationml/2006/ole">
            <mc:AlternateContent xmlns:mc="http://schemas.openxmlformats.org/markup-compatibility/2006">
              <mc:Choice xmlns:v="urn:schemas-microsoft-com:vml" Requires="v">
                <p:oleObj spid="_x0000_s3079" name="" r:id="rId1" imgW="2665730" imgH="673100" progId="Equation.3">
                  <p:embed/>
                </p:oleObj>
              </mc:Choice>
              <mc:Fallback>
                <p:oleObj name="" r:id="rId1" imgW="2665730" imgH="673100" progId="Equation.3">
                  <p:embed/>
                  <p:pic>
                    <p:nvPicPr>
                      <p:cNvPr id="0" name="20 3078"/>
                      <p:cNvPicPr/>
                      <p:nvPr/>
                    </p:nvPicPr>
                    <p:blipFill>
                      <a:blip r:embed="rId2"/>
                      <a:stretch>
                        <a:fillRect/>
                      </a:stretch>
                    </p:blipFill>
                    <p:spPr>
                      <a:xfrm>
                        <a:off x="1042988" y="3817938"/>
                        <a:ext cx="6337300" cy="1597025"/>
                      </a:xfrm>
                      <a:prstGeom prst="rect">
                        <a:avLst/>
                      </a:prstGeom>
                      <a:noFill/>
                      <a:ln w="38100">
                        <a:noFill/>
                        <a:miter/>
                      </a:ln>
                    </p:spPr>
                  </p:pic>
                </p:oleObj>
              </mc:Fallback>
            </mc:AlternateContent>
          </a:graphicData>
        </a:graphic>
      </p:graphicFrame>
      <p:sp>
        <p:nvSpPr>
          <p:cNvPr id="698373" name="Text Box 5"/>
          <p:cNvSpPr txBox="1">
            <a:spLocks noChangeArrowheads="1"/>
          </p:cNvSpPr>
          <p:nvPr/>
        </p:nvSpPr>
        <p:spPr bwMode="auto">
          <a:xfrm>
            <a:off x="468313" y="5414963"/>
            <a:ext cx="7913688" cy="415925"/>
          </a:xfrm>
          <a:prstGeom prst="rect">
            <a:avLst/>
          </a:prstGeom>
          <a:noFill/>
          <a:ln w="9525">
            <a:noFill/>
            <a:miter lim="800000"/>
          </a:ln>
          <a:effectLst/>
        </p:spPr>
        <p:txBody>
          <a:bodyPr>
            <a:spAutoFit/>
          </a:bodyPr>
          <a:lstStyle/>
          <a:p>
            <a:pPr marR="0" indent="360680" defTabSz="914400" eaLnBrk="1" hangingPunct="1">
              <a:spcBef>
                <a:spcPct val="50000"/>
              </a:spcBef>
              <a:buClr>
                <a:srgbClr val="FF3300"/>
              </a:buClr>
              <a:buSzTx/>
              <a:buFont typeface="Wingdings" panose="05000000000000000000" pitchFamily="2" charset="2"/>
              <a:buChar char="§"/>
              <a:defRPr/>
            </a:pPr>
            <a:r>
              <a:rPr kumimoji="0" lang="zh-CN" altLang="en-US" sz="2100" kern="1200" cap="none" spc="0" normalizeH="0" baseline="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直接插入排序的时间复杂度为</a:t>
            </a:r>
            <a:r>
              <a:rPr kumimoji="0" lang="en-US" altLang="zh-CN" sz="2100" kern="1200" cap="none" spc="0" normalizeH="0" baseline="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O(n</a:t>
            </a:r>
            <a:r>
              <a:rPr kumimoji="0" lang="en-US" altLang="zh-CN" sz="2100" kern="1200" cap="none" spc="0" normalizeH="0" baseline="3000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2</a:t>
            </a:r>
            <a:r>
              <a:rPr kumimoji="0" lang="en-US" altLang="zh-CN" sz="2100" kern="1200" cap="none" spc="0" normalizeH="0" baseline="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a:t>
            </a:r>
            <a:r>
              <a:rPr kumimoji="0" lang="zh-CN" altLang="en-US" sz="2100" kern="1200" cap="none" spc="0" normalizeH="0" baseline="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是一种稳定的排序方法。</a:t>
            </a:r>
            <a:endParaRPr kumimoji="0" lang="zh-CN" altLang="en-US" sz="2100" kern="1200" cap="none" spc="0" normalizeH="0" baseline="0" noProof="0"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直接插入排序</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406400" y="1752600"/>
            <a:ext cx="8504238"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当待排序记录的数量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很小时，这种方法很好。</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但是，当</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很大时，则不宜采用直接插入排序。</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需要进行改进，从比较次数和移动次数，两个方面着手。</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Blip>
                <a:blip r:embed="rId1"/>
              </a:buBlip>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折半插入排序</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Blip>
                <a:blip r:embed="rId1"/>
              </a:buBlip>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2-</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路插入排序</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Blip>
                <a:blip r:embed="rId1"/>
              </a:buBlip>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表插入排序</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Blip>
                <a:blip r:embed="rId1"/>
              </a:buBlip>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重排</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Blip>
                <a:blip r:embed="rId1"/>
              </a:buBlip>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2.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希尔排序</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0656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缩小增量排序</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针对直接插入排序的改进</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其基于以下观察</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当直接插入排序有效时</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即接近与</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O(n)</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待排序列有如下特性</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基本有序</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n"/>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很小情况下</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直接插入排序有效</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基本思想</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先将整个待排记录序列分割成为若干子序列分别进行直接插入排序</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待整个序列基本有序时</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对全体序列进行一次直接插入排序</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希尔排序的基本思想</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基本思想</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1.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先将整个待排记录序列按某个增量分割成为若干子序列，分别进行直接插入排序</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2.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减小增量，将序列分割为更大、更有序的子序列，再分别进行直接插入排序</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3.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如此重复下去，待整个序列基本有序时</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对全体序列（增量</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）进行一次直接插入排序</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86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基本过程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0861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设待排序的记录序列有</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个记录，首先取一个整数</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d1 &lt;n</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作为间隔，将所有距离为</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d1</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的记录放在同一个序列中，对每一个子序列中分别施行直接插入排序，然后缩小间隔为</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d2 (</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如取</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d2 = d1 /2)</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，重复上述的子序列划分和排序工作，直到最后取</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dt= 1</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为止。</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48130" name="Picture 4"/>
          <p:cNvPicPr>
            <a:picLocks noChangeAspect="1"/>
          </p:cNvPicPr>
          <p:nvPr/>
        </p:nvPicPr>
        <p:blipFill>
          <a:blip r:embed="rId1"/>
          <a:stretch>
            <a:fillRect/>
          </a:stretch>
        </p:blipFill>
        <p:spPr>
          <a:xfrm>
            <a:off x="0" y="0"/>
            <a:ext cx="9144000" cy="6858000"/>
          </a:xfrm>
          <a:prstGeom prst="rect">
            <a:avLst/>
          </a:prstGeom>
          <a:noFill/>
          <a:ln w="9525">
            <a:noFill/>
          </a:ln>
        </p:spPr>
      </p:pic>
      <p:sp>
        <p:nvSpPr>
          <p:cNvPr id="707589" name="Text Box 5"/>
          <p:cNvSpPr txBox="1">
            <a:spLocks noChangeArrowheads="1"/>
          </p:cNvSpPr>
          <p:nvPr/>
        </p:nvSpPr>
        <p:spPr bwMode="auto">
          <a:xfrm>
            <a:off x="1293813" y="1401763"/>
            <a:ext cx="7985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d</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5</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07590" name="Text Box 6"/>
          <p:cNvSpPr txBox="1">
            <a:spLocks noChangeArrowheads="1"/>
          </p:cNvSpPr>
          <p:nvPr/>
        </p:nvSpPr>
        <p:spPr bwMode="auto">
          <a:xfrm>
            <a:off x="1403350" y="5013325"/>
            <a:ext cx="7985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d</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3</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07591" name="Text Box 7"/>
          <p:cNvSpPr txBox="1">
            <a:spLocks noChangeArrowheads="1"/>
          </p:cNvSpPr>
          <p:nvPr/>
        </p:nvSpPr>
        <p:spPr bwMode="auto">
          <a:xfrm>
            <a:off x="2051050" y="6461125"/>
            <a:ext cx="7985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d</a:t>
            </a:r>
            <a:r>
              <a:rPr kumimoji="0" lang="zh-CN" altLang="en-US"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1</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4754" name="Rectangle 2"/>
          <p:cNvSpPr>
            <a:spLocks noGrp="1" noChangeArrowheads="1"/>
          </p:cNvSpPr>
          <p:nvPr>
            <p:ph type="title"/>
          </p:nvPr>
        </p:nvSpPr>
        <p:spPr>
          <a:xfrm>
            <a:off x="684213" y="549275"/>
            <a:ext cx="7920038" cy="841375"/>
          </a:xfrm>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j-ea"/>
                <a:cs typeface="+mj-cs"/>
              </a:rPr>
              <a:t>希尔排序中增量</a:t>
            </a: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j-ea"/>
                <a:cs typeface="+mj-cs"/>
              </a:rPr>
              <a:t>d</a:t>
            </a:r>
            <a:r>
              <a:rPr kumimoji="0" lang="en-US" altLang="zh-CN" sz="34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j-ea"/>
                <a:cs typeface="+mj-cs"/>
              </a:rPr>
              <a:t>i</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j-ea"/>
                <a:cs typeface="+mj-cs"/>
              </a:rPr>
              <a:t>的取法</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714755" name="Rectangle 3"/>
          <p:cNvSpPr>
            <a:spLocks noGrp="1" noChangeArrowheads="1"/>
          </p:cNvSpPr>
          <p:nvPr>
            <p:ph idx="1"/>
          </p:nvPr>
        </p:nvSpPr>
        <p:spPr>
          <a:xfrm>
            <a:off x="684213" y="1752600"/>
            <a:ext cx="7127875" cy="4268788"/>
          </a:xfrm>
        </p:spPr>
        <p:txBody>
          <a:bodyPr vert="horz" wrap="square" lIns="91440" tIns="45720" rIns="91440" bIns="45720" numCol="1" anchor="t" anchorCtr="0" compatLnSpc="1"/>
          <a:lstStyle/>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最初方案</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52500" marR="0" lvl="1" indent="-4953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 n/2, 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i+1</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 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/2</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，直到</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=1</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Knuth</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lang="zh-CN" altLang="en-US" sz="3400" noProof="0">
                <a:ln>
                  <a:noFill/>
                </a:ln>
                <a:uLnTx/>
                <a:uFillTx/>
                <a:latin typeface="Times New Roman" panose="02020603050405020304" pitchFamily="18" charset="0"/>
                <a:sym typeface="+mn-ea"/>
              </a:rPr>
              <a:t>克努斯，一位著名的计算机科学家和数学家</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）的方案</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52500" marR="0" lvl="1" indent="-4953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i+1</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 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 /3+1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其它方案</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52500" marR="0" lvl="1" indent="-4953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取奇数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52500" marR="0" lvl="1" indent="-4953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d</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互质</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533400" marR="0" lvl="0" indent="-5334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defRPr/>
            </a:pPr>
            <a:endParaRPr kumimoji="0" lang="en-US" altLang="zh-CN" sz="34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1685" name="Rectangle 5"/>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希尔排序性能分析</a:t>
            </a:r>
            <a:endParaRPr kumimoji="1"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711686" name="Rectangle 6"/>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当</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值较小时，</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1"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2</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的差别也较小，即直接插入排序的最好时间复杂度</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O(n)</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和最坏时间复杂度</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O(n</a:t>
            </a:r>
            <a:r>
              <a:rPr kumimoji="1"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2</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差别不大。</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just" defTabSz="914400" rtl="0" eaLnBrk="1" fontAlgn="b" latinLnBrk="0" hangingPunct="1">
              <a:lnSpc>
                <a:spcPct val="100000"/>
              </a:lnSpc>
              <a:spcBef>
                <a:spcPct val="0"/>
              </a:spcBef>
              <a:spcAft>
                <a:spcPct val="0"/>
              </a:spcAft>
              <a:buClrTx/>
              <a:buSzTx/>
              <a:buFontTx/>
              <a:buNone/>
              <a:defRPr/>
            </a:pP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那么</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在希尔排序开始时</a:t>
            </a:r>
            <a:r>
              <a:rPr kumimoji="1"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增量较大，分组较多，每组的记录数目少，故各组内直接插入较快，后来增量逐渐缩小，分组数逐渐减少，而各组的记录数目逐渐增多，但组内元素已经过多次排序，数组已经比较接近有序状态，所以新的一趟排序过程也较块。</a:t>
            </a:r>
            <a:endParaRPr kumimoji="1"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5778" name="Rectangle 2"/>
          <p:cNvSpPr>
            <a:spLocks noGrp="1" noChangeArrowheads="1"/>
          </p:cNvSpPr>
          <p:nvPr>
            <p:ph type="title"/>
          </p:nvPr>
        </p:nvSpPr>
        <p:spPr>
          <a:xfrm>
            <a:off x="827088" y="549275"/>
            <a:ext cx="6723063" cy="914400"/>
          </a:xfrm>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希尔排序的算法分析</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715779" name="Rectangle 3"/>
          <p:cNvSpPr>
            <a:spLocks noGrp="1" noChangeArrowheads="1"/>
          </p:cNvSpPr>
          <p:nvPr>
            <p:ph idx="1"/>
          </p:nvPr>
        </p:nvSpPr>
        <p:spPr>
          <a:xfrm>
            <a:off x="611188" y="1844675"/>
            <a:ext cx="7940675" cy="4248150"/>
          </a:xfrm>
        </p:spPr>
        <p:txBody>
          <a:bodyPr vert="horz" wrap="square" lIns="91440" tIns="45720" rIns="91440" bIns="45720" numCol="1" anchor="t" anchorCtr="0" compatLnSpc="1"/>
          <a:lstStyle/>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对希尔排序的复杂度的分析很困难，在特定情况下可以准确地估算关键字的比较和记录移动次数，但是考虑到与增量之间的依赖关系，并要给出完整的数学分析，目前还做不到。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Knuth</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（克努斯）的统计结论是，平均比较次数和记录平均移动次数在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1.25</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1.6n</a:t>
            </a:r>
            <a:r>
              <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1.25</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之间。</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希尔排序是一种不稳定的排序方法。</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533400" marR="0" lvl="0" indent="-5334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endPar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排序算法稳定性的意义</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例如：要排序的内容是一组原本按照价格高低排序的对象，如今需要按照销量高低排序，使用稳定性算法，可以使得相同销量的对象依旧保持着价格高低的排序展现，只有销量不同的才会重新排序。</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小结</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直接插入排序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希尔排序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06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2.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交换排序</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1065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两两比较待排序的记录的关键字，如果发生逆序，则交换之，直到全部记录都排好为止</a:t>
            </a:r>
            <a:endPar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起泡排序</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(bubble sort)</a:t>
            </a:r>
            <a:endPar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快速排序</a:t>
            </a:r>
            <a:r>
              <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(quick sort)</a:t>
            </a:r>
            <a:endParaRPr kumimoji="1"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交换排序</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基本思想：两两比较待排序记录的关键字，发现逆序则对二者进行交换，直到没有逆序对为止。</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起泡排序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1680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120000"/>
              </a:lnSpc>
              <a:spcBef>
                <a:spcPct val="0"/>
              </a:spcBef>
              <a:spcAft>
                <a:spcPct val="0"/>
              </a:spcAft>
              <a:buClr>
                <a:srgbClr val="FF3300"/>
              </a:buClr>
              <a:buSzTx/>
              <a:buFont typeface="Wingdings" panose="05000000000000000000" pitchFamily="2" charset="2"/>
              <a:buChar char="§"/>
              <a:defRPr/>
            </a:pP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初始时</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r[1..n]</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为无序区</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第一趟扫描时，依次比较</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(r[1]</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r[2])</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(r[2]</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r[3])</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(r[n-1]</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r[n])</a:t>
            </a:r>
            <a:endPar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just" defTabSz="914400" rtl="0" eaLnBrk="1" fontAlgn="base" latinLnBrk="0" hangingPunct="1">
              <a:lnSpc>
                <a:spcPct val="120000"/>
              </a:lnSpc>
              <a:spcBef>
                <a:spcPct val="0"/>
              </a:spcBef>
              <a:spcAft>
                <a:spcPct val="0"/>
              </a:spcAft>
              <a:buClr>
                <a:srgbClr val="FF3300"/>
              </a:buClr>
              <a:buSzTx/>
              <a:buFont typeface="Wingdings" panose="05000000000000000000" pitchFamily="2" charset="2"/>
              <a:buChar char="§"/>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对于</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(r[j]</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r[j+1])</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，若</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r[j].key&gt;r[j+1].key</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，则交换</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r[j]</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和</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r[j+1]</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的内容。</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just" defTabSz="914400" rtl="0" eaLnBrk="1" fontAlgn="base" latinLnBrk="0" hangingPunct="1">
              <a:lnSpc>
                <a:spcPct val="120000"/>
              </a:lnSpc>
              <a:spcBef>
                <a:spcPct val="0"/>
              </a:spcBef>
              <a:spcAft>
                <a:spcPct val="0"/>
              </a:spcAft>
              <a:buClr>
                <a:srgbClr val="FF3300"/>
              </a:buClr>
              <a:buSzTx/>
              <a:buFont typeface="Wingdings" panose="05000000000000000000" pitchFamily="2" charset="2"/>
              <a:buChar char="§"/>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第一趟扫描结束时“最重”的气泡在区间的底部，即关键字最大的记录被放在</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r[n]</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上。</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just" defTabSz="914400" rtl="0" eaLnBrk="1" fontAlgn="base" latinLnBrk="0" hangingPunct="1">
              <a:lnSpc>
                <a:spcPct val="120000"/>
              </a:lnSpc>
              <a:spcBef>
                <a:spcPct val="0"/>
              </a:spcBef>
              <a:spcAft>
                <a:spcPct val="0"/>
              </a:spcAft>
              <a:buClr>
                <a:srgbClr val="FF3300"/>
              </a:buClr>
              <a:buSzTx/>
              <a:buFont typeface="Wingdings" panose="05000000000000000000" pitchFamily="2" charset="2"/>
              <a:buChar char="§"/>
              <a:defRPr/>
            </a:pP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第二趟扫描</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r[1..n-1]</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。扫描完毕时，“次重”的气泡在</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r[n-1]</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的位置上。</a:t>
            </a:r>
            <a:endPar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just" defTabSz="914400" rtl="0" eaLnBrk="1" fontAlgn="base" latinLnBrk="0" hangingPunct="1">
              <a:lnSpc>
                <a:spcPct val="120000"/>
              </a:lnSpc>
              <a:spcBef>
                <a:spcPct val="0"/>
              </a:spcBef>
              <a:spcAft>
                <a:spcPct val="0"/>
              </a:spcAft>
              <a:buClr>
                <a:srgbClr val="FF3300"/>
              </a:buClr>
              <a:buSzTx/>
              <a:buFont typeface="Wingdings" panose="05000000000000000000" pitchFamily="2" charset="2"/>
              <a:buChar char="§"/>
              <a:defRPr/>
            </a:pP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最后，经过</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n-1</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趟扫描可得到有序区</a:t>
            </a:r>
            <a:r>
              <a:rPr kumimoji="0" lang="en-US" altLang="zh-CN"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r[1..n]</a:t>
            </a:r>
            <a:r>
              <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25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8370" name="Picture 4"/>
          <p:cNvPicPr>
            <a:picLocks noChangeAspect="1"/>
          </p:cNvPicPr>
          <p:nvPr/>
        </p:nvPicPr>
        <p:blipFill>
          <a:blip r:embed="rId1"/>
          <a:stretch>
            <a:fillRect/>
          </a:stretch>
        </p:blipFill>
        <p:spPr>
          <a:xfrm>
            <a:off x="539750" y="333375"/>
            <a:ext cx="7812088" cy="5976938"/>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0898" name="Text Box 2"/>
          <p:cNvSpPr txBox="1">
            <a:spLocks noChangeArrowheads="1"/>
          </p:cNvSpPr>
          <p:nvPr/>
        </p:nvSpPr>
        <p:spPr bwMode="auto">
          <a:xfrm>
            <a:off x="1547813" y="0"/>
            <a:ext cx="6400800" cy="6481763"/>
          </a:xfrm>
          <a:prstGeom prst="rect">
            <a:avLst/>
          </a:prstGeom>
          <a:noFill/>
          <a:ln w="9525">
            <a:noFill/>
            <a:miter lim="800000"/>
          </a:ln>
          <a:effectLst/>
        </p:spPr>
        <p:txBody>
          <a:bodyPr>
            <a:spAutoFit/>
          </a:bodyPr>
          <a:lstStyle/>
          <a:p>
            <a:pPr marR="0" algn="ctr" defTabSz="914400" eaLnBrk="1" hangingPunct="1">
              <a:lnSpc>
                <a:spcPct val="75000"/>
              </a:lnSpc>
              <a:spcBef>
                <a:spcPct val="40000"/>
              </a:spcBef>
              <a:buClrTx/>
              <a:buSzTx/>
              <a:buFontTx/>
              <a:buNone/>
              <a:defRPr/>
            </a:pPr>
            <a:r>
              <a:rPr kumimoji="1" lang="zh-CN" altLang="en-US" sz="3200" kern="1200" cap="none" spc="0" normalizeH="0" baseline="0" noProof="0">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起泡排序算法</a:t>
            </a:r>
            <a:endParaRPr kumimoji="1" lang="zh-CN" altLang="en-US" sz="3200" kern="1200" cap="none" spc="0" normalizeH="0" baseline="0" noProof="0">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a:p>
            <a:pPr marR="0" algn="just" defTabSz="914400" eaLnBrk="1" hangingPunct="1">
              <a:lnSpc>
                <a:spcPct val="110000"/>
              </a:lnSpc>
              <a:buClrTx/>
              <a:buSzTx/>
              <a:buFontTx/>
              <a:buNone/>
              <a:defRPr/>
            </a:pPr>
            <a:r>
              <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void BubbleSort(SqList R)</a:t>
            </a:r>
            <a:endPar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R="0" algn="just" defTabSz="914400" eaLnBrk="1" hangingPunct="1">
              <a:lnSpc>
                <a:spcPct val="110000"/>
              </a:lnSpc>
              <a:buClrTx/>
              <a:buSzTx/>
              <a:buFontTx/>
              <a:buNone/>
              <a:defRPr/>
            </a:pPr>
            <a:r>
              <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int i</a:t>
            </a:r>
            <a:r>
              <a:rPr kumimoji="1" lang="zh-CN" altLang="en-US" sz="2400" kern="1200" cap="none" spc="0" normalizeH="0" baseline="0" noProof="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j</a:t>
            </a:r>
            <a:r>
              <a:rPr kumimoji="1" lang="zh-CN" altLang="en-US" sz="2400" kern="1200" cap="none" spc="0" normalizeH="0" baseline="0" noProof="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kern="1200" cap="none" spc="0" normalizeH="0" baseline="0" noProof="0">
                <a:solidFill>
                  <a:schemeClr val="accent2"/>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exchange</a:t>
            </a:r>
            <a:r>
              <a:rPr kumimoji="1" lang="zh-CN" altLang="en-US" sz="2400" kern="1200" cap="none" spc="0" normalizeH="0" baseline="0" noProof="0">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for(i=1;i&lt;n;i++)  {</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exchange=0</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for(j=n-1;j&gt;=i</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j--)</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if(R[j+1].key&lt;R[j].key) {</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R[0]=R[j+1]</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R[j+1]=R[j]</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R[j]=R[0]</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exchange=1</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if(!exchange)</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break</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L="457200" marR="0" lvl="1" indent="0" algn="just" defTabSz="914400" rtl="0" eaLnBrk="1" fontAlgn="base" latinLnBrk="0" hangingPunct="1">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a:p>
            <a:pPr marR="0" algn="just" defTabSz="914400" eaLnBrk="1" hangingPunct="1">
              <a:lnSpc>
                <a:spcPct val="110000"/>
              </a:lnSpc>
              <a:buClrTx/>
              <a:buSzTx/>
              <a:buFontTx/>
              <a:buNone/>
              <a:defRPr/>
            </a:pPr>
            <a:r>
              <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rPr>
              <a:t>}</a:t>
            </a:r>
            <a:endParaRPr kumimoji="1" lang="en-US" altLang="zh-CN" sz="2400" kern="1200" cap="none" spc="0" normalizeH="0" baseline="0" noProof="0">
              <a:solidFill>
                <a:schemeClr val="tx1"/>
              </a:solidFill>
              <a:latin typeface="Times New Roman" panose="02020603050405020304" pitchFamily="18" charset="0"/>
              <a:ea typeface="宋体" panose="02010600030101010101" pitchFamily="2" charset="-122"/>
              <a:cs typeface="Courier New" panose="02070309020205020404" pitchFamily="49" charset="0"/>
              <a:sym typeface="Symbol" panose="05050102010706020507" pitchFamily="18" charset="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1922" name="Rectangle 2"/>
          <p:cNvSpPr>
            <a:spLocks noGrp="1" noChangeArrowheads="1"/>
          </p:cNvSpPr>
          <p:nvPr>
            <p:ph type="title"/>
          </p:nvPr>
        </p:nvSpPr>
        <p:spPr>
          <a:xfrm>
            <a:off x="684213" y="692150"/>
            <a:ext cx="7010400" cy="696913"/>
          </a:xfrm>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9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冒泡排序的算法分析</a:t>
            </a:r>
            <a:endParaRPr kumimoji="0" lang="zh-CN" altLang="en-US" sz="29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721923" name="Text Box 3"/>
          <p:cNvSpPr txBox="1">
            <a:spLocks noChangeArrowheads="1"/>
          </p:cNvSpPr>
          <p:nvPr/>
        </p:nvSpPr>
        <p:spPr bwMode="auto">
          <a:xfrm>
            <a:off x="684213" y="1773238"/>
            <a:ext cx="7920038" cy="1917700"/>
          </a:xfrm>
          <a:prstGeom prst="rect">
            <a:avLst/>
          </a:prstGeom>
          <a:noFill/>
          <a:ln w="9525">
            <a:noFill/>
            <a:miter lim="800000"/>
          </a:ln>
          <a:effectLst/>
        </p:spPr>
        <p:txBody>
          <a:bodyPr>
            <a:spAutoFit/>
          </a:bodyPr>
          <a:lstStyle/>
          <a:p>
            <a:pPr marL="457200" marR="0" indent="-457200" defTabSz="914400" eaLnBrk="1" hangingPunct="1">
              <a:buClr>
                <a:srgbClr val="FF3300"/>
              </a:buClr>
              <a:buSzTx/>
              <a:buFont typeface="Wingdings" panose="05000000000000000000" pitchFamily="2" charset="2"/>
              <a:buChar char="§"/>
              <a:defRPr/>
            </a:pP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最好情况</a:t>
            </a:r>
            <a:r>
              <a:rPr kumimoji="1" lang="en-US" altLang="zh-CN"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递增有序的，一趟扫描就可完成排序，关键字的比较次数为</a:t>
            </a:r>
            <a:r>
              <a:rPr kumimoji="1" lang="en-US" altLang="zh-CN"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n-1</a:t>
            </a: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，没有记录移动。</a:t>
            </a:r>
            <a:endPar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endParaRPr>
          </a:p>
          <a:p>
            <a:pPr marL="457200" marR="0" indent="-457200" defTabSz="914400" eaLnBrk="1" hangingPunct="1">
              <a:buClr>
                <a:srgbClr val="FF3300"/>
              </a:buClr>
              <a:buSzTx/>
              <a:buFont typeface="Wingdings" panose="05000000000000000000" pitchFamily="2" charset="2"/>
              <a:buChar char="§"/>
              <a:defRPr/>
            </a:pP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最坏情况</a:t>
            </a:r>
            <a:r>
              <a:rPr kumimoji="1" lang="en-US" altLang="zh-CN"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反序，则需要进行</a:t>
            </a:r>
            <a:r>
              <a:rPr kumimoji="1" lang="en-US" altLang="zh-CN"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n-1</a:t>
            </a: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趟扫描，每趟扫描要进行</a:t>
            </a:r>
            <a:r>
              <a:rPr kumimoji="1" lang="en-US" altLang="zh-CN"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n-i</a:t>
            </a:r>
            <a:r>
              <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rPr>
              <a:t>次关键字的比较，且每次需要移动记录三次，因此，最大比较次数和移动次数分别为：</a:t>
            </a:r>
            <a:endParaRPr kumimoji="1" lang="zh-CN" altLang="en-US" sz="2400" kern="1200" cap="none" spc="0" normalizeH="0" baseline="0" noProof="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cs typeface="+mn-cs"/>
              <a:sym typeface="Symbol" panose="05050102010706020507" pitchFamily="18" charset="2"/>
            </a:endParaRPr>
          </a:p>
        </p:txBody>
      </p:sp>
      <p:sp>
        <p:nvSpPr>
          <p:cNvPr id="721924" name="Rectangle 4"/>
          <p:cNvSpPr>
            <a:spLocks noChangeArrowheads="1"/>
          </p:cNvSpPr>
          <p:nvPr/>
        </p:nvSpPr>
        <p:spPr bwMode="auto">
          <a:xfrm>
            <a:off x="801688" y="5137150"/>
            <a:ext cx="4002088"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冒泡排序方法是稳定的。</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endParaRPr>
          </a:p>
        </p:txBody>
      </p:sp>
      <p:graphicFrame>
        <p:nvGraphicFramePr>
          <p:cNvPr id="60421" name="Object 5"/>
          <p:cNvGraphicFramePr/>
          <p:nvPr/>
        </p:nvGraphicFramePr>
        <p:xfrm>
          <a:off x="1187450" y="3716338"/>
          <a:ext cx="5156200" cy="1358900"/>
        </p:xfrm>
        <a:graphic>
          <a:graphicData uri="http://schemas.openxmlformats.org/presentationml/2006/ole">
            <mc:AlternateContent xmlns:mc="http://schemas.openxmlformats.org/markup-compatibility/2006">
              <mc:Choice xmlns:v="urn:schemas-microsoft-com:vml" Requires="v">
                <p:oleObj spid="_x0000_s3078" name="" r:id="rId1" imgW="2551430" imgH="673100" progId="Equation.3">
                  <p:embed/>
                </p:oleObj>
              </mc:Choice>
              <mc:Fallback>
                <p:oleObj name="" r:id="rId1" imgW="2551430" imgH="673100" progId="Equation.3">
                  <p:embed/>
                  <p:pic>
                    <p:nvPicPr>
                      <p:cNvPr id="0" name="20 3077"/>
                      <p:cNvPicPr/>
                      <p:nvPr/>
                    </p:nvPicPr>
                    <p:blipFill>
                      <a:blip r:embed="rId2"/>
                      <a:stretch>
                        <a:fillRect/>
                      </a:stretch>
                    </p:blipFill>
                    <p:spPr>
                      <a:xfrm>
                        <a:off x="1187450" y="3716338"/>
                        <a:ext cx="5156200" cy="1358900"/>
                      </a:xfrm>
                      <a:prstGeom prst="rect">
                        <a:avLst/>
                      </a:prstGeom>
                      <a:noFill/>
                      <a:ln w="38100">
                        <a:noFill/>
                        <a:miter/>
                      </a:ln>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9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快速排序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198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通过一趟排序将待排记录分割成独立的两个部分</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其中一部分的关键字均小于另一个部分关键字</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然后对两个部分分别排序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设待排序列为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{r[s],r[s+1],</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排序基本过程为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任选一个记录为枢轴</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通常设为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r[s]),</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将所有小于枢轴的关键字放置在枢轴之前</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反之</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放置枢轴之后</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此时</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设枢轴在位置</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则原序列被分为</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{r[s],r[s+1],</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,r[i-1]}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和</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{r[i+1],r[i+2],</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,r[t]}</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然后对两个部分分别快速排序</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快速排序</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62467" name="内容占位符 3"/>
          <p:cNvPicPr>
            <a:picLocks noChangeAspect="1"/>
          </p:cNvPicPr>
          <p:nvPr>
            <p:ph idx="1"/>
          </p:nvPr>
        </p:nvPicPr>
        <p:blipFill>
          <a:blip r:embed="rId1"/>
          <a:srcRect/>
          <a:stretch>
            <a:fillRect/>
          </a:stretch>
        </p:blipFill>
        <p:spPr>
          <a:xfrm>
            <a:off x="574675" y="1778000"/>
            <a:ext cx="8001000" cy="4240213"/>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29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具体过程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92931" name="Rectangle 3"/>
          <p:cNvSpPr>
            <a:spLocks noGrp="1" noChangeArrowheads="1"/>
          </p:cNvSpPr>
          <p:nvPr>
            <p:ph type="body" sz="half" idx="1"/>
          </p:nvPr>
        </p:nvSpPr>
        <p:spPr>
          <a:xfrm>
            <a:off x="566738" y="1752600"/>
            <a:ext cx="8037513" cy="3189288"/>
          </a:xfrm>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指针</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low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r[1],high</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枢轴关键字为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pivotkey(r[1])</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high</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所指位置开始</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向前</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搜索</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直到找到第一个</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小于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pivotkey</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的记录</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并与枢轴互换</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low</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所指位置开始</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向后</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搜索</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直到找到第一个</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mn-ea"/>
                <a:cs typeface="+mn-cs"/>
              </a:rPr>
              <a:t>大于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pivotkey</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的记录</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并与枢轴互换</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571500" marR="0" lvl="0" indent="-5715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重复</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直至</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low==high</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892955" name="Group 27"/>
          <p:cNvGraphicFramePr>
            <a:graphicFrameLocks noGrp="1"/>
          </p:cNvGraphicFramePr>
          <p:nvPr>
            <p:ph sz="half" idx="1"/>
          </p:nvPr>
        </p:nvGraphicFramePr>
        <p:xfrm>
          <a:off x="1042988" y="5491163"/>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2956" name="Text Box 28"/>
          <p:cNvSpPr txBox="1">
            <a:spLocks noChangeArrowheads="1"/>
          </p:cNvSpPr>
          <p:nvPr/>
        </p:nvSpPr>
        <p:spPr bwMode="auto">
          <a:xfrm>
            <a:off x="1144588" y="6272213"/>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2957" name="Text Box 29"/>
          <p:cNvSpPr txBox="1">
            <a:spLocks noChangeArrowheads="1"/>
          </p:cNvSpPr>
          <p:nvPr/>
        </p:nvSpPr>
        <p:spPr bwMode="auto">
          <a:xfrm>
            <a:off x="7827963" y="6210300"/>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2958" name="Text Box 30"/>
          <p:cNvSpPr txBox="1">
            <a:spLocks noChangeArrowheads="1"/>
          </p:cNvSpPr>
          <p:nvPr/>
        </p:nvSpPr>
        <p:spPr bwMode="auto">
          <a:xfrm>
            <a:off x="1057275" y="4941888"/>
            <a:ext cx="293846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 =49(r[1])</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894980" name="Group 4"/>
          <p:cNvGraphicFramePr>
            <a:graphicFrameLocks noGrp="1"/>
          </p:cNvGraphicFramePr>
          <p:nvPr/>
        </p:nvGraphicFramePr>
        <p:xfrm>
          <a:off x="684213" y="981075"/>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5000" name="Text Box 24"/>
          <p:cNvSpPr txBox="1">
            <a:spLocks noChangeArrowheads="1"/>
          </p:cNvSpPr>
          <p:nvPr/>
        </p:nvSpPr>
        <p:spPr bwMode="auto">
          <a:xfrm>
            <a:off x="785813" y="1762125"/>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01" name="Text Box 25"/>
          <p:cNvSpPr txBox="1">
            <a:spLocks noChangeArrowheads="1"/>
          </p:cNvSpPr>
          <p:nvPr/>
        </p:nvSpPr>
        <p:spPr bwMode="auto">
          <a:xfrm>
            <a:off x="6877050" y="1700213"/>
            <a:ext cx="1584325"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   ↑high</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02" name="Text Box 26"/>
          <p:cNvSpPr txBox="1">
            <a:spLocks noChangeArrowheads="1"/>
          </p:cNvSpPr>
          <p:nvPr/>
        </p:nvSpPr>
        <p:spPr bwMode="auto">
          <a:xfrm>
            <a:off x="579438" y="431800"/>
            <a:ext cx="199866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Pivotkey=49</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5003" name="Group 27"/>
          <p:cNvGraphicFramePr>
            <a:graphicFrameLocks noGrp="1"/>
          </p:cNvGraphicFramePr>
          <p:nvPr/>
        </p:nvGraphicFramePr>
        <p:xfrm>
          <a:off x="611188" y="2754313"/>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5023" name="Text Box 47"/>
          <p:cNvSpPr txBox="1">
            <a:spLocks noChangeArrowheads="1"/>
          </p:cNvSpPr>
          <p:nvPr/>
        </p:nvSpPr>
        <p:spPr bwMode="auto">
          <a:xfrm>
            <a:off x="712788" y="3535363"/>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24" name="Text Box 48"/>
          <p:cNvSpPr txBox="1">
            <a:spLocks noChangeArrowheads="1"/>
          </p:cNvSpPr>
          <p:nvPr/>
        </p:nvSpPr>
        <p:spPr bwMode="auto">
          <a:xfrm>
            <a:off x="6313488" y="3473450"/>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25" name="Text Box 49"/>
          <p:cNvSpPr txBox="1">
            <a:spLocks noChangeArrowheads="1"/>
          </p:cNvSpPr>
          <p:nvPr/>
        </p:nvSpPr>
        <p:spPr bwMode="auto">
          <a:xfrm>
            <a:off x="684213" y="2205038"/>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5050" name="Group 74"/>
          <p:cNvGraphicFramePr>
            <a:graphicFrameLocks noGrp="1"/>
          </p:cNvGraphicFramePr>
          <p:nvPr/>
        </p:nvGraphicFramePr>
        <p:xfrm>
          <a:off x="684213" y="4699000"/>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5046" name="Text Box 70"/>
          <p:cNvSpPr txBox="1">
            <a:spLocks noChangeArrowheads="1"/>
          </p:cNvSpPr>
          <p:nvPr/>
        </p:nvSpPr>
        <p:spPr bwMode="auto">
          <a:xfrm>
            <a:off x="785813" y="548005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47" name="Text Box 71"/>
          <p:cNvSpPr txBox="1">
            <a:spLocks noChangeArrowheads="1"/>
          </p:cNvSpPr>
          <p:nvPr/>
        </p:nvSpPr>
        <p:spPr bwMode="auto">
          <a:xfrm>
            <a:off x="6384925" y="5373688"/>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5048" name="Text Box 72"/>
          <p:cNvSpPr txBox="1">
            <a:spLocks noChangeArrowheads="1"/>
          </p:cNvSpPr>
          <p:nvPr/>
        </p:nvSpPr>
        <p:spPr bwMode="auto">
          <a:xfrm>
            <a:off x="6443663" y="4221163"/>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896004" name="Group 4"/>
          <p:cNvGraphicFramePr>
            <a:graphicFrameLocks noGrp="1"/>
          </p:cNvGraphicFramePr>
          <p:nvPr/>
        </p:nvGraphicFramePr>
        <p:xfrm>
          <a:off x="900113" y="2455863"/>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6024" name="Text Box 24"/>
          <p:cNvSpPr txBox="1">
            <a:spLocks noChangeArrowheads="1"/>
          </p:cNvSpPr>
          <p:nvPr/>
        </p:nvSpPr>
        <p:spPr bwMode="auto">
          <a:xfrm>
            <a:off x="1333500" y="1484313"/>
            <a:ext cx="1381125"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  </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25" name="Text Box 25"/>
          <p:cNvSpPr txBox="1">
            <a:spLocks noChangeArrowheads="1"/>
          </p:cNvSpPr>
          <p:nvPr/>
        </p:nvSpPr>
        <p:spPr bwMode="auto">
          <a:xfrm>
            <a:off x="6600825" y="3130550"/>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26" name="Text Box 26"/>
          <p:cNvSpPr txBox="1">
            <a:spLocks noChangeArrowheads="1"/>
          </p:cNvSpPr>
          <p:nvPr/>
        </p:nvSpPr>
        <p:spPr bwMode="auto">
          <a:xfrm>
            <a:off x="6659563" y="1978025"/>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6051" name="Group 51"/>
          <p:cNvGraphicFramePr>
            <a:graphicFrameLocks noGrp="1"/>
          </p:cNvGraphicFramePr>
          <p:nvPr/>
        </p:nvGraphicFramePr>
        <p:xfrm>
          <a:off x="900113" y="4302125"/>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6047" name="Text Box 47"/>
          <p:cNvSpPr txBox="1">
            <a:spLocks noChangeArrowheads="1"/>
          </p:cNvSpPr>
          <p:nvPr/>
        </p:nvSpPr>
        <p:spPr bwMode="auto">
          <a:xfrm>
            <a:off x="3067050" y="504825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48" name="Text Box 48"/>
          <p:cNvSpPr txBox="1">
            <a:spLocks noChangeArrowheads="1"/>
          </p:cNvSpPr>
          <p:nvPr/>
        </p:nvSpPr>
        <p:spPr bwMode="auto">
          <a:xfrm>
            <a:off x="6600825" y="4976813"/>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49" name="Text Box 49"/>
          <p:cNvSpPr txBox="1">
            <a:spLocks noChangeArrowheads="1"/>
          </p:cNvSpPr>
          <p:nvPr/>
        </p:nvSpPr>
        <p:spPr bwMode="auto">
          <a:xfrm>
            <a:off x="2922588" y="3824288"/>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6052" name="Group 52"/>
          <p:cNvGraphicFramePr>
            <a:graphicFrameLocks noGrp="1"/>
          </p:cNvGraphicFramePr>
          <p:nvPr/>
        </p:nvGraphicFramePr>
        <p:xfrm>
          <a:off x="900113" y="765175"/>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6072" name="Text Box 72"/>
          <p:cNvSpPr txBox="1">
            <a:spLocks noChangeArrowheads="1"/>
          </p:cNvSpPr>
          <p:nvPr/>
        </p:nvSpPr>
        <p:spPr bwMode="auto">
          <a:xfrm>
            <a:off x="3132138" y="3068638"/>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73" name="Text Box 73"/>
          <p:cNvSpPr txBox="1">
            <a:spLocks noChangeArrowheads="1"/>
          </p:cNvSpPr>
          <p:nvPr/>
        </p:nvSpPr>
        <p:spPr bwMode="auto">
          <a:xfrm>
            <a:off x="6600825" y="1439863"/>
            <a:ext cx="10668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6074" name="Text Box 74"/>
          <p:cNvSpPr txBox="1">
            <a:spLocks noChangeArrowheads="1"/>
          </p:cNvSpPr>
          <p:nvPr/>
        </p:nvSpPr>
        <p:spPr bwMode="auto">
          <a:xfrm>
            <a:off x="6659563" y="287338"/>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897028" name="Group 4"/>
          <p:cNvGraphicFramePr>
            <a:graphicFrameLocks noGrp="1"/>
          </p:cNvGraphicFramePr>
          <p:nvPr/>
        </p:nvGraphicFramePr>
        <p:xfrm>
          <a:off x="755650" y="908050"/>
          <a:ext cx="7345363" cy="574675"/>
        </p:xfrm>
        <a:graphic>
          <a:graphicData uri="http://schemas.openxmlformats.org/drawingml/2006/table">
            <a:tbl>
              <a:tblPr/>
              <a:tblGrid>
                <a:gridCol w="917575"/>
                <a:gridCol w="919163"/>
                <a:gridCol w="917575"/>
                <a:gridCol w="919162"/>
                <a:gridCol w="917575"/>
                <a:gridCol w="917575"/>
                <a:gridCol w="919163"/>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7048" name="Text Box 24"/>
          <p:cNvSpPr txBox="1">
            <a:spLocks noChangeArrowheads="1"/>
          </p:cNvSpPr>
          <p:nvPr/>
        </p:nvSpPr>
        <p:spPr bwMode="auto">
          <a:xfrm>
            <a:off x="2922588" y="1654175"/>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49" name="Text Box 25"/>
          <p:cNvSpPr txBox="1">
            <a:spLocks noChangeArrowheads="1"/>
          </p:cNvSpPr>
          <p:nvPr/>
        </p:nvSpPr>
        <p:spPr bwMode="auto">
          <a:xfrm>
            <a:off x="5940425" y="1582738"/>
            <a:ext cx="1671638"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    </a:t>
            </a: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50" name="Text Box 26"/>
          <p:cNvSpPr txBox="1">
            <a:spLocks noChangeArrowheads="1"/>
          </p:cNvSpPr>
          <p:nvPr/>
        </p:nvSpPr>
        <p:spPr bwMode="auto">
          <a:xfrm>
            <a:off x="2778125" y="430213"/>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7051" name="Group 27"/>
          <p:cNvGraphicFramePr>
            <a:graphicFrameLocks noGrp="1"/>
          </p:cNvGraphicFramePr>
          <p:nvPr/>
        </p:nvGraphicFramePr>
        <p:xfrm>
          <a:off x="755650" y="2924175"/>
          <a:ext cx="7345363" cy="574675"/>
        </p:xfrm>
        <a:graphic>
          <a:graphicData uri="http://schemas.openxmlformats.org/drawingml/2006/table">
            <a:tbl>
              <a:tblPr/>
              <a:tblGrid>
                <a:gridCol w="917575"/>
                <a:gridCol w="919163"/>
                <a:gridCol w="917575"/>
                <a:gridCol w="919162"/>
                <a:gridCol w="917575"/>
                <a:gridCol w="917575"/>
                <a:gridCol w="919163"/>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7071" name="Text Box 47"/>
          <p:cNvSpPr txBox="1">
            <a:spLocks noChangeArrowheads="1"/>
          </p:cNvSpPr>
          <p:nvPr/>
        </p:nvSpPr>
        <p:spPr bwMode="auto">
          <a:xfrm>
            <a:off x="2922588" y="367030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72" name="Text Box 48"/>
          <p:cNvSpPr txBox="1">
            <a:spLocks noChangeArrowheads="1"/>
          </p:cNvSpPr>
          <p:nvPr/>
        </p:nvSpPr>
        <p:spPr bwMode="auto">
          <a:xfrm>
            <a:off x="5651500" y="3644900"/>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73" name="Text Box 49"/>
          <p:cNvSpPr txBox="1">
            <a:spLocks noChangeArrowheads="1"/>
          </p:cNvSpPr>
          <p:nvPr/>
        </p:nvSpPr>
        <p:spPr bwMode="auto">
          <a:xfrm>
            <a:off x="2778125" y="2446338"/>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7099" name="Group 75"/>
          <p:cNvGraphicFramePr>
            <a:graphicFrameLocks noGrp="1"/>
          </p:cNvGraphicFramePr>
          <p:nvPr/>
        </p:nvGraphicFramePr>
        <p:xfrm>
          <a:off x="827088" y="4652963"/>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7094" name="Text Box 70"/>
          <p:cNvSpPr txBox="1">
            <a:spLocks noChangeArrowheads="1"/>
          </p:cNvSpPr>
          <p:nvPr/>
        </p:nvSpPr>
        <p:spPr bwMode="auto">
          <a:xfrm>
            <a:off x="2994025" y="5399088"/>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95" name="Text Box 71"/>
          <p:cNvSpPr txBox="1">
            <a:spLocks noChangeArrowheads="1"/>
          </p:cNvSpPr>
          <p:nvPr/>
        </p:nvSpPr>
        <p:spPr bwMode="auto">
          <a:xfrm>
            <a:off x="5722938" y="5373688"/>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7096" name="Text Box 72"/>
          <p:cNvSpPr txBox="1">
            <a:spLocks noChangeArrowheads="1"/>
          </p:cNvSpPr>
          <p:nvPr/>
        </p:nvSpPr>
        <p:spPr bwMode="auto">
          <a:xfrm>
            <a:off x="5508625" y="4149725"/>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898052" name="Group 4"/>
          <p:cNvGraphicFramePr>
            <a:graphicFrameLocks noGrp="1"/>
          </p:cNvGraphicFramePr>
          <p:nvPr/>
        </p:nvGraphicFramePr>
        <p:xfrm>
          <a:off x="827088" y="836613"/>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8072" name="Text Box 24"/>
          <p:cNvSpPr txBox="1">
            <a:spLocks noChangeArrowheads="1"/>
          </p:cNvSpPr>
          <p:nvPr/>
        </p:nvSpPr>
        <p:spPr bwMode="auto">
          <a:xfrm>
            <a:off x="2781300" y="1582738"/>
            <a:ext cx="1381125"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  </a:t>
            </a: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073" name="Text Box 25"/>
          <p:cNvSpPr txBox="1">
            <a:spLocks noChangeArrowheads="1"/>
          </p:cNvSpPr>
          <p:nvPr/>
        </p:nvSpPr>
        <p:spPr bwMode="auto">
          <a:xfrm>
            <a:off x="5722938" y="1557338"/>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074" name="Text Box 26"/>
          <p:cNvSpPr txBox="1">
            <a:spLocks noChangeArrowheads="1"/>
          </p:cNvSpPr>
          <p:nvPr/>
        </p:nvSpPr>
        <p:spPr bwMode="auto">
          <a:xfrm>
            <a:off x="5508625" y="333375"/>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8075" name="Group 27"/>
          <p:cNvGraphicFramePr>
            <a:graphicFrameLocks noGrp="1"/>
          </p:cNvGraphicFramePr>
          <p:nvPr/>
        </p:nvGraphicFramePr>
        <p:xfrm>
          <a:off x="900113" y="2997200"/>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8095" name="Text Box 47"/>
          <p:cNvSpPr txBox="1">
            <a:spLocks noChangeArrowheads="1"/>
          </p:cNvSpPr>
          <p:nvPr/>
        </p:nvSpPr>
        <p:spPr bwMode="auto">
          <a:xfrm>
            <a:off x="3852863" y="3789363"/>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096" name="Text Box 48"/>
          <p:cNvSpPr txBox="1">
            <a:spLocks noChangeArrowheads="1"/>
          </p:cNvSpPr>
          <p:nvPr/>
        </p:nvSpPr>
        <p:spPr bwMode="auto">
          <a:xfrm>
            <a:off x="5795963" y="3717925"/>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097" name="Text Box 49"/>
          <p:cNvSpPr txBox="1">
            <a:spLocks noChangeArrowheads="1"/>
          </p:cNvSpPr>
          <p:nvPr/>
        </p:nvSpPr>
        <p:spPr bwMode="auto">
          <a:xfrm>
            <a:off x="5581650" y="2493963"/>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8122" name="Group 74"/>
          <p:cNvGraphicFramePr>
            <a:graphicFrameLocks noGrp="1"/>
          </p:cNvGraphicFramePr>
          <p:nvPr/>
        </p:nvGraphicFramePr>
        <p:xfrm>
          <a:off x="971550" y="5119688"/>
          <a:ext cx="7345363" cy="574675"/>
        </p:xfrm>
        <a:graphic>
          <a:graphicData uri="http://schemas.openxmlformats.org/drawingml/2006/table">
            <a:tbl>
              <a:tblPr/>
              <a:tblGrid>
                <a:gridCol w="917575"/>
                <a:gridCol w="919163"/>
                <a:gridCol w="917575"/>
                <a:gridCol w="919162"/>
                <a:gridCol w="917575"/>
                <a:gridCol w="917575"/>
                <a:gridCol w="919163"/>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8118" name="Text Box 70"/>
          <p:cNvSpPr txBox="1">
            <a:spLocks noChangeArrowheads="1"/>
          </p:cNvSpPr>
          <p:nvPr/>
        </p:nvSpPr>
        <p:spPr bwMode="auto">
          <a:xfrm>
            <a:off x="3924300" y="5911850"/>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119" name="Text Box 71"/>
          <p:cNvSpPr txBox="1">
            <a:spLocks noChangeArrowheads="1"/>
          </p:cNvSpPr>
          <p:nvPr/>
        </p:nvSpPr>
        <p:spPr bwMode="auto">
          <a:xfrm>
            <a:off x="5867400" y="5840413"/>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8120" name="Text Box 72"/>
          <p:cNvSpPr txBox="1">
            <a:spLocks noChangeArrowheads="1"/>
          </p:cNvSpPr>
          <p:nvPr/>
        </p:nvSpPr>
        <p:spPr bwMode="auto">
          <a:xfrm>
            <a:off x="4067175" y="4581525"/>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899076" name="Group 4"/>
          <p:cNvGraphicFramePr>
            <a:graphicFrameLocks noGrp="1"/>
          </p:cNvGraphicFramePr>
          <p:nvPr/>
        </p:nvGraphicFramePr>
        <p:xfrm>
          <a:off x="827088" y="765175"/>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9096" name="Text Box 24"/>
          <p:cNvSpPr txBox="1">
            <a:spLocks noChangeArrowheads="1"/>
          </p:cNvSpPr>
          <p:nvPr/>
        </p:nvSpPr>
        <p:spPr bwMode="auto">
          <a:xfrm>
            <a:off x="3779838" y="1557338"/>
            <a:ext cx="950913"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097" name="Text Box 25"/>
          <p:cNvSpPr txBox="1">
            <a:spLocks noChangeArrowheads="1"/>
          </p:cNvSpPr>
          <p:nvPr/>
        </p:nvSpPr>
        <p:spPr bwMode="auto">
          <a:xfrm>
            <a:off x="5292725" y="1484313"/>
            <a:ext cx="1585913"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  </a:t>
            </a: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098" name="Text Box 26"/>
          <p:cNvSpPr txBox="1">
            <a:spLocks noChangeArrowheads="1"/>
          </p:cNvSpPr>
          <p:nvPr/>
        </p:nvSpPr>
        <p:spPr bwMode="auto">
          <a:xfrm>
            <a:off x="3922713" y="227013"/>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9099" name="Group 27"/>
          <p:cNvGraphicFramePr>
            <a:graphicFrameLocks noGrp="1"/>
          </p:cNvGraphicFramePr>
          <p:nvPr/>
        </p:nvGraphicFramePr>
        <p:xfrm>
          <a:off x="900113" y="2852738"/>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hlink"/>
                          </a:solidFill>
                          <a:effectLst>
                            <a:outerShdw blurRad="38100" dist="38100" dir="2700000" algn="tl">
                              <a:srgbClr val="C0C0C0"/>
                            </a:outerShdw>
                          </a:effectLst>
                          <a:latin typeface="Verdana" panose="020B0604030504040204" pitchFamily="34" charset="0"/>
                          <a:ea typeface="宋体" panose="02010600030101010101" pitchFamily="2" charset="-122"/>
                        </a:rPr>
                        <a:t>49</a:t>
                      </a:r>
                      <a:endParaRPr kumimoji="0" lang="en-US"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9119" name="Text Box 47"/>
          <p:cNvSpPr txBox="1">
            <a:spLocks noChangeArrowheads="1"/>
          </p:cNvSpPr>
          <p:nvPr/>
        </p:nvSpPr>
        <p:spPr bwMode="auto">
          <a:xfrm>
            <a:off x="3563938" y="3644900"/>
            <a:ext cx="10922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20" name="Text Box 48"/>
          <p:cNvSpPr txBox="1">
            <a:spLocks noChangeArrowheads="1"/>
          </p:cNvSpPr>
          <p:nvPr/>
        </p:nvSpPr>
        <p:spPr bwMode="auto">
          <a:xfrm>
            <a:off x="4356100" y="3644900"/>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21" name="Text Box 49"/>
          <p:cNvSpPr txBox="1">
            <a:spLocks noChangeArrowheads="1"/>
          </p:cNvSpPr>
          <p:nvPr/>
        </p:nvSpPr>
        <p:spPr bwMode="auto">
          <a:xfrm>
            <a:off x="3995738" y="2314575"/>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graphicFrame>
        <p:nvGraphicFramePr>
          <p:cNvPr id="899149" name="Group 77"/>
          <p:cNvGraphicFramePr>
            <a:graphicFrameLocks noGrp="1"/>
          </p:cNvGraphicFramePr>
          <p:nvPr/>
        </p:nvGraphicFramePr>
        <p:xfrm>
          <a:off x="900113" y="5013325"/>
          <a:ext cx="7345363" cy="574675"/>
        </p:xfrm>
        <a:graphic>
          <a:graphicData uri="http://schemas.openxmlformats.org/drawingml/2006/table">
            <a:tbl>
              <a:tblPr/>
              <a:tblGrid>
                <a:gridCol w="917575"/>
                <a:gridCol w="919162"/>
                <a:gridCol w="917575"/>
                <a:gridCol w="919163"/>
                <a:gridCol w="917575"/>
                <a:gridCol w="917575"/>
                <a:gridCol w="919162"/>
                <a:gridCol w="917575"/>
              </a:tblGrid>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27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38</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13</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600" b="1" i="0" u="none" strike="noStrike" cap="none" normalizeH="0" baseline="0">
                        <a:ln>
                          <a:noFill/>
                        </a:ln>
                        <a:solidFill>
                          <a:schemeClr val="accent2"/>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76</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97</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65</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rPr>
                        <a:t>49</a:t>
                      </a: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9150" name="Text Box 78"/>
          <p:cNvSpPr txBox="1">
            <a:spLocks noChangeArrowheads="1"/>
          </p:cNvSpPr>
          <p:nvPr/>
        </p:nvSpPr>
        <p:spPr bwMode="auto">
          <a:xfrm>
            <a:off x="900113" y="5734050"/>
            <a:ext cx="10922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51" name="Text Box 79"/>
          <p:cNvSpPr txBox="1">
            <a:spLocks noChangeArrowheads="1"/>
          </p:cNvSpPr>
          <p:nvPr/>
        </p:nvSpPr>
        <p:spPr bwMode="auto">
          <a:xfrm>
            <a:off x="2916238" y="5734050"/>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52" name="Text Box 80"/>
          <p:cNvSpPr txBox="1">
            <a:spLocks noChangeArrowheads="1"/>
          </p:cNvSpPr>
          <p:nvPr/>
        </p:nvSpPr>
        <p:spPr bwMode="auto">
          <a:xfrm>
            <a:off x="7740650" y="5734050"/>
            <a:ext cx="10668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↑high</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53" name="Text Box 81"/>
          <p:cNvSpPr txBox="1">
            <a:spLocks noChangeArrowheads="1"/>
          </p:cNvSpPr>
          <p:nvPr/>
        </p:nvSpPr>
        <p:spPr bwMode="auto">
          <a:xfrm>
            <a:off x="5003800" y="5734050"/>
            <a:ext cx="1092200" cy="396875"/>
          </a:xfrm>
          <a:prstGeom prst="rect">
            <a:avLst/>
          </a:prstGeom>
          <a:noFill/>
          <a:ln w="9525" algn="ctr">
            <a:noFill/>
            <a:miter lim="800000"/>
          </a:ln>
          <a:effectLst/>
        </p:spPr>
        <p:txBody>
          <a:bodyPr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↑low</a:t>
            </a:r>
            <a:endParaRPr kumimoji="0" lang="en-US" altLang="zh-CN" kern="1200" cap="none" spc="0" normalizeH="0" baseline="0" noProof="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54" name="Text Box 82"/>
          <p:cNvSpPr txBox="1">
            <a:spLocks noChangeArrowheads="1"/>
          </p:cNvSpPr>
          <p:nvPr/>
        </p:nvSpPr>
        <p:spPr bwMode="auto">
          <a:xfrm>
            <a:off x="1258888" y="4437063"/>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99155" name="Text Box 83"/>
          <p:cNvSpPr txBox="1">
            <a:spLocks noChangeArrowheads="1"/>
          </p:cNvSpPr>
          <p:nvPr/>
        </p:nvSpPr>
        <p:spPr bwMode="auto">
          <a:xfrm>
            <a:off x="4859338" y="4508500"/>
            <a:ext cx="1663700" cy="396875"/>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↓pivotkey</a:t>
            </a:r>
            <a:endParaRPr kumimoji="0" lang="en-US" altLang="zh-CN" kern="1200" cap="none" spc="0" normalizeH="0" baseline="0" noProof="0">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00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0009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算法</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10.6(a)(p274)</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每次交换一对记录需要</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次赋值操作</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排序中</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只有当</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low==high</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才是枢轴的位置。</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70658" name="Picture 4"/>
          <p:cNvPicPr>
            <a:picLocks noChangeAspect="1"/>
          </p:cNvPicPr>
          <p:nvPr/>
        </p:nvPicPr>
        <p:blipFill>
          <a:blip r:embed="rId1"/>
          <a:stretch>
            <a:fillRect/>
          </a:stretch>
        </p:blipFill>
        <p:spPr>
          <a:xfrm>
            <a:off x="755650" y="260350"/>
            <a:ext cx="7200900" cy="6029325"/>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71682" name="Picture 4"/>
          <p:cNvPicPr>
            <a:picLocks noChangeAspect="1"/>
          </p:cNvPicPr>
          <p:nvPr/>
        </p:nvPicPr>
        <p:blipFill>
          <a:blip r:embed="rId1">
            <a:clrChange>
              <a:clrFrom>
                <a:srgbClr val="FFFFFF"/>
              </a:clrFrom>
              <a:clrTo>
                <a:srgbClr val="FFFFFF">
                  <a:alpha val="0"/>
                </a:srgbClr>
              </a:clrTo>
            </a:clrChange>
          </a:blip>
          <a:stretch>
            <a:fillRect/>
          </a:stretch>
        </p:blipFill>
        <p:spPr>
          <a:xfrm>
            <a:off x="323850" y="1484313"/>
            <a:ext cx="8569325" cy="302895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72706"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765175"/>
            <a:ext cx="9144000" cy="496887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73730"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908050"/>
            <a:ext cx="9144000" cy="5184775"/>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7042" name="Rectangle 2"/>
          <p:cNvSpPr>
            <a:spLocks noGrp="1" noChangeArrowheads="1"/>
          </p:cNvSpPr>
          <p:nvPr>
            <p:ph type="title" idx="4294967295"/>
          </p:nvPr>
        </p:nvSpPr>
        <p:spPr>
          <a:xfrm>
            <a:off x="250825" y="0"/>
            <a:ext cx="7010400" cy="685800"/>
          </a:xfrm>
        </p:spPr>
        <p:txBody>
          <a:bodyPr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快速排序的算法分析－时间</a:t>
            </a:r>
            <a:endParaRPr kumimoji="0" lang="zh-CN" altLang="en-US" sz="3200" b="1"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endParaRPr>
          </a:p>
        </p:txBody>
      </p:sp>
      <p:sp>
        <p:nvSpPr>
          <p:cNvPr id="727043" name="Rectangle 3"/>
          <p:cNvSpPr>
            <a:spLocks noChangeArrowheads="1"/>
          </p:cNvSpPr>
          <p:nvPr/>
        </p:nvSpPr>
        <p:spPr bwMode="auto">
          <a:xfrm>
            <a:off x="323850" y="3644900"/>
            <a:ext cx="8534400" cy="2790825"/>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ct val="50000"/>
              </a:spcBef>
              <a:spcAft>
                <a:spcPct val="0"/>
              </a:spcAft>
              <a:buClr>
                <a:srgbClr val="FF3300"/>
              </a:buClr>
              <a:buSzTx/>
              <a:buFont typeface="Wingdings" panose="05000000000000000000" pitchFamily="2" charset="2"/>
              <a:buChar char="§"/>
              <a:defRPr/>
            </a:pP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最好情况是每次所取的枢轴都是当前无序区的“中值”记录，划分的结果是枢轴的左右两个无序子区的长度大致相等。排序必须做</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1" lang="en-US" altLang="zh-CN" sz="26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趟，第</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i</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趟中需做</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n-i</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次比较，则比较次数为</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O(</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1" lang="en-US" altLang="zh-CN" sz="26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90000"/>
              </a:lnSpc>
              <a:spcBef>
                <a:spcPct val="50000"/>
              </a:spcBef>
              <a:spcAft>
                <a:spcPct val="0"/>
              </a:spcAft>
              <a:buClrTx/>
              <a:buSzTx/>
              <a:buFontTx/>
              <a:buChar char="•"/>
              <a:defRPr/>
            </a:pP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记录移动次数不会大于比较次数，则最坏时间复杂度为</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O(</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，最好时间复杂度为</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O(</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1" lang="en-US" altLang="zh-CN" sz="26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，平均时间复杂度是</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ln</a:t>
            </a:r>
            <a:r>
              <a:rPr kumimoji="1" lang="en-US" altLang="zh-CN" sz="26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graphicFrame>
        <p:nvGraphicFramePr>
          <p:cNvPr id="74756" name="Object 4"/>
          <p:cNvGraphicFramePr/>
          <p:nvPr/>
        </p:nvGraphicFramePr>
        <p:xfrm>
          <a:off x="468313" y="2781300"/>
          <a:ext cx="7467600" cy="1004888"/>
        </p:xfrm>
        <a:graphic>
          <a:graphicData uri="http://schemas.openxmlformats.org/presentationml/2006/ole">
            <mc:AlternateContent xmlns:mc="http://schemas.openxmlformats.org/markup-compatibility/2006">
              <mc:Choice xmlns:v="urn:schemas-microsoft-com:vml" Requires="v">
                <p:oleObj spid="_x0000_s3076" name="" r:id="rId1" imgW="3211830" imgH="431800" progId="Equation.3">
                  <p:embed/>
                </p:oleObj>
              </mc:Choice>
              <mc:Fallback>
                <p:oleObj name="" r:id="rId1" imgW="3211830" imgH="431800" progId="Equation.3">
                  <p:embed/>
                  <p:pic>
                    <p:nvPicPr>
                      <p:cNvPr id="0" name="20 3075"/>
                      <p:cNvPicPr/>
                      <p:nvPr/>
                    </p:nvPicPr>
                    <p:blipFill>
                      <a:blip r:embed="rId2"/>
                      <a:stretch>
                        <a:fillRect/>
                      </a:stretch>
                    </p:blipFill>
                    <p:spPr>
                      <a:xfrm>
                        <a:off x="468313" y="2781300"/>
                        <a:ext cx="7467600" cy="1004888"/>
                      </a:xfrm>
                      <a:prstGeom prst="rect">
                        <a:avLst/>
                      </a:prstGeom>
                      <a:noFill/>
                      <a:ln w="38100">
                        <a:noFill/>
                        <a:miter/>
                      </a:ln>
                    </p:spPr>
                  </p:pic>
                </p:oleObj>
              </mc:Fallback>
            </mc:AlternateContent>
          </a:graphicData>
        </a:graphic>
      </p:graphicFrame>
      <p:sp>
        <p:nvSpPr>
          <p:cNvPr id="727045" name="Rectangle 5"/>
          <p:cNvSpPr>
            <a:spLocks noChangeArrowheads="1"/>
          </p:cNvSpPr>
          <p:nvPr/>
        </p:nvSpPr>
        <p:spPr bwMode="auto">
          <a:xfrm>
            <a:off x="304800" y="765175"/>
            <a:ext cx="8229600" cy="207645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最坏情况是每次划分选取的枢轴都是当前无序区</a:t>
            </a:r>
            <a:endPar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defRPr/>
            </a:pP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中关键字最小（或最大）的记录，划分的结果是枢轴的左边（或右边）为空，划分前后无序区的元素个数减少一个，因此，排序必须做</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趟，第</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i</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趟中需做</a:t>
            </a:r>
            <a:r>
              <a:rPr kumimoji="1" lang="en-US" altLang="zh-CN"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n-i</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次比较，所以最大比较次数为</a:t>
            </a:r>
            <a:endPar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8066" name="Rectangle 2"/>
          <p:cNvSpPr>
            <a:spLocks noChangeArrowheads="1"/>
          </p:cNvSpPr>
          <p:nvPr/>
        </p:nvSpPr>
        <p:spPr bwMode="auto">
          <a:xfrm>
            <a:off x="250825" y="1298575"/>
            <a:ext cx="8512175" cy="5005388"/>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ct val="50000"/>
              </a:spcBef>
              <a:spcAft>
                <a:spcPct val="0"/>
              </a:spcAft>
              <a:buClrTx/>
              <a:buSzTx/>
              <a:buFontTx/>
              <a:buChar char="•"/>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辅助空间－栈</a:t>
            </a: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90000"/>
              </a:lnSpc>
              <a:spcBef>
                <a:spcPct val="50000"/>
              </a:spcBef>
              <a:spcAft>
                <a:spcPct val="0"/>
              </a:spcAft>
              <a:buClrTx/>
              <a:buSzTx/>
              <a:buFontTx/>
              <a:buChar char="•"/>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最坏情况下</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趟排序</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栈最大深度为</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，则空间复杂度为</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O(</a:t>
            </a:r>
            <a:r>
              <a:rPr kumimoji="1" lang="en-US" altLang="zh-CN" sz="2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90000"/>
              </a:lnSpc>
              <a:spcBef>
                <a:spcPct val="50000"/>
              </a:spcBef>
              <a:spcAft>
                <a:spcPct val="0"/>
              </a:spcAft>
              <a:buClrTx/>
              <a:buSzTx/>
              <a:buFontTx/>
              <a:buChar char="•"/>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最好情况下，栈最大深度为</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1" lang="en-US" altLang="zh-CN" sz="28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 +1</a:t>
            </a:r>
            <a:r>
              <a:rPr kumimoji="1" lang="zh-CN" altLang="en-US" sz="2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则空间复杂度为</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O(log</a:t>
            </a:r>
            <a:r>
              <a:rPr kumimoji="1" lang="en-US" altLang="zh-CN" sz="28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快速排序是不稳定的排序方法。</a:t>
            </a: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当选取第一个关键字为枢轴且待排序列有序时，在时间复杂度上退化成起泡排序</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800" b="1" i="0" u="none" strike="noStrike" kern="1200" cap="none" spc="0" normalizeH="0" baseline="3000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90000"/>
              </a:lnSpc>
              <a:spcBef>
                <a:spcPct val="50000"/>
              </a:spcBef>
              <a:spcAft>
                <a:spcPct val="0"/>
              </a:spcAft>
              <a:buClrTx/>
              <a:buSzTx/>
              <a:buFontTx/>
              <a:buChar char="•"/>
              <a:defRPr/>
            </a:pPr>
            <a:endParaRPr kumimoji="1" lang="en-US" altLang="zh-CN" sz="28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728073" name="Rectangle 9"/>
          <p:cNvSpPr>
            <a:spLocks noChangeArrowheads="1"/>
          </p:cNvSpPr>
          <p:nvPr/>
        </p:nvSpPr>
        <p:spPr bwMode="auto">
          <a:xfrm>
            <a:off x="250825" y="404813"/>
            <a:ext cx="7010400" cy="6858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sym typeface="Symbol" panose="05050102010706020507" pitchFamily="18" charset="2"/>
              </a:rPr>
              <a:t>快速排序的算法分析－空间</a:t>
            </a:r>
            <a:endParaRPr kumimoji="0"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sym typeface="Symbol" panose="05050102010706020507" pitchFamily="18" charset="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p:sp>
        <p:nvSpPr>
          <p:cNvPr id="7301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小结</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01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插入类</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直接插入排序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希尔排序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交换类</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冒泡排序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快速排序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01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3.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选择排序</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01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对第</a:t>
            </a:r>
            <a:r>
              <a:rPr kumimoji="0"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趟，在</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n-i+1</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个关键字中选出最小的关键字</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并同第</a:t>
            </a:r>
            <a:r>
              <a:rPr kumimoji="0" lang="en-US" altLang="zh-CN" sz="3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关键字交换</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简单选择排序</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树形选择排序</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堆排序</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11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简单选择排序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113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通过</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次关键字间的比较</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n-i+1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个关键字中选出最小的关键字</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并同第</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关键字交换</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78852" name="Picture 4"/>
          <p:cNvPicPr>
            <a:picLocks noChangeAspect="1"/>
          </p:cNvPicPr>
          <p:nvPr/>
        </p:nvPicPr>
        <p:blipFill>
          <a:blip r:embed="rId1">
            <a:clrChange>
              <a:clrFrom>
                <a:srgbClr val="FFFFFF"/>
              </a:clrFrom>
              <a:clrTo>
                <a:srgbClr val="FFFFFF">
                  <a:alpha val="0"/>
                </a:srgbClr>
              </a:clrTo>
            </a:clrChange>
          </a:blip>
          <a:stretch>
            <a:fillRect/>
          </a:stretch>
        </p:blipFill>
        <p:spPr>
          <a:xfrm>
            <a:off x="323850" y="3068638"/>
            <a:ext cx="8569325" cy="2881312"/>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21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树形选择排序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216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简单选择排序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比较</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:n(n-1)/2</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对第</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趟，比较</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次</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移动</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:0~3(n-1)</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不稳定</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4</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3</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→234</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降低比较次数</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对于第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趟中的比较</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可以利用第</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趟中的比较信息</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树形选择排序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前提</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如果</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A&gt;B,B&gt;C,</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则</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A&gt;C</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0898"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0"/>
            <a:ext cx="5086350" cy="2209800"/>
          </a:xfrm>
          <a:prstGeom prst="rect">
            <a:avLst/>
          </a:prstGeom>
          <a:noFill/>
          <a:ln w="9525">
            <a:noFill/>
          </a:ln>
        </p:spPr>
      </p:pic>
      <p:pic>
        <p:nvPicPr>
          <p:cNvPr id="80899" name="Picture 5"/>
          <p:cNvPicPr>
            <a:picLocks noChangeAspect="1"/>
          </p:cNvPicPr>
          <p:nvPr/>
        </p:nvPicPr>
        <p:blipFill>
          <a:blip r:embed="rId2">
            <a:clrChange>
              <a:clrFrom>
                <a:srgbClr val="FFFFFF"/>
              </a:clrFrom>
              <a:clrTo>
                <a:srgbClr val="FFFFFF">
                  <a:alpha val="0"/>
                </a:srgbClr>
              </a:clrTo>
            </a:clrChange>
          </a:blip>
          <a:stretch>
            <a:fillRect/>
          </a:stretch>
        </p:blipFill>
        <p:spPr>
          <a:xfrm>
            <a:off x="1997075" y="2276475"/>
            <a:ext cx="5095875" cy="2190750"/>
          </a:xfrm>
          <a:prstGeom prst="rect">
            <a:avLst/>
          </a:prstGeom>
          <a:noFill/>
          <a:ln w="9525">
            <a:noFill/>
          </a:ln>
        </p:spPr>
      </p:pic>
      <p:pic>
        <p:nvPicPr>
          <p:cNvPr id="80900" name="Picture 6"/>
          <p:cNvPicPr>
            <a:picLocks noChangeAspect="1"/>
          </p:cNvPicPr>
          <p:nvPr/>
        </p:nvPicPr>
        <p:blipFill>
          <a:blip r:embed="rId3">
            <a:clrChange>
              <a:clrFrom>
                <a:srgbClr val="FFFFFF"/>
              </a:clrFrom>
              <a:clrTo>
                <a:srgbClr val="FFFFFF">
                  <a:alpha val="0"/>
                </a:srgbClr>
              </a:clrTo>
            </a:clrChange>
          </a:blip>
          <a:stretch>
            <a:fillRect/>
          </a:stretch>
        </p:blipFill>
        <p:spPr>
          <a:xfrm>
            <a:off x="3975100" y="4584700"/>
            <a:ext cx="5133975" cy="222885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52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树形选择排序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523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树形排序又称锦标赛排序，首先对于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个记录的关键字两两比较</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然后在其</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n/2</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个小者再进行两两比较</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如此反复</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直至选出最小关键字</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rPr>
              <a:t>完全二叉树</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输出最小关键字后</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将该关键字所在的叶子结点的值改为</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最大值</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，并以该叶子开始，沿着到根结点路径，在剩余关键字（左</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右孩子）中再进行两两比较</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3970"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0"/>
            <a:ext cx="4191000" cy="1800225"/>
          </a:xfrm>
          <a:prstGeom prst="rect">
            <a:avLst/>
          </a:prstGeom>
          <a:noFill/>
          <a:ln w="9525">
            <a:noFill/>
          </a:ln>
        </p:spPr>
      </p:pic>
      <p:pic>
        <p:nvPicPr>
          <p:cNvPr id="83971" name="Picture 5"/>
          <p:cNvPicPr>
            <a:picLocks noChangeAspect="1"/>
          </p:cNvPicPr>
          <p:nvPr/>
        </p:nvPicPr>
        <p:blipFill>
          <a:blip r:embed="rId2">
            <a:clrChange>
              <a:clrFrom>
                <a:srgbClr val="FFFFFF"/>
              </a:clrFrom>
              <a:clrTo>
                <a:srgbClr val="FFFFFF">
                  <a:alpha val="0"/>
                </a:srgbClr>
              </a:clrTo>
            </a:clrChange>
          </a:blip>
          <a:stretch>
            <a:fillRect/>
          </a:stretch>
        </p:blipFill>
        <p:spPr>
          <a:xfrm>
            <a:off x="2268538" y="2205038"/>
            <a:ext cx="4181475" cy="1885950"/>
          </a:xfrm>
          <a:prstGeom prst="rect">
            <a:avLst/>
          </a:prstGeom>
          <a:noFill/>
          <a:ln w="9525">
            <a:noFill/>
          </a:ln>
        </p:spPr>
      </p:pic>
      <p:pic>
        <p:nvPicPr>
          <p:cNvPr id="83972" name="Picture 6"/>
          <p:cNvPicPr>
            <a:picLocks noChangeAspect="1"/>
          </p:cNvPicPr>
          <p:nvPr/>
        </p:nvPicPr>
        <p:blipFill>
          <a:blip r:embed="rId3">
            <a:clrChange>
              <a:clrFrom>
                <a:srgbClr val="FFFFFF"/>
              </a:clrFrom>
              <a:clrTo>
                <a:srgbClr val="FFFFFF">
                  <a:alpha val="0"/>
                </a:srgbClr>
              </a:clrTo>
            </a:clrChange>
          </a:blip>
          <a:stretch>
            <a:fillRect/>
          </a:stretch>
        </p:blipFill>
        <p:spPr>
          <a:xfrm>
            <a:off x="4500563" y="4365625"/>
            <a:ext cx="4267200" cy="1828800"/>
          </a:xfrm>
          <a:prstGeom prst="rect">
            <a:avLst/>
          </a:prstGeom>
          <a:noFill/>
          <a:ln w="9525">
            <a:noFill/>
          </a:ln>
        </p:spPr>
      </p:pic>
      <p:sp>
        <p:nvSpPr>
          <p:cNvPr id="736263" name="Line 7"/>
          <p:cNvSpPr>
            <a:spLocks noChangeShapeType="1"/>
          </p:cNvSpPr>
          <p:nvPr/>
        </p:nvSpPr>
        <p:spPr bwMode="auto">
          <a:xfrm>
            <a:off x="5076825" y="4149725"/>
            <a:ext cx="287338" cy="0"/>
          </a:xfrm>
          <a:prstGeom prst="line">
            <a:avLst/>
          </a:prstGeom>
          <a:noFill/>
          <a:ln w="28575">
            <a:solidFill>
              <a:schemeClr val="accent2"/>
            </a:solidFill>
            <a:roun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4" name="Line 8"/>
          <p:cNvSpPr>
            <a:spLocks noChangeShapeType="1"/>
          </p:cNvSpPr>
          <p:nvPr/>
        </p:nvSpPr>
        <p:spPr bwMode="auto">
          <a:xfrm>
            <a:off x="7885113" y="6237288"/>
            <a:ext cx="287338" cy="0"/>
          </a:xfrm>
          <a:prstGeom prst="line">
            <a:avLst/>
          </a:prstGeom>
          <a:noFill/>
          <a:ln w="28575">
            <a:solidFill>
              <a:schemeClr val="accent2"/>
            </a:solidFill>
            <a:roun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5" name="Line 9"/>
          <p:cNvSpPr>
            <a:spLocks noChangeShapeType="1"/>
          </p:cNvSpPr>
          <p:nvPr/>
        </p:nvSpPr>
        <p:spPr bwMode="auto">
          <a:xfrm flipH="1" flipV="1">
            <a:off x="5076825" y="3500438"/>
            <a:ext cx="71438" cy="144463"/>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6" name="Line 10"/>
          <p:cNvSpPr>
            <a:spLocks noChangeShapeType="1"/>
          </p:cNvSpPr>
          <p:nvPr/>
        </p:nvSpPr>
        <p:spPr bwMode="auto">
          <a:xfrm flipV="1">
            <a:off x="5148263" y="3068638"/>
            <a:ext cx="215900" cy="215900"/>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7" name="Line 11"/>
          <p:cNvSpPr>
            <a:spLocks noChangeShapeType="1"/>
          </p:cNvSpPr>
          <p:nvPr/>
        </p:nvSpPr>
        <p:spPr bwMode="auto">
          <a:xfrm flipH="1" flipV="1">
            <a:off x="4572000" y="2708275"/>
            <a:ext cx="647700" cy="215900"/>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8" name="Line 12"/>
          <p:cNvSpPr>
            <a:spLocks noChangeShapeType="1"/>
          </p:cNvSpPr>
          <p:nvPr/>
        </p:nvSpPr>
        <p:spPr bwMode="auto">
          <a:xfrm flipV="1">
            <a:off x="8027988" y="5589588"/>
            <a:ext cx="144463" cy="215900"/>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69" name="Line 13"/>
          <p:cNvSpPr>
            <a:spLocks noChangeShapeType="1"/>
          </p:cNvSpPr>
          <p:nvPr/>
        </p:nvSpPr>
        <p:spPr bwMode="auto">
          <a:xfrm flipH="1" flipV="1">
            <a:off x="7812088" y="5229225"/>
            <a:ext cx="215900" cy="144463"/>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36270" name="Line 14"/>
          <p:cNvSpPr>
            <a:spLocks noChangeShapeType="1"/>
          </p:cNvSpPr>
          <p:nvPr/>
        </p:nvSpPr>
        <p:spPr bwMode="auto">
          <a:xfrm flipH="1" flipV="1">
            <a:off x="6877050" y="4797425"/>
            <a:ext cx="647700" cy="215900"/>
          </a:xfrm>
          <a:prstGeom prst="line">
            <a:avLst/>
          </a:prstGeom>
          <a:noFill/>
          <a:ln w="9525">
            <a:solidFill>
              <a:schemeClr val="accent2"/>
            </a:solidFill>
            <a:round/>
            <a:tailEnd type="triangle" w="med" len="med"/>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树形选择排序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728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辅助空间大－</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O(n)</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非叶子节点均为辅助空间</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时间复杂度</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O(nlog</a:t>
            </a:r>
            <a:r>
              <a:rPr kumimoji="0" lang="en-US" altLang="zh-CN" sz="30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en-US" altLang="zh-CN" sz="3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该算法的缺点：辅助存储空间较多；与</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最大值</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”进行多余的</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比较。</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83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堆排序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8307" name="Rectangle 3"/>
          <p:cNvSpPr>
            <a:spLocks noGrp="1" noChangeArrowheads="1"/>
          </p:cNvSpPr>
          <p:nvPr>
            <p:ph type="body" sz="half" idx="1"/>
          </p:nvPr>
        </p:nvSpPr>
        <p:spPr>
          <a:xfrm>
            <a:off x="566738" y="1752600"/>
            <a:ext cx="7821613" cy="3900488"/>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堆排序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堆排序是对树型选择排序的进一步改进。采用堆排序时，只需要一个记录大小的辅助空间。堆排序是在排序过程中，将向量中存储的数据看成一棵完全二叉树，利用完全二叉树中双亲结点和孩子结点之间的内在关系来选择关键字最小的记录，即待排序记录仍采用向量数组方式存储，并非采用树的存储结构，而仅仅是采用完全二叉树的顺序结构的特征进行分析而已。</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83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堆排序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8307" name="Rectangle 3"/>
          <p:cNvSpPr>
            <a:spLocks noGrp="1" noChangeArrowheads="1"/>
          </p:cNvSpPr>
          <p:nvPr>
            <p:ph type="body" sz="half" idx="1"/>
          </p:nvPr>
        </p:nvSpPr>
        <p:spPr>
          <a:xfrm>
            <a:off x="566738" y="1752600"/>
            <a:ext cx="7821613" cy="14605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堆定义</a:t>
            </a:r>
            <a:r>
              <a:rPr kumimoji="0" lang="en-US" altLang="zh-CN"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a:t>
            </a:r>
            <a:endParaRPr kumimoji="0" lang="zh-CN" altLang="en-US" sz="26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个元素的序列</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{k1,k2,</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kn</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当且仅当满足以下条件时</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称为堆</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88068" name="Object 4"/>
          <p:cNvGraphicFramePr/>
          <p:nvPr>
            <p:ph sz="half" idx="2"/>
          </p:nvPr>
        </p:nvGraphicFramePr>
        <p:xfrm>
          <a:off x="2411413" y="3068638"/>
          <a:ext cx="3924300" cy="1401762"/>
        </p:xfrm>
        <a:graphic>
          <a:graphicData uri="http://schemas.openxmlformats.org/presentationml/2006/ole">
            <mc:AlternateContent xmlns:mc="http://schemas.openxmlformats.org/markup-compatibility/2006">
              <mc:Choice xmlns:v="urn:schemas-microsoft-com:vml" Requires="v">
                <p:oleObj spid="_x0000_s3077" name="" r:id="rId1" imgW="1066165" imgH="381000" progId="Equation.3">
                  <p:embed/>
                </p:oleObj>
              </mc:Choice>
              <mc:Fallback>
                <p:oleObj name="" r:id="rId1" imgW="1066165" imgH="381000" progId="Equation.3">
                  <p:embed/>
                  <p:pic>
                    <p:nvPicPr>
                      <p:cNvPr id="0" name="20 3076"/>
                      <p:cNvPicPr/>
                      <p:nvPr/>
                    </p:nvPicPr>
                    <p:blipFill>
                      <a:blip r:embed="rId2"/>
                      <a:srcRect/>
                      <a:stretch>
                        <a:fillRect/>
                      </a:stretch>
                    </p:blipFill>
                    <p:spPr>
                      <a:xfrm>
                        <a:off x="2411413" y="3068638"/>
                        <a:ext cx="3924300" cy="1401762"/>
                      </a:xfrm>
                      <a:prstGeom prst="rect">
                        <a:avLst/>
                      </a:prstGeom>
                      <a:noFill/>
                      <a:ln w="38100">
                        <a:miter/>
                      </a:ln>
                    </p:spPr>
                  </p:pic>
                </p:oleObj>
              </mc:Fallback>
            </mc:AlternateContent>
          </a:graphicData>
        </a:graphic>
      </p:graphicFrame>
      <p:sp>
        <p:nvSpPr>
          <p:cNvPr id="738310" name="Rectangle 6"/>
          <p:cNvSpPr>
            <a:spLocks noChangeArrowheads="1"/>
          </p:cNvSpPr>
          <p:nvPr/>
        </p:nvSpPr>
        <p:spPr bwMode="auto">
          <a:xfrm>
            <a:off x="827088" y="4508500"/>
            <a:ext cx="7821613" cy="1460500"/>
          </a:xfrm>
          <a:prstGeom prst="rect">
            <a:avLst/>
          </a:prstGeom>
          <a:noFill/>
          <a:ln w="9525">
            <a:noFill/>
            <a:miter lim="800000"/>
          </a:ln>
          <a:effectLst/>
        </p:spPr>
        <p:txBody>
          <a:bodyPr/>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	</a:t>
            </a:r>
            <a:r>
              <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如果将序列对应的一维数组</a:t>
            </a:r>
            <a:r>
              <a:rPr kumimoji="0" lang="zh-CN" altLang="en-US" sz="2600" b="1" i="1" u="sng"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看作</a:t>
            </a:r>
            <a:r>
              <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完全二叉树</a:t>
            </a:r>
            <a:r>
              <a:rPr kumimoji="0" lang="en-US" altLang="zh-CN"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则树中非终端节点的值不大于</a:t>
            </a:r>
            <a:r>
              <a:rPr kumimoji="0" lang="en-US" altLang="zh-CN"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不小于</a:t>
            </a:r>
            <a:r>
              <a:rPr kumimoji="0" lang="en-US" altLang="zh-CN"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a:t>
            </a:r>
            <a:r>
              <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左右孩子</a:t>
            </a:r>
            <a:endPar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9090" name="Picture 5"/>
          <p:cNvPicPr>
            <a:picLocks noChangeAspect="1"/>
          </p:cNvPicPr>
          <p:nvPr/>
        </p:nvPicPr>
        <p:blipFill>
          <a:blip r:embed="rId1"/>
          <a:stretch>
            <a:fillRect/>
          </a:stretch>
        </p:blipFill>
        <p:spPr>
          <a:xfrm>
            <a:off x="0" y="0"/>
            <a:ext cx="3779838" cy="787400"/>
          </a:xfrm>
          <a:prstGeom prst="rect">
            <a:avLst/>
          </a:prstGeom>
          <a:noFill/>
          <a:ln w="9525">
            <a:noFill/>
          </a:ln>
        </p:spPr>
      </p:pic>
      <p:pic>
        <p:nvPicPr>
          <p:cNvPr id="89091" name="Picture 6"/>
          <p:cNvPicPr>
            <a:picLocks noChangeAspect="1"/>
          </p:cNvPicPr>
          <p:nvPr/>
        </p:nvPicPr>
        <p:blipFill>
          <a:blip r:embed="rId2"/>
          <a:stretch>
            <a:fillRect/>
          </a:stretch>
        </p:blipFill>
        <p:spPr>
          <a:xfrm>
            <a:off x="827088" y="1989138"/>
            <a:ext cx="7488237" cy="3425825"/>
          </a:xfrm>
          <a:prstGeom prst="rect">
            <a:avLst/>
          </a:prstGeom>
          <a:noFill/>
          <a:ln w="9525">
            <a:noFill/>
          </a:ln>
        </p:spPr>
      </p:pic>
      <p:sp>
        <p:nvSpPr>
          <p:cNvPr id="740359" name="AutoShape 7"/>
          <p:cNvSpPr>
            <a:spLocks noChangeArrowheads="1"/>
          </p:cNvSpPr>
          <p:nvPr/>
        </p:nvSpPr>
        <p:spPr bwMode="auto">
          <a:xfrm>
            <a:off x="468313" y="1341438"/>
            <a:ext cx="914400" cy="609600"/>
          </a:xfrm>
          <a:prstGeom prst="wedgeRoundRectCallout">
            <a:avLst>
              <a:gd name="adj1" fmla="val 151042"/>
              <a:gd name="adj2" fmla="val 99218"/>
              <a:gd name="adj3" fmla="val 16667"/>
            </a:avLst>
          </a:prstGeom>
          <a:noFill/>
          <a:ln w="9525" algn="ctr">
            <a:solidFill>
              <a:schemeClr val="accent2"/>
            </a:solid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堆顶</a:t>
            </a:r>
            <a:endParaRPr kumimoji="0" lang="zh-CN" altLang="en-US"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0361" name="Text Box 9"/>
          <p:cNvSpPr txBox="1">
            <a:spLocks noChangeArrowheads="1"/>
          </p:cNvSpPr>
          <p:nvPr/>
        </p:nvSpPr>
        <p:spPr bwMode="auto">
          <a:xfrm>
            <a:off x="1528763" y="5278438"/>
            <a:ext cx="1046163" cy="40005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 大顶堆</a:t>
            </a:r>
            <a:endParaRPr kumimoji="0" lang="zh-CN" altLang="en-US"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0362" name="Text Box 10"/>
          <p:cNvSpPr txBox="1">
            <a:spLocks noChangeArrowheads="1"/>
          </p:cNvSpPr>
          <p:nvPr/>
        </p:nvSpPr>
        <p:spPr bwMode="auto">
          <a:xfrm>
            <a:off x="6007100" y="5441950"/>
            <a:ext cx="960438" cy="400050"/>
          </a:xfrm>
          <a:prstGeom prst="rect">
            <a:avLst/>
          </a:prstGeom>
          <a:noFill/>
          <a:ln w="9525" algn="ctr">
            <a:noFill/>
            <a:miter lim="800000"/>
          </a:ln>
          <a:effectLst/>
        </p:spPr>
        <p:txBody>
          <a:bodyPr wrap="none" anchor="b">
            <a:spAutoFit/>
          </a:bodyPr>
          <a:lstStyle/>
          <a:p>
            <a:pPr marR="0" algn="ctr" defTabSz="914400" eaLnBrk="1" hangingPunct="1">
              <a:buClrTx/>
              <a:buSzTx/>
              <a:buFontTx/>
              <a:buNone/>
              <a:defRPr/>
            </a:pPr>
            <a:r>
              <a:rPr kumimoji="0" lang="zh-CN" altLang="en-US"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rPr>
              <a:t>小顶堆</a:t>
            </a:r>
            <a:endParaRPr kumimoji="0" lang="zh-CN" altLang="en-US" kern="1200" cap="none" spc="0" normalizeH="0" baseline="0" noProof="0" dirty="0">
              <a:effectLst>
                <a:outerShdw blurRad="38100" dist="38100" dir="2700000" algn="tl">
                  <a:srgbClr val="C0C0C0"/>
                </a:outerShdw>
              </a:effectLst>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1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堆排序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41379"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输出堆顶后</a:t>
            </a:r>
            <a:r>
              <a:rPr kumimoji="0" lang="zh-CN"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剩余关键字重新建成一个堆，得到</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个元素中的次小值。如此反复执行，最终得到一个有序序列，这个过程叫做堆排序。</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输出堆顶后</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如何将剩余关键字重建成一个堆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如何由无序序列建成一个堆</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1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堆排序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4137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输出堆顶后</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如何将剩余关键字重建成一个堆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输出堆顶后</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以堆中最后一个元素替代堆顶</a:t>
            </a: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以堆顶为起点</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沿着较小</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大</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孩子进行调整</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筛选</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92162" name="Picture 4"/>
          <p:cNvPicPr>
            <a:picLocks noChangeAspect="1"/>
          </p:cNvPicPr>
          <p:nvPr/>
        </p:nvPicPr>
        <p:blipFill>
          <a:blip r:embed="rId1"/>
          <a:stretch>
            <a:fillRect/>
          </a:stretch>
        </p:blipFill>
        <p:spPr>
          <a:xfrm>
            <a:off x="1187450" y="806450"/>
            <a:ext cx="6804025" cy="5862638"/>
          </a:xfrm>
          <a:prstGeom prst="rect">
            <a:avLst/>
          </a:prstGeom>
          <a:noFill/>
          <a:ln w="9525">
            <a:noFill/>
          </a:ln>
        </p:spPr>
      </p:pic>
      <p:sp>
        <p:nvSpPr>
          <p:cNvPr id="743429" name="Rectangle 5"/>
          <p:cNvSpPr>
            <a:spLocks noChangeArrowheads="1"/>
          </p:cNvSpPr>
          <p:nvPr/>
        </p:nvSpPr>
        <p:spPr bwMode="auto">
          <a:xfrm>
            <a:off x="2555875" y="0"/>
            <a:ext cx="3455988" cy="747713"/>
          </a:xfrm>
          <a:prstGeom prst="rect">
            <a:avLst/>
          </a:prstGeom>
          <a:noFill/>
          <a:ln w="9525">
            <a:no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重建堆示例</a:t>
            </a:r>
            <a:endParaRPr kumimoji="0" lang="zh-CN" altLang="en-US" sz="3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13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堆排序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41379" name="Rectangle 3"/>
          <p:cNvSpPr>
            <a:spLocks noGrp="1" noChangeArrowheads="1"/>
          </p:cNvSpPr>
          <p:nvPr>
            <p:ph idx="1"/>
          </p:nvPr>
        </p:nvSpPr>
        <p:spPr/>
        <p:txBody>
          <a:bodyPr vert="horz" wrap="square" lIns="91440" tIns="45720" rIns="91440" bIns="45720" numCol="1" anchor="t" anchorCtr="0" compatLnSpc="1"/>
          <a:lstStyle/>
          <a:p>
            <a:pPr marL="469900" marR="0" lvl="1"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如何由无序序列建成一个堆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将无序序列看成一个完全二叉树</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从</a:t>
            </a:r>
            <a:r>
              <a:rPr kumimoji="0" lang="zh-CN" altLang="en-US" sz="2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最后一个非终端节点</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rPr>
              <a:t>n/2</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开始</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向前反复筛选</a:t>
            </a: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94210" name="Picture 4"/>
          <p:cNvPicPr>
            <a:picLocks noChangeAspect="1"/>
          </p:cNvPicPr>
          <p:nvPr/>
        </p:nvPicPr>
        <p:blipFill>
          <a:blip r:embed="rId1"/>
          <a:stretch>
            <a:fillRect/>
          </a:stretch>
        </p:blipFill>
        <p:spPr>
          <a:xfrm>
            <a:off x="611188" y="1052513"/>
            <a:ext cx="8172450" cy="4773612"/>
          </a:xfrm>
          <a:prstGeom prst="rect">
            <a:avLst/>
          </a:prstGeom>
          <a:noFill/>
          <a:ln w="9525">
            <a:noFill/>
          </a:ln>
        </p:spPr>
      </p:pic>
      <p:sp>
        <p:nvSpPr>
          <p:cNvPr id="744453" name="Rectangle 5"/>
          <p:cNvSpPr>
            <a:spLocks noChangeArrowheads="1"/>
          </p:cNvSpPr>
          <p:nvPr/>
        </p:nvSpPr>
        <p:spPr bwMode="auto">
          <a:xfrm>
            <a:off x="2555875" y="0"/>
            <a:ext cx="3455988" cy="747713"/>
          </a:xfrm>
          <a:prstGeom prst="rect">
            <a:avLst/>
          </a:prstGeom>
          <a:noFill/>
          <a:ln w="9525">
            <a:no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建堆示例</a:t>
            </a:r>
            <a:endParaRPr kumimoji="0" lang="zh-CN" altLang="en-US" sz="38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6498" name="Text Box 2"/>
          <p:cNvSpPr txBox="1">
            <a:spLocks noChangeArrowheads="1"/>
          </p:cNvSpPr>
          <p:nvPr/>
        </p:nvSpPr>
        <p:spPr bwMode="auto">
          <a:xfrm>
            <a:off x="762000" y="836613"/>
            <a:ext cx="7848600" cy="5829300"/>
          </a:xfrm>
          <a:prstGeom prst="rect">
            <a:avLst/>
          </a:prstGeom>
          <a:noFill/>
          <a:ln w="9525">
            <a:noFill/>
            <a:miter lim="800000"/>
          </a:ln>
          <a:effectLst/>
        </p:spPr>
        <p:txBody>
          <a:bodyPr>
            <a:spAutoFit/>
          </a:bodyPr>
          <a:lstStyle/>
          <a:p>
            <a:pPr marR="0" algn="just" defTabSz="914400" eaLnBrk="1" hangingPunct="1">
              <a:lnSpc>
                <a:spcPct val="145000"/>
              </a:lnSpc>
              <a:buClrTx/>
              <a:buSzTx/>
              <a:buFontTx/>
              <a:buNone/>
              <a:defRPr/>
            </a:pP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堆排序利用了大顶堆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或小顶堆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堆顶记录的关键字最大</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或最小</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这一特征，使得在当前无序区中选取最大</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或最小</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关键字的记录变得简单。</a:t>
            </a:r>
            <a:endPar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a:p>
            <a:pPr marR="0" algn="just" defTabSz="914400" eaLnBrk="1" hangingPunct="1">
              <a:lnSpc>
                <a:spcPct val="145000"/>
              </a:lnSpc>
              <a:buClr>
                <a:srgbClr val="FF3300"/>
              </a:buClr>
              <a:buSzTx/>
              <a:buFont typeface="Wingdings" panose="05000000000000000000" pitchFamily="2" charset="2"/>
              <a:buChar char="§"/>
              <a:defRPr/>
            </a:pP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用大顶堆排序的基本思想</a:t>
            </a:r>
            <a:endPar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a:p>
            <a:pPr marR="0" algn="just" defTabSz="914400" eaLnBrk="1" hangingPunct="1">
              <a:lnSpc>
                <a:spcPct val="145000"/>
              </a:lnSpc>
              <a:buClrTx/>
              <a:buSzTx/>
              <a:buFontTx/>
              <a:buNone/>
              <a:defRPr/>
            </a:pP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① 先将初始序列</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建成一个大顶堆；</a:t>
            </a:r>
            <a:endPar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a:p>
            <a:pPr marR="0" algn="just" defTabSz="914400" eaLnBrk="1" hangingPunct="1">
              <a:lnSpc>
                <a:spcPct val="145000"/>
              </a:lnSpc>
              <a:buClrTx/>
              <a:buSzTx/>
              <a:buFontTx/>
              <a:buNone/>
              <a:defRPr/>
            </a:pP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② 再将关键字最大的记录</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即堆顶</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和最后一个记录</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r[n]</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交换，由此得到新的无序区</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和有序区</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r[n]</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，且满足</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r[1..n-1].keys≤r[n].key</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a:p>
            <a:pPr marR="0" algn="just" defTabSz="914400" eaLnBrk="1" hangingPunct="1">
              <a:lnSpc>
                <a:spcPct val="145000"/>
              </a:lnSpc>
              <a:buClrTx/>
              <a:buSzTx/>
              <a:buFontTx/>
              <a:buNone/>
              <a:defRPr/>
            </a:pP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③ 由于交换后新的堆顶</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可能违反堆定义，故应将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重新调整为堆。然后再次将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中关键字最大的记录</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和该区间的最后一个记录</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r[n-1]</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交换，由此得到新的无序区</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r[1..n-2]</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和有序区</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r[n-1..n]</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，且仍满足关系</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r[1..n-2].key≤r[n-1..n].key</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，同样要将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r[1..n-2]</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重新调整为堆。</a:t>
            </a:r>
            <a:r>
              <a:rPr kumimoji="1" lang="en-US" altLang="zh-CN"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，直到无序区只有一个元素为止。</a:t>
            </a:r>
            <a:endParaRPr kumimoji="1" lang="zh-CN" altLang="en-US"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746499" name="Text Box 3"/>
          <p:cNvSpPr txBox="1">
            <a:spLocks noChangeArrowheads="1"/>
          </p:cNvSpPr>
          <p:nvPr/>
        </p:nvSpPr>
        <p:spPr bwMode="auto">
          <a:xfrm>
            <a:off x="685800" y="304800"/>
            <a:ext cx="3124200" cy="64135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3600" kern="1200" cap="none" spc="0" normalizeH="0" baseline="0" noProof="0">
                <a:solidFill>
                  <a:srgbClr val="FF3300"/>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堆排序算法</a:t>
            </a:r>
            <a:endParaRPr kumimoji="1" lang="zh-CN" altLang="en-US" sz="3600" kern="1200" cap="none" spc="0" normalizeH="0" baseline="0" noProof="0">
              <a:solidFill>
                <a:srgbClr val="FF3300"/>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22" name="Text Box 2"/>
          <p:cNvSpPr txBox="1">
            <a:spLocks noChangeArrowheads="1"/>
          </p:cNvSpPr>
          <p:nvPr/>
        </p:nvSpPr>
        <p:spPr bwMode="auto">
          <a:xfrm>
            <a:off x="250825" y="765175"/>
            <a:ext cx="8713788" cy="822325"/>
          </a:xfrm>
          <a:prstGeom prst="rect">
            <a:avLst/>
          </a:prstGeom>
          <a:noFill/>
          <a:ln w="9525">
            <a:noFill/>
            <a:miter lim="800000"/>
          </a:ln>
          <a:effectLst/>
        </p:spPr>
        <p:txBody>
          <a:bodyPr>
            <a:spAutoFit/>
          </a:bodyPr>
          <a:lstStyle/>
          <a:p>
            <a:pPr marR="0" defTabSz="914400" eaLnBrk="1" hangingPunct="1">
              <a:buClrTx/>
              <a:buSzTx/>
              <a:buFontTx/>
              <a:buNone/>
              <a:defRPr/>
            </a:pP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对关键字序列为 </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42</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13</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91</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23</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 </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24</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 </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16</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05</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88</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进行堆排序</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a:t>
            </a:r>
            <a:endPar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endParaRPr>
          </a:p>
          <a:p>
            <a:pPr marR="0" defTabSz="914400" eaLnBrk="1" hangingPunct="1">
              <a:buClrTx/>
              <a:buSzTx/>
              <a:buFontTx/>
              <a:buNone/>
              <a:defRPr/>
            </a:pP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首先建立大顶堆。因</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n=8</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，故从第</a:t>
            </a:r>
            <a:r>
              <a:rPr kumimoji="1" lang="en-US" altLang="zh-CN"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4</a:t>
            </a:r>
            <a:r>
              <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rPr>
              <a:t>个结点开始调整。</a:t>
            </a:r>
            <a:endParaRPr kumimoji="1" lang="zh-CN" altLang="en-US" sz="2400" kern="1200" cap="none" spc="0" normalizeH="0" baseline="0" noProof="0">
              <a:solidFill>
                <a:srgbClr val="0000FF"/>
              </a:solidFill>
              <a:effectLst>
                <a:outerShdw blurRad="38100" dist="38100" dir="2700000" algn="tl">
                  <a:srgbClr val="C0C0C0"/>
                </a:outerShdw>
              </a:effectLst>
              <a:latin typeface="Verdana" panose="020B0604030504040204" pitchFamily="34" charset="0"/>
              <a:ea typeface="楷体_GB2312" pitchFamily="49" charset="-122"/>
              <a:cs typeface="+mn-cs"/>
              <a:sym typeface="Symbol" panose="05050102010706020507" pitchFamily="18" charset="2"/>
            </a:endParaRPr>
          </a:p>
        </p:txBody>
      </p:sp>
      <p:sp>
        <p:nvSpPr>
          <p:cNvPr id="96259" name="Text Box 3"/>
          <p:cNvSpPr txBox="1"/>
          <p:nvPr/>
        </p:nvSpPr>
        <p:spPr>
          <a:xfrm>
            <a:off x="4343400" y="19050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96260" name="Text Box 4"/>
          <p:cNvSpPr txBox="1"/>
          <p:nvPr/>
        </p:nvSpPr>
        <p:spPr>
          <a:xfrm>
            <a:off x="2971800" y="26670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96261" name="Text Box 5"/>
          <p:cNvSpPr txBox="1"/>
          <p:nvPr/>
        </p:nvSpPr>
        <p:spPr>
          <a:xfrm>
            <a:off x="5791200" y="26670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96262" name="Text Box 6"/>
          <p:cNvSpPr txBox="1"/>
          <p:nvPr/>
        </p:nvSpPr>
        <p:spPr>
          <a:xfrm>
            <a:off x="2133600" y="3352800"/>
            <a:ext cx="609600" cy="528638"/>
          </a:xfrm>
          <a:prstGeom prst="rect">
            <a:avLst/>
          </a:prstGeom>
          <a:noFill/>
          <a:ln w="9525" cap="flat" cmpd="sng">
            <a:solidFill>
              <a:schemeClr val="tx1"/>
            </a:solidFill>
            <a:prstDash val="solid"/>
            <a:miter/>
            <a:headEnd type="none" w="med" len="med"/>
            <a:tailEnd type="none" w="med" len="med"/>
          </a:ln>
        </p:spPr>
        <p:txBody>
          <a:bodyPr>
            <a:spAutoFit/>
          </a:bodyPr>
          <a:p>
            <a:pPr eaLnBrk="1" hangingPunct="1">
              <a:spcBef>
                <a:spcPct val="50000"/>
              </a:spcBef>
            </a:pPr>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96263" name="Text Box 7"/>
          <p:cNvSpPr txBox="1"/>
          <p:nvPr/>
        </p:nvSpPr>
        <p:spPr>
          <a:xfrm>
            <a:off x="3657600" y="3352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96264" name="Text Box 8"/>
          <p:cNvSpPr txBox="1"/>
          <p:nvPr/>
        </p:nvSpPr>
        <p:spPr>
          <a:xfrm>
            <a:off x="4953000" y="3352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96265" name="Text Box 9"/>
          <p:cNvSpPr txBox="1"/>
          <p:nvPr/>
        </p:nvSpPr>
        <p:spPr>
          <a:xfrm>
            <a:off x="6629400" y="3352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96266" name="Text Box 10"/>
          <p:cNvSpPr txBox="1"/>
          <p:nvPr/>
        </p:nvSpPr>
        <p:spPr>
          <a:xfrm>
            <a:off x="1295400" y="4114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747531" name="Line 11"/>
          <p:cNvSpPr>
            <a:spLocks noChangeShapeType="1"/>
          </p:cNvSpPr>
          <p:nvPr/>
        </p:nvSpPr>
        <p:spPr bwMode="auto">
          <a:xfrm flipH="1">
            <a:off x="3352800" y="22860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2" name="Line 12"/>
          <p:cNvSpPr>
            <a:spLocks noChangeShapeType="1"/>
          </p:cNvSpPr>
          <p:nvPr/>
        </p:nvSpPr>
        <p:spPr bwMode="auto">
          <a:xfrm>
            <a:off x="4800600" y="22860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3" name="Line 13"/>
          <p:cNvSpPr>
            <a:spLocks noChangeShapeType="1"/>
          </p:cNvSpPr>
          <p:nvPr/>
        </p:nvSpPr>
        <p:spPr bwMode="auto">
          <a:xfrm flipH="1">
            <a:off x="2438400" y="30480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4" name="Line 14"/>
          <p:cNvSpPr>
            <a:spLocks noChangeShapeType="1"/>
          </p:cNvSpPr>
          <p:nvPr/>
        </p:nvSpPr>
        <p:spPr bwMode="auto">
          <a:xfrm>
            <a:off x="3429000" y="30480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5" name="Line 15"/>
          <p:cNvSpPr>
            <a:spLocks noChangeShapeType="1"/>
          </p:cNvSpPr>
          <p:nvPr/>
        </p:nvSpPr>
        <p:spPr bwMode="auto">
          <a:xfrm flipH="1">
            <a:off x="5410200" y="30480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6" name="Line 16"/>
          <p:cNvSpPr>
            <a:spLocks noChangeShapeType="1"/>
          </p:cNvSpPr>
          <p:nvPr/>
        </p:nvSpPr>
        <p:spPr bwMode="auto">
          <a:xfrm>
            <a:off x="6248400" y="30480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37" name="Line 17"/>
          <p:cNvSpPr>
            <a:spLocks noChangeShapeType="1"/>
          </p:cNvSpPr>
          <p:nvPr/>
        </p:nvSpPr>
        <p:spPr bwMode="auto">
          <a:xfrm flipH="1">
            <a:off x="1600200" y="37338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6274" name="Text Box 18"/>
          <p:cNvSpPr txBox="1"/>
          <p:nvPr/>
        </p:nvSpPr>
        <p:spPr>
          <a:xfrm>
            <a:off x="1371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96275" name="Text Box 19"/>
          <p:cNvSpPr txBox="1"/>
          <p:nvPr/>
        </p:nvSpPr>
        <p:spPr>
          <a:xfrm>
            <a:off x="2133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96276" name="Text Box 20"/>
          <p:cNvSpPr txBox="1"/>
          <p:nvPr/>
        </p:nvSpPr>
        <p:spPr>
          <a:xfrm>
            <a:off x="2895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96277" name="Text Box 21"/>
          <p:cNvSpPr txBox="1"/>
          <p:nvPr/>
        </p:nvSpPr>
        <p:spPr>
          <a:xfrm>
            <a:off x="3657600" y="50292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96278" name="Text Box 22"/>
          <p:cNvSpPr txBox="1"/>
          <p:nvPr/>
        </p:nvSpPr>
        <p:spPr>
          <a:xfrm>
            <a:off x="4419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96279" name="Text Box 23"/>
          <p:cNvSpPr txBox="1"/>
          <p:nvPr/>
        </p:nvSpPr>
        <p:spPr>
          <a:xfrm>
            <a:off x="5181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96280" name="Text Box 24"/>
          <p:cNvSpPr txBox="1"/>
          <p:nvPr/>
        </p:nvSpPr>
        <p:spPr>
          <a:xfrm>
            <a:off x="5943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96281" name="Text Box 25"/>
          <p:cNvSpPr txBox="1"/>
          <p:nvPr/>
        </p:nvSpPr>
        <p:spPr>
          <a:xfrm>
            <a:off x="6705600" y="50292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747546" name="Freeform 26"/>
          <p:cNvSpPr/>
          <p:nvPr/>
        </p:nvSpPr>
        <p:spPr bwMode="auto">
          <a:xfrm>
            <a:off x="4038600" y="5715000"/>
            <a:ext cx="3124200" cy="533400"/>
          </a:xfrm>
          <a:custGeom>
            <a:avLst/>
            <a:gdLst/>
            <a:ahLst/>
            <a:cxnLst>
              <a:cxn ang="0">
                <a:pos x="0" y="0"/>
              </a:cxn>
              <a:cxn ang="0">
                <a:pos x="0" y="336"/>
              </a:cxn>
              <a:cxn ang="0">
                <a:pos x="1968" y="336"/>
              </a:cxn>
              <a:cxn ang="0">
                <a:pos x="1968" y="0"/>
              </a:cxn>
            </a:cxnLst>
            <a:rect l="0" t="0" r="r" b="b"/>
            <a:pathLst>
              <a:path w="1968" h="336">
                <a:moveTo>
                  <a:pt x="0" y="0"/>
                </a:moveTo>
                <a:lnTo>
                  <a:pt x="0" y="336"/>
                </a:lnTo>
                <a:lnTo>
                  <a:pt x="1968" y="336"/>
                </a:lnTo>
                <a:lnTo>
                  <a:pt x="1968" y="0"/>
                </a:lnTo>
              </a:path>
            </a:pathLst>
          </a:custGeom>
          <a:noFill/>
          <a:ln w="9525">
            <a:solidFill>
              <a:schemeClr val="tx1"/>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7547" name="Freeform 27"/>
          <p:cNvSpPr/>
          <p:nvPr/>
        </p:nvSpPr>
        <p:spPr bwMode="auto">
          <a:xfrm>
            <a:off x="1524000" y="3505200"/>
            <a:ext cx="533400" cy="533400"/>
          </a:xfrm>
          <a:custGeom>
            <a:avLst/>
            <a:gdLst/>
            <a:ahLst/>
            <a:cxnLst>
              <a:cxn ang="0">
                <a:pos x="0" y="336"/>
              </a:cxn>
              <a:cxn ang="0">
                <a:pos x="48" y="240"/>
              </a:cxn>
              <a:cxn ang="0">
                <a:pos x="96" y="144"/>
              </a:cxn>
              <a:cxn ang="0">
                <a:pos x="192" y="48"/>
              </a:cxn>
              <a:cxn ang="0">
                <a:pos x="336" y="0"/>
              </a:cxn>
            </a:cxnLst>
            <a:rect l="0" t="0" r="r" b="b"/>
            <a:pathLst>
              <a:path w="336" h="336">
                <a:moveTo>
                  <a:pt x="0" y="336"/>
                </a:moveTo>
                <a:cubicBezTo>
                  <a:pt x="16" y="304"/>
                  <a:pt x="32" y="272"/>
                  <a:pt x="48" y="240"/>
                </a:cubicBezTo>
                <a:cubicBezTo>
                  <a:pt x="64" y="208"/>
                  <a:pt x="72" y="176"/>
                  <a:pt x="96" y="144"/>
                </a:cubicBezTo>
                <a:cubicBezTo>
                  <a:pt x="120" y="112"/>
                  <a:pt x="152" y="72"/>
                  <a:pt x="192" y="48"/>
                </a:cubicBezTo>
                <a:cubicBezTo>
                  <a:pt x="232" y="24"/>
                  <a:pt x="304" y="8"/>
                  <a:pt x="336" y="0"/>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6284" name="Text Box 28"/>
          <p:cNvSpPr txBox="1"/>
          <p:nvPr/>
        </p:nvSpPr>
        <p:spPr>
          <a:xfrm>
            <a:off x="2362200" y="6324600"/>
            <a:ext cx="3733800" cy="396875"/>
          </a:xfrm>
          <a:prstGeom prst="rect">
            <a:avLst/>
          </a:prstGeom>
          <a:noFill/>
          <a:ln w="9525">
            <a:noFill/>
          </a:ln>
        </p:spPr>
        <p:txBody>
          <a:bodyPr>
            <a:spAutoFit/>
          </a:bodyPr>
          <a:p>
            <a:pPr algn="ctr" eaLnBrk="1" hangingPunct="1">
              <a:spcBef>
                <a:spcPct val="50000"/>
              </a:spcBef>
            </a:pPr>
            <a:r>
              <a:rPr lang="en-US" altLang="zh-CN" dirty="0">
                <a:solidFill>
                  <a:srgbClr val="0000FF"/>
                </a:solidFill>
                <a:latin typeface="Verdana" panose="020B0604030504040204" pitchFamily="34" charset="0"/>
              </a:rPr>
              <a:t>(a)   i=4</a:t>
            </a:r>
            <a:r>
              <a:rPr lang="zh-CN" altLang="en-US" dirty="0">
                <a:solidFill>
                  <a:srgbClr val="0000FF"/>
                </a:solidFill>
                <a:latin typeface="Verdana" panose="020B0604030504040204" pitchFamily="34" charset="0"/>
              </a:rPr>
              <a:t>，</a:t>
            </a:r>
            <a:r>
              <a:rPr lang="en-US" altLang="zh-CN" dirty="0">
                <a:solidFill>
                  <a:srgbClr val="0000FF"/>
                </a:solidFill>
                <a:latin typeface="Verdana" panose="020B0604030504040204" pitchFamily="34" charset="0"/>
              </a:rPr>
              <a:t>23</a:t>
            </a:r>
            <a:r>
              <a:rPr lang="zh-CN" altLang="en-US" dirty="0">
                <a:solidFill>
                  <a:srgbClr val="0000FF"/>
                </a:solidFill>
                <a:latin typeface="Verdana" panose="020B0604030504040204" pitchFamily="34" charset="0"/>
              </a:rPr>
              <a:t>筛下一层</a:t>
            </a:r>
            <a:endParaRPr lang="zh-CN" altLang="en-US" dirty="0">
              <a:solidFill>
                <a:srgbClr val="0000FF"/>
              </a:solidFill>
              <a:latin typeface="Verdana" panose="020B0604030504040204" pitchFamily="34" charset="0"/>
            </a:endParaRPr>
          </a:p>
        </p:txBody>
      </p:sp>
      <p:sp>
        <p:nvSpPr>
          <p:cNvPr id="747549" name="Rectangle 29"/>
          <p:cNvSpPr>
            <a:spLocks noChangeArrowheads="1"/>
          </p:cNvSpPr>
          <p:nvPr/>
        </p:nvSpPr>
        <p:spPr bwMode="auto">
          <a:xfrm>
            <a:off x="2627313" y="0"/>
            <a:ext cx="3398838" cy="519113"/>
          </a:xfrm>
          <a:prstGeom prst="rect">
            <a:avLst/>
          </a:prstGeom>
          <a:noFill/>
          <a:ln w="9525" algn="ctr">
            <a:noFill/>
            <a:miter lim="800000"/>
          </a:ln>
          <a:effectLst/>
        </p:spPr>
        <p:txBody>
          <a:bodyPr wrap="none" anchor="b">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堆排序的全过程示例</a:t>
            </a:r>
            <a:endParaRPr kumimoji="0" lang="zh-CN" altLang="en-US" sz="28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7282" name="Text Box 2"/>
          <p:cNvSpPr txBox="1"/>
          <p:nvPr/>
        </p:nvSpPr>
        <p:spPr>
          <a:xfrm>
            <a:off x="4191000" y="1066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97283" name="Text Box 3"/>
          <p:cNvSpPr txBox="1"/>
          <p:nvPr/>
        </p:nvSpPr>
        <p:spPr>
          <a:xfrm>
            <a:off x="2819400" y="18288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97284" name="Text Box 4"/>
          <p:cNvSpPr txBox="1"/>
          <p:nvPr/>
        </p:nvSpPr>
        <p:spPr>
          <a:xfrm>
            <a:off x="5638800" y="1828800"/>
            <a:ext cx="609600" cy="528638"/>
          </a:xfrm>
          <a:prstGeom prst="rect">
            <a:avLst/>
          </a:prstGeom>
          <a:noFill/>
          <a:ln w="9525" cap="flat" cmpd="sng">
            <a:solidFill>
              <a:schemeClr val="tx1"/>
            </a:solidFill>
            <a:prstDash val="solid"/>
            <a:miter/>
            <a:headEnd type="none" w="med" len="med"/>
            <a:tailEnd type="none" w="med" len="med"/>
          </a:ln>
        </p:spPr>
        <p:txBody>
          <a:bodyPr>
            <a:spAutoFit/>
          </a:bodyPr>
          <a:p>
            <a:pPr eaLnBrk="1" hangingPunct="1">
              <a:spcBef>
                <a:spcPct val="50000"/>
              </a:spcBef>
            </a:pPr>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97285" name="Text Box 5"/>
          <p:cNvSpPr txBox="1"/>
          <p:nvPr/>
        </p:nvSpPr>
        <p:spPr>
          <a:xfrm>
            <a:off x="1981200" y="25146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97286" name="Text Box 6"/>
          <p:cNvSpPr txBox="1"/>
          <p:nvPr/>
        </p:nvSpPr>
        <p:spPr>
          <a:xfrm>
            <a:off x="3505200" y="25146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97287" name="Text Box 7"/>
          <p:cNvSpPr txBox="1"/>
          <p:nvPr/>
        </p:nvSpPr>
        <p:spPr>
          <a:xfrm>
            <a:off x="4800600" y="25146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97288" name="Text Box 8"/>
          <p:cNvSpPr txBox="1"/>
          <p:nvPr/>
        </p:nvSpPr>
        <p:spPr>
          <a:xfrm>
            <a:off x="6477000" y="25146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97289" name="Text Box 9"/>
          <p:cNvSpPr txBox="1"/>
          <p:nvPr/>
        </p:nvSpPr>
        <p:spPr>
          <a:xfrm>
            <a:off x="1143000" y="3276600"/>
            <a:ext cx="609600" cy="519113"/>
          </a:xfrm>
          <a:prstGeom prst="rect">
            <a:avLst/>
          </a:prstGeom>
          <a:noFill/>
          <a:ln w="9525">
            <a:noFill/>
          </a:ln>
        </p:spPr>
        <p:txBody>
          <a:bodyPr>
            <a:spAutoFit/>
          </a:bodyPr>
          <a:p>
            <a:pPr eaLnBrk="1" hangingPunct="1">
              <a:spcBef>
                <a:spcPct val="50000"/>
              </a:spcBef>
            </a:pPr>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748554"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55"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56"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57"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58"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59"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8560" name="Line 16"/>
          <p:cNvSpPr>
            <a:spLocks noChangeShapeType="1"/>
          </p:cNvSpPr>
          <p:nvPr/>
        </p:nvSpPr>
        <p:spPr bwMode="auto">
          <a:xfrm flipH="1">
            <a:off x="1447800" y="28956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7297"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97298"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97299" name="Text Box 19"/>
          <p:cNvSpPr txBox="1"/>
          <p:nvPr/>
        </p:nvSpPr>
        <p:spPr>
          <a:xfrm>
            <a:off x="274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97300"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97301"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97302"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97303"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97304" name="Text Box 24"/>
          <p:cNvSpPr txBox="1"/>
          <p:nvPr/>
        </p:nvSpPr>
        <p:spPr>
          <a:xfrm>
            <a:off x="655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748569" name="Text Box 25"/>
          <p:cNvSpPr txBox="1">
            <a:spLocks noChangeArrowheads="1"/>
          </p:cNvSpPr>
          <p:nvPr/>
        </p:nvSpPr>
        <p:spPr bwMode="auto">
          <a:xfrm>
            <a:off x="2133600" y="5257800"/>
            <a:ext cx="4343400" cy="579438"/>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(b) i=3</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，不调整</a:t>
            </a:r>
            <a:endPar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8306" name="Text Box 2"/>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98307" name="Text Box 3"/>
          <p:cNvSpPr txBox="1"/>
          <p:nvPr/>
        </p:nvSpPr>
        <p:spPr>
          <a:xfrm>
            <a:off x="2819400" y="1828800"/>
            <a:ext cx="609600" cy="528638"/>
          </a:xfrm>
          <a:prstGeom prst="rect">
            <a:avLst/>
          </a:prstGeom>
          <a:noFill/>
          <a:ln w="9525" cap="flat" cmpd="sng">
            <a:solidFill>
              <a:schemeClr val="tx1"/>
            </a:solidFill>
            <a:prstDash val="solid"/>
            <a:miter/>
            <a:headEnd type="none" w="med" len="med"/>
            <a:tailEnd type="none" w="med" len="med"/>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98308"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98309"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98310"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98311"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98312"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98313" name="Text Box 9"/>
          <p:cNvSpPr txBox="1"/>
          <p:nvPr/>
        </p:nvSpPr>
        <p:spPr>
          <a:xfrm>
            <a:off x="11430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749578"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79"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80"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81"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82"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83"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84" name="Line 16"/>
          <p:cNvSpPr>
            <a:spLocks noChangeShapeType="1"/>
          </p:cNvSpPr>
          <p:nvPr/>
        </p:nvSpPr>
        <p:spPr bwMode="auto">
          <a:xfrm flipH="1">
            <a:off x="1447800" y="28956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8321"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98322" name="Text Box 18"/>
          <p:cNvSpPr txBox="1"/>
          <p:nvPr/>
        </p:nvSpPr>
        <p:spPr>
          <a:xfrm>
            <a:off x="198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98323"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98324"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98325"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98326"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98327"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98328" name="Text Box 24"/>
          <p:cNvSpPr txBox="1"/>
          <p:nvPr/>
        </p:nvSpPr>
        <p:spPr>
          <a:xfrm>
            <a:off x="655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749593" name="Freeform 25"/>
          <p:cNvSpPr/>
          <p:nvPr/>
        </p:nvSpPr>
        <p:spPr bwMode="auto">
          <a:xfrm>
            <a:off x="2362200" y="4800600"/>
            <a:ext cx="1371600" cy="381000"/>
          </a:xfrm>
          <a:custGeom>
            <a:avLst/>
            <a:gdLst/>
            <a:ahLst/>
            <a:cxnLst>
              <a:cxn ang="0">
                <a:pos x="0" y="0"/>
              </a:cxn>
              <a:cxn ang="0">
                <a:pos x="0" y="240"/>
              </a:cxn>
              <a:cxn ang="0">
                <a:pos x="864" y="240"/>
              </a:cxn>
              <a:cxn ang="0">
                <a:pos x="864" y="0"/>
              </a:cxn>
            </a:cxnLst>
            <a:rect l="0" t="0" r="r" b="b"/>
            <a:pathLst>
              <a:path w="864" h="240">
                <a:moveTo>
                  <a:pt x="0" y="0"/>
                </a:moveTo>
                <a:lnTo>
                  <a:pt x="0" y="240"/>
                </a:lnTo>
                <a:lnTo>
                  <a:pt x="864" y="240"/>
                </a:lnTo>
                <a:lnTo>
                  <a:pt x="864" y="0"/>
                </a:lnTo>
              </a:path>
            </a:pathLst>
          </a:custGeom>
          <a:noFill/>
          <a:ln w="9525">
            <a:solidFill>
              <a:schemeClr val="tx1"/>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94" name="Freeform 26"/>
          <p:cNvSpPr/>
          <p:nvPr/>
        </p:nvSpPr>
        <p:spPr bwMode="auto">
          <a:xfrm>
            <a:off x="4038600" y="4800600"/>
            <a:ext cx="2819400" cy="381000"/>
          </a:xfrm>
          <a:custGeom>
            <a:avLst/>
            <a:gdLst/>
            <a:ahLst/>
            <a:cxnLst>
              <a:cxn ang="0">
                <a:pos x="0" y="0"/>
              </a:cxn>
              <a:cxn ang="0">
                <a:pos x="0" y="240"/>
              </a:cxn>
              <a:cxn ang="0">
                <a:pos x="864" y="240"/>
              </a:cxn>
              <a:cxn ang="0">
                <a:pos x="864" y="0"/>
              </a:cxn>
            </a:cxnLst>
            <a:rect l="0" t="0" r="r" b="b"/>
            <a:pathLst>
              <a:path w="864" h="240">
                <a:moveTo>
                  <a:pt x="0" y="0"/>
                </a:moveTo>
                <a:lnTo>
                  <a:pt x="0" y="240"/>
                </a:lnTo>
                <a:lnTo>
                  <a:pt x="864" y="240"/>
                </a:lnTo>
                <a:lnTo>
                  <a:pt x="864" y="0"/>
                </a:lnTo>
              </a:path>
            </a:pathLst>
          </a:custGeom>
          <a:noFill/>
          <a:ln w="9525">
            <a:solidFill>
              <a:schemeClr val="tx1"/>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95" name="Freeform 27"/>
          <p:cNvSpPr/>
          <p:nvPr/>
        </p:nvSpPr>
        <p:spPr bwMode="auto">
          <a:xfrm>
            <a:off x="1371600" y="2654300"/>
            <a:ext cx="685800" cy="622300"/>
          </a:xfrm>
          <a:custGeom>
            <a:avLst/>
            <a:gdLst/>
            <a:ahLst/>
            <a:cxnLst>
              <a:cxn ang="0">
                <a:pos x="0" y="392"/>
              </a:cxn>
              <a:cxn ang="0">
                <a:pos x="48" y="200"/>
              </a:cxn>
              <a:cxn ang="0">
                <a:pos x="144" y="56"/>
              </a:cxn>
              <a:cxn ang="0">
                <a:pos x="288" y="8"/>
              </a:cxn>
              <a:cxn ang="0">
                <a:pos x="432" y="8"/>
              </a:cxn>
            </a:cxnLst>
            <a:rect l="0" t="0" r="r" b="b"/>
            <a:pathLst>
              <a:path w="432" h="392">
                <a:moveTo>
                  <a:pt x="0" y="392"/>
                </a:moveTo>
                <a:cubicBezTo>
                  <a:pt x="12" y="324"/>
                  <a:pt x="24" y="256"/>
                  <a:pt x="48" y="200"/>
                </a:cubicBezTo>
                <a:cubicBezTo>
                  <a:pt x="72" y="144"/>
                  <a:pt x="104" y="88"/>
                  <a:pt x="144" y="56"/>
                </a:cubicBezTo>
                <a:cubicBezTo>
                  <a:pt x="184" y="24"/>
                  <a:pt x="240" y="16"/>
                  <a:pt x="288" y="8"/>
                </a:cubicBezTo>
                <a:cubicBezTo>
                  <a:pt x="336" y="0"/>
                  <a:pt x="408" y="0"/>
                  <a:pt x="432" y="8"/>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96" name="Freeform 28"/>
          <p:cNvSpPr/>
          <p:nvPr/>
        </p:nvSpPr>
        <p:spPr bwMode="auto">
          <a:xfrm>
            <a:off x="2197100" y="1968500"/>
            <a:ext cx="546100" cy="622300"/>
          </a:xfrm>
          <a:custGeom>
            <a:avLst/>
            <a:gdLst/>
            <a:ahLst/>
            <a:cxnLst>
              <a:cxn ang="0">
                <a:pos x="8" y="392"/>
              </a:cxn>
              <a:cxn ang="0">
                <a:pos x="8" y="296"/>
              </a:cxn>
              <a:cxn ang="0">
                <a:pos x="56" y="152"/>
              </a:cxn>
              <a:cxn ang="0">
                <a:pos x="152" y="56"/>
              </a:cxn>
              <a:cxn ang="0">
                <a:pos x="248" y="8"/>
              </a:cxn>
              <a:cxn ang="0">
                <a:pos x="344" y="8"/>
              </a:cxn>
            </a:cxnLst>
            <a:rect l="0" t="0" r="r" b="b"/>
            <a:pathLst>
              <a:path w="344" h="392">
                <a:moveTo>
                  <a:pt x="8" y="392"/>
                </a:moveTo>
                <a:cubicBezTo>
                  <a:pt x="4" y="364"/>
                  <a:pt x="0" y="336"/>
                  <a:pt x="8" y="296"/>
                </a:cubicBezTo>
                <a:cubicBezTo>
                  <a:pt x="16" y="256"/>
                  <a:pt x="32" y="192"/>
                  <a:pt x="56" y="152"/>
                </a:cubicBezTo>
                <a:cubicBezTo>
                  <a:pt x="80" y="112"/>
                  <a:pt x="120" y="80"/>
                  <a:pt x="152" y="56"/>
                </a:cubicBezTo>
                <a:cubicBezTo>
                  <a:pt x="184" y="32"/>
                  <a:pt x="216" y="16"/>
                  <a:pt x="248" y="8"/>
                </a:cubicBezTo>
                <a:cubicBezTo>
                  <a:pt x="280" y="0"/>
                  <a:pt x="312" y="4"/>
                  <a:pt x="344" y="8"/>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49597" name="Text Box 29"/>
          <p:cNvSpPr txBox="1">
            <a:spLocks noChangeArrowheads="1"/>
          </p:cNvSpPr>
          <p:nvPr/>
        </p:nvSpPr>
        <p:spPr bwMode="auto">
          <a:xfrm>
            <a:off x="2209800" y="5638800"/>
            <a:ext cx="4191000" cy="579438"/>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(c) i=2</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a:t>
            </a: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13</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筛下两层</a:t>
            </a:r>
            <a:endPar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9330" name="Text Box 2"/>
          <p:cNvSpPr txBox="1"/>
          <p:nvPr/>
        </p:nvSpPr>
        <p:spPr>
          <a:xfrm>
            <a:off x="4191000" y="1066800"/>
            <a:ext cx="609600" cy="528638"/>
          </a:xfrm>
          <a:prstGeom prst="rect">
            <a:avLst/>
          </a:prstGeom>
          <a:noFill/>
          <a:ln w="9525" cap="flat" cmpd="sng">
            <a:solidFill>
              <a:schemeClr val="tx1"/>
            </a:solidFill>
            <a:prstDash val="solid"/>
            <a:miter/>
            <a:headEnd type="none" w="med" len="med"/>
            <a:tailEnd type="none" w="med" len="med"/>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99331" name="Text Box 3"/>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99332"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99333"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99334"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99335"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99336"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99337" name="Text Box 9"/>
          <p:cNvSpPr txBox="1"/>
          <p:nvPr/>
        </p:nvSpPr>
        <p:spPr>
          <a:xfrm>
            <a:off x="11430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750602"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3"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4"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5"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6"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7"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08" name="Line 16"/>
          <p:cNvSpPr>
            <a:spLocks noChangeShapeType="1"/>
          </p:cNvSpPr>
          <p:nvPr/>
        </p:nvSpPr>
        <p:spPr bwMode="auto">
          <a:xfrm flipH="1">
            <a:off x="1447800" y="28956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9345" name="Text Box 17"/>
          <p:cNvSpPr txBox="1"/>
          <p:nvPr/>
        </p:nvSpPr>
        <p:spPr>
          <a:xfrm>
            <a:off x="121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99346"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99347"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99348"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99349"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99350"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99351"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99352" name="Text Box 24"/>
          <p:cNvSpPr txBox="1"/>
          <p:nvPr/>
        </p:nvSpPr>
        <p:spPr>
          <a:xfrm>
            <a:off x="655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750617" name="Freeform 25"/>
          <p:cNvSpPr/>
          <p:nvPr/>
        </p:nvSpPr>
        <p:spPr bwMode="auto">
          <a:xfrm>
            <a:off x="1600200" y="4800600"/>
            <a:ext cx="1524000" cy="381000"/>
          </a:xfrm>
          <a:custGeom>
            <a:avLst/>
            <a:gdLst/>
            <a:ahLst/>
            <a:cxnLst>
              <a:cxn ang="0">
                <a:pos x="0" y="0"/>
              </a:cxn>
              <a:cxn ang="0">
                <a:pos x="0" y="240"/>
              </a:cxn>
              <a:cxn ang="0">
                <a:pos x="864" y="240"/>
              </a:cxn>
              <a:cxn ang="0">
                <a:pos x="864" y="0"/>
              </a:cxn>
            </a:cxnLst>
            <a:rect l="0" t="0" r="r" b="b"/>
            <a:pathLst>
              <a:path w="864" h="240">
                <a:moveTo>
                  <a:pt x="0" y="0"/>
                </a:moveTo>
                <a:lnTo>
                  <a:pt x="0" y="240"/>
                </a:lnTo>
                <a:lnTo>
                  <a:pt x="864" y="240"/>
                </a:lnTo>
                <a:lnTo>
                  <a:pt x="864" y="0"/>
                </a:lnTo>
              </a:path>
            </a:pathLst>
          </a:custGeom>
          <a:noFill/>
          <a:ln w="9525">
            <a:solidFill>
              <a:schemeClr val="tx1"/>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18" name="Freeform 26"/>
          <p:cNvSpPr/>
          <p:nvPr/>
        </p:nvSpPr>
        <p:spPr bwMode="auto">
          <a:xfrm>
            <a:off x="4876800" y="1282700"/>
            <a:ext cx="1143000" cy="698500"/>
          </a:xfrm>
          <a:custGeom>
            <a:avLst/>
            <a:gdLst/>
            <a:ahLst/>
            <a:cxnLst>
              <a:cxn ang="0">
                <a:pos x="0" y="8"/>
              </a:cxn>
              <a:cxn ang="0">
                <a:pos x="192" y="8"/>
              </a:cxn>
              <a:cxn ang="0">
                <a:pos x="432" y="56"/>
              </a:cxn>
              <a:cxn ang="0">
                <a:pos x="576" y="152"/>
              </a:cxn>
              <a:cxn ang="0">
                <a:pos x="672" y="296"/>
              </a:cxn>
              <a:cxn ang="0">
                <a:pos x="720" y="440"/>
              </a:cxn>
            </a:cxnLst>
            <a:rect l="0" t="0" r="r" b="b"/>
            <a:pathLst>
              <a:path w="720" h="440">
                <a:moveTo>
                  <a:pt x="0" y="8"/>
                </a:moveTo>
                <a:cubicBezTo>
                  <a:pt x="60" y="4"/>
                  <a:pt x="120" y="0"/>
                  <a:pt x="192" y="8"/>
                </a:cubicBezTo>
                <a:cubicBezTo>
                  <a:pt x="264" y="16"/>
                  <a:pt x="368" y="32"/>
                  <a:pt x="432" y="56"/>
                </a:cubicBezTo>
                <a:cubicBezTo>
                  <a:pt x="496" y="80"/>
                  <a:pt x="536" y="112"/>
                  <a:pt x="576" y="152"/>
                </a:cubicBezTo>
                <a:cubicBezTo>
                  <a:pt x="616" y="192"/>
                  <a:pt x="648" y="248"/>
                  <a:pt x="672" y="296"/>
                </a:cubicBezTo>
                <a:cubicBezTo>
                  <a:pt x="696" y="344"/>
                  <a:pt x="708" y="392"/>
                  <a:pt x="720" y="440"/>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0619" name="Text Box 27"/>
          <p:cNvSpPr txBox="1">
            <a:spLocks noChangeArrowheads="1"/>
          </p:cNvSpPr>
          <p:nvPr/>
        </p:nvSpPr>
        <p:spPr bwMode="auto">
          <a:xfrm>
            <a:off x="2362200" y="5562600"/>
            <a:ext cx="4876800" cy="579438"/>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(d) i=1</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a:t>
            </a: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42</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筛下一层</a:t>
            </a:r>
            <a:endPar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0354" name="Text Box 2"/>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100355" name="Text Box 3"/>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0356"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0357"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0358"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0359"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0360"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0361" name="Text Box 9"/>
          <p:cNvSpPr txBox="1"/>
          <p:nvPr/>
        </p:nvSpPr>
        <p:spPr>
          <a:xfrm>
            <a:off x="11430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751626"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27"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28"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29"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30"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31"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1632" name="Line 16"/>
          <p:cNvSpPr>
            <a:spLocks noChangeShapeType="1"/>
          </p:cNvSpPr>
          <p:nvPr/>
        </p:nvSpPr>
        <p:spPr bwMode="auto">
          <a:xfrm flipH="1">
            <a:off x="1447800" y="28956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0369"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100370"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0371"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0372"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0373"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0374"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0375"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0376" name="Text Box 24"/>
          <p:cNvSpPr txBox="1"/>
          <p:nvPr/>
        </p:nvSpPr>
        <p:spPr>
          <a:xfrm>
            <a:off x="655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751641" name="Text Box 25"/>
          <p:cNvSpPr txBox="1">
            <a:spLocks noChangeArrowheads="1"/>
          </p:cNvSpPr>
          <p:nvPr/>
        </p:nvSpPr>
        <p:spPr bwMode="auto">
          <a:xfrm>
            <a:off x="2362200" y="5257800"/>
            <a:ext cx="3733800" cy="579438"/>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en-US" altLang="zh-CN"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(e) </a:t>
            </a:r>
            <a:r>
              <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建成的大顶堆</a:t>
            </a:r>
            <a:endParaRPr kumimoji="1" lang="zh-CN" altLang="en-US" sz="3200"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1378" name="Text Box 2"/>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101379" name="Text Box 3"/>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1380"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1381"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1382"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1383"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1384"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1385" name="Text Box 9"/>
          <p:cNvSpPr txBox="1"/>
          <p:nvPr/>
        </p:nvSpPr>
        <p:spPr>
          <a:xfrm>
            <a:off x="11430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753674"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75"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76"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77"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78"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79"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80" name="Line 16"/>
          <p:cNvSpPr>
            <a:spLocks noChangeShapeType="1"/>
          </p:cNvSpPr>
          <p:nvPr/>
        </p:nvSpPr>
        <p:spPr bwMode="auto">
          <a:xfrm flipH="1">
            <a:off x="1447800" y="2895600"/>
            <a:ext cx="6096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1393"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101394"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1395"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1396"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1397"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1398"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1399"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1400" name="Text Box 24"/>
          <p:cNvSpPr txBox="1"/>
          <p:nvPr/>
        </p:nvSpPr>
        <p:spPr>
          <a:xfrm>
            <a:off x="655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1401" name="Text Box 25"/>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a</a:t>
            </a:r>
            <a:r>
              <a:rPr lang="zh-CN" altLang="en-US" sz="2800" dirty="0">
                <a:solidFill>
                  <a:srgbClr val="0000FF"/>
                </a:solidFill>
                <a:latin typeface="楷体_GB2312" pitchFamily="49" charset="-122"/>
                <a:ea typeface="楷体_GB2312" pitchFamily="49" charset="-122"/>
              </a:rPr>
              <a:t>）初始堆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R[8]</a:t>
            </a:r>
            <a:endParaRPr lang="en-US" altLang="zh-CN" sz="2800" dirty="0">
              <a:solidFill>
                <a:srgbClr val="0000FF"/>
              </a:solidFill>
              <a:latin typeface="楷体_GB2312" pitchFamily="49" charset="-122"/>
              <a:ea typeface="楷体_GB2312" pitchFamily="49" charset="-122"/>
            </a:endParaRPr>
          </a:p>
        </p:txBody>
      </p:sp>
      <p:sp>
        <p:nvSpPr>
          <p:cNvPr id="753690" name="Freeform 26"/>
          <p:cNvSpPr/>
          <p:nvPr/>
        </p:nvSpPr>
        <p:spPr bwMode="auto">
          <a:xfrm>
            <a:off x="1435100" y="1282700"/>
            <a:ext cx="2603500" cy="1917700"/>
          </a:xfrm>
          <a:custGeom>
            <a:avLst/>
            <a:gdLst/>
            <a:ahLst/>
            <a:cxnLst>
              <a:cxn ang="0">
                <a:pos x="8" y="1208"/>
              </a:cxn>
              <a:cxn ang="0">
                <a:pos x="8" y="968"/>
              </a:cxn>
              <a:cxn ang="0">
                <a:pos x="56" y="728"/>
              </a:cxn>
              <a:cxn ang="0">
                <a:pos x="200" y="440"/>
              </a:cxn>
              <a:cxn ang="0">
                <a:pos x="440" y="200"/>
              </a:cxn>
              <a:cxn ang="0">
                <a:pos x="728" y="56"/>
              </a:cxn>
              <a:cxn ang="0">
                <a:pos x="1160" y="8"/>
              </a:cxn>
              <a:cxn ang="0">
                <a:pos x="1640" y="8"/>
              </a:cxn>
            </a:cxnLst>
            <a:rect l="0" t="0" r="r" b="b"/>
            <a:pathLst>
              <a:path w="1640" h="1208">
                <a:moveTo>
                  <a:pt x="8" y="1208"/>
                </a:moveTo>
                <a:cubicBezTo>
                  <a:pt x="4" y="1128"/>
                  <a:pt x="0" y="1048"/>
                  <a:pt x="8" y="968"/>
                </a:cubicBezTo>
                <a:cubicBezTo>
                  <a:pt x="16" y="888"/>
                  <a:pt x="24" y="816"/>
                  <a:pt x="56" y="728"/>
                </a:cubicBezTo>
                <a:cubicBezTo>
                  <a:pt x="88" y="640"/>
                  <a:pt x="136" y="528"/>
                  <a:pt x="200" y="440"/>
                </a:cubicBezTo>
                <a:cubicBezTo>
                  <a:pt x="264" y="352"/>
                  <a:pt x="352" y="264"/>
                  <a:pt x="440" y="200"/>
                </a:cubicBezTo>
                <a:cubicBezTo>
                  <a:pt x="528" y="136"/>
                  <a:pt x="608" y="88"/>
                  <a:pt x="728" y="56"/>
                </a:cubicBezTo>
                <a:cubicBezTo>
                  <a:pt x="848" y="24"/>
                  <a:pt x="1008" y="16"/>
                  <a:pt x="1160" y="8"/>
                </a:cubicBezTo>
                <a:cubicBezTo>
                  <a:pt x="1312" y="0"/>
                  <a:pt x="1476" y="4"/>
                  <a:pt x="1640" y="8"/>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3691" name="Rectangle 27"/>
          <p:cNvSpPr>
            <a:spLocks noGrp="1" noChangeArrowheads="1"/>
          </p:cNvSpPr>
          <p:nvPr>
            <p:ph type="title"/>
          </p:nvPr>
        </p:nvSpPr>
        <p:spPr>
          <a:xfrm>
            <a:off x="3132138" y="260350"/>
            <a:ext cx="3089275" cy="5334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9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输出堆顶</a:t>
            </a:r>
            <a:r>
              <a:rPr kumimoji="0" lang="en-US" altLang="zh-CN" sz="29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a:t>
            </a:r>
            <a:r>
              <a:rPr kumimoji="0" lang="zh-CN" altLang="en-US" sz="29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调整堆</a:t>
            </a:r>
            <a:endParaRPr kumimoji="0" lang="zh-CN" altLang="en-US" sz="29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2402" name="Text Box 2"/>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2403" name="Text Box 3"/>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2404"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2405"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2406"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2407"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2408"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2409" name="Text Box 9"/>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4698"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699"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700"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701"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702"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703" name="Line 15"/>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4704" name="Line 16"/>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2417"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2418"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2419"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2420"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2421"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2422"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2423" name="Text Box 23"/>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2424" name="Text Box 24"/>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102425" name="Text Box 25"/>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b</a:t>
            </a:r>
            <a:r>
              <a:rPr lang="zh-CN" altLang="en-US" sz="2800" dirty="0">
                <a:solidFill>
                  <a:srgbClr val="0000FF"/>
                </a:solidFill>
                <a:latin typeface="楷体_GB2312" pitchFamily="49" charset="-122"/>
                <a:ea typeface="楷体_GB2312" pitchFamily="49" charset="-122"/>
              </a:rPr>
              <a:t>）第一趟排序之后</a:t>
            </a:r>
            <a:endParaRPr lang="zh-CN" altLang="en-US" sz="2800" dirty="0">
              <a:solidFill>
                <a:srgbClr val="0000FF"/>
              </a:solidFill>
              <a:latin typeface="楷体_GB2312" pitchFamily="49" charset="-122"/>
              <a:ea typeface="楷体_GB2312" pitchFamily="49" charset="-12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3426"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c</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R[7]</a:t>
            </a:r>
            <a:endParaRPr lang="en-US" altLang="zh-CN" sz="2800" dirty="0">
              <a:solidFill>
                <a:srgbClr val="0000FF"/>
              </a:solidFill>
              <a:latin typeface="楷体_GB2312" pitchFamily="49" charset="-122"/>
              <a:ea typeface="楷体_GB2312" pitchFamily="49" charset="-122"/>
            </a:endParaRPr>
          </a:p>
        </p:txBody>
      </p:sp>
      <p:sp>
        <p:nvSpPr>
          <p:cNvPr id="103427"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3428"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3429"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3430"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3431"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3432"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3433"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3434"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5723"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4"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5"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6" name="Line 14"/>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7" name="Line 15"/>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8" name="Line 16"/>
          <p:cNvSpPr>
            <a:spLocks noChangeShapeType="1"/>
          </p:cNvSpPr>
          <p:nvPr/>
        </p:nvSpPr>
        <p:spPr bwMode="auto">
          <a:xfrm>
            <a:off x="60960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5729"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3442"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3443"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3444"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3445"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3446" name="Text Box 22"/>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3447" name="Text Box 23"/>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3448" name="Text Box 24"/>
          <p:cNvSpPr txBox="1"/>
          <p:nvPr/>
        </p:nvSpPr>
        <p:spPr>
          <a:xfrm>
            <a:off x="579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3449"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55738" name="Freeform 26"/>
          <p:cNvSpPr/>
          <p:nvPr/>
        </p:nvSpPr>
        <p:spPr bwMode="auto">
          <a:xfrm>
            <a:off x="4876800" y="1270000"/>
            <a:ext cx="1854200" cy="1320800"/>
          </a:xfrm>
          <a:custGeom>
            <a:avLst/>
            <a:gdLst/>
            <a:ahLst/>
            <a:cxnLst>
              <a:cxn ang="0">
                <a:pos x="1152" y="832"/>
              </a:cxn>
              <a:cxn ang="0">
                <a:pos x="1152" y="688"/>
              </a:cxn>
              <a:cxn ang="0">
                <a:pos x="1056" y="448"/>
              </a:cxn>
              <a:cxn ang="0">
                <a:pos x="864" y="256"/>
              </a:cxn>
              <a:cxn ang="0">
                <a:pos x="624" y="112"/>
              </a:cxn>
              <a:cxn ang="0">
                <a:pos x="288" y="16"/>
              </a:cxn>
              <a:cxn ang="0">
                <a:pos x="0" y="16"/>
              </a:cxn>
            </a:cxnLst>
            <a:rect l="0" t="0" r="r" b="b"/>
            <a:pathLst>
              <a:path w="1168" h="832">
                <a:moveTo>
                  <a:pt x="1152" y="832"/>
                </a:moveTo>
                <a:cubicBezTo>
                  <a:pt x="1160" y="792"/>
                  <a:pt x="1168" y="752"/>
                  <a:pt x="1152" y="688"/>
                </a:cubicBezTo>
                <a:cubicBezTo>
                  <a:pt x="1136" y="624"/>
                  <a:pt x="1104" y="520"/>
                  <a:pt x="1056" y="448"/>
                </a:cubicBezTo>
                <a:cubicBezTo>
                  <a:pt x="1008" y="376"/>
                  <a:pt x="936" y="312"/>
                  <a:pt x="864" y="256"/>
                </a:cubicBezTo>
                <a:cubicBezTo>
                  <a:pt x="792" y="200"/>
                  <a:pt x="720" y="152"/>
                  <a:pt x="624" y="112"/>
                </a:cubicBezTo>
                <a:cubicBezTo>
                  <a:pt x="528" y="72"/>
                  <a:pt x="392" y="32"/>
                  <a:pt x="288" y="16"/>
                </a:cubicBezTo>
                <a:cubicBezTo>
                  <a:pt x="184" y="0"/>
                  <a:pt x="92" y="8"/>
                  <a:pt x="0" y="16"/>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4450" name="Text Box 2"/>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4451" name="Text Box 3"/>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4452" name="Text Box 4"/>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4453" name="Text Box 5"/>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4454" name="Text Box 6"/>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4455" name="Text Box 7"/>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4456" name="Text Box 8"/>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4457" name="Text Box 9"/>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6746" name="Line 10"/>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47" name="Line 11"/>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48" name="Line 12"/>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49" name="Line 13"/>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50" name="Line 14"/>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51" name="Line 15"/>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6752" name="Line 16"/>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4465" name="Text Box 17"/>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4466" name="Text Box 18"/>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4467" name="Text Box 19"/>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4468" name="Text Box 20"/>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4469" name="Text Box 21"/>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4470" name="Text Box 22"/>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4471" name="Text Box 23"/>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4472" name="Text Box 24"/>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104473" name="Text Box 25"/>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d</a:t>
            </a:r>
            <a:r>
              <a:rPr lang="zh-CN" altLang="en-US" sz="2800" dirty="0">
                <a:solidFill>
                  <a:srgbClr val="0000FF"/>
                </a:solidFill>
                <a:latin typeface="楷体_GB2312" pitchFamily="49" charset="-122"/>
                <a:ea typeface="楷体_GB2312" pitchFamily="49" charset="-122"/>
              </a:rPr>
              <a:t>）第二趟排序之后</a:t>
            </a:r>
            <a:endParaRPr lang="zh-CN" altLang="en-US" sz="2800" dirty="0">
              <a:solidFill>
                <a:srgbClr val="0000FF"/>
              </a:solidFill>
              <a:latin typeface="楷体_GB2312" pitchFamily="49" charset="-122"/>
              <a:ea typeface="楷体_GB2312"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5474"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e</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R[6]</a:t>
            </a:r>
            <a:endParaRPr lang="en-US" altLang="zh-CN" sz="2800" dirty="0">
              <a:solidFill>
                <a:srgbClr val="0000FF"/>
              </a:solidFill>
              <a:latin typeface="楷体_GB2312" pitchFamily="49" charset="-122"/>
              <a:ea typeface="楷体_GB2312" pitchFamily="49" charset="-122"/>
            </a:endParaRPr>
          </a:p>
        </p:txBody>
      </p:sp>
      <p:sp>
        <p:nvSpPr>
          <p:cNvPr id="105475"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5476"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5477"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5478"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5479"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5480"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5481"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5482"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7771"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2"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3"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4" name="Line 14"/>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5" name="Line 15"/>
          <p:cNvSpPr>
            <a:spLocks noChangeShapeType="1"/>
          </p:cNvSpPr>
          <p:nvPr/>
        </p:nvSpPr>
        <p:spPr bwMode="auto">
          <a:xfrm flipH="1">
            <a:off x="52578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6"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7777"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5490"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5491"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5492"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5493"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5494" name="Text Box 22"/>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5495" name="Text Box 23"/>
          <p:cNvSpPr txBox="1"/>
          <p:nvPr/>
        </p:nvSpPr>
        <p:spPr>
          <a:xfrm>
            <a:off x="502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5496"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5497"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57786" name="Freeform 26"/>
          <p:cNvSpPr/>
          <p:nvPr/>
        </p:nvSpPr>
        <p:spPr bwMode="auto">
          <a:xfrm>
            <a:off x="4572000" y="1600200"/>
            <a:ext cx="457200" cy="914400"/>
          </a:xfrm>
          <a:custGeom>
            <a:avLst/>
            <a:gdLst/>
            <a:ahLst/>
            <a:cxnLst>
              <a:cxn ang="0">
                <a:pos x="288" y="576"/>
              </a:cxn>
              <a:cxn ang="0">
                <a:pos x="192" y="480"/>
              </a:cxn>
              <a:cxn ang="0">
                <a:pos x="96" y="384"/>
              </a:cxn>
              <a:cxn ang="0">
                <a:pos x="48" y="240"/>
              </a:cxn>
              <a:cxn ang="0">
                <a:pos x="0" y="0"/>
              </a:cxn>
            </a:cxnLst>
            <a:rect l="0" t="0" r="r" b="b"/>
            <a:pathLst>
              <a:path w="288" h="576">
                <a:moveTo>
                  <a:pt x="288" y="576"/>
                </a:moveTo>
                <a:cubicBezTo>
                  <a:pt x="256" y="544"/>
                  <a:pt x="224" y="512"/>
                  <a:pt x="192" y="480"/>
                </a:cubicBezTo>
                <a:cubicBezTo>
                  <a:pt x="160" y="448"/>
                  <a:pt x="120" y="424"/>
                  <a:pt x="96" y="384"/>
                </a:cubicBezTo>
                <a:cubicBezTo>
                  <a:pt x="72" y="344"/>
                  <a:pt x="64" y="304"/>
                  <a:pt x="48" y="240"/>
                </a:cubicBezTo>
                <a:cubicBezTo>
                  <a:pt x="32" y="176"/>
                  <a:pt x="16" y="88"/>
                  <a:pt x="0" y="0"/>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6498"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f</a:t>
            </a:r>
            <a:r>
              <a:rPr lang="zh-CN" altLang="en-US" sz="2800" dirty="0">
                <a:solidFill>
                  <a:srgbClr val="0000FF"/>
                </a:solidFill>
                <a:latin typeface="楷体_GB2312" pitchFamily="49" charset="-122"/>
                <a:ea typeface="楷体_GB2312" pitchFamily="49" charset="-122"/>
              </a:rPr>
              <a:t>）第三趟排序之后</a:t>
            </a:r>
            <a:endParaRPr lang="zh-CN" altLang="en-US" sz="2800" dirty="0">
              <a:solidFill>
                <a:srgbClr val="0000FF"/>
              </a:solidFill>
              <a:latin typeface="楷体_GB2312" pitchFamily="49" charset="-122"/>
              <a:ea typeface="楷体_GB2312" pitchFamily="49" charset="-122"/>
            </a:endParaRPr>
          </a:p>
        </p:txBody>
      </p:sp>
      <p:sp>
        <p:nvSpPr>
          <p:cNvPr id="106499"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6500"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6501"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6502"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6503"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6504"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6505"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6506"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8795"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796"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797"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798" name="Line 14"/>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799"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800"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8801"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6514"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6515"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6516"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6517"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6518" name="Text Box 22"/>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6519"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6520"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6521"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7522" name="Text Box 2"/>
          <p:cNvSpPr txBox="1"/>
          <p:nvPr/>
        </p:nvSpPr>
        <p:spPr>
          <a:xfrm>
            <a:off x="1752600" y="5334000"/>
            <a:ext cx="5257800" cy="519113"/>
          </a:xfrm>
          <a:prstGeom prst="rect">
            <a:avLst/>
          </a:prstGeom>
          <a:noFill/>
          <a:ln w="9525">
            <a:noFill/>
          </a:ln>
        </p:spPr>
        <p:txBody>
          <a:bodyPr>
            <a:spAutoFit/>
          </a:bodyPr>
          <a:p>
            <a:pPr algn="ct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g</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R[5]</a:t>
            </a:r>
            <a:endParaRPr lang="en-US" altLang="zh-CN" sz="2800" dirty="0">
              <a:solidFill>
                <a:srgbClr val="0000FF"/>
              </a:solidFill>
              <a:latin typeface="楷体_GB2312" pitchFamily="49" charset="-122"/>
              <a:ea typeface="楷体_GB2312" pitchFamily="49" charset="-122"/>
            </a:endParaRPr>
          </a:p>
        </p:txBody>
      </p:sp>
      <p:sp>
        <p:nvSpPr>
          <p:cNvPr id="107523"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7524"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7525"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7526"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7527"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7528"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7529"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7530"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59819"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0"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1"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2" name="Line 14"/>
          <p:cNvSpPr>
            <a:spLocks noChangeShapeType="1"/>
          </p:cNvSpPr>
          <p:nvPr/>
        </p:nvSpPr>
        <p:spPr bwMode="auto">
          <a:xfrm>
            <a:off x="3276600" y="2209800"/>
            <a:ext cx="4572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3"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4"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59825"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7538"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7539"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7540"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7541"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7542" name="Text Box 22"/>
          <p:cNvSpPr txBox="1"/>
          <p:nvPr/>
        </p:nvSpPr>
        <p:spPr>
          <a:xfrm>
            <a:off x="4267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7543"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7544"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7545"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59834" name="Freeform 26"/>
          <p:cNvSpPr/>
          <p:nvPr/>
        </p:nvSpPr>
        <p:spPr bwMode="auto">
          <a:xfrm>
            <a:off x="3962400" y="1600200"/>
            <a:ext cx="622300" cy="990600"/>
          </a:xfrm>
          <a:custGeom>
            <a:avLst/>
            <a:gdLst/>
            <a:ahLst/>
            <a:cxnLst>
              <a:cxn ang="0">
                <a:pos x="0" y="624"/>
              </a:cxn>
              <a:cxn ang="0">
                <a:pos x="192" y="528"/>
              </a:cxn>
              <a:cxn ang="0">
                <a:pos x="240" y="480"/>
              </a:cxn>
              <a:cxn ang="0">
                <a:pos x="336" y="384"/>
              </a:cxn>
              <a:cxn ang="0">
                <a:pos x="384" y="192"/>
              </a:cxn>
              <a:cxn ang="0">
                <a:pos x="384" y="0"/>
              </a:cxn>
            </a:cxnLst>
            <a:rect l="0" t="0" r="r" b="b"/>
            <a:pathLst>
              <a:path w="392" h="624">
                <a:moveTo>
                  <a:pt x="0" y="624"/>
                </a:moveTo>
                <a:cubicBezTo>
                  <a:pt x="76" y="588"/>
                  <a:pt x="152" y="552"/>
                  <a:pt x="192" y="528"/>
                </a:cubicBezTo>
                <a:cubicBezTo>
                  <a:pt x="232" y="504"/>
                  <a:pt x="216" y="504"/>
                  <a:pt x="240" y="480"/>
                </a:cubicBezTo>
                <a:cubicBezTo>
                  <a:pt x="264" y="456"/>
                  <a:pt x="312" y="432"/>
                  <a:pt x="336" y="384"/>
                </a:cubicBezTo>
                <a:cubicBezTo>
                  <a:pt x="360" y="336"/>
                  <a:pt x="376" y="256"/>
                  <a:pt x="384" y="192"/>
                </a:cubicBezTo>
                <a:cubicBezTo>
                  <a:pt x="392" y="128"/>
                  <a:pt x="388" y="64"/>
                  <a:pt x="384" y="0"/>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8546"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h</a:t>
            </a:r>
            <a:r>
              <a:rPr lang="zh-CN" altLang="en-US" sz="2800" dirty="0">
                <a:solidFill>
                  <a:srgbClr val="0000FF"/>
                </a:solidFill>
                <a:latin typeface="楷体_GB2312" pitchFamily="49" charset="-122"/>
                <a:ea typeface="楷体_GB2312" pitchFamily="49" charset="-122"/>
              </a:rPr>
              <a:t>）第四趟排序之后</a:t>
            </a:r>
            <a:endParaRPr lang="zh-CN" altLang="en-US" sz="2800" dirty="0">
              <a:solidFill>
                <a:srgbClr val="0000FF"/>
              </a:solidFill>
              <a:latin typeface="楷体_GB2312" pitchFamily="49" charset="-122"/>
              <a:ea typeface="楷体_GB2312" pitchFamily="49" charset="-122"/>
            </a:endParaRPr>
          </a:p>
        </p:txBody>
      </p:sp>
      <p:sp>
        <p:nvSpPr>
          <p:cNvPr id="108547"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8548"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8549"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8550"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8551"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8552"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8553"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8554"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0843"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4"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5"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6"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7"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8"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0849"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8562"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8563"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8564"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8565"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8566"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8567"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8568"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8569"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9570" name="Text Box 2"/>
          <p:cNvSpPr txBox="1"/>
          <p:nvPr/>
        </p:nvSpPr>
        <p:spPr>
          <a:xfrm>
            <a:off x="1752600" y="5334000"/>
            <a:ext cx="5257800" cy="519113"/>
          </a:xfrm>
          <a:prstGeom prst="rect">
            <a:avLst/>
          </a:prstGeom>
          <a:noFill/>
          <a:ln w="9525">
            <a:noFill/>
          </a:ln>
        </p:spPr>
        <p:txBody>
          <a:bodyPr>
            <a:spAutoFit/>
          </a:bodyPr>
          <a:p>
            <a:pPr algn="ct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i</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R[4]</a:t>
            </a:r>
            <a:endParaRPr lang="en-US" altLang="zh-CN" sz="2800" dirty="0">
              <a:solidFill>
                <a:srgbClr val="0000FF"/>
              </a:solidFill>
              <a:latin typeface="楷体_GB2312" pitchFamily="49" charset="-122"/>
              <a:ea typeface="楷体_GB2312" pitchFamily="49" charset="-122"/>
            </a:endParaRPr>
          </a:p>
        </p:txBody>
      </p:sp>
      <p:sp>
        <p:nvSpPr>
          <p:cNvPr id="109571"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09572"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09573"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09574"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09575"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09576"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09577"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09578"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1867"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68"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69" name="Line 13"/>
          <p:cNvSpPr>
            <a:spLocks noChangeShapeType="1"/>
          </p:cNvSpPr>
          <p:nvPr/>
        </p:nvSpPr>
        <p:spPr bwMode="auto">
          <a:xfrm flipH="1">
            <a:off x="2286000" y="2209800"/>
            <a:ext cx="533400" cy="381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70"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71"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72"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1873"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9586"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09587"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09588"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09589" name="Text Box 21"/>
          <p:cNvSpPr txBox="1"/>
          <p:nvPr/>
        </p:nvSpPr>
        <p:spPr>
          <a:xfrm>
            <a:off x="3505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09590"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09591"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09592"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09593"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61882" name="Freeform 26"/>
          <p:cNvSpPr/>
          <p:nvPr/>
        </p:nvSpPr>
        <p:spPr bwMode="auto">
          <a:xfrm>
            <a:off x="2286000" y="1447800"/>
            <a:ext cx="1676400" cy="990600"/>
          </a:xfrm>
          <a:custGeom>
            <a:avLst/>
            <a:gdLst/>
            <a:ahLst/>
            <a:cxnLst>
              <a:cxn ang="0">
                <a:pos x="0" y="624"/>
              </a:cxn>
              <a:cxn ang="0">
                <a:pos x="48" y="432"/>
              </a:cxn>
              <a:cxn ang="0">
                <a:pos x="144" y="288"/>
              </a:cxn>
              <a:cxn ang="0">
                <a:pos x="240" y="192"/>
              </a:cxn>
              <a:cxn ang="0">
                <a:pos x="432" y="96"/>
              </a:cxn>
              <a:cxn ang="0">
                <a:pos x="624" y="48"/>
              </a:cxn>
              <a:cxn ang="0">
                <a:pos x="1056" y="0"/>
              </a:cxn>
            </a:cxnLst>
            <a:rect l="0" t="0" r="r" b="b"/>
            <a:pathLst>
              <a:path w="1056" h="624">
                <a:moveTo>
                  <a:pt x="0" y="624"/>
                </a:moveTo>
                <a:cubicBezTo>
                  <a:pt x="12" y="556"/>
                  <a:pt x="24" y="488"/>
                  <a:pt x="48" y="432"/>
                </a:cubicBezTo>
                <a:cubicBezTo>
                  <a:pt x="72" y="376"/>
                  <a:pt x="112" y="328"/>
                  <a:pt x="144" y="288"/>
                </a:cubicBezTo>
                <a:cubicBezTo>
                  <a:pt x="176" y="248"/>
                  <a:pt x="192" y="224"/>
                  <a:pt x="240" y="192"/>
                </a:cubicBezTo>
                <a:cubicBezTo>
                  <a:pt x="288" y="160"/>
                  <a:pt x="368" y="120"/>
                  <a:pt x="432" y="96"/>
                </a:cubicBezTo>
                <a:cubicBezTo>
                  <a:pt x="496" y="72"/>
                  <a:pt x="520" y="64"/>
                  <a:pt x="624" y="48"/>
                </a:cubicBezTo>
                <a:cubicBezTo>
                  <a:pt x="728" y="32"/>
                  <a:pt x="892" y="16"/>
                  <a:pt x="1056" y="0"/>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0594"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j</a:t>
            </a:r>
            <a:r>
              <a:rPr lang="zh-CN" altLang="en-US" sz="2800" dirty="0">
                <a:solidFill>
                  <a:srgbClr val="0000FF"/>
                </a:solidFill>
                <a:latin typeface="楷体_GB2312" pitchFamily="49" charset="-122"/>
                <a:ea typeface="楷体_GB2312" pitchFamily="49" charset="-122"/>
              </a:rPr>
              <a:t>）第五趟排序之后</a:t>
            </a:r>
            <a:endParaRPr lang="zh-CN" altLang="en-US" sz="2800" dirty="0">
              <a:solidFill>
                <a:srgbClr val="0000FF"/>
              </a:solidFill>
              <a:latin typeface="楷体_GB2312" pitchFamily="49" charset="-122"/>
              <a:ea typeface="楷体_GB2312" pitchFamily="49" charset="-122"/>
            </a:endParaRPr>
          </a:p>
        </p:txBody>
      </p:sp>
      <p:sp>
        <p:nvSpPr>
          <p:cNvPr id="110595"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10596"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10597"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10598"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10599"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10600"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10601"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10602"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2891"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2"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3" name="Line 13"/>
          <p:cNvSpPr>
            <a:spLocks noChangeShapeType="1"/>
          </p:cNvSpPr>
          <p:nvPr/>
        </p:nvSpPr>
        <p:spPr bwMode="auto">
          <a:xfrm flipH="1">
            <a:off x="22860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4"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5"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6"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2897"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0610"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10611"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10612"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10613" name="Text Box 21"/>
          <p:cNvSpPr txBox="1"/>
          <p:nvPr/>
        </p:nvSpPr>
        <p:spPr>
          <a:xfrm>
            <a:off x="3505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10614"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10615"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10616"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10617"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1618" name="Text Box 2"/>
          <p:cNvSpPr txBox="1"/>
          <p:nvPr/>
        </p:nvSpPr>
        <p:spPr>
          <a:xfrm>
            <a:off x="1752600" y="5334000"/>
            <a:ext cx="5257800" cy="519113"/>
          </a:xfrm>
          <a:prstGeom prst="rect">
            <a:avLst/>
          </a:prstGeom>
          <a:noFill/>
          <a:ln w="9525">
            <a:noFill/>
          </a:ln>
        </p:spPr>
        <p:txBody>
          <a:bodyPr>
            <a:spAutoFit/>
          </a:bodyPr>
          <a:p>
            <a:pPr algn="ct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k</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R[3]</a:t>
            </a:r>
            <a:endParaRPr lang="en-US" altLang="zh-CN" sz="2800" dirty="0">
              <a:solidFill>
                <a:srgbClr val="0000FF"/>
              </a:solidFill>
              <a:latin typeface="楷体_GB2312" pitchFamily="49" charset="-122"/>
              <a:ea typeface="楷体_GB2312" pitchFamily="49" charset="-122"/>
            </a:endParaRPr>
          </a:p>
        </p:txBody>
      </p:sp>
      <p:sp>
        <p:nvSpPr>
          <p:cNvPr id="111619"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11620"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11621"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11622"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11623"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11624"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11625"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11626"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3915"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16" name="Line 12"/>
          <p:cNvSpPr>
            <a:spLocks noChangeShapeType="1"/>
          </p:cNvSpPr>
          <p:nvPr/>
        </p:nvSpPr>
        <p:spPr bwMode="auto">
          <a:xfrm>
            <a:off x="46482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17" name="Line 13"/>
          <p:cNvSpPr>
            <a:spLocks noChangeShapeType="1"/>
          </p:cNvSpPr>
          <p:nvPr/>
        </p:nvSpPr>
        <p:spPr bwMode="auto">
          <a:xfrm flipH="1">
            <a:off x="22860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18"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19"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20"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3921"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1634"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11635"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11636" name="Text Box 20"/>
          <p:cNvSpPr txBox="1"/>
          <p:nvPr/>
        </p:nvSpPr>
        <p:spPr>
          <a:xfrm>
            <a:off x="2743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11637" name="Text Box 21"/>
          <p:cNvSpPr txBox="1"/>
          <p:nvPr/>
        </p:nvSpPr>
        <p:spPr>
          <a:xfrm>
            <a:off x="3505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11638"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11639"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11640"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11641"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63930" name="Freeform 26"/>
          <p:cNvSpPr/>
          <p:nvPr/>
        </p:nvSpPr>
        <p:spPr bwMode="auto">
          <a:xfrm>
            <a:off x="4724400" y="1371600"/>
            <a:ext cx="1219200" cy="546100"/>
          </a:xfrm>
          <a:custGeom>
            <a:avLst/>
            <a:gdLst/>
            <a:ahLst/>
            <a:cxnLst>
              <a:cxn ang="0">
                <a:pos x="0" y="8"/>
              </a:cxn>
              <a:cxn ang="0">
                <a:pos x="144" y="8"/>
              </a:cxn>
              <a:cxn ang="0">
                <a:pos x="336" y="56"/>
              </a:cxn>
              <a:cxn ang="0">
                <a:pos x="528" y="152"/>
              </a:cxn>
              <a:cxn ang="0">
                <a:pos x="720" y="296"/>
              </a:cxn>
              <a:cxn ang="0">
                <a:pos x="768" y="344"/>
              </a:cxn>
            </a:cxnLst>
            <a:rect l="0" t="0" r="r" b="b"/>
            <a:pathLst>
              <a:path w="768" h="344">
                <a:moveTo>
                  <a:pt x="0" y="8"/>
                </a:moveTo>
                <a:cubicBezTo>
                  <a:pt x="44" y="4"/>
                  <a:pt x="88" y="0"/>
                  <a:pt x="144" y="8"/>
                </a:cubicBezTo>
                <a:cubicBezTo>
                  <a:pt x="200" y="16"/>
                  <a:pt x="272" y="32"/>
                  <a:pt x="336" y="56"/>
                </a:cubicBezTo>
                <a:cubicBezTo>
                  <a:pt x="400" y="80"/>
                  <a:pt x="464" y="112"/>
                  <a:pt x="528" y="152"/>
                </a:cubicBezTo>
                <a:cubicBezTo>
                  <a:pt x="592" y="192"/>
                  <a:pt x="680" y="264"/>
                  <a:pt x="720" y="296"/>
                </a:cubicBezTo>
                <a:cubicBezTo>
                  <a:pt x="760" y="328"/>
                  <a:pt x="760" y="328"/>
                  <a:pt x="768" y="344"/>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42" name="Text Box 2"/>
          <p:cNvSpPr txBox="1"/>
          <p:nvPr/>
        </p:nvSpPr>
        <p:spPr>
          <a:xfrm>
            <a:off x="1752600" y="5334000"/>
            <a:ext cx="5257800" cy="519113"/>
          </a:xfrm>
          <a:prstGeom prst="rect">
            <a:avLst/>
          </a:prstGeom>
          <a:noFill/>
          <a:ln w="9525">
            <a:noFill/>
          </a:ln>
        </p:spPr>
        <p:txBody>
          <a:bodyPr>
            <a:spAutoFit/>
          </a:bodyPr>
          <a:p>
            <a:pPr algn="ctr" eaLnBrk="1" hangingPunct="1">
              <a:spcBef>
                <a:spcPct val="50000"/>
              </a:spcBef>
            </a:pP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Times New Roman" panose="02020603050405020304" pitchFamily="18" charset="0"/>
                <a:ea typeface="楷体_GB2312" pitchFamily="49" charset="-122"/>
              </a:rPr>
              <a:t>l</a:t>
            </a:r>
            <a:r>
              <a:rPr lang="zh-CN" altLang="en-US" sz="2800" dirty="0">
                <a:solidFill>
                  <a:srgbClr val="0000FF"/>
                </a:solidFill>
                <a:latin typeface="楷体_GB2312" pitchFamily="49" charset="-122"/>
                <a:ea typeface="楷体_GB2312" pitchFamily="49" charset="-122"/>
              </a:rPr>
              <a:t>）第六趟排序之后</a:t>
            </a:r>
            <a:endParaRPr lang="zh-CN" altLang="en-US" sz="2800" dirty="0">
              <a:solidFill>
                <a:srgbClr val="0000FF"/>
              </a:solidFill>
              <a:latin typeface="楷体_GB2312" pitchFamily="49" charset="-122"/>
              <a:ea typeface="楷体_GB2312" pitchFamily="49" charset="-122"/>
            </a:endParaRPr>
          </a:p>
        </p:txBody>
      </p:sp>
      <p:sp>
        <p:nvSpPr>
          <p:cNvPr id="112643"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12644"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12645"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12646"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12647"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12648"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12649"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12650"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4939"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0" name="Line 12"/>
          <p:cNvSpPr>
            <a:spLocks noChangeShapeType="1"/>
          </p:cNvSpPr>
          <p:nvPr/>
        </p:nvSpPr>
        <p:spPr bwMode="auto">
          <a:xfrm>
            <a:off x="4648200" y="1447800"/>
            <a:ext cx="10668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1" name="Line 13"/>
          <p:cNvSpPr>
            <a:spLocks noChangeShapeType="1"/>
          </p:cNvSpPr>
          <p:nvPr/>
        </p:nvSpPr>
        <p:spPr bwMode="auto">
          <a:xfrm flipH="1">
            <a:off x="22860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2"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3"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4"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4945"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2658"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12659"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12660" name="Text Box 20"/>
          <p:cNvSpPr txBox="1"/>
          <p:nvPr/>
        </p:nvSpPr>
        <p:spPr>
          <a:xfrm>
            <a:off x="274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12661" name="Text Box 21"/>
          <p:cNvSpPr txBox="1"/>
          <p:nvPr/>
        </p:nvSpPr>
        <p:spPr>
          <a:xfrm>
            <a:off x="3505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12662"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12663"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12664"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12665"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3666" name="Text Box 2"/>
          <p:cNvSpPr txBox="1"/>
          <p:nvPr/>
        </p:nvSpPr>
        <p:spPr>
          <a:xfrm>
            <a:off x="1752600" y="5334000"/>
            <a:ext cx="5257800" cy="519113"/>
          </a:xfrm>
          <a:prstGeom prst="rect">
            <a:avLst/>
          </a:prstGeom>
          <a:noFill/>
          <a:ln w="9525">
            <a:noFill/>
          </a:ln>
        </p:spPr>
        <p:txBody>
          <a:bodyPr>
            <a:spAutoFit/>
          </a:bodyPr>
          <a:p>
            <a:pPr algn="ctr"/>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m</a:t>
            </a:r>
            <a:r>
              <a:rPr lang="zh-CN" altLang="en-US" sz="2800" dirty="0">
                <a:solidFill>
                  <a:srgbClr val="0000FF"/>
                </a:solidFill>
                <a:latin typeface="楷体_GB2312" pitchFamily="49" charset="-122"/>
                <a:ea typeface="楷体_GB2312" pitchFamily="49" charset="-122"/>
              </a:rPr>
              <a:t>）重建的堆</a:t>
            </a:r>
            <a:r>
              <a:rPr lang="en-US" altLang="zh-CN" sz="2800" dirty="0">
                <a:solidFill>
                  <a:srgbClr val="0000FF"/>
                </a:solidFill>
                <a:latin typeface="楷体_GB2312" pitchFamily="49" charset="-122"/>
                <a:ea typeface="楷体_GB2312" pitchFamily="49" charset="-122"/>
              </a:rPr>
              <a:t>R[1]</a:t>
            </a:r>
            <a:r>
              <a:rPr lang="zh-CN" altLang="en-US" sz="2800" dirty="0">
                <a:solidFill>
                  <a:srgbClr val="0000FF"/>
                </a:solidFill>
                <a:latin typeface="楷体_GB2312" pitchFamily="49" charset="-122"/>
                <a:ea typeface="楷体_GB2312" pitchFamily="49" charset="-122"/>
              </a:rPr>
              <a:t>到</a:t>
            </a:r>
            <a:r>
              <a:rPr lang="en-US" altLang="zh-CN" sz="2800" dirty="0">
                <a:solidFill>
                  <a:srgbClr val="0000FF"/>
                </a:solidFill>
                <a:latin typeface="楷体_GB2312" pitchFamily="49" charset="-122"/>
                <a:ea typeface="楷体_GB2312" pitchFamily="49" charset="-122"/>
              </a:rPr>
              <a:t>R[2]</a:t>
            </a:r>
            <a:endParaRPr lang="en-US" altLang="zh-CN" sz="2800" dirty="0">
              <a:solidFill>
                <a:srgbClr val="0000FF"/>
              </a:solidFill>
              <a:latin typeface="楷体_GB2312" pitchFamily="49" charset="-122"/>
              <a:ea typeface="楷体_GB2312" pitchFamily="49" charset="-122"/>
            </a:endParaRPr>
          </a:p>
        </p:txBody>
      </p:sp>
      <p:sp>
        <p:nvSpPr>
          <p:cNvPr id="113667"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13668"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13669"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13670"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13671"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13672"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13673"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13674"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5963" name="Line 11"/>
          <p:cNvSpPr>
            <a:spLocks noChangeShapeType="1"/>
          </p:cNvSpPr>
          <p:nvPr/>
        </p:nvSpPr>
        <p:spPr bwMode="auto">
          <a:xfrm flipH="1">
            <a:off x="3200400" y="1447800"/>
            <a:ext cx="1066800" cy="457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4" name="Line 12"/>
          <p:cNvSpPr>
            <a:spLocks noChangeShapeType="1"/>
          </p:cNvSpPr>
          <p:nvPr/>
        </p:nvSpPr>
        <p:spPr bwMode="auto">
          <a:xfrm>
            <a:off x="4648200" y="1447800"/>
            <a:ext cx="10668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5" name="Line 13"/>
          <p:cNvSpPr>
            <a:spLocks noChangeShapeType="1"/>
          </p:cNvSpPr>
          <p:nvPr/>
        </p:nvSpPr>
        <p:spPr bwMode="auto">
          <a:xfrm flipH="1">
            <a:off x="22860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6"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7"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8"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5969"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3682"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13683" name="Text Box 19"/>
          <p:cNvSpPr txBox="1"/>
          <p:nvPr/>
        </p:nvSpPr>
        <p:spPr>
          <a:xfrm>
            <a:off x="1981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13684" name="Text Box 20"/>
          <p:cNvSpPr txBox="1"/>
          <p:nvPr/>
        </p:nvSpPr>
        <p:spPr>
          <a:xfrm>
            <a:off x="274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13685" name="Text Box 21"/>
          <p:cNvSpPr txBox="1"/>
          <p:nvPr/>
        </p:nvSpPr>
        <p:spPr>
          <a:xfrm>
            <a:off x="3505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13686"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13687"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13688"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13689"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
        <p:nvSpPr>
          <p:cNvPr id="765978" name="Freeform 26"/>
          <p:cNvSpPr/>
          <p:nvPr/>
        </p:nvSpPr>
        <p:spPr bwMode="auto">
          <a:xfrm>
            <a:off x="3048000" y="1358900"/>
            <a:ext cx="1066800" cy="469900"/>
          </a:xfrm>
          <a:custGeom>
            <a:avLst/>
            <a:gdLst/>
            <a:ahLst/>
            <a:cxnLst>
              <a:cxn ang="0">
                <a:pos x="0" y="296"/>
              </a:cxn>
              <a:cxn ang="0">
                <a:pos x="96" y="152"/>
              </a:cxn>
              <a:cxn ang="0">
                <a:pos x="240" y="56"/>
              </a:cxn>
              <a:cxn ang="0">
                <a:pos x="432" y="8"/>
              </a:cxn>
              <a:cxn ang="0">
                <a:pos x="672" y="8"/>
              </a:cxn>
            </a:cxnLst>
            <a:rect l="0" t="0" r="r" b="b"/>
            <a:pathLst>
              <a:path w="672" h="296">
                <a:moveTo>
                  <a:pt x="0" y="296"/>
                </a:moveTo>
                <a:cubicBezTo>
                  <a:pt x="28" y="244"/>
                  <a:pt x="56" y="192"/>
                  <a:pt x="96" y="152"/>
                </a:cubicBezTo>
                <a:cubicBezTo>
                  <a:pt x="136" y="112"/>
                  <a:pt x="184" y="80"/>
                  <a:pt x="240" y="56"/>
                </a:cubicBezTo>
                <a:cubicBezTo>
                  <a:pt x="296" y="32"/>
                  <a:pt x="360" y="16"/>
                  <a:pt x="432" y="8"/>
                </a:cubicBezTo>
                <a:cubicBezTo>
                  <a:pt x="504" y="0"/>
                  <a:pt x="588" y="4"/>
                  <a:pt x="672" y="8"/>
                </a:cubicBezTo>
              </a:path>
            </a:pathLst>
          </a:custGeom>
          <a:noFill/>
          <a:ln w="9525">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4690" name="Text Box 2"/>
          <p:cNvSpPr txBox="1"/>
          <p:nvPr/>
        </p:nvSpPr>
        <p:spPr>
          <a:xfrm>
            <a:off x="685800" y="5334000"/>
            <a:ext cx="7391400" cy="946150"/>
          </a:xfrm>
          <a:prstGeom prst="rect">
            <a:avLst/>
          </a:prstGeom>
          <a:noFill/>
          <a:ln w="9525">
            <a:noFill/>
          </a:ln>
        </p:spPr>
        <p:txBody>
          <a:bodyPr>
            <a:spAutoFit/>
          </a:bodyPr>
          <a:p>
            <a:pPr algn="ctr" eaLnBrk="1" hangingPunct="1"/>
            <a:r>
              <a:rPr lang="zh-CN" altLang="en-US" sz="2800" dirty="0">
                <a:solidFill>
                  <a:srgbClr val="0000FF"/>
                </a:solidFill>
                <a:latin typeface="楷体_GB2312" pitchFamily="49" charset="-122"/>
                <a:ea typeface="楷体_GB2312" pitchFamily="49" charset="-122"/>
              </a:rPr>
              <a:t>（</a:t>
            </a:r>
            <a:r>
              <a:rPr lang="en-US" altLang="zh-CN" sz="2800" dirty="0">
                <a:solidFill>
                  <a:srgbClr val="0000FF"/>
                </a:solidFill>
                <a:latin typeface="楷体_GB2312" pitchFamily="49" charset="-122"/>
                <a:ea typeface="楷体_GB2312" pitchFamily="49" charset="-122"/>
              </a:rPr>
              <a:t>n</a:t>
            </a:r>
            <a:r>
              <a:rPr lang="zh-CN" altLang="en-US" sz="2800" dirty="0">
                <a:solidFill>
                  <a:srgbClr val="0000FF"/>
                </a:solidFill>
                <a:latin typeface="楷体_GB2312" pitchFamily="49" charset="-122"/>
                <a:ea typeface="楷体_GB2312" pitchFamily="49" charset="-122"/>
              </a:rPr>
              <a:t>）第七趟排序之后，整个记录区</a:t>
            </a:r>
            <a:endParaRPr lang="zh-CN" altLang="en-US" sz="2800" dirty="0">
              <a:solidFill>
                <a:srgbClr val="0000FF"/>
              </a:solidFill>
              <a:latin typeface="楷体_GB2312" pitchFamily="49" charset="-122"/>
              <a:ea typeface="楷体_GB2312" pitchFamily="49" charset="-122"/>
            </a:endParaRPr>
          </a:p>
          <a:p>
            <a:pPr algn="ctr" eaLnBrk="1" hangingPunct="1"/>
            <a:r>
              <a:rPr lang="zh-CN" altLang="en-US" sz="2800" dirty="0">
                <a:solidFill>
                  <a:srgbClr val="0000FF"/>
                </a:solidFill>
                <a:latin typeface="楷体_GB2312" pitchFamily="49" charset="-122"/>
                <a:ea typeface="楷体_GB2312" pitchFamily="49" charset="-122"/>
              </a:rPr>
              <a:t>已经有序</a:t>
            </a:r>
            <a:r>
              <a:rPr lang="en-US" altLang="zh-CN" sz="2800" dirty="0">
                <a:solidFill>
                  <a:srgbClr val="0000FF"/>
                </a:solidFill>
                <a:latin typeface="楷体_GB2312" pitchFamily="49" charset="-122"/>
                <a:ea typeface="楷体_GB2312" pitchFamily="49" charset="-122"/>
              </a:rPr>
              <a:t>,</a:t>
            </a:r>
            <a:r>
              <a:rPr lang="zh-CN" altLang="en-US" sz="2800" dirty="0">
                <a:solidFill>
                  <a:srgbClr val="0000FF"/>
                </a:solidFill>
                <a:latin typeface="楷体_GB2312" pitchFamily="49" charset="-122"/>
                <a:ea typeface="楷体_GB2312" pitchFamily="49" charset="-122"/>
              </a:rPr>
              <a:t>堆排序到此结束。</a:t>
            </a:r>
            <a:endParaRPr lang="zh-CN" altLang="en-US" sz="2800" dirty="0">
              <a:solidFill>
                <a:srgbClr val="0000FF"/>
              </a:solidFill>
              <a:latin typeface="楷体_GB2312" pitchFamily="49" charset="-122"/>
              <a:ea typeface="楷体_GB2312" pitchFamily="49" charset="-122"/>
            </a:endParaRPr>
          </a:p>
        </p:txBody>
      </p:sp>
      <p:sp>
        <p:nvSpPr>
          <p:cNvPr id="114691" name="Text Box 3"/>
          <p:cNvSpPr txBox="1"/>
          <p:nvPr/>
        </p:nvSpPr>
        <p:spPr>
          <a:xfrm>
            <a:off x="4191000" y="1066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05</a:t>
            </a:r>
            <a:endParaRPr lang="en-US" altLang="zh-CN" sz="2800" dirty="0">
              <a:solidFill>
                <a:schemeClr val="tx1"/>
              </a:solidFill>
              <a:latin typeface="宋体" panose="02010600030101010101" pitchFamily="2" charset="-122"/>
            </a:endParaRPr>
          </a:p>
        </p:txBody>
      </p:sp>
      <p:sp>
        <p:nvSpPr>
          <p:cNvPr id="114692" name="Text Box 4"/>
          <p:cNvSpPr txBox="1"/>
          <p:nvPr/>
        </p:nvSpPr>
        <p:spPr>
          <a:xfrm>
            <a:off x="28194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13</a:t>
            </a:r>
            <a:endParaRPr lang="en-US" altLang="zh-CN" sz="2800" dirty="0">
              <a:solidFill>
                <a:schemeClr val="tx1"/>
              </a:solidFill>
              <a:latin typeface="宋体" panose="02010600030101010101" pitchFamily="2" charset="-122"/>
            </a:endParaRPr>
          </a:p>
        </p:txBody>
      </p:sp>
      <p:sp>
        <p:nvSpPr>
          <p:cNvPr id="114693" name="Text Box 5"/>
          <p:cNvSpPr txBox="1"/>
          <p:nvPr/>
        </p:nvSpPr>
        <p:spPr>
          <a:xfrm>
            <a:off x="5638800" y="18288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16</a:t>
            </a:r>
            <a:endParaRPr lang="en-US" altLang="zh-CN" sz="2800" dirty="0">
              <a:solidFill>
                <a:schemeClr val="tx1"/>
              </a:solidFill>
              <a:latin typeface="宋体" panose="02010600030101010101" pitchFamily="2" charset="-122"/>
            </a:endParaRPr>
          </a:p>
        </p:txBody>
      </p:sp>
      <p:sp>
        <p:nvSpPr>
          <p:cNvPr id="114694" name="Text Box 6"/>
          <p:cNvSpPr txBox="1"/>
          <p:nvPr/>
        </p:nvSpPr>
        <p:spPr>
          <a:xfrm>
            <a:off x="1981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23</a:t>
            </a:r>
            <a:endParaRPr lang="en-US" altLang="zh-CN" sz="2800" dirty="0">
              <a:solidFill>
                <a:schemeClr val="tx1"/>
              </a:solidFill>
              <a:latin typeface="宋体" panose="02010600030101010101" pitchFamily="2" charset="-122"/>
            </a:endParaRPr>
          </a:p>
        </p:txBody>
      </p:sp>
      <p:sp>
        <p:nvSpPr>
          <p:cNvPr id="114695" name="Text Box 7"/>
          <p:cNvSpPr txBox="1"/>
          <p:nvPr/>
        </p:nvSpPr>
        <p:spPr>
          <a:xfrm>
            <a:off x="35052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24</a:t>
            </a:r>
            <a:endParaRPr lang="en-US" altLang="zh-CN" sz="2800" dirty="0">
              <a:solidFill>
                <a:schemeClr val="tx1"/>
              </a:solidFill>
              <a:latin typeface="宋体" panose="02010600030101010101" pitchFamily="2" charset="-122"/>
            </a:endParaRPr>
          </a:p>
        </p:txBody>
      </p:sp>
      <p:sp>
        <p:nvSpPr>
          <p:cNvPr id="114696" name="Text Box 8"/>
          <p:cNvSpPr txBox="1"/>
          <p:nvPr/>
        </p:nvSpPr>
        <p:spPr>
          <a:xfrm>
            <a:off x="48006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42</a:t>
            </a:r>
            <a:endParaRPr lang="en-US" altLang="zh-CN" sz="2800" dirty="0">
              <a:solidFill>
                <a:schemeClr val="tx1"/>
              </a:solidFill>
              <a:latin typeface="宋体" panose="02010600030101010101" pitchFamily="2" charset="-122"/>
            </a:endParaRPr>
          </a:p>
        </p:txBody>
      </p:sp>
      <p:sp>
        <p:nvSpPr>
          <p:cNvPr id="114697" name="Text Box 9"/>
          <p:cNvSpPr txBox="1"/>
          <p:nvPr/>
        </p:nvSpPr>
        <p:spPr>
          <a:xfrm>
            <a:off x="6477000" y="2514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88</a:t>
            </a:r>
            <a:endParaRPr lang="en-US" altLang="zh-CN" sz="2800" dirty="0">
              <a:solidFill>
                <a:schemeClr val="tx1"/>
              </a:solidFill>
              <a:latin typeface="宋体" panose="02010600030101010101" pitchFamily="2" charset="-122"/>
            </a:endParaRPr>
          </a:p>
        </p:txBody>
      </p:sp>
      <p:sp>
        <p:nvSpPr>
          <p:cNvPr id="114698" name="Text Box 10"/>
          <p:cNvSpPr txBox="1"/>
          <p:nvPr/>
        </p:nvSpPr>
        <p:spPr>
          <a:xfrm>
            <a:off x="1066800" y="3276600"/>
            <a:ext cx="609600" cy="519113"/>
          </a:xfrm>
          <a:prstGeom prst="rect">
            <a:avLst/>
          </a:prstGeom>
          <a:noFill/>
          <a:ln w="9525">
            <a:noFill/>
          </a:ln>
        </p:spPr>
        <p:txBody>
          <a:bodyPr>
            <a:spAutoFit/>
          </a:bodyPr>
          <a:p>
            <a:r>
              <a:rPr lang="en-US" altLang="zh-CN" sz="2800" dirty="0">
                <a:solidFill>
                  <a:schemeClr val="tx1"/>
                </a:solidFill>
                <a:latin typeface="宋体" panose="02010600030101010101" pitchFamily="2" charset="-122"/>
              </a:rPr>
              <a:t>91</a:t>
            </a:r>
            <a:endParaRPr lang="en-US" altLang="zh-CN" sz="2800" dirty="0">
              <a:solidFill>
                <a:schemeClr val="tx1"/>
              </a:solidFill>
              <a:latin typeface="宋体" panose="02010600030101010101" pitchFamily="2" charset="-122"/>
            </a:endParaRPr>
          </a:p>
        </p:txBody>
      </p:sp>
      <p:sp>
        <p:nvSpPr>
          <p:cNvPr id="766987" name="Line 11"/>
          <p:cNvSpPr>
            <a:spLocks noChangeShapeType="1"/>
          </p:cNvSpPr>
          <p:nvPr/>
        </p:nvSpPr>
        <p:spPr bwMode="auto">
          <a:xfrm flipH="1">
            <a:off x="3200400" y="1447800"/>
            <a:ext cx="10668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88" name="Line 12"/>
          <p:cNvSpPr>
            <a:spLocks noChangeShapeType="1"/>
          </p:cNvSpPr>
          <p:nvPr/>
        </p:nvSpPr>
        <p:spPr bwMode="auto">
          <a:xfrm>
            <a:off x="4648200" y="1447800"/>
            <a:ext cx="10668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89" name="Line 13"/>
          <p:cNvSpPr>
            <a:spLocks noChangeShapeType="1"/>
          </p:cNvSpPr>
          <p:nvPr/>
        </p:nvSpPr>
        <p:spPr bwMode="auto">
          <a:xfrm flipH="1">
            <a:off x="22860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90" name="Line 14"/>
          <p:cNvSpPr>
            <a:spLocks noChangeShapeType="1"/>
          </p:cNvSpPr>
          <p:nvPr/>
        </p:nvSpPr>
        <p:spPr bwMode="auto">
          <a:xfrm>
            <a:off x="32766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91" name="Line 15"/>
          <p:cNvSpPr>
            <a:spLocks noChangeShapeType="1"/>
          </p:cNvSpPr>
          <p:nvPr/>
        </p:nvSpPr>
        <p:spPr bwMode="auto">
          <a:xfrm flipH="1">
            <a:off x="5257800" y="2209800"/>
            <a:ext cx="5334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92" name="Line 16"/>
          <p:cNvSpPr>
            <a:spLocks noChangeShapeType="1"/>
          </p:cNvSpPr>
          <p:nvPr/>
        </p:nvSpPr>
        <p:spPr bwMode="auto">
          <a:xfrm>
            <a:off x="6096000" y="2209800"/>
            <a:ext cx="457200" cy="3810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66993" name="Line 17"/>
          <p:cNvSpPr>
            <a:spLocks noChangeShapeType="1"/>
          </p:cNvSpPr>
          <p:nvPr/>
        </p:nvSpPr>
        <p:spPr bwMode="auto">
          <a:xfrm flipH="1">
            <a:off x="1447800" y="2895600"/>
            <a:ext cx="609600" cy="457200"/>
          </a:xfrm>
          <a:prstGeom prst="line">
            <a:avLst/>
          </a:prstGeom>
          <a:noFill/>
          <a:ln w="9525">
            <a:solidFill>
              <a:schemeClr val="tx1"/>
            </a:solidFill>
            <a:prstDash val="dash"/>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4706" name="Text Box 18"/>
          <p:cNvSpPr txBox="1"/>
          <p:nvPr/>
        </p:nvSpPr>
        <p:spPr>
          <a:xfrm>
            <a:off x="1219200" y="4191000"/>
            <a:ext cx="762000" cy="528638"/>
          </a:xfrm>
          <a:prstGeom prst="rect">
            <a:avLst/>
          </a:prstGeom>
          <a:no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05</a:t>
            </a:r>
            <a:endParaRPr lang="en-US" altLang="zh-CN" sz="2800" dirty="0">
              <a:solidFill>
                <a:srgbClr val="FF3300"/>
              </a:solidFill>
              <a:latin typeface="Verdana" panose="020B0604030504040204" pitchFamily="34" charset="0"/>
            </a:endParaRPr>
          </a:p>
        </p:txBody>
      </p:sp>
      <p:sp>
        <p:nvSpPr>
          <p:cNvPr id="114707" name="Text Box 19"/>
          <p:cNvSpPr txBox="1"/>
          <p:nvPr/>
        </p:nvSpPr>
        <p:spPr>
          <a:xfrm>
            <a:off x="198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13</a:t>
            </a:r>
            <a:endParaRPr lang="en-US" altLang="zh-CN" sz="2800" dirty="0">
              <a:solidFill>
                <a:srgbClr val="FF3300"/>
              </a:solidFill>
              <a:latin typeface="Verdana" panose="020B0604030504040204" pitchFamily="34" charset="0"/>
            </a:endParaRPr>
          </a:p>
        </p:txBody>
      </p:sp>
      <p:sp>
        <p:nvSpPr>
          <p:cNvPr id="114708" name="Text Box 20"/>
          <p:cNvSpPr txBox="1"/>
          <p:nvPr/>
        </p:nvSpPr>
        <p:spPr>
          <a:xfrm>
            <a:off x="274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16</a:t>
            </a:r>
            <a:endParaRPr lang="en-US" altLang="zh-CN" sz="2800" dirty="0">
              <a:solidFill>
                <a:srgbClr val="FF3300"/>
              </a:solidFill>
              <a:latin typeface="Verdana" panose="020B0604030504040204" pitchFamily="34" charset="0"/>
            </a:endParaRPr>
          </a:p>
        </p:txBody>
      </p:sp>
      <p:sp>
        <p:nvSpPr>
          <p:cNvPr id="114709" name="Text Box 21"/>
          <p:cNvSpPr txBox="1"/>
          <p:nvPr/>
        </p:nvSpPr>
        <p:spPr>
          <a:xfrm>
            <a:off x="3505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23</a:t>
            </a:r>
            <a:endParaRPr lang="en-US" altLang="zh-CN" sz="2800" dirty="0">
              <a:solidFill>
                <a:srgbClr val="FF3300"/>
              </a:solidFill>
              <a:latin typeface="Verdana" panose="020B0604030504040204" pitchFamily="34" charset="0"/>
            </a:endParaRPr>
          </a:p>
        </p:txBody>
      </p:sp>
      <p:sp>
        <p:nvSpPr>
          <p:cNvPr id="114710" name="Text Box 22"/>
          <p:cNvSpPr txBox="1"/>
          <p:nvPr/>
        </p:nvSpPr>
        <p:spPr>
          <a:xfrm>
            <a:off x="4267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24</a:t>
            </a:r>
            <a:endParaRPr lang="en-US" altLang="zh-CN" sz="2800" dirty="0">
              <a:solidFill>
                <a:srgbClr val="FF3300"/>
              </a:solidFill>
              <a:latin typeface="Verdana" panose="020B0604030504040204" pitchFamily="34" charset="0"/>
            </a:endParaRPr>
          </a:p>
        </p:txBody>
      </p:sp>
      <p:sp>
        <p:nvSpPr>
          <p:cNvPr id="114711" name="Text Box 23"/>
          <p:cNvSpPr txBox="1"/>
          <p:nvPr/>
        </p:nvSpPr>
        <p:spPr>
          <a:xfrm>
            <a:off x="5029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42</a:t>
            </a:r>
            <a:endParaRPr lang="en-US" altLang="zh-CN" sz="2800" dirty="0">
              <a:solidFill>
                <a:srgbClr val="FF3300"/>
              </a:solidFill>
              <a:latin typeface="Verdana" panose="020B0604030504040204" pitchFamily="34" charset="0"/>
            </a:endParaRPr>
          </a:p>
        </p:txBody>
      </p:sp>
      <p:sp>
        <p:nvSpPr>
          <p:cNvPr id="114712" name="Text Box 24"/>
          <p:cNvSpPr txBox="1"/>
          <p:nvPr/>
        </p:nvSpPr>
        <p:spPr>
          <a:xfrm>
            <a:off x="5791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88</a:t>
            </a:r>
            <a:endParaRPr lang="en-US" altLang="zh-CN" sz="2800" dirty="0">
              <a:solidFill>
                <a:srgbClr val="FF3300"/>
              </a:solidFill>
              <a:latin typeface="Verdana" panose="020B0604030504040204" pitchFamily="34" charset="0"/>
            </a:endParaRPr>
          </a:p>
        </p:txBody>
      </p:sp>
      <p:sp>
        <p:nvSpPr>
          <p:cNvPr id="114713" name="Text Box 25"/>
          <p:cNvSpPr txBox="1"/>
          <p:nvPr/>
        </p:nvSpPr>
        <p:spPr>
          <a:xfrm>
            <a:off x="6553200" y="4191000"/>
            <a:ext cx="762000" cy="528638"/>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p>
            <a:pPr algn="ctr"/>
            <a:r>
              <a:rPr lang="en-US" altLang="zh-CN" sz="2800" dirty="0">
                <a:solidFill>
                  <a:srgbClr val="FF3300"/>
                </a:solidFill>
                <a:latin typeface="Verdana" panose="020B0604030504040204" pitchFamily="34" charset="0"/>
              </a:rPr>
              <a:t>91</a:t>
            </a:r>
            <a:endParaRPr lang="en-US" altLang="zh-CN" sz="2800" dirty="0">
              <a:solidFill>
                <a:srgbClr val="FF3300"/>
              </a:solidFill>
              <a:latin typeface="Verdana" panose="020B0604030504040204" pitchFamily="34"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72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7721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判断以下序列是否为堆，如果不是，调整为堆（写出调整过程），并写出调整为堆的序列</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100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86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48</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73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35</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39</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57</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21</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70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65</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24</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56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48</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92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86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33</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05</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56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38</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29</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35</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76</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28</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100</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68002" name="Rectangle 2"/>
          <p:cNvSpPr>
            <a:spLocks noGrp="1" noChangeArrowheads="1"/>
          </p:cNvSpPr>
          <p:nvPr>
            <p:ph type="title"/>
          </p:nvPr>
        </p:nvSpPr>
        <p:spPr>
          <a:xfrm>
            <a:off x="609600" y="685800"/>
            <a:ext cx="7010400" cy="914400"/>
          </a:xfrm>
        </p:spPr>
        <p:txBody>
          <a:bodyPr vert="horz" wrap="square" lIns="91440" tIns="45720" rIns="91440" bIns="45720" numCol="1" anchor="b"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rPr>
              <a:t>堆排序的算法分析</a:t>
            </a:r>
            <a:endParaRPr kumimoji="0" lang="zh-CN" altLang="en-US" sz="3000" b="0" i="0" u="none" strike="noStrike" kern="0" cap="none" spc="0" normalizeH="0" baseline="0" noProof="0">
              <a:ln>
                <a:noFill/>
              </a:ln>
              <a:solidFill>
                <a:srgbClr val="FF3300"/>
              </a:solidFill>
              <a:effectLst>
                <a:outerShdw blurRad="38100" dist="38100" dir="2700000" algn="tl">
                  <a:srgbClr val="C0C0C0"/>
                </a:outerShdw>
              </a:effectLst>
              <a:uLnTx/>
              <a:uFillTx/>
              <a:latin typeface="+mj-lt"/>
              <a:ea typeface="楷体_GB2312" pitchFamily="49" charset="-122"/>
              <a:cs typeface="+mj-cs"/>
            </a:endParaRPr>
          </a:p>
        </p:txBody>
      </p:sp>
      <p:sp>
        <p:nvSpPr>
          <p:cNvPr id="768003" name="Rectangle 3"/>
          <p:cNvSpPr>
            <a:spLocks noGrp="1" noChangeArrowheads="1"/>
          </p:cNvSpPr>
          <p:nvPr>
            <p:ph idx="1"/>
          </p:nvPr>
        </p:nvSpPr>
        <p:spPr>
          <a:xfrm>
            <a:off x="685800" y="1828800"/>
            <a:ext cx="7924800" cy="4695825"/>
          </a:xfrm>
        </p:spPr>
        <p:txBody>
          <a:bodyPr vert="horz" wrap="square" lIns="91440" tIns="45720" rIns="91440" bIns="45720" numCol="1" anchor="t" anchorCtr="0" compatLnSpc="1"/>
          <a:lstStyle/>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对深度为</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k</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的堆，每趟筛选比较次数最大为</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2</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k</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1</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堆调整时，共计</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n</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1</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趟，比较次数总计不超过</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2n </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sym typeface="Symbol" panose="05050102010706020507" pitchFamily="18" charset="2"/>
              </a:rPr>
              <a:t></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log</a:t>
            </a:r>
            <a:r>
              <a:rPr kumimoji="0" lang="en-US" altLang="zh-CN" sz="26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2</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n</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sym typeface="Symbol" panose="05050102010706020507" pitchFamily="18" charset="2"/>
              </a:rPr>
              <a:t></a:t>
            </a:r>
            <a:endPar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堆排序的平均和最坏时间复杂度均为</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O(n log</a:t>
            </a:r>
            <a:r>
              <a:rPr kumimoji="0" lang="en-US" altLang="zh-CN" sz="26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2</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n)</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堆排序的空间复杂度为 </a:t>
            </a:r>
            <a:r>
              <a:rPr kumimoji="0" lang="en-US" altLang="zh-CN"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O(1)</a:t>
            </a: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堆排序是不稳定的排序方法。</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a:p>
            <a:pPr marL="533400" marR="0" lvl="0" indent="-533400" algn="l" defTabSz="914400" rtl="0" eaLnBrk="1" fontAlgn="base" latinLnBrk="0" hangingPunct="1">
              <a:lnSpc>
                <a:spcPct val="80000"/>
              </a:lnSpc>
              <a:spcBef>
                <a:spcPct val="50000"/>
              </a:spcBef>
              <a:spcAft>
                <a:spcPct val="0"/>
              </a:spcAft>
              <a:buClr>
                <a:srgbClr val="FF3300"/>
              </a:buClr>
              <a:buSzTx/>
              <a:buFont typeface="Wingdings" panose="05000000000000000000" pitchFamily="2" charset="2"/>
              <a:buChar char="§"/>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rPr>
              <a:t>由于建立初始堆所需要的比较次数较多，因此堆排序不适宜记录数较少的文件。</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楷体_GB2312" pitchFamily="49" charset="-122"/>
              <a:cs typeface="+mn-cs"/>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5476"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归并排序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45477" name="Rectangle 5"/>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将一些有序的子序列进行归并，从而得到有序的序列</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pic>
        <p:nvPicPr>
          <p:cNvPr id="117764" name="Picture 6"/>
          <p:cNvPicPr>
            <a:picLocks noChangeAspect="1"/>
          </p:cNvPicPr>
          <p:nvPr/>
        </p:nvPicPr>
        <p:blipFill>
          <a:blip r:embed="rId1"/>
          <a:stretch>
            <a:fillRect/>
          </a:stretch>
        </p:blipFill>
        <p:spPr>
          <a:xfrm>
            <a:off x="1619250" y="2924175"/>
            <a:ext cx="6121400" cy="3136900"/>
          </a:xfrm>
          <a:prstGeom prst="rect">
            <a:avLst/>
          </a:prstGeom>
          <a:noFill/>
          <a:ln w="9525">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归并排序</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18787" name="内容占位符 3"/>
          <p:cNvPicPr>
            <a:picLocks noChangeAspect="1"/>
          </p:cNvPicPr>
          <p:nvPr>
            <p:ph idx="1"/>
          </p:nvPr>
        </p:nvPicPr>
        <p:blipFill>
          <a:blip r:embed="rId1"/>
          <a:srcRect/>
          <a:stretch>
            <a:fillRect/>
          </a:stretch>
        </p:blipFill>
        <p:spPr>
          <a:xfrm>
            <a:off x="1666875" y="2152650"/>
            <a:ext cx="5124450" cy="3081338"/>
          </a:xfr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00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归并排序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7005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辅助空间</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O(n)</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时间复杂度</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O(nlog</a:t>
            </a:r>
            <a:r>
              <a:rPr kumimoji="0" lang="en-US" altLang="zh-CN" sz="30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cs"/>
              </a:rPr>
              <a:t>2</a:t>
            </a:r>
            <a:r>
              <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对于</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个记录，共需</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log</a:t>
            </a:r>
            <a:r>
              <a:rPr kumimoji="0" lang="en-US" altLang="zh-CN" sz="26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mn-ea"/>
              </a:rPr>
              <a:t>2</a:t>
            </a:r>
            <a:r>
              <a:rPr kumimoji="0" lang="en-US" altLang="zh-CN" sz="26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ea"/>
              </a:rPr>
              <a:t>n</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Symbol" panose="05050102010706020507" pitchFamily="18" charset="2"/>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次归并，每次归并的时间复杂度为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O(n)</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稳定排序</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10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基数排序</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(radix sorting)</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710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前面介绍的各种排序方法都是根据关键字值的大小来进行排序的。本节介绍的基数排序是一种借助于</a:t>
            </a:r>
            <a:r>
              <a:rPr kumimoji="0" lang="zh-CN" altLang="en-US" sz="34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cs"/>
              </a:rPr>
              <a:t>多关键字排序</a:t>
            </a: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的思想对单个逻辑关键字进行排序的方法。 </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9266" name="Rectangle 2"/>
          <p:cNvSpPr>
            <a:spLocks noGrp="1" noChangeArrowheads="1"/>
          </p:cNvSpPr>
          <p:nvPr>
            <p:ph type="title"/>
          </p:nvPr>
        </p:nvSpPr>
        <p:spPr>
          <a:xfrm>
            <a:off x="574675" y="188913"/>
            <a:ext cx="8001000" cy="133191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多关键字的排序</a:t>
            </a:r>
            <a:endParaRPr kumimoji="0" lang="zh-CN" altLang="en-US" sz="3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77926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对扑克牌的排序</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每张扑克牌有两个“关键字”：花色和面值，且“花色”地位高于“面值”。</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可以先按“花色”排序（分成</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4</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堆），再按“面值”整理排序。</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也可以先按“面值”排序（分成</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13</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堆），再按“花色”整理排序。</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这两种整理扑克牌的方法就是两种多关键字的排序方法。</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内部排序比较</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88485" name="Rectangle 5"/>
          <p:cNvSpPr>
            <a:spLocks noGrp="1" noChangeArrowheads="1"/>
          </p:cNvSpPr>
          <p:nvPr>
            <p:ph idx="1"/>
          </p:nvPr>
        </p:nvSpPr>
        <p:spPr>
          <a:xfrm>
            <a:off x="566738" y="1752600"/>
            <a:ext cx="8001000" cy="2684463"/>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简单排序：简单插入排序，起泡和简单选择排序</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平均时间</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快速排序最好，但在最坏情况下，劣于堆排序和归并排序</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较大时，归并排序好于堆排序，但辅助空间大</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辅助存储</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稳定性</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基数、简单（除简单选择排序）、归并</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pic>
        <p:nvPicPr>
          <p:cNvPr id="122884" name="Picture 4"/>
          <p:cNvPicPr>
            <a:picLocks noChangeAspect="1"/>
          </p:cNvPicPr>
          <p:nvPr/>
        </p:nvPicPr>
        <p:blipFill>
          <a:blip r:embed="rId1"/>
          <a:srcRect b="18564"/>
          <a:stretch>
            <a:fillRect/>
          </a:stretch>
        </p:blipFill>
        <p:spPr>
          <a:xfrm>
            <a:off x="468313" y="4292600"/>
            <a:ext cx="8226425" cy="2089150"/>
          </a:xfrm>
          <a:prstGeom prst="rect">
            <a:avLst/>
          </a:prstGeom>
          <a:solidFill>
            <a:schemeClr val="bg1"/>
          </a:solidFill>
          <a:ln w="9525">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不需要提交</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574675" y="1816100"/>
            <a:ext cx="8001000" cy="48799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问题</a:t>
            </a:r>
            <a:r>
              <a:rPr kumimoji="0" lang="en-US" altLang="zh-CN"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1</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将以下数据，利用</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8</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个排序算法进行排序，写出具体的排序过程：</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42 20 17 13 28 14 23 15</a:t>
            </a:r>
            <a:endPar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问题</a:t>
            </a:r>
            <a:r>
              <a:rPr kumimoji="0" lang="en-US" altLang="zh-CN"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2</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针对每一个算法，</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从平均时间复杂度、最坏时间复杂度、辅助存储空间，稳定性四个方面，总结以下</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8</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种排序算法。</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）直接插入排序</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）希尔排序（设初始步长为</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）起泡排序</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）快速排序</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5</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）简单选择排序              </a:t>
            </a:r>
            <a:endPar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6</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）树形选择排序</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7</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）堆排序                      </a:t>
            </a:r>
            <a:endPar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8</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）归并排序</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
        <p:nvSpPr>
          <p:cNvPr id="123908" name="文本框 3"/>
          <p:cNvSpPr txBox="1"/>
          <p:nvPr/>
        </p:nvSpPr>
        <p:spPr>
          <a:xfrm>
            <a:off x="5102225" y="2416175"/>
            <a:ext cx="2986088" cy="398463"/>
          </a:xfrm>
          <a:prstGeom prst="rect">
            <a:avLst/>
          </a:prstGeom>
          <a:noFill/>
          <a:ln w="9525">
            <a:noFill/>
          </a:ln>
        </p:spPr>
        <p:txBody>
          <a:bodyPr>
            <a:spAutoFit/>
          </a:bodyPr>
          <a:p>
            <a:pPr eaLnBrk="1" hangingPunct="1"/>
            <a:endParaRPr lang="zh-CN" altLang="en-US" dirty="0">
              <a:latin typeface="Verdana" panose="020B060403050404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 name="内容占位符 2"/>
          <p:cNvSpPr>
            <a:spLocks noGrp="1"/>
          </p:cNvSpPr>
          <p:nvPr>
            <p:ph idx="1"/>
          </p:nvPr>
        </p:nvSpPr>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15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15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 </a:t>
            </a:r>
            <a:r>
              <a:rPr kumimoji="0" lang="zh-CN" altLang="en-US" sz="15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完成！</a:t>
            </a:r>
            <a:endParaRPr kumimoji="0" lang="zh-CN" altLang="en-US" sz="15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charRg st="0" end="6"/>
                                            </p:txEl>
                                          </p:spTgt>
                                        </p:tgtEl>
                                        <p:attrNameLst>
                                          <p:attrName>style.visibility</p:attrName>
                                        </p:attrNameLst>
                                      </p:cBhvr>
                                      <p:to>
                                        <p:strVal val="visible"/>
                                      </p:to>
                                    </p:set>
                                    <p:anim calcmode="lin" valueType="num">
                                      <p:cBhvr additive="base">
                                        <p:cTn id="7" dur="5000" fill="hold"/>
                                        <p:tgtEl>
                                          <p:spTgt spid="3">
                                            <p:txEl>
                                              <p:charRg st="0" end="6"/>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charRg st="0"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 name="内容占位符 2"/>
          <p:cNvSpPr>
            <a:spLocks noGrp="1"/>
          </p:cNvSpPr>
          <p:nvPr>
            <p:ph idx="1"/>
          </p:nvPr>
        </p:nvSpPr>
        <p:spPr>
          <a:xfrm>
            <a:off x="571500" y="887413"/>
            <a:ext cx="8001000" cy="4267200"/>
          </a:xfrm>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预祝大家</a:t>
            </a:r>
            <a:endPar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期末考试</a:t>
            </a:r>
            <a:endPar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取得</a:t>
            </a:r>
            <a:endPar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   好成绩！</a:t>
            </a:r>
            <a:endParaRPr kumimoji="0" lang="zh-CN" altLang="en-US" sz="6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28002" name="内容占位符 4"/>
          <p:cNvPicPr>
            <a:picLocks noGrp="1" noChangeAspect="1"/>
          </p:cNvPicPr>
          <p:nvPr>
            <p:ph idx="1"/>
          </p:nvPr>
        </p:nvPicPr>
        <p:blipFill>
          <a:blip r:embed="rId1"/>
          <a:stretch>
            <a:fillRect/>
          </a:stretch>
        </p:blipFill>
        <p:spPr>
          <a:xfrm>
            <a:off x="827088" y="765175"/>
            <a:ext cx="7312025" cy="4267200"/>
          </a:xfr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29027" name="20 3"/>
          <p:cNvPicPr>
            <a:picLocks noChangeAspect="1"/>
          </p:cNvPicPr>
          <p:nvPr/>
        </p:nvPicPr>
        <p:blipFill>
          <a:blip r:embed="rId1"/>
          <a:stretch>
            <a:fillRect/>
          </a:stretch>
        </p:blipFill>
        <p:spPr>
          <a:xfrm>
            <a:off x="0" y="744538"/>
            <a:ext cx="9144000" cy="5368925"/>
          </a:xfrm>
          <a:prstGeom prst="rect">
            <a:avLst/>
          </a:prstGeom>
          <a:noFill/>
          <a:ln w="9525">
            <a:noFill/>
          </a:ln>
        </p:spPr>
      </p:pic>
    </p:spTree>
  </p:cSld>
  <p:clrMapOvr>
    <a:masterClrMapping/>
  </p:clrMapOvr>
</p:sld>
</file>

<file path=ppt/tags/tag1.xml><?xml version="1.0" encoding="utf-8"?>
<p:tagLst xmlns:p="http://schemas.openxmlformats.org/presentationml/2006/main">
  <p:tag name="commondata" val="eyJoZGlkIjoiYjFiN2NjNWM5Yjc2ZDdhMWExZGQ5OTBjOGZlOGJiODQ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8920</Words>
  <Application>WPS 演示</Application>
  <PresentationFormat>全屏显示(4:3)</PresentationFormat>
  <Paragraphs>1536</Paragraphs>
  <Slides>105</Slides>
  <Notes>18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105</vt:i4>
      </vt:variant>
    </vt:vector>
  </HeadingPairs>
  <TitlesOfParts>
    <vt:vector size="123" baseType="lpstr">
      <vt:lpstr>Arial</vt:lpstr>
      <vt:lpstr>宋体</vt:lpstr>
      <vt:lpstr>Wingdings</vt:lpstr>
      <vt:lpstr>Verdana</vt:lpstr>
      <vt:lpstr>Symbol</vt:lpstr>
      <vt:lpstr>Times New Roman</vt:lpstr>
      <vt:lpstr>楷体_GB2312</vt:lpstr>
      <vt:lpstr>新宋体</vt:lpstr>
      <vt:lpstr>微软雅黑</vt:lpstr>
      <vt:lpstr>Arial Unicode MS</vt:lpstr>
      <vt:lpstr>隶书</vt:lpstr>
      <vt:lpstr>Arial</vt:lpstr>
      <vt:lpstr>Courier New</vt:lpstr>
      <vt:lpstr>Profile</vt:lpstr>
      <vt:lpstr>Equation.3</vt:lpstr>
      <vt:lpstr>Equation.3</vt:lpstr>
      <vt:lpstr>Equation.3</vt:lpstr>
      <vt:lpstr>Equation.3</vt:lpstr>
      <vt:lpstr>第十章 排序</vt:lpstr>
      <vt:lpstr>第十章 排序</vt:lpstr>
      <vt:lpstr>第十章 排序</vt:lpstr>
      <vt:lpstr>排序</vt:lpstr>
      <vt:lpstr>排序</vt:lpstr>
      <vt:lpstr>PowerPoint 演示文稿</vt:lpstr>
      <vt:lpstr>PowerPoint 演示文稿</vt:lpstr>
      <vt:lpstr>PowerPoint 演示文稿</vt:lpstr>
      <vt:lpstr>PowerPoint 演示文稿</vt:lpstr>
      <vt:lpstr>排序</vt:lpstr>
      <vt:lpstr>不同存储方式的排序过程</vt:lpstr>
      <vt:lpstr>10.2 插入排序</vt:lpstr>
      <vt:lpstr>直接插入排序</vt:lpstr>
      <vt:lpstr>PowerPoint 演示文稿</vt:lpstr>
      <vt:lpstr>PowerPoint 演示文稿</vt:lpstr>
      <vt:lpstr>10.2.1 直接插入排序</vt:lpstr>
      <vt:lpstr>PowerPoint 演示文稿</vt:lpstr>
      <vt:lpstr>1. 插入排序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直接插入排序</vt:lpstr>
      <vt:lpstr>2. 希尔排序</vt:lpstr>
      <vt:lpstr>希尔排序的基本思想</vt:lpstr>
      <vt:lpstr>基本过程</vt:lpstr>
      <vt:lpstr>PowerPoint 演示文稿</vt:lpstr>
      <vt:lpstr>希尔排序中增量di的取法</vt:lpstr>
      <vt:lpstr>希尔排序性能分析</vt:lpstr>
      <vt:lpstr>希尔排序的算法分析</vt:lpstr>
      <vt:lpstr>排序算法稳定性的意义</vt:lpstr>
      <vt:lpstr>小结</vt:lpstr>
      <vt:lpstr>2. 交换排序</vt:lpstr>
      <vt:lpstr>交换排序</vt:lpstr>
      <vt:lpstr>起泡排序</vt:lpstr>
      <vt:lpstr>PowerPoint 演示文稿</vt:lpstr>
      <vt:lpstr>PowerPoint 演示文稿</vt:lpstr>
      <vt:lpstr>冒泡排序的算法分析</vt:lpstr>
      <vt:lpstr>快速排序</vt:lpstr>
      <vt:lpstr>快速排序</vt:lpstr>
      <vt:lpstr>具体过程</vt:lpstr>
      <vt:lpstr>PowerPoint 演示文稿</vt:lpstr>
      <vt:lpstr>PowerPoint 演示文稿</vt:lpstr>
      <vt:lpstr>PowerPoint 演示文稿</vt:lpstr>
      <vt:lpstr>PowerPoint 演示文稿</vt:lpstr>
      <vt:lpstr>PowerPoint 演示文稿</vt:lpstr>
      <vt:lpstr>算法</vt:lpstr>
      <vt:lpstr>PowerPoint 演示文稿</vt:lpstr>
      <vt:lpstr>PowerPoint 演示文稿</vt:lpstr>
      <vt:lpstr>PowerPoint 演示文稿</vt:lpstr>
      <vt:lpstr>PowerPoint 演示文稿</vt:lpstr>
      <vt:lpstr>快速排序的算法分析－时间</vt:lpstr>
      <vt:lpstr>PowerPoint 演示文稿</vt:lpstr>
      <vt:lpstr>小结</vt:lpstr>
      <vt:lpstr>3. 选择排序</vt:lpstr>
      <vt:lpstr>简单选择排序</vt:lpstr>
      <vt:lpstr>树形选择排序</vt:lpstr>
      <vt:lpstr>PowerPoint 演示文稿</vt:lpstr>
      <vt:lpstr>树形选择排序</vt:lpstr>
      <vt:lpstr>PowerPoint 演示文稿</vt:lpstr>
      <vt:lpstr>树形选择排序</vt:lpstr>
      <vt:lpstr>堆排序</vt:lpstr>
      <vt:lpstr>堆排序</vt:lpstr>
      <vt:lpstr>PowerPoint 演示文稿</vt:lpstr>
      <vt:lpstr>堆排序</vt:lpstr>
      <vt:lpstr>堆排序</vt:lpstr>
      <vt:lpstr>PowerPoint 演示文稿</vt:lpstr>
      <vt:lpstr>堆排序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输出堆顶,调整堆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堆排序的算法分析</vt:lpstr>
      <vt:lpstr>归并排序</vt:lpstr>
      <vt:lpstr>归并排序</vt:lpstr>
      <vt:lpstr>归并排序</vt:lpstr>
      <vt:lpstr>基数排序(radix sorting)</vt:lpstr>
      <vt:lpstr>多关键字的排序</vt:lpstr>
      <vt:lpstr>内部排序比较</vt:lpstr>
      <vt:lpstr>课后作业-不需要提交</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鱼丸粗面</cp:lastModifiedBy>
  <cp:revision>508</cp:revision>
  <dcterms:created xsi:type="dcterms:W3CDTF">2007-02-11T07:05:00Z</dcterms:created>
  <dcterms:modified xsi:type="dcterms:W3CDTF">2023-11-26T09:11:21Z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F5E86B666B0747249635B0E740B8DDC5_12</vt:lpwstr>
  </property>
</Properties>
</file>