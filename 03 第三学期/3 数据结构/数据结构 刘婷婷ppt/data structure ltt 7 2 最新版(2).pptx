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064" r:id="rId3"/>
    <p:sldId id="589" r:id="rId5"/>
    <p:sldId id="554" r:id="rId6"/>
    <p:sldId id="555" r:id="rId7"/>
    <p:sldId id="553" r:id="rId8"/>
    <p:sldId id="556" r:id="rId9"/>
    <p:sldId id="559" r:id="rId10"/>
    <p:sldId id="1328" r:id="rId11"/>
    <p:sldId id="590" r:id="rId12"/>
    <p:sldId id="591" r:id="rId13"/>
    <p:sldId id="592" r:id="rId14"/>
    <p:sldId id="593" r:id="rId15"/>
    <p:sldId id="594" r:id="rId16"/>
    <p:sldId id="596" r:id="rId17"/>
    <p:sldId id="597" r:id="rId18"/>
    <p:sldId id="1329" r:id="rId19"/>
    <p:sldId id="598" r:id="rId20"/>
    <p:sldId id="599" r:id="rId21"/>
    <p:sldId id="657" r:id="rId22"/>
    <p:sldId id="891" r:id="rId23"/>
    <p:sldId id="603" r:id="rId24"/>
    <p:sldId id="604" r:id="rId25"/>
    <p:sldId id="892" r:id="rId26"/>
    <p:sldId id="1452" r:id="rId27"/>
    <p:sldId id="608" r:id="rId28"/>
    <p:sldId id="1330" r:id="rId29"/>
    <p:sldId id="893" r:id="rId30"/>
    <p:sldId id="1331" r:id="rId31"/>
    <p:sldId id="611" r:id="rId32"/>
    <p:sldId id="612" r:id="rId33"/>
    <p:sldId id="613" r:id="rId34"/>
    <p:sldId id="614" r:id="rId35"/>
    <p:sldId id="616" r:id="rId36"/>
    <p:sldId id="617" r:id="rId37"/>
    <p:sldId id="615" r:id="rId38"/>
    <p:sldId id="1413" r:id="rId39"/>
    <p:sldId id="618" r:id="rId40"/>
    <p:sldId id="619" r:id="rId41"/>
    <p:sldId id="620" r:id="rId42"/>
    <p:sldId id="895" r:id="rId43"/>
    <p:sldId id="621" r:id="rId44"/>
    <p:sldId id="1411" r:id="rId45"/>
    <p:sldId id="626" r:id="rId46"/>
    <p:sldId id="658" r:id="rId47"/>
    <p:sldId id="659" r:id="rId48"/>
    <p:sldId id="660" r:id="rId49"/>
    <p:sldId id="663" r:id="rId50"/>
    <p:sldId id="664" r:id="rId51"/>
    <p:sldId id="956" r:id="rId52"/>
    <p:sldId id="1415" r:id="rId53"/>
    <p:sldId id="1448" r:id="rId54"/>
    <p:sldId id="667" r:id="rId55"/>
    <p:sldId id="1416" r:id="rId56"/>
    <p:sldId id="668" r:id="rId57"/>
    <p:sldId id="669" r:id="rId58"/>
    <p:sldId id="896" r:id="rId59"/>
    <p:sldId id="898" r:id="rId60"/>
    <p:sldId id="725" r:id="rId61"/>
    <p:sldId id="670" r:id="rId62"/>
    <p:sldId id="672" r:id="rId63"/>
    <p:sldId id="673" r:id="rId64"/>
    <p:sldId id="674" r:id="rId65"/>
    <p:sldId id="899" r:id="rId66"/>
    <p:sldId id="900" r:id="rId67"/>
    <p:sldId id="901" r:id="rId68"/>
    <p:sldId id="726" r:id="rId69"/>
    <p:sldId id="908" r:id="rId70"/>
    <p:sldId id="909" r:id="rId71"/>
    <p:sldId id="910" r:id="rId72"/>
    <p:sldId id="911" r:id="rId73"/>
    <p:sldId id="1417" r:id="rId74"/>
    <p:sldId id="1418" r:id="rId75"/>
  </p:sldIdLst>
  <p:sldSz cx="9144000" cy="6858000" type="screen4x3"/>
  <p:notesSz cx="6858000" cy="9144000"/>
  <p:custDataLst>
    <p:tags r:id="rId79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1" i="0" u="none" kern="1200" baseline="0">
        <a:solidFill>
          <a:schemeClr val="tx2"/>
        </a:solidFill>
        <a:latin typeface="Verdana" panose="020B0604030504040204" pitchFamily="34" charset="0"/>
        <a:ea typeface="宋体" panose="02010600030101010101" pitchFamily="2" charset="-122"/>
        <a:cs typeface="+mn-cs"/>
        <a:sym typeface="Symbol" panose="05050102010706020507" pitchFamily="18" charset="2"/>
      </a:defRPr>
    </a:lvl9pPr>
  </p:defaultTextStyle>
  <p:extLst>
    <p:ext uri="{EFAFB233-063F-42B5-8137-9DF3F51BA10A}">
      <p15:sldGuideLst xmlns:p15="http://schemas.microsoft.com/office/powerpoint/2012/main">
        <p15:guide id="1" orient="horz" pos="2209" userDrawn="1">
          <p15:clr>
            <a:srgbClr val="A4A3A4"/>
          </p15:clr>
        </p15:guide>
        <p15:guide id="2" pos="2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D9D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51"/>
    <p:restoredTop sz="89728"/>
  </p:normalViewPr>
  <p:slideViewPr>
    <p:cSldViewPr showGuides="1">
      <p:cViewPr varScale="1">
        <p:scale>
          <a:sx n="82" d="100"/>
          <a:sy n="82" d="100"/>
        </p:scale>
        <p:origin x="1356" y="64"/>
      </p:cViewPr>
      <p:guideLst>
        <p:guide orient="horz" pos="2209"/>
        <p:guide pos="28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9" Type="http://schemas.openxmlformats.org/officeDocument/2006/relationships/tags" Target="tags/tag1.xml"/><Relationship Id="rId78" Type="http://schemas.openxmlformats.org/officeDocument/2006/relationships/tableStyles" Target="tableStyles.xml"/><Relationship Id="rId77" Type="http://schemas.openxmlformats.org/officeDocument/2006/relationships/viewProps" Target="viewProps.xml"/><Relationship Id="rId76" Type="http://schemas.openxmlformats.org/officeDocument/2006/relationships/presProps" Target="presProps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0179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举例</a:t>
            </a:r>
            <a:r>
              <a:rPr lang="en-US" altLang="zh-CN" dirty="0"/>
              <a:t>:</a:t>
            </a:r>
            <a:r>
              <a:rPr lang="zh-CN" altLang="en-US" dirty="0"/>
              <a:t>设一工程为两个人跑步</a:t>
            </a:r>
            <a:r>
              <a:rPr lang="en-US" altLang="zh-CN" dirty="0"/>
              <a:t>(</a:t>
            </a:r>
            <a:r>
              <a:rPr lang="zh-CN" altLang="en-US" dirty="0"/>
              <a:t>两个活动</a:t>
            </a:r>
            <a:r>
              <a:rPr lang="en-US" altLang="zh-CN" dirty="0"/>
              <a:t>),</a:t>
            </a:r>
            <a:r>
              <a:rPr lang="zh-CN" altLang="en-US" dirty="0"/>
              <a:t>工程的结束点为二人到达终点</a:t>
            </a:r>
            <a:r>
              <a:rPr lang="en-US" altLang="zh-CN" dirty="0"/>
              <a:t>.</a:t>
            </a:r>
            <a:r>
              <a:rPr lang="zh-CN" altLang="en-US" dirty="0"/>
              <a:t>如果一人为</a:t>
            </a:r>
            <a:r>
              <a:rPr lang="en-US" altLang="zh-CN" dirty="0"/>
              <a:t>10s,</a:t>
            </a:r>
            <a:r>
              <a:rPr lang="zh-CN" altLang="en-US" dirty="0"/>
              <a:t>另一为</a:t>
            </a:r>
            <a:r>
              <a:rPr lang="en-US" altLang="zh-CN" dirty="0"/>
              <a:t>20s,</a:t>
            </a:r>
            <a:r>
              <a:rPr lang="zh-CN" altLang="en-US" dirty="0"/>
              <a:t>则该工程完成时间是由慢的人决定的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举例说明，一步一步来。画个图。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7587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r>
              <a:rPr lang="zh-CN" altLang="en-US" dirty="0"/>
              <a:t>书中有错误</a:t>
            </a:r>
            <a:r>
              <a:rPr lang="en-US" altLang="zh-CN" dirty="0"/>
              <a:t>arcs[LocateVex(G, v)][i]</a:t>
            </a:r>
            <a:endParaRPr lang="en-US" altLang="zh-CN" dirty="0"/>
          </a:p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zh-CN" sz="1200" b="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1683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marL="228600" lvl="0" indent="-228600" eaLnBrk="1" hangingPunct="1">
              <a:buFontTx/>
              <a:buAutoNum type="arabicPeriod"/>
            </a:pPr>
            <a:r>
              <a:rPr lang="en-US" altLang="zh-CN" dirty="0"/>
              <a:t>Assume  the order of vextices from 0 to n, such as 0:v0, 1: v1… n: vn</a:t>
            </a:r>
            <a:endParaRPr lang="en-US" altLang="zh-CN" dirty="0"/>
          </a:p>
          <a:p>
            <a:pPr marL="228600" lvl="0" indent="-228600" eaLnBrk="1" hangingPunct="1">
              <a:buFontTx/>
              <a:buAutoNum type="arabicPeriod"/>
            </a:pPr>
            <a:r>
              <a:rPr lang="zh-CN" altLang="en-US" dirty="0"/>
              <a:t>插入顺序是无关的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643438" y="1752600"/>
            <a:ext cx="3924300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8001000" cy="2057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66738" y="3962400"/>
            <a:ext cx="8001000" cy="20574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8" name="AutoShape 4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slide" Target="slide1.xml"/><Relationship Id="rId1" Type="http://schemas.openxmlformats.org/officeDocument/2006/relationships/slide" Target="slide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1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5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6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6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7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6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wmf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wmf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1" name="Text Box 3">
            <a:hlinkClick r:id="" action="ppaction://noaction"/>
          </p:cNvPr>
          <p:cNvSpPr txBox="1"/>
          <p:nvPr/>
        </p:nvSpPr>
        <p:spPr>
          <a:xfrm>
            <a:off x="1411288" y="2038350"/>
            <a:ext cx="3217862" cy="5207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7.1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图的定义和术语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4" name="Text Box 6">
            <a:hlinkClick r:id="" action="ppaction://noaction"/>
          </p:cNvPr>
          <p:cNvSpPr txBox="1"/>
          <p:nvPr/>
        </p:nvSpPr>
        <p:spPr>
          <a:xfrm>
            <a:off x="1411288" y="2508250"/>
            <a:ext cx="2860675" cy="52228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</a:rPr>
              <a:t>7.2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图的存储表示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5" name="Text Box 7">
            <a:hlinkClick r:id="" action="ppaction://noaction"/>
          </p:cNvPr>
          <p:cNvSpPr txBox="1"/>
          <p:nvPr/>
        </p:nvSpPr>
        <p:spPr>
          <a:xfrm>
            <a:off x="1411288" y="2940050"/>
            <a:ext cx="2146300" cy="522288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7.3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图的遍历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6" name="Text Box 8">
            <a:hlinkClick r:id="rId1" action="ppaction://hlinksldjump"/>
          </p:cNvPr>
          <p:cNvSpPr txBox="1"/>
          <p:nvPr/>
        </p:nvSpPr>
        <p:spPr>
          <a:xfrm>
            <a:off x="1411288" y="3360738"/>
            <a:ext cx="2503487" cy="522287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7.4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最小生成树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7" name="Text Box 9">
            <a:hlinkClick r:id="rId2" action="ppaction://hlinksldjump"/>
          </p:cNvPr>
          <p:cNvSpPr txBox="1"/>
          <p:nvPr/>
        </p:nvSpPr>
        <p:spPr>
          <a:xfrm>
            <a:off x="1411288" y="3822700"/>
            <a:ext cx="3933825" cy="5207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7.5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拓扑排序和关键路径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9" name="Text Box 11">
            <a:hlinkClick r:id="rId2" action="ppaction://hlinksldjump"/>
          </p:cNvPr>
          <p:cNvSpPr txBox="1"/>
          <p:nvPr/>
        </p:nvSpPr>
        <p:spPr>
          <a:xfrm>
            <a:off x="1411288" y="4230688"/>
            <a:ext cx="2146300" cy="522287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7.6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最短路径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3586" name="Rectangle 2"/>
          <p:cNvSpPr>
            <a:spLocks noGrp="1" noChangeArrowheads="1"/>
          </p:cNvSpPr>
          <p:nvPr/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Symbol" panose="05050102010706020507" pitchFamily="18" charset="2"/>
              </a:rPr>
              <a:t>第</a:t>
            </a: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Symbol" panose="05050102010706020507" pitchFamily="18" charset="2"/>
              </a:rPr>
              <a:t>7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Symbol" panose="05050102010706020507" pitchFamily="18" charset="2"/>
              </a:rPr>
              <a:t>章 图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/>
      <p:bldP spid="2054" grpId="0"/>
      <p:bldP spid="2055" grpId="0"/>
      <p:bldP spid="2056" grpId="0"/>
      <p:bldP spid="2057" grpId="0"/>
      <p:bldP spid="205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7.4 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图的连通性问题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495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无向图的连通分量和生成树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有向图的强连通分量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最小生成树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  </a:t>
            </a:r>
            <a:endParaRPr kumimoji="0" lang="en-US" altLang="zh-CN" sz="3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171" name="Rectangle 3"/>
          <p:cNvSpPr/>
          <p:nvPr/>
        </p:nvSpPr>
        <p:spPr>
          <a:xfrm>
            <a:off x="0" y="0"/>
            <a:ext cx="9144000" cy="3159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  <a:buClr>
                <a:srgbClr val="FF6600"/>
              </a:buClr>
              <a:buFont typeface="Wingdings" panose="05000000000000000000" pitchFamily="2" charset="2"/>
              <a:buChar char="§"/>
            </a:pP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路径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 在有向图或无向图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中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若存在一个顶点序列 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, …, 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pm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，使得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、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...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pm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&gt;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...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pm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 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均属于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E</a:t>
            </a:r>
            <a:r>
              <a:rPr lang="zh-CN" altLang="en-US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则称顶点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到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i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j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存在一 条路径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Clr>
                <a:srgbClr val="FF6600"/>
              </a:buClr>
              <a:buFont typeface="Wingdings" panose="05000000000000000000" pitchFamily="2" charset="2"/>
              <a:buChar char="§"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顶点序列中顶点不重复出现的路径，称为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简单路径</a:t>
            </a:r>
            <a:endParaRPr lang="zh-CN" altLang="en-US" sz="2400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Clr>
                <a:srgbClr val="FF6600"/>
              </a:buClr>
              <a:buFont typeface="Wingdings" panose="05000000000000000000" pitchFamily="2" charset="2"/>
              <a:buChar char="§"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第一个顶点和最后一个顶点相同的路径为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回路或环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Cycle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）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Clr>
                <a:srgbClr val="FF6600"/>
              </a:buClr>
              <a:buFont typeface="Wingdings" panose="05000000000000000000" pitchFamily="2" charset="2"/>
              <a:buChar char="§"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除第一个顶点和最后一个顶点相同外，其他顶点不重复出现的路径。起点和终点相同的路径称为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简单回路或简单环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17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3443288"/>
            <a:ext cx="9047163" cy="2362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14722" name="Text Box 2"/>
          <p:cNvSpPr txBox="1">
            <a:spLocks noChangeArrowheads="1"/>
          </p:cNvSpPr>
          <p:nvPr/>
        </p:nvSpPr>
        <p:spPr bwMode="auto">
          <a:xfrm>
            <a:off x="457200" y="381000"/>
            <a:ext cx="8229600" cy="2676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buClr>
                <a:srgbClr val="FF6600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kumimoji="0" lang="zh-CN" altLang="en-US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图的连通</a:t>
            </a: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在</a:t>
            </a:r>
            <a:r>
              <a:rPr kumimoji="0" lang="zh-CN" altLang="en-US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无向图</a:t>
            </a:r>
            <a:r>
              <a:rPr kumimoji="0" lang="en-US" altLang="zh-CN" sz="28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G</a:t>
            </a: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中，若两个顶点</a:t>
            </a:r>
            <a:r>
              <a:rPr kumimoji="0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和</a:t>
            </a:r>
            <a:r>
              <a:rPr kumimoji="0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j</a:t>
            </a: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之间有</a:t>
            </a:r>
            <a:endParaRPr kumimoji="0" lang="zh-CN" altLang="en-US" sz="280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路径存在，则称</a:t>
            </a:r>
            <a:r>
              <a:rPr kumimoji="0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0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和</a:t>
            </a:r>
            <a:r>
              <a:rPr kumimoji="0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j</a:t>
            </a:r>
            <a:r>
              <a:rPr kumimoji="0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是连通的。若</a:t>
            </a:r>
            <a:r>
              <a:rPr kumimoji="0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G</a:t>
            </a: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中任意两</a:t>
            </a:r>
            <a:endParaRPr kumimoji="0" lang="zh-CN" altLang="en-US" sz="280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个顶点都是连通的，则称</a:t>
            </a:r>
            <a:r>
              <a:rPr kumimoji="0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G</a:t>
            </a: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</a:t>
            </a:r>
            <a:r>
              <a:rPr kumimoji="0" lang="zh-CN" altLang="en-US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连通图（</a:t>
            </a:r>
            <a:r>
              <a:rPr kumimoji="0" lang="en-US" altLang="zh-CN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connected graph</a:t>
            </a:r>
            <a:r>
              <a:rPr kumimoji="0" lang="zh-CN" altLang="en-US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</a:t>
            </a: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。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极大连通子图叫做</a:t>
            </a:r>
            <a:r>
              <a:rPr kumimoji="0" lang="zh-CN" altLang="en-US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连通分量（</a:t>
            </a:r>
            <a:r>
              <a:rPr kumimoji="0" lang="en-US" altLang="zh-CN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connected component</a:t>
            </a:r>
            <a:r>
              <a:rPr kumimoji="0" lang="zh-CN" altLang="en-US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）图（</a:t>
            </a:r>
            <a:r>
              <a:rPr kumimoji="0" lang="en-US" altLang="zh-CN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0" lang="zh-CN" altLang="en-US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）是非连通图，但是它有连通分量（</a:t>
            </a:r>
            <a:r>
              <a:rPr kumimoji="0" lang="en-US" altLang="zh-CN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0" lang="zh-CN" altLang="en-US" sz="2800" kern="1200" cap="none" spc="0" normalizeH="0" baseline="0" noProof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）。</a:t>
            </a:r>
            <a:r>
              <a:rPr kumimoji="0" lang="zh-CN" altLang="en-US" sz="280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endParaRPr kumimoji="0" lang="zh-CN" altLang="en-US" sz="280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819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3057525"/>
            <a:ext cx="7416800" cy="3563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12676" name="Rectangle 4"/>
          <p:cNvSpPr>
            <a:spLocks noChangeArrowheads="1"/>
          </p:cNvSpPr>
          <p:nvPr/>
        </p:nvSpPr>
        <p:spPr bwMode="auto">
          <a:xfrm>
            <a:off x="250825" y="404813"/>
            <a:ext cx="8229600" cy="2244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强连通图与强连通分量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  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在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有向图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中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若对于每一对顶点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和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j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都存在一条从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到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j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和从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j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到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的路径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则称此图是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强连通图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。极大强连通子图叫做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强连通分量。例如图中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G1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不是强连通图，但是它有两个强连通分量。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9219" name="Picture 5"/>
          <p:cNvPicPr>
            <a:picLocks noChangeAspect="1"/>
          </p:cNvPicPr>
          <p:nvPr/>
        </p:nvPicPr>
        <p:blipFill>
          <a:blip r:embed="rId1"/>
          <a:srcRect r="50781"/>
          <a:stretch>
            <a:fillRect/>
          </a:stretch>
        </p:blipFill>
        <p:spPr>
          <a:xfrm>
            <a:off x="611188" y="2997200"/>
            <a:ext cx="2447925" cy="2316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0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638" y="3213100"/>
            <a:ext cx="3227387" cy="2174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15748" name="Rectangle 4"/>
          <p:cNvSpPr>
            <a:spLocks noChangeArrowheads="1"/>
          </p:cNvSpPr>
          <p:nvPr/>
        </p:nvSpPr>
        <p:spPr bwMode="auto">
          <a:xfrm>
            <a:off x="179388" y="188913"/>
            <a:ext cx="8820150" cy="2676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生成树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  一个连通图的生成树是它的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极小连通子图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它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包含图全部顶点，但只有足以构成一棵树的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n-1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条边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。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在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个顶点的情形下，生成树有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n-1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条边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如果图有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个顶点和小于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－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条边，则为非连通图；如果多于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－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条边，则图中有环。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但，有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n-1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条边的图不一定是生成树。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10243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475" y="3325813"/>
            <a:ext cx="3084513" cy="31289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4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0" y="3479800"/>
            <a:ext cx="3552825" cy="2822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18820" name="Rectangle 4"/>
          <p:cNvSpPr>
            <a:spLocks noChangeArrowheads="1"/>
          </p:cNvSpPr>
          <p:nvPr/>
        </p:nvSpPr>
        <p:spPr bwMode="auto">
          <a:xfrm>
            <a:off x="0" y="266700"/>
            <a:ext cx="9144000" cy="2441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 pitchFamily="2" charset="2"/>
              <a:buChar char="n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有向树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如果一个有向图恰有一个顶点的入度为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，其余顶点的入度均为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，则图为有向树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 pitchFamily="2" charset="2"/>
              <a:buChar char="n"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生成森林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一个有向图的生成森林由若干棵有向树组成，含有图中全部顶点，但只有足以构成若干不相交的有向树的弧  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11267" name="20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563" y="2708275"/>
            <a:ext cx="6430962" cy="3559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7.4 </a:t>
            </a: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图的连通性问题</a:t>
            </a:r>
            <a:r>
              <a:rPr kumimoji="0" lang="en-US" altLang="zh-CN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最小生成树</a:t>
            </a:r>
            <a:endParaRPr kumimoji="0" lang="zh-CN" altLang="en-US" sz="3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495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利用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最小生成树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来解决高速公路问题，将高速公路问题中的城市看做图中的顶点，城市之间修建的道路看做图中顶点之间的边，城市之间所修建的公路的长度看做是图中每个边上的权值。这样我们就把铺设高速公路问题转换成了一个最小生成树问题。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7.4.1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无向图的连通分量和生成树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331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1989138"/>
            <a:ext cx="3600450" cy="33607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565" name="Text Box 5"/>
          <p:cNvSpPr txBox="1">
            <a:spLocks noChangeArrowheads="1"/>
          </p:cNvSpPr>
          <p:nvPr/>
        </p:nvSpPr>
        <p:spPr bwMode="auto">
          <a:xfrm>
            <a:off x="4284663" y="2060575"/>
            <a:ext cx="4535488" cy="39370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36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DFS</a:t>
            </a:r>
            <a:endParaRPr kumimoji="0" lang="en-US" altLang="zh-CN" sz="36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36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0" lang="zh-CN" altLang="en-US" sz="36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：</a:t>
            </a:r>
            <a:r>
              <a:rPr kumimoji="0" lang="en-US" altLang="zh-CN" sz="36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ALMJBFC</a:t>
            </a:r>
            <a:endParaRPr kumimoji="0" lang="en-US" altLang="zh-CN" sz="36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36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zh-CN" altLang="en-US" sz="36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：</a:t>
            </a:r>
            <a:r>
              <a:rPr kumimoji="0" lang="en-US" altLang="zh-CN" sz="36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DE</a:t>
            </a:r>
            <a:endParaRPr kumimoji="0" lang="en-US" altLang="zh-CN" sz="36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3600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G</a:t>
            </a:r>
            <a:r>
              <a:rPr kumimoji="0" lang="zh-CN" altLang="en-US" sz="36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：</a:t>
            </a:r>
            <a:r>
              <a:rPr kumimoji="0" lang="en-US" altLang="zh-CN" sz="36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GKHI</a:t>
            </a:r>
            <a:endParaRPr kumimoji="0" lang="en-US" altLang="zh-CN" sz="36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0" lang="en-US" altLang="zh-CN" sz="36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6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顶点集＋依附的边</a:t>
            </a:r>
            <a:endParaRPr kumimoji="0" lang="zh-CN" altLang="en-US" sz="36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6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＝</a:t>
            </a:r>
            <a:r>
              <a:rPr kumimoji="0" lang="zh-CN" altLang="en-US" sz="3600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连通分量</a:t>
            </a:r>
            <a:endParaRPr kumimoji="0" lang="zh-CN" altLang="en-US" sz="3600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2612" name="Rectangl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生成树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52613" name="Rectangle 5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3500438" cy="1244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深度优先生成树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广度优先生成树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1536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816350" cy="25495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2781300"/>
            <a:ext cx="8137525" cy="3821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4" name="AutoShape 6"/>
          <p:cNvSpPr/>
          <p:nvPr/>
        </p:nvSpPr>
        <p:spPr>
          <a:xfrm>
            <a:off x="4067175" y="2133600"/>
            <a:ext cx="4392613" cy="609600"/>
          </a:xfrm>
          <a:prstGeom prst="cloudCallout">
            <a:avLst>
              <a:gd name="adj1" fmla="val -79815"/>
              <a:gd name="adj2" fmla="val 388801"/>
            </a:avLst>
          </a:prstGeom>
          <a:noFill/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anchor="b" anchorCtr="0"/>
          <a:p>
            <a:pPr algn="ctr" eaLnBrk="1" hangingPunct="1"/>
            <a:r>
              <a:rPr lang="zh-CN" altLang="en-US" b="0" dirty="0">
                <a:latin typeface="Verdana" panose="020B0604030504040204" pitchFamily="34" charset="0"/>
              </a:rPr>
              <a:t>虚线为剩余的边</a:t>
            </a:r>
            <a:endParaRPr lang="zh-CN" altLang="en-US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非连通图的生成森林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5568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对于非连通图，每个连通分量中的顶点集，和遍历时走过的边一起构成若干棵生成树，这些连通分量的生成树组成非连通图的生成森林。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深度优先生成森林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广度优先生成森林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17410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2728913"/>
            <a:ext cx="8497887" cy="41290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1" name="AutoShape 4"/>
          <p:cNvSpPr/>
          <p:nvPr/>
        </p:nvSpPr>
        <p:spPr>
          <a:xfrm>
            <a:off x="4356100" y="1196975"/>
            <a:ext cx="4392613" cy="609600"/>
          </a:xfrm>
          <a:prstGeom prst="cloudCallout">
            <a:avLst>
              <a:gd name="adj1" fmla="val -49134"/>
              <a:gd name="adj2" fmla="val 198958"/>
            </a:avLst>
          </a:prstGeom>
          <a:noFill/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txBody>
          <a:bodyPr anchor="b" anchorCtr="0"/>
          <a:p>
            <a:pPr algn="ctr" eaLnBrk="1" hangingPunct="1"/>
            <a:r>
              <a:rPr lang="zh-CN" altLang="en-US" b="0" dirty="0">
                <a:latin typeface="Verdana" panose="020B0604030504040204" pitchFamily="34" charset="0"/>
              </a:rPr>
              <a:t>深度优先生成森林</a:t>
            </a:r>
            <a:endParaRPr lang="zh-CN" altLang="en-US" b="0" dirty="0">
              <a:latin typeface="Verdana" panose="020B0604030504040204" pitchFamily="34" charset="0"/>
            </a:endParaRPr>
          </a:p>
        </p:txBody>
      </p:sp>
      <p:pic>
        <p:nvPicPr>
          <p:cNvPr id="1741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987675" cy="27892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7.4.3 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最小生成树（</a:t>
            </a:r>
            <a:r>
              <a:rPr kumimoji="0" lang="en-US" altLang="zh-CN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Minimum Cost Spanning Tree</a:t>
            </a:r>
            <a:r>
              <a:rPr kumimoji="0" lang="zh-CN" altLang="en-US" sz="3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587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最小生成树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边的代价（权值）之和</a:t>
            </a: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pic>
        <p:nvPicPr>
          <p:cNvPr id="1843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9338" y="3213100"/>
            <a:ext cx="3578225" cy="2665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构造最小生成树</a:t>
            </a:r>
            <a:r>
              <a:rPr kumimoji="0" lang="en-US" altLang="zh-CN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——MST</a:t>
            </a: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性质</a:t>
            </a:r>
            <a:endParaRPr kumimoji="0" lang="zh-CN" altLang="en-US" sz="3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59779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520825"/>
            <a:ext cx="8001000" cy="4498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假设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＝（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{E}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）为连通网，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是顶点集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的一个非空子集。若（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）是一条具有最小权值的边，其中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en-US" altLang="zh-CN" sz="3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U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，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v V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－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U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，则必存在一棵包含边（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u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，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v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）的最小生成树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1946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789363"/>
            <a:ext cx="3578225" cy="26654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1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663" y="3933825"/>
            <a:ext cx="2447925" cy="2278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9782" name="Oval 6"/>
          <p:cNvSpPr>
            <a:spLocks noChangeArrowheads="1"/>
          </p:cNvSpPr>
          <p:nvPr/>
        </p:nvSpPr>
        <p:spPr bwMode="auto">
          <a:xfrm>
            <a:off x="395288" y="5773738"/>
            <a:ext cx="1149350" cy="877888"/>
          </a:xfrm>
          <a:prstGeom prst="ellipse">
            <a:avLst/>
          </a:prstGeom>
          <a:noFill/>
          <a:ln w="9525" algn="ctr">
            <a:solidFill>
              <a:schemeClr val="accent2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-1000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U</a:t>
            </a:r>
            <a:endParaRPr kumimoji="0" lang="en-US" altLang="zh-CN" sz="2400" b="1" i="0" u="none" strike="noStrike" kern="1200" cap="none" spc="0" normalizeH="0" baseline="-1000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19463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500" y="3860800"/>
            <a:ext cx="2520950" cy="2468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9786" name="Oval 10"/>
          <p:cNvSpPr>
            <a:spLocks noChangeArrowheads="1"/>
          </p:cNvSpPr>
          <p:nvPr/>
        </p:nvSpPr>
        <p:spPr bwMode="auto">
          <a:xfrm>
            <a:off x="3419475" y="5661025"/>
            <a:ext cx="1149350" cy="877888"/>
          </a:xfrm>
          <a:prstGeom prst="ellipse">
            <a:avLst/>
          </a:prstGeom>
          <a:noFill/>
          <a:ln w="9525" algn="ctr">
            <a:solidFill>
              <a:schemeClr val="accent2"/>
            </a:solidFill>
            <a:round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-1000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U</a:t>
            </a:r>
            <a:endParaRPr kumimoji="0" lang="en-US" altLang="zh-CN" sz="2400" b="1" i="0" u="none" strike="noStrike" kern="1200" cap="none" spc="0" normalizeH="0" baseline="-1000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59787" name="Line 11"/>
          <p:cNvSpPr>
            <a:spLocks noChangeShapeType="1"/>
          </p:cNvSpPr>
          <p:nvPr/>
        </p:nvSpPr>
        <p:spPr bwMode="auto">
          <a:xfrm>
            <a:off x="3851275" y="5157788"/>
            <a:ext cx="215900" cy="6477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构造最小生成树</a:t>
            </a: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</a:t>
            </a: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*****</a:t>
            </a:r>
            <a:endParaRPr kumimoji="0" lang="en-US" altLang="zh-CN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597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普里姆算法（</a:t>
            </a: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Prim</a:t>
            </a: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）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  <a:sym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克鲁斯卡尔（Kruskal） 算法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普里姆算法（</a:t>
            </a: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Prim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6080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基本思想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从连通网络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= {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}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中的某一顶点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u</a:t>
            </a:r>
            <a:r>
              <a:rPr kumimoji="0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0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出发，选择与它关联的具有最小权值的边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u</a:t>
            </a:r>
            <a:r>
              <a:rPr kumimoji="0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0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，将其顶点加入到生成树的顶点集合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U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中。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以后每一步从一个顶点在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U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中，而另一个顶点不在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U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中的各条边中选择权值最小的边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u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),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把它的顶点加入到集合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U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中。如此继续下去，直到网络中的所有顶点都加入到生成树顶点集合</a:t>
            </a:r>
            <a:r>
              <a:rPr kumimoji="0" lang="en-US" altLang="zh-CN" sz="28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U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中为止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2530" name="20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52475"/>
            <a:ext cx="9150350" cy="5356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330200" y="6459538"/>
            <a:ext cx="971550" cy="3984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O(n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)</a:t>
            </a:r>
            <a:endParaRPr kumimoji="0" lang="zh-CN" altLang="en-US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3554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0677" name="Text Box 5"/>
          <p:cNvSpPr txBox="1">
            <a:spLocks noChangeArrowheads="1"/>
          </p:cNvSpPr>
          <p:nvPr/>
        </p:nvSpPr>
        <p:spPr bwMode="auto">
          <a:xfrm>
            <a:off x="2146300" y="177800"/>
            <a:ext cx="5302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v2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40678" name="Text Box 6"/>
          <p:cNvSpPr txBox="1">
            <a:spLocks noChangeArrowheads="1"/>
          </p:cNvSpPr>
          <p:nvPr/>
        </p:nvSpPr>
        <p:spPr bwMode="auto">
          <a:xfrm>
            <a:off x="2916238" y="188913"/>
            <a:ext cx="5302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v3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40679" name="Text Box 7"/>
          <p:cNvSpPr txBox="1">
            <a:spLocks noChangeArrowheads="1"/>
          </p:cNvSpPr>
          <p:nvPr/>
        </p:nvSpPr>
        <p:spPr bwMode="auto">
          <a:xfrm>
            <a:off x="3851275" y="188913"/>
            <a:ext cx="5302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v4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40680" name="Text Box 8"/>
          <p:cNvSpPr txBox="1">
            <a:spLocks noChangeArrowheads="1"/>
          </p:cNvSpPr>
          <p:nvPr/>
        </p:nvSpPr>
        <p:spPr bwMode="auto">
          <a:xfrm>
            <a:off x="4787900" y="188913"/>
            <a:ext cx="5302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v5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40681" name="Text Box 9"/>
          <p:cNvSpPr txBox="1">
            <a:spLocks noChangeArrowheads="1"/>
          </p:cNvSpPr>
          <p:nvPr/>
        </p:nvSpPr>
        <p:spPr bwMode="auto">
          <a:xfrm>
            <a:off x="5580063" y="188913"/>
            <a:ext cx="530225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v6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24" name="Rectangl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普里姆算法</a:t>
            </a: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-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4579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888" y="1916113"/>
            <a:ext cx="5834062" cy="40084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692150"/>
            <a:ext cx="7777163" cy="6858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克鲁斯卡尔 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(Kruskal) 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算法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sp>
        <p:nvSpPr>
          <p:cNvPr id="467971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916113"/>
            <a:ext cx="7921625" cy="39608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设有一个有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个顶点的连通网络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= {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},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最初先构造一个只有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个顶点，没有边的非连通图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= {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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},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图中每个顶点自成一个连通分量。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在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E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中选到一条具有最小权值的边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若该边的两个顶点落在不同的连通分量上，则将此边加入到 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中；否则将此边舍去，重新选择一条权值最小的边。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如此重复下去，直到所有顶点在同一个连通分量上为止。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pull dir="l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662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372225" cy="57007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27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788" y="4416425"/>
            <a:ext cx="2843212" cy="2441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51972" name="Rectangl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克鲁斯卡尔 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(Kruskal) 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算法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-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j-cs"/>
              </a:rPr>
              <a:t>练习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  <a:cs typeface="+mj-cs"/>
            </a:endParaRPr>
          </a:p>
        </p:txBody>
      </p:sp>
      <p:pic>
        <p:nvPicPr>
          <p:cNvPr id="27651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075" y="2276475"/>
            <a:ext cx="4932363" cy="33893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小结 </a:t>
            </a:r>
            <a:endParaRPr kumimoji="0" lang="en-US" altLang="zh-CN" sz="3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597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最小生成树：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  <a:sym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普里姆算法（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Prim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）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  <a:sym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ea"/>
              </a:rPr>
              <a:t>克鲁斯卡尔算法（Kruskal）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7.5 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有向无环图及其应用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73091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001000" cy="11715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无环的有向图－有向无环图（</a:t>
            </a: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directed acycling graph, DAG</a:t>
            </a: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9700" name="20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00" y="2924175"/>
            <a:ext cx="6100763" cy="31861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7.5 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有向无环图及其应用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73091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001000" cy="11715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为什么介绍有向无环图概念呢？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因为它是描述含有公共子式的表达式的有效工具。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174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3" y="0"/>
            <a:ext cx="9144000" cy="4837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54022" name="Freeform 6"/>
          <p:cNvSpPr/>
          <p:nvPr/>
        </p:nvSpPr>
        <p:spPr bwMode="auto">
          <a:xfrm>
            <a:off x="1592263" y="3514725"/>
            <a:ext cx="1468438" cy="1373188"/>
          </a:xfrm>
          <a:custGeom>
            <a:avLst/>
            <a:gdLst/>
            <a:ahLst/>
            <a:cxnLst>
              <a:cxn ang="0">
                <a:pos x="308" y="50"/>
              </a:cxn>
              <a:cxn ang="0">
                <a:pos x="228" y="130"/>
              </a:cxn>
              <a:cxn ang="0">
                <a:pos x="139" y="259"/>
              </a:cxn>
              <a:cxn ang="0">
                <a:pos x="99" y="318"/>
              </a:cxn>
              <a:cxn ang="0">
                <a:pos x="60" y="408"/>
              </a:cxn>
              <a:cxn ang="0">
                <a:pos x="0" y="596"/>
              </a:cxn>
              <a:cxn ang="0">
                <a:pos x="10" y="706"/>
              </a:cxn>
              <a:cxn ang="0">
                <a:pos x="99" y="785"/>
              </a:cxn>
              <a:cxn ang="0">
                <a:pos x="427" y="845"/>
              </a:cxn>
              <a:cxn ang="0">
                <a:pos x="556" y="865"/>
              </a:cxn>
              <a:cxn ang="0">
                <a:pos x="755" y="855"/>
              </a:cxn>
              <a:cxn ang="0">
                <a:pos x="814" y="845"/>
              </a:cxn>
              <a:cxn ang="0">
                <a:pos x="874" y="805"/>
              </a:cxn>
              <a:cxn ang="0">
                <a:pos x="854" y="557"/>
              </a:cxn>
              <a:cxn ang="0">
                <a:pos x="824" y="497"/>
              </a:cxn>
              <a:cxn ang="0">
                <a:pos x="735" y="229"/>
              </a:cxn>
              <a:cxn ang="0">
                <a:pos x="715" y="160"/>
              </a:cxn>
              <a:cxn ang="0">
                <a:pos x="695" y="130"/>
              </a:cxn>
              <a:cxn ang="0">
                <a:pos x="685" y="100"/>
              </a:cxn>
              <a:cxn ang="0">
                <a:pos x="616" y="70"/>
              </a:cxn>
              <a:cxn ang="0">
                <a:pos x="427" y="1"/>
              </a:cxn>
              <a:cxn ang="0">
                <a:pos x="308" y="50"/>
              </a:cxn>
            </a:cxnLst>
            <a:rect l="0" t="0" r="r" b="b"/>
            <a:pathLst>
              <a:path w="925" h="865">
                <a:moveTo>
                  <a:pt x="308" y="50"/>
                </a:moveTo>
                <a:cubicBezTo>
                  <a:pt x="285" y="85"/>
                  <a:pt x="263" y="107"/>
                  <a:pt x="228" y="130"/>
                </a:cubicBezTo>
                <a:cubicBezTo>
                  <a:pt x="199" y="174"/>
                  <a:pt x="169" y="216"/>
                  <a:pt x="139" y="259"/>
                </a:cubicBezTo>
                <a:cubicBezTo>
                  <a:pt x="125" y="278"/>
                  <a:pt x="99" y="318"/>
                  <a:pt x="99" y="318"/>
                </a:cubicBezTo>
                <a:cubicBezTo>
                  <a:pt x="75" y="389"/>
                  <a:pt x="90" y="360"/>
                  <a:pt x="60" y="408"/>
                </a:cubicBezTo>
                <a:cubicBezTo>
                  <a:pt x="43" y="475"/>
                  <a:pt x="12" y="526"/>
                  <a:pt x="0" y="596"/>
                </a:cubicBezTo>
                <a:cubicBezTo>
                  <a:pt x="3" y="633"/>
                  <a:pt x="2" y="670"/>
                  <a:pt x="10" y="706"/>
                </a:cubicBezTo>
                <a:cubicBezTo>
                  <a:pt x="18" y="742"/>
                  <a:pt x="69" y="773"/>
                  <a:pt x="99" y="785"/>
                </a:cubicBezTo>
                <a:cubicBezTo>
                  <a:pt x="202" y="827"/>
                  <a:pt x="318" y="832"/>
                  <a:pt x="427" y="845"/>
                </a:cubicBezTo>
                <a:cubicBezTo>
                  <a:pt x="470" y="850"/>
                  <a:pt x="513" y="859"/>
                  <a:pt x="556" y="865"/>
                </a:cubicBezTo>
                <a:cubicBezTo>
                  <a:pt x="622" y="862"/>
                  <a:pt x="689" y="860"/>
                  <a:pt x="755" y="855"/>
                </a:cubicBezTo>
                <a:cubicBezTo>
                  <a:pt x="775" y="853"/>
                  <a:pt x="796" y="853"/>
                  <a:pt x="814" y="845"/>
                </a:cubicBezTo>
                <a:cubicBezTo>
                  <a:pt x="836" y="836"/>
                  <a:pt x="874" y="805"/>
                  <a:pt x="874" y="805"/>
                </a:cubicBezTo>
                <a:cubicBezTo>
                  <a:pt x="925" y="728"/>
                  <a:pt x="919" y="622"/>
                  <a:pt x="854" y="557"/>
                </a:cubicBezTo>
                <a:cubicBezTo>
                  <a:pt x="819" y="452"/>
                  <a:pt x="874" y="608"/>
                  <a:pt x="824" y="497"/>
                </a:cubicBezTo>
                <a:cubicBezTo>
                  <a:pt x="786" y="412"/>
                  <a:pt x="773" y="317"/>
                  <a:pt x="735" y="229"/>
                </a:cubicBezTo>
                <a:cubicBezTo>
                  <a:pt x="726" y="207"/>
                  <a:pt x="725" y="182"/>
                  <a:pt x="715" y="160"/>
                </a:cubicBezTo>
                <a:cubicBezTo>
                  <a:pt x="710" y="149"/>
                  <a:pt x="700" y="141"/>
                  <a:pt x="695" y="130"/>
                </a:cubicBezTo>
                <a:cubicBezTo>
                  <a:pt x="690" y="121"/>
                  <a:pt x="692" y="108"/>
                  <a:pt x="685" y="100"/>
                </a:cubicBezTo>
                <a:cubicBezTo>
                  <a:pt x="667" y="77"/>
                  <a:pt x="641" y="78"/>
                  <a:pt x="616" y="70"/>
                </a:cubicBezTo>
                <a:cubicBezTo>
                  <a:pt x="552" y="51"/>
                  <a:pt x="483" y="37"/>
                  <a:pt x="427" y="1"/>
                </a:cubicBezTo>
                <a:cubicBezTo>
                  <a:pt x="373" y="8"/>
                  <a:pt x="333" y="0"/>
                  <a:pt x="308" y="50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54023" name="Freeform 7"/>
          <p:cNvSpPr/>
          <p:nvPr/>
        </p:nvSpPr>
        <p:spPr bwMode="auto">
          <a:xfrm>
            <a:off x="2711450" y="2716213"/>
            <a:ext cx="1287463" cy="1433513"/>
          </a:xfrm>
          <a:custGeom>
            <a:avLst/>
            <a:gdLst/>
            <a:ahLst/>
            <a:cxnLst>
              <a:cxn ang="0">
                <a:pos x="258" y="57"/>
              </a:cxn>
              <a:cxn ang="0">
                <a:pos x="229" y="116"/>
              </a:cxn>
              <a:cxn ang="0">
                <a:pos x="139" y="335"/>
              </a:cxn>
              <a:cxn ang="0">
                <a:pos x="80" y="464"/>
              </a:cxn>
              <a:cxn ang="0">
                <a:pos x="50" y="553"/>
              </a:cxn>
              <a:cxn ang="0">
                <a:pos x="30" y="583"/>
              </a:cxn>
              <a:cxn ang="0">
                <a:pos x="0" y="682"/>
              </a:cxn>
              <a:cxn ang="0">
                <a:pos x="10" y="772"/>
              </a:cxn>
              <a:cxn ang="0">
                <a:pos x="40" y="802"/>
              </a:cxn>
              <a:cxn ang="0">
                <a:pos x="258" y="881"/>
              </a:cxn>
              <a:cxn ang="0">
                <a:pos x="636" y="891"/>
              </a:cxn>
              <a:cxn ang="0">
                <a:pos x="805" y="841"/>
              </a:cxn>
              <a:cxn ang="0">
                <a:pos x="745" y="504"/>
              </a:cxn>
              <a:cxn ang="0">
                <a:pos x="666" y="325"/>
              </a:cxn>
              <a:cxn ang="0">
                <a:pos x="606" y="206"/>
              </a:cxn>
              <a:cxn ang="0">
                <a:pos x="407" y="47"/>
              </a:cxn>
              <a:cxn ang="0">
                <a:pos x="258" y="57"/>
              </a:cxn>
            </a:cxnLst>
            <a:rect l="0" t="0" r="r" b="b"/>
            <a:pathLst>
              <a:path w="811" h="903">
                <a:moveTo>
                  <a:pt x="258" y="57"/>
                </a:moveTo>
                <a:cubicBezTo>
                  <a:pt x="221" y="169"/>
                  <a:pt x="280" y="0"/>
                  <a:pt x="229" y="116"/>
                </a:cubicBezTo>
                <a:cubicBezTo>
                  <a:pt x="197" y="189"/>
                  <a:pt x="184" y="268"/>
                  <a:pt x="139" y="335"/>
                </a:cubicBezTo>
                <a:cubicBezTo>
                  <a:pt x="127" y="383"/>
                  <a:pt x="100" y="419"/>
                  <a:pt x="80" y="464"/>
                </a:cubicBezTo>
                <a:cubicBezTo>
                  <a:pt x="78" y="468"/>
                  <a:pt x="56" y="536"/>
                  <a:pt x="50" y="553"/>
                </a:cubicBezTo>
                <a:cubicBezTo>
                  <a:pt x="46" y="564"/>
                  <a:pt x="35" y="572"/>
                  <a:pt x="30" y="583"/>
                </a:cubicBezTo>
                <a:cubicBezTo>
                  <a:pt x="17" y="613"/>
                  <a:pt x="8" y="650"/>
                  <a:pt x="0" y="682"/>
                </a:cubicBezTo>
                <a:cubicBezTo>
                  <a:pt x="3" y="712"/>
                  <a:pt x="0" y="743"/>
                  <a:pt x="10" y="772"/>
                </a:cubicBezTo>
                <a:cubicBezTo>
                  <a:pt x="14" y="785"/>
                  <a:pt x="29" y="793"/>
                  <a:pt x="40" y="802"/>
                </a:cubicBezTo>
                <a:cubicBezTo>
                  <a:pt x="106" y="853"/>
                  <a:pt x="177" y="869"/>
                  <a:pt x="258" y="881"/>
                </a:cubicBezTo>
                <a:cubicBezTo>
                  <a:pt x="388" y="872"/>
                  <a:pt x="507" y="877"/>
                  <a:pt x="636" y="891"/>
                </a:cubicBezTo>
                <a:cubicBezTo>
                  <a:pt x="717" y="884"/>
                  <a:pt x="764" y="903"/>
                  <a:pt x="805" y="841"/>
                </a:cubicBezTo>
                <a:cubicBezTo>
                  <a:pt x="799" y="731"/>
                  <a:pt x="811" y="600"/>
                  <a:pt x="745" y="504"/>
                </a:cubicBezTo>
                <a:cubicBezTo>
                  <a:pt x="729" y="440"/>
                  <a:pt x="694" y="384"/>
                  <a:pt x="666" y="325"/>
                </a:cubicBezTo>
                <a:cubicBezTo>
                  <a:pt x="647" y="285"/>
                  <a:pt x="632" y="243"/>
                  <a:pt x="606" y="206"/>
                </a:cubicBezTo>
                <a:cubicBezTo>
                  <a:pt x="570" y="99"/>
                  <a:pt x="512" y="65"/>
                  <a:pt x="407" y="47"/>
                </a:cubicBezTo>
                <a:cubicBezTo>
                  <a:pt x="265" y="57"/>
                  <a:pt x="314" y="57"/>
                  <a:pt x="258" y="57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54024" name="Freeform 8"/>
          <p:cNvSpPr/>
          <p:nvPr/>
        </p:nvSpPr>
        <p:spPr bwMode="auto">
          <a:xfrm>
            <a:off x="4683125" y="1985963"/>
            <a:ext cx="1273175" cy="1390650"/>
          </a:xfrm>
          <a:custGeom>
            <a:avLst/>
            <a:gdLst/>
            <a:ahLst/>
            <a:cxnLst>
              <a:cxn ang="0">
                <a:pos x="208" y="10"/>
              </a:cxn>
              <a:cxn ang="0">
                <a:pos x="129" y="169"/>
              </a:cxn>
              <a:cxn ang="0">
                <a:pos x="79" y="308"/>
              </a:cxn>
              <a:cxn ang="0">
                <a:pos x="0" y="586"/>
              </a:cxn>
              <a:cxn ang="0">
                <a:pos x="9" y="705"/>
              </a:cxn>
              <a:cxn ang="0">
                <a:pos x="49" y="765"/>
              </a:cxn>
              <a:cxn ang="0">
                <a:pos x="99" y="825"/>
              </a:cxn>
              <a:cxn ang="0">
                <a:pos x="198" y="854"/>
              </a:cxn>
              <a:cxn ang="0">
                <a:pos x="675" y="815"/>
              </a:cxn>
              <a:cxn ang="0">
                <a:pos x="764" y="745"/>
              </a:cxn>
              <a:cxn ang="0">
                <a:pos x="764" y="537"/>
              </a:cxn>
              <a:cxn ang="0">
                <a:pos x="724" y="477"/>
              </a:cxn>
              <a:cxn ang="0">
                <a:pos x="705" y="447"/>
              </a:cxn>
              <a:cxn ang="0">
                <a:pos x="655" y="318"/>
              </a:cxn>
              <a:cxn ang="0">
                <a:pos x="625" y="249"/>
              </a:cxn>
              <a:cxn ang="0">
                <a:pos x="595" y="179"/>
              </a:cxn>
              <a:cxn ang="0">
                <a:pos x="536" y="80"/>
              </a:cxn>
              <a:cxn ang="0">
                <a:pos x="367" y="0"/>
              </a:cxn>
              <a:cxn ang="0">
                <a:pos x="208" y="10"/>
              </a:cxn>
            </a:cxnLst>
            <a:rect l="0" t="0" r="r" b="b"/>
            <a:pathLst>
              <a:path w="802" h="876">
                <a:moveTo>
                  <a:pt x="208" y="10"/>
                </a:moveTo>
                <a:cubicBezTo>
                  <a:pt x="190" y="65"/>
                  <a:pt x="160" y="120"/>
                  <a:pt x="129" y="169"/>
                </a:cubicBezTo>
                <a:cubicBezTo>
                  <a:pt x="117" y="218"/>
                  <a:pt x="93" y="260"/>
                  <a:pt x="79" y="308"/>
                </a:cubicBezTo>
                <a:cubicBezTo>
                  <a:pt x="53" y="401"/>
                  <a:pt x="28" y="494"/>
                  <a:pt x="0" y="586"/>
                </a:cubicBezTo>
                <a:cubicBezTo>
                  <a:pt x="3" y="626"/>
                  <a:pt x="4" y="666"/>
                  <a:pt x="9" y="705"/>
                </a:cubicBezTo>
                <a:cubicBezTo>
                  <a:pt x="14" y="742"/>
                  <a:pt x="25" y="736"/>
                  <a:pt x="49" y="765"/>
                </a:cubicBezTo>
                <a:cubicBezTo>
                  <a:pt x="67" y="787"/>
                  <a:pt x="72" y="810"/>
                  <a:pt x="99" y="825"/>
                </a:cubicBezTo>
                <a:cubicBezTo>
                  <a:pt x="116" y="835"/>
                  <a:pt x="174" y="848"/>
                  <a:pt x="198" y="854"/>
                </a:cubicBezTo>
                <a:cubicBezTo>
                  <a:pt x="273" y="852"/>
                  <a:pt x="552" y="876"/>
                  <a:pt x="675" y="815"/>
                </a:cubicBezTo>
                <a:cubicBezTo>
                  <a:pt x="709" y="798"/>
                  <a:pt x="732" y="766"/>
                  <a:pt x="764" y="745"/>
                </a:cubicBezTo>
                <a:cubicBezTo>
                  <a:pt x="781" y="677"/>
                  <a:pt x="802" y="605"/>
                  <a:pt x="764" y="537"/>
                </a:cubicBezTo>
                <a:cubicBezTo>
                  <a:pt x="752" y="516"/>
                  <a:pt x="737" y="497"/>
                  <a:pt x="724" y="477"/>
                </a:cubicBezTo>
                <a:cubicBezTo>
                  <a:pt x="718" y="467"/>
                  <a:pt x="705" y="447"/>
                  <a:pt x="705" y="447"/>
                </a:cubicBezTo>
                <a:cubicBezTo>
                  <a:pt x="693" y="400"/>
                  <a:pt x="682" y="358"/>
                  <a:pt x="655" y="318"/>
                </a:cubicBezTo>
                <a:cubicBezTo>
                  <a:pt x="626" y="202"/>
                  <a:pt x="667" y="345"/>
                  <a:pt x="625" y="249"/>
                </a:cubicBezTo>
                <a:cubicBezTo>
                  <a:pt x="585" y="156"/>
                  <a:pt x="647" y="256"/>
                  <a:pt x="595" y="179"/>
                </a:cubicBezTo>
                <a:cubicBezTo>
                  <a:pt x="583" y="129"/>
                  <a:pt x="568" y="118"/>
                  <a:pt x="536" y="80"/>
                </a:cubicBezTo>
                <a:cubicBezTo>
                  <a:pt x="481" y="13"/>
                  <a:pt x="448" y="14"/>
                  <a:pt x="367" y="0"/>
                </a:cubicBezTo>
                <a:cubicBezTo>
                  <a:pt x="221" y="10"/>
                  <a:pt x="274" y="10"/>
                  <a:pt x="208" y="10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54025" name="Freeform 9"/>
          <p:cNvSpPr/>
          <p:nvPr/>
        </p:nvSpPr>
        <p:spPr bwMode="auto">
          <a:xfrm>
            <a:off x="7331075" y="3262313"/>
            <a:ext cx="1417638" cy="1462088"/>
          </a:xfrm>
          <a:custGeom>
            <a:avLst/>
            <a:gdLst/>
            <a:ahLst/>
            <a:cxnLst>
              <a:cxn ang="0">
                <a:pos x="208" y="10"/>
              </a:cxn>
              <a:cxn ang="0">
                <a:pos x="129" y="169"/>
              </a:cxn>
              <a:cxn ang="0">
                <a:pos x="79" y="308"/>
              </a:cxn>
              <a:cxn ang="0">
                <a:pos x="0" y="586"/>
              </a:cxn>
              <a:cxn ang="0">
                <a:pos x="9" y="705"/>
              </a:cxn>
              <a:cxn ang="0">
                <a:pos x="49" y="765"/>
              </a:cxn>
              <a:cxn ang="0">
                <a:pos x="99" y="825"/>
              </a:cxn>
              <a:cxn ang="0">
                <a:pos x="198" y="854"/>
              </a:cxn>
              <a:cxn ang="0">
                <a:pos x="675" y="815"/>
              </a:cxn>
              <a:cxn ang="0">
                <a:pos x="764" y="745"/>
              </a:cxn>
              <a:cxn ang="0">
                <a:pos x="764" y="537"/>
              </a:cxn>
              <a:cxn ang="0">
                <a:pos x="724" y="477"/>
              </a:cxn>
              <a:cxn ang="0">
                <a:pos x="705" y="447"/>
              </a:cxn>
              <a:cxn ang="0">
                <a:pos x="655" y="318"/>
              </a:cxn>
              <a:cxn ang="0">
                <a:pos x="625" y="249"/>
              </a:cxn>
              <a:cxn ang="0">
                <a:pos x="595" y="179"/>
              </a:cxn>
              <a:cxn ang="0">
                <a:pos x="536" y="80"/>
              </a:cxn>
              <a:cxn ang="0">
                <a:pos x="367" y="0"/>
              </a:cxn>
              <a:cxn ang="0">
                <a:pos x="208" y="10"/>
              </a:cxn>
            </a:cxnLst>
            <a:rect l="0" t="0" r="r" b="b"/>
            <a:pathLst>
              <a:path w="802" h="876">
                <a:moveTo>
                  <a:pt x="208" y="10"/>
                </a:moveTo>
                <a:cubicBezTo>
                  <a:pt x="190" y="65"/>
                  <a:pt x="160" y="120"/>
                  <a:pt x="129" y="169"/>
                </a:cubicBezTo>
                <a:cubicBezTo>
                  <a:pt x="117" y="218"/>
                  <a:pt x="93" y="260"/>
                  <a:pt x="79" y="308"/>
                </a:cubicBezTo>
                <a:cubicBezTo>
                  <a:pt x="53" y="401"/>
                  <a:pt x="28" y="494"/>
                  <a:pt x="0" y="586"/>
                </a:cubicBezTo>
                <a:cubicBezTo>
                  <a:pt x="3" y="626"/>
                  <a:pt x="4" y="666"/>
                  <a:pt x="9" y="705"/>
                </a:cubicBezTo>
                <a:cubicBezTo>
                  <a:pt x="14" y="742"/>
                  <a:pt x="25" y="736"/>
                  <a:pt x="49" y="765"/>
                </a:cubicBezTo>
                <a:cubicBezTo>
                  <a:pt x="67" y="787"/>
                  <a:pt x="72" y="810"/>
                  <a:pt x="99" y="825"/>
                </a:cubicBezTo>
                <a:cubicBezTo>
                  <a:pt x="116" y="835"/>
                  <a:pt x="174" y="848"/>
                  <a:pt x="198" y="854"/>
                </a:cubicBezTo>
                <a:cubicBezTo>
                  <a:pt x="273" y="852"/>
                  <a:pt x="552" y="876"/>
                  <a:pt x="675" y="815"/>
                </a:cubicBezTo>
                <a:cubicBezTo>
                  <a:pt x="709" y="798"/>
                  <a:pt x="732" y="766"/>
                  <a:pt x="764" y="745"/>
                </a:cubicBezTo>
                <a:cubicBezTo>
                  <a:pt x="781" y="677"/>
                  <a:pt x="802" y="605"/>
                  <a:pt x="764" y="537"/>
                </a:cubicBezTo>
                <a:cubicBezTo>
                  <a:pt x="752" y="516"/>
                  <a:pt x="737" y="497"/>
                  <a:pt x="724" y="477"/>
                </a:cubicBezTo>
                <a:cubicBezTo>
                  <a:pt x="718" y="467"/>
                  <a:pt x="705" y="447"/>
                  <a:pt x="705" y="447"/>
                </a:cubicBezTo>
                <a:cubicBezTo>
                  <a:pt x="693" y="400"/>
                  <a:pt x="682" y="358"/>
                  <a:pt x="655" y="318"/>
                </a:cubicBezTo>
                <a:cubicBezTo>
                  <a:pt x="626" y="202"/>
                  <a:pt x="667" y="345"/>
                  <a:pt x="625" y="249"/>
                </a:cubicBezTo>
                <a:cubicBezTo>
                  <a:pt x="585" y="156"/>
                  <a:pt x="647" y="256"/>
                  <a:pt x="595" y="179"/>
                </a:cubicBezTo>
                <a:cubicBezTo>
                  <a:pt x="583" y="129"/>
                  <a:pt x="568" y="118"/>
                  <a:pt x="536" y="80"/>
                </a:cubicBezTo>
                <a:cubicBezTo>
                  <a:pt x="481" y="13"/>
                  <a:pt x="448" y="14"/>
                  <a:pt x="367" y="0"/>
                </a:cubicBezTo>
                <a:cubicBezTo>
                  <a:pt x="221" y="10"/>
                  <a:pt x="274" y="10"/>
                  <a:pt x="208" y="10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round/>
          </a:ln>
          <a:effectLst/>
        </p:spPr>
        <p:txBody>
          <a:bodyPr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54026" name="Freeform 10"/>
          <p:cNvSpPr/>
          <p:nvPr/>
        </p:nvSpPr>
        <p:spPr bwMode="auto">
          <a:xfrm>
            <a:off x="2662238" y="1762125"/>
            <a:ext cx="1846263" cy="2573338"/>
          </a:xfrm>
          <a:custGeom>
            <a:avLst/>
            <a:gdLst/>
            <a:ahLst/>
            <a:cxnLst>
              <a:cxn ang="0">
                <a:pos x="488" y="52"/>
              </a:cxn>
              <a:cxn ang="0">
                <a:pos x="279" y="449"/>
              </a:cxn>
              <a:cxn ang="0">
                <a:pos x="210" y="608"/>
              </a:cxn>
              <a:cxn ang="0">
                <a:pos x="180" y="678"/>
              </a:cxn>
              <a:cxn ang="0">
                <a:pos x="140" y="767"/>
              </a:cxn>
              <a:cxn ang="0">
                <a:pos x="111" y="836"/>
              </a:cxn>
              <a:cxn ang="0">
                <a:pos x="51" y="1015"/>
              </a:cxn>
              <a:cxn ang="0">
                <a:pos x="21" y="1105"/>
              </a:cxn>
              <a:cxn ang="0">
                <a:pos x="1" y="1164"/>
              </a:cxn>
              <a:cxn ang="0">
                <a:pos x="41" y="1422"/>
              </a:cxn>
              <a:cxn ang="0">
                <a:pos x="111" y="1512"/>
              </a:cxn>
              <a:cxn ang="0">
                <a:pos x="240" y="1561"/>
              </a:cxn>
              <a:cxn ang="0">
                <a:pos x="577" y="1621"/>
              </a:cxn>
              <a:cxn ang="0">
                <a:pos x="885" y="1591"/>
              </a:cxn>
              <a:cxn ang="0">
                <a:pos x="985" y="1522"/>
              </a:cxn>
              <a:cxn ang="0">
                <a:pos x="1094" y="1095"/>
              </a:cxn>
              <a:cxn ang="0">
                <a:pos x="1163" y="817"/>
              </a:cxn>
              <a:cxn ang="0">
                <a:pos x="1143" y="648"/>
              </a:cxn>
              <a:cxn ang="0">
                <a:pos x="1054" y="459"/>
              </a:cxn>
              <a:cxn ang="0">
                <a:pos x="1014" y="370"/>
              </a:cxn>
              <a:cxn ang="0">
                <a:pos x="955" y="231"/>
              </a:cxn>
              <a:cxn ang="0">
                <a:pos x="925" y="161"/>
              </a:cxn>
              <a:cxn ang="0">
                <a:pos x="895" y="102"/>
              </a:cxn>
              <a:cxn ang="0">
                <a:pos x="677" y="32"/>
              </a:cxn>
              <a:cxn ang="0">
                <a:pos x="488" y="52"/>
              </a:cxn>
            </a:cxnLst>
            <a:rect l="0" t="0" r="r" b="b"/>
            <a:pathLst>
              <a:path w="1163" h="1621">
                <a:moveTo>
                  <a:pt x="488" y="52"/>
                </a:moveTo>
                <a:cubicBezTo>
                  <a:pt x="385" y="155"/>
                  <a:pt x="343" y="321"/>
                  <a:pt x="279" y="449"/>
                </a:cubicBezTo>
                <a:cubicBezTo>
                  <a:pt x="253" y="501"/>
                  <a:pt x="243" y="558"/>
                  <a:pt x="210" y="608"/>
                </a:cubicBezTo>
                <a:cubicBezTo>
                  <a:pt x="184" y="711"/>
                  <a:pt x="219" y="591"/>
                  <a:pt x="180" y="678"/>
                </a:cubicBezTo>
                <a:cubicBezTo>
                  <a:pt x="132" y="784"/>
                  <a:pt x="185" y="699"/>
                  <a:pt x="140" y="767"/>
                </a:cubicBezTo>
                <a:cubicBezTo>
                  <a:pt x="113" y="874"/>
                  <a:pt x="149" y="749"/>
                  <a:pt x="111" y="836"/>
                </a:cubicBezTo>
                <a:cubicBezTo>
                  <a:pt x="86" y="892"/>
                  <a:pt x="71" y="956"/>
                  <a:pt x="51" y="1015"/>
                </a:cubicBezTo>
                <a:cubicBezTo>
                  <a:pt x="41" y="1045"/>
                  <a:pt x="31" y="1075"/>
                  <a:pt x="21" y="1105"/>
                </a:cubicBezTo>
                <a:cubicBezTo>
                  <a:pt x="14" y="1125"/>
                  <a:pt x="1" y="1164"/>
                  <a:pt x="1" y="1164"/>
                </a:cubicBezTo>
                <a:cubicBezTo>
                  <a:pt x="4" y="1217"/>
                  <a:pt x="0" y="1360"/>
                  <a:pt x="41" y="1422"/>
                </a:cubicBezTo>
                <a:cubicBezTo>
                  <a:pt x="70" y="1466"/>
                  <a:pt x="75" y="1481"/>
                  <a:pt x="111" y="1512"/>
                </a:cubicBezTo>
                <a:cubicBezTo>
                  <a:pt x="149" y="1544"/>
                  <a:pt x="195" y="1548"/>
                  <a:pt x="240" y="1561"/>
                </a:cubicBezTo>
                <a:cubicBezTo>
                  <a:pt x="355" y="1595"/>
                  <a:pt x="454" y="1612"/>
                  <a:pt x="577" y="1621"/>
                </a:cubicBezTo>
                <a:cubicBezTo>
                  <a:pt x="704" y="1615"/>
                  <a:pt x="776" y="1618"/>
                  <a:pt x="885" y="1591"/>
                </a:cubicBezTo>
                <a:cubicBezTo>
                  <a:pt x="920" y="1568"/>
                  <a:pt x="959" y="1556"/>
                  <a:pt x="985" y="1522"/>
                </a:cubicBezTo>
                <a:cubicBezTo>
                  <a:pt x="1092" y="1382"/>
                  <a:pt x="1062" y="1264"/>
                  <a:pt x="1094" y="1095"/>
                </a:cubicBezTo>
                <a:cubicBezTo>
                  <a:pt x="1112" y="1001"/>
                  <a:pt x="1147" y="912"/>
                  <a:pt x="1163" y="817"/>
                </a:cubicBezTo>
                <a:cubicBezTo>
                  <a:pt x="1158" y="760"/>
                  <a:pt x="1156" y="704"/>
                  <a:pt x="1143" y="648"/>
                </a:cubicBezTo>
                <a:cubicBezTo>
                  <a:pt x="1129" y="585"/>
                  <a:pt x="1081" y="518"/>
                  <a:pt x="1054" y="459"/>
                </a:cubicBezTo>
                <a:cubicBezTo>
                  <a:pt x="1006" y="353"/>
                  <a:pt x="1059" y="438"/>
                  <a:pt x="1014" y="370"/>
                </a:cubicBezTo>
                <a:cubicBezTo>
                  <a:pt x="1001" y="317"/>
                  <a:pt x="980" y="279"/>
                  <a:pt x="955" y="231"/>
                </a:cubicBezTo>
                <a:cubicBezTo>
                  <a:pt x="934" y="148"/>
                  <a:pt x="960" y="230"/>
                  <a:pt x="925" y="161"/>
                </a:cubicBezTo>
                <a:cubicBezTo>
                  <a:pt x="911" y="133"/>
                  <a:pt x="921" y="125"/>
                  <a:pt x="895" y="102"/>
                </a:cubicBezTo>
                <a:cubicBezTo>
                  <a:pt x="830" y="45"/>
                  <a:pt x="760" y="43"/>
                  <a:pt x="677" y="32"/>
                </a:cubicBezTo>
                <a:cubicBezTo>
                  <a:pt x="493" y="42"/>
                  <a:pt x="540" y="0"/>
                  <a:pt x="488" y="52"/>
                </a:cubicBezTo>
                <a:close/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54027" name="Freeform 11"/>
          <p:cNvSpPr/>
          <p:nvPr/>
        </p:nvSpPr>
        <p:spPr bwMode="auto">
          <a:xfrm>
            <a:off x="4525963" y="1000125"/>
            <a:ext cx="1846263" cy="2573338"/>
          </a:xfrm>
          <a:custGeom>
            <a:avLst/>
            <a:gdLst/>
            <a:ahLst/>
            <a:cxnLst>
              <a:cxn ang="0">
                <a:pos x="488" y="52"/>
              </a:cxn>
              <a:cxn ang="0">
                <a:pos x="279" y="449"/>
              </a:cxn>
              <a:cxn ang="0">
                <a:pos x="210" y="608"/>
              </a:cxn>
              <a:cxn ang="0">
                <a:pos x="180" y="678"/>
              </a:cxn>
              <a:cxn ang="0">
                <a:pos x="140" y="767"/>
              </a:cxn>
              <a:cxn ang="0">
                <a:pos x="111" y="836"/>
              </a:cxn>
              <a:cxn ang="0">
                <a:pos x="51" y="1015"/>
              </a:cxn>
              <a:cxn ang="0">
                <a:pos x="21" y="1105"/>
              </a:cxn>
              <a:cxn ang="0">
                <a:pos x="1" y="1164"/>
              </a:cxn>
              <a:cxn ang="0">
                <a:pos x="41" y="1422"/>
              </a:cxn>
              <a:cxn ang="0">
                <a:pos x="111" y="1512"/>
              </a:cxn>
              <a:cxn ang="0">
                <a:pos x="240" y="1561"/>
              </a:cxn>
              <a:cxn ang="0">
                <a:pos x="577" y="1621"/>
              </a:cxn>
              <a:cxn ang="0">
                <a:pos x="885" y="1591"/>
              </a:cxn>
              <a:cxn ang="0">
                <a:pos x="985" y="1522"/>
              </a:cxn>
              <a:cxn ang="0">
                <a:pos x="1094" y="1095"/>
              </a:cxn>
              <a:cxn ang="0">
                <a:pos x="1163" y="817"/>
              </a:cxn>
              <a:cxn ang="0">
                <a:pos x="1143" y="648"/>
              </a:cxn>
              <a:cxn ang="0">
                <a:pos x="1054" y="459"/>
              </a:cxn>
              <a:cxn ang="0">
                <a:pos x="1014" y="370"/>
              </a:cxn>
              <a:cxn ang="0">
                <a:pos x="955" y="231"/>
              </a:cxn>
              <a:cxn ang="0">
                <a:pos x="925" y="161"/>
              </a:cxn>
              <a:cxn ang="0">
                <a:pos x="895" y="102"/>
              </a:cxn>
              <a:cxn ang="0">
                <a:pos x="677" y="32"/>
              </a:cxn>
              <a:cxn ang="0">
                <a:pos x="488" y="52"/>
              </a:cxn>
            </a:cxnLst>
            <a:rect l="0" t="0" r="r" b="b"/>
            <a:pathLst>
              <a:path w="1163" h="1621">
                <a:moveTo>
                  <a:pt x="488" y="52"/>
                </a:moveTo>
                <a:cubicBezTo>
                  <a:pt x="385" y="155"/>
                  <a:pt x="343" y="321"/>
                  <a:pt x="279" y="449"/>
                </a:cubicBezTo>
                <a:cubicBezTo>
                  <a:pt x="253" y="501"/>
                  <a:pt x="243" y="558"/>
                  <a:pt x="210" y="608"/>
                </a:cubicBezTo>
                <a:cubicBezTo>
                  <a:pt x="184" y="711"/>
                  <a:pt x="219" y="591"/>
                  <a:pt x="180" y="678"/>
                </a:cubicBezTo>
                <a:cubicBezTo>
                  <a:pt x="132" y="784"/>
                  <a:pt x="185" y="699"/>
                  <a:pt x="140" y="767"/>
                </a:cubicBezTo>
                <a:cubicBezTo>
                  <a:pt x="113" y="874"/>
                  <a:pt x="149" y="749"/>
                  <a:pt x="111" y="836"/>
                </a:cubicBezTo>
                <a:cubicBezTo>
                  <a:pt x="86" y="892"/>
                  <a:pt x="71" y="956"/>
                  <a:pt x="51" y="1015"/>
                </a:cubicBezTo>
                <a:cubicBezTo>
                  <a:pt x="41" y="1045"/>
                  <a:pt x="31" y="1075"/>
                  <a:pt x="21" y="1105"/>
                </a:cubicBezTo>
                <a:cubicBezTo>
                  <a:pt x="14" y="1125"/>
                  <a:pt x="1" y="1164"/>
                  <a:pt x="1" y="1164"/>
                </a:cubicBezTo>
                <a:cubicBezTo>
                  <a:pt x="4" y="1217"/>
                  <a:pt x="0" y="1360"/>
                  <a:pt x="41" y="1422"/>
                </a:cubicBezTo>
                <a:cubicBezTo>
                  <a:pt x="70" y="1466"/>
                  <a:pt x="75" y="1481"/>
                  <a:pt x="111" y="1512"/>
                </a:cubicBezTo>
                <a:cubicBezTo>
                  <a:pt x="149" y="1544"/>
                  <a:pt x="195" y="1548"/>
                  <a:pt x="240" y="1561"/>
                </a:cubicBezTo>
                <a:cubicBezTo>
                  <a:pt x="355" y="1595"/>
                  <a:pt x="454" y="1612"/>
                  <a:pt x="577" y="1621"/>
                </a:cubicBezTo>
                <a:cubicBezTo>
                  <a:pt x="704" y="1615"/>
                  <a:pt x="776" y="1618"/>
                  <a:pt x="885" y="1591"/>
                </a:cubicBezTo>
                <a:cubicBezTo>
                  <a:pt x="920" y="1568"/>
                  <a:pt x="959" y="1556"/>
                  <a:pt x="985" y="1522"/>
                </a:cubicBezTo>
                <a:cubicBezTo>
                  <a:pt x="1092" y="1382"/>
                  <a:pt x="1062" y="1264"/>
                  <a:pt x="1094" y="1095"/>
                </a:cubicBezTo>
                <a:cubicBezTo>
                  <a:pt x="1112" y="1001"/>
                  <a:pt x="1147" y="912"/>
                  <a:pt x="1163" y="817"/>
                </a:cubicBezTo>
                <a:cubicBezTo>
                  <a:pt x="1158" y="760"/>
                  <a:pt x="1156" y="704"/>
                  <a:pt x="1143" y="648"/>
                </a:cubicBezTo>
                <a:cubicBezTo>
                  <a:pt x="1129" y="585"/>
                  <a:pt x="1081" y="518"/>
                  <a:pt x="1054" y="459"/>
                </a:cubicBezTo>
                <a:cubicBezTo>
                  <a:pt x="1006" y="353"/>
                  <a:pt x="1059" y="438"/>
                  <a:pt x="1014" y="370"/>
                </a:cubicBezTo>
                <a:cubicBezTo>
                  <a:pt x="1001" y="317"/>
                  <a:pt x="980" y="279"/>
                  <a:pt x="955" y="231"/>
                </a:cubicBezTo>
                <a:cubicBezTo>
                  <a:pt x="934" y="148"/>
                  <a:pt x="960" y="230"/>
                  <a:pt x="925" y="161"/>
                </a:cubicBezTo>
                <a:cubicBezTo>
                  <a:pt x="911" y="133"/>
                  <a:pt x="921" y="125"/>
                  <a:pt x="895" y="102"/>
                </a:cubicBezTo>
                <a:cubicBezTo>
                  <a:pt x="830" y="45"/>
                  <a:pt x="760" y="43"/>
                  <a:pt x="677" y="32"/>
                </a:cubicBezTo>
                <a:cubicBezTo>
                  <a:pt x="493" y="42"/>
                  <a:pt x="540" y="0"/>
                  <a:pt x="488" y="52"/>
                </a:cubicBezTo>
                <a:close/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54028" name="Freeform 12"/>
          <p:cNvSpPr/>
          <p:nvPr/>
        </p:nvSpPr>
        <p:spPr bwMode="auto">
          <a:xfrm>
            <a:off x="7308850" y="2295525"/>
            <a:ext cx="1846263" cy="2573338"/>
          </a:xfrm>
          <a:custGeom>
            <a:avLst/>
            <a:gdLst/>
            <a:ahLst/>
            <a:cxnLst>
              <a:cxn ang="0">
                <a:pos x="488" y="52"/>
              </a:cxn>
              <a:cxn ang="0">
                <a:pos x="279" y="449"/>
              </a:cxn>
              <a:cxn ang="0">
                <a:pos x="210" y="608"/>
              </a:cxn>
              <a:cxn ang="0">
                <a:pos x="180" y="678"/>
              </a:cxn>
              <a:cxn ang="0">
                <a:pos x="140" y="767"/>
              </a:cxn>
              <a:cxn ang="0">
                <a:pos x="111" y="836"/>
              </a:cxn>
              <a:cxn ang="0">
                <a:pos x="51" y="1015"/>
              </a:cxn>
              <a:cxn ang="0">
                <a:pos x="21" y="1105"/>
              </a:cxn>
              <a:cxn ang="0">
                <a:pos x="1" y="1164"/>
              </a:cxn>
              <a:cxn ang="0">
                <a:pos x="41" y="1422"/>
              </a:cxn>
              <a:cxn ang="0">
                <a:pos x="111" y="1512"/>
              </a:cxn>
              <a:cxn ang="0">
                <a:pos x="240" y="1561"/>
              </a:cxn>
              <a:cxn ang="0">
                <a:pos x="577" y="1621"/>
              </a:cxn>
              <a:cxn ang="0">
                <a:pos x="885" y="1591"/>
              </a:cxn>
              <a:cxn ang="0">
                <a:pos x="985" y="1522"/>
              </a:cxn>
              <a:cxn ang="0">
                <a:pos x="1094" y="1095"/>
              </a:cxn>
              <a:cxn ang="0">
                <a:pos x="1163" y="817"/>
              </a:cxn>
              <a:cxn ang="0">
                <a:pos x="1143" y="648"/>
              </a:cxn>
              <a:cxn ang="0">
                <a:pos x="1054" y="459"/>
              </a:cxn>
              <a:cxn ang="0">
                <a:pos x="1014" y="370"/>
              </a:cxn>
              <a:cxn ang="0">
                <a:pos x="955" y="231"/>
              </a:cxn>
              <a:cxn ang="0">
                <a:pos x="925" y="161"/>
              </a:cxn>
              <a:cxn ang="0">
                <a:pos x="895" y="102"/>
              </a:cxn>
              <a:cxn ang="0">
                <a:pos x="677" y="32"/>
              </a:cxn>
              <a:cxn ang="0">
                <a:pos x="488" y="52"/>
              </a:cxn>
            </a:cxnLst>
            <a:rect l="0" t="0" r="r" b="b"/>
            <a:pathLst>
              <a:path w="1163" h="1621">
                <a:moveTo>
                  <a:pt x="488" y="52"/>
                </a:moveTo>
                <a:cubicBezTo>
                  <a:pt x="385" y="155"/>
                  <a:pt x="343" y="321"/>
                  <a:pt x="279" y="449"/>
                </a:cubicBezTo>
                <a:cubicBezTo>
                  <a:pt x="253" y="501"/>
                  <a:pt x="243" y="558"/>
                  <a:pt x="210" y="608"/>
                </a:cubicBezTo>
                <a:cubicBezTo>
                  <a:pt x="184" y="711"/>
                  <a:pt x="219" y="591"/>
                  <a:pt x="180" y="678"/>
                </a:cubicBezTo>
                <a:cubicBezTo>
                  <a:pt x="132" y="784"/>
                  <a:pt x="185" y="699"/>
                  <a:pt x="140" y="767"/>
                </a:cubicBezTo>
                <a:cubicBezTo>
                  <a:pt x="113" y="874"/>
                  <a:pt x="149" y="749"/>
                  <a:pt x="111" y="836"/>
                </a:cubicBezTo>
                <a:cubicBezTo>
                  <a:pt x="86" y="892"/>
                  <a:pt x="71" y="956"/>
                  <a:pt x="51" y="1015"/>
                </a:cubicBezTo>
                <a:cubicBezTo>
                  <a:pt x="41" y="1045"/>
                  <a:pt x="31" y="1075"/>
                  <a:pt x="21" y="1105"/>
                </a:cubicBezTo>
                <a:cubicBezTo>
                  <a:pt x="14" y="1125"/>
                  <a:pt x="1" y="1164"/>
                  <a:pt x="1" y="1164"/>
                </a:cubicBezTo>
                <a:cubicBezTo>
                  <a:pt x="4" y="1217"/>
                  <a:pt x="0" y="1360"/>
                  <a:pt x="41" y="1422"/>
                </a:cubicBezTo>
                <a:cubicBezTo>
                  <a:pt x="70" y="1466"/>
                  <a:pt x="75" y="1481"/>
                  <a:pt x="111" y="1512"/>
                </a:cubicBezTo>
                <a:cubicBezTo>
                  <a:pt x="149" y="1544"/>
                  <a:pt x="195" y="1548"/>
                  <a:pt x="240" y="1561"/>
                </a:cubicBezTo>
                <a:cubicBezTo>
                  <a:pt x="355" y="1595"/>
                  <a:pt x="454" y="1612"/>
                  <a:pt x="577" y="1621"/>
                </a:cubicBezTo>
                <a:cubicBezTo>
                  <a:pt x="704" y="1615"/>
                  <a:pt x="776" y="1618"/>
                  <a:pt x="885" y="1591"/>
                </a:cubicBezTo>
                <a:cubicBezTo>
                  <a:pt x="920" y="1568"/>
                  <a:pt x="959" y="1556"/>
                  <a:pt x="985" y="1522"/>
                </a:cubicBezTo>
                <a:cubicBezTo>
                  <a:pt x="1092" y="1382"/>
                  <a:pt x="1062" y="1264"/>
                  <a:pt x="1094" y="1095"/>
                </a:cubicBezTo>
                <a:cubicBezTo>
                  <a:pt x="1112" y="1001"/>
                  <a:pt x="1147" y="912"/>
                  <a:pt x="1163" y="817"/>
                </a:cubicBezTo>
                <a:cubicBezTo>
                  <a:pt x="1158" y="760"/>
                  <a:pt x="1156" y="704"/>
                  <a:pt x="1143" y="648"/>
                </a:cubicBezTo>
                <a:cubicBezTo>
                  <a:pt x="1129" y="585"/>
                  <a:pt x="1081" y="518"/>
                  <a:pt x="1054" y="459"/>
                </a:cubicBezTo>
                <a:cubicBezTo>
                  <a:pt x="1006" y="353"/>
                  <a:pt x="1059" y="438"/>
                  <a:pt x="1014" y="370"/>
                </a:cubicBezTo>
                <a:cubicBezTo>
                  <a:pt x="1001" y="317"/>
                  <a:pt x="980" y="279"/>
                  <a:pt x="955" y="231"/>
                </a:cubicBezTo>
                <a:cubicBezTo>
                  <a:pt x="934" y="148"/>
                  <a:pt x="960" y="230"/>
                  <a:pt x="925" y="161"/>
                </a:cubicBezTo>
                <a:cubicBezTo>
                  <a:pt x="911" y="133"/>
                  <a:pt x="921" y="125"/>
                  <a:pt x="895" y="102"/>
                </a:cubicBezTo>
                <a:cubicBezTo>
                  <a:pt x="830" y="45"/>
                  <a:pt x="760" y="43"/>
                  <a:pt x="677" y="32"/>
                </a:cubicBezTo>
                <a:cubicBezTo>
                  <a:pt x="493" y="42"/>
                  <a:pt x="540" y="0"/>
                  <a:pt x="488" y="52"/>
                </a:cubicBezTo>
                <a:close/>
              </a:path>
            </a:pathLst>
          </a:custGeom>
          <a:noFill/>
          <a:ln w="9525" cap="flat" cmpd="sng">
            <a:solidFill>
              <a:schemeClr val="hlink"/>
            </a:solidFill>
            <a:prstDash val="solid"/>
            <a:round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1754" name="文本框 1"/>
          <p:cNvSpPr txBox="1"/>
          <p:nvPr/>
        </p:nvSpPr>
        <p:spPr>
          <a:xfrm>
            <a:off x="663575" y="5230813"/>
            <a:ext cx="7881938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Verdana" panose="020B0604030504040204" pitchFamily="34" charset="0"/>
              </a:rPr>
              <a:t>利用有向无环图，可以实现对相同子式的共享，从而节省存储空间。</a:t>
            </a: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7.5 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有向无环图及其应用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73091" name="Rectangle 3"/>
          <p:cNvSpPr>
            <a:spLocks noGrp="1" noChangeArrowheads="1"/>
          </p:cNvSpPr>
          <p:nvPr>
            <p:ph idx="1"/>
          </p:nvPr>
        </p:nvSpPr>
        <p:spPr>
          <a:xfrm>
            <a:off x="574675" y="1752600"/>
            <a:ext cx="8143875" cy="11715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有向无环图也是描述一项工程或系统的进行过程的有效工具。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下面来学习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AOV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网的概念（一种有向无环图的应用示例。）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692150"/>
            <a:ext cx="7112000" cy="762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AOV</a:t>
            </a: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网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476163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773238"/>
            <a:ext cx="7920038" cy="42481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计划、施工过程、生产流程、程序流程等都是“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工程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”。除了很小的工程外，一般都把工程分为若干个叫做“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活动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”的子工程。完成了这些活动，这个工程就可以完成了。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例如，计算机专业学生的学习就是一个工程，每一门课程的学习就是整个工程的一些活动。其中一些课程要求有先修课程，另一些则不要求。这样在有的课程之间有先后关系，有的课程可以并行地学习。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可以用有向图表示一个工程。在这种有向图中，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用顶点表示活动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，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用有向边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&lt;</a:t>
            </a:r>
            <a:r>
              <a:rPr kumimoji="1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Vi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, </a:t>
            </a:r>
            <a:r>
              <a:rPr kumimoji="1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Vj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&gt;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表示活动的前后次序。</a:t>
            </a:r>
            <a:r>
              <a:rPr kumimoji="1" lang="en-US" altLang="zh-CN" sz="24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Vi 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必须先于活动</a:t>
            </a:r>
            <a:r>
              <a:rPr kumimoji="1" lang="en-US" altLang="zh-CN" sz="24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Vj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进行。这种有向图叫做顶点表示活动的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AOV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网络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(Activity  On  Vertices)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77186" name="Text Box 2"/>
          <p:cNvSpPr txBox="1">
            <a:spLocks noChangeArrowheads="1"/>
          </p:cNvSpPr>
          <p:nvPr/>
        </p:nvSpPr>
        <p:spPr bwMode="auto">
          <a:xfrm>
            <a:off x="488950" y="1198563"/>
            <a:ext cx="8285163" cy="4921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en-US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                   </a:t>
            </a:r>
            <a:r>
              <a: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高等数学</a:t>
            </a:r>
            <a:endParaRPr kumimoji="1" lang="zh-CN" altLang="en-US" sz="320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               </a:t>
            </a:r>
            <a:r>
              <a: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程序设计基础</a:t>
            </a:r>
            <a:endParaRPr kumimoji="1" lang="zh-CN" altLang="en-US" sz="320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3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                   </a:t>
            </a:r>
            <a:r>
              <a: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离散数学                   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,  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</a:t>
            </a:r>
            <a:endParaRPr kumimoji="1" lang="en-US" altLang="zh-CN" sz="320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4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                   </a:t>
            </a:r>
            <a:r>
              <a: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数据结构                   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3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,  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2</a:t>
            </a:r>
            <a:endParaRPr kumimoji="1" lang="en-US" altLang="zh-CN" sz="320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5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           </a:t>
            </a:r>
            <a:r>
              <a: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高级语言程序设计           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2</a:t>
            </a:r>
            <a:endParaRPr kumimoji="1" lang="en-US" altLang="zh-CN" sz="320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6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                   </a:t>
            </a:r>
            <a:r>
              <a: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编译方法                   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5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,  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4</a:t>
            </a:r>
            <a:endParaRPr kumimoji="1" lang="en-US" altLang="zh-CN" sz="320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7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                   </a:t>
            </a:r>
            <a:r>
              <a: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操作系统                   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4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,  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9</a:t>
            </a:r>
            <a:endParaRPr kumimoji="1" lang="en-US" altLang="zh-CN" sz="320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8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                   </a:t>
            </a:r>
            <a:r>
              <a: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普通物理                   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1</a:t>
            </a:r>
            <a:endParaRPr kumimoji="1" lang="en-US" altLang="zh-CN" sz="320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9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                  </a:t>
            </a:r>
            <a:r>
              <a:rPr kumimoji="1" lang="zh-CN" altLang="en-US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计算机原理                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en-US" altLang="zh-CN" sz="32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8</a:t>
            </a:r>
            <a:r>
              <a:rPr kumimoji="1" lang="en-US" altLang="zh-CN" sz="32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 </a:t>
            </a:r>
            <a:endParaRPr kumimoji="1" lang="en-US" altLang="zh-CN" sz="320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34819" name="WordArt 3"/>
          <p:cNvSpPr>
            <a:spLocks noTextEdit="1"/>
          </p:cNvSpPr>
          <p:nvPr/>
        </p:nvSpPr>
        <p:spPr>
          <a:xfrm>
            <a:off x="609600" y="381000"/>
            <a:ext cx="1828800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200" b="1">
                <a:ln w="19050" cap="flat" cmpd="sng">
                  <a:solidFill>
                    <a:srgbClr val="99CCFF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66CC"/>
                </a:solidFill>
                <a:effectLst>
                  <a:outerShdw dist="35921" dir="2699999" algn="ctr" rotWithShape="0">
                    <a:srgbClr val="99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课程代号</a:t>
            </a:r>
            <a:endParaRPr lang="zh-CN" altLang="en-US" sz="3200" b="1">
              <a:ln w="19050" cap="flat" cmpd="sng">
                <a:solidFill>
                  <a:srgbClr val="99CCFF"/>
                </a:solidFill>
                <a:prstDash val="solid"/>
                <a:headEnd type="none" w="med" len="med"/>
                <a:tailEnd type="none" w="med" len="med"/>
              </a:ln>
              <a:solidFill>
                <a:srgbClr val="0066CC"/>
              </a:solidFill>
              <a:effectLst>
                <a:outerShdw dist="35921" dir="2699999" algn="ctr" rotWithShape="0">
                  <a:srgbClr val="99000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4820" name="WordArt 4"/>
          <p:cNvSpPr>
            <a:spLocks noTextEdit="1"/>
          </p:cNvSpPr>
          <p:nvPr/>
        </p:nvSpPr>
        <p:spPr>
          <a:xfrm>
            <a:off x="3709988" y="352425"/>
            <a:ext cx="1724025" cy="409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200" b="1">
                <a:ln w="19050" cap="flat" cmpd="sng">
                  <a:solidFill>
                    <a:srgbClr val="99CCFF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66CC"/>
                </a:solidFill>
                <a:effectLst>
                  <a:outerShdw dist="35921" dir="2699999" algn="ctr" rotWithShape="0">
                    <a:srgbClr val="99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课程名称</a:t>
            </a:r>
            <a:endParaRPr lang="zh-CN" altLang="en-US" sz="3200" b="1">
              <a:ln w="19050" cap="flat" cmpd="sng">
                <a:solidFill>
                  <a:srgbClr val="99CCFF"/>
                </a:solidFill>
                <a:prstDash val="solid"/>
                <a:headEnd type="none" w="med" len="med"/>
                <a:tailEnd type="none" w="med" len="med"/>
              </a:ln>
              <a:solidFill>
                <a:srgbClr val="0066CC"/>
              </a:solidFill>
              <a:effectLst>
                <a:outerShdw dist="35921" dir="2699999" algn="ctr" rotWithShape="0">
                  <a:srgbClr val="99000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4821" name="WordArt 5"/>
          <p:cNvSpPr>
            <a:spLocks noTextEdit="1"/>
          </p:cNvSpPr>
          <p:nvPr/>
        </p:nvSpPr>
        <p:spPr>
          <a:xfrm>
            <a:off x="7115175" y="352425"/>
            <a:ext cx="1724025" cy="409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</a:bodyPr>
          <a:p>
            <a:pPr algn="ctr"/>
            <a:r>
              <a:rPr lang="zh-CN" altLang="en-US" sz="3200" b="1">
                <a:ln w="19050" cap="flat" cmpd="sng">
                  <a:solidFill>
                    <a:srgbClr val="99CCFF"/>
                  </a:solidFill>
                  <a:prstDash val="solid"/>
                  <a:headEnd type="none" w="med" len="med"/>
                  <a:tailEnd type="none" w="med" len="med"/>
                </a:ln>
                <a:solidFill>
                  <a:srgbClr val="0066CC"/>
                </a:solidFill>
                <a:effectLst>
                  <a:outerShdw dist="35921" dir="2699999" algn="ctr" rotWithShape="0">
                    <a:srgbClr val="99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先修课程</a:t>
            </a:r>
            <a:endParaRPr lang="zh-CN" altLang="en-US" sz="3200" b="1">
              <a:ln w="19050" cap="flat" cmpd="sng">
                <a:solidFill>
                  <a:srgbClr val="99CCFF"/>
                </a:solidFill>
                <a:prstDash val="solid"/>
                <a:headEnd type="none" w="med" len="med"/>
                <a:tailEnd type="none" w="med" len="med"/>
              </a:ln>
              <a:solidFill>
                <a:srgbClr val="0066CC"/>
              </a:solidFill>
              <a:effectLst>
                <a:outerShdw dist="35921" dir="2699999" algn="ctr" rotWithShape="0">
                  <a:srgbClr val="99000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77190" name="Line 6"/>
          <p:cNvSpPr>
            <a:spLocks noChangeShapeType="1"/>
          </p:cNvSpPr>
          <p:nvPr/>
        </p:nvSpPr>
        <p:spPr bwMode="auto">
          <a:xfrm>
            <a:off x="3733800" y="838200"/>
            <a:ext cx="1676400" cy="0"/>
          </a:xfrm>
          <a:prstGeom prst="line">
            <a:avLst/>
          </a:prstGeom>
          <a:noFill/>
          <a:ln w="57150" cmpd="thinThick">
            <a:solidFill>
              <a:srgbClr val="FF0000"/>
            </a:solidFill>
            <a:rou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77191" name="Line 7"/>
          <p:cNvSpPr>
            <a:spLocks noChangeShapeType="1"/>
          </p:cNvSpPr>
          <p:nvPr/>
        </p:nvSpPr>
        <p:spPr bwMode="auto">
          <a:xfrm>
            <a:off x="685800" y="838200"/>
            <a:ext cx="1676400" cy="0"/>
          </a:xfrm>
          <a:prstGeom prst="line">
            <a:avLst/>
          </a:prstGeom>
          <a:noFill/>
          <a:ln w="57150" cmpd="thinThick">
            <a:solidFill>
              <a:srgbClr val="FF0000"/>
            </a:solidFill>
            <a:rou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77192" name="Line 8"/>
          <p:cNvSpPr>
            <a:spLocks noChangeShapeType="1"/>
          </p:cNvSpPr>
          <p:nvPr/>
        </p:nvSpPr>
        <p:spPr bwMode="auto">
          <a:xfrm>
            <a:off x="7162800" y="838200"/>
            <a:ext cx="1676400" cy="0"/>
          </a:xfrm>
          <a:prstGeom prst="line">
            <a:avLst/>
          </a:prstGeom>
          <a:noFill/>
          <a:ln w="57150" cmpd="thinThick">
            <a:solidFill>
              <a:srgbClr val="FF0000"/>
            </a:solidFill>
            <a:round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blinds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3584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609600"/>
            <a:ext cx="8534400" cy="4791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43" name="Rectangle 3"/>
          <p:cNvSpPr/>
          <p:nvPr/>
        </p:nvSpPr>
        <p:spPr>
          <a:xfrm>
            <a:off x="2514600" y="5378450"/>
            <a:ext cx="432752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solidFill>
                  <a:srgbClr val="00808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学生课程学习工程图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blinds dir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9239" name="Rectangle 7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AOV</a:t>
            </a: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网解决的一些疑问？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479236" name="Rectangle 4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工程能否顺利进行</a:t>
            </a: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1" lang="en-US" altLang="zh-CN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在</a:t>
            </a:r>
            <a:r>
              <a:rPr kumimoji="1" lang="en-US" altLang="zh-CN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AOV</a:t>
            </a:r>
            <a:r>
              <a: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网络中如果出现了有向环，则意味着</a:t>
            </a:r>
            <a:r>
              <a: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某项活动应以自己作为先决条件</a:t>
            </a:r>
            <a:r>
              <a: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。</a:t>
            </a: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利用拓扑排序判断是否存在有向环</a:t>
            </a: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工程完成所需最短时间</a:t>
            </a: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?</a:t>
            </a:r>
            <a:endParaRPr kumimoji="0" lang="en-US" altLang="zh-CN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求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AOE (Activity on edge)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网关键路径</a:t>
            </a: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  <p:transition>
    <p:zoom dir="in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拓扑排序（ </a:t>
            </a: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Topological Sort 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128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拓扑排序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由某个集合上的一个偏序得到该集合上的一个全序，这个操作称之为拓扑排序。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若集合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上的关系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是自反、反对称和传递的，则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上的偏序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对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上的偏序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，如果对每个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x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y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，有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xRy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或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yRx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，则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R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为全序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pic>
        <p:nvPicPr>
          <p:cNvPr id="3789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19575"/>
            <a:ext cx="5834063" cy="2349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285" name="AutoShape 5"/>
          <p:cNvSpPr>
            <a:spLocks noChangeArrowheads="1"/>
          </p:cNvSpPr>
          <p:nvPr/>
        </p:nvSpPr>
        <p:spPr bwMode="auto">
          <a:xfrm>
            <a:off x="6084888" y="4365625"/>
            <a:ext cx="3059113" cy="1584325"/>
          </a:xfrm>
          <a:prstGeom prst="cloudCallout">
            <a:avLst>
              <a:gd name="adj1" fmla="val -117306"/>
              <a:gd name="adj2" fmla="val 5810"/>
            </a:avLst>
          </a:prstGeom>
          <a:noFill/>
          <a:ln w="9525">
            <a:solidFill>
              <a:schemeClr val="accent2"/>
            </a:solidFill>
            <a:round/>
          </a:ln>
          <a:effectLst/>
        </p:spPr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人为添加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&lt;v2,v3&gt;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。由偏序得到全序。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3891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38400"/>
            <a:ext cx="8001000" cy="434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2307" name="Text Box 3"/>
          <p:cNvSpPr txBox="1">
            <a:spLocks noChangeArrowheads="1"/>
          </p:cNvSpPr>
          <p:nvPr/>
        </p:nvSpPr>
        <p:spPr bwMode="auto">
          <a:xfrm>
            <a:off x="381000" y="381000"/>
            <a:ext cx="8382000" cy="2014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例如，对学生选课工程图进行拓扑排序，得到的拓扑有序序列为</a:t>
            </a:r>
            <a:endParaRPr kumimoji="1" lang="zh-CN" altLang="en-US" sz="2800" kern="120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  <a:p>
            <a:pPr marR="0" defTabSz="914400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  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, 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, 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3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, 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4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, 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5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, 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6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, 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8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, 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9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, 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7   </a:t>
            </a: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或</a:t>
            </a:r>
            <a:br>
              <a:rPr kumimoji="1" lang="zh-CN" altLang="en-US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</a:br>
            <a:r>
              <a:rPr kumimoji="1" lang="zh-CN" altLang="en-US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  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, 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8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, 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9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, 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2 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, 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5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, 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3 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, 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4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, 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7</a:t>
            </a:r>
            <a:r>
              <a:rPr kumimoji="1" lang="en-US" altLang="zh-CN" sz="2800" kern="1200" cap="none" spc="0" normalizeH="0" baseline="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, C</a:t>
            </a:r>
            <a:r>
              <a:rPr kumimoji="1" lang="en-US" altLang="zh-CN" sz="2800" kern="1200" cap="none" spc="0" normalizeH="0" baseline="-25000" noProof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6</a:t>
            </a:r>
            <a:endParaRPr kumimoji="1" lang="en-US" altLang="zh-CN" sz="2800" kern="1200" cap="none" spc="0" normalizeH="0" baseline="-2500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2308" name="Line 4"/>
          <p:cNvSpPr>
            <a:spLocks noChangeShapeType="1"/>
          </p:cNvSpPr>
          <p:nvPr/>
        </p:nvSpPr>
        <p:spPr bwMode="auto">
          <a:xfrm flipH="1">
            <a:off x="4787900" y="5013325"/>
            <a:ext cx="720725" cy="1008063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tailEnd type="triangle" w="med" len="med"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2309" name="Freeform 5"/>
          <p:cNvSpPr/>
          <p:nvPr/>
        </p:nvSpPr>
        <p:spPr bwMode="auto">
          <a:xfrm>
            <a:off x="3563938" y="2924175"/>
            <a:ext cx="3671888" cy="2881313"/>
          </a:xfrm>
          <a:custGeom>
            <a:avLst/>
            <a:gdLst/>
            <a:ahLst/>
            <a:cxnLst>
              <a:cxn ang="0">
                <a:pos x="2313" y="1815"/>
              </a:cxn>
              <a:cxn ang="0">
                <a:pos x="1406" y="636"/>
              </a:cxn>
              <a:cxn ang="0">
                <a:pos x="0" y="0"/>
              </a:cxn>
            </a:cxnLst>
            <a:rect l="0" t="0" r="r" b="b"/>
            <a:pathLst>
              <a:path w="2313" h="1815">
                <a:moveTo>
                  <a:pt x="2313" y="1815"/>
                </a:moveTo>
                <a:cubicBezTo>
                  <a:pt x="2052" y="1376"/>
                  <a:pt x="1791" y="938"/>
                  <a:pt x="1406" y="636"/>
                </a:cubicBezTo>
                <a:cubicBezTo>
                  <a:pt x="1021" y="334"/>
                  <a:pt x="510" y="167"/>
                  <a:pt x="0" y="0"/>
                </a:cubicBezTo>
              </a:path>
            </a:pathLst>
          </a:cu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2310" name="Freeform 6"/>
          <p:cNvSpPr/>
          <p:nvPr/>
        </p:nvSpPr>
        <p:spPr bwMode="auto">
          <a:xfrm>
            <a:off x="1258888" y="2924175"/>
            <a:ext cx="3960813" cy="2449513"/>
          </a:xfrm>
          <a:custGeom>
            <a:avLst/>
            <a:gdLst/>
            <a:ahLst/>
            <a:cxnLst>
              <a:cxn ang="0">
                <a:pos x="2495" y="0"/>
              </a:cxn>
              <a:cxn ang="0">
                <a:pos x="862" y="590"/>
              </a:cxn>
              <a:cxn ang="0">
                <a:pos x="0" y="1543"/>
              </a:cxn>
            </a:cxnLst>
            <a:rect l="0" t="0" r="r" b="b"/>
            <a:pathLst>
              <a:path w="2495" h="1543">
                <a:moveTo>
                  <a:pt x="2495" y="0"/>
                </a:moveTo>
                <a:cubicBezTo>
                  <a:pt x="1886" y="166"/>
                  <a:pt x="1278" y="333"/>
                  <a:pt x="862" y="590"/>
                </a:cubicBezTo>
                <a:cubicBezTo>
                  <a:pt x="446" y="847"/>
                  <a:pt x="128" y="1377"/>
                  <a:pt x="0" y="1543"/>
                </a:cubicBezTo>
              </a:path>
            </a:pathLst>
          </a:custGeom>
          <a:noFill/>
          <a:ln w="9525" cap="flat" cmpd="sng">
            <a:solidFill>
              <a:schemeClr val="hlink"/>
            </a:solidFill>
            <a:prstDash val="dash"/>
            <a:round/>
            <a:headEnd type="none" w="med" len="med"/>
            <a:tailEnd type="triangle" w="med" len="med"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2311" name="Line 7"/>
          <p:cNvSpPr>
            <a:spLocks noChangeShapeType="1"/>
          </p:cNvSpPr>
          <p:nvPr/>
        </p:nvSpPr>
        <p:spPr bwMode="auto">
          <a:xfrm flipH="1" flipV="1">
            <a:off x="3635375" y="4581525"/>
            <a:ext cx="792163" cy="1584325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tailEnd type="triangle" w="med" len="med"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2312" name="Line 8"/>
          <p:cNvSpPr>
            <a:spLocks noChangeShapeType="1"/>
          </p:cNvSpPr>
          <p:nvPr/>
        </p:nvSpPr>
        <p:spPr bwMode="auto">
          <a:xfrm flipH="1">
            <a:off x="7164388" y="4005263"/>
            <a:ext cx="792163" cy="1728788"/>
          </a:xfrm>
          <a:prstGeom prst="line">
            <a:avLst/>
          </a:prstGeom>
          <a:noFill/>
          <a:ln w="9525">
            <a:solidFill>
              <a:schemeClr val="hlink"/>
            </a:solidFill>
            <a:prstDash val="dash"/>
            <a:round/>
            <a:tailEnd type="triangle" w="med" len="med"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2313" name="Line 9"/>
          <p:cNvSpPr>
            <a:spLocks noChangeShapeType="1"/>
          </p:cNvSpPr>
          <p:nvPr/>
        </p:nvSpPr>
        <p:spPr bwMode="auto">
          <a:xfrm>
            <a:off x="1187450" y="4005263"/>
            <a:ext cx="0" cy="12954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tailEnd type="triangle" w="med" len="med"/>
          </a:ln>
          <a:effectLst/>
        </p:spPr>
        <p:txBody>
          <a:bodyPr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checker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0262" name="Rectangle 6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检测有向环</a:t>
            </a:r>
            <a:endParaRPr kumimoji="1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0263" name="Rectangle 7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检测有向环的一种方法是对</a:t>
            </a: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AOV</a:t>
            </a: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网络构造它的拓扑有序序列</a:t>
            </a: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即将各个顶点 </a:t>
            </a: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代表各个活动</a:t>
            </a: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) </a:t>
            </a: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排列成一个线性有序的序列</a:t>
            </a: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1" lang="en-US" altLang="zh-CN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如果通过拓扑排序能将</a:t>
            </a: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AOV</a:t>
            </a: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网络的所有顶点都排入一个拓扑有序的序列中，则该</a:t>
            </a: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AOV</a:t>
            </a: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网络中必定不会出现有向环</a:t>
            </a: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相反，如果得不到满足要求的拓扑有序序列，则说明</a:t>
            </a: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AOV</a:t>
            </a: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网络中存在有向环，此</a:t>
            </a: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AOV</a:t>
            </a: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网络所代表的工程是不可行的。</a:t>
            </a: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拓扑排序有什么用？</a:t>
            </a:r>
            <a:endParaRPr kumimoji="0" lang="zh-CN" altLang="en-US" sz="38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一道</a:t>
            </a:r>
            <a:r>
              <a:rPr kumimoji="0" lang="en-US" altLang="zh-CN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ACM</a:t>
            </a: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（国际大学生程序设计竞赛）题目</a:t>
            </a:r>
            <a:endParaRPr kumimoji="0" lang="zh-CN" altLang="en-US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N个比赛队（1&lt;=N&lt;=500），编号依次为1，2，3，。。。。，N进行比赛，比赛结束后，裁判委员会要将所有参赛队伍从前往后依次排名，但现在裁判委员会不能直接获得每个队的比赛成绩，只知道每场比赛的结果，即P1赢P2，用P1，P2表示，排名时P1在P2之前。现在请你编程序确定排名。</a:t>
            </a:r>
            <a:endParaRPr kumimoji="0" lang="zh-CN" altLang="en-US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拓扑排序方法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83334" name="Rectangle 6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AOV</a:t>
            </a: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网络中选一个没有直接前驱的顶点（即此顶点入度为</a:t>
            </a: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并输出之；</a:t>
            </a: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从图中删去该顶点</a:t>
            </a: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同时删去所有它发出的有向边</a:t>
            </a: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1" lang="en-US" altLang="zh-CN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重复以上两步</a:t>
            </a:r>
            <a:r>
              <a:rPr kumimoji="1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1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直到</a:t>
            </a:r>
            <a:endParaRPr kumimoji="1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 全部顶点均已输出；或</a:t>
            </a: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再也找不到没有前驱的顶点。这说明图中还剩下一些顶点，它们都有直接前驱，这时</a:t>
            </a:r>
            <a:r>
              <a:rPr kumimoji="1" lang="en-US" altLang="zh-CN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AOV</a:t>
            </a:r>
            <a:r>
              <a:rPr kumimoji="1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网络中必定存在有向环。</a:t>
            </a:r>
            <a:endParaRPr kumimoji="1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44034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1765300"/>
            <a:ext cx="8928100" cy="309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5383" name="Oval 7"/>
          <p:cNvSpPr>
            <a:spLocks noChangeArrowheads="1"/>
          </p:cNvSpPr>
          <p:nvPr/>
        </p:nvSpPr>
        <p:spPr bwMode="auto">
          <a:xfrm>
            <a:off x="2008188" y="1814513"/>
            <a:ext cx="900113" cy="720725"/>
          </a:xfrm>
          <a:prstGeom prst="ellipse">
            <a:avLst/>
          </a:prstGeom>
          <a:noFill/>
          <a:ln w="38100" algn="ctr">
            <a:solidFill>
              <a:schemeClr val="accent2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5381" name="Oval 5"/>
          <p:cNvSpPr>
            <a:spLocks noChangeArrowheads="1"/>
          </p:cNvSpPr>
          <p:nvPr/>
        </p:nvSpPr>
        <p:spPr bwMode="auto">
          <a:xfrm>
            <a:off x="39688" y="3676650"/>
            <a:ext cx="900113" cy="720725"/>
          </a:xfrm>
          <a:prstGeom prst="ellipse">
            <a:avLst/>
          </a:prstGeom>
          <a:noFill/>
          <a:ln w="38100" algn="ctr">
            <a:solidFill>
              <a:schemeClr val="accent2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5384" name="Oval 8"/>
          <p:cNvSpPr>
            <a:spLocks noChangeArrowheads="1"/>
          </p:cNvSpPr>
          <p:nvPr/>
        </p:nvSpPr>
        <p:spPr bwMode="auto">
          <a:xfrm>
            <a:off x="3903663" y="2724150"/>
            <a:ext cx="900113" cy="720725"/>
          </a:xfrm>
          <a:prstGeom prst="ellipse">
            <a:avLst/>
          </a:prstGeom>
          <a:noFill/>
          <a:ln w="38100" algn="ctr">
            <a:solidFill>
              <a:schemeClr val="accent2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5385" name="Oval 9"/>
          <p:cNvSpPr>
            <a:spLocks noChangeArrowheads="1"/>
          </p:cNvSpPr>
          <p:nvPr/>
        </p:nvSpPr>
        <p:spPr bwMode="auto">
          <a:xfrm>
            <a:off x="6034088" y="2768600"/>
            <a:ext cx="900113" cy="720725"/>
          </a:xfrm>
          <a:prstGeom prst="ellipse">
            <a:avLst/>
          </a:prstGeom>
          <a:noFill/>
          <a:ln w="38100" algn="ctr">
            <a:solidFill>
              <a:schemeClr val="accent2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5386" name="Oval 10"/>
          <p:cNvSpPr>
            <a:spLocks noChangeArrowheads="1"/>
          </p:cNvSpPr>
          <p:nvPr/>
        </p:nvSpPr>
        <p:spPr bwMode="auto">
          <a:xfrm>
            <a:off x="7191375" y="1854200"/>
            <a:ext cx="900113" cy="720725"/>
          </a:xfrm>
          <a:prstGeom prst="ellipse">
            <a:avLst/>
          </a:prstGeom>
          <a:noFill/>
          <a:ln w="38100" algn="ctr">
            <a:solidFill>
              <a:schemeClr val="accent2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5387" name="Oval 11"/>
          <p:cNvSpPr>
            <a:spLocks noChangeArrowheads="1"/>
          </p:cNvSpPr>
          <p:nvPr/>
        </p:nvSpPr>
        <p:spPr bwMode="auto">
          <a:xfrm>
            <a:off x="8196263" y="3676650"/>
            <a:ext cx="900113" cy="720725"/>
          </a:xfrm>
          <a:prstGeom prst="ellipse">
            <a:avLst/>
          </a:prstGeom>
          <a:noFill/>
          <a:ln w="38100" algn="ctr">
            <a:solidFill>
              <a:schemeClr val="accent2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86402" name="Oval 2"/>
          <p:cNvSpPr>
            <a:spLocks noChangeArrowheads="1"/>
          </p:cNvSpPr>
          <p:nvPr/>
        </p:nvSpPr>
        <p:spPr bwMode="auto">
          <a:xfrm>
            <a:off x="1558925" y="1676400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03" name="Oval 3"/>
          <p:cNvSpPr>
            <a:spLocks noChangeArrowheads="1"/>
          </p:cNvSpPr>
          <p:nvPr/>
        </p:nvSpPr>
        <p:spPr bwMode="auto">
          <a:xfrm>
            <a:off x="2473325" y="1676400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04" name="Oval 4"/>
          <p:cNvSpPr>
            <a:spLocks noChangeArrowheads="1"/>
          </p:cNvSpPr>
          <p:nvPr/>
        </p:nvSpPr>
        <p:spPr bwMode="auto">
          <a:xfrm>
            <a:off x="1558925" y="2743200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05" name="Oval 5"/>
          <p:cNvSpPr>
            <a:spLocks noChangeArrowheads="1"/>
          </p:cNvSpPr>
          <p:nvPr/>
        </p:nvSpPr>
        <p:spPr bwMode="auto">
          <a:xfrm>
            <a:off x="2473325" y="2743200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06" name="Oval 6"/>
          <p:cNvSpPr>
            <a:spLocks noChangeArrowheads="1"/>
          </p:cNvSpPr>
          <p:nvPr/>
        </p:nvSpPr>
        <p:spPr bwMode="auto">
          <a:xfrm>
            <a:off x="1558925" y="3810000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07" name="Oval 7"/>
          <p:cNvSpPr>
            <a:spLocks noChangeArrowheads="1"/>
          </p:cNvSpPr>
          <p:nvPr/>
        </p:nvSpPr>
        <p:spPr bwMode="auto">
          <a:xfrm>
            <a:off x="2473325" y="3810000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08" name="Line 8"/>
          <p:cNvSpPr>
            <a:spLocks noChangeShapeType="1"/>
          </p:cNvSpPr>
          <p:nvPr/>
        </p:nvSpPr>
        <p:spPr bwMode="auto">
          <a:xfrm>
            <a:off x="1711325" y="175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09" name="Line 9"/>
          <p:cNvSpPr>
            <a:spLocks noChangeShapeType="1"/>
          </p:cNvSpPr>
          <p:nvPr/>
        </p:nvSpPr>
        <p:spPr bwMode="auto">
          <a:xfrm>
            <a:off x="1711325" y="3886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10" name="Line 10"/>
          <p:cNvSpPr>
            <a:spLocks noChangeShapeType="1"/>
          </p:cNvSpPr>
          <p:nvPr/>
        </p:nvSpPr>
        <p:spPr bwMode="auto">
          <a:xfrm>
            <a:off x="1635125" y="18288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11" name="Line 11"/>
          <p:cNvSpPr>
            <a:spLocks noChangeShapeType="1"/>
          </p:cNvSpPr>
          <p:nvPr/>
        </p:nvSpPr>
        <p:spPr bwMode="auto">
          <a:xfrm>
            <a:off x="2549525" y="28956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12" name="Line 12"/>
          <p:cNvSpPr>
            <a:spLocks noChangeShapeType="1"/>
          </p:cNvSpPr>
          <p:nvPr/>
        </p:nvSpPr>
        <p:spPr bwMode="auto">
          <a:xfrm flipV="1">
            <a:off x="2549525" y="18288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13" name="Line 13"/>
          <p:cNvSpPr>
            <a:spLocks noChangeShapeType="1"/>
          </p:cNvSpPr>
          <p:nvPr/>
        </p:nvSpPr>
        <p:spPr bwMode="auto">
          <a:xfrm flipV="1">
            <a:off x="1635125" y="28956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14" name="Line 14"/>
          <p:cNvSpPr>
            <a:spLocks noChangeShapeType="1"/>
          </p:cNvSpPr>
          <p:nvPr/>
        </p:nvSpPr>
        <p:spPr bwMode="auto">
          <a:xfrm>
            <a:off x="1711325" y="1828800"/>
            <a:ext cx="7620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15" name="Line 15"/>
          <p:cNvSpPr>
            <a:spLocks noChangeShapeType="1"/>
          </p:cNvSpPr>
          <p:nvPr/>
        </p:nvSpPr>
        <p:spPr bwMode="auto">
          <a:xfrm>
            <a:off x="1711325" y="2819400"/>
            <a:ext cx="7620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5072" name="Text Box 16"/>
          <p:cNvSpPr txBox="1"/>
          <p:nvPr/>
        </p:nvSpPr>
        <p:spPr>
          <a:xfrm>
            <a:off x="1939925" y="4191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a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6417" name="Oval 17"/>
          <p:cNvSpPr>
            <a:spLocks noChangeArrowheads="1"/>
          </p:cNvSpPr>
          <p:nvPr/>
        </p:nvSpPr>
        <p:spPr bwMode="auto">
          <a:xfrm>
            <a:off x="3997325" y="1676400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18" name="Oval 18"/>
          <p:cNvSpPr>
            <a:spLocks noChangeArrowheads="1"/>
          </p:cNvSpPr>
          <p:nvPr/>
        </p:nvSpPr>
        <p:spPr bwMode="auto">
          <a:xfrm>
            <a:off x="3082925" y="2743200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19" name="Oval 19"/>
          <p:cNvSpPr>
            <a:spLocks noChangeArrowheads="1"/>
          </p:cNvSpPr>
          <p:nvPr/>
        </p:nvSpPr>
        <p:spPr bwMode="auto">
          <a:xfrm>
            <a:off x="3997325" y="2743200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20" name="Oval 20"/>
          <p:cNvSpPr>
            <a:spLocks noChangeArrowheads="1"/>
          </p:cNvSpPr>
          <p:nvPr/>
        </p:nvSpPr>
        <p:spPr bwMode="auto">
          <a:xfrm>
            <a:off x="3082925" y="3810000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21" name="Oval 21"/>
          <p:cNvSpPr>
            <a:spLocks noChangeArrowheads="1"/>
          </p:cNvSpPr>
          <p:nvPr/>
        </p:nvSpPr>
        <p:spPr bwMode="auto">
          <a:xfrm>
            <a:off x="3997325" y="3810000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22" name="Line 22"/>
          <p:cNvSpPr>
            <a:spLocks noChangeShapeType="1"/>
          </p:cNvSpPr>
          <p:nvPr/>
        </p:nvSpPr>
        <p:spPr bwMode="auto">
          <a:xfrm>
            <a:off x="3235325" y="3886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23" name="Line 23"/>
          <p:cNvSpPr>
            <a:spLocks noChangeShapeType="1"/>
          </p:cNvSpPr>
          <p:nvPr/>
        </p:nvSpPr>
        <p:spPr bwMode="auto">
          <a:xfrm>
            <a:off x="4073525" y="28956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24" name="Line 24"/>
          <p:cNvSpPr>
            <a:spLocks noChangeShapeType="1"/>
          </p:cNvSpPr>
          <p:nvPr/>
        </p:nvSpPr>
        <p:spPr bwMode="auto">
          <a:xfrm flipV="1">
            <a:off x="4073525" y="18288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25" name="Line 25"/>
          <p:cNvSpPr>
            <a:spLocks noChangeShapeType="1"/>
          </p:cNvSpPr>
          <p:nvPr/>
        </p:nvSpPr>
        <p:spPr bwMode="auto">
          <a:xfrm flipV="1">
            <a:off x="3159125" y="28956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26" name="Line 26"/>
          <p:cNvSpPr>
            <a:spLocks noChangeShapeType="1"/>
          </p:cNvSpPr>
          <p:nvPr/>
        </p:nvSpPr>
        <p:spPr bwMode="auto">
          <a:xfrm>
            <a:off x="3235325" y="2819400"/>
            <a:ext cx="7620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5083" name="Text Box 27"/>
          <p:cNvSpPr txBox="1"/>
          <p:nvPr/>
        </p:nvSpPr>
        <p:spPr>
          <a:xfrm>
            <a:off x="3463925" y="4191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84" name="Text Box 35"/>
          <p:cNvSpPr txBox="1"/>
          <p:nvPr/>
        </p:nvSpPr>
        <p:spPr>
          <a:xfrm>
            <a:off x="5140325" y="4191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c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85" name="Text Box 41"/>
          <p:cNvSpPr txBox="1"/>
          <p:nvPr/>
        </p:nvSpPr>
        <p:spPr>
          <a:xfrm>
            <a:off x="6664325" y="4191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d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6453" name="Oval 53"/>
          <p:cNvSpPr>
            <a:spLocks noChangeArrowheads="1"/>
          </p:cNvSpPr>
          <p:nvPr/>
        </p:nvSpPr>
        <p:spPr bwMode="auto">
          <a:xfrm>
            <a:off x="1330325" y="1447800"/>
            <a:ext cx="609600" cy="609600"/>
          </a:xfrm>
          <a:prstGeom prst="ellipse">
            <a:avLst/>
          </a:prstGeom>
          <a:noFill/>
          <a:ln w="28575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54" name="Oval 54"/>
          <p:cNvSpPr>
            <a:spLocks noChangeArrowheads="1"/>
          </p:cNvSpPr>
          <p:nvPr/>
        </p:nvSpPr>
        <p:spPr bwMode="auto">
          <a:xfrm>
            <a:off x="3802063" y="2492375"/>
            <a:ext cx="609600" cy="609600"/>
          </a:xfrm>
          <a:prstGeom prst="ellipse">
            <a:avLst/>
          </a:prstGeom>
          <a:noFill/>
          <a:ln w="28575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57" name="Oval 57"/>
          <p:cNvSpPr>
            <a:spLocks noChangeArrowheads="1"/>
          </p:cNvSpPr>
          <p:nvPr/>
        </p:nvSpPr>
        <p:spPr bwMode="auto">
          <a:xfrm>
            <a:off x="6826250" y="2349500"/>
            <a:ext cx="609600" cy="609600"/>
          </a:xfrm>
          <a:prstGeom prst="ellipse">
            <a:avLst/>
          </a:prstGeom>
          <a:noFill/>
          <a:ln w="28575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？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58" name="Oval 58"/>
          <p:cNvSpPr>
            <a:spLocks noChangeArrowheads="1"/>
          </p:cNvSpPr>
          <p:nvPr/>
        </p:nvSpPr>
        <p:spPr bwMode="auto">
          <a:xfrm>
            <a:off x="5597525" y="1778000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59" name="Oval 59"/>
          <p:cNvSpPr>
            <a:spLocks noChangeArrowheads="1"/>
          </p:cNvSpPr>
          <p:nvPr/>
        </p:nvSpPr>
        <p:spPr bwMode="auto">
          <a:xfrm>
            <a:off x="4683125" y="2844800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61" name="Oval 61"/>
          <p:cNvSpPr>
            <a:spLocks noChangeArrowheads="1"/>
          </p:cNvSpPr>
          <p:nvPr/>
        </p:nvSpPr>
        <p:spPr bwMode="auto">
          <a:xfrm>
            <a:off x="4683125" y="3911600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62" name="Oval 62"/>
          <p:cNvSpPr>
            <a:spLocks noChangeArrowheads="1"/>
          </p:cNvSpPr>
          <p:nvPr/>
        </p:nvSpPr>
        <p:spPr bwMode="auto">
          <a:xfrm>
            <a:off x="5597525" y="3911600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63" name="Line 63"/>
          <p:cNvSpPr>
            <a:spLocks noChangeShapeType="1"/>
          </p:cNvSpPr>
          <p:nvPr/>
        </p:nvSpPr>
        <p:spPr bwMode="auto">
          <a:xfrm>
            <a:off x="4835525" y="3987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66" name="Line 66"/>
          <p:cNvSpPr>
            <a:spLocks noChangeShapeType="1"/>
          </p:cNvSpPr>
          <p:nvPr/>
        </p:nvSpPr>
        <p:spPr bwMode="auto">
          <a:xfrm flipV="1">
            <a:off x="4759325" y="29972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67" name="Line 67"/>
          <p:cNvSpPr>
            <a:spLocks noChangeShapeType="1"/>
          </p:cNvSpPr>
          <p:nvPr/>
        </p:nvSpPr>
        <p:spPr bwMode="auto">
          <a:xfrm>
            <a:off x="4835525" y="2921000"/>
            <a:ext cx="7620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68" name="Oval 68"/>
          <p:cNvSpPr>
            <a:spLocks noChangeArrowheads="1"/>
          </p:cNvSpPr>
          <p:nvPr/>
        </p:nvSpPr>
        <p:spPr bwMode="auto">
          <a:xfrm>
            <a:off x="5386388" y="1557338"/>
            <a:ext cx="609600" cy="609600"/>
          </a:xfrm>
          <a:prstGeom prst="ellipse">
            <a:avLst/>
          </a:prstGeom>
          <a:noFill/>
          <a:ln w="28575">
            <a:solidFill>
              <a:srgbClr val="FF6600"/>
            </a:solidFill>
            <a:prstDash val="dash"/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69" name="Oval 69"/>
          <p:cNvSpPr>
            <a:spLocks noChangeArrowheads="1"/>
          </p:cNvSpPr>
          <p:nvPr/>
        </p:nvSpPr>
        <p:spPr bwMode="auto">
          <a:xfrm>
            <a:off x="6457950" y="2776538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70" name="Oval 70"/>
          <p:cNvSpPr>
            <a:spLocks noChangeArrowheads="1"/>
          </p:cNvSpPr>
          <p:nvPr/>
        </p:nvSpPr>
        <p:spPr bwMode="auto">
          <a:xfrm>
            <a:off x="6457950" y="3843338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71" name="Oval 71"/>
          <p:cNvSpPr>
            <a:spLocks noChangeArrowheads="1"/>
          </p:cNvSpPr>
          <p:nvPr/>
        </p:nvSpPr>
        <p:spPr bwMode="auto">
          <a:xfrm>
            <a:off x="7372350" y="3843338"/>
            <a:ext cx="152400" cy="1524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72" name="Line 72"/>
          <p:cNvSpPr>
            <a:spLocks noChangeShapeType="1"/>
          </p:cNvSpPr>
          <p:nvPr/>
        </p:nvSpPr>
        <p:spPr bwMode="auto">
          <a:xfrm>
            <a:off x="6610350" y="3919538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73" name="Line 73"/>
          <p:cNvSpPr>
            <a:spLocks noChangeShapeType="1"/>
          </p:cNvSpPr>
          <p:nvPr/>
        </p:nvSpPr>
        <p:spPr bwMode="auto">
          <a:xfrm flipV="1">
            <a:off x="6534150" y="2928938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6474" name="Line 74"/>
          <p:cNvSpPr>
            <a:spLocks noChangeShapeType="1"/>
          </p:cNvSpPr>
          <p:nvPr/>
        </p:nvSpPr>
        <p:spPr bwMode="auto">
          <a:xfrm>
            <a:off x="6610350" y="2852738"/>
            <a:ext cx="7620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wipe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608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13" y="2276475"/>
            <a:ext cx="4679950" cy="28971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56069" name="Rectangle 5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练习</a:t>
            </a:r>
            <a:r>
              <a:rPr kumimoji="0" lang="en-US" altLang="zh-CN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-</a:t>
            </a: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写出所有可能的拓扑序列</a:t>
            </a:r>
            <a:endParaRPr kumimoji="0" lang="zh-CN" altLang="en-US" sz="38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379906" name="表格 379905"/>
          <p:cNvGraphicFramePr/>
          <p:nvPr/>
        </p:nvGraphicFramePr>
        <p:xfrm>
          <a:off x="757238" y="2136775"/>
          <a:ext cx="3124200" cy="2927350"/>
        </p:xfrm>
        <a:graphic>
          <a:graphicData uri="http://schemas.openxmlformats.org/drawingml/2006/table">
            <a:tbl>
              <a:tblPr/>
              <a:tblGrid>
                <a:gridCol w="1077913"/>
                <a:gridCol w="1055687"/>
                <a:gridCol w="990600"/>
              </a:tblGrid>
              <a:tr h="487363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ysDash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v1</a:t>
                      </a:r>
                      <a:endParaRPr lang="en-US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57150" cap="flat" cmpd="sng">
                      <a:solidFill>
                        <a:schemeClr val="tx1"/>
                      </a:solidFill>
                      <a:prstDash val="sysDash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2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ysDash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v2</a:t>
                      </a:r>
                      <a:endParaRPr lang="en-US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57150" cap="flat" cmpd="sng">
                      <a:solidFill>
                        <a:schemeClr val="tx1"/>
                      </a:solidFill>
                      <a:prstDash val="sysDash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null</a:t>
                      </a:r>
                      <a:endParaRPr lang="en-US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ysDash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v3</a:t>
                      </a:r>
                      <a:endParaRPr lang="en-US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57150" cap="flat" cmpd="sng">
                      <a:solidFill>
                        <a:schemeClr val="tx1"/>
                      </a:solidFill>
                      <a:prstDash val="sysDash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ysDash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v4</a:t>
                      </a:r>
                      <a:endParaRPr lang="en-US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57150" cap="flat" cmpd="sng">
                      <a:solidFill>
                        <a:schemeClr val="tx1"/>
                      </a:solidFill>
                      <a:prstDash val="sysDash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2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ysDash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v5</a:t>
                      </a:r>
                      <a:endParaRPr lang="en-US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57150" cap="flat" cmpd="sng">
                      <a:solidFill>
                        <a:schemeClr val="tx1"/>
                      </a:solidFill>
                      <a:prstDash val="sysDash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null</a:t>
                      </a:r>
                      <a:endParaRPr lang="en-US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57150" cap="flat" cmpd="sng">
                      <a:solidFill>
                        <a:schemeClr val="tx1"/>
                      </a:solidFill>
                      <a:prstDash val="sysDash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600" b="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v6</a:t>
                      </a:r>
                      <a:endParaRPr lang="en-US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57150" cap="flat" cmpd="sng">
                      <a:solidFill>
                        <a:schemeClr val="tx1"/>
                      </a:solidFill>
                      <a:prstDash val="sysDash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2600" b="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7457" name="Line 33"/>
          <p:cNvSpPr>
            <a:spLocks noChangeShapeType="1"/>
          </p:cNvSpPr>
          <p:nvPr/>
        </p:nvSpPr>
        <p:spPr bwMode="auto">
          <a:xfrm>
            <a:off x="3576638" y="2365375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7458" name="Line 34"/>
          <p:cNvSpPr>
            <a:spLocks noChangeShapeType="1"/>
          </p:cNvSpPr>
          <p:nvPr/>
        </p:nvSpPr>
        <p:spPr bwMode="auto">
          <a:xfrm>
            <a:off x="3576638" y="3279775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7459" name="Line 35"/>
          <p:cNvSpPr>
            <a:spLocks noChangeShapeType="1"/>
          </p:cNvSpPr>
          <p:nvPr/>
        </p:nvSpPr>
        <p:spPr bwMode="auto">
          <a:xfrm>
            <a:off x="3576638" y="3736975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87460" name="Line 36"/>
          <p:cNvSpPr>
            <a:spLocks noChangeShapeType="1"/>
          </p:cNvSpPr>
          <p:nvPr/>
        </p:nvSpPr>
        <p:spPr bwMode="auto">
          <a:xfrm>
            <a:off x="3576638" y="4651375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47140" name="Text Box 37"/>
          <p:cNvSpPr txBox="1"/>
          <p:nvPr/>
        </p:nvSpPr>
        <p:spPr>
          <a:xfrm>
            <a:off x="4643438" y="2060575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。。。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41" name="Text Box 38"/>
          <p:cNvSpPr txBox="1"/>
          <p:nvPr/>
        </p:nvSpPr>
        <p:spPr>
          <a:xfrm>
            <a:off x="4643438" y="2974975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。。。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42" name="Text Box 39"/>
          <p:cNvSpPr txBox="1"/>
          <p:nvPr/>
        </p:nvSpPr>
        <p:spPr>
          <a:xfrm>
            <a:off x="4643438" y="3432175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。。。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43" name="Text Box 40"/>
          <p:cNvSpPr txBox="1"/>
          <p:nvPr/>
        </p:nvSpPr>
        <p:spPr>
          <a:xfrm>
            <a:off x="4643438" y="4346575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。。。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7144" name="Group 41"/>
          <p:cNvGrpSpPr/>
          <p:nvPr/>
        </p:nvGrpSpPr>
        <p:grpSpPr>
          <a:xfrm>
            <a:off x="6624638" y="2136775"/>
            <a:ext cx="1828800" cy="2728913"/>
            <a:chOff x="4080" y="2064"/>
            <a:chExt cx="1152" cy="1719"/>
          </a:xfrm>
        </p:grpSpPr>
        <p:sp>
          <p:nvSpPr>
            <p:cNvPr id="487466" name="Oval 42"/>
            <p:cNvSpPr>
              <a:spLocks noChangeArrowheads="1"/>
            </p:cNvSpPr>
            <p:nvPr/>
          </p:nvSpPr>
          <p:spPr bwMode="auto">
            <a:xfrm>
              <a:off x="4320" y="2304"/>
              <a:ext cx="96" cy="9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7467" name="Oval 43"/>
            <p:cNvSpPr>
              <a:spLocks noChangeArrowheads="1"/>
            </p:cNvSpPr>
            <p:nvPr/>
          </p:nvSpPr>
          <p:spPr bwMode="auto">
            <a:xfrm>
              <a:off x="4896" y="2304"/>
              <a:ext cx="96" cy="9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7468" name="Oval 44"/>
            <p:cNvSpPr>
              <a:spLocks noChangeArrowheads="1"/>
            </p:cNvSpPr>
            <p:nvPr/>
          </p:nvSpPr>
          <p:spPr bwMode="auto">
            <a:xfrm>
              <a:off x="4320" y="2976"/>
              <a:ext cx="96" cy="9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7469" name="Oval 45"/>
            <p:cNvSpPr>
              <a:spLocks noChangeArrowheads="1"/>
            </p:cNvSpPr>
            <p:nvPr/>
          </p:nvSpPr>
          <p:spPr bwMode="auto">
            <a:xfrm>
              <a:off x="4896" y="2976"/>
              <a:ext cx="96" cy="9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7470" name="Oval 46"/>
            <p:cNvSpPr>
              <a:spLocks noChangeArrowheads="1"/>
            </p:cNvSpPr>
            <p:nvPr/>
          </p:nvSpPr>
          <p:spPr bwMode="auto">
            <a:xfrm>
              <a:off x="4320" y="3648"/>
              <a:ext cx="96" cy="9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7471" name="Oval 47"/>
            <p:cNvSpPr>
              <a:spLocks noChangeArrowheads="1"/>
            </p:cNvSpPr>
            <p:nvPr/>
          </p:nvSpPr>
          <p:spPr bwMode="auto">
            <a:xfrm>
              <a:off x="4896" y="3648"/>
              <a:ext cx="96" cy="9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7472" name="Line 48"/>
            <p:cNvSpPr>
              <a:spLocks noChangeShapeType="1"/>
            </p:cNvSpPr>
            <p:nvPr/>
          </p:nvSpPr>
          <p:spPr bwMode="auto">
            <a:xfrm>
              <a:off x="4416" y="235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7473" name="Line 49"/>
            <p:cNvSpPr>
              <a:spLocks noChangeShapeType="1"/>
            </p:cNvSpPr>
            <p:nvPr/>
          </p:nvSpPr>
          <p:spPr bwMode="auto">
            <a:xfrm>
              <a:off x="4416" y="369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7474" name="Line 50"/>
            <p:cNvSpPr>
              <a:spLocks noChangeShapeType="1"/>
            </p:cNvSpPr>
            <p:nvPr/>
          </p:nvSpPr>
          <p:spPr bwMode="auto">
            <a:xfrm>
              <a:off x="4368" y="2400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7475" name="Line 51"/>
            <p:cNvSpPr>
              <a:spLocks noChangeShapeType="1"/>
            </p:cNvSpPr>
            <p:nvPr/>
          </p:nvSpPr>
          <p:spPr bwMode="auto">
            <a:xfrm>
              <a:off x="4944" y="307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7476" name="Line 52"/>
            <p:cNvSpPr>
              <a:spLocks noChangeShapeType="1"/>
            </p:cNvSpPr>
            <p:nvPr/>
          </p:nvSpPr>
          <p:spPr bwMode="auto">
            <a:xfrm flipV="1">
              <a:off x="4944" y="2400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7477" name="Line 53"/>
            <p:cNvSpPr>
              <a:spLocks noChangeShapeType="1"/>
            </p:cNvSpPr>
            <p:nvPr/>
          </p:nvSpPr>
          <p:spPr bwMode="auto">
            <a:xfrm flipV="1">
              <a:off x="4368" y="307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7478" name="Line 54"/>
            <p:cNvSpPr>
              <a:spLocks noChangeShapeType="1"/>
            </p:cNvSpPr>
            <p:nvPr/>
          </p:nvSpPr>
          <p:spPr bwMode="auto">
            <a:xfrm>
              <a:off x="4416" y="2400"/>
              <a:ext cx="48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87479" name="Line 55"/>
            <p:cNvSpPr>
              <a:spLocks noChangeShapeType="1"/>
            </p:cNvSpPr>
            <p:nvPr/>
          </p:nvSpPr>
          <p:spPr bwMode="auto">
            <a:xfrm>
              <a:off x="4416" y="3024"/>
              <a:ext cx="48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47161" name="Text Box 56"/>
            <p:cNvSpPr txBox="1"/>
            <p:nvPr/>
          </p:nvSpPr>
          <p:spPr>
            <a:xfrm>
              <a:off x="4080" y="2064"/>
              <a:ext cx="3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62" name="Text Box 57"/>
            <p:cNvSpPr txBox="1"/>
            <p:nvPr/>
          </p:nvSpPr>
          <p:spPr>
            <a:xfrm>
              <a:off x="4848" y="2064"/>
              <a:ext cx="3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63" name="Text Box 58"/>
            <p:cNvSpPr txBox="1"/>
            <p:nvPr/>
          </p:nvSpPr>
          <p:spPr>
            <a:xfrm>
              <a:off x="4896" y="2880"/>
              <a:ext cx="3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64" name="Text Box 59"/>
            <p:cNvSpPr txBox="1"/>
            <p:nvPr/>
          </p:nvSpPr>
          <p:spPr>
            <a:xfrm>
              <a:off x="4080" y="2880"/>
              <a:ext cx="3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65" name="Text Box 60"/>
            <p:cNvSpPr txBox="1"/>
            <p:nvPr/>
          </p:nvSpPr>
          <p:spPr>
            <a:xfrm>
              <a:off x="4896" y="3552"/>
              <a:ext cx="3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66" name="Text Box 61"/>
            <p:cNvSpPr txBox="1"/>
            <p:nvPr/>
          </p:nvSpPr>
          <p:spPr>
            <a:xfrm>
              <a:off x="4080" y="3552"/>
              <a:ext cx="3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7145" name="AutoShape 62"/>
          <p:cNvSpPr/>
          <p:nvPr/>
        </p:nvSpPr>
        <p:spPr>
          <a:xfrm>
            <a:off x="4284663" y="836613"/>
            <a:ext cx="2519362" cy="457200"/>
          </a:xfrm>
          <a:prstGeom prst="wedgeRoundRectCallout">
            <a:avLst>
              <a:gd name="adj1" fmla="val -58255"/>
              <a:gd name="adj2" fmla="val 222917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邻接表（出边表）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7503" name="Text Box 79"/>
          <p:cNvSpPr txBox="1">
            <a:spLocks noChangeArrowheads="1"/>
          </p:cNvSpPr>
          <p:nvPr/>
        </p:nvSpPr>
        <p:spPr bwMode="auto">
          <a:xfrm>
            <a:off x="128588" y="1566863"/>
            <a:ext cx="1439863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indegree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pull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D9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小结</a:t>
            </a:r>
            <a:endParaRPr kumimoji="0" lang="zh-CN" altLang="en-US" sz="38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43" name="文本框 2"/>
          <p:cNvSpPr txBox="1"/>
          <p:nvPr/>
        </p:nvSpPr>
        <p:spPr>
          <a:xfrm>
            <a:off x="186690" y="1520825"/>
            <a:ext cx="8887460" cy="4939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1. </a:t>
            </a:r>
            <a:r>
              <a:rPr kumimoji="0" lang="zh-CN" altLang="en-US" sz="24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图的连通性问题</a:t>
            </a:r>
            <a:endParaRPr kumimoji="0" lang="zh-CN" altLang="en-US" sz="24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indent="36195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用</a:t>
            </a:r>
            <a:r>
              <a:rPr kumimoji="0" lang="zh-CN" altLang="en-US" sz="1600" kern="1200" cap="none" spc="0" normalizeH="0" baseline="0" noProof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Prim</a:t>
            </a:r>
            <a:r>
              <a:rPr kumimoji="0" lang="zh-CN" altLang="en-US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求最小生成树</a:t>
            </a:r>
            <a:endParaRPr kumimoji="0" lang="zh-CN" altLang="en-US" sz="16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indent="36195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用</a:t>
            </a:r>
            <a:r>
              <a:rPr kumimoji="0" lang="zh-CN" altLang="en-US" sz="1600" kern="1200" cap="none" spc="0" normalizeH="0" baseline="0" noProof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Kruskal</a:t>
            </a:r>
            <a:r>
              <a:rPr kumimoji="0" lang="zh-CN" altLang="en-US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求最小生成树</a:t>
            </a:r>
            <a:endParaRPr kumimoji="0" lang="zh-CN" altLang="en-US" sz="16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2. </a:t>
            </a:r>
            <a:r>
              <a:rPr kumimoji="0" lang="zh-CN" altLang="en-US" sz="24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有向无环图及其应用</a:t>
            </a:r>
            <a:endParaRPr kumimoji="0" lang="en-US" altLang="zh-CN" sz="24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363220" marR="0" indent="-127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1600" kern="1200" cap="none" spc="0" normalizeH="0" baseline="0" noProof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AOV网（某个工程能不能</a:t>
            </a:r>
            <a:r>
              <a:rPr kumimoji="0" lang="zh-CN" altLang="en-US" sz="1600" kern="1200" cap="none" spc="0" normalizeH="0" baseline="0" noProof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干）：</a:t>
            </a:r>
            <a:r>
              <a:rPr kumimoji="0" lang="zh-CN" altLang="en-US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用顶点表示活动，用有向边&lt;Vi, Vj&gt;表示活动的前后次序。Vi 必须先于活动Vj进行。这种有向图叫做顶点表示活动的AOV网络。</a:t>
            </a:r>
            <a:endParaRPr kumimoji="0" lang="zh-CN" altLang="en-US" sz="16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68935" marR="0" indent="-6985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1600" kern="1200" cap="none" spc="0" normalizeH="0" baseline="0" noProof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拓扑排序：</a:t>
            </a:r>
            <a:r>
              <a:rPr kumimoji="0" lang="zh-CN" altLang="en-US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由某个集合上的一个偏序得到该集合上的一个全序，这个操作称之为拓扑排序。</a:t>
            </a:r>
            <a:endParaRPr kumimoji="0" lang="zh-CN" altLang="en-US" sz="16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68935" marR="0" indent="-6985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lang="zh-CN" altLang="en-US" sz="1600">
                <a:solidFill>
                  <a:srgbClr val="FF0000"/>
                </a:solidFill>
                <a:sym typeface="+mn-ea"/>
              </a:rPr>
              <a:t>AO</a:t>
            </a:r>
            <a:r>
              <a:rPr lang="en-US" altLang="zh-CN" sz="1600">
                <a:solidFill>
                  <a:srgbClr val="FF0000"/>
                </a:solidFill>
                <a:sym typeface="+mn-ea"/>
              </a:rPr>
              <a:t>E</a:t>
            </a:r>
            <a:r>
              <a:rPr kumimoji="0" lang="zh-CN" altLang="en-US" sz="1600" kern="1200" cap="none" spc="0" normalizeH="0" baseline="0" noProof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网（某个工程干完要多长</a:t>
            </a:r>
            <a:r>
              <a:rPr kumimoji="0" lang="zh-CN" altLang="en-US" sz="1600" kern="1200" cap="none" spc="0" normalizeH="0" baseline="0" noProof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时间）：</a:t>
            </a:r>
            <a:r>
              <a:rPr kumimoji="0" lang="zh-CN" altLang="en-US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常用有向图来描述和分析一项工程的计划和实施过程，一个工程常被分为多个小</a:t>
            </a:r>
            <a:r>
              <a:rPr kumimoji="0" lang="zh-CN" altLang="en-US" sz="1600" kern="1200" cap="none" spc="0" normalizeH="0" baseline="0" noProof="1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的</a:t>
            </a:r>
            <a:r>
              <a:rPr kumimoji="0" lang="zh-CN" altLang="en-US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子工程，这些子工程被称为活动</a:t>
            </a:r>
            <a:r>
              <a:rPr kumimoji="0" lang="en-US" altLang="zh-CN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(</a:t>
            </a:r>
            <a:r>
              <a:rPr kumimoji="0" lang="zh-CN" altLang="en-US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Activity</a:t>
            </a:r>
            <a:r>
              <a:rPr kumimoji="0" lang="en-US" altLang="zh-CN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)</a:t>
            </a:r>
            <a:r>
              <a:rPr kumimoji="0" lang="zh-CN" altLang="en-US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，在带权有向图中若以顶点表示事件，有向边表示活动，边上的权值表示该活动持续的时间，这样的图简称为AOE网。</a:t>
            </a:r>
            <a:endParaRPr kumimoji="0" lang="zh-CN" altLang="en-US" sz="16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R="0" indent="348615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endParaRPr kumimoji="0" lang="en-US" altLang="zh-CN" sz="1800" b="0" kern="1200" cap="none" spc="0" normalizeH="0" baseline="0" noProof="1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AOE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网（</a:t>
            </a: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Activity on Edge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92547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3860800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边表示活动的网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有向无环网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顶点：事件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弧：活动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权：活动持续时间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源点（开始）：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v1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汇点（结束）：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v9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V5-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活动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a4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a5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都完成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,a7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a8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可以开始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8132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4663" y="2060575"/>
            <a:ext cx="4460875" cy="30972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9154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438" y="2636838"/>
            <a:ext cx="4171950" cy="2895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AOE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网（</a:t>
            </a: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Activity on Edge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7843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4340225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完成整个工程需要的最短时间？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路径长度：路径上权值之和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※</a:t>
            </a:r>
            <a:endParaRPr kumimoji="0" lang="en-US" altLang="zh-CN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开始点和结束点之间最长路径为工程完成最短时间</a:t>
            </a: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关键路径：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最长路径</a:t>
            </a: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</p:txBody>
      </p:sp>
      <p:sp>
        <p:nvSpPr>
          <p:cNvPr id="547846" name="Freeform 6"/>
          <p:cNvSpPr/>
          <p:nvPr/>
        </p:nvSpPr>
        <p:spPr bwMode="auto">
          <a:xfrm>
            <a:off x="5214938" y="2476500"/>
            <a:ext cx="3240088" cy="1247775"/>
          </a:xfrm>
          <a:custGeom>
            <a:avLst/>
            <a:gdLst/>
            <a:ahLst/>
            <a:cxnLst>
              <a:cxn ang="0">
                <a:pos x="0" y="272"/>
              </a:cxn>
              <a:cxn ang="0">
                <a:pos x="408" y="0"/>
              </a:cxn>
              <a:cxn ang="0">
                <a:pos x="907" y="272"/>
              </a:cxn>
              <a:cxn ang="0">
                <a:pos x="1542" y="771"/>
              </a:cxn>
              <a:cxn ang="0">
                <a:pos x="2041" y="363"/>
              </a:cxn>
            </a:cxnLst>
            <a:rect l="0" t="0" r="r" b="b"/>
            <a:pathLst>
              <a:path w="2041" h="786">
                <a:moveTo>
                  <a:pt x="0" y="272"/>
                </a:moveTo>
                <a:cubicBezTo>
                  <a:pt x="128" y="136"/>
                  <a:pt x="257" y="0"/>
                  <a:pt x="408" y="0"/>
                </a:cubicBezTo>
                <a:cubicBezTo>
                  <a:pt x="559" y="0"/>
                  <a:pt x="718" y="144"/>
                  <a:pt x="907" y="272"/>
                </a:cubicBezTo>
                <a:cubicBezTo>
                  <a:pt x="1096" y="400"/>
                  <a:pt x="1353" y="756"/>
                  <a:pt x="1542" y="771"/>
                </a:cubicBezTo>
                <a:cubicBezTo>
                  <a:pt x="1731" y="786"/>
                  <a:pt x="1886" y="574"/>
                  <a:pt x="2041" y="363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关键路径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48867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577263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最早发生时间</a:t>
            </a:r>
            <a:endParaRPr kumimoji="0" lang="zh-CN" altLang="en-US" sz="19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开始点</a:t>
            </a: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+mn-ea"/>
              </a:rPr>
              <a:t>v</a:t>
            </a:r>
            <a:r>
              <a:rPr kumimoji="0" lang="en-US" altLang="zh-CN" sz="1700" b="1" i="1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+mn-ea"/>
              </a:rPr>
              <a:t>1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到事件</a:t>
            </a: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+mn-ea"/>
              </a:rPr>
              <a:t>v</a:t>
            </a:r>
            <a:r>
              <a:rPr kumimoji="0" lang="en-US" altLang="zh-CN" sz="1700" b="1" i="1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  <a:sym typeface="+mn-ea"/>
              </a:rPr>
              <a:t>i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的最长路径长度</a:t>
            </a: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,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称为事件</a:t>
            </a: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v</a:t>
            </a:r>
            <a:r>
              <a:rPr kumimoji="0" lang="en-US" altLang="zh-CN" sz="1700" b="1" i="1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i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的最早发生（开始）时间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决定了所有以该事件为尾的弧所表示的活动最早开始时间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e</a:t>
            </a: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(</a:t>
            </a: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i</a:t>
            </a: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)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：表示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活动</a:t>
            </a: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a</a:t>
            </a:r>
            <a:r>
              <a:rPr kumimoji="0" lang="en-US" altLang="zh-CN" sz="1700" b="1" i="1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i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的最早开始时间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ve</a:t>
            </a: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(</a:t>
            </a: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i</a:t>
            </a: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)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：表示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事件</a:t>
            </a: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v</a:t>
            </a:r>
            <a:r>
              <a:rPr kumimoji="0" lang="en-US" altLang="zh-CN" sz="1700" b="1" i="1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i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的最早开始时间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最晚发生时间</a:t>
            </a:r>
            <a:endParaRPr kumimoji="0" lang="zh-CN" altLang="en-US" sz="19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在不推迟工程条件下</a:t>
            </a: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,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事件的最晚开始时间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l</a:t>
            </a: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(</a:t>
            </a: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i</a:t>
            </a: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)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：表示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活动</a:t>
            </a: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a</a:t>
            </a:r>
            <a:r>
              <a:rPr kumimoji="0" lang="en-US" altLang="zh-CN" sz="1700" b="1" i="1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i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的最晚开始时间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vl</a:t>
            </a: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(</a:t>
            </a: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i</a:t>
            </a: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)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：表示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事件</a:t>
            </a: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v</a:t>
            </a:r>
            <a:r>
              <a:rPr kumimoji="0" lang="en-US" altLang="zh-CN" sz="1700" b="1" i="1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i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的最晚开始时间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en-US" altLang="zh-CN" sz="19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</a:t>
            </a:r>
            <a:r>
              <a:rPr kumimoji="0" lang="en-US" altLang="zh-CN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19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 </a:t>
            </a:r>
            <a:r>
              <a:rPr kumimoji="0" lang="zh-CN" altLang="en-US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－ </a:t>
            </a:r>
            <a:r>
              <a:rPr kumimoji="0" lang="en-US" altLang="zh-CN" sz="19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e</a:t>
            </a:r>
            <a:r>
              <a:rPr kumimoji="0" lang="en-US" altLang="zh-CN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19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 </a:t>
            </a:r>
            <a:r>
              <a:rPr kumimoji="0" lang="zh-CN" altLang="en-US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：活动</a:t>
            </a:r>
            <a:r>
              <a:rPr kumimoji="0" lang="en-US" altLang="zh-CN" sz="19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</a:t>
            </a:r>
            <a:r>
              <a:rPr kumimoji="0" lang="en-US" altLang="zh-CN" sz="1900" b="1" i="1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zh-CN" altLang="en-US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的完成时间余量</a:t>
            </a:r>
            <a:endParaRPr kumimoji="0" lang="zh-CN" altLang="en-US" sz="19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1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哪些活动是影响工程进度的关键？</a:t>
            </a:r>
            <a:endParaRPr kumimoji="0" lang="zh-CN" altLang="en-US" sz="19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l</a:t>
            </a: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(</a:t>
            </a: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i</a:t>
            </a: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) = = </a:t>
            </a: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e</a:t>
            </a: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(</a:t>
            </a:r>
            <a:r>
              <a:rPr kumimoji="0" lang="en-US" altLang="zh-CN" sz="17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i</a:t>
            </a:r>
            <a:r>
              <a:rPr kumimoji="0" lang="en-US" altLang="zh-CN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)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的活动为</a:t>
            </a: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关键活动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17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ea"/>
              </a:rPr>
              <a:t>关键路径上的活动都是关键活动</a:t>
            </a:r>
            <a:endParaRPr kumimoji="0" lang="zh-CN" altLang="en-US" sz="17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19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51204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163" y="4076700"/>
            <a:ext cx="3322637" cy="1885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52226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188913"/>
            <a:ext cx="8353425" cy="4740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9894" name="Text Box 6"/>
          <p:cNvSpPr txBox="1">
            <a:spLocks noChangeArrowheads="1"/>
          </p:cNvSpPr>
          <p:nvPr/>
        </p:nvSpPr>
        <p:spPr bwMode="auto">
          <a:xfrm>
            <a:off x="3132138" y="4740275"/>
            <a:ext cx="3744913" cy="17145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b">
            <a:spAutoFit/>
          </a:bodyPr>
          <a:lstStyle/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关键路径：</a:t>
            </a:r>
            <a:r>
              <a:rPr kumimoji="0" lang="en-US" altLang="zh-CN" sz="24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v1,v2,v5,v8,v9</a:t>
            </a:r>
            <a:endParaRPr kumimoji="0" lang="en-US" altLang="zh-CN" sz="24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长度：</a:t>
            </a:r>
            <a:r>
              <a:rPr kumimoji="0" lang="en-US" altLang="zh-CN" sz="24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18</a:t>
            </a:r>
            <a:endParaRPr kumimoji="0" lang="en-US" altLang="zh-CN" sz="24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1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活动</a:t>
            </a:r>
            <a:r>
              <a:rPr kumimoji="0" lang="en-US" altLang="zh-CN" sz="24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a6</a:t>
            </a:r>
            <a:r>
              <a:rPr kumimoji="0" lang="zh-CN" altLang="en-US" sz="24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：</a:t>
            </a:r>
            <a:r>
              <a:rPr kumimoji="0" lang="en-US" altLang="zh-CN" sz="24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e(a6)=5   l(a6)=18-(2+4+4)=8</a:t>
            </a:r>
            <a:endParaRPr kumimoji="0" lang="en-US" altLang="zh-CN" sz="24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49895" name="Oval 7"/>
          <p:cNvSpPr>
            <a:spLocks noChangeArrowheads="1"/>
          </p:cNvSpPr>
          <p:nvPr/>
        </p:nvSpPr>
        <p:spPr bwMode="auto">
          <a:xfrm>
            <a:off x="3348038" y="3644900"/>
            <a:ext cx="1079500" cy="792163"/>
          </a:xfrm>
          <a:prstGeom prst="ellipse">
            <a:avLst/>
          </a:prstGeom>
          <a:noFill/>
          <a:ln w="9525" algn="ctr">
            <a:solidFill>
              <a:schemeClr val="hlink"/>
            </a:solidFill>
            <a:round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49897" name="Freeform 9"/>
          <p:cNvSpPr/>
          <p:nvPr/>
        </p:nvSpPr>
        <p:spPr bwMode="auto">
          <a:xfrm>
            <a:off x="1860550" y="1055688"/>
            <a:ext cx="5122863" cy="1655763"/>
          </a:xfrm>
          <a:custGeom>
            <a:avLst/>
            <a:gdLst/>
            <a:ahLst/>
            <a:cxnLst>
              <a:cxn ang="0">
                <a:pos x="0" y="318"/>
              </a:cxn>
              <a:cxn ang="0">
                <a:pos x="159" y="269"/>
              </a:cxn>
              <a:cxn ang="0">
                <a:pos x="288" y="199"/>
              </a:cxn>
              <a:cxn ang="0">
                <a:pos x="318" y="169"/>
              </a:cxn>
              <a:cxn ang="0">
                <a:pos x="467" y="70"/>
              </a:cxn>
              <a:cxn ang="0">
                <a:pos x="586" y="0"/>
              </a:cxn>
              <a:cxn ang="0">
                <a:pos x="715" y="30"/>
              </a:cxn>
              <a:cxn ang="0">
                <a:pos x="774" y="70"/>
              </a:cxn>
              <a:cxn ang="0">
                <a:pos x="874" y="120"/>
              </a:cxn>
              <a:cxn ang="0">
                <a:pos x="1082" y="219"/>
              </a:cxn>
              <a:cxn ang="0">
                <a:pos x="1172" y="259"/>
              </a:cxn>
              <a:cxn ang="0">
                <a:pos x="1251" y="278"/>
              </a:cxn>
              <a:cxn ang="0">
                <a:pos x="1341" y="328"/>
              </a:cxn>
              <a:cxn ang="0">
                <a:pos x="1390" y="417"/>
              </a:cxn>
              <a:cxn ang="0">
                <a:pos x="1519" y="547"/>
              </a:cxn>
              <a:cxn ang="0">
                <a:pos x="1549" y="586"/>
              </a:cxn>
              <a:cxn ang="0">
                <a:pos x="1589" y="606"/>
              </a:cxn>
              <a:cxn ang="0">
                <a:pos x="1619" y="636"/>
              </a:cxn>
              <a:cxn ang="0">
                <a:pos x="1678" y="676"/>
              </a:cxn>
              <a:cxn ang="0">
                <a:pos x="1768" y="735"/>
              </a:cxn>
              <a:cxn ang="0">
                <a:pos x="1887" y="825"/>
              </a:cxn>
              <a:cxn ang="0">
                <a:pos x="1946" y="874"/>
              </a:cxn>
              <a:cxn ang="0">
                <a:pos x="1966" y="904"/>
              </a:cxn>
              <a:cxn ang="0">
                <a:pos x="2026" y="944"/>
              </a:cxn>
              <a:cxn ang="0">
                <a:pos x="2085" y="1003"/>
              </a:cxn>
              <a:cxn ang="0">
                <a:pos x="2185" y="1043"/>
              </a:cxn>
              <a:cxn ang="0">
                <a:pos x="2284" y="1023"/>
              </a:cxn>
              <a:cxn ang="0">
                <a:pos x="2473" y="934"/>
              </a:cxn>
              <a:cxn ang="0">
                <a:pos x="2622" y="874"/>
              </a:cxn>
              <a:cxn ang="0">
                <a:pos x="2830" y="795"/>
              </a:cxn>
              <a:cxn ang="0">
                <a:pos x="2860" y="775"/>
              </a:cxn>
              <a:cxn ang="0">
                <a:pos x="2930" y="755"/>
              </a:cxn>
              <a:cxn ang="0">
                <a:pos x="3059" y="696"/>
              </a:cxn>
              <a:cxn ang="0">
                <a:pos x="3128" y="666"/>
              </a:cxn>
              <a:cxn ang="0">
                <a:pos x="3168" y="636"/>
              </a:cxn>
              <a:cxn ang="0">
                <a:pos x="3198" y="616"/>
              </a:cxn>
              <a:cxn ang="0">
                <a:pos x="3227" y="606"/>
              </a:cxn>
            </a:cxnLst>
            <a:rect l="0" t="0" r="r" b="b"/>
            <a:pathLst>
              <a:path w="3227" h="1043">
                <a:moveTo>
                  <a:pt x="0" y="318"/>
                </a:moveTo>
                <a:cubicBezTo>
                  <a:pt x="57" y="307"/>
                  <a:pt x="104" y="285"/>
                  <a:pt x="159" y="269"/>
                </a:cubicBezTo>
                <a:cubicBezTo>
                  <a:pt x="200" y="242"/>
                  <a:pt x="248" y="228"/>
                  <a:pt x="288" y="199"/>
                </a:cubicBezTo>
                <a:cubicBezTo>
                  <a:pt x="300" y="191"/>
                  <a:pt x="307" y="178"/>
                  <a:pt x="318" y="169"/>
                </a:cubicBezTo>
                <a:cubicBezTo>
                  <a:pt x="364" y="133"/>
                  <a:pt x="418" y="103"/>
                  <a:pt x="467" y="70"/>
                </a:cubicBezTo>
                <a:cubicBezTo>
                  <a:pt x="506" y="43"/>
                  <a:pt x="541" y="15"/>
                  <a:pt x="586" y="0"/>
                </a:cubicBezTo>
                <a:cubicBezTo>
                  <a:pt x="676" y="13"/>
                  <a:pt x="633" y="3"/>
                  <a:pt x="715" y="30"/>
                </a:cubicBezTo>
                <a:cubicBezTo>
                  <a:pt x="738" y="38"/>
                  <a:pt x="754" y="57"/>
                  <a:pt x="774" y="70"/>
                </a:cubicBezTo>
                <a:cubicBezTo>
                  <a:pt x="796" y="85"/>
                  <a:pt x="849" y="106"/>
                  <a:pt x="874" y="120"/>
                </a:cubicBezTo>
                <a:cubicBezTo>
                  <a:pt x="943" y="158"/>
                  <a:pt x="1008" y="194"/>
                  <a:pt x="1082" y="219"/>
                </a:cubicBezTo>
                <a:cubicBezTo>
                  <a:pt x="1117" y="231"/>
                  <a:pt x="1142" y="248"/>
                  <a:pt x="1172" y="259"/>
                </a:cubicBezTo>
                <a:cubicBezTo>
                  <a:pt x="1197" y="269"/>
                  <a:pt x="1225" y="270"/>
                  <a:pt x="1251" y="278"/>
                </a:cubicBezTo>
                <a:cubicBezTo>
                  <a:pt x="1284" y="288"/>
                  <a:pt x="1341" y="328"/>
                  <a:pt x="1341" y="328"/>
                </a:cubicBezTo>
                <a:cubicBezTo>
                  <a:pt x="1359" y="357"/>
                  <a:pt x="1367" y="391"/>
                  <a:pt x="1390" y="417"/>
                </a:cubicBezTo>
                <a:cubicBezTo>
                  <a:pt x="1430" y="461"/>
                  <a:pt x="1482" y="499"/>
                  <a:pt x="1519" y="547"/>
                </a:cubicBezTo>
                <a:cubicBezTo>
                  <a:pt x="1529" y="560"/>
                  <a:pt x="1536" y="575"/>
                  <a:pt x="1549" y="586"/>
                </a:cubicBezTo>
                <a:cubicBezTo>
                  <a:pt x="1560" y="596"/>
                  <a:pt x="1577" y="597"/>
                  <a:pt x="1589" y="606"/>
                </a:cubicBezTo>
                <a:cubicBezTo>
                  <a:pt x="1601" y="614"/>
                  <a:pt x="1608" y="627"/>
                  <a:pt x="1619" y="636"/>
                </a:cubicBezTo>
                <a:cubicBezTo>
                  <a:pt x="1638" y="651"/>
                  <a:pt x="1658" y="663"/>
                  <a:pt x="1678" y="676"/>
                </a:cubicBezTo>
                <a:cubicBezTo>
                  <a:pt x="1705" y="694"/>
                  <a:pt x="1745" y="712"/>
                  <a:pt x="1768" y="735"/>
                </a:cubicBezTo>
                <a:cubicBezTo>
                  <a:pt x="1801" y="770"/>
                  <a:pt x="1841" y="810"/>
                  <a:pt x="1887" y="825"/>
                </a:cubicBezTo>
                <a:cubicBezTo>
                  <a:pt x="1937" y="898"/>
                  <a:pt x="1869" y="809"/>
                  <a:pt x="1946" y="874"/>
                </a:cubicBezTo>
                <a:cubicBezTo>
                  <a:pt x="1955" y="882"/>
                  <a:pt x="1957" y="896"/>
                  <a:pt x="1966" y="904"/>
                </a:cubicBezTo>
                <a:cubicBezTo>
                  <a:pt x="1984" y="920"/>
                  <a:pt x="2006" y="931"/>
                  <a:pt x="2026" y="944"/>
                </a:cubicBezTo>
                <a:cubicBezTo>
                  <a:pt x="2049" y="959"/>
                  <a:pt x="2065" y="983"/>
                  <a:pt x="2085" y="1003"/>
                </a:cubicBezTo>
                <a:cubicBezTo>
                  <a:pt x="2097" y="1015"/>
                  <a:pt x="2169" y="1039"/>
                  <a:pt x="2185" y="1043"/>
                </a:cubicBezTo>
                <a:cubicBezTo>
                  <a:pt x="2204" y="1040"/>
                  <a:pt x="2259" y="1036"/>
                  <a:pt x="2284" y="1023"/>
                </a:cubicBezTo>
                <a:cubicBezTo>
                  <a:pt x="2349" y="987"/>
                  <a:pt x="2399" y="952"/>
                  <a:pt x="2473" y="934"/>
                </a:cubicBezTo>
                <a:cubicBezTo>
                  <a:pt x="2519" y="902"/>
                  <a:pt x="2573" y="899"/>
                  <a:pt x="2622" y="874"/>
                </a:cubicBezTo>
                <a:cubicBezTo>
                  <a:pt x="2689" y="840"/>
                  <a:pt x="2759" y="819"/>
                  <a:pt x="2830" y="795"/>
                </a:cubicBezTo>
                <a:cubicBezTo>
                  <a:pt x="2841" y="791"/>
                  <a:pt x="2849" y="780"/>
                  <a:pt x="2860" y="775"/>
                </a:cubicBezTo>
                <a:cubicBezTo>
                  <a:pt x="2882" y="765"/>
                  <a:pt x="2907" y="763"/>
                  <a:pt x="2930" y="755"/>
                </a:cubicBezTo>
                <a:cubicBezTo>
                  <a:pt x="2968" y="729"/>
                  <a:pt x="3014" y="709"/>
                  <a:pt x="3059" y="696"/>
                </a:cubicBezTo>
                <a:cubicBezTo>
                  <a:pt x="3157" y="628"/>
                  <a:pt x="3009" y="726"/>
                  <a:pt x="3128" y="666"/>
                </a:cubicBezTo>
                <a:cubicBezTo>
                  <a:pt x="3143" y="659"/>
                  <a:pt x="3154" y="646"/>
                  <a:pt x="3168" y="636"/>
                </a:cubicBezTo>
                <a:cubicBezTo>
                  <a:pt x="3178" y="629"/>
                  <a:pt x="3187" y="621"/>
                  <a:pt x="3198" y="616"/>
                </a:cubicBezTo>
                <a:cubicBezTo>
                  <a:pt x="3207" y="611"/>
                  <a:pt x="3227" y="606"/>
                  <a:pt x="3227" y="606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53250" name="Picture 5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7488" y="3197225"/>
            <a:ext cx="8675687" cy="3660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52966" name="Line 6"/>
          <p:cNvSpPr>
            <a:spLocks noChangeShapeType="1"/>
          </p:cNvSpPr>
          <p:nvPr/>
        </p:nvSpPr>
        <p:spPr bwMode="auto">
          <a:xfrm>
            <a:off x="1763713" y="4076700"/>
            <a:ext cx="0" cy="18002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552967" name="Line 7"/>
          <p:cNvSpPr>
            <a:spLocks noChangeShapeType="1"/>
          </p:cNvSpPr>
          <p:nvPr/>
        </p:nvSpPr>
        <p:spPr bwMode="auto">
          <a:xfrm>
            <a:off x="2843213" y="4149725"/>
            <a:ext cx="0" cy="18002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</a:ln>
          <a:effectLst/>
        </p:spPr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53253" name="20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63" y="0"/>
            <a:ext cx="6983412" cy="3197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390147" name="表格 390146"/>
          <p:cNvGraphicFramePr/>
          <p:nvPr/>
        </p:nvGraphicFramePr>
        <p:xfrm>
          <a:off x="2868613" y="2636838"/>
          <a:ext cx="6096000" cy="4060825"/>
        </p:xfrm>
        <a:graphic>
          <a:graphicData uri="http://schemas.openxmlformats.org/drawingml/2006/table">
            <a:tbl>
              <a:tblPr/>
              <a:tblGrid>
                <a:gridCol w="911225"/>
                <a:gridCol w="830263"/>
                <a:gridCol w="871537"/>
                <a:gridCol w="869950"/>
                <a:gridCol w="871538"/>
                <a:gridCol w="869950"/>
                <a:gridCol w="871537"/>
              </a:tblGrid>
              <a:tr h="33530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顶点</a:t>
                      </a:r>
                      <a:endParaRPr lang="zh-CN" altLang="en-US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i="1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ve</a:t>
                      </a:r>
                      <a:endParaRPr lang="en-US" altLang="zh-CN" sz="1600" i="1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i="1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vl</a:t>
                      </a:r>
                      <a:endParaRPr lang="en-US" altLang="zh-CN" sz="1600" i="1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zh-CN" altLang="en-US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活动</a:t>
                      </a:r>
                      <a:endParaRPr lang="zh-CN" altLang="en-US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i="1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e</a:t>
                      </a:r>
                      <a:endParaRPr lang="en-US" altLang="zh-CN" sz="1600" i="1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i="1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l</a:t>
                      </a:r>
                      <a:endParaRPr lang="en-US" altLang="zh-CN" sz="1600" i="1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i="1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l</a:t>
                      </a:r>
                      <a:r>
                        <a:rPr lang="zh-CN" altLang="en-US" sz="1600" i="1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1600" i="1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e</a:t>
                      </a:r>
                      <a:endParaRPr lang="en-US" altLang="zh-CN" sz="1600" i="1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V1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a1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6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V2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a2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V3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a3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V4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a4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6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V5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a5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V6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a6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8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65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V7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16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16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a7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6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V8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14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14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a8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6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91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V9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18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18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a9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7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10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a10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16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16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6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30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a11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14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14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6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T="45724" marB="45724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4150" name="Text Box 166"/>
          <p:cNvSpPr txBox="1">
            <a:spLocks noChangeArrowheads="1"/>
          </p:cNvSpPr>
          <p:nvPr/>
        </p:nvSpPr>
        <p:spPr bwMode="auto">
          <a:xfrm>
            <a:off x="4803775" y="476250"/>
            <a:ext cx="3252788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练习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: 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教材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p183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－图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7.29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54381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13" y="11113"/>
            <a:ext cx="4616450" cy="24812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04" name="Rectangle 4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作业</a:t>
            </a: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9-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求关键路径，给出过程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55299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675" y="1820863"/>
            <a:ext cx="5191125" cy="4029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拓扑排序与关键路径的区别</a:t>
            </a:r>
            <a:endParaRPr kumimoji="0" lang="zh-CN" altLang="en-US" sz="38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6323" name="文本框 2"/>
          <p:cNvSpPr txBox="1"/>
          <p:nvPr/>
        </p:nvSpPr>
        <p:spPr>
          <a:xfrm>
            <a:off x="641350" y="2093913"/>
            <a:ext cx="7818438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latin typeface="Verdana" panose="020B0604030504040204" pitchFamily="34" charset="0"/>
              </a:rPr>
              <a:t>拓扑排序：关注的是顶点之间的先后关系；</a:t>
            </a:r>
            <a:endParaRPr lang="zh-CN" altLang="en-US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3200" dirty="0">
                <a:latin typeface="Verdana" panose="020B0604030504040204" pitchFamily="34" charset="0"/>
              </a:rPr>
              <a:t>关键路径：关注的是最长路径；</a:t>
            </a:r>
            <a:endParaRPr lang="zh-CN" altLang="en-US" sz="32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D9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前情提要</a:t>
            </a:r>
            <a:endParaRPr kumimoji="0" lang="zh-CN" altLang="en-US" sz="38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43" name="文本框 2"/>
          <p:cNvSpPr txBox="1"/>
          <p:nvPr/>
        </p:nvSpPr>
        <p:spPr>
          <a:xfrm>
            <a:off x="703263" y="1520825"/>
            <a:ext cx="7872413" cy="4892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有向无环图及其应用</a:t>
            </a:r>
            <a:endParaRPr kumimoji="0" lang="en-US" altLang="zh-CN" sz="24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L="363220" marR="0" indent="-127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1600" kern="1200" cap="none" spc="0" normalizeH="0" baseline="0" noProof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AOV网：</a:t>
            </a:r>
            <a:r>
              <a:rPr kumimoji="0" lang="zh-CN" altLang="en-US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用顶点表示活动，用有向边&lt;Vi, Vj&gt;表示活动的前后次序。Vi 必须先于活动Vj进行。这种有向图叫做顶点表示活动的AOV网络。</a:t>
            </a:r>
            <a:endParaRPr kumimoji="0" lang="zh-CN" altLang="en-US" sz="16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68935" marR="0" indent="-6985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1600" kern="1200" cap="none" spc="0" normalizeH="0" baseline="0" noProof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拓扑排序：</a:t>
            </a:r>
            <a:r>
              <a:rPr kumimoji="0" lang="zh-CN" altLang="en-US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由某个集合上的一个偏序得到该集合上的一个全序，这个操作称之为拓扑排序。</a:t>
            </a:r>
            <a:endParaRPr kumimoji="0" lang="zh-CN" altLang="en-US" sz="16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68935" marR="0" indent="-6985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1600" kern="1200" cap="none" spc="0" normalizeH="0" baseline="0" noProof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AO</a:t>
            </a:r>
            <a:r>
              <a:rPr kumimoji="0" lang="en-US" altLang="zh-CN" sz="1600" kern="1200" cap="none" spc="0" normalizeH="0" baseline="0" noProof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E</a:t>
            </a:r>
            <a:r>
              <a:rPr kumimoji="0" lang="zh-CN" altLang="en-US" sz="1600" kern="1200" cap="none" spc="0" normalizeH="0" baseline="0" noProof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网：</a:t>
            </a:r>
            <a:r>
              <a:rPr kumimoji="0" lang="zh-CN" altLang="en-US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边表示活动的网</a:t>
            </a:r>
            <a:endParaRPr kumimoji="0" lang="zh-CN" altLang="en-US" sz="1600" kern="1200" cap="none" spc="0" normalizeH="0" baseline="0" noProof="1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368935" marR="0" indent="-6985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1600" kern="1200" cap="none" spc="0" normalizeH="0" baseline="0" noProof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关键路径：</a:t>
            </a:r>
            <a:r>
              <a:rPr kumimoji="0" lang="zh-CN" altLang="en-US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最长路径</a:t>
            </a:r>
            <a:endParaRPr kumimoji="0" lang="zh-CN" altLang="en-US" sz="16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最短路径</a:t>
            </a:r>
            <a:endParaRPr kumimoji="0" lang="zh-CN" altLang="en-US" sz="24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indent="348615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1600" kern="1200" cap="none" spc="0" normalizeH="0" baseline="0" noProof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迪杰斯特拉算法：</a:t>
            </a:r>
            <a:r>
              <a:rPr kumimoji="0" lang="zh-CN" altLang="en-US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按路径长度递增的次序产生</a:t>
            </a:r>
            <a:endParaRPr kumimoji="0" lang="zh-CN" altLang="en-US" sz="16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R="0" indent="348615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1600" kern="1200" cap="none" spc="0" normalizeH="0" baseline="0" noProof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弗洛伊德算法：</a:t>
            </a:r>
            <a:r>
              <a:rPr kumimoji="0" lang="zh-CN" altLang="en-US" sz="16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如果vi到vj有弧，则存在长度为arcs[i][j]的路径,需经过n次检验确定是否为最短路径</a:t>
            </a:r>
            <a:endParaRPr kumimoji="0" lang="zh-CN" altLang="en-US" sz="1600" kern="0" cap="none" spc="0" normalizeH="0" baseline="0" noProof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+mn-ea"/>
              <a:cs typeface="+mn-cs"/>
              <a:sym typeface="Symbol" panose="05050102010706020507" pitchFamily="18" charset="2"/>
            </a:endParaRPr>
          </a:p>
          <a:p>
            <a:pPr marR="0" indent="348615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endParaRPr kumimoji="0" lang="zh-CN" altLang="en-US" sz="16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7.6 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最短路径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57061" name="Rectangle 5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4313238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带权有向图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权值非负</a:t>
            </a: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源点：路径上的第一个顶点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终点：最后一个顶点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8372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11650" y="1966913"/>
            <a:ext cx="4348163" cy="36909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7.6 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最短路径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57061" name="Rectangle 5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008938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方法：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lt"/>
              <a:buNone/>
              <a:defRPr/>
            </a:pP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1. </a:t>
            </a: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单源点最短路径问题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lt"/>
              <a:buNone/>
              <a:defRPr/>
            </a:pP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迪杰斯特拉（</a:t>
            </a: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Dijkstra</a:t>
            </a: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）算法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lt"/>
              <a:buNone/>
              <a:defRPr/>
            </a:pP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2. </a:t>
            </a: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多源点最短路径问题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lt"/>
              <a:buNone/>
              <a:defRPr/>
            </a:pP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——</a:t>
            </a: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弗洛伊德（</a:t>
            </a: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Floyd</a:t>
            </a: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）算法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单源点最短路径问题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59107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001000" cy="11001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给定带权有向图</a:t>
            </a: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和顶点</a:t>
            </a: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，求从</a:t>
            </a: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到</a:t>
            </a: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中各个顶点（除</a:t>
            </a: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）的最短路径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即：从一个指定源点到图上其余各点的最短路径。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0420" name="20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100" y="3789363"/>
            <a:ext cx="2844800" cy="2905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0421" name="20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3648075"/>
            <a:ext cx="5392738" cy="2905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3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Dijkstra</a:t>
            </a:r>
            <a:r>
              <a:rPr kumimoji="0" lang="zh-CN" altLang="en-US" sz="43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算法－思想</a:t>
            </a:r>
            <a:endParaRPr kumimoji="0" lang="zh-CN" altLang="en-US" sz="43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561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4797425" cy="523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按路径长度递增的次序产生最短路径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61156" name="Text Box 4"/>
          <p:cNvSpPr txBox="1">
            <a:spLocks noChangeArrowheads="1"/>
          </p:cNvSpPr>
          <p:nvPr/>
        </p:nvSpPr>
        <p:spPr bwMode="auto">
          <a:xfrm>
            <a:off x="223838" y="2044700"/>
            <a:ext cx="4797425" cy="45227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anchor="b">
            <a:spAutoFit/>
          </a:bodyPr>
          <a:lstStyle/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（</a:t>
            </a:r>
            <a:r>
              <a:rPr kumimoji="0" lang="en-US" altLang="zh-CN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zh-CN" altLang="en-US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为辅助数组，其中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D[</a:t>
            </a:r>
            <a:r>
              <a:rPr kumimoji="0" lang="en-US" altLang="zh-CN" kern="120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]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</a:t>
            </a:r>
            <a:r>
              <a:rPr kumimoji="0" lang="zh-CN" altLang="en-US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当前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所找到的从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到顶点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vi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的最短路径长度。其初始值为：如果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到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vi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有弧，则为弧的权值，否则为∞</a:t>
            </a:r>
            <a:endParaRPr kumimoji="0" lang="zh-CN" altLang="en-US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（</a:t>
            </a:r>
            <a:r>
              <a:rPr kumimoji="0" lang="en-US" altLang="zh-CN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0" lang="zh-CN" altLang="en-US" kern="1200" cap="none" spc="0" normalizeH="0" baseline="0" noProof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则长度为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D[j] = Min</a:t>
            </a:r>
            <a:r>
              <a:rPr kumimoji="0" lang="en-US" altLang="zh-CN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{D[</a:t>
            </a:r>
            <a:r>
              <a:rPr kumimoji="0" lang="en-US" altLang="zh-CN" kern="120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]|</a:t>
            </a:r>
            <a:r>
              <a:rPr kumimoji="0" lang="en-US" altLang="zh-CN" kern="120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vi∈V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}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的路径（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0" lang="en-US" altLang="zh-CN" kern="120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vj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）为当前（初始）最短长度中最短的</a:t>
            </a:r>
            <a:endParaRPr kumimoji="0" lang="zh-CN" altLang="en-US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（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3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）设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为已求得的最短路径的终点集合 ，则下一条次短的最短路径长度必是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D[j] = Min</a:t>
            </a:r>
            <a:r>
              <a:rPr kumimoji="0" lang="en-US" altLang="zh-CN" kern="1200" cap="none" spc="0" normalizeH="0" baseline="-2500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{D[</a:t>
            </a:r>
            <a:r>
              <a:rPr kumimoji="0" lang="en-US" altLang="zh-CN" kern="120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]|</a:t>
            </a:r>
            <a:r>
              <a:rPr kumimoji="0" lang="en-US" altLang="zh-CN" kern="120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vi∈V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－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S}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，其中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D[</a:t>
            </a:r>
            <a:r>
              <a:rPr kumimoji="0" lang="en-US" altLang="zh-CN" kern="120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]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或为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&lt;v, vi&gt;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的权值，或为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D[k] &lt;v, 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vk&gt;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与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&lt;</a:t>
            </a:r>
            <a:r>
              <a:rPr kumimoji="0" lang="en-US" altLang="zh-CN" kern="120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vk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, vi&gt;</a:t>
            </a:r>
            <a:r>
              <a:rPr kumimoji="0" lang="zh-CN" altLang="en-US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权值之和，</a:t>
            </a:r>
            <a:r>
              <a:rPr kumimoji="0" lang="en-US" altLang="zh-CN" kern="1200" cap="none" spc="0" normalizeH="0" baseline="0" noProof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vk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zh-CN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∈S</a:t>
            </a:r>
            <a:endParaRPr kumimoji="0" lang="en-US" altLang="zh-CN" kern="1200" cap="none" spc="0" normalizeH="0" baseline="0" noProof="0" dirty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graphicFrame>
        <p:nvGraphicFramePr>
          <p:cNvPr id="561233" name="Group 81"/>
          <p:cNvGraphicFramePr>
            <a:graphicFrameLocks noGrp="1"/>
          </p:cNvGraphicFramePr>
          <p:nvPr>
            <p:ph sz="half" idx="1"/>
          </p:nvPr>
        </p:nvGraphicFramePr>
        <p:xfrm>
          <a:off x="5076825" y="3573463"/>
          <a:ext cx="3924300" cy="1219200"/>
        </p:xfrm>
        <a:graphic>
          <a:graphicData uri="http://schemas.openxmlformats.org/drawingml/2006/table">
            <a:tbl>
              <a:tblPr/>
              <a:tblGrid>
                <a:gridCol w="784225"/>
                <a:gridCol w="785813"/>
                <a:gridCol w="784225"/>
                <a:gridCol w="785812"/>
                <a:gridCol w="784225"/>
              </a:tblGrid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D[1]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D[2]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D[3]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D[4]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D[5]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∞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∞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30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61234" name="Text Box 82"/>
          <p:cNvSpPr txBox="1">
            <a:spLocks noChangeArrowheads="1"/>
          </p:cNvSpPr>
          <p:nvPr/>
        </p:nvSpPr>
        <p:spPr bwMode="auto">
          <a:xfrm>
            <a:off x="6732588" y="5084763"/>
            <a:ext cx="1293813" cy="396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S={v2}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61472" name="20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7525" y="228600"/>
            <a:ext cx="3078163" cy="2759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591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3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Dijkstra</a:t>
            </a:r>
            <a:r>
              <a:rPr kumimoji="0" lang="zh-CN" altLang="en-US" sz="43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算法－思想</a:t>
            </a:r>
            <a:endParaRPr kumimoji="0" lang="zh-CN" altLang="en-US" sz="43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8591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4797425" cy="5238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按路径长度递增的次序产生最短路径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59140" name="Text Box 4"/>
          <p:cNvSpPr txBox="1">
            <a:spLocks noChangeArrowheads="1"/>
          </p:cNvSpPr>
          <p:nvPr/>
        </p:nvSpPr>
        <p:spPr bwMode="auto">
          <a:xfrm>
            <a:off x="468313" y="2133600"/>
            <a:ext cx="4319588" cy="44735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b">
            <a:spAutoFit/>
          </a:bodyPr>
          <a:lstStyle/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（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为辅助数组，其中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D[i]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</a:t>
            </a:r>
            <a:r>
              <a:rPr kumimoji="0" lang="zh-CN" altLang="en-US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当前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所找到的从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到顶点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vi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的最短路径长度。其初始值为：如果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到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vi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有弧，则为弧的权值，否则为∞</a:t>
            </a:r>
            <a:endParaRPr kumimoji="0" lang="zh-CN" altLang="en-US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（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）则长度为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D[j] = Min</a:t>
            </a:r>
            <a:r>
              <a:rPr kumimoji="0" lang="en-US" altLang="zh-CN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{D[i]|vi∈V}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的路径（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vj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）为当前（初始）最短长度中最短的</a:t>
            </a:r>
            <a:endParaRPr kumimoji="0" lang="zh-CN" altLang="en-US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（</a:t>
            </a:r>
            <a:r>
              <a:rPr kumimoji="0" lang="en-US" altLang="zh-CN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3</a:t>
            </a:r>
            <a:r>
              <a:rPr kumimoji="0" lang="zh-CN" altLang="en-US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）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设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为已求得的的最短路径的终点集合 ，则下一条次短的最短路径长度必是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D[j] = Min</a:t>
            </a:r>
            <a:r>
              <a:rPr kumimoji="0" lang="en-US" altLang="zh-CN" kern="1200" cap="none" spc="0" normalizeH="0" baseline="-2500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{D[i]|vi∈V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－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S}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，其中</a:t>
            </a:r>
            <a:r>
              <a:rPr kumimoji="0" lang="en-US" altLang="zh-CN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D[i]</a:t>
            </a:r>
            <a:r>
              <a:rPr kumimoji="0" lang="zh-CN" altLang="en-US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或为</a:t>
            </a:r>
            <a:r>
              <a:rPr kumimoji="0" lang="en-US" altLang="zh-CN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&lt;v, vi&gt;</a:t>
            </a:r>
            <a:r>
              <a:rPr kumimoji="0" lang="zh-CN" altLang="en-US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的权值，或为</a:t>
            </a:r>
            <a:r>
              <a:rPr kumimoji="0" lang="en-US" altLang="zh-CN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D[k]</a:t>
            </a:r>
            <a:r>
              <a:rPr kumimoji="0" lang="zh-CN" altLang="en-US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与</a:t>
            </a:r>
            <a:r>
              <a:rPr kumimoji="0" lang="en-US" altLang="zh-CN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&lt;vk, vi&gt;</a:t>
            </a:r>
            <a:r>
              <a:rPr kumimoji="0" lang="zh-CN" altLang="en-US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权值之和，</a:t>
            </a:r>
            <a:r>
              <a:rPr kumimoji="0" lang="en-US" altLang="zh-CN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vk </a:t>
            </a:r>
            <a:r>
              <a:rPr kumimoji="0" lang="en-US" altLang="zh-CN" kern="1200" cap="none" spc="0" normalizeH="0" baseline="0" noProof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∈S</a:t>
            </a:r>
            <a:endParaRPr kumimoji="0" lang="en-US" altLang="zh-CN" kern="1200" cap="none" spc="0" normalizeH="0" baseline="0" noProof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63493" name="Picture 16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40425" y="0"/>
            <a:ext cx="2736850" cy="2492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graphicFrame>
        <p:nvGraphicFramePr>
          <p:cNvPr id="859153" name="Group 17"/>
          <p:cNvGraphicFramePr>
            <a:graphicFrameLocks noGrp="1"/>
          </p:cNvGraphicFramePr>
          <p:nvPr>
            <p:ph sz="half" idx="1"/>
          </p:nvPr>
        </p:nvGraphicFramePr>
        <p:xfrm>
          <a:off x="5003800" y="2492375"/>
          <a:ext cx="3924300" cy="1219200"/>
        </p:xfrm>
        <a:graphic>
          <a:graphicData uri="http://schemas.openxmlformats.org/drawingml/2006/table">
            <a:tbl>
              <a:tblPr/>
              <a:tblGrid>
                <a:gridCol w="784225"/>
                <a:gridCol w="785813"/>
                <a:gridCol w="784225"/>
                <a:gridCol w="785812"/>
                <a:gridCol w="784225"/>
              </a:tblGrid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D[1]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D[2]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D[3]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D[4]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D[5]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∞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∞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30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59191" name="Text Box 55"/>
          <p:cNvSpPr txBox="1">
            <a:spLocks noChangeArrowheads="1"/>
          </p:cNvSpPr>
          <p:nvPr/>
        </p:nvSpPr>
        <p:spPr bwMode="auto">
          <a:xfrm>
            <a:off x="5013325" y="3771900"/>
            <a:ext cx="3092450" cy="7016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S={v2}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－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＝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{v1,v3,v4,v5}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graphicFrame>
        <p:nvGraphicFramePr>
          <p:cNvPr id="859270" name="Group 134"/>
          <p:cNvGraphicFramePr>
            <a:graphicFrameLocks noGrp="1"/>
          </p:cNvGraphicFramePr>
          <p:nvPr/>
        </p:nvGraphicFramePr>
        <p:xfrm>
          <a:off x="5003800" y="4581525"/>
          <a:ext cx="3924300" cy="1219200"/>
        </p:xfrm>
        <a:graphic>
          <a:graphicData uri="http://schemas.openxmlformats.org/drawingml/2006/table">
            <a:tbl>
              <a:tblPr/>
              <a:tblGrid>
                <a:gridCol w="784225"/>
                <a:gridCol w="785813"/>
                <a:gridCol w="784225"/>
                <a:gridCol w="785812"/>
                <a:gridCol w="784225"/>
              </a:tblGrid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D[1]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D[2]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D[3]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D[4]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D[5]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∞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——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60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30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59308" name="Text Box 172"/>
          <p:cNvSpPr txBox="1">
            <a:spLocks noChangeArrowheads="1"/>
          </p:cNvSpPr>
          <p:nvPr/>
        </p:nvSpPr>
        <p:spPr bwMode="auto">
          <a:xfrm>
            <a:off x="5076825" y="5876925"/>
            <a:ext cx="2654300" cy="7016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S={v2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v4}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－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＝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{v1,v3,v5}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59309" name="AutoShape 173"/>
          <p:cNvSpPr>
            <a:spLocks noChangeArrowheads="1"/>
          </p:cNvSpPr>
          <p:nvPr/>
        </p:nvSpPr>
        <p:spPr bwMode="auto">
          <a:xfrm>
            <a:off x="8532813" y="3860800"/>
            <a:ext cx="215900" cy="4318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accent2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32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3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Dijkstra</a:t>
            </a:r>
            <a:r>
              <a:rPr kumimoji="0" lang="zh-CN" altLang="en-US" sz="43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算法－思想</a:t>
            </a:r>
            <a:endParaRPr kumimoji="0" lang="zh-CN" altLang="en-US" sz="43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pic>
        <p:nvPicPr>
          <p:cNvPr id="64515" name="Picture 5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40425" y="765175"/>
            <a:ext cx="2736850" cy="2492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graphicFrame>
        <p:nvGraphicFramePr>
          <p:cNvPr id="863277" name="Group 45"/>
          <p:cNvGraphicFramePr>
            <a:graphicFrameLocks noGrp="1"/>
          </p:cNvGraphicFramePr>
          <p:nvPr/>
        </p:nvGraphicFramePr>
        <p:xfrm>
          <a:off x="611188" y="1844675"/>
          <a:ext cx="3924300" cy="1219200"/>
        </p:xfrm>
        <a:graphic>
          <a:graphicData uri="http://schemas.openxmlformats.org/drawingml/2006/table">
            <a:tbl>
              <a:tblPr/>
              <a:tblGrid>
                <a:gridCol w="784225"/>
                <a:gridCol w="785812"/>
                <a:gridCol w="784225"/>
                <a:gridCol w="785813"/>
                <a:gridCol w="784225"/>
              </a:tblGrid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D[1]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D[2]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D[3]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D[4]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D[5]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∞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——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60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30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63315" name="Text Box 83"/>
          <p:cNvSpPr txBox="1">
            <a:spLocks noChangeArrowheads="1"/>
          </p:cNvSpPr>
          <p:nvPr/>
        </p:nvSpPr>
        <p:spPr bwMode="auto">
          <a:xfrm>
            <a:off x="684213" y="3140075"/>
            <a:ext cx="2654300" cy="7016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S={v2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v4}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－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＝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{v1,v3,v5}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graphicFrame>
        <p:nvGraphicFramePr>
          <p:cNvPr id="863318" name="Group 86"/>
          <p:cNvGraphicFramePr>
            <a:graphicFrameLocks noGrp="1"/>
          </p:cNvGraphicFramePr>
          <p:nvPr/>
        </p:nvGraphicFramePr>
        <p:xfrm>
          <a:off x="611188" y="4076700"/>
          <a:ext cx="3924300" cy="1219200"/>
        </p:xfrm>
        <a:graphic>
          <a:graphicData uri="http://schemas.openxmlformats.org/drawingml/2006/table">
            <a:tbl>
              <a:tblPr/>
              <a:tblGrid>
                <a:gridCol w="784225"/>
                <a:gridCol w="785812"/>
                <a:gridCol w="784225"/>
                <a:gridCol w="785813"/>
                <a:gridCol w="784225"/>
              </a:tblGrid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D[1]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D[2]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D[3]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D[4]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D[5]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∞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——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50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——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90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63356" name="Text Box 124"/>
          <p:cNvSpPr txBox="1">
            <a:spLocks noChangeArrowheads="1"/>
          </p:cNvSpPr>
          <p:nvPr/>
        </p:nvSpPr>
        <p:spPr bwMode="auto">
          <a:xfrm>
            <a:off x="684213" y="5372100"/>
            <a:ext cx="2497138" cy="7016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S={v2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v4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v3}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－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＝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{v1,v5}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graphicFrame>
        <p:nvGraphicFramePr>
          <p:cNvPr id="863357" name="Group 125"/>
          <p:cNvGraphicFramePr>
            <a:graphicFrameLocks noGrp="1"/>
          </p:cNvGraphicFramePr>
          <p:nvPr/>
        </p:nvGraphicFramePr>
        <p:xfrm>
          <a:off x="5111750" y="4095750"/>
          <a:ext cx="3924300" cy="1219200"/>
        </p:xfrm>
        <a:graphic>
          <a:graphicData uri="http://schemas.openxmlformats.org/drawingml/2006/table">
            <a:tbl>
              <a:tblPr/>
              <a:tblGrid>
                <a:gridCol w="784225"/>
                <a:gridCol w="785813"/>
                <a:gridCol w="784225"/>
                <a:gridCol w="785812"/>
                <a:gridCol w="784225"/>
              </a:tblGrid>
              <a:tr h="265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v5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D[1]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D[2]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D[3]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D[4]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D[5]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3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6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∞</a:t>
                      </a:r>
                      <a:endParaRPr kumimoji="0" lang="en-US" altLang="zh-CN" sz="26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——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——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/>
                          <a:ea typeface="宋体" panose="02010600030101010101" pitchFamily="2" charset="-122"/>
                        </a:rPr>
                        <a:t>——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60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63395" name="Text Box 163"/>
          <p:cNvSpPr txBox="1">
            <a:spLocks noChangeArrowheads="1"/>
          </p:cNvSpPr>
          <p:nvPr/>
        </p:nvSpPr>
        <p:spPr bwMode="auto">
          <a:xfrm>
            <a:off x="5184775" y="5391150"/>
            <a:ext cx="3022600" cy="7016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S={v2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v4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，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v3, v5}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－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＝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{v1}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63396" name="AutoShape 164"/>
          <p:cNvSpPr>
            <a:spLocks noChangeArrowheads="1"/>
          </p:cNvSpPr>
          <p:nvPr/>
        </p:nvSpPr>
        <p:spPr bwMode="auto">
          <a:xfrm>
            <a:off x="4140200" y="3213100"/>
            <a:ext cx="215900" cy="4318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accent2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63397" name="AutoShape 165"/>
          <p:cNvSpPr>
            <a:spLocks noChangeArrowheads="1"/>
          </p:cNvSpPr>
          <p:nvPr/>
        </p:nvSpPr>
        <p:spPr bwMode="auto">
          <a:xfrm rot="16200000">
            <a:off x="4716463" y="4292600"/>
            <a:ext cx="215900" cy="288925"/>
          </a:xfrm>
          <a:prstGeom prst="downArrow">
            <a:avLst>
              <a:gd name="adj1" fmla="val 50000"/>
              <a:gd name="adj2" fmla="val 33456"/>
            </a:avLst>
          </a:prstGeom>
          <a:noFill/>
          <a:ln w="9525" algn="ctr">
            <a:solidFill>
              <a:schemeClr val="accent2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63398" name="AutoShape 166"/>
          <p:cNvSpPr>
            <a:spLocks noChangeArrowheads="1"/>
          </p:cNvSpPr>
          <p:nvPr/>
        </p:nvSpPr>
        <p:spPr bwMode="auto">
          <a:xfrm>
            <a:off x="7164388" y="5805488"/>
            <a:ext cx="215900" cy="4318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algn="ctr">
            <a:solidFill>
              <a:schemeClr val="accent2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63399" name="Text Box 167"/>
          <p:cNvSpPr txBox="1">
            <a:spLocks noChangeArrowheads="1"/>
          </p:cNvSpPr>
          <p:nvPr/>
        </p:nvSpPr>
        <p:spPr bwMode="auto">
          <a:xfrm>
            <a:off x="5148263" y="5949950"/>
            <a:ext cx="2665413" cy="7016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endParaRPr kumimoji="0" lang="en-US" altLang="zh-CN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无从</a:t>
            </a:r>
            <a:r>
              <a:rPr kumimoji="0" lang="en-US" altLang="zh-CN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v0</a:t>
            </a:r>
            <a:r>
              <a:rPr kumimoji="0" lang="zh-CN" altLang="en-US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到</a:t>
            </a:r>
            <a:r>
              <a:rPr kumimoji="0" lang="en-US" altLang="zh-CN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v1</a:t>
            </a:r>
            <a:r>
              <a:rPr kumimoji="0" lang="zh-CN" altLang="en-US" kern="1200" cap="none" spc="0" normalizeH="0" baseline="0" noProof="1">
                <a:effectLst>
                  <a:outerShdw blurRad="38100" dist="38100" dir="2700000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最短路径</a:t>
            </a:r>
            <a:endParaRPr kumimoji="0" lang="zh-CN" altLang="en-US" kern="1200" cap="none" spc="0" normalizeH="0" baseline="0" noProof="1">
              <a:effectLst>
                <a:outerShdw blurRad="38100" dist="38100" dir="2700000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41030" name="Text Box 6"/>
          <p:cNvSpPr txBox="1">
            <a:spLocks noChangeArrowheads="1"/>
          </p:cNvSpPr>
          <p:nvPr/>
        </p:nvSpPr>
        <p:spPr bwMode="auto">
          <a:xfrm>
            <a:off x="250825" y="333375"/>
            <a:ext cx="8497888" cy="155416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利用</a:t>
            </a:r>
            <a:r>
              <a:rPr kumimoji="0" lang="en-US" altLang="zh-CN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Dijkstra</a:t>
            </a:r>
            <a:r>
              <a:rPr kumimoji="0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算法，求下图从顶点</a:t>
            </a:r>
            <a:r>
              <a:rPr kumimoji="0" lang="en-US" altLang="zh-CN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a</a:t>
            </a:r>
            <a:r>
              <a:rPr kumimoji="0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到其他顶点的最短路径，并写出算法执行时各个步骤的状态</a:t>
            </a:r>
            <a:endParaRPr kumimoji="0" lang="zh-CN" altLang="en-US" sz="32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65539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5" y="2060575"/>
            <a:ext cx="5903913" cy="43926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3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Dijkstra</a:t>
            </a:r>
            <a:r>
              <a:rPr kumimoji="0" lang="zh-CN" altLang="en-US" sz="43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+mj-cs"/>
              </a:rPr>
              <a:t>算法－步骤</a:t>
            </a:r>
            <a:endParaRPr kumimoji="0" lang="zh-CN" altLang="en-US" sz="43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5621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95300" marR="0" lvl="0" indent="-4953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AutoNum type="arabicPeriod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初始化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邻接矩阵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arcs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当前已找到最短路径的顶点集合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S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，为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NULL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D[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i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]=arcs[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LocateVex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(G, v)][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i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]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495300" marR="0" lvl="0" indent="-4953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AutoNum type="arabicPeriod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选择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vj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D[j] = Min</a:t>
            </a:r>
            <a:r>
              <a:rPr kumimoji="0" lang="en-US" altLang="zh-CN" sz="2200" b="1" i="0" u="none" strike="noStrike" kern="0" cap="none" spc="0" normalizeH="0" baseline="-2500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i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{D[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i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]|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vi∈V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－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S}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S=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S</a:t>
            </a:r>
            <a:r>
              <a:rPr kumimoji="0" lang="en-US" altLang="zh-CN" sz="22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∪vj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495300" marR="0" lvl="0" indent="-4953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AutoNum type="arabicPeriod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修改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D[k]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vk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∈V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－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vj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∈S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如果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D[j]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＋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arcs[j][k]&lt; D[k],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则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D[k]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＝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D[j] 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＋</a:t>
            </a:r>
            <a:r>
              <a:rPr kumimoji="0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ea"/>
              </a:rPr>
              <a:t>arcs[j][k]</a:t>
            </a:r>
            <a:endParaRPr kumimoji="0" lang="en-US" altLang="zh-CN" sz="2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ea"/>
            </a:endParaRPr>
          </a:p>
          <a:p>
            <a:pPr marL="495300" marR="0" lvl="0" indent="-4953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AutoNum type="arabicPeriod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重复（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）（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－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次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68610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31913" y="0"/>
            <a:ext cx="2592387" cy="2020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611" name="Picture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87900" y="0"/>
            <a:ext cx="2743200" cy="1866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612" name="Picture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2060575"/>
            <a:ext cx="9144000" cy="4797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62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任意顶点间的最短路径（多源）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66275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1752600"/>
            <a:ext cx="8262938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给定带权有向图</a:t>
            </a: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，求各个顶点间的最短路径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lt"/>
              <a:buAutoNum type="arabicPeriod"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对每个顶点调用</a:t>
            </a:r>
            <a:r>
              <a:rPr kumimoji="0" lang="en-US" altLang="zh-CN" sz="35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Dijkstra</a:t>
            </a:r>
            <a:r>
              <a:rPr kumimoji="0" lang="zh-CN" altLang="en-US" sz="35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算法</a:t>
            </a:r>
            <a:endParaRPr kumimoji="0" lang="zh-CN" altLang="en-US" sz="35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+mj-lt"/>
              <a:buAutoNum type="arabicPeriod"/>
              <a:defRPr/>
            </a:pPr>
            <a:r>
              <a:rPr kumimoji="0" lang="en-US" altLang="zh-CN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Floyd</a:t>
            </a: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算法</a:t>
            </a: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72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Floyd</a:t>
            </a:r>
            <a:r>
              <a:rPr kumimoji="0" lang="zh-CN" altLang="en-US" sz="38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算法－思想</a:t>
            </a:r>
            <a:endParaRPr kumimoji="0" lang="zh-CN" altLang="en-US" sz="3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672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求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vi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到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vj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的最短路径。如果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vi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到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vj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有弧，则存在长度为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arcs[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][j]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的路径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需经过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次检验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确定是否为最短路径</a:t>
            </a:r>
            <a:endParaRPr kumimoji="0" lang="zh-CN" altLang="en-US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如果路径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(vi,v0,vj)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存在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则取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vi,vj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(vi,v0,vj)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路径长度小者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设为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</a:t>
            </a:r>
            <a:r>
              <a:rPr kumimoji="0" lang="en-US" altLang="zh-CN" sz="21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(0)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][j].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称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</a:t>
            </a:r>
            <a:r>
              <a:rPr kumimoji="0" lang="en-US" altLang="zh-CN" sz="21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(0)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][j]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为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vi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到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vj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中间顶点不大于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0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的最短路径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其长度为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</a:t>
            </a:r>
            <a:r>
              <a:rPr kumimoji="0" lang="en-US" altLang="zh-CN" sz="21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(0)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][j]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在路径上添加顶点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v1,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如果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(vi,…,v1)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(v1,…,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vj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为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</a:t>
            </a:r>
            <a:r>
              <a:rPr kumimoji="0" lang="en-US" altLang="zh-CN" sz="21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(0)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][1]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</a:t>
            </a:r>
            <a:r>
              <a:rPr kumimoji="0" lang="en-US" altLang="zh-CN" sz="21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(0)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[1][j],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则选择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</a:t>
            </a:r>
            <a:r>
              <a:rPr kumimoji="0" lang="en-US" altLang="zh-CN" sz="21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(0)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][1]+D</a:t>
            </a:r>
            <a:r>
              <a:rPr kumimoji="0" lang="en-US" altLang="zh-CN" sz="21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(0)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[1][j]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与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</a:t>
            </a:r>
            <a:r>
              <a:rPr kumimoji="0" lang="en-US" altLang="zh-CN" sz="21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(0)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][j]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小者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为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</a:t>
            </a:r>
            <a:r>
              <a:rPr kumimoji="0" lang="en-US" altLang="zh-CN" sz="21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(1)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][j].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添加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v2…,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依次类推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一般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若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(vi,…,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vk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vk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,…,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vj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为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</a:t>
            </a:r>
            <a:r>
              <a:rPr kumimoji="0" lang="en-US" altLang="zh-CN" sz="21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(k-1)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][k]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和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</a:t>
            </a:r>
            <a:r>
              <a:rPr kumimoji="0" lang="en-US" altLang="zh-CN" sz="21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(k-1)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[k][j],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则选择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</a:t>
            </a:r>
            <a:r>
              <a:rPr kumimoji="0" lang="en-US" altLang="zh-CN" sz="21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(k-1)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][k]+D</a:t>
            </a:r>
            <a:r>
              <a:rPr kumimoji="0" lang="en-US" altLang="zh-CN" sz="21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(k-1)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[k][j]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与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</a:t>
            </a:r>
            <a:r>
              <a:rPr kumimoji="0" lang="en-US" altLang="zh-CN" sz="21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(k-1)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][j]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小者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为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</a:t>
            </a:r>
            <a:r>
              <a:rPr kumimoji="0" lang="en-US" altLang="zh-CN" sz="2100" b="1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(k)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[</a:t>
            </a:r>
            <a:r>
              <a:rPr kumimoji="0" lang="en-US" altLang="zh-CN" sz="21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][j],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直至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n</a:t>
            </a:r>
            <a:r>
              <a:rPr kumimoji="0" lang="zh-CN" altLang="en-US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次比较</a:t>
            </a:r>
            <a:r>
              <a:rPr kumimoji="0" lang="en-US" altLang="zh-CN" sz="21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.</a:t>
            </a: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69900" marR="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en-US" altLang="zh-CN" sz="21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70660" name="Group 4"/>
          <p:cNvGrpSpPr/>
          <p:nvPr/>
        </p:nvGrpSpPr>
        <p:grpSpPr>
          <a:xfrm>
            <a:off x="3851275" y="5021263"/>
            <a:ext cx="4840288" cy="1836737"/>
            <a:chOff x="1383" y="1661"/>
            <a:chExt cx="3049" cy="1157"/>
          </a:xfrm>
        </p:grpSpPr>
        <p:sp>
          <p:nvSpPr>
            <p:cNvPr id="567301" name="Oval 5"/>
            <p:cNvSpPr>
              <a:spLocks noChangeArrowheads="1"/>
            </p:cNvSpPr>
            <p:nvPr/>
          </p:nvSpPr>
          <p:spPr bwMode="auto">
            <a:xfrm>
              <a:off x="1746" y="2296"/>
              <a:ext cx="181" cy="250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vi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67302" name="Oval 6"/>
            <p:cNvSpPr>
              <a:spLocks noChangeArrowheads="1"/>
            </p:cNvSpPr>
            <p:nvPr/>
          </p:nvSpPr>
          <p:spPr bwMode="auto">
            <a:xfrm>
              <a:off x="3877" y="2319"/>
              <a:ext cx="182" cy="227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vj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67303" name="Oval 7"/>
            <p:cNvSpPr>
              <a:spLocks noChangeArrowheads="1"/>
            </p:cNvSpPr>
            <p:nvPr/>
          </p:nvSpPr>
          <p:spPr bwMode="auto">
            <a:xfrm>
              <a:off x="2744" y="1661"/>
              <a:ext cx="272" cy="249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vk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cxnSp>
          <p:nvCxnSpPr>
            <p:cNvPr id="70664" name="AutoShape 8"/>
            <p:cNvCxnSpPr>
              <a:stCxn id="567301" idx="6"/>
              <a:endCxn id="567303" idx="2"/>
            </p:cNvCxnSpPr>
            <p:nvPr/>
          </p:nvCxnSpPr>
          <p:spPr>
            <a:xfrm flipV="1">
              <a:off x="1927" y="1786"/>
              <a:ext cx="817" cy="635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</p:cxnSp>
        <p:cxnSp>
          <p:nvCxnSpPr>
            <p:cNvPr id="70665" name="AutoShape 9"/>
            <p:cNvCxnSpPr>
              <a:stCxn id="567303" idx="6"/>
              <a:endCxn id="567302" idx="2"/>
            </p:cNvCxnSpPr>
            <p:nvPr/>
          </p:nvCxnSpPr>
          <p:spPr>
            <a:xfrm>
              <a:off x="3016" y="1786"/>
              <a:ext cx="861" cy="647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</p:cxnSp>
        <p:sp>
          <p:nvSpPr>
            <p:cNvPr id="567306" name="Text Box 10"/>
            <p:cNvSpPr txBox="1">
              <a:spLocks noChangeArrowheads="1"/>
            </p:cNvSpPr>
            <p:nvPr/>
          </p:nvSpPr>
          <p:spPr bwMode="auto">
            <a:xfrm>
              <a:off x="1383" y="1706"/>
              <a:ext cx="953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 anchor="b">
              <a:spAutoFit/>
            </a:bodyPr>
            <a:lstStyle/>
            <a:p>
              <a:pPr marR="0" algn="ctr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D</a:t>
              </a:r>
              <a:r>
                <a:rPr kumimoji="0" lang="en-US" altLang="zh-CN" kern="1200" cap="none" spc="0" normalizeH="0" baseline="3000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k-1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[i][k]</a:t>
              </a:r>
              <a:endPara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67307" name="Text Box 11"/>
            <p:cNvSpPr txBox="1">
              <a:spLocks noChangeArrowheads="1"/>
            </p:cNvSpPr>
            <p:nvPr/>
          </p:nvSpPr>
          <p:spPr bwMode="auto">
            <a:xfrm>
              <a:off x="2381" y="2568"/>
              <a:ext cx="910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 anchor="b">
              <a:spAutoFit/>
            </a:bodyPr>
            <a:lstStyle/>
            <a:p>
              <a:pPr marR="0" algn="ctr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D</a:t>
              </a:r>
              <a:r>
                <a:rPr kumimoji="0" lang="en-US" altLang="zh-CN" kern="1200" cap="none" spc="0" normalizeH="0" baseline="3000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k-1</a:t>
              </a:r>
              <a:r>
                <a:rPr kumimoji="0" lang="en-US" altLang="zh-CN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Verdana" panose="020B0604030504040204" pitchFamily="34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[i][j]</a:t>
              </a:r>
              <a:endPara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sp>
          <p:nvSpPr>
            <p:cNvPr id="567308" name="Rectangle 12"/>
            <p:cNvSpPr>
              <a:spLocks noChangeArrowheads="1"/>
            </p:cNvSpPr>
            <p:nvPr/>
          </p:nvSpPr>
          <p:spPr bwMode="auto">
            <a:xfrm>
              <a:off x="3470" y="1706"/>
              <a:ext cx="962" cy="250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 wrap="none" anchor="b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D</a:t>
              </a:r>
              <a:r>
                <a:rPr kumimoji="0" lang="en-US" altLang="zh-CN" sz="2000" b="1" i="0" u="none" strike="noStrike" kern="1200" cap="none" spc="0" normalizeH="0" baseline="3000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k-1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Verdana" panose="020B0604030504040204" pitchFamily="34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[k][j]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endParaRPr>
            </a:p>
          </p:txBody>
        </p:sp>
        <p:cxnSp>
          <p:nvCxnSpPr>
            <p:cNvPr id="70669" name="AutoShape 13"/>
            <p:cNvCxnSpPr>
              <a:stCxn id="567301" idx="6"/>
              <a:endCxn id="567302" idx="2"/>
            </p:cNvCxnSpPr>
            <p:nvPr/>
          </p:nvCxnSpPr>
          <p:spPr>
            <a:xfrm>
              <a:off x="1927" y="2421"/>
              <a:ext cx="1950" cy="12"/>
            </a:xfrm>
            <a:prstGeom prst="straightConnector1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07554" name="表格 407553"/>
          <p:cNvGraphicFramePr/>
          <p:nvPr/>
        </p:nvGraphicFramePr>
        <p:xfrm>
          <a:off x="250825" y="2500313"/>
          <a:ext cx="2160588" cy="1473200"/>
        </p:xfrm>
        <a:graphic>
          <a:graphicData uri="http://schemas.openxmlformats.org/drawingml/2006/table">
            <a:tbl>
              <a:tblPr/>
              <a:tblGrid>
                <a:gridCol w="541338"/>
                <a:gridCol w="539750"/>
                <a:gridCol w="539750"/>
                <a:gridCol w="539750"/>
              </a:tblGrid>
              <a:tr h="36839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-1</a:t>
                      </a:r>
                      <a:endParaRPr lang="en-US" altLang="zh-CN" sz="16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9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4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01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9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07581" name="表格 407580"/>
          <p:cNvGraphicFramePr/>
          <p:nvPr/>
        </p:nvGraphicFramePr>
        <p:xfrm>
          <a:off x="3419475" y="2505075"/>
          <a:ext cx="2087563" cy="1465263"/>
        </p:xfrm>
        <a:graphic>
          <a:graphicData uri="http://schemas.openxmlformats.org/drawingml/2006/table">
            <a:tbl>
              <a:tblPr/>
              <a:tblGrid>
                <a:gridCol w="522288"/>
                <a:gridCol w="522287"/>
                <a:gridCol w="522288"/>
                <a:gridCol w="520700"/>
              </a:tblGrid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3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4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2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7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68423" name="Text Box 71"/>
          <p:cNvSpPr txBox="1">
            <a:spLocks noChangeArrowheads="1"/>
          </p:cNvSpPr>
          <p:nvPr/>
        </p:nvSpPr>
        <p:spPr bwMode="auto">
          <a:xfrm>
            <a:off x="5822950" y="2360613"/>
            <a:ext cx="3141663" cy="3444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插入顶点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v0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：</a:t>
            </a:r>
            <a:endParaRPr kumimoji="0" lang="zh-CN" altLang="en-US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[1][2]=MIN{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[1][0]+D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[0][2],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[1][2]}=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MIN{6+11,2}=2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[2][1]=MIN{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[2][0]+D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[0][1],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-1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[2][1]}=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MIN{3+4, ∞}=7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graphicFrame>
        <p:nvGraphicFramePr>
          <p:cNvPr id="407609" name="表格 407608"/>
          <p:cNvGraphicFramePr/>
          <p:nvPr/>
        </p:nvGraphicFramePr>
        <p:xfrm>
          <a:off x="250825" y="4233863"/>
          <a:ext cx="2160588" cy="1465263"/>
        </p:xfrm>
        <a:graphic>
          <a:graphicData uri="http://schemas.openxmlformats.org/drawingml/2006/table">
            <a:tbl>
              <a:tblPr/>
              <a:tblGrid>
                <a:gridCol w="539750"/>
                <a:gridCol w="541338"/>
                <a:gridCol w="539750"/>
                <a:gridCol w="539750"/>
              </a:tblGrid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P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-1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2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AC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BA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1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07636" name="表格 407635"/>
          <p:cNvGraphicFramePr/>
          <p:nvPr/>
        </p:nvGraphicFramePr>
        <p:xfrm>
          <a:off x="3419475" y="4233863"/>
          <a:ext cx="2160588" cy="1465263"/>
        </p:xfrm>
        <a:graphic>
          <a:graphicData uri="http://schemas.openxmlformats.org/drawingml/2006/table">
            <a:tbl>
              <a:tblPr/>
              <a:tblGrid>
                <a:gridCol w="541338"/>
                <a:gridCol w="539750"/>
                <a:gridCol w="541337"/>
                <a:gridCol w="538163"/>
              </a:tblGrid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P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2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AC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BA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1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CAB</a:t>
                      </a:r>
                      <a:endParaRPr lang="en-US" altLang="zh-CN" sz="12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68507" name="AutoShape 155"/>
          <p:cNvSpPr>
            <a:spLocks noChangeArrowheads="1"/>
          </p:cNvSpPr>
          <p:nvPr/>
        </p:nvSpPr>
        <p:spPr bwMode="auto">
          <a:xfrm rot="16200000">
            <a:off x="2808288" y="3981450"/>
            <a:ext cx="215900" cy="288925"/>
          </a:xfrm>
          <a:prstGeom prst="downArrow">
            <a:avLst>
              <a:gd name="adj1" fmla="val 50000"/>
              <a:gd name="adj2" fmla="val 33456"/>
            </a:avLst>
          </a:prstGeom>
          <a:noFill/>
          <a:ln w="9525" algn="ctr">
            <a:solidFill>
              <a:schemeClr val="accent2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68508" name="Text Box 156"/>
          <p:cNvSpPr txBox="1">
            <a:spLocks noChangeArrowheads="1"/>
          </p:cNvSpPr>
          <p:nvPr/>
        </p:nvSpPr>
        <p:spPr bwMode="auto">
          <a:xfrm>
            <a:off x="2555875" y="2865438"/>
            <a:ext cx="647700" cy="9159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1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插入顶点</a:t>
            </a:r>
            <a:r>
              <a:rPr kumimoji="0" lang="en-US" altLang="zh-CN" sz="1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v0</a:t>
            </a:r>
            <a:endParaRPr kumimoji="0" lang="en-US" altLang="zh-CN" sz="18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68511" name="Line 159"/>
          <p:cNvSpPr>
            <a:spLocks noChangeShapeType="1"/>
          </p:cNvSpPr>
          <p:nvPr/>
        </p:nvSpPr>
        <p:spPr bwMode="auto">
          <a:xfrm>
            <a:off x="4602163" y="1571625"/>
            <a:ext cx="14287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72818" name="Picture 1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916238" cy="23320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2819" name="Picture 1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113" y="404813"/>
            <a:ext cx="2222500" cy="1538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68512" name="AutoShape 160"/>
          <p:cNvSpPr>
            <a:spLocks noChangeArrowheads="1"/>
          </p:cNvSpPr>
          <p:nvPr/>
        </p:nvSpPr>
        <p:spPr bwMode="auto">
          <a:xfrm>
            <a:off x="6084888" y="333375"/>
            <a:ext cx="1798638" cy="393700"/>
          </a:xfrm>
          <a:prstGeom prst="wedgeRoundRectCallout">
            <a:avLst>
              <a:gd name="adj1" fmla="val -115046"/>
              <a:gd name="adj2" fmla="val 303227"/>
              <a:gd name="adj3" fmla="val 16667"/>
            </a:avLst>
          </a:prstGeom>
          <a:noFill/>
          <a:ln w="9525" algn="ctr">
            <a:solidFill>
              <a:schemeClr val="accent2"/>
            </a:solidFill>
            <a:miter lim="800000"/>
          </a:ln>
          <a:effectLst/>
        </p:spPr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阻止计算环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68516" name="Line 164"/>
          <p:cNvSpPr>
            <a:spLocks noChangeShapeType="1"/>
          </p:cNvSpPr>
          <p:nvPr/>
        </p:nvSpPr>
        <p:spPr bwMode="auto">
          <a:xfrm>
            <a:off x="3419475" y="836613"/>
            <a:ext cx="2159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68517" name="Line 165"/>
          <p:cNvSpPr>
            <a:spLocks noChangeShapeType="1"/>
          </p:cNvSpPr>
          <p:nvPr/>
        </p:nvSpPr>
        <p:spPr bwMode="auto">
          <a:xfrm>
            <a:off x="4067175" y="1341438"/>
            <a:ext cx="2159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</a:ln>
          <a:effectLst/>
        </p:spPr>
        <p:txBody>
          <a:bodyPr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68518" name="Line 166"/>
          <p:cNvSpPr>
            <a:spLocks noChangeShapeType="1"/>
          </p:cNvSpPr>
          <p:nvPr/>
        </p:nvSpPr>
        <p:spPr bwMode="auto">
          <a:xfrm>
            <a:off x="4716463" y="1773238"/>
            <a:ext cx="2159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</a:ln>
          <a:effectLst/>
        </p:spPr>
        <p:txBody>
          <a:bodyPr wrap="none" anchor="b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08578" name="表格 408577"/>
          <p:cNvGraphicFramePr/>
          <p:nvPr/>
        </p:nvGraphicFramePr>
        <p:xfrm>
          <a:off x="250825" y="2428875"/>
          <a:ext cx="2160588" cy="1473200"/>
        </p:xfrm>
        <a:graphic>
          <a:graphicData uri="http://schemas.openxmlformats.org/drawingml/2006/table">
            <a:tbl>
              <a:tblPr/>
              <a:tblGrid>
                <a:gridCol w="541338"/>
                <a:gridCol w="539750"/>
                <a:gridCol w="539750"/>
                <a:gridCol w="539750"/>
              </a:tblGrid>
              <a:tr h="36839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9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4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01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9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7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08605" name="表格 408604"/>
          <p:cNvGraphicFramePr/>
          <p:nvPr/>
        </p:nvGraphicFramePr>
        <p:xfrm>
          <a:off x="3419475" y="2433638"/>
          <a:ext cx="2087563" cy="1465263"/>
        </p:xfrm>
        <a:graphic>
          <a:graphicData uri="http://schemas.openxmlformats.org/drawingml/2006/table">
            <a:tbl>
              <a:tblPr/>
              <a:tblGrid>
                <a:gridCol w="522288"/>
                <a:gridCol w="522287"/>
                <a:gridCol w="522288"/>
                <a:gridCol w="520700"/>
              </a:tblGrid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2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4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1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7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69433" name="Text Box 57"/>
          <p:cNvSpPr txBox="1">
            <a:spLocks noChangeArrowheads="1"/>
          </p:cNvSpPr>
          <p:nvPr/>
        </p:nvSpPr>
        <p:spPr bwMode="auto">
          <a:xfrm>
            <a:off x="5822950" y="2289175"/>
            <a:ext cx="2982913" cy="34448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插入顶点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v1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：</a:t>
            </a:r>
            <a:endParaRPr kumimoji="0" lang="zh-CN" altLang="en-US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[0][2]=MIN{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[0][1]+D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[1][2],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[0][2]}=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MIN{4+2,11}=6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[2][0]=MIN{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[2][1]+D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[1][0],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[2][0]}=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MIN{7+6, 3}=3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graphicFrame>
        <p:nvGraphicFramePr>
          <p:cNvPr id="408633" name="表格 408632"/>
          <p:cNvGraphicFramePr/>
          <p:nvPr/>
        </p:nvGraphicFramePr>
        <p:xfrm>
          <a:off x="250825" y="4162425"/>
          <a:ext cx="2160588" cy="1465263"/>
        </p:xfrm>
        <a:graphic>
          <a:graphicData uri="http://schemas.openxmlformats.org/drawingml/2006/table">
            <a:tbl>
              <a:tblPr/>
              <a:tblGrid>
                <a:gridCol w="539750"/>
                <a:gridCol w="541338"/>
                <a:gridCol w="539750"/>
                <a:gridCol w="539750"/>
              </a:tblGrid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P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3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AC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BA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2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CAB</a:t>
                      </a:r>
                      <a:endParaRPr lang="en-US" altLang="zh-CN" sz="12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08660" name="表格 408659"/>
          <p:cNvGraphicFramePr/>
          <p:nvPr/>
        </p:nvGraphicFramePr>
        <p:xfrm>
          <a:off x="3419475" y="4162425"/>
          <a:ext cx="2160588" cy="1465263"/>
        </p:xfrm>
        <a:graphic>
          <a:graphicData uri="http://schemas.openxmlformats.org/drawingml/2006/table">
            <a:tbl>
              <a:tblPr/>
              <a:tblGrid>
                <a:gridCol w="541338"/>
                <a:gridCol w="539750"/>
                <a:gridCol w="541337"/>
                <a:gridCol w="538163"/>
              </a:tblGrid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P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3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ABC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BA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2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CAB</a:t>
                      </a:r>
                      <a:endParaRPr lang="en-US" altLang="zh-CN" sz="12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69490" name="AutoShape 114"/>
          <p:cNvSpPr>
            <a:spLocks noChangeArrowheads="1"/>
          </p:cNvSpPr>
          <p:nvPr/>
        </p:nvSpPr>
        <p:spPr bwMode="auto">
          <a:xfrm rot="16200000">
            <a:off x="2808288" y="3910013"/>
            <a:ext cx="215900" cy="288925"/>
          </a:xfrm>
          <a:prstGeom prst="downArrow">
            <a:avLst>
              <a:gd name="adj1" fmla="val 50000"/>
              <a:gd name="adj2" fmla="val 33456"/>
            </a:avLst>
          </a:prstGeom>
          <a:noFill/>
          <a:ln w="9525" algn="ctr">
            <a:solidFill>
              <a:schemeClr val="accent2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69491" name="Text Box 115"/>
          <p:cNvSpPr txBox="1">
            <a:spLocks noChangeArrowheads="1"/>
          </p:cNvSpPr>
          <p:nvPr/>
        </p:nvSpPr>
        <p:spPr bwMode="auto">
          <a:xfrm>
            <a:off x="2555875" y="2794000"/>
            <a:ext cx="647700" cy="9159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1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插入顶点</a:t>
            </a:r>
            <a:r>
              <a:rPr kumimoji="0" lang="en-US" altLang="zh-CN" sz="1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v1</a:t>
            </a:r>
            <a:endParaRPr kumimoji="0" lang="en-US" altLang="zh-CN" sz="18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73841" name="Picture 1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916238" cy="2332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09602" name="表格 409601"/>
          <p:cNvGraphicFramePr/>
          <p:nvPr/>
        </p:nvGraphicFramePr>
        <p:xfrm>
          <a:off x="250825" y="2428875"/>
          <a:ext cx="2160588" cy="1473200"/>
        </p:xfrm>
        <a:graphic>
          <a:graphicData uri="http://schemas.openxmlformats.org/drawingml/2006/table">
            <a:tbl>
              <a:tblPr/>
              <a:tblGrid>
                <a:gridCol w="541338"/>
                <a:gridCol w="539750"/>
                <a:gridCol w="539750"/>
                <a:gridCol w="539750"/>
              </a:tblGrid>
              <a:tr h="36839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9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4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01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9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7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2" marB="4681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09629" name="表格 409628"/>
          <p:cNvGraphicFramePr/>
          <p:nvPr/>
        </p:nvGraphicFramePr>
        <p:xfrm>
          <a:off x="3419475" y="2433638"/>
          <a:ext cx="2087563" cy="1465263"/>
        </p:xfrm>
        <a:graphic>
          <a:graphicData uri="http://schemas.openxmlformats.org/drawingml/2006/table">
            <a:tbl>
              <a:tblPr/>
              <a:tblGrid>
                <a:gridCol w="522288"/>
                <a:gridCol w="522287"/>
                <a:gridCol w="522288"/>
                <a:gridCol w="520700"/>
              </a:tblGrid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2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4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5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1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7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70457" name="Text Box 57"/>
          <p:cNvSpPr txBox="1">
            <a:spLocks noChangeArrowheads="1"/>
          </p:cNvSpPr>
          <p:nvPr/>
        </p:nvSpPr>
        <p:spPr bwMode="auto">
          <a:xfrm>
            <a:off x="5724525" y="2420938"/>
            <a:ext cx="2982913" cy="161607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插入顶点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v2</a:t>
            </a:r>
            <a:r>
              <a:rPr kumimoji="0" lang="zh-CN" altLang="en-US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：</a:t>
            </a:r>
            <a:endParaRPr kumimoji="0" lang="zh-CN" altLang="en-US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[1][0]=MIN{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[1][2]+D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[2][0],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D</a:t>
            </a:r>
            <a:r>
              <a:rPr kumimoji="0" lang="en-US" altLang="zh-CN" kern="1200" cap="none" spc="0" normalizeH="0" baseline="3000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[1][0]}=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MIN{2+3,6}=5</a:t>
            </a:r>
            <a:endParaRPr kumimoji="0" lang="en-US" altLang="zh-CN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graphicFrame>
        <p:nvGraphicFramePr>
          <p:cNvPr id="409657" name="表格 409656"/>
          <p:cNvGraphicFramePr/>
          <p:nvPr/>
        </p:nvGraphicFramePr>
        <p:xfrm>
          <a:off x="250825" y="4162425"/>
          <a:ext cx="2160588" cy="1465263"/>
        </p:xfrm>
        <a:graphic>
          <a:graphicData uri="http://schemas.openxmlformats.org/drawingml/2006/table">
            <a:tbl>
              <a:tblPr/>
              <a:tblGrid>
                <a:gridCol w="539750"/>
                <a:gridCol w="541338"/>
                <a:gridCol w="539750"/>
                <a:gridCol w="539750"/>
              </a:tblGrid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P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3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ABC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BA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2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CAB</a:t>
                      </a:r>
                      <a:endParaRPr lang="en-US" altLang="zh-CN" sz="12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09684" name="表格 409683"/>
          <p:cNvGraphicFramePr/>
          <p:nvPr/>
        </p:nvGraphicFramePr>
        <p:xfrm>
          <a:off x="3419475" y="4162425"/>
          <a:ext cx="2160588" cy="1465263"/>
        </p:xfrm>
        <a:graphic>
          <a:graphicData uri="http://schemas.openxmlformats.org/drawingml/2006/table">
            <a:tbl>
              <a:tblPr/>
              <a:tblGrid>
                <a:gridCol w="541338"/>
                <a:gridCol w="539750"/>
                <a:gridCol w="541337"/>
                <a:gridCol w="538163"/>
              </a:tblGrid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P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3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ABC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3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BCA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92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CAB</a:t>
                      </a:r>
                      <a:endParaRPr lang="en-US" altLang="zh-CN" sz="12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30" marB="4573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70514" name="AutoShape 114"/>
          <p:cNvSpPr>
            <a:spLocks noChangeArrowheads="1"/>
          </p:cNvSpPr>
          <p:nvPr/>
        </p:nvSpPr>
        <p:spPr bwMode="auto">
          <a:xfrm rot="16200000">
            <a:off x="2808288" y="3910013"/>
            <a:ext cx="215900" cy="288925"/>
          </a:xfrm>
          <a:prstGeom prst="downArrow">
            <a:avLst>
              <a:gd name="adj1" fmla="val 50000"/>
              <a:gd name="adj2" fmla="val 33456"/>
            </a:avLst>
          </a:prstGeom>
          <a:noFill/>
          <a:ln w="9525" algn="ctr">
            <a:solidFill>
              <a:schemeClr val="accent2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70515" name="Text Box 115"/>
          <p:cNvSpPr txBox="1">
            <a:spLocks noChangeArrowheads="1"/>
          </p:cNvSpPr>
          <p:nvPr/>
        </p:nvSpPr>
        <p:spPr bwMode="auto">
          <a:xfrm>
            <a:off x="2555875" y="2794000"/>
            <a:ext cx="647700" cy="9159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1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插入顶点</a:t>
            </a:r>
            <a:r>
              <a:rPr kumimoji="0" lang="en-US" altLang="zh-CN" sz="1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v2</a:t>
            </a:r>
            <a:endParaRPr kumimoji="0" lang="en-US" altLang="zh-CN" sz="18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74865" name="Picture 1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916238" cy="2332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42053" name="Text Box 5"/>
          <p:cNvSpPr txBox="1">
            <a:spLocks noChangeArrowheads="1"/>
          </p:cNvSpPr>
          <p:nvPr/>
        </p:nvSpPr>
        <p:spPr bwMode="auto">
          <a:xfrm>
            <a:off x="250825" y="820738"/>
            <a:ext cx="8497888" cy="10668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利用</a:t>
            </a:r>
            <a:r>
              <a:rPr kumimoji="0" lang="en-US" altLang="zh-CN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Floyd</a:t>
            </a:r>
            <a:r>
              <a:rPr kumimoji="0" lang="zh-CN" altLang="en-US" sz="32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算法，求下图顶点间的最短路径，并写出算法执行时各个步骤的状态</a:t>
            </a:r>
            <a:endParaRPr kumimoji="0" lang="zh-CN" altLang="en-US" sz="32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75779" name="Picture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3333"/>
          <a:stretch>
            <a:fillRect/>
          </a:stretch>
        </p:blipFill>
        <p:spPr>
          <a:xfrm>
            <a:off x="1835150" y="2852738"/>
            <a:ext cx="5903913" cy="3117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411650" name="表格 411649"/>
          <p:cNvGraphicFramePr/>
          <p:nvPr/>
        </p:nvGraphicFramePr>
        <p:xfrm>
          <a:off x="611188" y="2708275"/>
          <a:ext cx="2700338" cy="1841500"/>
        </p:xfrm>
        <a:graphic>
          <a:graphicData uri="http://schemas.openxmlformats.org/drawingml/2006/table">
            <a:tbl>
              <a:tblPr/>
              <a:tblGrid>
                <a:gridCol w="541338"/>
                <a:gridCol w="539750"/>
                <a:gridCol w="539750"/>
                <a:gridCol w="539750"/>
                <a:gridCol w="539750"/>
              </a:tblGrid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-1</a:t>
                      </a:r>
                      <a:endParaRPr lang="en-US" altLang="zh-CN" sz="16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99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5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4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1688" name="表格 411687"/>
          <p:cNvGraphicFramePr/>
          <p:nvPr/>
        </p:nvGraphicFramePr>
        <p:xfrm>
          <a:off x="611188" y="4797425"/>
          <a:ext cx="2700338" cy="1830389"/>
        </p:xfrm>
        <a:graphic>
          <a:graphicData uri="http://schemas.openxmlformats.org/drawingml/2006/table">
            <a:tbl>
              <a:tblPr/>
              <a:tblGrid>
                <a:gridCol w="539750"/>
                <a:gridCol w="541338"/>
                <a:gridCol w="539750"/>
                <a:gridCol w="539750"/>
                <a:gridCol w="539750"/>
              </a:tblGrid>
              <a:tr h="36573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P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-1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60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AD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9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CD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DB</a:t>
                      </a:r>
                      <a:endParaRPr lang="en-US" altLang="zh-CN" sz="16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6842" name="AutoShape 58"/>
          <p:cNvSpPr>
            <a:spLocks noChangeArrowheads="1"/>
          </p:cNvSpPr>
          <p:nvPr/>
        </p:nvSpPr>
        <p:spPr bwMode="auto">
          <a:xfrm rot="16200000">
            <a:off x="3960813" y="4189413"/>
            <a:ext cx="215900" cy="288925"/>
          </a:xfrm>
          <a:prstGeom prst="downArrow">
            <a:avLst>
              <a:gd name="adj1" fmla="val 50000"/>
              <a:gd name="adj2" fmla="val 33456"/>
            </a:avLst>
          </a:prstGeom>
          <a:noFill/>
          <a:ln w="9525" algn="ctr">
            <a:solidFill>
              <a:schemeClr val="accent2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86843" name="Text Box 59"/>
          <p:cNvSpPr txBox="1">
            <a:spLocks noChangeArrowheads="1"/>
          </p:cNvSpPr>
          <p:nvPr/>
        </p:nvSpPr>
        <p:spPr bwMode="auto">
          <a:xfrm>
            <a:off x="3708400" y="3073400"/>
            <a:ext cx="863600" cy="9159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1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插入顶点</a:t>
            </a:r>
            <a:r>
              <a:rPr kumimoji="0" lang="en-US" altLang="zh-CN" sz="1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0(A)</a:t>
            </a:r>
            <a:endParaRPr kumimoji="0" lang="en-US" altLang="zh-CN" sz="18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76880" name="Picture 60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3333"/>
          <a:stretch>
            <a:fillRect/>
          </a:stretch>
        </p:blipFill>
        <p:spPr>
          <a:xfrm>
            <a:off x="2339975" y="0"/>
            <a:ext cx="4392613" cy="23193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11729" name="表格 411728"/>
          <p:cNvGraphicFramePr/>
          <p:nvPr/>
        </p:nvGraphicFramePr>
        <p:xfrm>
          <a:off x="4679950" y="2708275"/>
          <a:ext cx="2700338" cy="1841500"/>
        </p:xfrm>
        <a:graphic>
          <a:graphicData uri="http://schemas.openxmlformats.org/drawingml/2006/table">
            <a:tbl>
              <a:tblPr/>
              <a:tblGrid>
                <a:gridCol w="541338"/>
                <a:gridCol w="539750"/>
                <a:gridCol w="539750"/>
                <a:gridCol w="539750"/>
                <a:gridCol w="539750"/>
              </a:tblGrid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6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99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5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4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1767" name="表格 411766"/>
          <p:cNvGraphicFramePr/>
          <p:nvPr/>
        </p:nvGraphicFramePr>
        <p:xfrm>
          <a:off x="4679950" y="4797425"/>
          <a:ext cx="2700338" cy="1830389"/>
        </p:xfrm>
        <a:graphic>
          <a:graphicData uri="http://schemas.openxmlformats.org/drawingml/2006/table">
            <a:tbl>
              <a:tblPr/>
              <a:tblGrid>
                <a:gridCol w="539750"/>
                <a:gridCol w="541338"/>
                <a:gridCol w="539750"/>
                <a:gridCol w="539750"/>
                <a:gridCol w="539750"/>
              </a:tblGrid>
              <a:tr h="36573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P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60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AD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9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CAB</a:t>
                      </a:r>
                      <a:endParaRPr lang="en-US" altLang="zh-CN" sz="12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CD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DB</a:t>
                      </a:r>
                      <a:endParaRPr lang="en-US" altLang="zh-CN" sz="16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412674" name="表格 412673"/>
          <p:cNvGraphicFramePr/>
          <p:nvPr/>
        </p:nvGraphicFramePr>
        <p:xfrm>
          <a:off x="611188" y="2708275"/>
          <a:ext cx="2700338" cy="1841500"/>
        </p:xfrm>
        <a:graphic>
          <a:graphicData uri="http://schemas.openxmlformats.org/drawingml/2006/table">
            <a:tbl>
              <a:tblPr/>
              <a:tblGrid>
                <a:gridCol w="541338"/>
                <a:gridCol w="539750"/>
                <a:gridCol w="539750"/>
                <a:gridCol w="539750"/>
                <a:gridCol w="539750"/>
              </a:tblGrid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6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99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5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4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2712" name="表格 412711"/>
          <p:cNvGraphicFramePr/>
          <p:nvPr/>
        </p:nvGraphicFramePr>
        <p:xfrm>
          <a:off x="611188" y="4797425"/>
          <a:ext cx="2700338" cy="1830389"/>
        </p:xfrm>
        <a:graphic>
          <a:graphicData uri="http://schemas.openxmlformats.org/drawingml/2006/table">
            <a:tbl>
              <a:tblPr/>
              <a:tblGrid>
                <a:gridCol w="539750"/>
                <a:gridCol w="541338"/>
                <a:gridCol w="539750"/>
                <a:gridCol w="539750"/>
                <a:gridCol w="539750"/>
              </a:tblGrid>
              <a:tr h="36573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P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60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AD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9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CAB</a:t>
                      </a:r>
                      <a:endParaRPr lang="en-US" altLang="zh-CN" sz="12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CD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DB</a:t>
                      </a:r>
                      <a:endParaRPr lang="en-US" altLang="zh-CN" sz="16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7894" name="AutoShape 86"/>
          <p:cNvSpPr>
            <a:spLocks noChangeArrowheads="1"/>
          </p:cNvSpPr>
          <p:nvPr/>
        </p:nvSpPr>
        <p:spPr bwMode="auto">
          <a:xfrm rot="16200000">
            <a:off x="3960813" y="4189413"/>
            <a:ext cx="215900" cy="288925"/>
          </a:xfrm>
          <a:prstGeom prst="downArrow">
            <a:avLst>
              <a:gd name="adj1" fmla="val 50000"/>
              <a:gd name="adj2" fmla="val 33456"/>
            </a:avLst>
          </a:prstGeom>
          <a:noFill/>
          <a:ln w="9525" algn="ctr">
            <a:solidFill>
              <a:schemeClr val="accent2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87895" name="Text Box 87"/>
          <p:cNvSpPr txBox="1">
            <a:spLocks noChangeArrowheads="1"/>
          </p:cNvSpPr>
          <p:nvPr/>
        </p:nvSpPr>
        <p:spPr bwMode="auto">
          <a:xfrm>
            <a:off x="3708400" y="3073400"/>
            <a:ext cx="863600" cy="9159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1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插入顶点</a:t>
            </a:r>
            <a:r>
              <a:rPr kumimoji="0" lang="en-US" altLang="zh-CN" sz="1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1(B)</a:t>
            </a:r>
            <a:endParaRPr kumimoji="0" lang="en-US" altLang="zh-CN" sz="18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77904" name="Picture 88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3333"/>
          <a:stretch>
            <a:fillRect/>
          </a:stretch>
        </p:blipFill>
        <p:spPr>
          <a:xfrm>
            <a:off x="2339975" y="0"/>
            <a:ext cx="4392613" cy="23193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12753" name="表格 412752"/>
          <p:cNvGraphicFramePr/>
          <p:nvPr/>
        </p:nvGraphicFramePr>
        <p:xfrm>
          <a:off x="4679950" y="2708275"/>
          <a:ext cx="2700338" cy="1841500"/>
        </p:xfrm>
        <a:graphic>
          <a:graphicData uri="http://schemas.openxmlformats.org/drawingml/2006/table">
            <a:tbl>
              <a:tblPr/>
              <a:tblGrid>
                <a:gridCol w="541338"/>
                <a:gridCol w="539750"/>
                <a:gridCol w="539750"/>
                <a:gridCol w="539750"/>
                <a:gridCol w="539750"/>
              </a:tblGrid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D1</a:t>
                      </a:r>
                      <a:endParaRPr lang="en-US" altLang="zh-CN" sz="16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99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5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4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5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2791" name="表格 412790"/>
          <p:cNvGraphicFramePr/>
          <p:nvPr/>
        </p:nvGraphicFramePr>
        <p:xfrm>
          <a:off x="4679950" y="4797425"/>
          <a:ext cx="2700338" cy="1830389"/>
        </p:xfrm>
        <a:graphic>
          <a:graphicData uri="http://schemas.openxmlformats.org/drawingml/2006/table">
            <a:tbl>
              <a:tblPr/>
              <a:tblGrid>
                <a:gridCol w="539750"/>
                <a:gridCol w="541338"/>
                <a:gridCol w="539750"/>
                <a:gridCol w="539750"/>
                <a:gridCol w="539750"/>
              </a:tblGrid>
              <a:tr h="36573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P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60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ABC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AD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9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CAB</a:t>
                      </a:r>
                      <a:endParaRPr lang="en-US" altLang="zh-CN" sz="12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CD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DB</a:t>
                      </a:r>
                      <a:endParaRPr lang="en-US" altLang="zh-CN" sz="16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DBC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413698" name="表格 413697"/>
          <p:cNvGraphicFramePr/>
          <p:nvPr/>
        </p:nvGraphicFramePr>
        <p:xfrm>
          <a:off x="611188" y="2708275"/>
          <a:ext cx="2700338" cy="1841500"/>
        </p:xfrm>
        <a:graphic>
          <a:graphicData uri="http://schemas.openxmlformats.org/drawingml/2006/table">
            <a:tbl>
              <a:tblPr/>
              <a:tblGrid>
                <a:gridCol w="541338"/>
                <a:gridCol w="539750"/>
                <a:gridCol w="539750"/>
                <a:gridCol w="539750"/>
                <a:gridCol w="539750"/>
              </a:tblGrid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6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99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5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∞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4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5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3736" name="表格 413735"/>
          <p:cNvGraphicFramePr/>
          <p:nvPr/>
        </p:nvGraphicFramePr>
        <p:xfrm>
          <a:off x="611188" y="4797425"/>
          <a:ext cx="2700338" cy="1830389"/>
        </p:xfrm>
        <a:graphic>
          <a:graphicData uri="http://schemas.openxmlformats.org/drawingml/2006/table">
            <a:tbl>
              <a:tblPr/>
              <a:tblGrid>
                <a:gridCol w="539750"/>
                <a:gridCol w="541338"/>
                <a:gridCol w="539750"/>
                <a:gridCol w="539750"/>
                <a:gridCol w="539750"/>
              </a:tblGrid>
              <a:tr h="36573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P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60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ABC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AD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99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CAB</a:t>
                      </a:r>
                      <a:endParaRPr lang="en-US" altLang="zh-CN" sz="12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CD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30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DB</a:t>
                      </a:r>
                      <a:endParaRPr lang="en-US" altLang="zh-CN" sz="16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DBC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05" marB="45705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8918" name="AutoShape 86"/>
          <p:cNvSpPr>
            <a:spLocks noChangeArrowheads="1"/>
          </p:cNvSpPr>
          <p:nvPr/>
        </p:nvSpPr>
        <p:spPr bwMode="auto">
          <a:xfrm rot="16200000">
            <a:off x="3960813" y="4189413"/>
            <a:ext cx="215900" cy="288925"/>
          </a:xfrm>
          <a:prstGeom prst="downArrow">
            <a:avLst>
              <a:gd name="adj1" fmla="val 50000"/>
              <a:gd name="adj2" fmla="val 33456"/>
            </a:avLst>
          </a:prstGeom>
          <a:noFill/>
          <a:ln w="9525" algn="ctr">
            <a:solidFill>
              <a:schemeClr val="accent2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88919" name="Text Box 87"/>
          <p:cNvSpPr txBox="1">
            <a:spLocks noChangeArrowheads="1"/>
          </p:cNvSpPr>
          <p:nvPr/>
        </p:nvSpPr>
        <p:spPr bwMode="auto">
          <a:xfrm>
            <a:off x="3708400" y="3073400"/>
            <a:ext cx="863600" cy="9159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1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插入顶点</a:t>
            </a:r>
            <a:r>
              <a:rPr kumimoji="0" lang="en-US" altLang="zh-CN" sz="1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2(C)</a:t>
            </a:r>
            <a:endParaRPr kumimoji="0" lang="en-US" altLang="zh-CN" sz="18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78928" name="Picture 88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3333"/>
          <a:stretch>
            <a:fillRect/>
          </a:stretch>
        </p:blipFill>
        <p:spPr>
          <a:xfrm>
            <a:off x="2339975" y="0"/>
            <a:ext cx="4392613" cy="23193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13777" name="表格 413776"/>
          <p:cNvGraphicFramePr/>
          <p:nvPr/>
        </p:nvGraphicFramePr>
        <p:xfrm>
          <a:off x="4679950" y="2708275"/>
          <a:ext cx="2700338" cy="1892300"/>
        </p:xfrm>
        <a:graphic>
          <a:graphicData uri="http://schemas.openxmlformats.org/drawingml/2006/table">
            <a:tbl>
              <a:tblPr/>
              <a:tblGrid>
                <a:gridCol w="539750"/>
                <a:gridCol w="541338"/>
                <a:gridCol w="539750"/>
                <a:gridCol w="539750"/>
                <a:gridCol w="539750"/>
              </a:tblGrid>
              <a:tr h="368374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6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4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84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994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5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4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4</a:t>
                      </a:r>
                      <a:endParaRPr lang="en-US" altLang="zh-CN" sz="18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5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3815" name="表格 413814"/>
          <p:cNvGraphicFramePr/>
          <p:nvPr/>
        </p:nvGraphicFramePr>
        <p:xfrm>
          <a:off x="4679950" y="4797425"/>
          <a:ext cx="2700338" cy="1922465"/>
        </p:xfrm>
        <a:graphic>
          <a:graphicData uri="http://schemas.openxmlformats.org/drawingml/2006/table">
            <a:tbl>
              <a:tblPr/>
              <a:tblGrid>
                <a:gridCol w="539750"/>
                <a:gridCol w="541338"/>
                <a:gridCol w="539750"/>
                <a:gridCol w="539750"/>
                <a:gridCol w="539750"/>
              </a:tblGrid>
              <a:tr h="365821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P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4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ABC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AD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1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BCA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BCD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3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CAB</a:t>
                      </a:r>
                      <a:endParaRPr lang="en-US" altLang="zh-CN" sz="12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CD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DBCA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DB</a:t>
                      </a:r>
                      <a:endParaRPr lang="en-US" altLang="zh-CN" sz="16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DBC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aphicFrame>
        <p:nvGraphicFramePr>
          <p:cNvPr id="414722" name="表格 414721"/>
          <p:cNvGraphicFramePr/>
          <p:nvPr/>
        </p:nvGraphicFramePr>
        <p:xfrm>
          <a:off x="611188" y="2708275"/>
          <a:ext cx="2700338" cy="1841500"/>
        </p:xfrm>
        <a:graphic>
          <a:graphicData uri="http://schemas.openxmlformats.org/drawingml/2006/table">
            <a:tbl>
              <a:tblPr/>
              <a:tblGrid>
                <a:gridCol w="541338"/>
                <a:gridCol w="539750"/>
                <a:gridCol w="539750"/>
                <a:gridCol w="539750"/>
                <a:gridCol w="539750"/>
              </a:tblGrid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6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99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5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4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5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10" marB="4681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4760" name="表格 414759"/>
          <p:cNvGraphicFramePr/>
          <p:nvPr/>
        </p:nvGraphicFramePr>
        <p:xfrm>
          <a:off x="611188" y="4797425"/>
          <a:ext cx="2700338" cy="1922465"/>
        </p:xfrm>
        <a:graphic>
          <a:graphicData uri="http://schemas.openxmlformats.org/drawingml/2006/table">
            <a:tbl>
              <a:tblPr/>
              <a:tblGrid>
                <a:gridCol w="539750"/>
                <a:gridCol w="541338"/>
                <a:gridCol w="539750"/>
                <a:gridCol w="539750"/>
                <a:gridCol w="539750"/>
              </a:tblGrid>
              <a:tr h="365821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P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4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ABC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AD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21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BCA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BCD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73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CAB</a:t>
                      </a:r>
                      <a:endParaRPr lang="en-US" altLang="zh-CN" sz="12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CD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76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DBCA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DB</a:t>
                      </a:r>
                      <a:endParaRPr lang="en-US" altLang="zh-CN" sz="16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DBC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8" marB="45728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942" name="AutoShape 86"/>
          <p:cNvSpPr>
            <a:spLocks noChangeArrowheads="1"/>
          </p:cNvSpPr>
          <p:nvPr/>
        </p:nvSpPr>
        <p:spPr bwMode="auto">
          <a:xfrm rot="16200000">
            <a:off x="3960813" y="4189413"/>
            <a:ext cx="215900" cy="288925"/>
          </a:xfrm>
          <a:prstGeom prst="downArrow">
            <a:avLst>
              <a:gd name="adj1" fmla="val 50000"/>
              <a:gd name="adj2" fmla="val 33456"/>
            </a:avLst>
          </a:prstGeom>
          <a:noFill/>
          <a:ln w="9525" algn="ctr">
            <a:solidFill>
              <a:schemeClr val="accent2"/>
            </a:solidFill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889943" name="Text Box 87"/>
          <p:cNvSpPr txBox="1">
            <a:spLocks noChangeArrowheads="1"/>
          </p:cNvSpPr>
          <p:nvPr/>
        </p:nvSpPr>
        <p:spPr bwMode="auto">
          <a:xfrm>
            <a:off x="3708400" y="3073400"/>
            <a:ext cx="863600" cy="91598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b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zh-CN" altLang="en-US" sz="1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插入顶点</a:t>
            </a:r>
            <a:r>
              <a:rPr kumimoji="0" lang="en-US" altLang="zh-CN" sz="1800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3(D)</a:t>
            </a:r>
            <a:endParaRPr kumimoji="0" lang="en-US" altLang="zh-CN" sz="1800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79952" name="Picture 88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3333"/>
          <a:stretch>
            <a:fillRect/>
          </a:stretch>
        </p:blipFill>
        <p:spPr>
          <a:xfrm>
            <a:off x="2339975" y="0"/>
            <a:ext cx="4392613" cy="23193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414801" name="表格 414800"/>
          <p:cNvGraphicFramePr/>
          <p:nvPr/>
        </p:nvGraphicFramePr>
        <p:xfrm>
          <a:off x="4679950" y="2708275"/>
          <a:ext cx="2700338" cy="1892300"/>
        </p:xfrm>
        <a:graphic>
          <a:graphicData uri="http://schemas.openxmlformats.org/drawingml/2006/table">
            <a:tbl>
              <a:tblPr/>
              <a:tblGrid>
                <a:gridCol w="539750"/>
                <a:gridCol w="541338"/>
                <a:gridCol w="539750"/>
                <a:gridCol w="539750"/>
                <a:gridCol w="539750"/>
              </a:tblGrid>
              <a:tr h="368374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6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4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84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7994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5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hlink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6</a:t>
                      </a:r>
                      <a:endParaRPr lang="en-US" altLang="zh-CN" sz="1800" dirty="0">
                        <a:solidFill>
                          <a:schemeClr val="hlink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8374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4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5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L="90000" marR="90000" marT="46809" marB="46809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4839" name="表格 414838"/>
          <p:cNvGraphicFramePr/>
          <p:nvPr/>
        </p:nvGraphicFramePr>
        <p:xfrm>
          <a:off x="4679950" y="4724400"/>
          <a:ext cx="2700338" cy="2049463"/>
        </p:xfrm>
        <a:graphic>
          <a:graphicData uri="http://schemas.openxmlformats.org/drawingml/2006/table">
            <a:tbl>
              <a:tblPr/>
              <a:tblGrid>
                <a:gridCol w="539750"/>
                <a:gridCol w="541338"/>
                <a:gridCol w="539750"/>
                <a:gridCol w="539750"/>
                <a:gridCol w="539750"/>
              </a:tblGrid>
              <a:tr h="36580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P</a:t>
                      </a:r>
                      <a:r>
                        <a:rPr lang="en-US" altLang="zh-CN" sz="1800" baseline="300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baseline="300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58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0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ABC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AD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805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1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BCA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BCD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3837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2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CAB</a:t>
                      </a:r>
                      <a:endParaRPr lang="en-US" altLang="zh-CN" sz="12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hlink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CDB</a:t>
                      </a:r>
                      <a:endParaRPr lang="en-US" altLang="zh-CN" sz="1200" dirty="0">
                        <a:solidFill>
                          <a:schemeClr val="hlink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CD</a:t>
                      </a:r>
                      <a:endParaRPr lang="en-US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57"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>
                          <a:solidFill>
                            <a:schemeClr val="accent2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3</a:t>
                      </a:r>
                      <a:endParaRPr lang="en-US" altLang="zh-CN" sz="1800" dirty="0">
                        <a:solidFill>
                          <a:schemeClr val="accent2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DBCA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600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DB</a:t>
                      </a:r>
                      <a:endParaRPr lang="en-US" altLang="zh-CN" sz="1600" dirty="0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Verdana" panose="020B0604030504040204" pitchFamily="34" charset="0"/>
                        </a:rPr>
                        <a:t>DBC</a:t>
                      </a:r>
                      <a:endParaRPr lang="en-US" altLang="zh-CN" sz="12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defRPr>
                      </a:lvl1pPr>
                      <a:lvl2pPr marL="457200" lvl="1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2pPr>
                      <a:lvl3pPr marL="914400" lvl="2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3pPr>
                      <a:lvl4pPr marL="1371600" lvl="3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4pPr>
                      <a:lvl5pPr marL="1828800" lvl="4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000" b="1" i="0" u="none" kern="1200" baseline="0">
                          <a:solidFill>
                            <a:schemeClr val="tx2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  <a:cs typeface="+mn-cs"/>
                          <a:sym typeface="Symbol" panose="05050102010706020507" pitchFamily="18" charset="2"/>
                        </a:defRPr>
                      </a:lvl5pPr>
                    </a:lstStyle>
                    <a:p>
                      <a:pPr lvl="0" algn="l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buNone/>
                      </a:pPr>
                      <a:endParaRPr lang="zh-CN" altLang="zh-CN" sz="1600" dirty="0">
                        <a:solidFill>
                          <a:schemeClr val="tx1"/>
                        </a:solidFill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Verdana" panose="020B0604030504040204" pitchFamily="34" charset="0"/>
                      </a:endParaRPr>
                    </a:p>
                  </a:txBody>
                  <a:tcPr marT="45726" marB="4572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图相关的多种问题之间的差异</a:t>
            </a:r>
            <a:endParaRPr kumimoji="0" lang="zh-CN" altLang="en-US" sz="38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1350" y="2093913"/>
            <a:ext cx="8328025" cy="3784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最小生成树：所有点互连，距离的和最短；</a:t>
            </a:r>
            <a:endParaRPr kumimoji="0" lang="zh-CN" altLang="en-US" sz="32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拓扑排序：关注的是顶点之间的先后关系；</a:t>
            </a:r>
            <a:endParaRPr kumimoji="0" lang="zh-CN" altLang="en-US" sz="32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关键路径：关注的是最长路径；</a:t>
            </a:r>
            <a:endParaRPr kumimoji="0" lang="zh-CN" altLang="en-US" sz="32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最短路径：（单源）一个点到所有点最短；</a:t>
            </a:r>
            <a:endParaRPr kumimoji="0" lang="zh-CN" altLang="en-US" sz="32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  <a:p>
            <a:pPr marR="0" indent="2002155" defTabSz="914400" eaLnBrk="1" hangingPunct="1">
              <a:lnSpc>
                <a:spcPct val="150000"/>
              </a:lnSpc>
              <a:buClrTx/>
              <a:buSzTx/>
              <a:buFontTx/>
              <a:buNone/>
              <a:defRPr/>
            </a:pPr>
            <a:r>
              <a:rPr kumimoji="0" lang="zh-CN" altLang="en-US" sz="3200" kern="1200" cap="none" spc="0" normalizeH="0" baseline="0" noProof="1">
                <a:latin typeface="Verdana" panose="020B060403050404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（多源）每一对顶点之间的最短；</a:t>
            </a:r>
            <a:endParaRPr kumimoji="0" lang="zh-CN" altLang="en-US" sz="3200" kern="1200" cap="none" spc="0" normalizeH="0" baseline="0" noProof="1">
              <a:latin typeface="Verdana" panose="020B0604030504040204" pitchFamily="34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8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图</a:t>
            </a:r>
            <a:r>
              <a:rPr kumimoji="0" lang="en-US" altLang="zh-CN" sz="38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——</a:t>
            </a:r>
            <a:r>
              <a:rPr kumimoji="0" lang="zh-CN" altLang="en-US" sz="38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本章小结</a:t>
            </a:r>
            <a:endParaRPr kumimoji="0" lang="zh-CN" altLang="en-US" sz="3800" b="1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1923" name="文本框 2"/>
          <p:cNvSpPr txBox="1"/>
          <p:nvPr/>
        </p:nvSpPr>
        <p:spPr>
          <a:xfrm>
            <a:off x="406400" y="2093913"/>
            <a:ext cx="8337550" cy="3414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Verdana" panose="020B0604030504040204" pitchFamily="34" charset="0"/>
              </a:rPr>
              <a:t>1. </a:t>
            </a:r>
            <a:r>
              <a:rPr lang="zh-CN" altLang="en-US" sz="2400" dirty="0">
                <a:latin typeface="Verdana" panose="020B0604030504040204" pitchFamily="34" charset="0"/>
              </a:rPr>
              <a:t>图的定义和术语（多种基本概念，以及图中点和边的关系）</a:t>
            </a:r>
            <a:endParaRPr lang="zh-CN" altLang="en-US" sz="24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Verdana" panose="020B0604030504040204" pitchFamily="34" charset="0"/>
              </a:rPr>
              <a:t>2. </a:t>
            </a:r>
            <a:r>
              <a:rPr lang="zh-CN" altLang="en-US" sz="2400" dirty="0">
                <a:latin typeface="Verdana" panose="020B0604030504040204" pitchFamily="34" charset="0"/>
              </a:rPr>
              <a:t>图的存储（数组表示法</a:t>
            </a:r>
            <a:r>
              <a:rPr lang="en-US" altLang="zh-CN" sz="2400" dirty="0">
                <a:latin typeface="Verdana" panose="020B0604030504040204" pitchFamily="34" charset="0"/>
              </a:rPr>
              <a:t>——</a:t>
            </a:r>
            <a:r>
              <a:rPr lang="zh-CN" altLang="en-US" sz="2400" dirty="0">
                <a:latin typeface="Verdana" panose="020B0604030504040204" pitchFamily="34" charset="0"/>
              </a:rPr>
              <a:t>邻接矩阵，邻接表）</a:t>
            </a:r>
            <a:endParaRPr lang="zh-CN" altLang="en-US" sz="24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Verdana" panose="020B0604030504040204" pitchFamily="34" charset="0"/>
              </a:rPr>
              <a:t>3. </a:t>
            </a:r>
            <a:r>
              <a:rPr lang="zh-CN" altLang="en-US" sz="2400" dirty="0">
                <a:latin typeface="Verdana" panose="020B0604030504040204" pitchFamily="34" charset="0"/>
              </a:rPr>
              <a:t>图的遍历（深度，广度）</a:t>
            </a:r>
            <a:endParaRPr lang="zh-CN" altLang="en-US" sz="24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Verdana" panose="020B0604030504040204" pitchFamily="34" charset="0"/>
              </a:rPr>
              <a:t>4. </a:t>
            </a:r>
            <a:r>
              <a:rPr lang="zh-CN" altLang="en-US" sz="2400" dirty="0">
                <a:latin typeface="Verdana" panose="020B0604030504040204" pitchFamily="34" charset="0"/>
              </a:rPr>
              <a:t>图的连通性（最小生成树，两种算法）</a:t>
            </a:r>
            <a:endParaRPr lang="zh-CN" altLang="en-US" sz="24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Verdana" panose="020B0604030504040204" pitchFamily="34" charset="0"/>
              </a:rPr>
              <a:t>5. </a:t>
            </a:r>
            <a:r>
              <a:rPr lang="zh-CN" altLang="en-US" sz="2400" dirty="0">
                <a:latin typeface="Verdana" panose="020B0604030504040204" pitchFamily="34" charset="0"/>
              </a:rPr>
              <a:t>有向无环图（拓扑排序，关键路径）</a:t>
            </a:r>
            <a:endParaRPr lang="zh-CN" altLang="en-US" sz="24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dirty="0">
                <a:latin typeface="Verdana" panose="020B0604030504040204" pitchFamily="34" charset="0"/>
              </a:rPr>
              <a:t>6. </a:t>
            </a:r>
            <a:r>
              <a:rPr lang="zh-CN" altLang="en-US" sz="2400" dirty="0">
                <a:latin typeface="Verdana" panose="020B0604030504040204" pitchFamily="34" charset="0"/>
              </a:rPr>
              <a:t>最短路径（单源点，多源点）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jFiN2NjNWM5Yjc2ZDdhMWExZGQ5OTBjOGZlOGJiODQifQ==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b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anose="020B0604030504040204" pitchFamily="34" charset="0"/>
            <a:ea typeface="宋体" panose="02010600030101010101" pitchFamily="2" charset="-122"/>
            <a:sym typeface="Symbol" panose="05050102010706020507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b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1" i="0" u="none" strike="noStrike" cap="none" normalizeH="0" baseline="0" smtClean="0">
            <a:ln>
              <a:noFill/>
            </a:ln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anose="020B0604030504040204" pitchFamily="34" charset="0"/>
            <a:ea typeface="宋体" panose="02010600030101010101" pitchFamily="2" charset="-122"/>
            <a:sym typeface="Symbol" panose="05050102010706020507" pitchFamily="18" charset="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7984</Words>
  <Application>WPS 演示</Application>
  <PresentationFormat>全屏显示(4:3)</PresentationFormat>
  <Paragraphs>1881</Paragraphs>
  <Slides>72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7" baseType="lpstr">
      <vt:lpstr>Arial</vt:lpstr>
      <vt:lpstr>宋体</vt:lpstr>
      <vt:lpstr>Wingdings</vt:lpstr>
      <vt:lpstr>Verdana</vt:lpstr>
      <vt:lpstr>Symbol</vt:lpstr>
      <vt:lpstr>Times New Roman</vt:lpstr>
      <vt:lpstr>楷体_GB2312</vt:lpstr>
      <vt:lpstr>新宋体</vt:lpstr>
      <vt:lpstr>Monotype Sorts</vt:lpstr>
      <vt:lpstr>Wingdings</vt:lpstr>
      <vt:lpstr>微软雅黑</vt:lpstr>
      <vt:lpstr>Arial Unicode MS</vt:lpstr>
      <vt:lpstr>隶书</vt:lpstr>
      <vt:lpstr>Arial</vt:lpstr>
      <vt:lpstr>Profile</vt:lpstr>
      <vt:lpstr>PowerPoint 演示文稿</vt:lpstr>
      <vt:lpstr>7.4 图的连通性问题</vt:lpstr>
      <vt:lpstr>   </vt:lpstr>
      <vt:lpstr>PowerPoint 演示文稿</vt:lpstr>
      <vt:lpstr>PowerPoint 演示文稿</vt:lpstr>
      <vt:lpstr>PowerPoint 演示文稿</vt:lpstr>
      <vt:lpstr>PowerPoint 演示文稿</vt:lpstr>
      <vt:lpstr>7.4 图的连通性问题——最小生成树</vt:lpstr>
      <vt:lpstr>7.4.1无向图的连通分量和生成树</vt:lpstr>
      <vt:lpstr>生成树</vt:lpstr>
      <vt:lpstr>PowerPoint 演示文稿</vt:lpstr>
      <vt:lpstr>非连通图的生成森林</vt:lpstr>
      <vt:lpstr>PowerPoint 演示文稿</vt:lpstr>
      <vt:lpstr>7.4.3 最小生成树（Minimum Cost Spanning Tree）</vt:lpstr>
      <vt:lpstr>构造最小生成树——MST性质</vt:lpstr>
      <vt:lpstr>构造最小生成树——算法*****</vt:lpstr>
      <vt:lpstr>普里姆算法（Prim）</vt:lpstr>
      <vt:lpstr>PowerPoint 演示文稿</vt:lpstr>
      <vt:lpstr>PowerPoint 演示文稿</vt:lpstr>
      <vt:lpstr>普里姆算法-练习</vt:lpstr>
      <vt:lpstr>克鲁斯卡尔 (Kruskal) 算法</vt:lpstr>
      <vt:lpstr>PowerPoint 演示文稿</vt:lpstr>
      <vt:lpstr>克鲁斯卡尔 (Kruskal) 算法-练习</vt:lpstr>
      <vt:lpstr>小结 </vt:lpstr>
      <vt:lpstr>7.5 有向无环图及其应用</vt:lpstr>
      <vt:lpstr>7.5 有向无环图及其应用</vt:lpstr>
      <vt:lpstr>PowerPoint 演示文稿</vt:lpstr>
      <vt:lpstr>7.5 有向无环图及其应用</vt:lpstr>
      <vt:lpstr>AOV网</vt:lpstr>
      <vt:lpstr>PowerPoint 演示文稿</vt:lpstr>
      <vt:lpstr>PowerPoint 演示文稿</vt:lpstr>
      <vt:lpstr>AOV网解决的一些疑问？</vt:lpstr>
      <vt:lpstr>拓扑排序（ Topological Sort ）</vt:lpstr>
      <vt:lpstr>PowerPoint 演示文稿</vt:lpstr>
      <vt:lpstr>检测有向环</vt:lpstr>
      <vt:lpstr>拓扑排序有什么用？</vt:lpstr>
      <vt:lpstr>拓扑排序方法</vt:lpstr>
      <vt:lpstr>PowerPoint 演示文稿</vt:lpstr>
      <vt:lpstr>PowerPoint 演示文稿</vt:lpstr>
      <vt:lpstr>练习-写出所有可能的拓扑序列</vt:lpstr>
      <vt:lpstr>PowerPoint 演示文稿</vt:lpstr>
      <vt:lpstr>小结</vt:lpstr>
      <vt:lpstr>AOE网（Activity on Edge）</vt:lpstr>
      <vt:lpstr>AOE网（Activity on Edge）</vt:lpstr>
      <vt:lpstr>关键路径</vt:lpstr>
      <vt:lpstr>PowerPoint 演示文稿</vt:lpstr>
      <vt:lpstr>PowerPoint 演示文稿</vt:lpstr>
      <vt:lpstr>PowerPoint 演示文稿</vt:lpstr>
      <vt:lpstr>练习-求关键路径，给出过程</vt:lpstr>
      <vt:lpstr>拓扑排序与关键路径的区别</vt:lpstr>
      <vt:lpstr>前情提要</vt:lpstr>
      <vt:lpstr>7.6 最短路径</vt:lpstr>
      <vt:lpstr>7.6 最短路径</vt:lpstr>
      <vt:lpstr>单源点最短路径问题</vt:lpstr>
      <vt:lpstr>Dijkstra算法－思想</vt:lpstr>
      <vt:lpstr>Dijkstra算法－思想</vt:lpstr>
      <vt:lpstr>Dijkstra算法－思想</vt:lpstr>
      <vt:lpstr>PowerPoint 演示文稿</vt:lpstr>
      <vt:lpstr>Dijkstra算法－步骤</vt:lpstr>
      <vt:lpstr>PowerPoint 演示文稿</vt:lpstr>
      <vt:lpstr>任意顶点间的最短路径（多源）</vt:lpstr>
      <vt:lpstr>Floyd算法－思想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图相关的多种问题之间的差异</vt:lpstr>
      <vt:lpstr>图——本章小结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数据结构（Data Structure）</dc:title>
  <dc:creator>MC SYSTEM</dc:creator>
  <cp:lastModifiedBy>鱼丸粗面</cp:lastModifiedBy>
  <cp:revision>503</cp:revision>
  <dcterms:created xsi:type="dcterms:W3CDTF">2007-02-11T07:05:00Z</dcterms:created>
  <dcterms:modified xsi:type="dcterms:W3CDTF">2023-11-12T16:22:42Z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6A23C5F869CE49B69549F0342B2CF235_12</vt:lpwstr>
  </property>
</Properties>
</file>