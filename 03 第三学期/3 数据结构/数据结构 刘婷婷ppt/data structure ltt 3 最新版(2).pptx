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1003" r:id="rId3"/>
    <p:sldId id="1060" r:id="rId4"/>
    <p:sldId id="343" r:id="rId5"/>
    <p:sldId id="344" r:id="rId6"/>
    <p:sldId id="346" r:id="rId7"/>
    <p:sldId id="347" r:id="rId8"/>
    <p:sldId id="348" r:id="rId9"/>
    <p:sldId id="349" r:id="rId10"/>
    <p:sldId id="350" r:id="rId11"/>
    <p:sldId id="351" r:id="rId12"/>
    <p:sldId id="1058" r:id="rId13"/>
    <p:sldId id="352" r:id="rId14"/>
    <p:sldId id="872" r:id="rId15"/>
    <p:sldId id="873" r:id="rId17"/>
    <p:sldId id="434" r:id="rId18"/>
    <p:sldId id="1059" r:id="rId19"/>
    <p:sldId id="436" r:id="rId20"/>
    <p:sldId id="435" r:id="rId21"/>
    <p:sldId id="1061" r:id="rId22"/>
    <p:sldId id="353" r:id="rId23"/>
    <p:sldId id="354" r:id="rId24"/>
    <p:sldId id="355" r:id="rId25"/>
    <p:sldId id="1119" r:id="rId26"/>
    <p:sldId id="363" r:id="rId27"/>
    <p:sldId id="364" r:id="rId28"/>
    <p:sldId id="365" r:id="rId29"/>
    <p:sldId id="366" r:id="rId30"/>
    <p:sldId id="1268" r:id="rId31"/>
    <p:sldId id="1269" r:id="rId32"/>
    <p:sldId id="1191" r:id="rId33"/>
    <p:sldId id="367" r:id="rId34"/>
    <p:sldId id="1232" r:id="rId35"/>
    <p:sldId id="1233" r:id="rId36"/>
    <p:sldId id="1234" r:id="rId37"/>
    <p:sldId id="1229" r:id="rId38"/>
    <p:sldId id="1270" r:id="rId39"/>
    <p:sldId id="1271" r:id="rId40"/>
    <p:sldId id="1230" r:id="rId41"/>
    <p:sldId id="1231" r:id="rId42"/>
    <p:sldId id="1306" r:id="rId43"/>
    <p:sldId id="371" r:id="rId44"/>
    <p:sldId id="1149" r:id="rId45"/>
    <p:sldId id="372" r:id="rId46"/>
    <p:sldId id="373" r:id="rId47"/>
    <p:sldId id="374" r:id="rId48"/>
    <p:sldId id="375" r:id="rId49"/>
    <p:sldId id="1307" r:id="rId50"/>
    <p:sldId id="1308" r:id="rId51"/>
    <p:sldId id="1150" r:id="rId52"/>
    <p:sldId id="1151" r:id="rId53"/>
    <p:sldId id="1152" r:id="rId54"/>
    <p:sldId id="378" r:id="rId55"/>
    <p:sldId id="1153" r:id="rId56"/>
    <p:sldId id="379" r:id="rId57"/>
    <p:sldId id="380" r:id="rId58"/>
    <p:sldId id="381" r:id="rId59"/>
    <p:sldId id="875" r:id="rId60"/>
    <p:sldId id="1309" r:id="rId61"/>
    <p:sldId id="1200" r:id="rId62"/>
    <p:sldId id="382" r:id="rId63"/>
    <p:sldId id="383" r:id="rId64"/>
    <p:sldId id="467" r:id="rId65"/>
    <p:sldId id="466" r:id="rId66"/>
    <p:sldId id="1263" r:id="rId67"/>
    <p:sldId id="1265" r:id="rId68"/>
    <p:sldId id="1266" r:id="rId69"/>
    <p:sldId id="1267" r:id="rId70"/>
  </p:sldIdLst>
  <p:sldSz cx="9144000" cy="6858000" type="screen4x3"/>
  <p:notesSz cx="6858000" cy="9144000"/>
  <p:custDataLst>
    <p:tags r:id="rId7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B8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1"/>
    <p:restoredTop sz="93903"/>
  </p:normalViewPr>
  <p:slideViewPr>
    <p:cSldViewPr showGuides="1">
      <p:cViewPr varScale="1">
        <p:scale>
          <a:sx n="100" d="100"/>
          <a:sy n="100" d="100"/>
        </p:scale>
        <p:origin x="1830" y="84"/>
      </p:cViewPr>
      <p:guideLst>
        <p:guide orient="horz" pos="2195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4" Type="http://schemas.openxmlformats.org/officeDocument/2006/relationships/tags" Target="tags/tag8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1</a:t>
            </a:r>
            <a:r>
              <a:rPr lang="zh-CN" altLang="en-US" dirty="0"/>
              <a:t>：倒序</a:t>
            </a:r>
            <a:r>
              <a:rPr lang="en-US" altLang="zh-CN" dirty="0"/>
              <a:t>S</a:t>
            </a:r>
            <a:r>
              <a:rPr lang="zh-CN" altLang="en-US" dirty="0"/>
              <a:t>，借助一个数组，将栈中的元素逆置。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2</a:t>
            </a:r>
            <a:r>
              <a:rPr lang="zh-CN" altLang="en-US" dirty="0"/>
              <a:t>：删除</a:t>
            </a:r>
            <a:r>
              <a:rPr lang="en-US" altLang="zh-CN" dirty="0"/>
              <a:t>e</a:t>
            </a:r>
            <a:r>
              <a:rPr lang="zh-CN" altLang="en-US" dirty="0"/>
              <a:t>，借助栈</a:t>
            </a:r>
            <a:r>
              <a:rPr lang="en-US" altLang="zh-CN" dirty="0"/>
              <a:t>T</a:t>
            </a:r>
            <a:r>
              <a:rPr lang="zh-CN" altLang="en-US" dirty="0"/>
              <a:t>，将栈</a:t>
            </a:r>
            <a:r>
              <a:rPr lang="en-US" altLang="zh-CN" dirty="0"/>
              <a:t>S</a:t>
            </a:r>
            <a:r>
              <a:rPr lang="zh-CN" altLang="en-US" dirty="0"/>
              <a:t>中所有值为</a:t>
            </a:r>
            <a:r>
              <a:rPr lang="en-US" altLang="zh-CN" dirty="0"/>
              <a:t>e</a:t>
            </a:r>
            <a:r>
              <a:rPr lang="zh-CN" altLang="en-US" dirty="0"/>
              <a:t>的数据元素删除之。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1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1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1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01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写算法时，每一行最好只包含最简单的操作，便于阐释。如：</a:t>
            </a:r>
            <a:endParaRPr lang="zh-CN" altLang="en-US" dirty="0"/>
          </a:p>
          <a:p>
            <a:pPr lvl="0" eaLnBrk="1" hangingPunct="1"/>
            <a:r>
              <a:rPr lang="en-US" altLang="zh-CN" dirty="0"/>
              <a:t>Int iret = g(m-1,2n);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Iret = iret+n;</a:t>
            </a:r>
            <a:endParaRPr lang="en-US" altLang="zh-CN" dirty="0"/>
          </a:p>
          <a:p>
            <a:pPr lvl="0" eaLnBrk="1" hangingPunct="1"/>
            <a:r>
              <a:rPr lang="en-US" altLang="zh-CN" dirty="0"/>
              <a:t>Return iret;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幻灯片图像占位符 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6562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利用栈作为辅助，将队列中的数据元素进行逆置。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幻灯片图像占位符 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9634" name="文本占位符 2"/>
          <p:cNvSpPr/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/>
              <a:t>A  C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3438" y="1752600"/>
            <a:ext cx="392430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8001000" cy="2057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6738" y="3962400"/>
            <a:ext cx="8001000" cy="2057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wmf"/><Relationship Id="rId3" Type="http://schemas.openxmlformats.org/officeDocument/2006/relationships/tags" Target="../tags/tag2.xml"/><Relationship Id="rId2" Type="http://schemas.openxmlformats.org/officeDocument/2006/relationships/image" Target="../media/image11.wmf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wmf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tags" Target="../tags/tag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tags" Target="../tags/tag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1" Type="http://schemas.openxmlformats.org/officeDocument/2006/relationships/tags" Target="../tags/tag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1" Type="http://schemas.openxmlformats.org/officeDocument/2006/relationships/tags" Target="../tags/tag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tags" Target="../tags/tag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B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线性结构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在数据元素的非空有限集中，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（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）存在唯一的一个被称为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第一个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的元素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（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）存在唯一的一个被称为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“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最后一个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ea"/>
              </a:rPr>
              <a:t>”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的元素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（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）除第一个元素外，集合中的每个数据元素均只有一个前驱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（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4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）除最后一个元素外，集合中的每个数据元素均只有一个后继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线性表－第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章 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栈和队列－第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章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串－第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章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0" name="Picture 4"/>
          <p:cNvPicPr>
            <a:picLocks noChangeAspect="1"/>
          </p:cNvPicPr>
          <p:nvPr/>
        </p:nvPicPr>
        <p:blipFill>
          <a:blip r:embed="rId1"/>
          <a:srcRect t="27455" b="60715"/>
          <a:stretch>
            <a:fillRect/>
          </a:stretch>
        </p:blipFill>
        <p:spPr>
          <a:xfrm>
            <a:off x="4787900" y="836613"/>
            <a:ext cx="3924300" cy="504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引例</a:t>
            </a:r>
            <a:endParaRPr kumimoji="0" lang="zh-CN" altLang="en-US" sz="38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122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4675" y="1981200"/>
            <a:ext cx="8001000" cy="4348163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章 栈和队列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3.1  </a:t>
            </a: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栈</a:t>
            </a:r>
            <a:endParaRPr kumimoji="0" lang="zh-CN" altLang="en-US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3.1.1 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抽象数据类型栈的定义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3.1.2 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栈的表示和实现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3.2   </a:t>
            </a: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栈的应用举例</a:t>
            </a:r>
            <a:endParaRPr kumimoji="0" lang="zh-CN" altLang="en-US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3.2.1 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数制转换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3.2.2 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括号匹配的检验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3.2.4  行编辑程序</a:t>
            </a:r>
            <a:endParaRPr kumimoji="0" lang="en-US" altLang="zh-CN" sz="1700" b="1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3.2.5  迷宫求解</a:t>
            </a:r>
            <a:endParaRPr kumimoji="0" lang="en-US" altLang="zh-CN" sz="1700" b="1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3.2.5  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表达式求值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3.3 </a:t>
            </a: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栈与递归的实现</a:t>
            </a:r>
            <a:endParaRPr kumimoji="0" lang="zh-CN" altLang="en-US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3.4 </a:t>
            </a: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队列</a:t>
            </a:r>
            <a:endParaRPr kumimoji="0" lang="zh-CN" altLang="en-US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3.4.1 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抽象数据类型队列的定义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3.4.2 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链队列－队列的链式表示和实现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3.4.3 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循环队列－队列的顺序表示和实现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3.1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5661025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栈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(Stack)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是限定仅在表尾一端进行插入和删除操作的线性表。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设栈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S=(a</a:t>
            </a:r>
            <a:r>
              <a:rPr kumimoji="0" lang="en-US" altLang="zh-CN" sz="2900" b="1" i="0" u="none" strike="noStrike" kern="0" cap="none" spc="0" normalizeH="0" baseline="-24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9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9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…a</a:t>
            </a:r>
            <a:r>
              <a:rPr kumimoji="0" lang="en-US" altLang="zh-CN" sz="29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，则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9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称为栈底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元素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9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为栈顶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元素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endParaRPr kumimoji="0" lang="zh-CN" altLang="en-US" sz="2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入栈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进栈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和出栈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退栈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0" lang="en-US" altLang="zh-CN" sz="2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后进先出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last in first out, LIFO</a:t>
            </a:r>
            <a:r>
              <a:rPr kumimoji="0" lang="zh-CN" altLang="en-US" sz="2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endParaRPr kumimoji="0" lang="zh-CN" altLang="en-US" sz="2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717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325" y="2420938"/>
            <a:ext cx="2286000" cy="2476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8193" name="Group 8"/>
          <p:cNvGrpSpPr/>
          <p:nvPr/>
        </p:nvGrpSpPr>
        <p:grpSpPr>
          <a:xfrm>
            <a:off x="900113" y="404813"/>
            <a:ext cx="6911975" cy="6119812"/>
            <a:chOff x="0" y="0"/>
            <a:chExt cx="3072" cy="2922"/>
          </a:xfrm>
        </p:grpSpPr>
        <p:pic>
          <p:nvPicPr>
            <p:cNvPr id="8194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3072" cy="27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195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" y="330"/>
              <a:ext cx="2880" cy="259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921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1075"/>
            <a:ext cx="9144000" cy="4778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3.1.2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栈的表示和实现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顺序栈、链式栈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顺序栈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栈的顺序存储结构，利用一组地址连续的存储单元依次存放自栈底到栈顶的数据元素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2340" name="Rectangle 4"/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001000" cy="6842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顺序栈的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语言定义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26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8750" y="908050"/>
            <a:ext cx="2232025" cy="1500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7" name="AutoShape 6"/>
          <p:cNvSpPr/>
          <p:nvPr/>
        </p:nvSpPr>
        <p:spPr>
          <a:xfrm>
            <a:off x="538163" y="1195388"/>
            <a:ext cx="1295400" cy="334962"/>
          </a:xfrm>
          <a:prstGeom prst="accentCallout2">
            <a:avLst>
              <a:gd name="adj1" fmla="val 34125"/>
              <a:gd name="adj2" fmla="val 105884"/>
              <a:gd name="adj3" fmla="val 34125"/>
              <a:gd name="adj4" fmla="val 135782"/>
              <a:gd name="adj5" fmla="val 38389"/>
              <a:gd name="adj6" fmla="val 18738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栈元素类型</a:t>
            </a:r>
            <a:endParaRPr lang="zh-CN" altLang="en-US" sz="1600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AutoShape 7"/>
          <p:cNvSpPr/>
          <p:nvPr/>
        </p:nvSpPr>
        <p:spPr>
          <a:xfrm>
            <a:off x="5441950" y="692150"/>
            <a:ext cx="2728913" cy="479425"/>
          </a:xfrm>
          <a:prstGeom prst="accentCallout2">
            <a:avLst>
              <a:gd name="adj1" fmla="val 23843"/>
              <a:gd name="adj2" fmla="val -2792"/>
              <a:gd name="adj3" fmla="val 23843"/>
              <a:gd name="adj4" fmla="val -13611"/>
              <a:gd name="adj5" fmla="val 128477"/>
              <a:gd name="adj6" fmla="val -32343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栈底指针：始终指向栈底，如为</a:t>
            </a:r>
            <a:r>
              <a:rPr lang="en-US" altLang="zh-CN" sz="1600" b="0" dirty="0">
                <a:latin typeface="Verdana" panose="020B0604030504040204" pitchFamily="34" charset="0"/>
                <a:ea typeface="宋体" panose="02010600030101010101" pitchFamily="2" charset="-122"/>
              </a:rPr>
              <a:t>NULL</a:t>
            </a:r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，则栈不存在</a:t>
            </a:r>
            <a:endParaRPr lang="zh-CN" altLang="en-US" sz="1600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69" name="AutoShape 8"/>
          <p:cNvSpPr/>
          <p:nvPr/>
        </p:nvSpPr>
        <p:spPr>
          <a:xfrm>
            <a:off x="5435600" y="1627188"/>
            <a:ext cx="3313113" cy="1441450"/>
          </a:xfrm>
          <a:prstGeom prst="accentCallout2">
            <a:avLst>
              <a:gd name="adj1" fmla="val 7931"/>
              <a:gd name="adj2" fmla="val -2301"/>
              <a:gd name="adj3" fmla="val 7931"/>
              <a:gd name="adj4" fmla="val -11977"/>
              <a:gd name="adj5" fmla="val -2204"/>
              <a:gd name="adj6" fmla="val -2884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栈顶指针：初值指向栈底，即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top</a:t>
            </a:r>
            <a:r>
              <a:rPr lang="zh-CN" altLang="en-US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16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base</a:t>
            </a:r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，此时栈空；插入新的栈顶元素时（入栈），</a:t>
            </a:r>
            <a:r>
              <a:rPr lang="en-US" altLang="zh-CN" sz="1600" b="0" dirty="0">
                <a:latin typeface="Verdana" panose="020B0604030504040204" pitchFamily="34" charset="0"/>
                <a:ea typeface="宋体" panose="02010600030101010101" pitchFamily="2" charset="-122"/>
              </a:rPr>
              <a:t>top</a:t>
            </a:r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增</a:t>
            </a:r>
            <a:r>
              <a:rPr lang="en-US" altLang="zh-CN" sz="16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；删除栈顶元素时（出栈），</a:t>
            </a:r>
            <a:r>
              <a:rPr lang="en-US" altLang="zh-CN" sz="1600" b="0" dirty="0">
                <a:latin typeface="Verdana" panose="020B0604030504040204" pitchFamily="34" charset="0"/>
                <a:ea typeface="宋体" panose="02010600030101010101" pitchFamily="2" charset="-122"/>
              </a:rPr>
              <a:t>top</a:t>
            </a:r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减</a:t>
            </a:r>
            <a:r>
              <a:rPr lang="en-US" altLang="zh-CN" sz="16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非空栈中的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top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始终在栈顶元素的下一个位置</a:t>
            </a:r>
            <a:endParaRPr lang="zh-CN" altLang="en-US" sz="1600" dirty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0" name="AutoShape 9"/>
          <p:cNvSpPr/>
          <p:nvPr/>
        </p:nvSpPr>
        <p:spPr>
          <a:xfrm>
            <a:off x="755650" y="2490788"/>
            <a:ext cx="2917825" cy="577850"/>
          </a:xfrm>
          <a:prstGeom prst="accentCallout2">
            <a:avLst>
              <a:gd name="adj1" fmla="val 19782"/>
              <a:gd name="adj2" fmla="val 102611"/>
              <a:gd name="adj3" fmla="val 19782"/>
              <a:gd name="adj4" fmla="val 111532"/>
              <a:gd name="adj5" fmla="val -79944"/>
              <a:gd name="adj6" fmla="val 115343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sz="1600" b="0" dirty="0">
                <a:latin typeface="Verdana" panose="020B0604030504040204" pitchFamily="34" charset="0"/>
                <a:ea typeface="宋体" panose="02010600030101010101" pitchFamily="2" charset="-122"/>
              </a:rPr>
              <a:t>栈当前可使用的最大容量；初始值为</a:t>
            </a:r>
            <a:r>
              <a:rPr lang="en-US" altLang="zh-CN" sz="1600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STACK_INIT_SIZE</a:t>
            </a:r>
            <a:r>
              <a:rPr lang="zh-CN" altLang="en-US" sz="1600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；</a:t>
            </a:r>
            <a:endParaRPr lang="zh-CN" altLang="en-US" sz="1600" b="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127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3348038"/>
            <a:ext cx="8135937" cy="3465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2289" name="Picture 4"/>
          <p:cNvPicPr>
            <a:picLocks noChangeAspect="1"/>
          </p:cNvPicPr>
          <p:nvPr/>
        </p:nvPicPr>
        <p:blipFill>
          <a:blip r:embed="rId1"/>
          <a:srcRect t="17488"/>
          <a:stretch>
            <a:fillRect/>
          </a:stretch>
        </p:blipFill>
        <p:spPr>
          <a:xfrm>
            <a:off x="1547813" y="-26987"/>
            <a:ext cx="6337300" cy="475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4652963"/>
            <a:ext cx="7315200" cy="2247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3313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200025"/>
            <a:ext cx="9001125" cy="2868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139700" y="3273425"/>
            <a:ext cx="8893175" cy="3584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33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3025" y="1903413"/>
            <a:ext cx="9144000" cy="247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5414" name="Line 6"/>
          <p:cNvSpPr>
            <a:spLocks noChangeShapeType="1"/>
          </p:cNvSpPr>
          <p:nvPr/>
        </p:nvSpPr>
        <p:spPr bwMode="auto">
          <a:xfrm>
            <a:off x="1906588" y="3565525"/>
            <a:ext cx="93662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5361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9144000" cy="441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4430713"/>
            <a:ext cx="7308850" cy="2427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6438" name="Line 6"/>
          <p:cNvSpPr>
            <a:spLocks noChangeShapeType="1"/>
          </p:cNvSpPr>
          <p:nvPr/>
        </p:nvSpPr>
        <p:spPr bwMode="auto">
          <a:xfrm>
            <a:off x="971550" y="3716338"/>
            <a:ext cx="16557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</p:spPr>
        <p:txBody>
          <a:bodyPr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46439" name="Line 7"/>
          <p:cNvSpPr>
            <a:spLocks noChangeShapeType="1"/>
          </p:cNvSpPr>
          <p:nvPr/>
        </p:nvSpPr>
        <p:spPr bwMode="auto">
          <a:xfrm>
            <a:off x="684213" y="6165850"/>
            <a:ext cx="16557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ffectLst/>
        </p:spPr>
        <p:txBody>
          <a:bodyPr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81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链式栈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6386" name="Group 47"/>
          <p:cNvGrpSpPr/>
          <p:nvPr/>
        </p:nvGrpSpPr>
        <p:grpSpPr>
          <a:xfrm>
            <a:off x="4140200" y="1773238"/>
            <a:ext cx="3810000" cy="4152900"/>
            <a:chOff x="1837" y="1117"/>
            <a:chExt cx="2400" cy="2616"/>
          </a:xfrm>
        </p:grpSpPr>
        <p:sp>
          <p:nvSpPr>
            <p:cNvPr id="16387" name="AutoShape 4"/>
            <p:cNvSpPr/>
            <p:nvPr/>
          </p:nvSpPr>
          <p:spPr>
            <a:xfrm>
              <a:off x="3517" y="1502"/>
              <a:ext cx="717" cy="375"/>
            </a:xfrm>
            <a:prstGeom prst="wedgeEllipseCallout">
              <a:avLst>
                <a:gd name="adj1" fmla="val -123542"/>
                <a:gd name="adj2" fmla="val -57102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36000" tIns="36000" rIns="36000" bIns="36000" anchor="t" anchorCtr="0"/>
            <a:p>
              <a:pPr algn="ctr">
                <a:spcBef>
                  <a:spcPct val="2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栈顶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88" name="AutoShape 5"/>
            <p:cNvSpPr/>
            <p:nvPr/>
          </p:nvSpPr>
          <p:spPr>
            <a:xfrm>
              <a:off x="3466" y="3311"/>
              <a:ext cx="771" cy="422"/>
            </a:xfrm>
            <a:prstGeom prst="wedgeEllipseCallout">
              <a:avLst>
                <a:gd name="adj1" fmla="val -97954"/>
                <a:gd name="adj2" fmla="val -31366"/>
              </a:avLst>
            </a:prstGeom>
            <a:solidFill>
              <a:srgbClr val="CCFFFF"/>
            </a:solidFill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36000" tIns="36000" rIns="36000" bIns="36000" anchor="t" anchorCtr="0"/>
            <a:p>
              <a:pPr algn="ctr">
                <a:spcBef>
                  <a:spcPct val="2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栈底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8183" name="Rectangle 7"/>
            <p:cNvSpPr>
              <a:spLocks noChangeArrowheads="1"/>
            </p:cNvSpPr>
            <p:nvPr/>
          </p:nvSpPr>
          <p:spPr bwMode="auto">
            <a:xfrm>
              <a:off x="1875" y="1234"/>
              <a:ext cx="39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top</a:t>
              </a:r>
              <a:endPara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184" name="Rectangle 8"/>
            <p:cNvSpPr>
              <a:spLocks noChangeArrowheads="1"/>
            </p:cNvSpPr>
            <p:nvPr/>
          </p:nvSpPr>
          <p:spPr bwMode="auto">
            <a:xfrm>
              <a:off x="2907" y="3216"/>
              <a:ext cx="193" cy="2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1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^</a:t>
              </a:r>
              <a:endPara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185" name="Rectangle 9"/>
            <p:cNvSpPr>
              <a:spLocks noChangeArrowheads="1"/>
            </p:cNvSpPr>
            <p:nvPr/>
          </p:nvSpPr>
          <p:spPr bwMode="auto">
            <a:xfrm>
              <a:off x="2369" y="3216"/>
              <a:ext cx="731" cy="251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6392" name="Rectangle 10"/>
            <p:cNvSpPr/>
            <p:nvPr/>
          </p:nvSpPr>
          <p:spPr>
            <a:xfrm>
              <a:off x="2523" y="3193"/>
              <a:ext cx="24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30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a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3" name="Rectangle 11"/>
            <p:cNvSpPr/>
            <p:nvPr/>
          </p:nvSpPr>
          <p:spPr>
            <a:xfrm>
              <a:off x="2776" y="3284"/>
              <a:ext cx="7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18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8188" name="Line 12"/>
            <p:cNvSpPr>
              <a:spLocks noChangeShapeType="1"/>
            </p:cNvSpPr>
            <p:nvPr/>
          </p:nvSpPr>
          <p:spPr bwMode="auto">
            <a:xfrm>
              <a:off x="2867" y="3216"/>
              <a:ext cx="1" cy="251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189" name="Rectangle 13"/>
            <p:cNvSpPr>
              <a:spLocks noChangeArrowheads="1"/>
            </p:cNvSpPr>
            <p:nvPr/>
          </p:nvSpPr>
          <p:spPr bwMode="auto">
            <a:xfrm>
              <a:off x="2369" y="2714"/>
              <a:ext cx="731" cy="2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190" name="Rectangle 14"/>
            <p:cNvSpPr>
              <a:spLocks noChangeArrowheads="1"/>
            </p:cNvSpPr>
            <p:nvPr/>
          </p:nvSpPr>
          <p:spPr bwMode="auto">
            <a:xfrm>
              <a:off x="2369" y="2714"/>
              <a:ext cx="731" cy="250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6397" name="Rectangle 15"/>
            <p:cNvSpPr/>
            <p:nvPr/>
          </p:nvSpPr>
          <p:spPr>
            <a:xfrm>
              <a:off x="2523" y="2691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30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a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8" name="Rectangle 16"/>
            <p:cNvSpPr/>
            <p:nvPr/>
          </p:nvSpPr>
          <p:spPr>
            <a:xfrm>
              <a:off x="2776" y="2783"/>
              <a:ext cx="7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18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8193" name="Line 17"/>
            <p:cNvSpPr>
              <a:spLocks noChangeShapeType="1"/>
            </p:cNvSpPr>
            <p:nvPr/>
          </p:nvSpPr>
          <p:spPr bwMode="auto">
            <a:xfrm>
              <a:off x="2867" y="2714"/>
              <a:ext cx="1" cy="25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194" name="Rectangle 18"/>
            <p:cNvSpPr>
              <a:spLocks noChangeArrowheads="1"/>
            </p:cNvSpPr>
            <p:nvPr/>
          </p:nvSpPr>
          <p:spPr bwMode="auto">
            <a:xfrm>
              <a:off x="2369" y="1902"/>
              <a:ext cx="731" cy="25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195" name="Rectangle 19"/>
            <p:cNvSpPr>
              <a:spLocks noChangeArrowheads="1"/>
            </p:cNvSpPr>
            <p:nvPr/>
          </p:nvSpPr>
          <p:spPr bwMode="auto">
            <a:xfrm>
              <a:off x="2369" y="1902"/>
              <a:ext cx="731" cy="251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6402" name="Rectangle 20"/>
            <p:cNvSpPr/>
            <p:nvPr/>
          </p:nvSpPr>
          <p:spPr>
            <a:xfrm>
              <a:off x="2506" y="1878"/>
              <a:ext cx="1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30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03" name="Rectangle 21"/>
            <p:cNvSpPr/>
            <p:nvPr/>
          </p:nvSpPr>
          <p:spPr>
            <a:xfrm>
              <a:off x="2643" y="1970"/>
              <a:ext cx="21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18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n-1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8198" name="Line 22"/>
            <p:cNvSpPr>
              <a:spLocks noChangeShapeType="1"/>
            </p:cNvSpPr>
            <p:nvPr/>
          </p:nvSpPr>
          <p:spPr bwMode="auto">
            <a:xfrm>
              <a:off x="2867" y="1902"/>
              <a:ext cx="1" cy="251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199" name="Rectangle 23"/>
            <p:cNvSpPr>
              <a:spLocks noChangeArrowheads="1"/>
            </p:cNvSpPr>
            <p:nvPr/>
          </p:nvSpPr>
          <p:spPr bwMode="auto">
            <a:xfrm>
              <a:off x="2369" y="1375"/>
              <a:ext cx="731" cy="2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00" name="Rectangle 24"/>
            <p:cNvSpPr>
              <a:spLocks noChangeArrowheads="1"/>
            </p:cNvSpPr>
            <p:nvPr/>
          </p:nvSpPr>
          <p:spPr bwMode="auto">
            <a:xfrm>
              <a:off x="2369" y="1375"/>
              <a:ext cx="731" cy="250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6407" name="Rectangle 25"/>
            <p:cNvSpPr/>
            <p:nvPr/>
          </p:nvSpPr>
          <p:spPr>
            <a:xfrm>
              <a:off x="2523" y="1352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30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a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08" name="Rectangle 26"/>
            <p:cNvSpPr/>
            <p:nvPr/>
          </p:nvSpPr>
          <p:spPr>
            <a:xfrm>
              <a:off x="2776" y="1444"/>
              <a:ext cx="72" cy="1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18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n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8203" name="Line 27"/>
            <p:cNvSpPr>
              <a:spLocks noChangeShapeType="1"/>
            </p:cNvSpPr>
            <p:nvPr/>
          </p:nvSpPr>
          <p:spPr bwMode="auto">
            <a:xfrm>
              <a:off x="2867" y="1375"/>
              <a:ext cx="1" cy="25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04" name="Line 28"/>
            <p:cNvSpPr>
              <a:spLocks noChangeShapeType="1"/>
            </p:cNvSpPr>
            <p:nvPr/>
          </p:nvSpPr>
          <p:spPr bwMode="auto">
            <a:xfrm>
              <a:off x="1837" y="1500"/>
              <a:ext cx="420" cy="1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05" name="Freeform 29"/>
            <p:cNvSpPr/>
            <p:nvPr/>
          </p:nvSpPr>
          <p:spPr bwMode="auto">
            <a:xfrm>
              <a:off x="2248" y="1471"/>
              <a:ext cx="100" cy="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6" y="52"/>
                </a:cxn>
                <a:cxn ang="0">
                  <a:pos x="0" y="103"/>
                </a:cxn>
                <a:cxn ang="0">
                  <a:pos x="0" y="0"/>
                </a:cxn>
              </a:cxnLst>
              <a:rect l="0" t="0" r="r" b="b"/>
              <a:pathLst>
                <a:path w="156" h="103">
                  <a:moveTo>
                    <a:pt x="0" y="0"/>
                  </a:moveTo>
                  <a:lnTo>
                    <a:pt x="156" y="52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06" name="Line 30"/>
            <p:cNvSpPr>
              <a:spLocks noChangeShapeType="1"/>
            </p:cNvSpPr>
            <p:nvPr/>
          </p:nvSpPr>
          <p:spPr bwMode="auto">
            <a:xfrm>
              <a:off x="2998" y="1526"/>
              <a:ext cx="2" cy="284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07" name="Freeform 31"/>
            <p:cNvSpPr/>
            <p:nvPr/>
          </p:nvSpPr>
          <p:spPr bwMode="auto">
            <a:xfrm>
              <a:off x="2959" y="1803"/>
              <a:ext cx="78" cy="99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59" y="178"/>
                </a:cxn>
                <a:cxn ang="0">
                  <a:pos x="0" y="0"/>
                </a:cxn>
                <a:cxn ang="0">
                  <a:pos x="118" y="0"/>
                </a:cxn>
              </a:cxnLst>
              <a:rect l="0" t="0" r="r" b="b"/>
              <a:pathLst>
                <a:path w="118" h="178">
                  <a:moveTo>
                    <a:pt x="118" y="0"/>
                  </a:moveTo>
                  <a:lnTo>
                    <a:pt x="59" y="178"/>
                  </a:lnTo>
                  <a:lnTo>
                    <a:pt x="0" y="0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FF00FF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08" name="Line 32"/>
            <p:cNvSpPr>
              <a:spLocks noChangeShapeType="1"/>
            </p:cNvSpPr>
            <p:nvPr/>
          </p:nvSpPr>
          <p:spPr bwMode="auto">
            <a:xfrm>
              <a:off x="2998" y="2027"/>
              <a:ext cx="0" cy="588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09" name="Freeform 33"/>
            <p:cNvSpPr/>
            <p:nvPr/>
          </p:nvSpPr>
          <p:spPr bwMode="auto">
            <a:xfrm>
              <a:off x="2959" y="2615"/>
              <a:ext cx="78" cy="99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59" y="179"/>
                </a:cxn>
                <a:cxn ang="0">
                  <a:pos x="0" y="0"/>
                </a:cxn>
                <a:cxn ang="0">
                  <a:pos x="118" y="0"/>
                </a:cxn>
              </a:cxnLst>
              <a:rect l="0" t="0" r="r" b="b"/>
              <a:pathLst>
                <a:path w="118" h="179">
                  <a:moveTo>
                    <a:pt x="118" y="0"/>
                  </a:moveTo>
                  <a:lnTo>
                    <a:pt x="59" y="179"/>
                  </a:lnTo>
                  <a:lnTo>
                    <a:pt x="0" y="0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FF00FF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10" name="Line 34"/>
            <p:cNvSpPr>
              <a:spLocks noChangeShapeType="1"/>
            </p:cNvSpPr>
            <p:nvPr/>
          </p:nvSpPr>
          <p:spPr bwMode="auto">
            <a:xfrm>
              <a:off x="2998" y="2839"/>
              <a:ext cx="2" cy="286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18211" name="Freeform 35"/>
            <p:cNvSpPr/>
            <p:nvPr/>
          </p:nvSpPr>
          <p:spPr bwMode="auto">
            <a:xfrm>
              <a:off x="2959" y="3117"/>
              <a:ext cx="78" cy="99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59" y="178"/>
                </a:cxn>
                <a:cxn ang="0">
                  <a:pos x="0" y="0"/>
                </a:cxn>
                <a:cxn ang="0">
                  <a:pos x="118" y="0"/>
                </a:cxn>
              </a:cxnLst>
              <a:rect l="0" t="0" r="r" b="b"/>
              <a:pathLst>
                <a:path w="118" h="178">
                  <a:moveTo>
                    <a:pt x="118" y="0"/>
                  </a:moveTo>
                  <a:lnTo>
                    <a:pt x="59" y="178"/>
                  </a:lnTo>
                  <a:lnTo>
                    <a:pt x="0" y="0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FF00FF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6418" name="Rectangle 36"/>
            <p:cNvSpPr/>
            <p:nvPr/>
          </p:nvSpPr>
          <p:spPr>
            <a:xfrm>
              <a:off x="2813" y="1117"/>
              <a:ext cx="40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next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419" name="Rectangle 37"/>
            <p:cNvSpPr/>
            <p:nvPr/>
          </p:nvSpPr>
          <p:spPr>
            <a:xfrm>
              <a:off x="2316" y="1117"/>
              <a:ext cx="4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data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18222" name="Text Box 46"/>
            <p:cNvSpPr txBox="1">
              <a:spLocks noChangeArrowheads="1"/>
            </p:cNvSpPr>
            <p:nvPr/>
          </p:nvSpPr>
          <p:spPr bwMode="auto">
            <a:xfrm>
              <a:off x="2499" y="2302"/>
              <a:ext cx="334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 anchor="b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…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.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</p:grpSp>
      <p:sp>
        <p:nvSpPr>
          <p:cNvPr id="16421" name="文本框 38"/>
          <p:cNvSpPr txBox="1"/>
          <p:nvPr/>
        </p:nvSpPr>
        <p:spPr>
          <a:xfrm>
            <a:off x="692150" y="1958975"/>
            <a:ext cx="2905125" cy="187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由于栈只在尾部操作，对于顺序存储来说，不涉及移动。因此顺序栈更合理。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8433" name="AutoShape 5"/>
          <p:cNvSpPr/>
          <p:nvPr/>
        </p:nvSpPr>
        <p:spPr>
          <a:xfrm>
            <a:off x="1981200" y="914400"/>
            <a:ext cx="4038600" cy="1219200"/>
          </a:xfrm>
          <a:prstGeom prst="wedgeEllipseCallout">
            <a:avLst>
              <a:gd name="adj1" fmla="val -50079"/>
              <a:gd name="adj2" fmla="val 60676"/>
            </a:avLst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入栈，修改栈顶指针</a:t>
            </a: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:top=p</a:t>
            </a:r>
            <a:endParaRPr lang="en-US" altLang="zh-CN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34" name="AutoShape 7"/>
          <p:cNvSpPr/>
          <p:nvPr/>
        </p:nvSpPr>
        <p:spPr>
          <a:xfrm>
            <a:off x="3635375" y="3716338"/>
            <a:ext cx="4191000" cy="990600"/>
          </a:xfrm>
          <a:prstGeom prst="wedgeEllipseCallout">
            <a:avLst>
              <a:gd name="adj1" fmla="val -55037"/>
              <a:gd name="adj2" fmla="val 79486"/>
            </a:avLst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400" baseline="-25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出栈，修改栈顶指针</a:t>
            </a: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:top=top-&gt;next</a:t>
            </a:r>
            <a:endParaRPr lang="en-US" altLang="zh-CN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35" name="Text Box 8"/>
          <p:cNvSpPr txBox="1"/>
          <p:nvPr/>
        </p:nvSpPr>
        <p:spPr>
          <a:xfrm>
            <a:off x="762000" y="228600"/>
            <a:ext cx="533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链栈的入栈操作和出栈操作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8436" name="Picture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2000" y="2133600"/>
            <a:ext cx="8077200" cy="160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7" name="Picture 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6425" y="4805363"/>
            <a:ext cx="8153400" cy="1833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945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3375"/>
            <a:ext cx="9144000" cy="5975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文本框 1"/>
          <p:cNvSpPr txBox="1"/>
          <p:nvPr/>
        </p:nvSpPr>
        <p:spPr>
          <a:xfrm>
            <a:off x="596900" y="1803400"/>
            <a:ext cx="7950200" cy="42465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栈是先进后出。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Push(S,x); Push(S, ‘a’); Push(S,y); 推进去c a k,栈内容c a k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Pop(S,x); Push(S, ‘t’); Push(S,x); 推出k,x=k 栈内容c a;推进t, 站内容c a t; 推入x=k,栈内容 catk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Pop(S,x); Push(S, ‘s’); 推出k, x=k 栈内容cat,推进s,栈内容cats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下面循环打印stac,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最后printf(x)，即打印k 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5" name="Text Box 4"/>
          <p:cNvSpPr txBox="1"/>
          <p:nvPr/>
        </p:nvSpPr>
        <p:spPr>
          <a:xfrm>
            <a:off x="34925" y="1284288"/>
            <a:ext cx="9264650" cy="3081337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p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给定入栈序列：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，指出下面不合法出栈顺序：</a:t>
            </a:r>
            <a:endParaRPr lang="zh-CN" altLang="en-US" sz="2800" b="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endParaRPr lang="en-US" altLang="zh-CN" sz="2800" b="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sz="2800" b="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endParaRPr lang="en-US" altLang="zh-CN" sz="2800" b="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endParaRPr lang="en-US" altLang="zh-CN" sz="2800" b="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e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sz="2800" b="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f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sz="2800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457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04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3.2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栈的应用－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3.2.1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数值转换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例子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57525" y="1752600"/>
            <a:ext cx="5510213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4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+mn-ea"/>
              </a:rPr>
              <a:t>十进制到二进制的转换,通常要区分数的整数部分和小数部分,并分别按除2取余数部分和乘2取整数部分两种不同的方法来完成。</a:t>
            </a:r>
            <a:endParaRPr kumimoji="0" lang="en-US" altLang="zh-CN" sz="4000" b="1" i="0" u="none" strike="noStrike" kern="0" cap="none" spc="0" normalizeH="0" baseline="-2500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4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1" name="Group 31"/>
          <p:cNvGrpSpPr/>
          <p:nvPr/>
        </p:nvGrpSpPr>
        <p:grpSpPr>
          <a:xfrm>
            <a:off x="1062038" y="1847850"/>
            <a:ext cx="1547812" cy="3411538"/>
            <a:chOff x="585" y="1835"/>
            <a:chExt cx="1422" cy="2984"/>
          </a:xfrm>
        </p:grpSpPr>
        <p:sp>
          <p:nvSpPr>
            <p:cNvPr id="26628" name="Line 32"/>
            <p:cNvSpPr/>
            <p:nvPr/>
          </p:nvSpPr>
          <p:spPr>
            <a:xfrm>
              <a:off x="931" y="1907"/>
              <a:ext cx="0" cy="3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29" name="Line 33"/>
            <p:cNvSpPr/>
            <p:nvPr/>
          </p:nvSpPr>
          <p:spPr>
            <a:xfrm>
              <a:off x="868" y="2167"/>
              <a:ext cx="7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0" name="Rectangle 34"/>
            <p:cNvSpPr/>
            <p:nvPr/>
          </p:nvSpPr>
          <p:spPr>
            <a:xfrm>
              <a:off x="1005" y="1836"/>
              <a:ext cx="76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87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31" name="Rectangle 35"/>
            <p:cNvSpPr/>
            <p:nvPr/>
          </p:nvSpPr>
          <p:spPr>
            <a:xfrm>
              <a:off x="585" y="1836"/>
              <a:ext cx="48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32" name="Line 36"/>
            <p:cNvSpPr/>
            <p:nvPr/>
          </p:nvSpPr>
          <p:spPr>
            <a:xfrm>
              <a:off x="931" y="2306"/>
              <a:ext cx="0" cy="32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3" name="Line 37"/>
            <p:cNvSpPr/>
            <p:nvPr/>
          </p:nvSpPr>
          <p:spPr>
            <a:xfrm>
              <a:off x="937" y="2567"/>
              <a:ext cx="55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4" name="Rectangle 38"/>
            <p:cNvSpPr/>
            <p:nvPr/>
          </p:nvSpPr>
          <p:spPr>
            <a:xfrm>
              <a:off x="1005" y="2235"/>
              <a:ext cx="76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43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35" name="Rectangle 39"/>
            <p:cNvSpPr/>
            <p:nvPr/>
          </p:nvSpPr>
          <p:spPr>
            <a:xfrm>
              <a:off x="585" y="2235"/>
              <a:ext cx="48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36" name="Line 40"/>
            <p:cNvSpPr/>
            <p:nvPr/>
          </p:nvSpPr>
          <p:spPr>
            <a:xfrm>
              <a:off x="931" y="2706"/>
              <a:ext cx="0" cy="32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7" name="Line 41"/>
            <p:cNvSpPr/>
            <p:nvPr/>
          </p:nvSpPr>
          <p:spPr>
            <a:xfrm>
              <a:off x="937" y="2967"/>
              <a:ext cx="4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8" name="Rectangle 42"/>
            <p:cNvSpPr/>
            <p:nvPr/>
          </p:nvSpPr>
          <p:spPr>
            <a:xfrm>
              <a:off x="1005" y="2636"/>
              <a:ext cx="76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21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39" name="Rectangle 43"/>
            <p:cNvSpPr/>
            <p:nvPr/>
          </p:nvSpPr>
          <p:spPr>
            <a:xfrm>
              <a:off x="585" y="2636"/>
              <a:ext cx="48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40" name="Line 44"/>
            <p:cNvSpPr/>
            <p:nvPr/>
          </p:nvSpPr>
          <p:spPr>
            <a:xfrm>
              <a:off x="931" y="3040"/>
              <a:ext cx="0" cy="32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1" name="Rectangle 45"/>
            <p:cNvSpPr/>
            <p:nvPr/>
          </p:nvSpPr>
          <p:spPr>
            <a:xfrm>
              <a:off x="977" y="2992"/>
              <a:ext cx="76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10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42" name="Rectangle 46"/>
            <p:cNvSpPr/>
            <p:nvPr/>
          </p:nvSpPr>
          <p:spPr>
            <a:xfrm>
              <a:off x="585" y="2969"/>
              <a:ext cx="48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43" name="Line 47"/>
            <p:cNvSpPr/>
            <p:nvPr/>
          </p:nvSpPr>
          <p:spPr>
            <a:xfrm>
              <a:off x="937" y="3382"/>
              <a:ext cx="61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4" name="Rectangle 48"/>
            <p:cNvSpPr/>
            <p:nvPr/>
          </p:nvSpPr>
          <p:spPr>
            <a:xfrm>
              <a:off x="1005" y="3385"/>
              <a:ext cx="76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5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45" name="Rectangle 49"/>
            <p:cNvSpPr/>
            <p:nvPr/>
          </p:nvSpPr>
          <p:spPr>
            <a:xfrm>
              <a:off x="585" y="3385"/>
              <a:ext cx="48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46" name="Line 50"/>
            <p:cNvSpPr/>
            <p:nvPr/>
          </p:nvSpPr>
          <p:spPr>
            <a:xfrm>
              <a:off x="931" y="3787"/>
              <a:ext cx="0" cy="32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7" name="Line 51"/>
            <p:cNvSpPr/>
            <p:nvPr/>
          </p:nvSpPr>
          <p:spPr>
            <a:xfrm>
              <a:off x="937" y="4049"/>
              <a:ext cx="61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8" name="Rectangle 52"/>
            <p:cNvSpPr/>
            <p:nvPr/>
          </p:nvSpPr>
          <p:spPr>
            <a:xfrm>
              <a:off x="1005" y="3716"/>
              <a:ext cx="76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49" name="Rectangle 53"/>
            <p:cNvSpPr/>
            <p:nvPr/>
          </p:nvSpPr>
          <p:spPr>
            <a:xfrm>
              <a:off x="585" y="3716"/>
              <a:ext cx="486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2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50" name="Line 54"/>
            <p:cNvSpPr/>
            <p:nvPr/>
          </p:nvSpPr>
          <p:spPr>
            <a:xfrm>
              <a:off x="931" y="3394"/>
              <a:ext cx="0" cy="3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1" name="Line 55"/>
            <p:cNvSpPr/>
            <p:nvPr/>
          </p:nvSpPr>
          <p:spPr>
            <a:xfrm>
              <a:off x="937" y="3717"/>
              <a:ext cx="55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2" name="Rectangle 56"/>
            <p:cNvSpPr/>
            <p:nvPr/>
          </p:nvSpPr>
          <p:spPr>
            <a:xfrm>
              <a:off x="1034" y="4078"/>
              <a:ext cx="419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1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53" name="Line 57"/>
            <p:cNvSpPr/>
            <p:nvPr/>
          </p:nvSpPr>
          <p:spPr>
            <a:xfrm>
              <a:off x="931" y="4055"/>
              <a:ext cx="0" cy="32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4" name="Line 58"/>
            <p:cNvSpPr/>
            <p:nvPr/>
          </p:nvSpPr>
          <p:spPr>
            <a:xfrm>
              <a:off x="937" y="4381"/>
              <a:ext cx="4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5" name="Rectangle 59"/>
            <p:cNvSpPr/>
            <p:nvPr/>
          </p:nvSpPr>
          <p:spPr>
            <a:xfrm>
              <a:off x="1020" y="4439"/>
              <a:ext cx="277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</a:rPr>
                <a:t>0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56" name="Rectangle 60"/>
            <p:cNvSpPr/>
            <p:nvPr/>
          </p:nvSpPr>
          <p:spPr>
            <a:xfrm>
              <a:off x="1577" y="1835"/>
              <a:ext cx="415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1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57" name="Rectangle 61"/>
            <p:cNvSpPr/>
            <p:nvPr/>
          </p:nvSpPr>
          <p:spPr>
            <a:xfrm>
              <a:off x="1577" y="2236"/>
              <a:ext cx="415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1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58" name="Rectangle 62"/>
            <p:cNvSpPr/>
            <p:nvPr/>
          </p:nvSpPr>
          <p:spPr>
            <a:xfrm>
              <a:off x="1577" y="2635"/>
              <a:ext cx="415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1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59" name="Rectangle 63"/>
            <p:cNvSpPr/>
            <p:nvPr/>
          </p:nvSpPr>
          <p:spPr>
            <a:xfrm>
              <a:off x="1577" y="2985"/>
              <a:ext cx="415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0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60" name="Rectangle 64"/>
            <p:cNvSpPr/>
            <p:nvPr/>
          </p:nvSpPr>
          <p:spPr>
            <a:xfrm>
              <a:off x="1588" y="3319"/>
              <a:ext cx="419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1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61" name="Rectangle 65"/>
            <p:cNvSpPr/>
            <p:nvPr/>
          </p:nvSpPr>
          <p:spPr>
            <a:xfrm>
              <a:off x="1581" y="4039"/>
              <a:ext cx="279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1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26662" name="Rectangle 66"/>
            <p:cNvSpPr/>
            <p:nvPr/>
          </p:nvSpPr>
          <p:spPr>
            <a:xfrm>
              <a:off x="1584" y="3676"/>
              <a:ext cx="419" cy="38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0" tIns="44446" rIns="90480" bIns="44446" anchor="t" anchorCtr="0">
              <a:spAutoFit/>
            </a:bodyPr>
            <a:p>
              <a:pPr fontAlgn="t">
                <a:lnSpc>
                  <a:spcPct val="14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0</a:t>
              </a:r>
              <a:endPara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3.2 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栈的应用－</a:t>
            </a: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3.2.1 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数值转换</a:t>
            </a:r>
            <a:endParaRPr kumimoji="0" lang="zh-CN" altLang="en-US" sz="3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十进制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和其它进制数的转换是计算机实现计算的基本问题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其解决方法很多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其中一个简单算法基于下列原理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: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N=(N div d)*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d+N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mod d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其中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:div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为整除运算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,mod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为求余运算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例如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1348)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10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=(2504)</a:t>
            </a:r>
            <a:r>
              <a:rPr kumimoji="0" lang="en-US" altLang="zh-CN" sz="2400" b="1" i="0" u="none" strike="noStrike" kern="0" cap="none" spc="0" normalizeH="0" baseline="-2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其运算过程如下：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7651" name="Rectangle 4"/>
          <p:cNvSpPr/>
          <p:nvPr/>
        </p:nvSpPr>
        <p:spPr>
          <a:xfrm>
            <a:off x="2520950" y="4260850"/>
            <a:ext cx="4572000" cy="1616075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algn="ctr"/>
            <a:r>
              <a:rPr lang="en-US" altLang="zh-CN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         N div 8     N mod 8</a:t>
            </a:r>
            <a:endParaRPr lang="en-US" altLang="zh-CN" b="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1348       168             4</a:t>
            </a:r>
            <a:endParaRPr lang="en-US" altLang="zh-CN" b="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 168        21              0</a:t>
            </a:r>
            <a:endParaRPr lang="en-US" altLang="zh-CN" b="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  21         2                5</a:t>
            </a:r>
            <a:endParaRPr lang="en-US" altLang="zh-CN" b="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b="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   2           0               2</a:t>
            </a:r>
            <a:endParaRPr lang="en-US" altLang="zh-CN" b="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3.2.1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数值转换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48501" name="Group 21"/>
          <p:cNvGraphicFramePr>
            <a:graphicFrameLocks noGrp="1"/>
          </p:cNvGraphicFramePr>
          <p:nvPr/>
        </p:nvGraphicFramePr>
        <p:xfrm>
          <a:off x="7261225" y="3860800"/>
          <a:ext cx="647700" cy="2133601"/>
        </p:xfrm>
        <a:graphic>
          <a:graphicData uri="http://schemas.openxmlformats.org/drawingml/2006/table">
            <a:tbl>
              <a:tblPr/>
              <a:tblGrid>
                <a:gridCol w="647700"/>
              </a:tblGrid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8515" name="Rectangle 35"/>
          <p:cNvSpPr/>
          <p:nvPr/>
        </p:nvSpPr>
        <p:spPr>
          <a:xfrm>
            <a:off x="7380288" y="5516563"/>
            <a:ext cx="431800" cy="3603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8516" name="Rectangle 36"/>
          <p:cNvSpPr/>
          <p:nvPr/>
        </p:nvSpPr>
        <p:spPr>
          <a:xfrm>
            <a:off x="7380288" y="5013325"/>
            <a:ext cx="431800" cy="3603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8517" name="Rectangle 37"/>
          <p:cNvSpPr/>
          <p:nvPr/>
        </p:nvSpPr>
        <p:spPr>
          <a:xfrm>
            <a:off x="7380288" y="4508500"/>
            <a:ext cx="431800" cy="3603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8518" name="Rectangle 38"/>
          <p:cNvSpPr/>
          <p:nvPr/>
        </p:nvSpPr>
        <p:spPr>
          <a:xfrm>
            <a:off x="7380288" y="4005263"/>
            <a:ext cx="431800" cy="3603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8690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1773238"/>
            <a:ext cx="6708775" cy="4283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81481E-6 L -0.19688 -0.09977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0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-0.13385 -0.17314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00" y="-8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07407E-6 L -0.07083 -0.24676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" y="-12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2569 " pathEditMode="relative" ptsTypes="AA">
                                      <p:cBhvr>
                                        <p:cTn id="42" dur="1000" fill="hold"/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15" grpId="0"/>
      <p:bldP spid="148515" grpId="1"/>
      <p:bldP spid="148516" grpId="0"/>
      <p:bldP spid="148516" grpId="1"/>
      <p:bldP spid="148517" grpId="0"/>
      <p:bldP spid="148517" grpId="1"/>
      <p:bldP spid="148518" grpId="0"/>
      <p:bldP spid="148518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3.2.2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括号匹配的检验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7966075" cy="1892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假设表达式中允许括号（圆括号（）和方括号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[]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）嵌套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则检验括号是否匹配的方法可用“期待的急迫程度”这个概念来描述。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[([][])]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算法开始和结束时，栈都应为空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graphicFrame>
        <p:nvGraphicFramePr>
          <p:cNvPr id="151576" name="Group 24"/>
          <p:cNvGraphicFramePr>
            <a:graphicFrameLocks noGrp="1"/>
          </p:cNvGraphicFramePr>
          <p:nvPr>
            <p:ph sz="half" idx="1"/>
          </p:nvPr>
        </p:nvGraphicFramePr>
        <p:xfrm>
          <a:off x="7054850" y="3860800"/>
          <a:ext cx="647700" cy="2160589"/>
        </p:xfrm>
        <a:graphic>
          <a:graphicData uri="http://schemas.openxmlformats.org/drawingml/2006/table">
            <a:tbl>
              <a:tblPr/>
              <a:tblGrid>
                <a:gridCol w="647700"/>
              </a:tblGrid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4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1570" name="Rectangle 18"/>
          <p:cNvSpPr/>
          <p:nvPr/>
        </p:nvSpPr>
        <p:spPr>
          <a:xfrm>
            <a:off x="7164388" y="5516563"/>
            <a:ext cx="431800" cy="3603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[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71" name="Rectangle 19"/>
          <p:cNvSpPr/>
          <p:nvPr/>
        </p:nvSpPr>
        <p:spPr>
          <a:xfrm>
            <a:off x="7164388" y="5013325"/>
            <a:ext cx="431800" cy="3603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(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1572" name="Rectangle 20"/>
          <p:cNvSpPr/>
          <p:nvPr/>
        </p:nvSpPr>
        <p:spPr>
          <a:xfrm>
            <a:off x="7164388" y="4508500"/>
            <a:ext cx="431800" cy="3603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[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1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70" grpId="0"/>
      <p:bldP spid="151570" grpId="1"/>
      <p:bldP spid="151571" grpId="0"/>
      <p:bldP spid="151571" grpId="1"/>
      <p:bldP spid="151572" grpId="0"/>
      <p:bldP spid="151572" grpId="1"/>
      <p:bldP spid="151572" grpId="2"/>
      <p:bldP spid="151572" grpId="3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B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前情提要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栈和队列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栈的定义：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栈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(Stack)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是限定仅在表尾一端进行插入和删除操作的线性表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性质：后进先出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抽象数据类型栈的定义（数据对象，数据关系，基本操作）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栈的表示和实现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顺序栈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 PUSH &amp; POP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栈的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3556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0" y="3886200"/>
            <a:ext cx="3184525" cy="21336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3.3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栈与递归的实现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递归函数。一个直接调用自己或通过一系列的调用语句间接调用自己的函数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阶乘函数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    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Fact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（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）＝ 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1                      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若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＝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                   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＝ 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n*Fact(n-1)    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若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＞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0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阶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Fibonacci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数列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Ackerman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递归定义数据结构：二叉树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递归求解问题：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Hanoi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塔、八皇后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…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阶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Hanoi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塔问题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6" name="Text Box 5"/>
          <p:cNvSpPr txBox="1"/>
          <p:nvPr/>
        </p:nvSpPr>
        <p:spPr>
          <a:xfrm>
            <a:off x="2051050" y="5026025"/>
            <a:ext cx="4935538" cy="1420813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将编号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的圆盘， 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&gt;Z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当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&gt;Z</a:t>
            </a:r>
            <a:endParaRPr lang="en-US" altLang="zh-CN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当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n&gt;1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，	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）将编号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的圆盘， 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&gt;Y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；</a:t>
            </a:r>
            <a:endParaRPr lang="zh-CN" altLang="en-US" sz="1600" dirty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           	（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）将编号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的圆盘， 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600" dirty="0">
                <a:latin typeface="Verdana" panose="020B0604030504040204" pitchFamily="34" charset="0"/>
                <a:ea typeface="宋体" panose="02010600030101010101" pitchFamily="2" charset="-122"/>
              </a:rPr>
              <a:t>&gt;Z</a:t>
            </a: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；</a:t>
            </a:r>
            <a:endParaRPr lang="zh-CN" altLang="en-US" sz="1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600" dirty="0">
                <a:latin typeface="Verdana" panose="020B0604030504040204" pitchFamily="34" charset="0"/>
                <a:ea typeface="宋体" panose="02010600030101010101" pitchFamily="2" charset="-122"/>
              </a:rPr>
              <a:t>              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(3) 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将编号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的圆盘， 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Y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&gt;Z</a:t>
            </a:r>
            <a:r>
              <a:rPr lang="zh-CN" altLang="en-US" sz="16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；</a:t>
            </a:r>
            <a:endParaRPr lang="zh-CN" altLang="en-US" sz="1600" dirty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1747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913" y="1900238"/>
            <a:ext cx="8259762" cy="2882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69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50" y="1304925"/>
            <a:ext cx="8623300" cy="4248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函数调用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若函数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，则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为调用函数，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为被调用函数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函数间的信息传递和控制转移通过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实现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调用前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实参数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,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返回地址等信息入栈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为被调用函数的局部变量分配内存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入栈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)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控制转移至被调用函数地址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调用返回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释放局部变量所占内存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出栈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)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保存结果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入栈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)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控制返回至返回地址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多个函数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嵌套调用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后调用先返回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函数调用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递归调用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471170" marR="0" lvl="1" indent="0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     为了保证递归函数正确执行，系统需设立一个“递归工作栈”作为整个递归函数运行期间使用的数据存储区。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471170" marR="0" lvl="1" indent="457200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每一层递归所需信息构成一个“工作记录”，其中包括所有的实在参数、所有的局部变量以及上一层的返回地址。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函数调用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递归调用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ea"/>
              <a:cs typeface="+mn-ea"/>
            </a:endParaRPr>
          </a:p>
          <a:p>
            <a:pPr marL="471170" marR="0" lvl="1" indent="0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    每进入一层递归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就产生一个新的工作记录压入栈顶。每退出一层递归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就从栈顶弹出一个工作记录</a:t>
            </a:r>
            <a:r>
              <a:rPr lang="zh-CN" altLang="en-US" sz="2400" noProof="0">
                <a:ln>
                  <a:noFill/>
                </a:ln>
                <a:uLnTx/>
                <a:uFillTx/>
                <a:latin typeface="+mn-ea"/>
                <a:cs typeface="+mn-ea"/>
                <a:sym typeface="+mn-ea"/>
              </a:rPr>
              <a:t>。</a:t>
            </a:r>
            <a:endParaRPr lang="zh-CN" altLang="en-US" sz="2400" noProof="0">
              <a:ln>
                <a:noFill/>
              </a:ln>
              <a:uLnTx/>
              <a:uFillTx/>
              <a:latin typeface="+mn-ea"/>
              <a:cs typeface="+mn-ea"/>
              <a:sym typeface="+mn-ea"/>
            </a:endParaRPr>
          </a:p>
          <a:p>
            <a:pPr marL="471170" marR="0" lvl="1" indent="457200" algn="l" defTabSz="914400" rtl="0" eaLnBrk="1" fontAlgn="base" latinLnBrk="0" hangingPunct="1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 当前执行层的工作记录必是递归工作栈栈顶的工作记录</a:t>
            </a:r>
            <a:r>
              <a:rPr lang="zh-CN" altLang="en-US" sz="2400" noProof="0">
                <a:ln>
                  <a:noFill/>
                </a:ln>
                <a:uLnTx/>
                <a:uFillTx/>
                <a:latin typeface="+mn-ea"/>
                <a:cs typeface="+mn-ea"/>
                <a:sym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称这个记录为“活动记录”</a:t>
            </a:r>
            <a:r>
              <a:rPr lang="zh-CN" altLang="en-US" sz="2400" noProof="0">
                <a:ln>
                  <a:noFill/>
                </a:ln>
                <a:uLnTx/>
                <a:uFillTx/>
                <a:latin typeface="+mn-ea"/>
                <a:cs typeface="+mn-ea"/>
                <a:sym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并称指示活动记录的栈顶指针为“当前环境指针”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cs typeface="+mn-ea"/>
              </a:rPr>
              <a:t>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递归过程的实现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5843" name="内容占位符 1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4675" y="1870075"/>
            <a:ext cx="8001000" cy="4268788"/>
          </a:xfrm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36865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138113"/>
            <a:ext cx="8224837" cy="6719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6" name="AutoShape 5"/>
          <p:cNvSpPr/>
          <p:nvPr/>
        </p:nvSpPr>
        <p:spPr>
          <a:xfrm>
            <a:off x="8229600" y="1412875"/>
            <a:ext cx="914400" cy="609600"/>
          </a:xfrm>
          <a:prstGeom prst="accentCallout1">
            <a:avLst>
              <a:gd name="adj1" fmla="val 18750"/>
              <a:gd name="adj2" fmla="val -8333"/>
              <a:gd name="adj3" fmla="val 75000"/>
              <a:gd name="adj4" fmla="val -213718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b="0" dirty="0">
                <a:latin typeface="Verdana" panose="020B0604030504040204" pitchFamily="34" charset="0"/>
                <a:ea typeface="宋体" panose="02010600030101010101" pitchFamily="2" charset="-122"/>
              </a:rPr>
              <a:t>返回地址</a:t>
            </a:r>
            <a:endParaRPr lang="zh-CN" altLang="en-US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06600" y="-63500"/>
            <a:ext cx="5013325" cy="684213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hanoi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7890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836613"/>
            <a:ext cx="9034463" cy="5472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91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" y="850900"/>
            <a:ext cx="9110663" cy="4594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937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00"/>
            <a:ext cx="9067800" cy="6389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课堂练习</a:t>
            </a: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0" lang="en-US" altLang="zh-CN" sz="3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简述程序功能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并画出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unk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(1348)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递归调用中栈的变化过程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1: void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unk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(int  n){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2:    if(n / 8)  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unk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 / 8);  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3:   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,n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% 8); 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4: }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noProof="0" dirty="0">
                <a:ln>
                  <a:noFill/>
                </a:ln>
                <a:uLnTx/>
                <a:uFillTx/>
                <a:sym typeface="+mn-ea"/>
              </a:rPr>
              <a:t>课堂练习</a:t>
            </a:r>
            <a:r>
              <a:rPr lang="en-US" altLang="zh-CN" noProof="0" dirty="0">
                <a:ln>
                  <a:noFill/>
                </a:ln>
                <a:uLnTx/>
                <a:uFillTx/>
                <a:sym typeface="+mn-ea"/>
              </a:rPr>
              <a:t>2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7055" y="1752600"/>
            <a:ext cx="8108950" cy="4267200"/>
          </a:xfrm>
        </p:spPr>
        <p:txBody>
          <a:bodyPr/>
          <a:p>
            <a:pPr marL="0" indent="0">
              <a:buNone/>
            </a:pPr>
            <a:r>
              <a:rPr lang="zh-CN" altLang="en-US" sz="2400"/>
              <a:t>阅读下面函数并回答问题：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   int   demo(int  n){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        if(n==0 || n==1)  return  1;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        else  return  demo (n-1) + demo (n-2);  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   }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（1）写出调用语句</a:t>
            </a:r>
            <a:endParaRPr lang="zh-CN" altLang="en-US" sz="2400"/>
          </a:p>
          <a:p>
            <a:pPr marL="779780" indent="0">
              <a:buNone/>
            </a:pPr>
            <a:r>
              <a:rPr lang="zh-CN" altLang="en-US" sz="2400"/>
              <a:t>printf(“demo(6)=%d\n”, demo (6))后，程序的输出结果。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（2）给出适当的求解步骤。</a:t>
            </a:r>
            <a:endParaRPr lang="zh-CN" alt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noProof="0" dirty="0">
                <a:ln>
                  <a:noFill/>
                </a:ln>
                <a:uLnTx/>
                <a:uFillTx/>
                <a:sym typeface="+mn-ea"/>
              </a:rPr>
              <a:t>课堂练习</a:t>
            </a:r>
            <a:r>
              <a:rPr lang="en-US" altLang="zh-CN" noProof="0" dirty="0">
                <a:ln>
                  <a:noFill/>
                </a:ln>
                <a:uLnTx/>
                <a:uFillTx/>
                <a:sym typeface="+mn-ea"/>
              </a:rPr>
              <a:t>2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60" y="1752600"/>
            <a:ext cx="8258810" cy="4267200"/>
          </a:xfrm>
        </p:spPr>
        <p:txBody>
          <a:bodyPr/>
          <a:p>
            <a:pPr marL="0" indent="0">
              <a:buNone/>
            </a:pPr>
            <a:r>
              <a:rPr lang="zh-CN" altLang="en-US" sz="2800"/>
              <a:t>（1） demo(6)=13                                   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（2）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（6）=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（5）+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（4）                            </a:t>
            </a:r>
            <a:r>
              <a:rPr lang="en-US" altLang="zh-CN" sz="2800"/>
              <a:t>	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（5）=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（4）+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（3）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   </a:t>
            </a:r>
            <a:r>
              <a:rPr lang="en-US" altLang="zh-CN" sz="2800"/>
              <a:t>	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（4）=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（3）+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（2）   </a:t>
            </a:r>
            <a:r>
              <a:rPr lang="en-US" altLang="zh-CN" sz="2800"/>
              <a:t>	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（3）= 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（2）+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（1）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   </a:t>
            </a:r>
            <a:r>
              <a:rPr lang="en-US" altLang="zh-CN" sz="2800"/>
              <a:t>	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（2）= 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（1）+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（0）   </a:t>
            </a:r>
            <a:r>
              <a:rPr lang="en-US" altLang="zh-CN" sz="2800"/>
              <a:t>	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（1）=1   </a:t>
            </a:r>
            <a:r>
              <a:rPr lang="zh-CN" altLang="en-US" sz="2800">
                <a:sym typeface="+mn-ea"/>
              </a:rPr>
              <a:t>demo</a:t>
            </a:r>
            <a:r>
              <a:rPr lang="zh-CN" altLang="en-US" sz="2800"/>
              <a:t>（0）=1</a:t>
            </a:r>
            <a:endParaRPr lang="zh-CN" altLang="en-US"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12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课后作业</a:t>
            </a: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</a:t>
            </a:r>
            <a:endParaRPr kumimoji="0" lang="en-US" altLang="zh-CN" sz="3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21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7966075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编写如下递归函数的递归算法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并画出求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g(5,2)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时栈的变化过程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1987" name="Object 4"/>
          <p:cNvGraphicFramePr/>
          <p:nvPr>
            <p:ph sz="half" idx="2"/>
          </p:nvPr>
        </p:nvGraphicFramePr>
        <p:xfrm>
          <a:off x="827088" y="3284538"/>
          <a:ext cx="7848600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781300" imgH="457200" progId="Equation.3">
                  <p:embed/>
                </p:oleObj>
              </mc:Choice>
              <mc:Fallback>
                <p:oleObj name="" r:id="rId1" imgW="2781300" imgH="457200" progId="Equation.3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3284538"/>
                        <a:ext cx="7848600" cy="12890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B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前情提要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栈和队列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栈（定义，操作，应用）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600" noProof="0" dirty="0">
                <a:ln>
                  <a:noFill/>
                </a:ln>
                <a:uLnTx/>
                <a:uFillTx/>
                <a:sym typeface="+mn-ea"/>
              </a:rPr>
              <a:t>2. </a:t>
            </a:r>
            <a:r>
              <a:rPr lang="zh-CN" altLang="en-US" sz="2600" noProof="0" dirty="0">
                <a:ln>
                  <a:noFill/>
                </a:ln>
                <a:uLnTx/>
                <a:uFillTx/>
                <a:sym typeface="+mn-ea"/>
              </a:rPr>
              <a:t>函数调用过程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栈与递归（汉诺塔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Hanoi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问题）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FFB8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6865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120650"/>
            <a:ext cx="8098155" cy="6616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6" name="AutoShape 5"/>
          <p:cNvSpPr/>
          <p:nvPr/>
        </p:nvSpPr>
        <p:spPr>
          <a:xfrm>
            <a:off x="8229600" y="1412875"/>
            <a:ext cx="914400" cy="609600"/>
          </a:xfrm>
          <a:prstGeom prst="accentCallout1">
            <a:avLst>
              <a:gd name="adj1" fmla="val 18750"/>
              <a:gd name="adj2" fmla="val -8333"/>
              <a:gd name="adj3" fmla="val 75000"/>
              <a:gd name="adj4" fmla="val -213718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b="0" dirty="0">
                <a:latin typeface="Verdana" panose="020B0604030504040204" pitchFamily="34" charset="0"/>
                <a:ea typeface="宋体" panose="02010600030101010101" pitchFamily="2" charset="-122"/>
              </a:rPr>
              <a:t>返回地址</a:t>
            </a:r>
            <a:endParaRPr lang="zh-CN" altLang="en-US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3.4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队列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2828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先进先出（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first in first out, FIFO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）的线性结构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只允许在表的一端进行插入，而在另一端进行删除。允许删除的一端称为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队头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(front)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，允许插入的一端称为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队尾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(rear)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。当队列中没有元素时称为空队列。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入队、出队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FIFO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pic>
        <p:nvPicPr>
          <p:cNvPr id="44035" name="20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35150" y="3644900"/>
            <a:ext cx="5207000" cy="23987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3.4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队列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2828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一个最典型的例子就是操作系统中的作业排队。在允许多道程序运行的计算机系统中，同时有几个作业运行。如果运行的结果都需要通过通道输出，那就要按请求输出的先后次序排队。每当通道传输完毕可以接受新的输出任务时，队头的作业先从队列中退出作输出操作。凡是申请输出的作业都从队尾进入队列。</a:t>
            </a:r>
            <a:endParaRPr kumimoji="0" 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46081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63" y="0"/>
            <a:ext cx="7980362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47105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227013"/>
            <a:ext cx="5867400" cy="4281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6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508500"/>
            <a:ext cx="8991600" cy="1554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3.4.2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链队列－队列链式表示和实现（单链队列）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915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1773238"/>
            <a:ext cx="7345362" cy="4308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5" name="AutoShape 5"/>
          <p:cNvSpPr/>
          <p:nvPr/>
        </p:nvSpPr>
        <p:spPr>
          <a:xfrm>
            <a:off x="684213" y="1916113"/>
            <a:ext cx="914400" cy="320675"/>
          </a:xfrm>
          <a:prstGeom prst="accentCallout2">
            <a:avLst>
              <a:gd name="adj1" fmla="val 35644"/>
              <a:gd name="adj2" fmla="val 108333"/>
              <a:gd name="adj3" fmla="val 35644"/>
              <a:gd name="adj4" fmla="val 127606"/>
              <a:gd name="adj5" fmla="val 233662"/>
              <a:gd name="adj6" fmla="val 197051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sz="1800" b="0" dirty="0">
                <a:latin typeface="Verdana" panose="020B0604030504040204" pitchFamily="34" charset="0"/>
                <a:ea typeface="宋体" panose="02010600030101010101" pitchFamily="2" charset="-122"/>
              </a:rPr>
              <a:t>头结点</a:t>
            </a:r>
            <a:endParaRPr lang="zh-CN" altLang="en-US" sz="1800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AutoShape 6"/>
          <p:cNvSpPr/>
          <p:nvPr/>
        </p:nvSpPr>
        <p:spPr>
          <a:xfrm>
            <a:off x="250825" y="2997200"/>
            <a:ext cx="914400" cy="320675"/>
          </a:xfrm>
          <a:prstGeom prst="accentCallout2">
            <a:avLst>
              <a:gd name="adj1" fmla="val 35644"/>
              <a:gd name="adj2" fmla="val 108333"/>
              <a:gd name="adj3" fmla="val 35644"/>
              <a:gd name="adj4" fmla="val 115972"/>
              <a:gd name="adj5" fmla="val -102972"/>
              <a:gd name="adj6" fmla="val 143056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sz="1800" b="0" dirty="0">
                <a:latin typeface="Verdana" panose="020B0604030504040204" pitchFamily="34" charset="0"/>
                <a:ea typeface="宋体" panose="02010600030101010101" pitchFamily="2" charset="-122"/>
              </a:rPr>
              <a:t>头指针</a:t>
            </a:r>
            <a:endParaRPr lang="zh-CN" altLang="en-US" sz="1800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AutoShape 7"/>
          <p:cNvSpPr/>
          <p:nvPr/>
        </p:nvSpPr>
        <p:spPr>
          <a:xfrm>
            <a:off x="250825" y="3789363"/>
            <a:ext cx="914400" cy="320675"/>
          </a:xfrm>
          <a:prstGeom prst="accentCallout2">
            <a:avLst>
              <a:gd name="adj1" fmla="val 35644"/>
              <a:gd name="adj2" fmla="val 108333"/>
              <a:gd name="adj3" fmla="val 35644"/>
              <a:gd name="adj4" fmla="val 111111"/>
              <a:gd name="adj5" fmla="val 180199"/>
              <a:gd name="adj6" fmla="val 121181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sz="1800" b="0" dirty="0">
                <a:latin typeface="Verdana" panose="020B0604030504040204" pitchFamily="34" charset="0"/>
                <a:ea typeface="宋体" panose="02010600030101010101" pitchFamily="2" charset="-122"/>
              </a:rPr>
              <a:t>尾指针</a:t>
            </a:r>
            <a:endParaRPr lang="zh-CN" altLang="en-US" sz="1800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50177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980440"/>
            <a:ext cx="7755890" cy="4879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20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35" y="3284855"/>
            <a:ext cx="3184525" cy="21336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238" y="115888"/>
            <a:ext cx="8655050" cy="6049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55297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692150"/>
            <a:ext cx="6481762" cy="61769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25" name="Line 5"/>
          <p:cNvSpPr>
            <a:spLocks noChangeShapeType="1"/>
          </p:cNvSpPr>
          <p:nvPr/>
        </p:nvSpPr>
        <p:spPr bwMode="auto">
          <a:xfrm>
            <a:off x="1403350" y="5949950"/>
            <a:ext cx="3671888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带头结点队列和不带头结点队列的区别</a:t>
            </a:r>
            <a:endParaRPr kumimoji="0" lang="zh-CN" altLang="en-US" sz="36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1202" name="20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9138" y="1835150"/>
            <a:ext cx="7521575" cy="39068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带头结点队列和不带头结点队列的区别</a:t>
            </a:r>
            <a:endParaRPr kumimoji="0" lang="zh-CN" altLang="en-US" sz="36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2227" name="20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4675" y="1693863"/>
            <a:ext cx="8001000" cy="5164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带头结点队列和不带头结点队列的区别</a:t>
            </a:r>
            <a:endParaRPr kumimoji="0" lang="zh-CN" altLang="en-US" sz="36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0" name="文本框 2"/>
          <p:cNvSpPr txBox="1"/>
          <p:nvPr/>
        </p:nvSpPr>
        <p:spPr>
          <a:xfrm>
            <a:off x="660400" y="1998663"/>
            <a:ext cx="7915275" cy="35385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比较上面两段程序，带头结点的链队的入队操作，只要把新生成的结点加到尾结点后即可。而不带头结点的操作则还要注意到边界操作，假如是第一次入队，需修改队头指针。</a:t>
            </a:r>
            <a:endParaRPr lang="zh-CN" altLang="en-US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just"/>
            <a:endParaRPr lang="zh-CN" altLang="en-US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 dirty="0">
                <a:latin typeface="Verdana" panose="020B0604030504040204" pitchFamily="34" charset="0"/>
                <a:ea typeface="宋体" panose="02010600030101010101" pitchFamily="2" charset="-122"/>
              </a:rPr>
              <a:t>同样的道理，对于出队操作，假如是最后一个结点出队，需要注意修改队尾指针。由此，我们建议链式队列最好采用带头结点的实现方式。</a:t>
            </a:r>
            <a:endParaRPr lang="zh-CN" altLang="en-US" sz="2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3.4.3 </a:t>
            </a:r>
            <a:r>
              <a:rPr kumimoji="0" lang="zh-CN" altLang="en-US" sz="3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循环队列－队列的顺序表示和实现</a:t>
            </a:r>
            <a:endParaRPr kumimoji="0" lang="zh-CN" altLang="en-US" sz="33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5349" name="Rectangle 5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4197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队列的顺序存储结构称为顺序队列。</a:t>
            </a:r>
            <a:endParaRPr kumimoji="1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由于队列的队头和队尾的位置是变化的，因而要设两个指针（下标）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front</a:t>
            </a: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rear</a:t>
            </a: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分别指示队头和队尾元素在队列中的位置，它们的初始值在队列初始化时均应置为０。</a:t>
            </a:r>
            <a:endParaRPr kumimoji="1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000" noProof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anose="02020603050405020304" pitchFamily="18" charset="0"/>
                <a:sym typeface="+mn-ea"/>
              </a:rPr>
              <a:t>在非空队列里，头指针始终指向队头元素，而尾指针始终指向队尾元素的下一位置。</a:t>
            </a:r>
            <a:endParaRPr kumimoji="1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入队时，在尾指针所指位置添加新元素，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rear</a:t>
            </a: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增１（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rear</a:t>
            </a: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＋＋）。</a:t>
            </a:r>
            <a:endParaRPr kumimoji="1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出队时，删去头指针所指元素，头指针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front</a:t>
            </a: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增１（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front</a:t>
            </a: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＋＋），返回被删元素。</a:t>
            </a:r>
            <a:endParaRPr kumimoji="1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当头尾指针相等时队列为空。</a:t>
            </a:r>
            <a:endParaRPr kumimoji="1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TOP</a:t>
            </a: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指针与</a:t>
            </a:r>
            <a:r>
              <a:rPr kumimoji="0" lang="en-US" altLang="zh-CN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REAR</a:t>
            </a: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指针</a:t>
            </a:r>
            <a:endParaRPr kumimoji="0" lang="zh-CN" altLang="en-US" sz="38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在非空队列里，头指针始终指向队头元素，而尾指针始终指向队尾元素的下一位置。</a:t>
            </a: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  <a:sym typeface="+mn-ea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  <a:sym typeface="+mn-ea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+mn-ea"/>
              </a:rPr>
              <a:t>非空栈中的</a:t>
            </a:r>
            <a:r>
              <a:rPr kumimoji="0" lang="en-US" altLang="zh-CN" sz="3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+mn-ea"/>
              </a:rPr>
              <a:t>top</a:t>
            </a:r>
            <a:r>
              <a:rPr kumimoji="0" lang="zh-CN" altLang="en-US" sz="3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+mn-ea"/>
              </a:rPr>
              <a:t>始终在栈顶元素的下一个位置。</a:t>
            </a:r>
            <a:endParaRPr kumimoji="0" lang="zh-CN" altLang="en-US" sz="3000" b="1" i="0" u="none" strike="noStrike" kern="0" cap="none" spc="0" normalizeH="0" baseline="0" noProof="1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8369" name="Rectangle 5"/>
          <p:cNvSpPr/>
          <p:nvPr/>
        </p:nvSpPr>
        <p:spPr>
          <a:xfrm>
            <a:off x="539750" y="5219700"/>
            <a:ext cx="4492625" cy="1136650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继续入队：扩大存储空间，空间浪费 </a:t>
            </a:r>
            <a:endParaRPr lang="zh-CN" altLang="en-US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假上溢</a:t>
            </a:r>
            <a:endParaRPr lang="zh-CN" altLang="en-US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循环队列</a:t>
            </a:r>
            <a:endParaRPr lang="zh-CN" altLang="en-US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58370" name="20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2625" y="260350"/>
            <a:ext cx="7448550" cy="481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8422" name="AutoShape 6"/>
          <p:cNvSpPr/>
          <p:nvPr/>
        </p:nvSpPr>
        <p:spPr bwMode="auto">
          <a:xfrm>
            <a:off x="134938" y="333375"/>
            <a:ext cx="1490663" cy="609600"/>
          </a:xfrm>
          <a:prstGeom prst="accentCallout1">
            <a:avLst>
              <a:gd name="adj1" fmla="val 18750"/>
              <a:gd name="adj2" fmla="val 105111"/>
              <a:gd name="adj3" fmla="val 53648"/>
              <a:gd name="adj4" fmla="val 123431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Maxsize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＝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6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393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263" y="2060575"/>
            <a:ext cx="3713162" cy="2995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循环队列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4570413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将顺序队列臆造为一个环状的空间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在循环队列中进行出队、入队操作时，头尾指针仍要加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。当头或尾指针指向队列上界（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Maxsize-1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）时，其加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操作的结果是指向队列的下界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入队时尾指针运算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 rear=(rear+1)%Maxsize</a:t>
            </a:r>
            <a:endParaRPr kumimoji="1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出队时头指针运算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 front=(front+1)%Maxaize</a:t>
            </a:r>
            <a:endParaRPr kumimoji="1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9445" name="Line 5"/>
          <p:cNvSpPr>
            <a:spLocks noChangeShapeType="1"/>
          </p:cNvSpPr>
          <p:nvPr/>
        </p:nvSpPr>
        <p:spPr bwMode="auto">
          <a:xfrm flipV="1">
            <a:off x="7451725" y="2581275"/>
            <a:ext cx="392113" cy="446088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</a:ln>
          <a:effectLst/>
        </p:spPr>
        <p:txBody>
          <a:bodyPr wrap="none" anchor="b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0417" name="Text Box 5"/>
          <p:cNvSpPr txBox="1"/>
          <p:nvPr/>
        </p:nvSpPr>
        <p:spPr>
          <a:xfrm>
            <a:off x="0" y="476250"/>
            <a:ext cx="9144000" cy="1144588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>
              <a:lnSpc>
                <a:spcPct val="115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问题：空队列判断：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front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＝＝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rear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？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满队列：（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）－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&gt;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: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插入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J6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J7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J8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后，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front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＝＝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rear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；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空队列：（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）－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&gt;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）： 删除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J3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J4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J5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后，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front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＝＝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rear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；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0418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1628775"/>
            <a:ext cx="5210175" cy="5253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25346" name="Text Box 2"/>
          <p:cNvSpPr txBox="1"/>
          <p:nvPr/>
        </p:nvSpPr>
        <p:spPr>
          <a:xfrm>
            <a:off x="394653" y="3789045"/>
            <a:ext cx="8229600" cy="1537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1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循环队列空的条件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front = =rear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1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循环队列满的条件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：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front == (rear+1) %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MAXSIZE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Bef>
                <a:spcPct val="1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队列长度为：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rear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front +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MAXSIZE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%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MAXSIZE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825356" name="Rectangle 12"/>
          <p:cNvSpPr/>
          <p:nvPr/>
        </p:nvSpPr>
        <p:spPr>
          <a:xfrm>
            <a:off x="251143" y="835978"/>
            <a:ext cx="8575675" cy="28613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解决办法：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：另设标志位，如元素个数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：少用一个元素空间，约定“队列头指针在队列尾指针的下一个位置（指环状的下一位置）上”作为队列满状态的标志。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也就是说，若数组的大小是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MAXSIZE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，则该数组所表示的循环队列</a:t>
            </a:r>
            <a:r>
              <a:rPr lang="zh-CN" altLang="en-US" u="sng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最多允许存储</a:t>
            </a:r>
            <a:r>
              <a:rPr lang="en-US" altLang="zh-CN" u="sng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MAXSIZE-1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个结点。注意：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rear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所指的结点始终为空闲。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535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6">
                                            <p:txEl>
                                              <p:charRg st="6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5356">
                                            <p:txEl>
                                              <p:charRg st="6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6">
                                            <p:txEl>
                                              <p:charRg st="22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5356">
                                            <p:txEl>
                                              <p:charRg st="22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25346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charRg st="2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825346">
                                            <p:txEl>
                                              <p:charRg st="25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charRg st="63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25346">
                                            <p:txEl>
                                              <p:charRg st="63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46" grpId="0" build="p"/>
      <p:bldP spid="825356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25346" name="Text Box 2"/>
          <p:cNvSpPr txBox="1"/>
          <p:nvPr/>
        </p:nvSpPr>
        <p:spPr>
          <a:xfrm>
            <a:off x="431483" y="1268730"/>
            <a:ext cx="822960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循环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队列长度为：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rear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front +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MAXSIZE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%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MAXSIZE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528945" y="3140710"/>
            <a:ext cx="3338513" cy="3252788"/>
            <a:chOff x="96" y="1695"/>
            <a:chExt cx="2103" cy="2049"/>
          </a:xfrm>
        </p:grpSpPr>
        <p:pic>
          <p:nvPicPr>
            <p:cNvPr id="61443" name="Picture 4" descr="未命名1"/>
            <p:cNvPicPr>
              <a:picLocks noChangeAspect="1"/>
            </p:cNvPicPr>
            <p:nvPr/>
          </p:nvPicPr>
          <p:blipFill>
            <a:blip r:embed="rId1"/>
            <a:srcRect l="-4742" t="29028" r="68550" b="22153"/>
            <a:stretch>
              <a:fillRect/>
            </a:stretch>
          </p:blipFill>
          <p:spPr>
            <a:xfrm>
              <a:off x="355" y="1695"/>
              <a:ext cx="1824" cy="177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44" name="Text Box 5"/>
            <p:cNvSpPr txBox="1"/>
            <p:nvPr/>
          </p:nvSpPr>
          <p:spPr>
            <a:xfrm>
              <a:off x="931" y="2079"/>
              <a:ext cx="12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PMingLiU" pitchFamily="18" charset="-120"/>
                </a:rPr>
                <a:t>J2             J3	</a:t>
              </a:r>
              <a:endPara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61445" name="Text Box 6"/>
            <p:cNvSpPr txBox="1"/>
            <p:nvPr/>
          </p:nvSpPr>
          <p:spPr>
            <a:xfrm>
              <a:off x="744" y="2577"/>
              <a:ext cx="13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PMingLiU" pitchFamily="18" charset="-120"/>
                </a:rPr>
                <a:t>J1                        J4</a:t>
              </a:r>
              <a:endParaRPr lang="en-US" altLang="zh-TW" b="0" dirty="0">
                <a:solidFill>
                  <a:schemeClr val="tx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61446" name="Text Box 7"/>
            <p:cNvSpPr txBox="1"/>
            <p:nvPr/>
          </p:nvSpPr>
          <p:spPr>
            <a:xfrm>
              <a:off x="1464" y="3005"/>
              <a:ext cx="3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PMingLiU" pitchFamily="18" charset="-12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PMingLiU" pitchFamily="18" charset="-120"/>
                </a:rPr>
                <a:t>J5</a:t>
              </a:r>
              <a:endPara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61447" name="Rectangle 8"/>
            <p:cNvSpPr/>
            <p:nvPr/>
          </p:nvSpPr>
          <p:spPr>
            <a:xfrm>
              <a:off x="96" y="2932"/>
              <a:ext cx="5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front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48" name="Rectangle 9"/>
            <p:cNvSpPr/>
            <p:nvPr/>
          </p:nvSpPr>
          <p:spPr>
            <a:xfrm>
              <a:off x="1069" y="3456"/>
              <a:ext cx="4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rear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5354" name="Line 10"/>
            <p:cNvSpPr>
              <a:spLocks noChangeShapeType="1"/>
            </p:cNvSpPr>
            <p:nvPr/>
          </p:nvSpPr>
          <p:spPr bwMode="ltGray">
            <a:xfrm flipV="1">
              <a:off x="577" y="2736"/>
              <a:ext cx="192" cy="196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825355" name="Line 11"/>
            <p:cNvSpPr>
              <a:spLocks noChangeShapeType="1"/>
            </p:cNvSpPr>
            <p:nvPr/>
          </p:nvSpPr>
          <p:spPr bwMode="ltGray">
            <a:xfrm flipH="1" flipV="1">
              <a:off x="1019" y="3216"/>
              <a:ext cx="157" cy="333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</p:grpSp>
      <p:sp>
        <p:nvSpPr>
          <p:cNvPr id="61452" name="文本框 2"/>
          <p:cNvSpPr txBox="1"/>
          <p:nvPr/>
        </p:nvSpPr>
        <p:spPr>
          <a:xfrm>
            <a:off x="467360" y="2132330"/>
            <a:ext cx="5087620" cy="224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情况一:  当rear大于front时，循环队列的长度：rear-front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情况二:  当rear小于front时，循环队列的长度:分为两部分计算 0+rear   和   Quesize-front  ,  将两部分的长度合并到一起即为: rear-front+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MAXSIZE</a:t>
            </a:r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>
                                            <p:txEl>
                                              <p:charRg st="63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25346">
                                            <p:txEl>
                                              <p:charRg st="63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46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B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前情提要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栈和队列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446088" y="1752600"/>
            <a:ext cx="871220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队列定义</a:t>
            </a:r>
            <a:endParaRPr kumimoji="0" 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链式结构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队列链式表示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顺序表结构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顺序队列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循环队列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循环队列空的条件 </a:t>
            </a:r>
            <a:r>
              <a:rPr kumimoji="0" lang="en-US" altLang="zh-CN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: front = =rear</a:t>
            </a:r>
            <a:endParaRPr kumimoji="0" lang="en-US" altLang="zh-CN" sz="2400" b="1" i="0" u="none" strike="noStrike" kern="0" cap="none" spc="0" normalizeH="0" baseline="0" noProof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循环队列满的条件</a:t>
            </a: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： </a:t>
            </a:r>
            <a:r>
              <a:rPr kumimoji="0" lang="en-US" altLang="zh-CN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front == (rear+1) % </a:t>
            </a:r>
            <a:r>
              <a:rPr kumimoji="0" lang="en-US" altLang="zh-CN" sz="2400" b="1" i="0" u="none" strike="noStrike" kern="0" cap="none" spc="0" normalizeH="0" baseline="0" noProof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MAXSIZE</a:t>
            </a:r>
            <a:endParaRPr kumimoji="0" lang="en-US" altLang="zh-CN" sz="2400" b="1" i="0" u="none" strike="noStrike" kern="0" cap="none" spc="0" normalizeH="0" baseline="0" noProof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循环</a:t>
            </a: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队列长度为：（</a:t>
            </a:r>
            <a:r>
              <a:rPr kumimoji="0" lang="en-US" altLang="zh-CN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rear</a:t>
            </a: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－</a:t>
            </a:r>
            <a:r>
              <a:rPr kumimoji="0" lang="en-US" altLang="zh-CN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front +</a:t>
            </a:r>
            <a:r>
              <a:rPr kumimoji="0" lang="en-US" altLang="zh-CN" sz="2400" b="1" i="0" u="none" strike="noStrike" kern="0" cap="none" spc="0" normalizeH="0" baseline="0" noProof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MAXSIZE</a:t>
            </a:r>
            <a:r>
              <a:rPr kumimoji="0" lang="zh-CN" altLang="en-US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）</a:t>
            </a:r>
            <a:r>
              <a:rPr kumimoji="0" lang="en-US" altLang="zh-CN" sz="2400" b="1" i="0" u="none" strike="noStrike" kern="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% </a:t>
            </a:r>
            <a:r>
              <a:rPr kumimoji="0" lang="en-US" altLang="zh-CN" sz="2400" b="1" i="0" u="none" strike="noStrike" kern="0" cap="none" spc="0" normalizeH="0" baseline="0" noProof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MAXSIZE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63489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0"/>
            <a:ext cx="864552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6451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646113"/>
            <a:ext cx="8207375" cy="573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4" name="AutoShape 5"/>
          <p:cNvSpPr/>
          <p:nvPr/>
        </p:nvSpPr>
        <p:spPr>
          <a:xfrm>
            <a:off x="7164388" y="5084763"/>
            <a:ext cx="1511300" cy="609600"/>
          </a:xfrm>
          <a:prstGeom prst="cloudCallout">
            <a:avLst>
              <a:gd name="adj1" fmla="val -263551"/>
              <a:gd name="adj2" fmla="val -130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b="0" dirty="0">
                <a:latin typeface="Verdana" panose="020B0604030504040204" pitchFamily="34" charset="0"/>
                <a:ea typeface="宋体" panose="02010600030101010101" pitchFamily="2" charset="-122"/>
              </a:rPr>
              <a:t>注意</a:t>
            </a:r>
            <a:endParaRPr lang="zh-CN" altLang="en-US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4515" name="AutoShape 6"/>
          <p:cNvSpPr/>
          <p:nvPr/>
        </p:nvSpPr>
        <p:spPr>
          <a:xfrm>
            <a:off x="7092950" y="1989138"/>
            <a:ext cx="1511300" cy="609600"/>
          </a:xfrm>
          <a:prstGeom prst="cloudCallout">
            <a:avLst>
              <a:gd name="adj1" fmla="val -206829"/>
              <a:gd name="adj2" fmla="val -9765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b" anchorCtr="0"/>
          <a:p>
            <a:pPr algn="ctr"/>
            <a:r>
              <a:rPr lang="zh-CN" altLang="en-US" b="0" dirty="0">
                <a:latin typeface="Verdana" panose="020B0604030504040204" pitchFamily="34" charset="0"/>
                <a:ea typeface="宋体" panose="02010600030101010101" pitchFamily="2" charset="-122"/>
              </a:rPr>
              <a:t>注意</a:t>
            </a:r>
            <a:endParaRPr lang="zh-CN" altLang="en-US" b="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53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9275"/>
            <a:ext cx="8964613" cy="5688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187450" y="6135688"/>
            <a:ext cx="5976938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</a:rPr>
              <a:t>利用栈作为辅助，将队列中的数据元素进行逆置。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7585" name="Group 6"/>
          <p:cNvGrpSpPr/>
          <p:nvPr/>
        </p:nvGrpSpPr>
        <p:grpSpPr>
          <a:xfrm>
            <a:off x="-92075" y="0"/>
            <a:ext cx="9056688" cy="6858000"/>
            <a:chOff x="-58" y="0"/>
            <a:chExt cx="3893" cy="2196"/>
          </a:xfrm>
        </p:grpSpPr>
        <p:pic>
          <p:nvPicPr>
            <p:cNvPr id="67586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3835" cy="13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7587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58" y="1344"/>
              <a:ext cx="1350" cy="85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文本框 1"/>
          <p:cNvSpPr txBox="1"/>
          <p:nvPr/>
        </p:nvSpPr>
        <p:spPr>
          <a:xfrm>
            <a:off x="682625" y="765175"/>
            <a:ext cx="4371975" cy="742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 sz="4400">
                <a:latin typeface="Verdana" panose="020B0604030504040204" pitchFamily="34" charset="0"/>
                <a:ea typeface="宋体" panose="02010600030101010101" pitchFamily="2" charset="-122"/>
              </a:rPr>
              <a:t>课堂练习题</a:t>
            </a:r>
            <a:endParaRPr lang="zh-CN" altLang="en-US" sz="44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0" name="文本框 2"/>
          <p:cNvSpPr txBox="1"/>
          <p:nvPr/>
        </p:nvSpPr>
        <p:spPr>
          <a:xfrm>
            <a:off x="466725" y="1916113"/>
            <a:ext cx="793115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200025" algn="just"/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设一个循环队列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的队头指针为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f, 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队尾指针为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，队列最大容量为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，则队满的条件是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__________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 </a:t>
            </a:r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f==(r+1)%N     </a:t>
            </a:r>
            <a:r>
              <a:rPr lang="en-US" altLang="pt-BR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f==r     </a:t>
            </a:r>
            <a:endParaRPr lang="pt-BR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00025" algn="just"/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pt-BR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f+r&gt;=N	          D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pt-BR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r==N-1</a:t>
            </a:r>
            <a:endParaRPr lang="pt-BR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1" name="文本框 99"/>
          <p:cNvSpPr txBox="1"/>
          <p:nvPr/>
        </p:nvSpPr>
        <p:spPr>
          <a:xfrm>
            <a:off x="682625" y="3811588"/>
            <a:ext cx="7905750" cy="1938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2． 在单链表中，已知指针q所指结点是指针p所指结点的直接前驱，若在q与p之间插入s指针指向的一个结点，则应执行________操作。</a:t>
            </a:r>
            <a:endParaRPr lang="zh-CN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 s-&gt;next=q-&gt;next;p-&gt;next=s;        B. p-&gt;next=s;s-&gt;next=p; C. s-&gt;next=q-&gt;next;q-&gt;next=s;        D. p-&gt;next=s;s-&gt;next=q; </a:t>
            </a:r>
            <a:endParaRPr lang="zh-CN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800" b="1" i="0" u="none" strike="noStrike" kern="0" cap="none" spc="0" normalizeH="0" baseline="0" noProof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课堂练习题</a:t>
            </a:r>
            <a:endParaRPr kumimoji="0" lang="zh-CN" altLang="en-US" sz="3800" b="1" i="0" u="none" strike="noStrike" kern="0" cap="none" spc="0" normalizeH="0" baseline="0" noProof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若已知一个栈的入栈序列是1，2，3，…，n，其输出序列为p1，p2，p3，…，pn，若p1=n，则pi为（  ）。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A．i         B．n-i         C．n-i+1       D．不确定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答案：C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解释：栈是后进先出的线性表，一个栈的入栈序列是1，2，3，…，n，而输出序列的第一个元素为n，说明1，2，3，…，n一次性全部进栈，再进行输出，所以p1=n，p2=n-1，…，pi=n-i+1。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6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1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800" b="1" i="0" u="none" strike="noStrike" kern="0" cap="none" spc="0" normalizeH="0" baseline="0" noProof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  <a:sym typeface="+mn-ea"/>
              </a:rPr>
              <a:t>课堂练习题</a:t>
            </a:r>
            <a:endParaRPr kumimoji="0" lang="zh-CN" altLang="en-US" sz="3800" b="1" i="0" u="none" strike="noStrike" kern="0" cap="none" spc="0" normalizeH="0" baseline="0" noProof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4. </a:t>
            </a: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用链接方式存储的队列，在进行删除运算时（　）。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A. 仅修改头指针                B. 仅修改尾指针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C. 头、尾指针都要修改       D. 头、尾指针可能都要修改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答案：D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解释：一般情况下只修改头指针，但是，当删除的是队列中最后一个元素时，队尾指针也丢失了，因此需对队尾指针重新赋值。</a:t>
            </a:r>
            <a:endParaRPr kumimoji="0" lang="zh-CN" altLang="en-US" sz="24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7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2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800" b="1" i="0" u="none" strike="noStrike" kern="0" cap="none" spc="0" normalizeH="0" baseline="0" noProof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本章</a:t>
            </a:r>
            <a:r>
              <a:rPr kumimoji="0" lang="zh-CN" altLang="en-US" sz="3800" b="1" i="0" u="none" strike="noStrike" kern="0" cap="none" spc="0" normalizeH="0" baseline="0" noProof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小结</a:t>
            </a:r>
            <a:endParaRPr kumimoji="0" lang="zh-CN" altLang="en-US" sz="3800" b="1" i="0" u="none" strike="noStrike" kern="0" cap="none" spc="0" normalizeH="0" baseline="0" noProof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1. 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栈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抽象数据类型栈的定义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栈的表示和实现（顺序栈、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链栈）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2. 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栈的应用举例（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数制转换）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3. 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栈与递归的实（能看懂递归函数，并清楚函数执行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过程）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4. 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队列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抽象数据类型队列的定义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链队列－队列的链式表示和实现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循环队列－队列的顺序表示和实现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kumimoji="0" lang="zh-CN" altLang="en-US" sz="30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517.5007874015746,&quot;width&quot;:14175}"/>
</p:tagLst>
</file>

<file path=ppt/tags/tag2.xml><?xml version="1.0" encoding="utf-8"?>
<p:tagLst xmlns:p="http://schemas.openxmlformats.org/presentationml/2006/main">
  <p:tag name="KSO_WM_UNIT_PLACING_PICTURE_USER_VIEWPORT" val="{&quot;height&quot;:5645,&quot;width&quot;:14005}"/>
</p:tagLst>
</file>

<file path=ppt/tags/tag3.xml><?xml version="1.0" encoding="utf-8"?>
<p:tagLst xmlns:p="http://schemas.openxmlformats.org/presentationml/2006/main">
  <p:tag name="KSO_WM_UNIT_PLACING_PICTURE_USER_VIEWPORT" val="{&quot;height&quot;:3420,&quot;width&quot;:6410}"/>
</p:tagLst>
</file>

<file path=ppt/tags/tag4.xml><?xml version="1.0" encoding="utf-8"?>
<p:tagLst xmlns:p="http://schemas.openxmlformats.org/presentationml/2006/main">
  <p:tag name="KSO_WM_UNIT_PLACING_PICTURE_USER_VIEWPORT" val="{&quot;height&quot;:3170,&quot;width&quot;:6880}"/>
</p:tagLst>
</file>

<file path=ppt/tags/tag5.xml><?xml version="1.0" encoding="utf-8"?>
<p:tagLst xmlns:p="http://schemas.openxmlformats.org/presentationml/2006/main">
  <p:tag name="KSO_WM_UNIT_PLACING_PICTURE_USER_VIEWPORT" val="{&quot;height&quot;:3060,&quot;width&quot;:4980}"/>
</p:tagLst>
</file>

<file path=ppt/tags/tag6.xml><?xml version="1.0" encoding="utf-8"?>
<p:tagLst xmlns:p="http://schemas.openxmlformats.org/presentationml/2006/main">
  <p:tag name="KSO_WM_UNIT_PLACING_PICTURE_USER_VIEWPORT" val="{&quot;height&quot;:4170,&quot;width&quot;:5040}"/>
</p:tagLst>
</file>

<file path=ppt/tags/tag7.xml><?xml version="1.0" encoding="utf-8"?>
<p:tagLst xmlns:p="http://schemas.openxmlformats.org/presentationml/2006/main">
  <p:tag name="KSO_WM_UNIT_PLACING_PICTURE_USER_VIEWPORT" val="{&quot;height&quot;:4960,&quot;width&quot;:8160}"/>
</p:tagLst>
</file>

<file path=ppt/tags/tag8.xml><?xml version="1.0" encoding="utf-8"?>
<p:tagLst xmlns:p="http://schemas.openxmlformats.org/presentationml/2006/main">
  <p:tag name="COMMONDATA" val="eyJoZGlkIjoiYjFiN2NjNWM5Yjc2ZDdhMWExZGQ5OTBjOGZlOGJiODQifQ==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b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宋体" panose="02010600030101010101" pitchFamily="2" charset="-122"/>
            <a:sym typeface="Symbol" panose="05050102010706020507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b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宋体" panose="02010600030101010101" pitchFamily="2" charset="-122"/>
            <a:sym typeface="Symbol" panose="05050102010706020507" pitchFamily="18" charset="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5645</Words>
  <Application>WPS 演示</Application>
  <PresentationFormat>全屏显示(4:3)</PresentationFormat>
  <Paragraphs>435</Paragraphs>
  <Slides>67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85" baseType="lpstr">
      <vt:lpstr>Arial</vt:lpstr>
      <vt:lpstr>宋体</vt:lpstr>
      <vt:lpstr>Wingdings</vt:lpstr>
      <vt:lpstr>Verdana</vt:lpstr>
      <vt:lpstr>Symbol</vt:lpstr>
      <vt:lpstr>Arial</vt:lpstr>
      <vt:lpstr>Times New Roman</vt:lpstr>
      <vt:lpstr>微软雅黑</vt:lpstr>
      <vt:lpstr>Arial Unicode MS</vt:lpstr>
      <vt:lpstr>黑体</vt:lpstr>
      <vt:lpstr>楷体_GB2312</vt:lpstr>
      <vt:lpstr>新宋体</vt:lpstr>
      <vt:lpstr>PMingLiU</vt:lpstr>
      <vt:lpstr>MingLiU</vt:lpstr>
      <vt:lpstr>PMingLiU-ExtB</vt:lpstr>
      <vt:lpstr>Wingdings</vt:lpstr>
      <vt:lpstr>Profile</vt:lpstr>
      <vt:lpstr>Equation.3</vt:lpstr>
      <vt:lpstr>线性结构</vt:lpstr>
      <vt:lpstr>引例</vt:lpstr>
      <vt:lpstr>第3章 栈和队列</vt:lpstr>
      <vt:lpstr>3.1 栈</vt:lpstr>
      <vt:lpstr>PowerPoint 演示文稿</vt:lpstr>
      <vt:lpstr>PowerPoint 演示文稿</vt:lpstr>
      <vt:lpstr>3.1.2 栈的表示和实现</vt:lpstr>
      <vt:lpstr>顺序栈的c语言定义</vt:lpstr>
      <vt:lpstr>PowerPoint 演示文稿</vt:lpstr>
      <vt:lpstr>PowerPoint 演示文稿</vt:lpstr>
      <vt:lpstr>PowerPoint 演示文稿</vt:lpstr>
      <vt:lpstr>PowerPoint 演示文稿</vt:lpstr>
      <vt:lpstr>链式栈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栈的应用－3.2.1 数值转换——例子</vt:lpstr>
      <vt:lpstr>3.2 栈的应用－3.2.1 数值转换</vt:lpstr>
      <vt:lpstr>3.2.1 数值转换</vt:lpstr>
      <vt:lpstr>3.2.2 括号匹配的检验</vt:lpstr>
      <vt:lpstr>前情提要——栈和队列</vt:lpstr>
      <vt:lpstr>3.3 栈与递归的实现</vt:lpstr>
      <vt:lpstr>n阶Hanoi塔问题</vt:lpstr>
      <vt:lpstr>PowerPoint 演示文稿</vt:lpstr>
      <vt:lpstr>函数调用</vt:lpstr>
      <vt:lpstr>函数调用</vt:lpstr>
      <vt:lpstr>函数调用</vt:lpstr>
      <vt:lpstr>递归过程的实现</vt:lpstr>
      <vt:lpstr>PowerPoint 演示文稿</vt:lpstr>
      <vt:lpstr>hanoi（3，a，b，c）</vt:lpstr>
      <vt:lpstr>PowerPoint 演示文稿</vt:lpstr>
      <vt:lpstr>PowerPoint 演示文稿</vt:lpstr>
      <vt:lpstr>课堂练习1</vt:lpstr>
      <vt:lpstr>课堂练习2</vt:lpstr>
      <vt:lpstr>课堂练习2</vt:lpstr>
      <vt:lpstr>课后作业6</vt:lpstr>
      <vt:lpstr>前情提要——栈和队列</vt:lpstr>
      <vt:lpstr>PowerPoint 演示文稿</vt:lpstr>
      <vt:lpstr>3.4 队列</vt:lpstr>
      <vt:lpstr>3.4 队列</vt:lpstr>
      <vt:lpstr>PowerPoint 演示文稿</vt:lpstr>
      <vt:lpstr>PowerPoint 演示文稿</vt:lpstr>
      <vt:lpstr>3.4.2 链队列－队列链式表示和实现（单链队列）</vt:lpstr>
      <vt:lpstr>PowerPoint 演示文稿</vt:lpstr>
      <vt:lpstr>PowerPoint 演示文稿</vt:lpstr>
      <vt:lpstr>PowerPoint 演示文稿</vt:lpstr>
      <vt:lpstr>带头结点队列和不带头结点队列的区别</vt:lpstr>
      <vt:lpstr>带头结点队列和不带头结点队列的区别</vt:lpstr>
      <vt:lpstr>带头结点队列和不带头结点队列的区别</vt:lpstr>
      <vt:lpstr>3.4.3 循环队列－队列的顺序表示和实现</vt:lpstr>
      <vt:lpstr>TOP指针与REAR指针</vt:lpstr>
      <vt:lpstr>PowerPoint 演示文稿</vt:lpstr>
      <vt:lpstr>循环队列</vt:lpstr>
      <vt:lpstr>PowerPoint 演示文稿</vt:lpstr>
      <vt:lpstr>PowerPoint 演示文稿</vt:lpstr>
      <vt:lpstr>PowerPoint 演示文稿</vt:lpstr>
      <vt:lpstr>前情提要——栈和队列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课堂练习题</vt:lpstr>
      <vt:lpstr>课堂练习题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数据结构（Data Structure）</dc:title>
  <dc:creator>MC SYSTEM</dc:creator>
  <cp:lastModifiedBy>鱼丸粗面</cp:lastModifiedBy>
  <cp:revision>487</cp:revision>
  <dcterms:created xsi:type="dcterms:W3CDTF">2007-02-11T07:05:00Z</dcterms:created>
  <dcterms:modified xsi:type="dcterms:W3CDTF">2023-10-09T15:50:02Z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2DEFCBEE588E4461AF90229690CBDEF0_12</vt:lpwstr>
  </property>
</Properties>
</file>