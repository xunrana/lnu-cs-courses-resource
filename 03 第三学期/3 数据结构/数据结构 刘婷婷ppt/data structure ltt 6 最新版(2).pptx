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84" r:id="rId3"/>
    <p:sldId id="1042" r:id="rId5"/>
    <p:sldId id="1568" r:id="rId6"/>
    <p:sldId id="1569" r:id="rId7"/>
    <p:sldId id="1043" r:id="rId8"/>
    <p:sldId id="1135" r:id="rId9"/>
    <p:sldId id="385" r:id="rId10"/>
    <p:sldId id="386" r:id="rId11"/>
    <p:sldId id="387" r:id="rId12"/>
    <p:sldId id="1675" r:id="rId13"/>
    <p:sldId id="1138" r:id="rId14"/>
    <p:sldId id="1045" r:id="rId15"/>
    <p:sldId id="1046" r:id="rId16"/>
    <p:sldId id="379" r:id="rId17"/>
    <p:sldId id="950" r:id="rId18"/>
    <p:sldId id="1044" r:id="rId19"/>
    <p:sldId id="388" r:id="rId20"/>
    <p:sldId id="438" r:id="rId21"/>
    <p:sldId id="1048" r:id="rId22"/>
    <p:sldId id="1049" r:id="rId23"/>
    <p:sldId id="390" r:id="rId24"/>
    <p:sldId id="391" r:id="rId25"/>
    <p:sldId id="1140" r:id="rId26"/>
    <p:sldId id="272" r:id="rId27"/>
    <p:sldId id="392" r:id="rId28"/>
    <p:sldId id="393" r:id="rId29"/>
    <p:sldId id="395" r:id="rId30"/>
    <p:sldId id="1775" r:id="rId31"/>
    <p:sldId id="396" r:id="rId32"/>
    <p:sldId id="397" r:id="rId33"/>
    <p:sldId id="398" r:id="rId34"/>
    <p:sldId id="1232" r:id="rId35"/>
    <p:sldId id="400" r:id="rId36"/>
    <p:sldId id="1141" r:id="rId37"/>
    <p:sldId id="401" r:id="rId38"/>
    <p:sldId id="402" r:id="rId39"/>
    <p:sldId id="1234" r:id="rId40"/>
    <p:sldId id="1853" r:id="rId41"/>
    <p:sldId id="403" r:id="rId42"/>
    <p:sldId id="1235" r:id="rId43"/>
    <p:sldId id="404" r:id="rId44"/>
    <p:sldId id="1143" r:id="rId45"/>
    <p:sldId id="601" r:id="rId46"/>
    <p:sldId id="1236" r:id="rId47"/>
    <p:sldId id="405" r:id="rId48"/>
    <p:sldId id="407" r:id="rId49"/>
    <p:sldId id="408" r:id="rId50"/>
    <p:sldId id="412" r:id="rId51"/>
    <p:sldId id="413" r:id="rId52"/>
    <p:sldId id="415" r:id="rId53"/>
    <p:sldId id="1922" r:id="rId54"/>
    <p:sldId id="1923" r:id="rId55"/>
    <p:sldId id="1420" r:id="rId56"/>
    <p:sldId id="1448" r:id="rId57"/>
    <p:sldId id="1449" r:id="rId58"/>
    <p:sldId id="1450" r:id="rId59"/>
    <p:sldId id="1451" r:id="rId60"/>
    <p:sldId id="1452" r:id="rId61"/>
    <p:sldId id="1453" r:id="rId62"/>
    <p:sldId id="414" r:id="rId63"/>
    <p:sldId id="416" r:id="rId64"/>
    <p:sldId id="417" r:id="rId65"/>
    <p:sldId id="418" r:id="rId66"/>
    <p:sldId id="421" r:id="rId67"/>
    <p:sldId id="419" r:id="rId68"/>
    <p:sldId id="420" r:id="rId69"/>
    <p:sldId id="422" r:id="rId70"/>
    <p:sldId id="963" r:id="rId71"/>
    <p:sldId id="426" r:id="rId72"/>
    <p:sldId id="1500" r:id="rId73"/>
    <p:sldId id="427" r:id="rId74"/>
    <p:sldId id="439" r:id="rId75"/>
    <p:sldId id="1982" r:id="rId76"/>
    <p:sldId id="440" r:id="rId77"/>
    <p:sldId id="1365" r:id="rId78"/>
    <p:sldId id="880" r:id="rId79"/>
    <p:sldId id="441" r:id="rId80"/>
    <p:sldId id="442" r:id="rId81"/>
    <p:sldId id="1499" r:id="rId82"/>
    <p:sldId id="1776" r:id="rId83"/>
    <p:sldId id="1983" r:id="rId84"/>
    <p:sldId id="1980" r:id="rId85"/>
    <p:sldId id="1981" r:id="rId86"/>
    <p:sldId id="445" r:id="rId87"/>
    <p:sldId id="446" r:id="rId88"/>
    <p:sldId id="628" r:id="rId89"/>
    <p:sldId id="447" r:id="rId90"/>
    <p:sldId id="448" r:id="rId91"/>
    <p:sldId id="449" r:id="rId92"/>
    <p:sldId id="630" r:id="rId93"/>
    <p:sldId id="1419" r:id="rId94"/>
    <p:sldId id="450" r:id="rId95"/>
    <p:sldId id="452" r:id="rId96"/>
    <p:sldId id="453" r:id="rId97"/>
    <p:sldId id="454" r:id="rId98"/>
    <p:sldId id="1455" r:id="rId99"/>
    <p:sldId id="455" r:id="rId100"/>
    <p:sldId id="456" r:id="rId101"/>
    <p:sldId id="457" r:id="rId102"/>
    <p:sldId id="882" r:id="rId103"/>
    <p:sldId id="883" r:id="rId104"/>
    <p:sldId id="458" r:id="rId105"/>
    <p:sldId id="459" r:id="rId106"/>
    <p:sldId id="460" r:id="rId107"/>
    <p:sldId id="463" r:id="rId108"/>
    <p:sldId id="464" r:id="rId109"/>
    <p:sldId id="465" r:id="rId110"/>
    <p:sldId id="1487" r:id="rId111"/>
    <p:sldId id="1503" r:id="rId112"/>
    <p:sldId id="1423" r:id="rId113"/>
    <p:sldId id="1984" r:id="rId114"/>
    <p:sldId id="1985" r:id="rId115"/>
  </p:sldIdLst>
  <p:sldSz cx="9144000" cy="6858000" type="screen4x3"/>
  <p:notesSz cx="6858000" cy="9144000"/>
  <p:custDataLst>
    <p:tags r:id="rId120"/>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vl6pPr marL="2286000" lvl="5"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6pPr>
    <a:lvl7pPr marL="2743200" lvl="6"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7pPr>
    <a:lvl8pPr marL="3200400" lvl="7"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8pPr>
    <a:lvl9pPr marL="3657600" lvl="8" indent="0" algn="l"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60" userDrawn="1">
          <p15:clr>
            <a:srgbClr val="A4A3A4"/>
          </p15:clr>
        </p15:guide>
        <p15:guide id="2" pos="2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TT"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FD9D"/>
    <a:srgbClr val="F7FC7E"/>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51"/>
    <p:restoredTop sz="93825"/>
  </p:normalViewPr>
  <p:slideViewPr>
    <p:cSldViewPr showGuides="1">
      <p:cViewPr varScale="1">
        <p:scale>
          <a:sx n="77" d="100"/>
          <a:sy n="77" d="100"/>
        </p:scale>
        <p:origin x="60" y="240"/>
      </p:cViewPr>
      <p:guideLst>
        <p:guide orient="horz" pos="2160"/>
        <p:guide pos="287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0" Type="http://schemas.openxmlformats.org/officeDocument/2006/relationships/tags" Target="tags/tag7.xml"/><Relationship Id="rId12" Type="http://schemas.openxmlformats.org/officeDocument/2006/relationships/slide" Target="slides/slide9.xml"/><Relationship Id="rId119" Type="http://schemas.openxmlformats.org/officeDocument/2006/relationships/commentAuthors" Target="commentAuthors.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2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effectLst/>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21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21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幻灯片图像占位符 1"/>
          <p:cNvSpPr>
            <a:spLocks noRot="1" noTextEdit="1"/>
          </p:cNvSpPr>
          <p:nvPr>
            <p:ph type="sldImg"/>
          </p:nvPr>
        </p:nvSpPr>
        <p:spPr/>
      </p:sp>
      <p:sp>
        <p:nvSpPr>
          <p:cNvPr id="5123"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幻灯片图像占位符 1"/>
          <p:cNvSpPr>
            <a:spLocks noRot="1" noTextEdit="1"/>
          </p:cNvSpPr>
          <p:nvPr>
            <p:ph type="sldImg"/>
          </p:nvPr>
        </p:nvSpPr>
        <p:spPr/>
      </p:sp>
      <p:sp>
        <p:nvSpPr>
          <p:cNvPr id="7171"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幻灯片图像占位符 1"/>
          <p:cNvSpPr>
            <a:spLocks noRot="1" noTextEdit="1"/>
          </p:cNvSpPr>
          <p:nvPr>
            <p:ph type="sldImg"/>
          </p:nvPr>
        </p:nvSpPr>
        <p:spPr/>
      </p:sp>
      <p:sp>
        <p:nvSpPr>
          <p:cNvPr id="11267"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幻灯片图像占位符 1"/>
          <p:cNvSpPr>
            <a:spLocks noRot="1" noTextEdit="1"/>
          </p:cNvSpPr>
          <p:nvPr>
            <p:ph type="sldImg"/>
          </p:nvPr>
        </p:nvSpPr>
        <p:spPr/>
      </p:sp>
      <p:sp>
        <p:nvSpPr>
          <p:cNvPr id="13315"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幻灯片图像占位符 1"/>
          <p:cNvSpPr>
            <a:spLocks noGrp="1" noRot="1" noChangeAspect="1" noTextEdit="1"/>
          </p:cNvSpPr>
          <p:nvPr>
            <p:ph type="sldImg"/>
          </p:nvPr>
        </p:nvSpPr>
        <p:spPr/>
      </p:sp>
      <p:sp>
        <p:nvSpPr>
          <p:cNvPr id="18435" name="备注占位符 2"/>
          <p:cNvSpPr>
            <a:spLocks noGrp="1"/>
          </p:cNvSpPr>
          <p:nvPr>
            <p:ph type="body"/>
          </p:nvPr>
        </p:nvSpPr>
        <p:spPr/>
        <p:txBody>
          <a:bodyPr wrap="square" lIns="91440" tIns="45720" rIns="91440" bIns="45720" anchor="t" anchorCtr="0"/>
          <a:p>
            <a:pPr lvl="0"/>
            <a:endParaRPr lang="zh-CN" altLang="en-US" dirty="0"/>
          </a:p>
        </p:txBody>
      </p:sp>
      <p:sp>
        <p:nvSpPr>
          <p:cNvPr id="18436" name="灯片编号占位符 3"/>
          <p:cNvSpPr txBox="1">
            <a:spLocks noGrp="1"/>
          </p:cNvSpPr>
          <p:nvPr>
            <p:ph type="sldNum" sz="quarter"/>
          </p:nvPr>
        </p:nvSpPr>
        <p:spPr>
          <a:xfrm>
            <a:off x="3884613" y="8685213"/>
            <a:ext cx="2971800" cy="457200"/>
          </a:xfrm>
          <a:prstGeom prst="rect">
            <a:avLst/>
          </a:prstGeom>
          <a:noFill/>
          <a:ln w="12700">
            <a:noFill/>
          </a:ln>
        </p:spPr>
        <p:txBody>
          <a:bodyPr anchor="b" anchorCtr="0"/>
          <a:p>
            <a:pPr lvl="0" algn="r" eaLnBrk="1" hangingPunct="1"/>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lIns="91440" tIns="45720" rIns="91440" bIns="45720" anchor="t" anchorCtr="0"/>
          <a:p>
            <a:pPr lvl="0"/>
            <a:endParaRPr lang="zh-CN" altLang="en-US" dirty="0"/>
          </a:p>
        </p:txBody>
      </p:sp>
      <p:sp>
        <p:nvSpPr>
          <p:cNvPr id="23556" name="灯片编号占位符 3"/>
          <p:cNvSpPr txBox="1">
            <a:spLocks noGrp="1"/>
          </p:cNvSpPr>
          <p:nvPr>
            <p:ph type="sldNum" sz="quarter"/>
          </p:nvPr>
        </p:nvSpPr>
        <p:spPr>
          <a:xfrm>
            <a:off x="3884613" y="8685213"/>
            <a:ext cx="2971800" cy="457200"/>
          </a:xfrm>
          <a:prstGeom prst="rect">
            <a:avLst/>
          </a:prstGeom>
          <a:noFill/>
          <a:ln w="12700">
            <a:noFill/>
          </a:ln>
        </p:spPr>
        <p:txBody>
          <a:bodyPr anchor="b" anchorCtr="0"/>
          <a:p>
            <a:pPr lvl="0" algn="r" eaLnBrk="1" hangingPunct="1"/>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p:sp>
      <p:sp>
        <p:nvSpPr>
          <p:cNvPr id="34819" name="备注占位符 2"/>
          <p:cNvSpPr>
            <a:spLocks noGrp="1"/>
          </p:cNvSpPr>
          <p:nvPr>
            <p:ph type="body"/>
          </p:nvPr>
        </p:nvSpPr>
        <p:spPr/>
        <p:txBody>
          <a:bodyPr wrap="square" lIns="91440" tIns="45720" rIns="91440" bIns="45720" anchor="t" anchorCtr="0"/>
          <a:p>
            <a:pPr lvl="0"/>
            <a:endParaRPr lang="zh-CN" altLang="en-US" dirty="0"/>
          </a:p>
        </p:txBody>
      </p:sp>
      <p:sp>
        <p:nvSpPr>
          <p:cNvPr id="34820" name="灯片编号占位符 3"/>
          <p:cNvSpPr txBox="1">
            <a:spLocks noGrp="1"/>
          </p:cNvSpPr>
          <p:nvPr>
            <p:ph type="sldNum" sz="quarter"/>
          </p:nvPr>
        </p:nvSpPr>
        <p:spPr>
          <a:xfrm>
            <a:off x="3884613" y="8685213"/>
            <a:ext cx="2971800" cy="457200"/>
          </a:xfrm>
          <a:prstGeom prst="rect">
            <a:avLst/>
          </a:prstGeom>
          <a:noFill/>
          <a:ln w="12700">
            <a:noFill/>
          </a:ln>
        </p:spPr>
        <p:txBody>
          <a:bodyPr anchor="b" anchorCtr="0"/>
          <a:p>
            <a:pPr lvl="0" algn="r" eaLnBrk="1" hangingPunct="1"/>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37891" name="Rectangle 2"/>
          <p:cNvSpPr>
            <a:spLocks noRot="1" noTextEdit="1"/>
          </p:cNvSpPr>
          <p:nvPr>
            <p:ph type="sldImg"/>
          </p:nvPr>
        </p:nvSpPr>
        <p:spPr/>
      </p:sp>
      <p:sp>
        <p:nvSpPr>
          <p:cNvPr id="3789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54275" name="Rectangle 2"/>
          <p:cNvSpPr>
            <a:spLocks noRot="1" noTextEdit="1"/>
          </p:cNvSpPr>
          <p:nvPr>
            <p:ph type="sldImg"/>
          </p:nvPr>
        </p:nvSpPr>
        <p:spPr/>
      </p:sp>
      <p:sp>
        <p:nvSpPr>
          <p:cNvPr id="54276" name="Rectangle 3"/>
          <p:cNvSpPr>
            <a:spLocks noGrp="1"/>
          </p:cNvSpPr>
          <p:nvPr>
            <p:ph type="body"/>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56323" name="Rectangle 2"/>
          <p:cNvSpPr>
            <a:spLocks noRot="1" noTextEdit="1"/>
          </p:cNvSpPr>
          <p:nvPr>
            <p:ph type="sldImg"/>
          </p:nvPr>
        </p:nvSpPr>
        <p:spPr/>
      </p:sp>
      <p:sp>
        <p:nvSpPr>
          <p:cNvPr id="56324" name="Rectangle 3"/>
          <p:cNvSpPr>
            <a:spLocks noGrp="1"/>
          </p:cNvSpPr>
          <p:nvPr>
            <p:ph type="body"/>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Rot="1" noTextEdit="1"/>
          </p:cNvSpPr>
          <p:nvPr>
            <p:ph type="sldImg"/>
          </p:nvPr>
        </p:nvSpPr>
        <p:spPr/>
      </p:sp>
      <p:sp>
        <p:nvSpPr>
          <p:cNvPr id="59395"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65539" name="Rectangle 2"/>
          <p:cNvSpPr>
            <a:spLocks noRot="1" noTextEdit="1"/>
          </p:cNvSpPr>
          <p:nvPr>
            <p:ph type="sldImg"/>
          </p:nvPr>
        </p:nvSpPr>
        <p:spPr/>
      </p:sp>
      <p:sp>
        <p:nvSpPr>
          <p:cNvPr id="65540" name="Rectangle 3"/>
          <p:cNvSpPr>
            <a:spLocks noGrp="1"/>
          </p:cNvSpPr>
          <p:nvPr>
            <p:ph type="body"/>
          </p:nvPr>
        </p:nvSpPr>
        <p:spPr/>
        <p:txBody>
          <a:bodyPr wrap="square" lIns="91440" tIns="45720" rIns="91440" bIns="45720" anchor="t" anchorCtr="0"/>
          <a:p>
            <a:pPr lvl="0" eaLnBrk="1" hangingPunct="1"/>
            <a:r>
              <a:rPr lang="zh-CN" altLang="en-US" dirty="0">
                <a:solidFill>
                  <a:schemeClr val="tx2"/>
                </a:solidFill>
              </a:rPr>
              <a:t>先序遍历：</a:t>
            </a:r>
            <a:r>
              <a:rPr lang="en-US" altLang="zh-CN" dirty="0">
                <a:solidFill>
                  <a:schemeClr val="tx2"/>
                </a:solidFill>
              </a:rPr>
              <a:t>abdehiklcfgjmn</a:t>
            </a:r>
            <a:endParaRPr lang="en-US" altLang="zh-CN" dirty="0">
              <a:solidFill>
                <a:schemeClr val="tx2"/>
              </a:solidFill>
            </a:endParaRPr>
          </a:p>
          <a:p>
            <a:pPr lvl="0" eaLnBrk="1" hangingPunct="1"/>
            <a:r>
              <a:rPr lang="zh-CN" altLang="en-US" dirty="0">
                <a:solidFill>
                  <a:schemeClr val="tx2"/>
                </a:solidFill>
              </a:rPr>
              <a:t>中序遍历：</a:t>
            </a:r>
            <a:r>
              <a:rPr lang="en-US" altLang="zh-CN" dirty="0">
                <a:solidFill>
                  <a:schemeClr val="tx2"/>
                </a:solidFill>
              </a:rPr>
              <a:t>dbhekilafcmjng</a:t>
            </a:r>
            <a:endParaRPr lang="en-US" altLang="zh-CN" dirty="0">
              <a:solidFill>
                <a:schemeClr val="tx2"/>
              </a:solidFill>
            </a:endParaRPr>
          </a:p>
          <a:p>
            <a:pPr lvl="0" eaLnBrk="1" hangingPunct="1"/>
            <a:r>
              <a:rPr lang="zh-CN" altLang="en-US" dirty="0">
                <a:solidFill>
                  <a:schemeClr val="tx2"/>
                </a:solidFill>
              </a:rPr>
              <a:t>后序遍历：</a:t>
            </a:r>
            <a:r>
              <a:rPr lang="en-US" altLang="zh-CN" dirty="0">
                <a:solidFill>
                  <a:schemeClr val="tx2"/>
                </a:solidFill>
              </a:rPr>
              <a:t>dhkliebfmnjgca</a:t>
            </a:r>
            <a:endParaRPr lang="en-US" altLang="zh-CN" dirty="0">
              <a:solidFill>
                <a:schemeClr val="tx2"/>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幻灯片图像占位符 1"/>
          <p:cNvSpPr>
            <a:spLocks noRot="1" noTextEdit="1"/>
          </p:cNvSpPr>
          <p:nvPr>
            <p:ph type="sldImg"/>
          </p:nvPr>
        </p:nvSpPr>
        <p:spPr/>
      </p:sp>
      <p:sp>
        <p:nvSpPr>
          <p:cNvPr id="81923" name="文本占位符 2"/>
          <p:cNvSpPr/>
          <p:nvPr>
            <p:ph type="body"/>
          </p:nvPr>
        </p:nvSpPr>
        <p:spPr/>
        <p:txBody>
          <a:bodyPr wrap="square" lIns="91440" tIns="45720" rIns="91440" bIns="45720" anchor="t" anchorCtr="0"/>
          <a:p>
            <a:pPr lvl="0"/>
            <a:r>
              <a:rPr lang="zh-CN" altLang="en-US" dirty="0"/>
              <a:t>枚举类型的尺寸不能够超过int类型的尺寸，但是是不是必须和int类型具有相同的尺寸呢？上面的标准已经说得很清楚了，只要能够容纳最大的枚举子的值的整数就可以了，那么就是说可以是char、short和int。</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p:nvPr>
        </p:nvSpPr>
        <p:spPr/>
        <p:txBody>
          <a:bodyPr wrap="square" lIns="91440" tIns="45720" rIns="91440" bIns="45720" anchor="t" anchorCtr="0"/>
          <a:p>
            <a:pPr lvl="0"/>
            <a:endParaRPr lang="zh-CN" altLang="en-US" dirty="0"/>
          </a:p>
        </p:txBody>
      </p:sp>
      <p:sp>
        <p:nvSpPr>
          <p:cNvPr id="880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p:nvPr>
        </p:nvSpPr>
        <p:spPr/>
        <p:txBody>
          <a:bodyPr wrap="square" lIns="91440" tIns="45720" rIns="91440" bIns="45720" anchor="t" anchorCtr="0"/>
          <a:p>
            <a:pPr lvl="0"/>
            <a:endParaRPr lang="zh-CN" altLang="en-US" dirty="0"/>
          </a:p>
        </p:txBody>
      </p:sp>
      <p:sp>
        <p:nvSpPr>
          <p:cNvPr id="880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幻灯片图像占位符 1"/>
          <p:cNvSpPr>
            <a:spLocks noRot="1" noTextEdit="1"/>
          </p:cNvSpPr>
          <p:nvPr>
            <p:ph type="sldImg"/>
          </p:nvPr>
        </p:nvSpPr>
        <p:spPr/>
      </p:sp>
      <p:sp>
        <p:nvSpPr>
          <p:cNvPr id="90115"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p:nvPr>
        </p:nvSpPr>
        <p:spPr/>
        <p:txBody>
          <a:bodyPr wrap="square" lIns="91440" tIns="45720" rIns="91440" bIns="45720" anchor="t" anchorCtr="0"/>
          <a:p>
            <a:pPr lvl="0"/>
            <a:endParaRPr lang="zh-CN" altLang="en-US" dirty="0"/>
          </a:p>
        </p:txBody>
      </p:sp>
      <p:sp>
        <p:nvSpPr>
          <p:cNvPr id="880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幻灯片图像占位符 1"/>
          <p:cNvSpPr>
            <a:spLocks noRot="1" noTextEdit="1"/>
          </p:cNvSpPr>
          <p:nvPr>
            <p:ph type="sldImg"/>
          </p:nvPr>
        </p:nvSpPr>
        <p:spPr/>
      </p:sp>
      <p:sp>
        <p:nvSpPr>
          <p:cNvPr id="112643" name="文本占位符 2"/>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126979" name="Rectangle 2"/>
          <p:cNvSpPr>
            <a:spLocks noRot="1" noTextEdit="1"/>
          </p:cNvSpPr>
          <p:nvPr>
            <p:ph type="sldImg"/>
          </p:nvPr>
        </p:nvSpPr>
        <p:spPr/>
      </p:sp>
      <p:sp>
        <p:nvSpPr>
          <p:cNvPr id="126980" name="Rectangle 3"/>
          <p:cNvSpPr>
            <a:spLocks noGrp="1"/>
          </p:cNvSpPr>
          <p:nvPr>
            <p:ph type="body"/>
          </p:nvPr>
        </p:nvSpPr>
        <p:spPr/>
        <p:txBody>
          <a:bodyPr wrap="square" lIns="91440" tIns="45720" rIns="91440" bIns="45720" anchor="t" anchorCtr="0"/>
          <a:p>
            <a:pPr lvl="0" eaLnBrk="1" hangingPunct="1"/>
            <a:r>
              <a:rPr lang="zh-CN" altLang="en-US" dirty="0"/>
              <a:t>树占用空间比固定长度编码大</a:t>
            </a:r>
            <a:endParaRPr lang="zh-CN" altLang="en-US" dirty="0"/>
          </a:p>
          <a:p>
            <a:pPr lvl="0" eaLnBrk="1" hangingPunct="1"/>
            <a:r>
              <a:rPr lang="zh-CN" altLang="en-US" dirty="0"/>
              <a:t>一般要统计字母频率，然后编码。对小文件不利。</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6" y="0"/>
              </a:cxn>
              <a:cxn ang="0">
                <a:pos x="2147483646" y="11998573"/>
              </a:cxn>
              <a:cxn ang="0">
                <a:pos x="0" y="11998573"/>
              </a:cxn>
              <a:cxn ang="0">
                <a:pos x="0" y="0"/>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endParaRPr lang="zh-CN" altLang="en-US" noProof="1"/>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endParaRPr lang="zh-CN" altLang="en-US" noProof="1"/>
          </a:p>
        </p:txBody>
      </p:sp>
      <p:sp>
        <p:nvSpPr>
          <p:cNvPr id="3"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20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剪贴画占位符 3"/>
          <p:cNvSpPr>
            <a:spLocks noGrp="1"/>
          </p:cNvSpPr>
          <p:nvPr>
            <p:ph type="clipArt" sz="half" idx="2"/>
          </p:nvPr>
        </p:nvSpPr>
        <p:spPr>
          <a:xfrm>
            <a:off x="4643438" y="1752600"/>
            <a:ext cx="39243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566738" y="1752600"/>
            <a:ext cx="80010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566738" y="17526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66738" y="3962400"/>
            <a:ext cx="8001000" cy="2057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title"/>
          </p:nvPr>
        </p:nvSpPr>
        <p:spPr bwMode="auto">
          <a:xfrm>
            <a:off x="574675" y="304800"/>
            <a:ext cx="8001000" cy="12160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4099" name="Rectangle 3"/>
          <p:cNvSpPr>
            <a:spLocks noGrp="1" noChangeArrowheads="1"/>
          </p:cNvSpPr>
          <p:nvPr>
            <p:ph type="body" idx="1"/>
          </p:nvPr>
        </p:nvSpPr>
        <p:spPr bwMode="auto">
          <a:xfrm>
            <a:off x="566738" y="1752600"/>
            <a:ext cx="8001000" cy="42672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28" name="AutoShape 4"/>
          <p:cNvSpPr/>
          <p:nvPr/>
        </p:nvSpPr>
        <p:spPr>
          <a:xfrm>
            <a:off x="609600" y="1566863"/>
            <a:ext cx="7958138" cy="109537"/>
          </a:xfrm>
          <a:custGeom>
            <a:avLst/>
            <a:gdLst/>
            <a:ahLst/>
            <a:cxnLst>
              <a:cxn ang="0">
                <a:pos x="0" y="0"/>
              </a:cxn>
              <a:cxn ang="0">
                <a:pos x="2147483646" y="0"/>
              </a:cxn>
              <a:cxn ang="0">
                <a:pos x="2147483646" y="11998354"/>
              </a:cxn>
              <a:cxn ang="0">
                <a:pos x="0" y="11998354"/>
              </a:cxn>
              <a:cxn ang="0">
                <a:pos x="0" y="0"/>
              </a:cxn>
              <a:cxn ang="0">
                <a:pos x="0" y="0"/>
              </a:cxn>
              <a:cxn ang="0">
                <a:pos x="2147483646"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4101" name="Line 5"/>
          <p:cNvSpPr>
            <a:spLocks noChangeShapeType="1"/>
          </p:cNvSpPr>
          <p:nvPr/>
        </p:nvSpPr>
        <p:spPr bwMode="auto">
          <a:xfrm flipV="1">
            <a:off x="609600" y="6172200"/>
            <a:ext cx="7924800" cy="0"/>
          </a:xfrm>
          <a:prstGeom prst="line">
            <a:avLst/>
          </a:prstGeom>
          <a:noFill/>
          <a:ln w="31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defRPr>
            </a:lvl1pPr>
          </a:lstStyle>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effectLst>
            <a:outerShdw blurRad="38100" dist="38100" dir="2700000" algn="tl">
              <a:srgbClr val="C0C0C0"/>
            </a:outerShdw>
          </a:effectLst>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effectLst>
            <a:outerShdw blurRad="38100" dist="38100" dir="2700000" algn="tl">
              <a:srgbClr val="C0C0C0"/>
            </a:outerShdw>
          </a:effectLst>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effectLst>
            <a:outerShdw blurRad="38100" dist="38100" dir="2700000" algn="tl">
              <a:srgbClr val="C0C0C0"/>
            </a:outerShdw>
          </a:effectLst>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8.wmf"/><Relationship Id="rId1" Type="http://schemas.openxmlformats.org/officeDocument/2006/relationships/image" Target="../media/image17.wm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1.png"/><Relationship Id="rId1" Type="http://schemas.openxmlformats.org/officeDocument/2006/relationships/tags" Target="../tags/tag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30.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2.png"/><Relationship Id="rId1" Type="http://schemas.openxmlformats.org/officeDocument/2006/relationships/image" Target="../media/image3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3.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3.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6.png"/></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image" Target="../media/image38.pn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7.xml"/><Relationship Id="rId6" Type="http://schemas.openxmlformats.org/officeDocument/2006/relationships/tags" Target="../tags/tag6.xml"/><Relationship Id="rId5" Type="http://schemas.openxmlformats.org/officeDocument/2006/relationships/image" Target="../media/image40.png"/><Relationship Id="rId4" Type="http://schemas.openxmlformats.org/officeDocument/2006/relationships/tags" Target="../tags/tag5.xml"/><Relationship Id="rId3" Type="http://schemas.openxmlformats.org/officeDocument/2006/relationships/image" Target="../media/image37.png"/><Relationship Id="rId2" Type="http://schemas.openxmlformats.org/officeDocument/2006/relationships/tags" Target="../tags/tag4.xml"/><Relationship Id="rId1" Type="http://schemas.openxmlformats.org/officeDocument/2006/relationships/image" Target="../media/image3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43.png"/><Relationship Id="rId1" Type="http://schemas.openxmlformats.org/officeDocument/2006/relationships/image" Target="../media/image3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audio" Target="../media/audio2.wav"/><Relationship Id="rId2" Type="http://schemas.openxmlformats.org/officeDocument/2006/relationships/image" Target="../media/image47.wmf"/><Relationship Id="rId1" Type="http://schemas.openxmlformats.org/officeDocument/2006/relationships/oleObject" Target="../embeddings/oleObject1.bin"/></Relationships>
</file>

<file path=ppt/slides/_rels/slide99.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48.wmf"/><Relationship Id="rId1" Type="http://schemas.openxmlformats.org/officeDocument/2006/relationships/oleObject" Target="../embeddings/oleObject2.bin"/></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2.wav"/><Relationship Id="rId1" Type="http://schemas.openxmlformats.org/officeDocument/2006/relationships/image" Target="../media/image49.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2.wav"/></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2.wav"/></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2.wav"/></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52.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image" Target="../media/image5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树和二叉树</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456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前面几章讨论的都是线性结构，线性结构的特点是逻辑结构简单，易于进行查找、插入和删除等操作，其主要用于对客观世界中具有单一的前驱和后继的数据关系进行描述，而现实生活中的许多事物的关系并不是这样简单。</a:t>
            </a:r>
            <a:endParaRPr kumimoji="0" lang="zh-CN" altLang="en-US" sz="28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树和二叉树</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456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树型结构是一类重要的非线性结构。树型结构是结点之间有分支，并且具有层次关系的结构。</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树结构在客观世界是大量存在的</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家谱、行政组织机构</a:t>
            </a:r>
            <a:endPar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树在计算机领域中也有着广泛的应用</a:t>
            </a:r>
            <a:endParaRPr kumimoji="0"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在编译程序中，用树来表示源程序的语法结构；</a:t>
            </a:r>
            <a:endPar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在数据库系统中，可用树来组织信息；</a:t>
            </a:r>
            <a:endPar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在分析算法的行为时，可用树来描述其执行过程</a:t>
            </a:r>
            <a:endParaRPr kumimoji="0" lang="zh-CN" altLang="en-US"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71170" marR="0" lvl="1"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2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标题 416769"/>
          <p:cNvSpPr>
            <a:spLocks noGrp="1"/>
          </p:cNvSpPr>
          <p:nvPr>
            <p:ph type="title"/>
          </p:nvPr>
        </p:nvSpPr>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数据库系统中</a:t>
            </a:r>
            <a:r>
              <a:rPr kumimoji="0" lang="en-US" altLang="zh-CN"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树结构组织信息</a:t>
            </a:r>
            <a:endParaRPr kumimoji="0" lang="zh-CN" altLang="en-US"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484" name="文本占位符 416770"/>
          <p:cNvSpPr>
            <a:spLocks noGrp="1"/>
          </p:cNvSpPr>
          <p:nvPr>
            <p:ph idx="1"/>
          </p:nvPr>
        </p:nvSpPr>
        <p:spPr>
          <a:xfrm>
            <a:off x="2987675" y="5518150"/>
            <a:ext cx="4330700" cy="376238"/>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教员学生层次数据库模型 </a:t>
            </a:r>
            <a:endParaRPr kumimoji="0" lang="zh-CN" altLang="en-US" sz="1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8196" name="20 416771" descr="117"/>
          <p:cNvPicPr>
            <a:picLocks noChangeAspect="1"/>
          </p:cNvPicPr>
          <p:nvPr/>
        </p:nvPicPr>
        <p:blipFill>
          <a:blip r:embed="rId1"/>
          <a:stretch>
            <a:fillRect/>
          </a:stretch>
        </p:blipFill>
        <p:spPr>
          <a:xfrm>
            <a:off x="971550" y="1989138"/>
            <a:ext cx="6985000" cy="3146425"/>
          </a:xfrm>
          <a:prstGeom prst="rect">
            <a:avLst/>
          </a:prstGeom>
          <a:noFill/>
          <a:ln w="9525">
            <a:noFill/>
          </a:ln>
        </p:spPr>
      </p:pic>
      <p:sp>
        <p:nvSpPr>
          <p:cNvPr id="416775" name="椭圆形标注 416774"/>
          <p:cNvSpPr/>
          <p:nvPr/>
        </p:nvSpPr>
        <p:spPr>
          <a:xfrm>
            <a:off x="6804025" y="1773238"/>
            <a:ext cx="1706563" cy="503237"/>
          </a:xfrm>
          <a:prstGeom prst="wedgeEllipseCallout">
            <a:avLst>
              <a:gd name="adj1" fmla="val -49347"/>
              <a:gd name="adj2" fmla="val 73028"/>
            </a:avLst>
          </a:prstGeom>
          <a:solidFill>
            <a:srgbClr val="FF9900"/>
          </a:solidFill>
          <a:ln w="25400" cap="flat" cmpd="sng">
            <a:solidFill>
              <a:schemeClr val="tx1"/>
            </a:solidFill>
            <a:prstDash val="solid"/>
            <a:miter/>
            <a:headEnd type="none" w="med" len="med"/>
            <a:tailEnd type="none" w="med" len="med"/>
          </a:ln>
        </p:spPr>
        <p:txBody>
          <a:bodyPr anchor="ctr" anchorCtr="0"/>
          <a:p>
            <a:pPr marL="342900" indent="-342900" algn="ctr" eaLnBrk="1" hangingPunct="1"/>
            <a:r>
              <a:rPr lang="en-US" altLang="zh-CN" sz="1800" dirty="0">
                <a:solidFill>
                  <a:schemeClr val="tx1"/>
                </a:solidFill>
                <a:latin typeface="Times New Roman" panose="02020603050405020304" pitchFamily="18" charset="0"/>
              </a:rPr>
              <a:t> </a:t>
            </a:r>
            <a:r>
              <a:rPr lang="zh-CN" altLang="en-US" sz="1800" dirty="0">
                <a:solidFill>
                  <a:schemeClr val="tx1"/>
                </a:solidFill>
                <a:latin typeface="Times New Roman" panose="02020603050405020304" pitchFamily="18" charset="0"/>
              </a:rPr>
              <a:t>根结点</a:t>
            </a:r>
            <a:endParaRPr lang="zh-CN" altLang="en-US" sz="1800" dirty="0">
              <a:solidFill>
                <a:schemeClr val="tx1"/>
              </a:solidFill>
              <a:latin typeface="Times New Roman" panose="02020603050405020304" pitchFamily="18" charset="0"/>
            </a:endParaRPr>
          </a:p>
        </p:txBody>
      </p:sp>
      <p:sp>
        <p:nvSpPr>
          <p:cNvPr id="416776" name="云形标注 416775"/>
          <p:cNvSpPr/>
          <p:nvPr/>
        </p:nvSpPr>
        <p:spPr>
          <a:xfrm>
            <a:off x="0" y="1773238"/>
            <a:ext cx="2771775" cy="1582737"/>
          </a:xfrm>
          <a:prstGeom prst="cloudCallout">
            <a:avLst>
              <a:gd name="adj1" fmla="val 25486"/>
              <a:gd name="adj2" fmla="val 49597"/>
            </a:avLst>
          </a:prstGeom>
          <a:solidFill>
            <a:schemeClr val="folHlink"/>
          </a:solidFill>
          <a:ln w="25400" cap="flat" cmpd="sng">
            <a:solidFill>
              <a:schemeClr val="tx1"/>
            </a:solidFill>
            <a:prstDash val="solid"/>
            <a:headEnd type="none" w="med" len="med"/>
            <a:tailEnd type="none" w="med" len="med"/>
          </a:ln>
        </p:spPr>
        <p:txBody>
          <a:bodyPr anchor="ctr" anchorCtr="0"/>
          <a:p>
            <a:pPr marL="342900" indent="-342900" algn="ctr" eaLnBrk="1" hangingPunct="1"/>
            <a:r>
              <a:rPr lang="zh-CN" altLang="en-US" sz="1200" dirty="0">
                <a:solidFill>
                  <a:srgbClr val="FB33F1"/>
                </a:solidFill>
                <a:latin typeface="Times New Roman" panose="02020603050405020304" pitchFamily="18" charset="0"/>
              </a:rPr>
              <a:t>记录型系的子女结点</a:t>
            </a:r>
            <a:endParaRPr lang="zh-CN" altLang="en-US" sz="1200" dirty="0">
              <a:solidFill>
                <a:srgbClr val="FB33F1"/>
              </a:solidFill>
              <a:latin typeface="Times New Roman" panose="02020603050405020304" pitchFamily="18" charset="0"/>
            </a:endParaRPr>
          </a:p>
          <a:p>
            <a:pPr marL="342900" indent="-342900" algn="ctr" eaLnBrk="1" hangingPunct="1"/>
            <a:r>
              <a:rPr lang="zh-CN" altLang="en-US" sz="1200" dirty="0">
                <a:solidFill>
                  <a:srgbClr val="FB33F1"/>
                </a:solidFill>
                <a:latin typeface="Times New Roman" panose="02020603050405020304" pitchFamily="18" charset="0"/>
              </a:rPr>
              <a:t>记录型教员的双亲结点</a:t>
            </a:r>
            <a:endParaRPr lang="zh-CN" altLang="en-US" sz="1200" dirty="0">
              <a:solidFill>
                <a:srgbClr val="FB33F1"/>
              </a:solidFill>
              <a:latin typeface="Times New Roman" panose="02020603050405020304" pitchFamily="18" charset="0"/>
            </a:endParaRPr>
          </a:p>
        </p:txBody>
      </p:sp>
      <p:sp>
        <p:nvSpPr>
          <p:cNvPr id="416777" name="云形标注 416776"/>
          <p:cNvSpPr/>
          <p:nvPr/>
        </p:nvSpPr>
        <p:spPr>
          <a:xfrm>
            <a:off x="7812088" y="3068638"/>
            <a:ext cx="1331912" cy="576262"/>
          </a:xfrm>
          <a:prstGeom prst="cloudCallout">
            <a:avLst>
              <a:gd name="adj1" fmla="val -38083"/>
              <a:gd name="adj2" fmla="val 61296"/>
            </a:avLst>
          </a:prstGeom>
          <a:gradFill rotWithShape="0">
            <a:gsLst>
              <a:gs pos="0">
                <a:srgbClr val="FFFFFF"/>
              </a:gs>
              <a:gs pos="100000">
                <a:srgbClr val="BBBBBB"/>
              </a:gs>
            </a:gsLst>
            <a:lin ang="5400000" scaled="1"/>
            <a:tileRect/>
          </a:gradFill>
          <a:ln w="25400" cap="flat" cmpd="sng">
            <a:solidFill>
              <a:schemeClr val="tx1"/>
            </a:solidFill>
            <a:prstDash val="solid"/>
            <a:headEnd type="none" w="med" len="med"/>
            <a:tailEnd type="none" w="med" len="med"/>
          </a:ln>
        </p:spPr>
        <p:txBody>
          <a:bodyPr anchor="ctr" anchorCtr="0"/>
          <a:p>
            <a:pPr marL="342900" indent="-342900" algn="ctr" eaLnBrk="1" hangingPunct="1"/>
            <a:r>
              <a:rPr lang="zh-CN" altLang="en-US" sz="1600" dirty="0">
                <a:solidFill>
                  <a:schemeClr val="tx1"/>
                </a:solidFill>
                <a:latin typeface="Times New Roman" panose="02020603050405020304" pitchFamily="18" charset="0"/>
              </a:rPr>
              <a:t>叶结点</a:t>
            </a:r>
            <a:endParaRPr lang="zh-CN" altLang="en-US" sz="1600" dirty="0">
              <a:solidFill>
                <a:schemeClr val="tx1"/>
              </a:solidFill>
              <a:latin typeface="Times New Roman" panose="02020603050405020304" pitchFamily="18" charset="0"/>
            </a:endParaRPr>
          </a:p>
        </p:txBody>
      </p:sp>
      <p:sp>
        <p:nvSpPr>
          <p:cNvPr id="416778" name="云形标注 416777"/>
          <p:cNvSpPr/>
          <p:nvPr/>
        </p:nvSpPr>
        <p:spPr>
          <a:xfrm>
            <a:off x="5867400" y="4581525"/>
            <a:ext cx="1331913" cy="576263"/>
          </a:xfrm>
          <a:prstGeom prst="cloudCallout">
            <a:avLst>
              <a:gd name="adj1" fmla="val -84685"/>
              <a:gd name="adj2" fmla="val 4819"/>
            </a:avLst>
          </a:prstGeom>
          <a:gradFill rotWithShape="0">
            <a:gsLst>
              <a:gs pos="0">
                <a:srgbClr val="FFFFFF"/>
              </a:gs>
              <a:gs pos="100000">
                <a:srgbClr val="BBBBBB"/>
              </a:gs>
            </a:gsLst>
            <a:lin ang="5400000" scaled="1"/>
            <a:tileRect/>
          </a:gradFill>
          <a:ln w="25400" cap="flat" cmpd="sng">
            <a:solidFill>
              <a:schemeClr val="tx1"/>
            </a:solidFill>
            <a:prstDash val="solid"/>
            <a:headEnd type="none" w="med" len="med"/>
            <a:tailEnd type="none" w="med" len="med"/>
          </a:ln>
        </p:spPr>
        <p:txBody>
          <a:bodyPr anchor="ctr" anchorCtr="0"/>
          <a:p>
            <a:pPr marL="342900" indent="-342900" algn="ctr" eaLnBrk="1" hangingPunct="1"/>
            <a:r>
              <a:rPr lang="zh-CN" altLang="en-US" sz="1600" dirty="0">
                <a:solidFill>
                  <a:schemeClr val="tx1"/>
                </a:solidFill>
                <a:latin typeface="Times New Roman" panose="02020603050405020304" pitchFamily="18" charset="0"/>
              </a:rPr>
              <a:t>叶结点</a:t>
            </a:r>
            <a:endParaRPr lang="zh-CN" altLang="en-US" sz="1600" dirty="0">
              <a:solidFill>
                <a:schemeClr val="tx1"/>
              </a:solidFill>
              <a:latin typeface="Times New Roman" panose="02020603050405020304" pitchFamily="18" charset="0"/>
            </a:endParaRPr>
          </a:p>
        </p:txBody>
      </p:sp>
      <p:sp>
        <p:nvSpPr>
          <p:cNvPr id="416779" name="爆炸形 1 416778"/>
          <p:cNvSpPr/>
          <p:nvPr/>
        </p:nvSpPr>
        <p:spPr>
          <a:xfrm>
            <a:off x="3851275" y="1125538"/>
            <a:ext cx="914400" cy="914400"/>
          </a:xfrm>
          <a:prstGeom prst="irregularSeal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eaLnBrk="1" hangingPunct="1"/>
            <a:r>
              <a:rPr lang="zh-CN" altLang="en-US" sz="1800" dirty="0">
                <a:solidFill>
                  <a:srgbClr val="1005F5"/>
                </a:solidFill>
                <a:latin typeface="Times New Roman" panose="02020603050405020304" pitchFamily="18" charset="0"/>
              </a:rPr>
              <a:t>字段</a:t>
            </a:r>
            <a:endParaRPr lang="zh-CN" altLang="en-US" sz="1800" dirty="0">
              <a:solidFill>
                <a:srgbClr val="1005F5"/>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6775"/>
                                        </p:tgtEl>
                                        <p:attrNameLst>
                                          <p:attrName>style.visibility</p:attrName>
                                        </p:attrNameLst>
                                      </p:cBhvr>
                                      <p:to>
                                        <p:strVal val="visible"/>
                                      </p:to>
                                    </p:set>
                                    <p:anim calcmode="lin" valueType="num">
                                      <p:cBhvr>
                                        <p:cTn id="7" dur="500" fill="hold"/>
                                        <p:tgtEl>
                                          <p:spTgt spid="416775"/>
                                        </p:tgtEl>
                                        <p:attrNameLst>
                                          <p:attrName>ppt_x</p:attrName>
                                        </p:attrNameLst>
                                      </p:cBhvr>
                                      <p:tavLst>
                                        <p:tav tm="0">
                                          <p:val>
                                            <p:strVal val="1+#ppt_w/2"/>
                                          </p:val>
                                        </p:tav>
                                        <p:tav tm="100000">
                                          <p:val>
                                            <p:strVal val="#ppt_x"/>
                                          </p:val>
                                        </p:tav>
                                      </p:tavLst>
                                    </p:anim>
                                    <p:anim calcmode="lin" valueType="num">
                                      <p:cBhvr>
                                        <p:cTn id="8" dur="500" fill="hold"/>
                                        <p:tgtEl>
                                          <p:spTgt spid="4167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16779"/>
                                        </p:tgtEl>
                                        <p:attrNameLst>
                                          <p:attrName>style.visibility</p:attrName>
                                        </p:attrNameLst>
                                      </p:cBhvr>
                                      <p:to>
                                        <p:strVal val="visible"/>
                                      </p:to>
                                    </p:set>
                                    <p:anim calcmode="lin" valueType="num">
                                      <p:cBhvr>
                                        <p:cTn id="13" dur="500" fill="hold"/>
                                        <p:tgtEl>
                                          <p:spTgt spid="416779"/>
                                        </p:tgtEl>
                                        <p:attrNameLst>
                                          <p:attrName>ppt_x</p:attrName>
                                        </p:attrNameLst>
                                      </p:cBhvr>
                                      <p:tavLst>
                                        <p:tav tm="0">
                                          <p:val>
                                            <p:strVal val="#ppt_x"/>
                                          </p:val>
                                        </p:tav>
                                        <p:tav tm="100000">
                                          <p:val>
                                            <p:strVal val="#ppt_x"/>
                                          </p:val>
                                        </p:tav>
                                      </p:tavLst>
                                    </p:anim>
                                    <p:anim calcmode="lin" valueType="num">
                                      <p:cBhvr>
                                        <p:cTn id="14" dur="500" fill="hold"/>
                                        <p:tgtEl>
                                          <p:spTgt spid="41677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6776"/>
                                        </p:tgtEl>
                                        <p:attrNameLst>
                                          <p:attrName>style.visibility</p:attrName>
                                        </p:attrNameLst>
                                      </p:cBhvr>
                                      <p:to>
                                        <p:strVal val="visible"/>
                                      </p:to>
                                    </p:set>
                                    <p:anim calcmode="lin" valueType="num">
                                      <p:cBhvr>
                                        <p:cTn id="19" dur="500" fill="hold"/>
                                        <p:tgtEl>
                                          <p:spTgt spid="416776"/>
                                        </p:tgtEl>
                                        <p:attrNameLst>
                                          <p:attrName>ppt_x</p:attrName>
                                        </p:attrNameLst>
                                      </p:cBhvr>
                                      <p:tavLst>
                                        <p:tav tm="0">
                                          <p:val>
                                            <p:strVal val="0-#ppt_w/2"/>
                                          </p:val>
                                        </p:tav>
                                        <p:tav tm="100000">
                                          <p:val>
                                            <p:strVal val="#ppt_x"/>
                                          </p:val>
                                        </p:tav>
                                      </p:tavLst>
                                    </p:anim>
                                    <p:anim calcmode="lin" valueType="num">
                                      <p:cBhvr>
                                        <p:cTn id="20" dur="500" fill="hold"/>
                                        <p:tgtEl>
                                          <p:spTgt spid="41677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6777"/>
                                        </p:tgtEl>
                                        <p:attrNameLst>
                                          <p:attrName>style.visibility</p:attrName>
                                        </p:attrNameLst>
                                      </p:cBhvr>
                                      <p:to>
                                        <p:strVal val="visible"/>
                                      </p:to>
                                    </p:set>
                                    <p:anim calcmode="lin" valueType="num">
                                      <p:cBhvr>
                                        <p:cTn id="25" dur="500" fill="hold"/>
                                        <p:tgtEl>
                                          <p:spTgt spid="416777"/>
                                        </p:tgtEl>
                                        <p:attrNameLst>
                                          <p:attrName>ppt_x</p:attrName>
                                        </p:attrNameLst>
                                      </p:cBhvr>
                                      <p:tavLst>
                                        <p:tav tm="0">
                                          <p:val>
                                            <p:strVal val="#ppt_x"/>
                                          </p:val>
                                        </p:tav>
                                        <p:tav tm="100000">
                                          <p:val>
                                            <p:strVal val="#ppt_x"/>
                                          </p:val>
                                        </p:tav>
                                      </p:tavLst>
                                    </p:anim>
                                    <p:anim calcmode="lin" valueType="num">
                                      <p:cBhvr>
                                        <p:cTn id="26" dur="500" fill="hold"/>
                                        <p:tgtEl>
                                          <p:spTgt spid="41677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16778"/>
                                        </p:tgtEl>
                                        <p:attrNameLst>
                                          <p:attrName>style.visibility</p:attrName>
                                        </p:attrNameLst>
                                      </p:cBhvr>
                                      <p:to>
                                        <p:strVal val="visible"/>
                                      </p:to>
                                    </p:set>
                                    <p:anim calcmode="lin" valueType="num">
                                      <p:cBhvr>
                                        <p:cTn id="29" dur="500" fill="hold"/>
                                        <p:tgtEl>
                                          <p:spTgt spid="416778"/>
                                        </p:tgtEl>
                                        <p:attrNameLst>
                                          <p:attrName>ppt_x</p:attrName>
                                        </p:attrNameLst>
                                      </p:cBhvr>
                                      <p:tavLst>
                                        <p:tav tm="0">
                                          <p:val>
                                            <p:strVal val="#ppt_x"/>
                                          </p:val>
                                        </p:tav>
                                        <p:tav tm="100000">
                                          <p:val>
                                            <p:strVal val="#ppt_x"/>
                                          </p:val>
                                        </p:tav>
                                      </p:tavLst>
                                    </p:anim>
                                    <p:anim calcmode="lin" valueType="num">
                                      <p:cBhvr>
                                        <p:cTn id="30" dur="500" fill="hold"/>
                                        <p:tgtEl>
                                          <p:spTgt spid="4167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5" grpId="0" bldLvl="0" animBg="1"/>
      <p:bldP spid="416776" grpId="0" bldLvl="0" animBg="1"/>
      <p:bldP spid="416777" grpId="0" bldLvl="0" animBg="1"/>
      <p:bldP spid="416778" grpId="0" bldLvl="0" animBg="1"/>
      <p:bldP spid="416779"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标题 418817"/>
          <p:cNvSpPr>
            <a:spLocks noGrp="1"/>
          </p:cNvSpPr>
          <p:nvPr>
            <p:ph type="title"/>
          </p:nvPr>
        </p:nvSpPr>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sym typeface="+mn-ea"/>
              </a:rPr>
              <a:t>数据库系统中</a:t>
            </a:r>
            <a:r>
              <a:rPr kumimoji="0" lang="en-US" altLang="zh-CN"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sym typeface="+mn-ea"/>
              </a:rPr>
              <a:t>——</a:t>
            </a:r>
            <a:r>
              <a:rPr kumimoji="0" lang="zh-CN" altLang="en-US"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sym typeface="+mn-ea"/>
              </a:rPr>
              <a:t>树结构组织信息</a:t>
            </a:r>
            <a:endParaRPr kumimoji="0" lang="en-US" altLang="zh-CN"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1508" name="文本占位符 418818"/>
          <p:cNvSpPr>
            <a:spLocks noGrp="1"/>
          </p:cNvSpPr>
          <p:nvPr>
            <p:ph idx="1"/>
          </p:nvPr>
        </p:nvSpPr>
        <p:spPr>
          <a:xfrm>
            <a:off x="3059113" y="5805488"/>
            <a:ext cx="4968875" cy="376238"/>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教员学生层次数据库的一个值</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9220" name="20 418819" descr="118"/>
          <p:cNvPicPr>
            <a:picLocks noChangeAspect="1"/>
          </p:cNvPicPr>
          <p:nvPr/>
        </p:nvPicPr>
        <p:blipFill>
          <a:blip r:embed="rId1"/>
          <a:stretch>
            <a:fillRect/>
          </a:stretch>
        </p:blipFill>
        <p:spPr>
          <a:xfrm>
            <a:off x="755650" y="1628775"/>
            <a:ext cx="7848600" cy="405447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树和二叉树</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456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问题</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：组织结构层次关系的存储与查找。</a:t>
            </a:r>
            <a:endPar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问题</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：家族族谱中家族成员之间的关系表示与查找。</a:t>
            </a:r>
            <a:endPar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问题</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3</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：图书馆中图书的分类关系的建立。</a:t>
            </a:r>
            <a:endPar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树和二叉树</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456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问题</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4</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：字符编码和译码</a:t>
            </a:r>
            <a:endPar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假定在通信中</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8</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个字符</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a,b,c,d,e,f,g,h</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出现的频率如下：</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25%</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15%</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5%</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5%</a:t>
            </a:r>
            <a:endPar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应如何对这些字符编码才能尽可能减少数据传输量呢？给定编码，应如何译码得到编码所表示的字符呢？</a:t>
            </a:r>
            <a:endPar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0"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3800" b="0"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a:t>
            </a:r>
            <a:r>
              <a:rPr kumimoji="0" lang="zh-CN" altLang="en-US" sz="3800" b="0"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章 树和二叉树</a:t>
            </a:r>
            <a:endParaRPr kumimoji="0" lang="zh-CN" altLang="en-US" sz="3800" b="0"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558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6.1  </a:t>
            </a:r>
            <a:r>
              <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树的定义和基本概念</a:t>
            </a:r>
            <a:endPar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6.2  </a:t>
            </a:r>
            <a:r>
              <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二叉树</a:t>
            </a:r>
            <a:endPar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6.2.1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树的定义和基本术语</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6.2.2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二叉树的性质</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6.2.3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二叉树的存储结构</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6.3  </a:t>
            </a:r>
            <a:r>
              <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遍历二叉树</a:t>
            </a:r>
            <a:endPar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6.3.1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遍历二叉树</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6.4  </a:t>
            </a:r>
            <a:r>
              <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树和森林</a:t>
            </a:r>
            <a:endPar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6.4.1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树的存储结构</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6.4.2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森林与二叉树的转换</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6.4.3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树和森林的遍历</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6.6  </a:t>
            </a:r>
            <a:r>
              <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赫夫曼树及其应用</a:t>
            </a:r>
            <a:endParaRPr kumimoji="0" lang="zh-CN" altLang="en-US" sz="190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6.6.1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最优二叉树（赫夫曼树）</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6.6.2 </a:t>
            </a:r>
            <a:r>
              <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赫夫曼编码</a:t>
            </a:r>
            <a:endParaRPr kumimoji="0" lang="zh-CN" altLang="en-US" sz="17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树的定义和基本概念</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6611" name="Rectangle 3"/>
          <p:cNvSpPr>
            <a:spLocks noGrp="1" noChangeArrowheads="1"/>
          </p:cNvSpPr>
          <p:nvPr>
            <p:ph idx="1"/>
          </p:nvPr>
        </p:nvSpPr>
        <p:spPr>
          <a:xfrm>
            <a:off x="566738" y="1752600"/>
            <a:ext cx="4005263" cy="4267200"/>
          </a:xfrm>
        </p:spPr>
        <p:txBody>
          <a:bodyPr vert="horz" wrap="square" lIns="91440" tIns="45720" rIns="91440" bIns="45720" numCol="1" anchor="t" anchorCtr="0" compatLnSpc="1"/>
          <a:lstStyle/>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树</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(Tree)</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n(n</a:t>
            </a:r>
            <a:r>
              <a:rPr kumimoji="0" lang="en-US"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0)</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个结点的有限集。在任意一棵非空树中：</a:t>
            </a:r>
            <a:endPar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）有且仅有一个特定的称为根</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(Root)</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的结点；</a:t>
            </a:r>
            <a:endPar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）当</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时，其余结点可分为</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m(m</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0)</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a:t>
            </a:r>
            <a:r>
              <a:rPr kumimoji="0" lang="zh-CN" altLang="en-US" sz="2600" b="0"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互不相交的</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有限集</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T</a:t>
            </a:r>
            <a:r>
              <a:rPr kumimoji="0" lang="en-US" altLang="zh-CN" sz="26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T</a:t>
            </a:r>
            <a:r>
              <a:rPr kumimoji="0" lang="en-US" altLang="zh-CN" sz="26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T</a:t>
            </a:r>
            <a:r>
              <a:rPr kumimoji="0" lang="en-US" altLang="zh-CN" sz="2600" b="0" i="0"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m</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，其中每一个集合本身又是一棵树，</a:t>
            </a:r>
            <a:r>
              <a:rPr kumimoji="0" lang="zh-CN" altLang="en-US" sz="2600" b="0"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有且仅有一个结点与根有关系</a:t>
            </a:r>
            <a:r>
              <a:rPr kumimoji="0"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，称为根的子树</a:t>
            </a:r>
            <a:r>
              <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(subTree) </a:t>
            </a:r>
            <a:endParaRPr kumimoji="0" lang="en-US" altLang="zh-CN" sz="2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15364" name="20 1"/>
          <p:cNvPicPr>
            <a:picLocks noChangeAspect="1"/>
          </p:cNvPicPr>
          <p:nvPr>
            <p:custDataLst>
              <p:tags r:id="rId1"/>
            </p:custDataLst>
          </p:nvPr>
        </p:nvPicPr>
        <p:blipFill>
          <a:blip r:embed="rId2"/>
          <a:stretch>
            <a:fillRect/>
          </a:stretch>
        </p:blipFill>
        <p:spPr>
          <a:xfrm>
            <a:off x="4787900" y="2060575"/>
            <a:ext cx="3683000" cy="33940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pic>
        <p:nvPicPr>
          <p:cNvPr id="16386" name="20 2"/>
          <p:cNvPicPr>
            <a:picLocks noChangeAspect="1"/>
          </p:cNvPicPr>
          <p:nvPr/>
        </p:nvPicPr>
        <p:blipFill>
          <a:blip r:embed="rId1"/>
          <a:stretch>
            <a:fillRect/>
          </a:stretch>
        </p:blipFill>
        <p:spPr>
          <a:xfrm>
            <a:off x="179388" y="2133600"/>
            <a:ext cx="8869362" cy="3179763"/>
          </a:xfrm>
          <a:prstGeom prst="rect">
            <a:avLst/>
          </a:prstGeom>
          <a:noFill/>
          <a:ln w="9525">
            <a:noFill/>
          </a:ln>
        </p:spPr>
      </p:pic>
      <p:sp>
        <p:nvSpPr>
          <p:cNvPr id="197634" name="Rectangle 2"/>
          <p:cNvSpPr>
            <a:spLocks noGrp="1" noChangeArrowheads="1"/>
          </p:cNvSpPr>
          <p:nvPr>
            <p:ph type="title"/>
          </p:nvPr>
        </p:nvSpPr>
        <p:spPr>
          <a:xfrm>
            <a:off x="112713" y="149225"/>
            <a:ext cx="8001000" cy="1216025"/>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树的</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ADT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定义</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6388" name="AutoShape 7"/>
          <p:cNvSpPr/>
          <p:nvPr/>
        </p:nvSpPr>
        <p:spPr>
          <a:xfrm>
            <a:off x="6083300" y="2060575"/>
            <a:ext cx="1728788" cy="609600"/>
          </a:xfrm>
          <a:prstGeom prst="accentCallout2">
            <a:avLst>
              <a:gd name="adj1" fmla="val 18750"/>
              <a:gd name="adj2" fmla="val -4407"/>
              <a:gd name="adj3" fmla="val 18750"/>
              <a:gd name="adj4" fmla="val -14875"/>
              <a:gd name="adj5" fmla="val 159898"/>
              <a:gd name="adj6" fmla="val -52616"/>
            </a:avLst>
          </a:prstGeom>
          <a:noFill/>
          <a:ln w="9525" cap="flat" cmpd="sng">
            <a:solidFill>
              <a:schemeClr val="tx1"/>
            </a:solidFill>
            <a:prstDash val="solid"/>
            <a:miter/>
            <a:headEnd type="none" w="med" len="med"/>
            <a:tailEnd type="none" w="med" len="med"/>
          </a:ln>
        </p:spPr>
        <p:txBody>
          <a:bodyPr anchor="b" anchorCtr="0"/>
          <a:p>
            <a:pPr eaLnBrk="1" hangingPunct="1"/>
            <a:r>
              <a:rPr lang="zh-CN" altLang="en-US" sz="1600" b="0" dirty="0">
                <a:latin typeface="Verdana" panose="020B0604030504040204" pitchFamily="34" charset="0"/>
              </a:rPr>
              <a:t>这里，可以把</a:t>
            </a:r>
            <a:r>
              <a:rPr lang="en-US" altLang="zh-CN" sz="1600" b="0" dirty="0">
                <a:latin typeface="Verdana" panose="020B0604030504040204" pitchFamily="34" charset="0"/>
              </a:rPr>
              <a:t>H</a:t>
            </a:r>
            <a:r>
              <a:rPr lang="zh-CN" altLang="en-US" sz="1600" b="0" dirty="0">
                <a:latin typeface="Verdana" panose="020B0604030504040204" pitchFamily="34" charset="0"/>
              </a:rPr>
              <a:t>看作边集合</a:t>
            </a:r>
            <a:endParaRPr lang="zh-CN" altLang="en-US" sz="1600" b="0" dirty="0">
              <a:latin typeface="Verdana" panose="020B0604030504040204" pitchFamily="34" charset="0"/>
            </a:endParaRPr>
          </a:p>
        </p:txBody>
      </p:sp>
      <p:pic>
        <p:nvPicPr>
          <p:cNvPr id="16389" name="20 1"/>
          <p:cNvPicPr>
            <a:picLocks noChangeAspect="1"/>
          </p:cNvPicPr>
          <p:nvPr/>
        </p:nvPicPr>
        <p:blipFill>
          <a:blip r:embed="rId2"/>
          <a:stretch>
            <a:fillRect/>
          </a:stretch>
        </p:blipFill>
        <p:spPr>
          <a:xfrm>
            <a:off x="5867400" y="44450"/>
            <a:ext cx="2290763" cy="174783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Text Box 3"/>
          <p:cNvSpPr txBox="1"/>
          <p:nvPr/>
        </p:nvSpPr>
        <p:spPr>
          <a:xfrm>
            <a:off x="620713" y="1689100"/>
            <a:ext cx="2635250" cy="584200"/>
          </a:xfrm>
          <a:prstGeom prst="rect">
            <a:avLst/>
          </a:prstGeom>
          <a:noFill/>
          <a:ln w="12700">
            <a:noFill/>
          </a:ln>
        </p:spPr>
        <p:txBody>
          <a:bodyPr wrap="none">
            <a:spAutoFit/>
          </a:bodyPr>
          <a:p>
            <a:pPr eaLnBrk="1" hangingPunct="1"/>
            <a:r>
              <a:rPr lang="zh-CN" altLang="en-US" sz="3200" dirty="0">
                <a:solidFill>
                  <a:schemeClr val="tx1"/>
                </a:solidFill>
                <a:latin typeface="Times New Roman" panose="02020603050405020304" pitchFamily="18" charset="0"/>
                <a:ea typeface="楷体_GB2312" pitchFamily="49" charset="-122"/>
              </a:rPr>
              <a:t>数据对象 </a:t>
            </a:r>
            <a:r>
              <a:rPr lang="en-US" altLang="zh-CN" sz="3200" dirty="0">
                <a:solidFill>
                  <a:schemeClr val="tx1"/>
                </a:solidFill>
                <a:latin typeface="Times New Roman" panose="02020603050405020304" pitchFamily="18" charset="0"/>
                <a:ea typeface="楷体_GB2312" pitchFamily="49" charset="-122"/>
              </a:rPr>
              <a:t>D</a:t>
            </a:r>
            <a:r>
              <a:rPr lang="zh-CN" altLang="en-US" sz="3200" dirty="0">
                <a:solidFill>
                  <a:schemeClr val="tx1"/>
                </a:solidFill>
                <a:latin typeface="Times New Roman" panose="02020603050405020304" pitchFamily="18" charset="0"/>
                <a:ea typeface="楷体_GB2312" pitchFamily="49" charset="-122"/>
              </a:rPr>
              <a:t>：</a:t>
            </a:r>
            <a:endParaRPr lang="zh-CN" altLang="en-US" sz="3200" dirty="0">
              <a:solidFill>
                <a:schemeClr val="tx1"/>
              </a:solidFill>
              <a:latin typeface="Times New Roman" panose="02020603050405020304" pitchFamily="18" charset="0"/>
            </a:endParaRPr>
          </a:p>
        </p:txBody>
      </p:sp>
      <p:sp>
        <p:nvSpPr>
          <p:cNvPr id="28676" name="Text Box 4"/>
          <p:cNvSpPr txBox="1"/>
          <p:nvPr/>
        </p:nvSpPr>
        <p:spPr>
          <a:xfrm>
            <a:off x="1141413" y="2266950"/>
            <a:ext cx="5332412" cy="461963"/>
          </a:xfrm>
          <a:prstGeom prst="rect">
            <a:avLst/>
          </a:prstGeom>
          <a:noFill/>
          <a:ln w="12700">
            <a:noFill/>
          </a:ln>
        </p:spPr>
        <p:txBody>
          <a:bodyPr wrap="none">
            <a:spAutoFit/>
          </a:bodyPr>
          <a:p>
            <a:pPr eaLnBrk="1" hangingPunct="1"/>
            <a:r>
              <a:rPr lang="en-US" altLang="zh-CN" sz="2400" dirty="0">
                <a:solidFill>
                  <a:schemeClr val="tx1"/>
                </a:solidFill>
                <a:latin typeface="Times New Roman" panose="02020603050405020304" pitchFamily="18" charset="0"/>
                <a:ea typeface="楷体_GB2312" pitchFamily="49" charset="-122"/>
              </a:rPr>
              <a:t>D</a:t>
            </a:r>
            <a:r>
              <a:rPr lang="zh-CN" altLang="en-US" sz="2400" dirty="0">
                <a:solidFill>
                  <a:schemeClr val="tx1"/>
                </a:solidFill>
                <a:latin typeface="Times New Roman" panose="02020603050405020304" pitchFamily="18" charset="0"/>
                <a:ea typeface="楷体_GB2312" pitchFamily="49" charset="-122"/>
              </a:rPr>
              <a:t>是具有相同特性的数据元素的集合。</a:t>
            </a:r>
            <a:endParaRPr lang="zh-CN" altLang="en-US" sz="2400" dirty="0">
              <a:solidFill>
                <a:schemeClr val="tx1"/>
              </a:solidFill>
              <a:latin typeface="Times New Roman" panose="02020603050405020304" pitchFamily="18" charset="0"/>
            </a:endParaRPr>
          </a:p>
        </p:txBody>
      </p:sp>
      <p:sp>
        <p:nvSpPr>
          <p:cNvPr id="28677" name="Text Box 5"/>
          <p:cNvSpPr txBox="1"/>
          <p:nvPr/>
        </p:nvSpPr>
        <p:spPr>
          <a:xfrm>
            <a:off x="1042988" y="3306763"/>
            <a:ext cx="7953375" cy="2820987"/>
          </a:xfrm>
          <a:prstGeom prst="rect">
            <a:avLst/>
          </a:prstGeom>
          <a:noFill/>
          <a:ln w="12700">
            <a:noFill/>
          </a:ln>
        </p:spPr>
        <p:txBody>
          <a:bodyPr>
            <a:spAutoFit/>
          </a:bodyPr>
          <a:p>
            <a:pPr eaLnBrk="1" hangingPunct="1">
              <a:lnSpc>
                <a:spcPct val="125000"/>
              </a:lnSpc>
            </a:pPr>
            <a:r>
              <a:rPr lang="en-US" altLang="zh-CN" dirty="0">
                <a:solidFill>
                  <a:schemeClr val="tx1"/>
                </a:solidFill>
                <a:latin typeface="Times New Roman" panose="02020603050405020304" pitchFamily="18" charset="0"/>
                <a:ea typeface="楷体_GB2312" pitchFamily="49" charset="-122"/>
              </a:rPr>
              <a:t>  </a:t>
            </a:r>
            <a:r>
              <a:rPr lang="zh-CN" altLang="en-US" sz="2400" dirty="0">
                <a:solidFill>
                  <a:schemeClr val="tx1"/>
                </a:solidFill>
                <a:latin typeface="Times New Roman" panose="02020603050405020304" pitchFamily="18" charset="0"/>
                <a:ea typeface="楷体_GB2312" pitchFamily="49" charset="-122"/>
              </a:rPr>
              <a:t>若</a:t>
            </a:r>
            <a:r>
              <a:rPr lang="en-US" altLang="zh-CN" sz="2400" dirty="0">
                <a:solidFill>
                  <a:schemeClr val="tx1"/>
                </a:solidFill>
                <a:latin typeface="Times New Roman" panose="02020603050405020304" pitchFamily="18" charset="0"/>
                <a:ea typeface="楷体_GB2312" pitchFamily="49" charset="-122"/>
              </a:rPr>
              <a:t>D</a:t>
            </a:r>
            <a:r>
              <a:rPr lang="zh-CN" altLang="en-US" sz="2400" dirty="0">
                <a:solidFill>
                  <a:schemeClr val="tx1"/>
                </a:solidFill>
                <a:latin typeface="Times New Roman" panose="02020603050405020304" pitchFamily="18" charset="0"/>
                <a:ea typeface="楷体_GB2312" pitchFamily="49" charset="-122"/>
              </a:rPr>
              <a:t>为空集，则称为空树 。</a:t>
            </a:r>
            <a:endParaRPr lang="zh-CN" altLang="en-US" sz="2400" dirty="0">
              <a:solidFill>
                <a:schemeClr val="tx1"/>
              </a:solidFill>
              <a:latin typeface="Times New Roman" panose="02020603050405020304" pitchFamily="18" charset="0"/>
              <a:ea typeface="楷体_GB2312" pitchFamily="49" charset="-122"/>
            </a:endParaRPr>
          </a:p>
          <a:p>
            <a:pPr eaLnBrk="1" hangingPunct="1">
              <a:lnSpc>
                <a:spcPct val="125000"/>
              </a:lnSpc>
            </a:pPr>
            <a:r>
              <a:rPr lang="zh-CN" altLang="en-US" sz="2400" dirty="0">
                <a:solidFill>
                  <a:schemeClr val="tx1"/>
                </a:solidFill>
                <a:latin typeface="Times New Roman" panose="02020603050405020304" pitchFamily="18" charset="0"/>
                <a:ea typeface="楷体_GB2312" pitchFamily="49" charset="-122"/>
              </a:rPr>
              <a:t>   否则</a:t>
            </a:r>
            <a:r>
              <a:rPr lang="en-US" altLang="zh-CN" sz="2400" dirty="0">
                <a:solidFill>
                  <a:schemeClr val="tx1"/>
                </a:solidFill>
                <a:latin typeface="Times New Roman" panose="02020603050405020304" pitchFamily="18" charset="0"/>
                <a:ea typeface="楷体_GB2312" pitchFamily="49" charset="-122"/>
              </a:rPr>
              <a:t>:</a:t>
            </a:r>
            <a:endParaRPr lang="en-US" altLang="zh-CN" sz="2400" dirty="0">
              <a:solidFill>
                <a:schemeClr val="tx1"/>
              </a:solidFill>
              <a:latin typeface="Times New Roman" panose="02020603050405020304" pitchFamily="18" charset="0"/>
              <a:ea typeface="楷体_GB2312" pitchFamily="49" charset="-122"/>
            </a:endParaRPr>
          </a:p>
          <a:p>
            <a:pPr eaLnBrk="1" hangingPunct="1">
              <a:lnSpc>
                <a:spcPct val="125000"/>
              </a:lnSpc>
            </a:pPr>
            <a:r>
              <a:rPr lang="en-US" altLang="zh-CN" sz="2400" dirty="0">
                <a:solidFill>
                  <a:schemeClr val="tx1"/>
                </a:solidFill>
                <a:latin typeface="Times New Roman" panose="02020603050405020304" pitchFamily="18" charset="0"/>
                <a:ea typeface="楷体_GB2312" pitchFamily="49" charset="-122"/>
              </a:rPr>
              <a:t>  (1) </a:t>
            </a:r>
            <a:r>
              <a:rPr lang="zh-CN" altLang="en-US" sz="2400" dirty="0">
                <a:solidFill>
                  <a:schemeClr val="tx1"/>
                </a:solidFill>
                <a:latin typeface="Times New Roman" panose="02020603050405020304" pitchFamily="18" charset="0"/>
                <a:ea typeface="楷体_GB2312" pitchFamily="49" charset="-122"/>
              </a:rPr>
              <a:t>在</a:t>
            </a:r>
            <a:r>
              <a:rPr lang="en-US" altLang="zh-CN" sz="2400" dirty="0">
                <a:solidFill>
                  <a:schemeClr val="tx1"/>
                </a:solidFill>
                <a:latin typeface="Times New Roman" panose="02020603050405020304" pitchFamily="18" charset="0"/>
                <a:ea typeface="楷体_GB2312" pitchFamily="49" charset="-122"/>
              </a:rPr>
              <a:t>D</a:t>
            </a:r>
            <a:r>
              <a:rPr lang="zh-CN" altLang="en-US" sz="2400" dirty="0">
                <a:solidFill>
                  <a:schemeClr val="tx1"/>
                </a:solidFill>
                <a:latin typeface="Times New Roman" panose="02020603050405020304" pitchFamily="18" charset="0"/>
                <a:ea typeface="楷体_GB2312" pitchFamily="49" charset="-122"/>
              </a:rPr>
              <a:t>中存在唯一的称为根的数据元素</a:t>
            </a:r>
            <a:r>
              <a:rPr lang="en-US" altLang="zh-CN" sz="2400" dirty="0">
                <a:solidFill>
                  <a:schemeClr val="tx1"/>
                </a:solidFill>
                <a:latin typeface="Times New Roman" panose="02020603050405020304" pitchFamily="18" charset="0"/>
                <a:ea typeface="楷体_GB2312" pitchFamily="49" charset="-122"/>
              </a:rPr>
              <a:t>root</a:t>
            </a:r>
            <a:r>
              <a:rPr lang="zh-CN" altLang="en-US" sz="2400" dirty="0">
                <a:solidFill>
                  <a:schemeClr val="tx1"/>
                </a:solidFill>
                <a:latin typeface="Times New Roman" panose="02020603050405020304" pitchFamily="18" charset="0"/>
                <a:ea typeface="楷体_GB2312" pitchFamily="49" charset="-122"/>
              </a:rPr>
              <a:t>；</a:t>
            </a:r>
            <a:endParaRPr lang="zh-CN" altLang="en-US" sz="2400" dirty="0">
              <a:solidFill>
                <a:schemeClr val="tx1"/>
              </a:solidFill>
              <a:latin typeface="Times New Roman" panose="02020603050405020304" pitchFamily="18" charset="0"/>
              <a:ea typeface="楷体_GB2312" pitchFamily="49" charset="-122"/>
            </a:endParaRPr>
          </a:p>
          <a:p>
            <a:pPr eaLnBrk="1" hangingPunct="1">
              <a:lnSpc>
                <a:spcPct val="125000"/>
              </a:lnSpc>
            </a:pPr>
            <a:r>
              <a:rPr lang="zh-CN" altLang="en-US" sz="2400" dirty="0">
                <a:solidFill>
                  <a:schemeClr val="tx1"/>
                </a:solidFill>
                <a:latin typeface="Times New Roman" panose="02020603050405020304" pitchFamily="18" charset="0"/>
                <a:ea typeface="楷体_GB2312" pitchFamily="49" charset="-122"/>
              </a:rPr>
              <a:t>  </a:t>
            </a:r>
            <a:r>
              <a:rPr lang="en-US" altLang="zh-CN" sz="2400" dirty="0">
                <a:solidFill>
                  <a:schemeClr val="tx1"/>
                </a:solidFill>
                <a:latin typeface="Times New Roman" panose="02020603050405020304" pitchFamily="18" charset="0"/>
                <a:ea typeface="楷体_GB2312" pitchFamily="49" charset="-122"/>
              </a:rPr>
              <a:t>(2) </a:t>
            </a:r>
            <a:r>
              <a:rPr lang="zh-CN" altLang="en-US" sz="2400" dirty="0">
                <a:solidFill>
                  <a:schemeClr val="tx1"/>
                </a:solidFill>
                <a:latin typeface="Times New Roman" panose="02020603050405020304" pitchFamily="18" charset="0"/>
                <a:ea typeface="楷体_GB2312" pitchFamily="49" charset="-122"/>
              </a:rPr>
              <a:t>当</a:t>
            </a:r>
            <a:r>
              <a:rPr lang="en-US" altLang="zh-CN" sz="2400" dirty="0">
                <a:solidFill>
                  <a:schemeClr val="tx1"/>
                </a:solidFill>
                <a:latin typeface="Times New Roman" panose="02020603050405020304" pitchFamily="18" charset="0"/>
                <a:ea typeface="楷体_GB2312" pitchFamily="49" charset="-122"/>
              </a:rPr>
              <a:t>n&gt;1</a:t>
            </a:r>
            <a:r>
              <a:rPr lang="zh-CN" altLang="en-US" sz="2400" dirty="0">
                <a:solidFill>
                  <a:schemeClr val="tx1"/>
                </a:solidFill>
                <a:latin typeface="Times New Roman" panose="02020603050405020304" pitchFamily="18" charset="0"/>
                <a:ea typeface="楷体_GB2312" pitchFamily="49" charset="-122"/>
              </a:rPr>
              <a:t>时，其余结点可分为</a:t>
            </a:r>
            <a:r>
              <a:rPr lang="en-US" altLang="zh-CN" sz="2400" dirty="0">
                <a:solidFill>
                  <a:schemeClr val="tx1"/>
                </a:solidFill>
                <a:latin typeface="Times New Roman" panose="02020603050405020304" pitchFamily="18" charset="0"/>
                <a:ea typeface="楷体_GB2312" pitchFamily="49" charset="-122"/>
              </a:rPr>
              <a:t>m (m&gt;0)</a:t>
            </a:r>
            <a:r>
              <a:rPr lang="zh-CN" altLang="en-US" sz="2400" dirty="0">
                <a:solidFill>
                  <a:schemeClr val="tx1"/>
                </a:solidFill>
                <a:latin typeface="Times New Roman" panose="02020603050405020304" pitchFamily="18" charset="0"/>
                <a:ea typeface="楷体_GB2312" pitchFamily="49" charset="-122"/>
              </a:rPr>
              <a:t>个互不相交的有限集</a:t>
            </a:r>
            <a:r>
              <a:rPr lang="en-US" altLang="zh-CN" sz="2400" dirty="0">
                <a:solidFill>
                  <a:schemeClr val="tx1"/>
                </a:solidFill>
                <a:latin typeface="Times New Roman" panose="02020603050405020304" pitchFamily="18" charset="0"/>
                <a:ea typeface="楷体_GB2312" pitchFamily="49" charset="-122"/>
              </a:rPr>
              <a:t>T</a:t>
            </a:r>
            <a:r>
              <a:rPr lang="en-US" altLang="zh-CN" sz="2400" baseline="-25000" dirty="0">
                <a:solidFill>
                  <a:schemeClr val="tx1"/>
                </a:solidFill>
                <a:latin typeface="Times New Roman" panose="02020603050405020304" pitchFamily="18" charset="0"/>
                <a:ea typeface="楷体_GB2312" pitchFamily="49" charset="-122"/>
              </a:rPr>
              <a:t>1</a:t>
            </a:r>
            <a:r>
              <a:rPr lang="en-US" altLang="zh-CN" sz="2400" dirty="0">
                <a:solidFill>
                  <a:schemeClr val="tx1"/>
                </a:solidFill>
                <a:latin typeface="Times New Roman" panose="02020603050405020304" pitchFamily="18" charset="0"/>
                <a:ea typeface="楷体_GB2312" pitchFamily="49" charset="-122"/>
              </a:rPr>
              <a:t>, T</a:t>
            </a:r>
            <a:r>
              <a:rPr lang="en-US" altLang="zh-CN" sz="2400" baseline="-25000" dirty="0">
                <a:solidFill>
                  <a:schemeClr val="tx1"/>
                </a:solidFill>
                <a:latin typeface="Times New Roman" panose="02020603050405020304" pitchFamily="18" charset="0"/>
                <a:ea typeface="楷体_GB2312" pitchFamily="49" charset="-122"/>
              </a:rPr>
              <a:t>2</a:t>
            </a:r>
            <a:r>
              <a:rPr lang="en-US" altLang="zh-CN" sz="2400" dirty="0">
                <a:solidFill>
                  <a:schemeClr val="tx1"/>
                </a:solidFill>
                <a:latin typeface="Times New Roman" panose="02020603050405020304" pitchFamily="18" charset="0"/>
                <a:ea typeface="楷体_GB2312" pitchFamily="49" charset="-122"/>
              </a:rPr>
              <a:t>, …, T</a:t>
            </a:r>
            <a:r>
              <a:rPr lang="en-US" altLang="zh-CN" sz="2400" baseline="-25000" dirty="0">
                <a:solidFill>
                  <a:schemeClr val="tx1"/>
                </a:solidFill>
                <a:latin typeface="Times New Roman" panose="02020603050405020304" pitchFamily="18" charset="0"/>
                <a:ea typeface="楷体_GB2312" pitchFamily="49" charset="-122"/>
              </a:rPr>
              <a:t>m</a:t>
            </a:r>
            <a:r>
              <a:rPr lang="zh-CN" altLang="en-US" sz="2400" dirty="0">
                <a:solidFill>
                  <a:schemeClr val="tx1"/>
                </a:solidFill>
                <a:latin typeface="Times New Roman" panose="02020603050405020304" pitchFamily="18" charset="0"/>
                <a:ea typeface="楷体_GB2312" pitchFamily="49" charset="-122"/>
              </a:rPr>
              <a:t>，其中每一棵子集本身又是一棵符合本定义的树，称为根</a:t>
            </a:r>
            <a:r>
              <a:rPr lang="en-US" altLang="zh-CN" sz="2400" dirty="0">
                <a:solidFill>
                  <a:schemeClr val="tx1"/>
                </a:solidFill>
                <a:latin typeface="Times New Roman" panose="02020603050405020304" pitchFamily="18" charset="0"/>
                <a:ea typeface="楷体_GB2312" pitchFamily="49" charset="-122"/>
              </a:rPr>
              <a:t>root</a:t>
            </a:r>
            <a:r>
              <a:rPr lang="zh-CN" altLang="en-US" sz="2400" dirty="0">
                <a:solidFill>
                  <a:schemeClr val="tx1"/>
                </a:solidFill>
                <a:latin typeface="Times New Roman" panose="02020603050405020304" pitchFamily="18" charset="0"/>
                <a:ea typeface="楷体_GB2312" pitchFamily="49" charset="-122"/>
              </a:rPr>
              <a:t>的子树。</a:t>
            </a:r>
            <a:endParaRPr lang="zh-CN" altLang="en-US" sz="2400" dirty="0">
              <a:solidFill>
                <a:schemeClr val="tx1"/>
              </a:solidFill>
              <a:latin typeface="Times New Roman" panose="02020603050405020304" pitchFamily="18" charset="0"/>
            </a:endParaRPr>
          </a:p>
        </p:txBody>
      </p:sp>
      <p:sp>
        <p:nvSpPr>
          <p:cNvPr id="17413" name="Text Box 7"/>
          <p:cNvSpPr txBox="1"/>
          <p:nvPr/>
        </p:nvSpPr>
        <p:spPr>
          <a:xfrm>
            <a:off x="509588" y="2662238"/>
            <a:ext cx="2738437" cy="584200"/>
          </a:xfrm>
          <a:prstGeom prst="rect">
            <a:avLst/>
          </a:prstGeom>
          <a:noFill/>
          <a:ln w="12700">
            <a:noFill/>
          </a:ln>
        </p:spPr>
        <p:txBody>
          <a:bodyPr wrap="none">
            <a:spAutoFit/>
          </a:bodyPr>
          <a:p>
            <a:pPr eaLnBrk="1" hangingPunct="1"/>
            <a:r>
              <a:rPr lang="en-US" altLang="zh-CN" sz="3200" dirty="0">
                <a:solidFill>
                  <a:schemeClr val="tx1"/>
                </a:solidFill>
                <a:latin typeface="Times New Roman" panose="02020603050405020304" pitchFamily="18" charset="0"/>
                <a:ea typeface="楷体_GB2312" pitchFamily="49" charset="-122"/>
              </a:rPr>
              <a:t> </a:t>
            </a:r>
            <a:r>
              <a:rPr lang="zh-CN" altLang="en-US" sz="3200" dirty="0">
                <a:solidFill>
                  <a:schemeClr val="tx1"/>
                </a:solidFill>
                <a:latin typeface="Times New Roman" panose="02020603050405020304" pitchFamily="18" charset="0"/>
                <a:ea typeface="楷体_GB2312" pitchFamily="49" charset="-122"/>
              </a:rPr>
              <a:t>数据关系 </a:t>
            </a:r>
            <a:r>
              <a:rPr lang="en-US" altLang="zh-CN" sz="3200" dirty="0">
                <a:solidFill>
                  <a:schemeClr val="tx1"/>
                </a:solidFill>
                <a:latin typeface="Times New Roman" panose="02020603050405020304" pitchFamily="18" charset="0"/>
                <a:ea typeface="楷体_GB2312" pitchFamily="49" charset="-122"/>
              </a:rPr>
              <a:t>R</a:t>
            </a:r>
            <a:r>
              <a:rPr lang="zh-CN" altLang="en-US" sz="3200" dirty="0">
                <a:solidFill>
                  <a:schemeClr val="tx1"/>
                </a:solidFill>
                <a:latin typeface="Times New Roman" panose="02020603050405020304" pitchFamily="18" charset="0"/>
                <a:ea typeface="楷体_GB2312" pitchFamily="49" charset="-122"/>
              </a:rPr>
              <a:t>：</a:t>
            </a:r>
            <a:endParaRPr lang="zh-CN" altLang="en-US" sz="3200" dirty="0">
              <a:solidFill>
                <a:schemeClr val="tx1"/>
              </a:solidFill>
              <a:latin typeface="Times New Roman" panose="02020603050405020304" pitchFamily="18" charset="0"/>
              <a:ea typeface="楷体_GB2312" pitchFamily="49" charset="-122"/>
            </a:endParaRPr>
          </a:p>
        </p:txBody>
      </p:sp>
      <p:sp>
        <p:nvSpPr>
          <p:cNvPr id="17414" name="文本框 1"/>
          <p:cNvSpPr txBox="1"/>
          <p:nvPr/>
        </p:nvSpPr>
        <p:spPr>
          <a:xfrm>
            <a:off x="595313" y="908050"/>
            <a:ext cx="8048625" cy="676275"/>
          </a:xfrm>
          <a:prstGeom prst="rect">
            <a:avLst/>
          </a:prstGeom>
          <a:noFill/>
          <a:ln w="9525">
            <a:noFill/>
          </a:ln>
        </p:spPr>
        <p:txBody>
          <a:bodyPr>
            <a:spAutoFit/>
          </a:bodyPr>
          <a:p>
            <a:r>
              <a:rPr lang="zh-CN" altLang="en-US" sz="3800" dirty="0">
                <a:solidFill>
                  <a:schemeClr val="tx1"/>
                </a:solidFill>
                <a:latin typeface="Verdana" panose="020B0604030504040204" pitchFamily="34" charset="0"/>
              </a:rPr>
              <a:t>树的抽象定义（好好说话）</a:t>
            </a:r>
            <a:endParaRPr lang="zh-CN" altLang="en-US" sz="3800" dirty="0">
              <a:solidFill>
                <a:schemeClr val="tx1"/>
              </a:solidFill>
              <a:latin typeface="Verdana" panose="020B060403050404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wipe(left)">
                                      <p:cBhvr>
                                        <p:cTn id="7" dur="500"/>
                                        <p:tgtEl>
                                          <p:spTgt spid="2867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strips(downLeft)">
                                      <p:cBhvr>
                                        <p:cTn id="12"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树的抽象类型定义</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6611" name="Rectangle 3"/>
          <p:cNvSpPr>
            <a:spLocks noGrp="1" noChangeArrowheads="1"/>
          </p:cNvSpPr>
          <p:nvPr>
            <p:ph idx="1"/>
          </p:nvPr>
        </p:nvSpPr>
        <p:spPr>
          <a:xfrm>
            <a:off x="566738" y="1946275"/>
            <a:ext cx="8008938" cy="4073525"/>
          </a:xfrm>
        </p:spPr>
        <p:txBody>
          <a:bodyPr vert="horz" wrap="square" lIns="91440" tIns="45720" rIns="91440" bIns="45720" numCol="1" anchor="t" anchorCtr="0" compatLnSpc="1"/>
          <a:lstStyle/>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3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数据关系：</a:t>
            </a:r>
            <a:endParaRPr kumimoji="0" lang="zh-CN" altLang="en-US" sz="3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3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树由一个根节点和若干棵子树构成。树中结点具有相同数据类型及层次关系。</a:t>
            </a:r>
            <a:endParaRPr kumimoji="0" lang="zh-CN" altLang="en-US" sz="36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0482" name="Picture 4"/>
          <p:cNvPicPr>
            <a:picLocks noChangeAspect="1"/>
          </p:cNvPicPr>
          <p:nvPr/>
        </p:nvPicPr>
        <p:blipFill>
          <a:blip r:embed="rId1"/>
          <a:srcRect r="18935" b="43704"/>
          <a:stretch>
            <a:fillRect/>
          </a:stretch>
        </p:blipFill>
        <p:spPr>
          <a:xfrm>
            <a:off x="41275" y="1660525"/>
            <a:ext cx="4341813" cy="3554413"/>
          </a:xfrm>
          <a:prstGeom prst="rect">
            <a:avLst/>
          </a:prstGeom>
          <a:noFill/>
          <a:ln w="9525">
            <a:noFill/>
          </a:ln>
        </p:spPr>
      </p:pic>
      <p:sp>
        <p:nvSpPr>
          <p:cNvPr id="828421" name="Rectangle 5"/>
          <p:cNvSpPr>
            <a:spLocks noGrp="1" noChangeArrowheads="1"/>
          </p:cNvSpPr>
          <p:nvPr>
            <p:ph type="title"/>
          </p:nvPr>
        </p:nvSpPr>
        <p:spPr>
          <a:xfrm>
            <a:off x="320675" y="149225"/>
            <a:ext cx="8001000" cy="1216025"/>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树的</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ADT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定义</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操作</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20484" name="Picture 6"/>
          <p:cNvPicPr>
            <a:picLocks noChangeAspect="1"/>
          </p:cNvPicPr>
          <p:nvPr/>
        </p:nvPicPr>
        <p:blipFill>
          <a:blip r:embed="rId1"/>
          <a:srcRect l="5321" t="56296" r="3084"/>
          <a:stretch>
            <a:fillRect/>
          </a:stretch>
        </p:blipFill>
        <p:spPr>
          <a:xfrm>
            <a:off x="4383088" y="1855788"/>
            <a:ext cx="4545012" cy="25558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4"/>
          <p:cNvPicPr>
            <a:picLocks noChangeAspect="1"/>
          </p:cNvPicPr>
          <p:nvPr/>
        </p:nvPicPr>
        <p:blipFill>
          <a:blip r:embed="rId1"/>
          <a:stretch>
            <a:fillRect/>
          </a:stretch>
        </p:blipFill>
        <p:spPr>
          <a:xfrm>
            <a:off x="539750" y="0"/>
            <a:ext cx="7993063" cy="681037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0482" name="WordArt 2"/>
          <p:cNvSpPr>
            <a:spLocks noTextEdit="1"/>
          </p:cNvSpPr>
          <p:nvPr/>
        </p:nvSpPr>
        <p:spPr>
          <a:xfrm rot="5400000">
            <a:off x="1600199" y="3124200"/>
            <a:ext cx="5943595" cy="457200"/>
          </a:xfrm>
          <a:prstGeom prst="rect">
            <a:avLst/>
          </a:prstGeom>
        </p:spPr>
        <p:txBody>
          <a:bodyPr vert="wordArtVert" wrap="none" numCol="1" fromWordArt="1">
            <a:prstTxWarp prst="textPlain">
              <a:avLst>
                <a:gd name="adj" fmla="val 50000"/>
              </a:avLst>
            </a:prstTxWarp>
            <a:normAutofit/>
            <a:scene3d>
              <a:camera prst="legacyPerspectiveFront">
                <a:rot lat="20640000" lon="20700000" rev="0"/>
              </a:camera>
              <a:lightRig rig="legacyNormal3" dir="l"/>
            </a:scene3d>
            <a:sp3d extrusionH="201600" prstMaterial="legacyPlastic">
              <a:extrusionClr>
                <a:srgbClr val="FF9966"/>
              </a:extrusionClr>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360" normalizeH="0" baseline="0" noProof="1">
                <a:ln>
                  <a:noFill/>
                </a:ln>
                <a:solidFill>
                  <a:srgbClr val="CC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endParaRPr kumimoji="0" lang="zh-CN" altLang="en-US" sz="3600" b="1" i="0" u="none" strike="noStrike" kern="1200" cap="none" spc="-360" normalizeH="0" baseline="0" noProof="1">
              <a:ln>
                <a:noFill/>
              </a:ln>
              <a:solidFill>
                <a:srgbClr val="CC0000"/>
              </a:solidFill>
              <a:effectLst/>
              <a:uLnTx/>
              <a:uFillTx/>
              <a:latin typeface="宋体" panose="02010600030101010101" pitchFamily="2" charset="-122"/>
              <a:ea typeface="宋体" panose="02010600030101010101" pitchFamily="2" charset="-122"/>
              <a:cs typeface="+mn-cs"/>
              <a:sym typeface="Symbol" panose="05050102010706020507" pitchFamily="18" charset="2"/>
            </a:endParaRPr>
          </a:p>
        </p:txBody>
      </p:sp>
      <p:sp>
        <p:nvSpPr>
          <p:cNvPr id="22531" name="Text Box 4"/>
          <p:cNvSpPr txBox="1"/>
          <p:nvPr/>
        </p:nvSpPr>
        <p:spPr>
          <a:xfrm>
            <a:off x="1187450" y="76200"/>
            <a:ext cx="2447925" cy="769938"/>
          </a:xfrm>
          <a:prstGeom prst="rect">
            <a:avLst/>
          </a:prstGeom>
          <a:noFill/>
          <a:ln w="12700">
            <a:noFill/>
          </a:ln>
        </p:spPr>
        <p:txBody>
          <a:bodyPr wrap="none">
            <a:spAutoFit/>
          </a:bodyPr>
          <a:p>
            <a:pPr eaLnBrk="1" hangingPunct="1"/>
            <a:r>
              <a:rPr lang="zh-CN" altLang="en-US" sz="4400" dirty="0">
                <a:solidFill>
                  <a:schemeClr val="tx1"/>
                </a:solidFill>
                <a:latin typeface="Times New Roman" panose="02020603050405020304" pitchFamily="18" charset="0"/>
                <a:ea typeface="隶书" panose="02010509060101010101" pitchFamily="49" charset="-122"/>
              </a:rPr>
              <a:t>线性结构</a:t>
            </a:r>
            <a:endParaRPr lang="zh-CN" altLang="en-US" sz="4400" dirty="0">
              <a:solidFill>
                <a:schemeClr val="tx1"/>
              </a:solidFill>
              <a:latin typeface="Times New Roman" panose="02020603050405020304" pitchFamily="18" charset="0"/>
              <a:ea typeface="隶书" panose="02010509060101010101" pitchFamily="49" charset="-122"/>
            </a:endParaRPr>
          </a:p>
        </p:txBody>
      </p:sp>
      <p:sp>
        <p:nvSpPr>
          <p:cNvPr id="22532" name="Rectangle 5"/>
          <p:cNvSpPr/>
          <p:nvPr/>
        </p:nvSpPr>
        <p:spPr>
          <a:xfrm>
            <a:off x="5867400" y="76200"/>
            <a:ext cx="2447925" cy="769938"/>
          </a:xfrm>
          <a:prstGeom prst="rect">
            <a:avLst/>
          </a:prstGeom>
          <a:noFill/>
          <a:ln w="12700">
            <a:noFill/>
          </a:ln>
        </p:spPr>
        <p:txBody>
          <a:bodyPr wrap="none">
            <a:spAutoFit/>
          </a:bodyPr>
          <a:p>
            <a:pPr eaLnBrk="1" hangingPunct="1"/>
            <a:r>
              <a:rPr lang="zh-CN" altLang="en-US" sz="4400" dirty="0">
                <a:solidFill>
                  <a:schemeClr val="tx1"/>
                </a:solidFill>
                <a:latin typeface="Times New Roman" panose="02020603050405020304" pitchFamily="18" charset="0"/>
                <a:ea typeface="隶书" panose="02010509060101010101" pitchFamily="49" charset="-122"/>
              </a:rPr>
              <a:t>树型结构</a:t>
            </a:r>
            <a:endParaRPr lang="zh-CN" altLang="en-US" sz="4400" dirty="0">
              <a:solidFill>
                <a:schemeClr val="tx1"/>
              </a:solidFill>
              <a:latin typeface="Times New Roman" panose="02020603050405020304" pitchFamily="18" charset="0"/>
              <a:ea typeface="隶书" panose="02010509060101010101" pitchFamily="49" charset="-122"/>
            </a:endParaRPr>
          </a:p>
        </p:txBody>
      </p:sp>
      <p:sp>
        <p:nvSpPr>
          <p:cNvPr id="171015" name="Text Box 7"/>
          <p:cNvSpPr txBox="1"/>
          <p:nvPr/>
        </p:nvSpPr>
        <p:spPr>
          <a:xfrm>
            <a:off x="365125" y="974725"/>
            <a:ext cx="3057525" cy="1077913"/>
          </a:xfrm>
          <a:prstGeom prst="rect">
            <a:avLst/>
          </a:prstGeom>
          <a:noFill/>
          <a:ln w="12700">
            <a:noFill/>
          </a:ln>
        </p:spPr>
        <p:txBody>
          <a:bodyPr wrap="none">
            <a:spAutoFit/>
          </a:bodyPr>
          <a:p>
            <a:pPr eaLnBrk="1" hangingPunct="1"/>
            <a:r>
              <a:rPr lang="zh-CN" altLang="en-US" sz="3200" dirty="0">
                <a:solidFill>
                  <a:schemeClr val="tx1"/>
                </a:solidFill>
                <a:latin typeface="楷体_GB2312" pitchFamily="49" charset="-122"/>
                <a:ea typeface="楷体_GB2312" pitchFamily="49" charset="-122"/>
              </a:rPr>
              <a:t>第一个数据元素</a:t>
            </a:r>
            <a:endParaRPr lang="zh-CN" altLang="en-US" sz="3200" dirty="0">
              <a:solidFill>
                <a:schemeClr val="tx1"/>
              </a:solidFill>
              <a:latin typeface="楷体_GB2312" pitchFamily="49" charset="-122"/>
              <a:ea typeface="楷体_GB2312" pitchFamily="49" charset="-122"/>
            </a:endParaRPr>
          </a:p>
          <a:p>
            <a:pPr eaLnBrk="1" hangingPunct="1"/>
            <a:r>
              <a:rPr lang="zh-CN" altLang="en-US" sz="3200" dirty="0">
                <a:solidFill>
                  <a:schemeClr val="tx1"/>
                </a:solidFill>
                <a:latin typeface="楷体_GB2312" pitchFamily="49" charset="-122"/>
                <a:ea typeface="楷体_GB2312" pitchFamily="49" charset="-122"/>
              </a:rPr>
              <a:t>      </a:t>
            </a:r>
            <a:r>
              <a:rPr lang="en-US" altLang="zh-CN" sz="3200" dirty="0">
                <a:solidFill>
                  <a:schemeClr val="tx1"/>
                </a:solidFill>
                <a:latin typeface="楷体_GB2312" pitchFamily="49" charset="-122"/>
                <a:ea typeface="楷体_GB2312" pitchFamily="49" charset="-122"/>
              </a:rPr>
              <a:t>(</a:t>
            </a:r>
            <a:r>
              <a:rPr lang="zh-CN" altLang="en-US" sz="3200" dirty="0">
                <a:solidFill>
                  <a:schemeClr val="tx1"/>
                </a:solidFill>
                <a:latin typeface="楷体_GB2312" pitchFamily="49" charset="-122"/>
                <a:ea typeface="楷体_GB2312" pitchFamily="49" charset="-122"/>
              </a:rPr>
              <a:t>无前驱</a:t>
            </a:r>
            <a:r>
              <a:rPr lang="en-US" altLang="zh-CN" sz="3200" dirty="0">
                <a:solidFill>
                  <a:schemeClr val="tx1"/>
                </a:solidFill>
                <a:latin typeface="楷体_GB2312" pitchFamily="49" charset="-122"/>
                <a:ea typeface="楷体_GB2312" pitchFamily="49" charset="-122"/>
              </a:rPr>
              <a:t>)</a:t>
            </a:r>
            <a:endParaRPr lang="en-US" altLang="zh-CN" sz="3200" dirty="0">
              <a:solidFill>
                <a:schemeClr val="tx1"/>
              </a:solidFill>
              <a:latin typeface="楷体_GB2312" pitchFamily="49" charset="-122"/>
              <a:ea typeface="楷体_GB2312" pitchFamily="49" charset="-122"/>
            </a:endParaRPr>
          </a:p>
        </p:txBody>
      </p:sp>
      <p:sp>
        <p:nvSpPr>
          <p:cNvPr id="171016" name="Text Box 8"/>
          <p:cNvSpPr txBox="1"/>
          <p:nvPr/>
        </p:nvSpPr>
        <p:spPr>
          <a:xfrm>
            <a:off x="5022850" y="914400"/>
            <a:ext cx="2466975" cy="1077913"/>
          </a:xfrm>
          <a:prstGeom prst="rect">
            <a:avLst/>
          </a:prstGeom>
          <a:noFill/>
          <a:ln w="12700">
            <a:noFill/>
          </a:ln>
        </p:spPr>
        <p:txBody>
          <a:bodyPr wrap="none">
            <a:spAutoFit/>
          </a:bodyPr>
          <a:p>
            <a:pPr eaLnBrk="1" hangingPunct="1"/>
            <a:r>
              <a:rPr lang="en-US" altLang="zh-CN" sz="3200" dirty="0">
                <a:solidFill>
                  <a:schemeClr val="tx1"/>
                </a:solidFill>
                <a:latin typeface="楷体_GB2312" pitchFamily="49" charset="-122"/>
                <a:ea typeface="楷体_GB2312" pitchFamily="49" charset="-122"/>
              </a:rPr>
              <a:t> </a:t>
            </a:r>
            <a:r>
              <a:rPr lang="zh-CN" altLang="en-US" sz="3200" dirty="0">
                <a:solidFill>
                  <a:schemeClr val="tx1"/>
                </a:solidFill>
                <a:latin typeface="楷体_GB2312" pitchFamily="49" charset="-122"/>
                <a:ea typeface="楷体_GB2312" pitchFamily="49" charset="-122"/>
              </a:rPr>
              <a:t>根结点</a:t>
            </a:r>
            <a:endParaRPr lang="zh-CN" altLang="en-US" sz="3200" dirty="0">
              <a:solidFill>
                <a:schemeClr val="tx1"/>
              </a:solidFill>
              <a:latin typeface="楷体_GB2312" pitchFamily="49" charset="-122"/>
              <a:ea typeface="楷体_GB2312" pitchFamily="49" charset="-122"/>
            </a:endParaRPr>
          </a:p>
          <a:p>
            <a:pPr eaLnBrk="1" hangingPunct="1"/>
            <a:r>
              <a:rPr lang="zh-CN" altLang="en-US" sz="3200" dirty="0">
                <a:solidFill>
                  <a:schemeClr val="tx1"/>
                </a:solidFill>
                <a:latin typeface="楷体_GB2312" pitchFamily="49" charset="-122"/>
                <a:ea typeface="楷体_GB2312" pitchFamily="49" charset="-122"/>
              </a:rPr>
              <a:t>      </a:t>
            </a:r>
            <a:r>
              <a:rPr lang="en-US" altLang="zh-CN" sz="3200" dirty="0">
                <a:solidFill>
                  <a:schemeClr val="tx1"/>
                </a:solidFill>
                <a:latin typeface="楷体_GB2312" pitchFamily="49" charset="-122"/>
                <a:ea typeface="楷体_GB2312" pitchFamily="49" charset="-122"/>
              </a:rPr>
              <a:t>(</a:t>
            </a:r>
            <a:r>
              <a:rPr lang="zh-CN" altLang="en-US" sz="3200" dirty="0">
                <a:solidFill>
                  <a:schemeClr val="tx1"/>
                </a:solidFill>
                <a:latin typeface="楷体_GB2312" pitchFamily="49" charset="-122"/>
                <a:ea typeface="楷体_GB2312" pitchFamily="49" charset="-122"/>
              </a:rPr>
              <a:t>无前驱</a:t>
            </a:r>
            <a:r>
              <a:rPr lang="en-US" altLang="zh-CN" sz="3200" dirty="0">
                <a:solidFill>
                  <a:schemeClr val="tx1"/>
                </a:solidFill>
                <a:latin typeface="楷体_GB2312" pitchFamily="49" charset="-122"/>
                <a:ea typeface="楷体_GB2312" pitchFamily="49" charset="-122"/>
              </a:rPr>
              <a:t>)</a:t>
            </a:r>
            <a:endParaRPr lang="en-US" altLang="zh-CN" sz="3200" dirty="0">
              <a:solidFill>
                <a:schemeClr val="tx1"/>
              </a:solidFill>
              <a:latin typeface="楷体_GB2312" pitchFamily="49" charset="-122"/>
              <a:ea typeface="楷体_GB2312" pitchFamily="49" charset="-122"/>
            </a:endParaRPr>
          </a:p>
        </p:txBody>
      </p:sp>
      <p:sp>
        <p:nvSpPr>
          <p:cNvPr id="171017" name="Text Box 9"/>
          <p:cNvSpPr txBox="1"/>
          <p:nvPr/>
        </p:nvSpPr>
        <p:spPr>
          <a:xfrm>
            <a:off x="152400" y="2667000"/>
            <a:ext cx="3467100" cy="1077913"/>
          </a:xfrm>
          <a:prstGeom prst="rect">
            <a:avLst/>
          </a:prstGeom>
          <a:noFill/>
          <a:ln w="12700">
            <a:noFill/>
          </a:ln>
        </p:spPr>
        <p:txBody>
          <a:bodyPr wrap="none">
            <a:spAutoFit/>
          </a:bodyPr>
          <a:p>
            <a:pPr eaLnBrk="1" hangingPunct="1"/>
            <a:r>
              <a:rPr lang="zh-CN" altLang="en-US" sz="3200" dirty="0">
                <a:solidFill>
                  <a:schemeClr val="tx1"/>
                </a:solidFill>
                <a:latin typeface="Times New Roman" panose="02020603050405020304" pitchFamily="18" charset="0"/>
                <a:ea typeface="楷体_GB2312" pitchFamily="49" charset="-122"/>
              </a:rPr>
              <a:t>最后一个数据元素</a:t>
            </a:r>
            <a:endParaRPr lang="zh-CN" altLang="en-US" sz="3200" dirty="0">
              <a:solidFill>
                <a:schemeClr val="tx1"/>
              </a:solidFill>
              <a:latin typeface="Times New Roman" panose="02020603050405020304" pitchFamily="18" charset="0"/>
              <a:ea typeface="楷体_GB2312" pitchFamily="49" charset="-122"/>
            </a:endParaRPr>
          </a:p>
          <a:p>
            <a:pPr eaLnBrk="1" hangingPunct="1"/>
            <a:r>
              <a:rPr lang="zh-CN" altLang="en-US" sz="3200" dirty="0">
                <a:solidFill>
                  <a:schemeClr val="tx1"/>
                </a:solidFill>
                <a:latin typeface="Times New Roman" panose="02020603050405020304" pitchFamily="18" charset="0"/>
                <a:ea typeface="楷体_GB2312" pitchFamily="49" charset="-122"/>
              </a:rPr>
              <a:t>              </a:t>
            </a:r>
            <a:r>
              <a:rPr lang="en-US" altLang="zh-CN" sz="3200" dirty="0">
                <a:solidFill>
                  <a:schemeClr val="tx1"/>
                </a:solidFill>
                <a:latin typeface="Times New Roman" panose="02020603050405020304" pitchFamily="18" charset="0"/>
                <a:ea typeface="楷体_GB2312" pitchFamily="49" charset="-122"/>
              </a:rPr>
              <a:t>(</a:t>
            </a:r>
            <a:r>
              <a:rPr lang="zh-CN" altLang="en-US" sz="3200" dirty="0">
                <a:solidFill>
                  <a:schemeClr val="tx1"/>
                </a:solidFill>
                <a:latin typeface="Times New Roman" panose="02020603050405020304" pitchFamily="18" charset="0"/>
                <a:ea typeface="楷体_GB2312" pitchFamily="49" charset="-122"/>
              </a:rPr>
              <a:t>无后继</a:t>
            </a:r>
            <a:r>
              <a:rPr lang="en-US" altLang="zh-CN" sz="3200" dirty="0">
                <a:solidFill>
                  <a:schemeClr val="tx1"/>
                </a:solidFill>
                <a:latin typeface="Times New Roman" panose="02020603050405020304" pitchFamily="18" charset="0"/>
                <a:ea typeface="楷体_GB2312" pitchFamily="49" charset="-122"/>
              </a:rPr>
              <a:t>)</a:t>
            </a:r>
            <a:endParaRPr lang="en-US" altLang="zh-CN" sz="3200" dirty="0">
              <a:solidFill>
                <a:schemeClr val="tx1"/>
              </a:solidFill>
              <a:latin typeface="Times New Roman" panose="02020603050405020304" pitchFamily="18" charset="0"/>
              <a:ea typeface="楷体_GB2312" pitchFamily="49" charset="-122"/>
            </a:endParaRPr>
          </a:p>
        </p:txBody>
      </p:sp>
      <p:sp>
        <p:nvSpPr>
          <p:cNvPr id="171018" name="Text Box 10"/>
          <p:cNvSpPr txBox="1"/>
          <p:nvPr/>
        </p:nvSpPr>
        <p:spPr>
          <a:xfrm>
            <a:off x="5273675" y="2667000"/>
            <a:ext cx="2646363" cy="1077913"/>
          </a:xfrm>
          <a:prstGeom prst="rect">
            <a:avLst/>
          </a:prstGeom>
          <a:noFill/>
          <a:ln w="12700">
            <a:noFill/>
          </a:ln>
        </p:spPr>
        <p:txBody>
          <a:bodyPr wrap="none">
            <a:spAutoFit/>
          </a:bodyPr>
          <a:p>
            <a:pPr eaLnBrk="1" hangingPunct="1"/>
            <a:r>
              <a:rPr lang="zh-CN" altLang="en-US" sz="3200" dirty="0">
                <a:solidFill>
                  <a:schemeClr val="tx1"/>
                </a:solidFill>
                <a:latin typeface="楷体_GB2312" pitchFamily="49" charset="-122"/>
                <a:ea typeface="楷体_GB2312" pitchFamily="49" charset="-122"/>
              </a:rPr>
              <a:t>多个叶子结点</a:t>
            </a:r>
            <a:endParaRPr lang="zh-CN" altLang="en-US" sz="3200" dirty="0">
              <a:solidFill>
                <a:schemeClr val="tx1"/>
              </a:solidFill>
              <a:latin typeface="楷体_GB2312" pitchFamily="49" charset="-122"/>
              <a:ea typeface="楷体_GB2312" pitchFamily="49" charset="-122"/>
            </a:endParaRPr>
          </a:p>
          <a:p>
            <a:pPr eaLnBrk="1" hangingPunct="1"/>
            <a:r>
              <a:rPr lang="zh-CN" altLang="en-US" sz="3200" dirty="0">
                <a:solidFill>
                  <a:schemeClr val="tx1"/>
                </a:solidFill>
                <a:latin typeface="楷体_GB2312" pitchFamily="49" charset="-122"/>
                <a:ea typeface="楷体_GB2312" pitchFamily="49" charset="-122"/>
              </a:rPr>
              <a:t>     </a:t>
            </a:r>
            <a:r>
              <a:rPr lang="en-US" altLang="zh-CN" sz="3200" dirty="0">
                <a:solidFill>
                  <a:schemeClr val="tx1"/>
                </a:solidFill>
                <a:latin typeface="楷体_GB2312" pitchFamily="49" charset="-122"/>
                <a:ea typeface="楷体_GB2312" pitchFamily="49" charset="-122"/>
              </a:rPr>
              <a:t>(</a:t>
            </a:r>
            <a:r>
              <a:rPr lang="zh-CN" altLang="en-US" sz="3200" dirty="0">
                <a:solidFill>
                  <a:schemeClr val="tx1"/>
                </a:solidFill>
                <a:latin typeface="楷体_GB2312" pitchFamily="49" charset="-122"/>
                <a:ea typeface="楷体_GB2312" pitchFamily="49" charset="-122"/>
              </a:rPr>
              <a:t>无后继</a:t>
            </a:r>
            <a:r>
              <a:rPr lang="en-US" altLang="zh-CN" sz="3200" dirty="0">
                <a:solidFill>
                  <a:schemeClr val="tx1"/>
                </a:solidFill>
                <a:latin typeface="楷体_GB2312" pitchFamily="49" charset="-122"/>
                <a:ea typeface="楷体_GB2312" pitchFamily="49" charset="-122"/>
              </a:rPr>
              <a:t>)</a:t>
            </a:r>
            <a:endParaRPr lang="en-US" altLang="zh-CN" sz="3200" dirty="0">
              <a:solidFill>
                <a:schemeClr val="tx1"/>
              </a:solidFill>
              <a:latin typeface="楷体_GB2312" pitchFamily="49" charset="-122"/>
              <a:ea typeface="楷体_GB2312" pitchFamily="49" charset="-122"/>
            </a:endParaRPr>
          </a:p>
        </p:txBody>
      </p:sp>
      <p:sp>
        <p:nvSpPr>
          <p:cNvPr id="171019" name="Text Box 11"/>
          <p:cNvSpPr txBox="1"/>
          <p:nvPr/>
        </p:nvSpPr>
        <p:spPr>
          <a:xfrm>
            <a:off x="288925" y="4403725"/>
            <a:ext cx="2646363" cy="1570038"/>
          </a:xfrm>
          <a:prstGeom prst="rect">
            <a:avLst/>
          </a:prstGeom>
          <a:noFill/>
          <a:ln w="12700">
            <a:noFill/>
          </a:ln>
        </p:spPr>
        <p:txBody>
          <a:bodyPr wrap="none">
            <a:spAutoFit/>
          </a:bodyPr>
          <a:p>
            <a:pPr eaLnBrk="1" hangingPunct="1"/>
            <a:r>
              <a:rPr lang="zh-CN" altLang="en-US" sz="3200" dirty="0">
                <a:solidFill>
                  <a:schemeClr val="tx1"/>
                </a:solidFill>
                <a:latin typeface="楷体_GB2312" pitchFamily="49" charset="-122"/>
                <a:ea typeface="楷体_GB2312" pitchFamily="49" charset="-122"/>
              </a:rPr>
              <a:t>其它数据元素</a:t>
            </a:r>
            <a:endParaRPr lang="zh-CN" altLang="en-US" sz="3200" dirty="0">
              <a:solidFill>
                <a:schemeClr val="tx1"/>
              </a:solidFill>
              <a:latin typeface="楷体_GB2312" pitchFamily="49" charset="-122"/>
              <a:ea typeface="楷体_GB2312" pitchFamily="49" charset="-122"/>
            </a:endParaRPr>
          </a:p>
          <a:p>
            <a:pPr eaLnBrk="1" hangingPunct="1"/>
            <a:r>
              <a:rPr lang="en-US" altLang="zh-CN" sz="3200" dirty="0">
                <a:solidFill>
                  <a:schemeClr val="tx1"/>
                </a:solidFill>
                <a:latin typeface="楷体_GB2312" pitchFamily="49" charset="-122"/>
                <a:ea typeface="楷体_GB2312" pitchFamily="49" charset="-122"/>
              </a:rPr>
              <a:t>(</a:t>
            </a:r>
            <a:r>
              <a:rPr lang="zh-CN" altLang="en-US" sz="3200" dirty="0">
                <a:solidFill>
                  <a:schemeClr val="tx1"/>
                </a:solidFill>
                <a:latin typeface="楷体_GB2312" pitchFamily="49" charset="-122"/>
                <a:ea typeface="楷体_GB2312" pitchFamily="49" charset="-122"/>
              </a:rPr>
              <a:t>一个前驱、</a:t>
            </a:r>
            <a:endParaRPr lang="zh-CN" altLang="en-US" sz="3200" dirty="0">
              <a:solidFill>
                <a:schemeClr val="tx1"/>
              </a:solidFill>
              <a:latin typeface="楷体_GB2312" pitchFamily="49" charset="-122"/>
              <a:ea typeface="楷体_GB2312" pitchFamily="49" charset="-122"/>
            </a:endParaRPr>
          </a:p>
          <a:p>
            <a:pPr eaLnBrk="1" hangingPunct="1"/>
            <a:r>
              <a:rPr lang="zh-CN" altLang="en-US" sz="3200" dirty="0">
                <a:solidFill>
                  <a:schemeClr val="tx1"/>
                </a:solidFill>
                <a:latin typeface="楷体_GB2312" pitchFamily="49" charset="-122"/>
                <a:ea typeface="楷体_GB2312" pitchFamily="49" charset="-122"/>
              </a:rPr>
              <a:t>     一个后继</a:t>
            </a:r>
            <a:r>
              <a:rPr lang="en-US" altLang="zh-CN" sz="3200" dirty="0">
                <a:solidFill>
                  <a:schemeClr val="tx1"/>
                </a:solidFill>
                <a:latin typeface="楷体_GB2312" pitchFamily="49" charset="-122"/>
                <a:ea typeface="楷体_GB2312" pitchFamily="49" charset="-122"/>
              </a:rPr>
              <a:t>)</a:t>
            </a:r>
            <a:endParaRPr lang="en-US" altLang="zh-CN" sz="3200" dirty="0">
              <a:solidFill>
                <a:schemeClr val="tx1"/>
              </a:solidFill>
              <a:latin typeface="楷体_GB2312" pitchFamily="49" charset="-122"/>
              <a:ea typeface="楷体_GB2312" pitchFamily="49" charset="-122"/>
            </a:endParaRPr>
          </a:p>
        </p:txBody>
      </p:sp>
      <p:sp>
        <p:nvSpPr>
          <p:cNvPr id="171020" name="Text Box 12"/>
          <p:cNvSpPr txBox="1"/>
          <p:nvPr/>
        </p:nvSpPr>
        <p:spPr>
          <a:xfrm>
            <a:off x="5232400" y="4419600"/>
            <a:ext cx="2646363" cy="1570038"/>
          </a:xfrm>
          <a:prstGeom prst="rect">
            <a:avLst/>
          </a:prstGeom>
          <a:noFill/>
          <a:ln w="12700">
            <a:noFill/>
          </a:ln>
        </p:spPr>
        <p:txBody>
          <a:bodyPr wrap="none">
            <a:spAutoFit/>
          </a:bodyPr>
          <a:p>
            <a:pPr eaLnBrk="1" hangingPunct="1"/>
            <a:r>
              <a:rPr lang="zh-CN" altLang="en-US" sz="3200" dirty="0">
                <a:solidFill>
                  <a:schemeClr val="tx1"/>
                </a:solidFill>
                <a:latin typeface="楷体_GB2312" pitchFamily="49" charset="-122"/>
                <a:ea typeface="楷体_GB2312" pitchFamily="49" charset="-122"/>
              </a:rPr>
              <a:t>其它数据元素</a:t>
            </a:r>
            <a:endParaRPr lang="zh-CN" altLang="en-US" sz="3200" dirty="0">
              <a:solidFill>
                <a:schemeClr val="tx1"/>
              </a:solidFill>
              <a:latin typeface="楷体_GB2312" pitchFamily="49" charset="-122"/>
              <a:ea typeface="楷体_GB2312" pitchFamily="49" charset="-122"/>
            </a:endParaRPr>
          </a:p>
          <a:p>
            <a:pPr eaLnBrk="1" hangingPunct="1"/>
            <a:r>
              <a:rPr lang="en-US" altLang="zh-CN" sz="3200" dirty="0">
                <a:solidFill>
                  <a:schemeClr val="tx1"/>
                </a:solidFill>
                <a:latin typeface="楷体_GB2312" pitchFamily="49" charset="-122"/>
                <a:ea typeface="楷体_GB2312" pitchFamily="49" charset="-122"/>
              </a:rPr>
              <a:t>(</a:t>
            </a:r>
            <a:r>
              <a:rPr lang="zh-CN" altLang="en-US" sz="3200" dirty="0">
                <a:solidFill>
                  <a:schemeClr val="tx1"/>
                </a:solidFill>
                <a:latin typeface="楷体_GB2312" pitchFamily="49" charset="-122"/>
                <a:ea typeface="楷体_GB2312" pitchFamily="49" charset="-122"/>
              </a:rPr>
              <a:t>一个前驱、</a:t>
            </a:r>
            <a:endParaRPr lang="zh-CN" altLang="en-US" sz="3200" dirty="0">
              <a:solidFill>
                <a:schemeClr val="tx1"/>
              </a:solidFill>
              <a:latin typeface="楷体_GB2312" pitchFamily="49" charset="-122"/>
              <a:ea typeface="楷体_GB2312" pitchFamily="49" charset="-122"/>
            </a:endParaRPr>
          </a:p>
          <a:p>
            <a:pPr eaLnBrk="1" hangingPunct="1"/>
            <a:r>
              <a:rPr lang="zh-CN" altLang="en-US" sz="3200" dirty="0">
                <a:solidFill>
                  <a:schemeClr val="tx1"/>
                </a:solidFill>
                <a:latin typeface="楷体_GB2312" pitchFamily="49" charset="-122"/>
                <a:ea typeface="楷体_GB2312" pitchFamily="49" charset="-122"/>
              </a:rPr>
              <a:t>    多个后继</a:t>
            </a:r>
            <a:r>
              <a:rPr lang="en-US" altLang="zh-CN" sz="3200" dirty="0">
                <a:solidFill>
                  <a:schemeClr val="tx1"/>
                </a:solidFill>
                <a:latin typeface="楷体_GB2312" pitchFamily="49" charset="-122"/>
                <a:ea typeface="楷体_GB2312" pitchFamily="49" charset="-122"/>
              </a:rPr>
              <a:t>)</a:t>
            </a:r>
            <a:endParaRPr lang="en-US" altLang="zh-CN" sz="3200" dirty="0">
              <a:solidFill>
                <a:schemeClr val="tx1"/>
              </a:solidFill>
              <a:latin typeface="楷体_GB2312" pitchFamily="49" charset="-122"/>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71015"/>
                                        </p:tgtEl>
                                        <p:attrNameLst>
                                          <p:attrName>style.visibility</p:attrName>
                                        </p:attrNameLst>
                                      </p:cBhvr>
                                      <p:to>
                                        <p:strVal val="visible"/>
                                      </p:to>
                                    </p:set>
                                    <p:animEffect transition="in" filter="wipe(left)">
                                      <p:cBhvr>
                                        <p:cTn id="7" dur="300"/>
                                        <p:tgtEl>
                                          <p:spTgt spid="1710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71016"/>
                                        </p:tgtEl>
                                        <p:attrNameLst>
                                          <p:attrName>style.visibility</p:attrName>
                                        </p:attrNameLst>
                                      </p:cBhvr>
                                      <p:to>
                                        <p:strVal val="visible"/>
                                      </p:to>
                                    </p:set>
                                    <p:animEffect transition="in" filter="wipe(left)">
                                      <p:cBhvr>
                                        <p:cTn id="12" dur="300"/>
                                        <p:tgtEl>
                                          <p:spTgt spid="1710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71017"/>
                                        </p:tgtEl>
                                        <p:attrNameLst>
                                          <p:attrName>style.visibility</p:attrName>
                                        </p:attrNameLst>
                                      </p:cBhvr>
                                      <p:to>
                                        <p:strVal val="visible"/>
                                      </p:to>
                                    </p:set>
                                    <p:animEffect transition="in" filter="wipe(left)">
                                      <p:cBhvr>
                                        <p:cTn id="17" dur="300"/>
                                        <p:tgtEl>
                                          <p:spTgt spid="1710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71018"/>
                                        </p:tgtEl>
                                        <p:attrNameLst>
                                          <p:attrName>style.visibility</p:attrName>
                                        </p:attrNameLst>
                                      </p:cBhvr>
                                      <p:to>
                                        <p:strVal val="visible"/>
                                      </p:to>
                                    </p:set>
                                    <p:animEffect transition="in" filter="wipe(left)">
                                      <p:cBhvr>
                                        <p:cTn id="22" dur="300"/>
                                        <p:tgtEl>
                                          <p:spTgt spid="1710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71019"/>
                                        </p:tgtEl>
                                        <p:attrNameLst>
                                          <p:attrName>style.visibility</p:attrName>
                                        </p:attrNameLst>
                                      </p:cBhvr>
                                      <p:to>
                                        <p:strVal val="visible"/>
                                      </p:to>
                                    </p:set>
                                    <p:animEffect transition="in" filter="wipe(left)">
                                      <p:cBhvr>
                                        <p:cTn id="27" dur="300"/>
                                        <p:tgtEl>
                                          <p:spTgt spid="1710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71020"/>
                                        </p:tgtEl>
                                        <p:attrNameLst>
                                          <p:attrName>style.visibility</p:attrName>
                                        </p:attrNameLst>
                                      </p:cBhvr>
                                      <p:to>
                                        <p:strVal val="visible"/>
                                      </p:to>
                                    </p:set>
                                    <p:animEffect transition="in" filter="wipe(left)">
                                      <p:cBhvr>
                                        <p:cTn id="32" dur="300"/>
                                        <p:tgtEl>
                                          <p:spTgt spid="171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5" grpId="0"/>
      <p:bldP spid="171016" grpId="0"/>
      <p:bldP spid="171017" grpId="0"/>
      <p:bldP spid="171018" grpId="0"/>
      <p:bldP spid="171019" grpId="0"/>
      <p:bldP spid="1710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53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基本术语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55395" name="Rectangle 3"/>
          <p:cNvSpPr>
            <a:spLocks noGrp="1" noChangeArrowheads="1"/>
          </p:cNvSpPr>
          <p:nvPr>
            <p:ph idx="1"/>
          </p:nvPr>
        </p:nvSpPr>
        <p:spPr>
          <a:xfrm>
            <a:off x="566738" y="1752600"/>
            <a:ext cx="4725988" cy="4267200"/>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结点（</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node</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：包含一个数据元素及若干指向其子树的分支</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结点的度（</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degree</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：结点拥有的子树数</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叶子（</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leaf</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）或终端结点</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：度为</a:t>
            </a:r>
            <a:r>
              <a:rPr kumimoji="0" lang="en-US" altLang="zh-CN"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0</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的结点</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分支结点或非终端结点</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：度非</a:t>
            </a:r>
            <a:r>
              <a:rPr kumimoji="0" lang="en-US" altLang="zh-CN"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0</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的结点</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根：</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根结点</a:t>
            </a:r>
            <a:endPar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内部结点：</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除根之外的分支结点或非终端结点。</a:t>
            </a:r>
            <a:endPar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树的度</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：树内各结点的度的最大值</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结点的孩子（</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child</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）和双亲（</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parent</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：结点的子树的根称为该结点的孩子；相应的，该结点称为孩子的双亲</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endParaRPr kumimoji="0" lang="en-US" altLang="zh-CN"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24580" name="20 1"/>
          <p:cNvPicPr>
            <a:picLocks noChangeAspect="1"/>
          </p:cNvPicPr>
          <p:nvPr/>
        </p:nvPicPr>
        <p:blipFill>
          <a:blip r:embed="rId1"/>
          <a:stretch>
            <a:fillRect/>
          </a:stretch>
        </p:blipFill>
        <p:spPr>
          <a:xfrm>
            <a:off x="5364163" y="2205038"/>
            <a:ext cx="3429000" cy="2332037"/>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53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基本术语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55395" name="Rectangle 3"/>
          <p:cNvSpPr>
            <a:spLocks noGrp="1" noChangeArrowheads="1"/>
          </p:cNvSpPr>
          <p:nvPr>
            <p:ph idx="1"/>
          </p:nvPr>
        </p:nvSpPr>
        <p:spPr>
          <a:xfrm>
            <a:off x="566738" y="1752600"/>
            <a:ext cx="4725988" cy="4267200"/>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兄弟（</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sibling</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：同一个双亲的孩子互称兄弟</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结点的祖先（</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ancestor</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：从根结点到该结点所经分支上的所有结点；反之，以某结点为根的子树中的任一结点都称为该结点的</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子孙（</a:t>
            </a:r>
            <a:r>
              <a:rPr kumimoji="0" lang="en-US"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descenstor</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endPar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层次（</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level</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endPar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堂兄弟：</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双亲在同一层次的结点互为堂兄弟</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树的深度（</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depth</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）或高度：</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最大层次</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森林（</a:t>
            </a:r>
            <a:r>
              <a:rPr kumimoji="0" lang="en-US" altLang="zh-CN"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forest</a:t>
            </a:r>
            <a:r>
              <a:rPr kumimoji="0" lang="zh-CN" altLang="en-US" sz="1500" b="0"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a:t>
            </a:r>
            <a:r>
              <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：互不相交的树的集合</a:t>
            </a:r>
            <a:endParaRPr kumimoji="0" lang="zh-CN" altLang="en-US"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o"/>
              <a:defRPr/>
            </a:pPr>
            <a:endParaRPr kumimoji="0" lang="en-US" altLang="zh-CN" sz="15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25604" name="20 1"/>
          <p:cNvPicPr>
            <a:picLocks noChangeAspect="1"/>
          </p:cNvPicPr>
          <p:nvPr/>
        </p:nvPicPr>
        <p:blipFill>
          <a:blip r:embed="rId1"/>
          <a:stretch>
            <a:fillRect/>
          </a:stretch>
        </p:blipFill>
        <p:spPr>
          <a:xfrm>
            <a:off x="5148263" y="2205038"/>
            <a:ext cx="3727450" cy="2535237"/>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树表示</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9683" name="Rectangle 3"/>
          <p:cNvSpPr>
            <a:spLocks noGrp="1" noChangeArrowheads="1"/>
          </p:cNvSpPr>
          <p:nvPr>
            <p:ph idx="1"/>
          </p:nvPr>
        </p:nvSpPr>
        <p:spPr>
          <a:xfrm>
            <a:off x="566738" y="1752600"/>
            <a:ext cx="2276475" cy="419735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嵌套集合</a:t>
            </a:r>
            <a:endPar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广义表</a:t>
            </a:r>
            <a:endPar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凹入表示</a:t>
            </a:r>
            <a:endPar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26628" name="20 1"/>
          <p:cNvPicPr>
            <a:picLocks noChangeAspect="1"/>
          </p:cNvPicPr>
          <p:nvPr>
            <p:custDataLst>
              <p:tags r:id="rId1"/>
            </p:custDataLst>
          </p:nvPr>
        </p:nvPicPr>
        <p:blipFill>
          <a:blip r:embed="rId2"/>
          <a:stretch>
            <a:fillRect/>
          </a:stretch>
        </p:blipFill>
        <p:spPr>
          <a:xfrm>
            <a:off x="3400425" y="1854200"/>
            <a:ext cx="5122863" cy="4022725"/>
          </a:xfrm>
          <a:prstGeom prst="rect">
            <a:avLst/>
          </a:prstGeom>
          <a:noFill/>
          <a:ln w="9525">
            <a:noFill/>
          </a:ln>
        </p:spPr>
      </p:pic>
      <p:pic>
        <p:nvPicPr>
          <p:cNvPr id="26629" name="20 1"/>
          <p:cNvPicPr>
            <a:picLocks noChangeAspect="1"/>
          </p:cNvPicPr>
          <p:nvPr/>
        </p:nvPicPr>
        <p:blipFill>
          <a:blip r:embed="rId3"/>
          <a:stretch>
            <a:fillRect/>
          </a:stretch>
        </p:blipFill>
        <p:spPr>
          <a:xfrm>
            <a:off x="466725" y="3644900"/>
            <a:ext cx="2633663" cy="197167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650" name="Oval 2"/>
          <p:cNvSpPr/>
          <p:nvPr/>
        </p:nvSpPr>
        <p:spPr>
          <a:xfrm>
            <a:off x="4038600" y="304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FF0000"/>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27651" name="Oval 3"/>
          <p:cNvSpPr/>
          <p:nvPr/>
        </p:nvSpPr>
        <p:spPr>
          <a:xfrm>
            <a:off x="1600200" y="15240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9C4E00"/>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27652" name="Oval 4"/>
          <p:cNvSpPr/>
          <p:nvPr/>
        </p:nvSpPr>
        <p:spPr>
          <a:xfrm>
            <a:off x="4038600" y="1447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6600CC"/>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27653" name="Oval 5"/>
          <p:cNvSpPr/>
          <p:nvPr/>
        </p:nvSpPr>
        <p:spPr>
          <a:xfrm>
            <a:off x="6477000" y="1447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27654" name="Oval 6"/>
          <p:cNvSpPr/>
          <p:nvPr/>
        </p:nvSpPr>
        <p:spPr>
          <a:xfrm>
            <a:off x="609600" y="2590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9C4E00"/>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27655" name="Oval 7"/>
          <p:cNvSpPr/>
          <p:nvPr/>
        </p:nvSpPr>
        <p:spPr>
          <a:xfrm>
            <a:off x="2590800" y="2590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9C4E00"/>
                </a:solidFill>
                <a:latin typeface="Times New Roman" panose="02020603050405020304" pitchFamily="18" charset="0"/>
              </a:rPr>
              <a:t>F</a:t>
            </a:r>
            <a:endParaRPr lang="en-US" altLang="zh-CN" sz="2400" b="0" dirty="0">
              <a:solidFill>
                <a:schemeClr val="tx1"/>
              </a:solidFill>
              <a:latin typeface="Times New Roman" panose="02020603050405020304" pitchFamily="18" charset="0"/>
            </a:endParaRPr>
          </a:p>
        </p:txBody>
      </p:sp>
      <p:sp>
        <p:nvSpPr>
          <p:cNvPr id="27656" name="Oval 8"/>
          <p:cNvSpPr/>
          <p:nvPr/>
        </p:nvSpPr>
        <p:spPr>
          <a:xfrm>
            <a:off x="4038600" y="2590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6600CC"/>
                </a:solidFill>
                <a:latin typeface="Times New Roman" panose="02020603050405020304" pitchFamily="18" charset="0"/>
              </a:rPr>
              <a:t>G</a:t>
            </a:r>
            <a:endParaRPr lang="en-US" altLang="zh-CN" sz="2400" b="0" dirty="0">
              <a:solidFill>
                <a:schemeClr val="tx1"/>
              </a:solidFill>
              <a:latin typeface="Times New Roman" panose="02020603050405020304" pitchFamily="18" charset="0"/>
            </a:endParaRPr>
          </a:p>
        </p:txBody>
      </p:sp>
      <p:sp>
        <p:nvSpPr>
          <p:cNvPr id="27657" name="Oval 9"/>
          <p:cNvSpPr/>
          <p:nvPr/>
        </p:nvSpPr>
        <p:spPr>
          <a:xfrm>
            <a:off x="5257800" y="2590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tx1"/>
                </a:solidFill>
                <a:latin typeface="Times New Roman" panose="02020603050405020304" pitchFamily="18" charset="0"/>
              </a:rPr>
              <a:t>H</a:t>
            </a:r>
            <a:endParaRPr lang="en-US" altLang="zh-CN" sz="2400" b="0" dirty="0">
              <a:solidFill>
                <a:schemeClr val="tx1"/>
              </a:solidFill>
              <a:latin typeface="Times New Roman" panose="02020603050405020304" pitchFamily="18" charset="0"/>
            </a:endParaRPr>
          </a:p>
        </p:txBody>
      </p:sp>
      <p:sp>
        <p:nvSpPr>
          <p:cNvPr id="27658" name="Oval 10"/>
          <p:cNvSpPr/>
          <p:nvPr/>
        </p:nvSpPr>
        <p:spPr>
          <a:xfrm>
            <a:off x="6477000" y="2590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tx1"/>
                </a:solidFill>
                <a:latin typeface="Times New Roman" panose="02020603050405020304" pitchFamily="18" charset="0"/>
              </a:rPr>
              <a:t>I</a:t>
            </a:r>
            <a:endParaRPr lang="en-US" altLang="zh-CN" sz="2400" b="0" dirty="0">
              <a:solidFill>
                <a:schemeClr val="tx1"/>
              </a:solidFill>
              <a:latin typeface="Times New Roman" panose="02020603050405020304" pitchFamily="18" charset="0"/>
            </a:endParaRPr>
          </a:p>
        </p:txBody>
      </p:sp>
      <p:sp>
        <p:nvSpPr>
          <p:cNvPr id="27659" name="Oval 11"/>
          <p:cNvSpPr/>
          <p:nvPr/>
        </p:nvSpPr>
        <p:spPr>
          <a:xfrm>
            <a:off x="7696200" y="2590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tx1"/>
                </a:solidFill>
                <a:latin typeface="Times New Roman" panose="02020603050405020304" pitchFamily="18" charset="0"/>
              </a:rPr>
              <a:t>J</a:t>
            </a:r>
            <a:endParaRPr lang="en-US" altLang="zh-CN" sz="2400" b="0" dirty="0">
              <a:solidFill>
                <a:schemeClr val="tx1"/>
              </a:solidFill>
              <a:latin typeface="Times New Roman" panose="02020603050405020304" pitchFamily="18" charset="0"/>
            </a:endParaRPr>
          </a:p>
        </p:txBody>
      </p:sp>
      <p:sp>
        <p:nvSpPr>
          <p:cNvPr id="27660" name="Oval 12"/>
          <p:cNvSpPr/>
          <p:nvPr/>
        </p:nvSpPr>
        <p:spPr>
          <a:xfrm>
            <a:off x="7696200" y="3733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tx1"/>
                </a:solidFill>
                <a:latin typeface="Times New Roman" panose="02020603050405020304" pitchFamily="18" charset="0"/>
              </a:rPr>
              <a:t>M</a:t>
            </a:r>
            <a:endParaRPr lang="en-US" altLang="zh-CN" sz="2400" b="0" dirty="0">
              <a:solidFill>
                <a:schemeClr val="tx1"/>
              </a:solidFill>
              <a:latin typeface="Times New Roman" panose="02020603050405020304" pitchFamily="18" charset="0"/>
            </a:endParaRPr>
          </a:p>
        </p:txBody>
      </p:sp>
      <p:sp>
        <p:nvSpPr>
          <p:cNvPr id="27661" name="Oval 13"/>
          <p:cNvSpPr/>
          <p:nvPr/>
        </p:nvSpPr>
        <p:spPr>
          <a:xfrm>
            <a:off x="1752600" y="3733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9C4E00"/>
                </a:solidFill>
                <a:latin typeface="Times New Roman" panose="02020603050405020304" pitchFamily="18" charset="0"/>
              </a:rPr>
              <a:t>K</a:t>
            </a:r>
            <a:endParaRPr lang="en-US" altLang="zh-CN" sz="2400" b="0" dirty="0">
              <a:solidFill>
                <a:schemeClr val="tx1"/>
              </a:solidFill>
              <a:latin typeface="Times New Roman" panose="02020603050405020304" pitchFamily="18" charset="0"/>
            </a:endParaRPr>
          </a:p>
        </p:txBody>
      </p:sp>
      <p:sp>
        <p:nvSpPr>
          <p:cNvPr id="27662" name="Oval 14"/>
          <p:cNvSpPr/>
          <p:nvPr/>
        </p:nvSpPr>
        <p:spPr>
          <a:xfrm>
            <a:off x="3429000" y="3733800"/>
            <a:ext cx="609600" cy="6096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9C4E00"/>
                </a:solidFill>
                <a:latin typeface="Times New Roman" panose="02020603050405020304" pitchFamily="18" charset="0"/>
              </a:rPr>
              <a:t>L</a:t>
            </a:r>
            <a:endParaRPr lang="en-US" altLang="zh-CN" sz="2400" b="0" dirty="0">
              <a:solidFill>
                <a:schemeClr val="tx1"/>
              </a:solidFill>
              <a:latin typeface="Times New Roman" panose="02020603050405020304" pitchFamily="18" charset="0"/>
            </a:endParaRPr>
          </a:p>
        </p:txBody>
      </p:sp>
      <p:sp>
        <p:nvSpPr>
          <p:cNvPr id="280591" name="Line 15"/>
          <p:cNvSpPr>
            <a:spLocks noChangeShapeType="1"/>
          </p:cNvSpPr>
          <p:nvPr/>
        </p:nvSpPr>
        <p:spPr bwMode="auto">
          <a:xfrm>
            <a:off x="4343400" y="914400"/>
            <a:ext cx="0" cy="533400"/>
          </a:xfrm>
          <a:prstGeom prst="line">
            <a:avLst/>
          </a:prstGeom>
          <a:noFill/>
          <a:ln w="38100" cap="sq">
            <a:solidFill>
              <a:srgbClr val="58001D"/>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2" name="Line 16"/>
          <p:cNvSpPr>
            <a:spLocks noChangeShapeType="1"/>
          </p:cNvSpPr>
          <p:nvPr/>
        </p:nvSpPr>
        <p:spPr bwMode="auto">
          <a:xfrm>
            <a:off x="4343400" y="2057400"/>
            <a:ext cx="0" cy="533400"/>
          </a:xfrm>
          <a:prstGeom prst="line">
            <a:avLst/>
          </a:prstGeom>
          <a:noFill/>
          <a:ln w="38100" cap="sq">
            <a:solidFill>
              <a:srgbClr val="58001D"/>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3" name="Line 17"/>
          <p:cNvSpPr>
            <a:spLocks noChangeShapeType="1"/>
          </p:cNvSpPr>
          <p:nvPr/>
        </p:nvSpPr>
        <p:spPr bwMode="auto">
          <a:xfrm>
            <a:off x="6781800" y="2057400"/>
            <a:ext cx="0" cy="533400"/>
          </a:xfrm>
          <a:prstGeom prst="line">
            <a:avLst/>
          </a:prstGeom>
          <a:noFill/>
          <a:ln w="38100" cap="sq">
            <a:solidFill>
              <a:srgbClr val="58001D"/>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4" name="Line 18"/>
          <p:cNvSpPr>
            <a:spLocks noChangeShapeType="1"/>
          </p:cNvSpPr>
          <p:nvPr/>
        </p:nvSpPr>
        <p:spPr bwMode="auto">
          <a:xfrm>
            <a:off x="8001000" y="3200400"/>
            <a:ext cx="0" cy="533400"/>
          </a:xfrm>
          <a:prstGeom prst="line">
            <a:avLst/>
          </a:prstGeom>
          <a:noFill/>
          <a:ln w="38100" cap="sq">
            <a:solidFill>
              <a:srgbClr val="58001D"/>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5" name="Line 19"/>
          <p:cNvSpPr>
            <a:spLocks noChangeShapeType="1"/>
          </p:cNvSpPr>
          <p:nvPr/>
        </p:nvSpPr>
        <p:spPr bwMode="auto">
          <a:xfrm flipH="1">
            <a:off x="5562600" y="1752600"/>
            <a:ext cx="914400" cy="8382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6" name="Line 20"/>
          <p:cNvSpPr>
            <a:spLocks noChangeShapeType="1"/>
          </p:cNvSpPr>
          <p:nvPr/>
        </p:nvSpPr>
        <p:spPr bwMode="auto">
          <a:xfrm>
            <a:off x="7086600" y="1752600"/>
            <a:ext cx="914400" cy="8382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7" name="Line 21"/>
          <p:cNvSpPr>
            <a:spLocks noChangeShapeType="1"/>
          </p:cNvSpPr>
          <p:nvPr/>
        </p:nvSpPr>
        <p:spPr bwMode="auto">
          <a:xfrm>
            <a:off x="4648200" y="609600"/>
            <a:ext cx="2133600" cy="8382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8" name="Line 22"/>
          <p:cNvSpPr>
            <a:spLocks noChangeShapeType="1"/>
          </p:cNvSpPr>
          <p:nvPr/>
        </p:nvSpPr>
        <p:spPr bwMode="auto">
          <a:xfrm flipH="1">
            <a:off x="914400" y="1828800"/>
            <a:ext cx="685800" cy="7620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599" name="Line 23"/>
          <p:cNvSpPr>
            <a:spLocks noChangeShapeType="1"/>
          </p:cNvSpPr>
          <p:nvPr/>
        </p:nvSpPr>
        <p:spPr bwMode="auto">
          <a:xfrm>
            <a:off x="2209800" y="1828800"/>
            <a:ext cx="685800" cy="7620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600" name="Line 24"/>
          <p:cNvSpPr>
            <a:spLocks noChangeShapeType="1"/>
          </p:cNvSpPr>
          <p:nvPr/>
        </p:nvSpPr>
        <p:spPr bwMode="auto">
          <a:xfrm flipH="1">
            <a:off x="2057400" y="2895600"/>
            <a:ext cx="533400" cy="8382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601" name="Line 25"/>
          <p:cNvSpPr>
            <a:spLocks noChangeShapeType="1"/>
          </p:cNvSpPr>
          <p:nvPr/>
        </p:nvSpPr>
        <p:spPr bwMode="auto">
          <a:xfrm>
            <a:off x="3200400" y="2895600"/>
            <a:ext cx="533400" cy="8382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602" name="Line 26"/>
          <p:cNvSpPr>
            <a:spLocks noChangeShapeType="1"/>
          </p:cNvSpPr>
          <p:nvPr/>
        </p:nvSpPr>
        <p:spPr bwMode="auto">
          <a:xfrm flipH="1">
            <a:off x="1905000" y="609600"/>
            <a:ext cx="2133600" cy="914400"/>
          </a:xfrm>
          <a:prstGeom prst="line">
            <a:avLst/>
          </a:prstGeom>
          <a:noFill/>
          <a:ln w="38100" cap="sq">
            <a:solidFill>
              <a:schemeClr val="tx1"/>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7675" name="Text Box 27"/>
          <p:cNvSpPr txBox="1"/>
          <p:nvPr/>
        </p:nvSpPr>
        <p:spPr>
          <a:xfrm>
            <a:off x="449263" y="4800600"/>
            <a:ext cx="8510587" cy="701675"/>
          </a:xfrm>
          <a:prstGeom prst="rect">
            <a:avLst/>
          </a:prstGeom>
          <a:noFill/>
          <a:ln w="12700">
            <a:noFill/>
          </a:ln>
        </p:spPr>
        <p:txBody>
          <a:bodyPr wrap="none">
            <a:spAutoFit/>
          </a:bodyPr>
          <a:p>
            <a:pPr eaLnBrk="1" hangingPunct="1"/>
            <a:r>
              <a:rPr lang="en-US" altLang="zh-CN" sz="4000" dirty="0">
                <a:solidFill>
                  <a:srgbClr val="FF0000"/>
                </a:solidFill>
                <a:latin typeface="Times New Roman" panose="02020603050405020304" pitchFamily="18" charset="0"/>
              </a:rPr>
              <a:t>A(                                                            )</a:t>
            </a:r>
            <a:endParaRPr lang="en-US" altLang="zh-CN" sz="2400" b="0" dirty="0">
              <a:solidFill>
                <a:schemeClr val="tx1"/>
              </a:solidFill>
              <a:latin typeface="Times New Roman" panose="02020603050405020304" pitchFamily="18" charset="0"/>
            </a:endParaRPr>
          </a:p>
        </p:txBody>
      </p:sp>
      <p:grpSp>
        <p:nvGrpSpPr>
          <p:cNvPr id="2" name="Group 28"/>
          <p:cNvGrpSpPr/>
          <p:nvPr/>
        </p:nvGrpSpPr>
        <p:grpSpPr>
          <a:xfrm>
            <a:off x="1211263" y="5349875"/>
            <a:ext cx="2820987" cy="1082675"/>
            <a:chOff x="763" y="3370"/>
            <a:chExt cx="1777" cy="682"/>
          </a:xfrm>
        </p:grpSpPr>
        <p:sp>
          <p:nvSpPr>
            <p:cNvPr id="280605" name="AutoShape 29"/>
            <p:cNvSpPr/>
            <p:nvPr/>
          </p:nvSpPr>
          <p:spPr bwMode="auto">
            <a:xfrm rot="16153499">
              <a:off x="1482" y="2610"/>
              <a:ext cx="296" cy="1777"/>
            </a:xfrm>
            <a:prstGeom prst="leftBrace">
              <a:avLst>
                <a:gd name="adj1" fmla="val 50028"/>
                <a:gd name="adj2" fmla="val 50000"/>
              </a:avLst>
            </a:prstGeom>
            <a:noFill/>
            <a:ln w="38100" cap="sq">
              <a:solidFill>
                <a:srgbClr val="804000"/>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7690" name="Text Box 30"/>
            <p:cNvSpPr txBox="1"/>
            <p:nvPr/>
          </p:nvSpPr>
          <p:spPr>
            <a:xfrm>
              <a:off x="1497" y="3610"/>
              <a:ext cx="514" cy="442"/>
            </a:xfrm>
            <a:prstGeom prst="rect">
              <a:avLst/>
            </a:prstGeom>
            <a:noFill/>
            <a:ln w="12700">
              <a:noFill/>
            </a:ln>
          </p:spPr>
          <p:txBody>
            <a:bodyPr>
              <a:spAutoFit/>
            </a:bodyPr>
            <a:p>
              <a:pPr eaLnBrk="1" hangingPunct="1">
                <a:spcBef>
                  <a:spcPct val="50000"/>
                </a:spcBef>
              </a:pPr>
              <a:r>
                <a:rPr lang="en-US" altLang="zh-CN" sz="4000" dirty="0">
                  <a:solidFill>
                    <a:srgbClr val="9C4E00"/>
                  </a:solidFill>
                  <a:latin typeface="Times New Roman" panose="02020603050405020304" pitchFamily="18" charset="0"/>
                </a:rPr>
                <a:t>T</a:t>
              </a:r>
              <a:r>
                <a:rPr lang="en-US" altLang="zh-CN" sz="4000" baseline="-25000" dirty="0">
                  <a:solidFill>
                    <a:srgbClr val="9C4E00"/>
                  </a:solidFill>
                  <a:latin typeface="Times New Roman" panose="02020603050405020304" pitchFamily="18" charset="0"/>
                </a:rPr>
                <a:t>1</a:t>
              </a:r>
              <a:endParaRPr lang="en-US" altLang="zh-CN" sz="2400" b="0" dirty="0">
                <a:solidFill>
                  <a:schemeClr val="tx1"/>
                </a:solidFill>
                <a:latin typeface="Times New Roman" panose="02020603050405020304" pitchFamily="18" charset="0"/>
              </a:endParaRPr>
            </a:p>
          </p:txBody>
        </p:sp>
      </p:grpSp>
      <p:grpSp>
        <p:nvGrpSpPr>
          <p:cNvPr id="3" name="Group 31"/>
          <p:cNvGrpSpPr/>
          <p:nvPr/>
        </p:nvGrpSpPr>
        <p:grpSpPr>
          <a:xfrm>
            <a:off x="5707063" y="5349875"/>
            <a:ext cx="2820987" cy="1082675"/>
            <a:chOff x="3595" y="3370"/>
            <a:chExt cx="1777" cy="682"/>
          </a:xfrm>
        </p:grpSpPr>
        <p:sp>
          <p:nvSpPr>
            <p:cNvPr id="280608" name="AutoShape 32"/>
            <p:cNvSpPr/>
            <p:nvPr/>
          </p:nvSpPr>
          <p:spPr bwMode="auto">
            <a:xfrm rot="16153499">
              <a:off x="4314" y="2610"/>
              <a:ext cx="296" cy="1777"/>
            </a:xfrm>
            <a:prstGeom prst="leftBrace">
              <a:avLst>
                <a:gd name="adj1" fmla="val 50028"/>
                <a:gd name="adj2" fmla="val 50000"/>
              </a:avLst>
            </a:prstGeom>
            <a:noFill/>
            <a:ln w="38100" cap="sq">
              <a:solidFill>
                <a:schemeClr val="bg2"/>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7688" name="Text Box 33"/>
            <p:cNvSpPr txBox="1"/>
            <p:nvPr/>
          </p:nvSpPr>
          <p:spPr>
            <a:xfrm>
              <a:off x="4363" y="3610"/>
              <a:ext cx="514" cy="442"/>
            </a:xfrm>
            <a:prstGeom prst="rect">
              <a:avLst/>
            </a:prstGeom>
            <a:noFill/>
            <a:ln w="12700">
              <a:noFill/>
            </a:ln>
          </p:spPr>
          <p:txBody>
            <a:bodyPr>
              <a:spAutoFit/>
            </a:bodyPr>
            <a:p>
              <a:pPr eaLnBrk="1" hangingPunct="1">
                <a:spcBef>
                  <a:spcPct val="50000"/>
                </a:spcBef>
              </a:pPr>
              <a:r>
                <a:rPr lang="en-US" altLang="zh-CN" sz="4000" dirty="0">
                  <a:solidFill>
                    <a:schemeClr val="tx1"/>
                  </a:solidFill>
                  <a:latin typeface="Times New Roman" panose="02020603050405020304" pitchFamily="18" charset="0"/>
                </a:rPr>
                <a:t>T</a:t>
              </a:r>
              <a:r>
                <a:rPr lang="en-US" altLang="zh-CN" sz="4000" baseline="-25000" dirty="0">
                  <a:solidFill>
                    <a:schemeClr val="tx1"/>
                  </a:solidFill>
                  <a:latin typeface="Times New Roman" panose="02020603050405020304" pitchFamily="18" charset="0"/>
                </a:rPr>
                <a:t>3</a:t>
              </a:r>
              <a:endParaRPr lang="en-US" altLang="zh-CN" sz="2400" b="0" dirty="0">
                <a:solidFill>
                  <a:schemeClr val="tx1"/>
                </a:solidFill>
                <a:latin typeface="Times New Roman" panose="02020603050405020304" pitchFamily="18" charset="0"/>
              </a:endParaRPr>
            </a:p>
          </p:txBody>
        </p:sp>
      </p:grpSp>
      <p:grpSp>
        <p:nvGrpSpPr>
          <p:cNvPr id="4" name="Group 34"/>
          <p:cNvGrpSpPr/>
          <p:nvPr/>
        </p:nvGrpSpPr>
        <p:grpSpPr>
          <a:xfrm>
            <a:off x="4410075" y="5349875"/>
            <a:ext cx="1198563" cy="1082675"/>
            <a:chOff x="2778" y="3370"/>
            <a:chExt cx="755" cy="682"/>
          </a:xfrm>
        </p:grpSpPr>
        <p:sp>
          <p:nvSpPr>
            <p:cNvPr id="280611" name="AutoShape 35"/>
            <p:cNvSpPr/>
            <p:nvPr/>
          </p:nvSpPr>
          <p:spPr bwMode="auto">
            <a:xfrm rot="16153499">
              <a:off x="2970" y="3138"/>
              <a:ext cx="296" cy="721"/>
            </a:xfrm>
            <a:prstGeom prst="leftBrace">
              <a:avLst>
                <a:gd name="adj1" fmla="val 20298"/>
                <a:gd name="adj2" fmla="val 50000"/>
              </a:avLst>
            </a:prstGeom>
            <a:noFill/>
            <a:ln w="38100" cap="sq">
              <a:solidFill>
                <a:srgbClr val="6600CC"/>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7686" name="Text Box 36"/>
            <p:cNvSpPr txBox="1"/>
            <p:nvPr/>
          </p:nvSpPr>
          <p:spPr>
            <a:xfrm>
              <a:off x="3019" y="3610"/>
              <a:ext cx="514" cy="442"/>
            </a:xfrm>
            <a:prstGeom prst="rect">
              <a:avLst/>
            </a:prstGeom>
            <a:noFill/>
            <a:ln w="12700">
              <a:noFill/>
            </a:ln>
          </p:spPr>
          <p:txBody>
            <a:bodyPr>
              <a:spAutoFit/>
            </a:bodyPr>
            <a:p>
              <a:pPr eaLnBrk="1" hangingPunct="1">
                <a:spcBef>
                  <a:spcPct val="50000"/>
                </a:spcBef>
              </a:pPr>
              <a:r>
                <a:rPr lang="en-US" altLang="zh-CN" sz="4000" dirty="0">
                  <a:solidFill>
                    <a:srgbClr val="6600CC"/>
                  </a:solidFill>
                  <a:latin typeface="Times New Roman" panose="02020603050405020304" pitchFamily="18" charset="0"/>
                </a:rPr>
                <a:t>T</a:t>
              </a:r>
              <a:r>
                <a:rPr lang="en-US" altLang="zh-CN" sz="4000" baseline="-25000" dirty="0">
                  <a:solidFill>
                    <a:srgbClr val="6600CC"/>
                  </a:solidFill>
                  <a:latin typeface="Times New Roman" panose="02020603050405020304" pitchFamily="18" charset="0"/>
                </a:rPr>
                <a:t>2</a:t>
              </a:r>
              <a:endParaRPr lang="en-US" altLang="zh-CN" sz="2400" b="0" dirty="0">
                <a:solidFill>
                  <a:schemeClr val="tx1"/>
                </a:solidFill>
                <a:latin typeface="Times New Roman" panose="02020603050405020304" pitchFamily="18" charset="0"/>
              </a:endParaRPr>
            </a:p>
          </p:txBody>
        </p:sp>
      </p:grpSp>
      <p:sp>
        <p:nvSpPr>
          <p:cNvPr id="280613" name="Line 37"/>
          <p:cNvSpPr>
            <a:spLocks noChangeShapeType="1"/>
          </p:cNvSpPr>
          <p:nvPr/>
        </p:nvSpPr>
        <p:spPr bwMode="auto">
          <a:xfrm>
            <a:off x="754063" y="5349875"/>
            <a:ext cx="0" cy="533400"/>
          </a:xfrm>
          <a:prstGeom prst="line">
            <a:avLst/>
          </a:prstGeom>
          <a:noFill/>
          <a:ln w="19050" cap="sq">
            <a:solidFill>
              <a:srgbClr val="FF0000"/>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80614" name="Text Box 38"/>
          <p:cNvSpPr txBox="1"/>
          <p:nvPr/>
        </p:nvSpPr>
        <p:spPr>
          <a:xfrm>
            <a:off x="144463" y="5654675"/>
            <a:ext cx="1200150" cy="701675"/>
          </a:xfrm>
          <a:prstGeom prst="rect">
            <a:avLst/>
          </a:prstGeom>
          <a:noFill/>
          <a:ln w="12700">
            <a:noFill/>
          </a:ln>
        </p:spPr>
        <p:txBody>
          <a:bodyPr wrap="none">
            <a:spAutoFit/>
          </a:bodyPr>
          <a:p>
            <a:pPr eaLnBrk="1" hangingPunct="1"/>
            <a:r>
              <a:rPr lang="zh-CN" altLang="en-US" sz="4000" b="0" dirty="0">
                <a:solidFill>
                  <a:srgbClr val="FF0000"/>
                </a:solidFill>
                <a:latin typeface="Times New Roman" panose="02020603050405020304" pitchFamily="18" charset="0"/>
                <a:ea typeface="隶书" panose="02010509060101010101" pitchFamily="49" charset="-122"/>
              </a:rPr>
              <a:t>树根</a:t>
            </a:r>
            <a:endParaRPr lang="zh-CN" altLang="en-US" sz="2400" b="0" dirty="0">
              <a:solidFill>
                <a:schemeClr val="tx1"/>
              </a:solidFill>
              <a:latin typeface="Times New Roman" panose="02020603050405020304" pitchFamily="18" charset="0"/>
            </a:endParaRPr>
          </a:p>
        </p:txBody>
      </p:sp>
      <p:sp>
        <p:nvSpPr>
          <p:cNvPr id="27681" name="Text Box 39"/>
          <p:cNvSpPr txBox="1"/>
          <p:nvPr/>
        </p:nvSpPr>
        <p:spPr>
          <a:xfrm>
            <a:off x="152400" y="136525"/>
            <a:ext cx="1463675" cy="701675"/>
          </a:xfrm>
          <a:prstGeom prst="rect">
            <a:avLst/>
          </a:prstGeom>
          <a:noFill/>
          <a:ln w="12700">
            <a:noFill/>
          </a:ln>
        </p:spPr>
        <p:txBody>
          <a:bodyPr wrap="none">
            <a:spAutoFit/>
          </a:bodyPr>
          <a:p>
            <a:pPr eaLnBrk="1" hangingPunct="1"/>
            <a:r>
              <a:rPr lang="zh-CN" altLang="en-US" sz="4000" dirty="0">
                <a:solidFill>
                  <a:srgbClr val="9C4E00"/>
                </a:solidFill>
                <a:latin typeface="楷体_GB2312" pitchFamily="49" charset="-122"/>
                <a:ea typeface="楷体_GB2312" pitchFamily="49" charset="-122"/>
              </a:rPr>
              <a:t>例如</a:t>
            </a:r>
            <a:r>
              <a:rPr lang="en-US" altLang="zh-CN" sz="4000" dirty="0">
                <a:solidFill>
                  <a:srgbClr val="9C4E00"/>
                </a:solidFill>
                <a:latin typeface="楷体_GB2312" pitchFamily="49" charset="-122"/>
                <a:ea typeface="楷体_GB2312" pitchFamily="49" charset="-122"/>
              </a:rPr>
              <a:t>:</a:t>
            </a:r>
            <a:endParaRPr lang="en-US" altLang="zh-CN" sz="2400" b="0" dirty="0">
              <a:solidFill>
                <a:schemeClr val="tx1"/>
              </a:solidFill>
              <a:latin typeface="Times New Roman" panose="02020603050405020304" pitchFamily="18" charset="0"/>
            </a:endParaRPr>
          </a:p>
        </p:txBody>
      </p:sp>
      <p:sp>
        <p:nvSpPr>
          <p:cNvPr id="280616" name="Rectangle 40"/>
          <p:cNvSpPr/>
          <p:nvPr/>
        </p:nvSpPr>
        <p:spPr>
          <a:xfrm>
            <a:off x="1104900" y="4800600"/>
            <a:ext cx="3344863" cy="701675"/>
          </a:xfrm>
          <a:prstGeom prst="rect">
            <a:avLst/>
          </a:prstGeom>
          <a:noFill/>
          <a:ln w="12700">
            <a:noFill/>
          </a:ln>
        </p:spPr>
        <p:txBody>
          <a:bodyPr wrap="none">
            <a:spAutoFit/>
          </a:bodyPr>
          <a:p>
            <a:pPr eaLnBrk="1" hangingPunct="1"/>
            <a:r>
              <a:rPr lang="en-US" altLang="zh-CN" sz="4000" dirty="0">
                <a:solidFill>
                  <a:srgbClr val="9C4E00"/>
                </a:solidFill>
                <a:latin typeface="Times New Roman" panose="02020603050405020304" pitchFamily="18" charset="0"/>
              </a:rPr>
              <a:t>B(E, F(K, L)),</a:t>
            </a:r>
            <a:r>
              <a:rPr lang="en-US" altLang="zh-CN" sz="4000" dirty="0">
                <a:solidFill>
                  <a:schemeClr val="tx1"/>
                </a:solidFill>
                <a:latin typeface="Times New Roman" panose="02020603050405020304" pitchFamily="18" charset="0"/>
              </a:rPr>
              <a:t> </a:t>
            </a:r>
            <a:endParaRPr lang="en-US" altLang="zh-CN" sz="4000" dirty="0">
              <a:solidFill>
                <a:schemeClr val="bg2"/>
              </a:solidFill>
              <a:latin typeface="Times New Roman" panose="02020603050405020304" pitchFamily="18" charset="0"/>
            </a:endParaRPr>
          </a:p>
        </p:txBody>
      </p:sp>
      <p:sp>
        <p:nvSpPr>
          <p:cNvPr id="280617" name="Rectangle 41"/>
          <p:cNvSpPr/>
          <p:nvPr/>
        </p:nvSpPr>
        <p:spPr>
          <a:xfrm>
            <a:off x="4265613" y="4800600"/>
            <a:ext cx="1539875" cy="701675"/>
          </a:xfrm>
          <a:prstGeom prst="rect">
            <a:avLst/>
          </a:prstGeom>
          <a:noFill/>
          <a:ln w="12700">
            <a:noFill/>
          </a:ln>
        </p:spPr>
        <p:txBody>
          <a:bodyPr wrap="none">
            <a:spAutoFit/>
          </a:bodyPr>
          <a:p>
            <a:pPr eaLnBrk="1" hangingPunct="1"/>
            <a:r>
              <a:rPr lang="en-US" altLang="zh-CN" sz="4000" dirty="0">
                <a:solidFill>
                  <a:srgbClr val="6600CC"/>
                </a:solidFill>
                <a:latin typeface="Times New Roman" panose="02020603050405020304" pitchFamily="18" charset="0"/>
              </a:rPr>
              <a:t>C(G),</a:t>
            </a:r>
            <a:r>
              <a:rPr lang="en-US" altLang="zh-CN" sz="4000" dirty="0">
                <a:solidFill>
                  <a:schemeClr val="tx1"/>
                </a:solidFill>
                <a:latin typeface="Times New Roman" panose="02020603050405020304" pitchFamily="18" charset="0"/>
              </a:rPr>
              <a:t> </a:t>
            </a:r>
            <a:endParaRPr lang="en-US" altLang="zh-CN" sz="4000" dirty="0">
              <a:solidFill>
                <a:schemeClr val="bg2"/>
              </a:solidFill>
              <a:latin typeface="Times New Roman" panose="02020603050405020304" pitchFamily="18" charset="0"/>
            </a:endParaRPr>
          </a:p>
        </p:txBody>
      </p:sp>
      <p:sp>
        <p:nvSpPr>
          <p:cNvPr id="280618" name="Rectangle 42"/>
          <p:cNvSpPr/>
          <p:nvPr/>
        </p:nvSpPr>
        <p:spPr>
          <a:xfrm>
            <a:off x="5638800" y="4800600"/>
            <a:ext cx="3065463" cy="701675"/>
          </a:xfrm>
          <a:prstGeom prst="rect">
            <a:avLst/>
          </a:prstGeom>
          <a:noFill/>
          <a:ln w="12700">
            <a:noFill/>
          </a:ln>
        </p:spPr>
        <p:txBody>
          <a:bodyPr wrap="none">
            <a:spAutoFit/>
          </a:bodyPr>
          <a:p>
            <a:pPr eaLnBrk="1" hangingPunct="1"/>
            <a:r>
              <a:rPr lang="en-US" altLang="zh-CN" sz="4000" dirty="0">
                <a:solidFill>
                  <a:schemeClr val="tx1"/>
                </a:solidFill>
                <a:latin typeface="Times New Roman" panose="02020603050405020304" pitchFamily="18" charset="0"/>
              </a:rPr>
              <a:t>D(H, I, J(M))</a:t>
            </a:r>
            <a:endParaRPr lang="en-US" altLang="zh-CN" sz="4000" dirty="0">
              <a:solidFill>
                <a:schemeClr val="tx1"/>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0613"/>
                                        </p:tgtEl>
                                        <p:attrNameLst>
                                          <p:attrName>style.visibility</p:attrName>
                                        </p:attrNameLst>
                                      </p:cBhvr>
                                      <p:to>
                                        <p:strVal val="visible"/>
                                      </p:to>
                                    </p:set>
                                    <p:animEffect transition="in" filter="wipe(up)">
                                      <p:cBhvr>
                                        <p:cTn id="7" dur="500"/>
                                        <p:tgtEl>
                                          <p:spTgt spid="2806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0614"/>
                                        </p:tgtEl>
                                        <p:attrNameLst>
                                          <p:attrName>style.visibility</p:attrName>
                                        </p:attrNameLst>
                                      </p:cBhvr>
                                      <p:to>
                                        <p:strVal val="visible"/>
                                      </p:to>
                                    </p:set>
                                    <p:animEffect transition="in" filter="wipe(left)">
                                      <p:cBhvr>
                                        <p:cTn id="12" dur="500"/>
                                        <p:tgtEl>
                                          <p:spTgt spid="2806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0616"/>
                                        </p:tgtEl>
                                        <p:attrNameLst>
                                          <p:attrName>style.visibility</p:attrName>
                                        </p:attrNameLst>
                                      </p:cBhvr>
                                      <p:to>
                                        <p:strVal val="visible"/>
                                      </p:to>
                                    </p:set>
                                    <p:animEffect transition="in" filter="wipe(left)">
                                      <p:cBhvr>
                                        <p:cTn id="17" dur="500"/>
                                        <p:tgtEl>
                                          <p:spTgt spid="2806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0617"/>
                                        </p:tgtEl>
                                        <p:attrNameLst>
                                          <p:attrName>style.visibility</p:attrName>
                                        </p:attrNameLst>
                                      </p:cBhvr>
                                      <p:to>
                                        <p:strVal val="visible"/>
                                      </p:to>
                                    </p:set>
                                    <p:animEffect transition="in" filter="wipe(left)">
                                      <p:cBhvr>
                                        <p:cTn id="27" dur="500"/>
                                        <p:tgtEl>
                                          <p:spTgt spid="2806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0618"/>
                                        </p:tgtEl>
                                        <p:attrNameLst>
                                          <p:attrName>style.visibility</p:attrName>
                                        </p:attrNameLst>
                                      </p:cBhvr>
                                      <p:to>
                                        <p:strVal val="visible"/>
                                      </p:to>
                                    </p:set>
                                    <p:animEffect transition="in" filter="wipe(left)">
                                      <p:cBhvr>
                                        <p:cTn id="37" dur="500"/>
                                        <p:tgtEl>
                                          <p:spTgt spid="2806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up)">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614" grpId="0"/>
      <p:bldP spid="280616" grpId="0"/>
      <p:bldP spid="280617" grpId="0"/>
      <p:bldP spid="2806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课堂练习</a:t>
            </a:r>
            <a:endParaRPr kumimoji="0" 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1731"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、已知一棵树边的集合为</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{&lt;I,M&gt;,&lt;I,N&gt;,&lt;E,I&gt;,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&lt;B,E&gt;,&lt;B,D&gt;,&lt;A,B&gt;,&lt;G,J&gt;,&lt;G,K&gt;,&lt;C,G&gt;,&lt;C,F&gt;,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&lt;H,L&gt;,&lt;C,H&gt;,&lt;A,C&gt;},</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请画出这棵树</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并回答下列</a:t>
            </a:r>
            <a:endPar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问题</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(1)</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哪些是叶子结点</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(2)</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哪些是结点</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G</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的双亲</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(3)</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哪些是结点</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G</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的祖先</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(4)</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哪些是结点</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E</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的子孙</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bg2"/>
              </a:buClr>
              <a:buSzTx/>
              <a:buFont typeface="Monotype Sorts" pitchFamily="2" charset="2"/>
              <a:buNone/>
              <a:defRPr/>
            </a:pP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(5)</a:t>
            </a:r>
            <a:r>
              <a:rPr kumimoji="0" lang="zh-CN" altLang="en-US"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树的深度是多少</a:t>
            </a:r>
            <a:r>
              <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a:t>
            </a:r>
            <a:endParaRPr kumimoji="0" lang="en-US" altLang="zh-CN" sz="24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0"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课堂练习</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解答</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1731"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(1) M</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N</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D</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L</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F</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J</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K</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是叶子结点</a:t>
            </a:r>
            <a:endPar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9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(2) C</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是结点</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G</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的双亲</a:t>
            </a:r>
            <a:endPar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0" marR="0" lvl="0" indent="0" algn="l" defTabSz="914400" rtl="0" eaLnBrk="0" fontAlgn="base" latinLnBrk="0" hangingPunct="0">
              <a:lnSpc>
                <a:spcPct val="9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(3) A</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C</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是结点</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G</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的祖先</a:t>
            </a:r>
            <a:endPar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0" marR="0" lvl="0" indent="0" algn="l" defTabSz="914400" rtl="0" eaLnBrk="0" fontAlgn="base" latinLnBrk="0" hangingPunct="0">
              <a:lnSpc>
                <a:spcPct val="9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(4) I</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M</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N</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是结点</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E</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的子孙</a:t>
            </a:r>
            <a:endPar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endParaRPr>
          </a:p>
          <a:p>
            <a:pPr marL="0" marR="0" lvl="0" indent="0" algn="l" defTabSz="914400" rtl="0" eaLnBrk="0" fontAlgn="base" latinLnBrk="0" hangingPunct="0">
              <a:lnSpc>
                <a:spcPct val="9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(5) </a:t>
            </a:r>
            <a:r>
              <a:rPr kumimoji="0" lang="zh-CN"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树的深度是</a:t>
            </a:r>
            <a:r>
              <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sym typeface="+mn-ea"/>
              </a:rPr>
              <a:t>5</a:t>
            </a:r>
            <a:endParaRPr kumimoji="0" lang="en-US" altLang="zh-CN" sz="2400" b="0" i="0" u="none" strike="noStrike" kern="0" cap="none" spc="0" normalizeH="0" baseline="0" noProof="1">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0"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Binary Tree</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173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树型结构</a:t>
            </a:r>
            <a:endPar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每个结点至多只有两棵子树，即二叉树中不存在度大于</a:t>
            </a:r>
            <a:r>
              <a:rPr kumimoji="0" lang="en-US" altLang="zh-CN"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的结点</a:t>
            </a:r>
            <a:endParaRPr kumimoji="0" lang="zh-CN" altLang="en-US" sz="30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rPr>
              <a:t>子树有左右之分，其次序不能任意颠倒</a:t>
            </a:r>
            <a:endParaRPr kumimoji="0" lang="zh-CN" altLang="en-US" sz="3000" b="0"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定义</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31747" name="Picture 8"/>
          <p:cNvPicPr>
            <a:picLocks noChangeAspect="1"/>
          </p:cNvPicPr>
          <p:nvPr/>
        </p:nvPicPr>
        <p:blipFill>
          <a:blip r:embed="rId1"/>
          <a:stretch>
            <a:fillRect/>
          </a:stretch>
        </p:blipFill>
        <p:spPr>
          <a:xfrm>
            <a:off x="250825" y="1628775"/>
            <a:ext cx="8712200" cy="449897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二叉树的抽象类型定义</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6611" name="Rectangle 3"/>
          <p:cNvSpPr>
            <a:spLocks noGrp="1" noChangeArrowheads="1"/>
          </p:cNvSpPr>
          <p:nvPr>
            <p:ph idx="1"/>
          </p:nvPr>
        </p:nvSpPr>
        <p:spPr>
          <a:xfrm>
            <a:off x="566738" y="1946275"/>
            <a:ext cx="8008938" cy="4073525"/>
          </a:xfrm>
        </p:spPr>
        <p:txBody>
          <a:bodyPr vert="horz" wrap="square" lIns="91440" tIns="45720" rIns="91440" bIns="45720" numCol="1" anchor="t" anchorCtr="0" compatLnSpc="1"/>
          <a:lstStyle/>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32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数据关系：</a:t>
            </a:r>
            <a:endParaRPr kumimoji="0" lang="zh-CN" altLang="en-US" sz="32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0" lang="zh-CN" altLang="en-US" sz="32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二叉树由一个根结点和至多两颗二叉子树构成，二叉树中结点具有相同数据类型及层次关系。</a:t>
            </a:r>
            <a:endParaRPr kumimoji="0" lang="zh-CN" altLang="en-US" sz="32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3794" name="Text Box 2"/>
          <p:cNvSpPr txBox="1"/>
          <p:nvPr/>
        </p:nvSpPr>
        <p:spPr>
          <a:xfrm>
            <a:off x="304800" y="152400"/>
            <a:ext cx="8610600" cy="2433638"/>
          </a:xfrm>
          <a:prstGeom prst="rect">
            <a:avLst/>
          </a:prstGeom>
          <a:noFill/>
          <a:ln w="12700">
            <a:noFill/>
          </a:ln>
        </p:spPr>
        <p:txBody>
          <a:bodyPr>
            <a:spAutoFit/>
          </a:bodyPr>
          <a:p>
            <a:pPr eaLnBrk="1" hangingPunct="1">
              <a:lnSpc>
                <a:spcPct val="120000"/>
              </a:lnSpc>
            </a:pPr>
            <a:r>
              <a:rPr lang="en-US" altLang="zh-CN" sz="4800" dirty="0">
                <a:solidFill>
                  <a:schemeClr val="tx1"/>
                </a:solidFill>
                <a:latin typeface="Times New Roman" panose="02020603050405020304" pitchFamily="18" charset="0"/>
                <a:ea typeface="楷体_GB2312" pitchFamily="49" charset="-122"/>
              </a:rPr>
              <a:t>    </a:t>
            </a:r>
            <a:r>
              <a:rPr lang="zh-CN" altLang="en-US" sz="4000" dirty="0">
                <a:solidFill>
                  <a:schemeClr val="tx1"/>
                </a:solidFill>
                <a:latin typeface="Times New Roman" panose="02020603050405020304" pitchFamily="18" charset="0"/>
                <a:ea typeface="楷体_GB2312" pitchFamily="49" charset="-122"/>
              </a:rPr>
              <a:t>二叉树或为空树，或是由一个根结点加上两棵分别称为</a:t>
            </a:r>
            <a:r>
              <a:rPr lang="zh-CN" altLang="en-US" sz="4000" dirty="0">
                <a:solidFill>
                  <a:srgbClr val="FF0000"/>
                </a:solidFill>
                <a:latin typeface="Times New Roman" panose="02020603050405020304" pitchFamily="18" charset="0"/>
                <a:ea typeface="楷体_GB2312" pitchFamily="49" charset="-122"/>
              </a:rPr>
              <a:t>左子树</a:t>
            </a:r>
            <a:r>
              <a:rPr lang="zh-CN" altLang="en-US" sz="4000" dirty="0">
                <a:solidFill>
                  <a:schemeClr val="tx1"/>
                </a:solidFill>
                <a:latin typeface="Times New Roman" panose="02020603050405020304" pitchFamily="18" charset="0"/>
                <a:ea typeface="楷体_GB2312" pitchFamily="49" charset="-122"/>
              </a:rPr>
              <a:t>和</a:t>
            </a:r>
            <a:r>
              <a:rPr lang="zh-CN" altLang="en-US" sz="4000" dirty="0">
                <a:solidFill>
                  <a:srgbClr val="FF0000"/>
                </a:solidFill>
                <a:latin typeface="Times New Roman" panose="02020603050405020304" pitchFamily="18" charset="0"/>
                <a:ea typeface="楷体_GB2312" pitchFamily="49" charset="-122"/>
              </a:rPr>
              <a:t>右子树</a:t>
            </a:r>
            <a:r>
              <a:rPr lang="zh-CN" altLang="en-US" sz="4000" dirty="0">
                <a:solidFill>
                  <a:schemeClr val="tx1"/>
                </a:solidFill>
                <a:latin typeface="Times New Roman" panose="02020603050405020304" pitchFamily="18" charset="0"/>
                <a:ea typeface="楷体_GB2312" pitchFamily="49" charset="-122"/>
              </a:rPr>
              <a:t>的、</a:t>
            </a:r>
            <a:r>
              <a:rPr lang="zh-CN" altLang="en-US" sz="4000" dirty="0">
                <a:solidFill>
                  <a:srgbClr val="FF0000"/>
                </a:solidFill>
                <a:latin typeface="Times New Roman" panose="02020603050405020304" pitchFamily="18" charset="0"/>
                <a:ea typeface="楷体_GB2312" pitchFamily="49" charset="-122"/>
              </a:rPr>
              <a:t>互不交的</a:t>
            </a:r>
            <a:r>
              <a:rPr lang="zh-CN" altLang="en-US" sz="4000" dirty="0">
                <a:solidFill>
                  <a:schemeClr val="tx1"/>
                </a:solidFill>
                <a:latin typeface="Times New Roman" panose="02020603050405020304" pitchFamily="18" charset="0"/>
                <a:ea typeface="楷体_GB2312" pitchFamily="49" charset="-122"/>
              </a:rPr>
              <a:t>二叉树组成。</a:t>
            </a:r>
            <a:endParaRPr lang="zh-CN" altLang="en-US" sz="4000" dirty="0">
              <a:solidFill>
                <a:schemeClr val="tx1"/>
              </a:solidFill>
              <a:latin typeface="Times New Roman" panose="02020603050405020304" pitchFamily="18" charset="0"/>
            </a:endParaRPr>
          </a:p>
        </p:txBody>
      </p:sp>
      <p:sp>
        <p:nvSpPr>
          <p:cNvPr id="45059" name="Oval 3"/>
          <p:cNvSpPr/>
          <p:nvPr/>
        </p:nvSpPr>
        <p:spPr>
          <a:xfrm>
            <a:off x="4343400" y="29718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FF0000"/>
                </a:solidFill>
                <a:latin typeface="Times New Roman" panose="02020603050405020304" pitchFamily="18" charset="0"/>
              </a:rPr>
              <a:t>A</a:t>
            </a:r>
            <a:endParaRPr lang="en-US" altLang="zh-CN" sz="2400" dirty="0">
              <a:solidFill>
                <a:schemeClr val="tx1"/>
              </a:solidFill>
              <a:latin typeface="Times New Roman" panose="02020603050405020304" pitchFamily="18" charset="0"/>
            </a:endParaRPr>
          </a:p>
        </p:txBody>
      </p:sp>
      <p:sp>
        <p:nvSpPr>
          <p:cNvPr id="45060" name="Oval 4"/>
          <p:cNvSpPr/>
          <p:nvPr/>
        </p:nvSpPr>
        <p:spPr>
          <a:xfrm>
            <a:off x="2133600" y="37338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bg2"/>
                </a:solidFill>
                <a:latin typeface="Times New Roman" panose="02020603050405020304" pitchFamily="18" charset="0"/>
              </a:rPr>
              <a:t>B</a:t>
            </a:r>
            <a:endParaRPr lang="en-US" altLang="zh-CN" sz="2400" dirty="0">
              <a:solidFill>
                <a:schemeClr val="tx1"/>
              </a:solidFill>
              <a:latin typeface="Times New Roman" panose="02020603050405020304" pitchFamily="18" charset="0"/>
            </a:endParaRPr>
          </a:p>
        </p:txBody>
      </p:sp>
      <p:sp>
        <p:nvSpPr>
          <p:cNvPr id="45061" name="Oval 5"/>
          <p:cNvSpPr/>
          <p:nvPr/>
        </p:nvSpPr>
        <p:spPr>
          <a:xfrm>
            <a:off x="3581400" y="44958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bg2"/>
                </a:solidFill>
                <a:latin typeface="Times New Roman" panose="02020603050405020304" pitchFamily="18" charset="0"/>
              </a:rPr>
              <a:t>C</a:t>
            </a:r>
            <a:endParaRPr lang="en-US" altLang="zh-CN" sz="2400" dirty="0">
              <a:solidFill>
                <a:schemeClr val="tx1"/>
              </a:solidFill>
              <a:latin typeface="Times New Roman" panose="02020603050405020304" pitchFamily="18" charset="0"/>
            </a:endParaRPr>
          </a:p>
        </p:txBody>
      </p:sp>
      <p:sp>
        <p:nvSpPr>
          <p:cNvPr id="45062" name="Oval 6"/>
          <p:cNvSpPr/>
          <p:nvPr/>
        </p:nvSpPr>
        <p:spPr>
          <a:xfrm>
            <a:off x="2895600" y="53340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chemeClr val="bg2"/>
                </a:solidFill>
                <a:latin typeface="Times New Roman" panose="02020603050405020304" pitchFamily="18" charset="0"/>
              </a:rPr>
              <a:t>D</a:t>
            </a:r>
            <a:endParaRPr lang="en-US" altLang="zh-CN" sz="2400" dirty="0">
              <a:solidFill>
                <a:schemeClr val="tx1"/>
              </a:solidFill>
              <a:latin typeface="Times New Roman" panose="02020603050405020304" pitchFamily="18" charset="0"/>
            </a:endParaRPr>
          </a:p>
        </p:txBody>
      </p:sp>
      <p:sp>
        <p:nvSpPr>
          <p:cNvPr id="45063" name="Oval 7"/>
          <p:cNvSpPr/>
          <p:nvPr/>
        </p:nvSpPr>
        <p:spPr>
          <a:xfrm>
            <a:off x="5867400" y="37338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333399"/>
                </a:solidFill>
                <a:latin typeface="Times New Roman" panose="02020603050405020304" pitchFamily="18" charset="0"/>
              </a:rPr>
              <a:t>E</a:t>
            </a:r>
            <a:endParaRPr lang="en-US" altLang="zh-CN" sz="2400" dirty="0">
              <a:solidFill>
                <a:schemeClr val="tx1"/>
              </a:solidFill>
              <a:latin typeface="Times New Roman" panose="02020603050405020304" pitchFamily="18" charset="0"/>
            </a:endParaRPr>
          </a:p>
        </p:txBody>
      </p:sp>
      <p:sp>
        <p:nvSpPr>
          <p:cNvPr id="45064" name="Oval 8"/>
          <p:cNvSpPr/>
          <p:nvPr/>
        </p:nvSpPr>
        <p:spPr>
          <a:xfrm>
            <a:off x="7315200" y="44958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333399"/>
                </a:solidFill>
                <a:latin typeface="Times New Roman" panose="02020603050405020304" pitchFamily="18" charset="0"/>
              </a:rPr>
              <a:t>F</a:t>
            </a:r>
            <a:endParaRPr lang="en-US" altLang="zh-CN" sz="2400" dirty="0">
              <a:solidFill>
                <a:schemeClr val="tx1"/>
              </a:solidFill>
              <a:latin typeface="Times New Roman" panose="02020603050405020304" pitchFamily="18" charset="0"/>
            </a:endParaRPr>
          </a:p>
        </p:txBody>
      </p:sp>
      <p:sp>
        <p:nvSpPr>
          <p:cNvPr id="45065" name="Oval 9"/>
          <p:cNvSpPr/>
          <p:nvPr/>
        </p:nvSpPr>
        <p:spPr>
          <a:xfrm>
            <a:off x="6629400" y="52578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333399"/>
                </a:solidFill>
                <a:latin typeface="Times New Roman" panose="02020603050405020304" pitchFamily="18" charset="0"/>
              </a:rPr>
              <a:t>G</a:t>
            </a:r>
            <a:endParaRPr lang="en-US" altLang="zh-CN" sz="2400" dirty="0">
              <a:solidFill>
                <a:schemeClr val="tx1"/>
              </a:solidFill>
              <a:latin typeface="Times New Roman" panose="02020603050405020304" pitchFamily="18" charset="0"/>
            </a:endParaRPr>
          </a:p>
        </p:txBody>
      </p:sp>
      <p:sp>
        <p:nvSpPr>
          <p:cNvPr id="45066" name="Oval 10"/>
          <p:cNvSpPr/>
          <p:nvPr/>
        </p:nvSpPr>
        <p:spPr>
          <a:xfrm>
            <a:off x="6096000" y="60960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333399"/>
                </a:solidFill>
                <a:latin typeface="Times New Roman" panose="02020603050405020304" pitchFamily="18" charset="0"/>
              </a:rPr>
              <a:t>H</a:t>
            </a:r>
            <a:endParaRPr lang="en-US" altLang="zh-CN" sz="2400" dirty="0">
              <a:solidFill>
                <a:schemeClr val="tx1"/>
              </a:solidFill>
              <a:latin typeface="Times New Roman" panose="02020603050405020304" pitchFamily="18" charset="0"/>
            </a:endParaRPr>
          </a:p>
        </p:txBody>
      </p:sp>
      <p:sp>
        <p:nvSpPr>
          <p:cNvPr id="45070" name="Oval 14"/>
          <p:cNvSpPr/>
          <p:nvPr/>
        </p:nvSpPr>
        <p:spPr>
          <a:xfrm>
            <a:off x="7162800" y="6096000"/>
            <a:ext cx="457200" cy="381000"/>
          </a:xfrm>
          <a:prstGeom prst="ellipse">
            <a:avLst/>
          </a:prstGeom>
          <a:solidFill>
            <a:srgbClr val="FFFFD9"/>
          </a:solidFill>
          <a:ln w="12700" cap="sq" cmpd="sng">
            <a:solidFill>
              <a:schemeClr val="tx1"/>
            </a:solidFill>
            <a:prstDash val="solid"/>
            <a:headEnd type="none" w="sm" len="sm"/>
            <a:tailEnd type="none" w="sm" len="sm"/>
          </a:ln>
        </p:spPr>
        <p:txBody>
          <a:bodyPr wrap="none" anchor="ctr" anchorCtr="0"/>
          <a:p>
            <a:pPr algn="ctr" eaLnBrk="1" hangingPunct="1"/>
            <a:r>
              <a:rPr lang="en-US" altLang="zh-CN" sz="3600" dirty="0">
                <a:solidFill>
                  <a:srgbClr val="333399"/>
                </a:solidFill>
                <a:latin typeface="Times New Roman" panose="02020603050405020304" pitchFamily="18" charset="0"/>
              </a:rPr>
              <a:t>K</a:t>
            </a:r>
            <a:endParaRPr lang="en-US" altLang="zh-CN" sz="2400" dirty="0">
              <a:solidFill>
                <a:schemeClr val="tx1"/>
              </a:solidFill>
              <a:latin typeface="Times New Roman" panose="02020603050405020304" pitchFamily="18" charset="0"/>
            </a:endParaRPr>
          </a:p>
        </p:txBody>
      </p:sp>
      <p:sp>
        <p:nvSpPr>
          <p:cNvPr id="45084" name="Line 28"/>
          <p:cNvSpPr/>
          <p:nvPr/>
        </p:nvSpPr>
        <p:spPr>
          <a:xfrm flipH="1">
            <a:off x="2362200" y="3124200"/>
            <a:ext cx="1981200" cy="609600"/>
          </a:xfrm>
          <a:prstGeom prst="line">
            <a:avLst/>
          </a:prstGeom>
          <a:ln w="38100" cap="sq" cmpd="sng">
            <a:solidFill>
              <a:schemeClr val="tx1"/>
            </a:solidFill>
            <a:prstDash val="solid"/>
            <a:headEnd type="none" w="sm" len="sm"/>
            <a:tailEnd type="none" w="sm" len="sm"/>
          </a:ln>
        </p:spPr>
      </p:sp>
      <p:sp>
        <p:nvSpPr>
          <p:cNvPr id="45085" name="Line 29"/>
          <p:cNvSpPr/>
          <p:nvPr/>
        </p:nvSpPr>
        <p:spPr>
          <a:xfrm>
            <a:off x="2590800" y="3886200"/>
            <a:ext cx="1219200" cy="609600"/>
          </a:xfrm>
          <a:prstGeom prst="line">
            <a:avLst/>
          </a:prstGeom>
          <a:ln w="38100" cap="sq" cmpd="sng">
            <a:solidFill>
              <a:schemeClr val="tx1"/>
            </a:solidFill>
            <a:prstDash val="solid"/>
            <a:headEnd type="none" w="sm" len="sm"/>
            <a:tailEnd type="none" w="sm" len="sm"/>
          </a:ln>
        </p:spPr>
      </p:sp>
      <p:sp>
        <p:nvSpPr>
          <p:cNvPr id="45086" name="Line 30"/>
          <p:cNvSpPr/>
          <p:nvPr/>
        </p:nvSpPr>
        <p:spPr>
          <a:xfrm flipH="1">
            <a:off x="3124200" y="4648200"/>
            <a:ext cx="457200" cy="685800"/>
          </a:xfrm>
          <a:prstGeom prst="line">
            <a:avLst/>
          </a:prstGeom>
          <a:ln w="38100" cap="sq" cmpd="sng">
            <a:solidFill>
              <a:schemeClr val="tx1"/>
            </a:solidFill>
            <a:prstDash val="solid"/>
            <a:headEnd type="none" w="sm" len="sm"/>
            <a:tailEnd type="none" w="sm" len="sm"/>
          </a:ln>
        </p:spPr>
      </p:sp>
      <p:sp>
        <p:nvSpPr>
          <p:cNvPr id="45087" name="Line 31"/>
          <p:cNvSpPr/>
          <p:nvPr/>
        </p:nvSpPr>
        <p:spPr>
          <a:xfrm>
            <a:off x="4800600" y="3200400"/>
            <a:ext cx="1295400" cy="533400"/>
          </a:xfrm>
          <a:prstGeom prst="line">
            <a:avLst/>
          </a:prstGeom>
          <a:ln w="38100" cap="sq" cmpd="sng">
            <a:solidFill>
              <a:schemeClr val="tx1"/>
            </a:solidFill>
            <a:prstDash val="solid"/>
            <a:headEnd type="none" w="sm" len="sm"/>
            <a:tailEnd type="none" w="sm" len="sm"/>
          </a:ln>
        </p:spPr>
      </p:sp>
      <p:sp>
        <p:nvSpPr>
          <p:cNvPr id="45088" name="Line 32"/>
          <p:cNvSpPr/>
          <p:nvPr/>
        </p:nvSpPr>
        <p:spPr>
          <a:xfrm>
            <a:off x="6324600" y="3886200"/>
            <a:ext cx="1219200" cy="609600"/>
          </a:xfrm>
          <a:prstGeom prst="line">
            <a:avLst/>
          </a:prstGeom>
          <a:ln w="38100" cap="sq" cmpd="sng">
            <a:solidFill>
              <a:schemeClr val="tx1"/>
            </a:solidFill>
            <a:prstDash val="solid"/>
            <a:headEnd type="none" w="sm" len="sm"/>
            <a:tailEnd type="none" w="sm" len="sm"/>
          </a:ln>
        </p:spPr>
      </p:sp>
      <p:sp>
        <p:nvSpPr>
          <p:cNvPr id="45089" name="Line 33"/>
          <p:cNvSpPr/>
          <p:nvPr/>
        </p:nvSpPr>
        <p:spPr>
          <a:xfrm flipH="1">
            <a:off x="6858000" y="4648200"/>
            <a:ext cx="457200" cy="609600"/>
          </a:xfrm>
          <a:prstGeom prst="line">
            <a:avLst/>
          </a:prstGeom>
          <a:ln w="38100" cap="sq" cmpd="sng">
            <a:solidFill>
              <a:schemeClr val="tx1"/>
            </a:solidFill>
            <a:prstDash val="solid"/>
            <a:headEnd type="none" w="sm" len="sm"/>
            <a:tailEnd type="none" w="sm" len="sm"/>
          </a:ln>
        </p:spPr>
      </p:sp>
      <p:sp>
        <p:nvSpPr>
          <p:cNvPr id="45090" name="Line 34"/>
          <p:cNvSpPr/>
          <p:nvPr/>
        </p:nvSpPr>
        <p:spPr>
          <a:xfrm flipH="1">
            <a:off x="6324600" y="5410200"/>
            <a:ext cx="304800" cy="685800"/>
          </a:xfrm>
          <a:prstGeom prst="line">
            <a:avLst/>
          </a:prstGeom>
          <a:ln w="38100" cap="sq" cmpd="sng">
            <a:solidFill>
              <a:schemeClr val="tx1"/>
            </a:solidFill>
            <a:prstDash val="solid"/>
            <a:headEnd type="none" w="sm" len="sm"/>
            <a:tailEnd type="none" w="sm" len="sm"/>
          </a:ln>
        </p:spPr>
      </p:sp>
      <p:sp>
        <p:nvSpPr>
          <p:cNvPr id="45091" name="Line 35"/>
          <p:cNvSpPr/>
          <p:nvPr/>
        </p:nvSpPr>
        <p:spPr>
          <a:xfrm>
            <a:off x="7086600" y="5410200"/>
            <a:ext cx="304800" cy="685800"/>
          </a:xfrm>
          <a:prstGeom prst="line">
            <a:avLst/>
          </a:prstGeom>
          <a:ln w="38100" cap="sq" cmpd="sng">
            <a:solidFill>
              <a:schemeClr val="tx1"/>
            </a:solidFill>
            <a:prstDash val="solid"/>
            <a:headEnd type="none" w="sm" len="sm"/>
            <a:tailEnd type="none" w="sm" len="sm"/>
          </a:ln>
        </p:spPr>
      </p:sp>
      <p:sp>
        <p:nvSpPr>
          <p:cNvPr id="45092" name="Rectangle 36"/>
          <p:cNvSpPr/>
          <p:nvPr/>
        </p:nvSpPr>
        <p:spPr>
          <a:xfrm>
            <a:off x="1828800" y="3581400"/>
            <a:ext cx="2514600" cy="2514600"/>
          </a:xfrm>
          <a:prstGeom prst="rect">
            <a:avLst/>
          </a:prstGeom>
          <a:noFill/>
          <a:ln w="38100" cap="sq" cmpd="sng">
            <a:solidFill>
              <a:srgbClr val="005400"/>
            </a:solidFill>
            <a:prstDash val="solid"/>
            <a:miter/>
            <a:headEnd type="none" w="sm" len="sm"/>
            <a:tailEnd type="none" w="sm" len="sm"/>
          </a:ln>
        </p:spPr>
        <p:txBody>
          <a:bodyPr wrap="none" anchor="ctr" anchorCtr="0"/>
          <a:p>
            <a:pPr eaLnBrk="1" hangingPunct="1"/>
            <a:endParaRPr lang="en-US" altLang="zh-CN" sz="2400" dirty="0">
              <a:solidFill>
                <a:schemeClr val="tx1"/>
              </a:solidFill>
              <a:latin typeface="Times New Roman" panose="02020603050405020304" pitchFamily="18" charset="0"/>
            </a:endParaRPr>
          </a:p>
        </p:txBody>
      </p:sp>
      <p:sp>
        <p:nvSpPr>
          <p:cNvPr id="45093" name="Rectangle 37"/>
          <p:cNvSpPr/>
          <p:nvPr/>
        </p:nvSpPr>
        <p:spPr>
          <a:xfrm>
            <a:off x="5410200" y="3505200"/>
            <a:ext cx="2743200" cy="3124200"/>
          </a:xfrm>
          <a:prstGeom prst="rect">
            <a:avLst/>
          </a:prstGeom>
          <a:noFill/>
          <a:ln w="38100" cap="sq" cmpd="sng">
            <a:solidFill>
              <a:srgbClr val="333399"/>
            </a:solidFill>
            <a:prstDash val="solid"/>
            <a:miter/>
            <a:headEnd type="none" w="sm" len="sm"/>
            <a:tailEnd type="none" w="sm" len="sm"/>
          </a:ln>
        </p:spPr>
        <p:txBody>
          <a:bodyPr wrap="none" anchor="ctr" anchorCtr="0"/>
          <a:p>
            <a:pPr eaLnBrk="1" hangingPunct="1"/>
            <a:endParaRPr lang="en-US" altLang="zh-CN" sz="2400" dirty="0">
              <a:solidFill>
                <a:schemeClr val="tx1"/>
              </a:solidFill>
              <a:latin typeface="Times New Roman" panose="02020603050405020304" pitchFamily="18" charset="0"/>
            </a:endParaRPr>
          </a:p>
        </p:txBody>
      </p:sp>
      <p:sp>
        <p:nvSpPr>
          <p:cNvPr id="45096" name="AutoShape 40"/>
          <p:cNvSpPr/>
          <p:nvPr/>
        </p:nvSpPr>
        <p:spPr>
          <a:xfrm>
            <a:off x="838200" y="2819400"/>
            <a:ext cx="1371600" cy="457200"/>
          </a:xfrm>
          <a:prstGeom prst="wedgeRoundRectCallout">
            <a:avLst>
              <a:gd name="adj1" fmla="val 196181"/>
              <a:gd name="adj2" fmla="val -6597"/>
              <a:gd name="adj3" fmla="val 16667"/>
            </a:avLst>
          </a:prstGeom>
          <a:solidFill>
            <a:srgbClr val="FBE2DF"/>
          </a:solidFill>
          <a:ln w="12700" cap="sq" cmpd="sng">
            <a:solidFill>
              <a:schemeClr val="tx1"/>
            </a:solidFill>
            <a:prstDash val="solid"/>
            <a:miter/>
            <a:headEnd type="none" w="sm" len="sm"/>
            <a:tailEnd type="none" w="sm" len="sm"/>
          </a:ln>
        </p:spPr>
        <p:txBody>
          <a:bodyPr wrap="none" anchor="ctr" anchorCtr="0"/>
          <a:p>
            <a:pPr algn="ctr" eaLnBrk="1" hangingPunct="1"/>
            <a:r>
              <a:rPr lang="zh-CN" altLang="en-US" sz="2800" dirty="0">
                <a:solidFill>
                  <a:srgbClr val="FF3300"/>
                </a:solidFill>
                <a:latin typeface="Times New Roman" panose="02020603050405020304" pitchFamily="18" charset="0"/>
                <a:ea typeface="楷体_GB2312" pitchFamily="49" charset="-122"/>
              </a:rPr>
              <a:t>根结点</a:t>
            </a:r>
            <a:endParaRPr lang="zh-CN" altLang="en-US" sz="2400" dirty="0">
              <a:solidFill>
                <a:schemeClr val="tx1"/>
              </a:solidFill>
              <a:latin typeface="Times New Roman" panose="02020603050405020304" pitchFamily="18" charset="0"/>
            </a:endParaRPr>
          </a:p>
        </p:txBody>
      </p:sp>
      <p:sp>
        <p:nvSpPr>
          <p:cNvPr id="45097" name="AutoShape 41"/>
          <p:cNvSpPr/>
          <p:nvPr/>
        </p:nvSpPr>
        <p:spPr>
          <a:xfrm>
            <a:off x="76200" y="5715000"/>
            <a:ext cx="1295400" cy="533400"/>
          </a:xfrm>
          <a:prstGeom prst="wedgeRoundRectCallout">
            <a:avLst>
              <a:gd name="adj1" fmla="val 75981"/>
              <a:gd name="adj2" fmla="val -182440"/>
              <a:gd name="adj3" fmla="val 16667"/>
            </a:avLst>
          </a:prstGeom>
          <a:solidFill>
            <a:srgbClr val="CAF2CE"/>
          </a:solidFill>
          <a:ln w="12700" cap="sq" cmpd="sng">
            <a:solidFill>
              <a:schemeClr val="tx1"/>
            </a:solidFill>
            <a:prstDash val="solid"/>
            <a:miter/>
            <a:headEnd type="none" w="sm" len="sm"/>
            <a:tailEnd type="none" w="sm" len="sm"/>
          </a:ln>
        </p:spPr>
        <p:txBody>
          <a:bodyPr wrap="none" anchor="ctr" anchorCtr="0"/>
          <a:p>
            <a:pPr algn="ctr" eaLnBrk="1" hangingPunct="1"/>
            <a:r>
              <a:rPr lang="zh-CN" altLang="en-US" sz="2800" dirty="0">
                <a:solidFill>
                  <a:srgbClr val="005400"/>
                </a:solidFill>
                <a:latin typeface="Times New Roman" panose="02020603050405020304" pitchFamily="18" charset="0"/>
                <a:ea typeface="楷体_GB2312" pitchFamily="49" charset="-122"/>
              </a:rPr>
              <a:t>左子树</a:t>
            </a:r>
            <a:endParaRPr lang="zh-CN" altLang="en-US" sz="2400" dirty="0">
              <a:solidFill>
                <a:schemeClr val="tx1"/>
              </a:solidFill>
              <a:latin typeface="Times New Roman" panose="02020603050405020304" pitchFamily="18" charset="0"/>
            </a:endParaRPr>
          </a:p>
        </p:txBody>
      </p:sp>
      <p:sp>
        <p:nvSpPr>
          <p:cNvPr id="45098" name="AutoShape 42"/>
          <p:cNvSpPr/>
          <p:nvPr/>
        </p:nvSpPr>
        <p:spPr>
          <a:xfrm>
            <a:off x="7391400" y="2438400"/>
            <a:ext cx="1447800" cy="533400"/>
          </a:xfrm>
          <a:prstGeom prst="wedgeRoundRectCallout">
            <a:avLst>
              <a:gd name="adj1" fmla="val -85199"/>
              <a:gd name="adj2" fmla="val 127977"/>
              <a:gd name="adj3" fmla="val 16667"/>
            </a:avLst>
          </a:prstGeom>
          <a:solidFill>
            <a:schemeClr val="hlink"/>
          </a:solidFill>
          <a:ln w="12700" cap="sq" cmpd="sng">
            <a:solidFill>
              <a:schemeClr val="tx1"/>
            </a:solidFill>
            <a:prstDash val="solid"/>
            <a:miter/>
            <a:headEnd type="none" w="sm" len="sm"/>
            <a:tailEnd type="none" w="sm" len="sm"/>
          </a:ln>
        </p:spPr>
        <p:txBody>
          <a:bodyPr wrap="none" anchor="ctr" anchorCtr="0"/>
          <a:p>
            <a:pPr algn="ctr" eaLnBrk="1" hangingPunct="1"/>
            <a:r>
              <a:rPr lang="zh-CN" altLang="en-US" sz="2800" dirty="0">
                <a:solidFill>
                  <a:srgbClr val="333399"/>
                </a:solidFill>
                <a:latin typeface="Times New Roman" panose="02020603050405020304" pitchFamily="18" charset="0"/>
                <a:ea typeface="楷体_GB2312" pitchFamily="49" charset="-122"/>
              </a:rPr>
              <a:t>右子树</a:t>
            </a:r>
            <a:endParaRPr lang="zh-CN" altLang="en-US" sz="2400" dirty="0">
              <a:solidFill>
                <a:schemeClr val="tx1"/>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animEffect transition="in" filter="box(out)">
                                      <p:cBhvr>
                                        <p:cTn id="7" dur="500"/>
                                        <p:tgtEl>
                                          <p:spTgt spid="45059"/>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45060"/>
                                        </p:tgtEl>
                                        <p:attrNameLst>
                                          <p:attrName>style.visibility</p:attrName>
                                        </p:attrNameLst>
                                      </p:cBhvr>
                                      <p:to>
                                        <p:strVal val="visible"/>
                                      </p:to>
                                    </p:set>
                                    <p:animEffect transition="in" filter="box(out)">
                                      <p:cBhvr>
                                        <p:cTn id="11" dur="500"/>
                                        <p:tgtEl>
                                          <p:spTgt spid="45060"/>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45061"/>
                                        </p:tgtEl>
                                        <p:attrNameLst>
                                          <p:attrName>style.visibility</p:attrName>
                                        </p:attrNameLst>
                                      </p:cBhvr>
                                      <p:to>
                                        <p:strVal val="visible"/>
                                      </p:to>
                                    </p:set>
                                    <p:animEffect transition="in" filter="box(out)">
                                      <p:cBhvr>
                                        <p:cTn id="15" dur="500"/>
                                        <p:tgtEl>
                                          <p:spTgt spid="45061"/>
                                        </p:tgtEl>
                                      </p:cBhvr>
                                    </p:animEffect>
                                  </p:childTnLst>
                                </p:cTn>
                              </p:par>
                            </p:childTnLst>
                          </p:cTn>
                        </p:par>
                        <p:par>
                          <p:cTn id="16" fill="hold">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45062"/>
                                        </p:tgtEl>
                                        <p:attrNameLst>
                                          <p:attrName>style.visibility</p:attrName>
                                        </p:attrNameLst>
                                      </p:cBhvr>
                                      <p:to>
                                        <p:strVal val="visible"/>
                                      </p:to>
                                    </p:set>
                                    <p:animEffect transition="in" filter="box(out)">
                                      <p:cBhvr>
                                        <p:cTn id="19" dur="500"/>
                                        <p:tgtEl>
                                          <p:spTgt spid="45062"/>
                                        </p:tgtEl>
                                      </p:cBhvr>
                                    </p:animEffect>
                                  </p:childTnLst>
                                </p:cTn>
                              </p:par>
                            </p:childTnLst>
                          </p:cTn>
                        </p:par>
                        <p:par>
                          <p:cTn id="20" fill="hold">
                            <p:stCondLst>
                              <p:cond delay="2000"/>
                            </p:stCondLst>
                            <p:childTnLst>
                              <p:par>
                                <p:cTn id="21" presetID="4" presetClass="entr" presetSubtype="32" fill="hold" grpId="0" nodeType="afterEffect">
                                  <p:stCondLst>
                                    <p:cond delay="0"/>
                                  </p:stCondLst>
                                  <p:childTnLst>
                                    <p:set>
                                      <p:cBhvr>
                                        <p:cTn id="22" dur="1" fill="hold">
                                          <p:stCondLst>
                                            <p:cond delay="0"/>
                                          </p:stCondLst>
                                        </p:cTn>
                                        <p:tgtEl>
                                          <p:spTgt spid="45063"/>
                                        </p:tgtEl>
                                        <p:attrNameLst>
                                          <p:attrName>style.visibility</p:attrName>
                                        </p:attrNameLst>
                                      </p:cBhvr>
                                      <p:to>
                                        <p:strVal val="visible"/>
                                      </p:to>
                                    </p:set>
                                    <p:animEffect transition="in" filter="box(out)">
                                      <p:cBhvr>
                                        <p:cTn id="23" dur="500"/>
                                        <p:tgtEl>
                                          <p:spTgt spid="45063"/>
                                        </p:tgtEl>
                                      </p:cBhvr>
                                    </p:animEffect>
                                  </p:childTnLst>
                                </p:cTn>
                              </p:par>
                            </p:childTnLst>
                          </p:cTn>
                        </p:par>
                        <p:par>
                          <p:cTn id="24" fill="hold">
                            <p:stCondLst>
                              <p:cond delay="2500"/>
                            </p:stCondLst>
                            <p:childTnLst>
                              <p:par>
                                <p:cTn id="25" presetID="4" presetClass="entr" presetSubtype="32" fill="hold" grpId="0" nodeType="afterEffect">
                                  <p:stCondLst>
                                    <p:cond delay="0"/>
                                  </p:stCondLst>
                                  <p:childTnLst>
                                    <p:set>
                                      <p:cBhvr>
                                        <p:cTn id="26" dur="1" fill="hold">
                                          <p:stCondLst>
                                            <p:cond delay="0"/>
                                          </p:stCondLst>
                                        </p:cTn>
                                        <p:tgtEl>
                                          <p:spTgt spid="45064"/>
                                        </p:tgtEl>
                                        <p:attrNameLst>
                                          <p:attrName>style.visibility</p:attrName>
                                        </p:attrNameLst>
                                      </p:cBhvr>
                                      <p:to>
                                        <p:strVal val="visible"/>
                                      </p:to>
                                    </p:set>
                                    <p:animEffect transition="in" filter="box(out)">
                                      <p:cBhvr>
                                        <p:cTn id="27" dur="500"/>
                                        <p:tgtEl>
                                          <p:spTgt spid="45064"/>
                                        </p:tgtEl>
                                      </p:cBhvr>
                                    </p:animEffect>
                                  </p:childTnLst>
                                </p:cTn>
                              </p:par>
                            </p:childTnLst>
                          </p:cTn>
                        </p:par>
                        <p:par>
                          <p:cTn id="28" fill="hold">
                            <p:stCondLst>
                              <p:cond delay="3000"/>
                            </p:stCondLst>
                            <p:childTnLst>
                              <p:par>
                                <p:cTn id="29" presetID="4" presetClass="entr" presetSubtype="32" fill="hold" grpId="0" nodeType="afterEffect">
                                  <p:stCondLst>
                                    <p:cond delay="0"/>
                                  </p:stCondLst>
                                  <p:childTnLst>
                                    <p:set>
                                      <p:cBhvr>
                                        <p:cTn id="30" dur="1" fill="hold">
                                          <p:stCondLst>
                                            <p:cond delay="0"/>
                                          </p:stCondLst>
                                        </p:cTn>
                                        <p:tgtEl>
                                          <p:spTgt spid="45065"/>
                                        </p:tgtEl>
                                        <p:attrNameLst>
                                          <p:attrName>style.visibility</p:attrName>
                                        </p:attrNameLst>
                                      </p:cBhvr>
                                      <p:to>
                                        <p:strVal val="visible"/>
                                      </p:to>
                                    </p:set>
                                    <p:animEffect transition="in" filter="box(out)">
                                      <p:cBhvr>
                                        <p:cTn id="31" dur="500"/>
                                        <p:tgtEl>
                                          <p:spTgt spid="45065"/>
                                        </p:tgtEl>
                                      </p:cBhvr>
                                    </p:animEffect>
                                  </p:childTnLst>
                                </p:cTn>
                              </p:par>
                            </p:childTnLst>
                          </p:cTn>
                        </p:par>
                        <p:par>
                          <p:cTn id="32" fill="hold">
                            <p:stCondLst>
                              <p:cond delay="3500"/>
                            </p:stCondLst>
                            <p:childTnLst>
                              <p:par>
                                <p:cTn id="33" presetID="4" presetClass="entr" presetSubtype="32" fill="hold" grpId="0" nodeType="afterEffect">
                                  <p:stCondLst>
                                    <p:cond delay="0"/>
                                  </p:stCondLst>
                                  <p:childTnLst>
                                    <p:set>
                                      <p:cBhvr>
                                        <p:cTn id="34" dur="1" fill="hold">
                                          <p:stCondLst>
                                            <p:cond delay="0"/>
                                          </p:stCondLst>
                                        </p:cTn>
                                        <p:tgtEl>
                                          <p:spTgt spid="45066"/>
                                        </p:tgtEl>
                                        <p:attrNameLst>
                                          <p:attrName>style.visibility</p:attrName>
                                        </p:attrNameLst>
                                      </p:cBhvr>
                                      <p:to>
                                        <p:strVal val="visible"/>
                                      </p:to>
                                    </p:set>
                                    <p:animEffect transition="in" filter="box(out)">
                                      <p:cBhvr>
                                        <p:cTn id="35" dur="500"/>
                                        <p:tgtEl>
                                          <p:spTgt spid="45066"/>
                                        </p:tgtEl>
                                      </p:cBhvr>
                                    </p:animEffect>
                                  </p:childTnLst>
                                </p:cTn>
                              </p:par>
                            </p:childTnLst>
                          </p:cTn>
                        </p:par>
                        <p:par>
                          <p:cTn id="36" fill="hold">
                            <p:stCondLst>
                              <p:cond delay="4000"/>
                            </p:stCondLst>
                            <p:childTnLst>
                              <p:par>
                                <p:cTn id="37" presetID="4" presetClass="entr" presetSubtype="32" fill="hold" grpId="0" nodeType="afterEffect">
                                  <p:stCondLst>
                                    <p:cond delay="0"/>
                                  </p:stCondLst>
                                  <p:childTnLst>
                                    <p:set>
                                      <p:cBhvr>
                                        <p:cTn id="38" dur="1" fill="hold">
                                          <p:stCondLst>
                                            <p:cond delay="0"/>
                                          </p:stCondLst>
                                        </p:cTn>
                                        <p:tgtEl>
                                          <p:spTgt spid="45070"/>
                                        </p:tgtEl>
                                        <p:attrNameLst>
                                          <p:attrName>style.visibility</p:attrName>
                                        </p:attrNameLst>
                                      </p:cBhvr>
                                      <p:to>
                                        <p:strVal val="visible"/>
                                      </p:to>
                                    </p:set>
                                    <p:animEffect transition="in" filter="box(out)">
                                      <p:cBhvr>
                                        <p:cTn id="39" dur="500"/>
                                        <p:tgtEl>
                                          <p:spTgt spid="45070"/>
                                        </p:tgtEl>
                                      </p:cBhvr>
                                    </p:animEffect>
                                  </p:childTnLst>
                                </p:cTn>
                              </p:par>
                            </p:childTnLst>
                          </p:cTn>
                        </p:par>
                        <p:par>
                          <p:cTn id="40" fill="hold">
                            <p:stCondLst>
                              <p:cond delay="4500"/>
                            </p:stCondLst>
                            <p:childTnLst>
                              <p:par>
                                <p:cTn id="41" presetID="17" presetClass="entr" presetSubtype="1" fill="hold" nodeType="afterEffect">
                                  <p:stCondLst>
                                    <p:cond delay="0"/>
                                  </p:stCondLst>
                                  <p:childTnLst>
                                    <p:set>
                                      <p:cBhvr>
                                        <p:cTn id="42" dur="1" fill="hold">
                                          <p:stCondLst>
                                            <p:cond delay="0"/>
                                          </p:stCondLst>
                                        </p:cTn>
                                        <p:tgtEl>
                                          <p:spTgt spid="45084"/>
                                        </p:tgtEl>
                                        <p:attrNameLst>
                                          <p:attrName>style.visibility</p:attrName>
                                        </p:attrNameLst>
                                      </p:cBhvr>
                                      <p:to>
                                        <p:strVal val="visible"/>
                                      </p:to>
                                    </p:set>
                                    <p:anim calcmode="lin" valueType="num">
                                      <p:cBhvr>
                                        <p:cTn id="43" dur="500" fill="hold"/>
                                        <p:tgtEl>
                                          <p:spTgt spid="45084"/>
                                        </p:tgtEl>
                                        <p:attrNameLst>
                                          <p:attrName>ppt_x</p:attrName>
                                        </p:attrNameLst>
                                      </p:cBhvr>
                                      <p:tavLst>
                                        <p:tav tm="0">
                                          <p:val>
                                            <p:strVal val="#ppt_x"/>
                                          </p:val>
                                        </p:tav>
                                        <p:tav tm="100000">
                                          <p:val>
                                            <p:strVal val="#ppt_x"/>
                                          </p:val>
                                        </p:tav>
                                      </p:tavLst>
                                    </p:anim>
                                    <p:anim calcmode="lin" valueType="num">
                                      <p:cBhvr>
                                        <p:cTn id="44" dur="500" fill="hold"/>
                                        <p:tgtEl>
                                          <p:spTgt spid="45084"/>
                                        </p:tgtEl>
                                        <p:attrNameLst>
                                          <p:attrName>ppt_y</p:attrName>
                                        </p:attrNameLst>
                                      </p:cBhvr>
                                      <p:tavLst>
                                        <p:tav tm="0">
                                          <p:val>
                                            <p:strVal val="#ppt_y-#ppt_h/2"/>
                                          </p:val>
                                        </p:tav>
                                        <p:tav tm="100000">
                                          <p:val>
                                            <p:strVal val="#ppt_y"/>
                                          </p:val>
                                        </p:tav>
                                      </p:tavLst>
                                    </p:anim>
                                    <p:anim calcmode="lin" valueType="num">
                                      <p:cBhvr>
                                        <p:cTn id="45" dur="500" fill="hold"/>
                                        <p:tgtEl>
                                          <p:spTgt spid="45084"/>
                                        </p:tgtEl>
                                        <p:attrNameLst>
                                          <p:attrName>ppt_w</p:attrName>
                                        </p:attrNameLst>
                                      </p:cBhvr>
                                      <p:tavLst>
                                        <p:tav tm="0">
                                          <p:val>
                                            <p:strVal val="#ppt_w"/>
                                          </p:val>
                                        </p:tav>
                                        <p:tav tm="100000">
                                          <p:val>
                                            <p:strVal val="#ppt_w"/>
                                          </p:val>
                                        </p:tav>
                                      </p:tavLst>
                                    </p:anim>
                                    <p:anim calcmode="lin" valueType="num">
                                      <p:cBhvr>
                                        <p:cTn id="46" dur="500" fill="hold"/>
                                        <p:tgtEl>
                                          <p:spTgt spid="45084"/>
                                        </p:tgtEl>
                                        <p:attrNameLst>
                                          <p:attrName>ppt_h</p:attrName>
                                        </p:attrNameLst>
                                      </p:cBhvr>
                                      <p:tavLst>
                                        <p:tav tm="0">
                                          <p:val>
                                            <p:fltVal val="0.000000"/>
                                          </p:val>
                                        </p:tav>
                                        <p:tav tm="100000">
                                          <p:val>
                                            <p:strVal val="#ppt_h"/>
                                          </p:val>
                                        </p:tav>
                                      </p:tavLst>
                                    </p:anim>
                                  </p:childTnLst>
                                </p:cTn>
                              </p:par>
                            </p:childTnLst>
                          </p:cTn>
                        </p:par>
                        <p:par>
                          <p:cTn id="47" fill="hold">
                            <p:stCondLst>
                              <p:cond delay="5000"/>
                            </p:stCondLst>
                            <p:childTnLst>
                              <p:par>
                                <p:cTn id="48" presetID="17" presetClass="entr" presetSubtype="1" fill="hold" nodeType="afterEffect">
                                  <p:stCondLst>
                                    <p:cond delay="0"/>
                                  </p:stCondLst>
                                  <p:childTnLst>
                                    <p:set>
                                      <p:cBhvr>
                                        <p:cTn id="49" dur="1" fill="hold">
                                          <p:stCondLst>
                                            <p:cond delay="0"/>
                                          </p:stCondLst>
                                        </p:cTn>
                                        <p:tgtEl>
                                          <p:spTgt spid="45085"/>
                                        </p:tgtEl>
                                        <p:attrNameLst>
                                          <p:attrName>style.visibility</p:attrName>
                                        </p:attrNameLst>
                                      </p:cBhvr>
                                      <p:to>
                                        <p:strVal val="visible"/>
                                      </p:to>
                                    </p:set>
                                    <p:anim calcmode="lin" valueType="num">
                                      <p:cBhvr>
                                        <p:cTn id="50" dur="500" fill="hold"/>
                                        <p:tgtEl>
                                          <p:spTgt spid="45085"/>
                                        </p:tgtEl>
                                        <p:attrNameLst>
                                          <p:attrName>ppt_x</p:attrName>
                                        </p:attrNameLst>
                                      </p:cBhvr>
                                      <p:tavLst>
                                        <p:tav tm="0">
                                          <p:val>
                                            <p:strVal val="#ppt_x"/>
                                          </p:val>
                                        </p:tav>
                                        <p:tav tm="100000">
                                          <p:val>
                                            <p:strVal val="#ppt_x"/>
                                          </p:val>
                                        </p:tav>
                                      </p:tavLst>
                                    </p:anim>
                                    <p:anim calcmode="lin" valueType="num">
                                      <p:cBhvr>
                                        <p:cTn id="51" dur="500" fill="hold"/>
                                        <p:tgtEl>
                                          <p:spTgt spid="45085"/>
                                        </p:tgtEl>
                                        <p:attrNameLst>
                                          <p:attrName>ppt_y</p:attrName>
                                        </p:attrNameLst>
                                      </p:cBhvr>
                                      <p:tavLst>
                                        <p:tav tm="0">
                                          <p:val>
                                            <p:strVal val="#ppt_y-#ppt_h/2"/>
                                          </p:val>
                                        </p:tav>
                                        <p:tav tm="100000">
                                          <p:val>
                                            <p:strVal val="#ppt_y"/>
                                          </p:val>
                                        </p:tav>
                                      </p:tavLst>
                                    </p:anim>
                                    <p:anim calcmode="lin" valueType="num">
                                      <p:cBhvr>
                                        <p:cTn id="52" dur="500" fill="hold"/>
                                        <p:tgtEl>
                                          <p:spTgt spid="45085"/>
                                        </p:tgtEl>
                                        <p:attrNameLst>
                                          <p:attrName>ppt_w</p:attrName>
                                        </p:attrNameLst>
                                      </p:cBhvr>
                                      <p:tavLst>
                                        <p:tav tm="0">
                                          <p:val>
                                            <p:strVal val="#ppt_w"/>
                                          </p:val>
                                        </p:tav>
                                        <p:tav tm="100000">
                                          <p:val>
                                            <p:strVal val="#ppt_w"/>
                                          </p:val>
                                        </p:tav>
                                      </p:tavLst>
                                    </p:anim>
                                    <p:anim calcmode="lin" valueType="num">
                                      <p:cBhvr>
                                        <p:cTn id="53" dur="500" fill="hold"/>
                                        <p:tgtEl>
                                          <p:spTgt spid="45085"/>
                                        </p:tgtEl>
                                        <p:attrNameLst>
                                          <p:attrName>ppt_h</p:attrName>
                                        </p:attrNameLst>
                                      </p:cBhvr>
                                      <p:tavLst>
                                        <p:tav tm="0">
                                          <p:val>
                                            <p:fltVal val="0.000000"/>
                                          </p:val>
                                        </p:tav>
                                        <p:tav tm="100000">
                                          <p:val>
                                            <p:strVal val="#ppt_h"/>
                                          </p:val>
                                        </p:tav>
                                      </p:tavLst>
                                    </p:anim>
                                  </p:childTnLst>
                                </p:cTn>
                              </p:par>
                            </p:childTnLst>
                          </p:cTn>
                        </p:par>
                        <p:par>
                          <p:cTn id="54" fill="hold">
                            <p:stCondLst>
                              <p:cond delay="5500"/>
                            </p:stCondLst>
                            <p:childTnLst>
                              <p:par>
                                <p:cTn id="55" presetID="17" presetClass="entr" presetSubtype="1" fill="hold" nodeType="afterEffect">
                                  <p:stCondLst>
                                    <p:cond delay="0"/>
                                  </p:stCondLst>
                                  <p:childTnLst>
                                    <p:set>
                                      <p:cBhvr>
                                        <p:cTn id="56" dur="1" fill="hold">
                                          <p:stCondLst>
                                            <p:cond delay="0"/>
                                          </p:stCondLst>
                                        </p:cTn>
                                        <p:tgtEl>
                                          <p:spTgt spid="45086"/>
                                        </p:tgtEl>
                                        <p:attrNameLst>
                                          <p:attrName>style.visibility</p:attrName>
                                        </p:attrNameLst>
                                      </p:cBhvr>
                                      <p:to>
                                        <p:strVal val="visible"/>
                                      </p:to>
                                    </p:set>
                                    <p:anim calcmode="lin" valueType="num">
                                      <p:cBhvr>
                                        <p:cTn id="57" dur="500" fill="hold"/>
                                        <p:tgtEl>
                                          <p:spTgt spid="45086"/>
                                        </p:tgtEl>
                                        <p:attrNameLst>
                                          <p:attrName>ppt_x</p:attrName>
                                        </p:attrNameLst>
                                      </p:cBhvr>
                                      <p:tavLst>
                                        <p:tav tm="0">
                                          <p:val>
                                            <p:strVal val="#ppt_x"/>
                                          </p:val>
                                        </p:tav>
                                        <p:tav tm="100000">
                                          <p:val>
                                            <p:strVal val="#ppt_x"/>
                                          </p:val>
                                        </p:tav>
                                      </p:tavLst>
                                    </p:anim>
                                    <p:anim calcmode="lin" valueType="num">
                                      <p:cBhvr>
                                        <p:cTn id="58" dur="500" fill="hold"/>
                                        <p:tgtEl>
                                          <p:spTgt spid="45086"/>
                                        </p:tgtEl>
                                        <p:attrNameLst>
                                          <p:attrName>ppt_y</p:attrName>
                                        </p:attrNameLst>
                                      </p:cBhvr>
                                      <p:tavLst>
                                        <p:tav tm="0">
                                          <p:val>
                                            <p:strVal val="#ppt_y-#ppt_h/2"/>
                                          </p:val>
                                        </p:tav>
                                        <p:tav tm="100000">
                                          <p:val>
                                            <p:strVal val="#ppt_y"/>
                                          </p:val>
                                        </p:tav>
                                      </p:tavLst>
                                    </p:anim>
                                    <p:anim calcmode="lin" valueType="num">
                                      <p:cBhvr>
                                        <p:cTn id="59" dur="500" fill="hold"/>
                                        <p:tgtEl>
                                          <p:spTgt spid="45086"/>
                                        </p:tgtEl>
                                        <p:attrNameLst>
                                          <p:attrName>ppt_w</p:attrName>
                                        </p:attrNameLst>
                                      </p:cBhvr>
                                      <p:tavLst>
                                        <p:tav tm="0">
                                          <p:val>
                                            <p:strVal val="#ppt_w"/>
                                          </p:val>
                                        </p:tav>
                                        <p:tav tm="100000">
                                          <p:val>
                                            <p:strVal val="#ppt_w"/>
                                          </p:val>
                                        </p:tav>
                                      </p:tavLst>
                                    </p:anim>
                                    <p:anim calcmode="lin" valueType="num">
                                      <p:cBhvr>
                                        <p:cTn id="60" dur="500" fill="hold"/>
                                        <p:tgtEl>
                                          <p:spTgt spid="45086"/>
                                        </p:tgtEl>
                                        <p:attrNameLst>
                                          <p:attrName>ppt_h</p:attrName>
                                        </p:attrNameLst>
                                      </p:cBhvr>
                                      <p:tavLst>
                                        <p:tav tm="0">
                                          <p:val>
                                            <p:fltVal val="0.000000"/>
                                          </p:val>
                                        </p:tav>
                                        <p:tav tm="100000">
                                          <p:val>
                                            <p:strVal val="#ppt_h"/>
                                          </p:val>
                                        </p:tav>
                                      </p:tavLst>
                                    </p:anim>
                                  </p:childTnLst>
                                </p:cTn>
                              </p:par>
                            </p:childTnLst>
                          </p:cTn>
                        </p:par>
                        <p:par>
                          <p:cTn id="61" fill="hold">
                            <p:stCondLst>
                              <p:cond delay="6000"/>
                            </p:stCondLst>
                            <p:childTnLst>
                              <p:par>
                                <p:cTn id="62" presetID="17" presetClass="entr" presetSubtype="1" fill="hold" nodeType="afterEffect">
                                  <p:stCondLst>
                                    <p:cond delay="0"/>
                                  </p:stCondLst>
                                  <p:childTnLst>
                                    <p:set>
                                      <p:cBhvr>
                                        <p:cTn id="63" dur="1" fill="hold">
                                          <p:stCondLst>
                                            <p:cond delay="0"/>
                                          </p:stCondLst>
                                        </p:cTn>
                                        <p:tgtEl>
                                          <p:spTgt spid="45087"/>
                                        </p:tgtEl>
                                        <p:attrNameLst>
                                          <p:attrName>style.visibility</p:attrName>
                                        </p:attrNameLst>
                                      </p:cBhvr>
                                      <p:to>
                                        <p:strVal val="visible"/>
                                      </p:to>
                                    </p:set>
                                    <p:anim calcmode="lin" valueType="num">
                                      <p:cBhvr>
                                        <p:cTn id="64" dur="500" fill="hold"/>
                                        <p:tgtEl>
                                          <p:spTgt spid="45087"/>
                                        </p:tgtEl>
                                        <p:attrNameLst>
                                          <p:attrName>ppt_x</p:attrName>
                                        </p:attrNameLst>
                                      </p:cBhvr>
                                      <p:tavLst>
                                        <p:tav tm="0">
                                          <p:val>
                                            <p:strVal val="#ppt_x"/>
                                          </p:val>
                                        </p:tav>
                                        <p:tav tm="100000">
                                          <p:val>
                                            <p:strVal val="#ppt_x"/>
                                          </p:val>
                                        </p:tav>
                                      </p:tavLst>
                                    </p:anim>
                                    <p:anim calcmode="lin" valueType="num">
                                      <p:cBhvr>
                                        <p:cTn id="65" dur="500" fill="hold"/>
                                        <p:tgtEl>
                                          <p:spTgt spid="45087"/>
                                        </p:tgtEl>
                                        <p:attrNameLst>
                                          <p:attrName>ppt_y</p:attrName>
                                        </p:attrNameLst>
                                      </p:cBhvr>
                                      <p:tavLst>
                                        <p:tav tm="0">
                                          <p:val>
                                            <p:strVal val="#ppt_y-#ppt_h/2"/>
                                          </p:val>
                                        </p:tav>
                                        <p:tav tm="100000">
                                          <p:val>
                                            <p:strVal val="#ppt_y"/>
                                          </p:val>
                                        </p:tav>
                                      </p:tavLst>
                                    </p:anim>
                                    <p:anim calcmode="lin" valueType="num">
                                      <p:cBhvr>
                                        <p:cTn id="66" dur="500" fill="hold"/>
                                        <p:tgtEl>
                                          <p:spTgt spid="45087"/>
                                        </p:tgtEl>
                                        <p:attrNameLst>
                                          <p:attrName>ppt_w</p:attrName>
                                        </p:attrNameLst>
                                      </p:cBhvr>
                                      <p:tavLst>
                                        <p:tav tm="0">
                                          <p:val>
                                            <p:strVal val="#ppt_w"/>
                                          </p:val>
                                        </p:tav>
                                        <p:tav tm="100000">
                                          <p:val>
                                            <p:strVal val="#ppt_w"/>
                                          </p:val>
                                        </p:tav>
                                      </p:tavLst>
                                    </p:anim>
                                    <p:anim calcmode="lin" valueType="num">
                                      <p:cBhvr>
                                        <p:cTn id="67" dur="500" fill="hold"/>
                                        <p:tgtEl>
                                          <p:spTgt spid="45087"/>
                                        </p:tgtEl>
                                        <p:attrNameLst>
                                          <p:attrName>ppt_h</p:attrName>
                                        </p:attrNameLst>
                                      </p:cBhvr>
                                      <p:tavLst>
                                        <p:tav tm="0">
                                          <p:val>
                                            <p:fltVal val="0.000000"/>
                                          </p:val>
                                        </p:tav>
                                        <p:tav tm="100000">
                                          <p:val>
                                            <p:strVal val="#ppt_h"/>
                                          </p:val>
                                        </p:tav>
                                      </p:tavLst>
                                    </p:anim>
                                  </p:childTnLst>
                                </p:cTn>
                              </p:par>
                            </p:childTnLst>
                          </p:cTn>
                        </p:par>
                        <p:par>
                          <p:cTn id="68" fill="hold">
                            <p:stCondLst>
                              <p:cond delay="6500"/>
                            </p:stCondLst>
                            <p:childTnLst>
                              <p:par>
                                <p:cTn id="69" presetID="17" presetClass="entr" presetSubtype="1" fill="hold" nodeType="afterEffect">
                                  <p:stCondLst>
                                    <p:cond delay="0"/>
                                  </p:stCondLst>
                                  <p:childTnLst>
                                    <p:set>
                                      <p:cBhvr>
                                        <p:cTn id="70" dur="1" fill="hold">
                                          <p:stCondLst>
                                            <p:cond delay="0"/>
                                          </p:stCondLst>
                                        </p:cTn>
                                        <p:tgtEl>
                                          <p:spTgt spid="45088"/>
                                        </p:tgtEl>
                                        <p:attrNameLst>
                                          <p:attrName>style.visibility</p:attrName>
                                        </p:attrNameLst>
                                      </p:cBhvr>
                                      <p:to>
                                        <p:strVal val="visible"/>
                                      </p:to>
                                    </p:set>
                                    <p:anim calcmode="lin" valueType="num">
                                      <p:cBhvr>
                                        <p:cTn id="71" dur="500" fill="hold"/>
                                        <p:tgtEl>
                                          <p:spTgt spid="45088"/>
                                        </p:tgtEl>
                                        <p:attrNameLst>
                                          <p:attrName>ppt_x</p:attrName>
                                        </p:attrNameLst>
                                      </p:cBhvr>
                                      <p:tavLst>
                                        <p:tav tm="0">
                                          <p:val>
                                            <p:strVal val="#ppt_x"/>
                                          </p:val>
                                        </p:tav>
                                        <p:tav tm="100000">
                                          <p:val>
                                            <p:strVal val="#ppt_x"/>
                                          </p:val>
                                        </p:tav>
                                      </p:tavLst>
                                    </p:anim>
                                    <p:anim calcmode="lin" valueType="num">
                                      <p:cBhvr>
                                        <p:cTn id="72" dur="500" fill="hold"/>
                                        <p:tgtEl>
                                          <p:spTgt spid="45088"/>
                                        </p:tgtEl>
                                        <p:attrNameLst>
                                          <p:attrName>ppt_y</p:attrName>
                                        </p:attrNameLst>
                                      </p:cBhvr>
                                      <p:tavLst>
                                        <p:tav tm="0">
                                          <p:val>
                                            <p:strVal val="#ppt_y-#ppt_h/2"/>
                                          </p:val>
                                        </p:tav>
                                        <p:tav tm="100000">
                                          <p:val>
                                            <p:strVal val="#ppt_y"/>
                                          </p:val>
                                        </p:tav>
                                      </p:tavLst>
                                    </p:anim>
                                    <p:anim calcmode="lin" valueType="num">
                                      <p:cBhvr>
                                        <p:cTn id="73" dur="500" fill="hold"/>
                                        <p:tgtEl>
                                          <p:spTgt spid="45088"/>
                                        </p:tgtEl>
                                        <p:attrNameLst>
                                          <p:attrName>ppt_w</p:attrName>
                                        </p:attrNameLst>
                                      </p:cBhvr>
                                      <p:tavLst>
                                        <p:tav tm="0">
                                          <p:val>
                                            <p:strVal val="#ppt_w"/>
                                          </p:val>
                                        </p:tav>
                                        <p:tav tm="100000">
                                          <p:val>
                                            <p:strVal val="#ppt_w"/>
                                          </p:val>
                                        </p:tav>
                                      </p:tavLst>
                                    </p:anim>
                                    <p:anim calcmode="lin" valueType="num">
                                      <p:cBhvr>
                                        <p:cTn id="74" dur="500" fill="hold"/>
                                        <p:tgtEl>
                                          <p:spTgt spid="45088"/>
                                        </p:tgtEl>
                                        <p:attrNameLst>
                                          <p:attrName>ppt_h</p:attrName>
                                        </p:attrNameLst>
                                      </p:cBhvr>
                                      <p:tavLst>
                                        <p:tav tm="0">
                                          <p:val>
                                            <p:fltVal val="0.000000"/>
                                          </p:val>
                                        </p:tav>
                                        <p:tav tm="100000">
                                          <p:val>
                                            <p:strVal val="#ppt_h"/>
                                          </p:val>
                                        </p:tav>
                                      </p:tavLst>
                                    </p:anim>
                                  </p:childTnLst>
                                </p:cTn>
                              </p:par>
                            </p:childTnLst>
                          </p:cTn>
                        </p:par>
                        <p:par>
                          <p:cTn id="75" fill="hold">
                            <p:stCondLst>
                              <p:cond delay="7000"/>
                            </p:stCondLst>
                            <p:childTnLst>
                              <p:par>
                                <p:cTn id="76" presetID="17" presetClass="entr" presetSubtype="1" fill="hold" nodeType="afterEffect">
                                  <p:stCondLst>
                                    <p:cond delay="0"/>
                                  </p:stCondLst>
                                  <p:childTnLst>
                                    <p:set>
                                      <p:cBhvr>
                                        <p:cTn id="77" dur="1" fill="hold">
                                          <p:stCondLst>
                                            <p:cond delay="0"/>
                                          </p:stCondLst>
                                        </p:cTn>
                                        <p:tgtEl>
                                          <p:spTgt spid="45089"/>
                                        </p:tgtEl>
                                        <p:attrNameLst>
                                          <p:attrName>style.visibility</p:attrName>
                                        </p:attrNameLst>
                                      </p:cBhvr>
                                      <p:to>
                                        <p:strVal val="visible"/>
                                      </p:to>
                                    </p:set>
                                    <p:anim calcmode="lin" valueType="num">
                                      <p:cBhvr>
                                        <p:cTn id="78" dur="500" fill="hold"/>
                                        <p:tgtEl>
                                          <p:spTgt spid="45089"/>
                                        </p:tgtEl>
                                        <p:attrNameLst>
                                          <p:attrName>ppt_x</p:attrName>
                                        </p:attrNameLst>
                                      </p:cBhvr>
                                      <p:tavLst>
                                        <p:tav tm="0">
                                          <p:val>
                                            <p:strVal val="#ppt_x"/>
                                          </p:val>
                                        </p:tav>
                                        <p:tav tm="100000">
                                          <p:val>
                                            <p:strVal val="#ppt_x"/>
                                          </p:val>
                                        </p:tav>
                                      </p:tavLst>
                                    </p:anim>
                                    <p:anim calcmode="lin" valueType="num">
                                      <p:cBhvr>
                                        <p:cTn id="79" dur="500" fill="hold"/>
                                        <p:tgtEl>
                                          <p:spTgt spid="45089"/>
                                        </p:tgtEl>
                                        <p:attrNameLst>
                                          <p:attrName>ppt_y</p:attrName>
                                        </p:attrNameLst>
                                      </p:cBhvr>
                                      <p:tavLst>
                                        <p:tav tm="0">
                                          <p:val>
                                            <p:strVal val="#ppt_y-#ppt_h/2"/>
                                          </p:val>
                                        </p:tav>
                                        <p:tav tm="100000">
                                          <p:val>
                                            <p:strVal val="#ppt_y"/>
                                          </p:val>
                                        </p:tav>
                                      </p:tavLst>
                                    </p:anim>
                                    <p:anim calcmode="lin" valueType="num">
                                      <p:cBhvr>
                                        <p:cTn id="80" dur="500" fill="hold"/>
                                        <p:tgtEl>
                                          <p:spTgt spid="45089"/>
                                        </p:tgtEl>
                                        <p:attrNameLst>
                                          <p:attrName>ppt_w</p:attrName>
                                        </p:attrNameLst>
                                      </p:cBhvr>
                                      <p:tavLst>
                                        <p:tav tm="0">
                                          <p:val>
                                            <p:strVal val="#ppt_w"/>
                                          </p:val>
                                        </p:tav>
                                        <p:tav tm="100000">
                                          <p:val>
                                            <p:strVal val="#ppt_w"/>
                                          </p:val>
                                        </p:tav>
                                      </p:tavLst>
                                    </p:anim>
                                    <p:anim calcmode="lin" valueType="num">
                                      <p:cBhvr>
                                        <p:cTn id="81" dur="500" fill="hold"/>
                                        <p:tgtEl>
                                          <p:spTgt spid="45089"/>
                                        </p:tgtEl>
                                        <p:attrNameLst>
                                          <p:attrName>ppt_h</p:attrName>
                                        </p:attrNameLst>
                                      </p:cBhvr>
                                      <p:tavLst>
                                        <p:tav tm="0">
                                          <p:val>
                                            <p:fltVal val="0.000000"/>
                                          </p:val>
                                        </p:tav>
                                        <p:tav tm="100000">
                                          <p:val>
                                            <p:strVal val="#ppt_h"/>
                                          </p:val>
                                        </p:tav>
                                      </p:tavLst>
                                    </p:anim>
                                  </p:childTnLst>
                                </p:cTn>
                              </p:par>
                            </p:childTnLst>
                          </p:cTn>
                        </p:par>
                        <p:par>
                          <p:cTn id="82" fill="hold">
                            <p:stCondLst>
                              <p:cond delay="7500"/>
                            </p:stCondLst>
                            <p:childTnLst>
                              <p:par>
                                <p:cTn id="83" presetID="17" presetClass="entr" presetSubtype="1" fill="hold" nodeType="afterEffect">
                                  <p:stCondLst>
                                    <p:cond delay="0"/>
                                  </p:stCondLst>
                                  <p:childTnLst>
                                    <p:set>
                                      <p:cBhvr>
                                        <p:cTn id="84" dur="1" fill="hold">
                                          <p:stCondLst>
                                            <p:cond delay="0"/>
                                          </p:stCondLst>
                                        </p:cTn>
                                        <p:tgtEl>
                                          <p:spTgt spid="45090"/>
                                        </p:tgtEl>
                                        <p:attrNameLst>
                                          <p:attrName>style.visibility</p:attrName>
                                        </p:attrNameLst>
                                      </p:cBhvr>
                                      <p:to>
                                        <p:strVal val="visible"/>
                                      </p:to>
                                    </p:set>
                                    <p:anim calcmode="lin" valueType="num">
                                      <p:cBhvr>
                                        <p:cTn id="85" dur="500" fill="hold"/>
                                        <p:tgtEl>
                                          <p:spTgt spid="45090"/>
                                        </p:tgtEl>
                                        <p:attrNameLst>
                                          <p:attrName>ppt_x</p:attrName>
                                        </p:attrNameLst>
                                      </p:cBhvr>
                                      <p:tavLst>
                                        <p:tav tm="0">
                                          <p:val>
                                            <p:strVal val="#ppt_x"/>
                                          </p:val>
                                        </p:tav>
                                        <p:tav tm="100000">
                                          <p:val>
                                            <p:strVal val="#ppt_x"/>
                                          </p:val>
                                        </p:tav>
                                      </p:tavLst>
                                    </p:anim>
                                    <p:anim calcmode="lin" valueType="num">
                                      <p:cBhvr>
                                        <p:cTn id="86" dur="500" fill="hold"/>
                                        <p:tgtEl>
                                          <p:spTgt spid="45090"/>
                                        </p:tgtEl>
                                        <p:attrNameLst>
                                          <p:attrName>ppt_y</p:attrName>
                                        </p:attrNameLst>
                                      </p:cBhvr>
                                      <p:tavLst>
                                        <p:tav tm="0">
                                          <p:val>
                                            <p:strVal val="#ppt_y-#ppt_h/2"/>
                                          </p:val>
                                        </p:tav>
                                        <p:tav tm="100000">
                                          <p:val>
                                            <p:strVal val="#ppt_y"/>
                                          </p:val>
                                        </p:tav>
                                      </p:tavLst>
                                    </p:anim>
                                    <p:anim calcmode="lin" valueType="num">
                                      <p:cBhvr>
                                        <p:cTn id="87" dur="500" fill="hold"/>
                                        <p:tgtEl>
                                          <p:spTgt spid="45090"/>
                                        </p:tgtEl>
                                        <p:attrNameLst>
                                          <p:attrName>ppt_w</p:attrName>
                                        </p:attrNameLst>
                                      </p:cBhvr>
                                      <p:tavLst>
                                        <p:tav tm="0">
                                          <p:val>
                                            <p:strVal val="#ppt_w"/>
                                          </p:val>
                                        </p:tav>
                                        <p:tav tm="100000">
                                          <p:val>
                                            <p:strVal val="#ppt_w"/>
                                          </p:val>
                                        </p:tav>
                                      </p:tavLst>
                                    </p:anim>
                                    <p:anim calcmode="lin" valueType="num">
                                      <p:cBhvr>
                                        <p:cTn id="88" dur="500" fill="hold"/>
                                        <p:tgtEl>
                                          <p:spTgt spid="45090"/>
                                        </p:tgtEl>
                                        <p:attrNameLst>
                                          <p:attrName>ppt_h</p:attrName>
                                        </p:attrNameLst>
                                      </p:cBhvr>
                                      <p:tavLst>
                                        <p:tav tm="0">
                                          <p:val>
                                            <p:fltVal val="0.000000"/>
                                          </p:val>
                                        </p:tav>
                                        <p:tav tm="100000">
                                          <p:val>
                                            <p:strVal val="#ppt_h"/>
                                          </p:val>
                                        </p:tav>
                                      </p:tavLst>
                                    </p:anim>
                                  </p:childTnLst>
                                </p:cTn>
                              </p:par>
                            </p:childTnLst>
                          </p:cTn>
                        </p:par>
                        <p:par>
                          <p:cTn id="89" fill="hold">
                            <p:stCondLst>
                              <p:cond delay="8000"/>
                            </p:stCondLst>
                            <p:childTnLst>
                              <p:par>
                                <p:cTn id="90" presetID="17" presetClass="entr" presetSubtype="1" fill="hold" nodeType="afterEffect">
                                  <p:stCondLst>
                                    <p:cond delay="0"/>
                                  </p:stCondLst>
                                  <p:childTnLst>
                                    <p:set>
                                      <p:cBhvr>
                                        <p:cTn id="91" dur="1" fill="hold">
                                          <p:stCondLst>
                                            <p:cond delay="0"/>
                                          </p:stCondLst>
                                        </p:cTn>
                                        <p:tgtEl>
                                          <p:spTgt spid="45091"/>
                                        </p:tgtEl>
                                        <p:attrNameLst>
                                          <p:attrName>style.visibility</p:attrName>
                                        </p:attrNameLst>
                                      </p:cBhvr>
                                      <p:to>
                                        <p:strVal val="visible"/>
                                      </p:to>
                                    </p:set>
                                    <p:anim calcmode="lin" valueType="num">
                                      <p:cBhvr>
                                        <p:cTn id="92" dur="500" fill="hold"/>
                                        <p:tgtEl>
                                          <p:spTgt spid="45091"/>
                                        </p:tgtEl>
                                        <p:attrNameLst>
                                          <p:attrName>ppt_x</p:attrName>
                                        </p:attrNameLst>
                                      </p:cBhvr>
                                      <p:tavLst>
                                        <p:tav tm="0">
                                          <p:val>
                                            <p:strVal val="#ppt_x"/>
                                          </p:val>
                                        </p:tav>
                                        <p:tav tm="100000">
                                          <p:val>
                                            <p:strVal val="#ppt_x"/>
                                          </p:val>
                                        </p:tav>
                                      </p:tavLst>
                                    </p:anim>
                                    <p:anim calcmode="lin" valueType="num">
                                      <p:cBhvr>
                                        <p:cTn id="93" dur="500" fill="hold"/>
                                        <p:tgtEl>
                                          <p:spTgt spid="45091"/>
                                        </p:tgtEl>
                                        <p:attrNameLst>
                                          <p:attrName>ppt_y</p:attrName>
                                        </p:attrNameLst>
                                      </p:cBhvr>
                                      <p:tavLst>
                                        <p:tav tm="0">
                                          <p:val>
                                            <p:strVal val="#ppt_y-#ppt_h/2"/>
                                          </p:val>
                                        </p:tav>
                                        <p:tav tm="100000">
                                          <p:val>
                                            <p:strVal val="#ppt_y"/>
                                          </p:val>
                                        </p:tav>
                                      </p:tavLst>
                                    </p:anim>
                                    <p:anim calcmode="lin" valueType="num">
                                      <p:cBhvr>
                                        <p:cTn id="94" dur="500" fill="hold"/>
                                        <p:tgtEl>
                                          <p:spTgt spid="45091"/>
                                        </p:tgtEl>
                                        <p:attrNameLst>
                                          <p:attrName>ppt_w</p:attrName>
                                        </p:attrNameLst>
                                      </p:cBhvr>
                                      <p:tavLst>
                                        <p:tav tm="0">
                                          <p:val>
                                            <p:strVal val="#ppt_w"/>
                                          </p:val>
                                        </p:tav>
                                        <p:tav tm="100000">
                                          <p:val>
                                            <p:strVal val="#ppt_w"/>
                                          </p:val>
                                        </p:tav>
                                      </p:tavLst>
                                    </p:anim>
                                    <p:anim calcmode="lin" valueType="num">
                                      <p:cBhvr>
                                        <p:cTn id="95" dur="500" fill="hold"/>
                                        <p:tgtEl>
                                          <p:spTgt spid="45091"/>
                                        </p:tgtEl>
                                        <p:attrNameLst>
                                          <p:attrName>ppt_h</p:attrName>
                                        </p:attrNameLst>
                                      </p:cBhvr>
                                      <p:tavLst>
                                        <p:tav tm="0">
                                          <p:val>
                                            <p:fltVal val="0.000000"/>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8" fill="hold" grpId="0" nodeType="clickEffect">
                                  <p:stCondLst>
                                    <p:cond delay="0"/>
                                  </p:stCondLst>
                                  <p:childTnLst>
                                    <p:set>
                                      <p:cBhvr>
                                        <p:cTn id="99" dur="1" fill="hold">
                                          <p:stCondLst>
                                            <p:cond delay="0"/>
                                          </p:stCondLst>
                                        </p:cTn>
                                        <p:tgtEl>
                                          <p:spTgt spid="45096"/>
                                        </p:tgtEl>
                                        <p:attrNameLst>
                                          <p:attrName>style.visibility</p:attrName>
                                        </p:attrNameLst>
                                      </p:cBhvr>
                                      <p:to>
                                        <p:strVal val="visible"/>
                                      </p:to>
                                    </p:set>
                                    <p:anim calcmode="lin" valueType="num">
                                      <p:cBhvr additive="base">
                                        <p:cTn id="100" dur="500" fill="hold"/>
                                        <p:tgtEl>
                                          <p:spTgt spid="45096"/>
                                        </p:tgtEl>
                                        <p:attrNameLst>
                                          <p:attrName>ppt_x</p:attrName>
                                        </p:attrNameLst>
                                      </p:cBhvr>
                                      <p:tavLst>
                                        <p:tav tm="0">
                                          <p:val>
                                            <p:strVal val="0-#ppt_w/2"/>
                                          </p:val>
                                        </p:tav>
                                        <p:tav tm="100000">
                                          <p:val>
                                            <p:strVal val="#ppt_x"/>
                                          </p:val>
                                        </p:tav>
                                      </p:tavLst>
                                    </p:anim>
                                    <p:anim calcmode="lin" valueType="num">
                                      <p:cBhvr additive="base">
                                        <p:cTn id="101" dur="500" fill="hold"/>
                                        <p:tgtEl>
                                          <p:spTgt spid="45096"/>
                                        </p:tgtEl>
                                        <p:attrNameLst>
                                          <p:attrName>ppt_y</p:attrName>
                                        </p:attrNameLst>
                                      </p:cBhvr>
                                      <p:tavLst>
                                        <p:tav tm="0">
                                          <p:val>
                                            <p:strVal val="#ppt_y"/>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2" presetClass="entr" presetSubtype="8" fill="hold" grpId="0" nodeType="clickEffect">
                                  <p:stCondLst>
                                    <p:cond delay="0"/>
                                  </p:stCondLst>
                                  <p:childTnLst>
                                    <p:set>
                                      <p:cBhvr>
                                        <p:cTn id="105" dur="1" fill="hold">
                                          <p:stCondLst>
                                            <p:cond delay="0"/>
                                          </p:stCondLst>
                                        </p:cTn>
                                        <p:tgtEl>
                                          <p:spTgt spid="45092"/>
                                        </p:tgtEl>
                                        <p:attrNameLst>
                                          <p:attrName>style.visibility</p:attrName>
                                        </p:attrNameLst>
                                      </p:cBhvr>
                                      <p:to>
                                        <p:strVal val="visible"/>
                                      </p:to>
                                    </p:set>
                                    <p:animEffect transition="in" filter="slide(fromLeft)">
                                      <p:cBhvr>
                                        <p:cTn id="106" dur="500"/>
                                        <p:tgtEl>
                                          <p:spTgt spid="45092"/>
                                        </p:tgtEl>
                                      </p:cBhvr>
                                    </p:animEffect>
                                  </p:childTnLst>
                                </p:cTn>
                              </p:par>
                            </p:childTnLst>
                          </p:cTn>
                        </p:par>
                        <p:par>
                          <p:cTn id="107" fill="hold">
                            <p:stCondLst>
                              <p:cond delay="500"/>
                            </p:stCondLst>
                            <p:childTnLst>
                              <p:par>
                                <p:cTn id="108" presetID="2" presetClass="entr" presetSubtype="12" fill="hold" grpId="0" nodeType="afterEffect">
                                  <p:stCondLst>
                                    <p:cond delay="0"/>
                                  </p:stCondLst>
                                  <p:childTnLst>
                                    <p:set>
                                      <p:cBhvr>
                                        <p:cTn id="109" dur="1" fill="hold">
                                          <p:stCondLst>
                                            <p:cond delay="0"/>
                                          </p:stCondLst>
                                        </p:cTn>
                                        <p:tgtEl>
                                          <p:spTgt spid="45097"/>
                                        </p:tgtEl>
                                        <p:attrNameLst>
                                          <p:attrName>style.visibility</p:attrName>
                                        </p:attrNameLst>
                                      </p:cBhvr>
                                      <p:to>
                                        <p:strVal val="visible"/>
                                      </p:to>
                                    </p:set>
                                    <p:anim calcmode="lin" valueType="num">
                                      <p:cBhvr additive="base">
                                        <p:cTn id="110" dur="500" fill="hold"/>
                                        <p:tgtEl>
                                          <p:spTgt spid="45097"/>
                                        </p:tgtEl>
                                        <p:attrNameLst>
                                          <p:attrName>ppt_x</p:attrName>
                                        </p:attrNameLst>
                                      </p:cBhvr>
                                      <p:tavLst>
                                        <p:tav tm="0">
                                          <p:val>
                                            <p:strVal val="0-#ppt_w/2"/>
                                          </p:val>
                                        </p:tav>
                                        <p:tav tm="100000">
                                          <p:val>
                                            <p:strVal val="#ppt_x"/>
                                          </p:val>
                                        </p:tav>
                                      </p:tavLst>
                                    </p:anim>
                                    <p:anim calcmode="lin" valueType="num">
                                      <p:cBhvr additive="base">
                                        <p:cTn id="111" dur="500" fill="hold"/>
                                        <p:tgtEl>
                                          <p:spTgt spid="45097"/>
                                        </p:tgtEl>
                                        <p:attrNameLst>
                                          <p:attrName>ppt_y</p:attrName>
                                        </p:attrNameLst>
                                      </p:cBhvr>
                                      <p:tavLst>
                                        <p:tav tm="0">
                                          <p:val>
                                            <p:strVal val="1+#ppt_h/2"/>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17" presetClass="entr" presetSubtype="8" fill="hold" grpId="0" nodeType="clickEffect">
                                  <p:stCondLst>
                                    <p:cond delay="0"/>
                                  </p:stCondLst>
                                  <p:childTnLst>
                                    <p:set>
                                      <p:cBhvr>
                                        <p:cTn id="115" dur="1" fill="hold">
                                          <p:stCondLst>
                                            <p:cond delay="0"/>
                                          </p:stCondLst>
                                        </p:cTn>
                                        <p:tgtEl>
                                          <p:spTgt spid="45093"/>
                                        </p:tgtEl>
                                        <p:attrNameLst>
                                          <p:attrName>style.visibility</p:attrName>
                                        </p:attrNameLst>
                                      </p:cBhvr>
                                      <p:to>
                                        <p:strVal val="visible"/>
                                      </p:to>
                                    </p:set>
                                    <p:anim calcmode="lin" valueType="num">
                                      <p:cBhvr>
                                        <p:cTn id="116" dur="500" fill="hold"/>
                                        <p:tgtEl>
                                          <p:spTgt spid="45093"/>
                                        </p:tgtEl>
                                        <p:attrNameLst>
                                          <p:attrName>ppt_x</p:attrName>
                                        </p:attrNameLst>
                                      </p:cBhvr>
                                      <p:tavLst>
                                        <p:tav tm="0">
                                          <p:val>
                                            <p:strVal val="#ppt_x-#ppt_w/2"/>
                                          </p:val>
                                        </p:tav>
                                        <p:tav tm="100000">
                                          <p:val>
                                            <p:strVal val="#ppt_x"/>
                                          </p:val>
                                        </p:tav>
                                      </p:tavLst>
                                    </p:anim>
                                    <p:anim calcmode="lin" valueType="num">
                                      <p:cBhvr>
                                        <p:cTn id="117" dur="500" fill="hold"/>
                                        <p:tgtEl>
                                          <p:spTgt spid="45093"/>
                                        </p:tgtEl>
                                        <p:attrNameLst>
                                          <p:attrName>ppt_y</p:attrName>
                                        </p:attrNameLst>
                                      </p:cBhvr>
                                      <p:tavLst>
                                        <p:tav tm="0">
                                          <p:val>
                                            <p:strVal val="#ppt_y"/>
                                          </p:val>
                                        </p:tav>
                                        <p:tav tm="100000">
                                          <p:val>
                                            <p:strVal val="#ppt_y"/>
                                          </p:val>
                                        </p:tav>
                                      </p:tavLst>
                                    </p:anim>
                                    <p:anim calcmode="lin" valueType="num">
                                      <p:cBhvr>
                                        <p:cTn id="118" dur="500" fill="hold"/>
                                        <p:tgtEl>
                                          <p:spTgt spid="45093"/>
                                        </p:tgtEl>
                                        <p:attrNameLst>
                                          <p:attrName>ppt_w</p:attrName>
                                        </p:attrNameLst>
                                      </p:cBhvr>
                                      <p:tavLst>
                                        <p:tav tm="0">
                                          <p:val>
                                            <p:fltVal val="0.000000"/>
                                          </p:val>
                                        </p:tav>
                                        <p:tav tm="100000">
                                          <p:val>
                                            <p:strVal val="#ppt_w"/>
                                          </p:val>
                                        </p:tav>
                                      </p:tavLst>
                                    </p:anim>
                                    <p:anim calcmode="lin" valueType="num">
                                      <p:cBhvr>
                                        <p:cTn id="119" dur="500" fill="hold"/>
                                        <p:tgtEl>
                                          <p:spTgt spid="45093"/>
                                        </p:tgtEl>
                                        <p:attrNameLst>
                                          <p:attrName>ppt_h</p:attrName>
                                        </p:attrNameLst>
                                      </p:cBhvr>
                                      <p:tavLst>
                                        <p:tav tm="0">
                                          <p:val>
                                            <p:strVal val="#ppt_h"/>
                                          </p:val>
                                        </p:tav>
                                        <p:tav tm="100000">
                                          <p:val>
                                            <p:strVal val="#ppt_h"/>
                                          </p:val>
                                        </p:tav>
                                      </p:tavLst>
                                    </p:anim>
                                  </p:childTnLst>
                                </p:cTn>
                              </p:par>
                            </p:childTnLst>
                          </p:cTn>
                        </p:par>
                        <p:par>
                          <p:cTn id="120" fill="hold">
                            <p:stCondLst>
                              <p:cond delay="500"/>
                            </p:stCondLst>
                            <p:childTnLst>
                              <p:par>
                                <p:cTn id="121" presetID="2" presetClass="entr" presetSubtype="2" fill="hold" grpId="0" nodeType="afterEffect">
                                  <p:stCondLst>
                                    <p:cond delay="0"/>
                                  </p:stCondLst>
                                  <p:childTnLst>
                                    <p:set>
                                      <p:cBhvr>
                                        <p:cTn id="122" dur="1" fill="hold">
                                          <p:stCondLst>
                                            <p:cond delay="0"/>
                                          </p:stCondLst>
                                        </p:cTn>
                                        <p:tgtEl>
                                          <p:spTgt spid="45098"/>
                                        </p:tgtEl>
                                        <p:attrNameLst>
                                          <p:attrName>style.visibility</p:attrName>
                                        </p:attrNameLst>
                                      </p:cBhvr>
                                      <p:to>
                                        <p:strVal val="visible"/>
                                      </p:to>
                                    </p:set>
                                    <p:anim calcmode="lin" valueType="num">
                                      <p:cBhvr additive="base">
                                        <p:cTn id="123" dur="500" fill="hold"/>
                                        <p:tgtEl>
                                          <p:spTgt spid="45098"/>
                                        </p:tgtEl>
                                        <p:attrNameLst>
                                          <p:attrName>ppt_x</p:attrName>
                                        </p:attrNameLst>
                                      </p:cBhvr>
                                      <p:tavLst>
                                        <p:tav tm="0">
                                          <p:val>
                                            <p:strVal val="1+#ppt_w/2"/>
                                          </p:val>
                                        </p:tav>
                                        <p:tav tm="100000">
                                          <p:val>
                                            <p:strVal val="#ppt_x"/>
                                          </p:val>
                                        </p:tav>
                                      </p:tavLst>
                                    </p:anim>
                                    <p:anim calcmode="lin" valueType="num">
                                      <p:cBhvr additive="base">
                                        <p:cTn id="124" dur="500" fill="hold"/>
                                        <p:tgtEl>
                                          <p:spTgt spid="450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nimBg="1"/>
      <p:bldP spid="45060" grpId="0" animBg="1"/>
      <p:bldP spid="45061" grpId="0" animBg="1"/>
      <p:bldP spid="45062" grpId="0" animBg="1"/>
      <p:bldP spid="45063" grpId="0" animBg="1"/>
      <p:bldP spid="45064" grpId="0" animBg="1"/>
      <p:bldP spid="45065" grpId="0" animBg="1"/>
      <p:bldP spid="45066" grpId="0" animBg="1"/>
      <p:bldP spid="45070" grpId="0" animBg="1"/>
      <p:bldP spid="45092" grpId="0" animBg="1"/>
      <p:bldP spid="45093" grpId="0" animBg="1"/>
      <p:bldP spid="45096" grpId="0" animBg="1"/>
      <p:bldP spid="45097" grpId="0" animBg="1"/>
      <p:bldP spid="4509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2" name="Picture 5"/>
          <p:cNvPicPr>
            <a:picLocks noChangeAspect="1"/>
          </p:cNvPicPr>
          <p:nvPr/>
        </p:nvPicPr>
        <p:blipFill>
          <a:blip r:embed="rId1"/>
          <a:stretch>
            <a:fillRect/>
          </a:stretch>
        </p:blipFill>
        <p:spPr>
          <a:xfrm>
            <a:off x="1042988" y="1989138"/>
            <a:ext cx="7258050" cy="368617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二叉树的性质</a:t>
            </a:r>
            <a:endParaRPr kumimoji="0" lang="zh-CN" altLang="en-US" sz="3800" b="1" i="0" u="none" strike="noStrike" kern="0" cap="none" spc="0" normalizeH="0" baseline="0" noProof="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20582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性质</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在二叉树的第</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层上至多有</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3000" b="1" i="1"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个结点（</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性质</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深度为</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k</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的二叉树至多有</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3000" b="1" i="1"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k</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个结点（</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k</a:t>
            </a:r>
            <a:r>
              <a:rPr kumimoji="0" lang="en-US"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sp>
        <p:nvSpPr>
          <p:cNvPr id="205828" name="Rectangle 4"/>
          <p:cNvSpPr>
            <a:spLocks noChangeArrowheads="1"/>
          </p:cNvSpPr>
          <p:nvPr/>
        </p:nvSpPr>
        <p:spPr bwMode="auto">
          <a:xfrm>
            <a:off x="684213" y="5527675"/>
            <a:ext cx="7848600" cy="493713"/>
          </a:xfrm>
          <a:prstGeom prst="rect">
            <a:avLst/>
          </a:prstGeom>
          <a:noFill/>
          <a:ln w="9525" algn="ctr">
            <a:noFill/>
            <a:miter lim="800000"/>
          </a:ln>
          <a:effectLst/>
        </p:spPr>
        <p:txBody>
          <a:bodyPr anchor="b">
            <a:spAutoFit/>
          </a:bodyPr>
          <a:lstStyle/>
          <a:p>
            <a:pPr marL="0" marR="0" lvl="0" indent="0" algn="l" defTabSz="914400" rtl="0" eaLnBrk="1" fontAlgn="base" latinLnBrk="0" hangingPunct="1">
              <a:lnSpc>
                <a:spcPct val="110000"/>
              </a:lnSpc>
              <a:spcBef>
                <a:spcPct val="0"/>
              </a:spcBef>
              <a:spcAft>
                <a:spcPct val="0"/>
              </a:spcAft>
              <a:buClrTx/>
              <a:buSzTx/>
              <a:buFontTx/>
              <a:buNone/>
              <a:defRPr/>
            </a:pPr>
            <a:endParaRPr kumimoji="1" lang="zh-CN"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6" name="Rectangle 4"/>
          <p:cNvSpPr>
            <a:spLocks noChangeArrowheads="1"/>
          </p:cNvSpPr>
          <p:nvPr/>
        </p:nvSpPr>
        <p:spPr bwMode="auto">
          <a:xfrm>
            <a:off x="603250" y="1752600"/>
            <a:ext cx="8289925" cy="1389063"/>
          </a:xfrm>
          <a:prstGeom prst="rect">
            <a:avLst/>
          </a:prstGeom>
          <a:noFill/>
          <a:ln w="9525">
            <a:noFill/>
            <a:miter lim="800000"/>
          </a:ln>
          <a:effectLst/>
        </p:spPr>
        <p:txBody>
          <a:bodyPr/>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性质</a:t>
            </a:r>
            <a:r>
              <a:rPr kumimoji="0" lang="en-US" altLang="zh-CN"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3   </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对任何一棵二叉树</a:t>
            </a:r>
            <a:r>
              <a:rPr kumimoji="0" lang="en-US" altLang="zh-CN" sz="3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T</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，如果其终端结点数为</a:t>
            </a:r>
            <a:r>
              <a:rPr kumimoji="0" lang="en-US" altLang="zh-CN" sz="3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30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，度为</a:t>
            </a:r>
            <a:r>
              <a:rPr kumimoji="0" lang="en-US" altLang="zh-CN"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的结点数为</a:t>
            </a:r>
            <a:r>
              <a:rPr kumimoji="0" lang="en-US" altLang="zh-CN" sz="3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30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，则</a:t>
            </a:r>
            <a:r>
              <a:rPr kumimoji="0" lang="en-US" altLang="zh-CN" sz="3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30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3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30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0" lang="zh-CN" altLang="en-US" sz="3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07877" name="Rectangle 5"/>
          <p:cNvSpPr>
            <a:spLocks noChangeArrowheads="1"/>
          </p:cNvSpPr>
          <p:nvPr/>
        </p:nvSpPr>
        <p:spPr bwMode="auto">
          <a:xfrm>
            <a:off x="755650" y="3149600"/>
            <a:ext cx="7920038" cy="3038475"/>
          </a:xfrm>
          <a:prstGeom prst="rect">
            <a:avLst/>
          </a:prstGeom>
          <a:noFill/>
          <a:ln w="9525" algn="ctr">
            <a:noFill/>
            <a:miter lim="800000"/>
          </a:ln>
          <a:effectLst/>
        </p:spPr>
        <p:txBody>
          <a:bodyPr anchor="b">
            <a:spAutoFit/>
          </a:bodyPr>
          <a:lstStyle/>
          <a:p>
            <a:pPr marL="0" marR="0" lvl="0" indent="0" algn="l" defTabSz="914400" rtl="0" eaLnBrk="1" fontAlgn="base" latinLnBrk="0" hangingPunct="1">
              <a:lnSpc>
                <a:spcPct val="110000"/>
              </a:lnSpc>
              <a:spcBef>
                <a:spcPct val="0"/>
              </a:spcBef>
              <a:spcAft>
                <a:spcPct val="0"/>
              </a:spcAft>
              <a:buClrTx/>
              <a:buSzTx/>
              <a:buFontTx/>
              <a:buNone/>
              <a:defRPr/>
            </a:pP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设二叉树中度为</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的结点数为</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，二叉树中总结点数为</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，因为二叉树中所有结点均小于或等于</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，所以有：</a:t>
            </a:r>
            <a:endPar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r" defTabSz="914400" rtl="0" eaLnBrk="1" fontAlgn="base" latinLnBrk="0" hangingPunct="1">
              <a:lnSpc>
                <a:spcPct val="110000"/>
              </a:lnSpc>
              <a:spcBef>
                <a:spcPct val="0"/>
              </a:spcBef>
              <a:spcAft>
                <a:spcPct val="0"/>
              </a:spcAft>
              <a:buClrTx/>
              <a:buSzTx/>
              <a:buFontTx/>
              <a:buNone/>
              <a:defRPr/>
            </a:pP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(6</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10000"/>
              </a:lnSpc>
              <a:spcBef>
                <a:spcPct val="0"/>
              </a:spcBef>
              <a:spcAft>
                <a:spcPct val="0"/>
              </a:spcAft>
              <a:buClrTx/>
              <a:buSzTx/>
              <a:buFontTx/>
              <a:buNone/>
              <a:defRPr/>
            </a:pP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设</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B</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为二叉树中的分支总数，则有：</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B</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10000"/>
              </a:lnSpc>
              <a:spcBef>
                <a:spcPct val="0"/>
              </a:spcBef>
              <a:spcAft>
                <a:spcPct val="0"/>
              </a:spcAft>
              <a:buClrTx/>
              <a:buSzTx/>
              <a:buFontTx/>
              <a:buNone/>
              <a:defRPr/>
            </a:pP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由于分支是由度为</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和</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的结点射出的，所以</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B</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，则          </a:t>
            </a:r>
            <a:endPar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r" defTabSz="914400" rtl="0" eaLnBrk="1" fontAlgn="base" latinLnBrk="0" hangingPunct="1">
              <a:lnSpc>
                <a:spcPct val="110000"/>
              </a:lnSpc>
              <a:spcBef>
                <a:spcPct val="0"/>
              </a:spcBef>
              <a:spcAft>
                <a:spcPct val="0"/>
              </a:spcAft>
              <a:buClrTx/>
              <a:buSzTx/>
              <a:buFontTx/>
              <a:buNone/>
              <a:defRPr/>
            </a:pP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B</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                   </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6</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endPar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10000"/>
              </a:lnSpc>
              <a:spcBef>
                <a:spcPct val="0"/>
              </a:spcBef>
              <a:spcAft>
                <a:spcPct val="0"/>
              </a:spcAft>
              <a:buClrTx/>
              <a:buSzTx/>
              <a:buFontTx/>
              <a:buNone/>
              <a:defRPr/>
            </a:pP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由式（</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6</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）和（</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6</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）得到：</a:t>
            </a:r>
            <a:endPar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ctr" defTabSz="914400" rtl="0" eaLnBrk="1" fontAlgn="base" latinLnBrk="0" hangingPunct="1">
              <a:lnSpc>
                <a:spcPct val="110000"/>
              </a:lnSpc>
              <a:spcBef>
                <a:spcPct val="0"/>
              </a:spcBef>
              <a:spcAft>
                <a:spcPct val="0"/>
              </a:spcAft>
              <a:buClrTx/>
              <a:buSzTx/>
              <a:buFontTx/>
              <a:buNone/>
              <a:defRPr/>
            </a:pP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 </a:t>
            </a:r>
            <a:r>
              <a:rPr kumimoji="1" lang="en-US" altLang="zh-CN" sz="22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2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zh-CN" altLang="en-US"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2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877">
                                            <p:txEl>
                                              <p:charRg st="0" end="5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7877">
                                            <p:txEl>
                                              <p:charRg st="50" end="10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7877">
                                            <p:txEl>
                                              <p:charRg st="102" end="12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7877">
                                            <p:txEl>
                                              <p:charRg st="125" end="16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7877">
                                            <p:txEl>
                                              <p:charRg st="167" end="20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7877">
                                            <p:txEl>
                                              <p:charRg st="209" end="22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7877">
                                            <p:txEl>
                                              <p:charRg st="226" end="26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D9D"/>
        </a:solidFill>
        <a:effectLst/>
      </p:bgPr>
    </p:bg>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文本框 2"/>
          <p:cNvSpPr txBox="1"/>
          <p:nvPr/>
        </p:nvSpPr>
        <p:spPr>
          <a:xfrm>
            <a:off x="574675" y="1597025"/>
            <a:ext cx="8318500" cy="5715000"/>
          </a:xfrm>
          <a:prstGeom prst="rect">
            <a:avLst/>
          </a:prstGeom>
          <a:noFill/>
        </p:spPr>
        <p:txBody>
          <a:bodyPr/>
          <a:lstStyle/>
          <a:p>
            <a:pPr marL="457200" marR="0" indent="-457200" defTabSz="914400">
              <a:lnSpc>
                <a:spcPct val="150000"/>
              </a:lnSpc>
              <a:buClrTx/>
              <a:buSzTx/>
              <a:buFontTx/>
              <a:buAutoNum type="arabicPeriod"/>
              <a:defRPr/>
            </a:pPr>
            <a:r>
              <a:rPr kumimoji="0" lang="zh-CN" altLang="en-US" sz="2800"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rPr>
              <a:t>树定义</a:t>
            </a:r>
            <a:endParaRPr kumimoji="0" lang="zh-CN" altLang="en-US" sz="2800"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endParaRPr>
          </a:p>
          <a:p>
            <a:pPr marL="457200" marR="0" indent="-457200" defTabSz="914400">
              <a:lnSpc>
                <a:spcPct val="150000"/>
              </a:lnSpc>
              <a:buClrTx/>
              <a:buSzTx/>
              <a:buFontTx/>
              <a:buAutoNum type="arabicPeriod"/>
              <a:defRPr/>
            </a:pPr>
            <a:r>
              <a:rPr kumimoji="0" lang="zh-CN" altLang="en-US" sz="2800"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rPr>
              <a:t>二叉树定义</a:t>
            </a:r>
            <a:endParaRPr kumimoji="0" lang="en-US" altLang="zh-CN" sz="2800"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endParaRPr>
          </a:p>
          <a:p>
            <a:pPr marL="457200" marR="0" indent="-457200" defTabSz="914400">
              <a:lnSpc>
                <a:spcPct val="150000"/>
              </a:lnSpc>
              <a:buClrTx/>
              <a:buSzTx/>
              <a:buFontTx/>
              <a:buAutoNum type="arabicPeriod"/>
              <a:defRPr/>
            </a:pPr>
            <a:r>
              <a:rPr kumimoji="0" lang="zh-CN" altLang="en-US" sz="2800"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rPr>
              <a:t>二叉树的性质</a:t>
            </a:r>
            <a:endParaRPr kumimoji="0" lang="en-US" altLang="zh-CN" sz="2800"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endParaRPr>
          </a:p>
          <a:p>
            <a:pPr marR="0" defTabSz="914400">
              <a:lnSpc>
                <a:spcPct val="150000"/>
              </a:lnSpc>
              <a:buClrTx/>
              <a:buSzTx/>
              <a:buFontTx/>
              <a:buNone/>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性质</a:t>
            </a:r>
            <a:r>
              <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1   </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在二叉树的第</a:t>
            </a:r>
            <a:r>
              <a:rPr kumimoji="0" lang="en-US" altLang="zh-CN" sz="2800" i="1" kern="1200" cap="none" spc="0" normalizeH="0" baseline="0" noProof="0" dirty="0" err="1">
                <a:latin typeface="Times New Roman" panose="02020603050405020304" pitchFamily="18" charset="0"/>
                <a:ea typeface="宋体" panose="02010600030101010101" pitchFamily="2" charset="-122"/>
                <a:cs typeface="+mn-cs"/>
                <a:sym typeface="Symbol" panose="05050102010706020507" pitchFamily="18" charset="2"/>
              </a:rPr>
              <a:t>i</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层上至多有</a:t>
            </a:r>
            <a:r>
              <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2800" i="1" kern="1200" cap="none" spc="0" normalizeH="0" baseline="30000" noProof="0" dirty="0">
                <a:latin typeface="Times New Roman" panose="02020603050405020304" pitchFamily="18" charset="0"/>
                <a:ea typeface="宋体" panose="02010600030101010101" pitchFamily="2" charset="-122"/>
                <a:cs typeface="+mn-cs"/>
                <a:sym typeface="Symbol" panose="05050102010706020507" pitchFamily="18" charset="2"/>
              </a:rPr>
              <a:t>i</a:t>
            </a:r>
            <a:r>
              <a:rPr kumimoji="0" lang="zh-CN" altLang="en-US" sz="2800" kern="1200" cap="none" spc="0" normalizeH="0" baseline="3000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kern="1200" cap="none" spc="0" normalizeH="0" baseline="30000" noProof="0" dirty="0">
                <a:latin typeface="Times New Roman" panose="02020603050405020304" pitchFamily="18" charset="0"/>
                <a:ea typeface="宋体" panose="02010600030101010101" pitchFamily="2" charset="-122"/>
                <a:cs typeface="+mn-cs"/>
                <a:sym typeface="Symbol" panose="05050102010706020507" pitchFamily="18" charset="2"/>
              </a:rPr>
              <a:t>1</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个结点（</a:t>
            </a:r>
            <a:r>
              <a:rPr kumimoji="0" lang="en-US" altLang="zh-CN" sz="2800" i="1"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i</a:t>
            </a:r>
            <a:r>
              <a:rPr kumimoji="0" lang="en-US"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1</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endPar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endParaRPr>
          </a:p>
          <a:p>
            <a:pPr marR="0" defTabSz="914400">
              <a:lnSpc>
                <a:spcPct val="150000"/>
              </a:lnSpc>
              <a:buClrTx/>
              <a:buSzTx/>
              <a:buFontTx/>
              <a:buNone/>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性质</a:t>
            </a:r>
            <a:r>
              <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2   </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深度为</a:t>
            </a:r>
            <a:r>
              <a:rPr kumimoji="0" lang="en-US" altLang="zh-CN" sz="2800" i="1"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k</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的二叉树至多有</a:t>
            </a:r>
            <a:r>
              <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2800" i="1" kern="1200" cap="none" spc="0" normalizeH="0" baseline="30000" noProof="0" dirty="0">
                <a:latin typeface="Times New Roman" panose="02020603050405020304" pitchFamily="18" charset="0"/>
                <a:ea typeface="宋体" panose="02010600030101010101" pitchFamily="2" charset="-122"/>
                <a:cs typeface="+mn-cs"/>
                <a:sym typeface="Symbol" panose="05050102010706020507" pitchFamily="18" charset="2"/>
              </a:rPr>
              <a:t>k</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1</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个结点（</a:t>
            </a:r>
            <a:r>
              <a:rPr kumimoji="0" lang="en-US" altLang="zh-CN" sz="2800" i="1"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k</a:t>
            </a:r>
            <a:r>
              <a:rPr kumimoji="0" lang="en-US"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1</a:t>
            </a:r>
            <a:r>
              <a:rPr kumimoji="0" lang="zh-CN" altLang="en-US"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a:t>
            </a:r>
            <a:endParaRPr kumimoji="0" lang="en-US" altLang="zh-CN" sz="2800"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endParaRPr>
          </a:p>
          <a:p>
            <a:pPr marR="0" defTabSz="914400">
              <a:lnSpc>
                <a:spcPct val="150000"/>
              </a:lnSpc>
              <a:buClrTx/>
              <a:buSzTx/>
              <a:buFontTx/>
              <a:buNone/>
              <a:defRPr/>
            </a:pP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性质</a:t>
            </a:r>
            <a:r>
              <a:rPr kumimoji="0" lang="en-US" altLang="zh-CN"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3   </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对任何一棵二叉树</a:t>
            </a:r>
            <a:r>
              <a:rPr kumimoji="0" lang="en-US" altLang="zh-CN" sz="2800" i="1"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T</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，如果其终端结点数为</a:t>
            </a:r>
            <a:r>
              <a:rPr kumimoji="0" lang="en-US" altLang="zh-CN" sz="2800" i="1"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2800" kern="1200" cap="none" spc="0" normalizeH="0" baseline="-2500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0</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，度为</a:t>
            </a:r>
            <a:r>
              <a:rPr kumimoji="0" lang="en-US" altLang="zh-CN"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2</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的结点数为</a:t>
            </a:r>
            <a:r>
              <a:rPr kumimoji="0" lang="en-US" altLang="zh-CN" sz="2800" i="1"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2800" kern="1200" cap="none" spc="0" normalizeH="0" baseline="-2500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2</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，则</a:t>
            </a:r>
            <a:r>
              <a:rPr kumimoji="0" lang="en-US" altLang="zh-CN" sz="2800" i="1"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2800" kern="1200" cap="none" spc="0" normalizeH="0" baseline="-2500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0</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i="1"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zh-CN" sz="2800" kern="1200" cap="none" spc="0" normalizeH="0" baseline="-2500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2</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1</a:t>
            </a:r>
            <a:r>
              <a:rPr kumimoji="0" lang="zh-CN" altLang="en-US" sz="2800" kern="1200" cap="none" spc="0" normalizeH="0" baseline="0" noProof="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a:t>
            </a:r>
            <a:endParaRPr kumimoji="0" lang="en-US" altLang="zh-CN"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endParaRPr>
          </a:p>
          <a:p>
            <a:pPr marL="457200" marR="0" indent="-457200" defTabSz="914400">
              <a:buClrTx/>
              <a:buSzTx/>
              <a:buFontTx/>
              <a:buAutoNum type="arabicPeriod"/>
              <a:defRPr/>
            </a:pPr>
            <a:endParaRPr kumimoji="0" lang="en-US" altLang="zh-CN"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endParaRPr>
          </a:p>
          <a:p>
            <a:pPr marL="457200" marR="0" indent="-457200" defTabSz="914400">
              <a:buClrTx/>
              <a:buSzTx/>
              <a:buFontTx/>
              <a:buAutoNum type="arabicPeriod"/>
              <a:defRPr/>
            </a:pPr>
            <a:endParaRPr kumimoji="0" lang="en-US" altLang="zh-CN"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endParaRPr>
          </a:p>
          <a:p>
            <a:pPr marL="457200" marR="0" indent="-457200" defTabSz="914400">
              <a:buClrTx/>
              <a:buSzTx/>
              <a:buFontTx/>
              <a:buAutoNum type="arabicPeriod"/>
              <a:defRPr/>
            </a:pPr>
            <a:endParaRPr kumimoji="0" lang="zh-CN" altLang="en-US" kern="1200" cap="none" spc="0" normalizeH="0" baseline="0" noProof="0" dirty="0">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2"/>
          <p:cNvSpPr>
            <a:spLocks noGrp="1" noChangeArrowheads="1"/>
          </p:cNvSpPr>
          <p:nvPr>
            <p:ph type="title"/>
          </p:nvPr>
        </p:nvSpPr>
        <p:spPr>
          <a:xfrm>
            <a:off x="374650" y="209550"/>
            <a:ext cx="8394700" cy="1216025"/>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满二叉树和完全二叉树</a:t>
            </a:r>
            <a:r>
              <a:rPr kumimoji="0" lang="en-US" altLang="zh-CN"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两类特殊的二叉树</a:t>
            </a:r>
            <a:endPar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8899" name="Rectangle 3"/>
          <p:cNvSpPr>
            <a:spLocks noGrp="1" noChangeArrowheads="1"/>
          </p:cNvSpPr>
          <p:nvPr>
            <p:ph idx="1"/>
          </p:nvPr>
        </p:nvSpPr>
        <p:spPr>
          <a:xfrm>
            <a:off x="-36512" y="1773238"/>
            <a:ext cx="4392613"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tabLst>
                <a:tab pos="442595" algn="l"/>
                <a:tab pos="800100" algn="l"/>
              </a:tabLst>
              <a:defRPr/>
            </a:pPr>
            <a:r>
              <a:rPr kumimoji="0" lang="zh-CN" altLang="en-US" sz="21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满二叉树</a:t>
            </a:r>
            <a:endParaRPr kumimoji="0" lang="zh-CN" altLang="en-US" sz="21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tabLst>
                <a:tab pos="442595" algn="l"/>
                <a:tab pos="800100" algn="l"/>
              </a:tabLst>
              <a:defRPr/>
            </a:pP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一棵深度为</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且由</a:t>
            </a:r>
            <a:r>
              <a:rPr kumimoji="0" lang="en-US" altLang="zh-CN"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0" lang="en-US" altLang="zh-CN" sz="1800" b="0" i="1" u="none" strike="noStrike" kern="0" cap="none" spc="0" normalizeH="0" baseline="4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0" lang="en-US" altLang="zh-CN"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个结点的二叉树称为满二叉树</a:t>
            </a:r>
            <a:endPar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tabLst>
                <a:tab pos="442595" algn="l"/>
                <a:tab pos="800100" algn="l"/>
              </a:tabLst>
              <a:defRPr/>
            </a:pP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每一层上的结点数都是最大结点数</a:t>
            </a:r>
            <a:endPar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tabLst>
                <a:tab pos="442595" algn="l"/>
                <a:tab pos="800100" algn="l"/>
              </a:tabLst>
              <a:defRPr/>
            </a:pP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顺序编号：自上而下，由左至右</a:t>
            </a:r>
            <a:endPar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tabLst>
                <a:tab pos="442595" algn="l"/>
                <a:tab pos="800100" algn="l"/>
              </a:tabLst>
              <a:defRPr/>
            </a:pPr>
            <a:r>
              <a:rPr kumimoji="0" lang="zh-CN" altLang="en-US" sz="19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完全二叉树</a:t>
            </a:r>
            <a:endParaRPr kumimoji="0" lang="zh-CN" altLang="en-US" sz="19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tabLst>
                <a:tab pos="442595" algn="l"/>
                <a:tab pos="800100" algn="l"/>
              </a:tabLst>
              <a:defRPr/>
            </a:pP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深度为</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的、有</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n</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个结点的二叉树，当且仅当其每一个结点都与深度为</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的满二叉树中编号从</a:t>
            </a:r>
            <a:r>
              <a:rPr kumimoji="0" lang="en-US" altLang="zh-CN"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到</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n</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的结点一一对应时，称其为完全二叉树</a:t>
            </a:r>
            <a:endPar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tabLst>
                <a:tab pos="442595" algn="l"/>
                <a:tab pos="800100" algn="l"/>
              </a:tabLst>
              <a:defRPr/>
            </a:pP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叶子结点只可能在层次最大的两层上出现</a:t>
            </a:r>
            <a:endPar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tabLst>
                <a:tab pos="442595" algn="l"/>
                <a:tab pos="800100" algn="l"/>
              </a:tabLst>
              <a:defRPr/>
            </a:pP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对任一结点，若其右分支下的子孙的最大层次为</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l</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，则其左分支下的最大层次必为</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l</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或</a:t>
            </a:r>
            <a:r>
              <a:rPr kumimoji="0" lang="en-US" altLang="zh-CN" sz="1800" b="0"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l</a:t>
            </a:r>
            <a:r>
              <a:rPr kumimoji="0" lang="zh-CN" altLang="en-US"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a:t>
            </a:r>
            <a:r>
              <a:rPr kumimoji="0" lang="en-US" altLang="zh-CN"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a:t>
            </a:r>
            <a:endParaRPr kumimoji="0" lang="en-US" altLang="zh-CN" sz="1800" b="0"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pic>
        <p:nvPicPr>
          <p:cNvPr id="40964" name="20 1"/>
          <p:cNvPicPr>
            <a:picLocks noChangeAspect="1"/>
          </p:cNvPicPr>
          <p:nvPr/>
        </p:nvPicPr>
        <p:blipFill>
          <a:blip r:embed="rId1"/>
          <a:stretch>
            <a:fillRect/>
          </a:stretch>
        </p:blipFill>
        <p:spPr>
          <a:xfrm>
            <a:off x="4356100" y="1989138"/>
            <a:ext cx="4564063" cy="39243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4" name="Rectangle 4"/>
          <p:cNvSpPr>
            <a:spLocks noChangeArrowheads="1"/>
          </p:cNvSpPr>
          <p:nvPr/>
        </p:nvSpPr>
        <p:spPr bwMode="auto">
          <a:xfrm>
            <a:off x="603250" y="1752600"/>
            <a:ext cx="8145463" cy="4267200"/>
          </a:xfrm>
          <a:prstGeom prst="rect">
            <a:avLst/>
          </a:prstGeom>
          <a:noFill/>
          <a:ln w="9525">
            <a:noFill/>
            <a:miter lim="800000"/>
          </a:ln>
          <a:effectLst/>
        </p:spPr>
        <p:txBody>
          <a:bodyPr/>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性质</a:t>
            </a:r>
            <a:r>
              <a:rPr kumimoji="0" lang="en-US" altLang="zh-CN"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4    </a:t>
            </a:r>
            <a:r>
              <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具有</a:t>
            </a:r>
            <a:r>
              <a:rPr kumimoji="0" lang="en-US" altLang="zh-CN" sz="3000" b="0"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个结点的完全二叉树的深度为</a:t>
            </a:r>
            <a:r>
              <a:rPr kumimoji="0" lang="en-US"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log</a:t>
            </a:r>
            <a:r>
              <a:rPr kumimoji="0" lang="en-US" altLang="zh-CN" sz="3000" b="0"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3000" b="0" i="1"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0" lang="en-US"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3000" b="0"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x</a:t>
            </a:r>
            <a:r>
              <a:rPr kumimoji="0" lang="en-US"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表示不大于</a:t>
            </a:r>
            <a:r>
              <a:rPr kumimoji="0" lang="en-US" altLang="zh-CN" sz="3000" b="0"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x</a:t>
            </a:r>
            <a:r>
              <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的最大整数 ）</a:t>
            </a:r>
            <a:endParaRPr kumimoji="0" lang="zh-CN" altLang="en-US"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209925" name="Rectangle 5"/>
          <p:cNvSpPr>
            <a:spLocks noChangeArrowheads="1"/>
          </p:cNvSpPr>
          <p:nvPr/>
        </p:nvSpPr>
        <p:spPr bwMode="auto">
          <a:xfrm>
            <a:off x="968375" y="3209925"/>
            <a:ext cx="7416800" cy="2306638"/>
          </a:xfrm>
          <a:prstGeom prst="rect">
            <a:avLst/>
          </a:prstGeom>
          <a:noFill/>
          <a:ln w="9525" algn="ctr">
            <a:noFill/>
            <a:miter lim="800000"/>
          </a:ln>
          <a:effectLst/>
        </p:spPr>
        <p:txBody>
          <a:bodyPr anchor="b">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假设此二叉树的深度为</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，则根据性质</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及完全二叉树的定义得到：</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400" b="1" i="1"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1&lt;</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400" b="1" i="1"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或   </a:t>
            </a:r>
            <a:r>
              <a:rPr kumimoji="1" lang="en-US" altLang="zh-CN" sz="24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400" b="1" i="1" u="none" strike="noStrike" kern="1200" cap="none" spc="0" normalizeH="0" baseline="3000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en-US" altLang="zh-CN" sz="2400" b="1" i="0" u="none" strike="noStrike" kern="1200" cap="none" spc="0" normalizeH="0" baseline="3000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 </a:t>
            </a:r>
            <a:r>
              <a:rPr kumimoji="1" lang="en-US" altLang="zh-CN" sz="2000" b="1" i="0" u="none" strike="noStrike" kern="1200" cap="none" spc="0" normalizeH="0" baseline="0" noProof="0">
                <a:ln>
                  <a:noFill/>
                </a:ln>
                <a:solidFill>
                  <a:schemeClr val="hlink"/>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 </a:t>
            </a:r>
            <a:r>
              <a:rPr kumimoji="1" lang="en-US" altLang="zh-CN" sz="2400" b="1" i="1"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4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&lt;2</a:t>
            </a:r>
            <a:r>
              <a:rPr kumimoji="1" lang="en-US" altLang="zh-CN" sz="2400" b="1" i="1" u="none" strike="noStrike" kern="1200" cap="none" spc="0" normalizeH="0" baseline="3000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endParaRPr kumimoji="1" lang="en-US" altLang="zh-CN" sz="2400" b="1" i="1" u="none" strike="noStrike" kern="1200" cap="none" spc="0" normalizeH="0" baseline="3000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取对数得到：</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&lt;log</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400" b="1" i="1"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&lt;</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因为</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是整数。所以有：</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k</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log</a:t>
            </a:r>
            <a:r>
              <a:rPr kumimoji="0" lang="en-US" altLang="zh-CN" sz="20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2000" b="1" i="1"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000" b="1" i="0" u="none" strike="noStrike" kern="120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0950" name="Rectangle 6"/>
          <p:cNvSpPr>
            <a:spLocks noGrp="1" noChangeArrowheads="1"/>
          </p:cNvSpPr>
          <p:nvPr>
            <p:ph type="body" idx="1"/>
          </p:nvPr>
        </p:nvSpPr>
        <p:spPr>
          <a:xfrm>
            <a:off x="250825" y="188913"/>
            <a:ext cx="8496300" cy="3455988"/>
          </a:xfrm>
        </p:spPr>
        <p:txBody>
          <a:bodyPr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性质</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5   </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如果对一棵有</a:t>
            </a:r>
            <a:r>
              <a:rPr kumimoji="0" lang="en-US" altLang="zh-CN" sz="2100" b="0"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个结点的完全二叉树（其深度为</a:t>
            </a:r>
            <a:r>
              <a:rPr kumimoji="0" lang="en-US"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log</a:t>
            </a:r>
            <a:r>
              <a:rPr kumimoji="0" lang="en-US" altLang="zh-CN" sz="21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2100" b="0" i="1"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+1</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）的结点按层序编号（从第</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层到第</a:t>
            </a:r>
            <a:r>
              <a:rPr kumimoji="0" lang="en-US"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log</a:t>
            </a:r>
            <a:r>
              <a:rPr kumimoji="0" lang="en-US" altLang="zh-CN" sz="2100" b="0" i="0" u="none" strike="noStrike" kern="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2100" b="0" i="1" u="none" strike="noStrike" kern="0" cap="none" spc="0" normalizeH="0" baseline="30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+1</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层，每层从左到右</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，则对任一结点</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0"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0"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，有：</a:t>
            </a:r>
            <a:endPar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，则结点</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无双亲，是二叉树的根；如果</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&gt;1</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，则其双亲</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PARENT(</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是结点</a:t>
            </a:r>
            <a:r>
              <a:rPr kumimoji="0" lang="en-US" altLang="en-US"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1" i="1" u="none" strike="noStrike" kern="0" cap="none" spc="0" normalizeH="0" baseline="0" noProof="0" dirty="0" err="1">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sym typeface="Symbol" panose="05050102010706020507" pitchFamily="18" charset="2"/>
              </a:rPr>
              <a:t></a:t>
            </a:r>
            <a:r>
              <a:rPr kumimoji="0" lang="en-US" altLang="zh-CN"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2100" b="0"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&gt;</a:t>
            </a:r>
            <a:r>
              <a:rPr kumimoji="0" lang="en-US" altLang="zh-CN" sz="2100" b="0"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，则结点</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为叶子结点，无左孩子；否则其左孩子</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LCHILD</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）是结点</a:t>
            </a:r>
            <a:r>
              <a:rPr kumimoji="0" lang="en-US" altLang="zh-CN"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2100" b="1" i="1"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3</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）如果</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2100" b="0"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1&gt;</a:t>
            </a:r>
            <a:r>
              <a:rPr kumimoji="0" lang="en-US" altLang="zh-CN" sz="2100" b="0" i="1"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n</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，则结点</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无右孩子；否则其右孩子</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RCHILD(</a:t>
            </a:r>
            <a:r>
              <a:rPr kumimoji="0" lang="en-US" altLang="zh-CN" sz="2100" b="0" i="1" u="none" strike="noStrike" kern="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是结点</a:t>
            </a:r>
            <a:r>
              <a:rPr kumimoji="0" lang="en-US" altLang="zh-CN"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2</a:t>
            </a:r>
            <a:r>
              <a:rPr kumimoji="0" lang="en-US" altLang="zh-CN" sz="2100" b="1" i="1"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a:t>
            </a:r>
            <a:r>
              <a:rPr kumimoji="0" lang="en-US" altLang="zh-CN" sz="2100" b="1"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cs"/>
              </a:rPr>
              <a:t>1</a:t>
            </a:r>
            <a:r>
              <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endParaRPr kumimoji="0" lang="zh-CN" altLang="en-US" sz="21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43011" name="20 1"/>
          <p:cNvPicPr>
            <a:picLocks noChangeAspect="1"/>
          </p:cNvPicPr>
          <p:nvPr/>
        </p:nvPicPr>
        <p:blipFill>
          <a:blip r:embed="rId1"/>
          <a:stretch>
            <a:fillRect/>
          </a:stretch>
        </p:blipFill>
        <p:spPr>
          <a:xfrm>
            <a:off x="2339975" y="3284538"/>
            <a:ext cx="4281488" cy="3268662"/>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6.2.3 </a:t>
            </a:r>
            <a:r>
              <a:rPr kumimoji="0"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二叉树的存储结构</a:t>
            </a:r>
            <a:endParaRPr kumimoji="0"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215043" name="Rectangle 3"/>
          <p:cNvSpPr>
            <a:spLocks noGrp="1" noChangeArrowheads="1"/>
          </p:cNvSpPr>
          <p:nvPr>
            <p:ph idx="1"/>
          </p:nvPr>
        </p:nvSpPr>
        <p:spPr/>
        <p:txBody>
          <a:bodyPr vert="horz" wrap="square" lIns="91440" tIns="45720" rIns="91440" bIns="45720" numCol="1" anchor="t" anchorCtr="0" compatLnSpc="1"/>
          <a:lstStyle/>
          <a:p>
            <a:pPr marL="471170" marR="0" lvl="1" indent="0" algn="l" defTabSz="914400" rtl="0" eaLnBrk="1" fontAlgn="base" latinLnBrk="0" hangingPunct="1">
              <a:lnSpc>
                <a:spcPct val="90000"/>
              </a:lnSpc>
              <a:spcBef>
                <a:spcPts val="600"/>
              </a:spcBef>
              <a:spcAft>
                <a:spcPts val="600"/>
              </a:spcAft>
              <a:buClr>
                <a:schemeClr val="accent2"/>
              </a:buClr>
              <a:buSzTx/>
              <a:buFont typeface="Wingdings" panose="05000000000000000000" pitchFamily="2" charset="2"/>
              <a:buNone/>
              <a:defRPr/>
            </a:pPr>
            <a:r>
              <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二叉树的存储：</a:t>
            </a:r>
            <a:endPar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1" lang="en-US" altLang="zh-CN" sz="4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rPr>
              <a:t>1. </a:t>
            </a:r>
            <a:r>
              <a:rPr kumimoji="1" lang="zh-CN" altLang="en-US" sz="4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rPr>
              <a:t>顺序存储</a:t>
            </a:r>
            <a:endParaRPr kumimoji="1" lang="zh-CN" altLang="en-US" sz="4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1"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 </a:t>
            </a:r>
            <a:r>
              <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链式存储</a:t>
            </a:r>
            <a:endPar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1" lang="en-US" altLang="zh-CN" sz="40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Times New Roman" panose="02020603050405020304" pitchFamily="18" charset="0"/>
                <a:ea typeface="+mn-ea"/>
                <a:cs typeface="+mn-ea"/>
              </a:rPr>
              <a:t>3. </a:t>
            </a:r>
            <a:r>
              <a:rPr kumimoji="1" lang="zh-CN" altLang="en-US" sz="40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Times New Roman" panose="02020603050405020304" pitchFamily="18" charset="0"/>
                <a:ea typeface="+mn-ea"/>
                <a:cs typeface="+mn-ea"/>
              </a:rPr>
              <a:t>线索二叉树（了解即可）</a:t>
            </a:r>
            <a:endParaRPr kumimoji="1" lang="zh-CN" altLang="en-US" sz="40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Times New Roman" panose="02020603050405020304" pitchFamily="18" charset="0"/>
              <a:ea typeface="+mn-ea"/>
              <a:cs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a:xfrm>
            <a:off x="611188" y="260350"/>
            <a:ext cx="8256588" cy="1216025"/>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6.2.3 </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二叉树的存储结构－</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rPr>
              <a:t>顺序存储结构</a:t>
            </a:r>
            <a:endPar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21504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用一组连续的存储单元存储二叉树的数据元素。</a:t>
            </a:r>
            <a:endPar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必须把二叉树的所有结点安排成为一个恰当的序列</a:t>
            </a:r>
            <a:endPar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结点在这个序列中的相互位置能反映出结点之间的逻辑关系（父子）</a:t>
            </a:r>
            <a:endPar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从树根起，自上层至下层，每层自左至右的给所有结点编号，即将一棵二叉树</a:t>
            </a:r>
            <a:r>
              <a:rPr kumimoji="1" lang="zh-CN" altLang="en-US" sz="2100" b="1" i="0" u="none" strike="noStrike" kern="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mn-ea"/>
                <a:cs typeface="+mn-cs"/>
              </a:rPr>
              <a:t>按照完全二叉树编号</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，则编号为</a:t>
            </a:r>
            <a:r>
              <a:rPr kumimoji="1" lang="en-US" altLang="zh-CN" sz="21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存储在一维数组的第</a:t>
            </a:r>
            <a:r>
              <a:rPr kumimoji="1" lang="en-US" altLang="zh-CN" sz="21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a:t>
            </a:r>
            <a:r>
              <a:rPr kumimoji="1"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1</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分量上。如果结点不存在则用</a:t>
            </a:r>
            <a:r>
              <a:rPr kumimoji="1" lang="en-US" altLang="zh-CN"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0</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表示。</a:t>
            </a:r>
            <a:endPar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父子关系－性质</a:t>
            </a:r>
            <a:r>
              <a:rPr kumimoji="1"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5</a:t>
            </a:r>
            <a:endParaRPr kumimoji="1"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适用于完全二叉树，对于一般二叉树，有可能对存储空间造成极大的浪费</a:t>
            </a:r>
            <a:endPar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在最坏的情况下，一个深度为</a:t>
            </a:r>
            <a:r>
              <a:rPr kumimoji="1" lang="en-US" altLang="zh-CN" sz="19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且只有</a:t>
            </a:r>
            <a:r>
              <a:rPr kumimoji="1" lang="en-US" altLang="zh-CN" sz="19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个结点的单支树（不存在度为</a:t>
            </a:r>
            <a:r>
              <a:rPr kumimoji="1"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的结点），需要</a:t>
            </a:r>
            <a:r>
              <a:rPr kumimoji="1"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2</a:t>
            </a:r>
            <a:r>
              <a:rPr kumimoji="1" lang="en-US" altLang="zh-CN" sz="1900" b="1" i="1" u="none" strike="noStrike" kern="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k</a:t>
            </a:r>
            <a:r>
              <a:rPr kumimoji="1" lang="en-US" altLang="zh-CN"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a:t>
            </a: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个结点存储空间。</a:t>
            </a:r>
            <a:endPar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优点：可以根据性质的公式计算出每个结点的双亲和左、右孩子的位置。</a:t>
            </a:r>
            <a:endPar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endParaRPr kumimoji="1" lang="zh-CN" altLang="en-US" sz="19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6.2.3 </a:t>
            </a: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二叉树的存储结构－</a:t>
            </a: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rPr>
              <a:t>顺序存储结构</a:t>
            </a:r>
            <a:endPar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endParaRPr>
          </a:p>
        </p:txBody>
      </p:sp>
      <p:pic>
        <p:nvPicPr>
          <p:cNvPr id="46083" name="内容占位符 1"/>
          <p:cNvPicPr>
            <a:picLocks noChangeAspect="1"/>
          </p:cNvPicPr>
          <p:nvPr>
            <p:ph idx="1"/>
          </p:nvPr>
        </p:nvPicPr>
        <p:blipFill>
          <a:blip r:embed="rId1"/>
          <a:srcRect/>
          <a:stretch>
            <a:fillRect/>
          </a:stretch>
        </p:blipFill>
        <p:spPr>
          <a:xfrm>
            <a:off x="574675" y="2266950"/>
            <a:ext cx="7921625" cy="1504950"/>
          </a:xfrm>
        </p:spPr>
      </p:pic>
      <p:sp>
        <p:nvSpPr>
          <p:cNvPr id="2" name="文本框 1"/>
          <p:cNvSpPr txBox="1"/>
          <p:nvPr/>
        </p:nvSpPr>
        <p:spPr>
          <a:xfrm>
            <a:off x="684213" y="4162425"/>
            <a:ext cx="7631112" cy="1933575"/>
          </a:xfrm>
          <a:prstGeom prst="rect">
            <a:avLst/>
          </a:prstGeom>
          <a:noFill/>
          <a:ln w="9525">
            <a:noFill/>
          </a:ln>
        </p:spPr>
        <p:txBody>
          <a:bodyPr/>
          <a:p>
            <a:pPr eaLnBrk="1" hangingPunct="1"/>
            <a:r>
              <a:rPr lang="zh-CN" altLang="en-US" dirty="0">
                <a:latin typeface="Verdana" panose="020B0604030504040204" pitchFamily="34" charset="0"/>
              </a:rPr>
              <a:t>可以用</a:t>
            </a:r>
            <a:r>
              <a:rPr lang="en-US" altLang="zh-CN" dirty="0">
                <a:latin typeface="Verdana" panose="020B0604030504040204" pitchFamily="34" charset="0"/>
              </a:rPr>
              <a:t>typedef</a:t>
            </a:r>
            <a:r>
              <a:rPr lang="zh-CN" altLang="en-US" dirty="0">
                <a:latin typeface="Verdana" panose="020B0604030504040204" pitchFamily="34" charset="0"/>
              </a:rPr>
              <a:t>声明新的类型名来代替已有的类型名</a:t>
            </a:r>
            <a:endParaRPr lang="zh-CN" altLang="en-US" dirty="0">
              <a:latin typeface="Verdana" panose="020B0604030504040204" pitchFamily="34" charset="0"/>
            </a:endParaRPr>
          </a:p>
          <a:p>
            <a:pPr eaLnBrk="1" hangingPunct="1"/>
            <a:endParaRPr lang="zh-CN" altLang="en-US" dirty="0">
              <a:latin typeface="Verdana" panose="020B0604030504040204" pitchFamily="34" charset="0"/>
            </a:endParaRPr>
          </a:p>
          <a:p>
            <a:pPr eaLnBrk="1" hangingPunct="1"/>
            <a:r>
              <a:rPr lang="zh-CN" altLang="en-US" dirty="0">
                <a:latin typeface="Verdana" panose="020B0604030504040204" pitchFamily="34" charset="0"/>
              </a:rPr>
              <a:t>例如：</a:t>
            </a:r>
            <a:endParaRPr lang="zh-CN" altLang="en-US" dirty="0">
              <a:latin typeface="Verdana" panose="020B0604030504040204" pitchFamily="34" charset="0"/>
            </a:endParaRPr>
          </a:p>
          <a:p>
            <a:pPr eaLnBrk="1" hangingPunct="1"/>
            <a:r>
              <a:rPr lang="en-US" altLang="zh-CN" dirty="0">
                <a:latin typeface="Verdana" panose="020B0604030504040204" pitchFamily="34" charset="0"/>
              </a:rPr>
              <a:t>typedef  int       INTEGER;</a:t>
            </a:r>
            <a:endParaRPr lang="en-US" altLang="zh-CN" dirty="0">
              <a:latin typeface="Verdana" panose="020B0604030504040204" pitchFamily="34" charset="0"/>
            </a:endParaRPr>
          </a:p>
          <a:p>
            <a:pPr eaLnBrk="1" hangingPunct="1"/>
            <a:r>
              <a:rPr lang="en-US" altLang="zh-CN" dirty="0">
                <a:latin typeface="Verdana" panose="020B0604030504040204" pitchFamily="34" charset="0"/>
              </a:rPr>
              <a:t>typedef  float    REAL;</a:t>
            </a:r>
            <a:endParaRPr lang="en-US" altLang="zh-CN"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219138" name="表格 219137"/>
          <p:cNvGraphicFramePr/>
          <p:nvPr/>
        </p:nvGraphicFramePr>
        <p:xfrm>
          <a:off x="1462088" y="4725988"/>
          <a:ext cx="6629400" cy="609600"/>
        </p:xfrm>
        <a:graphic>
          <a:graphicData uri="http://schemas.openxmlformats.org/drawingml/2006/table">
            <a:tbl>
              <a:tblPr/>
              <a:tblGrid>
                <a:gridCol w="552450"/>
                <a:gridCol w="552450"/>
                <a:gridCol w="552450"/>
                <a:gridCol w="552450"/>
                <a:gridCol w="552450"/>
                <a:gridCol w="552450"/>
                <a:gridCol w="552450"/>
                <a:gridCol w="552450"/>
                <a:gridCol w="552450"/>
                <a:gridCol w="552450"/>
                <a:gridCol w="552450"/>
                <a:gridCol w="552450"/>
              </a:tblGrid>
              <a:tr h="609600">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1</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2</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3</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4</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5</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6</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7</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8</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9</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10</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11</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400" dirty="0">
                          <a:solidFill>
                            <a:schemeClr val="tx1"/>
                          </a:solidFill>
                          <a:effectLst>
                            <a:outerShdw blurRad="38100" dist="38100" dir="2700000">
                              <a:srgbClr val="C0C0C0"/>
                            </a:outerShdw>
                          </a:effectLst>
                          <a:latin typeface="Times New Roman" panose="02020603050405020304" pitchFamily="18" charset="0"/>
                        </a:rPr>
                        <a:t>12</a:t>
                      </a:r>
                      <a:endParaRPr lang="en-US" altLang="zh-CN" sz="2400" dirty="0">
                        <a:solidFill>
                          <a:schemeClr val="tx1"/>
                        </a:solidFill>
                        <a:effectLst>
                          <a:outerShdw blurRad="38100" dist="38100" dir="2700000">
                            <a:srgbClr val="C0C0C0"/>
                          </a:outerShdw>
                        </a:effectLst>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7134" name="Text Box 32"/>
          <p:cNvSpPr txBox="1"/>
          <p:nvPr/>
        </p:nvSpPr>
        <p:spPr>
          <a:xfrm>
            <a:off x="1446213" y="4005263"/>
            <a:ext cx="6797675" cy="457200"/>
          </a:xfrm>
          <a:prstGeom prst="rect">
            <a:avLst/>
          </a:prstGeom>
          <a:noFill/>
          <a:ln w="9525">
            <a:noFill/>
          </a:ln>
        </p:spPr>
        <p:txBody>
          <a:bodyPr>
            <a:spAutoFit/>
          </a:bodyPr>
          <a:p>
            <a:pPr eaLnBrk="1" hangingPunct="1"/>
            <a:r>
              <a:rPr lang="en-US" altLang="zh-CN" sz="2400" b="0" dirty="0">
                <a:solidFill>
                  <a:schemeClr val="tx1"/>
                </a:solidFill>
                <a:latin typeface="Times New Roman" panose="02020603050405020304" pitchFamily="18" charset="0"/>
              </a:rPr>
              <a:t>0     </a:t>
            </a:r>
            <a:r>
              <a:rPr lang="en-US" altLang="zh-CN" b="0" dirty="0">
                <a:solidFill>
                  <a:schemeClr val="tx1"/>
                </a:solidFill>
                <a:latin typeface="Verdana" panose="020B0604030504040204" pitchFamily="34" charset="0"/>
              </a:rPr>
              <a:t>1     2    3    4    5     6    7    8    9    10    11</a:t>
            </a:r>
            <a:r>
              <a:rPr lang="en-US" altLang="zh-CN" b="0" dirty="0">
                <a:latin typeface="Verdana" panose="020B0604030504040204" pitchFamily="34" charset="0"/>
              </a:rPr>
              <a:t> </a:t>
            </a:r>
            <a:endParaRPr lang="en-US" altLang="zh-CN" b="0" dirty="0">
              <a:latin typeface="Verdana" panose="020B0604030504040204" pitchFamily="34" charset="0"/>
            </a:endParaRPr>
          </a:p>
        </p:txBody>
      </p:sp>
      <p:sp>
        <p:nvSpPr>
          <p:cNvPr id="216097" name="Rectangle 33"/>
          <p:cNvSpPr>
            <a:spLocks noChangeArrowheads="1"/>
          </p:cNvSpPr>
          <p:nvPr/>
        </p:nvSpPr>
        <p:spPr bwMode="auto">
          <a:xfrm>
            <a:off x="901700" y="749300"/>
            <a:ext cx="2286000" cy="5334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rgbClr val="33CC33"/>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完全二叉树</a:t>
            </a:r>
            <a:endParaRPr kumimoji="0" lang="zh-CN" altLang="en-US" sz="2100" b="1" i="0" u="none" strike="noStrike" kern="1200" cap="none" spc="0" normalizeH="0" baseline="0" noProof="0">
              <a:ln>
                <a:noFill/>
              </a:ln>
              <a:solidFill>
                <a:srgbClr val="33CC33"/>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7136" name="Oval 34"/>
          <p:cNvSpPr/>
          <p:nvPr/>
        </p:nvSpPr>
        <p:spPr>
          <a:xfrm>
            <a:off x="4254500" y="520700"/>
            <a:ext cx="457200" cy="3810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1</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37" name="Oval 35"/>
          <p:cNvSpPr/>
          <p:nvPr/>
        </p:nvSpPr>
        <p:spPr>
          <a:xfrm>
            <a:off x="3187700" y="1435100"/>
            <a:ext cx="381000" cy="3810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2</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38" name="Oval 36"/>
          <p:cNvSpPr/>
          <p:nvPr/>
        </p:nvSpPr>
        <p:spPr>
          <a:xfrm>
            <a:off x="5549900" y="1358900"/>
            <a:ext cx="5334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3</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39" name="Oval 37"/>
          <p:cNvSpPr/>
          <p:nvPr/>
        </p:nvSpPr>
        <p:spPr>
          <a:xfrm>
            <a:off x="2197100" y="2120900"/>
            <a:ext cx="533400" cy="3810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4</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0" name="Oval 38"/>
          <p:cNvSpPr/>
          <p:nvPr/>
        </p:nvSpPr>
        <p:spPr>
          <a:xfrm>
            <a:off x="3873500" y="2120900"/>
            <a:ext cx="5334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5</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1" name="Oval 39"/>
          <p:cNvSpPr/>
          <p:nvPr/>
        </p:nvSpPr>
        <p:spPr>
          <a:xfrm>
            <a:off x="5092700" y="2120900"/>
            <a:ext cx="4572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6</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2" name="Oval 40"/>
          <p:cNvSpPr/>
          <p:nvPr/>
        </p:nvSpPr>
        <p:spPr>
          <a:xfrm>
            <a:off x="6616700" y="2197100"/>
            <a:ext cx="5334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7</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3" name="Oval 41"/>
          <p:cNvSpPr/>
          <p:nvPr/>
        </p:nvSpPr>
        <p:spPr>
          <a:xfrm>
            <a:off x="1587500" y="3187700"/>
            <a:ext cx="4572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8</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4" name="Oval 42"/>
          <p:cNvSpPr/>
          <p:nvPr/>
        </p:nvSpPr>
        <p:spPr>
          <a:xfrm>
            <a:off x="2578100" y="3187700"/>
            <a:ext cx="4572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9</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5" name="Oval 43"/>
          <p:cNvSpPr/>
          <p:nvPr/>
        </p:nvSpPr>
        <p:spPr>
          <a:xfrm>
            <a:off x="3340100" y="3187700"/>
            <a:ext cx="4572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10</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6" name="Oval 44"/>
          <p:cNvSpPr/>
          <p:nvPr/>
        </p:nvSpPr>
        <p:spPr>
          <a:xfrm>
            <a:off x="4254500" y="3187700"/>
            <a:ext cx="4572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11</a:t>
            </a:r>
            <a:endParaRPr lang="en-US" altLang="zh-CN" sz="2800" b="0" dirty="0">
              <a:solidFill>
                <a:srgbClr val="336600"/>
              </a:solidFill>
              <a:latin typeface="Times New Roman" panose="02020603050405020304" pitchFamily="18" charset="0"/>
              <a:ea typeface="楷体_GB2312" pitchFamily="49" charset="-122"/>
            </a:endParaRPr>
          </a:p>
        </p:txBody>
      </p:sp>
      <p:sp>
        <p:nvSpPr>
          <p:cNvPr id="47147" name="Oval 45"/>
          <p:cNvSpPr/>
          <p:nvPr/>
        </p:nvSpPr>
        <p:spPr>
          <a:xfrm>
            <a:off x="5016500" y="3187700"/>
            <a:ext cx="457200" cy="457200"/>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spcBef>
                <a:spcPct val="20000"/>
              </a:spcBef>
            </a:pPr>
            <a:r>
              <a:rPr lang="en-US" altLang="zh-CN" sz="2800" b="0" dirty="0">
                <a:solidFill>
                  <a:srgbClr val="336600"/>
                </a:solidFill>
                <a:latin typeface="Times New Roman" panose="02020603050405020304" pitchFamily="18" charset="0"/>
                <a:ea typeface="楷体_GB2312" pitchFamily="49" charset="-122"/>
              </a:rPr>
              <a:t>12</a:t>
            </a:r>
            <a:endParaRPr lang="en-US" altLang="zh-CN" sz="2800" b="0" dirty="0">
              <a:solidFill>
                <a:srgbClr val="336600"/>
              </a:solidFill>
              <a:latin typeface="Times New Roman" panose="02020603050405020304" pitchFamily="18" charset="0"/>
              <a:ea typeface="楷体_GB2312" pitchFamily="49" charset="-122"/>
            </a:endParaRPr>
          </a:p>
        </p:txBody>
      </p:sp>
      <p:sp>
        <p:nvSpPr>
          <p:cNvPr id="216110" name="Line 46"/>
          <p:cNvSpPr>
            <a:spLocks noChangeShapeType="1"/>
          </p:cNvSpPr>
          <p:nvPr/>
        </p:nvSpPr>
        <p:spPr bwMode="auto">
          <a:xfrm flipH="1">
            <a:off x="3568700" y="825500"/>
            <a:ext cx="685800" cy="5334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1" name="Line 47"/>
          <p:cNvSpPr>
            <a:spLocks noChangeShapeType="1"/>
          </p:cNvSpPr>
          <p:nvPr/>
        </p:nvSpPr>
        <p:spPr bwMode="auto">
          <a:xfrm>
            <a:off x="4711700" y="825500"/>
            <a:ext cx="914400" cy="6858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2" name="Line 48"/>
          <p:cNvSpPr>
            <a:spLocks noChangeShapeType="1"/>
          </p:cNvSpPr>
          <p:nvPr/>
        </p:nvSpPr>
        <p:spPr bwMode="auto">
          <a:xfrm flipH="1">
            <a:off x="2654300" y="1739900"/>
            <a:ext cx="685800" cy="3810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3" name="Line 49"/>
          <p:cNvSpPr>
            <a:spLocks noChangeShapeType="1"/>
          </p:cNvSpPr>
          <p:nvPr/>
        </p:nvSpPr>
        <p:spPr bwMode="auto">
          <a:xfrm flipH="1">
            <a:off x="5397500" y="1816100"/>
            <a:ext cx="381000" cy="3048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4" name="Line 50"/>
          <p:cNvSpPr>
            <a:spLocks noChangeShapeType="1"/>
          </p:cNvSpPr>
          <p:nvPr/>
        </p:nvSpPr>
        <p:spPr bwMode="auto">
          <a:xfrm>
            <a:off x="3492500" y="1816100"/>
            <a:ext cx="457200" cy="3810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5" name="Line 51"/>
          <p:cNvSpPr>
            <a:spLocks noChangeShapeType="1"/>
          </p:cNvSpPr>
          <p:nvPr/>
        </p:nvSpPr>
        <p:spPr bwMode="auto">
          <a:xfrm>
            <a:off x="6083300" y="1739900"/>
            <a:ext cx="609600" cy="5334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6" name="Line 52"/>
          <p:cNvSpPr>
            <a:spLocks noChangeShapeType="1"/>
          </p:cNvSpPr>
          <p:nvPr/>
        </p:nvSpPr>
        <p:spPr bwMode="auto">
          <a:xfrm flipH="1">
            <a:off x="1892300" y="2501900"/>
            <a:ext cx="457200" cy="6858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7" name="Line 53"/>
          <p:cNvSpPr>
            <a:spLocks noChangeShapeType="1"/>
          </p:cNvSpPr>
          <p:nvPr/>
        </p:nvSpPr>
        <p:spPr bwMode="auto">
          <a:xfrm>
            <a:off x="2578100" y="2501900"/>
            <a:ext cx="152400" cy="7620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8" name="Line 54"/>
          <p:cNvSpPr>
            <a:spLocks noChangeShapeType="1"/>
          </p:cNvSpPr>
          <p:nvPr/>
        </p:nvSpPr>
        <p:spPr bwMode="auto">
          <a:xfrm flipH="1">
            <a:off x="3644900" y="2578100"/>
            <a:ext cx="381000" cy="6096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19" name="Line 55"/>
          <p:cNvSpPr>
            <a:spLocks noChangeShapeType="1"/>
          </p:cNvSpPr>
          <p:nvPr/>
        </p:nvSpPr>
        <p:spPr bwMode="auto">
          <a:xfrm>
            <a:off x="4330700" y="2578100"/>
            <a:ext cx="152400" cy="6096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6120" name="Line 56"/>
          <p:cNvSpPr>
            <a:spLocks noChangeShapeType="1"/>
          </p:cNvSpPr>
          <p:nvPr/>
        </p:nvSpPr>
        <p:spPr bwMode="auto">
          <a:xfrm flipH="1">
            <a:off x="5168900" y="2578100"/>
            <a:ext cx="76200" cy="609600"/>
          </a:xfrm>
          <a:prstGeom prst="line">
            <a:avLst/>
          </a:prstGeom>
          <a:noFill/>
          <a:ln w="9525">
            <a:solidFill>
              <a:schemeClr val="tx1"/>
            </a:solidFill>
            <a:miter lim="800000"/>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220162" name="表格 220161"/>
          <p:cNvGraphicFramePr/>
          <p:nvPr/>
        </p:nvGraphicFramePr>
        <p:xfrm>
          <a:off x="4254500" y="444500"/>
          <a:ext cx="457200" cy="609600"/>
        </p:xfrm>
        <a:graphic>
          <a:graphicData uri="http://schemas.openxmlformats.org/drawingml/2006/table">
            <a:tbl>
              <a:tblPr/>
              <a:tblGrid>
                <a:gridCol w="457200"/>
              </a:tblGrid>
              <a:tr h="609600">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1</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2"/>
                      </a:solidFill>
                      <a:prstDash val="solid"/>
                      <a:headEnd type="none" w="med" len="med"/>
                      <a:tailEnd type="none" w="med" len="med"/>
                    </a:lnL>
                    <a:lnR w="28575" cap="flat" cmpd="sng">
                      <a:solidFill>
                        <a:schemeClr val="tx2"/>
                      </a:solidFill>
                      <a:prstDash val="solid"/>
                      <a:headEnd type="none" w="med" len="med"/>
                      <a:tailEnd type="none" w="med" len="med"/>
                    </a:lnR>
                    <a:lnT w="28575" cap="flat" cmpd="sng">
                      <a:solidFill>
                        <a:schemeClr val="tx2"/>
                      </a:solidFill>
                      <a:prstDash val="solid"/>
                      <a:headEnd type="none" w="med" len="med"/>
                      <a:tailEnd type="none" w="med" len="med"/>
                    </a:lnT>
                    <a:lnB w="28575" cap="flat" cmpd="sng">
                      <a:solidFill>
                        <a:schemeClr val="tx2"/>
                      </a:solidFill>
                      <a:prstDash val="solid"/>
                      <a:headEnd type="none" w="med" len="med"/>
                      <a:tailEnd type="none" w="med" len="med"/>
                    </a:lnB>
                    <a:lnTlToBr>
                      <a:noFill/>
                    </a:lnTlToBr>
                    <a:lnBlToTr>
                      <a:noFill/>
                    </a:lnBlToTr>
                    <a:noFill/>
                  </a:tcPr>
                </a:tc>
              </a:tr>
            </a:tbl>
          </a:graphicData>
        </a:graphic>
      </p:graphicFrame>
      <p:graphicFrame>
        <p:nvGraphicFramePr>
          <p:cNvPr id="220168" name="表格 220167"/>
          <p:cNvGraphicFramePr/>
          <p:nvPr/>
        </p:nvGraphicFramePr>
        <p:xfrm>
          <a:off x="2425700" y="1663700"/>
          <a:ext cx="533400" cy="517525"/>
        </p:xfrm>
        <a:graphic>
          <a:graphicData uri="http://schemas.openxmlformats.org/drawingml/2006/table">
            <a:tbl>
              <a:tblPr/>
              <a:tblGrid>
                <a:gridCol w="533400"/>
              </a:tblGrid>
              <a:tr h="5175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2</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2"/>
                      </a:solidFill>
                      <a:prstDash val="solid"/>
                      <a:headEnd type="none" w="med" len="med"/>
                      <a:tailEnd type="none" w="med" len="med"/>
                    </a:lnL>
                    <a:lnR w="28575" cap="flat" cmpd="sng">
                      <a:solidFill>
                        <a:schemeClr val="tx2"/>
                      </a:solidFill>
                      <a:prstDash val="solid"/>
                      <a:headEnd type="none" w="med" len="med"/>
                      <a:tailEnd type="none" w="med" len="med"/>
                    </a:lnR>
                    <a:lnT w="28575" cap="flat" cmpd="sng">
                      <a:solidFill>
                        <a:schemeClr val="tx2"/>
                      </a:solidFill>
                      <a:prstDash val="solid"/>
                      <a:headEnd type="none" w="med" len="med"/>
                      <a:tailEnd type="none" w="med" len="med"/>
                    </a:lnT>
                    <a:lnB w="28575" cap="flat" cmpd="sng">
                      <a:solidFill>
                        <a:schemeClr val="tx2"/>
                      </a:solidFill>
                      <a:prstDash val="solid"/>
                      <a:headEnd type="none" w="med" len="med"/>
                      <a:tailEnd type="none" w="med" len="med"/>
                    </a:lnB>
                    <a:lnTlToBr>
                      <a:noFill/>
                    </a:lnTlToBr>
                    <a:lnBlToTr>
                      <a:noFill/>
                    </a:lnBlToTr>
                    <a:noFill/>
                  </a:tcPr>
                </a:tc>
              </a:tr>
            </a:tbl>
          </a:graphicData>
        </a:graphic>
      </p:graphicFrame>
      <p:graphicFrame>
        <p:nvGraphicFramePr>
          <p:cNvPr id="220174" name="表格 220173"/>
          <p:cNvGraphicFramePr/>
          <p:nvPr/>
        </p:nvGraphicFramePr>
        <p:xfrm>
          <a:off x="6311900" y="1511300"/>
          <a:ext cx="457200" cy="609600"/>
        </p:xfrm>
        <a:graphic>
          <a:graphicData uri="http://schemas.openxmlformats.org/drawingml/2006/table">
            <a:tbl>
              <a:tblPr/>
              <a:tblGrid>
                <a:gridCol w="457200"/>
              </a:tblGrid>
              <a:tr h="609600">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3</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2"/>
                      </a:solidFill>
                      <a:prstDash val="solid"/>
                      <a:headEnd type="none" w="med" len="med"/>
                      <a:tailEnd type="none" w="med" len="med"/>
                    </a:lnL>
                    <a:lnR w="28575" cap="flat" cmpd="sng">
                      <a:solidFill>
                        <a:schemeClr val="tx2"/>
                      </a:solidFill>
                      <a:prstDash val="solid"/>
                      <a:headEnd type="none" w="med" len="med"/>
                      <a:tailEnd type="none" w="med" len="med"/>
                    </a:lnR>
                    <a:lnT w="28575" cap="flat" cmpd="sng">
                      <a:solidFill>
                        <a:schemeClr val="tx2"/>
                      </a:solidFill>
                      <a:prstDash val="solid"/>
                      <a:headEnd type="none" w="med" len="med"/>
                      <a:tailEnd type="none" w="med" len="med"/>
                    </a:lnT>
                    <a:lnB w="28575" cap="flat" cmpd="sng">
                      <a:solidFill>
                        <a:schemeClr val="tx2"/>
                      </a:solidFill>
                      <a:prstDash val="solid"/>
                      <a:headEnd type="none" w="med" len="med"/>
                      <a:tailEnd type="none" w="med" len="med"/>
                    </a:lnB>
                    <a:lnTlToBr>
                      <a:noFill/>
                    </a:lnTlToBr>
                    <a:lnBlToTr>
                      <a:noFill/>
                    </a:lnBlToTr>
                    <a:noFill/>
                  </a:tcPr>
                </a:tc>
              </a:tr>
            </a:tbl>
          </a:graphicData>
        </a:graphic>
      </p:graphicFrame>
      <p:graphicFrame>
        <p:nvGraphicFramePr>
          <p:cNvPr id="220180" name="表格 220179"/>
          <p:cNvGraphicFramePr/>
          <p:nvPr/>
        </p:nvGraphicFramePr>
        <p:xfrm>
          <a:off x="1130300" y="2806700"/>
          <a:ext cx="533400" cy="517525"/>
        </p:xfrm>
        <a:graphic>
          <a:graphicData uri="http://schemas.openxmlformats.org/drawingml/2006/table">
            <a:tbl>
              <a:tblPr/>
              <a:tblGrid>
                <a:gridCol w="533400"/>
              </a:tblGrid>
              <a:tr h="5175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4</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2"/>
                      </a:solidFill>
                      <a:prstDash val="solid"/>
                      <a:headEnd type="none" w="med" len="med"/>
                      <a:tailEnd type="none" w="med" len="med"/>
                    </a:lnL>
                    <a:lnR w="28575" cap="flat" cmpd="sng">
                      <a:solidFill>
                        <a:schemeClr val="tx2"/>
                      </a:solidFill>
                      <a:prstDash val="solid"/>
                      <a:headEnd type="none" w="med" len="med"/>
                      <a:tailEnd type="none" w="med" len="med"/>
                    </a:lnR>
                    <a:lnT w="28575" cap="flat" cmpd="sng">
                      <a:solidFill>
                        <a:schemeClr val="tx2"/>
                      </a:solidFill>
                      <a:prstDash val="solid"/>
                      <a:headEnd type="none" w="med" len="med"/>
                      <a:tailEnd type="none" w="med" len="med"/>
                    </a:lnT>
                    <a:lnB w="28575" cap="flat" cmpd="sng">
                      <a:solidFill>
                        <a:schemeClr val="tx2"/>
                      </a:solidFill>
                      <a:prstDash val="solid"/>
                      <a:headEnd type="none" w="med" len="med"/>
                      <a:tailEnd type="none" w="med" len="med"/>
                    </a:lnB>
                    <a:lnTlToBr>
                      <a:noFill/>
                    </a:lnTlToBr>
                    <a:lnBlToTr>
                      <a:noFill/>
                    </a:lnBlToTr>
                    <a:noFill/>
                  </a:tcPr>
                </a:tc>
              </a:tr>
            </a:tbl>
          </a:graphicData>
        </a:graphic>
      </p:graphicFrame>
      <p:graphicFrame>
        <p:nvGraphicFramePr>
          <p:cNvPr id="220186" name="表格 220185"/>
          <p:cNvGraphicFramePr/>
          <p:nvPr/>
        </p:nvGraphicFramePr>
        <p:xfrm>
          <a:off x="3492500" y="2730500"/>
          <a:ext cx="533400" cy="533400"/>
        </p:xfrm>
        <a:graphic>
          <a:graphicData uri="http://schemas.openxmlformats.org/drawingml/2006/table">
            <a:tbl>
              <a:tblPr/>
              <a:tblGrid>
                <a:gridCol w="533400"/>
              </a:tblGrid>
              <a:tr h="533400">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5</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2"/>
                      </a:solidFill>
                      <a:prstDash val="solid"/>
                      <a:headEnd type="none" w="med" len="med"/>
                      <a:tailEnd type="none" w="med" len="med"/>
                    </a:lnL>
                    <a:lnR w="28575" cap="flat" cmpd="sng">
                      <a:solidFill>
                        <a:schemeClr val="tx2"/>
                      </a:solidFill>
                      <a:prstDash val="solid"/>
                      <a:headEnd type="none" w="med" len="med"/>
                      <a:tailEnd type="none" w="med" len="med"/>
                    </a:lnR>
                    <a:lnT w="28575" cap="flat" cmpd="sng">
                      <a:solidFill>
                        <a:schemeClr val="tx2"/>
                      </a:solidFill>
                      <a:prstDash val="solid"/>
                      <a:headEnd type="none" w="med" len="med"/>
                      <a:tailEnd type="none" w="med" len="med"/>
                    </a:lnT>
                    <a:lnB w="28575" cap="flat" cmpd="sng">
                      <a:solidFill>
                        <a:schemeClr val="tx2"/>
                      </a:solidFill>
                      <a:prstDash val="solid"/>
                      <a:headEnd type="none" w="med" len="med"/>
                      <a:tailEnd type="none" w="med" len="med"/>
                    </a:lnB>
                    <a:lnTlToBr>
                      <a:noFill/>
                    </a:lnTlToBr>
                    <a:lnBlToTr>
                      <a:noFill/>
                    </a:lnBlToTr>
                    <a:noFill/>
                  </a:tcPr>
                </a:tc>
              </a:tr>
            </a:tbl>
          </a:graphicData>
        </a:graphic>
      </p:graphicFrame>
      <p:graphicFrame>
        <p:nvGraphicFramePr>
          <p:cNvPr id="220192" name="表格 220191"/>
          <p:cNvGraphicFramePr/>
          <p:nvPr/>
        </p:nvGraphicFramePr>
        <p:xfrm>
          <a:off x="2806700" y="4406900"/>
          <a:ext cx="533400" cy="533400"/>
        </p:xfrm>
        <a:graphic>
          <a:graphicData uri="http://schemas.openxmlformats.org/drawingml/2006/table">
            <a:tbl>
              <a:tblPr/>
              <a:tblGrid>
                <a:gridCol w="533400"/>
              </a:tblGrid>
              <a:tr h="533400">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6</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2"/>
                      </a:solidFill>
                      <a:prstDash val="solid"/>
                      <a:headEnd type="none" w="med" len="med"/>
                      <a:tailEnd type="none" w="med" len="med"/>
                    </a:lnL>
                    <a:lnR w="28575" cap="flat" cmpd="sng">
                      <a:solidFill>
                        <a:schemeClr val="tx2"/>
                      </a:solidFill>
                      <a:prstDash val="solid"/>
                      <a:headEnd type="none" w="med" len="med"/>
                      <a:tailEnd type="none" w="med" len="med"/>
                    </a:lnR>
                    <a:lnT w="28575" cap="flat" cmpd="sng">
                      <a:solidFill>
                        <a:schemeClr val="tx2"/>
                      </a:solidFill>
                      <a:prstDash val="solid"/>
                      <a:headEnd type="none" w="med" len="med"/>
                      <a:tailEnd type="none" w="med" len="med"/>
                    </a:lnT>
                    <a:lnB w="28575" cap="flat" cmpd="sng">
                      <a:solidFill>
                        <a:schemeClr val="tx2"/>
                      </a:solidFill>
                      <a:prstDash val="solid"/>
                      <a:headEnd type="none" w="med" len="med"/>
                      <a:tailEnd type="none" w="med" len="med"/>
                    </a:lnB>
                    <a:lnTlToBr>
                      <a:noFill/>
                    </a:lnTlToBr>
                    <a:lnBlToTr>
                      <a:noFill/>
                    </a:lnBlToTr>
                    <a:noFill/>
                  </a:tcPr>
                </a:tc>
              </a:tr>
            </a:tbl>
          </a:graphicData>
        </a:graphic>
      </p:graphicFrame>
      <p:graphicFrame>
        <p:nvGraphicFramePr>
          <p:cNvPr id="220198" name="表格 220197"/>
          <p:cNvGraphicFramePr/>
          <p:nvPr/>
        </p:nvGraphicFramePr>
        <p:xfrm>
          <a:off x="4559300" y="4406900"/>
          <a:ext cx="533400" cy="517525"/>
        </p:xfrm>
        <a:graphic>
          <a:graphicData uri="http://schemas.openxmlformats.org/drawingml/2006/table">
            <a:tbl>
              <a:tblPr/>
              <a:tblGrid>
                <a:gridCol w="533400"/>
              </a:tblGrid>
              <a:tr h="517525">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7</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2"/>
                      </a:solidFill>
                      <a:prstDash val="solid"/>
                      <a:headEnd type="none" w="med" len="med"/>
                      <a:tailEnd type="none" w="med" len="med"/>
                    </a:lnL>
                    <a:lnR w="28575" cap="flat" cmpd="sng">
                      <a:solidFill>
                        <a:schemeClr val="tx2"/>
                      </a:solidFill>
                      <a:prstDash val="solid"/>
                      <a:headEnd type="none" w="med" len="med"/>
                      <a:tailEnd type="none" w="med" len="med"/>
                    </a:lnR>
                    <a:lnT w="28575" cap="flat" cmpd="sng">
                      <a:solidFill>
                        <a:schemeClr val="tx2"/>
                      </a:solidFill>
                      <a:prstDash val="solid"/>
                      <a:headEnd type="none" w="med" len="med"/>
                      <a:tailEnd type="none" w="med" len="med"/>
                    </a:lnT>
                    <a:lnB w="28575" cap="flat" cmpd="sng">
                      <a:solidFill>
                        <a:schemeClr val="tx2"/>
                      </a:solidFill>
                      <a:prstDash val="solid"/>
                      <a:headEnd type="none" w="med" len="med"/>
                      <a:tailEnd type="none" w="med" len="med"/>
                    </a:lnB>
                    <a:lnTlToBr>
                      <a:noFill/>
                    </a:lnTlToBr>
                    <a:lnBlToTr>
                      <a:noFill/>
                    </a:lnBlToTr>
                    <a:noFill/>
                  </a:tcPr>
                </a:tc>
              </a:tr>
            </a:tbl>
          </a:graphicData>
        </a:graphic>
      </p:graphicFrame>
      <p:graphicFrame>
        <p:nvGraphicFramePr>
          <p:cNvPr id="217200" name="Group 112"/>
          <p:cNvGraphicFramePr>
            <a:graphicFrameLocks noGrp="1"/>
          </p:cNvGraphicFramePr>
          <p:nvPr/>
        </p:nvGraphicFramePr>
        <p:xfrm>
          <a:off x="5778500" y="2708275"/>
          <a:ext cx="609600" cy="555625"/>
        </p:xfrm>
        <a:graphic>
          <a:graphicData uri="http://schemas.openxmlformats.org/drawingml/2006/table">
            <a:tbl>
              <a:tblPr/>
              <a:tblGrid>
                <a:gridCol w="609600"/>
              </a:tblGrid>
              <a:tr h="5556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Ø</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r>
            </a:tbl>
          </a:graphicData>
        </a:graphic>
      </p:graphicFrame>
      <p:graphicFrame>
        <p:nvGraphicFramePr>
          <p:cNvPr id="217199" name="Group 111"/>
          <p:cNvGraphicFramePr>
            <a:graphicFrameLocks noGrp="1"/>
          </p:cNvGraphicFramePr>
          <p:nvPr/>
        </p:nvGraphicFramePr>
        <p:xfrm>
          <a:off x="7380288" y="2806700"/>
          <a:ext cx="531813" cy="533400"/>
        </p:xfrm>
        <a:graphic>
          <a:graphicData uri="http://schemas.openxmlformats.org/drawingml/2006/table">
            <a:tbl>
              <a:tblPr/>
              <a:tblGrid>
                <a:gridCol w="531812"/>
              </a:tblGrid>
              <a:tr h="5334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Ø</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r>
            </a:tbl>
          </a:graphicData>
        </a:graphic>
      </p:graphicFrame>
      <p:graphicFrame>
        <p:nvGraphicFramePr>
          <p:cNvPr id="217205" name="Group 117"/>
          <p:cNvGraphicFramePr>
            <a:graphicFrameLocks noGrp="1"/>
          </p:cNvGraphicFramePr>
          <p:nvPr/>
        </p:nvGraphicFramePr>
        <p:xfrm>
          <a:off x="444500" y="4406900"/>
          <a:ext cx="457200" cy="533400"/>
        </p:xfrm>
        <a:graphic>
          <a:graphicData uri="http://schemas.openxmlformats.org/drawingml/2006/table">
            <a:tbl>
              <a:tblPr/>
              <a:tblGrid>
                <a:gridCol w="457200"/>
              </a:tblGrid>
              <a:tr h="5334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Ø</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r>
            </a:tbl>
          </a:graphicData>
        </a:graphic>
      </p:graphicFrame>
      <p:graphicFrame>
        <p:nvGraphicFramePr>
          <p:cNvPr id="217204" name="Group 116"/>
          <p:cNvGraphicFramePr>
            <a:graphicFrameLocks noGrp="1"/>
          </p:cNvGraphicFramePr>
          <p:nvPr/>
        </p:nvGraphicFramePr>
        <p:xfrm>
          <a:off x="1587500" y="4406900"/>
          <a:ext cx="457200" cy="533400"/>
        </p:xfrm>
        <a:graphic>
          <a:graphicData uri="http://schemas.openxmlformats.org/drawingml/2006/table">
            <a:tbl>
              <a:tblPr/>
              <a:tblGrid>
                <a:gridCol w="457200"/>
              </a:tblGrid>
              <a:tr h="5334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1" i="0" u="none" strike="noStrike" cap="none" normalizeH="0" baseline="0">
                          <a:ln>
                            <a:noFill/>
                          </a:ln>
                          <a:solidFill>
                            <a:schemeClr val="tx1"/>
                          </a:solidFill>
                          <a:effectLst>
                            <a:outerShdw blurRad="38100" dist="38100" dir="2700000" algn="tl">
                              <a:srgbClr val="C0C0C0"/>
                            </a:outerShdw>
                          </a:effectLst>
                          <a:latin typeface="Arial" panose="020B0604020202020204"/>
                          <a:ea typeface="宋体" panose="02010600030101010101" pitchFamily="2" charset="-122"/>
                        </a:rPr>
                        <a:t>Ø</a:t>
                      </a:r>
                      <a:endParaRPr kumimoji="0" lang="en-US" altLang="zh-CN" sz="2600" b="1" i="0" u="none" strike="noStrike" cap="none" normalizeH="0" baseline="0">
                        <a:ln>
                          <a:noFill/>
                        </a:ln>
                        <a:solidFill>
                          <a:schemeClr val="tx1"/>
                        </a:solidFill>
                        <a:effectLst>
                          <a:outerShdw blurRad="38100" dist="38100" dir="2700000" algn="tl">
                            <a:srgbClr val="C0C0C0"/>
                          </a:outerShdw>
                        </a:effectLst>
                        <a:latin typeface="Verdana" panose="020B0604030504040204" pitchFamily="34" charset="0"/>
                        <a:ea typeface="宋体" panose="02010600030101010101" pitchFamily="2" charset="-122"/>
                      </a:endParaRPr>
                    </a:p>
                  </a:txBody>
                  <a:tcP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noFill/>
                  </a:tcPr>
                </a:tc>
              </a:tr>
            </a:tbl>
          </a:graphicData>
        </a:graphic>
      </p:graphicFrame>
      <p:sp>
        <p:nvSpPr>
          <p:cNvPr id="217158" name="Line 70"/>
          <p:cNvSpPr>
            <a:spLocks noChangeShapeType="1"/>
          </p:cNvSpPr>
          <p:nvPr/>
        </p:nvSpPr>
        <p:spPr bwMode="auto">
          <a:xfrm flipH="1">
            <a:off x="2654300" y="977900"/>
            <a:ext cx="1600200" cy="6858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59" name="Line 71"/>
          <p:cNvSpPr>
            <a:spLocks noChangeShapeType="1"/>
          </p:cNvSpPr>
          <p:nvPr/>
        </p:nvSpPr>
        <p:spPr bwMode="auto">
          <a:xfrm>
            <a:off x="4711700" y="901700"/>
            <a:ext cx="17526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0" name="Line 72"/>
          <p:cNvSpPr>
            <a:spLocks noChangeShapeType="1"/>
          </p:cNvSpPr>
          <p:nvPr/>
        </p:nvSpPr>
        <p:spPr bwMode="auto">
          <a:xfrm flipH="1">
            <a:off x="1282700" y="2197100"/>
            <a:ext cx="11430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1" name="Line 73"/>
          <p:cNvSpPr>
            <a:spLocks noChangeShapeType="1"/>
          </p:cNvSpPr>
          <p:nvPr/>
        </p:nvSpPr>
        <p:spPr bwMode="auto">
          <a:xfrm>
            <a:off x="2959100" y="2197100"/>
            <a:ext cx="609600" cy="5334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2" name="Line 74"/>
          <p:cNvSpPr>
            <a:spLocks noChangeShapeType="1"/>
          </p:cNvSpPr>
          <p:nvPr/>
        </p:nvSpPr>
        <p:spPr bwMode="auto">
          <a:xfrm flipH="1">
            <a:off x="6083300" y="2120900"/>
            <a:ext cx="304800" cy="6096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3" name="Line 75"/>
          <p:cNvSpPr>
            <a:spLocks noChangeShapeType="1"/>
          </p:cNvSpPr>
          <p:nvPr/>
        </p:nvSpPr>
        <p:spPr bwMode="auto">
          <a:xfrm>
            <a:off x="6692900" y="2120900"/>
            <a:ext cx="838200" cy="6858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4" name="Line 76"/>
          <p:cNvSpPr>
            <a:spLocks noChangeShapeType="1"/>
          </p:cNvSpPr>
          <p:nvPr/>
        </p:nvSpPr>
        <p:spPr bwMode="auto">
          <a:xfrm flipH="1">
            <a:off x="749300" y="3340100"/>
            <a:ext cx="533400" cy="10668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5" name="Line 77"/>
          <p:cNvSpPr>
            <a:spLocks noChangeShapeType="1"/>
          </p:cNvSpPr>
          <p:nvPr/>
        </p:nvSpPr>
        <p:spPr bwMode="auto">
          <a:xfrm>
            <a:off x="1511300" y="3263900"/>
            <a:ext cx="228600" cy="1143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6" name="Line 78"/>
          <p:cNvSpPr>
            <a:spLocks noChangeShapeType="1"/>
          </p:cNvSpPr>
          <p:nvPr/>
        </p:nvSpPr>
        <p:spPr bwMode="auto">
          <a:xfrm flipH="1">
            <a:off x="3111500" y="3263900"/>
            <a:ext cx="609600" cy="12192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17167" name="Line 79"/>
          <p:cNvSpPr>
            <a:spLocks noChangeShapeType="1"/>
          </p:cNvSpPr>
          <p:nvPr/>
        </p:nvSpPr>
        <p:spPr bwMode="auto">
          <a:xfrm>
            <a:off x="3797300" y="3263900"/>
            <a:ext cx="914400" cy="114300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8206" name="Text Box 80"/>
          <p:cNvSpPr txBox="1"/>
          <p:nvPr/>
        </p:nvSpPr>
        <p:spPr>
          <a:xfrm>
            <a:off x="5381625" y="3559175"/>
            <a:ext cx="3597275" cy="519113"/>
          </a:xfrm>
          <a:prstGeom prst="rect">
            <a:avLst/>
          </a:prstGeom>
          <a:noFill/>
          <a:ln w="9525">
            <a:noFill/>
          </a:ln>
        </p:spPr>
        <p:txBody>
          <a:bodyPr>
            <a:spAutoFit/>
          </a:bodyPr>
          <a:p>
            <a:pPr eaLnBrk="1" hangingPunct="1"/>
            <a:r>
              <a:rPr lang="en-US" altLang="zh-CN" sz="2800" dirty="0">
                <a:solidFill>
                  <a:schemeClr val="tx1"/>
                </a:solidFill>
                <a:latin typeface="Times New Roman" panose="02020603050405020304" pitchFamily="18" charset="0"/>
              </a:rPr>
              <a:t>Ø </a:t>
            </a:r>
            <a:r>
              <a:rPr lang="zh-CN" altLang="en-US" sz="2800" b="0" dirty="0">
                <a:solidFill>
                  <a:schemeClr val="tx1"/>
                </a:solidFill>
                <a:latin typeface="Times New Roman" panose="02020603050405020304" pitchFamily="18" charset="0"/>
              </a:rPr>
              <a:t>表示该处没有元素</a:t>
            </a:r>
            <a:endParaRPr lang="zh-CN" altLang="en-US" sz="2800" b="0" dirty="0">
              <a:solidFill>
                <a:schemeClr val="tx1"/>
              </a:solidFill>
              <a:latin typeface="Times New Roman" panose="02020603050405020304" pitchFamily="18" charset="0"/>
            </a:endParaRPr>
          </a:p>
        </p:txBody>
      </p:sp>
      <p:graphicFrame>
        <p:nvGraphicFramePr>
          <p:cNvPr id="220239" name="表格 220238"/>
          <p:cNvGraphicFramePr/>
          <p:nvPr/>
        </p:nvGraphicFramePr>
        <p:xfrm>
          <a:off x="1206500" y="6007100"/>
          <a:ext cx="6629400" cy="533400"/>
        </p:xfrm>
        <a:graphic>
          <a:graphicData uri="http://schemas.openxmlformats.org/drawingml/2006/table">
            <a:tbl>
              <a:tblPr/>
              <a:tblGrid>
                <a:gridCol w="603250"/>
                <a:gridCol w="601663"/>
                <a:gridCol w="603250"/>
                <a:gridCol w="601662"/>
                <a:gridCol w="603250"/>
                <a:gridCol w="603250"/>
                <a:gridCol w="603250"/>
                <a:gridCol w="601663"/>
                <a:gridCol w="603250"/>
                <a:gridCol w="601662"/>
                <a:gridCol w="603250"/>
              </a:tblGrid>
              <a:tr h="533400">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1</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2</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3</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4</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5</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0</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0</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0</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0</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6</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sym typeface="Symbol" panose="05050102010706020507" pitchFamily="18" charset="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stStyle>
                    <a:p>
                      <a:pPr lvl="0" algn="l" eaLnBrk="1" hangingPunct="1">
                        <a:spcBef>
                          <a:spcPct val="20000"/>
                        </a:spcBef>
                        <a:buClr>
                          <a:schemeClr val="accent2"/>
                        </a:buClr>
                        <a:buFont typeface="Wingdings" panose="05000000000000000000" pitchFamily="2" charset="2"/>
                        <a:buNone/>
                      </a:pPr>
                      <a:r>
                        <a:rPr lang="en-US" altLang="zh-CN" sz="2600" dirty="0">
                          <a:solidFill>
                            <a:schemeClr val="tx1"/>
                          </a:solidFill>
                          <a:effectLst>
                            <a:outerShdw blurRad="38100" dist="38100" dir="2700000">
                              <a:srgbClr val="C0C0C0"/>
                            </a:outerShdw>
                          </a:effectLst>
                          <a:latin typeface="Verdana" panose="020B0604030504040204" pitchFamily="34" charset="0"/>
                        </a:rPr>
                        <a:t>7</a:t>
                      </a:r>
                      <a:endParaRPr lang="en-US" altLang="zh-CN" sz="2600" dirty="0">
                        <a:solidFill>
                          <a:schemeClr val="tx1"/>
                        </a:solidFill>
                        <a:effectLst>
                          <a:outerShdw blurRad="38100" dist="38100" dir="2700000">
                            <a:srgbClr val="C0C0C0"/>
                          </a:outerShdw>
                        </a:effectLst>
                        <a:latin typeface="Verdana" panose="020B0604030504040204" pitchFamily="34"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17196" name="Rectangle 108"/>
          <p:cNvSpPr>
            <a:spLocks noChangeArrowheads="1"/>
          </p:cNvSpPr>
          <p:nvPr/>
        </p:nvSpPr>
        <p:spPr bwMode="auto">
          <a:xfrm>
            <a:off x="825500" y="673100"/>
            <a:ext cx="2514600" cy="4572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rgbClr val="33CC33"/>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一般二叉树</a:t>
            </a:r>
            <a:endParaRPr kumimoji="0" lang="zh-CN" altLang="en-US" sz="2100" b="1" i="0" u="none" strike="noStrike" kern="1200" cap="none" spc="0" normalizeH="0" baseline="0" noProof="0">
              <a:ln>
                <a:noFill/>
              </a:ln>
              <a:solidFill>
                <a:srgbClr val="33CC33"/>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 name="Text Box 80"/>
          <p:cNvSpPr txBox="1"/>
          <p:nvPr/>
        </p:nvSpPr>
        <p:spPr>
          <a:xfrm>
            <a:off x="3721100" y="5048250"/>
            <a:ext cx="4114800" cy="522288"/>
          </a:xfrm>
          <a:prstGeom prst="rect">
            <a:avLst/>
          </a:prstGeom>
          <a:noFill/>
          <a:ln w="9525">
            <a:noFill/>
          </a:ln>
        </p:spPr>
        <p:txBody>
          <a:bodyPr>
            <a:spAutoFit/>
          </a:bodyPr>
          <a:p>
            <a:pPr eaLnBrk="1" hangingPunct="1"/>
            <a:r>
              <a:rPr lang="zh-CN" altLang="en-US" sz="2800" b="0" dirty="0">
                <a:solidFill>
                  <a:srgbClr val="FF0000"/>
                </a:solidFill>
                <a:latin typeface="Times New Roman" panose="02020603050405020304" pitchFamily="18" charset="0"/>
              </a:rPr>
              <a:t>顺序存储适合完全二叉树</a:t>
            </a:r>
            <a:endParaRPr lang="zh-CN" altLang="en-US" sz="2800" b="0"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6.2.3 </a:t>
            </a: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二叉树的存储结构－</a:t>
            </a: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rPr>
              <a:t>顺序存储结构</a:t>
            </a:r>
            <a:endPar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215043" name="Rectangle 3"/>
          <p:cNvSpPr>
            <a:spLocks noGrp="1" noChangeArrowheads="1"/>
          </p:cNvSpPr>
          <p:nvPr>
            <p:ph idx="1"/>
          </p:nvPr>
        </p:nvSpPr>
        <p:spPr/>
        <p:txBody>
          <a:bodyPr vert="horz" wrap="square" lIns="91440" tIns="45720" rIns="91440" bIns="45720" numCol="1" anchor="t" anchorCtr="0" compatLnSpc="1"/>
          <a:lstStyle/>
          <a:p>
            <a:pPr marL="471170" marR="0" lvl="1" indent="0" algn="l" defTabSz="914400" rtl="0" eaLnBrk="1" fontAlgn="base" latinLnBrk="0" hangingPunct="1">
              <a:lnSpc>
                <a:spcPct val="90000"/>
              </a:lnSpc>
              <a:spcBef>
                <a:spcPts val="1200"/>
              </a:spcBef>
              <a:spcAft>
                <a:spcPct val="0"/>
              </a:spcAft>
              <a:buClr>
                <a:schemeClr val="accent2"/>
              </a:buClr>
              <a:buSzTx/>
              <a:buFont typeface="Wingdings" panose="05000000000000000000" pitchFamily="2" charset="2"/>
              <a:buNone/>
              <a:defRPr/>
            </a:pP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为什么说完全二叉树采用顺序存储比较合适？</a:t>
            </a:r>
            <a:endPar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endPar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pic>
        <p:nvPicPr>
          <p:cNvPr id="49156" name="20 1"/>
          <p:cNvPicPr>
            <a:picLocks noChangeAspect="1"/>
          </p:cNvPicPr>
          <p:nvPr/>
        </p:nvPicPr>
        <p:blipFill>
          <a:blip r:embed="rId1"/>
          <a:stretch>
            <a:fillRect/>
          </a:stretch>
        </p:blipFill>
        <p:spPr>
          <a:xfrm>
            <a:off x="822325" y="2676525"/>
            <a:ext cx="7745413" cy="1690688"/>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6.2.3 </a:t>
            </a:r>
            <a:r>
              <a:rPr kumimoji="0"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二叉树的存储结构</a:t>
            </a:r>
            <a:endParaRPr kumimoji="0"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215043" name="Rectangle 3"/>
          <p:cNvSpPr>
            <a:spLocks noGrp="1" noChangeArrowheads="1"/>
          </p:cNvSpPr>
          <p:nvPr>
            <p:ph idx="1"/>
          </p:nvPr>
        </p:nvSpPr>
        <p:spPr/>
        <p:txBody>
          <a:bodyPr vert="horz" wrap="square" lIns="91440" tIns="45720" rIns="91440" bIns="45720" numCol="1" anchor="t" anchorCtr="0" compatLnSpc="1"/>
          <a:lstStyle/>
          <a:p>
            <a:pPr marL="471170" marR="0" lvl="1" indent="0" algn="l" defTabSz="914400" rtl="0" eaLnBrk="1" fontAlgn="base" latinLnBrk="0" hangingPunct="1">
              <a:lnSpc>
                <a:spcPct val="90000"/>
              </a:lnSpc>
              <a:spcBef>
                <a:spcPts val="600"/>
              </a:spcBef>
              <a:spcAft>
                <a:spcPts val="600"/>
              </a:spcAft>
              <a:buClr>
                <a:schemeClr val="accent2"/>
              </a:buClr>
              <a:buSzTx/>
              <a:buFont typeface="Wingdings" panose="05000000000000000000" pitchFamily="2" charset="2"/>
              <a:buNone/>
              <a:defRPr/>
            </a:pPr>
            <a:r>
              <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二叉树的存储：</a:t>
            </a:r>
            <a:endPar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1"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1. </a:t>
            </a:r>
            <a:r>
              <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顺序存储</a:t>
            </a:r>
            <a:endParaRPr kumimoji="1"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1" lang="en-US" altLang="zh-CN" sz="4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rPr>
              <a:t>2. </a:t>
            </a:r>
            <a:r>
              <a:rPr kumimoji="1" lang="zh-CN" altLang="en-US" sz="4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rPr>
              <a:t>链式存储</a:t>
            </a:r>
            <a:endParaRPr kumimoji="1" lang="zh-CN" altLang="en-US" sz="40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defRPr/>
            </a:pPr>
            <a:r>
              <a:rPr kumimoji="1" lang="en-US" altLang="zh-CN" sz="40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Times New Roman" panose="02020603050405020304" pitchFamily="18" charset="0"/>
                <a:ea typeface="+mn-ea"/>
                <a:cs typeface="+mn-ea"/>
              </a:rPr>
              <a:t>3. </a:t>
            </a:r>
            <a:r>
              <a:rPr kumimoji="1" lang="zh-CN" altLang="en-US" sz="40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Times New Roman" panose="02020603050405020304" pitchFamily="18" charset="0"/>
                <a:ea typeface="+mn-ea"/>
                <a:cs typeface="+mn-ea"/>
              </a:rPr>
              <a:t>线索二叉树（了解即可）</a:t>
            </a:r>
            <a:endParaRPr kumimoji="1" lang="zh-CN" altLang="en-US" sz="4000" b="1" i="0" u="none" strike="noStrike" kern="0" cap="none" spc="0" normalizeH="0" baseline="0" noProof="0">
              <a:ln>
                <a:noFill/>
              </a:ln>
              <a:solidFill>
                <a:schemeClr val="bg1">
                  <a:lumMod val="65000"/>
                </a:schemeClr>
              </a:solidFill>
              <a:effectLst>
                <a:outerShdw blurRad="38100" dist="38100" dir="2700000" algn="tl">
                  <a:srgbClr val="C0C0C0"/>
                </a:outerShdw>
              </a:effectLst>
              <a:uLnTx/>
              <a:uFillTx/>
              <a:latin typeface="Times New Roman" panose="02020603050405020304" pitchFamily="18" charset="0"/>
              <a:ea typeface="+mn-ea"/>
              <a:cs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链式存储结构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50179" name="Picture 4"/>
          <p:cNvPicPr>
            <a:picLocks noChangeAspect="1"/>
          </p:cNvPicPr>
          <p:nvPr/>
        </p:nvPicPr>
        <p:blipFill>
          <a:blip r:embed="rId1"/>
          <a:stretch>
            <a:fillRect/>
          </a:stretch>
        </p:blipFill>
        <p:spPr>
          <a:xfrm>
            <a:off x="-36512" y="1773238"/>
            <a:ext cx="3354387" cy="4392612"/>
          </a:xfrm>
          <a:prstGeom prst="rect">
            <a:avLst/>
          </a:prstGeom>
          <a:noFill/>
          <a:ln w="9525">
            <a:noFill/>
          </a:ln>
        </p:spPr>
      </p:pic>
      <p:pic>
        <p:nvPicPr>
          <p:cNvPr id="50180" name="Picture 5"/>
          <p:cNvPicPr>
            <a:picLocks noChangeAspect="1"/>
          </p:cNvPicPr>
          <p:nvPr/>
        </p:nvPicPr>
        <p:blipFill>
          <a:blip r:embed="rId2"/>
          <a:stretch>
            <a:fillRect/>
          </a:stretch>
        </p:blipFill>
        <p:spPr>
          <a:xfrm>
            <a:off x="3622675" y="1196975"/>
            <a:ext cx="5486400" cy="5057775"/>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链式存储结构</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51203" name="20 2"/>
          <p:cNvPicPr>
            <a:picLocks noChangeAspect="1"/>
          </p:cNvPicPr>
          <p:nvPr/>
        </p:nvPicPr>
        <p:blipFill>
          <a:blip r:embed="rId1"/>
          <a:stretch>
            <a:fillRect/>
          </a:stretch>
        </p:blipFill>
        <p:spPr>
          <a:xfrm>
            <a:off x="574675" y="2357438"/>
            <a:ext cx="7986713" cy="1265237"/>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2226" name="Picture 4"/>
          <p:cNvPicPr>
            <a:picLocks noChangeAspect="1"/>
          </p:cNvPicPr>
          <p:nvPr/>
        </p:nvPicPr>
        <p:blipFill>
          <a:blip r:embed="rId1"/>
          <a:stretch>
            <a:fillRect/>
          </a:stretch>
        </p:blipFill>
        <p:spPr>
          <a:xfrm>
            <a:off x="1284288" y="0"/>
            <a:ext cx="6240462" cy="6858000"/>
          </a:xfrm>
          <a:prstGeom prst="rect">
            <a:avLst/>
          </a:prstGeom>
          <a:noFill/>
          <a:ln w="9525">
            <a:noFill/>
          </a:ln>
        </p:spPr>
      </p:pic>
      <p:sp>
        <p:nvSpPr>
          <p:cNvPr id="220166" name="AutoShape 6"/>
          <p:cNvSpPr/>
          <p:nvPr/>
        </p:nvSpPr>
        <p:spPr bwMode="auto">
          <a:xfrm>
            <a:off x="6148388" y="854075"/>
            <a:ext cx="914400" cy="914400"/>
          </a:xfrm>
          <a:prstGeom prst="callout1">
            <a:avLst>
              <a:gd name="adj1" fmla="val -8333"/>
              <a:gd name="adj2" fmla="val 87500"/>
              <a:gd name="adj3" fmla="val -8333"/>
              <a:gd name="adj4" fmla="val -203819"/>
            </a:avLst>
          </a:prstGeom>
          <a:noFill/>
          <a:ln w="9525">
            <a:no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0167" name="AutoShape 7"/>
          <p:cNvSpPr/>
          <p:nvPr/>
        </p:nvSpPr>
        <p:spPr bwMode="auto">
          <a:xfrm>
            <a:off x="7062788" y="1181100"/>
            <a:ext cx="1724025" cy="258763"/>
          </a:xfrm>
          <a:prstGeom prst="callout2">
            <a:avLst>
              <a:gd name="adj1" fmla="val 44171"/>
              <a:gd name="adj2" fmla="val -4421"/>
              <a:gd name="adj3" fmla="val 44171"/>
              <a:gd name="adj4" fmla="val -84347"/>
              <a:gd name="adj5" fmla="val 266870"/>
              <a:gd name="adj6" fmla="val -167310"/>
            </a:avLst>
          </a:prstGeom>
          <a:noFill/>
          <a:ln w="9525">
            <a:solidFill>
              <a:schemeClr val="tx1"/>
            </a:solid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指向根结点</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 name="AutoShape 7"/>
          <p:cNvSpPr/>
          <p:nvPr/>
        </p:nvSpPr>
        <p:spPr bwMode="auto">
          <a:xfrm>
            <a:off x="7604125" y="1885950"/>
            <a:ext cx="1430338" cy="260350"/>
          </a:xfrm>
          <a:prstGeom prst="callout2">
            <a:avLst>
              <a:gd name="adj1" fmla="val 44171"/>
              <a:gd name="adj2" fmla="val -4421"/>
              <a:gd name="adj3" fmla="val 44171"/>
              <a:gd name="adj4" fmla="val -84347"/>
              <a:gd name="adj5" fmla="val 266870"/>
              <a:gd name="adj6" fmla="val -167310"/>
            </a:avLst>
          </a:prstGeom>
          <a:noFill/>
          <a:ln w="9525">
            <a:solidFill>
              <a:schemeClr val="tx1"/>
            </a:solidFill>
            <a:miter lim="800000"/>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rPr>
              <a:t>函数指针</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38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Status </a:t>
            </a: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(*visit)(TElemType e )</a:t>
            </a:r>
            <a:b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b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函数指针理解</a:t>
            </a:r>
            <a:endPar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63875" name="Rectangle 3"/>
          <p:cNvSpPr>
            <a:spLocks noGrp="1" noChangeArrowheads="1"/>
          </p:cNvSpPr>
          <p:nvPr>
            <p:ph idx="1"/>
          </p:nvPr>
        </p:nvSpPr>
        <p:spPr>
          <a:xfrm>
            <a:off x="571500" y="1676400"/>
            <a:ext cx="8001000" cy="4397375"/>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基础知识：</a:t>
            </a:r>
            <a:endPar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ts val="0"/>
              </a:spcBef>
              <a:spcAft>
                <a:spcPts val="600"/>
              </a:spcAft>
              <a:buClr>
                <a:schemeClr val="accent2"/>
              </a:buClr>
              <a:buSzTx/>
              <a:buFont typeface="Wingdings" panose="05000000000000000000" pitchFamily="2" charset="2"/>
              <a:buNone/>
              <a:defRPr/>
            </a:pP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函数指针</a:t>
            </a: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的本质是一个指针，该指针的地址指向了一个函数，所以它是指向函数的指针。我们知道，函数的定义是存在于代码段，因此，每个函数在代码段中，也有着自己的入口地址，函数指针就是指向代码段中函数入口地址的指针。</a:t>
            </a:r>
            <a:endPar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函数指针的声明方法为：</a:t>
            </a:r>
            <a:endPar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返回值类型（</a:t>
            </a: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指针变量名）（</a:t>
            </a: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形参列表</a:t>
            </a: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对比函数与函数指针的声明：</a:t>
            </a:r>
            <a:endPar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int func(int x);   /*</a:t>
            </a: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声明一个函数</a:t>
            </a: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int (*func)(int x); /*</a:t>
            </a:r>
            <a:r>
              <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声明一个函数指针</a:t>
            </a:r>
            <a:r>
              <a:rPr kumimoji="0" lang="en-US" altLang="zh-CN"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3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38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6387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证明采用图</a:t>
            </a:r>
            <a:r>
              <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6.7(b)</a:t>
            </a: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结点结构的链式存储结构</a:t>
            </a:r>
            <a:r>
              <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对于具有</a:t>
            </a:r>
            <a:r>
              <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个结点的二叉树</a:t>
            </a:r>
            <a:r>
              <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存在</a:t>
            </a:r>
            <a:r>
              <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n+1</a:t>
            </a: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个空指针</a:t>
            </a:r>
            <a:endPar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228600" marR="0" lvl="0" indent="-228600" algn="l" defTabSz="914400" rtl="0" eaLnBrk="1" fontAlgn="base" latinLnBrk="0" hangingPunct="1">
              <a:lnSpc>
                <a:spcPct val="100000"/>
              </a:lnSpc>
              <a:spcBef>
                <a:spcPct val="20000"/>
              </a:spcBef>
              <a:spcAft>
                <a:spcPct val="0"/>
              </a:spcAft>
              <a:buClr>
                <a:schemeClr val="accent2"/>
              </a:buClr>
              <a:buSzTx/>
              <a:buFontTx/>
              <a:buAutoNum type="arabicParenBoth"/>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个结点有</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个边指向本结点（除了根），共有</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2n</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个指针，占用</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，故存在</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个空指针</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228600" marR="0" lvl="0" indent="-228600" algn="l" defTabSz="914400" rtl="0" eaLnBrk="1" fontAlgn="base" latinLnBrk="0" hangingPunct="1">
              <a:lnSpc>
                <a:spcPct val="100000"/>
              </a:lnSpc>
              <a:spcBef>
                <a:spcPct val="20000"/>
              </a:spcBef>
              <a:spcAft>
                <a:spcPct val="0"/>
              </a:spcAft>
              <a:buClr>
                <a:schemeClr val="accent2"/>
              </a:buClr>
              <a:buSzTx/>
              <a:buFontTx/>
              <a:buAutoNum type="arabicParenBoth"/>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n0=n2+1; n=n0+n1+n2;  </a:t>
            </a:r>
            <a:r>
              <a:rPr kumimoji="0" lang="en-US" altLang="zh-CN" sz="28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NullPointer</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 2*n0+n1 = 2*n0+(n-n0-n2) = 2*n0 + (n-n0-n0-1) = n+1</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63875">
                                            <p:txEl>
                                              <p:charRg st="46" end="92"/>
                                            </p:txEl>
                                          </p:spTgt>
                                        </p:tgtEl>
                                        <p:attrNameLst>
                                          <p:attrName>style.visibility</p:attrName>
                                        </p:attrNameLst>
                                      </p:cBhvr>
                                      <p:to>
                                        <p:strVal val="visible"/>
                                      </p:to>
                                    </p:set>
                                    <p:animEffect transition="in" filter="fade">
                                      <p:cBhvr>
                                        <p:cTn id="7" dur="1000"/>
                                        <p:tgtEl>
                                          <p:spTgt spid="463875">
                                            <p:txEl>
                                              <p:charRg st="46" end="92"/>
                                            </p:txEl>
                                          </p:spTgt>
                                        </p:tgtEl>
                                      </p:cBhvr>
                                    </p:animEffect>
                                    <p:anim calcmode="lin" valueType="num">
                                      <p:cBhvr>
                                        <p:cTn id="8" dur="1000" fill="hold"/>
                                        <p:tgtEl>
                                          <p:spTgt spid="463875">
                                            <p:txEl>
                                              <p:charRg st="46" end="92"/>
                                            </p:txEl>
                                          </p:spTgt>
                                        </p:tgtEl>
                                        <p:attrNameLst>
                                          <p:attrName>ppt_x</p:attrName>
                                        </p:attrNameLst>
                                      </p:cBhvr>
                                      <p:tavLst>
                                        <p:tav tm="0">
                                          <p:val>
                                            <p:strVal val="#ppt_x"/>
                                          </p:val>
                                        </p:tav>
                                        <p:tav tm="100000">
                                          <p:val>
                                            <p:strVal val="#ppt_x"/>
                                          </p:val>
                                        </p:tav>
                                      </p:tavLst>
                                    </p:anim>
                                    <p:anim calcmode="lin" valueType="num">
                                      <p:cBhvr>
                                        <p:cTn id="9" dur="1000" fill="hold"/>
                                        <p:tgtEl>
                                          <p:spTgt spid="463875">
                                            <p:txEl>
                                              <p:charRg st="46" end="9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nodeType="clickEffect">
                                  <p:stCondLst>
                                    <p:cond delay="0"/>
                                  </p:stCondLst>
                                  <p:childTnLst>
                                    <p:set>
                                      <p:cBhvr>
                                        <p:cTn id="13" dur="1" fill="hold">
                                          <p:stCondLst>
                                            <p:cond delay="0"/>
                                          </p:stCondLst>
                                        </p:cTn>
                                        <p:tgtEl>
                                          <p:spTgt spid="463875">
                                            <p:txEl>
                                              <p:charRg st="92" end="181"/>
                                            </p:txEl>
                                          </p:spTgt>
                                        </p:tgtEl>
                                        <p:attrNameLst>
                                          <p:attrName>style.visibility</p:attrName>
                                        </p:attrNameLst>
                                      </p:cBhvr>
                                      <p:to>
                                        <p:strVal val="visible"/>
                                      </p:to>
                                    </p:set>
                                    <p:animEffect transition="in" filter="strips(downLeft)">
                                      <p:cBhvr>
                                        <p:cTn id="14" dur="500"/>
                                        <p:tgtEl>
                                          <p:spTgt spid="463875">
                                            <p:txEl>
                                              <p:charRg st="92"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空指针域</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空指针域是否可以利用起来？</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——&gt;</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线索二叉树</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6.3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遍历二叉树和线索二叉树</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2118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遍历二叉树（</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traversing binary tree</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如何按某条搜索路径巡访树中每个结点，使得每个结点均被访问一次，而且仅被访问一次。</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树基本操作之一</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线性结构遍历－很容易</a:t>
            </a: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树－非线性结构遍历？</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6.3.1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遍历二叉树</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2323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二叉树基本单元</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根节点</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D</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，左子树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L</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，右子树</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R</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DLR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LDR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LRD</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DRL</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RDL</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限定左右子树顺序：</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先（根）序遍历：</a:t>
            </a:r>
            <a:r>
              <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DLR</a:t>
            </a:r>
            <a:endPar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中（根）序遍历：</a:t>
            </a:r>
            <a:r>
              <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LDR</a:t>
            </a:r>
            <a:endPar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后（根）序遍历：</a:t>
            </a:r>
            <a:r>
              <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LRD</a:t>
            </a:r>
            <a:endPar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先（根）序遍历</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DLR</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24259" name="Rectangle 3"/>
          <p:cNvSpPr>
            <a:spLocks noGrp="1" noChangeArrowheads="1"/>
          </p:cNvSpPr>
          <p:nvPr>
            <p:ph idx="1"/>
          </p:nvPr>
        </p:nvSpPr>
        <p:spPr>
          <a:xfrm>
            <a:off x="539750" y="1773238"/>
            <a:ext cx="5545138"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操作定义</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若二叉树为空，则空操作；否则</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）访问根结点；</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）先序遍历左子树；</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）先序遍历右子树</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二叉树表达式</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(a+b*(c-d)-e/f)</a:t>
            </a:r>
            <a:endPar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-+a*b-cd/ef</a:t>
            </a:r>
            <a:endParaRPr kumimoji="1"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
        <p:nvSpPr>
          <p:cNvPr id="61444" name="Oval 4"/>
          <p:cNvSpPr/>
          <p:nvPr/>
        </p:nvSpPr>
        <p:spPr>
          <a:xfrm>
            <a:off x="6948488" y="19161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2400" b="0" dirty="0">
                <a:solidFill>
                  <a:schemeClr val="tx1"/>
                </a:solidFill>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61445" name="Oval 5"/>
          <p:cNvSpPr/>
          <p:nvPr/>
        </p:nvSpPr>
        <p:spPr>
          <a:xfrm>
            <a:off x="6110288" y="29067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2400" b="0" dirty="0">
                <a:solidFill>
                  <a:schemeClr val="tx1"/>
                </a:solidFill>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61446" name="Oval 6"/>
          <p:cNvSpPr/>
          <p:nvPr/>
        </p:nvSpPr>
        <p:spPr>
          <a:xfrm>
            <a:off x="6567488" y="37449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1447" name="Oval 7"/>
          <p:cNvSpPr/>
          <p:nvPr/>
        </p:nvSpPr>
        <p:spPr>
          <a:xfrm>
            <a:off x="5653088" y="37449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61448" name="Oval 8"/>
          <p:cNvSpPr/>
          <p:nvPr/>
        </p:nvSpPr>
        <p:spPr>
          <a:xfrm>
            <a:off x="7862888" y="2830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1449" name="Oval 9"/>
          <p:cNvSpPr/>
          <p:nvPr/>
        </p:nvSpPr>
        <p:spPr>
          <a:xfrm>
            <a:off x="6186488" y="45831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61450" name="Oval 10"/>
          <p:cNvSpPr/>
          <p:nvPr/>
        </p:nvSpPr>
        <p:spPr>
          <a:xfrm>
            <a:off x="7100888" y="45831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1451" name="Oval 11"/>
          <p:cNvSpPr/>
          <p:nvPr/>
        </p:nvSpPr>
        <p:spPr>
          <a:xfrm>
            <a:off x="7558088" y="5497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61452" name="Oval 12"/>
          <p:cNvSpPr/>
          <p:nvPr/>
        </p:nvSpPr>
        <p:spPr>
          <a:xfrm>
            <a:off x="6643688" y="5497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61453" name="Oval 13"/>
          <p:cNvSpPr/>
          <p:nvPr/>
        </p:nvSpPr>
        <p:spPr>
          <a:xfrm>
            <a:off x="8396288" y="3592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f</a:t>
            </a:r>
            <a:endParaRPr lang="en-US" altLang="zh-CN" sz="2400" b="0" dirty="0">
              <a:solidFill>
                <a:schemeClr val="tx1"/>
              </a:solidFill>
              <a:latin typeface="Times New Roman" panose="02020603050405020304" pitchFamily="18" charset="0"/>
            </a:endParaRPr>
          </a:p>
        </p:txBody>
      </p:sp>
      <p:sp>
        <p:nvSpPr>
          <p:cNvPr id="61454" name="Oval 14"/>
          <p:cNvSpPr/>
          <p:nvPr/>
        </p:nvSpPr>
        <p:spPr>
          <a:xfrm>
            <a:off x="7558088" y="36687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224271" name="Line 15"/>
          <p:cNvSpPr>
            <a:spLocks noChangeShapeType="1"/>
          </p:cNvSpPr>
          <p:nvPr/>
        </p:nvSpPr>
        <p:spPr bwMode="auto">
          <a:xfrm flipH="1">
            <a:off x="6415088" y="2297113"/>
            <a:ext cx="609600" cy="6858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2" name="Line 16"/>
          <p:cNvSpPr>
            <a:spLocks noChangeShapeType="1"/>
          </p:cNvSpPr>
          <p:nvPr/>
        </p:nvSpPr>
        <p:spPr bwMode="auto">
          <a:xfrm flipH="1">
            <a:off x="5881688" y="3287713"/>
            <a:ext cx="3048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3" name="Line 17"/>
          <p:cNvSpPr>
            <a:spLocks noChangeShapeType="1"/>
          </p:cNvSpPr>
          <p:nvPr/>
        </p:nvSpPr>
        <p:spPr bwMode="auto">
          <a:xfrm>
            <a:off x="6491288" y="3287713"/>
            <a:ext cx="2286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4" name="Line 18"/>
          <p:cNvSpPr>
            <a:spLocks noChangeShapeType="1"/>
          </p:cNvSpPr>
          <p:nvPr/>
        </p:nvSpPr>
        <p:spPr bwMode="auto">
          <a:xfrm flipH="1">
            <a:off x="6415088" y="4125913"/>
            <a:ext cx="2286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5" name="Line 19"/>
          <p:cNvSpPr>
            <a:spLocks noChangeShapeType="1"/>
          </p:cNvSpPr>
          <p:nvPr/>
        </p:nvSpPr>
        <p:spPr bwMode="auto">
          <a:xfrm>
            <a:off x="6872288" y="4125913"/>
            <a:ext cx="3048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6" name="Line 20"/>
          <p:cNvSpPr>
            <a:spLocks noChangeShapeType="1"/>
          </p:cNvSpPr>
          <p:nvPr/>
        </p:nvSpPr>
        <p:spPr bwMode="auto">
          <a:xfrm>
            <a:off x="7405688" y="4964113"/>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7" name="Line 21"/>
          <p:cNvSpPr>
            <a:spLocks noChangeShapeType="1"/>
          </p:cNvSpPr>
          <p:nvPr/>
        </p:nvSpPr>
        <p:spPr bwMode="auto">
          <a:xfrm flipH="1">
            <a:off x="6872288" y="4964113"/>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8" name="Line 22"/>
          <p:cNvSpPr>
            <a:spLocks noChangeShapeType="1"/>
          </p:cNvSpPr>
          <p:nvPr/>
        </p:nvSpPr>
        <p:spPr bwMode="auto">
          <a:xfrm>
            <a:off x="7329488" y="2297113"/>
            <a:ext cx="6096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79" name="Line 23"/>
          <p:cNvSpPr>
            <a:spLocks noChangeShapeType="1"/>
          </p:cNvSpPr>
          <p:nvPr/>
        </p:nvSpPr>
        <p:spPr bwMode="auto">
          <a:xfrm flipH="1">
            <a:off x="7710488" y="3211513"/>
            <a:ext cx="2286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24280" name="Line 24"/>
          <p:cNvSpPr>
            <a:spLocks noChangeShapeType="1"/>
          </p:cNvSpPr>
          <p:nvPr/>
        </p:nvSpPr>
        <p:spPr bwMode="auto">
          <a:xfrm>
            <a:off x="8243888" y="3135313"/>
            <a:ext cx="3810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中（根）序遍历</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LDR</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31427" name="Rectangle 3"/>
          <p:cNvSpPr>
            <a:spLocks noGrp="1" noChangeArrowheads="1"/>
          </p:cNvSpPr>
          <p:nvPr>
            <p:ph idx="1"/>
          </p:nvPr>
        </p:nvSpPr>
        <p:spPr>
          <a:xfrm>
            <a:off x="539750" y="1773238"/>
            <a:ext cx="5545138"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操作定义</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若二叉树为空，则空操作；否则</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）中序遍历左子树；</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）访问根结点；</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）中序遍历右子树</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二叉树表达式</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(a+b*(c-d)-e/f)</a:t>
            </a:r>
            <a:endPar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a+b*c-d-e/f</a:t>
            </a:r>
            <a:endParaRPr kumimoji="1"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
        <p:nvSpPr>
          <p:cNvPr id="62468" name="Oval 4"/>
          <p:cNvSpPr/>
          <p:nvPr/>
        </p:nvSpPr>
        <p:spPr>
          <a:xfrm>
            <a:off x="6948488" y="19161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2400" b="0" dirty="0">
                <a:solidFill>
                  <a:schemeClr val="tx1"/>
                </a:solidFill>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62469" name="Oval 5"/>
          <p:cNvSpPr/>
          <p:nvPr/>
        </p:nvSpPr>
        <p:spPr>
          <a:xfrm>
            <a:off x="6110288" y="29067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2400" b="0" dirty="0">
                <a:solidFill>
                  <a:schemeClr val="tx1"/>
                </a:solidFill>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62470" name="Oval 6"/>
          <p:cNvSpPr/>
          <p:nvPr/>
        </p:nvSpPr>
        <p:spPr>
          <a:xfrm>
            <a:off x="6567488" y="37449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2471" name="Oval 7"/>
          <p:cNvSpPr/>
          <p:nvPr/>
        </p:nvSpPr>
        <p:spPr>
          <a:xfrm>
            <a:off x="5653088" y="37449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62472" name="Oval 8"/>
          <p:cNvSpPr/>
          <p:nvPr/>
        </p:nvSpPr>
        <p:spPr>
          <a:xfrm>
            <a:off x="7862888" y="2830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2473" name="Oval 9"/>
          <p:cNvSpPr/>
          <p:nvPr/>
        </p:nvSpPr>
        <p:spPr>
          <a:xfrm>
            <a:off x="6186488" y="45831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62474" name="Oval 10"/>
          <p:cNvSpPr/>
          <p:nvPr/>
        </p:nvSpPr>
        <p:spPr>
          <a:xfrm>
            <a:off x="7100888" y="45831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2475" name="Oval 11"/>
          <p:cNvSpPr/>
          <p:nvPr/>
        </p:nvSpPr>
        <p:spPr>
          <a:xfrm>
            <a:off x="7558088" y="5497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62476" name="Oval 12"/>
          <p:cNvSpPr/>
          <p:nvPr/>
        </p:nvSpPr>
        <p:spPr>
          <a:xfrm>
            <a:off x="6643688" y="5497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62477" name="Oval 13"/>
          <p:cNvSpPr/>
          <p:nvPr/>
        </p:nvSpPr>
        <p:spPr>
          <a:xfrm>
            <a:off x="8396288" y="35925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f</a:t>
            </a:r>
            <a:endParaRPr lang="en-US" altLang="zh-CN" sz="2400" b="0" dirty="0">
              <a:solidFill>
                <a:schemeClr val="tx1"/>
              </a:solidFill>
              <a:latin typeface="Times New Roman" panose="02020603050405020304" pitchFamily="18" charset="0"/>
            </a:endParaRPr>
          </a:p>
        </p:txBody>
      </p:sp>
      <p:sp>
        <p:nvSpPr>
          <p:cNvPr id="62478" name="Oval 14"/>
          <p:cNvSpPr/>
          <p:nvPr/>
        </p:nvSpPr>
        <p:spPr>
          <a:xfrm>
            <a:off x="7558088" y="36687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231439" name="Line 15"/>
          <p:cNvSpPr>
            <a:spLocks noChangeShapeType="1"/>
          </p:cNvSpPr>
          <p:nvPr/>
        </p:nvSpPr>
        <p:spPr bwMode="auto">
          <a:xfrm flipH="1">
            <a:off x="6415088" y="2297113"/>
            <a:ext cx="609600" cy="6858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0" name="Line 16"/>
          <p:cNvSpPr>
            <a:spLocks noChangeShapeType="1"/>
          </p:cNvSpPr>
          <p:nvPr/>
        </p:nvSpPr>
        <p:spPr bwMode="auto">
          <a:xfrm flipH="1">
            <a:off x="5881688" y="3287713"/>
            <a:ext cx="3048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1" name="Line 17"/>
          <p:cNvSpPr>
            <a:spLocks noChangeShapeType="1"/>
          </p:cNvSpPr>
          <p:nvPr/>
        </p:nvSpPr>
        <p:spPr bwMode="auto">
          <a:xfrm>
            <a:off x="6491288" y="3287713"/>
            <a:ext cx="2286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2" name="Line 18"/>
          <p:cNvSpPr>
            <a:spLocks noChangeShapeType="1"/>
          </p:cNvSpPr>
          <p:nvPr/>
        </p:nvSpPr>
        <p:spPr bwMode="auto">
          <a:xfrm flipH="1">
            <a:off x="6415088" y="4125913"/>
            <a:ext cx="2286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3" name="Line 19"/>
          <p:cNvSpPr>
            <a:spLocks noChangeShapeType="1"/>
          </p:cNvSpPr>
          <p:nvPr/>
        </p:nvSpPr>
        <p:spPr bwMode="auto">
          <a:xfrm>
            <a:off x="6872288" y="4125913"/>
            <a:ext cx="3048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4" name="Line 20"/>
          <p:cNvSpPr>
            <a:spLocks noChangeShapeType="1"/>
          </p:cNvSpPr>
          <p:nvPr/>
        </p:nvSpPr>
        <p:spPr bwMode="auto">
          <a:xfrm>
            <a:off x="7405688" y="4964113"/>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5" name="Line 21"/>
          <p:cNvSpPr>
            <a:spLocks noChangeShapeType="1"/>
          </p:cNvSpPr>
          <p:nvPr/>
        </p:nvSpPr>
        <p:spPr bwMode="auto">
          <a:xfrm flipH="1">
            <a:off x="6872288" y="4964113"/>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6" name="Line 22"/>
          <p:cNvSpPr>
            <a:spLocks noChangeShapeType="1"/>
          </p:cNvSpPr>
          <p:nvPr/>
        </p:nvSpPr>
        <p:spPr bwMode="auto">
          <a:xfrm>
            <a:off x="7329488" y="2297113"/>
            <a:ext cx="6096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7" name="Line 23"/>
          <p:cNvSpPr>
            <a:spLocks noChangeShapeType="1"/>
          </p:cNvSpPr>
          <p:nvPr/>
        </p:nvSpPr>
        <p:spPr bwMode="auto">
          <a:xfrm flipH="1">
            <a:off x="7710488" y="3211513"/>
            <a:ext cx="2286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1448" name="Line 24"/>
          <p:cNvSpPr>
            <a:spLocks noChangeShapeType="1"/>
          </p:cNvSpPr>
          <p:nvPr/>
        </p:nvSpPr>
        <p:spPr bwMode="auto">
          <a:xfrm>
            <a:off x="8243888" y="3135313"/>
            <a:ext cx="3810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后（根）序遍历</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LRD</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32451" name="Rectangle 3"/>
          <p:cNvSpPr>
            <a:spLocks noGrp="1" noChangeArrowheads="1"/>
          </p:cNvSpPr>
          <p:nvPr>
            <p:ph idx="1"/>
          </p:nvPr>
        </p:nvSpPr>
        <p:spPr>
          <a:xfrm>
            <a:off x="539750" y="1773238"/>
            <a:ext cx="5545138"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操作定义</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若二叉树为空，则空操作；否则</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）后序遍历左子树；</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）后序遍历右子树；</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a:t>
            </a: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）访问根结点</a:t>
            </a:r>
            <a:endPar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二叉树表达式</a:t>
            </a:r>
            <a:r>
              <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(a+b*(c-d)-e/f)</a:t>
            </a:r>
            <a:endParaRPr kumimoji="1"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abcd-*+ef/-</a:t>
            </a:r>
            <a:endParaRPr kumimoji="1"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grpSp>
        <p:nvGrpSpPr>
          <p:cNvPr id="63492" name="Group 25"/>
          <p:cNvGrpSpPr/>
          <p:nvPr/>
        </p:nvGrpSpPr>
        <p:grpSpPr>
          <a:xfrm>
            <a:off x="5653088" y="1916113"/>
            <a:ext cx="3124200" cy="3962400"/>
            <a:chOff x="3561" y="1207"/>
            <a:chExt cx="1968" cy="2496"/>
          </a:xfrm>
        </p:grpSpPr>
        <p:sp>
          <p:nvSpPr>
            <p:cNvPr id="63493" name="Oval 4"/>
            <p:cNvSpPr/>
            <p:nvPr/>
          </p:nvSpPr>
          <p:spPr>
            <a:xfrm>
              <a:off x="4377" y="1207"/>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2400" b="0" dirty="0">
                  <a:solidFill>
                    <a:schemeClr val="tx1"/>
                  </a:solidFill>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63494" name="Oval 5"/>
            <p:cNvSpPr/>
            <p:nvPr/>
          </p:nvSpPr>
          <p:spPr>
            <a:xfrm>
              <a:off x="3849" y="1831"/>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2400" b="0" dirty="0">
                  <a:solidFill>
                    <a:schemeClr val="tx1"/>
                  </a:solidFill>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63495" name="Oval 6"/>
            <p:cNvSpPr/>
            <p:nvPr/>
          </p:nvSpPr>
          <p:spPr>
            <a:xfrm>
              <a:off x="4137" y="2359"/>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3496" name="Oval 7"/>
            <p:cNvSpPr/>
            <p:nvPr/>
          </p:nvSpPr>
          <p:spPr>
            <a:xfrm>
              <a:off x="3561" y="2359"/>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63497" name="Oval 8"/>
            <p:cNvSpPr/>
            <p:nvPr/>
          </p:nvSpPr>
          <p:spPr>
            <a:xfrm>
              <a:off x="4953" y="178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3498" name="Oval 9"/>
            <p:cNvSpPr/>
            <p:nvPr/>
          </p:nvSpPr>
          <p:spPr>
            <a:xfrm>
              <a:off x="3897" y="2887"/>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63499" name="Oval 10"/>
            <p:cNvSpPr/>
            <p:nvPr/>
          </p:nvSpPr>
          <p:spPr>
            <a:xfrm>
              <a:off x="4473" y="2887"/>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t>
              </a:r>
              <a:endParaRPr lang="en-US" altLang="zh-CN" sz="2400" b="0" dirty="0">
                <a:solidFill>
                  <a:schemeClr val="tx1"/>
                </a:solidFill>
                <a:latin typeface="Times New Roman" panose="02020603050405020304" pitchFamily="18" charset="0"/>
              </a:endParaRPr>
            </a:p>
          </p:txBody>
        </p:sp>
        <p:sp>
          <p:nvSpPr>
            <p:cNvPr id="63500" name="Oval 11"/>
            <p:cNvSpPr/>
            <p:nvPr/>
          </p:nvSpPr>
          <p:spPr>
            <a:xfrm>
              <a:off x="4761" y="346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63501" name="Oval 12"/>
            <p:cNvSpPr/>
            <p:nvPr/>
          </p:nvSpPr>
          <p:spPr>
            <a:xfrm>
              <a:off x="4185" y="346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63502" name="Oval 13"/>
            <p:cNvSpPr/>
            <p:nvPr/>
          </p:nvSpPr>
          <p:spPr>
            <a:xfrm>
              <a:off x="5289" y="226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f</a:t>
              </a:r>
              <a:endParaRPr lang="en-US" altLang="zh-CN" sz="2400" b="0" dirty="0">
                <a:solidFill>
                  <a:schemeClr val="tx1"/>
                </a:solidFill>
                <a:latin typeface="Times New Roman" panose="02020603050405020304" pitchFamily="18" charset="0"/>
              </a:endParaRPr>
            </a:p>
          </p:txBody>
        </p:sp>
        <p:sp>
          <p:nvSpPr>
            <p:cNvPr id="63503" name="Oval 14"/>
            <p:cNvSpPr/>
            <p:nvPr/>
          </p:nvSpPr>
          <p:spPr>
            <a:xfrm>
              <a:off x="4761" y="2311"/>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232463" name="Line 15"/>
            <p:cNvSpPr>
              <a:spLocks noChangeShapeType="1"/>
            </p:cNvSpPr>
            <p:nvPr/>
          </p:nvSpPr>
          <p:spPr bwMode="auto">
            <a:xfrm flipH="1">
              <a:off x="4041" y="1447"/>
              <a:ext cx="384" cy="432"/>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64" name="Line 16"/>
            <p:cNvSpPr>
              <a:spLocks noChangeShapeType="1"/>
            </p:cNvSpPr>
            <p:nvPr/>
          </p:nvSpPr>
          <p:spPr bwMode="auto">
            <a:xfrm flipH="1">
              <a:off x="3705" y="2071"/>
              <a:ext cx="192"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65" name="Line 17"/>
            <p:cNvSpPr>
              <a:spLocks noChangeShapeType="1"/>
            </p:cNvSpPr>
            <p:nvPr/>
          </p:nvSpPr>
          <p:spPr bwMode="auto">
            <a:xfrm>
              <a:off x="4089" y="2071"/>
              <a:ext cx="144" cy="288"/>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66" name="Line 18"/>
            <p:cNvSpPr>
              <a:spLocks noChangeShapeType="1"/>
            </p:cNvSpPr>
            <p:nvPr/>
          </p:nvSpPr>
          <p:spPr bwMode="auto">
            <a:xfrm flipH="1">
              <a:off x="4041" y="2599"/>
              <a:ext cx="144"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67" name="Line 19"/>
            <p:cNvSpPr>
              <a:spLocks noChangeShapeType="1"/>
            </p:cNvSpPr>
            <p:nvPr/>
          </p:nvSpPr>
          <p:spPr bwMode="auto">
            <a:xfrm>
              <a:off x="4329" y="2599"/>
              <a:ext cx="192" cy="288"/>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68" name="Line 20"/>
            <p:cNvSpPr>
              <a:spLocks noChangeShapeType="1"/>
            </p:cNvSpPr>
            <p:nvPr/>
          </p:nvSpPr>
          <p:spPr bwMode="auto">
            <a:xfrm>
              <a:off x="4665" y="3127"/>
              <a:ext cx="192" cy="384"/>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69" name="Line 21"/>
            <p:cNvSpPr>
              <a:spLocks noChangeShapeType="1"/>
            </p:cNvSpPr>
            <p:nvPr/>
          </p:nvSpPr>
          <p:spPr bwMode="auto">
            <a:xfrm flipH="1">
              <a:off x="4329" y="3127"/>
              <a:ext cx="192" cy="384"/>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70" name="Line 22"/>
            <p:cNvSpPr>
              <a:spLocks noChangeShapeType="1"/>
            </p:cNvSpPr>
            <p:nvPr/>
          </p:nvSpPr>
          <p:spPr bwMode="auto">
            <a:xfrm>
              <a:off x="4617" y="1447"/>
              <a:ext cx="384"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71" name="Line 23"/>
            <p:cNvSpPr>
              <a:spLocks noChangeShapeType="1"/>
            </p:cNvSpPr>
            <p:nvPr/>
          </p:nvSpPr>
          <p:spPr bwMode="auto">
            <a:xfrm flipH="1">
              <a:off x="4857" y="2023"/>
              <a:ext cx="144" cy="288"/>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2472" name="Line 24"/>
            <p:cNvSpPr>
              <a:spLocks noChangeShapeType="1"/>
            </p:cNvSpPr>
            <p:nvPr/>
          </p:nvSpPr>
          <p:spPr bwMode="auto">
            <a:xfrm>
              <a:off x="5193" y="1975"/>
              <a:ext cx="240"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4514" name="Oval 4"/>
          <p:cNvSpPr/>
          <p:nvPr/>
        </p:nvSpPr>
        <p:spPr>
          <a:xfrm>
            <a:off x="3519488" y="4048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64515" name="Oval 5"/>
          <p:cNvSpPr/>
          <p:nvPr/>
        </p:nvSpPr>
        <p:spPr>
          <a:xfrm>
            <a:off x="2681288" y="13954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64516" name="Oval 6"/>
          <p:cNvSpPr/>
          <p:nvPr/>
        </p:nvSpPr>
        <p:spPr>
          <a:xfrm>
            <a:off x="3138488" y="22336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64517" name="Oval 7"/>
          <p:cNvSpPr/>
          <p:nvPr/>
        </p:nvSpPr>
        <p:spPr>
          <a:xfrm>
            <a:off x="2224088" y="22336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64518" name="Oval 8"/>
          <p:cNvSpPr/>
          <p:nvPr/>
        </p:nvSpPr>
        <p:spPr>
          <a:xfrm>
            <a:off x="4433888" y="13192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64519" name="Oval 9"/>
          <p:cNvSpPr/>
          <p:nvPr/>
        </p:nvSpPr>
        <p:spPr>
          <a:xfrm>
            <a:off x="2757488" y="30718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h</a:t>
            </a:r>
            <a:endParaRPr lang="en-US" altLang="zh-CN" sz="2400" b="0" dirty="0">
              <a:solidFill>
                <a:schemeClr val="tx1"/>
              </a:solidFill>
              <a:latin typeface="Times New Roman" panose="02020603050405020304" pitchFamily="18" charset="0"/>
            </a:endParaRPr>
          </a:p>
        </p:txBody>
      </p:sp>
      <p:sp>
        <p:nvSpPr>
          <p:cNvPr id="64520" name="Oval 10"/>
          <p:cNvSpPr/>
          <p:nvPr/>
        </p:nvSpPr>
        <p:spPr>
          <a:xfrm>
            <a:off x="3671888" y="30718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i</a:t>
            </a:r>
            <a:endParaRPr lang="en-US" altLang="zh-CN" sz="2400" b="0" dirty="0">
              <a:solidFill>
                <a:schemeClr val="tx1"/>
              </a:solidFill>
              <a:latin typeface="Times New Roman" panose="02020603050405020304" pitchFamily="18" charset="0"/>
            </a:endParaRPr>
          </a:p>
        </p:txBody>
      </p:sp>
      <p:sp>
        <p:nvSpPr>
          <p:cNvPr id="64521" name="Oval 11"/>
          <p:cNvSpPr/>
          <p:nvPr/>
        </p:nvSpPr>
        <p:spPr>
          <a:xfrm>
            <a:off x="4129088" y="39862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l</a:t>
            </a:r>
            <a:endParaRPr lang="en-US" altLang="zh-CN" sz="2400" b="0" dirty="0">
              <a:solidFill>
                <a:schemeClr val="tx1"/>
              </a:solidFill>
              <a:latin typeface="Times New Roman" panose="02020603050405020304" pitchFamily="18" charset="0"/>
            </a:endParaRPr>
          </a:p>
        </p:txBody>
      </p:sp>
      <p:sp>
        <p:nvSpPr>
          <p:cNvPr id="64522" name="Oval 12"/>
          <p:cNvSpPr/>
          <p:nvPr/>
        </p:nvSpPr>
        <p:spPr>
          <a:xfrm>
            <a:off x="3214688" y="39862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k</a:t>
            </a:r>
            <a:endParaRPr lang="en-US" altLang="zh-CN" sz="2400" b="0" dirty="0">
              <a:solidFill>
                <a:schemeClr val="tx1"/>
              </a:solidFill>
              <a:latin typeface="Times New Roman" panose="02020603050405020304" pitchFamily="18" charset="0"/>
            </a:endParaRPr>
          </a:p>
        </p:txBody>
      </p:sp>
      <p:sp>
        <p:nvSpPr>
          <p:cNvPr id="64523" name="Oval 13"/>
          <p:cNvSpPr/>
          <p:nvPr/>
        </p:nvSpPr>
        <p:spPr>
          <a:xfrm>
            <a:off x="5148263" y="2111375"/>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g</a:t>
            </a:r>
            <a:endParaRPr lang="en-US" altLang="zh-CN" sz="2400" b="0" dirty="0">
              <a:solidFill>
                <a:schemeClr val="tx1"/>
              </a:solidFill>
              <a:latin typeface="Times New Roman" panose="02020603050405020304" pitchFamily="18" charset="0"/>
            </a:endParaRPr>
          </a:p>
        </p:txBody>
      </p:sp>
      <p:sp>
        <p:nvSpPr>
          <p:cNvPr id="64524" name="Oval 14"/>
          <p:cNvSpPr/>
          <p:nvPr/>
        </p:nvSpPr>
        <p:spPr>
          <a:xfrm>
            <a:off x="4129088" y="2157413"/>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f</a:t>
            </a:r>
            <a:endParaRPr lang="en-US" altLang="zh-CN" sz="2400" b="0" dirty="0">
              <a:solidFill>
                <a:schemeClr val="tx1"/>
              </a:solidFill>
              <a:latin typeface="Times New Roman" panose="02020603050405020304" pitchFamily="18" charset="0"/>
            </a:endParaRPr>
          </a:p>
        </p:txBody>
      </p:sp>
      <p:sp>
        <p:nvSpPr>
          <p:cNvPr id="235535" name="Line 15"/>
          <p:cNvSpPr>
            <a:spLocks noChangeShapeType="1"/>
          </p:cNvSpPr>
          <p:nvPr/>
        </p:nvSpPr>
        <p:spPr bwMode="auto">
          <a:xfrm flipH="1">
            <a:off x="2986088" y="785813"/>
            <a:ext cx="609600" cy="6858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36" name="Line 16"/>
          <p:cNvSpPr>
            <a:spLocks noChangeShapeType="1"/>
          </p:cNvSpPr>
          <p:nvPr/>
        </p:nvSpPr>
        <p:spPr bwMode="auto">
          <a:xfrm flipH="1">
            <a:off x="2452688" y="1776413"/>
            <a:ext cx="3048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37" name="Line 17"/>
          <p:cNvSpPr>
            <a:spLocks noChangeShapeType="1"/>
          </p:cNvSpPr>
          <p:nvPr/>
        </p:nvSpPr>
        <p:spPr bwMode="auto">
          <a:xfrm>
            <a:off x="3062288" y="1776413"/>
            <a:ext cx="2286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38" name="Line 18"/>
          <p:cNvSpPr>
            <a:spLocks noChangeShapeType="1"/>
          </p:cNvSpPr>
          <p:nvPr/>
        </p:nvSpPr>
        <p:spPr bwMode="auto">
          <a:xfrm flipH="1">
            <a:off x="2986088" y="2614613"/>
            <a:ext cx="2286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39" name="Line 19"/>
          <p:cNvSpPr>
            <a:spLocks noChangeShapeType="1"/>
          </p:cNvSpPr>
          <p:nvPr/>
        </p:nvSpPr>
        <p:spPr bwMode="auto">
          <a:xfrm>
            <a:off x="3443288" y="2614613"/>
            <a:ext cx="3048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40" name="Line 20"/>
          <p:cNvSpPr>
            <a:spLocks noChangeShapeType="1"/>
          </p:cNvSpPr>
          <p:nvPr/>
        </p:nvSpPr>
        <p:spPr bwMode="auto">
          <a:xfrm>
            <a:off x="3976688" y="3452813"/>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41" name="Line 21"/>
          <p:cNvSpPr>
            <a:spLocks noChangeShapeType="1"/>
          </p:cNvSpPr>
          <p:nvPr/>
        </p:nvSpPr>
        <p:spPr bwMode="auto">
          <a:xfrm flipH="1">
            <a:off x="3443288" y="3452813"/>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42" name="Line 22"/>
          <p:cNvSpPr>
            <a:spLocks noChangeShapeType="1"/>
          </p:cNvSpPr>
          <p:nvPr/>
        </p:nvSpPr>
        <p:spPr bwMode="auto">
          <a:xfrm>
            <a:off x="3900488" y="785813"/>
            <a:ext cx="6096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43" name="Line 23"/>
          <p:cNvSpPr>
            <a:spLocks noChangeShapeType="1"/>
          </p:cNvSpPr>
          <p:nvPr/>
        </p:nvSpPr>
        <p:spPr bwMode="auto">
          <a:xfrm flipH="1">
            <a:off x="4281488" y="1700213"/>
            <a:ext cx="228600" cy="4572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44" name="Line 24"/>
          <p:cNvSpPr>
            <a:spLocks noChangeShapeType="1"/>
          </p:cNvSpPr>
          <p:nvPr/>
        </p:nvSpPr>
        <p:spPr bwMode="auto">
          <a:xfrm>
            <a:off x="4814888" y="1624013"/>
            <a:ext cx="381000" cy="5334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4535" name="Oval 25"/>
          <p:cNvSpPr/>
          <p:nvPr/>
        </p:nvSpPr>
        <p:spPr>
          <a:xfrm>
            <a:off x="5029200" y="3070225"/>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j</a:t>
            </a:r>
            <a:endParaRPr lang="en-US" altLang="zh-CN" sz="2400" b="0" dirty="0">
              <a:solidFill>
                <a:schemeClr val="tx1"/>
              </a:solidFill>
              <a:latin typeface="Times New Roman" panose="02020603050405020304" pitchFamily="18" charset="0"/>
            </a:endParaRPr>
          </a:p>
        </p:txBody>
      </p:sp>
      <p:sp>
        <p:nvSpPr>
          <p:cNvPr id="64536" name="Oval 26"/>
          <p:cNvSpPr/>
          <p:nvPr/>
        </p:nvSpPr>
        <p:spPr>
          <a:xfrm>
            <a:off x="5486400" y="3984625"/>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n</a:t>
            </a:r>
            <a:endParaRPr lang="en-US" altLang="zh-CN" sz="2400" b="0" dirty="0">
              <a:solidFill>
                <a:schemeClr val="tx1"/>
              </a:solidFill>
              <a:latin typeface="Times New Roman" panose="02020603050405020304" pitchFamily="18" charset="0"/>
            </a:endParaRPr>
          </a:p>
        </p:txBody>
      </p:sp>
      <p:sp>
        <p:nvSpPr>
          <p:cNvPr id="64537" name="Oval 27"/>
          <p:cNvSpPr/>
          <p:nvPr/>
        </p:nvSpPr>
        <p:spPr>
          <a:xfrm>
            <a:off x="4572000" y="3984625"/>
            <a:ext cx="381000" cy="38100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2400" b="0" dirty="0">
                <a:solidFill>
                  <a:schemeClr val="tx1"/>
                </a:solidFill>
                <a:latin typeface="Times New Roman" panose="02020603050405020304" pitchFamily="18" charset="0"/>
              </a:rPr>
              <a:t>m</a:t>
            </a:r>
            <a:endParaRPr lang="en-US" altLang="zh-CN" sz="2400" b="0" dirty="0">
              <a:solidFill>
                <a:schemeClr val="tx1"/>
              </a:solidFill>
              <a:latin typeface="Times New Roman" panose="02020603050405020304" pitchFamily="18" charset="0"/>
            </a:endParaRPr>
          </a:p>
        </p:txBody>
      </p:sp>
      <p:sp>
        <p:nvSpPr>
          <p:cNvPr id="235548" name="Line 28"/>
          <p:cNvSpPr>
            <a:spLocks noChangeShapeType="1"/>
          </p:cNvSpPr>
          <p:nvPr/>
        </p:nvSpPr>
        <p:spPr bwMode="auto">
          <a:xfrm>
            <a:off x="5334000" y="3451225"/>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49" name="Line 29"/>
          <p:cNvSpPr>
            <a:spLocks noChangeShapeType="1"/>
          </p:cNvSpPr>
          <p:nvPr/>
        </p:nvSpPr>
        <p:spPr bwMode="auto">
          <a:xfrm flipH="1">
            <a:off x="4800600" y="3451225"/>
            <a:ext cx="304800" cy="609600"/>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35550" name="Line 30"/>
          <p:cNvSpPr>
            <a:spLocks noChangeShapeType="1"/>
          </p:cNvSpPr>
          <p:nvPr/>
        </p:nvSpPr>
        <p:spPr bwMode="auto">
          <a:xfrm flipH="1">
            <a:off x="5219700" y="2565400"/>
            <a:ext cx="171450" cy="504825"/>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4541" name="Text Box 31"/>
          <p:cNvSpPr txBox="1"/>
          <p:nvPr/>
        </p:nvSpPr>
        <p:spPr>
          <a:xfrm>
            <a:off x="342900" y="5081588"/>
            <a:ext cx="8051800" cy="522287"/>
          </a:xfrm>
          <a:prstGeom prst="rect">
            <a:avLst/>
          </a:prstGeom>
          <a:noFill/>
          <a:ln w="9525">
            <a:noFill/>
          </a:ln>
        </p:spPr>
        <p:txBody>
          <a:bodyPr anchor="b" anchorCtr="0">
            <a:spAutoFit/>
          </a:bodyPr>
          <a:p>
            <a:pPr eaLnBrk="1" hangingPunct="1"/>
            <a:r>
              <a:rPr lang="zh-CN" altLang="en-US" sz="2800" b="0" dirty="0">
                <a:latin typeface="Verdana" panose="020B0604030504040204" pitchFamily="34" charset="0"/>
              </a:rPr>
              <a:t>分别练习：先序遍历，中序遍历，后序遍历</a:t>
            </a:r>
            <a:endParaRPr lang="zh-CN" altLang="en-US" sz="2800" b="0" dirty="0">
              <a:latin typeface="Verdana" panose="020B060403050404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C7E"/>
        </a:solidFill>
        <a:effectLst/>
      </p:bgPr>
    </p:bg>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574675" y="1752600"/>
            <a:ext cx="8245475" cy="488886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二叉树的性质</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4</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cs typeface="+mn-cs"/>
              </a:rPr>
              <a:t>、5</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1" lang="en-US" altLang="zh-CN" sz="2400" i="1" kern="1200" noProof="0">
                <a:ln>
                  <a:noFill/>
                </a:ln>
                <a:uLnTx/>
                <a:uFillTx/>
                <a:latin typeface="Times New Roman" panose="02020603050405020304" pitchFamily="18" charset="0"/>
                <a:ea typeface="宋体" panose="02010600030101010101" pitchFamily="2" charset="-122"/>
                <a:sym typeface="Symbol" panose="05050102010706020507" pitchFamily="18" charset="2"/>
              </a:rPr>
              <a:t>      k</a:t>
            </a:r>
            <a:r>
              <a:rPr kumimoji="1" lang="zh-CN" altLang="en-US" sz="2400" kern="1200" noProof="0">
                <a:ln>
                  <a:noFill/>
                </a:ln>
                <a:uLnTx/>
                <a:uFillTx/>
                <a:latin typeface="Times New Roman" panose="02020603050405020304" pitchFamily="18" charset="0"/>
                <a:ea typeface="宋体" panose="02010600030101010101" pitchFamily="2" charset="-122"/>
                <a:sym typeface="Symbol" panose="05050102010706020507" pitchFamily="18" charset="2"/>
              </a:rPr>
              <a:t>＝ </a:t>
            </a:r>
            <a:r>
              <a:rPr lang="en-US" altLang="en-US" sz="2400" kern="1200" noProof="0">
                <a:ln>
                  <a:noFill/>
                </a:ln>
                <a:uLnTx/>
                <a:uFillTx/>
                <a:latin typeface="Times New Roman" panose="02020603050405020304" pitchFamily="18" charset="0"/>
                <a:ea typeface="宋体" panose="02010600030101010101" pitchFamily="2" charset="-122"/>
                <a:sym typeface="Symbol" panose="05050102010706020507" pitchFamily="18" charset="2"/>
              </a:rPr>
              <a:t></a:t>
            </a:r>
            <a:r>
              <a:rPr lang="en-US" altLang="zh-CN" sz="2400" kern="1200" noProof="0">
                <a:ln>
                  <a:noFill/>
                </a:ln>
                <a:uLnTx/>
                <a:uFillTx/>
                <a:latin typeface="Times New Roman" panose="02020603050405020304" pitchFamily="18" charset="0"/>
                <a:ea typeface="宋体" panose="02010600030101010101" pitchFamily="2" charset="-122"/>
                <a:sym typeface="Symbol" panose="05050102010706020507" pitchFamily="18" charset="2"/>
              </a:rPr>
              <a:t>log</a:t>
            </a:r>
            <a:r>
              <a:rPr lang="en-US" altLang="zh-CN" sz="2400" kern="1200" baseline="-25000" noProof="0">
                <a:ln>
                  <a:noFill/>
                </a:ln>
                <a:uLnTx/>
                <a:uFillTx/>
                <a:latin typeface="Times New Roman" panose="02020603050405020304" pitchFamily="18" charset="0"/>
                <a:ea typeface="宋体" panose="02010600030101010101" pitchFamily="2" charset="-122"/>
                <a:sym typeface="Symbol" panose="05050102010706020507" pitchFamily="18" charset="2"/>
              </a:rPr>
              <a:t>2</a:t>
            </a:r>
            <a:r>
              <a:rPr lang="en-US" altLang="zh-CN" sz="2400" i="1" kern="1200" baseline="30000" noProof="0">
                <a:ln>
                  <a:noFill/>
                </a:ln>
                <a:uLnTx/>
                <a:uFillTx/>
                <a:latin typeface="Times New Roman" panose="02020603050405020304" pitchFamily="18" charset="0"/>
                <a:ea typeface="宋体" panose="02010600030101010101" pitchFamily="2" charset="-122"/>
                <a:sym typeface="Symbol" panose="05050102010706020507" pitchFamily="18" charset="2"/>
              </a:rPr>
              <a:t>n</a:t>
            </a:r>
            <a:r>
              <a:rPr lang="en-US" altLang="en-US" sz="2400" kern="1200" noProof="0">
                <a:ln>
                  <a:noFill/>
                </a:ln>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kern="1200" noProof="0">
                <a:ln>
                  <a:noFill/>
                </a:ln>
                <a:solidFill>
                  <a:schemeClr val="tx2"/>
                </a:solidFill>
                <a:uLnTx/>
                <a:uFillTx/>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kern="1200" noProof="0">
                <a:ln>
                  <a:noFill/>
                </a:ln>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kern="1200" noProof="0">
                <a:ln>
                  <a:noFill/>
                </a:ln>
                <a:uLnTx/>
                <a:uFillTx/>
                <a:latin typeface="Times New Roman" panose="02020603050405020304" pitchFamily="18" charset="0"/>
                <a:ea typeface="宋体" panose="02010600030101010101" pitchFamily="2" charset="-122"/>
                <a:sym typeface="Symbol" panose="05050102010706020507" pitchFamily="18" charset="2"/>
              </a:rPr>
              <a:t>1 </a:t>
            </a:r>
            <a:endParaRPr kumimoji="1" lang="en-US" altLang="zh-CN" sz="2400" kern="1200" noProof="0">
              <a:ln>
                <a:noFill/>
              </a:ln>
              <a:uLnTx/>
              <a:uFillTx/>
              <a:latin typeface="Times New Roman" panose="02020603050405020304" pitchFamily="18" charset="0"/>
              <a:ea typeface="宋体" panose="02010600030101010101" pitchFamily="2" charset="-122"/>
              <a:sym typeface="Symbol" panose="05050102010706020507" pitchFamily="18" charset="2"/>
            </a:endParaRPr>
          </a:p>
          <a:p>
            <a:pPr marL="0" marR="0" lvl="0" indent="4572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lang="en-US" altLang="en-US" sz="2400" noProof="0" dirty="0">
                <a:ln>
                  <a:noFill/>
                </a:ln>
                <a:solidFill>
                  <a:srgbClr val="FF0000"/>
                </a:solidFill>
                <a:uLnTx/>
                <a:uFillTx/>
                <a:latin typeface="Times New Roman" panose="02020603050405020304" pitchFamily="18" charset="0"/>
                <a:sym typeface="Symbol" panose="05050102010706020507" pitchFamily="18" charset="2"/>
              </a:rPr>
              <a:t> </a:t>
            </a:r>
            <a:r>
              <a:rPr lang="en-US" altLang="en-US" sz="2400" noProof="0" dirty="0">
                <a:ln>
                  <a:noFill/>
                </a:ln>
                <a:solidFill>
                  <a:schemeClr val="tx1"/>
                </a:solidFill>
                <a:uLnTx/>
                <a:uFillTx/>
                <a:latin typeface="Times New Roman" panose="02020603050405020304" pitchFamily="18" charset="0"/>
                <a:sym typeface="Symbol" panose="05050102010706020507" pitchFamily="18" charset="2"/>
              </a:rPr>
              <a:t></a:t>
            </a:r>
            <a:r>
              <a:rPr lang="en-US" altLang="zh-CN" sz="2400" i="1" noProof="0" dirty="0" err="1">
                <a:ln>
                  <a:noFill/>
                </a:ln>
                <a:solidFill>
                  <a:schemeClr val="tx1"/>
                </a:solidFill>
                <a:uLnTx/>
                <a:uFillTx/>
                <a:latin typeface="Times New Roman" panose="02020603050405020304" pitchFamily="18" charset="0"/>
                <a:sym typeface="+mn-ea"/>
              </a:rPr>
              <a:t>i</a:t>
            </a:r>
            <a:r>
              <a:rPr lang="en-US" altLang="zh-CN" sz="2400" noProof="0" dirty="0">
                <a:ln>
                  <a:noFill/>
                </a:ln>
                <a:solidFill>
                  <a:schemeClr val="tx1"/>
                </a:solidFill>
                <a:uLnTx/>
                <a:uFillTx/>
                <a:latin typeface="Times New Roman" panose="02020603050405020304" pitchFamily="18" charset="0"/>
                <a:sym typeface="+mn-ea"/>
              </a:rPr>
              <a:t>/2</a:t>
            </a:r>
            <a:r>
              <a:rPr lang="en-US" altLang="zh-CN" sz="2400" noProof="0" dirty="0">
                <a:ln>
                  <a:noFill/>
                </a:ln>
                <a:solidFill>
                  <a:schemeClr val="tx1"/>
                </a:solidFill>
                <a:uLnTx/>
                <a:uFillTx/>
                <a:latin typeface="Times New Roman" panose="02020603050405020304" pitchFamily="18" charset="0"/>
                <a:sym typeface="Symbol" panose="05050102010706020507" pitchFamily="18" charset="2"/>
              </a:rPr>
              <a:t></a:t>
            </a:r>
            <a:r>
              <a:rPr lang="en-US" altLang="zh-CN" sz="2400" noProof="0" dirty="0">
                <a:ln>
                  <a:noFill/>
                </a:ln>
                <a:solidFill>
                  <a:schemeClr val="tx1"/>
                </a:solidFill>
                <a:uLnTx/>
                <a:uFillTx/>
                <a:latin typeface="Times New Roman" panose="02020603050405020304" pitchFamily="18" charset="0"/>
                <a:sym typeface="+mn-ea"/>
              </a:rPr>
              <a:t>       2i       2i+1</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 二叉树的遍历</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   如何按某条搜索路径巡访树中每个结点，使得每个结点均被访问一次，而且仅被访问一次。</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）先序</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）中序</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3</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）后序</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C7E"/>
        </a:solidFill>
        <a:effectLst/>
      </p:bgPr>
    </p:bg>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574675" y="1752600"/>
            <a:ext cx="8245475" cy="488886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3. </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满二叉树</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&amp;&amp;</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完全二叉树</a:t>
            </a:r>
            <a:r>
              <a:rPr kumimoji="1" lang="en-US" altLang="zh-CN" sz="2800" i="1" kern="1200" noProof="0">
                <a:ln>
                  <a:noFill/>
                </a:ln>
                <a:uLnTx/>
                <a:uFillTx/>
                <a:latin typeface="Times New Roman" panose="02020603050405020304" pitchFamily="18" charset="0"/>
                <a:ea typeface="宋体" panose="02010600030101010101" pitchFamily="2" charset="-122"/>
                <a:sym typeface="Symbol" panose="05050102010706020507" pitchFamily="18" charset="2"/>
              </a:rPr>
              <a:t>   </a:t>
            </a:r>
            <a:endPar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4</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二叉树的存储</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）顺序存储</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）链式存储</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35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课后练习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3353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假设一棵二叉树的先序遍历为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EBADCFHGIKJ,</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中序遍历为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ABCDEFGHIJK,</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请画出该树</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假设一棵二叉树的中序遍历为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DCBGEAHFIJK,</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后序遍历为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DCEGBFHKJIA,</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请画出该树</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假设一棵二叉树的层次遍历为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ABCDEFGHIJ,</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中序遍历为</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DBGEHJACIF,</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请画出该树</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上述练习题的解题思路</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471488" y="1752600"/>
            <a:ext cx="8445500" cy="42672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我们首先要利用以下几个特性：</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charset="0"/>
              <a:buChar char="l"/>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特性A，对于前序遍历，第一个肯定是根节点；</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charset="0"/>
              <a:buChar char="l"/>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特性B，对于后序遍历，最后一个肯定是根节点；</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charset="0"/>
              <a:buChar char="l"/>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特性C，利用前序或后序遍历，确定根节点，在中序遍历中，根节点的两边就可以分出左子树和右子树；</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charset="0"/>
              <a:buChar char="l"/>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特性D，对左子树和右子树分别做前面3点的分析和拆分，相当于做递归，我们就可以重建出完整的二叉树；</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例子</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我们以一个例子做一下这个过程，假设：</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前序遍历的顺序是: CABGHEDF</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中序遍历的顺序是: GHBACDEF</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第一步，我们根据特性A，可以得知根节点是C，然后，根据特性C，我们知道左子树是：GHBA，右子树是：DEF。</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C</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GHBA   DEF</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例子</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第二步，取出左子树，左子树的前序遍历是：ABGH，中序遍历是：GHBA，根据特性A和C，得出左子树的父节点是A，并且A没有右子树。</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C</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    DEF</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GBH</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例子</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第三步，使用同样的方法，前序是BGH，中序是GHB，得出父节点是B，GH是左子树,没有右子树。</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C</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    DEF</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B</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GH</a:t>
            </a:r>
            <a:endParaRPr kumimoji="0" lang="zh-CN" altLang="en-US" sz="26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例子</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第四步,前序是GH, 中序是GH, 所以 G是父节点,  H是右子树,  没有左子树.</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C</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    DEF</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B</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G</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H</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例子</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566738" y="1752600"/>
            <a:ext cx="8001000" cy="47371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第四步，回到右子树，它的前序是EDF，中序是DEF，依然根据特性A和C，得出父节点是E，左右节点是D和F。</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C</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        E</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B           D      F</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G</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H</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到此，我们得到了这棵完整的二叉树，因此，它的后序遍历就是 : HGBADFEC</a:t>
            </a:r>
            <a:endPar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算法－先序遍历</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73731" name="20 1"/>
          <p:cNvPicPr>
            <a:picLocks noChangeAspect="1"/>
          </p:cNvPicPr>
          <p:nvPr>
            <p:custDataLst>
              <p:tags r:id="rId1"/>
            </p:custDataLst>
          </p:nvPr>
        </p:nvPicPr>
        <p:blipFill>
          <a:blip r:embed="rId2"/>
          <a:stretch>
            <a:fillRect/>
          </a:stretch>
        </p:blipFill>
        <p:spPr>
          <a:xfrm>
            <a:off x="1331913" y="1700213"/>
            <a:ext cx="5238750" cy="4414837"/>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74754" name="20 1"/>
          <p:cNvPicPr>
            <a:picLocks noChangeAspect="1"/>
          </p:cNvPicPr>
          <p:nvPr/>
        </p:nvPicPr>
        <p:blipFill>
          <a:blip r:embed="rId1"/>
          <a:stretch>
            <a:fillRect/>
          </a:stretch>
        </p:blipFill>
        <p:spPr>
          <a:xfrm>
            <a:off x="968375" y="423863"/>
            <a:ext cx="7453313" cy="5919787"/>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非递归算法－中序</a:t>
            </a:r>
            <a:endPar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75779" name="20 1"/>
          <p:cNvPicPr>
            <a:picLocks noChangeAspect="1"/>
          </p:cNvPicPr>
          <p:nvPr/>
        </p:nvPicPr>
        <p:blipFill>
          <a:blip r:embed="rId1"/>
          <a:stretch>
            <a:fillRect/>
          </a:stretch>
        </p:blipFill>
        <p:spPr>
          <a:xfrm>
            <a:off x="755650" y="1773238"/>
            <a:ext cx="7326313" cy="3421062"/>
          </a:xfrm>
          <a:prstGeom prst="rect">
            <a:avLst/>
          </a:prstGeom>
          <a:noFill/>
          <a:ln w="9525">
            <a:noFill/>
          </a:ln>
        </p:spPr>
      </p:pic>
      <p:pic>
        <p:nvPicPr>
          <p:cNvPr id="75780" name="20 2"/>
          <p:cNvPicPr>
            <a:picLocks noChangeAspect="1"/>
          </p:cNvPicPr>
          <p:nvPr/>
        </p:nvPicPr>
        <p:blipFill>
          <a:blip r:embed="rId2"/>
          <a:stretch>
            <a:fillRect/>
          </a:stretch>
        </p:blipFill>
        <p:spPr>
          <a:xfrm>
            <a:off x="611188" y="5229225"/>
            <a:ext cx="2700337" cy="790575"/>
          </a:xfrm>
          <a:prstGeom prst="rect">
            <a:avLst/>
          </a:prstGeom>
          <a:noFill/>
          <a:ln w="9525">
            <a:noFill/>
          </a:ln>
        </p:spPr>
      </p:pic>
      <p:pic>
        <p:nvPicPr>
          <p:cNvPr id="75781" name="20 3"/>
          <p:cNvPicPr>
            <a:picLocks noChangeAspect="1"/>
          </p:cNvPicPr>
          <p:nvPr/>
        </p:nvPicPr>
        <p:blipFill>
          <a:blip r:embed="rId3"/>
          <a:stretch>
            <a:fillRect/>
          </a:stretch>
        </p:blipFill>
        <p:spPr>
          <a:xfrm>
            <a:off x="3635375" y="5518150"/>
            <a:ext cx="1300163" cy="438150"/>
          </a:xfrm>
          <a:prstGeom prst="rect">
            <a:avLst/>
          </a:prstGeom>
          <a:noFill/>
          <a:ln w="9525">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非递归算法－中序</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76803" name="20 2"/>
          <p:cNvPicPr>
            <a:picLocks noChangeAspect="1"/>
          </p:cNvPicPr>
          <p:nvPr/>
        </p:nvPicPr>
        <p:blipFill>
          <a:blip r:embed="rId1"/>
          <a:stretch>
            <a:fillRect/>
          </a:stretch>
        </p:blipFill>
        <p:spPr>
          <a:xfrm>
            <a:off x="606425" y="1916113"/>
            <a:ext cx="7566025" cy="4160837"/>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（先序、中序、后序）遍历复杂度</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4576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时间复杂度：</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：结点数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空间复杂度：</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h</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h</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：树深度（最坏</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先序创建二叉树</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78851" name="Picture 4"/>
          <p:cNvPicPr>
            <a:picLocks noChangeAspect="1"/>
          </p:cNvPicPr>
          <p:nvPr/>
        </p:nvPicPr>
        <p:blipFill>
          <a:blip r:embed="rId1"/>
          <a:stretch>
            <a:fillRect/>
          </a:stretch>
        </p:blipFill>
        <p:spPr>
          <a:xfrm>
            <a:off x="7740650" y="260350"/>
            <a:ext cx="1182688" cy="2376488"/>
          </a:xfrm>
          <a:prstGeom prst="rect">
            <a:avLst/>
          </a:prstGeom>
          <a:noFill/>
          <a:ln w="9525">
            <a:noFill/>
          </a:ln>
        </p:spPr>
      </p:pic>
      <p:pic>
        <p:nvPicPr>
          <p:cNvPr id="78852" name="Picture 7"/>
          <p:cNvPicPr>
            <a:picLocks noChangeAspect="1"/>
          </p:cNvPicPr>
          <p:nvPr/>
        </p:nvPicPr>
        <p:blipFill>
          <a:blip r:embed="rId2"/>
          <a:stretch>
            <a:fillRect/>
          </a:stretch>
        </p:blipFill>
        <p:spPr>
          <a:xfrm>
            <a:off x="2627313" y="1773238"/>
            <a:ext cx="4537075" cy="309562"/>
          </a:xfrm>
          <a:prstGeom prst="rect">
            <a:avLst/>
          </a:prstGeom>
          <a:noFill/>
          <a:ln w="9525">
            <a:noFill/>
          </a:ln>
        </p:spPr>
      </p:pic>
      <p:pic>
        <p:nvPicPr>
          <p:cNvPr id="78853" name="Picture 8"/>
          <p:cNvPicPr>
            <a:picLocks noChangeAspect="1"/>
          </p:cNvPicPr>
          <p:nvPr/>
        </p:nvPicPr>
        <p:blipFill>
          <a:blip r:embed="rId3"/>
          <a:stretch>
            <a:fillRect/>
          </a:stretch>
        </p:blipFill>
        <p:spPr>
          <a:xfrm>
            <a:off x="179388" y="2414588"/>
            <a:ext cx="7921625" cy="4443412"/>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6.3.2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线索二叉树</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44739"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二叉树遍历</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-&gt;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线性序列</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（直接）前驱、（直接）后继</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en-US" altLang="zh-CN" sz="22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ea"/>
              </a:rPr>
              <a:t>a+b</a:t>
            </a:r>
            <a:r>
              <a:rPr kumimoji="1"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*c-d-e/f</a:t>
            </a:r>
            <a:endPar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二叉链表</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结点的左右孩子结点</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（直接）前驱、（直接）后继</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471170" marR="0" lvl="1" indent="-45593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如何保存这种在遍历过程中得到的信息呢？</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增加指针</a:t>
            </a:r>
            <a:r>
              <a:rPr kumimoji="0" lang="en-US" altLang="zh-CN" sz="26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fwd</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Wingdings" panose="05000000000000000000" pitchFamily="2" charset="2"/>
              </a:rPr>
              <a:t>前驱</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）和</a:t>
            </a:r>
            <a:r>
              <a:rPr kumimoji="0" lang="en-US" altLang="zh-CN" sz="26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bkwd</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Symbol" panose="05050102010706020507" pitchFamily="18" charset="2"/>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Wingdings" panose="05000000000000000000" pitchFamily="2" charset="2"/>
              </a:rPr>
              <a:t>后继</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存储密度低－空间浪费</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个节点二叉链表必有</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个空闲指针</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利用</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个空闲指针</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p:txBody>
      </p:sp>
      <p:grpSp>
        <p:nvGrpSpPr>
          <p:cNvPr id="79876" name="Group 4"/>
          <p:cNvGrpSpPr/>
          <p:nvPr/>
        </p:nvGrpSpPr>
        <p:grpSpPr>
          <a:xfrm>
            <a:off x="7019925" y="404813"/>
            <a:ext cx="1728788" cy="2016125"/>
            <a:chOff x="3561" y="1207"/>
            <a:chExt cx="1968" cy="2496"/>
          </a:xfrm>
        </p:grpSpPr>
        <p:sp>
          <p:nvSpPr>
            <p:cNvPr id="79877" name="Oval 5"/>
            <p:cNvSpPr/>
            <p:nvPr/>
          </p:nvSpPr>
          <p:spPr>
            <a:xfrm>
              <a:off x="4377" y="1207"/>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1000" b="0" dirty="0">
                  <a:solidFill>
                    <a:schemeClr val="tx1"/>
                  </a:solidFill>
                  <a:latin typeface="Times New Roman" panose="02020603050405020304" pitchFamily="18" charset="0"/>
                </a:rPr>
                <a:t>－</a:t>
              </a:r>
              <a:endParaRPr lang="zh-CN" altLang="en-US" sz="1000" b="0" dirty="0">
                <a:solidFill>
                  <a:schemeClr val="tx1"/>
                </a:solidFill>
                <a:latin typeface="Times New Roman" panose="02020603050405020304" pitchFamily="18" charset="0"/>
              </a:endParaRPr>
            </a:p>
          </p:txBody>
        </p:sp>
        <p:sp>
          <p:nvSpPr>
            <p:cNvPr id="79878" name="Oval 6"/>
            <p:cNvSpPr/>
            <p:nvPr/>
          </p:nvSpPr>
          <p:spPr>
            <a:xfrm>
              <a:off x="3849" y="1831"/>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zh-CN" altLang="en-US" sz="1000" b="0" dirty="0">
                  <a:solidFill>
                    <a:schemeClr val="tx1"/>
                  </a:solidFill>
                  <a:latin typeface="Times New Roman" panose="02020603050405020304" pitchFamily="18" charset="0"/>
                </a:rPr>
                <a:t>＋</a:t>
              </a:r>
              <a:endParaRPr lang="zh-CN" altLang="en-US" sz="1000" b="0" dirty="0">
                <a:solidFill>
                  <a:schemeClr val="tx1"/>
                </a:solidFill>
                <a:latin typeface="Times New Roman" panose="02020603050405020304" pitchFamily="18" charset="0"/>
              </a:endParaRPr>
            </a:p>
          </p:txBody>
        </p:sp>
        <p:sp>
          <p:nvSpPr>
            <p:cNvPr id="79879" name="Oval 7"/>
            <p:cNvSpPr/>
            <p:nvPr/>
          </p:nvSpPr>
          <p:spPr>
            <a:xfrm>
              <a:off x="4137" y="2359"/>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a:t>
              </a:r>
              <a:endParaRPr lang="en-US" altLang="zh-CN" sz="1000" b="0" dirty="0">
                <a:solidFill>
                  <a:schemeClr val="tx1"/>
                </a:solidFill>
                <a:latin typeface="Times New Roman" panose="02020603050405020304" pitchFamily="18" charset="0"/>
              </a:endParaRPr>
            </a:p>
          </p:txBody>
        </p:sp>
        <p:sp>
          <p:nvSpPr>
            <p:cNvPr id="79880" name="Oval 8"/>
            <p:cNvSpPr/>
            <p:nvPr/>
          </p:nvSpPr>
          <p:spPr>
            <a:xfrm>
              <a:off x="3561" y="2359"/>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a</a:t>
              </a:r>
              <a:endParaRPr lang="en-US" altLang="zh-CN" sz="1000" b="0" dirty="0">
                <a:solidFill>
                  <a:schemeClr val="tx1"/>
                </a:solidFill>
                <a:latin typeface="Times New Roman" panose="02020603050405020304" pitchFamily="18" charset="0"/>
              </a:endParaRPr>
            </a:p>
          </p:txBody>
        </p:sp>
        <p:sp>
          <p:nvSpPr>
            <p:cNvPr id="79881" name="Oval 9"/>
            <p:cNvSpPr/>
            <p:nvPr/>
          </p:nvSpPr>
          <p:spPr>
            <a:xfrm>
              <a:off x="4953" y="178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a:t>
              </a:r>
              <a:endParaRPr lang="en-US" altLang="zh-CN" sz="1000" b="0" dirty="0">
                <a:solidFill>
                  <a:schemeClr val="tx1"/>
                </a:solidFill>
                <a:latin typeface="Times New Roman" panose="02020603050405020304" pitchFamily="18" charset="0"/>
              </a:endParaRPr>
            </a:p>
          </p:txBody>
        </p:sp>
        <p:sp>
          <p:nvSpPr>
            <p:cNvPr id="79882" name="Oval 10"/>
            <p:cNvSpPr/>
            <p:nvPr/>
          </p:nvSpPr>
          <p:spPr>
            <a:xfrm>
              <a:off x="3897" y="2887"/>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b</a:t>
              </a:r>
              <a:endParaRPr lang="en-US" altLang="zh-CN" sz="1000" b="0" dirty="0">
                <a:solidFill>
                  <a:schemeClr val="tx1"/>
                </a:solidFill>
                <a:latin typeface="Times New Roman" panose="02020603050405020304" pitchFamily="18" charset="0"/>
              </a:endParaRPr>
            </a:p>
          </p:txBody>
        </p:sp>
        <p:sp>
          <p:nvSpPr>
            <p:cNvPr id="79883" name="Oval 11"/>
            <p:cNvSpPr/>
            <p:nvPr/>
          </p:nvSpPr>
          <p:spPr>
            <a:xfrm>
              <a:off x="4473" y="2887"/>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a:t>
              </a:r>
              <a:endParaRPr lang="en-US" altLang="zh-CN" sz="1000" b="0" dirty="0">
                <a:solidFill>
                  <a:schemeClr val="tx1"/>
                </a:solidFill>
                <a:latin typeface="Times New Roman" panose="02020603050405020304" pitchFamily="18" charset="0"/>
              </a:endParaRPr>
            </a:p>
          </p:txBody>
        </p:sp>
        <p:sp>
          <p:nvSpPr>
            <p:cNvPr id="79884" name="Oval 12"/>
            <p:cNvSpPr/>
            <p:nvPr/>
          </p:nvSpPr>
          <p:spPr>
            <a:xfrm>
              <a:off x="4761" y="346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d</a:t>
              </a:r>
              <a:endParaRPr lang="en-US" altLang="zh-CN" sz="1000" b="0" dirty="0">
                <a:solidFill>
                  <a:schemeClr val="tx1"/>
                </a:solidFill>
                <a:latin typeface="Times New Roman" panose="02020603050405020304" pitchFamily="18" charset="0"/>
              </a:endParaRPr>
            </a:p>
          </p:txBody>
        </p:sp>
        <p:sp>
          <p:nvSpPr>
            <p:cNvPr id="79885" name="Oval 13"/>
            <p:cNvSpPr/>
            <p:nvPr/>
          </p:nvSpPr>
          <p:spPr>
            <a:xfrm>
              <a:off x="4185" y="346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c</a:t>
              </a:r>
              <a:endParaRPr lang="en-US" altLang="zh-CN" sz="1000" b="0" dirty="0">
                <a:solidFill>
                  <a:schemeClr val="tx1"/>
                </a:solidFill>
                <a:latin typeface="Times New Roman" panose="02020603050405020304" pitchFamily="18" charset="0"/>
              </a:endParaRPr>
            </a:p>
          </p:txBody>
        </p:sp>
        <p:sp>
          <p:nvSpPr>
            <p:cNvPr id="79886" name="Oval 14"/>
            <p:cNvSpPr/>
            <p:nvPr/>
          </p:nvSpPr>
          <p:spPr>
            <a:xfrm>
              <a:off x="5289" y="2263"/>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f</a:t>
              </a:r>
              <a:endParaRPr lang="en-US" altLang="zh-CN" sz="1000" b="0" dirty="0">
                <a:solidFill>
                  <a:schemeClr val="tx1"/>
                </a:solidFill>
                <a:latin typeface="Times New Roman" panose="02020603050405020304" pitchFamily="18" charset="0"/>
              </a:endParaRPr>
            </a:p>
          </p:txBody>
        </p:sp>
        <p:sp>
          <p:nvSpPr>
            <p:cNvPr id="79887" name="Oval 15"/>
            <p:cNvSpPr/>
            <p:nvPr/>
          </p:nvSpPr>
          <p:spPr>
            <a:xfrm>
              <a:off x="4761" y="2311"/>
              <a:ext cx="240" cy="240"/>
            </a:xfrm>
            <a:prstGeom prst="ellipse">
              <a:avLst/>
            </a:prstGeom>
            <a:solidFill>
              <a:schemeClr val="accent1"/>
            </a:solidFill>
            <a:ln w="12700" cap="sq" cmpd="sng">
              <a:solidFill>
                <a:schemeClr val="tx1"/>
              </a:solidFill>
              <a:prstDash val="solid"/>
              <a:headEnd type="none" w="sm" len="sm"/>
              <a:tailEnd type="none" w="sm" len="sm"/>
            </a:ln>
          </p:spPr>
          <p:txBody>
            <a:bodyPr wrap="none" anchor="ctr" anchorCtr="0"/>
            <a:p>
              <a:pPr algn="ctr" eaLnBrk="1" hangingPunct="1"/>
              <a:r>
                <a:rPr lang="en-US" altLang="zh-CN" sz="1000" b="0" dirty="0">
                  <a:solidFill>
                    <a:schemeClr val="tx1"/>
                  </a:solidFill>
                  <a:latin typeface="Times New Roman" panose="02020603050405020304" pitchFamily="18" charset="0"/>
                </a:rPr>
                <a:t>e</a:t>
              </a:r>
              <a:endParaRPr lang="en-US" altLang="zh-CN" sz="1000" b="0" dirty="0">
                <a:solidFill>
                  <a:schemeClr val="tx1"/>
                </a:solidFill>
                <a:latin typeface="Times New Roman" panose="02020603050405020304" pitchFamily="18" charset="0"/>
              </a:endParaRPr>
            </a:p>
          </p:txBody>
        </p:sp>
        <p:sp>
          <p:nvSpPr>
            <p:cNvPr id="244752" name="Line 16"/>
            <p:cNvSpPr>
              <a:spLocks noChangeShapeType="1"/>
            </p:cNvSpPr>
            <p:nvPr/>
          </p:nvSpPr>
          <p:spPr bwMode="auto">
            <a:xfrm flipH="1">
              <a:off x="4042" y="1447"/>
              <a:ext cx="383" cy="432"/>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53" name="Line 17"/>
            <p:cNvSpPr>
              <a:spLocks noChangeShapeType="1"/>
            </p:cNvSpPr>
            <p:nvPr/>
          </p:nvSpPr>
          <p:spPr bwMode="auto">
            <a:xfrm flipH="1">
              <a:off x="3706" y="2072"/>
              <a:ext cx="192"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54" name="Line 18"/>
            <p:cNvSpPr>
              <a:spLocks noChangeShapeType="1"/>
            </p:cNvSpPr>
            <p:nvPr/>
          </p:nvSpPr>
          <p:spPr bwMode="auto">
            <a:xfrm>
              <a:off x="4089" y="2072"/>
              <a:ext cx="145" cy="287"/>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55" name="Line 19"/>
            <p:cNvSpPr>
              <a:spLocks noChangeShapeType="1"/>
            </p:cNvSpPr>
            <p:nvPr/>
          </p:nvSpPr>
          <p:spPr bwMode="auto">
            <a:xfrm flipH="1">
              <a:off x="4042" y="2598"/>
              <a:ext cx="143"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56" name="Line 20"/>
            <p:cNvSpPr>
              <a:spLocks noChangeShapeType="1"/>
            </p:cNvSpPr>
            <p:nvPr/>
          </p:nvSpPr>
          <p:spPr bwMode="auto">
            <a:xfrm>
              <a:off x="4329" y="2598"/>
              <a:ext cx="192" cy="289"/>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57" name="Line 21"/>
            <p:cNvSpPr>
              <a:spLocks noChangeShapeType="1"/>
            </p:cNvSpPr>
            <p:nvPr/>
          </p:nvSpPr>
          <p:spPr bwMode="auto">
            <a:xfrm>
              <a:off x="4665" y="3127"/>
              <a:ext cx="192" cy="383"/>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58" name="Line 22"/>
            <p:cNvSpPr>
              <a:spLocks noChangeShapeType="1"/>
            </p:cNvSpPr>
            <p:nvPr/>
          </p:nvSpPr>
          <p:spPr bwMode="auto">
            <a:xfrm flipH="1">
              <a:off x="4329" y="3127"/>
              <a:ext cx="192" cy="383"/>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59" name="Line 23"/>
            <p:cNvSpPr>
              <a:spLocks noChangeShapeType="1"/>
            </p:cNvSpPr>
            <p:nvPr/>
          </p:nvSpPr>
          <p:spPr bwMode="auto">
            <a:xfrm>
              <a:off x="4616" y="1447"/>
              <a:ext cx="385"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60" name="Line 24"/>
            <p:cNvSpPr>
              <a:spLocks noChangeShapeType="1"/>
            </p:cNvSpPr>
            <p:nvPr/>
          </p:nvSpPr>
          <p:spPr bwMode="auto">
            <a:xfrm flipH="1">
              <a:off x="4857" y="2023"/>
              <a:ext cx="145" cy="289"/>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4761" name="Line 25"/>
            <p:cNvSpPr>
              <a:spLocks noChangeShapeType="1"/>
            </p:cNvSpPr>
            <p:nvPr/>
          </p:nvSpPr>
          <p:spPr bwMode="auto">
            <a:xfrm>
              <a:off x="5193" y="1975"/>
              <a:ext cx="240" cy="336"/>
            </a:xfrm>
            <a:prstGeom prst="line">
              <a:avLst/>
            </a:prstGeom>
            <a:noFill/>
            <a:ln w="12700" cap="sq">
              <a:solidFill>
                <a:schemeClr val="tx1"/>
              </a:solidFill>
              <a:round/>
              <a:headEnd type="none" w="sm" len="sm"/>
              <a:tailEnd type="none"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80898" name="Picture 5"/>
          <p:cNvPicPr>
            <a:picLocks noChangeAspect="1"/>
          </p:cNvPicPr>
          <p:nvPr/>
        </p:nvPicPr>
        <p:blipFill>
          <a:blip r:embed="rId1"/>
          <a:stretch>
            <a:fillRect/>
          </a:stretch>
        </p:blipFill>
        <p:spPr>
          <a:xfrm>
            <a:off x="466725" y="1654175"/>
            <a:ext cx="7921625" cy="3143250"/>
          </a:xfrm>
          <a:prstGeom prst="rect">
            <a:avLst/>
          </a:prstGeom>
          <a:noFill/>
          <a:ln w="9525">
            <a:noFill/>
          </a:ln>
        </p:spPr>
      </p:pic>
      <p:sp>
        <p:nvSpPr>
          <p:cNvPr id="80899" name="Text Box 6"/>
          <p:cNvSpPr txBox="1"/>
          <p:nvPr/>
        </p:nvSpPr>
        <p:spPr>
          <a:xfrm>
            <a:off x="2195513" y="5578475"/>
            <a:ext cx="4684712" cy="946150"/>
          </a:xfrm>
          <a:prstGeom prst="rect">
            <a:avLst/>
          </a:prstGeom>
          <a:noFill/>
          <a:ln w="9525">
            <a:noFill/>
          </a:ln>
        </p:spPr>
        <p:txBody>
          <a:bodyPr wrap="none" anchor="b" anchorCtr="0">
            <a:spAutoFit/>
          </a:bodyPr>
          <a:p>
            <a:pPr algn="ctr" eaLnBrk="1" hangingPunct="1"/>
            <a:r>
              <a:rPr lang="en-US" altLang="zh-CN" sz="2800" b="0" dirty="0">
                <a:latin typeface="Verdana" panose="020B0604030504040204" pitchFamily="34" charset="0"/>
              </a:rPr>
              <a:t>ltag</a:t>
            </a:r>
            <a:r>
              <a:rPr lang="zh-CN" altLang="en-US" sz="2800" b="0" dirty="0">
                <a:latin typeface="Verdana" panose="020B0604030504040204" pitchFamily="34" charset="0"/>
              </a:rPr>
              <a:t>，</a:t>
            </a:r>
            <a:r>
              <a:rPr lang="en-US" altLang="zh-CN" sz="2800" b="0" dirty="0">
                <a:latin typeface="Verdana" panose="020B0604030504040204" pitchFamily="34" charset="0"/>
              </a:rPr>
              <a:t>rtag v.s. fwd, bkwd</a:t>
            </a:r>
            <a:endParaRPr lang="en-US" altLang="zh-CN" sz="2800" b="0" dirty="0">
              <a:latin typeface="Verdana" panose="020B0604030504040204" pitchFamily="34" charset="0"/>
            </a:endParaRPr>
          </a:p>
          <a:p>
            <a:pPr algn="ctr" eaLnBrk="1" hangingPunct="1"/>
            <a:r>
              <a:rPr lang="zh-CN" altLang="en-US" sz="2800" b="0" dirty="0">
                <a:latin typeface="Verdana" panose="020B0604030504040204" pitchFamily="34" charset="0"/>
              </a:rPr>
              <a:t>空间？</a:t>
            </a:r>
            <a:endParaRPr lang="zh-CN" altLang="en-US" sz="2800" b="0" dirty="0">
              <a:latin typeface="Verdana" panose="020B0604030504040204" pitchFamily="34" charset="0"/>
            </a:endParaRPr>
          </a:p>
        </p:txBody>
      </p:sp>
      <p:sp>
        <p:nvSpPr>
          <p:cNvPr id="246791" name="Rectangle 7"/>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线索链表</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0901" name="Text Box 8"/>
          <p:cNvSpPr txBox="1"/>
          <p:nvPr/>
        </p:nvSpPr>
        <p:spPr>
          <a:xfrm>
            <a:off x="6889750" y="3697288"/>
            <a:ext cx="692150" cy="396875"/>
          </a:xfrm>
          <a:prstGeom prst="rect">
            <a:avLst/>
          </a:prstGeom>
          <a:noFill/>
          <a:ln w="9525">
            <a:noFill/>
          </a:ln>
        </p:spPr>
        <p:txBody>
          <a:bodyPr wrap="none" anchor="b" anchorCtr="0">
            <a:spAutoFit/>
          </a:bodyPr>
          <a:p>
            <a:pPr algn="ctr" eaLnBrk="1" hangingPunct="1"/>
            <a:r>
              <a:rPr lang="zh-CN" altLang="en-US" b="0" dirty="0">
                <a:latin typeface="Verdana" panose="020B0604030504040204" pitchFamily="34" charset="0"/>
              </a:rPr>
              <a:t>线索</a:t>
            </a:r>
            <a:endParaRPr lang="zh-CN" altLang="en-US" b="0" dirty="0">
              <a:latin typeface="Verdana" panose="020B0604030504040204" pitchFamily="34" charset="0"/>
            </a:endParaRPr>
          </a:p>
        </p:txBody>
      </p:sp>
      <p:sp>
        <p:nvSpPr>
          <p:cNvPr id="246794" name="Line 10"/>
          <p:cNvSpPr>
            <a:spLocks noChangeShapeType="1"/>
          </p:cNvSpPr>
          <p:nvPr/>
        </p:nvSpPr>
        <p:spPr bwMode="auto">
          <a:xfrm>
            <a:off x="5148263" y="3860800"/>
            <a:ext cx="1655763" cy="73025"/>
          </a:xfrm>
          <a:prstGeom prst="line">
            <a:avLst/>
          </a:prstGeom>
          <a:noFill/>
          <a:ln w="9525">
            <a:solidFill>
              <a:schemeClr val="tx1"/>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46795" name="Line 11"/>
          <p:cNvSpPr>
            <a:spLocks noChangeShapeType="1"/>
          </p:cNvSpPr>
          <p:nvPr/>
        </p:nvSpPr>
        <p:spPr bwMode="auto">
          <a:xfrm flipV="1">
            <a:off x="5292725" y="4005263"/>
            <a:ext cx="1439863" cy="647700"/>
          </a:xfrm>
          <a:prstGeom prst="line">
            <a:avLst/>
          </a:prstGeom>
          <a:noFill/>
          <a:ln w="9525">
            <a:solidFill>
              <a:schemeClr val="tx1"/>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4069" name="Rectangle 5"/>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线索二叉树数据类型定义</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82947" name="20 1"/>
          <p:cNvPicPr>
            <a:picLocks noChangeAspect="1"/>
          </p:cNvPicPr>
          <p:nvPr/>
        </p:nvPicPr>
        <p:blipFill>
          <a:blip r:embed="rId1"/>
          <a:stretch>
            <a:fillRect/>
          </a:stretch>
        </p:blipFill>
        <p:spPr>
          <a:xfrm>
            <a:off x="574675" y="1912938"/>
            <a:ext cx="8032750" cy="1822450"/>
          </a:xfrm>
          <a:prstGeom prst="rect">
            <a:avLst/>
          </a:prstGeom>
          <a:noFill/>
          <a:ln w="9525">
            <a:noFill/>
          </a:ln>
        </p:spPr>
      </p:pic>
      <p:pic>
        <p:nvPicPr>
          <p:cNvPr id="82948" name="20 2"/>
          <p:cNvPicPr>
            <a:picLocks noChangeAspect="1"/>
          </p:cNvPicPr>
          <p:nvPr/>
        </p:nvPicPr>
        <p:blipFill>
          <a:blip r:embed="rId2"/>
          <a:stretch>
            <a:fillRect/>
          </a:stretch>
        </p:blipFill>
        <p:spPr>
          <a:xfrm>
            <a:off x="474663" y="3735388"/>
            <a:ext cx="5861050" cy="700087"/>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线索化算法</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54979"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核心思想</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遍历中修改空指针，使其指向前驱或后继</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树和森林－</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56003" name="Rectangle 3"/>
          <p:cNvSpPr>
            <a:spLocks noGrp="1" noChangeArrowheads="1"/>
          </p:cNvSpPr>
          <p:nvPr>
            <p:ph idx="1"/>
          </p:nvPr>
        </p:nvSpPr>
        <p:spPr>
          <a:xfrm>
            <a:off x="566738" y="1752600"/>
            <a:ext cx="7966075" cy="4267200"/>
          </a:xfrm>
        </p:spPr>
        <p:txBody>
          <a:bodyPr vert="horz" wrap="square" lIns="91440" tIns="45720" rIns="91440" bIns="45720" numCol="1" anchor="t" anchorCtr="0" compatLnSpc="1"/>
          <a:lstStyle/>
          <a:p>
            <a:pPr marL="4711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树的存储结构</a:t>
            </a:r>
            <a:endParaRPr kumimoji="0" lang="en-US" altLang="zh-CN"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1328420" marR="0" lvl="1" indent="-514350" algn="l" defTabSz="914400" rtl="0" eaLnBrk="1" fontAlgn="base" latinLnBrk="0" hangingPunct="1">
              <a:lnSpc>
                <a:spcPct val="80000"/>
              </a:lnSpc>
              <a:spcBef>
                <a:spcPct val="20000"/>
              </a:spcBef>
              <a:spcAft>
                <a:spcPct val="0"/>
              </a:spcAft>
              <a:buClr>
                <a:schemeClr val="accent2"/>
              </a:buClr>
              <a:buSzTx/>
              <a:buFont typeface="+mj-lt"/>
              <a:buAutoNum type="arabicPeriod"/>
              <a:tabLst>
                <a:tab pos="442595" algn="l"/>
                <a:tab pos="800100" algn="l"/>
              </a:tabLst>
              <a:defRPr/>
            </a:pP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双亲表示法</a:t>
            </a:r>
            <a:endPar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endParaRPr>
          </a:p>
          <a:p>
            <a:pPr marL="1328420" marR="0" lvl="1" indent="-514350" algn="l" defTabSz="914400" rtl="0" eaLnBrk="1" fontAlgn="base" latinLnBrk="0" hangingPunct="1">
              <a:lnSpc>
                <a:spcPct val="80000"/>
              </a:lnSpc>
              <a:spcBef>
                <a:spcPct val="20000"/>
              </a:spcBef>
              <a:spcAft>
                <a:spcPct val="0"/>
              </a:spcAft>
              <a:buClr>
                <a:schemeClr val="accent2"/>
              </a:buClr>
              <a:buSzTx/>
              <a:buFont typeface="+mj-lt"/>
              <a:buAutoNum type="arabicPeriod"/>
              <a:tabLst>
                <a:tab pos="442595" algn="l"/>
                <a:tab pos="800100" algn="l"/>
              </a:tabLst>
              <a:defRPr/>
            </a:pP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孩子表示法</a:t>
            </a:r>
            <a:endPar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endParaRPr>
          </a:p>
          <a:p>
            <a:pPr marL="1328420" marR="0" lvl="1" indent="-514350" algn="l" defTabSz="914400" rtl="0" eaLnBrk="1" fontAlgn="base" latinLnBrk="0" hangingPunct="1">
              <a:lnSpc>
                <a:spcPct val="80000"/>
              </a:lnSpc>
              <a:spcBef>
                <a:spcPct val="20000"/>
              </a:spcBef>
              <a:spcAft>
                <a:spcPct val="0"/>
              </a:spcAft>
              <a:buClr>
                <a:schemeClr val="accent2"/>
              </a:buClr>
              <a:buSzTx/>
              <a:buFont typeface="+mj-lt"/>
              <a:buAutoNum type="arabicPeriod"/>
              <a:tabLst>
                <a:tab pos="442595" algn="l"/>
                <a:tab pos="800100" algn="l"/>
              </a:tabLst>
              <a:defRPr/>
            </a:pPr>
            <a:r>
              <a:rPr kumimoji="0" lang="zh-CN" altLang="en-US" sz="36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孩子兄弟表示法</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树和森林－</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56003" name="Rectangle 3"/>
          <p:cNvSpPr>
            <a:spLocks noGrp="1" noChangeArrowheads="1"/>
          </p:cNvSpPr>
          <p:nvPr>
            <p:ph idx="1"/>
          </p:nvPr>
        </p:nvSpPr>
        <p:spPr>
          <a:xfrm>
            <a:off x="566738" y="1752600"/>
            <a:ext cx="7966075"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3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双亲表示法</a:t>
            </a:r>
            <a:endParaRPr kumimoji="0" lang="zh-CN" altLang="en-US" sz="33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用一组</a:t>
            </a:r>
            <a:r>
              <a:rPr kumimoji="0" lang="zh-CN" altLang="en-US" sz="29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ea"/>
              </a:rPr>
              <a:t>连续的存储空间</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（数组）来存储树中的结点，每个数组元素中不但包含结点本身的信息，还保存该结点双亲结点在数组中的下标号。数组中每个结点含两个域：</a:t>
            </a:r>
            <a:endPar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数据域：存放结点本身信息</a:t>
            </a:r>
            <a:endPar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双亲域：指示本结点的双亲结点在数组中位置</a:t>
            </a:r>
            <a:endPar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1606" name="AutoShape 6"/>
          <p:cNvSpPr/>
          <p:nvPr/>
        </p:nvSpPr>
        <p:spPr>
          <a:xfrm>
            <a:off x="3924300" y="5399088"/>
            <a:ext cx="2917825" cy="571500"/>
          </a:xfrm>
          <a:prstGeom prst="cloudCallout">
            <a:avLst>
              <a:gd name="adj1" fmla="val 65505"/>
              <a:gd name="adj2" fmla="val -152500"/>
            </a:avLst>
          </a:prstGeom>
          <a:noFill/>
          <a:ln w="9525" cap="flat" cmpd="sng">
            <a:solidFill>
              <a:srgbClr val="0066FF"/>
            </a:solidFill>
            <a:prstDash val="solid"/>
            <a:headEnd type="none" w="med" len="med"/>
            <a:tailEnd type="none" w="med" len="med"/>
          </a:ln>
        </p:spPr>
        <p:txBody>
          <a:bodyPr wrap="none" anchor="ctr" anchorCtr="0">
            <a:spAutoFit/>
          </a:bodyPr>
          <a:p>
            <a:pPr algn="ctr" eaLnBrk="1" hangingPunct="1"/>
            <a:r>
              <a:rPr lang="zh-CN" altLang="en-US" b="0" dirty="0">
                <a:solidFill>
                  <a:srgbClr val="0000FF"/>
                </a:solidFill>
                <a:latin typeface="Times New Roman" panose="02020603050405020304" pitchFamily="18" charset="0"/>
              </a:rPr>
              <a:t>如何找孩子结点</a:t>
            </a:r>
            <a:endParaRPr lang="zh-CN" altLang="en-US" b="0" dirty="0">
              <a:solidFill>
                <a:srgbClr val="0000FF"/>
              </a:solidFill>
              <a:latin typeface="Times New Roman" panose="02020603050405020304" pitchFamily="18" charset="0"/>
            </a:endParaRPr>
          </a:p>
        </p:txBody>
      </p:sp>
      <p:pic>
        <p:nvPicPr>
          <p:cNvPr id="87043" name="20 1"/>
          <p:cNvPicPr>
            <a:picLocks noChangeAspect="1"/>
          </p:cNvPicPr>
          <p:nvPr/>
        </p:nvPicPr>
        <p:blipFill>
          <a:blip r:embed="rId1"/>
          <a:stretch>
            <a:fillRect/>
          </a:stretch>
        </p:blipFill>
        <p:spPr>
          <a:xfrm>
            <a:off x="222250" y="1173163"/>
            <a:ext cx="4440238" cy="2894012"/>
          </a:xfrm>
          <a:prstGeom prst="rect">
            <a:avLst/>
          </a:prstGeom>
          <a:noFill/>
          <a:ln w="9525">
            <a:noFill/>
          </a:ln>
        </p:spPr>
      </p:pic>
      <p:pic>
        <p:nvPicPr>
          <p:cNvPr id="87044" name="20 2"/>
          <p:cNvPicPr>
            <a:picLocks noChangeAspect="1"/>
          </p:cNvPicPr>
          <p:nvPr/>
        </p:nvPicPr>
        <p:blipFill>
          <a:blip r:embed="rId2"/>
          <a:stretch>
            <a:fillRect/>
          </a:stretch>
        </p:blipFill>
        <p:spPr>
          <a:xfrm>
            <a:off x="4748213" y="1593850"/>
            <a:ext cx="3398837" cy="3165475"/>
          </a:xfrm>
          <a:prstGeom prst="rect">
            <a:avLst/>
          </a:prstGeom>
          <a:noFill/>
          <a:ln w="9525">
            <a:noFill/>
          </a:ln>
        </p:spPr>
      </p:pic>
      <p:sp>
        <p:nvSpPr>
          <p:cNvPr id="281607" name="AutoShape 7"/>
          <p:cNvSpPr/>
          <p:nvPr/>
        </p:nvSpPr>
        <p:spPr>
          <a:xfrm>
            <a:off x="4422775" y="190500"/>
            <a:ext cx="2527300" cy="569913"/>
          </a:xfrm>
          <a:prstGeom prst="cloudCallout">
            <a:avLst>
              <a:gd name="adj1" fmla="val 84713"/>
              <a:gd name="adj2" fmla="val 287222"/>
            </a:avLst>
          </a:prstGeom>
          <a:noFill/>
          <a:ln w="9525" cap="flat" cmpd="sng">
            <a:solidFill>
              <a:srgbClr val="0066FF"/>
            </a:solidFill>
            <a:prstDash val="solid"/>
            <a:headEnd type="none" w="med" len="med"/>
            <a:tailEnd type="none" w="med" len="med"/>
          </a:ln>
        </p:spPr>
        <p:txBody>
          <a:bodyPr wrap="none" anchor="ctr" anchorCtr="0">
            <a:spAutoFit/>
          </a:bodyPr>
          <a:p>
            <a:pPr algn="ctr" eaLnBrk="1" hangingPunct="1"/>
            <a:r>
              <a:rPr lang="zh-CN" altLang="en-US" b="0" dirty="0">
                <a:solidFill>
                  <a:srgbClr val="0000FF"/>
                </a:solidFill>
                <a:latin typeface="Times New Roman" panose="02020603050405020304" pitchFamily="18" charset="0"/>
              </a:rPr>
              <a:t>如何找根结点</a:t>
            </a:r>
            <a:endParaRPr lang="zh-CN" altLang="en-US" b="0" dirty="0">
              <a:solidFill>
                <a:srgbClr val="0000FF"/>
              </a:solidFill>
              <a:latin typeface="Times New Roman" panose="02020603050405020304" pitchFamily="18" charset="0"/>
            </a:endParaRPr>
          </a:p>
        </p:txBody>
      </p:sp>
      <p:sp>
        <p:nvSpPr>
          <p:cNvPr id="87046" name="文本框 6"/>
          <p:cNvSpPr txBox="1"/>
          <p:nvPr/>
        </p:nvSpPr>
        <p:spPr>
          <a:xfrm>
            <a:off x="468313" y="4767263"/>
            <a:ext cx="4572000" cy="708025"/>
          </a:xfrm>
          <a:prstGeom prst="rect">
            <a:avLst/>
          </a:prstGeom>
          <a:noFill/>
          <a:ln w="9525">
            <a:noFill/>
          </a:ln>
        </p:spPr>
        <p:txBody>
          <a:bodyPr>
            <a:spAutoFit/>
          </a:bodyPr>
          <a:p>
            <a:r>
              <a:rPr lang="zh-CN" altLang="en-US" b="0" dirty="0">
                <a:solidFill>
                  <a:srgbClr val="4D4D4D"/>
                </a:solidFill>
                <a:latin typeface="-apple-system"/>
              </a:rPr>
              <a:t>由于根结点没有双亲，所以约定根结点的位置域设置为</a:t>
            </a:r>
            <a:r>
              <a:rPr lang="en-US" altLang="zh-CN" b="0" dirty="0">
                <a:solidFill>
                  <a:srgbClr val="4D4D4D"/>
                </a:solidFill>
                <a:latin typeface="-apple-system"/>
              </a:rPr>
              <a:t>-1</a:t>
            </a:r>
            <a:endParaRPr lang="zh-CN" altLang="en-US"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1606"/>
                                        </p:tgtEl>
                                        <p:attrNameLst>
                                          <p:attrName>style.visibility</p:attrName>
                                        </p:attrNameLst>
                                      </p:cBhvr>
                                      <p:to>
                                        <p:strVal val="visible"/>
                                      </p:to>
                                    </p:set>
                                    <p:animEffect transition="in" filter="box(out)">
                                      <p:cBhvr>
                                        <p:cTn id="7" dur="500"/>
                                        <p:tgtEl>
                                          <p:spTgt spid="28160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81607"/>
                                        </p:tgtEl>
                                        <p:attrNameLst>
                                          <p:attrName>style.visibility</p:attrName>
                                        </p:attrNameLst>
                                      </p:cBhvr>
                                      <p:to>
                                        <p:strVal val="visible"/>
                                      </p:to>
                                    </p:set>
                                    <p:animEffect transition="in" filter="box(out)">
                                      <p:cBhvr>
                                        <p:cTn id="12" dur="500"/>
                                        <p:tgtEl>
                                          <p:spTgt spid="281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6" grpId="0" animBg="1"/>
      <p:bldP spid="281607"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6" name="AutoShape 6"/>
          <p:cNvSpPr/>
          <p:nvPr/>
        </p:nvSpPr>
        <p:spPr>
          <a:xfrm>
            <a:off x="3924300" y="5399088"/>
            <a:ext cx="2917825" cy="571500"/>
          </a:xfrm>
          <a:prstGeom prst="cloudCallout">
            <a:avLst>
              <a:gd name="adj1" fmla="val 65505"/>
              <a:gd name="adj2" fmla="val -152500"/>
            </a:avLst>
          </a:prstGeom>
          <a:noFill/>
          <a:ln w="9525" cap="flat" cmpd="sng">
            <a:solidFill>
              <a:srgbClr val="0066FF"/>
            </a:solidFill>
            <a:prstDash val="solid"/>
            <a:headEnd type="none" w="med" len="med"/>
            <a:tailEnd type="none" w="med" len="med"/>
          </a:ln>
        </p:spPr>
        <p:txBody>
          <a:bodyPr wrap="none" anchor="ctr" anchorCtr="0">
            <a:spAutoFit/>
          </a:bodyPr>
          <a:p>
            <a:pPr algn="ctr" eaLnBrk="1" hangingPunct="1"/>
            <a:r>
              <a:rPr lang="zh-CN" altLang="en-US" b="0" dirty="0">
                <a:solidFill>
                  <a:srgbClr val="0000FF"/>
                </a:solidFill>
                <a:latin typeface="Times New Roman" panose="02020603050405020304" pitchFamily="18" charset="0"/>
              </a:rPr>
              <a:t>如何找孩子结点</a:t>
            </a:r>
            <a:endParaRPr lang="zh-CN" altLang="en-US" b="0" dirty="0">
              <a:solidFill>
                <a:srgbClr val="0000FF"/>
              </a:solidFill>
              <a:latin typeface="Times New Roman" panose="02020603050405020304" pitchFamily="18" charset="0"/>
            </a:endParaRPr>
          </a:p>
        </p:txBody>
      </p:sp>
      <p:pic>
        <p:nvPicPr>
          <p:cNvPr id="87043" name="20 1"/>
          <p:cNvPicPr>
            <a:picLocks noChangeAspect="1"/>
          </p:cNvPicPr>
          <p:nvPr/>
        </p:nvPicPr>
        <p:blipFill>
          <a:blip r:embed="rId1"/>
          <a:stretch>
            <a:fillRect/>
          </a:stretch>
        </p:blipFill>
        <p:spPr>
          <a:xfrm>
            <a:off x="222250" y="1173163"/>
            <a:ext cx="4440238" cy="2894012"/>
          </a:xfrm>
          <a:prstGeom prst="rect">
            <a:avLst/>
          </a:prstGeom>
          <a:noFill/>
          <a:ln w="9525">
            <a:noFill/>
          </a:ln>
        </p:spPr>
      </p:pic>
      <p:pic>
        <p:nvPicPr>
          <p:cNvPr id="87044" name="20 2"/>
          <p:cNvPicPr>
            <a:picLocks noChangeAspect="1"/>
          </p:cNvPicPr>
          <p:nvPr/>
        </p:nvPicPr>
        <p:blipFill>
          <a:blip r:embed="rId2"/>
          <a:stretch>
            <a:fillRect/>
          </a:stretch>
        </p:blipFill>
        <p:spPr>
          <a:xfrm>
            <a:off x="4748213" y="1593850"/>
            <a:ext cx="3398837" cy="3165475"/>
          </a:xfrm>
          <a:prstGeom prst="rect">
            <a:avLst/>
          </a:prstGeom>
          <a:noFill/>
          <a:ln w="9525">
            <a:noFill/>
          </a:ln>
        </p:spPr>
      </p:pic>
      <p:sp>
        <p:nvSpPr>
          <p:cNvPr id="281607" name="AutoShape 7"/>
          <p:cNvSpPr/>
          <p:nvPr/>
        </p:nvSpPr>
        <p:spPr>
          <a:xfrm>
            <a:off x="4422775" y="190500"/>
            <a:ext cx="2527300" cy="569913"/>
          </a:xfrm>
          <a:prstGeom prst="cloudCallout">
            <a:avLst>
              <a:gd name="adj1" fmla="val 84713"/>
              <a:gd name="adj2" fmla="val 287222"/>
            </a:avLst>
          </a:prstGeom>
          <a:noFill/>
          <a:ln w="9525" cap="flat" cmpd="sng">
            <a:solidFill>
              <a:srgbClr val="0066FF"/>
            </a:solidFill>
            <a:prstDash val="solid"/>
            <a:headEnd type="none" w="med" len="med"/>
            <a:tailEnd type="none" w="med" len="med"/>
          </a:ln>
        </p:spPr>
        <p:txBody>
          <a:bodyPr wrap="none" anchor="ctr" anchorCtr="0">
            <a:spAutoFit/>
          </a:bodyPr>
          <a:p>
            <a:pPr algn="ctr" eaLnBrk="1" hangingPunct="1"/>
            <a:r>
              <a:rPr lang="zh-CN" altLang="en-US" b="0" dirty="0">
                <a:solidFill>
                  <a:srgbClr val="0000FF"/>
                </a:solidFill>
                <a:latin typeface="Times New Roman" panose="02020603050405020304" pitchFamily="18" charset="0"/>
              </a:rPr>
              <a:t>如何找根结点</a:t>
            </a:r>
            <a:endParaRPr lang="zh-CN" altLang="en-US" b="0" dirty="0">
              <a:solidFill>
                <a:srgbClr val="0000FF"/>
              </a:solidFill>
              <a:latin typeface="Times New Roman" panose="02020603050405020304" pitchFamily="18" charset="0"/>
            </a:endParaRPr>
          </a:p>
        </p:txBody>
      </p:sp>
      <p:sp>
        <p:nvSpPr>
          <p:cNvPr id="87046" name="文本框 6"/>
          <p:cNvSpPr txBox="1"/>
          <p:nvPr/>
        </p:nvSpPr>
        <p:spPr>
          <a:xfrm>
            <a:off x="468313" y="4767263"/>
            <a:ext cx="4572000" cy="708025"/>
          </a:xfrm>
          <a:prstGeom prst="rect">
            <a:avLst/>
          </a:prstGeom>
          <a:noFill/>
          <a:ln w="9525">
            <a:noFill/>
          </a:ln>
        </p:spPr>
        <p:txBody>
          <a:bodyPr>
            <a:spAutoFit/>
          </a:bodyPr>
          <a:p>
            <a:r>
              <a:rPr lang="zh-CN" altLang="en-US" b="0" dirty="0">
                <a:solidFill>
                  <a:srgbClr val="4D4D4D"/>
                </a:solidFill>
                <a:latin typeface="-apple-system"/>
              </a:rPr>
              <a:t>由于根结点没有双亲，所以约定根结点的位置域设置为</a:t>
            </a:r>
            <a:r>
              <a:rPr lang="en-US" altLang="zh-CN" b="0" dirty="0">
                <a:solidFill>
                  <a:srgbClr val="4D4D4D"/>
                </a:solidFill>
                <a:latin typeface="-apple-system"/>
              </a:rPr>
              <a:t>-1</a:t>
            </a:r>
            <a:endParaRPr lang="zh-CN" altLang="en-US"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1606"/>
                                        </p:tgtEl>
                                        <p:attrNameLst>
                                          <p:attrName>style.visibility</p:attrName>
                                        </p:attrNameLst>
                                      </p:cBhvr>
                                      <p:to>
                                        <p:strVal val="visible"/>
                                      </p:to>
                                    </p:set>
                                    <p:animEffect transition="in" filter="box(out)">
                                      <p:cBhvr>
                                        <p:cTn id="7" dur="500"/>
                                        <p:tgtEl>
                                          <p:spTgt spid="28160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81607"/>
                                        </p:tgtEl>
                                        <p:attrNameLst>
                                          <p:attrName>style.visibility</p:attrName>
                                        </p:attrNameLst>
                                      </p:cBhvr>
                                      <p:to>
                                        <p:strVal val="visible"/>
                                      </p:to>
                                    </p:set>
                                    <p:animEffect transition="in" filter="box(out)">
                                      <p:cBhvr>
                                        <p:cTn id="12" dur="500"/>
                                        <p:tgtEl>
                                          <p:spTgt spid="281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6" grpId="0" bldLvl="0" animBg="1"/>
      <p:bldP spid="281607"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8262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链表</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类似二叉树－</a:t>
            </a:r>
            <a:r>
              <a:rPr kumimoji="0" lang="zh-CN" altLang="en-US" sz="22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mn-lt"/>
                <a:ea typeface="+mn-ea"/>
                <a:cs typeface="+mn-ea"/>
              </a:rPr>
              <a:t>多重链表</a:t>
            </a:r>
            <a:endParaRPr kumimoji="0" lang="zh-CN" altLang="en-US" sz="22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固定节点孩子数－操作一致、空间浪费</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Data|child</a:t>
            </a:r>
            <a:r>
              <a:rPr kumimoji="0" lang="en-US" altLang="zh-CN" sz="21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|child</a:t>
            </a:r>
            <a:r>
              <a:rPr kumimoji="0" lang="en-US" altLang="zh-CN" sz="21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1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ea"/>
              </a:rPr>
              <a:t>child</a:t>
            </a:r>
            <a:r>
              <a:rPr kumimoji="0" lang="en-US" altLang="zh-CN" sz="2100" b="1" i="0" u="none" strike="noStrike" kern="0" cap="none" spc="0" normalizeH="0" baseline="-25000" noProof="0" dirty="0" err="1">
                <a:ln>
                  <a:noFill/>
                </a:ln>
                <a:solidFill>
                  <a:schemeClr val="tx1"/>
                </a:solidFill>
                <a:effectLst>
                  <a:outerShdw blurRad="38100" dist="38100" dir="2700000" algn="tl">
                    <a:srgbClr val="C0C0C0"/>
                  </a:outerShdw>
                </a:effectLst>
                <a:uLnTx/>
                <a:uFillTx/>
                <a:latin typeface="+mn-lt"/>
                <a:ea typeface="+mn-ea"/>
                <a:cs typeface="+mn-ea"/>
              </a:rPr>
              <a:t>k</a:t>
            </a:r>
            <a:endParaRPr kumimoji="0" lang="en-US" altLang="zh-CN" sz="21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N(k-1)+1 </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空指针</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可变节点孩子数－操作困难、空间节省</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en-US" altLang="zh-CN" sz="21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ea"/>
              </a:rPr>
              <a:t>Data|d</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(degree)|child</a:t>
            </a:r>
            <a:r>
              <a:rPr kumimoji="0" lang="en-US" altLang="zh-CN" sz="21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|child</a:t>
            </a:r>
            <a:r>
              <a:rPr kumimoji="0" lang="en-US" altLang="zh-CN" sz="21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1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ea"/>
              </a:rPr>
              <a:t>child</a:t>
            </a:r>
            <a:r>
              <a:rPr kumimoji="0" lang="en-US" altLang="zh-CN" sz="2100" b="1" i="0" u="none" strike="noStrike" kern="0" cap="none" spc="0" normalizeH="0" baseline="-25000" noProof="0" dirty="0" err="1">
                <a:ln>
                  <a:noFill/>
                </a:ln>
                <a:solidFill>
                  <a:schemeClr val="tx1"/>
                </a:solidFill>
                <a:effectLst>
                  <a:outerShdw blurRad="38100" dist="38100" dir="2700000" algn="tl">
                    <a:srgbClr val="C0C0C0"/>
                  </a:outerShdw>
                </a:effectLst>
                <a:uLnTx/>
                <a:uFillTx/>
                <a:latin typeface="+mn-lt"/>
                <a:ea typeface="+mn-ea"/>
                <a:cs typeface="+mn-ea"/>
              </a:rPr>
              <a:t>d</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孩子表示法</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把每个结点的孩子结点排列起来，构成一个单链表，该单链表就是本结点的孩子链表。</a:t>
            </a:r>
            <a:endParaRPr kumimoji="1"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具有</a:t>
            </a:r>
            <a:r>
              <a:rPr kumimoji="1"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n</a:t>
            </a:r>
            <a:r>
              <a:rPr kumimoji="1"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个结点的树就形成了</a:t>
            </a:r>
            <a:r>
              <a:rPr kumimoji="1"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n</a:t>
            </a:r>
            <a:r>
              <a:rPr kumimoji="1"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个孩子链表（</a:t>
            </a:r>
            <a:r>
              <a:rPr kumimoji="1"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n</a:t>
            </a:r>
            <a:r>
              <a:rPr kumimoji="1"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个头指针）</a:t>
            </a:r>
            <a:endParaRPr kumimoji="1"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p:txBody>
      </p:sp>
      <p:pic>
        <p:nvPicPr>
          <p:cNvPr id="89092" name="20 1"/>
          <p:cNvPicPr>
            <a:picLocks noChangeAspect="1"/>
          </p:cNvPicPr>
          <p:nvPr/>
        </p:nvPicPr>
        <p:blipFill>
          <a:blip r:embed="rId1"/>
          <a:stretch>
            <a:fillRect/>
          </a:stretch>
        </p:blipFill>
        <p:spPr>
          <a:xfrm>
            <a:off x="5735638" y="304800"/>
            <a:ext cx="2913062" cy="2290763"/>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mn-ea"/>
              </a:rPr>
              <a:t>N(k-1)+1 </a:t>
            </a:r>
            <a:r>
              <a:rPr kumimoji="0"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mn-ea"/>
              </a:rPr>
              <a:t>空指针</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n个结点度为k的树，它的度一共是nk，但n个结点的树实际上只有n-1条边，所以浪费的空链域为nk-（n-1). </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62" name="Picture 5"/>
          <p:cNvPicPr>
            <a:picLocks noChangeAspect="1"/>
          </p:cNvPicPr>
          <p:nvPr/>
        </p:nvPicPr>
        <p:blipFill>
          <a:blip r:embed="rId1"/>
          <a:stretch>
            <a:fillRect/>
          </a:stretch>
        </p:blipFill>
        <p:spPr>
          <a:xfrm>
            <a:off x="250825" y="836613"/>
            <a:ext cx="5472113" cy="5400675"/>
          </a:xfrm>
          <a:prstGeom prst="rect">
            <a:avLst/>
          </a:prstGeom>
          <a:noFill/>
          <a:ln w="9525">
            <a:noFill/>
          </a:ln>
        </p:spPr>
      </p:pic>
      <p:pic>
        <p:nvPicPr>
          <p:cNvPr id="92163" name="20 1"/>
          <p:cNvPicPr>
            <a:picLocks noChangeAspect="1"/>
          </p:cNvPicPr>
          <p:nvPr/>
        </p:nvPicPr>
        <p:blipFill>
          <a:blip r:embed="rId2"/>
          <a:stretch>
            <a:fillRect/>
          </a:stretch>
        </p:blipFill>
        <p:spPr>
          <a:xfrm>
            <a:off x="5503863" y="979488"/>
            <a:ext cx="3340100" cy="3814762"/>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93186" name="Picture 7"/>
          <p:cNvPicPr>
            <a:picLocks noChangeAspect="1"/>
          </p:cNvPicPr>
          <p:nvPr/>
        </p:nvPicPr>
        <p:blipFill>
          <a:blip r:embed="rId1"/>
          <a:stretch>
            <a:fillRect/>
          </a:stretch>
        </p:blipFill>
        <p:spPr>
          <a:xfrm>
            <a:off x="360363" y="1260475"/>
            <a:ext cx="4067175" cy="3897313"/>
          </a:xfrm>
          <a:prstGeom prst="rect">
            <a:avLst/>
          </a:prstGeom>
          <a:noFill/>
          <a:ln w="9525">
            <a:noFill/>
          </a:ln>
        </p:spPr>
      </p:pic>
      <p:sp>
        <p:nvSpPr>
          <p:cNvPr id="283656" name="AutoShape 8"/>
          <p:cNvSpPr/>
          <p:nvPr/>
        </p:nvSpPr>
        <p:spPr>
          <a:xfrm>
            <a:off x="971550" y="404813"/>
            <a:ext cx="2916238" cy="569912"/>
          </a:xfrm>
          <a:prstGeom prst="cloudCallout">
            <a:avLst>
              <a:gd name="adj1" fmla="val 87324"/>
              <a:gd name="adj2" fmla="val 354167"/>
            </a:avLst>
          </a:prstGeom>
          <a:noFill/>
          <a:ln w="9525" cap="flat" cmpd="sng">
            <a:solidFill>
              <a:srgbClr val="0066FF"/>
            </a:solidFill>
            <a:prstDash val="solid"/>
            <a:headEnd type="none" w="med" len="med"/>
            <a:tailEnd type="none" w="med" len="med"/>
          </a:ln>
        </p:spPr>
        <p:txBody>
          <a:bodyPr wrap="none" anchor="ctr" anchorCtr="0">
            <a:spAutoFit/>
          </a:bodyPr>
          <a:p>
            <a:pPr algn="ctr" eaLnBrk="1" hangingPunct="1"/>
            <a:r>
              <a:rPr lang="zh-CN" altLang="en-US" b="0" dirty="0">
                <a:solidFill>
                  <a:srgbClr val="0000FF"/>
                </a:solidFill>
                <a:latin typeface="Times New Roman" panose="02020603050405020304" pitchFamily="18" charset="0"/>
              </a:rPr>
              <a:t>如何找双亲结点</a:t>
            </a:r>
            <a:endParaRPr lang="zh-CN" altLang="en-US" b="0" dirty="0">
              <a:solidFill>
                <a:srgbClr val="0000FF"/>
              </a:solidFill>
              <a:latin typeface="Times New Roman" panose="02020603050405020304" pitchFamily="18" charset="0"/>
            </a:endParaRPr>
          </a:p>
        </p:txBody>
      </p:sp>
      <p:pic>
        <p:nvPicPr>
          <p:cNvPr id="93188" name="20 1"/>
          <p:cNvPicPr>
            <a:picLocks noChangeAspect="1"/>
          </p:cNvPicPr>
          <p:nvPr/>
        </p:nvPicPr>
        <p:blipFill>
          <a:blip r:embed="rId2"/>
          <a:stretch>
            <a:fillRect/>
          </a:stretch>
        </p:blipFill>
        <p:spPr>
          <a:xfrm>
            <a:off x="4392613" y="974725"/>
            <a:ext cx="4716462" cy="3873500"/>
          </a:xfrm>
          <a:prstGeom prst="rect">
            <a:avLst/>
          </a:prstGeom>
          <a:noFill/>
          <a:ln w="9525">
            <a:noFill/>
          </a:ln>
        </p:spPr>
      </p:pic>
      <p:pic>
        <p:nvPicPr>
          <p:cNvPr id="93189" name="20 4"/>
          <p:cNvPicPr>
            <a:picLocks noChangeAspect="1"/>
          </p:cNvPicPr>
          <p:nvPr/>
        </p:nvPicPr>
        <p:blipFill>
          <a:blip r:embed="rId3"/>
          <a:stretch>
            <a:fillRect/>
          </a:stretch>
        </p:blipFill>
        <p:spPr>
          <a:xfrm>
            <a:off x="7380288" y="4437063"/>
            <a:ext cx="936625" cy="314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3656"/>
                                        </p:tgtEl>
                                        <p:attrNameLst>
                                          <p:attrName>style.visibility</p:attrName>
                                        </p:attrNameLst>
                                      </p:cBhvr>
                                      <p:to>
                                        <p:strVal val="visible"/>
                                      </p:to>
                                    </p:set>
                                    <p:animEffect transition="in" filter="box(out)">
                                      <p:cBhvr>
                                        <p:cTn id="7" dur="500"/>
                                        <p:tgtEl>
                                          <p:spTgt spid="283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6"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94210" name="Picture 4"/>
          <p:cNvPicPr>
            <a:picLocks noChangeAspect="1"/>
          </p:cNvPicPr>
          <p:nvPr/>
        </p:nvPicPr>
        <p:blipFill>
          <a:blip r:embed="rId1"/>
          <a:stretch>
            <a:fillRect/>
          </a:stretch>
        </p:blipFill>
        <p:spPr>
          <a:xfrm>
            <a:off x="179388" y="1125538"/>
            <a:ext cx="2808287" cy="3311525"/>
          </a:xfrm>
          <a:prstGeom prst="rect">
            <a:avLst/>
          </a:prstGeom>
          <a:noFill/>
          <a:ln w="9525">
            <a:noFill/>
          </a:ln>
        </p:spPr>
      </p:pic>
      <p:pic>
        <p:nvPicPr>
          <p:cNvPr id="94211" name="Picture 5"/>
          <p:cNvPicPr>
            <a:picLocks noChangeAspect="1"/>
          </p:cNvPicPr>
          <p:nvPr/>
        </p:nvPicPr>
        <p:blipFill>
          <a:blip r:embed="rId2"/>
          <a:stretch>
            <a:fillRect/>
          </a:stretch>
        </p:blipFill>
        <p:spPr>
          <a:xfrm>
            <a:off x="3203575" y="0"/>
            <a:ext cx="5940425" cy="5300663"/>
          </a:xfrm>
          <a:prstGeom prst="rect">
            <a:avLst/>
          </a:prstGeom>
          <a:noFill/>
          <a:ln w="9525">
            <a:noFill/>
          </a:ln>
        </p:spPr>
      </p:pic>
      <p:pic>
        <p:nvPicPr>
          <p:cNvPr id="94212" name="20 2"/>
          <p:cNvPicPr>
            <a:picLocks noChangeAspect="1"/>
          </p:cNvPicPr>
          <p:nvPr/>
        </p:nvPicPr>
        <p:blipFill>
          <a:blip r:embed="rId3"/>
          <a:stretch>
            <a:fillRect/>
          </a:stretch>
        </p:blipFill>
        <p:spPr>
          <a:xfrm>
            <a:off x="3779838" y="5732463"/>
            <a:ext cx="3092450" cy="504825"/>
          </a:xfrm>
          <a:prstGeom prst="rect">
            <a:avLst/>
          </a:prstGeom>
          <a:noFill/>
          <a:ln w="9525">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C7E"/>
        </a:solidFill>
        <a:effectLst/>
      </p:bgPr>
    </p:bg>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574675" y="1752600"/>
            <a:ext cx="8245475" cy="4267200"/>
          </a:xfrm>
        </p:spPr>
        <p:txBody>
          <a:bodyPr vert="horz" wrap="square" lIns="91440" tIns="45720" rIns="91440" bIns="45720" numCol="1" anchor="t" anchorCtr="0" compatLnSpc="1"/>
          <a:lstStyle/>
          <a:p>
            <a:pPr marL="514350" marR="0" lvl="0" indent="-51435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AutoNum type="arabicPeriod"/>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二叉树的遍历</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   如何按某条搜索路径巡访树中每个结点，使得每个结点均被访问一次，而且仅被访问一次。</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）先序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）中序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3</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）后序</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
                <a:schemeClr val="accent2"/>
              </a:buClr>
              <a:buSzTx/>
              <a:buFont typeface="+mj-lt"/>
              <a:buAutoNum type="arabicPeriod" startAt="2"/>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递归遍历二叉树算法</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C7E"/>
        </a:solidFill>
        <a:effectLst/>
      </p:bgPr>
    </p:bg>
    <p:spTree>
      <p:nvGrpSpPr>
        <p:cNvPr id="1" name=""/>
        <p:cNvGrpSpPr/>
        <p:nvPr/>
      </p:nvGrpSpPr>
      <p:grpSpPr/>
      <p:sp>
        <p:nvSpPr>
          <p:cNvPr id="2088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8899" name="Rectangle 3"/>
          <p:cNvSpPr>
            <a:spLocks noGrp="1" noChangeArrowheads="1"/>
          </p:cNvSpPr>
          <p:nvPr>
            <p:ph idx="1"/>
          </p:nvPr>
        </p:nvSpPr>
        <p:spPr>
          <a:xfrm>
            <a:off x="611188" y="1773238"/>
            <a:ext cx="7993063" cy="4267200"/>
          </a:xfrm>
        </p:spPr>
        <p:txBody>
          <a:bodyPr vert="horz" wrap="square" lIns="91440" tIns="45720" rIns="91440" bIns="45720" numCol="1" anchor="t" anchorCtr="0" compatLnSpc="1"/>
          <a:lstStyle/>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tabLst>
                <a:tab pos="442595" algn="l"/>
                <a:tab pos="800100" algn="l"/>
              </a:tabLst>
              <a:defRPr/>
            </a:pPr>
            <a:r>
              <a:rPr kumimoji="0" lang="en-US" altLang="zh-CN"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3.</a:t>
            </a:r>
            <a:r>
              <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 </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二叉树的遍历（先序、中序、后序）</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tabLst>
                <a:tab pos="442595" algn="l"/>
                <a:tab pos="800100" algn="l"/>
              </a:tabLst>
              <a:defRPr/>
            </a:pPr>
            <a:r>
              <a:rPr kumimoji="0" lang="en-US" altLang="zh-CN"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4.</a:t>
            </a:r>
            <a:r>
              <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 </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树的存储结构</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tabLst>
                <a:tab pos="442595" algn="l"/>
                <a:tab pos="800100" algn="l"/>
              </a:tabLst>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）双亲表示法</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endParaRPr>
          </a:p>
          <a:p>
            <a:pPr marL="8140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tabLst>
                <a:tab pos="442595" algn="l"/>
                <a:tab pos="800100" algn="l"/>
              </a:tabLst>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2</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rPr>
              <a:t>）孩子表示法</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sym typeface="+mn-ea"/>
            </a:endParaRPr>
          </a:p>
          <a:p>
            <a:pPr marL="8140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tabLst>
                <a:tab pos="442595" algn="l"/>
                <a:tab pos="800100" algn="l"/>
              </a:tabLst>
              <a:defRPr/>
            </a:pPr>
            <a:r>
              <a:rPr kumimoji="0" lang="zh-CN" altLang="en-US" sz="2800" b="1" i="0" u="none" strike="noStrike" kern="0" cap="none" spc="0" normalizeH="0" baseline="0" noProof="0" dirty="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mn-ea"/>
                <a:sym typeface="+mn-ea"/>
              </a:rPr>
              <a:t>（</a:t>
            </a:r>
            <a:r>
              <a:rPr kumimoji="0" lang="en-US" altLang="zh-CN" sz="2800" b="1" i="0" u="none" strike="noStrike" kern="0" cap="none" spc="0" normalizeH="0" baseline="0" noProof="0" dirty="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mn-ea"/>
                <a:sym typeface="+mn-ea"/>
              </a:rPr>
              <a:t>3</a:t>
            </a:r>
            <a:r>
              <a:rPr kumimoji="0" lang="zh-CN" altLang="en-US" sz="2800" b="1" i="0" u="none" strike="noStrike" kern="0" cap="none" spc="0" normalizeH="0" baseline="0" noProof="0" dirty="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mn-ea"/>
                <a:sym typeface="+mn-ea"/>
              </a:rPr>
              <a:t>）孩子兄弟表示法</a:t>
            </a:r>
            <a:endParaRPr kumimoji="0" lang="zh-CN" altLang="en-US" sz="2800" b="1" i="0" u="none" strike="noStrike" kern="0" cap="none" spc="0" normalizeH="0" baseline="0" noProof="0" dirty="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ea typeface="+mn-ea"/>
              <a:cs typeface="+mn-ea"/>
              <a:sym typeface="+mn-ea"/>
            </a:endParaRPr>
          </a:p>
          <a:p>
            <a:pPr marL="8140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zh-CN"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endParaRPr kumimoji="0"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endParaRPr kumimoji="0"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en-US" altLang="zh-CN" sz="18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en-US" altLang="zh-CN" sz="18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showMasterSp="0">
  <p:cSld>
    <p:bg>
      <p:bgPr>
        <a:solidFill>
          <a:srgbClr val="F7FD9D"/>
        </a:solidFill>
        <a:effectLst/>
      </p:bgPr>
    </p:bg>
    <p:spTree>
      <p:nvGrpSpPr>
        <p:cNvPr id="1" name=""/>
        <p:cNvGrpSpPr/>
        <p:nvPr/>
      </p:nvGrpSpPr>
      <p:grpSpPr/>
      <p:pic>
        <p:nvPicPr>
          <p:cNvPr id="87044" name="20 2"/>
          <p:cNvPicPr>
            <a:picLocks noChangeAspect="1"/>
          </p:cNvPicPr>
          <p:nvPr/>
        </p:nvPicPr>
        <p:blipFill>
          <a:blip r:embed="rId1"/>
          <a:srcRect l="4047" r="90" b="12394"/>
          <a:stretch>
            <a:fillRect/>
          </a:stretch>
        </p:blipFill>
        <p:spPr>
          <a:xfrm>
            <a:off x="109220" y="1185545"/>
            <a:ext cx="3016250" cy="2962910"/>
          </a:xfrm>
          <a:prstGeom prst="rect">
            <a:avLst/>
          </a:prstGeom>
          <a:noFill/>
          <a:ln w="9525">
            <a:noFill/>
          </a:ln>
        </p:spPr>
      </p:pic>
      <p:pic>
        <p:nvPicPr>
          <p:cNvPr id="92163" name="20 1"/>
          <p:cNvPicPr>
            <a:picLocks noChangeAspect="1"/>
          </p:cNvPicPr>
          <p:nvPr>
            <p:custDataLst>
              <p:tags r:id="rId2"/>
            </p:custDataLst>
          </p:nvPr>
        </p:nvPicPr>
        <p:blipFill>
          <a:blip r:embed="rId3"/>
          <a:srcRect b="9103"/>
          <a:stretch>
            <a:fillRect/>
          </a:stretch>
        </p:blipFill>
        <p:spPr>
          <a:xfrm>
            <a:off x="3204210" y="1185545"/>
            <a:ext cx="2567305" cy="2891790"/>
          </a:xfrm>
          <a:prstGeom prst="rect">
            <a:avLst/>
          </a:prstGeom>
          <a:noFill/>
          <a:ln w="9525">
            <a:noFill/>
          </a:ln>
        </p:spPr>
      </p:pic>
      <p:sp>
        <p:nvSpPr>
          <p:cNvPr id="2" name="文本框 1"/>
          <p:cNvSpPr txBox="1"/>
          <p:nvPr/>
        </p:nvSpPr>
        <p:spPr>
          <a:xfrm>
            <a:off x="3420110" y="4292600"/>
            <a:ext cx="2092960" cy="398780"/>
          </a:xfrm>
          <a:prstGeom prst="rect">
            <a:avLst/>
          </a:prstGeom>
          <a:noFill/>
        </p:spPr>
        <p:txBody>
          <a:bodyPr wrap="square" rtlCol="0">
            <a:spAutoFit/>
          </a:bodyPr>
          <a:p>
            <a:r>
              <a:rPr lang="zh-CN" altLang="en-US"/>
              <a:t>树的孩子表示</a:t>
            </a:r>
            <a:r>
              <a:rPr lang="zh-CN" altLang="en-US"/>
              <a:t>法</a:t>
            </a:r>
            <a:endParaRPr lang="zh-CN" altLang="en-US"/>
          </a:p>
        </p:txBody>
      </p:sp>
      <p:sp>
        <p:nvSpPr>
          <p:cNvPr id="3" name="文本框 2"/>
          <p:cNvSpPr txBox="1"/>
          <p:nvPr/>
        </p:nvSpPr>
        <p:spPr>
          <a:xfrm>
            <a:off x="476885" y="4292600"/>
            <a:ext cx="2281555" cy="398780"/>
          </a:xfrm>
          <a:prstGeom prst="rect">
            <a:avLst/>
          </a:prstGeom>
          <a:noFill/>
        </p:spPr>
        <p:txBody>
          <a:bodyPr wrap="square" rtlCol="0">
            <a:spAutoFit/>
          </a:bodyPr>
          <a:p>
            <a:r>
              <a:rPr lang="zh-CN" altLang="en-US"/>
              <a:t>树的双亲</a:t>
            </a:r>
            <a:r>
              <a:rPr lang="zh-CN" altLang="en-US"/>
              <a:t>表示法</a:t>
            </a:r>
            <a:endParaRPr lang="zh-CN" altLang="en-US"/>
          </a:p>
        </p:txBody>
      </p:sp>
      <p:pic>
        <p:nvPicPr>
          <p:cNvPr id="94211" name="Picture 5"/>
          <p:cNvPicPr>
            <a:picLocks noChangeAspect="1"/>
          </p:cNvPicPr>
          <p:nvPr>
            <p:custDataLst>
              <p:tags r:id="rId4"/>
            </p:custDataLst>
          </p:nvPr>
        </p:nvPicPr>
        <p:blipFill>
          <a:blip r:embed="rId5"/>
          <a:stretch>
            <a:fillRect/>
          </a:stretch>
        </p:blipFill>
        <p:spPr>
          <a:xfrm>
            <a:off x="5868035" y="1196340"/>
            <a:ext cx="3229610" cy="2882900"/>
          </a:xfrm>
          <a:prstGeom prst="rect">
            <a:avLst/>
          </a:prstGeom>
          <a:noFill/>
          <a:ln w="9525">
            <a:noFill/>
          </a:ln>
        </p:spPr>
      </p:pic>
      <p:sp>
        <p:nvSpPr>
          <p:cNvPr id="4" name="文本框 3"/>
          <p:cNvSpPr txBox="1"/>
          <p:nvPr>
            <p:custDataLst>
              <p:tags r:id="rId6"/>
            </p:custDataLst>
          </p:nvPr>
        </p:nvSpPr>
        <p:spPr>
          <a:xfrm>
            <a:off x="6372225" y="4292600"/>
            <a:ext cx="2573655" cy="398780"/>
          </a:xfrm>
          <a:prstGeom prst="rect">
            <a:avLst/>
          </a:prstGeom>
          <a:noFill/>
        </p:spPr>
        <p:txBody>
          <a:bodyPr wrap="square" rtlCol="0">
            <a:spAutoFit/>
          </a:bodyPr>
          <a:p>
            <a:r>
              <a:rPr lang="zh-CN" altLang="en-US"/>
              <a:t>带双亲的孩子</a:t>
            </a:r>
            <a:r>
              <a:rPr lang="zh-CN" altLang="en-US"/>
              <a:t>链表</a:t>
            </a:r>
            <a:endParaRPr lang="zh-CN" alt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86723" name="Rectangle 3"/>
          <p:cNvSpPr>
            <a:spLocks noGrp="1" noChangeArrowheads="1"/>
          </p:cNvSpPr>
          <p:nvPr>
            <p:ph idx="1"/>
          </p:nvPr>
        </p:nvSpPr>
        <p:spPr>
          <a:xfrm>
            <a:off x="566738" y="1752600"/>
            <a:ext cx="4005263"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孩子兄弟表示法</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二叉树表示法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二叉链表</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节点的第一个孩子</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下一个兄弟</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pic>
        <p:nvPicPr>
          <p:cNvPr id="95236" name="Picture 4"/>
          <p:cNvPicPr>
            <a:picLocks noChangeAspect="1"/>
          </p:cNvPicPr>
          <p:nvPr/>
        </p:nvPicPr>
        <p:blipFill>
          <a:blip r:embed="rId1"/>
          <a:stretch>
            <a:fillRect/>
          </a:stretch>
        </p:blipFill>
        <p:spPr>
          <a:xfrm>
            <a:off x="611188" y="4365625"/>
            <a:ext cx="7848600" cy="2241550"/>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6258" name="Picture 4"/>
          <p:cNvPicPr>
            <a:picLocks noChangeAspect="1"/>
          </p:cNvPicPr>
          <p:nvPr/>
        </p:nvPicPr>
        <p:blipFill>
          <a:blip r:embed="rId1"/>
          <a:stretch>
            <a:fillRect/>
          </a:stretch>
        </p:blipFill>
        <p:spPr>
          <a:xfrm>
            <a:off x="0" y="1557338"/>
            <a:ext cx="2808288" cy="3311525"/>
          </a:xfrm>
          <a:prstGeom prst="rect">
            <a:avLst/>
          </a:prstGeom>
          <a:noFill/>
          <a:ln w="9525">
            <a:noFill/>
          </a:ln>
        </p:spPr>
      </p:pic>
      <p:pic>
        <p:nvPicPr>
          <p:cNvPr id="96259" name="Picture 5"/>
          <p:cNvPicPr>
            <a:picLocks noChangeAspect="1"/>
          </p:cNvPicPr>
          <p:nvPr/>
        </p:nvPicPr>
        <p:blipFill>
          <a:blip r:embed="rId2"/>
          <a:stretch>
            <a:fillRect/>
          </a:stretch>
        </p:blipFill>
        <p:spPr>
          <a:xfrm>
            <a:off x="4083050" y="115888"/>
            <a:ext cx="5026025" cy="6597650"/>
          </a:xfrm>
          <a:prstGeom prst="rect">
            <a:avLst/>
          </a:prstGeom>
          <a:noFill/>
          <a:ln w="9525">
            <a:noFill/>
          </a:ln>
        </p:spPr>
      </p:pic>
      <p:sp>
        <p:nvSpPr>
          <p:cNvPr id="287750" name="AutoShape 6"/>
          <p:cNvSpPr/>
          <p:nvPr/>
        </p:nvSpPr>
        <p:spPr>
          <a:xfrm>
            <a:off x="971550" y="404813"/>
            <a:ext cx="2916238" cy="569912"/>
          </a:xfrm>
          <a:prstGeom prst="cloudCallout">
            <a:avLst>
              <a:gd name="adj1" fmla="val 111352"/>
              <a:gd name="adj2" fmla="val 5708"/>
            </a:avLst>
          </a:prstGeom>
          <a:noFill/>
          <a:ln w="9525" cap="flat" cmpd="sng">
            <a:solidFill>
              <a:srgbClr val="0066FF"/>
            </a:solidFill>
            <a:prstDash val="solid"/>
            <a:headEnd type="none" w="med" len="med"/>
            <a:tailEnd type="none" w="med" len="med"/>
          </a:ln>
        </p:spPr>
        <p:txBody>
          <a:bodyPr wrap="none" anchor="ctr" anchorCtr="0">
            <a:spAutoFit/>
          </a:bodyPr>
          <a:p>
            <a:pPr algn="ctr" eaLnBrk="1" hangingPunct="1"/>
            <a:r>
              <a:rPr lang="zh-CN" altLang="en-US" b="0" dirty="0">
                <a:solidFill>
                  <a:srgbClr val="0000FF"/>
                </a:solidFill>
                <a:latin typeface="Times New Roman" panose="02020603050405020304" pitchFamily="18" charset="0"/>
              </a:rPr>
              <a:t>如何找孩子结点</a:t>
            </a:r>
            <a:endParaRPr lang="zh-CN" altLang="en-US" b="0" dirty="0">
              <a:solidFill>
                <a:srgbClr val="0000FF"/>
              </a:solidFill>
              <a:latin typeface="Times New Roman" panose="02020603050405020304" pitchFamily="18" charset="0"/>
            </a:endParaRPr>
          </a:p>
        </p:txBody>
      </p:sp>
      <p:sp>
        <p:nvSpPr>
          <p:cNvPr id="287752" name="AutoShape 8"/>
          <p:cNvSpPr/>
          <p:nvPr/>
        </p:nvSpPr>
        <p:spPr>
          <a:xfrm>
            <a:off x="2051050" y="5589588"/>
            <a:ext cx="2916238" cy="569912"/>
          </a:xfrm>
          <a:prstGeom prst="cloudCallout">
            <a:avLst>
              <a:gd name="adj1" fmla="val 31819"/>
              <a:gd name="adj2" fmla="val -522704"/>
            </a:avLst>
          </a:prstGeom>
          <a:noFill/>
          <a:ln w="9525" cap="flat" cmpd="sng">
            <a:solidFill>
              <a:srgbClr val="0066FF"/>
            </a:solidFill>
            <a:prstDash val="solid"/>
            <a:headEnd type="none" w="med" len="med"/>
            <a:tailEnd type="none" w="med" len="med"/>
          </a:ln>
        </p:spPr>
        <p:txBody>
          <a:bodyPr wrap="none" anchor="ctr" anchorCtr="0">
            <a:spAutoFit/>
          </a:bodyPr>
          <a:p>
            <a:pPr algn="ctr" eaLnBrk="1" hangingPunct="1"/>
            <a:r>
              <a:rPr lang="zh-CN" altLang="en-US" b="0" dirty="0">
                <a:solidFill>
                  <a:srgbClr val="0000FF"/>
                </a:solidFill>
                <a:latin typeface="Times New Roman" panose="02020603050405020304" pitchFamily="18" charset="0"/>
              </a:rPr>
              <a:t>如何找双亲结点</a:t>
            </a:r>
            <a:endParaRPr lang="zh-CN" altLang="en-US" b="0" dirty="0">
              <a:solidFill>
                <a:srgbClr val="0000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7750"/>
                                        </p:tgtEl>
                                        <p:attrNameLst>
                                          <p:attrName>style.visibility</p:attrName>
                                        </p:attrNameLst>
                                      </p:cBhvr>
                                      <p:to>
                                        <p:strVal val="visible"/>
                                      </p:to>
                                    </p:set>
                                    <p:animEffect transition="in" filter="box(out)">
                                      <p:cBhvr>
                                        <p:cTn id="7" dur="500"/>
                                        <p:tgtEl>
                                          <p:spTgt spid="28775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87752"/>
                                        </p:tgtEl>
                                        <p:attrNameLst>
                                          <p:attrName>style.visibility</p:attrName>
                                        </p:attrNameLst>
                                      </p:cBhvr>
                                      <p:to>
                                        <p:strVal val="visible"/>
                                      </p:to>
                                    </p:set>
                                    <p:animEffect transition="in" filter="box(out)">
                                      <p:cBhvr>
                                        <p:cTn id="12" dur="500"/>
                                        <p:tgtEl>
                                          <p:spTgt spid="287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0" grpId="0" bldLvl="0" animBg="1"/>
      <p:bldP spid="287752"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森林与二叉树的转换</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8877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a:t>
            </a:r>
            <a:r>
              <a:rPr kumimoji="0" lang="en-US"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→二叉树</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森林</a:t>
            </a:r>
            <a:r>
              <a:rPr kumimoji="0" lang="en-US"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→二叉树</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 name="Group 2"/>
          <p:cNvGrpSpPr/>
          <p:nvPr/>
        </p:nvGrpSpPr>
        <p:grpSpPr>
          <a:xfrm>
            <a:off x="0" y="2255838"/>
            <a:ext cx="2944813" cy="1614487"/>
            <a:chOff x="251" y="1978"/>
            <a:chExt cx="1855" cy="1017"/>
          </a:xfrm>
        </p:grpSpPr>
        <p:sp>
          <p:nvSpPr>
            <p:cNvPr id="100456" name="Oval 3"/>
            <p:cNvSpPr/>
            <p:nvPr/>
          </p:nvSpPr>
          <p:spPr>
            <a:xfrm>
              <a:off x="1206" y="197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0457" name="Oval 4"/>
            <p:cNvSpPr/>
            <p:nvPr/>
          </p:nvSpPr>
          <p:spPr>
            <a:xfrm>
              <a:off x="659"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0458" name="Oval 5"/>
            <p:cNvSpPr/>
            <p:nvPr/>
          </p:nvSpPr>
          <p:spPr>
            <a:xfrm>
              <a:off x="1206"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0459" name="Oval 6"/>
            <p:cNvSpPr/>
            <p:nvPr/>
          </p:nvSpPr>
          <p:spPr>
            <a:xfrm>
              <a:off x="1684"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0460" name="Oval 7"/>
            <p:cNvSpPr/>
            <p:nvPr/>
          </p:nvSpPr>
          <p:spPr>
            <a:xfrm>
              <a:off x="251"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0461" name="Oval 8"/>
            <p:cNvSpPr/>
            <p:nvPr/>
          </p:nvSpPr>
          <p:spPr>
            <a:xfrm>
              <a:off x="659"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0462" name="Oval 9"/>
            <p:cNvSpPr/>
            <p:nvPr/>
          </p:nvSpPr>
          <p:spPr>
            <a:xfrm>
              <a:off x="1067"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0463" name="Oval 10"/>
            <p:cNvSpPr/>
            <p:nvPr/>
          </p:nvSpPr>
          <p:spPr>
            <a:xfrm>
              <a:off x="1475"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0464" name="Oval 11"/>
            <p:cNvSpPr/>
            <p:nvPr/>
          </p:nvSpPr>
          <p:spPr>
            <a:xfrm>
              <a:off x="1884"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0828" name="Line 12"/>
            <p:cNvSpPr>
              <a:spLocks noChangeShapeType="1"/>
            </p:cNvSpPr>
            <p:nvPr/>
          </p:nvSpPr>
          <p:spPr bwMode="auto">
            <a:xfrm>
              <a:off x="1311" y="2211"/>
              <a:ext cx="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29" name="Line 13"/>
            <p:cNvSpPr>
              <a:spLocks noChangeShapeType="1"/>
            </p:cNvSpPr>
            <p:nvPr/>
          </p:nvSpPr>
          <p:spPr bwMode="auto">
            <a:xfrm flipH="1">
              <a:off x="822" y="2133"/>
              <a:ext cx="400"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30" name="Line 14"/>
            <p:cNvSpPr>
              <a:spLocks noChangeShapeType="1"/>
            </p:cNvSpPr>
            <p:nvPr/>
          </p:nvSpPr>
          <p:spPr bwMode="auto">
            <a:xfrm>
              <a:off x="1411" y="2144"/>
              <a:ext cx="334" cy="2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31" name="Line 15"/>
            <p:cNvSpPr>
              <a:spLocks noChangeShapeType="1"/>
            </p:cNvSpPr>
            <p:nvPr/>
          </p:nvSpPr>
          <p:spPr bwMode="auto">
            <a:xfrm>
              <a:off x="767" y="2611"/>
              <a:ext cx="0"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32" name="Line 16"/>
            <p:cNvSpPr>
              <a:spLocks noChangeShapeType="1"/>
            </p:cNvSpPr>
            <p:nvPr/>
          </p:nvSpPr>
          <p:spPr bwMode="auto">
            <a:xfrm flipH="1">
              <a:off x="433" y="2555"/>
              <a:ext cx="234"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33" name="Line 17"/>
            <p:cNvSpPr>
              <a:spLocks noChangeShapeType="1"/>
            </p:cNvSpPr>
            <p:nvPr/>
          </p:nvSpPr>
          <p:spPr bwMode="auto">
            <a:xfrm>
              <a:off x="856" y="2555"/>
              <a:ext cx="244" cy="2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34" name="Line 18"/>
            <p:cNvSpPr>
              <a:spLocks noChangeShapeType="1"/>
            </p:cNvSpPr>
            <p:nvPr/>
          </p:nvSpPr>
          <p:spPr bwMode="auto">
            <a:xfrm flipH="1">
              <a:off x="1634" y="2578"/>
              <a:ext cx="111" cy="18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35" name="Line 19"/>
            <p:cNvSpPr>
              <a:spLocks noChangeShapeType="1"/>
            </p:cNvSpPr>
            <p:nvPr/>
          </p:nvSpPr>
          <p:spPr bwMode="auto">
            <a:xfrm>
              <a:off x="1878" y="2589"/>
              <a:ext cx="111" cy="17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3" name="Group 20"/>
          <p:cNvGrpSpPr/>
          <p:nvPr/>
        </p:nvGrpSpPr>
        <p:grpSpPr>
          <a:xfrm>
            <a:off x="3092450" y="2247900"/>
            <a:ext cx="2944813" cy="1614488"/>
            <a:chOff x="251" y="1978"/>
            <a:chExt cx="1855" cy="1017"/>
          </a:xfrm>
        </p:grpSpPr>
        <p:sp>
          <p:nvSpPr>
            <p:cNvPr id="100439" name="Oval 21"/>
            <p:cNvSpPr/>
            <p:nvPr/>
          </p:nvSpPr>
          <p:spPr>
            <a:xfrm>
              <a:off x="1206" y="197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0440" name="Oval 22"/>
            <p:cNvSpPr/>
            <p:nvPr/>
          </p:nvSpPr>
          <p:spPr>
            <a:xfrm>
              <a:off x="659"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0441" name="Oval 23"/>
            <p:cNvSpPr/>
            <p:nvPr/>
          </p:nvSpPr>
          <p:spPr>
            <a:xfrm>
              <a:off x="1206"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0442" name="Oval 24"/>
            <p:cNvSpPr/>
            <p:nvPr/>
          </p:nvSpPr>
          <p:spPr>
            <a:xfrm>
              <a:off x="1684"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0443" name="Oval 25"/>
            <p:cNvSpPr/>
            <p:nvPr/>
          </p:nvSpPr>
          <p:spPr>
            <a:xfrm>
              <a:off x="251"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0444" name="Oval 26"/>
            <p:cNvSpPr/>
            <p:nvPr/>
          </p:nvSpPr>
          <p:spPr>
            <a:xfrm>
              <a:off x="659"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0445" name="Oval 27"/>
            <p:cNvSpPr/>
            <p:nvPr/>
          </p:nvSpPr>
          <p:spPr>
            <a:xfrm>
              <a:off x="1067"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0446" name="Oval 28"/>
            <p:cNvSpPr/>
            <p:nvPr/>
          </p:nvSpPr>
          <p:spPr>
            <a:xfrm>
              <a:off x="1475"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0447" name="Oval 29"/>
            <p:cNvSpPr/>
            <p:nvPr/>
          </p:nvSpPr>
          <p:spPr>
            <a:xfrm>
              <a:off x="1884"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0846" name="Line 30"/>
            <p:cNvSpPr>
              <a:spLocks noChangeShapeType="1"/>
            </p:cNvSpPr>
            <p:nvPr/>
          </p:nvSpPr>
          <p:spPr bwMode="auto">
            <a:xfrm>
              <a:off x="1311" y="2211"/>
              <a:ext cx="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47" name="Line 31"/>
            <p:cNvSpPr>
              <a:spLocks noChangeShapeType="1"/>
            </p:cNvSpPr>
            <p:nvPr/>
          </p:nvSpPr>
          <p:spPr bwMode="auto">
            <a:xfrm flipH="1">
              <a:off x="822" y="2133"/>
              <a:ext cx="400"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48" name="Line 32"/>
            <p:cNvSpPr>
              <a:spLocks noChangeShapeType="1"/>
            </p:cNvSpPr>
            <p:nvPr/>
          </p:nvSpPr>
          <p:spPr bwMode="auto">
            <a:xfrm>
              <a:off x="1411" y="2144"/>
              <a:ext cx="334" cy="2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49" name="Line 33"/>
            <p:cNvSpPr>
              <a:spLocks noChangeShapeType="1"/>
            </p:cNvSpPr>
            <p:nvPr/>
          </p:nvSpPr>
          <p:spPr bwMode="auto">
            <a:xfrm>
              <a:off x="767" y="2611"/>
              <a:ext cx="0"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0" name="Line 34"/>
            <p:cNvSpPr>
              <a:spLocks noChangeShapeType="1"/>
            </p:cNvSpPr>
            <p:nvPr/>
          </p:nvSpPr>
          <p:spPr bwMode="auto">
            <a:xfrm flipH="1">
              <a:off x="433" y="2555"/>
              <a:ext cx="234"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1" name="Line 35"/>
            <p:cNvSpPr>
              <a:spLocks noChangeShapeType="1"/>
            </p:cNvSpPr>
            <p:nvPr/>
          </p:nvSpPr>
          <p:spPr bwMode="auto">
            <a:xfrm>
              <a:off x="856" y="2555"/>
              <a:ext cx="244" cy="2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2" name="Line 36"/>
            <p:cNvSpPr>
              <a:spLocks noChangeShapeType="1"/>
            </p:cNvSpPr>
            <p:nvPr/>
          </p:nvSpPr>
          <p:spPr bwMode="auto">
            <a:xfrm flipH="1">
              <a:off x="1634" y="2578"/>
              <a:ext cx="111" cy="18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3" name="Line 37"/>
            <p:cNvSpPr>
              <a:spLocks noChangeShapeType="1"/>
            </p:cNvSpPr>
            <p:nvPr/>
          </p:nvSpPr>
          <p:spPr bwMode="auto">
            <a:xfrm>
              <a:off x="1878" y="2589"/>
              <a:ext cx="111" cy="17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0854" name="Line 38"/>
          <p:cNvSpPr>
            <a:spLocks noChangeShapeType="1"/>
          </p:cNvSpPr>
          <p:nvPr/>
        </p:nvSpPr>
        <p:spPr bwMode="auto">
          <a:xfrm>
            <a:off x="4095750" y="3100388"/>
            <a:ext cx="511175"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5" name="Line 39"/>
          <p:cNvSpPr>
            <a:spLocks noChangeShapeType="1"/>
          </p:cNvSpPr>
          <p:nvPr/>
        </p:nvSpPr>
        <p:spPr bwMode="auto">
          <a:xfrm>
            <a:off x="4976813" y="3100388"/>
            <a:ext cx="388938"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6" name="Line 40"/>
          <p:cNvSpPr>
            <a:spLocks noChangeShapeType="1"/>
          </p:cNvSpPr>
          <p:nvPr/>
        </p:nvSpPr>
        <p:spPr bwMode="auto">
          <a:xfrm>
            <a:off x="3443288" y="3683000"/>
            <a:ext cx="298450"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7" name="Line 41"/>
          <p:cNvSpPr>
            <a:spLocks noChangeShapeType="1"/>
          </p:cNvSpPr>
          <p:nvPr/>
        </p:nvSpPr>
        <p:spPr bwMode="auto">
          <a:xfrm>
            <a:off x="4095750" y="3700463"/>
            <a:ext cx="300038"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58" name="Line 42"/>
          <p:cNvSpPr>
            <a:spLocks noChangeShapeType="1"/>
          </p:cNvSpPr>
          <p:nvPr/>
        </p:nvSpPr>
        <p:spPr bwMode="auto">
          <a:xfrm>
            <a:off x="5383213" y="3683000"/>
            <a:ext cx="300038"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4" name="Group 43"/>
          <p:cNvGrpSpPr/>
          <p:nvPr/>
        </p:nvGrpSpPr>
        <p:grpSpPr>
          <a:xfrm>
            <a:off x="6199188" y="2209800"/>
            <a:ext cx="2944812" cy="1614488"/>
            <a:chOff x="3905" y="1393"/>
            <a:chExt cx="1855" cy="1017"/>
          </a:xfrm>
        </p:grpSpPr>
        <p:grpSp>
          <p:nvGrpSpPr>
            <p:cNvPr id="100416" name="Group 44"/>
            <p:cNvGrpSpPr/>
            <p:nvPr/>
          </p:nvGrpSpPr>
          <p:grpSpPr>
            <a:xfrm>
              <a:off x="3905" y="1393"/>
              <a:ext cx="1855" cy="1017"/>
              <a:chOff x="251" y="1978"/>
              <a:chExt cx="1855" cy="1017"/>
            </a:xfrm>
          </p:grpSpPr>
          <p:sp>
            <p:nvSpPr>
              <p:cNvPr id="100422" name="Oval 45"/>
              <p:cNvSpPr/>
              <p:nvPr/>
            </p:nvSpPr>
            <p:spPr>
              <a:xfrm>
                <a:off x="1206" y="197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0423" name="Oval 46"/>
              <p:cNvSpPr/>
              <p:nvPr/>
            </p:nvSpPr>
            <p:spPr>
              <a:xfrm>
                <a:off x="659"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0424" name="Oval 47"/>
              <p:cNvSpPr/>
              <p:nvPr/>
            </p:nvSpPr>
            <p:spPr>
              <a:xfrm>
                <a:off x="1206"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0425" name="Oval 48"/>
              <p:cNvSpPr/>
              <p:nvPr/>
            </p:nvSpPr>
            <p:spPr>
              <a:xfrm>
                <a:off x="1684"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0426" name="Oval 49"/>
              <p:cNvSpPr/>
              <p:nvPr/>
            </p:nvSpPr>
            <p:spPr>
              <a:xfrm>
                <a:off x="251"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0427" name="Oval 50"/>
              <p:cNvSpPr/>
              <p:nvPr/>
            </p:nvSpPr>
            <p:spPr>
              <a:xfrm>
                <a:off x="659"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0428" name="Oval 51"/>
              <p:cNvSpPr/>
              <p:nvPr/>
            </p:nvSpPr>
            <p:spPr>
              <a:xfrm>
                <a:off x="1067"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0429" name="Oval 52"/>
              <p:cNvSpPr/>
              <p:nvPr/>
            </p:nvSpPr>
            <p:spPr>
              <a:xfrm>
                <a:off x="1475"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0430" name="Oval 53"/>
              <p:cNvSpPr/>
              <p:nvPr/>
            </p:nvSpPr>
            <p:spPr>
              <a:xfrm>
                <a:off x="1884"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0870" name="Line 54"/>
              <p:cNvSpPr>
                <a:spLocks noChangeShapeType="1"/>
              </p:cNvSpPr>
              <p:nvPr/>
            </p:nvSpPr>
            <p:spPr bwMode="auto">
              <a:xfrm>
                <a:off x="1311" y="2211"/>
                <a:ext cx="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1" name="Line 55"/>
              <p:cNvSpPr>
                <a:spLocks noChangeShapeType="1"/>
              </p:cNvSpPr>
              <p:nvPr/>
            </p:nvSpPr>
            <p:spPr bwMode="auto">
              <a:xfrm flipH="1">
                <a:off x="822" y="2133"/>
                <a:ext cx="400"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2" name="Line 56"/>
              <p:cNvSpPr>
                <a:spLocks noChangeShapeType="1"/>
              </p:cNvSpPr>
              <p:nvPr/>
            </p:nvSpPr>
            <p:spPr bwMode="auto">
              <a:xfrm>
                <a:off x="1411" y="2144"/>
                <a:ext cx="334" cy="2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3" name="Line 57"/>
              <p:cNvSpPr>
                <a:spLocks noChangeShapeType="1"/>
              </p:cNvSpPr>
              <p:nvPr/>
            </p:nvSpPr>
            <p:spPr bwMode="auto">
              <a:xfrm>
                <a:off x="767" y="2611"/>
                <a:ext cx="0"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4" name="Line 58"/>
              <p:cNvSpPr>
                <a:spLocks noChangeShapeType="1"/>
              </p:cNvSpPr>
              <p:nvPr/>
            </p:nvSpPr>
            <p:spPr bwMode="auto">
              <a:xfrm flipH="1">
                <a:off x="433" y="2555"/>
                <a:ext cx="234"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5" name="Line 59"/>
              <p:cNvSpPr>
                <a:spLocks noChangeShapeType="1"/>
              </p:cNvSpPr>
              <p:nvPr/>
            </p:nvSpPr>
            <p:spPr bwMode="auto">
              <a:xfrm>
                <a:off x="856" y="2555"/>
                <a:ext cx="244" cy="2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6" name="Line 60"/>
              <p:cNvSpPr>
                <a:spLocks noChangeShapeType="1"/>
              </p:cNvSpPr>
              <p:nvPr/>
            </p:nvSpPr>
            <p:spPr bwMode="auto">
              <a:xfrm flipH="1">
                <a:off x="1634" y="2578"/>
                <a:ext cx="111" cy="18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7" name="Line 61"/>
              <p:cNvSpPr>
                <a:spLocks noChangeShapeType="1"/>
              </p:cNvSpPr>
              <p:nvPr/>
            </p:nvSpPr>
            <p:spPr bwMode="auto">
              <a:xfrm>
                <a:off x="1878" y="2589"/>
                <a:ext cx="111" cy="17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0878" name="Line 62"/>
            <p:cNvSpPr>
              <a:spLocks noChangeShapeType="1"/>
            </p:cNvSpPr>
            <p:nvPr/>
          </p:nvSpPr>
          <p:spPr bwMode="auto">
            <a:xfrm>
              <a:off x="4537" y="1930"/>
              <a:ext cx="322"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79" name="Line 63"/>
            <p:cNvSpPr>
              <a:spLocks noChangeShapeType="1"/>
            </p:cNvSpPr>
            <p:nvPr/>
          </p:nvSpPr>
          <p:spPr bwMode="auto">
            <a:xfrm>
              <a:off x="5092" y="1930"/>
              <a:ext cx="245"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80" name="Line 64"/>
            <p:cNvSpPr>
              <a:spLocks noChangeShapeType="1"/>
            </p:cNvSpPr>
            <p:nvPr/>
          </p:nvSpPr>
          <p:spPr bwMode="auto">
            <a:xfrm>
              <a:off x="4126" y="2297"/>
              <a:ext cx="188"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81" name="Line 65"/>
            <p:cNvSpPr>
              <a:spLocks noChangeShapeType="1"/>
            </p:cNvSpPr>
            <p:nvPr/>
          </p:nvSpPr>
          <p:spPr bwMode="auto">
            <a:xfrm>
              <a:off x="4537" y="2308"/>
              <a:ext cx="189"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82" name="Line 66"/>
            <p:cNvSpPr>
              <a:spLocks noChangeShapeType="1"/>
            </p:cNvSpPr>
            <p:nvPr/>
          </p:nvSpPr>
          <p:spPr bwMode="auto">
            <a:xfrm>
              <a:off x="5348" y="2297"/>
              <a:ext cx="189"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6" name="Group 67"/>
          <p:cNvGrpSpPr/>
          <p:nvPr/>
        </p:nvGrpSpPr>
        <p:grpSpPr>
          <a:xfrm>
            <a:off x="7783513" y="2586038"/>
            <a:ext cx="176212" cy="176212"/>
            <a:chOff x="1978" y="3911"/>
            <a:chExt cx="111" cy="111"/>
          </a:xfrm>
        </p:grpSpPr>
        <p:sp>
          <p:nvSpPr>
            <p:cNvPr id="290884" name="Line 68"/>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85" name="Line 69"/>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7" name="Group 70"/>
          <p:cNvGrpSpPr/>
          <p:nvPr/>
        </p:nvGrpSpPr>
        <p:grpSpPr>
          <a:xfrm>
            <a:off x="8189913" y="2587625"/>
            <a:ext cx="176212" cy="176213"/>
            <a:chOff x="1978" y="3911"/>
            <a:chExt cx="111" cy="111"/>
          </a:xfrm>
        </p:grpSpPr>
        <p:sp>
          <p:nvSpPr>
            <p:cNvPr id="290887" name="Line 71"/>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88" name="Line 72"/>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8" name="Group 73"/>
          <p:cNvGrpSpPr/>
          <p:nvPr/>
        </p:nvGrpSpPr>
        <p:grpSpPr>
          <a:xfrm>
            <a:off x="6937375" y="3275013"/>
            <a:ext cx="176213" cy="176212"/>
            <a:chOff x="1978" y="3911"/>
            <a:chExt cx="111" cy="111"/>
          </a:xfrm>
        </p:grpSpPr>
        <p:sp>
          <p:nvSpPr>
            <p:cNvPr id="290890" name="Line 74"/>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91" name="Line 75"/>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9" name="Group 76"/>
          <p:cNvGrpSpPr/>
          <p:nvPr/>
        </p:nvGrpSpPr>
        <p:grpSpPr>
          <a:xfrm>
            <a:off x="7289800" y="3240088"/>
            <a:ext cx="176213" cy="176212"/>
            <a:chOff x="1978" y="3911"/>
            <a:chExt cx="111" cy="111"/>
          </a:xfrm>
        </p:grpSpPr>
        <p:sp>
          <p:nvSpPr>
            <p:cNvPr id="290893" name="Line 77"/>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94" name="Line 78"/>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 name="Group 79"/>
          <p:cNvGrpSpPr/>
          <p:nvPr/>
        </p:nvGrpSpPr>
        <p:grpSpPr>
          <a:xfrm>
            <a:off x="8770938" y="3222625"/>
            <a:ext cx="176212" cy="176213"/>
            <a:chOff x="1978" y="3911"/>
            <a:chExt cx="111" cy="111"/>
          </a:xfrm>
        </p:grpSpPr>
        <p:sp>
          <p:nvSpPr>
            <p:cNvPr id="290896" name="Line 80"/>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897" name="Line 81"/>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1" name="Group 82"/>
          <p:cNvGrpSpPr/>
          <p:nvPr/>
        </p:nvGrpSpPr>
        <p:grpSpPr>
          <a:xfrm>
            <a:off x="384175" y="4430713"/>
            <a:ext cx="2944813" cy="1614487"/>
            <a:chOff x="2320" y="3081"/>
            <a:chExt cx="1855" cy="1017"/>
          </a:xfrm>
        </p:grpSpPr>
        <p:sp>
          <p:nvSpPr>
            <p:cNvPr id="100389" name="Oval 83"/>
            <p:cNvSpPr/>
            <p:nvPr/>
          </p:nvSpPr>
          <p:spPr>
            <a:xfrm>
              <a:off x="3275" y="308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0390" name="Oval 84"/>
            <p:cNvSpPr/>
            <p:nvPr/>
          </p:nvSpPr>
          <p:spPr>
            <a:xfrm>
              <a:off x="2728" y="347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0391" name="Oval 85"/>
            <p:cNvSpPr/>
            <p:nvPr/>
          </p:nvSpPr>
          <p:spPr>
            <a:xfrm>
              <a:off x="3275" y="347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0392" name="Oval 86"/>
            <p:cNvSpPr/>
            <p:nvPr/>
          </p:nvSpPr>
          <p:spPr>
            <a:xfrm>
              <a:off x="3753" y="347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0393" name="Oval 87"/>
            <p:cNvSpPr/>
            <p:nvPr/>
          </p:nvSpPr>
          <p:spPr>
            <a:xfrm>
              <a:off x="2320" y="386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0394" name="Oval 88"/>
            <p:cNvSpPr/>
            <p:nvPr/>
          </p:nvSpPr>
          <p:spPr>
            <a:xfrm>
              <a:off x="2728" y="386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0395" name="Oval 89"/>
            <p:cNvSpPr/>
            <p:nvPr/>
          </p:nvSpPr>
          <p:spPr>
            <a:xfrm>
              <a:off x="3136" y="386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0396" name="Oval 90"/>
            <p:cNvSpPr/>
            <p:nvPr/>
          </p:nvSpPr>
          <p:spPr>
            <a:xfrm>
              <a:off x="3544" y="386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0397" name="Oval 91"/>
            <p:cNvSpPr/>
            <p:nvPr/>
          </p:nvSpPr>
          <p:spPr>
            <a:xfrm>
              <a:off x="3953" y="386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0908" name="Line 92"/>
            <p:cNvSpPr>
              <a:spLocks noChangeShapeType="1"/>
            </p:cNvSpPr>
            <p:nvPr/>
          </p:nvSpPr>
          <p:spPr bwMode="auto">
            <a:xfrm flipH="1">
              <a:off x="2891" y="3236"/>
              <a:ext cx="400"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09" name="Line 93"/>
            <p:cNvSpPr>
              <a:spLocks noChangeShapeType="1"/>
            </p:cNvSpPr>
            <p:nvPr/>
          </p:nvSpPr>
          <p:spPr bwMode="auto">
            <a:xfrm flipH="1">
              <a:off x="2502" y="3658"/>
              <a:ext cx="234"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10" name="Line 94"/>
            <p:cNvSpPr>
              <a:spLocks noChangeShapeType="1"/>
            </p:cNvSpPr>
            <p:nvPr/>
          </p:nvSpPr>
          <p:spPr bwMode="auto">
            <a:xfrm flipH="1">
              <a:off x="3703" y="3681"/>
              <a:ext cx="111" cy="18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11" name="Line 95"/>
            <p:cNvSpPr>
              <a:spLocks noChangeShapeType="1"/>
            </p:cNvSpPr>
            <p:nvPr/>
          </p:nvSpPr>
          <p:spPr bwMode="auto">
            <a:xfrm>
              <a:off x="2952" y="3618"/>
              <a:ext cx="322"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12" name="Line 96"/>
            <p:cNvSpPr>
              <a:spLocks noChangeShapeType="1"/>
            </p:cNvSpPr>
            <p:nvPr/>
          </p:nvSpPr>
          <p:spPr bwMode="auto">
            <a:xfrm>
              <a:off x="3507" y="3618"/>
              <a:ext cx="245"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13" name="Line 97"/>
            <p:cNvSpPr>
              <a:spLocks noChangeShapeType="1"/>
            </p:cNvSpPr>
            <p:nvPr/>
          </p:nvSpPr>
          <p:spPr bwMode="auto">
            <a:xfrm>
              <a:off x="2541" y="3985"/>
              <a:ext cx="188"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14" name="Line 98"/>
            <p:cNvSpPr>
              <a:spLocks noChangeShapeType="1"/>
            </p:cNvSpPr>
            <p:nvPr/>
          </p:nvSpPr>
          <p:spPr bwMode="auto">
            <a:xfrm>
              <a:off x="2952" y="3996"/>
              <a:ext cx="189"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15" name="Line 99"/>
            <p:cNvSpPr>
              <a:spLocks noChangeShapeType="1"/>
            </p:cNvSpPr>
            <p:nvPr/>
          </p:nvSpPr>
          <p:spPr bwMode="auto">
            <a:xfrm>
              <a:off x="3763" y="3985"/>
              <a:ext cx="189"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2" name="Group 100"/>
          <p:cNvGrpSpPr/>
          <p:nvPr/>
        </p:nvGrpSpPr>
        <p:grpSpPr>
          <a:xfrm>
            <a:off x="4679950" y="4070350"/>
            <a:ext cx="2260600" cy="2786063"/>
            <a:chOff x="2948" y="2565"/>
            <a:chExt cx="1424" cy="1755"/>
          </a:xfrm>
        </p:grpSpPr>
        <p:sp>
          <p:nvSpPr>
            <p:cNvPr id="100372" name="Oval 101"/>
            <p:cNvSpPr/>
            <p:nvPr/>
          </p:nvSpPr>
          <p:spPr>
            <a:xfrm>
              <a:off x="3614" y="256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0373" name="Oval 102"/>
            <p:cNvSpPr/>
            <p:nvPr/>
          </p:nvSpPr>
          <p:spPr>
            <a:xfrm>
              <a:off x="3256" y="282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0374" name="Oval 103"/>
            <p:cNvSpPr/>
            <p:nvPr/>
          </p:nvSpPr>
          <p:spPr>
            <a:xfrm>
              <a:off x="3580" y="3106"/>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0375" name="Oval 104"/>
            <p:cNvSpPr/>
            <p:nvPr/>
          </p:nvSpPr>
          <p:spPr>
            <a:xfrm>
              <a:off x="3903" y="340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0376" name="Oval 105"/>
            <p:cNvSpPr/>
            <p:nvPr/>
          </p:nvSpPr>
          <p:spPr>
            <a:xfrm>
              <a:off x="2948" y="3106"/>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0377" name="Oval 106"/>
            <p:cNvSpPr/>
            <p:nvPr/>
          </p:nvSpPr>
          <p:spPr>
            <a:xfrm>
              <a:off x="3223" y="340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0378" name="Oval 107"/>
            <p:cNvSpPr/>
            <p:nvPr/>
          </p:nvSpPr>
          <p:spPr>
            <a:xfrm>
              <a:off x="3452" y="376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0379" name="Oval 108"/>
            <p:cNvSpPr/>
            <p:nvPr/>
          </p:nvSpPr>
          <p:spPr>
            <a:xfrm>
              <a:off x="3805" y="377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0380" name="Oval 109"/>
            <p:cNvSpPr/>
            <p:nvPr/>
          </p:nvSpPr>
          <p:spPr>
            <a:xfrm>
              <a:off x="4150" y="408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0926" name="Line 110"/>
            <p:cNvSpPr>
              <a:spLocks noChangeShapeType="1"/>
            </p:cNvSpPr>
            <p:nvPr/>
          </p:nvSpPr>
          <p:spPr bwMode="auto">
            <a:xfrm flipH="1">
              <a:off x="3445" y="2722"/>
              <a:ext cx="167" cy="167"/>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27" name="Line 111"/>
            <p:cNvSpPr>
              <a:spLocks noChangeShapeType="1"/>
            </p:cNvSpPr>
            <p:nvPr/>
          </p:nvSpPr>
          <p:spPr bwMode="auto">
            <a:xfrm flipH="1">
              <a:off x="3134" y="3033"/>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28" name="Line 112"/>
            <p:cNvSpPr>
              <a:spLocks noChangeShapeType="1"/>
            </p:cNvSpPr>
            <p:nvPr/>
          </p:nvSpPr>
          <p:spPr bwMode="auto">
            <a:xfrm>
              <a:off x="3134" y="3300"/>
              <a:ext cx="133"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29" name="Line 113"/>
            <p:cNvSpPr>
              <a:spLocks noChangeShapeType="1"/>
            </p:cNvSpPr>
            <p:nvPr/>
          </p:nvSpPr>
          <p:spPr bwMode="auto">
            <a:xfrm>
              <a:off x="3400" y="3600"/>
              <a:ext cx="156"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30" name="Line 114"/>
            <p:cNvSpPr>
              <a:spLocks noChangeShapeType="1"/>
            </p:cNvSpPr>
            <p:nvPr/>
          </p:nvSpPr>
          <p:spPr bwMode="auto">
            <a:xfrm>
              <a:off x="3445" y="3022"/>
              <a:ext cx="144"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31" name="Line 115"/>
            <p:cNvSpPr>
              <a:spLocks noChangeShapeType="1"/>
            </p:cNvSpPr>
            <p:nvPr/>
          </p:nvSpPr>
          <p:spPr bwMode="auto">
            <a:xfrm>
              <a:off x="3745" y="3333"/>
              <a:ext cx="167"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32" name="Line 116"/>
            <p:cNvSpPr>
              <a:spLocks noChangeShapeType="1"/>
            </p:cNvSpPr>
            <p:nvPr/>
          </p:nvSpPr>
          <p:spPr bwMode="auto">
            <a:xfrm flipH="1">
              <a:off x="3934" y="3633"/>
              <a:ext cx="67"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0933" name="Line 117"/>
            <p:cNvSpPr>
              <a:spLocks noChangeShapeType="1"/>
            </p:cNvSpPr>
            <p:nvPr/>
          </p:nvSpPr>
          <p:spPr bwMode="auto">
            <a:xfrm>
              <a:off x="3989" y="3966"/>
              <a:ext cx="156" cy="1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0934" name="Text Box 118"/>
          <p:cNvSpPr txBox="1"/>
          <p:nvPr/>
        </p:nvSpPr>
        <p:spPr>
          <a:xfrm>
            <a:off x="642938" y="6218238"/>
            <a:ext cx="4286250" cy="434975"/>
          </a:xfrm>
          <a:prstGeom prst="rect">
            <a:avLst/>
          </a:prstGeom>
          <a:noFill/>
          <a:ln w="38100" cap="flat" cmpd="sng">
            <a:solidFill>
              <a:srgbClr val="0066FF"/>
            </a:solidFill>
            <a:prstDash val="solid"/>
            <a:miter/>
            <a:headEnd type="none" w="med" len="med"/>
            <a:tailEnd type="none" w="med" len="med"/>
          </a:ln>
        </p:spPr>
        <p:txBody>
          <a:bodyPr wrap="none" anchor="ctr" anchorCtr="0">
            <a:spAutoFit/>
          </a:bodyPr>
          <a:p>
            <a:pPr algn="ctr"/>
            <a:r>
              <a:rPr lang="zh-CN" altLang="en-US" b="0" dirty="0">
                <a:solidFill>
                  <a:schemeClr val="tx1"/>
                </a:solidFill>
                <a:latin typeface="Times New Roman" panose="02020603050405020304" pitchFamily="18" charset="0"/>
              </a:rPr>
              <a:t>树转换成的二叉树其右子树一定为空</a:t>
            </a:r>
            <a:endParaRPr lang="zh-CN" altLang="en-US" b="0" dirty="0">
              <a:solidFill>
                <a:schemeClr val="tx1"/>
              </a:solidFill>
              <a:latin typeface="Times New Roman" panose="02020603050405020304" pitchFamily="18" charset="0"/>
            </a:endParaRPr>
          </a:p>
        </p:txBody>
      </p:sp>
      <p:sp>
        <p:nvSpPr>
          <p:cNvPr id="290935" name="Rectangle 119"/>
          <p:cNvSpPr>
            <a:spLocks noChangeArrowheads="1"/>
          </p:cNvSpPr>
          <p:nvPr/>
        </p:nvSpPr>
        <p:spPr bwMode="auto">
          <a:xfrm>
            <a:off x="0" y="304800"/>
            <a:ext cx="9144000" cy="4572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
              <a:defRPr/>
            </a:pPr>
            <a:r>
              <a:rPr kumimoji="1" lang="en-US" altLang="zh-CN"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 </a:t>
            </a:r>
            <a:r>
              <a:rPr kumimoji="1"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树转换为二叉树 </a:t>
            </a:r>
            <a:endParaRPr kumimoji="1"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p:txBody>
      </p:sp>
      <p:sp>
        <p:nvSpPr>
          <p:cNvPr id="100371" name="Rectangle 120"/>
          <p:cNvSpPr/>
          <p:nvPr/>
        </p:nvSpPr>
        <p:spPr>
          <a:xfrm>
            <a:off x="0" y="762000"/>
            <a:ext cx="9144000" cy="1570038"/>
          </a:xfrm>
          <a:prstGeom prst="rect">
            <a:avLst/>
          </a:prstGeom>
          <a:noFill/>
          <a:ln w="9525">
            <a:noFill/>
          </a:ln>
        </p:spPr>
        <p:txBody>
          <a:bodyPr>
            <a:spAutoFit/>
          </a:bodyPr>
          <a:p>
            <a:pPr lvl="1" eaLnBrk="1" hangingPunct="1">
              <a:buFont typeface="Wingdings" panose="05000000000000000000" pitchFamily="2" charset="2"/>
              <a:buChar char="v"/>
            </a:pPr>
            <a:r>
              <a:rPr lang="en-US" altLang="zh-CN" sz="2400" dirty="0">
                <a:solidFill>
                  <a:srgbClr val="0000FF"/>
                </a:solidFill>
                <a:latin typeface="楷体_GB2312" pitchFamily="49" charset="-122"/>
                <a:ea typeface="楷体_GB2312" pitchFamily="49" charset="-122"/>
              </a:rPr>
              <a:t> </a:t>
            </a:r>
            <a:r>
              <a:rPr lang="zh-CN" altLang="en-US" sz="2400" dirty="0">
                <a:solidFill>
                  <a:srgbClr val="0000FF"/>
                </a:solidFill>
                <a:latin typeface="楷体_GB2312" pitchFamily="49" charset="-122"/>
                <a:ea typeface="楷体_GB2312" pitchFamily="49" charset="-122"/>
              </a:rPr>
              <a:t>加线：在树中所有相邻的</a:t>
            </a:r>
            <a:r>
              <a:rPr lang="zh-CN" altLang="en-US" sz="2400" dirty="0">
                <a:solidFill>
                  <a:srgbClr val="FF0000"/>
                </a:solidFill>
                <a:latin typeface="楷体_GB2312" pitchFamily="49" charset="-122"/>
                <a:ea typeface="楷体_GB2312" pitchFamily="49" charset="-122"/>
              </a:rPr>
              <a:t>（亲）</a:t>
            </a:r>
            <a:r>
              <a:rPr lang="zh-CN" altLang="en-US" sz="2400" dirty="0">
                <a:solidFill>
                  <a:srgbClr val="0000FF"/>
                </a:solidFill>
                <a:latin typeface="楷体_GB2312" pitchFamily="49" charset="-122"/>
                <a:ea typeface="楷体_GB2312" pitchFamily="49" charset="-122"/>
              </a:rPr>
              <a:t>兄弟之间加一连线；</a:t>
            </a:r>
            <a:endParaRPr lang="zh-CN" altLang="en-US" sz="2400" dirty="0">
              <a:solidFill>
                <a:srgbClr val="0000FF"/>
              </a:solidFill>
              <a:latin typeface="楷体_GB2312" pitchFamily="49" charset="-122"/>
              <a:ea typeface="楷体_GB2312" pitchFamily="49" charset="-122"/>
            </a:endParaRPr>
          </a:p>
          <a:p>
            <a:pPr lvl="1" eaLnBrk="1" hangingPunct="1">
              <a:buFont typeface="Wingdings" panose="05000000000000000000" pitchFamily="2" charset="2"/>
              <a:buChar char="v"/>
            </a:pPr>
            <a:r>
              <a:rPr lang="zh-CN" altLang="en-US" sz="2400" dirty="0">
                <a:solidFill>
                  <a:srgbClr val="0000FF"/>
                </a:solidFill>
                <a:latin typeface="楷体_GB2312" pitchFamily="49" charset="-122"/>
                <a:ea typeface="楷体_GB2312" pitchFamily="49" charset="-122"/>
              </a:rPr>
              <a:t> 抹线：对树中每个结点，除了其左孩子外抹去该结点与其余孩子之间的连线。</a:t>
            </a:r>
            <a:endParaRPr lang="zh-CN" altLang="en-US" sz="2400" dirty="0">
              <a:solidFill>
                <a:srgbClr val="0000FF"/>
              </a:solidFill>
              <a:latin typeface="楷体_GB2312" pitchFamily="49" charset="-122"/>
              <a:ea typeface="楷体_GB2312" pitchFamily="49" charset="-122"/>
            </a:endParaRPr>
          </a:p>
          <a:p>
            <a:pPr lvl="1" eaLnBrk="1" hangingPunct="1">
              <a:buFont typeface="Wingdings" panose="05000000000000000000" pitchFamily="2" charset="2"/>
              <a:buChar char="v"/>
            </a:pPr>
            <a:r>
              <a:rPr lang="zh-CN" altLang="en-US" sz="2400" dirty="0">
                <a:solidFill>
                  <a:srgbClr val="0000FF"/>
                </a:solidFill>
                <a:latin typeface="楷体_GB2312" pitchFamily="49" charset="-122"/>
                <a:ea typeface="楷体_GB2312" pitchFamily="49" charset="-122"/>
              </a:rPr>
              <a:t> 整理：以树的根结点为轴心，将整树顺时针转</a:t>
            </a:r>
            <a:r>
              <a:rPr lang="en-US" altLang="zh-CN" sz="2400" dirty="0">
                <a:solidFill>
                  <a:srgbClr val="0000FF"/>
                </a:solidFill>
                <a:latin typeface="楷体_GB2312" pitchFamily="49" charset="-122"/>
                <a:ea typeface="楷体_GB2312" pitchFamily="49" charset="-122"/>
              </a:rPr>
              <a:t>45°</a:t>
            </a:r>
            <a:r>
              <a:rPr lang="zh-CN" altLang="en-US" sz="2400" dirty="0">
                <a:solidFill>
                  <a:srgbClr val="0000FF"/>
                </a:solidFill>
                <a:latin typeface="楷体_GB2312" pitchFamily="49" charset="-122"/>
                <a:ea typeface="楷体_GB2312" pitchFamily="49" charset="-122"/>
              </a:rPr>
              <a:t>。 </a:t>
            </a:r>
            <a:endParaRPr lang="zh-CN" altLang="en-US" sz="2400" dirty="0">
              <a:solidFill>
                <a:srgbClr val="0000FF"/>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ox(ou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290854"/>
                                        </p:tgtEl>
                                        <p:attrNameLst>
                                          <p:attrName>style.visibility</p:attrName>
                                        </p:attrNameLst>
                                      </p:cBhvr>
                                      <p:to>
                                        <p:strVal val="visible"/>
                                      </p:to>
                                    </p:set>
                                    <p:animEffect transition="in" filter="box(out)">
                                      <p:cBhvr>
                                        <p:cTn id="18" dur="500"/>
                                        <p:tgtEl>
                                          <p:spTgt spid="290854"/>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290855"/>
                                        </p:tgtEl>
                                        <p:attrNameLst>
                                          <p:attrName>style.visibility</p:attrName>
                                        </p:attrNameLst>
                                      </p:cBhvr>
                                      <p:to>
                                        <p:strVal val="visible"/>
                                      </p:to>
                                    </p:set>
                                    <p:animEffect transition="in" filter="box(out)">
                                      <p:cBhvr>
                                        <p:cTn id="23" dur="500"/>
                                        <p:tgtEl>
                                          <p:spTgt spid="29085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290856"/>
                                        </p:tgtEl>
                                        <p:attrNameLst>
                                          <p:attrName>style.visibility</p:attrName>
                                        </p:attrNameLst>
                                      </p:cBhvr>
                                      <p:to>
                                        <p:strVal val="visible"/>
                                      </p:to>
                                    </p:set>
                                    <p:animEffect transition="in" filter="box(out)">
                                      <p:cBhvr>
                                        <p:cTn id="28" dur="500"/>
                                        <p:tgtEl>
                                          <p:spTgt spid="290856"/>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290857"/>
                                        </p:tgtEl>
                                        <p:attrNameLst>
                                          <p:attrName>style.visibility</p:attrName>
                                        </p:attrNameLst>
                                      </p:cBhvr>
                                      <p:to>
                                        <p:strVal val="visible"/>
                                      </p:to>
                                    </p:set>
                                    <p:animEffect transition="in" filter="box(out)">
                                      <p:cBhvr>
                                        <p:cTn id="33" dur="500"/>
                                        <p:tgtEl>
                                          <p:spTgt spid="290857"/>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290858"/>
                                        </p:tgtEl>
                                        <p:attrNameLst>
                                          <p:attrName>style.visibility</p:attrName>
                                        </p:attrNameLst>
                                      </p:cBhvr>
                                      <p:to>
                                        <p:strVal val="visible"/>
                                      </p:to>
                                    </p:set>
                                    <p:animEffect transition="in" filter="box(out)">
                                      <p:cBhvr>
                                        <p:cTn id="38" dur="500"/>
                                        <p:tgtEl>
                                          <p:spTgt spid="290858"/>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box(out)">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32"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box(out)">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ox(out)">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box(out)">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32"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box(out)">
                                      <p:cBhvr>
                                        <p:cTn id="63" dur="5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box(out)">
                                      <p:cBhvr>
                                        <p:cTn id="68" dur="500"/>
                                        <p:tgtEl>
                                          <p:spTgt spid="10"/>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0-#ppt_w/2"/>
                                          </p:val>
                                        </p:tav>
                                        <p:tav tm="100000">
                                          <p:val>
                                            <p:strVal val="#ppt_x"/>
                                          </p:val>
                                        </p:tav>
                                      </p:tavLst>
                                    </p:anim>
                                    <p:anim calcmode="lin" valueType="num">
                                      <p:cBhvr additive="base">
                                        <p:cTn id="7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additive="base">
                                        <p:cTn id="79" dur="500" fill="hold"/>
                                        <p:tgtEl>
                                          <p:spTgt spid="12"/>
                                        </p:tgtEl>
                                        <p:attrNameLst>
                                          <p:attrName>ppt_x</p:attrName>
                                        </p:attrNameLst>
                                      </p:cBhvr>
                                      <p:tavLst>
                                        <p:tav tm="0">
                                          <p:val>
                                            <p:strVal val="0-#ppt_w/2"/>
                                          </p:val>
                                        </p:tav>
                                        <p:tav tm="100000">
                                          <p:val>
                                            <p:strVal val="#ppt_x"/>
                                          </p:val>
                                        </p:tav>
                                      </p:tavLst>
                                    </p:anim>
                                    <p:anim calcmode="lin" valueType="num">
                                      <p:cBhvr additive="base">
                                        <p:cTn id="8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290934"/>
                                        </p:tgtEl>
                                        <p:attrNameLst>
                                          <p:attrName>style.visibility</p:attrName>
                                        </p:attrNameLst>
                                      </p:cBhvr>
                                      <p:to>
                                        <p:strVal val="visible"/>
                                      </p:to>
                                    </p:set>
                                    <p:anim calcmode="lin" valueType="num">
                                      <p:cBhvr additive="base">
                                        <p:cTn id="85" dur="500" fill="hold"/>
                                        <p:tgtEl>
                                          <p:spTgt spid="290934"/>
                                        </p:tgtEl>
                                        <p:attrNameLst>
                                          <p:attrName>ppt_x</p:attrName>
                                        </p:attrNameLst>
                                      </p:cBhvr>
                                      <p:tavLst>
                                        <p:tav tm="0">
                                          <p:val>
                                            <p:strVal val="0-#ppt_w/2"/>
                                          </p:val>
                                        </p:tav>
                                        <p:tav tm="100000">
                                          <p:val>
                                            <p:strVal val="#ppt_x"/>
                                          </p:val>
                                        </p:tav>
                                      </p:tavLst>
                                    </p:anim>
                                    <p:anim calcmode="lin" valueType="num">
                                      <p:cBhvr additive="base">
                                        <p:cTn id="86" dur="500" fill="hold"/>
                                        <p:tgtEl>
                                          <p:spTgt spid="2909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93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66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9664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画出下列树的二叉树表示</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101380" name="Picture 4"/>
          <p:cNvPicPr>
            <a:picLocks noChangeAspect="1"/>
          </p:cNvPicPr>
          <p:nvPr/>
        </p:nvPicPr>
        <p:blipFill>
          <a:blip r:embed="rId1">
            <a:clrChange>
              <a:clrFrom>
                <a:srgbClr val="FFFFFF"/>
              </a:clrFrom>
              <a:clrTo>
                <a:srgbClr val="FFFFFF">
                  <a:alpha val="0"/>
                </a:srgbClr>
              </a:clrTo>
            </a:clrChange>
          </a:blip>
          <a:stretch>
            <a:fillRect/>
          </a:stretch>
        </p:blipFill>
        <p:spPr>
          <a:xfrm>
            <a:off x="209550" y="2276475"/>
            <a:ext cx="8820150" cy="3816350"/>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1842" name="Rectangle 2"/>
          <p:cNvSpPr>
            <a:spLocks noGrp="1" noChangeArrowheads="1"/>
          </p:cNvSpPr>
          <p:nvPr>
            <p:ph idx="1"/>
          </p:nvPr>
        </p:nvSpPr>
        <p:spPr>
          <a:xfrm>
            <a:off x="204788" y="207963"/>
            <a:ext cx="8501063" cy="1828800"/>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Char char="§"/>
              <a:defRPr/>
            </a:pPr>
            <a:r>
              <a:rPr kumimoji="0" lang="zh-CN" altLang="en-US" sz="21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楷体_GB2312" pitchFamily="49" charset="-122"/>
                <a:cs typeface="+mn-cs"/>
              </a:rPr>
              <a:t>森林转换成二叉树</a:t>
            </a:r>
            <a:endParaRPr kumimoji="0" lang="zh-CN" altLang="en-US" sz="21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楷体_GB2312" pitchFamily="49" charset="-122"/>
              <a:cs typeface="+mn-cs"/>
            </a:endParaRPr>
          </a:p>
          <a:p>
            <a:pPr marL="908050" marR="0" lvl="1" indent="-43688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楷体_GB2312" pitchFamily="49" charset="-122"/>
                <a:cs typeface="+mn-ea"/>
              </a:rPr>
              <a:t> 将各棵树分别转换成二叉树</a:t>
            </a:r>
            <a:endParaRPr kumimoji="0" lang="zh-CN" altLang="en-US" sz="2200" b="0"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楷体_GB2312" pitchFamily="49" charset="-122"/>
              <a:cs typeface="+mn-ea"/>
            </a:endParaRPr>
          </a:p>
          <a:p>
            <a:pPr marL="908050" marR="0" lvl="1" indent="-43688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楷体_GB2312" pitchFamily="49" charset="-122"/>
                <a:cs typeface="+mn-ea"/>
              </a:rPr>
              <a:t> 将每棵树的根结点用线相连</a:t>
            </a:r>
            <a:endParaRPr kumimoji="0" lang="zh-CN" altLang="en-US" sz="2200" b="0"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楷体_GB2312" pitchFamily="49" charset="-122"/>
              <a:cs typeface="+mn-ea"/>
            </a:endParaRPr>
          </a:p>
          <a:p>
            <a:pPr marL="908050" marR="0" lvl="1" indent="-43688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楷体_GB2312" pitchFamily="49" charset="-122"/>
                <a:cs typeface="+mn-ea"/>
              </a:rPr>
              <a:t> 以第一棵树根结点为二叉树的根，再以根结点为轴心，顺时针旋转，构成二叉树型结构</a:t>
            </a:r>
            <a:endParaRPr kumimoji="0" lang="zh-CN" altLang="en-US" sz="2200" b="0"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楷体_GB2312" pitchFamily="49" charset="-122"/>
              <a:cs typeface="+mn-ea"/>
            </a:endParaRPr>
          </a:p>
        </p:txBody>
      </p:sp>
      <p:grpSp>
        <p:nvGrpSpPr>
          <p:cNvPr id="2" name="Group 3"/>
          <p:cNvGrpSpPr/>
          <p:nvPr/>
        </p:nvGrpSpPr>
        <p:grpSpPr>
          <a:xfrm>
            <a:off x="647700" y="2359025"/>
            <a:ext cx="3902075" cy="1527175"/>
            <a:chOff x="408" y="1395"/>
            <a:chExt cx="2458" cy="962"/>
          </a:xfrm>
        </p:grpSpPr>
        <p:grpSp>
          <p:nvGrpSpPr>
            <p:cNvPr id="102470" name="Group 4"/>
            <p:cNvGrpSpPr/>
            <p:nvPr/>
          </p:nvGrpSpPr>
          <p:grpSpPr>
            <a:xfrm>
              <a:off x="408" y="1422"/>
              <a:ext cx="1247" cy="629"/>
              <a:chOff x="408" y="1422"/>
              <a:chExt cx="1247" cy="629"/>
            </a:xfrm>
          </p:grpSpPr>
          <p:sp>
            <p:nvSpPr>
              <p:cNvPr id="102483" name="Oval 5"/>
              <p:cNvSpPr/>
              <p:nvPr/>
            </p:nvSpPr>
            <p:spPr>
              <a:xfrm>
                <a:off x="955" y="142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2484" name="Oval 6"/>
              <p:cNvSpPr/>
              <p:nvPr/>
            </p:nvSpPr>
            <p:spPr>
              <a:xfrm>
                <a:off x="408" y="181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2485" name="Oval 7"/>
              <p:cNvSpPr/>
              <p:nvPr/>
            </p:nvSpPr>
            <p:spPr>
              <a:xfrm>
                <a:off x="955" y="181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2486" name="Oval 8"/>
              <p:cNvSpPr/>
              <p:nvPr/>
            </p:nvSpPr>
            <p:spPr>
              <a:xfrm>
                <a:off x="1433" y="181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1849" name="Line 9"/>
              <p:cNvSpPr>
                <a:spLocks noChangeShapeType="1"/>
              </p:cNvSpPr>
              <p:nvPr/>
            </p:nvSpPr>
            <p:spPr bwMode="auto">
              <a:xfrm>
                <a:off x="1060" y="1655"/>
                <a:ext cx="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50" name="Line 10"/>
              <p:cNvSpPr>
                <a:spLocks noChangeShapeType="1"/>
              </p:cNvSpPr>
              <p:nvPr/>
            </p:nvSpPr>
            <p:spPr bwMode="auto">
              <a:xfrm flipH="1">
                <a:off x="571" y="1577"/>
                <a:ext cx="400"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51" name="Line 11"/>
              <p:cNvSpPr>
                <a:spLocks noChangeShapeType="1"/>
              </p:cNvSpPr>
              <p:nvPr/>
            </p:nvSpPr>
            <p:spPr bwMode="auto">
              <a:xfrm>
                <a:off x="1160" y="1588"/>
                <a:ext cx="334" cy="2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2471" name="Group 12"/>
            <p:cNvGrpSpPr/>
            <p:nvPr/>
          </p:nvGrpSpPr>
          <p:grpSpPr>
            <a:xfrm>
              <a:off x="1886" y="1395"/>
              <a:ext cx="237" cy="655"/>
              <a:chOff x="1886" y="1395"/>
              <a:chExt cx="237" cy="655"/>
            </a:xfrm>
          </p:grpSpPr>
          <p:sp>
            <p:nvSpPr>
              <p:cNvPr id="102480" name="Oval 13"/>
              <p:cNvSpPr/>
              <p:nvPr/>
            </p:nvSpPr>
            <p:spPr>
              <a:xfrm>
                <a:off x="1901" y="139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2481" name="Oval 14"/>
              <p:cNvSpPr/>
              <p:nvPr/>
            </p:nvSpPr>
            <p:spPr>
              <a:xfrm>
                <a:off x="1886" y="181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1855" name="Line 15"/>
              <p:cNvSpPr>
                <a:spLocks noChangeShapeType="1"/>
              </p:cNvSpPr>
              <p:nvPr/>
            </p:nvSpPr>
            <p:spPr bwMode="auto">
              <a:xfrm>
                <a:off x="2011" y="1633"/>
                <a:ext cx="0"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2472" name="Group 16"/>
            <p:cNvGrpSpPr/>
            <p:nvPr/>
          </p:nvGrpSpPr>
          <p:grpSpPr>
            <a:xfrm>
              <a:off x="2224" y="1395"/>
              <a:ext cx="642" cy="962"/>
              <a:chOff x="2224" y="1395"/>
              <a:chExt cx="642" cy="962"/>
            </a:xfrm>
          </p:grpSpPr>
          <p:sp>
            <p:nvSpPr>
              <p:cNvPr id="102473" name="Oval 17"/>
              <p:cNvSpPr/>
              <p:nvPr/>
            </p:nvSpPr>
            <p:spPr>
              <a:xfrm>
                <a:off x="2461" y="139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2474" name="Oval 18"/>
              <p:cNvSpPr/>
              <p:nvPr/>
            </p:nvSpPr>
            <p:spPr>
              <a:xfrm>
                <a:off x="2224" y="173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2475" name="Oval 19"/>
              <p:cNvSpPr/>
              <p:nvPr/>
            </p:nvSpPr>
            <p:spPr>
              <a:xfrm>
                <a:off x="2644" y="175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1860" name="Line 20"/>
              <p:cNvSpPr>
                <a:spLocks noChangeShapeType="1"/>
              </p:cNvSpPr>
              <p:nvPr/>
            </p:nvSpPr>
            <p:spPr bwMode="auto">
              <a:xfrm flipH="1">
                <a:off x="2394" y="1622"/>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61" name="Line 21"/>
              <p:cNvSpPr>
                <a:spLocks noChangeShapeType="1"/>
              </p:cNvSpPr>
              <p:nvPr/>
            </p:nvSpPr>
            <p:spPr bwMode="auto">
              <a:xfrm>
                <a:off x="2638" y="1622"/>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2478" name="Oval 22"/>
              <p:cNvSpPr/>
              <p:nvPr/>
            </p:nvSpPr>
            <p:spPr>
              <a:xfrm>
                <a:off x="2629" y="212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1863" name="Line 23"/>
              <p:cNvSpPr>
                <a:spLocks noChangeShapeType="1"/>
              </p:cNvSpPr>
              <p:nvPr/>
            </p:nvSpPr>
            <p:spPr bwMode="auto">
              <a:xfrm>
                <a:off x="2767" y="1989"/>
                <a:ext cx="0"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6" name="Group 24"/>
          <p:cNvGrpSpPr/>
          <p:nvPr/>
        </p:nvGrpSpPr>
        <p:grpSpPr>
          <a:xfrm>
            <a:off x="4838700" y="2157413"/>
            <a:ext cx="3125788" cy="1914525"/>
            <a:chOff x="3048" y="1359"/>
            <a:chExt cx="1969" cy="1206"/>
          </a:xfrm>
        </p:grpSpPr>
        <p:grpSp>
          <p:nvGrpSpPr>
            <p:cNvPr id="102450" name="Group 25"/>
            <p:cNvGrpSpPr/>
            <p:nvPr/>
          </p:nvGrpSpPr>
          <p:grpSpPr>
            <a:xfrm>
              <a:off x="3048" y="1364"/>
              <a:ext cx="780" cy="1151"/>
              <a:chOff x="359" y="2752"/>
              <a:chExt cx="780" cy="1151"/>
            </a:xfrm>
          </p:grpSpPr>
          <p:sp>
            <p:nvSpPr>
              <p:cNvPr id="102463" name="Oval 26"/>
              <p:cNvSpPr/>
              <p:nvPr/>
            </p:nvSpPr>
            <p:spPr>
              <a:xfrm>
                <a:off x="628" y="275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2464" name="Oval 27"/>
              <p:cNvSpPr/>
              <p:nvPr/>
            </p:nvSpPr>
            <p:spPr>
              <a:xfrm>
                <a:off x="359" y="309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2465" name="Oval 28"/>
              <p:cNvSpPr/>
              <p:nvPr/>
            </p:nvSpPr>
            <p:spPr>
              <a:xfrm>
                <a:off x="628" y="339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2466" name="Oval 29"/>
              <p:cNvSpPr/>
              <p:nvPr/>
            </p:nvSpPr>
            <p:spPr>
              <a:xfrm>
                <a:off x="917" y="367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1870" name="Line 30"/>
              <p:cNvSpPr>
                <a:spLocks noChangeShapeType="1"/>
              </p:cNvSpPr>
              <p:nvPr/>
            </p:nvSpPr>
            <p:spPr bwMode="auto">
              <a:xfrm flipH="1">
                <a:off x="556" y="2966"/>
                <a:ext cx="111"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71" name="Line 31"/>
              <p:cNvSpPr>
                <a:spLocks noChangeShapeType="1"/>
              </p:cNvSpPr>
              <p:nvPr/>
            </p:nvSpPr>
            <p:spPr bwMode="auto">
              <a:xfrm>
                <a:off x="545" y="3277"/>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72" name="Line 32"/>
              <p:cNvSpPr>
                <a:spLocks noChangeShapeType="1"/>
              </p:cNvSpPr>
              <p:nvPr/>
            </p:nvSpPr>
            <p:spPr bwMode="auto">
              <a:xfrm>
                <a:off x="811" y="3589"/>
                <a:ext cx="134"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2451" name="Group 33"/>
            <p:cNvGrpSpPr/>
            <p:nvPr/>
          </p:nvGrpSpPr>
          <p:grpSpPr>
            <a:xfrm>
              <a:off x="3803" y="1392"/>
              <a:ext cx="460" cy="633"/>
              <a:chOff x="1625" y="2991"/>
              <a:chExt cx="460" cy="633"/>
            </a:xfrm>
          </p:grpSpPr>
          <p:sp>
            <p:nvSpPr>
              <p:cNvPr id="102460" name="Oval 34"/>
              <p:cNvSpPr/>
              <p:nvPr/>
            </p:nvSpPr>
            <p:spPr>
              <a:xfrm>
                <a:off x="1863" y="29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2461" name="Oval 35"/>
              <p:cNvSpPr/>
              <p:nvPr/>
            </p:nvSpPr>
            <p:spPr>
              <a:xfrm>
                <a:off x="1625" y="33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1876" name="Line 36"/>
              <p:cNvSpPr>
                <a:spLocks noChangeShapeType="1"/>
              </p:cNvSpPr>
              <p:nvPr/>
            </p:nvSpPr>
            <p:spPr bwMode="auto">
              <a:xfrm flipH="1">
                <a:off x="1800" y="3222"/>
                <a:ext cx="122"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2452" name="Group 37"/>
            <p:cNvGrpSpPr/>
            <p:nvPr/>
          </p:nvGrpSpPr>
          <p:grpSpPr>
            <a:xfrm>
              <a:off x="4530" y="1359"/>
              <a:ext cx="487" cy="1206"/>
              <a:chOff x="4530" y="1359"/>
              <a:chExt cx="487" cy="1206"/>
            </a:xfrm>
          </p:grpSpPr>
          <p:sp>
            <p:nvSpPr>
              <p:cNvPr id="102453" name="Oval 38"/>
              <p:cNvSpPr/>
              <p:nvPr/>
            </p:nvSpPr>
            <p:spPr>
              <a:xfrm>
                <a:off x="4767" y="135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2454" name="Oval 39"/>
              <p:cNvSpPr/>
              <p:nvPr/>
            </p:nvSpPr>
            <p:spPr>
              <a:xfrm>
                <a:off x="4530" y="17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2455" name="Oval 40"/>
              <p:cNvSpPr/>
              <p:nvPr/>
            </p:nvSpPr>
            <p:spPr>
              <a:xfrm>
                <a:off x="4795" y="20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1881" name="Line 41"/>
              <p:cNvSpPr>
                <a:spLocks noChangeShapeType="1"/>
              </p:cNvSpPr>
              <p:nvPr/>
            </p:nvSpPr>
            <p:spPr bwMode="auto">
              <a:xfrm flipH="1">
                <a:off x="4700" y="1586"/>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2457" name="Oval 42"/>
              <p:cNvSpPr/>
              <p:nvPr/>
            </p:nvSpPr>
            <p:spPr>
              <a:xfrm>
                <a:off x="4580" y="233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1883" name="Line 43"/>
              <p:cNvSpPr>
                <a:spLocks noChangeShapeType="1"/>
              </p:cNvSpPr>
              <p:nvPr/>
            </p:nvSpPr>
            <p:spPr bwMode="auto">
              <a:xfrm>
                <a:off x="4723" y="1900"/>
                <a:ext cx="122"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84" name="Line 44"/>
              <p:cNvSpPr>
                <a:spLocks noChangeShapeType="1"/>
              </p:cNvSpPr>
              <p:nvPr/>
            </p:nvSpPr>
            <p:spPr bwMode="auto">
              <a:xfrm flipH="1">
                <a:off x="4767" y="2222"/>
                <a:ext cx="78"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10" name="Group 45"/>
          <p:cNvGrpSpPr/>
          <p:nvPr/>
        </p:nvGrpSpPr>
        <p:grpSpPr>
          <a:xfrm>
            <a:off x="263525" y="4276725"/>
            <a:ext cx="3125788" cy="2028825"/>
            <a:chOff x="166" y="2694"/>
            <a:chExt cx="1969" cy="1278"/>
          </a:xfrm>
        </p:grpSpPr>
        <p:grpSp>
          <p:nvGrpSpPr>
            <p:cNvPr id="102428" name="Group 46"/>
            <p:cNvGrpSpPr/>
            <p:nvPr/>
          </p:nvGrpSpPr>
          <p:grpSpPr>
            <a:xfrm>
              <a:off x="166" y="2694"/>
              <a:ext cx="780" cy="1151"/>
              <a:chOff x="359" y="2752"/>
              <a:chExt cx="780" cy="1151"/>
            </a:xfrm>
          </p:grpSpPr>
          <p:sp>
            <p:nvSpPr>
              <p:cNvPr id="102443" name="Oval 47"/>
              <p:cNvSpPr/>
              <p:nvPr/>
            </p:nvSpPr>
            <p:spPr>
              <a:xfrm>
                <a:off x="628" y="275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2444" name="Oval 48"/>
              <p:cNvSpPr/>
              <p:nvPr/>
            </p:nvSpPr>
            <p:spPr>
              <a:xfrm>
                <a:off x="359" y="309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2445" name="Oval 49"/>
              <p:cNvSpPr/>
              <p:nvPr/>
            </p:nvSpPr>
            <p:spPr>
              <a:xfrm>
                <a:off x="628" y="339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2446" name="Oval 50"/>
              <p:cNvSpPr/>
              <p:nvPr/>
            </p:nvSpPr>
            <p:spPr>
              <a:xfrm>
                <a:off x="917" y="367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1891" name="Line 51"/>
              <p:cNvSpPr>
                <a:spLocks noChangeShapeType="1"/>
              </p:cNvSpPr>
              <p:nvPr/>
            </p:nvSpPr>
            <p:spPr bwMode="auto">
              <a:xfrm flipH="1">
                <a:off x="556" y="2966"/>
                <a:ext cx="111"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92" name="Line 52"/>
              <p:cNvSpPr>
                <a:spLocks noChangeShapeType="1"/>
              </p:cNvSpPr>
              <p:nvPr/>
            </p:nvSpPr>
            <p:spPr bwMode="auto">
              <a:xfrm>
                <a:off x="545" y="3277"/>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93" name="Line 53"/>
              <p:cNvSpPr>
                <a:spLocks noChangeShapeType="1"/>
              </p:cNvSpPr>
              <p:nvPr/>
            </p:nvSpPr>
            <p:spPr bwMode="auto">
              <a:xfrm>
                <a:off x="811" y="3589"/>
                <a:ext cx="134"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2429" name="Group 54"/>
            <p:cNvGrpSpPr/>
            <p:nvPr/>
          </p:nvGrpSpPr>
          <p:grpSpPr>
            <a:xfrm>
              <a:off x="921" y="2722"/>
              <a:ext cx="460" cy="633"/>
              <a:chOff x="1625" y="2991"/>
              <a:chExt cx="460" cy="633"/>
            </a:xfrm>
          </p:grpSpPr>
          <p:sp>
            <p:nvSpPr>
              <p:cNvPr id="102440" name="Oval 55"/>
              <p:cNvSpPr/>
              <p:nvPr/>
            </p:nvSpPr>
            <p:spPr>
              <a:xfrm>
                <a:off x="1863" y="29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2441" name="Oval 56"/>
              <p:cNvSpPr/>
              <p:nvPr/>
            </p:nvSpPr>
            <p:spPr>
              <a:xfrm>
                <a:off x="1625" y="33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1897" name="Line 57"/>
              <p:cNvSpPr>
                <a:spLocks noChangeShapeType="1"/>
              </p:cNvSpPr>
              <p:nvPr/>
            </p:nvSpPr>
            <p:spPr bwMode="auto">
              <a:xfrm flipH="1">
                <a:off x="1800" y="3222"/>
                <a:ext cx="122"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1898" name="Line 58"/>
            <p:cNvSpPr>
              <a:spLocks noChangeShapeType="1"/>
            </p:cNvSpPr>
            <p:nvPr/>
          </p:nvSpPr>
          <p:spPr bwMode="auto">
            <a:xfrm>
              <a:off x="656" y="2833"/>
              <a:ext cx="500"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899" name="Line 59"/>
            <p:cNvSpPr>
              <a:spLocks noChangeShapeType="1"/>
            </p:cNvSpPr>
            <p:nvPr/>
          </p:nvSpPr>
          <p:spPr bwMode="auto">
            <a:xfrm>
              <a:off x="1378" y="2833"/>
              <a:ext cx="511" cy="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102432" name="Group 60"/>
            <p:cNvGrpSpPr/>
            <p:nvPr/>
          </p:nvGrpSpPr>
          <p:grpSpPr>
            <a:xfrm>
              <a:off x="1648" y="2766"/>
              <a:ext cx="487" cy="1206"/>
              <a:chOff x="4530" y="1359"/>
              <a:chExt cx="487" cy="1206"/>
            </a:xfrm>
          </p:grpSpPr>
          <p:sp>
            <p:nvSpPr>
              <p:cNvPr id="102433" name="Oval 61"/>
              <p:cNvSpPr/>
              <p:nvPr/>
            </p:nvSpPr>
            <p:spPr>
              <a:xfrm>
                <a:off x="4767" y="135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2434" name="Oval 62"/>
              <p:cNvSpPr/>
              <p:nvPr/>
            </p:nvSpPr>
            <p:spPr>
              <a:xfrm>
                <a:off x="4530" y="17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2435" name="Oval 63"/>
              <p:cNvSpPr/>
              <p:nvPr/>
            </p:nvSpPr>
            <p:spPr>
              <a:xfrm>
                <a:off x="4795" y="20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1904" name="Line 64"/>
              <p:cNvSpPr>
                <a:spLocks noChangeShapeType="1"/>
              </p:cNvSpPr>
              <p:nvPr/>
            </p:nvSpPr>
            <p:spPr bwMode="auto">
              <a:xfrm flipH="1">
                <a:off x="4700" y="1586"/>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2437" name="Oval 65"/>
              <p:cNvSpPr/>
              <p:nvPr/>
            </p:nvSpPr>
            <p:spPr>
              <a:xfrm>
                <a:off x="4580" y="233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1906" name="Line 66"/>
              <p:cNvSpPr>
                <a:spLocks noChangeShapeType="1"/>
              </p:cNvSpPr>
              <p:nvPr/>
            </p:nvSpPr>
            <p:spPr bwMode="auto">
              <a:xfrm>
                <a:off x="4723" y="1900"/>
                <a:ext cx="122"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907" name="Line 67"/>
              <p:cNvSpPr>
                <a:spLocks noChangeShapeType="1"/>
              </p:cNvSpPr>
              <p:nvPr/>
            </p:nvSpPr>
            <p:spPr bwMode="auto">
              <a:xfrm flipH="1">
                <a:off x="4767" y="2222"/>
                <a:ext cx="78"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14" name="Group 68"/>
          <p:cNvGrpSpPr/>
          <p:nvPr/>
        </p:nvGrpSpPr>
        <p:grpSpPr>
          <a:xfrm>
            <a:off x="5213350" y="3951288"/>
            <a:ext cx="2127250" cy="2906712"/>
            <a:chOff x="3284" y="2489"/>
            <a:chExt cx="1340" cy="1831"/>
          </a:xfrm>
        </p:grpSpPr>
        <p:sp>
          <p:nvSpPr>
            <p:cNvPr id="102407" name="Oval 69"/>
            <p:cNvSpPr/>
            <p:nvPr/>
          </p:nvSpPr>
          <p:spPr>
            <a:xfrm>
              <a:off x="3786" y="248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2408" name="Oval 70"/>
            <p:cNvSpPr/>
            <p:nvPr/>
          </p:nvSpPr>
          <p:spPr>
            <a:xfrm>
              <a:off x="3284" y="283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2409" name="Oval 71"/>
            <p:cNvSpPr/>
            <p:nvPr/>
          </p:nvSpPr>
          <p:spPr>
            <a:xfrm>
              <a:off x="3498" y="325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2410" name="Oval 72"/>
            <p:cNvSpPr/>
            <p:nvPr/>
          </p:nvSpPr>
          <p:spPr>
            <a:xfrm>
              <a:off x="3709" y="355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1913" name="Line 73"/>
            <p:cNvSpPr>
              <a:spLocks noChangeShapeType="1"/>
            </p:cNvSpPr>
            <p:nvPr/>
          </p:nvSpPr>
          <p:spPr bwMode="auto">
            <a:xfrm>
              <a:off x="3459" y="3061"/>
              <a:ext cx="133" cy="178"/>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914" name="Line 74"/>
            <p:cNvSpPr>
              <a:spLocks noChangeShapeType="1"/>
            </p:cNvSpPr>
            <p:nvPr/>
          </p:nvSpPr>
          <p:spPr bwMode="auto">
            <a:xfrm>
              <a:off x="3681" y="3462"/>
              <a:ext cx="111" cy="110"/>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102413" name="Group 75"/>
            <p:cNvGrpSpPr/>
            <p:nvPr/>
          </p:nvGrpSpPr>
          <p:grpSpPr>
            <a:xfrm>
              <a:off x="3862" y="2863"/>
              <a:ext cx="460" cy="633"/>
              <a:chOff x="1625" y="2991"/>
              <a:chExt cx="460" cy="633"/>
            </a:xfrm>
          </p:grpSpPr>
          <p:sp>
            <p:nvSpPr>
              <p:cNvPr id="102425" name="Oval 76"/>
              <p:cNvSpPr/>
              <p:nvPr/>
            </p:nvSpPr>
            <p:spPr>
              <a:xfrm>
                <a:off x="1863" y="29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2426" name="Oval 77"/>
              <p:cNvSpPr/>
              <p:nvPr/>
            </p:nvSpPr>
            <p:spPr>
              <a:xfrm>
                <a:off x="1625" y="33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1918" name="Line 78"/>
              <p:cNvSpPr>
                <a:spLocks noChangeShapeType="1"/>
              </p:cNvSpPr>
              <p:nvPr/>
            </p:nvSpPr>
            <p:spPr bwMode="auto">
              <a:xfrm flipH="1">
                <a:off x="1800" y="3222"/>
                <a:ext cx="122"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1919" name="Line 79"/>
            <p:cNvSpPr>
              <a:spLocks noChangeShapeType="1"/>
            </p:cNvSpPr>
            <p:nvPr/>
          </p:nvSpPr>
          <p:spPr bwMode="auto">
            <a:xfrm>
              <a:off x="3978" y="2699"/>
              <a:ext cx="178" cy="1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920" name="Line 80"/>
            <p:cNvSpPr>
              <a:spLocks noChangeShapeType="1"/>
            </p:cNvSpPr>
            <p:nvPr/>
          </p:nvSpPr>
          <p:spPr bwMode="auto">
            <a:xfrm>
              <a:off x="4300" y="3066"/>
              <a:ext cx="90" cy="88"/>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921" name="Line 81"/>
            <p:cNvSpPr>
              <a:spLocks noChangeShapeType="1"/>
            </p:cNvSpPr>
            <p:nvPr/>
          </p:nvSpPr>
          <p:spPr bwMode="auto">
            <a:xfrm flipH="1">
              <a:off x="3523" y="2677"/>
              <a:ext cx="300"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102417" name="Group 82"/>
            <p:cNvGrpSpPr/>
            <p:nvPr/>
          </p:nvGrpSpPr>
          <p:grpSpPr>
            <a:xfrm>
              <a:off x="4137" y="3114"/>
              <a:ext cx="487" cy="1206"/>
              <a:chOff x="4530" y="1359"/>
              <a:chExt cx="487" cy="1206"/>
            </a:xfrm>
          </p:grpSpPr>
          <p:sp>
            <p:nvSpPr>
              <p:cNvPr id="102418" name="Oval 83"/>
              <p:cNvSpPr/>
              <p:nvPr/>
            </p:nvSpPr>
            <p:spPr>
              <a:xfrm>
                <a:off x="4767" y="135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2419" name="Oval 84"/>
              <p:cNvSpPr/>
              <p:nvPr/>
            </p:nvSpPr>
            <p:spPr>
              <a:xfrm>
                <a:off x="4530" y="17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2420" name="Oval 85"/>
              <p:cNvSpPr/>
              <p:nvPr/>
            </p:nvSpPr>
            <p:spPr>
              <a:xfrm>
                <a:off x="4795" y="20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1926" name="Line 86"/>
              <p:cNvSpPr>
                <a:spLocks noChangeShapeType="1"/>
              </p:cNvSpPr>
              <p:nvPr/>
            </p:nvSpPr>
            <p:spPr bwMode="auto">
              <a:xfrm flipH="1">
                <a:off x="4700" y="1586"/>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2422" name="Oval 87"/>
              <p:cNvSpPr/>
              <p:nvPr/>
            </p:nvSpPr>
            <p:spPr>
              <a:xfrm>
                <a:off x="4580" y="233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1928" name="Line 88"/>
              <p:cNvSpPr>
                <a:spLocks noChangeShapeType="1"/>
              </p:cNvSpPr>
              <p:nvPr/>
            </p:nvSpPr>
            <p:spPr bwMode="auto">
              <a:xfrm>
                <a:off x="4723" y="1900"/>
                <a:ext cx="122"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1929" name="Line 89"/>
              <p:cNvSpPr>
                <a:spLocks noChangeShapeType="1"/>
              </p:cNvSpPr>
              <p:nvPr/>
            </p:nvSpPr>
            <p:spPr bwMode="auto">
              <a:xfrm flipH="1">
                <a:off x="4767" y="2222"/>
                <a:ext cx="78"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1842">
                                            <p:txEl>
                                              <p:charRg st="0" end="9"/>
                                            </p:txEl>
                                          </p:spTgt>
                                        </p:tgtEl>
                                        <p:attrNameLst>
                                          <p:attrName>style.visibility</p:attrName>
                                        </p:attrNameLst>
                                      </p:cBhvr>
                                      <p:to>
                                        <p:strVal val="visible"/>
                                      </p:to>
                                    </p:set>
                                    <p:anim calcmode="lin" valueType="num">
                                      <p:cBhvr additive="base">
                                        <p:cTn id="7" dur="500" fill="hold"/>
                                        <p:tgtEl>
                                          <p:spTgt spid="291842">
                                            <p:txEl>
                                              <p:charRg st="0" end="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1842">
                                            <p:txEl>
                                              <p:charRg st="0" end="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1842">
                                            <p:txEl>
                                              <p:charRg st="9" end="23"/>
                                            </p:txEl>
                                          </p:spTgt>
                                        </p:tgtEl>
                                        <p:attrNameLst>
                                          <p:attrName>style.visibility</p:attrName>
                                        </p:attrNameLst>
                                      </p:cBhvr>
                                      <p:to>
                                        <p:strVal val="visible"/>
                                      </p:to>
                                    </p:set>
                                    <p:anim calcmode="lin" valueType="num">
                                      <p:cBhvr additive="base">
                                        <p:cTn id="13" dur="500" fill="hold"/>
                                        <p:tgtEl>
                                          <p:spTgt spid="291842">
                                            <p:txEl>
                                              <p:charRg st="9" end="2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1842">
                                            <p:txEl>
                                              <p:charRg st="9" end="2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1842">
                                            <p:txEl>
                                              <p:charRg st="23" end="37"/>
                                            </p:txEl>
                                          </p:spTgt>
                                        </p:tgtEl>
                                        <p:attrNameLst>
                                          <p:attrName>style.visibility</p:attrName>
                                        </p:attrNameLst>
                                      </p:cBhvr>
                                      <p:to>
                                        <p:strVal val="visible"/>
                                      </p:to>
                                    </p:set>
                                    <p:anim calcmode="lin" valueType="num">
                                      <p:cBhvr additive="base">
                                        <p:cTn id="19" dur="500" fill="hold"/>
                                        <p:tgtEl>
                                          <p:spTgt spid="291842">
                                            <p:txEl>
                                              <p:charRg st="23" end="37"/>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1842">
                                            <p:txEl>
                                              <p:charRg st="23" end="37"/>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1842">
                                            <p:txEl>
                                              <p:charRg st="37" end="77"/>
                                            </p:txEl>
                                          </p:spTgt>
                                        </p:tgtEl>
                                        <p:attrNameLst>
                                          <p:attrName>style.visibility</p:attrName>
                                        </p:attrNameLst>
                                      </p:cBhvr>
                                      <p:to>
                                        <p:strVal val="visible"/>
                                      </p:to>
                                    </p:set>
                                    <p:anim calcmode="lin" valueType="num">
                                      <p:cBhvr additive="base">
                                        <p:cTn id="25" dur="500" fill="hold"/>
                                        <p:tgtEl>
                                          <p:spTgt spid="291842">
                                            <p:txEl>
                                              <p:charRg st="37" end="7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1842">
                                            <p:txEl>
                                              <p:charRg st="37" end="77"/>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0-#ppt_w/2"/>
                                          </p:val>
                                        </p:tav>
                                        <p:tav tm="100000">
                                          <p:val>
                                            <p:strVal val="#ppt_x"/>
                                          </p:val>
                                        </p:tav>
                                      </p:tavLst>
                                    </p:anim>
                                    <p:anim calcmode="lin" valueType="num">
                                      <p:cBhvr additive="base">
                                        <p:cTn id="4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0-#ppt_w/2"/>
                                          </p:val>
                                        </p:tav>
                                        <p:tav tm="100000">
                                          <p:val>
                                            <p:strVal val="#ppt_x"/>
                                          </p:val>
                                        </p:tav>
                                      </p:tavLst>
                                    </p:anim>
                                    <p:anim calcmode="lin" valueType="num">
                                      <p:cBhvr additive="base">
                                        <p:cTn id="5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bldLvl="5" build="p"/>
    </p:bld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2866" name="Rectangle 2"/>
          <p:cNvSpPr>
            <a:spLocks noChangeArrowheads="1"/>
          </p:cNvSpPr>
          <p:nvPr/>
        </p:nvSpPr>
        <p:spPr bwMode="auto">
          <a:xfrm>
            <a:off x="0" y="228600"/>
            <a:ext cx="8686800" cy="2514600"/>
          </a:xfrm>
          <a:prstGeom prst="rect">
            <a:avLst/>
          </a:prstGeom>
          <a:noFill/>
          <a:ln w="9525">
            <a:noFill/>
            <a:miter lim="800000"/>
          </a:ln>
        </p:spPr>
        <p:txBody>
          <a:bodyPr/>
          <a:lstStyle/>
          <a:p>
            <a:pPr marL="469900" marR="0" lvl="0" indent="-4699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
              <a:defRPr/>
            </a:pPr>
            <a:r>
              <a:rPr kumimoji="0" lang="zh-CN" altLang="zh-CN" sz="2100" b="0"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二叉</a:t>
            </a:r>
            <a:r>
              <a:rPr kumimoji="0" lang="zh-CN" altLang="en-US" sz="2100" b="0"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树转换成树</a:t>
            </a:r>
            <a:endParaRPr kumimoji="0" lang="zh-CN" altLang="en-US" sz="2100" b="0"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a:p>
            <a:pPr marL="908050" marR="0" lvl="1" indent="-43688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加线：若</a:t>
            </a:r>
            <a:r>
              <a:rPr kumimoji="0" lang="en-US"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p</a:t>
            </a:r>
            <a:r>
              <a:rPr kumimoji="0" lang="zh-CN"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结点是双亲结点的左孩子，则将</a:t>
            </a:r>
            <a:r>
              <a:rPr kumimoji="0" lang="en-US"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p</a:t>
            </a:r>
            <a:r>
              <a:rPr kumimoji="0" lang="zh-CN"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的右孩子，右孩子的右孩子，</a:t>
            </a:r>
            <a:r>
              <a:rPr kumimoji="0" lang="zh-CN"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Arial" panose="020B0604020202020204"/>
                <a:ea typeface="楷体_GB2312" pitchFamily="49" charset="-122"/>
                <a:cs typeface="+mn-cs"/>
                <a:sym typeface="Symbol" panose="05050102010706020507" pitchFamily="18" charset="2"/>
              </a:rPr>
              <a:t>……</a:t>
            </a:r>
            <a:r>
              <a:rPr kumimoji="0" lang="zh-CN"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沿分支找到的所有右孩子，都与</a:t>
            </a:r>
            <a:r>
              <a:rPr kumimoji="0" lang="en-US"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p</a:t>
            </a:r>
            <a:r>
              <a:rPr kumimoji="0" lang="zh-CN" altLang="zh-CN"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的双亲用线连起来</a:t>
            </a:r>
            <a:endPar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a:p>
            <a:pPr marL="908050" marR="0" lvl="1" indent="-43688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抹线：抹掉原二叉树中双亲与右孩子之间的连线</a:t>
            </a:r>
            <a:endPar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a:p>
            <a:pPr marL="908050" marR="0" lvl="1" indent="-43688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调整：将结点按层次排列，形成树结构</a:t>
            </a:r>
            <a:endPar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p:txBody>
      </p:sp>
      <p:grpSp>
        <p:nvGrpSpPr>
          <p:cNvPr id="2" name="Group 3"/>
          <p:cNvGrpSpPr/>
          <p:nvPr/>
        </p:nvGrpSpPr>
        <p:grpSpPr>
          <a:xfrm>
            <a:off x="604838" y="2538413"/>
            <a:ext cx="2260600" cy="2786062"/>
            <a:chOff x="2948" y="2565"/>
            <a:chExt cx="1424" cy="1755"/>
          </a:xfrm>
        </p:grpSpPr>
        <p:sp>
          <p:nvSpPr>
            <p:cNvPr id="103526" name="Oval 4"/>
            <p:cNvSpPr/>
            <p:nvPr/>
          </p:nvSpPr>
          <p:spPr>
            <a:xfrm>
              <a:off x="3614" y="256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3527" name="Oval 5"/>
            <p:cNvSpPr/>
            <p:nvPr/>
          </p:nvSpPr>
          <p:spPr>
            <a:xfrm>
              <a:off x="3256" y="282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3528" name="Oval 6"/>
            <p:cNvSpPr/>
            <p:nvPr/>
          </p:nvSpPr>
          <p:spPr>
            <a:xfrm>
              <a:off x="3580" y="3106"/>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3529" name="Oval 7"/>
            <p:cNvSpPr/>
            <p:nvPr/>
          </p:nvSpPr>
          <p:spPr>
            <a:xfrm>
              <a:off x="3903" y="340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3530" name="Oval 8"/>
            <p:cNvSpPr/>
            <p:nvPr/>
          </p:nvSpPr>
          <p:spPr>
            <a:xfrm>
              <a:off x="2948" y="3106"/>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3531" name="Oval 9"/>
            <p:cNvSpPr/>
            <p:nvPr/>
          </p:nvSpPr>
          <p:spPr>
            <a:xfrm>
              <a:off x="3223" y="340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3532" name="Oval 10"/>
            <p:cNvSpPr/>
            <p:nvPr/>
          </p:nvSpPr>
          <p:spPr>
            <a:xfrm>
              <a:off x="3452" y="376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3533" name="Oval 11"/>
            <p:cNvSpPr/>
            <p:nvPr/>
          </p:nvSpPr>
          <p:spPr>
            <a:xfrm>
              <a:off x="3805" y="377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3534" name="Oval 12"/>
            <p:cNvSpPr/>
            <p:nvPr/>
          </p:nvSpPr>
          <p:spPr>
            <a:xfrm>
              <a:off x="4150" y="408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2877" name="Line 13"/>
            <p:cNvSpPr>
              <a:spLocks noChangeShapeType="1"/>
            </p:cNvSpPr>
            <p:nvPr/>
          </p:nvSpPr>
          <p:spPr bwMode="auto">
            <a:xfrm flipH="1">
              <a:off x="3445" y="2722"/>
              <a:ext cx="167" cy="167"/>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78" name="Line 14"/>
            <p:cNvSpPr>
              <a:spLocks noChangeShapeType="1"/>
            </p:cNvSpPr>
            <p:nvPr/>
          </p:nvSpPr>
          <p:spPr bwMode="auto">
            <a:xfrm flipH="1">
              <a:off x="3134" y="3033"/>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79" name="Line 15"/>
            <p:cNvSpPr>
              <a:spLocks noChangeShapeType="1"/>
            </p:cNvSpPr>
            <p:nvPr/>
          </p:nvSpPr>
          <p:spPr bwMode="auto">
            <a:xfrm>
              <a:off x="3134" y="3300"/>
              <a:ext cx="133"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80" name="Line 16"/>
            <p:cNvSpPr>
              <a:spLocks noChangeShapeType="1"/>
            </p:cNvSpPr>
            <p:nvPr/>
          </p:nvSpPr>
          <p:spPr bwMode="auto">
            <a:xfrm>
              <a:off x="3400" y="3600"/>
              <a:ext cx="156"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81" name="Line 17"/>
            <p:cNvSpPr>
              <a:spLocks noChangeShapeType="1"/>
            </p:cNvSpPr>
            <p:nvPr/>
          </p:nvSpPr>
          <p:spPr bwMode="auto">
            <a:xfrm>
              <a:off x="3445" y="3022"/>
              <a:ext cx="144"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82" name="Line 18"/>
            <p:cNvSpPr>
              <a:spLocks noChangeShapeType="1"/>
            </p:cNvSpPr>
            <p:nvPr/>
          </p:nvSpPr>
          <p:spPr bwMode="auto">
            <a:xfrm>
              <a:off x="3745" y="3333"/>
              <a:ext cx="167"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83" name="Line 19"/>
            <p:cNvSpPr>
              <a:spLocks noChangeShapeType="1"/>
            </p:cNvSpPr>
            <p:nvPr/>
          </p:nvSpPr>
          <p:spPr bwMode="auto">
            <a:xfrm flipH="1">
              <a:off x="3934" y="3633"/>
              <a:ext cx="67"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84" name="Line 20"/>
            <p:cNvSpPr>
              <a:spLocks noChangeShapeType="1"/>
            </p:cNvSpPr>
            <p:nvPr/>
          </p:nvSpPr>
          <p:spPr bwMode="auto">
            <a:xfrm>
              <a:off x="3989" y="3966"/>
              <a:ext cx="156" cy="1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3" name="Group 21"/>
          <p:cNvGrpSpPr/>
          <p:nvPr/>
        </p:nvGrpSpPr>
        <p:grpSpPr>
          <a:xfrm>
            <a:off x="2722563" y="2536825"/>
            <a:ext cx="2260600" cy="2786063"/>
            <a:chOff x="1715" y="1598"/>
            <a:chExt cx="1424" cy="1755"/>
          </a:xfrm>
        </p:grpSpPr>
        <p:sp>
          <p:nvSpPr>
            <p:cNvPr id="103508" name="Oval 22"/>
            <p:cNvSpPr/>
            <p:nvPr/>
          </p:nvSpPr>
          <p:spPr>
            <a:xfrm>
              <a:off x="2381" y="159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grpSp>
          <p:nvGrpSpPr>
            <p:cNvPr id="103509" name="Group 23"/>
            <p:cNvGrpSpPr/>
            <p:nvPr/>
          </p:nvGrpSpPr>
          <p:grpSpPr>
            <a:xfrm>
              <a:off x="1715" y="1755"/>
              <a:ext cx="1424" cy="1598"/>
              <a:chOff x="1715" y="1755"/>
              <a:chExt cx="1424" cy="1598"/>
            </a:xfrm>
          </p:grpSpPr>
          <p:sp>
            <p:nvSpPr>
              <p:cNvPr id="103510" name="Oval 24"/>
              <p:cNvSpPr/>
              <p:nvPr/>
            </p:nvSpPr>
            <p:spPr>
              <a:xfrm>
                <a:off x="2023" y="186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3511" name="Oval 25"/>
              <p:cNvSpPr/>
              <p:nvPr/>
            </p:nvSpPr>
            <p:spPr>
              <a:xfrm>
                <a:off x="2347" y="213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3512" name="Oval 26"/>
              <p:cNvSpPr/>
              <p:nvPr/>
            </p:nvSpPr>
            <p:spPr>
              <a:xfrm>
                <a:off x="2670" y="243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3513" name="Oval 27"/>
              <p:cNvSpPr/>
              <p:nvPr/>
            </p:nvSpPr>
            <p:spPr>
              <a:xfrm>
                <a:off x="1715" y="213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3514" name="Oval 28"/>
              <p:cNvSpPr/>
              <p:nvPr/>
            </p:nvSpPr>
            <p:spPr>
              <a:xfrm>
                <a:off x="1990" y="243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3515" name="Oval 29"/>
              <p:cNvSpPr/>
              <p:nvPr/>
            </p:nvSpPr>
            <p:spPr>
              <a:xfrm>
                <a:off x="2219" y="279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3516" name="Oval 30"/>
              <p:cNvSpPr/>
              <p:nvPr/>
            </p:nvSpPr>
            <p:spPr>
              <a:xfrm>
                <a:off x="2572" y="280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3517" name="Oval 31"/>
              <p:cNvSpPr/>
              <p:nvPr/>
            </p:nvSpPr>
            <p:spPr>
              <a:xfrm>
                <a:off x="2917" y="312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2896" name="Line 32"/>
              <p:cNvSpPr>
                <a:spLocks noChangeShapeType="1"/>
              </p:cNvSpPr>
              <p:nvPr/>
            </p:nvSpPr>
            <p:spPr bwMode="auto">
              <a:xfrm flipH="1">
                <a:off x="2212" y="1755"/>
                <a:ext cx="167" cy="167"/>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97" name="Line 33"/>
              <p:cNvSpPr>
                <a:spLocks noChangeShapeType="1"/>
              </p:cNvSpPr>
              <p:nvPr/>
            </p:nvSpPr>
            <p:spPr bwMode="auto">
              <a:xfrm flipH="1">
                <a:off x="1901" y="2066"/>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98" name="Line 34"/>
              <p:cNvSpPr>
                <a:spLocks noChangeShapeType="1"/>
              </p:cNvSpPr>
              <p:nvPr/>
            </p:nvSpPr>
            <p:spPr bwMode="auto">
              <a:xfrm>
                <a:off x="1901" y="2333"/>
                <a:ext cx="133"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899" name="Line 35"/>
              <p:cNvSpPr>
                <a:spLocks noChangeShapeType="1"/>
              </p:cNvSpPr>
              <p:nvPr/>
            </p:nvSpPr>
            <p:spPr bwMode="auto">
              <a:xfrm>
                <a:off x="2167" y="2633"/>
                <a:ext cx="156"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0" name="Line 36"/>
              <p:cNvSpPr>
                <a:spLocks noChangeShapeType="1"/>
              </p:cNvSpPr>
              <p:nvPr/>
            </p:nvSpPr>
            <p:spPr bwMode="auto">
              <a:xfrm>
                <a:off x="2212" y="2055"/>
                <a:ext cx="144"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1" name="Line 37"/>
              <p:cNvSpPr>
                <a:spLocks noChangeShapeType="1"/>
              </p:cNvSpPr>
              <p:nvPr/>
            </p:nvSpPr>
            <p:spPr bwMode="auto">
              <a:xfrm>
                <a:off x="2512" y="2366"/>
                <a:ext cx="167"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2" name="Line 38"/>
              <p:cNvSpPr>
                <a:spLocks noChangeShapeType="1"/>
              </p:cNvSpPr>
              <p:nvPr/>
            </p:nvSpPr>
            <p:spPr bwMode="auto">
              <a:xfrm flipH="1">
                <a:off x="2701" y="2666"/>
                <a:ext cx="67"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3" name="Line 39"/>
              <p:cNvSpPr>
                <a:spLocks noChangeShapeType="1"/>
              </p:cNvSpPr>
              <p:nvPr/>
            </p:nvSpPr>
            <p:spPr bwMode="auto">
              <a:xfrm>
                <a:off x="2756" y="2999"/>
                <a:ext cx="156" cy="1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sp>
        <p:nvSpPr>
          <p:cNvPr id="292904" name="Line 40"/>
          <p:cNvSpPr>
            <a:spLocks noChangeShapeType="1"/>
          </p:cNvSpPr>
          <p:nvPr/>
        </p:nvSpPr>
        <p:spPr bwMode="auto">
          <a:xfrm>
            <a:off x="3916363" y="2909888"/>
            <a:ext cx="0" cy="511175"/>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5" name="Line 41"/>
          <p:cNvSpPr>
            <a:spLocks noChangeShapeType="1"/>
          </p:cNvSpPr>
          <p:nvPr/>
        </p:nvSpPr>
        <p:spPr bwMode="auto">
          <a:xfrm>
            <a:off x="4057650" y="2840038"/>
            <a:ext cx="388938" cy="1022350"/>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6" name="Line 42"/>
          <p:cNvSpPr>
            <a:spLocks noChangeShapeType="1"/>
          </p:cNvSpPr>
          <p:nvPr/>
        </p:nvSpPr>
        <p:spPr bwMode="auto">
          <a:xfrm>
            <a:off x="3370263" y="3297238"/>
            <a:ext cx="0" cy="600075"/>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7" name="Line 43"/>
          <p:cNvSpPr>
            <a:spLocks noChangeShapeType="1"/>
          </p:cNvSpPr>
          <p:nvPr/>
        </p:nvSpPr>
        <p:spPr bwMode="auto">
          <a:xfrm>
            <a:off x="3422650" y="3297238"/>
            <a:ext cx="333375" cy="1128713"/>
          </a:xfrm>
          <a:prstGeom prst="line">
            <a:avLst/>
          </a:prstGeom>
          <a:noFill/>
          <a:ln w="9525">
            <a:solidFill>
              <a:srgbClr val="0066FF"/>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08" name="Line 44"/>
          <p:cNvSpPr>
            <a:spLocks noChangeShapeType="1"/>
          </p:cNvSpPr>
          <p:nvPr/>
        </p:nvSpPr>
        <p:spPr bwMode="auto">
          <a:xfrm>
            <a:off x="4533900" y="4162425"/>
            <a:ext cx="282575" cy="811213"/>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5" name="Group 45"/>
          <p:cNvGrpSpPr/>
          <p:nvPr/>
        </p:nvGrpSpPr>
        <p:grpSpPr>
          <a:xfrm>
            <a:off x="4991100" y="2601913"/>
            <a:ext cx="2260600" cy="2786062"/>
            <a:chOff x="3144" y="1639"/>
            <a:chExt cx="1424" cy="1755"/>
          </a:xfrm>
        </p:grpSpPr>
        <p:sp>
          <p:nvSpPr>
            <p:cNvPr id="103486" name="Oval 46"/>
            <p:cNvSpPr/>
            <p:nvPr/>
          </p:nvSpPr>
          <p:spPr>
            <a:xfrm>
              <a:off x="3810" y="163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3487" name="Oval 47"/>
            <p:cNvSpPr/>
            <p:nvPr/>
          </p:nvSpPr>
          <p:spPr>
            <a:xfrm>
              <a:off x="3452" y="190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3488" name="Oval 48"/>
            <p:cNvSpPr/>
            <p:nvPr/>
          </p:nvSpPr>
          <p:spPr>
            <a:xfrm>
              <a:off x="3776" y="218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3489" name="Oval 49"/>
            <p:cNvSpPr/>
            <p:nvPr/>
          </p:nvSpPr>
          <p:spPr>
            <a:xfrm>
              <a:off x="4099" y="247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3490" name="Oval 50"/>
            <p:cNvSpPr/>
            <p:nvPr/>
          </p:nvSpPr>
          <p:spPr>
            <a:xfrm>
              <a:off x="3144" y="218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3491" name="Oval 51"/>
            <p:cNvSpPr/>
            <p:nvPr/>
          </p:nvSpPr>
          <p:spPr>
            <a:xfrm>
              <a:off x="3419" y="247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3492" name="Oval 52"/>
            <p:cNvSpPr/>
            <p:nvPr/>
          </p:nvSpPr>
          <p:spPr>
            <a:xfrm>
              <a:off x="3648" y="283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3493" name="Oval 53"/>
            <p:cNvSpPr/>
            <p:nvPr/>
          </p:nvSpPr>
          <p:spPr>
            <a:xfrm>
              <a:off x="4001" y="284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3494" name="Oval 54"/>
            <p:cNvSpPr/>
            <p:nvPr/>
          </p:nvSpPr>
          <p:spPr>
            <a:xfrm>
              <a:off x="4346" y="316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2919" name="Line 55"/>
            <p:cNvSpPr>
              <a:spLocks noChangeShapeType="1"/>
            </p:cNvSpPr>
            <p:nvPr/>
          </p:nvSpPr>
          <p:spPr bwMode="auto">
            <a:xfrm flipH="1">
              <a:off x="3641" y="1796"/>
              <a:ext cx="167" cy="167"/>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0" name="Line 56"/>
            <p:cNvSpPr>
              <a:spLocks noChangeShapeType="1"/>
            </p:cNvSpPr>
            <p:nvPr/>
          </p:nvSpPr>
          <p:spPr bwMode="auto">
            <a:xfrm flipH="1">
              <a:off x="3330" y="2107"/>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1" name="Line 57"/>
            <p:cNvSpPr>
              <a:spLocks noChangeShapeType="1"/>
            </p:cNvSpPr>
            <p:nvPr/>
          </p:nvSpPr>
          <p:spPr bwMode="auto">
            <a:xfrm>
              <a:off x="3330" y="2374"/>
              <a:ext cx="133"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2" name="Line 58"/>
            <p:cNvSpPr>
              <a:spLocks noChangeShapeType="1"/>
            </p:cNvSpPr>
            <p:nvPr/>
          </p:nvSpPr>
          <p:spPr bwMode="auto">
            <a:xfrm>
              <a:off x="3596" y="2674"/>
              <a:ext cx="156"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3" name="Line 59"/>
            <p:cNvSpPr>
              <a:spLocks noChangeShapeType="1"/>
            </p:cNvSpPr>
            <p:nvPr/>
          </p:nvSpPr>
          <p:spPr bwMode="auto">
            <a:xfrm>
              <a:off x="3641" y="2096"/>
              <a:ext cx="144"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4" name="Line 60"/>
            <p:cNvSpPr>
              <a:spLocks noChangeShapeType="1"/>
            </p:cNvSpPr>
            <p:nvPr/>
          </p:nvSpPr>
          <p:spPr bwMode="auto">
            <a:xfrm>
              <a:off x="3941" y="2407"/>
              <a:ext cx="167"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5" name="Line 61"/>
            <p:cNvSpPr>
              <a:spLocks noChangeShapeType="1"/>
            </p:cNvSpPr>
            <p:nvPr/>
          </p:nvSpPr>
          <p:spPr bwMode="auto">
            <a:xfrm flipH="1">
              <a:off x="4130" y="2707"/>
              <a:ext cx="67"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6" name="Line 62"/>
            <p:cNvSpPr>
              <a:spLocks noChangeShapeType="1"/>
            </p:cNvSpPr>
            <p:nvPr/>
          </p:nvSpPr>
          <p:spPr bwMode="auto">
            <a:xfrm>
              <a:off x="4185" y="3040"/>
              <a:ext cx="156" cy="1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7" name="Line 63"/>
            <p:cNvSpPr>
              <a:spLocks noChangeShapeType="1"/>
            </p:cNvSpPr>
            <p:nvPr/>
          </p:nvSpPr>
          <p:spPr bwMode="auto">
            <a:xfrm>
              <a:off x="3896" y="1874"/>
              <a:ext cx="0" cy="322"/>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8" name="Line 64"/>
            <p:cNvSpPr>
              <a:spLocks noChangeShapeType="1"/>
            </p:cNvSpPr>
            <p:nvPr/>
          </p:nvSpPr>
          <p:spPr bwMode="auto">
            <a:xfrm>
              <a:off x="3985" y="1830"/>
              <a:ext cx="245" cy="644"/>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29" name="Line 65"/>
            <p:cNvSpPr>
              <a:spLocks noChangeShapeType="1"/>
            </p:cNvSpPr>
            <p:nvPr/>
          </p:nvSpPr>
          <p:spPr bwMode="auto">
            <a:xfrm>
              <a:off x="3552" y="2118"/>
              <a:ext cx="0" cy="378"/>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30" name="Line 66"/>
            <p:cNvSpPr>
              <a:spLocks noChangeShapeType="1"/>
            </p:cNvSpPr>
            <p:nvPr/>
          </p:nvSpPr>
          <p:spPr bwMode="auto">
            <a:xfrm>
              <a:off x="3585" y="2118"/>
              <a:ext cx="210" cy="711"/>
            </a:xfrm>
            <a:prstGeom prst="line">
              <a:avLst/>
            </a:prstGeom>
            <a:noFill/>
            <a:ln w="9525">
              <a:solidFill>
                <a:srgbClr val="0066FF"/>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31" name="Line 67"/>
            <p:cNvSpPr>
              <a:spLocks noChangeShapeType="1"/>
            </p:cNvSpPr>
            <p:nvPr/>
          </p:nvSpPr>
          <p:spPr bwMode="auto">
            <a:xfrm>
              <a:off x="4285" y="2663"/>
              <a:ext cx="178" cy="511"/>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6" name="Group 68"/>
          <p:cNvGrpSpPr/>
          <p:nvPr/>
        </p:nvGrpSpPr>
        <p:grpSpPr>
          <a:xfrm>
            <a:off x="5854700" y="3376613"/>
            <a:ext cx="176213" cy="176212"/>
            <a:chOff x="1978" y="3911"/>
            <a:chExt cx="111" cy="111"/>
          </a:xfrm>
        </p:grpSpPr>
        <p:sp>
          <p:nvSpPr>
            <p:cNvPr id="292933" name="Line 69"/>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34" name="Line 70"/>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7" name="Group 71"/>
          <p:cNvGrpSpPr/>
          <p:nvPr/>
        </p:nvGrpSpPr>
        <p:grpSpPr>
          <a:xfrm>
            <a:off x="6276975" y="3871913"/>
            <a:ext cx="176213" cy="176212"/>
            <a:chOff x="1978" y="3911"/>
            <a:chExt cx="111" cy="111"/>
          </a:xfrm>
        </p:grpSpPr>
        <p:sp>
          <p:nvSpPr>
            <p:cNvPr id="292936" name="Line 72"/>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37" name="Line 73"/>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8" name="Group 74"/>
          <p:cNvGrpSpPr/>
          <p:nvPr/>
        </p:nvGrpSpPr>
        <p:grpSpPr>
          <a:xfrm>
            <a:off x="5307013" y="3802063"/>
            <a:ext cx="176212" cy="176212"/>
            <a:chOff x="1978" y="3911"/>
            <a:chExt cx="111" cy="111"/>
          </a:xfrm>
        </p:grpSpPr>
        <p:sp>
          <p:nvSpPr>
            <p:cNvPr id="292939" name="Line 75"/>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40" name="Line 76"/>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9" name="Group 77"/>
          <p:cNvGrpSpPr/>
          <p:nvPr/>
        </p:nvGrpSpPr>
        <p:grpSpPr>
          <a:xfrm>
            <a:off x="5783263" y="4330700"/>
            <a:ext cx="176212" cy="176213"/>
            <a:chOff x="1978" y="3911"/>
            <a:chExt cx="111" cy="111"/>
          </a:xfrm>
        </p:grpSpPr>
        <p:sp>
          <p:nvSpPr>
            <p:cNvPr id="292942" name="Line 78"/>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43" name="Line 79"/>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 name="Group 80"/>
          <p:cNvGrpSpPr/>
          <p:nvPr/>
        </p:nvGrpSpPr>
        <p:grpSpPr>
          <a:xfrm>
            <a:off x="6665913" y="4878388"/>
            <a:ext cx="176212" cy="176212"/>
            <a:chOff x="1978" y="3911"/>
            <a:chExt cx="111" cy="111"/>
          </a:xfrm>
        </p:grpSpPr>
        <p:sp>
          <p:nvSpPr>
            <p:cNvPr id="292945" name="Line 81"/>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46" name="Line 82"/>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1" name="Group 83"/>
          <p:cNvGrpSpPr/>
          <p:nvPr/>
        </p:nvGrpSpPr>
        <p:grpSpPr>
          <a:xfrm>
            <a:off x="6883400" y="2601913"/>
            <a:ext cx="2260600" cy="2786062"/>
            <a:chOff x="4336" y="1728"/>
            <a:chExt cx="1424" cy="1755"/>
          </a:xfrm>
        </p:grpSpPr>
        <p:sp>
          <p:nvSpPr>
            <p:cNvPr id="103459" name="Oval 84"/>
            <p:cNvSpPr/>
            <p:nvPr/>
          </p:nvSpPr>
          <p:spPr>
            <a:xfrm>
              <a:off x="5002" y="172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3460" name="Oval 85"/>
            <p:cNvSpPr/>
            <p:nvPr/>
          </p:nvSpPr>
          <p:spPr>
            <a:xfrm>
              <a:off x="4644" y="199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3461" name="Oval 86"/>
            <p:cNvSpPr/>
            <p:nvPr/>
          </p:nvSpPr>
          <p:spPr>
            <a:xfrm>
              <a:off x="4968" y="226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3462" name="Oval 87"/>
            <p:cNvSpPr/>
            <p:nvPr/>
          </p:nvSpPr>
          <p:spPr>
            <a:xfrm>
              <a:off x="5291" y="256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3463" name="Oval 88"/>
            <p:cNvSpPr/>
            <p:nvPr/>
          </p:nvSpPr>
          <p:spPr>
            <a:xfrm>
              <a:off x="4336" y="226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3464" name="Oval 89"/>
            <p:cNvSpPr/>
            <p:nvPr/>
          </p:nvSpPr>
          <p:spPr>
            <a:xfrm>
              <a:off x="4611" y="256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3465" name="Oval 90"/>
            <p:cNvSpPr/>
            <p:nvPr/>
          </p:nvSpPr>
          <p:spPr>
            <a:xfrm>
              <a:off x="4840" y="292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3466" name="Oval 91"/>
            <p:cNvSpPr/>
            <p:nvPr/>
          </p:nvSpPr>
          <p:spPr>
            <a:xfrm>
              <a:off x="5193" y="293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3467" name="Oval 92"/>
            <p:cNvSpPr/>
            <p:nvPr/>
          </p:nvSpPr>
          <p:spPr>
            <a:xfrm>
              <a:off x="5538" y="325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2957" name="Line 93"/>
            <p:cNvSpPr>
              <a:spLocks noChangeShapeType="1"/>
            </p:cNvSpPr>
            <p:nvPr/>
          </p:nvSpPr>
          <p:spPr bwMode="auto">
            <a:xfrm flipH="1">
              <a:off x="4833" y="1885"/>
              <a:ext cx="167" cy="167"/>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58" name="Line 94"/>
            <p:cNvSpPr>
              <a:spLocks noChangeShapeType="1"/>
            </p:cNvSpPr>
            <p:nvPr/>
          </p:nvSpPr>
          <p:spPr bwMode="auto">
            <a:xfrm flipH="1">
              <a:off x="4522" y="2196"/>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59" name="Line 95"/>
            <p:cNvSpPr>
              <a:spLocks noChangeShapeType="1"/>
            </p:cNvSpPr>
            <p:nvPr/>
          </p:nvSpPr>
          <p:spPr bwMode="auto">
            <a:xfrm flipH="1">
              <a:off x="5322" y="2796"/>
              <a:ext cx="67"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60" name="Line 96"/>
            <p:cNvSpPr>
              <a:spLocks noChangeShapeType="1"/>
            </p:cNvSpPr>
            <p:nvPr/>
          </p:nvSpPr>
          <p:spPr bwMode="auto">
            <a:xfrm>
              <a:off x="5088" y="1963"/>
              <a:ext cx="0" cy="322"/>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61" name="Line 97"/>
            <p:cNvSpPr>
              <a:spLocks noChangeShapeType="1"/>
            </p:cNvSpPr>
            <p:nvPr/>
          </p:nvSpPr>
          <p:spPr bwMode="auto">
            <a:xfrm>
              <a:off x="5177" y="1919"/>
              <a:ext cx="245" cy="644"/>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62" name="Line 98"/>
            <p:cNvSpPr>
              <a:spLocks noChangeShapeType="1"/>
            </p:cNvSpPr>
            <p:nvPr/>
          </p:nvSpPr>
          <p:spPr bwMode="auto">
            <a:xfrm>
              <a:off x="4744" y="2207"/>
              <a:ext cx="0" cy="378"/>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63" name="Line 99"/>
            <p:cNvSpPr>
              <a:spLocks noChangeShapeType="1"/>
            </p:cNvSpPr>
            <p:nvPr/>
          </p:nvSpPr>
          <p:spPr bwMode="auto">
            <a:xfrm>
              <a:off x="4777" y="2207"/>
              <a:ext cx="210" cy="711"/>
            </a:xfrm>
            <a:prstGeom prst="line">
              <a:avLst/>
            </a:prstGeom>
            <a:noFill/>
            <a:ln w="9525">
              <a:solidFill>
                <a:srgbClr val="0066FF"/>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64" name="Line 100"/>
            <p:cNvSpPr>
              <a:spLocks noChangeShapeType="1"/>
            </p:cNvSpPr>
            <p:nvPr/>
          </p:nvSpPr>
          <p:spPr bwMode="auto">
            <a:xfrm>
              <a:off x="5477" y="2752"/>
              <a:ext cx="178" cy="511"/>
            </a:xfrm>
            <a:prstGeom prst="line">
              <a:avLst/>
            </a:prstGeom>
            <a:noFill/>
            <a:ln w="9525">
              <a:solidFill>
                <a:srgbClr val="0066FF"/>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2" name="Group 101"/>
          <p:cNvGrpSpPr/>
          <p:nvPr/>
        </p:nvGrpSpPr>
        <p:grpSpPr>
          <a:xfrm>
            <a:off x="230188" y="5026025"/>
            <a:ext cx="2944812" cy="1614488"/>
            <a:chOff x="251" y="1978"/>
            <a:chExt cx="1855" cy="1017"/>
          </a:xfrm>
        </p:grpSpPr>
        <p:sp>
          <p:nvSpPr>
            <p:cNvPr id="103442" name="Oval 102"/>
            <p:cNvSpPr/>
            <p:nvPr/>
          </p:nvSpPr>
          <p:spPr>
            <a:xfrm>
              <a:off x="1206" y="197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3443" name="Oval 103"/>
            <p:cNvSpPr/>
            <p:nvPr/>
          </p:nvSpPr>
          <p:spPr>
            <a:xfrm>
              <a:off x="659"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3444" name="Oval 104"/>
            <p:cNvSpPr/>
            <p:nvPr/>
          </p:nvSpPr>
          <p:spPr>
            <a:xfrm>
              <a:off x="1206"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3445" name="Oval 105"/>
            <p:cNvSpPr/>
            <p:nvPr/>
          </p:nvSpPr>
          <p:spPr>
            <a:xfrm>
              <a:off x="1684" y="237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3446" name="Oval 106"/>
            <p:cNvSpPr/>
            <p:nvPr/>
          </p:nvSpPr>
          <p:spPr>
            <a:xfrm>
              <a:off x="251"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3447" name="Oval 107"/>
            <p:cNvSpPr/>
            <p:nvPr/>
          </p:nvSpPr>
          <p:spPr>
            <a:xfrm>
              <a:off x="659"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3448" name="Oval 108"/>
            <p:cNvSpPr/>
            <p:nvPr/>
          </p:nvSpPr>
          <p:spPr>
            <a:xfrm>
              <a:off x="1067"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3449" name="Oval 109"/>
            <p:cNvSpPr/>
            <p:nvPr/>
          </p:nvSpPr>
          <p:spPr>
            <a:xfrm>
              <a:off x="1475"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3450" name="Oval 110"/>
            <p:cNvSpPr/>
            <p:nvPr/>
          </p:nvSpPr>
          <p:spPr>
            <a:xfrm>
              <a:off x="1884" y="276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2975" name="Line 111"/>
            <p:cNvSpPr>
              <a:spLocks noChangeShapeType="1"/>
            </p:cNvSpPr>
            <p:nvPr/>
          </p:nvSpPr>
          <p:spPr bwMode="auto">
            <a:xfrm>
              <a:off x="1311" y="2211"/>
              <a:ext cx="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76" name="Line 112"/>
            <p:cNvSpPr>
              <a:spLocks noChangeShapeType="1"/>
            </p:cNvSpPr>
            <p:nvPr/>
          </p:nvSpPr>
          <p:spPr bwMode="auto">
            <a:xfrm flipH="1">
              <a:off x="822" y="2133"/>
              <a:ext cx="400"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77" name="Line 113"/>
            <p:cNvSpPr>
              <a:spLocks noChangeShapeType="1"/>
            </p:cNvSpPr>
            <p:nvPr/>
          </p:nvSpPr>
          <p:spPr bwMode="auto">
            <a:xfrm>
              <a:off x="1411" y="2144"/>
              <a:ext cx="334" cy="2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78" name="Line 114"/>
            <p:cNvSpPr>
              <a:spLocks noChangeShapeType="1"/>
            </p:cNvSpPr>
            <p:nvPr/>
          </p:nvSpPr>
          <p:spPr bwMode="auto">
            <a:xfrm>
              <a:off x="767" y="2611"/>
              <a:ext cx="0"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79" name="Line 115"/>
            <p:cNvSpPr>
              <a:spLocks noChangeShapeType="1"/>
            </p:cNvSpPr>
            <p:nvPr/>
          </p:nvSpPr>
          <p:spPr bwMode="auto">
            <a:xfrm flipH="1">
              <a:off x="433" y="2555"/>
              <a:ext cx="234"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80" name="Line 116"/>
            <p:cNvSpPr>
              <a:spLocks noChangeShapeType="1"/>
            </p:cNvSpPr>
            <p:nvPr/>
          </p:nvSpPr>
          <p:spPr bwMode="auto">
            <a:xfrm>
              <a:off x="856" y="2555"/>
              <a:ext cx="244" cy="2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81" name="Line 117"/>
            <p:cNvSpPr>
              <a:spLocks noChangeShapeType="1"/>
            </p:cNvSpPr>
            <p:nvPr/>
          </p:nvSpPr>
          <p:spPr bwMode="auto">
            <a:xfrm flipH="1">
              <a:off x="1634" y="2578"/>
              <a:ext cx="111" cy="18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2982" name="Line 118"/>
            <p:cNvSpPr>
              <a:spLocks noChangeShapeType="1"/>
            </p:cNvSpPr>
            <p:nvPr/>
          </p:nvSpPr>
          <p:spPr bwMode="auto">
            <a:xfrm>
              <a:off x="1878" y="2589"/>
              <a:ext cx="111" cy="17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2866">
                                            <p:txEl>
                                              <p:charRg st="0" end="8"/>
                                            </p:txEl>
                                          </p:spTgt>
                                        </p:tgtEl>
                                        <p:attrNameLst>
                                          <p:attrName>style.visibility</p:attrName>
                                        </p:attrNameLst>
                                      </p:cBhvr>
                                      <p:to>
                                        <p:strVal val="visible"/>
                                      </p:to>
                                    </p:set>
                                    <p:anim calcmode="lin" valueType="num">
                                      <p:cBhvr additive="base">
                                        <p:cTn id="7" dur="500" fill="hold"/>
                                        <p:tgtEl>
                                          <p:spTgt spid="292866">
                                            <p:txEl>
                                              <p:charRg st="0" end="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2866">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2866">
                                            <p:txEl>
                                              <p:charRg st="8" end="67"/>
                                            </p:txEl>
                                          </p:spTgt>
                                        </p:tgtEl>
                                        <p:attrNameLst>
                                          <p:attrName>style.visibility</p:attrName>
                                        </p:attrNameLst>
                                      </p:cBhvr>
                                      <p:to>
                                        <p:strVal val="visible"/>
                                      </p:to>
                                    </p:set>
                                    <p:anim calcmode="lin" valueType="num">
                                      <p:cBhvr additive="base">
                                        <p:cTn id="13" dur="500" fill="hold"/>
                                        <p:tgtEl>
                                          <p:spTgt spid="292866">
                                            <p:txEl>
                                              <p:charRg st="8" end="6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2866">
                                            <p:txEl>
                                              <p:charRg st="8" end="6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2866">
                                            <p:txEl>
                                              <p:charRg st="67" end="89"/>
                                            </p:txEl>
                                          </p:spTgt>
                                        </p:tgtEl>
                                        <p:attrNameLst>
                                          <p:attrName>style.visibility</p:attrName>
                                        </p:attrNameLst>
                                      </p:cBhvr>
                                      <p:to>
                                        <p:strVal val="visible"/>
                                      </p:to>
                                    </p:set>
                                    <p:anim calcmode="lin" valueType="num">
                                      <p:cBhvr additive="base">
                                        <p:cTn id="19" dur="500" fill="hold"/>
                                        <p:tgtEl>
                                          <p:spTgt spid="292866">
                                            <p:txEl>
                                              <p:charRg st="67" end="8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2866">
                                            <p:txEl>
                                              <p:charRg st="67" end="89"/>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2866">
                                            <p:txEl>
                                              <p:charRg st="89" end="107"/>
                                            </p:txEl>
                                          </p:spTgt>
                                        </p:tgtEl>
                                        <p:attrNameLst>
                                          <p:attrName>style.visibility</p:attrName>
                                        </p:attrNameLst>
                                      </p:cBhvr>
                                      <p:to>
                                        <p:strVal val="visible"/>
                                      </p:to>
                                    </p:set>
                                    <p:anim calcmode="lin" valueType="num">
                                      <p:cBhvr additive="base">
                                        <p:cTn id="25" dur="500" fill="hold"/>
                                        <p:tgtEl>
                                          <p:spTgt spid="292866">
                                            <p:txEl>
                                              <p:charRg st="89" end="10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2866">
                                            <p:txEl>
                                              <p:charRg st="89" end="107"/>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ox(ou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292904"/>
                                        </p:tgtEl>
                                        <p:attrNameLst>
                                          <p:attrName>style.visibility</p:attrName>
                                        </p:attrNameLst>
                                      </p:cBhvr>
                                      <p:to>
                                        <p:strVal val="visible"/>
                                      </p:to>
                                    </p:set>
                                    <p:animEffect transition="in" filter="box(out)">
                                      <p:cBhvr>
                                        <p:cTn id="42" dur="500"/>
                                        <p:tgtEl>
                                          <p:spTgt spid="29290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292905"/>
                                        </p:tgtEl>
                                        <p:attrNameLst>
                                          <p:attrName>style.visibility</p:attrName>
                                        </p:attrNameLst>
                                      </p:cBhvr>
                                      <p:to>
                                        <p:strVal val="visible"/>
                                      </p:to>
                                    </p:set>
                                    <p:animEffect transition="in" filter="box(out)">
                                      <p:cBhvr>
                                        <p:cTn id="47" dur="500"/>
                                        <p:tgtEl>
                                          <p:spTgt spid="292905"/>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292906"/>
                                        </p:tgtEl>
                                        <p:attrNameLst>
                                          <p:attrName>style.visibility</p:attrName>
                                        </p:attrNameLst>
                                      </p:cBhvr>
                                      <p:to>
                                        <p:strVal val="visible"/>
                                      </p:to>
                                    </p:set>
                                    <p:animEffect transition="in" filter="box(out)">
                                      <p:cBhvr>
                                        <p:cTn id="52" dur="500"/>
                                        <p:tgtEl>
                                          <p:spTgt spid="292906"/>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292907"/>
                                        </p:tgtEl>
                                        <p:attrNameLst>
                                          <p:attrName>style.visibility</p:attrName>
                                        </p:attrNameLst>
                                      </p:cBhvr>
                                      <p:to>
                                        <p:strVal val="visible"/>
                                      </p:to>
                                    </p:set>
                                    <p:animEffect transition="in" filter="box(out)">
                                      <p:cBhvr>
                                        <p:cTn id="57" dur="500"/>
                                        <p:tgtEl>
                                          <p:spTgt spid="292907"/>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292908"/>
                                        </p:tgtEl>
                                        <p:attrNameLst>
                                          <p:attrName>style.visibility</p:attrName>
                                        </p:attrNameLst>
                                      </p:cBhvr>
                                      <p:to>
                                        <p:strVal val="visible"/>
                                      </p:to>
                                    </p:set>
                                    <p:animEffect transition="in" filter="box(out)">
                                      <p:cBhvr>
                                        <p:cTn id="62" dur="500"/>
                                        <p:tgtEl>
                                          <p:spTgt spid="292908"/>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box(out)">
                                      <p:cBhvr>
                                        <p:cTn id="67" dur="500"/>
                                        <p:tgtEl>
                                          <p:spTgt spid="5"/>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box(out)">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32"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box(out)">
                                      <p:cBhvr>
                                        <p:cTn id="77" dur="500"/>
                                        <p:tgtEl>
                                          <p:spTgt spid="7"/>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32" fill="hold" nodeType="click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box(out)">
                                      <p:cBhvr>
                                        <p:cTn id="82" dur="500"/>
                                        <p:tgtEl>
                                          <p:spTgt spid="8"/>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32"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box(out)">
                                      <p:cBhvr>
                                        <p:cTn id="87" dur="500"/>
                                        <p:tgtEl>
                                          <p:spTgt spid="9"/>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32" fill="hold" nodeType="click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box(out)">
                                      <p:cBhvr>
                                        <p:cTn id="92" dur="500"/>
                                        <p:tgtEl>
                                          <p:spTgt spid="10"/>
                                        </p:tgtEl>
                                      </p:cBhvr>
                                    </p:animEffect>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nodeType="clickEffect">
                                  <p:stCondLst>
                                    <p:cond delay="0"/>
                                  </p:stCondLst>
                                  <p:childTnLst>
                                    <p:set>
                                      <p:cBhvr>
                                        <p:cTn id="96" dur="1" fill="hold">
                                          <p:stCondLst>
                                            <p:cond delay="0"/>
                                          </p:stCondLst>
                                        </p:cTn>
                                        <p:tgtEl>
                                          <p:spTgt spid="11"/>
                                        </p:tgtEl>
                                        <p:attrNameLst>
                                          <p:attrName>style.visibility</p:attrName>
                                        </p:attrNameLst>
                                      </p:cBhvr>
                                      <p:to>
                                        <p:strVal val="visible"/>
                                      </p:to>
                                    </p:set>
                                    <p:anim calcmode="lin" valueType="num">
                                      <p:cBhvr additive="base">
                                        <p:cTn id="97" dur="500" fill="hold"/>
                                        <p:tgtEl>
                                          <p:spTgt spid="11"/>
                                        </p:tgtEl>
                                        <p:attrNameLst>
                                          <p:attrName>ppt_x</p:attrName>
                                        </p:attrNameLst>
                                      </p:cBhvr>
                                      <p:tavLst>
                                        <p:tav tm="0">
                                          <p:val>
                                            <p:strVal val="0-#ppt_w/2"/>
                                          </p:val>
                                        </p:tav>
                                        <p:tav tm="100000">
                                          <p:val>
                                            <p:strVal val="#ppt_x"/>
                                          </p:val>
                                        </p:tav>
                                      </p:tavLst>
                                    </p:anim>
                                    <p:anim calcmode="lin" valueType="num">
                                      <p:cBhvr additive="base">
                                        <p:cTn id="9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nodeType="clickEffect">
                                  <p:stCondLst>
                                    <p:cond delay="0"/>
                                  </p:stCondLst>
                                  <p:childTnLst>
                                    <p:set>
                                      <p:cBhvr>
                                        <p:cTn id="102" dur="1" fill="hold">
                                          <p:stCondLst>
                                            <p:cond delay="0"/>
                                          </p:stCondLst>
                                        </p:cTn>
                                        <p:tgtEl>
                                          <p:spTgt spid="12"/>
                                        </p:tgtEl>
                                        <p:attrNameLst>
                                          <p:attrName>style.visibility</p:attrName>
                                        </p:attrNameLst>
                                      </p:cBhvr>
                                      <p:to>
                                        <p:strVal val="visible"/>
                                      </p:to>
                                    </p:set>
                                    <p:anim calcmode="lin" valueType="num">
                                      <p:cBhvr additive="base">
                                        <p:cTn id="103" dur="500" fill="hold"/>
                                        <p:tgtEl>
                                          <p:spTgt spid="12"/>
                                        </p:tgtEl>
                                        <p:attrNameLst>
                                          <p:attrName>ppt_x</p:attrName>
                                        </p:attrNameLst>
                                      </p:cBhvr>
                                      <p:tavLst>
                                        <p:tav tm="0">
                                          <p:val>
                                            <p:strVal val="0-#ppt_w/2"/>
                                          </p:val>
                                        </p:tav>
                                        <p:tav tm="100000">
                                          <p:val>
                                            <p:strVal val="#ppt_x"/>
                                          </p:val>
                                        </p:tav>
                                      </p:tavLst>
                                    </p:anim>
                                    <p:anim calcmode="lin" valueType="num">
                                      <p:cBhvr additive="base">
                                        <p:cTn id="10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bldLvl="4" build="p"/>
    </p:bld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3890" name="Rectangle 2"/>
          <p:cNvSpPr>
            <a:spLocks noChangeArrowheads="1"/>
          </p:cNvSpPr>
          <p:nvPr/>
        </p:nvSpPr>
        <p:spPr bwMode="auto">
          <a:xfrm>
            <a:off x="179388" y="131763"/>
            <a:ext cx="8964613" cy="1697038"/>
          </a:xfrm>
          <a:prstGeom prst="rect">
            <a:avLst/>
          </a:prstGeom>
          <a:noFill/>
          <a:ln w="9525">
            <a:noFill/>
            <a:miter lim="800000"/>
          </a:ln>
        </p:spPr>
        <p:txBody>
          <a:bodyPr/>
          <a:lstStyle/>
          <a:p>
            <a:pPr marL="469900" marR="0" lvl="0" indent="-46990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Char char="§"/>
              <a:defRPr/>
            </a:pPr>
            <a:r>
              <a:rPr kumimoji="0" lang="zh-CN" altLang="en-US" sz="2100" b="0"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二叉树转换成森林</a:t>
            </a:r>
            <a:endParaRPr kumimoji="0" lang="zh-CN" altLang="en-US" sz="2100" b="0"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a:p>
            <a:pPr marL="908050" marR="0" lvl="1" indent="-43688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 </a:t>
            </a:r>
            <a:r>
              <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抹线：将二叉树中根结点与其右孩子连线，及沿右分支</a:t>
            </a:r>
            <a:endPar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a:p>
            <a:pPr marL="908050" marR="0" lvl="1" indent="-43688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搜索到的所有右孩子间连线全部抹掉，使之变成孤立的二叉树</a:t>
            </a:r>
            <a:endPar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a:p>
            <a:pPr marL="908050" marR="0" lvl="1" indent="-43688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r>
              <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rPr>
              <a:t> 还原：将孤立的二叉树还原成树</a:t>
            </a:r>
            <a:endParaRPr kumimoji="0" lang="zh-CN" altLang="en-US" sz="2200" b="0"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sym typeface="Symbol" panose="05050102010706020507" pitchFamily="18" charset="2"/>
            </a:endParaRPr>
          </a:p>
        </p:txBody>
      </p:sp>
      <p:grpSp>
        <p:nvGrpSpPr>
          <p:cNvPr id="2" name="Group 3"/>
          <p:cNvGrpSpPr/>
          <p:nvPr/>
        </p:nvGrpSpPr>
        <p:grpSpPr>
          <a:xfrm>
            <a:off x="698500" y="2198688"/>
            <a:ext cx="2127250" cy="2906712"/>
            <a:chOff x="3284" y="2489"/>
            <a:chExt cx="1340" cy="1831"/>
          </a:xfrm>
        </p:grpSpPr>
        <p:sp>
          <p:nvSpPr>
            <p:cNvPr id="104523" name="Oval 4"/>
            <p:cNvSpPr/>
            <p:nvPr/>
          </p:nvSpPr>
          <p:spPr>
            <a:xfrm>
              <a:off x="3786" y="248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4524" name="Oval 5"/>
            <p:cNvSpPr/>
            <p:nvPr/>
          </p:nvSpPr>
          <p:spPr>
            <a:xfrm>
              <a:off x="3284" y="283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4525" name="Oval 6"/>
            <p:cNvSpPr/>
            <p:nvPr/>
          </p:nvSpPr>
          <p:spPr>
            <a:xfrm>
              <a:off x="3498" y="325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4526" name="Oval 7"/>
            <p:cNvSpPr/>
            <p:nvPr/>
          </p:nvSpPr>
          <p:spPr>
            <a:xfrm>
              <a:off x="3709" y="355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3896" name="Line 8"/>
            <p:cNvSpPr>
              <a:spLocks noChangeShapeType="1"/>
            </p:cNvSpPr>
            <p:nvPr/>
          </p:nvSpPr>
          <p:spPr bwMode="auto">
            <a:xfrm>
              <a:off x="3459" y="3061"/>
              <a:ext cx="133" cy="178"/>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897" name="Line 9"/>
            <p:cNvSpPr>
              <a:spLocks noChangeShapeType="1"/>
            </p:cNvSpPr>
            <p:nvPr/>
          </p:nvSpPr>
          <p:spPr bwMode="auto">
            <a:xfrm>
              <a:off x="3681" y="3462"/>
              <a:ext cx="111" cy="110"/>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104529" name="Group 10"/>
            <p:cNvGrpSpPr/>
            <p:nvPr/>
          </p:nvGrpSpPr>
          <p:grpSpPr>
            <a:xfrm>
              <a:off x="3862" y="2863"/>
              <a:ext cx="460" cy="633"/>
              <a:chOff x="1625" y="2991"/>
              <a:chExt cx="460" cy="633"/>
            </a:xfrm>
          </p:grpSpPr>
          <p:sp>
            <p:nvSpPr>
              <p:cNvPr id="104541" name="Oval 11"/>
              <p:cNvSpPr/>
              <p:nvPr/>
            </p:nvSpPr>
            <p:spPr>
              <a:xfrm>
                <a:off x="1863" y="29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4542" name="Oval 12"/>
              <p:cNvSpPr/>
              <p:nvPr/>
            </p:nvSpPr>
            <p:spPr>
              <a:xfrm>
                <a:off x="1625" y="33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3901" name="Line 13"/>
              <p:cNvSpPr>
                <a:spLocks noChangeShapeType="1"/>
              </p:cNvSpPr>
              <p:nvPr/>
            </p:nvSpPr>
            <p:spPr bwMode="auto">
              <a:xfrm flipH="1">
                <a:off x="1800" y="3222"/>
                <a:ext cx="122"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3902" name="Line 14"/>
            <p:cNvSpPr>
              <a:spLocks noChangeShapeType="1"/>
            </p:cNvSpPr>
            <p:nvPr/>
          </p:nvSpPr>
          <p:spPr bwMode="auto">
            <a:xfrm>
              <a:off x="3978" y="2699"/>
              <a:ext cx="178" cy="1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03" name="Line 15"/>
            <p:cNvSpPr>
              <a:spLocks noChangeShapeType="1"/>
            </p:cNvSpPr>
            <p:nvPr/>
          </p:nvSpPr>
          <p:spPr bwMode="auto">
            <a:xfrm>
              <a:off x="4300" y="3066"/>
              <a:ext cx="90" cy="88"/>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04" name="Line 16"/>
            <p:cNvSpPr>
              <a:spLocks noChangeShapeType="1"/>
            </p:cNvSpPr>
            <p:nvPr/>
          </p:nvSpPr>
          <p:spPr bwMode="auto">
            <a:xfrm flipH="1">
              <a:off x="3523" y="2677"/>
              <a:ext cx="300"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104533" name="Group 17"/>
            <p:cNvGrpSpPr/>
            <p:nvPr/>
          </p:nvGrpSpPr>
          <p:grpSpPr>
            <a:xfrm>
              <a:off x="4137" y="3114"/>
              <a:ext cx="487" cy="1206"/>
              <a:chOff x="4530" y="1359"/>
              <a:chExt cx="487" cy="1206"/>
            </a:xfrm>
          </p:grpSpPr>
          <p:sp>
            <p:nvSpPr>
              <p:cNvPr id="104534" name="Oval 18"/>
              <p:cNvSpPr/>
              <p:nvPr/>
            </p:nvSpPr>
            <p:spPr>
              <a:xfrm>
                <a:off x="4767" y="135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4535" name="Oval 19"/>
              <p:cNvSpPr/>
              <p:nvPr/>
            </p:nvSpPr>
            <p:spPr>
              <a:xfrm>
                <a:off x="4530" y="17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4536" name="Oval 20"/>
              <p:cNvSpPr/>
              <p:nvPr/>
            </p:nvSpPr>
            <p:spPr>
              <a:xfrm>
                <a:off x="4795" y="20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3909" name="Line 21"/>
              <p:cNvSpPr>
                <a:spLocks noChangeShapeType="1"/>
              </p:cNvSpPr>
              <p:nvPr/>
            </p:nvSpPr>
            <p:spPr bwMode="auto">
              <a:xfrm flipH="1">
                <a:off x="4700" y="1586"/>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4538" name="Oval 22"/>
              <p:cNvSpPr/>
              <p:nvPr/>
            </p:nvSpPr>
            <p:spPr>
              <a:xfrm>
                <a:off x="4580" y="233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3911" name="Line 23"/>
              <p:cNvSpPr>
                <a:spLocks noChangeShapeType="1"/>
              </p:cNvSpPr>
              <p:nvPr/>
            </p:nvSpPr>
            <p:spPr bwMode="auto">
              <a:xfrm>
                <a:off x="4723" y="1900"/>
                <a:ext cx="122"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12" name="Line 24"/>
              <p:cNvSpPr>
                <a:spLocks noChangeShapeType="1"/>
              </p:cNvSpPr>
              <p:nvPr/>
            </p:nvSpPr>
            <p:spPr bwMode="auto">
              <a:xfrm flipH="1">
                <a:off x="4767" y="2222"/>
                <a:ext cx="78"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5" name="Group 25"/>
          <p:cNvGrpSpPr/>
          <p:nvPr/>
        </p:nvGrpSpPr>
        <p:grpSpPr>
          <a:xfrm>
            <a:off x="3148013" y="2057400"/>
            <a:ext cx="2127250" cy="2906713"/>
            <a:chOff x="2028" y="1244"/>
            <a:chExt cx="1340" cy="1831"/>
          </a:xfrm>
        </p:grpSpPr>
        <p:grpSp>
          <p:nvGrpSpPr>
            <p:cNvPr id="104495" name="Group 26"/>
            <p:cNvGrpSpPr/>
            <p:nvPr/>
          </p:nvGrpSpPr>
          <p:grpSpPr>
            <a:xfrm>
              <a:off x="2772" y="1513"/>
              <a:ext cx="111" cy="111"/>
              <a:chOff x="1978" y="3911"/>
              <a:chExt cx="111" cy="111"/>
            </a:xfrm>
          </p:grpSpPr>
          <p:sp>
            <p:nvSpPr>
              <p:cNvPr id="293915" name="Line 27"/>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16" name="Line 28"/>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4496" name="Group 29"/>
            <p:cNvGrpSpPr/>
            <p:nvPr/>
          </p:nvGrpSpPr>
          <p:grpSpPr>
            <a:xfrm>
              <a:off x="3051" y="1835"/>
              <a:ext cx="111" cy="111"/>
              <a:chOff x="1978" y="3911"/>
              <a:chExt cx="111" cy="111"/>
            </a:xfrm>
          </p:grpSpPr>
          <p:sp>
            <p:nvSpPr>
              <p:cNvPr id="293918" name="Line 30"/>
              <p:cNvSpPr>
                <a:spLocks noChangeShapeType="1"/>
              </p:cNvSpPr>
              <p:nvPr/>
            </p:nvSpPr>
            <p:spPr bwMode="auto">
              <a:xfrm>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19" name="Line 31"/>
              <p:cNvSpPr>
                <a:spLocks noChangeShapeType="1"/>
              </p:cNvSpPr>
              <p:nvPr/>
            </p:nvSpPr>
            <p:spPr bwMode="auto">
              <a:xfrm flipH="1">
                <a:off x="1978" y="3911"/>
                <a:ext cx="111" cy="111"/>
              </a:xfrm>
              <a:prstGeom prst="line">
                <a:avLst/>
              </a:prstGeom>
              <a:noFill/>
              <a:ln w="9525">
                <a:solidFill>
                  <a:srgbClr val="FF3300"/>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4497" name="Group 32"/>
            <p:cNvGrpSpPr/>
            <p:nvPr/>
          </p:nvGrpSpPr>
          <p:grpSpPr>
            <a:xfrm>
              <a:off x="2028" y="1244"/>
              <a:ext cx="1340" cy="1831"/>
              <a:chOff x="3284" y="2489"/>
              <a:chExt cx="1340" cy="1831"/>
            </a:xfrm>
          </p:grpSpPr>
          <p:sp>
            <p:nvSpPr>
              <p:cNvPr id="104498" name="Oval 33"/>
              <p:cNvSpPr/>
              <p:nvPr/>
            </p:nvSpPr>
            <p:spPr>
              <a:xfrm>
                <a:off x="3786" y="248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4499" name="Oval 34"/>
              <p:cNvSpPr/>
              <p:nvPr/>
            </p:nvSpPr>
            <p:spPr>
              <a:xfrm>
                <a:off x="3284" y="283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4500" name="Oval 35"/>
              <p:cNvSpPr/>
              <p:nvPr/>
            </p:nvSpPr>
            <p:spPr>
              <a:xfrm>
                <a:off x="3498" y="325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4501" name="Oval 36"/>
              <p:cNvSpPr/>
              <p:nvPr/>
            </p:nvSpPr>
            <p:spPr>
              <a:xfrm>
                <a:off x="3709" y="355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3925" name="Line 37"/>
              <p:cNvSpPr>
                <a:spLocks noChangeShapeType="1"/>
              </p:cNvSpPr>
              <p:nvPr/>
            </p:nvSpPr>
            <p:spPr bwMode="auto">
              <a:xfrm>
                <a:off x="3459" y="3061"/>
                <a:ext cx="133" cy="178"/>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26" name="Line 38"/>
              <p:cNvSpPr>
                <a:spLocks noChangeShapeType="1"/>
              </p:cNvSpPr>
              <p:nvPr/>
            </p:nvSpPr>
            <p:spPr bwMode="auto">
              <a:xfrm>
                <a:off x="3681" y="3462"/>
                <a:ext cx="111" cy="110"/>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104504" name="Group 39"/>
              <p:cNvGrpSpPr/>
              <p:nvPr/>
            </p:nvGrpSpPr>
            <p:grpSpPr>
              <a:xfrm>
                <a:off x="3862" y="2863"/>
                <a:ext cx="460" cy="633"/>
                <a:chOff x="1625" y="2991"/>
                <a:chExt cx="460" cy="633"/>
              </a:xfrm>
            </p:grpSpPr>
            <p:sp>
              <p:nvSpPr>
                <p:cNvPr id="104516" name="Oval 40"/>
                <p:cNvSpPr/>
                <p:nvPr/>
              </p:nvSpPr>
              <p:spPr>
                <a:xfrm>
                  <a:off x="1863" y="29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4517" name="Oval 41"/>
                <p:cNvSpPr/>
                <p:nvPr/>
              </p:nvSpPr>
              <p:spPr>
                <a:xfrm>
                  <a:off x="1625" y="33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3930" name="Line 42"/>
                <p:cNvSpPr>
                  <a:spLocks noChangeShapeType="1"/>
                </p:cNvSpPr>
                <p:nvPr/>
              </p:nvSpPr>
              <p:spPr bwMode="auto">
                <a:xfrm flipH="1">
                  <a:off x="1800" y="3222"/>
                  <a:ext cx="122"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3931" name="Line 43"/>
              <p:cNvSpPr>
                <a:spLocks noChangeShapeType="1"/>
              </p:cNvSpPr>
              <p:nvPr/>
            </p:nvSpPr>
            <p:spPr bwMode="auto">
              <a:xfrm>
                <a:off x="3978" y="2699"/>
                <a:ext cx="178" cy="1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32" name="Line 44"/>
              <p:cNvSpPr>
                <a:spLocks noChangeShapeType="1"/>
              </p:cNvSpPr>
              <p:nvPr/>
            </p:nvSpPr>
            <p:spPr bwMode="auto">
              <a:xfrm>
                <a:off x="4300" y="3066"/>
                <a:ext cx="90" cy="88"/>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33" name="Line 45"/>
              <p:cNvSpPr>
                <a:spLocks noChangeShapeType="1"/>
              </p:cNvSpPr>
              <p:nvPr/>
            </p:nvSpPr>
            <p:spPr bwMode="auto">
              <a:xfrm flipH="1">
                <a:off x="3523" y="2677"/>
                <a:ext cx="300"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nvGrpSpPr>
              <p:cNvPr id="104508" name="Group 46"/>
              <p:cNvGrpSpPr/>
              <p:nvPr/>
            </p:nvGrpSpPr>
            <p:grpSpPr>
              <a:xfrm>
                <a:off x="4137" y="3114"/>
                <a:ext cx="487" cy="1206"/>
                <a:chOff x="4530" y="1359"/>
                <a:chExt cx="487" cy="1206"/>
              </a:xfrm>
            </p:grpSpPr>
            <p:sp>
              <p:nvSpPr>
                <p:cNvPr id="104509" name="Oval 47"/>
                <p:cNvSpPr/>
                <p:nvPr/>
              </p:nvSpPr>
              <p:spPr>
                <a:xfrm>
                  <a:off x="4767" y="135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4510" name="Oval 48"/>
                <p:cNvSpPr/>
                <p:nvPr/>
              </p:nvSpPr>
              <p:spPr>
                <a:xfrm>
                  <a:off x="4530" y="17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4511" name="Oval 49"/>
                <p:cNvSpPr/>
                <p:nvPr/>
              </p:nvSpPr>
              <p:spPr>
                <a:xfrm>
                  <a:off x="4795" y="20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3938" name="Line 50"/>
                <p:cNvSpPr>
                  <a:spLocks noChangeShapeType="1"/>
                </p:cNvSpPr>
                <p:nvPr/>
              </p:nvSpPr>
              <p:spPr bwMode="auto">
                <a:xfrm flipH="1">
                  <a:off x="4700" y="1586"/>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4513" name="Oval 51"/>
                <p:cNvSpPr/>
                <p:nvPr/>
              </p:nvSpPr>
              <p:spPr>
                <a:xfrm>
                  <a:off x="4580" y="233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3940" name="Line 52"/>
                <p:cNvSpPr>
                  <a:spLocks noChangeShapeType="1"/>
                </p:cNvSpPr>
                <p:nvPr/>
              </p:nvSpPr>
              <p:spPr bwMode="auto">
                <a:xfrm>
                  <a:off x="4723" y="1900"/>
                  <a:ext cx="122"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41" name="Line 53"/>
                <p:cNvSpPr>
                  <a:spLocks noChangeShapeType="1"/>
                </p:cNvSpPr>
                <p:nvPr/>
              </p:nvSpPr>
              <p:spPr bwMode="auto">
                <a:xfrm flipH="1">
                  <a:off x="4767" y="2222"/>
                  <a:ext cx="78"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grpSp>
        <p:nvGrpSpPr>
          <p:cNvPr id="11" name="Group 54"/>
          <p:cNvGrpSpPr/>
          <p:nvPr/>
        </p:nvGrpSpPr>
        <p:grpSpPr>
          <a:xfrm>
            <a:off x="5667375" y="2298700"/>
            <a:ext cx="3125788" cy="1914525"/>
            <a:chOff x="3048" y="1359"/>
            <a:chExt cx="1969" cy="1206"/>
          </a:xfrm>
        </p:grpSpPr>
        <p:grpSp>
          <p:nvGrpSpPr>
            <p:cNvPr id="104475" name="Group 55"/>
            <p:cNvGrpSpPr/>
            <p:nvPr/>
          </p:nvGrpSpPr>
          <p:grpSpPr>
            <a:xfrm>
              <a:off x="3048" y="1364"/>
              <a:ext cx="780" cy="1151"/>
              <a:chOff x="359" y="2752"/>
              <a:chExt cx="780" cy="1151"/>
            </a:xfrm>
          </p:grpSpPr>
          <p:sp>
            <p:nvSpPr>
              <p:cNvPr id="104488" name="Oval 56"/>
              <p:cNvSpPr/>
              <p:nvPr/>
            </p:nvSpPr>
            <p:spPr>
              <a:xfrm>
                <a:off x="628" y="275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4489" name="Oval 57"/>
              <p:cNvSpPr/>
              <p:nvPr/>
            </p:nvSpPr>
            <p:spPr>
              <a:xfrm>
                <a:off x="359" y="309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4490" name="Oval 58"/>
              <p:cNvSpPr/>
              <p:nvPr/>
            </p:nvSpPr>
            <p:spPr>
              <a:xfrm>
                <a:off x="628" y="339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4491" name="Oval 59"/>
              <p:cNvSpPr/>
              <p:nvPr/>
            </p:nvSpPr>
            <p:spPr>
              <a:xfrm>
                <a:off x="917" y="367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3948" name="Line 60"/>
              <p:cNvSpPr>
                <a:spLocks noChangeShapeType="1"/>
              </p:cNvSpPr>
              <p:nvPr/>
            </p:nvSpPr>
            <p:spPr bwMode="auto">
              <a:xfrm flipH="1">
                <a:off x="556" y="2966"/>
                <a:ext cx="111"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49" name="Line 61"/>
              <p:cNvSpPr>
                <a:spLocks noChangeShapeType="1"/>
              </p:cNvSpPr>
              <p:nvPr/>
            </p:nvSpPr>
            <p:spPr bwMode="auto">
              <a:xfrm>
                <a:off x="545" y="3277"/>
                <a:ext cx="144"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50" name="Line 62"/>
              <p:cNvSpPr>
                <a:spLocks noChangeShapeType="1"/>
              </p:cNvSpPr>
              <p:nvPr/>
            </p:nvSpPr>
            <p:spPr bwMode="auto">
              <a:xfrm>
                <a:off x="811" y="3589"/>
                <a:ext cx="134"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4476" name="Group 63"/>
            <p:cNvGrpSpPr/>
            <p:nvPr/>
          </p:nvGrpSpPr>
          <p:grpSpPr>
            <a:xfrm>
              <a:off x="3803" y="1392"/>
              <a:ext cx="460" cy="633"/>
              <a:chOff x="1625" y="2991"/>
              <a:chExt cx="460" cy="633"/>
            </a:xfrm>
          </p:grpSpPr>
          <p:sp>
            <p:nvSpPr>
              <p:cNvPr id="104485" name="Oval 64"/>
              <p:cNvSpPr/>
              <p:nvPr/>
            </p:nvSpPr>
            <p:spPr>
              <a:xfrm>
                <a:off x="1863" y="29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4486" name="Oval 65"/>
              <p:cNvSpPr/>
              <p:nvPr/>
            </p:nvSpPr>
            <p:spPr>
              <a:xfrm>
                <a:off x="1625" y="3391"/>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3954" name="Line 66"/>
              <p:cNvSpPr>
                <a:spLocks noChangeShapeType="1"/>
              </p:cNvSpPr>
              <p:nvPr/>
            </p:nvSpPr>
            <p:spPr bwMode="auto">
              <a:xfrm flipH="1">
                <a:off x="1800" y="3222"/>
                <a:ext cx="122"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4477" name="Group 67"/>
            <p:cNvGrpSpPr/>
            <p:nvPr/>
          </p:nvGrpSpPr>
          <p:grpSpPr>
            <a:xfrm>
              <a:off x="4530" y="1359"/>
              <a:ext cx="487" cy="1206"/>
              <a:chOff x="4530" y="1359"/>
              <a:chExt cx="487" cy="1206"/>
            </a:xfrm>
          </p:grpSpPr>
          <p:sp>
            <p:nvSpPr>
              <p:cNvPr id="104478" name="Oval 68"/>
              <p:cNvSpPr/>
              <p:nvPr/>
            </p:nvSpPr>
            <p:spPr>
              <a:xfrm>
                <a:off x="4767" y="135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4479" name="Oval 69"/>
              <p:cNvSpPr/>
              <p:nvPr/>
            </p:nvSpPr>
            <p:spPr>
              <a:xfrm>
                <a:off x="4530" y="17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4480" name="Oval 70"/>
              <p:cNvSpPr/>
              <p:nvPr/>
            </p:nvSpPr>
            <p:spPr>
              <a:xfrm>
                <a:off x="4795" y="2003"/>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3959" name="Line 71"/>
              <p:cNvSpPr>
                <a:spLocks noChangeShapeType="1"/>
              </p:cNvSpPr>
              <p:nvPr/>
            </p:nvSpPr>
            <p:spPr bwMode="auto">
              <a:xfrm flipH="1">
                <a:off x="4700" y="1586"/>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4482" name="Oval 72"/>
              <p:cNvSpPr/>
              <p:nvPr/>
            </p:nvSpPr>
            <p:spPr>
              <a:xfrm>
                <a:off x="4580" y="233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3961" name="Line 73"/>
              <p:cNvSpPr>
                <a:spLocks noChangeShapeType="1"/>
              </p:cNvSpPr>
              <p:nvPr/>
            </p:nvSpPr>
            <p:spPr bwMode="auto">
              <a:xfrm>
                <a:off x="4723" y="1900"/>
                <a:ext cx="122"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62" name="Line 74"/>
              <p:cNvSpPr>
                <a:spLocks noChangeShapeType="1"/>
              </p:cNvSpPr>
              <p:nvPr/>
            </p:nvSpPr>
            <p:spPr bwMode="auto">
              <a:xfrm flipH="1">
                <a:off x="4767" y="2222"/>
                <a:ext cx="78"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15" name="Group 75"/>
          <p:cNvGrpSpPr/>
          <p:nvPr/>
        </p:nvGrpSpPr>
        <p:grpSpPr>
          <a:xfrm>
            <a:off x="595313" y="5035550"/>
            <a:ext cx="3902075" cy="1527175"/>
            <a:chOff x="408" y="1395"/>
            <a:chExt cx="2458" cy="962"/>
          </a:xfrm>
        </p:grpSpPr>
        <p:grpSp>
          <p:nvGrpSpPr>
            <p:cNvPr id="104455" name="Group 76"/>
            <p:cNvGrpSpPr/>
            <p:nvPr/>
          </p:nvGrpSpPr>
          <p:grpSpPr>
            <a:xfrm>
              <a:off x="408" y="1422"/>
              <a:ext cx="1247" cy="629"/>
              <a:chOff x="408" y="1422"/>
              <a:chExt cx="1247" cy="629"/>
            </a:xfrm>
          </p:grpSpPr>
          <p:sp>
            <p:nvSpPr>
              <p:cNvPr id="104468" name="Oval 77"/>
              <p:cNvSpPr/>
              <p:nvPr/>
            </p:nvSpPr>
            <p:spPr>
              <a:xfrm>
                <a:off x="955" y="1422"/>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4469" name="Oval 78"/>
              <p:cNvSpPr/>
              <p:nvPr/>
            </p:nvSpPr>
            <p:spPr>
              <a:xfrm>
                <a:off x="408" y="181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4470" name="Oval 79"/>
              <p:cNvSpPr/>
              <p:nvPr/>
            </p:nvSpPr>
            <p:spPr>
              <a:xfrm>
                <a:off x="955" y="181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4471" name="Oval 80"/>
              <p:cNvSpPr/>
              <p:nvPr/>
            </p:nvSpPr>
            <p:spPr>
              <a:xfrm>
                <a:off x="1433" y="1818"/>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293969" name="Line 81"/>
              <p:cNvSpPr>
                <a:spLocks noChangeShapeType="1"/>
              </p:cNvSpPr>
              <p:nvPr/>
            </p:nvSpPr>
            <p:spPr bwMode="auto">
              <a:xfrm>
                <a:off x="1060" y="1655"/>
                <a:ext cx="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70" name="Line 82"/>
              <p:cNvSpPr>
                <a:spLocks noChangeShapeType="1"/>
              </p:cNvSpPr>
              <p:nvPr/>
            </p:nvSpPr>
            <p:spPr bwMode="auto">
              <a:xfrm flipH="1">
                <a:off x="571" y="1577"/>
                <a:ext cx="400"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71" name="Line 83"/>
              <p:cNvSpPr>
                <a:spLocks noChangeShapeType="1"/>
              </p:cNvSpPr>
              <p:nvPr/>
            </p:nvSpPr>
            <p:spPr bwMode="auto">
              <a:xfrm>
                <a:off x="1160" y="1588"/>
                <a:ext cx="334" cy="2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4456" name="Group 84"/>
            <p:cNvGrpSpPr/>
            <p:nvPr/>
          </p:nvGrpSpPr>
          <p:grpSpPr>
            <a:xfrm>
              <a:off x="1886" y="1395"/>
              <a:ext cx="237" cy="655"/>
              <a:chOff x="1886" y="1395"/>
              <a:chExt cx="237" cy="655"/>
            </a:xfrm>
          </p:grpSpPr>
          <p:sp>
            <p:nvSpPr>
              <p:cNvPr id="104465" name="Oval 85"/>
              <p:cNvSpPr/>
              <p:nvPr/>
            </p:nvSpPr>
            <p:spPr>
              <a:xfrm>
                <a:off x="1901" y="139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4466" name="Oval 86"/>
              <p:cNvSpPr/>
              <p:nvPr/>
            </p:nvSpPr>
            <p:spPr>
              <a:xfrm>
                <a:off x="1886" y="1817"/>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293975" name="Line 87"/>
              <p:cNvSpPr>
                <a:spLocks noChangeShapeType="1"/>
              </p:cNvSpPr>
              <p:nvPr/>
            </p:nvSpPr>
            <p:spPr bwMode="auto">
              <a:xfrm>
                <a:off x="2011" y="1633"/>
                <a:ext cx="0"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04457" name="Group 88"/>
            <p:cNvGrpSpPr/>
            <p:nvPr/>
          </p:nvGrpSpPr>
          <p:grpSpPr>
            <a:xfrm>
              <a:off x="2224" y="1395"/>
              <a:ext cx="642" cy="962"/>
              <a:chOff x="2224" y="1395"/>
              <a:chExt cx="642" cy="962"/>
            </a:xfrm>
          </p:grpSpPr>
          <p:sp>
            <p:nvSpPr>
              <p:cNvPr id="104458" name="Oval 89"/>
              <p:cNvSpPr/>
              <p:nvPr/>
            </p:nvSpPr>
            <p:spPr>
              <a:xfrm>
                <a:off x="2461" y="1395"/>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4459" name="Oval 90"/>
              <p:cNvSpPr/>
              <p:nvPr/>
            </p:nvSpPr>
            <p:spPr>
              <a:xfrm>
                <a:off x="2224" y="1739"/>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4460" name="Oval 91"/>
              <p:cNvSpPr/>
              <p:nvPr/>
            </p:nvSpPr>
            <p:spPr>
              <a:xfrm>
                <a:off x="2644" y="1750"/>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293980" name="Line 92"/>
              <p:cNvSpPr>
                <a:spLocks noChangeShapeType="1"/>
              </p:cNvSpPr>
              <p:nvPr/>
            </p:nvSpPr>
            <p:spPr bwMode="auto">
              <a:xfrm flipH="1">
                <a:off x="2394" y="1622"/>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3981" name="Line 93"/>
              <p:cNvSpPr>
                <a:spLocks noChangeShapeType="1"/>
              </p:cNvSpPr>
              <p:nvPr/>
            </p:nvSpPr>
            <p:spPr bwMode="auto">
              <a:xfrm>
                <a:off x="2638" y="1622"/>
                <a:ext cx="111" cy="133"/>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4463" name="Oval 94"/>
              <p:cNvSpPr/>
              <p:nvPr/>
            </p:nvSpPr>
            <p:spPr>
              <a:xfrm>
                <a:off x="2629" y="2124"/>
                <a:ext cx="222" cy="233"/>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293983" name="Line 95"/>
              <p:cNvSpPr>
                <a:spLocks noChangeShapeType="1"/>
              </p:cNvSpPr>
              <p:nvPr/>
            </p:nvSpPr>
            <p:spPr bwMode="auto">
              <a:xfrm>
                <a:off x="2767" y="1989"/>
                <a:ext cx="0"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3890">
                                            <p:txEl>
                                              <p:charRg st="0" end="9"/>
                                            </p:txEl>
                                          </p:spTgt>
                                        </p:tgtEl>
                                        <p:attrNameLst>
                                          <p:attrName>style.visibility</p:attrName>
                                        </p:attrNameLst>
                                      </p:cBhvr>
                                      <p:to>
                                        <p:strVal val="visible"/>
                                      </p:to>
                                    </p:set>
                                    <p:anim calcmode="lin" valueType="num">
                                      <p:cBhvr additive="base">
                                        <p:cTn id="7" dur="500" fill="hold"/>
                                        <p:tgtEl>
                                          <p:spTgt spid="293890">
                                            <p:txEl>
                                              <p:charRg st="0" end="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3890">
                                            <p:txEl>
                                              <p:charRg st="0" end="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3890">
                                            <p:txEl>
                                              <p:charRg st="9" end="35"/>
                                            </p:txEl>
                                          </p:spTgt>
                                        </p:tgtEl>
                                        <p:attrNameLst>
                                          <p:attrName>style.visibility</p:attrName>
                                        </p:attrNameLst>
                                      </p:cBhvr>
                                      <p:to>
                                        <p:strVal val="visible"/>
                                      </p:to>
                                    </p:set>
                                    <p:anim calcmode="lin" valueType="num">
                                      <p:cBhvr additive="base">
                                        <p:cTn id="13" dur="500" fill="hold"/>
                                        <p:tgtEl>
                                          <p:spTgt spid="293890">
                                            <p:txEl>
                                              <p:charRg st="9" end="3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3890">
                                            <p:txEl>
                                              <p:charRg st="9" end="35"/>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3890">
                                            <p:txEl>
                                              <p:charRg st="35" end="63"/>
                                            </p:txEl>
                                          </p:spTgt>
                                        </p:tgtEl>
                                        <p:attrNameLst>
                                          <p:attrName>style.visibility</p:attrName>
                                        </p:attrNameLst>
                                      </p:cBhvr>
                                      <p:to>
                                        <p:strVal val="visible"/>
                                      </p:to>
                                    </p:set>
                                    <p:anim calcmode="lin" valueType="num">
                                      <p:cBhvr additive="base">
                                        <p:cTn id="19" dur="500" fill="hold"/>
                                        <p:tgtEl>
                                          <p:spTgt spid="293890">
                                            <p:txEl>
                                              <p:charRg st="35" end="6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3890">
                                            <p:txEl>
                                              <p:charRg st="35" end="6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3890">
                                            <p:txEl>
                                              <p:charRg st="63" end="79"/>
                                            </p:txEl>
                                          </p:spTgt>
                                        </p:tgtEl>
                                        <p:attrNameLst>
                                          <p:attrName>style.visibility</p:attrName>
                                        </p:attrNameLst>
                                      </p:cBhvr>
                                      <p:to>
                                        <p:strVal val="visible"/>
                                      </p:to>
                                    </p:set>
                                    <p:anim calcmode="lin" valueType="num">
                                      <p:cBhvr additive="base">
                                        <p:cTn id="25" dur="500" fill="hold"/>
                                        <p:tgtEl>
                                          <p:spTgt spid="293890">
                                            <p:txEl>
                                              <p:charRg st="63" end="79"/>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3890">
                                            <p:txEl>
                                              <p:charRg st="63" end="79"/>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0-#ppt_w/2"/>
                                          </p:val>
                                        </p:tav>
                                        <p:tav tm="100000">
                                          <p:val>
                                            <p:strVal val="#ppt_x"/>
                                          </p:val>
                                        </p:tav>
                                      </p:tavLst>
                                    </p:anim>
                                    <p:anim calcmode="lin" valueType="num">
                                      <p:cBhvr additive="base">
                                        <p:cTn id="3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0-#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0-#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0" grpId="0" bldLvl="4"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86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练习</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9869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画出与下列二叉树对应的森林</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105476" name="Picture 4"/>
          <p:cNvPicPr>
            <a:picLocks noChangeAspect="1"/>
          </p:cNvPicPr>
          <p:nvPr/>
        </p:nvPicPr>
        <p:blipFill>
          <a:blip r:embed="rId1">
            <a:clrChange>
              <a:clrFrom>
                <a:srgbClr val="FFFFFF"/>
              </a:clrFrom>
              <a:clrTo>
                <a:srgbClr val="FFFFFF">
                  <a:alpha val="0"/>
                </a:srgbClr>
              </a:clrTo>
            </a:clrChange>
          </a:blip>
          <a:stretch>
            <a:fillRect/>
          </a:stretch>
        </p:blipFill>
        <p:spPr>
          <a:xfrm>
            <a:off x="0" y="2420938"/>
            <a:ext cx="9144000" cy="3548062"/>
          </a:xfrm>
          <a:prstGeom prst="rect">
            <a:avLst/>
          </a:prstGeom>
          <a:noFill/>
          <a:ln w="9525">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小结</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8899" name="Rectangle 3"/>
          <p:cNvSpPr>
            <a:spLocks noGrp="1" noChangeArrowheads="1"/>
          </p:cNvSpPr>
          <p:nvPr>
            <p:ph idx="1"/>
          </p:nvPr>
        </p:nvSpPr>
        <p:spPr>
          <a:xfrm>
            <a:off x="611188" y="1773238"/>
            <a:ext cx="7993063" cy="4267200"/>
          </a:xfrm>
        </p:spPr>
        <p:txBody>
          <a:bodyPr vert="horz" wrap="square" lIns="91440" tIns="45720" rIns="91440" bIns="45720" numCol="1" anchor="t" anchorCtr="0" compatLnSpc="1"/>
          <a:lstStyle/>
          <a:p>
            <a:pPr marL="47117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None/>
              <a:tabLst>
                <a:tab pos="442595" algn="l"/>
                <a:tab pos="800100" algn="l"/>
              </a:tabLst>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森林与二叉树的转换</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r>
              <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树</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——&gt;</a:t>
            </a:r>
            <a:r>
              <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二叉树</a:t>
            </a:r>
            <a:endPar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r>
              <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森林</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——&gt;</a:t>
            </a:r>
            <a:r>
              <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二叉树</a:t>
            </a:r>
            <a:endPar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r>
              <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二叉树</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——&gt;</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树</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二叉树</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——&gt;</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rPr>
              <a:t>森林</a:t>
            </a:r>
            <a:endParaRPr kumimoji="0" 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endParaRPr kumimoji="0" lang="zh-CN"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endParaRPr kumimoji="0"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814070" marR="0" lvl="1" indent="67246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AutoNum type="arabicPeriod"/>
              <a:tabLst>
                <a:tab pos="442595" algn="l"/>
                <a:tab pos="800100" algn="l"/>
              </a:tabLst>
              <a:defRPr/>
            </a:pPr>
            <a:endParaRPr kumimoji="0"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en-US" altLang="zh-CN" sz="18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a:p>
            <a:pPr marL="471170" marR="0" lvl="1"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tabLst>
                <a:tab pos="442595" algn="l"/>
                <a:tab pos="800100" algn="l"/>
              </a:tabLst>
              <a:defRPr/>
            </a:pPr>
            <a:endParaRPr kumimoji="0" lang="en-US" altLang="zh-CN" sz="1800" b="0"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ea"/>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6.4.3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树和森林的遍历</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9491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树遍历</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先根遍历：</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访问根节点</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从左至右依次先根遍历每棵子树</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后根遍历</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从左至右依次后根遍历每棵子树</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访问根节点</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按层遍历</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 name="Group 2"/>
          <p:cNvGrpSpPr/>
          <p:nvPr/>
        </p:nvGrpSpPr>
        <p:grpSpPr>
          <a:xfrm>
            <a:off x="2360613" y="406400"/>
            <a:ext cx="4297362" cy="3625850"/>
            <a:chOff x="854" y="734"/>
            <a:chExt cx="2707" cy="2284"/>
          </a:xfrm>
        </p:grpSpPr>
        <p:sp>
          <p:nvSpPr>
            <p:cNvPr id="108595" name="Oval 3"/>
            <p:cNvSpPr/>
            <p:nvPr/>
          </p:nvSpPr>
          <p:spPr>
            <a:xfrm>
              <a:off x="1910" y="734"/>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08596" name="Oval 4"/>
            <p:cNvSpPr/>
            <p:nvPr/>
          </p:nvSpPr>
          <p:spPr>
            <a:xfrm>
              <a:off x="1264" y="1246"/>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08597" name="Oval 5"/>
            <p:cNvSpPr/>
            <p:nvPr/>
          </p:nvSpPr>
          <p:spPr>
            <a:xfrm>
              <a:off x="1910" y="1246"/>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08598" name="Oval 6"/>
            <p:cNvSpPr/>
            <p:nvPr/>
          </p:nvSpPr>
          <p:spPr>
            <a:xfrm>
              <a:off x="2687" y="1246"/>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08599" name="Oval 7"/>
            <p:cNvSpPr/>
            <p:nvPr/>
          </p:nvSpPr>
          <p:spPr>
            <a:xfrm>
              <a:off x="854" y="1764"/>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E</a:t>
              </a:r>
              <a:endParaRPr lang="en-US" altLang="zh-CN" b="0" dirty="0">
                <a:solidFill>
                  <a:schemeClr val="tx1"/>
                </a:solidFill>
                <a:latin typeface="Times New Roman" panose="02020603050405020304" pitchFamily="18" charset="0"/>
              </a:endParaRPr>
            </a:p>
          </p:txBody>
        </p:sp>
        <p:sp>
          <p:nvSpPr>
            <p:cNvPr id="108600" name="Oval 8"/>
            <p:cNvSpPr/>
            <p:nvPr/>
          </p:nvSpPr>
          <p:spPr>
            <a:xfrm>
              <a:off x="1265" y="1764"/>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F</a:t>
              </a:r>
              <a:endParaRPr lang="en-US" altLang="zh-CN" b="0" dirty="0">
                <a:solidFill>
                  <a:schemeClr val="tx1"/>
                </a:solidFill>
                <a:latin typeface="Times New Roman" panose="02020603050405020304" pitchFamily="18" charset="0"/>
              </a:endParaRPr>
            </a:p>
          </p:txBody>
        </p:sp>
        <p:sp>
          <p:nvSpPr>
            <p:cNvPr id="108601" name="Oval 9"/>
            <p:cNvSpPr/>
            <p:nvPr/>
          </p:nvSpPr>
          <p:spPr>
            <a:xfrm>
              <a:off x="1686" y="1753"/>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G</a:t>
              </a:r>
              <a:endParaRPr lang="en-US" altLang="zh-CN" b="0" dirty="0">
                <a:solidFill>
                  <a:schemeClr val="tx1"/>
                </a:solidFill>
                <a:latin typeface="Times New Roman" panose="02020603050405020304" pitchFamily="18" charset="0"/>
              </a:endParaRPr>
            </a:p>
          </p:txBody>
        </p:sp>
        <p:sp>
          <p:nvSpPr>
            <p:cNvPr id="108602" name="Oval 10"/>
            <p:cNvSpPr/>
            <p:nvPr/>
          </p:nvSpPr>
          <p:spPr>
            <a:xfrm>
              <a:off x="2710" y="1764"/>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H</a:t>
              </a:r>
              <a:endParaRPr lang="en-US" altLang="zh-CN" b="0" dirty="0">
                <a:solidFill>
                  <a:schemeClr val="tx1"/>
                </a:solidFill>
                <a:latin typeface="Times New Roman" panose="02020603050405020304" pitchFamily="18" charset="0"/>
              </a:endParaRPr>
            </a:p>
          </p:txBody>
        </p:sp>
        <p:sp>
          <p:nvSpPr>
            <p:cNvPr id="108603" name="Oval 11"/>
            <p:cNvSpPr/>
            <p:nvPr/>
          </p:nvSpPr>
          <p:spPr>
            <a:xfrm>
              <a:off x="1252" y="2263"/>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I</a:t>
              </a:r>
              <a:endParaRPr lang="en-US" altLang="zh-CN" b="0" dirty="0">
                <a:solidFill>
                  <a:schemeClr val="tx1"/>
                </a:solidFill>
                <a:latin typeface="Times New Roman" panose="02020603050405020304" pitchFamily="18" charset="0"/>
              </a:endParaRPr>
            </a:p>
          </p:txBody>
        </p:sp>
        <p:sp>
          <p:nvSpPr>
            <p:cNvPr id="108604" name="Oval 12"/>
            <p:cNvSpPr/>
            <p:nvPr/>
          </p:nvSpPr>
          <p:spPr>
            <a:xfrm>
              <a:off x="2204" y="2230"/>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J</a:t>
              </a:r>
              <a:endParaRPr lang="en-US" altLang="zh-CN" b="0" dirty="0">
                <a:solidFill>
                  <a:schemeClr val="tx1"/>
                </a:solidFill>
                <a:latin typeface="Times New Roman" panose="02020603050405020304" pitchFamily="18" charset="0"/>
              </a:endParaRPr>
            </a:p>
          </p:txBody>
        </p:sp>
        <p:sp>
          <p:nvSpPr>
            <p:cNvPr id="108605" name="Oval 13"/>
            <p:cNvSpPr/>
            <p:nvPr/>
          </p:nvSpPr>
          <p:spPr>
            <a:xfrm>
              <a:off x="2560" y="2230"/>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K</a:t>
              </a:r>
              <a:endParaRPr lang="en-US" altLang="zh-CN" b="0" dirty="0">
                <a:solidFill>
                  <a:schemeClr val="tx1"/>
                </a:solidFill>
                <a:latin typeface="Times New Roman" panose="02020603050405020304" pitchFamily="18" charset="0"/>
              </a:endParaRPr>
            </a:p>
          </p:txBody>
        </p:sp>
        <p:sp>
          <p:nvSpPr>
            <p:cNvPr id="108606" name="Oval 14"/>
            <p:cNvSpPr/>
            <p:nvPr/>
          </p:nvSpPr>
          <p:spPr>
            <a:xfrm>
              <a:off x="2926" y="2230"/>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L</a:t>
              </a:r>
              <a:endParaRPr lang="en-US" altLang="zh-CN" b="0" dirty="0">
                <a:solidFill>
                  <a:schemeClr val="tx1"/>
                </a:solidFill>
                <a:latin typeface="Times New Roman" panose="02020603050405020304" pitchFamily="18" charset="0"/>
              </a:endParaRPr>
            </a:p>
          </p:txBody>
        </p:sp>
        <p:sp>
          <p:nvSpPr>
            <p:cNvPr id="108607" name="Oval 15"/>
            <p:cNvSpPr/>
            <p:nvPr/>
          </p:nvSpPr>
          <p:spPr>
            <a:xfrm>
              <a:off x="3271" y="2230"/>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M</a:t>
              </a:r>
              <a:endParaRPr lang="en-US" altLang="zh-CN" b="0" dirty="0">
                <a:solidFill>
                  <a:schemeClr val="tx1"/>
                </a:solidFill>
                <a:latin typeface="Times New Roman" panose="02020603050405020304" pitchFamily="18" charset="0"/>
              </a:endParaRPr>
            </a:p>
          </p:txBody>
        </p:sp>
        <p:sp>
          <p:nvSpPr>
            <p:cNvPr id="296976" name="Line 16"/>
            <p:cNvSpPr>
              <a:spLocks noChangeShapeType="1"/>
            </p:cNvSpPr>
            <p:nvPr/>
          </p:nvSpPr>
          <p:spPr bwMode="auto">
            <a:xfrm>
              <a:off x="2051" y="1032"/>
              <a:ext cx="0" cy="211"/>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77" name="Line 17"/>
            <p:cNvSpPr>
              <a:spLocks noChangeShapeType="1"/>
            </p:cNvSpPr>
            <p:nvPr/>
          </p:nvSpPr>
          <p:spPr bwMode="auto">
            <a:xfrm>
              <a:off x="2151" y="932"/>
              <a:ext cx="567" cy="411"/>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78" name="Line 18"/>
            <p:cNvSpPr>
              <a:spLocks noChangeShapeType="1"/>
            </p:cNvSpPr>
            <p:nvPr/>
          </p:nvSpPr>
          <p:spPr bwMode="auto">
            <a:xfrm flipH="1">
              <a:off x="1496" y="954"/>
              <a:ext cx="422" cy="3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08611" name="Oval 19"/>
            <p:cNvSpPr/>
            <p:nvPr/>
          </p:nvSpPr>
          <p:spPr>
            <a:xfrm>
              <a:off x="2756" y="2726"/>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N</a:t>
              </a:r>
              <a:endParaRPr lang="en-US" altLang="zh-CN" b="0" dirty="0">
                <a:solidFill>
                  <a:schemeClr val="tx1"/>
                </a:solidFill>
                <a:latin typeface="Times New Roman" panose="02020603050405020304" pitchFamily="18" charset="0"/>
              </a:endParaRPr>
            </a:p>
          </p:txBody>
        </p:sp>
        <p:sp>
          <p:nvSpPr>
            <p:cNvPr id="108612" name="Oval 20"/>
            <p:cNvSpPr/>
            <p:nvPr/>
          </p:nvSpPr>
          <p:spPr>
            <a:xfrm>
              <a:off x="3222" y="2726"/>
              <a:ext cx="290" cy="292"/>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O</a:t>
              </a:r>
              <a:endParaRPr lang="en-US" altLang="zh-CN" b="0" dirty="0">
                <a:solidFill>
                  <a:schemeClr val="tx1"/>
                </a:solidFill>
                <a:latin typeface="Times New Roman" panose="02020603050405020304" pitchFamily="18" charset="0"/>
              </a:endParaRPr>
            </a:p>
          </p:txBody>
        </p:sp>
        <p:sp>
          <p:nvSpPr>
            <p:cNvPr id="296981" name="Line 21"/>
            <p:cNvSpPr>
              <a:spLocks noChangeShapeType="1"/>
            </p:cNvSpPr>
            <p:nvPr/>
          </p:nvSpPr>
          <p:spPr bwMode="auto">
            <a:xfrm>
              <a:off x="1400" y="1544"/>
              <a:ext cx="0" cy="2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2" name="Line 22"/>
            <p:cNvSpPr>
              <a:spLocks noChangeShapeType="1"/>
            </p:cNvSpPr>
            <p:nvPr/>
          </p:nvSpPr>
          <p:spPr bwMode="auto">
            <a:xfrm flipH="1">
              <a:off x="1011" y="1489"/>
              <a:ext cx="278" cy="2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3" name="Line 23"/>
            <p:cNvSpPr>
              <a:spLocks noChangeShapeType="1"/>
            </p:cNvSpPr>
            <p:nvPr/>
          </p:nvSpPr>
          <p:spPr bwMode="auto">
            <a:xfrm>
              <a:off x="1522" y="1478"/>
              <a:ext cx="289"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4" name="Line 24"/>
            <p:cNvSpPr>
              <a:spLocks noChangeShapeType="1"/>
            </p:cNvSpPr>
            <p:nvPr/>
          </p:nvSpPr>
          <p:spPr bwMode="auto">
            <a:xfrm>
              <a:off x="1400" y="2055"/>
              <a:ext cx="0" cy="22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5" name="Line 25"/>
            <p:cNvSpPr>
              <a:spLocks noChangeShapeType="1"/>
            </p:cNvSpPr>
            <p:nvPr/>
          </p:nvSpPr>
          <p:spPr bwMode="auto">
            <a:xfrm>
              <a:off x="2856" y="1533"/>
              <a:ext cx="0" cy="2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6" name="Line 26"/>
            <p:cNvSpPr>
              <a:spLocks noChangeShapeType="1"/>
            </p:cNvSpPr>
            <p:nvPr/>
          </p:nvSpPr>
          <p:spPr bwMode="auto">
            <a:xfrm flipH="1">
              <a:off x="2723" y="2055"/>
              <a:ext cx="88" cy="1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7" name="Line 27"/>
            <p:cNvSpPr>
              <a:spLocks noChangeShapeType="1"/>
            </p:cNvSpPr>
            <p:nvPr/>
          </p:nvSpPr>
          <p:spPr bwMode="auto">
            <a:xfrm flipH="1">
              <a:off x="2434" y="2000"/>
              <a:ext cx="289" cy="2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8" name="Line 28"/>
            <p:cNvSpPr>
              <a:spLocks noChangeShapeType="1"/>
            </p:cNvSpPr>
            <p:nvPr/>
          </p:nvSpPr>
          <p:spPr bwMode="auto">
            <a:xfrm>
              <a:off x="2945" y="2033"/>
              <a:ext cx="111" cy="211"/>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89" name="Line 29"/>
            <p:cNvSpPr>
              <a:spLocks noChangeShapeType="1"/>
            </p:cNvSpPr>
            <p:nvPr/>
          </p:nvSpPr>
          <p:spPr bwMode="auto">
            <a:xfrm>
              <a:off x="2989" y="1944"/>
              <a:ext cx="411" cy="311"/>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90" name="Line 30"/>
            <p:cNvSpPr>
              <a:spLocks noChangeShapeType="1"/>
            </p:cNvSpPr>
            <p:nvPr/>
          </p:nvSpPr>
          <p:spPr bwMode="auto">
            <a:xfrm flipH="1">
              <a:off x="2911" y="2522"/>
              <a:ext cx="123" cy="200"/>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296991" name="Line 31"/>
            <p:cNvSpPr>
              <a:spLocks noChangeShapeType="1"/>
            </p:cNvSpPr>
            <p:nvPr/>
          </p:nvSpPr>
          <p:spPr bwMode="auto">
            <a:xfrm>
              <a:off x="3123" y="2511"/>
              <a:ext cx="177" cy="2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296992" name="Text Box 32"/>
          <p:cNvSpPr txBox="1"/>
          <p:nvPr/>
        </p:nvSpPr>
        <p:spPr>
          <a:xfrm>
            <a:off x="1447800" y="4495800"/>
            <a:ext cx="1454150" cy="396875"/>
          </a:xfrm>
          <a:prstGeom prst="rect">
            <a:avLst/>
          </a:prstGeom>
          <a:noFill/>
          <a:ln w="9525">
            <a:noFill/>
          </a:ln>
        </p:spPr>
        <p:txBody>
          <a:bodyPr wrap="none" anchor="ctr" anchorCtr="0">
            <a:spAutoFit/>
          </a:bodyPr>
          <a:p>
            <a:pPr eaLnBrk="1" hangingPunct="1"/>
            <a:r>
              <a:rPr lang="zh-CN" altLang="en-US" b="0" dirty="0">
                <a:solidFill>
                  <a:schemeClr val="tx1"/>
                </a:solidFill>
                <a:latin typeface="Times New Roman" panose="02020603050405020304" pitchFamily="18" charset="0"/>
              </a:rPr>
              <a:t>先根遍历：</a:t>
            </a:r>
            <a:endParaRPr lang="zh-CN" altLang="en-US" b="0" dirty="0">
              <a:solidFill>
                <a:schemeClr val="tx1"/>
              </a:solidFill>
              <a:latin typeface="Times New Roman" panose="02020603050405020304" pitchFamily="18" charset="0"/>
            </a:endParaRPr>
          </a:p>
        </p:txBody>
      </p:sp>
      <p:sp>
        <p:nvSpPr>
          <p:cNvPr id="296993" name="Text Box 33"/>
          <p:cNvSpPr txBox="1"/>
          <p:nvPr/>
        </p:nvSpPr>
        <p:spPr>
          <a:xfrm>
            <a:off x="1447800" y="5181600"/>
            <a:ext cx="1454150" cy="396875"/>
          </a:xfrm>
          <a:prstGeom prst="rect">
            <a:avLst/>
          </a:prstGeom>
          <a:noFill/>
          <a:ln w="9525">
            <a:noFill/>
          </a:ln>
        </p:spPr>
        <p:txBody>
          <a:bodyPr wrap="none" anchor="ctr" anchorCtr="0">
            <a:spAutoFit/>
          </a:bodyPr>
          <a:p>
            <a:pPr eaLnBrk="1" hangingPunct="1"/>
            <a:r>
              <a:rPr lang="zh-CN" altLang="en-US" b="0" dirty="0">
                <a:solidFill>
                  <a:schemeClr val="tx1"/>
                </a:solidFill>
                <a:latin typeface="Times New Roman" panose="02020603050405020304" pitchFamily="18" charset="0"/>
              </a:rPr>
              <a:t>后根遍历：</a:t>
            </a:r>
            <a:endParaRPr lang="zh-CN" altLang="en-US" b="0" dirty="0">
              <a:solidFill>
                <a:schemeClr val="tx1"/>
              </a:solidFill>
              <a:latin typeface="Times New Roman" panose="02020603050405020304" pitchFamily="18" charset="0"/>
            </a:endParaRPr>
          </a:p>
        </p:txBody>
      </p:sp>
      <p:sp>
        <p:nvSpPr>
          <p:cNvPr id="296994" name="Text Box 34"/>
          <p:cNvSpPr txBox="1"/>
          <p:nvPr/>
        </p:nvSpPr>
        <p:spPr>
          <a:xfrm>
            <a:off x="1447800" y="5715000"/>
            <a:ext cx="1454150" cy="396875"/>
          </a:xfrm>
          <a:prstGeom prst="rect">
            <a:avLst/>
          </a:prstGeom>
          <a:noFill/>
          <a:ln w="9525">
            <a:noFill/>
          </a:ln>
        </p:spPr>
        <p:txBody>
          <a:bodyPr wrap="none" anchor="ctr" anchorCtr="0">
            <a:spAutoFit/>
          </a:bodyPr>
          <a:p>
            <a:pPr eaLnBrk="1" hangingPunct="1"/>
            <a:r>
              <a:rPr lang="zh-CN" altLang="en-US" b="0" dirty="0">
                <a:solidFill>
                  <a:schemeClr val="tx1"/>
                </a:solidFill>
                <a:latin typeface="Times New Roman" panose="02020603050405020304" pitchFamily="18" charset="0"/>
              </a:rPr>
              <a:t>层次遍历：</a:t>
            </a:r>
            <a:endParaRPr lang="zh-CN" altLang="en-US" b="0" dirty="0">
              <a:solidFill>
                <a:schemeClr val="tx1"/>
              </a:solidFill>
              <a:latin typeface="Times New Roman" panose="02020603050405020304" pitchFamily="18" charset="0"/>
            </a:endParaRPr>
          </a:p>
        </p:txBody>
      </p:sp>
      <p:sp>
        <p:nvSpPr>
          <p:cNvPr id="296995" name="Text Box 35"/>
          <p:cNvSpPr txBox="1"/>
          <p:nvPr/>
        </p:nvSpPr>
        <p:spPr>
          <a:xfrm>
            <a:off x="2678113" y="4457700"/>
            <a:ext cx="404812"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A</a:t>
            </a:r>
            <a:endParaRPr lang="en-US" altLang="zh-CN" sz="2400" b="0" dirty="0">
              <a:solidFill>
                <a:srgbClr val="0000FF"/>
              </a:solidFill>
              <a:latin typeface="Times New Roman" panose="02020603050405020304" pitchFamily="18" charset="0"/>
            </a:endParaRPr>
          </a:p>
        </p:txBody>
      </p:sp>
      <p:sp>
        <p:nvSpPr>
          <p:cNvPr id="296996" name="Text Box 36"/>
          <p:cNvSpPr txBox="1"/>
          <p:nvPr/>
        </p:nvSpPr>
        <p:spPr>
          <a:xfrm>
            <a:off x="2936875" y="4457700"/>
            <a:ext cx="387350"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B</a:t>
            </a:r>
            <a:endParaRPr lang="en-US" altLang="zh-CN" sz="2400" b="0" dirty="0">
              <a:solidFill>
                <a:srgbClr val="0000FF"/>
              </a:solidFill>
              <a:latin typeface="Times New Roman" panose="02020603050405020304" pitchFamily="18" charset="0"/>
            </a:endParaRPr>
          </a:p>
        </p:txBody>
      </p:sp>
      <p:sp>
        <p:nvSpPr>
          <p:cNvPr id="296997" name="Text Box 37"/>
          <p:cNvSpPr txBox="1"/>
          <p:nvPr/>
        </p:nvSpPr>
        <p:spPr>
          <a:xfrm>
            <a:off x="3195638" y="4457700"/>
            <a:ext cx="369887"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E</a:t>
            </a:r>
            <a:endParaRPr lang="en-US" altLang="zh-CN" sz="2400" b="0" dirty="0">
              <a:solidFill>
                <a:srgbClr val="0000FF"/>
              </a:solidFill>
              <a:latin typeface="Times New Roman" panose="02020603050405020304" pitchFamily="18" charset="0"/>
            </a:endParaRPr>
          </a:p>
        </p:txBody>
      </p:sp>
      <p:sp>
        <p:nvSpPr>
          <p:cNvPr id="296998" name="Text Box 38"/>
          <p:cNvSpPr txBox="1"/>
          <p:nvPr/>
        </p:nvSpPr>
        <p:spPr>
          <a:xfrm>
            <a:off x="3454400" y="4457700"/>
            <a:ext cx="354013"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F</a:t>
            </a:r>
            <a:endParaRPr lang="en-US" altLang="zh-CN" sz="2400" b="0" dirty="0">
              <a:solidFill>
                <a:srgbClr val="0000FF"/>
              </a:solidFill>
              <a:latin typeface="Times New Roman" panose="02020603050405020304" pitchFamily="18" charset="0"/>
            </a:endParaRPr>
          </a:p>
        </p:txBody>
      </p:sp>
      <p:sp>
        <p:nvSpPr>
          <p:cNvPr id="296999" name="Text Box 39"/>
          <p:cNvSpPr txBox="1"/>
          <p:nvPr/>
        </p:nvSpPr>
        <p:spPr>
          <a:xfrm>
            <a:off x="3713163" y="4457700"/>
            <a:ext cx="285750"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I</a:t>
            </a:r>
            <a:endParaRPr lang="en-US" altLang="zh-CN" sz="2400" b="0" dirty="0">
              <a:solidFill>
                <a:srgbClr val="0000FF"/>
              </a:solidFill>
              <a:latin typeface="Times New Roman" panose="02020603050405020304" pitchFamily="18" charset="0"/>
            </a:endParaRPr>
          </a:p>
        </p:txBody>
      </p:sp>
      <p:sp>
        <p:nvSpPr>
          <p:cNvPr id="297000" name="Text Box 40"/>
          <p:cNvSpPr txBox="1"/>
          <p:nvPr/>
        </p:nvSpPr>
        <p:spPr>
          <a:xfrm>
            <a:off x="3971925" y="4457700"/>
            <a:ext cx="404813"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G</a:t>
            </a:r>
            <a:endParaRPr lang="en-US" altLang="zh-CN" sz="2400" b="0" dirty="0">
              <a:solidFill>
                <a:srgbClr val="0000FF"/>
              </a:solidFill>
              <a:latin typeface="Times New Roman" panose="02020603050405020304" pitchFamily="18" charset="0"/>
            </a:endParaRPr>
          </a:p>
        </p:txBody>
      </p:sp>
      <p:sp>
        <p:nvSpPr>
          <p:cNvPr id="297001" name="Text Box 41"/>
          <p:cNvSpPr txBox="1"/>
          <p:nvPr/>
        </p:nvSpPr>
        <p:spPr>
          <a:xfrm>
            <a:off x="4230688" y="4457700"/>
            <a:ext cx="387350"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C</a:t>
            </a:r>
            <a:endParaRPr lang="en-US" altLang="zh-CN" sz="2400" b="0" dirty="0">
              <a:solidFill>
                <a:srgbClr val="0000FF"/>
              </a:solidFill>
              <a:latin typeface="Times New Roman" panose="02020603050405020304" pitchFamily="18" charset="0"/>
            </a:endParaRPr>
          </a:p>
        </p:txBody>
      </p:sp>
      <p:sp>
        <p:nvSpPr>
          <p:cNvPr id="297002" name="Text Box 42"/>
          <p:cNvSpPr txBox="1"/>
          <p:nvPr/>
        </p:nvSpPr>
        <p:spPr>
          <a:xfrm>
            <a:off x="4489450" y="4457700"/>
            <a:ext cx="404813"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D</a:t>
            </a:r>
            <a:endParaRPr lang="en-US" altLang="zh-CN" sz="2400" b="0" dirty="0">
              <a:solidFill>
                <a:srgbClr val="0000FF"/>
              </a:solidFill>
              <a:latin typeface="Times New Roman" panose="02020603050405020304" pitchFamily="18" charset="0"/>
            </a:endParaRPr>
          </a:p>
        </p:txBody>
      </p:sp>
      <p:sp>
        <p:nvSpPr>
          <p:cNvPr id="297003" name="Text Box 43"/>
          <p:cNvSpPr txBox="1"/>
          <p:nvPr/>
        </p:nvSpPr>
        <p:spPr>
          <a:xfrm>
            <a:off x="4748213" y="4457700"/>
            <a:ext cx="404812"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H</a:t>
            </a:r>
            <a:endParaRPr lang="en-US" altLang="zh-CN" sz="2400" b="0" dirty="0">
              <a:solidFill>
                <a:srgbClr val="0000FF"/>
              </a:solidFill>
              <a:latin typeface="Times New Roman" panose="02020603050405020304" pitchFamily="18" charset="0"/>
            </a:endParaRPr>
          </a:p>
        </p:txBody>
      </p:sp>
      <p:sp>
        <p:nvSpPr>
          <p:cNvPr id="297004" name="Text Box 44"/>
          <p:cNvSpPr txBox="1"/>
          <p:nvPr/>
        </p:nvSpPr>
        <p:spPr>
          <a:xfrm>
            <a:off x="5006975" y="4457700"/>
            <a:ext cx="303213"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J</a:t>
            </a:r>
            <a:endParaRPr lang="en-US" altLang="zh-CN" sz="2400" b="0" dirty="0">
              <a:solidFill>
                <a:srgbClr val="0000FF"/>
              </a:solidFill>
              <a:latin typeface="Times New Roman" panose="02020603050405020304" pitchFamily="18" charset="0"/>
            </a:endParaRPr>
          </a:p>
        </p:txBody>
      </p:sp>
      <p:sp>
        <p:nvSpPr>
          <p:cNvPr id="297005" name="Text Box 45"/>
          <p:cNvSpPr txBox="1"/>
          <p:nvPr/>
        </p:nvSpPr>
        <p:spPr>
          <a:xfrm>
            <a:off x="5265738" y="4457700"/>
            <a:ext cx="404812"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K</a:t>
            </a:r>
            <a:endParaRPr lang="en-US" altLang="zh-CN" sz="2400" b="0" dirty="0">
              <a:solidFill>
                <a:srgbClr val="0000FF"/>
              </a:solidFill>
              <a:latin typeface="Times New Roman" panose="02020603050405020304" pitchFamily="18" charset="0"/>
            </a:endParaRPr>
          </a:p>
        </p:txBody>
      </p:sp>
      <p:sp>
        <p:nvSpPr>
          <p:cNvPr id="297006" name="Text Box 46"/>
          <p:cNvSpPr txBox="1"/>
          <p:nvPr/>
        </p:nvSpPr>
        <p:spPr>
          <a:xfrm>
            <a:off x="5524500" y="4457700"/>
            <a:ext cx="369888"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L</a:t>
            </a:r>
            <a:endParaRPr lang="en-US" altLang="zh-CN" sz="2400" b="0" dirty="0">
              <a:solidFill>
                <a:srgbClr val="0000FF"/>
              </a:solidFill>
              <a:latin typeface="Times New Roman" panose="02020603050405020304" pitchFamily="18" charset="0"/>
            </a:endParaRPr>
          </a:p>
        </p:txBody>
      </p:sp>
      <p:sp>
        <p:nvSpPr>
          <p:cNvPr id="297007" name="Text Box 47"/>
          <p:cNvSpPr txBox="1"/>
          <p:nvPr/>
        </p:nvSpPr>
        <p:spPr>
          <a:xfrm>
            <a:off x="5783263" y="4457700"/>
            <a:ext cx="404812"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N</a:t>
            </a:r>
            <a:endParaRPr lang="en-US" altLang="zh-CN" sz="2400" b="0" dirty="0">
              <a:solidFill>
                <a:srgbClr val="0000FF"/>
              </a:solidFill>
              <a:latin typeface="Times New Roman" panose="02020603050405020304" pitchFamily="18" charset="0"/>
            </a:endParaRPr>
          </a:p>
        </p:txBody>
      </p:sp>
      <p:sp>
        <p:nvSpPr>
          <p:cNvPr id="297008" name="Text Box 48"/>
          <p:cNvSpPr txBox="1"/>
          <p:nvPr/>
        </p:nvSpPr>
        <p:spPr>
          <a:xfrm>
            <a:off x="6042025" y="4457700"/>
            <a:ext cx="404813"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O</a:t>
            </a:r>
            <a:endParaRPr lang="en-US" altLang="zh-CN" sz="2400" b="0" dirty="0">
              <a:solidFill>
                <a:srgbClr val="0000FF"/>
              </a:solidFill>
              <a:latin typeface="Times New Roman" panose="02020603050405020304" pitchFamily="18" charset="0"/>
            </a:endParaRPr>
          </a:p>
        </p:txBody>
      </p:sp>
      <p:sp>
        <p:nvSpPr>
          <p:cNvPr id="297009" name="Text Box 49"/>
          <p:cNvSpPr txBox="1"/>
          <p:nvPr/>
        </p:nvSpPr>
        <p:spPr>
          <a:xfrm>
            <a:off x="6299200" y="4457700"/>
            <a:ext cx="455613" cy="457200"/>
          </a:xfrm>
          <a:prstGeom prst="rect">
            <a:avLst/>
          </a:prstGeom>
          <a:noFill/>
          <a:ln w="9525">
            <a:noFill/>
          </a:ln>
        </p:spPr>
        <p:txBody>
          <a:bodyPr wrap="none">
            <a:spAutoFit/>
          </a:bodyPr>
          <a:p>
            <a:pPr eaLnBrk="1" hangingPunct="1"/>
            <a:r>
              <a:rPr lang="en-US" altLang="zh-CN" sz="2400" b="0" dirty="0">
                <a:solidFill>
                  <a:srgbClr val="0000FF"/>
                </a:solidFill>
                <a:latin typeface="Times New Roman" panose="02020603050405020304" pitchFamily="18" charset="0"/>
              </a:rPr>
              <a:t>M</a:t>
            </a:r>
            <a:endParaRPr lang="en-US" altLang="zh-CN" sz="2400" b="0" dirty="0">
              <a:solidFill>
                <a:srgbClr val="0000FF"/>
              </a:solidFill>
              <a:latin typeface="Times New Roman" panose="02020603050405020304" pitchFamily="18" charset="0"/>
            </a:endParaRPr>
          </a:p>
        </p:txBody>
      </p:sp>
      <p:sp>
        <p:nvSpPr>
          <p:cNvPr id="297010" name="Text Box 50"/>
          <p:cNvSpPr txBox="1"/>
          <p:nvPr/>
        </p:nvSpPr>
        <p:spPr>
          <a:xfrm>
            <a:off x="2641600" y="5180013"/>
            <a:ext cx="369888"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E</a:t>
            </a:r>
            <a:endParaRPr lang="en-US" altLang="zh-CN" sz="2400" b="0" dirty="0">
              <a:solidFill>
                <a:schemeClr val="tx1"/>
              </a:solidFill>
              <a:latin typeface="Times New Roman" panose="02020603050405020304" pitchFamily="18" charset="0"/>
            </a:endParaRPr>
          </a:p>
        </p:txBody>
      </p:sp>
      <p:sp>
        <p:nvSpPr>
          <p:cNvPr id="297011" name="Text Box 51"/>
          <p:cNvSpPr txBox="1"/>
          <p:nvPr/>
        </p:nvSpPr>
        <p:spPr>
          <a:xfrm>
            <a:off x="2901950" y="5180013"/>
            <a:ext cx="285750"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I</a:t>
            </a:r>
            <a:endParaRPr lang="en-US" altLang="zh-CN" sz="2400" b="0" dirty="0">
              <a:solidFill>
                <a:schemeClr val="tx1"/>
              </a:solidFill>
              <a:latin typeface="Times New Roman" panose="02020603050405020304" pitchFamily="18" charset="0"/>
            </a:endParaRPr>
          </a:p>
        </p:txBody>
      </p:sp>
      <p:sp>
        <p:nvSpPr>
          <p:cNvPr id="297012" name="Text Box 52"/>
          <p:cNvSpPr txBox="1"/>
          <p:nvPr/>
        </p:nvSpPr>
        <p:spPr>
          <a:xfrm>
            <a:off x="3078163" y="5180013"/>
            <a:ext cx="3540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F</a:t>
            </a:r>
            <a:endParaRPr lang="en-US" altLang="zh-CN" sz="2400" b="0" dirty="0">
              <a:solidFill>
                <a:schemeClr val="tx1"/>
              </a:solidFill>
              <a:latin typeface="Times New Roman" panose="02020603050405020304" pitchFamily="18" charset="0"/>
            </a:endParaRPr>
          </a:p>
        </p:txBody>
      </p:sp>
      <p:sp>
        <p:nvSpPr>
          <p:cNvPr id="297013" name="Text Box 53"/>
          <p:cNvSpPr txBox="1"/>
          <p:nvPr/>
        </p:nvSpPr>
        <p:spPr>
          <a:xfrm>
            <a:off x="3322638" y="5180013"/>
            <a:ext cx="4048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G</a:t>
            </a:r>
            <a:endParaRPr lang="en-US" altLang="zh-CN" sz="2400" b="0" dirty="0">
              <a:solidFill>
                <a:schemeClr val="tx1"/>
              </a:solidFill>
              <a:latin typeface="Times New Roman" panose="02020603050405020304" pitchFamily="18" charset="0"/>
            </a:endParaRPr>
          </a:p>
        </p:txBody>
      </p:sp>
      <p:sp>
        <p:nvSpPr>
          <p:cNvPr id="297014" name="Text Box 54"/>
          <p:cNvSpPr txBox="1"/>
          <p:nvPr/>
        </p:nvSpPr>
        <p:spPr>
          <a:xfrm>
            <a:off x="3617913" y="5180013"/>
            <a:ext cx="387350"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B</a:t>
            </a:r>
            <a:endParaRPr lang="en-US" altLang="zh-CN" sz="2400" b="0" dirty="0">
              <a:solidFill>
                <a:schemeClr val="tx1"/>
              </a:solidFill>
              <a:latin typeface="Times New Roman" panose="02020603050405020304" pitchFamily="18" charset="0"/>
            </a:endParaRPr>
          </a:p>
        </p:txBody>
      </p:sp>
      <p:sp>
        <p:nvSpPr>
          <p:cNvPr id="297015" name="Text Box 55"/>
          <p:cNvSpPr txBox="1"/>
          <p:nvPr/>
        </p:nvSpPr>
        <p:spPr>
          <a:xfrm>
            <a:off x="3895725" y="5180013"/>
            <a:ext cx="387350"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C</a:t>
            </a:r>
            <a:endParaRPr lang="en-US" altLang="zh-CN" sz="2400" b="0" dirty="0">
              <a:solidFill>
                <a:schemeClr val="tx1"/>
              </a:solidFill>
              <a:latin typeface="Times New Roman" panose="02020603050405020304" pitchFamily="18" charset="0"/>
            </a:endParaRPr>
          </a:p>
        </p:txBody>
      </p:sp>
      <p:sp>
        <p:nvSpPr>
          <p:cNvPr id="297016" name="Text Box 56"/>
          <p:cNvSpPr txBox="1"/>
          <p:nvPr/>
        </p:nvSpPr>
        <p:spPr>
          <a:xfrm>
            <a:off x="4173538" y="5180013"/>
            <a:ext cx="3032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J</a:t>
            </a:r>
            <a:endParaRPr lang="en-US" altLang="zh-CN" sz="2400" b="0" dirty="0">
              <a:solidFill>
                <a:schemeClr val="tx1"/>
              </a:solidFill>
              <a:latin typeface="Times New Roman" panose="02020603050405020304" pitchFamily="18" charset="0"/>
            </a:endParaRPr>
          </a:p>
        </p:txBody>
      </p:sp>
      <p:sp>
        <p:nvSpPr>
          <p:cNvPr id="297017" name="Text Box 57"/>
          <p:cNvSpPr txBox="1"/>
          <p:nvPr/>
        </p:nvSpPr>
        <p:spPr>
          <a:xfrm>
            <a:off x="4367213" y="5180013"/>
            <a:ext cx="4048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K</a:t>
            </a:r>
            <a:endParaRPr lang="en-US" altLang="zh-CN" sz="2400" b="0" dirty="0">
              <a:solidFill>
                <a:schemeClr val="tx1"/>
              </a:solidFill>
              <a:latin typeface="Times New Roman" panose="02020603050405020304" pitchFamily="18" charset="0"/>
            </a:endParaRPr>
          </a:p>
        </p:txBody>
      </p:sp>
      <p:sp>
        <p:nvSpPr>
          <p:cNvPr id="297018" name="Text Box 58"/>
          <p:cNvSpPr txBox="1"/>
          <p:nvPr/>
        </p:nvSpPr>
        <p:spPr>
          <a:xfrm>
            <a:off x="4662488" y="5180013"/>
            <a:ext cx="4048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N</a:t>
            </a:r>
            <a:endParaRPr lang="en-US" altLang="zh-CN" sz="2400" b="0" dirty="0">
              <a:solidFill>
                <a:schemeClr val="tx1"/>
              </a:solidFill>
              <a:latin typeface="Times New Roman" panose="02020603050405020304" pitchFamily="18" charset="0"/>
            </a:endParaRPr>
          </a:p>
        </p:txBody>
      </p:sp>
      <p:sp>
        <p:nvSpPr>
          <p:cNvPr id="297019" name="Text Box 59"/>
          <p:cNvSpPr txBox="1"/>
          <p:nvPr/>
        </p:nvSpPr>
        <p:spPr>
          <a:xfrm>
            <a:off x="4957763" y="5180013"/>
            <a:ext cx="4048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O</a:t>
            </a:r>
            <a:endParaRPr lang="en-US" altLang="zh-CN" sz="2400" b="0" dirty="0">
              <a:solidFill>
                <a:schemeClr val="tx1"/>
              </a:solidFill>
              <a:latin typeface="Times New Roman" panose="02020603050405020304" pitchFamily="18" charset="0"/>
            </a:endParaRPr>
          </a:p>
        </p:txBody>
      </p:sp>
      <p:sp>
        <p:nvSpPr>
          <p:cNvPr id="297020" name="Text Box 60"/>
          <p:cNvSpPr txBox="1"/>
          <p:nvPr/>
        </p:nvSpPr>
        <p:spPr>
          <a:xfrm>
            <a:off x="5253038" y="5180013"/>
            <a:ext cx="369887"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L</a:t>
            </a:r>
            <a:endParaRPr lang="en-US" altLang="zh-CN" sz="2400" b="0" dirty="0">
              <a:solidFill>
                <a:schemeClr val="tx1"/>
              </a:solidFill>
              <a:latin typeface="Times New Roman" panose="02020603050405020304" pitchFamily="18" charset="0"/>
            </a:endParaRPr>
          </a:p>
        </p:txBody>
      </p:sp>
      <p:sp>
        <p:nvSpPr>
          <p:cNvPr id="297021" name="Text Box 61"/>
          <p:cNvSpPr txBox="1"/>
          <p:nvPr/>
        </p:nvSpPr>
        <p:spPr>
          <a:xfrm>
            <a:off x="5513388" y="5180013"/>
            <a:ext cx="4556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M</a:t>
            </a:r>
            <a:endParaRPr lang="en-US" altLang="zh-CN" sz="2400" b="0" dirty="0">
              <a:solidFill>
                <a:schemeClr val="tx1"/>
              </a:solidFill>
              <a:latin typeface="Times New Roman" panose="02020603050405020304" pitchFamily="18" charset="0"/>
            </a:endParaRPr>
          </a:p>
        </p:txBody>
      </p:sp>
      <p:sp>
        <p:nvSpPr>
          <p:cNvPr id="297022" name="Text Box 62"/>
          <p:cNvSpPr txBox="1"/>
          <p:nvPr/>
        </p:nvSpPr>
        <p:spPr>
          <a:xfrm>
            <a:off x="5859463" y="5180013"/>
            <a:ext cx="4048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H</a:t>
            </a:r>
            <a:endParaRPr lang="en-US" altLang="zh-CN" sz="2400" b="0" dirty="0">
              <a:solidFill>
                <a:schemeClr val="tx1"/>
              </a:solidFill>
              <a:latin typeface="Times New Roman" panose="02020603050405020304" pitchFamily="18" charset="0"/>
            </a:endParaRPr>
          </a:p>
        </p:txBody>
      </p:sp>
      <p:sp>
        <p:nvSpPr>
          <p:cNvPr id="297023" name="Text Box 63"/>
          <p:cNvSpPr txBox="1"/>
          <p:nvPr/>
        </p:nvSpPr>
        <p:spPr>
          <a:xfrm>
            <a:off x="6154738" y="5180013"/>
            <a:ext cx="404812"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D</a:t>
            </a:r>
            <a:endParaRPr lang="en-US" altLang="zh-CN" sz="2400" b="0" dirty="0">
              <a:solidFill>
                <a:schemeClr val="tx1"/>
              </a:solidFill>
              <a:latin typeface="Times New Roman" panose="02020603050405020304" pitchFamily="18" charset="0"/>
            </a:endParaRPr>
          </a:p>
        </p:txBody>
      </p:sp>
      <p:sp>
        <p:nvSpPr>
          <p:cNvPr id="297024" name="Text Box 64"/>
          <p:cNvSpPr txBox="1"/>
          <p:nvPr/>
        </p:nvSpPr>
        <p:spPr>
          <a:xfrm>
            <a:off x="6448425" y="5180013"/>
            <a:ext cx="404813" cy="457200"/>
          </a:xfrm>
          <a:prstGeom prst="rect">
            <a:avLst/>
          </a:prstGeom>
          <a:noFill/>
          <a:ln w="9525">
            <a:noFill/>
          </a:ln>
        </p:spPr>
        <p:txBody>
          <a:bodyPr wrap="none">
            <a:spAutoFit/>
          </a:bodyPr>
          <a:p>
            <a:pPr eaLnBrk="1" hangingPunct="1"/>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297025" name="Text Box 65"/>
          <p:cNvSpPr txBox="1"/>
          <p:nvPr/>
        </p:nvSpPr>
        <p:spPr>
          <a:xfrm>
            <a:off x="2624138" y="5710238"/>
            <a:ext cx="404812"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A</a:t>
            </a:r>
            <a:endParaRPr lang="en-US" altLang="zh-CN" sz="2400" b="0" dirty="0">
              <a:solidFill>
                <a:srgbClr val="FF0066"/>
              </a:solidFill>
              <a:latin typeface="Times New Roman" panose="02020603050405020304" pitchFamily="18" charset="0"/>
            </a:endParaRPr>
          </a:p>
        </p:txBody>
      </p:sp>
      <p:sp>
        <p:nvSpPr>
          <p:cNvPr id="297026" name="Text Box 66"/>
          <p:cNvSpPr txBox="1"/>
          <p:nvPr/>
        </p:nvSpPr>
        <p:spPr>
          <a:xfrm>
            <a:off x="2895600" y="5710238"/>
            <a:ext cx="387350"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B</a:t>
            </a:r>
            <a:endParaRPr lang="en-US" altLang="zh-CN" sz="2400" b="0" dirty="0">
              <a:solidFill>
                <a:srgbClr val="FF0066"/>
              </a:solidFill>
              <a:latin typeface="Times New Roman" panose="02020603050405020304" pitchFamily="18" charset="0"/>
            </a:endParaRPr>
          </a:p>
        </p:txBody>
      </p:sp>
      <p:sp>
        <p:nvSpPr>
          <p:cNvPr id="297027" name="Text Box 67"/>
          <p:cNvSpPr txBox="1"/>
          <p:nvPr/>
        </p:nvSpPr>
        <p:spPr>
          <a:xfrm>
            <a:off x="3167063" y="5710238"/>
            <a:ext cx="387350"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C</a:t>
            </a:r>
            <a:endParaRPr lang="en-US" altLang="zh-CN" sz="2400" b="0" dirty="0">
              <a:solidFill>
                <a:srgbClr val="FF0066"/>
              </a:solidFill>
              <a:latin typeface="Times New Roman" panose="02020603050405020304" pitchFamily="18" charset="0"/>
            </a:endParaRPr>
          </a:p>
        </p:txBody>
      </p:sp>
      <p:sp>
        <p:nvSpPr>
          <p:cNvPr id="297028" name="Text Box 68"/>
          <p:cNvSpPr txBox="1"/>
          <p:nvPr/>
        </p:nvSpPr>
        <p:spPr>
          <a:xfrm>
            <a:off x="3438525" y="5710238"/>
            <a:ext cx="404813"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D</a:t>
            </a:r>
            <a:endParaRPr lang="en-US" altLang="zh-CN" sz="2400" b="0" dirty="0">
              <a:solidFill>
                <a:srgbClr val="FF0066"/>
              </a:solidFill>
              <a:latin typeface="Times New Roman" panose="02020603050405020304" pitchFamily="18" charset="0"/>
            </a:endParaRPr>
          </a:p>
        </p:txBody>
      </p:sp>
      <p:sp>
        <p:nvSpPr>
          <p:cNvPr id="297029" name="Text Box 69"/>
          <p:cNvSpPr txBox="1"/>
          <p:nvPr/>
        </p:nvSpPr>
        <p:spPr>
          <a:xfrm>
            <a:off x="3709988" y="5710238"/>
            <a:ext cx="369887"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E</a:t>
            </a:r>
            <a:endParaRPr lang="en-US" altLang="zh-CN" sz="2400" b="0" dirty="0">
              <a:solidFill>
                <a:srgbClr val="FF0066"/>
              </a:solidFill>
              <a:latin typeface="Times New Roman" panose="02020603050405020304" pitchFamily="18" charset="0"/>
            </a:endParaRPr>
          </a:p>
        </p:txBody>
      </p:sp>
      <p:sp>
        <p:nvSpPr>
          <p:cNvPr id="297030" name="Text Box 70"/>
          <p:cNvSpPr txBox="1"/>
          <p:nvPr/>
        </p:nvSpPr>
        <p:spPr>
          <a:xfrm>
            <a:off x="4014788" y="5710238"/>
            <a:ext cx="354012"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F</a:t>
            </a:r>
            <a:endParaRPr lang="en-US" altLang="zh-CN" sz="2400" b="0" dirty="0">
              <a:solidFill>
                <a:srgbClr val="FF0066"/>
              </a:solidFill>
              <a:latin typeface="Times New Roman" panose="02020603050405020304" pitchFamily="18" charset="0"/>
            </a:endParaRPr>
          </a:p>
        </p:txBody>
      </p:sp>
      <p:sp>
        <p:nvSpPr>
          <p:cNvPr id="297031" name="Text Box 71"/>
          <p:cNvSpPr txBox="1"/>
          <p:nvPr/>
        </p:nvSpPr>
        <p:spPr>
          <a:xfrm>
            <a:off x="4251325" y="5710238"/>
            <a:ext cx="404813"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G</a:t>
            </a:r>
            <a:endParaRPr lang="en-US" altLang="zh-CN" sz="2400" b="0" dirty="0">
              <a:solidFill>
                <a:srgbClr val="FF0066"/>
              </a:solidFill>
              <a:latin typeface="Times New Roman" panose="02020603050405020304" pitchFamily="18" charset="0"/>
            </a:endParaRPr>
          </a:p>
        </p:txBody>
      </p:sp>
      <p:sp>
        <p:nvSpPr>
          <p:cNvPr id="297032" name="Text Box 72"/>
          <p:cNvSpPr txBox="1"/>
          <p:nvPr/>
        </p:nvSpPr>
        <p:spPr>
          <a:xfrm>
            <a:off x="4522788" y="5710238"/>
            <a:ext cx="404812"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H</a:t>
            </a:r>
            <a:endParaRPr lang="en-US" altLang="zh-CN" sz="2400" b="0" dirty="0">
              <a:solidFill>
                <a:srgbClr val="FF0066"/>
              </a:solidFill>
              <a:latin typeface="Times New Roman" panose="02020603050405020304" pitchFamily="18" charset="0"/>
            </a:endParaRPr>
          </a:p>
        </p:txBody>
      </p:sp>
      <p:sp>
        <p:nvSpPr>
          <p:cNvPr id="297033" name="Text Box 73"/>
          <p:cNvSpPr txBox="1"/>
          <p:nvPr/>
        </p:nvSpPr>
        <p:spPr>
          <a:xfrm>
            <a:off x="4829175" y="5710238"/>
            <a:ext cx="285750"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I</a:t>
            </a:r>
            <a:endParaRPr lang="en-US" altLang="zh-CN" sz="2400" b="0" dirty="0">
              <a:solidFill>
                <a:srgbClr val="FF0066"/>
              </a:solidFill>
              <a:latin typeface="Times New Roman" panose="02020603050405020304" pitchFamily="18" charset="0"/>
            </a:endParaRPr>
          </a:p>
        </p:txBody>
      </p:sp>
      <p:sp>
        <p:nvSpPr>
          <p:cNvPr id="297034" name="Text Box 74"/>
          <p:cNvSpPr txBox="1"/>
          <p:nvPr/>
        </p:nvSpPr>
        <p:spPr>
          <a:xfrm>
            <a:off x="5065713" y="5710238"/>
            <a:ext cx="303212"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J</a:t>
            </a:r>
            <a:endParaRPr lang="en-US" altLang="zh-CN" sz="2400" b="0" dirty="0">
              <a:solidFill>
                <a:srgbClr val="FF0066"/>
              </a:solidFill>
              <a:latin typeface="Times New Roman" panose="02020603050405020304" pitchFamily="18" charset="0"/>
            </a:endParaRPr>
          </a:p>
        </p:txBody>
      </p:sp>
      <p:sp>
        <p:nvSpPr>
          <p:cNvPr id="297035" name="Text Box 75"/>
          <p:cNvSpPr txBox="1"/>
          <p:nvPr/>
        </p:nvSpPr>
        <p:spPr>
          <a:xfrm>
            <a:off x="5335588" y="5710238"/>
            <a:ext cx="404812"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K</a:t>
            </a:r>
            <a:endParaRPr lang="en-US" altLang="zh-CN" sz="2400" b="0" dirty="0">
              <a:solidFill>
                <a:srgbClr val="FF0066"/>
              </a:solidFill>
              <a:latin typeface="Times New Roman" panose="02020603050405020304" pitchFamily="18" charset="0"/>
            </a:endParaRPr>
          </a:p>
        </p:txBody>
      </p:sp>
      <p:sp>
        <p:nvSpPr>
          <p:cNvPr id="297036" name="Text Box 76"/>
          <p:cNvSpPr txBox="1"/>
          <p:nvPr/>
        </p:nvSpPr>
        <p:spPr>
          <a:xfrm>
            <a:off x="5607050" y="5710238"/>
            <a:ext cx="369888"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L</a:t>
            </a:r>
            <a:endParaRPr lang="en-US" altLang="zh-CN" sz="2400" b="0" dirty="0">
              <a:solidFill>
                <a:srgbClr val="FF0066"/>
              </a:solidFill>
              <a:latin typeface="Times New Roman" panose="02020603050405020304" pitchFamily="18" charset="0"/>
            </a:endParaRPr>
          </a:p>
        </p:txBody>
      </p:sp>
      <p:sp>
        <p:nvSpPr>
          <p:cNvPr id="297037" name="Text Box 77"/>
          <p:cNvSpPr txBox="1"/>
          <p:nvPr/>
        </p:nvSpPr>
        <p:spPr>
          <a:xfrm>
            <a:off x="5878513" y="5710238"/>
            <a:ext cx="455612"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M</a:t>
            </a:r>
            <a:endParaRPr lang="en-US" altLang="zh-CN" sz="2400" b="0" dirty="0">
              <a:solidFill>
                <a:srgbClr val="FF0066"/>
              </a:solidFill>
              <a:latin typeface="Times New Roman" panose="02020603050405020304" pitchFamily="18" charset="0"/>
            </a:endParaRPr>
          </a:p>
        </p:txBody>
      </p:sp>
      <p:sp>
        <p:nvSpPr>
          <p:cNvPr id="297038" name="Text Box 78"/>
          <p:cNvSpPr txBox="1"/>
          <p:nvPr/>
        </p:nvSpPr>
        <p:spPr>
          <a:xfrm>
            <a:off x="6149975" y="5710238"/>
            <a:ext cx="404813"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N</a:t>
            </a:r>
            <a:endParaRPr lang="en-US" altLang="zh-CN" sz="2400" b="0" dirty="0">
              <a:solidFill>
                <a:srgbClr val="FF0066"/>
              </a:solidFill>
              <a:latin typeface="Times New Roman" panose="02020603050405020304" pitchFamily="18" charset="0"/>
            </a:endParaRPr>
          </a:p>
        </p:txBody>
      </p:sp>
      <p:sp>
        <p:nvSpPr>
          <p:cNvPr id="297039" name="Text Box 79"/>
          <p:cNvSpPr txBox="1"/>
          <p:nvPr/>
        </p:nvSpPr>
        <p:spPr>
          <a:xfrm>
            <a:off x="6419850" y="5710238"/>
            <a:ext cx="404813" cy="457200"/>
          </a:xfrm>
          <a:prstGeom prst="rect">
            <a:avLst/>
          </a:prstGeom>
          <a:noFill/>
          <a:ln w="9525">
            <a:noFill/>
          </a:ln>
        </p:spPr>
        <p:txBody>
          <a:bodyPr wrap="none">
            <a:spAutoFit/>
          </a:bodyPr>
          <a:p>
            <a:pPr eaLnBrk="1" hangingPunct="1"/>
            <a:r>
              <a:rPr lang="en-US" altLang="zh-CN" sz="2400" b="0" dirty="0">
                <a:solidFill>
                  <a:srgbClr val="FF0066"/>
                </a:solidFill>
                <a:latin typeface="Times New Roman" panose="02020603050405020304" pitchFamily="18" charset="0"/>
              </a:rPr>
              <a:t>O</a:t>
            </a:r>
            <a:endParaRPr lang="en-US" altLang="zh-CN" sz="2400" b="0" dirty="0">
              <a:solidFill>
                <a:srgbClr val="FF0066"/>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3000"/>
                                  </p:stCondLst>
                                  <p:iterate type="lt">
                                    <p:tmPct val="100000"/>
                                  </p:iterate>
                                  <p:childTnLst>
                                    <p:set>
                                      <p:cBhvr>
                                        <p:cTn id="11" dur="1" fill="hold">
                                          <p:stCondLst>
                                            <p:cond delay="0"/>
                                          </p:stCondLst>
                                        </p:cTn>
                                        <p:tgtEl>
                                          <p:spTgt spid="296992">
                                            <p:txEl>
                                              <p:charRg st="0" end="6"/>
                                            </p:txEl>
                                          </p:spTgt>
                                        </p:tgtEl>
                                        <p:attrNameLst>
                                          <p:attrName>style.visibility</p:attrName>
                                        </p:attrNameLst>
                                      </p:cBhvr>
                                      <p:to>
                                        <p:strVal val="visible"/>
                                      </p:to>
                                    </p:set>
                                    <p:anim calcmode="lin" valueType="num">
                                      <p:cBhvr additive="base">
                                        <p:cTn id="12" dur="75" fill="hold"/>
                                        <p:tgtEl>
                                          <p:spTgt spid="296992">
                                            <p:txEl>
                                              <p:charRg st="0" end="6"/>
                                            </p:txEl>
                                          </p:spTgt>
                                        </p:tgtEl>
                                        <p:attrNameLst>
                                          <p:attrName>ppt_x</p:attrName>
                                        </p:attrNameLst>
                                      </p:cBhvr>
                                      <p:tavLst>
                                        <p:tav tm="0">
                                          <p:val>
                                            <p:strVal val="#ppt_x"/>
                                          </p:val>
                                        </p:tav>
                                        <p:tav tm="100000">
                                          <p:val>
                                            <p:strVal val="#ppt_x"/>
                                          </p:val>
                                        </p:tav>
                                      </p:tavLst>
                                    </p:anim>
                                    <p:anim calcmode="lin" valueType="num">
                                      <p:cBhvr additive="base">
                                        <p:cTn id="13" dur="75" fill="hold"/>
                                        <p:tgtEl>
                                          <p:spTgt spid="296992">
                                            <p:txEl>
                                              <p:charRg st="0" end="6"/>
                                            </p:txEl>
                                          </p:spTgt>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296995">
                                            <p:txEl>
                                              <p:charRg st="0" end="2"/>
                                            </p:txEl>
                                          </p:spTgt>
                                        </p:tgtEl>
                                        <p:attrNameLst>
                                          <p:attrName>style.visibility</p:attrName>
                                        </p:attrNameLst>
                                      </p:cBhvr>
                                      <p:to>
                                        <p:strVal val="visible"/>
                                      </p:to>
                                    </p:set>
                                    <p:animEffect transition="in" filter="box(out)">
                                      <p:cBhvr>
                                        <p:cTn id="18" dur="500"/>
                                        <p:tgtEl>
                                          <p:spTgt spid="296995">
                                            <p:txEl>
                                              <p:charRg st="0"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296996">
                                            <p:txEl>
                                              <p:charRg st="0" end="2"/>
                                            </p:txEl>
                                          </p:spTgt>
                                        </p:tgtEl>
                                        <p:attrNameLst>
                                          <p:attrName>style.visibility</p:attrName>
                                        </p:attrNameLst>
                                      </p:cBhvr>
                                      <p:to>
                                        <p:strVal val="visible"/>
                                      </p:to>
                                    </p:set>
                                    <p:animEffect transition="in" filter="box(out)">
                                      <p:cBhvr>
                                        <p:cTn id="23" dur="500"/>
                                        <p:tgtEl>
                                          <p:spTgt spid="296996">
                                            <p:txEl>
                                              <p:charRg st="0"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296997">
                                            <p:txEl>
                                              <p:charRg st="0" end="2"/>
                                            </p:txEl>
                                          </p:spTgt>
                                        </p:tgtEl>
                                        <p:attrNameLst>
                                          <p:attrName>style.visibility</p:attrName>
                                        </p:attrNameLst>
                                      </p:cBhvr>
                                      <p:to>
                                        <p:strVal val="visible"/>
                                      </p:to>
                                    </p:set>
                                    <p:animEffect transition="in" filter="box(out)">
                                      <p:cBhvr>
                                        <p:cTn id="28" dur="500"/>
                                        <p:tgtEl>
                                          <p:spTgt spid="296997">
                                            <p:txEl>
                                              <p:charRg st="0"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296998">
                                            <p:txEl>
                                              <p:charRg st="0" end="2"/>
                                            </p:txEl>
                                          </p:spTgt>
                                        </p:tgtEl>
                                        <p:attrNameLst>
                                          <p:attrName>style.visibility</p:attrName>
                                        </p:attrNameLst>
                                      </p:cBhvr>
                                      <p:to>
                                        <p:strVal val="visible"/>
                                      </p:to>
                                    </p:set>
                                    <p:animEffect transition="in" filter="box(out)">
                                      <p:cBhvr>
                                        <p:cTn id="33" dur="500"/>
                                        <p:tgtEl>
                                          <p:spTgt spid="296998">
                                            <p:txEl>
                                              <p:charRg st="0"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296999">
                                            <p:txEl>
                                              <p:charRg st="0" end="2"/>
                                            </p:txEl>
                                          </p:spTgt>
                                        </p:tgtEl>
                                        <p:attrNameLst>
                                          <p:attrName>style.visibility</p:attrName>
                                        </p:attrNameLst>
                                      </p:cBhvr>
                                      <p:to>
                                        <p:strVal val="visible"/>
                                      </p:to>
                                    </p:set>
                                    <p:animEffect transition="in" filter="box(out)">
                                      <p:cBhvr>
                                        <p:cTn id="38" dur="500"/>
                                        <p:tgtEl>
                                          <p:spTgt spid="296999">
                                            <p:txEl>
                                              <p:charRg st="0"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297000">
                                            <p:txEl>
                                              <p:charRg st="0" end="2"/>
                                            </p:txEl>
                                          </p:spTgt>
                                        </p:tgtEl>
                                        <p:attrNameLst>
                                          <p:attrName>style.visibility</p:attrName>
                                        </p:attrNameLst>
                                      </p:cBhvr>
                                      <p:to>
                                        <p:strVal val="visible"/>
                                      </p:to>
                                    </p:set>
                                    <p:animEffect transition="in" filter="box(out)">
                                      <p:cBhvr>
                                        <p:cTn id="43" dur="500"/>
                                        <p:tgtEl>
                                          <p:spTgt spid="297000">
                                            <p:txEl>
                                              <p:charRg st="0"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297001">
                                            <p:txEl>
                                              <p:charRg st="0" end="2"/>
                                            </p:txEl>
                                          </p:spTgt>
                                        </p:tgtEl>
                                        <p:attrNameLst>
                                          <p:attrName>style.visibility</p:attrName>
                                        </p:attrNameLst>
                                      </p:cBhvr>
                                      <p:to>
                                        <p:strVal val="visible"/>
                                      </p:to>
                                    </p:set>
                                    <p:animEffect transition="in" filter="box(out)">
                                      <p:cBhvr>
                                        <p:cTn id="48" dur="500"/>
                                        <p:tgtEl>
                                          <p:spTgt spid="297001">
                                            <p:txEl>
                                              <p:charRg st="0"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297002">
                                            <p:txEl>
                                              <p:charRg st="0" end="2"/>
                                            </p:txEl>
                                          </p:spTgt>
                                        </p:tgtEl>
                                        <p:attrNameLst>
                                          <p:attrName>style.visibility</p:attrName>
                                        </p:attrNameLst>
                                      </p:cBhvr>
                                      <p:to>
                                        <p:strVal val="visible"/>
                                      </p:to>
                                    </p:set>
                                    <p:animEffect transition="in" filter="box(out)">
                                      <p:cBhvr>
                                        <p:cTn id="53" dur="500"/>
                                        <p:tgtEl>
                                          <p:spTgt spid="297002">
                                            <p:txEl>
                                              <p:charRg st="0"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297003">
                                            <p:txEl>
                                              <p:charRg st="0" end="2"/>
                                            </p:txEl>
                                          </p:spTgt>
                                        </p:tgtEl>
                                        <p:attrNameLst>
                                          <p:attrName>style.visibility</p:attrName>
                                        </p:attrNameLst>
                                      </p:cBhvr>
                                      <p:to>
                                        <p:strVal val="visible"/>
                                      </p:to>
                                    </p:set>
                                    <p:animEffect transition="in" filter="box(out)">
                                      <p:cBhvr>
                                        <p:cTn id="58" dur="500"/>
                                        <p:tgtEl>
                                          <p:spTgt spid="297003">
                                            <p:txEl>
                                              <p:charRg st="0"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297004">
                                            <p:txEl>
                                              <p:charRg st="0" end="2"/>
                                            </p:txEl>
                                          </p:spTgt>
                                        </p:tgtEl>
                                        <p:attrNameLst>
                                          <p:attrName>style.visibility</p:attrName>
                                        </p:attrNameLst>
                                      </p:cBhvr>
                                      <p:to>
                                        <p:strVal val="visible"/>
                                      </p:to>
                                    </p:set>
                                    <p:animEffect transition="in" filter="box(out)">
                                      <p:cBhvr>
                                        <p:cTn id="63" dur="500"/>
                                        <p:tgtEl>
                                          <p:spTgt spid="297004">
                                            <p:txEl>
                                              <p:charRg st="0"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297005">
                                            <p:txEl>
                                              <p:charRg st="0" end="2"/>
                                            </p:txEl>
                                          </p:spTgt>
                                        </p:tgtEl>
                                        <p:attrNameLst>
                                          <p:attrName>style.visibility</p:attrName>
                                        </p:attrNameLst>
                                      </p:cBhvr>
                                      <p:to>
                                        <p:strVal val="visible"/>
                                      </p:to>
                                    </p:set>
                                    <p:animEffect transition="in" filter="box(out)">
                                      <p:cBhvr>
                                        <p:cTn id="68" dur="500"/>
                                        <p:tgtEl>
                                          <p:spTgt spid="297005">
                                            <p:txEl>
                                              <p:charRg st="0"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297006">
                                            <p:txEl>
                                              <p:charRg st="0" end="2"/>
                                            </p:txEl>
                                          </p:spTgt>
                                        </p:tgtEl>
                                        <p:attrNameLst>
                                          <p:attrName>style.visibility</p:attrName>
                                        </p:attrNameLst>
                                      </p:cBhvr>
                                      <p:to>
                                        <p:strVal val="visible"/>
                                      </p:to>
                                    </p:set>
                                    <p:animEffect transition="in" filter="box(out)">
                                      <p:cBhvr>
                                        <p:cTn id="73" dur="500"/>
                                        <p:tgtEl>
                                          <p:spTgt spid="297006">
                                            <p:txEl>
                                              <p:charRg st="0" end="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297007">
                                            <p:txEl>
                                              <p:charRg st="0" end="2"/>
                                            </p:txEl>
                                          </p:spTgt>
                                        </p:tgtEl>
                                        <p:attrNameLst>
                                          <p:attrName>style.visibility</p:attrName>
                                        </p:attrNameLst>
                                      </p:cBhvr>
                                      <p:to>
                                        <p:strVal val="visible"/>
                                      </p:to>
                                    </p:set>
                                    <p:animEffect transition="in" filter="box(out)">
                                      <p:cBhvr>
                                        <p:cTn id="78" dur="500"/>
                                        <p:tgtEl>
                                          <p:spTgt spid="297007">
                                            <p:txEl>
                                              <p:charRg st="0" end="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297008">
                                            <p:txEl>
                                              <p:charRg st="0" end="2"/>
                                            </p:txEl>
                                          </p:spTgt>
                                        </p:tgtEl>
                                        <p:attrNameLst>
                                          <p:attrName>style.visibility</p:attrName>
                                        </p:attrNameLst>
                                      </p:cBhvr>
                                      <p:to>
                                        <p:strVal val="visible"/>
                                      </p:to>
                                    </p:set>
                                    <p:animEffect transition="in" filter="box(out)">
                                      <p:cBhvr>
                                        <p:cTn id="83" dur="500"/>
                                        <p:tgtEl>
                                          <p:spTgt spid="297008">
                                            <p:txEl>
                                              <p:charRg st="0" end="2"/>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4" presetClass="entr" presetSubtype="32" fill="hold" grpId="0" nodeType="clickEffect">
                                  <p:stCondLst>
                                    <p:cond delay="0"/>
                                  </p:stCondLst>
                                  <p:childTnLst>
                                    <p:set>
                                      <p:cBhvr>
                                        <p:cTn id="87" dur="1" fill="hold">
                                          <p:stCondLst>
                                            <p:cond delay="0"/>
                                          </p:stCondLst>
                                        </p:cTn>
                                        <p:tgtEl>
                                          <p:spTgt spid="297009">
                                            <p:txEl>
                                              <p:charRg st="0" end="2"/>
                                            </p:txEl>
                                          </p:spTgt>
                                        </p:tgtEl>
                                        <p:attrNameLst>
                                          <p:attrName>style.visibility</p:attrName>
                                        </p:attrNameLst>
                                      </p:cBhvr>
                                      <p:to>
                                        <p:strVal val="visible"/>
                                      </p:to>
                                    </p:set>
                                    <p:animEffect transition="in" filter="box(out)">
                                      <p:cBhvr>
                                        <p:cTn id="88" dur="500"/>
                                        <p:tgtEl>
                                          <p:spTgt spid="297009">
                                            <p:txEl>
                                              <p:charRg st="0" end="2"/>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3" fill="hold" grpId="0" nodeType="clickEffect">
                                  <p:stCondLst>
                                    <p:cond delay="0"/>
                                  </p:stCondLst>
                                  <p:iterate type="lt">
                                    <p:tmPct val="100000"/>
                                  </p:iterate>
                                  <p:childTnLst>
                                    <p:set>
                                      <p:cBhvr>
                                        <p:cTn id="92" dur="1" fill="hold">
                                          <p:stCondLst>
                                            <p:cond delay="0"/>
                                          </p:stCondLst>
                                        </p:cTn>
                                        <p:tgtEl>
                                          <p:spTgt spid="296993">
                                            <p:txEl>
                                              <p:charRg st="0" end="6"/>
                                            </p:txEl>
                                          </p:spTgt>
                                        </p:tgtEl>
                                        <p:attrNameLst>
                                          <p:attrName>style.visibility</p:attrName>
                                        </p:attrNameLst>
                                      </p:cBhvr>
                                      <p:to>
                                        <p:strVal val="visible"/>
                                      </p:to>
                                    </p:set>
                                    <p:anim calcmode="lin" valueType="num">
                                      <p:cBhvr additive="base">
                                        <p:cTn id="93" dur="75" fill="hold"/>
                                        <p:tgtEl>
                                          <p:spTgt spid="296993">
                                            <p:txEl>
                                              <p:charRg st="0" end="6"/>
                                            </p:txEl>
                                          </p:spTgt>
                                        </p:tgtEl>
                                        <p:attrNameLst>
                                          <p:attrName>ppt_x</p:attrName>
                                        </p:attrNameLst>
                                      </p:cBhvr>
                                      <p:tavLst>
                                        <p:tav tm="0">
                                          <p:val>
                                            <p:strVal val="1+#ppt_w/2"/>
                                          </p:val>
                                        </p:tav>
                                        <p:tav tm="100000">
                                          <p:val>
                                            <p:strVal val="#ppt_x"/>
                                          </p:val>
                                        </p:tav>
                                      </p:tavLst>
                                    </p:anim>
                                    <p:anim calcmode="lin" valueType="num">
                                      <p:cBhvr additive="base">
                                        <p:cTn id="94" dur="75" fill="hold"/>
                                        <p:tgtEl>
                                          <p:spTgt spid="296993">
                                            <p:txEl>
                                              <p:charRg st="0" end="6"/>
                                            </p:txEl>
                                          </p:spTgt>
                                        </p:tgtEl>
                                        <p:attrNameLst>
                                          <p:attrName>ppt_y</p:attrName>
                                        </p:attrNameLst>
                                      </p:cBhvr>
                                      <p:tavLst>
                                        <p:tav tm="0">
                                          <p:val>
                                            <p:strVal val="0-#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 presetClass="entr" presetSubtype="32" fill="hold" grpId="0" nodeType="clickEffect">
                                  <p:stCondLst>
                                    <p:cond delay="0"/>
                                  </p:stCondLst>
                                  <p:childTnLst>
                                    <p:set>
                                      <p:cBhvr>
                                        <p:cTn id="98" dur="1" fill="hold">
                                          <p:stCondLst>
                                            <p:cond delay="0"/>
                                          </p:stCondLst>
                                        </p:cTn>
                                        <p:tgtEl>
                                          <p:spTgt spid="297010">
                                            <p:txEl>
                                              <p:charRg st="0" end="2"/>
                                            </p:txEl>
                                          </p:spTgt>
                                        </p:tgtEl>
                                        <p:attrNameLst>
                                          <p:attrName>style.visibility</p:attrName>
                                        </p:attrNameLst>
                                      </p:cBhvr>
                                      <p:to>
                                        <p:strVal val="visible"/>
                                      </p:to>
                                    </p:set>
                                    <p:animEffect transition="in" filter="box(out)">
                                      <p:cBhvr>
                                        <p:cTn id="99" dur="500"/>
                                        <p:tgtEl>
                                          <p:spTgt spid="297010">
                                            <p:txEl>
                                              <p:charRg st="0" end="2"/>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4" presetClass="entr" presetSubtype="32" fill="hold" grpId="0" nodeType="clickEffect">
                                  <p:stCondLst>
                                    <p:cond delay="0"/>
                                  </p:stCondLst>
                                  <p:childTnLst>
                                    <p:set>
                                      <p:cBhvr>
                                        <p:cTn id="103" dur="1" fill="hold">
                                          <p:stCondLst>
                                            <p:cond delay="0"/>
                                          </p:stCondLst>
                                        </p:cTn>
                                        <p:tgtEl>
                                          <p:spTgt spid="297011">
                                            <p:txEl>
                                              <p:charRg st="0" end="2"/>
                                            </p:txEl>
                                          </p:spTgt>
                                        </p:tgtEl>
                                        <p:attrNameLst>
                                          <p:attrName>style.visibility</p:attrName>
                                        </p:attrNameLst>
                                      </p:cBhvr>
                                      <p:to>
                                        <p:strVal val="visible"/>
                                      </p:to>
                                    </p:set>
                                    <p:animEffect transition="in" filter="box(out)">
                                      <p:cBhvr>
                                        <p:cTn id="104" dur="500"/>
                                        <p:tgtEl>
                                          <p:spTgt spid="297011">
                                            <p:txEl>
                                              <p:charRg st="0" end="2"/>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ntr" presetSubtype="32" fill="hold" grpId="0" nodeType="clickEffect">
                                  <p:stCondLst>
                                    <p:cond delay="0"/>
                                  </p:stCondLst>
                                  <p:childTnLst>
                                    <p:set>
                                      <p:cBhvr>
                                        <p:cTn id="108" dur="1" fill="hold">
                                          <p:stCondLst>
                                            <p:cond delay="0"/>
                                          </p:stCondLst>
                                        </p:cTn>
                                        <p:tgtEl>
                                          <p:spTgt spid="297012">
                                            <p:txEl>
                                              <p:charRg st="0" end="2"/>
                                            </p:txEl>
                                          </p:spTgt>
                                        </p:tgtEl>
                                        <p:attrNameLst>
                                          <p:attrName>style.visibility</p:attrName>
                                        </p:attrNameLst>
                                      </p:cBhvr>
                                      <p:to>
                                        <p:strVal val="visible"/>
                                      </p:to>
                                    </p:set>
                                    <p:animEffect transition="in" filter="box(out)">
                                      <p:cBhvr>
                                        <p:cTn id="109" dur="500"/>
                                        <p:tgtEl>
                                          <p:spTgt spid="297012">
                                            <p:txEl>
                                              <p:charRg st="0" end="2"/>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32" fill="hold" grpId="0" nodeType="clickEffect">
                                  <p:stCondLst>
                                    <p:cond delay="0"/>
                                  </p:stCondLst>
                                  <p:childTnLst>
                                    <p:set>
                                      <p:cBhvr>
                                        <p:cTn id="113" dur="1" fill="hold">
                                          <p:stCondLst>
                                            <p:cond delay="0"/>
                                          </p:stCondLst>
                                        </p:cTn>
                                        <p:tgtEl>
                                          <p:spTgt spid="297013">
                                            <p:txEl>
                                              <p:charRg st="0" end="2"/>
                                            </p:txEl>
                                          </p:spTgt>
                                        </p:tgtEl>
                                        <p:attrNameLst>
                                          <p:attrName>style.visibility</p:attrName>
                                        </p:attrNameLst>
                                      </p:cBhvr>
                                      <p:to>
                                        <p:strVal val="visible"/>
                                      </p:to>
                                    </p:set>
                                    <p:animEffect transition="in" filter="box(out)">
                                      <p:cBhvr>
                                        <p:cTn id="114" dur="500"/>
                                        <p:tgtEl>
                                          <p:spTgt spid="297013">
                                            <p:txEl>
                                              <p:charRg st="0" end="2"/>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4" presetClass="entr" presetSubtype="32" fill="hold" grpId="0" nodeType="clickEffect">
                                  <p:stCondLst>
                                    <p:cond delay="0"/>
                                  </p:stCondLst>
                                  <p:childTnLst>
                                    <p:set>
                                      <p:cBhvr>
                                        <p:cTn id="118" dur="1" fill="hold">
                                          <p:stCondLst>
                                            <p:cond delay="0"/>
                                          </p:stCondLst>
                                        </p:cTn>
                                        <p:tgtEl>
                                          <p:spTgt spid="297014">
                                            <p:txEl>
                                              <p:charRg st="0" end="2"/>
                                            </p:txEl>
                                          </p:spTgt>
                                        </p:tgtEl>
                                        <p:attrNameLst>
                                          <p:attrName>style.visibility</p:attrName>
                                        </p:attrNameLst>
                                      </p:cBhvr>
                                      <p:to>
                                        <p:strVal val="visible"/>
                                      </p:to>
                                    </p:set>
                                    <p:animEffect transition="in" filter="box(out)">
                                      <p:cBhvr>
                                        <p:cTn id="119" dur="500"/>
                                        <p:tgtEl>
                                          <p:spTgt spid="297014">
                                            <p:txEl>
                                              <p:charRg st="0" end="2"/>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4" presetClass="entr" presetSubtype="32" fill="hold" grpId="0" nodeType="clickEffect">
                                  <p:stCondLst>
                                    <p:cond delay="0"/>
                                  </p:stCondLst>
                                  <p:childTnLst>
                                    <p:set>
                                      <p:cBhvr>
                                        <p:cTn id="123" dur="1" fill="hold">
                                          <p:stCondLst>
                                            <p:cond delay="0"/>
                                          </p:stCondLst>
                                        </p:cTn>
                                        <p:tgtEl>
                                          <p:spTgt spid="297015">
                                            <p:txEl>
                                              <p:charRg st="0" end="2"/>
                                            </p:txEl>
                                          </p:spTgt>
                                        </p:tgtEl>
                                        <p:attrNameLst>
                                          <p:attrName>style.visibility</p:attrName>
                                        </p:attrNameLst>
                                      </p:cBhvr>
                                      <p:to>
                                        <p:strVal val="visible"/>
                                      </p:to>
                                    </p:set>
                                    <p:animEffect transition="in" filter="box(out)">
                                      <p:cBhvr>
                                        <p:cTn id="124" dur="500"/>
                                        <p:tgtEl>
                                          <p:spTgt spid="297015">
                                            <p:txEl>
                                              <p:charRg st="0" end="2"/>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4" presetClass="entr" presetSubtype="32" fill="hold" grpId="0" nodeType="clickEffect">
                                  <p:stCondLst>
                                    <p:cond delay="0"/>
                                  </p:stCondLst>
                                  <p:childTnLst>
                                    <p:set>
                                      <p:cBhvr>
                                        <p:cTn id="128" dur="1" fill="hold">
                                          <p:stCondLst>
                                            <p:cond delay="0"/>
                                          </p:stCondLst>
                                        </p:cTn>
                                        <p:tgtEl>
                                          <p:spTgt spid="297016">
                                            <p:txEl>
                                              <p:charRg st="0" end="2"/>
                                            </p:txEl>
                                          </p:spTgt>
                                        </p:tgtEl>
                                        <p:attrNameLst>
                                          <p:attrName>style.visibility</p:attrName>
                                        </p:attrNameLst>
                                      </p:cBhvr>
                                      <p:to>
                                        <p:strVal val="visible"/>
                                      </p:to>
                                    </p:set>
                                    <p:animEffect transition="in" filter="box(out)">
                                      <p:cBhvr>
                                        <p:cTn id="129" dur="500"/>
                                        <p:tgtEl>
                                          <p:spTgt spid="297016">
                                            <p:txEl>
                                              <p:charRg st="0" end="2"/>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4" presetClass="entr" presetSubtype="32" fill="hold" grpId="0" nodeType="clickEffect">
                                  <p:stCondLst>
                                    <p:cond delay="0"/>
                                  </p:stCondLst>
                                  <p:childTnLst>
                                    <p:set>
                                      <p:cBhvr>
                                        <p:cTn id="133" dur="1" fill="hold">
                                          <p:stCondLst>
                                            <p:cond delay="0"/>
                                          </p:stCondLst>
                                        </p:cTn>
                                        <p:tgtEl>
                                          <p:spTgt spid="297017">
                                            <p:txEl>
                                              <p:charRg st="0" end="2"/>
                                            </p:txEl>
                                          </p:spTgt>
                                        </p:tgtEl>
                                        <p:attrNameLst>
                                          <p:attrName>style.visibility</p:attrName>
                                        </p:attrNameLst>
                                      </p:cBhvr>
                                      <p:to>
                                        <p:strVal val="visible"/>
                                      </p:to>
                                    </p:set>
                                    <p:animEffect transition="in" filter="box(out)">
                                      <p:cBhvr>
                                        <p:cTn id="134" dur="500"/>
                                        <p:tgtEl>
                                          <p:spTgt spid="297017">
                                            <p:txEl>
                                              <p:charRg st="0" end="2"/>
                                            </p:txEl>
                                          </p:spTgt>
                                        </p:tgtEl>
                                      </p:cBhvr>
                                    </p:animEffect>
                                  </p:childTnLst>
                                </p:cTn>
                              </p:par>
                            </p:childTnLst>
                          </p:cTn>
                        </p:par>
                      </p:childTnLst>
                    </p:cTn>
                  </p:par>
                  <p:par>
                    <p:cTn id="135" fill="hold">
                      <p:stCondLst>
                        <p:cond delay="indefinite"/>
                      </p:stCondLst>
                      <p:childTnLst>
                        <p:par>
                          <p:cTn id="136" fill="hold">
                            <p:stCondLst>
                              <p:cond delay="0"/>
                            </p:stCondLst>
                            <p:childTnLst>
                              <p:par>
                                <p:cTn id="137" presetID="4" presetClass="entr" presetSubtype="32" fill="hold" grpId="0" nodeType="clickEffect">
                                  <p:stCondLst>
                                    <p:cond delay="0"/>
                                  </p:stCondLst>
                                  <p:childTnLst>
                                    <p:set>
                                      <p:cBhvr>
                                        <p:cTn id="138" dur="1" fill="hold">
                                          <p:stCondLst>
                                            <p:cond delay="0"/>
                                          </p:stCondLst>
                                        </p:cTn>
                                        <p:tgtEl>
                                          <p:spTgt spid="297018">
                                            <p:txEl>
                                              <p:charRg st="0" end="2"/>
                                            </p:txEl>
                                          </p:spTgt>
                                        </p:tgtEl>
                                        <p:attrNameLst>
                                          <p:attrName>style.visibility</p:attrName>
                                        </p:attrNameLst>
                                      </p:cBhvr>
                                      <p:to>
                                        <p:strVal val="visible"/>
                                      </p:to>
                                    </p:set>
                                    <p:animEffect transition="in" filter="box(out)">
                                      <p:cBhvr>
                                        <p:cTn id="139" dur="500"/>
                                        <p:tgtEl>
                                          <p:spTgt spid="297018">
                                            <p:txEl>
                                              <p:charRg st="0" end="2"/>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4" presetClass="entr" presetSubtype="32" fill="hold" grpId="0" nodeType="clickEffect">
                                  <p:stCondLst>
                                    <p:cond delay="0"/>
                                  </p:stCondLst>
                                  <p:childTnLst>
                                    <p:set>
                                      <p:cBhvr>
                                        <p:cTn id="143" dur="1" fill="hold">
                                          <p:stCondLst>
                                            <p:cond delay="0"/>
                                          </p:stCondLst>
                                        </p:cTn>
                                        <p:tgtEl>
                                          <p:spTgt spid="297019">
                                            <p:txEl>
                                              <p:charRg st="0" end="2"/>
                                            </p:txEl>
                                          </p:spTgt>
                                        </p:tgtEl>
                                        <p:attrNameLst>
                                          <p:attrName>style.visibility</p:attrName>
                                        </p:attrNameLst>
                                      </p:cBhvr>
                                      <p:to>
                                        <p:strVal val="visible"/>
                                      </p:to>
                                    </p:set>
                                    <p:animEffect transition="in" filter="box(out)">
                                      <p:cBhvr>
                                        <p:cTn id="144" dur="500"/>
                                        <p:tgtEl>
                                          <p:spTgt spid="297019">
                                            <p:txEl>
                                              <p:charRg st="0" end="2"/>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4" presetClass="entr" presetSubtype="32" fill="hold" grpId="0" nodeType="clickEffect">
                                  <p:stCondLst>
                                    <p:cond delay="0"/>
                                  </p:stCondLst>
                                  <p:childTnLst>
                                    <p:set>
                                      <p:cBhvr>
                                        <p:cTn id="148" dur="1" fill="hold">
                                          <p:stCondLst>
                                            <p:cond delay="0"/>
                                          </p:stCondLst>
                                        </p:cTn>
                                        <p:tgtEl>
                                          <p:spTgt spid="297020">
                                            <p:txEl>
                                              <p:charRg st="0" end="2"/>
                                            </p:txEl>
                                          </p:spTgt>
                                        </p:tgtEl>
                                        <p:attrNameLst>
                                          <p:attrName>style.visibility</p:attrName>
                                        </p:attrNameLst>
                                      </p:cBhvr>
                                      <p:to>
                                        <p:strVal val="visible"/>
                                      </p:to>
                                    </p:set>
                                    <p:animEffect transition="in" filter="box(out)">
                                      <p:cBhvr>
                                        <p:cTn id="149" dur="500"/>
                                        <p:tgtEl>
                                          <p:spTgt spid="297020">
                                            <p:txEl>
                                              <p:charRg st="0" end="2"/>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4" presetClass="entr" presetSubtype="32" fill="hold" grpId="0" nodeType="clickEffect">
                                  <p:stCondLst>
                                    <p:cond delay="0"/>
                                  </p:stCondLst>
                                  <p:childTnLst>
                                    <p:set>
                                      <p:cBhvr>
                                        <p:cTn id="153" dur="1" fill="hold">
                                          <p:stCondLst>
                                            <p:cond delay="0"/>
                                          </p:stCondLst>
                                        </p:cTn>
                                        <p:tgtEl>
                                          <p:spTgt spid="297021">
                                            <p:txEl>
                                              <p:charRg st="0" end="2"/>
                                            </p:txEl>
                                          </p:spTgt>
                                        </p:tgtEl>
                                        <p:attrNameLst>
                                          <p:attrName>style.visibility</p:attrName>
                                        </p:attrNameLst>
                                      </p:cBhvr>
                                      <p:to>
                                        <p:strVal val="visible"/>
                                      </p:to>
                                    </p:set>
                                    <p:animEffect transition="in" filter="box(out)">
                                      <p:cBhvr>
                                        <p:cTn id="154" dur="500"/>
                                        <p:tgtEl>
                                          <p:spTgt spid="297021">
                                            <p:txEl>
                                              <p:charRg st="0" end="2"/>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4" presetClass="entr" presetSubtype="32" fill="hold" grpId="0" nodeType="clickEffect">
                                  <p:stCondLst>
                                    <p:cond delay="0"/>
                                  </p:stCondLst>
                                  <p:childTnLst>
                                    <p:set>
                                      <p:cBhvr>
                                        <p:cTn id="158" dur="1" fill="hold">
                                          <p:stCondLst>
                                            <p:cond delay="0"/>
                                          </p:stCondLst>
                                        </p:cTn>
                                        <p:tgtEl>
                                          <p:spTgt spid="297022">
                                            <p:txEl>
                                              <p:charRg st="0" end="2"/>
                                            </p:txEl>
                                          </p:spTgt>
                                        </p:tgtEl>
                                        <p:attrNameLst>
                                          <p:attrName>style.visibility</p:attrName>
                                        </p:attrNameLst>
                                      </p:cBhvr>
                                      <p:to>
                                        <p:strVal val="visible"/>
                                      </p:to>
                                    </p:set>
                                    <p:animEffect transition="in" filter="box(out)">
                                      <p:cBhvr>
                                        <p:cTn id="159" dur="500"/>
                                        <p:tgtEl>
                                          <p:spTgt spid="297022">
                                            <p:txEl>
                                              <p:charRg st="0" end="2"/>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4" presetClass="entr" presetSubtype="32" fill="hold" grpId="0" nodeType="clickEffect">
                                  <p:stCondLst>
                                    <p:cond delay="0"/>
                                  </p:stCondLst>
                                  <p:childTnLst>
                                    <p:set>
                                      <p:cBhvr>
                                        <p:cTn id="163" dur="1" fill="hold">
                                          <p:stCondLst>
                                            <p:cond delay="0"/>
                                          </p:stCondLst>
                                        </p:cTn>
                                        <p:tgtEl>
                                          <p:spTgt spid="297023">
                                            <p:txEl>
                                              <p:charRg st="0" end="2"/>
                                            </p:txEl>
                                          </p:spTgt>
                                        </p:tgtEl>
                                        <p:attrNameLst>
                                          <p:attrName>style.visibility</p:attrName>
                                        </p:attrNameLst>
                                      </p:cBhvr>
                                      <p:to>
                                        <p:strVal val="visible"/>
                                      </p:to>
                                    </p:set>
                                    <p:animEffect transition="in" filter="box(out)">
                                      <p:cBhvr>
                                        <p:cTn id="164" dur="500"/>
                                        <p:tgtEl>
                                          <p:spTgt spid="297023">
                                            <p:txEl>
                                              <p:charRg st="0" end="2"/>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4" presetClass="entr" presetSubtype="32" fill="hold" grpId="0" nodeType="clickEffect">
                                  <p:stCondLst>
                                    <p:cond delay="0"/>
                                  </p:stCondLst>
                                  <p:childTnLst>
                                    <p:set>
                                      <p:cBhvr>
                                        <p:cTn id="168" dur="1" fill="hold">
                                          <p:stCondLst>
                                            <p:cond delay="0"/>
                                          </p:stCondLst>
                                        </p:cTn>
                                        <p:tgtEl>
                                          <p:spTgt spid="297024">
                                            <p:txEl>
                                              <p:charRg st="0" end="2"/>
                                            </p:txEl>
                                          </p:spTgt>
                                        </p:tgtEl>
                                        <p:attrNameLst>
                                          <p:attrName>style.visibility</p:attrName>
                                        </p:attrNameLst>
                                      </p:cBhvr>
                                      <p:to>
                                        <p:strVal val="visible"/>
                                      </p:to>
                                    </p:set>
                                    <p:animEffect transition="in" filter="box(out)">
                                      <p:cBhvr>
                                        <p:cTn id="169" dur="500"/>
                                        <p:tgtEl>
                                          <p:spTgt spid="297024">
                                            <p:txEl>
                                              <p:charRg st="0" end="2"/>
                                            </p:txEl>
                                          </p:spTgt>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iterate type="lt">
                                    <p:tmPct val="100000"/>
                                  </p:iterate>
                                  <p:childTnLst>
                                    <p:set>
                                      <p:cBhvr>
                                        <p:cTn id="173" dur="1" fill="hold">
                                          <p:stCondLst>
                                            <p:cond delay="0"/>
                                          </p:stCondLst>
                                        </p:cTn>
                                        <p:tgtEl>
                                          <p:spTgt spid="296994">
                                            <p:txEl>
                                              <p:charRg st="0" end="6"/>
                                            </p:txEl>
                                          </p:spTgt>
                                        </p:tgtEl>
                                        <p:attrNameLst>
                                          <p:attrName>style.visibility</p:attrName>
                                        </p:attrNameLst>
                                      </p:cBhvr>
                                      <p:to>
                                        <p:strVal val="visible"/>
                                      </p:to>
                                    </p:set>
                                    <p:animEffect transition="in" filter="wipe(up)">
                                      <p:cBhvr>
                                        <p:cTn id="174" dur="75"/>
                                        <p:tgtEl>
                                          <p:spTgt spid="296994">
                                            <p:txEl>
                                              <p:charRg st="0" end="6"/>
                                            </p:txEl>
                                          </p:spTgt>
                                        </p:tgtEl>
                                      </p:cBhvr>
                                    </p:animEffect>
                                  </p:childTnLst>
                                </p:cTn>
                              </p:par>
                            </p:childTnLst>
                          </p:cTn>
                        </p:par>
                      </p:childTnLst>
                    </p:cTn>
                  </p:par>
                  <p:par>
                    <p:cTn id="175" fill="hold">
                      <p:stCondLst>
                        <p:cond delay="indefinite"/>
                      </p:stCondLst>
                      <p:childTnLst>
                        <p:par>
                          <p:cTn id="176" fill="hold">
                            <p:stCondLst>
                              <p:cond delay="0"/>
                            </p:stCondLst>
                            <p:childTnLst>
                              <p:par>
                                <p:cTn id="177" presetID="4" presetClass="entr" presetSubtype="32" fill="hold" grpId="0" nodeType="clickEffect">
                                  <p:stCondLst>
                                    <p:cond delay="0"/>
                                  </p:stCondLst>
                                  <p:childTnLst>
                                    <p:set>
                                      <p:cBhvr>
                                        <p:cTn id="178" dur="1" fill="hold">
                                          <p:stCondLst>
                                            <p:cond delay="0"/>
                                          </p:stCondLst>
                                        </p:cTn>
                                        <p:tgtEl>
                                          <p:spTgt spid="297025">
                                            <p:txEl>
                                              <p:charRg st="0" end="2"/>
                                            </p:txEl>
                                          </p:spTgt>
                                        </p:tgtEl>
                                        <p:attrNameLst>
                                          <p:attrName>style.visibility</p:attrName>
                                        </p:attrNameLst>
                                      </p:cBhvr>
                                      <p:to>
                                        <p:strVal val="visible"/>
                                      </p:to>
                                    </p:set>
                                    <p:animEffect transition="in" filter="box(out)">
                                      <p:cBhvr>
                                        <p:cTn id="179" dur="500"/>
                                        <p:tgtEl>
                                          <p:spTgt spid="297025">
                                            <p:txEl>
                                              <p:charRg st="0" end="2"/>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4" presetClass="entr" presetSubtype="32" fill="hold" grpId="0" nodeType="clickEffect">
                                  <p:stCondLst>
                                    <p:cond delay="0"/>
                                  </p:stCondLst>
                                  <p:childTnLst>
                                    <p:set>
                                      <p:cBhvr>
                                        <p:cTn id="183" dur="1" fill="hold">
                                          <p:stCondLst>
                                            <p:cond delay="0"/>
                                          </p:stCondLst>
                                        </p:cTn>
                                        <p:tgtEl>
                                          <p:spTgt spid="297026">
                                            <p:txEl>
                                              <p:charRg st="0" end="2"/>
                                            </p:txEl>
                                          </p:spTgt>
                                        </p:tgtEl>
                                        <p:attrNameLst>
                                          <p:attrName>style.visibility</p:attrName>
                                        </p:attrNameLst>
                                      </p:cBhvr>
                                      <p:to>
                                        <p:strVal val="visible"/>
                                      </p:to>
                                    </p:set>
                                    <p:animEffect transition="in" filter="box(out)">
                                      <p:cBhvr>
                                        <p:cTn id="184" dur="500"/>
                                        <p:tgtEl>
                                          <p:spTgt spid="297026">
                                            <p:txEl>
                                              <p:charRg st="0" end="2"/>
                                            </p:txEl>
                                          </p:spTgt>
                                        </p:tgtEl>
                                      </p:cBhvr>
                                    </p:animEffect>
                                  </p:childTnLst>
                                </p:cTn>
                              </p:par>
                            </p:childTnLst>
                          </p:cTn>
                        </p:par>
                      </p:childTnLst>
                    </p:cTn>
                  </p:par>
                  <p:par>
                    <p:cTn id="185" fill="hold">
                      <p:stCondLst>
                        <p:cond delay="indefinite"/>
                      </p:stCondLst>
                      <p:childTnLst>
                        <p:par>
                          <p:cTn id="186" fill="hold">
                            <p:stCondLst>
                              <p:cond delay="0"/>
                            </p:stCondLst>
                            <p:childTnLst>
                              <p:par>
                                <p:cTn id="187" presetID="4" presetClass="entr" presetSubtype="32" fill="hold" grpId="0" nodeType="clickEffect">
                                  <p:stCondLst>
                                    <p:cond delay="0"/>
                                  </p:stCondLst>
                                  <p:childTnLst>
                                    <p:set>
                                      <p:cBhvr>
                                        <p:cTn id="188" dur="1" fill="hold">
                                          <p:stCondLst>
                                            <p:cond delay="0"/>
                                          </p:stCondLst>
                                        </p:cTn>
                                        <p:tgtEl>
                                          <p:spTgt spid="297027">
                                            <p:txEl>
                                              <p:charRg st="0" end="2"/>
                                            </p:txEl>
                                          </p:spTgt>
                                        </p:tgtEl>
                                        <p:attrNameLst>
                                          <p:attrName>style.visibility</p:attrName>
                                        </p:attrNameLst>
                                      </p:cBhvr>
                                      <p:to>
                                        <p:strVal val="visible"/>
                                      </p:to>
                                    </p:set>
                                    <p:animEffect transition="in" filter="box(out)">
                                      <p:cBhvr>
                                        <p:cTn id="189" dur="500"/>
                                        <p:tgtEl>
                                          <p:spTgt spid="297027">
                                            <p:txEl>
                                              <p:charRg st="0" end="2"/>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4" presetClass="entr" presetSubtype="32" fill="hold" grpId="0" nodeType="clickEffect">
                                  <p:stCondLst>
                                    <p:cond delay="0"/>
                                  </p:stCondLst>
                                  <p:childTnLst>
                                    <p:set>
                                      <p:cBhvr>
                                        <p:cTn id="193" dur="1" fill="hold">
                                          <p:stCondLst>
                                            <p:cond delay="0"/>
                                          </p:stCondLst>
                                        </p:cTn>
                                        <p:tgtEl>
                                          <p:spTgt spid="297028">
                                            <p:txEl>
                                              <p:charRg st="0" end="2"/>
                                            </p:txEl>
                                          </p:spTgt>
                                        </p:tgtEl>
                                        <p:attrNameLst>
                                          <p:attrName>style.visibility</p:attrName>
                                        </p:attrNameLst>
                                      </p:cBhvr>
                                      <p:to>
                                        <p:strVal val="visible"/>
                                      </p:to>
                                    </p:set>
                                    <p:animEffect transition="in" filter="box(out)">
                                      <p:cBhvr>
                                        <p:cTn id="194" dur="500"/>
                                        <p:tgtEl>
                                          <p:spTgt spid="297028">
                                            <p:txEl>
                                              <p:charRg st="0" end="2"/>
                                            </p:txEl>
                                          </p:spTgt>
                                        </p:tgtEl>
                                      </p:cBhvr>
                                    </p:animEffect>
                                  </p:childTnLst>
                                </p:cTn>
                              </p:par>
                            </p:childTnLst>
                          </p:cTn>
                        </p:par>
                      </p:childTnLst>
                    </p:cTn>
                  </p:par>
                  <p:par>
                    <p:cTn id="195" fill="hold">
                      <p:stCondLst>
                        <p:cond delay="indefinite"/>
                      </p:stCondLst>
                      <p:childTnLst>
                        <p:par>
                          <p:cTn id="196" fill="hold">
                            <p:stCondLst>
                              <p:cond delay="0"/>
                            </p:stCondLst>
                            <p:childTnLst>
                              <p:par>
                                <p:cTn id="197" presetID="4" presetClass="entr" presetSubtype="32" fill="hold" grpId="0" nodeType="clickEffect">
                                  <p:stCondLst>
                                    <p:cond delay="0"/>
                                  </p:stCondLst>
                                  <p:childTnLst>
                                    <p:set>
                                      <p:cBhvr>
                                        <p:cTn id="198" dur="1" fill="hold">
                                          <p:stCondLst>
                                            <p:cond delay="0"/>
                                          </p:stCondLst>
                                        </p:cTn>
                                        <p:tgtEl>
                                          <p:spTgt spid="297029">
                                            <p:txEl>
                                              <p:charRg st="0" end="2"/>
                                            </p:txEl>
                                          </p:spTgt>
                                        </p:tgtEl>
                                        <p:attrNameLst>
                                          <p:attrName>style.visibility</p:attrName>
                                        </p:attrNameLst>
                                      </p:cBhvr>
                                      <p:to>
                                        <p:strVal val="visible"/>
                                      </p:to>
                                    </p:set>
                                    <p:animEffect transition="in" filter="box(out)">
                                      <p:cBhvr>
                                        <p:cTn id="199" dur="500"/>
                                        <p:tgtEl>
                                          <p:spTgt spid="297029">
                                            <p:txEl>
                                              <p:charRg st="0" end="2"/>
                                            </p:txEl>
                                          </p:spTgt>
                                        </p:tgtEl>
                                      </p:cBhvr>
                                    </p:animEffect>
                                  </p:childTnLst>
                                </p:cTn>
                              </p:par>
                            </p:childTnLst>
                          </p:cTn>
                        </p:par>
                      </p:childTnLst>
                    </p:cTn>
                  </p:par>
                  <p:par>
                    <p:cTn id="200" fill="hold">
                      <p:stCondLst>
                        <p:cond delay="indefinite"/>
                      </p:stCondLst>
                      <p:childTnLst>
                        <p:par>
                          <p:cTn id="201" fill="hold">
                            <p:stCondLst>
                              <p:cond delay="0"/>
                            </p:stCondLst>
                            <p:childTnLst>
                              <p:par>
                                <p:cTn id="202" presetID="4" presetClass="entr" presetSubtype="32" fill="hold" grpId="0" nodeType="clickEffect">
                                  <p:stCondLst>
                                    <p:cond delay="0"/>
                                  </p:stCondLst>
                                  <p:childTnLst>
                                    <p:set>
                                      <p:cBhvr>
                                        <p:cTn id="203" dur="1" fill="hold">
                                          <p:stCondLst>
                                            <p:cond delay="0"/>
                                          </p:stCondLst>
                                        </p:cTn>
                                        <p:tgtEl>
                                          <p:spTgt spid="297030">
                                            <p:txEl>
                                              <p:charRg st="0" end="2"/>
                                            </p:txEl>
                                          </p:spTgt>
                                        </p:tgtEl>
                                        <p:attrNameLst>
                                          <p:attrName>style.visibility</p:attrName>
                                        </p:attrNameLst>
                                      </p:cBhvr>
                                      <p:to>
                                        <p:strVal val="visible"/>
                                      </p:to>
                                    </p:set>
                                    <p:animEffect transition="in" filter="box(out)">
                                      <p:cBhvr>
                                        <p:cTn id="204" dur="500"/>
                                        <p:tgtEl>
                                          <p:spTgt spid="297030">
                                            <p:txEl>
                                              <p:charRg st="0" end="2"/>
                                            </p:txEl>
                                          </p:spTgt>
                                        </p:tgtEl>
                                      </p:cBhvr>
                                    </p:animEffect>
                                  </p:childTnLst>
                                </p:cTn>
                              </p:par>
                            </p:childTnLst>
                          </p:cTn>
                        </p:par>
                      </p:childTnLst>
                    </p:cTn>
                  </p:par>
                  <p:par>
                    <p:cTn id="205" fill="hold">
                      <p:stCondLst>
                        <p:cond delay="indefinite"/>
                      </p:stCondLst>
                      <p:childTnLst>
                        <p:par>
                          <p:cTn id="206" fill="hold">
                            <p:stCondLst>
                              <p:cond delay="0"/>
                            </p:stCondLst>
                            <p:childTnLst>
                              <p:par>
                                <p:cTn id="207" presetID="4" presetClass="entr" presetSubtype="32" fill="hold" grpId="0" nodeType="clickEffect">
                                  <p:stCondLst>
                                    <p:cond delay="0"/>
                                  </p:stCondLst>
                                  <p:childTnLst>
                                    <p:set>
                                      <p:cBhvr>
                                        <p:cTn id="208" dur="1" fill="hold">
                                          <p:stCondLst>
                                            <p:cond delay="0"/>
                                          </p:stCondLst>
                                        </p:cTn>
                                        <p:tgtEl>
                                          <p:spTgt spid="297031">
                                            <p:txEl>
                                              <p:charRg st="0" end="2"/>
                                            </p:txEl>
                                          </p:spTgt>
                                        </p:tgtEl>
                                        <p:attrNameLst>
                                          <p:attrName>style.visibility</p:attrName>
                                        </p:attrNameLst>
                                      </p:cBhvr>
                                      <p:to>
                                        <p:strVal val="visible"/>
                                      </p:to>
                                    </p:set>
                                    <p:animEffect transition="in" filter="box(out)">
                                      <p:cBhvr>
                                        <p:cTn id="209" dur="500"/>
                                        <p:tgtEl>
                                          <p:spTgt spid="297031">
                                            <p:txEl>
                                              <p:charRg st="0" end="2"/>
                                            </p:txEl>
                                          </p:spTgt>
                                        </p:tgtEl>
                                      </p:cBhvr>
                                    </p:animEffect>
                                  </p:childTnLst>
                                </p:cTn>
                              </p:par>
                            </p:childTnLst>
                          </p:cTn>
                        </p:par>
                      </p:childTnLst>
                    </p:cTn>
                  </p:par>
                  <p:par>
                    <p:cTn id="210" fill="hold">
                      <p:stCondLst>
                        <p:cond delay="indefinite"/>
                      </p:stCondLst>
                      <p:childTnLst>
                        <p:par>
                          <p:cTn id="211" fill="hold">
                            <p:stCondLst>
                              <p:cond delay="0"/>
                            </p:stCondLst>
                            <p:childTnLst>
                              <p:par>
                                <p:cTn id="212" presetID="4" presetClass="entr" presetSubtype="32" fill="hold" grpId="0" nodeType="clickEffect">
                                  <p:stCondLst>
                                    <p:cond delay="0"/>
                                  </p:stCondLst>
                                  <p:childTnLst>
                                    <p:set>
                                      <p:cBhvr>
                                        <p:cTn id="213" dur="1" fill="hold">
                                          <p:stCondLst>
                                            <p:cond delay="0"/>
                                          </p:stCondLst>
                                        </p:cTn>
                                        <p:tgtEl>
                                          <p:spTgt spid="297032">
                                            <p:txEl>
                                              <p:charRg st="0" end="2"/>
                                            </p:txEl>
                                          </p:spTgt>
                                        </p:tgtEl>
                                        <p:attrNameLst>
                                          <p:attrName>style.visibility</p:attrName>
                                        </p:attrNameLst>
                                      </p:cBhvr>
                                      <p:to>
                                        <p:strVal val="visible"/>
                                      </p:to>
                                    </p:set>
                                    <p:animEffect transition="in" filter="box(out)">
                                      <p:cBhvr>
                                        <p:cTn id="214" dur="500"/>
                                        <p:tgtEl>
                                          <p:spTgt spid="297032">
                                            <p:txEl>
                                              <p:charRg st="0" end="2"/>
                                            </p:txEl>
                                          </p:spTgt>
                                        </p:tgtEl>
                                      </p:cBhvr>
                                    </p:animEffect>
                                  </p:childTnLst>
                                </p:cTn>
                              </p:par>
                            </p:childTnLst>
                          </p:cTn>
                        </p:par>
                      </p:childTnLst>
                    </p:cTn>
                  </p:par>
                  <p:par>
                    <p:cTn id="215" fill="hold">
                      <p:stCondLst>
                        <p:cond delay="indefinite"/>
                      </p:stCondLst>
                      <p:childTnLst>
                        <p:par>
                          <p:cTn id="216" fill="hold">
                            <p:stCondLst>
                              <p:cond delay="0"/>
                            </p:stCondLst>
                            <p:childTnLst>
                              <p:par>
                                <p:cTn id="217" presetID="4" presetClass="entr" presetSubtype="32" fill="hold" grpId="0" nodeType="clickEffect">
                                  <p:stCondLst>
                                    <p:cond delay="0"/>
                                  </p:stCondLst>
                                  <p:childTnLst>
                                    <p:set>
                                      <p:cBhvr>
                                        <p:cTn id="218" dur="1" fill="hold">
                                          <p:stCondLst>
                                            <p:cond delay="0"/>
                                          </p:stCondLst>
                                        </p:cTn>
                                        <p:tgtEl>
                                          <p:spTgt spid="297033">
                                            <p:txEl>
                                              <p:charRg st="0" end="2"/>
                                            </p:txEl>
                                          </p:spTgt>
                                        </p:tgtEl>
                                        <p:attrNameLst>
                                          <p:attrName>style.visibility</p:attrName>
                                        </p:attrNameLst>
                                      </p:cBhvr>
                                      <p:to>
                                        <p:strVal val="visible"/>
                                      </p:to>
                                    </p:set>
                                    <p:animEffect transition="in" filter="box(out)">
                                      <p:cBhvr>
                                        <p:cTn id="219" dur="500"/>
                                        <p:tgtEl>
                                          <p:spTgt spid="297033">
                                            <p:txEl>
                                              <p:charRg st="0" end="2"/>
                                            </p:txEl>
                                          </p:spTgt>
                                        </p:tgtEl>
                                      </p:cBhvr>
                                    </p:animEffect>
                                  </p:childTnLst>
                                </p:cTn>
                              </p:par>
                            </p:childTnLst>
                          </p:cTn>
                        </p:par>
                      </p:childTnLst>
                    </p:cTn>
                  </p:par>
                  <p:par>
                    <p:cTn id="220" fill="hold">
                      <p:stCondLst>
                        <p:cond delay="indefinite"/>
                      </p:stCondLst>
                      <p:childTnLst>
                        <p:par>
                          <p:cTn id="221" fill="hold">
                            <p:stCondLst>
                              <p:cond delay="0"/>
                            </p:stCondLst>
                            <p:childTnLst>
                              <p:par>
                                <p:cTn id="222" presetID="4" presetClass="entr" presetSubtype="32" fill="hold" grpId="0" nodeType="clickEffect">
                                  <p:stCondLst>
                                    <p:cond delay="0"/>
                                  </p:stCondLst>
                                  <p:childTnLst>
                                    <p:set>
                                      <p:cBhvr>
                                        <p:cTn id="223" dur="1" fill="hold">
                                          <p:stCondLst>
                                            <p:cond delay="0"/>
                                          </p:stCondLst>
                                        </p:cTn>
                                        <p:tgtEl>
                                          <p:spTgt spid="297034">
                                            <p:txEl>
                                              <p:charRg st="0" end="2"/>
                                            </p:txEl>
                                          </p:spTgt>
                                        </p:tgtEl>
                                        <p:attrNameLst>
                                          <p:attrName>style.visibility</p:attrName>
                                        </p:attrNameLst>
                                      </p:cBhvr>
                                      <p:to>
                                        <p:strVal val="visible"/>
                                      </p:to>
                                    </p:set>
                                    <p:animEffect transition="in" filter="box(out)">
                                      <p:cBhvr>
                                        <p:cTn id="224" dur="500"/>
                                        <p:tgtEl>
                                          <p:spTgt spid="297034">
                                            <p:txEl>
                                              <p:charRg st="0" end="2"/>
                                            </p:txEl>
                                          </p:spTgt>
                                        </p:tgtEl>
                                      </p:cBhvr>
                                    </p:animEffect>
                                  </p:childTnLst>
                                </p:cTn>
                              </p:par>
                            </p:childTnLst>
                          </p:cTn>
                        </p:par>
                      </p:childTnLst>
                    </p:cTn>
                  </p:par>
                  <p:par>
                    <p:cTn id="225" fill="hold">
                      <p:stCondLst>
                        <p:cond delay="indefinite"/>
                      </p:stCondLst>
                      <p:childTnLst>
                        <p:par>
                          <p:cTn id="226" fill="hold">
                            <p:stCondLst>
                              <p:cond delay="0"/>
                            </p:stCondLst>
                            <p:childTnLst>
                              <p:par>
                                <p:cTn id="227" presetID="4" presetClass="entr" presetSubtype="32" fill="hold" grpId="0" nodeType="clickEffect">
                                  <p:stCondLst>
                                    <p:cond delay="0"/>
                                  </p:stCondLst>
                                  <p:childTnLst>
                                    <p:set>
                                      <p:cBhvr>
                                        <p:cTn id="228" dur="1" fill="hold">
                                          <p:stCondLst>
                                            <p:cond delay="0"/>
                                          </p:stCondLst>
                                        </p:cTn>
                                        <p:tgtEl>
                                          <p:spTgt spid="297035">
                                            <p:txEl>
                                              <p:charRg st="0" end="2"/>
                                            </p:txEl>
                                          </p:spTgt>
                                        </p:tgtEl>
                                        <p:attrNameLst>
                                          <p:attrName>style.visibility</p:attrName>
                                        </p:attrNameLst>
                                      </p:cBhvr>
                                      <p:to>
                                        <p:strVal val="visible"/>
                                      </p:to>
                                    </p:set>
                                    <p:animEffect transition="in" filter="box(out)">
                                      <p:cBhvr>
                                        <p:cTn id="229" dur="500"/>
                                        <p:tgtEl>
                                          <p:spTgt spid="297035">
                                            <p:txEl>
                                              <p:charRg st="0" end="2"/>
                                            </p:txEl>
                                          </p:spTgt>
                                        </p:tgtEl>
                                      </p:cBhvr>
                                    </p:animEffect>
                                  </p:childTnLst>
                                </p:cTn>
                              </p:par>
                            </p:childTnLst>
                          </p:cTn>
                        </p:par>
                      </p:childTnLst>
                    </p:cTn>
                  </p:par>
                  <p:par>
                    <p:cTn id="230" fill="hold">
                      <p:stCondLst>
                        <p:cond delay="indefinite"/>
                      </p:stCondLst>
                      <p:childTnLst>
                        <p:par>
                          <p:cTn id="231" fill="hold">
                            <p:stCondLst>
                              <p:cond delay="0"/>
                            </p:stCondLst>
                            <p:childTnLst>
                              <p:par>
                                <p:cTn id="232" presetID="4" presetClass="entr" presetSubtype="32" fill="hold" grpId="0" nodeType="clickEffect">
                                  <p:stCondLst>
                                    <p:cond delay="0"/>
                                  </p:stCondLst>
                                  <p:childTnLst>
                                    <p:set>
                                      <p:cBhvr>
                                        <p:cTn id="233" dur="1" fill="hold">
                                          <p:stCondLst>
                                            <p:cond delay="0"/>
                                          </p:stCondLst>
                                        </p:cTn>
                                        <p:tgtEl>
                                          <p:spTgt spid="297036">
                                            <p:txEl>
                                              <p:charRg st="0" end="2"/>
                                            </p:txEl>
                                          </p:spTgt>
                                        </p:tgtEl>
                                        <p:attrNameLst>
                                          <p:attrName>style.visibility</p:attrName>
                                        </p:attrNameLst>
                                      </p:cBhvr>
                                      <p:to>
                                        <p:strVal val="visible"/>
                                      </p:to>
                                    </p:set>
                                    <p:animEffect transition="in" filter="box(out)">
                                      <p:cBhvr>
                                        <p:cTn id="234" dur="500"/>
                                        <p:tgtEl>
                                          <p:spTgt spid="297036">
                                            <p:txEl>
                                              <p:charRg st="0" end="2"/>
                                            </p:txEl>
                                          </p:spTgt>
                                        </p:tgtEl>
                                      </p:cBhvr>
                                    </p:animEffect>
                                  </p:childTnLst>
                                </p:cTn>
                              </p:par>
                            </p:childTnLst>
                          </p:cTn>
                        </p:par>
                      </p:childTnLst>
                    </p:cTn>
                  </p:par>
                  <p:par>
                    <p:cTn id="235" fill="hold">
                      <p:stCondLst>
                        <p:cond delay="indefinite"/>
                      </p:stCondLst>
                      <p:childTnLst>
                        <p:par>
                          <p:cTn id="236" fill="hold">
                            <p:stCondLst>
                              <p:cond delay="0"/>
                            </p:stCondLst>
                            <p:childTnLst>
                              <p:par>
                                <p:cTn id="237" presetID="4" presetClass="entr" presetSubtype="32" fill="hold" grpId="0" nodeType="clickEffect">
                                  <p:stCondLst>
                                    <p:cond delay="0"/>
                                  </p:stCondLst>
                                  <p:childTnLst>
                                    <p:set>
                                      <p:cBhvr>
                                        <p:cTn id="238" dur="1" fill="hold">
                                          <p:stCondLst>
                                            <p:cond delay="0"/>
                                          </p:stCondLst>
                                        </p:cTn>
                                        <p:tgtEl>
                                          <p:spTgt spid="297037">
                                            <p:txEl>
                                              <p:charRg st="0" end="2"/>
                                            </p:txEl>
                                          </p:spTgt>
                                        </p:tgtEl>
                                        <p:attrNameLst>
                                          <p:attrName>style.visibility</p:attrName>
                                        </p:attrNameLst>
                                      </p:cBhvr>
                                      <p:to>
                                        <p:strVal val="visible"/>
                                      </p:to>
                                    </p:set>
                                    <p:animEffect transition="in" filter="box(out)">
                                      <p:cBhvr>
                                        <p:cTn id="239" dur="500"/>
                                        <p:tgtEl>
                                          <p:spTgt spid="297037">
                                            <p:txEl>
                                              <p:charRg st="0" end="2"/>
                                            </p:txEl>
                                          </p:spTgt>
                                        </p:tgtEl>
                                      </p:cBhvr>
                                    </p:animEffect>
                                  </p:childTnLst>
                                </p:cTn>
                              </p:par>
                            </p:childTnLst>
                          </p:cTn>
                        </p:par>
                      </p:childTnLst>
                    </p:cTn>
                  </p:par>
                  <p:par>
                    <p:cTn id="240" fill="hold">
                      <p:stCondLst>
                        <p:cond delay="indefinite"/>
                      </p:stCondLst>
                      <p:childTnLst>
                        <p:par>
                          <p:cTn id="241" fill="hold">
                            <p:stCondLst>
                              <p:cond delay="0"/>
                            </p:stCondLst>
                            <p:childTnLst>
                              <p:par>
                                <p:cTn id="242" presetID="4" presetClass="entr" presetSubtype="32" fill="hold" grpId="0" nodeType="clickEffect">
                                  <p:stCondLst>
                                    <p:cond delay="0"/>
                                  </p:stCondLst>
                                  <p:childTnLst>
                                    <p:set>
                                      <p:cBhvr>
                                        <p:cTn id="243" dur="1" fill="hold">
                                          <p:stCondLst>
                                            <p:cond delay="0"/>
                                          </p:stCondLst>
                                        </p:cTn>
                                        <p:tgtEl>
                                          <p:spTgt spid="297038">
                                            <p:txEl>
                                              <p:charRg st="0" end="2"/>
                                            </p:txEl>
                                          </p:spTgt>
                                        </p:tgtEl>
                                        <p:attrNameLst>
                                          <p:attrName>style.visibility</p:attrName>
                                        </p:attrNameLst>
                                      </p:cBhvr>
                                      <p:to>
                                        <p:strVal val="visible"/>
                                      </p:to>
                                    </p:set>
                                    <p:animEffect transition="in" filter="box(out)">
                                      <p:cBhvr>
                                        <p:cTn id="244" dur="500"/>
                                        <p:tgtEl>
                                          <p:spTgt spid="297038">
                                            <p:txEl>
                                              <p:charRg st="0" end="2"/>
                                            </p:txEl>
                                          </p:spTgt>
                                        </p:tgtEl>
                                      </p:cBhvr>
                                    </p:animEffect>
                                  </p:childTnLst>
                                </p:cTn>
                              </p:par>
                            </p:childTnLst>
                          </p:cTn>
                        </p:par>
                      </p:childTnLst>
                    </p:cTn>
                  </p:par>
                  <p:par>
                    <p:cTn id="245" fill="hold">
                      <p:stCondLst>
                        <p:cond delay="indefinite"/>
                      </p:stCondLst>
                      <p:childTnLst>
                        <p:par>
                          <p:cTn id="246" fill="hold">
                            <p:stCondLst>
                              <p:cond delay="0"/>
                            </p:stCondLst>
                            <p:childTnLst>
                              <p:par>
                                <p:cTn id="247" presetID="4" presetClass="entr" presetSubtype="32" fill="hold" grpId="0" nodeType="clickEffect">
                                  <p:stCondLst>
                                    <p:cond delay="0"/>
                                  </p:stCondLst>
                                  <p:childTnLst>
                                    <p:set>
                                      <p:cBhvr>
                                        <p:cTn id="248" dur="1" fill="hold">
                                          <p:stCondLst>
                                            <p:cond delay="0"/>
                                          </p:stCondLst>
                                        </p:cTn>
                                        <p:tgtEl>
                                          <p:spTgt spid="297039">
                                            <p:txEl>
                                              <p:charRg st="0" end="2"/>
                                            </p:txEl>
                                          </p:spTgt>
                                        </p:tgtEl>
                                        <p:attrNameLst>
                                          <p:attrName>style.visibility</p:attrName>
                                        </p:attrNameLst>
                                      </p:cBhvr>
                                      <p:to>
                                        <p:strVal val="visible"/>
                                      </p:to>
                                    </p:set>
                                    <p:animEffect transition="in" filter="box(out)">
                                      <p:cBhvr>
                                        <p:cTn id="249" dur="500"/>
                                        <p:tgtEl>
                                          <p:spTgt spid="297039">
                                            <p:txEl>
                                              <p:charRg st="0"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2" grpId="0" advAuto="1000" build="p"/>
      <p:bldP spid="296993" grpId="0" build="p"/>
      <p:bldP spid="296994" grpId="0" build="p"/>
      <p:bldP spid="296995" grpId="0" build="p"/>
      <p:bldP spid="296996" grpId="0" build="p"/>
      <p:bldP spid="296997" grpId="0" build="p"/>
      <p:bldP spid="296998" grpId="0" build="p"/>
      <p:bldP spid="296999" grpId="0" build="p"/>
      <p:bldP spid="297000" grpId="0" build="p"/>
      <p:bldP spid="297001" grpId="0" build="p"/>
      <p:bldP spid="297002" grpId="0" build="p"/>
      <p:bldP spid="297003" grpId="0" build="p"/>
      <p:bldP spid="297004" grpId="0" build="p"/>
      <p:bldP spid="297005" grpId="0" build="p"/>
      <p:bldP spid="297006" grpId="0" build="p"/>
      <p:bldP spid="297007" grpId="0" build="p"/>
      <p:bldP spid="297008" grpId="0" build="p"/>
      <p:bldP spid="297009" grpId="0" build="p"/>
      <p:bldP spid="297010" grpId="0" build="p"/>
      <p:bldP spid="297011" grpId="0" build="p"/>
      <p:bldP spid="297012" grpId="0" build="p"/>
      <p:bldP spid="297013" grpId="0" build="p"/>
      <p:bldP spid="297014" grpId="0" build="p"/>
      <p:bldP spid="297015" grpId="0" build="p"/>
      <p:bldP spid="297016" grpId="0" build="p"/>
      <p:bldP spid="297017" grpId="0" build="p"/>
      <p:bldP spid="297018" grpId="0" build="p"/>
      <p:bldP spid="297019" grpId="0" build="p"/>
      <p:bldP spid="297020" grpId="0" build="p"/>
      <p:bldP spid="297021" grpId="0" build="p"/>
      <p:bldP spid="297022" grpId="0" build="p"/>
      <p:bldP spid="297023" grpId="0" build="p"/>
      <p:bldP spid="297024" grpId="0" build="p"/>
      <p:bldP spid="297025" grpId="0" build="p"/>
      <p:bldP spid="297026" grpId="0" build="p"/>
      <p:bldP spid="297027" grpId="0" build="p"/>
      <p:bldP spid="297028" grpId="0" build="p"/>
      <p:bldP spid="297029" grpId="0" build="p"/>
      <p:bldP spid="297030" grpId="0" build="p"/>
      <p:bldP spid="297031" grpId="0" build="p"/>
      <p:bldP spid="297032" grpId="0" build="p"/>
      <p:bldP spid="297033" grpId="0" build="p"/>
      <p:bldP spid="297034" grpId="0" build="p"/>
      <p:bldP spid="297035" grpId="0" build="p"/>
      <p:bldP spid="297036" grpId="0" build="p"/>
      <p:bldP spid="297037" grpId="0" build="p"/>
      <p:bldP spid="297038" grpId="0" build="p"/>
      <p:bldP spid="297039"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8"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森林的遍历</a:t>
            </a:r>
            <a:endParaRPr kumimoji="1"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297989" name="Rectangle 5"/>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1"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先序遍历</a:t>
            </a:r>
            <a:endParaRPr kumimoji="1"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访问森林中第一棵树的根结点。</a:t>
            </a:r>
            <a:endPar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先序遍历第一棵树的根结点的子树森林。</a:t>
            </a:r>
            <a:endPar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先序遍历除去第一棵树之后剩余的树构成的森林。</a:t>
            </a:r>
            <a:endPar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中序遍历</a:t>
            </a:r>
            <a:endParaRPr kumimoji="1"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中序遍历森林中第一棵树的根结点的子树森林。</a:t>
            </a:r>
            <a:endPar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访问第一棵树的根结点。</a:t>
            </a:r>
            <a:endPar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中序遍历除去第一棵树之后剩余的树构成的森林。</a:t>
            </a:r>
            <a:endParaRPr kumimoji="1"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1"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森林的先序和中序遍历≡二叉树的先序和中序遍历</a:t>
            </a:r>
            <a:endParaRPr kumimoji="1"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0034" name="Rectangle 2"/>
          <p:cNvSpPr>
            <a:spLocks noChangeArrowheads="1"/>
          </p:cNvSpPr>
          <p:nvPr/>
        </p:nvSpPr>
        <p:spPr bwMode="auto">
          <a:xfrm>
            <a:off x="3371850" y="2924175"/>
            <a:ext cx="9144000" cy="0"/>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110595" name="Picture 3" descr="6"/>
          <p:cNvPicPr>
            <a:picLocks noChangeAspect="1"/>
          </p:cNvPicPr>
          <p:nvPr/>
        </p:nvPicPr>
        <p:blipFill>
          <a:blip r:embed="rId1"/>
          <a:stretch>
            <a:fillRect/>
          </a:stretch>
        </p:blipFill>
        <p:spPr>
          <a:xfrm>
            <a:off x="1752600" y="741363"/>
            <a:ext cx="5486400" cy="2306637"/>
          </a:xfrm>
          <a:prstGeom prst="rect">
            <a:avLst/>
          </a:prstGeom>
          <a:noFill/>
          <a:ln w="9525">
            <a:noFill/>
          </a:ln>
        </p:spPr>
      </p:pic>
      <p:sp>
        <p:nvSpPr>
          <p:cNvPr id="300036" name="Rectangle 4"/>
          <p:cNvSpPr/>
          <p:nvPr/>
        </p:nvSpPr>
        <p:spPr>
          <a:xfrm>
            <a:off x="228600" y="4419600"/>
            <a:ext cx="8305800" cy="946150"/>
          </a:xfrm>
          <a:prstGeom prst="rect">
            <a:avLst/>
          </a:prstGeom>
          <a:noFill/>
          <a:ln w="9525">
            <a:noFill/>
          </a:ln>
        </p:spPr>
        <p:txBody>
          <a:bodyPr>
            <a:spAutoFit/>
          </a:bodyPr>
          <a:p>
            <a:pPr algn="ctr" eaLnBrk="1" hangingPunct="1"/>
            <a:r>
              <a:rPr lang="zh-CN" altLang="en-US" sz="2800" b="0" dirty="0">
                <a:solidFill>
                  <a:srgbClr val="0000FF"/>
                </a:solidFill>
                <a:latin typeface="楷体_GB2312" pitchFamily="49" charset="-122"/>
                <a:ea typeface="楷体_GB2312" pitchFamily="49" charset="-122"/>
              </a:rPr>
              <a:t>先序遍历：</a:t>
            </a:r>
            <a:r>
              <a:rPr lang="en-US" altLang="zh-CN" sz="2800" b="0" dirty="0">
                <a:solidFill>
                  <a:srgbClr val="0000FF"/>
                </a:solidFill>
                <a:latin typeface="楷体_GB2312" pitchFamily="49" charset="-122"/>
                <a:ea typeface="楷体_GB2312" pitchFamily="49" charset="-122"/>
              </a:rPr>
              <a:t>A B C D E F G H I J</a:t>
            </a:r>
            <a:endParaRPr lang="en-US" altLang="zh-CN" sz="2800" b="0" dirty="0">
              <a:solidFill>
                <a:srgbClr val="0000FF"/>
              </a:solidFill>
              <a:latin typeface="楷体_GB2312" pitchFamily="49" charset="-122"/>
              <a:ea typeface="楷体_GB2312" pitchFamily="49" charset="-122"/>
            </a:endParaRPr>
          </a:p>
          <a:p>
            <a:pPr algn="ctr" eaLnBrk="1" hangingPunct="1"/>
            <a:r>
              <a:rPr lang="zh-CN" altLang="en-US" sz="2800" b="0" dirty="0">
                <a:solidFill>
                  <a:srgbClr val="0000FF"/>
                </a:solidFill>
                <a:latin typeface="楷体_GB2312" pitchFamily="49" charset="-122"/>
                <a:ea typeface="楷体_GB2312" pitchFamily="49" charset="-122"/>
              </a:rPr>
              <a:t>中序遍历：</a:t>
            </a:r>
            <a:r>
              <a:rPr lang="en-US" altLang="zh-CN" sz="2800" b="0" dirty="0">
                <a:solidFill>
                  <a:srgbClr val="0000FF"/>
                </a:solidFill>
                <a:latin typeface="楷体_GB2312" pitchFamily="49" charset="-122"/>
                <a:ea typeface="楷体_GB2312" pitchFamily="49" charset="-122"/>
              </a:rPr>
              <a:t>B C D A F E H J I G</a:t>
            </a:r>
            <a:endParaRPr lang="en-US" altLang="zh-CN" sz="2800" b="0" dirty="0">
              <a:solidFill>
                <a:srgbClr val="0000FF"/>
              </a:solidFill>
              <a:latin typeface="楷体_GB2312" pitchFamily="49" charset="-122"/>
              <a:ea typeface="楷体_GB2312" pitchFamily="49" charset="-122"/>
            </a:endParaRPr>
          </a:p>
        </p:txBody>
      </p:sp>
      <p:sp>
        <p:nvSpPr>
          <p:cNvPr id="110597" name="Text Box 6"/>
          <p:cNvSpPr txBox="1"/>
          <p:nvPr/>
        </p:nvSpPr>
        <p:spPr>
          <a:xfrm>
            <a:off x="838200" y="3581400"/>
            <a:ext cx="4038600" cy="457200"/>
          </a:xfrm>
          <a:prstGeom prst="rect">
            <a:avLst/>
          </a:prstGeom>
          <a:noFill/>
          <a:ln w="9525">
            <a:noFill/>
          </a:ln>
        </p:spPr>
        <p:txBody>
          <a:bodyPr>
            <a:spAutoFit/>
          </a:bodyPr>
          <a:p>
            <a:pPr eaLnBrk="1" hangingPunct="1">
              <a:spcBef>
                <a:spcPct val="50000"/>
              </a:spcBef>
            </a:pPr>
            <a:endParaRPr lang="zh-CN" altLang="zh-CN" sz="2400" dirty="0">
              <a:solidFill>
                <a:schemeClr val="tx1"/>
              </a:solidFill>
              <a:latin typeface="Times New Roman" panose="02020603050405020304" pitchFamily="18" charset="0"/>
            </a:endParaRPr>
          </a:p>
        </p:txBody>
      </p:sp>
      <p:sp>
        <p:nvSpPr>
          <p:cNvPr id="300039" name="Text Box 7"/>
          <p:cNvSpPr txBox="1"/>
          <p:nvPr/>
        </p:nvSpPr>
        <p:spPr>
          <a:xfrm>
            <a:off x="990600" y="3657600"/>
            <a:ext cx="5257800" cy="519113"/>
          </a:xfrm>
          <a:prstGeom prst="rect">
            <a:avLst/>
          </a:prstGeom>
          <a:noFill/>
          <a:ln w="9525">
            <a:noFill/>
          </a:ln>
        </p:spPr>
        <p:txBody>
          <a:bodyPr>
            <a:spAutoFit/>
          </a:bodyPr>
          <a:p>
            <a:pPr eaLnBrk="1" hangingPunct="1">
              <a:spcBef>
                <a:spcPct val="50000"/>
              </a:spcBef>
            </a:pPr>
            <a:r>
              <a:rPr lang="zh-CN" altLang="en-US" sz="2800" dirty="0">
                <a:solidFill>
                  <a:schemeClr val="tx1"/>
                </a:solidFill>
                <a:latin typeface="Times New Roman" panose="02020603050405020304" pitchFamily="18" charset="0"/>
              </a:rPr>
              <a:t>上述森林的二种遍历序列如下：</a:t>
            </a:r>
            <a:endParaRPr lang="zh-CN" altLang="en-US" sz="2800" dirty="0">
              <a:solidFill>
                <a:schemeClr val="tx1"/>
              </a:solidFill>
              <a:latin typeface="Times New Roman" panose="02020603050405020304" pitchFamily="18" charset="0"/>
            </a:endParaRPr>
          </a:p>
        </p:txBody>
      </p:sp>
      <p:sp>
        <p:nvSpPr>
          <p:cNvPr id="110599" name="Rectangle 8"/>
          <p:cNvSpPr/>
          <p:nvPr/>
        </p:nvSpPr>
        <p:spPr>
          <a:xfrm>
            <a:off x="1258888" y="0"/>
            <a:ext cx="4572000" cy="396875"/>
          </a:xfrm>
          <a:prstGeom prst="rect">
            <a:avLst/>
          </a:prstGeom>
          <a:noFill/>
          <a:ln w="9525">
            <a:noFill/>
          </a:ln>
        </p:spPr>
        <p:txBody>
          <a:bodyPr anchor="b" anchorCtr="0">
            <a:spAutoFit/>
          </a:bodyPr>
          <a:p>
            <a:pPr algn="ctr" eaLnBrk="1" hangingPunct="1"/>
            <a:r>
              <a:rPr lang="zh-CN" altLang="en-US" b="0" dirty="0">
                <a:solidFill>
                  <a:srgbClr val="0000FF"/>
                </a:solidFill>
                <a:latin typeface="Verdana" panose="020B0604030504040204" pitchFamily="34" charset="0"/>
              </a:rPr>
              <a:t>先序遍历</a:t>
            </a:r>
            <a:r>
              <a:rPr lang="en-US" altLang="zh-CN" b="0" dirty="0">
                <a:solidFill>
                  <a:srgbClr val="0000FF"/>
                </a:solidFill>
                <a:latin typeface="Verdana" panose="020B0604030504040204" pitchFamily="34" charset="0"/>
              </a:rPr>
              <a:t>,</a:t>
            </a:r>
            <a:r>
              <a:rPr lang="zh-CN" altLang="en-US" b="0" dirty="0">
                <a:solidFill>
                  <a:srgbClr val="0000FF"/>
                </a:solidFill>
                <a:latin typeface="Verdana" panose="020B0604030504040204" pitchFamily="34" charset="0"/>
              </a:rPr>
              <a:t>中序遍历</a:t>
            </a:r>
            <a:endParaRPr lang="zh-CN" altLang="en-US" b="0" dirty="0">
              <a:solidFill>
                <a:srgbClr val="0000FF"/>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0039"/>
                                        </p:tgtEl>
                                        <p:attrNameLst>
                                          <p:attrName>style.visibility</p:attrName>
                                        </p:attrNameLst>
                                      </p:cBhvr>
                                      <p:to>
                                        <p:strVal val="visible"/>
                                      </p:to>
                                    </p:set>
                                    <p:animEffect transition="in" filter="blinds(horizontal)">
                                      <p:cBhvr>
                                        <p:cTn id="7" dur="500"/>
                                        <p:tgtEl>
                                          <p:spTgt spid="30003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0036"/>
                                        </p:tgtEl>
                                        <p:attrNameLst>
                                          <p:attrName>style.visibility</p:attrName>
                                        </p:attrNameLst>
                                      </p:cBhvr>
                                      <p:to>
                                        <p:strVal val="visible"/>
                                      </p:to>
                                    </p:set>
                                    <p:animEffect transition="in" filter="blinds(horizontal)">
                                      <p:cBhvr>
                                        <p:cTn id="10" dur="500"/>
                                        <p:tgtEl>
                                          <p:spTgt spid="300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6" grpId="0"/>
      <p:bldP spid="300039"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回忆 树和二叉树</a:t>
            </a: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456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问题</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4</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：字符编码和译码</a:t>
            </a:r>
            <a:endPar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假定在通信中</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8</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个字符</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a,b,c,d,e,f,g,h</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出现的频率如下：</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25%</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20%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15%</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10%</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5%</a:t>
            </a: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5%</a:t>
            </a:r>
            <a:endPar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应如何对这些字符编码才能尽可能减少数据传输量呢？给定编码，应如何译码得到编码所表示的字符呢？</a:t>
            </a:r>
            <a:endParaRPr kumimoji="0" lang="zh-CN" alt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60"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6.6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赫夫曼树及其应用</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01061" name="Rectangle 5"/>
          <p:cNvSpPr>
            <a:spLocks noGrp="1" noChangeArrowheads="1"/>
          </p:cNvSpPr>
          <p:nvPr>
            <p:ph idx="1"/>
          </p:nvPr>
        </p:nvSpPr>
        <p:spPr>
          <a:xfrm>
            <a:off x="566738" y="1752600"/>
            <a:ext cx="4437063" cy="4340225"/>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100" b="1" i="0" u="none" strike="noStrike" kern="0" cap="none" spc="0" normalizeH="0" baseline="0" noProof="0">
                <a:ln>
                  <a:noFill/>
                </a:ln>
                <a:solidFill>
                  <a:schemeClr val="hlink"/>
                </a:solidFill>
                <a:effectLst>
                  <a:outerShdw blurRad="38100" dist="38100" dir="2700000" algn="tl">
                    <a:srgbClr val="C0C0C0"/>
                  </a:outerShdw>
                </a:effectLst>
                <a:uLnTx/>
                <a:uFillTx/>
                <a:latin typeface="宋体" panose="02010600030101010101" pitchFamily="2" charset="-122"/>
                <a:ea typeface="+mn-ea"/>
                <a:cs typeface="+mn-cs"/>
              </a:rPr>
              <a:t>路径</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：从一个结点到另一个结点之间的分支序列。</a:t>
            </a:r>
            <a:endPar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100" b="1" i="0" u="none" strike="noStrike" kern="0" cap="none" spc="0" normalizeH="0" baseline="0" noProof="0">
                <a:ln>
                  <a:noFill/>
                </a:ln>
                <a:solidFill>
                  <a:schemeClr val="hlink"/>
                </a:solidFill>
                <a:effectLst>
                  <a:outerShdw blurRad="38100" dist="38100" dir="2700000" algn="tl">
                    <a:srgbClr val="C0C0C0"/>
                  </a:outerShdw>
                </a:effectLst>
                <a:uLnTx/>
                <a:uFillTx/>
                <a:latin typeface="宋体" panose="02010600030101010101" pitchFamily="2" charset="-122"/>
                <a:ea typeface="+mn-ea"/>
                <a:cs typeface="+mn-cs"/>
              </a:rPr>
              <a:t>路径长度</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：是指从一个结点到另一个结点所经过的</a:t>
            </a:r>
            <a:r>
              <a:rPr kumimoji="1" lang="zh-CN" altLang="en-US" sz="2100" b="1" i="0" u="none" strike="noStrike" kern="0" cap="none" spc="0" normalizeH="0" baseline="0" noProof="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cs"/>
              </a:rPr>
              <a:t>分支数目</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a:t>
            </a:r>
            <a:endPar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100" b="1" i="0" u="none" strike="noStrike" kern="0" cap="none" spc="0" normalizeH="0" baseline="0" noProof="0">
                <a:ln>
                  <a:noFill/>
                </a:ln>
                <a:solidFill>
                  <a:schemeClr val="hlink"/>
                </a:solidFill>
                <a:effectLst>
                  <a:outerShdw blurRad="38100" dist="38100" dir="2700000" algn="tl">
                    <a:srgbClr val="C0C0C0"/>
                  </a:outerShdw>
                </a:effectLst>
                <a:uLnTx/>
                <a:uFillTx/>
                <a:latin typeface="宋体" panose="02010600030101010101" pitchFamily="2" charset="-122"/>
                <a:ea typeface="+mn-ea"/>
                <a:cs typeface="+mn-cs"/>
              </a:rPr>
              <a:t>结点的权</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：在实际的应用中，人们常常给树的每个结点赋予一个具有某种实际意义的数值，我们称该数值为这个结点的权。</a:t>
            </a:r>
            <a:endPar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1" lang="zh-CN" altLang="en-US" sz="2100" b="1" i="0" u="none" strike="noStrike" kern="0" cap="none" spc="0" normalizeH="0" baseline="0" noProof="0">
                <a:ln>
                  <a:noFill/>
                </a:ln>
                <a:solidFill>
                  <a:schemeClr val="hlink"/>
                </a:solidFill>
                <a:effectLst>
                  <a:outerShdw blurRad="38100" dist="38100" dir="2700000" algn="tl">
                    <a:srgbClr val="C0C0C0"/>
                  </a:outerShdw>
                </a:effectLst>
                <a:uLnTx/>
                <a:uFillTx/>
                <a:latin typeface="宋体" panose="02010600030101010101" pitchFamily="2" charset="-122"/>
                <a:ea typeface="+mn-ea"/>
                <a:cs typeface="+mn-cs"/>
              </a:rPr>
              <a:t>结点的带权路径长度</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：从</a:t>
            </a:r>
            <a:r>
              <a:rPr kumimoji="1" lang="zh-CN" altLang="en-US" sz="2100" b="1" i="0" u="none" strike="noStrike" kern="0" cap="none" spc="0" normalizeH="0" baseline="0" noProof="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cs"/>
              </a:rPr>
              <a:t>树根</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到</a:t>
            </a:r>
            <a:r>
              <a:rPr kumimoji="1" lang="zh-CN" altLang="en-US" sz="2100" b="1" i="0" u="none" strike="noStrike" kern="0" cap="none" spc="0" normalizeH="0" baseline="0" noProof="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cs"/>
              </a:rPr>
              <a:t>结点</a:t>
            </a:r>
            <a:r>
              <a:rPr kumimoji="1"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的路径长度与该结点的权的乘积，叫做该结点的带权路径长度。</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p:txBody>
      </p:sp>
      <p:grpSp>
        <p:nvGrpSpPr>
          <p:cNvPr id="2" name="Group 6"/>
          <p:cNvGrpSpPr/>
          <p:nvPr/>
        </p:nvGrpSpPr>
        <p:grpSpPr>
          <a:xfrm>
            <a:off x="5106988" y="2168525"/>
            <a:ext cx="3352800" cy="3276600"/>
            <a:chOff x="192" y="1776"/>
            <a:chExt cx="2112" cy="2064"/>
          </a:xfrm>
        </p:grpSpPr>
        <p:grpSp>
          <p:nvGrpSpPr>
            <p:cNvPr id="113669" name="Group 7"/>
            <p:cNvGrpSpPr/>
            <p:nvPr/>
          </p:nvGrpSpPr>
          <p:grpSpPr>
            <a:xfrm>
              <a:off x="192" y="1776"/>
              <a:ext cx="2112" cy="1776"/>
              <a:chOff x="192" y="1776"/>
              <a:chExt cx="2112" cy="1776"/>
            </a:xfrm>
          </p:grpSpPr>
          <p:sp>
            <p:nvSpPr>
              <p:cNvPr id="301064" name="Oval 8"/>
              <p:cNvSpPr>
                <a:spLocks noChangeArrowheads="1"/>
              </p:cNvSpPr>
              <p:nvPr/>
            </p:nvSpPr>
            <p:spPr bwMode="auto">
              <a:xfrm>
                <a:off x="1296" y="1776"/>
                <a:ext cx="240" cy="240"/>
              </a:xfrm>
              <a:prstGeom prst="ellipse">
                <a:avLst/>
              </a:prstGeom>
              <a:solidFill>
                <a:srgbClr val="FFCCFF"/>
              </a:solidFill>
              <a:ln w="19050">
                <a:solidFill>
                  <a:schemeClr val="accent2"/>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1065" name="Oval 9"/>
              <p:cNvSpPr>
                <a:spLocks noChangeArrowheads="1"/>
              </p:cNvSpPr>
              <p:nvPr/>
            </p:nvSpPr>
            <p:spPr bwMode="auto">
              <a:xfrm>
                <a:off x="816" y="2208"/>
                <a:ext cx="240" cy="240"/>
              </a:xfrm>
              <a:prstGeom prst="ellipse">
                <a:avLst/>
              </a:prstGeom>
              <a:solidFill>
                <a:srgbClr val="FFCCFF"/>
              </a:solidFill>
              <a:ln w="19050">
                <a:solidFill>
                  <a:schemeClr val="accent2"/>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3674" name="Oval 10"/>
              <p:cNvSpPr/>
              <p:nvPr/>
            </p:nvSpPr>
            <p:spPr>
              <a:xfrm>
                <a:off x="432" y="2736"/>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d</a:t>
                </a:r>
                <a:endParaRPr lang="en-US" altLang="zh-CN" sz="2400" dirty="0">
                  <a:solidFill>
                    <a:schemeClr val="tx1"/>
                  </a:solidFill>
                  <a:latin typeface="Times New Roman" panose="02020603050405020304" pitchFamily="18" charset="0"/>
                </a:endParaRPr>
              </a:p>
            </p:txBody>
          </p:sp>
          <p:sp>
            <p:nvSpPr>
              <p:cNvPr id="113675" name="Oval 11"/>
              <p:cNvSpPr/>
              <p:nvPr/>
            </p:nvSpPr>
            <p:spPr>
              <a:xfrm>
                <a:off x="1104" y="2736"/>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endParaRPr lang="zh-CN" altLang="zh-CN" sz="2400" dirty="0">
                  <a:solidFill>
                    <a:schemeClr val="tx1"/>
                  </a:solidFill>
                  <a:latin typeface="Times New Roman" panose="02020603050405020304" pitchFamily="18" charset="0"/>
                </a:endParaRPr>
              </a:p>
            </p:txBody>
          </p:sp>
          <p:sp>
            <p:nvSpPr>
              <p:cNvPr id="113676" name="Oval 12"/>
              <p:cNvSpPr/>
              <p:nvPr/>
            </p:nvSpPr>
            <p:spPr>
              <a:xfrm>
                <a:off x="1776" y="2208"/>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c</a:t>
                </a:r>
                <a:endParaRPr lang="en-US" altLang="zh-CN" sz="2400" dirty="0">
                  <a:solidFill>
                    <a:schemeClr val="tx1"/>
                  </a:solidFill>
                  <a:latin typeface="Times New Roman" panose="02020603050405020304" pitchFamily="18" charset="0"/>
                </a:endParaRPr>
              </a:p>
            </p:txBody>
          </p:sp>
          <p:cxnSp>
            <p:nvCxnSpPr>
              <p:cNvPr id="113677" name="AutoShape 13"/>
              <p:cNvCxnSpPr>
                <a:stCxn id="301064" idx="3"/>
                <a:endCxn id="301065" idx="7"/>
              </p:cNvCxnSpPr>
              <p:nvPr/>
            </p:nvCxnSpPr>
            <p:spPr>
              <a:xfrm flipH="1">
                <a:off x="1021" y="1987"/>
                <a:ext cx="310" cy="250"/>
              </a:xfrm>
              <a:prstGeom prst="straightConnector1">
                <a:avLst/>
              </a:prstGeom>
              <a:ln w="19050" cap="flat" cmpd="sng">
                <a:solidFill>
                  <a:schemeClr val="accent2"/>
                </a:solidFill>
                <a:prstDash val="solid"/>
                <a:headEnd type="none" w="med" len="med"/>
                <a:tailEnd type="none" w="med" len="med"/>
              </a:ln>
            </p:spPr>
          </p:cxnSp>
          <p:cxnSp>
            <p:nvCxnSpPr>
              <p:cNvPr id="113678" name="AutoShape 14"/>
              <p:cNvCxnSpPr>
                <a:stCxn id="301065" idx="3"/>
                <a:endCxn id="113674" idx="0"/>
              </p:cNvCxnSpPr>
              <p:nvPr/>
            </p:nvCxnSpPr>
            <p:spPr>
              <a:xfrm flipH="1">
                <a:off x="552" y="2419"/>
                <a:ext cx="299" cy="311"/>
              </a:xfrm>
              <a:prstGeom prst="straightConnector1">
                <a:avLst/>
              </a:prstGeom>
              <a:ln w="19050" cap="flat" cmpd="sng">
                <a:solidFill>
                  <a:schemeClr val="accent2"/>
                </a:solidFill>
                <a:prstDash val="solid"/>
                <a:headEnd type="none" w="med" len="med"/>
                <a:tailEnd type="none" w="med" len="med"/>
              </a:ln>
            </p:spPr>
          </p:cxnSp>
          <p:cxnSp>
            <p:nvCxnSpPr>
              <p:cNvPr id="113679" name="AutoShape 15"/>
              <p:cNvCxnSpPr>
                <a:stCxn id="301065" idx="5"/>
                <a:endCxn id="113675" idx="0"/>
              </p:cNvCxnSpPr>
              <p:nvPr/>
            </p:nvCxnSpPr>
            <p:spPr>
              <a:xfrm>
                <a:off x="1021" y="2419"/>
                <a:ext cx="203" cy="311"/>
              </a:xfrm>
              <a:prstGeom prst="straightConnector1">
                <a:avLst/>
              </a:prstGeom>
              <a:ln w="19050" cap="flat" cmpd="sng">
                <a:solidFill>
                  <a:schemeClr val="accent2"/>
                </a:solidFill>
                <a:prstDash val="solid"/>
                <a:headEnd type="none" w="med" len="med"/>
                <a:tailEnd type="none" w="med" len="med"/>
              </a:ln>
            </p:spPr>
          </p:cxnSp>
          <p:cxnSp>
            <p:nvCxnSpPr>
              <p:cNvPr id="113680" name="AutoShape 16"/>
              <p:cNvCxnSpPr>
                <a:stCxn id="301064" idx="5"/>
                <a:endCxn id="113676" idx="1"/>
              </p:cNvCxnSpPr>
              <p:nvPr/>
            </p:nvCxnSpPr>
            <p:spPr>
              <a:xfrm>
                <a:off x="1501" y="1987"/>
                <a:ext cx="310" cy="250"/>
              </a:xfrm>
              <a:prstGeom prst="straightConnector1">
                <a:avLst/>
              </a:prstGeom>
              <a:ln w="19050" cap="flat" cmpd="sng">
                <a:solidFill>
                  <a:schemeClr val="accent2"/>
                </a:solidFill>
                <a:prstDash val="solid"/>
                <a:headEnd type="none" w="med" len="med"/>
                <a:tailEnd type="none" w="med" len="med"/>
              </a:ln>
            </p:spPr>
          </p:cxnSp>
          <p:sp>
            <p:nvSpPr>
              <p:cNvPr id="113681" name="Oval 17"/>
              <p:cNvSpPr/>
              <p:nvPr/>
            </p:nvSpPr>
            <p:spPr>
              <a:xfrm>
                <a:off x="768" y="3312"/>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a</a:t>
                </a:r>
                <a:endParaRPr lang="en-US" altLang="zh-CN" sz="2400" dirty="0">
                  <a:solidFill>
                    <a:schemeClr val="tx1"/>
                  </a:solidFill>
                  <a:latin typeface="Times New Roman" panose="02020603050405020304" pitchFamily="18" charset="0"/>
                </a:endParaRPr>
              </a:p>
            </p:txBody>
          </p:sp>
          <p:cxnSp>
            <p:nvCxnSpPr>
              <p:cNvPr id="113682" name="AutoShape 18"/>
              <p:cNvCxnSpPr>
                <a:stCxn id="113675" idx="3"/>
                <a:endCxn id="113681" idx="0"/>
              </p:cNvCxnSpPr>
              <p:nvPr/>
            </p:nvCxnSpPr>
            <p:spPr>
              <a:xfrm flipH="1">
                <a:off x="888" y="2947"/>
                <a:ext cx="251" cy="359"/>
              </a:xfrm>
              <a:prstGeom prst="straightConnector1">
                <a:avLst/>
              </a:prstGeom>
              <a:ln w="19050" cap="flat" cmpd="sng">
                <a:solidFill>
                  <a:schemeClr val="accent2"/>
                </a:solidFill>
                <a:prstDash val="solid"/>
                <a:headEnd type="none" w="med" len="med"/>
                <a:tailEnd type="none" w="med" len="med"/>
              </a:ln>
            </p:spPr>
          </p:cxnSp>
          <p:sp>
            <p:nvSpPr>
              <p:cNvPr id="113683" name="Oval 19"/>
              <p:cNvSpPr/>
              <p:nvPr/>
            </p:nvSpPr>
            <p:spPr>
              <a:xfrm>
                <a:off x="1536" y="3312"/>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b</a:t>
                </a:r>
                <a:endParaRPr lang="en-US" altLang="zh-CN" sz="2400" dirty="0">
                  <a:solidFill>
                    <a:schemeClr val="tx1"/>
                  </a:solidFill>
                  <a:latin typeface="Times New Roman" panose="02020603050405020304" pitchFamily="18" charset="0"/>
                </a:endParaRPr>
              </a:p>
            </p:txBody>
          </p:sp>
          <p:cxnSp>
            <p:nvCxnSpPr>
              <p:cNvPr id="113684" name="AutoShape 20"/>
              <p:cNvCxnSpPr>
                <a:stCxn id="113675" idx="5"/>
                <a:endCxn id="113683" idx="0"/>
              </p:cNvCxnSpPr>
              <p:nvPr/>
            </p:nvCxnSpPr>
            <p:spPr>
              <a:xfrm>
                <a:off x="1309" y="2947"/>
                <a:ext cx="347" cy="359"/>
              </a:xfrm>
              <a:prstGeom prst="straightConnector1">
                <a:avLst/>
              </a:prstGeom>
              <a:ln w="19050" cap="flat" cmpd="sng">
                <a:solidFill>
                  <a:schemeClr val="accent2"/>
                </a:solidFill>
                <a:prstDash val="solid"/>
                <a:headEnd type="none" w="med" len="med"/>
                <a:tailEnd type="none" w="med" len="med"/>
              </a:ln>
            </p:spPr>
          </p:cxnSp>
          <p:sp>
            <p:nvSpPr>
              <p:cNvPr id="113685" name="Text Box 21"/>
              <p:cNvSpPr txBox="1"/>
              <p:nvPr/>
            </p:nvSpPr>
            <p:spPr>
              <a:xfrm>
                <a:off x="2064" y="2208"/>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2</a:t>
                </a:r>
                <a:endParaRPr lang="en-US" altLang="zh-CN" sz="2400" dirty="0">
                  <a:solidFill>
                    <a:schemeClr val="tx1"/>
                  </a:solidFill>
                  <a:latin typeface="Times New Roman" panose="02020603050405020304" pitchFamily="18" charset="0"/>
                </a:endParaRPr>
              </a:p>
            </p:txBody>
          </p:sp>
          <p:sp>
            <p:nvSpPr>
              <p:cNvPr id="113686" name="Text Box 22"/>
              <p:cNvSpPr txBox="1"/>
              <p:nvPr/>
            </p:nvSpPr>
            <p:spPr>
              <a:xfrm>
                <a:off x="192" y="2688"/>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4</a:t>
                </a:r>
                <a:endParaRPr lang="en-US" altLang="zh-CN" sz="2400" dirty="0">
                  <a:solidFill>
                    <a:schemeClr val="tx1"/>
                  </a:solidFill>
                  <a:latin typeface="Times New Roman" panose="02020603050405020304" pitchFamily="18" charset="0"/>
                </a:endParaRPr>
              </a:p>
            </p:txBody>
          </p:sp>
        </p:grpSp>
        <p:sp>
          <p:nvSpPr>
            <p:cNvPr id="113670" name="Text Box 23"/>
            <p:cNvSpPr txBox="1"/>
            <p:nvPr/>
          </p:nvSpPr>
          <p:spPr>
            <a:xfrm>
              <a:off x="768" y="3552"/>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7</a:t>
              </a:r>
              <a:endParaRPr lang="en-US" altLang="zh-CN" sz="2400" dirty="0">
                <a:solidFill>
                  <a:schemeClr val="tx1"/>
                </a:solidFill>
                <a:latin typeface="Times New Roman" panose="02020603050405020304" pitchFamily="18" charset="0"/>
              </a:endParaRPr>
            </a:p>
          </p:txBody>
        </p:sp>
        <p:sp>
          <p:nvSpPr>
            <p:cNvPr id="113671" name="Text Box 24"/>
            <p:cNvSpPr txBox="1"/>
            <p:nvPr/>
          </p:nvSpPr>
          <p:spPr>
            <a:xfrm>
              <a:off x="1536" y="3552"/>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5</a:t>
              </a:r>
              <a:endParaRPr lang="en-US" altLang="zh-CN" sz="2400" dirty="0">
                <a:solidFill>
                  <a:schemeClr val="tx1"/>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2082" name="Rectangle 2"/>
          <p:cNvSpPr>
            <a:spLocks noGrp="1" noChangeArrowheads="1"/>
          </p:cNvSpPr>
          <p:nvPr>
            <p:ph type="title" idx="4294967295"/>
          </p:nvPr>
        </p:nvSpPr>
        <p:spPr>
          <a:xfrm>
            <a:off x="228600" y="304800"/>
            <a:ext cx="7848600" cy="1066800"/>
          </a:xfrm>
        </p:spPr>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p"/>
              <a:defRPr/>
            </a:pPr>
            <a:r>
              <a:rPr kumimoji="1" lang="zh-CN" altLang="en-US" sz="2100" b="1" i="0" u="none" strike="noStrike" kern="0" cap="none" spc="0" normalizeH="0" baseline="0" noProof="0">
                <a:ln>
                  <a:noFill/>
                </a:ln>
                <a:solidFill>
                  <a:schemeClr val="hlink"/>
                </a:solidFill>
                <a:effectLst>
                  <a:outerShdw blurRad="38100" dist="38100" dir="2700000" algn="tl">
                    <a:srgbClr val="C0C0C0"/>
                  </a:outerShdw>
                </a:effectLst>
                <a:uLnTx/>
                <a:uFillTx/>
                <a:latin typeface="宋体" panose="02010600030101010101" pitchFamily="2" charset="-122"/>
                <a:ea typeface="+mj-ea"/>
                <a:cs typeface="+mj-cs"/>
              </a:rPr>
              <a:t>树的带权路径长度</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j-ea"/>
                <a:cs typeface="+mj-cs"/>
              </a:rPr>
              <a:t> </a:t>
            </a:r>
            <a:b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j-ea"/>
                <a:cs typeface="+mj-cs"/>
              </a:rPr>
            </a:b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j-ea"/>
                <a:cs typeface="+mj-cs"/>
              </a:rPr>
              <a:t>    树的带权路径长度是指树中所有叶子结点的带权路径长度之和。 </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j-ea"/>
              <a:cs typeface="+mj-cs"/>
            </a:endParaRPr>
          </a:p>
        </p:txBody>
      </p:sp>
      <p:sp>
        <p:nvSpPr>
          <p:cNvPr id="114691" name="Rectangle 3"/>
          <p:cNvSpPr/>
          <p:nvPr/>
        </p:nvSpPr>
        <p:spPr>
          <a:xfrm>
            <a:off x="0" y="4038600"/>
            <a:ext cx="9144000" cy="1552575"/>
          </a:xfrm>
          <a:prstGeom prst="rect">
            <a:avLst/>
          </a:prstGeom>
          <a:noFill/>
          <a:ln w="9525">
            <a:noFill/>
          </a:ln>
        </p:spPr>
        <p:txBody>
          <a:bodyPr>
            <a:spAutoFit/>
          </a:bodyPr>
          <a:p>
            <a:pPr eaLnBrk="1" hangingPunct="1">
              <a:buFont typeface="Wingdings" panose="05000000000000000000" pitchFamily="2" charset="2"/>
              <a:buChar char="p"/>
            </a:pPr>
            <a:r>
              <a:rPr lang="zh-CN" altLang="en-US" sz="2400" dirty="0">
                <a:solidFill>
                  <a:schemeClr val="tx1"/>
                </a:solidFill>
                <a:latin typeface="Verdana" panose="020B0604030504040204" pitchFamily="34" charset="0"/>
              </a:rPr>
              <a:t>赫</a:t>
            </a:r>
            <a:r>
              <a:rPr lang="zh-CN" altLang="en-US" sz="2400" dirty="0">
                <a:solidFill>
                  <a:schemeClr val="tx1"/>
                </a:solidFill>
                <a:latin typeface="宋体" panose="02010600030101010101" pitchFamily="2" charset="-122"/>
              </a:rPr>
              <a:t>夫曼树</a:t>
            </a:r>
            <a:endParaRPr lang="zh-CN" altLang="en-US" sz="2400" dirty="0">
              <a:solidFill>
                <a:schemeClr val="tx1"/>
              </a:solidFill>
              <a:latin typeface="宋体" panose="02010600030101010101" pitchFamily="2" charset="-122"/>
            </a:endParaRPr>
          </a:p>
          <a:p>
            <a:pPr eaLnBrk="1" hangingPunct="1"/>
            <a:r>
              <a:rPr lang="zh-CN" altLang="en-US" sz="2400" b="0" dirty="0">
                <a:solidFill>
                  <a:schemeClr val="tx1"/>
                </a:solidFill>
                <a:latin typeface="宋体" panose="02010600030101010101" pitchFamily="2" charset="-122"/>
              </a:rPr>
              <a:t>设有</a:t>
            </a:r>
            <a:r>
              <a:rPr lang="en-US" altLang="zh-CN" sz="2400" b="0" dirty="0">
                <a:solidFill>
                  <a:schemeClr val="tx1"/>
                </a:solidFill>
                <a:latin typeface="宋体" panose="02010600030101010101" pitchFamily="2" charset="-122"/>
              </a:rPr>
              <a:t>n</a:t>
            </a:r>
            <a:r>
              <a:rPr lang="zh-CN" altLang="en-US" sz="2400" b="0" dirty="0">
                <a:solidFill>
                  <a:schemeClr val="tx1"/>
                </a:solidFill>
                <a:latin typeface="宋体" panose="02010600030101010101" pitchFamily="2" charset="-122"/>
              </a:rPr>
              <a:t>个权值（</a:t>
            </a:r>
            <a:r>
              <a:rPr lang="en-US" altLang="zh-CN" sz="2400" b="0" dirty="0">
                <a:solidFill>
                  <a:schemeClr val="tx1"/>
                </a:solidFill>
                <a:latin typeface="宋体" panose="02010600030101010101" pitchFamily="2" charset="-122"/>
              </a:rPr>
              <a:t>w1</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w2</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a:t>
            </a:r>
            <a:r>
              <a:rPr lang="zh-CN" altLang="en-US" sz="2400" b="0" dirty="0">
                <a:solidFill>
                  <a:schemeClr val="tx1"/>
                </a:solidFill>
                <a:latin typeface="宋体" panose="02010600030101010101" pitchFamily="2" charset="-122"/>
              </a:rPr>
              <a:t>，</a:t>
            </a:r>
            <a:r>
              <a:rPr lang="en-US" altLang="zh-CN" sz="2400" b="0" dirty="0">
                <a:solidFill>
                  <a:schemeClr val="tx1"/>
                </a:solidFill>
                <a:latin typeface="宋体" panose="02010600030101010101" pitchFamily="2" charset="-122"/>
              </a:rPr>
              <a:t>wn</a:t>
            </a:r>
            <a:r>
              <a:rPr lang="zh-CN" altLang="en-US" sz="2400" b="0" dirty="0">
                <a:solidFill>
                  <a:schemeClr val="tx1"/>
                </a:solidFill>
                <a:latin typeface="宋体" panose="02010600030101010101" pitchFamily="2" charset="-122"/>
              </a:rPr>
              <a:t>），构造一棵</a:t>
            </a:r>
            <a:r>
              <a:rPr lang="en-US" altLang="zh-CN" sz="2400" b="0" dirty="0">
                <a:solidFill>
                  <a:schemeClr val="tx1"/>
                </a:solidFill>
                <a:latin typeface="宋体" panose="02010600030101010101" pitchFamily="2" charset="-122"/>
              </a:rPr>
              <a:t>n</a:t>
            </a:r>
            <a:r>
              <a:rPr lang="zh-CN" altLang="en-US" sz="2400" b="0" dirty="0">
                <a:solidFill>
                  <a:schemeClr val="tx1"/>
                </a:solidFill>
                <a:latin typeface="宋体" panose="02010600030101010101" pitchFamily="2" charset="-122"/>
              </a:rPr>
              <a:t>个带权叶子结点构成的所有二叉树中</a:t>
            </a:r>
            <a:r>
              <a:rPr lang="zh-CN" altLang="en-US" sz="2400" dirty="0">
                <a:solidFill>
                  <a:schemeClr val="accent2"/>
                </a:solidFill>
                <a:latin typeface="宋体" panose="02010600030101010101" pitchFamily="2" charset="-122"/>
              </a:rPr>
              <a:t>带权路径长度</a:t>
            </a:r>
            <a:r>
              <a:rPr lang="en-US" altLang="zh-CN" sz="2400" dirty="0">
                <a:solidFill>
                  <a:schemeClr val="accent2"/>
                </a:solidFill>
                <a:latin typeface="宋体" panose="02010600030101010101" pitchFamily="2" charset="-122"/>
              </a:rPr>
              <a:t>WPL</a:t>
            </a:r>
            <a:r>
              <a:rPr lang="zh-CN" altLang="en-US" sz="2400" dirty="0">
                <a:solidFill>
                  <a:schemeClr val="accent2"/>
                </a:solidFill>
                <a:latin typeface="宋体" panose="02010600030101010101" pitchFamily="2" charset="-122"/>
              </a:rPr>
              <a:t>最小的二叉树</a:t>
            </a:r>
            <a:r>
              <a:rPr lang="zh-CN" altLang="en-US" sz="2400" b="0" dirty="0">
                <a:solidFill>
                  <a:schemeClr val="tx1"/>
                </a:solidFill>
                <a:latin typeface="宋体" panose="02010600030101010101" pitchFamily="2" charset="-122"/>
              </a:rPr>
              <a:t>，叫做</a:t>
            </a:r>
            <a:r>
              <a:rPr lang="zh-CN" altLang="en-US" sz="2400" b="0" dirty="0">
                <a:solidFill>
                  <a:schemeClr val="tx1"/>
                </a:solidFill>
                <a:latin typeface="Verdana" panose="020B0604030504040204" pitchFamily="34" charset="0"/>
              </a:rPr>
              <a:t>赫夫曼</a:t>
            </a:r>
            <a:r>
              <a:rPr lang="zh-CN" altLang="en-US" sz="2400" b="0" dirty="0">
                <a:solidFill>
                  <a:schemeClr val="tx1"/>
                </a:solidFill>
                <a:latin typeface="宋体" panose="02010600030101010101" pitchFamily="2" charset="-122"/>
              </a:rPr>
              <a:t>树或最优二叉树，也叫最佳判定树，</a:t>
            </a:r>
            <a:endParaRPr lang="zh-CN" altLang="en-US" sz="2400" b="0" dirty="0">
              <a:solidFill>
                <a:schemeClr val="tx1"/>
              </a:solidFill>
              <a:latin typeface="宋体" panose="02010600030101010101" pitchFamily="2" charset="-122"/>
            </a:endParaRPr>
          </a:p>
        </p:txBody>
      </p:sp>
      <p:graphicFrame>
        <p:nvGraphicFramePr>
          <p:cNvPr id="302085" name="Object 5"/>
          <p:cNvGraphicFramePr/>
          <p:nvPr/>
        </p:nvGraphicFramePr>
        <p:xfrm>
          <a:off x="334963" y="1371600"/>
          <a:ext cx="8483600" cy="1981200"/>
        </p:xfrm>
        <a:graphic>
          <a:graphicData uri="http://schemas.openxmlformats.org/presentationml/2006/ole">
            <mc:AlternateContent xmlns:mc="http://schemas.openxmlformats.org/markup-compatibility/2006">
              <mc:Choice xmlns:v="urn:schemas-microsoft-com:vml" Requires="v">
                <p:oleObj spid="_x0000_s3076" name="" r:id="rId1" imgW="2794000" imgH="927100" progId="Equation.3">
                  <p:embed/>
                </p:oleObj>
              </mc:Choice>
              <mc:Fallback>
                <p:oleObj name="" r:id="rId1" imgW="2794000" imgH="927100" progId="Equation.3">
                  <p:embed/>
                  <p:pic>
                    <p:nvPicPr>
                      <p:cNvPr id="0" name="20 3075"/>
                      <p:cNvPicPr/>
                      <p:nvPr/>
                    </p:nvPicPr>
                    <p:blipFill>
                      <a:blip r:embed="rId2"/>
                      <a:stretch>
                        <a:fillRect/>
                      </a:stretch>
                    </p:blipFill>
                    <p:spPr>
                      <a:xfrm>
                        <a:off x="334963" y="1371600"/>
                        <a:ext cx="8483600" cy="1981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2085"/>
                                        </p:tgtEl>
                                        <p:attrNameLst>
                                          <p:attrName>style.visibility</p:attrName>
                                        </p:attrNameLst>
                                      </p:cBhvr>
                                      <p:to>
                                        <p:strVal val="visible"/>
                                      </p:to>
                                    </p:set>
                                    <p:anim calcmode="lin" valueType="num">
                                      <p:cBhvr additive="base">
                                        <p:cTn id="7" dur="500" fill="hold"/>
                                        <p:tgtEl>
                                          <p:spTgt spid="302085"/>
                                        </p:tgtEl>
                                        <p:attrNameLst>
                                          <p:attrName>ppt_x</p:attrName>
                                        </p:attrNameLst>
                                      </p:cBhvr>
                                      <p:tavLst>
                                        <p:tav tm="0">
                                          <p:val>
                                            <p:strVal val="0-#ppt_w/2"/>
                                          </p:val>
                                        </p:tav>
                                        <p:tav tm="100000">
                                          <p:val>
                                            <p:strVal val="#ppt_x"/>
                                          </p:val>
                                        </p:tav>
                                      </p:tavLst>
                                    </p:anim>
                                    <p:anim calcmode="lin" valueType="num">
                                      <p:cBhvr additive="base">
                                        <p:cTn id="8" dur="500" fill="hold"/>
                                        <p:tgtEl>
                                          <p:spTgt spid="30208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3106" name="Text Box 2"/>
          <p:cNvSpPr txBox="1">
            <a:spLocks noChangeArrowheads="1"/>
          </p:cNvSpPr>
          <p:nvPr/>
        </p:nvSpPr>
        <p:spPr bwMode="auto">
          <a:xfrm>
            <a:off x="0" y="280988"/>
            <a:ext cx="8112125" cy="396875"/>
          </a:xfrm>
          <a:prstGeom prst="rect">
            <a:avLst/>
          </a:prstGeom>
          <a:noFill/>
          <a:ln w="9525">
            <a:noFill/>
            <a:miter lim="800000"/>
          </a:ln>
          <a:effectLst/>
        </p:spPr>
        <p:txBody>
          <a:bodyPr wrap="none">
            <a:spAutoFit/>
          </a:bodyPr>
          <a:lstStyle/>
          <a:p>
            <a:pPr marR="0" defTabSz="914400" eaLnBrk="1" hangingPunct="1">
              <a:buClrTx/>
              <a:buSzTx/>
              <a:buFontTx/>
              <a:buNone/>
              <a:defRPr/>
            </a:pPr>
            <a:r>
              <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例：有</a:t>
            </a:r>
            <a:r>
              <a:rPr kumimoji="1" lang="en-US" altLang="zh-CN"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4</a:t>
            </a:r>
            <a:r>
              <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个结点，权值分别为</a:t>
            </a:r>
            <a:r>
              <a:rPr kumimoji="1" lang="en-US" altLang="zh-CN"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7</a:t>
            </a:r>
            <a:r>
              <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a:t>
            </a:r>
            <a:r>
              <a:rPr kumimoji="1" lang="en-US" altLang="zh-CN"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5</a:t>
            </a:r>
            <a:r>
              <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a:t>
            </a:r>
            <a:r>
              <a:rPr kumimoji="1" lang="en-US" altLang="zh-CN"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2</a:t>
            </a:r>
            <a:r>
              <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a:t>
            </a:r>
            <a:r>
              <a:rPr kumimoji="1" lang="en-US" altLang="zh-CN"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4</a:t>
            </a:r>
            <a:r>
              <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，构造有</a:t>
            </a:r>
            <a:r>
              <a:rPr kumimoji="1" lang="en-US" altLang="zh-CN"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4</a:t>
            </a:r>
            <a:r>
              <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个叶子结点的二叉树</a:t>
            </a:r>
            <a:endParaRPr kumimoji="1" lang="zh-CN" altLang="en-US"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endParaRPr>
          </a:p>
        </p:txBody>
      </p:sp>
      <p:grpSp>
        <p:nvGrpSpPr>
          <p:cNvPr id="2" name="Group 3"/>
          <p:cNvGrpSpPr/>
          <p:nvPr/>
        </p:nvGrpSpPr>
        <p:grpSpPr>
          <a:xfrm>
            <a:off x="5067300" y="971550"/>
            <a:ext cx="3124200" cy="2362200"/>
            <a:chOff x="3120" y="144"/>
            <a:chExt cx="1968" cy="1488"/>
          </a:xfrm>
        </p:grpSpPr>
        <p:grpSp>
          <p:nvGrpSpPr>
            <p:cNvPr id="115758" name="Group 4"/>
            <p:cNvGrpSpPr/>
            <p:nvPr/>
          </p:nvGrpSpPr>
          <p:grpSpPr>
            <a:xfrm>
              <a:off x="3120" y="144"/>
              <a:ext cx="1968" cy="1200"/>
              <a:chOff x="3120" y="144"/>
              <a:chExt cx="1968" cy="1200"/>
            </a:xfrm>
          </p:grpSpPr>
          <p:sp>
            <p:nvSpPr>
              <p:cNvPr id="303109" name="Oval 5"/>
              <p:cNvSpPr>
                <a:spLocks noChangeArrowheads="1"/>
              </p:cNvSpPr>
              <p:nvPr/>
            </p:nvSpPr>
            <p:spPr bwMode="auto">
              <a:xfrm>
                <a:off x="3984" y="144"/>
                <a:ext cx="240" cy="240"/>
              </a:xfrm>
              <a:prstGeom prst="ellipse">
                <a:avLst/>
              </a:prstGeom>
              <a:solidFill>
                <a:schemeClr val="accent1"/>
              </a:solidFill>
              <a:ln w="19050">
                <a:solidFill>
                  <a:schemeClr val="accent2"/>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3110" name="Oval 6"/>
              <p:cNvSpPr>
                <a:spLocks noChangeArrowheads="1"/>
              </p:cNvSpPr>
              <p:nvPr/>
            </p:nvSpPr>
            <p:spPr bwMode="auto">
              <a:xfrm>
                <a:off x="3504" y="576"/>
                <a:ext cx="240" cy="240"/>
              </a:xfrm>
              <a:prstGeom prst="ellipse">
                <a:avLst/>
              </a:prstGeom>
              <a:solidFill>
                <a:schemeClr val="accent1"/>
              </a:solidFill>
              <a:ln w="19050">
                <a:solidFill>
                  <a:schemeClr val="accent2"/>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5765" name="Oval 7"/>
              <p:cNvSpPr/>
              <p:nvPr/>
            </p:nvSpPr>
            <p:spPr>
              <a:xfrm>
                <a:off x="3120" y="1104"/>
                <a:ext cx="240" cy="240"/>
              </a:xfrm>
              <a:prstGeom prst="ellipse">
                <a:avLst/>
              </a:prstGeom>
              <a:solidFill>
                <a:schemeClr val="accent1"/>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a</a:t>
                </a:r>
                <a:endParaRPr lang="en-US" altLang="zh-CN" sz="2400" dirty="0">
                  <a:solidFill>
                    <a:schemeClr val="tx1"/>
                  </a:solidFill>
                  <a:latin typeface="Times New Roman" panose="02020603050405020304" pitchFamily="18" charset="0"/>
                </a:endParaRPr>
              </a:p>
            </p:txBody>
          </p:sp>
          <p:sp>
            <p:nvSpPr>
              <p:cNvPr id="115766" name="Oval 8"/>
              <p:cNvSpPr/>
              <p:nvPr/>
            </p:nvSpPr>
            <p:spPr>
              <a:xfrm>
                <a:off x="3792" y="1104"/>
                <a:ext cx="240" cy="240"/>
              </a:xfrm>
              <a:prstGeom prst="ellipse">
                <a:avLst/>
              </a:prstGeom>
              <a:solidFill>
                <a:schemeClr val="accent1"/>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b</a:t>
                </a:r>
                <a:endParaRPr lang="en-US" altLang="zh-CN" sz="2400" dirty="0">
                  <a:solidFill>
                    <a:schemeClr val="tx1"/>
                  </a:solidFill>
                  <a:latin typeface="Times New Roman" panose="02020603050405020304" pitchFamily="18" charset="0"/>
                </a:endParaRPr>
              </a:p>
            </p:txBody>
          </p:sp>
          <p:sp>
            <p:nvSpPr>
              <p:cNvPr id="303113" name="Oval 9"/>
              <p:cNvSpPr>
                <a:spLocks noChangeArrowheads="1"/>
              </p:cNvSpPr>
              <p:nvPr/>
            </p:nvSpPr>
            <p:spPr bwMode="auto">
              <a:xfrm>
                <a:off x="4464" y="576"/>
                <a:ext cx="240" cy="240"/>
              </a:xfrm>
              <a:prstGeom prst="ellipse">
                <a:avLst/>
              </a:prstGeom>
              <a:solidFill>
                <a:schemeClr val="accent1"/>
              </a:solidFill>
              <a:ln w="19050">
                <a:solidFill>
                  <a:schemeClr val="accent2"/>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5768" name="Oval 10"/>
              <p:cNvSpPr/>
              <p:nvPr/>
            </p:nvSpPr>
            <p:spPr>
              <a:xfrm>
                <a:off x="4128" y="1104"/>
                <a:ext cx="240" cy="240"/>
              </a:xfrm>
              <a:prstGeom prst="ellipse">
                <a:avLst/>
              </a:prstGeom>
              <a:solidFill>
                <a:schemeClr val="accent1"/>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c</a:t>
                </a:r>
                <a:endParaRPr lang="en-US" altLang="zh-CN" sz="2400" dirty="0">
                  <a:solidFill>
                    <a:schemeClr val="tx1"/>
                  </a:solidFill>
                  <a:latin typeface="Times New Roman" panose="02020603050405020304" pitchFamily="18" charset="0"/>
                </a:endParaRPr>
              </a:p>
            </p:txBody>
          </p:sp>
          <p:sp>
            <p:nvSpPr>
              <p:cNvPr id="115769" name="Oval 11"/>
              <p:cNvSpPr/>
              <p:nvPr/>
            </p:nvSpPr>
            <p:spPr>
              <a:xfrm>
                <a:off x="4848" y="1104"/>
                <a:ext cx="240" cy="240"/>
              </a:xfrm>
              <a:prstGeom prst="ellipse">
                <a:avLst/>
              </a:prstGeom>
              <a:solidFill>
                <a:schemeClr val="accent1"/>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d</a:t>
                </a:r>
                <a:endParaRPr lang="en-US" altLang="zh-CN" sz="2400" dirty="0">
                  <a:solidFill>
                    <a:schemeClr val="tx1"/>
                  </a:solidFill>
                  <a:latin typeface="Times New Roman" panose="02020603050405020304" pitchFamily="18" charset="0"/>
                </a:endParaRPr>
              </a:p>
            </p:txBody>
          </p:sp>
          <p:cxnSp>
            <p:nvCxnSpPr>
              <p:cNvPr id="115770" name="AutoShape 12"/>
              <p:cNvCxnSpPr>
                <a:stCxn id="303109" idx="3"/>
                <a:endCxn id="303110" idx="7"/>
              </p:cNvCxnSpPr>
              <p:nvPr/>
            </p:nvCxnSpPr>
            <p:spPr>
              <a:xfrm flipH="1">
                <a:off x="3709" y="355"/>
                <a:ext cx="310" cy="250"/>
              </a:xfrm>
              <a:prstGeom prst="straightConnector1">
                <a:avLst/>
              </a:prstGeom>
              <a:ln w="19050" cap="flat" cmpd="sng">
                <a:solidFill>
                  <a:schemeClr val="accent2"/>
                </a:solidFill>
                <a:prstDash val="solid"/>
                <a:headEnd type="none" w="med" len="med"/>
                <a:tailEnd type="none" w="med" len="med"/>
              </a:ln>
            </p:spPr>
          </p:cxnSp>
          <p:cxnSp>
            <p:nvCxnSpPr>
              <p:cNvPr id="115771" name="AutoShape 13"/>
              <p:cNvCxnSpPr>
                <a:stCxn id="303110" idx="3"/>
                <a:endCxn id="115765" idx="0"/>
              </p:cNvCxnSpPr>
              <p:nvPr/>
            </p:nvCxnSpPr>
            <p:spPr>
              <a:xfrm flipH="1">
                <a:off x="3240" y="787"/>
                <a:ext cx="299" cy="311"/>
              </a:xfrm>
              <a:prstGeom prst="straightConnector1">
                <a:avLst/>
              </a:prstGeom>
              <a:ln w="19050" cap="flat" cmpd="sng">
                <a:solidFill>
                  <a:schemeClr val="accent2"/>
                </a:solidFill>
                <a:prstDash val="solid"/>
                <a:headEnd type="none" w="med" len="med"/>
                <a:tailEnd type="none" w="med" len="med"/>
              </a:ln>
            </p:spPr>
          </p:cxnSp>
          <p:cxnSp>
            <p:nvCxnSpPr>
              <p:cNvPr id="115772" name="AutoShape 14"/>
              <p:cNvCxnSpPr>
                <a:stCxn id="303110" idx="5"/>
                <a:endCxn id="115766" idx="0"/>
              </p:cNvCxnSpPr>
              <p:nvPr/>
            </p:nvCxnSpPr>
            <p:spPr>
              <a:xfrm>
                <a:off x="3709" y="787"/>
                <a:ext cx="203" cy="311"/>
              </a:xfrm>
              <a:prstGeom prst="straightConnector1">
                <a:avLst/>
              </a:prstGeom>
              <a:ln w="19050" cap="flat" cmpd="sng">
                <a:solidFill>
                  <a:schemeClr val="accent2"/>
                </a:solidFill>
                <a:prstDash val="solid"/>
                <a:headEnd type="none" w="med" len="med"/>
                <a:tailEnd type="none" w="med" len="med"/>
              </a:ln>
            </p:spPr>
          </p:cxnSp>
          <p:cxnSp>
            <p:nvCxnSpPr>
              <p:cNvPr id="115773" name="AutoShape 15"/>
              <p:cNvCxnSpPr>
                <a:stCxn id="303109" idx="5"/>
                <a:endCxn id="303113" idx="1"/>
              </p:cNvCxnSpPr>
              <p:nvPr/>
            </p:nvCxnSpPr>
            <p:spPr>
              <a:xfrm>
                <a:off x="4189" y="355"/>
                <a:ext cx="310" cy="250"/>
              </a:xfrm>
              <a:prstGeom prst="straightConnector1">
                <a:avLst/>
              </a:prstGeom>
              <a:ln w="19050" cap="flat" cmpd="sng">
                <a:solidFill>
                  <a:schemeClr val="accent2"/>
                </a:solidFill>
                <a:prstDash val="solid"/>
                <a:headEnd type="none" w="med" len="med"/>
                <a:tailEnd type="none" w="med" len="med"/>
              </a:ln>
            </p:spPr>
          </p:cxnSp>
          <p:cxnSp>
            <p:nvCxnSpPr>
              <p:cNvPr id="115774" name="AutoShape 16"/>
              <p:cNvCxnSpPr>
                <a:stCxn id="303113" idx="3"/>
                <a:endCxn id="115768" idx="0"/>
              </p:cNvCxnSpPr>
              <p:nvPr/>
            </p:nvCxnSpPr>
            <p:spPr>
              <a:xfrm flipH="1">
                <a:off x="4248" y="787"/>
                <a:ext cx="251" cy="311"/>
              </a:xfrm>
              <a:prstGeom prst="straightConnector1">
                <a:avLst/>
              </a:prstGeom>
              <a:ln w="19050" cap="flat" cmpd="sng">
                <a:solidFill>
                  <a:schemeClr val="accent2"/>
                </a:solidFill>
                <a:prstDash val="solid"/>
                <a:headEnd type="none" w="med" len="med"/>
                <a:tailEnd type="none" w="med" len="med"/>
              </a:ln>
            </p:spPr>
          </p:cxnSp>
          <p:cxnSp>
            <p:nvCxnSpPr>
              <p:cNvPr id="115775" name="AutoShape 17"/>
              <p:cNvCxnSpPr>
                <a:stCxn id="303113" idx="5"/>
                <a:endCxn id="115769" idx="0"/>
              </p:cNvCxnSpPr>
              <p:nvPr/>
            </p:nvCxnSpPr>
            <p:spPr>
              <a:xfrm>
                <a:off x="4669" y="787"/>
                <a:ext cx="299" cy="311"/>
              </a:xfrm>
              <a:prstGeom prst="straightConnector1">
                <a:avLst/>
              </a:prstGeom>
              <a:ln w="19050" cap="flat" cmpd="sng">
                <a:solidFill>
                  <a:schemeClr val="accent2"/>
                </a:solidFill>
                <a:prstDash val="solid"/>
                <a:headEnd type="none" w="med" len="med"/>
                <a:tailEnd type="none" w="med" len="med"/>
              </a:ln>
            </p:spPr>
          </p:cxnSp>
        </p:grpSp>
        <p:sp>
          <p:nvSpPr>
            <p:cNvPr id="115759" name="Text Box 18"/>
            <p:cNvSpPr txBox="1"/>
            <p:nvPr/>
          </p:nvSpPr>
          <p:spPr>
            <a:xfrm>
              <a:off x="3120" y="1344"/>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7</a:t>
              </a:r>
              <a:endParaRPr lang="en-US" altLang="zh-CN" sz="2400" dirty="0">
                <a:solidFill>
                  <a:schemeClr val="tx1"/>
                </a:solidFill>
                <a:latin typeface="Times New Roman" panose="02020603050405020304" pitchFamily="18" charset="0"/>
              </a:endParaRPr>
            </a:p>
          </p:txBody>
        </p:sp>
        <p:sp>
          <p:nvSpPr>
            <p:cNvPr id="115760" name="Text Box 19"/>
            <p:cNvSpPr txBox="1"/>
            <p:nvPr/>
          </p:nvSpPr>
          <p:spPr>
            <a:xfrm>
              <a:off x="3744" y="1344"/>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5</a:t>
              </a:r>
              <a:endParaRPr lang="en-US" altLang="zh-CN" sz="2400" dirty="0">
                <a:solidFill>
                  <a:schemeClr val="tx1"/>
                </a:solidFill>
                <a:latin typeface="Times New Roman" panose="02020603050405020304" pitchFamily="18" charset="0"/>
              </a:endParaRPr>
            </a:p>
          </p:txBody>
        </p:sp>
        <p:sp>
          <p:nvSpPr>
            <p:cNvPr id="115761" name="Text Box 20"/>
            <p:cNvSpPr txBox="1"/>
            <p:nvPr/>
          </p:nvSpPr>
          <p:spPr>
            <a:xfrm>
              <a:off x="4128" y="1344"/>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2</a:t>
              </a:r>
              <a:endParaRPr lang="en-US" altLang="zh-CN" sz="2400" dirty="0">
                <a:solidFill>
                  <a:schemeClr val="tx1"/>
                </a:solidFill>
                <a:latin typeface="Times New Roman" panose="02020603050405020304" pitchFamily="18" charset="0"/>
              </a:endParaRPr>
            </a:p>
          </p:txBody>
        </p:sp>
        <p:sp>
          <p:nvSpPr>
            <p:cNvPr id="115762" name="Text Box 21"/>
            <p:cNvSpPr txBox="1"/>
            <p:nvPr/>
          </p:nvSpPr>
          <p:spPr>
            <a:xfrm>
              <a:off x="4848" y="1344"/>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4</a:t>
              </a:r>
              <a:endParaRPr lang="en-US" altLang="zh-CN" sz="2400" dirty="0">
                <a:solidFill>
                  <a:schemeClr val="tx1"/>
                </a:solidFill>
                <a:latin typeface="Times New Roman" panose="02020603050405020304" pitchFamily="18" charset="0"/>
              </a:endParaRPr>
            </a:p>
          </p:txBody>
        </p:sp>
      </p:grpSp>
      <p:sp>
        <p:nvSpPr>
          <p:cNvPr id="303126" name="Text Box 22"/>
          <p:cNvSpPr txBox="1"/>
          <p:nvPr/>
        </p:nvSpPr>
        <p:spPr>
          <a:xfrm>
            <a:off x="4629150" y="3143250"/>
            <a:ext cx="3962400" cy="457200"/>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WPL=</a:t>
            </a:r>
            <a:r>
              <a:rPr lang="en-US" altLang="zh-CN" sz="2400" dirty="0">
                <a:solidFill>
                  <a:schemeClr val="accent2"/>
                </a:solidFill>
                <a:latin typeface="Times New Roman" panose="02020603050405020304" pitchFamily="18" charset="0"/>
              </a:rPr>
              <a:t>7</a:t>
            </a:r>
            <a:r>
              <a:rPr lang="en-US" altLang="zh-CN" sz="2400" dirty="0">
                <a:solidFill>
                  <a:schemeClr val="tx1"/>
                </a:solidFill>
                <a:latin typeface="Times New Roman" panose="02020603050405020304" pitchFamily="18" charset="0"/>
              </a:rPr>
              <a:t>*2+</a:t>
            </a:r>
            <a:r>
              <a:rPr lang="en-US" altLang="zh-CN" sz="2400" dirty="0">
                <a:solidFill>
                  <a:schemeClr val="accent2"/>
                </a:solidFill>
                <a:latin typeface="Times New Roman" panose="02020603050405020304" pitchFamily="18" charset="0"/>
              </a:rPr>
              <a:t>5</a:t>
            </a:r>
            <a:r>
              <a:rPr lang="en-US" altLang="zh-CN" sz="2400" dirty="0">
                <a:solidFill>
                  <a:schemeClr val="tx1"/>
                </a:solidFill>
                <a:latin typeface="Times New Roman" panose="02020603050405020304" pitchFamily="18" charset="0"/>
              </a:rPr>
              <a:t>*2+</a:t>
            </a:r>
            <a:r>
              <a:rPr lang="en-US" altLang="zh-CN" sz="2400" dirty="0">
                <a:solidFill>
                  <a:schemeClr val="accent2"/>
                </a:solidFill>
                <a:latin typeface="Times New Roman" panose="02020603050405020304" pitchFamily="18" charset="0"/>
              </a:rPr>
              <a:t>2</a:t>
            </a:r>
            <a:r>
              <a:rPr lang="en-US" altLang="zh-CN" sz="2400" dirty="0">
                <a:solidFill>
                  <a:schemeClr val="tx1"/>
                </a:solidFill>
                <a:latin typeface="Times New Roman" panose="02020603050405020304" pitchFamily="18" charset="0"/>
              </a:rPr>
              <a:t>*2+</a:t>
            </a:r>
            <a:r>
              <a:rPr lang="en-US" altLang="zh-CN" sz="2400" dirty="0">
                <a:solidFill>
                  <a:schemeClr val="accent2"/>
                </a:solidFill>
                <a:latin typeface="Times New Roman" panose="02020603050405020304" pitchFamily="18" charset="0"/>
              </a:rPr>
              <a:t>4</a:t>
            </a:r>
            <a:r>
              <a:rPr lang="en-US" altLang="zh-CN" sz="2400" dirty="0">
                <a:solidFill>
                  <a:schemeClr val="tx1"/>
                </a:solidFill>
                <a:latin typeface="Times New Roman" panose="02020603050405020304" pitchFamily="18" charset="0"/>
              </a:rPr>
              <a:t>*2=36</a:t>
            </a:r>
            <a:endParaRPr lang="en-US" altLang="zh-CN" sz="2400" dirty="0">
              <a:solidFill>
                <a:schemeClr val="tx1"/>
              </a:solidFill>
              <a:latin typeface="Times New Roman" panose="02020603050405020304" pitchFamily="18" charset="0"/>
            </a:endParaRPr>
          </a:p>
        </p:txBody>
      </p:sp>
      <p:grpSp>
        <p:nvGrpSpPr>
          <p:cNvPr id="4" name="Group 23"/>
          <p:cNvGrpSpPr/>
          <p:nvPr/>
        </p:nvGrpSpPr>
        <p:grpSpPr>
          <a:xfrm>
            <a:off x="438150" y="1295400"/>
            <a:ext cx="3352800" cy="3276600"/>
            <a:chOff x="192" y="1776"/>
            <a:chExt cx="2112" cy="2064"/>
          </a:xfrm>
        </p:grpSpPr>
        <p:grpSp>
          <p:nvGrpSpPr>
            <p:cNvPr id="115740" name="Group 24"/>
            <p:cNvGrpSpPr/>
            <p:nvPr/>
          </p:nvGrpSpPr>
          <p:grpSpPr>
            <a:xfrm>
              <a:off x="192" y="1776"/>
              <a:ext cx="2112" cy="1776"/>
              <a:chOff x="192" y="1776"/>
              <a:chExt cx="2112" cy="1776"/>
            </a:xfrm>
          </p:grpSpPr>
          <p:sp>
            <p:nvSpPr>
              <p:cNvPr id="303129" name="Oval 25"/>
              <p:cNvSpPr>
                <a:spLocks noChangeArrowheads="1"/>
              </p:cNvSpPr>
              <p:nvPr/>
            </p:nvSpPr>
            <p:spPr bwMode="auto">
              <a:xfrm>
                <a:off x="1296" y="1776"/>
                <a:ext cx="240" cy="240"/>
              </a:xfrm>
              <a:prstGeom prst="ellipse">
                <a:avLst/>
              </a:prstGeom>
              <a:solidFill>
                <a:srgbClr val="FFCCFF"/>
              </a:solidFill>
              <a:ln w="19050">
                <a:solidFill>
                  <a:schemeClr val="accent2"/>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3130" name="Oval 26"/>
              <p:cNvSpPr>
                <a:spLocks noChangeArrowheads="1"/>
              </p:cNvSpPr>
              <p:nvPr/>
            </p:nvSpPr>
            <p:spPr bwMode="auto">
              <a:xfrm>
                <a:off x="816" y="2208"/>
                <a:ext cx="240" cy="240"/>
              </a:xfrm>
              <a:prstGeom prst="ellipse">
                <a:avLst/>
              </a:prstGeom>
              <a:solidFill>
                <a:srgbClr val="FFCCFF"/>
              </a:solidFill>
              <a:ln w="19050">
                <a:solidFill>
                  <a:schemeClr val="accent2"/>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5745" name="Oval 27"/>
              <p:cNvSpPr/>
              <p:nvPr/>
            </p:nvSpPr>
            <p:spPr>
              <a:xfrm>
                <a:off x="432" y="2736"/>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d</a:t>
                </a:r>
                <a:endParaRPr lang="en-US" altLang="zh-CN" sz="2400" dirty="0">
                  <a:solidFill>
                    <a:schemeClr val="tx1"/>
                  </a:solidFill>
                  <a:latin typeface="Times New Roman" panose="02020603050405020304" pitchFamily="18" charset="0"/>
                </a:endParaRPr>
              </a:p>
            </p:txBody>
          </p:sp>
          <p:sp>
            <p:nvSpPr>
              <p:cNvPr id="115746" name="Oval 28"/>
              <p:cNvSpPr/>
              <p:nvPr/>
            </p:nvSpPr>
            <p:spPr>
              <a:xfrm>
                <a:off x="1104" y="2736"/>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endParaRPr lang="zh-CN" altLang="zh-CN" sz="2400" dirty="0">
                  <a:solidFill>
                    <a:schemeClr val="tx1"/>
                  </a:solidFill>
                  <a:latin typeface="Times New Roman" panose="02020603050405020304" pitchFamily="18" charset="0"/>
                </a:endParaRPr>
              </a:p>
            </p:txBody>
          </p:sp>
          <p:sp>
            <p:nvSpPr>
              <p:cNvPr id="115747" name="Oval 29"/>
              <p:cNvSpPr/>
              <p:nvPr/>
            </p:nvSpPr>
            <p:spPr>
              <a:xfrm>
                <a:off x="1776" y="2208"/>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c</a:t>
                </a:r>
                <a:endParaRPr lang="en-US" altLang="zh-CN" sz="2400" dirty="0">
                  <a:solidFill>
                    <a:schemeClr val="tx1"/>
                  </a:solidFill>
                  <a:latin typeface="Times New Roman" panose="02020603050405020304" pitchFamily="18" charset="0"/>
                </a:endParaRPr>
              </a:p>
            </p:txBody>
          </p:sp>
          <p:cxnSp>
            <p:nvCxnSpPr>
              <p:cNvPr id="115748" name="AutoShape 30"/>
              <p:cNvCxnSpPr>
                <a:stCxn id="303129" idx="3"/>
                <a:endCxn id="303130" idx="7"/>
              </p:cNvCxnSpPr>
              <p:nvPr/>
            </p:nvCxnSpPr>
            <p:spPr>
              <a:xfrm flipH="1">
                <a:off x="1021" y="1987"/>
                <a:ext cx="310" cy="250"/>
              </a:xfrm>
              <a:prstGeom prst="straightConnector1">
                <a:avLst/>
              </a:prstGeom>
              <a:ln w="19050" cap="flat" cmpd="sng">
                <a:solidFill>
                  <a:schemeClr val="accent2"/>
                </a:solidFill>
                <a:prstDash val="solid"/>
                <a:headEnd type="none" w="med" len="med"/>
                <a:tailEnd type="none" w="med" len="med"/>
              </a:ln>
            </p:spPr>
          </p:cxnSp>
          <p:cxnSp>
            <p:nvCxnSpPr>
              <p:cNvPr id="115749" name="AutoShape 31"/>
              <p:cNvCxnSpPr>
                <a:stCxn id="303130" idx="3"/>
                <a:endCxn id="115745" idx="0"/>
              </p:cNvCxnSpPr>
              <p:nvPr/>
            </p:nvCxnSpPr>
            <p:spPr>
              <a:xfrm flipH="1">
                <a:off x="552" y="2419"/>
                <a:ext cx="299" cy="311"/>
              </a:xfrm>
              <a:prstGeom prst="straightConnector1">
                <a:avLst/>
              </a:prstGeom>
              <a:ln w="19050" cap="flat" cmpd="sng">
                <a:solidFill>
                  <a:schemeClr val="accent2"/>
                </a:solidFill>
                <a:prstDash val="solid"/>
                <a:headEnd type="none" w="med" len="med"/>
                <a:tailEnd type="none" w="med" len="med"/>
              </a:ln>
            </p:spPr>
          </p:cxnSp>
          <p:cxnSp>
            <p:nvCxnSpPr>
              <p:cNvPr id="115750" name="AutoShape 32"/>
              <p:cNvCxnSpPr>
                <a:stCxn id="303130" idx="5"/>
                <a:endCxn id="115746" idx="0"/>
              </p:cNvCxnSpPr>
              <p:nvPr/>
            </p:nvCxnSpPr>
            <p:spPr>
              <a:xfrm>
                <a:off x="1021" y="2419"/>
                <a:ext cx="203" cy="311"/>
              </a:xfrm>
              <a:prstGeom prst="straightConnector1">
                <a:avLst/>
              </a:prstGeom>
              <a:ln w="19050" cap="flat" cmpd="sng">
                <a:solidFill>
                  <a:schemeClr val="accent2"/>
                </a:solidFill>
                <a:prstDash val="solid"/>
                <a:headEnd type="none" w="med" len="med"/>
                <a:tailEnd type="none" w="med" len="med"/>
              </a:ln>
            </p:spPr>
          </p:cxnSp>
          <p:cxnSp>
            <p:nvCxnSpPr>
              <p:cNvPr id="115751" name="AutoShape 33"/>
              <p:cNvCxnSpPr>
                <a:stCxn id="303129" idx="5"/>
                <a:endCxn id="115747" idx="1"/>
              </p:cNvCxnSpPr>
              <p:nvPr/>
            </p:nvCxnSpPr>
            <p:spPr>
              <a:xfrm>
                <a:off x="1501" y="1987"/>
                <a:ext cx="310" cy="250"/>
              </a:xfrm>
              <a:prstGeom prst="straightConnector1">
                <a:avLst/>
              </a:prstGeom>
              <a:ln w="19050" cap="flat" cmpd="sng">
                <a:solidFill>
                  <a:schemeClr val="accent2"/>
                </a:solidFill>
                <a:prstDash val="solid"/>
                <a:headEnd type="none" w="med" len="med"/>
                <a:tailEnd type="none" w="med" len="med"/>
              </a:ln>
            </p:spPr>
          </p:cxnSp>
          <p:sp>
            <p:nvSpPr>
              <p:cNvPr id="115752" name="Oval 34"/>
              <p:cNvSpPr/>
              <p:nvPr/>
            </p:nvSpPr>
            <p:spPr>
              <a:xfrm>
                <a:off x="768" y="3312"/>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a</a:t>
                </a:r>
                <a:endParaRPr lang="en-US" altLang="zh-CN" sz="2400" dirty="0">
                  <a:solidFill>
                    <a:schemeClr val="tx1"/>
                  </a:solidFill>
                  <a:latin typeface="Times New Roman" panose="02020603050405020304" pitchFamily="18" charset="0"/>
                </a:endParaRPr>
              </a:p>
            </p:txBody>
          </p:sp>
          <p:cxnSp>
            <p:nvCxnSpPr>
              <p:cNvPr id="115753" name="AutoShape 35"/>
              <p:cNvCxnSpPr>
                <a:stCxn id="115746" idx="3"/>
                <a:endCxn id="115752" idx="0"/>
              </p:cNvCxnSpPr>
              <p:nvPr/>
            </p:nvCxnSpPr>
            <p:spPr>
              <a:xfrm flipH="1">
                <a:off x="888" y="2947"/>
                <a:ext cx="251" cy="359"/>
              </a:xfrm>
              <a:prstGeom prst="straightConnector1">
                <a:avLst/>
              </a:prstGeom>
              <a:ln w="19050" cap="flat" cmpd="sng">
                <a:solidFill>
                  <a:schemeClr val="accent2"/>
                </a:solidFill>
                <a:prstDash val="solid"/>
                <a:headEnd type="none" w="med" len="med"/>
                <a:tailEnd type="none" w="med" len="med"/>
              </a:ln>
            </p:spPr>
          </p:cxnSp>
          <p:sp>
            <p:nvSpPr>
              <p:cNvPr id="115754" name="Oval 36"/>
              <p:cNvSpPr/>
              <p:nvPr/>
            </p:nvSpPr>
            <p:spPr>
              <a:xfrm>
                <a:off x="1536" y="3312"/>
                <a:ext cx="240" cy="240"/>
              </a:xfrm>
              <a:prstGeom prst="ellipse">
                <a:avLst/>
              </a:prstGeom>
              <a:solidFill>
                <a:srgbClr val="FFCCFF"/>
              </a:solidFill>
              <a:ln w="19050" cap="flat" cmpd="sng">
                <a:solidFill>
                  <a:schemeClr val="accent2"/>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b</a:t>
                </a:r>
                <a:endParaRPr lang="en-US" altLang="zh-CN" sz="2400" dirty="0">
                  <a:solidFill>
                    <a:schemeClr val="tx1"/>
                  </a:solidFill>
                  <a:latin typeface="Times New Roman" panose="02020603050405020304" pitchFamily="18" charset="0"/>
                </a:endParaRPr>
              </a:p>
            </p:txBody>
          </p:sp>
          <p:cxnSp>
            <p:nvCxnSpPr>
              <p:cNvPr id="115755" name="AutoShape 37"/>
              <p:cNvCxnSpPr>
                <a:stCxn id="115746" idx="5"/>
                <a:endCxn id="115754" idx="0"/>
              </p:cNvCxnSpPr>
              <p:nvPr/>
            </p:nvCxnSpPr>
            <p:spPr>
              <a:xfrm>
                <a:off x="1309" y="2947"/>
                <a:ext cx="347" cy="359"/>
              </a:xfrm>
              <a:prstGeom prst="straightConnector1">
                <a:avLst/>
              </a:prstGeom>
              <a:ln w="19050" cap="flat" cmpd="sng">
                <a:solidFill>
                  <a:schemeClr val="accent2"/>
                </a:solidFill>
                <a:prstDash val="solid"/>
                <a:headEnd type="none" w="med" len="med"/>
                <a:tailEnd type="none" w="med" len="med"/>
              </a:ln>
            </p:spPr>
          </p:cxnSp>
          <p:sp>
            <p:nvSpPr>
              <p:cNvPr id="115756" name="Text Box 38"/>
              <p:cNvSpPr txBox="1"/>
              <p:nvPr/>
            </p:nvSpPr>
            <p:spPr>
              <a:xfrm>
                <a:off x="2064" y="2208"/>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2</a:t>
                </a:r>
                <a:endParaRPr lang="en-US" altLang="zh-CN" sz="2400" dirty="0">
                  <a:solidFill>
                    <a:schemeClr val="tx1"/>
                  </a:solidFill>
                  <a:latin typeface="Times New Roman" panose="02020603050405020304" pitchFamily="18" charset="0"/>
                </a:endParaRPr>
              </a:p>
            </p:txBody>
          </p:sp>
          <p:sp>
            <p:nvSpPr>
              <p:cNvPr id="115757" name="Text Box 39"/>
              <p:cNvSpPr txBox="1"/>
              <p:nvPr/>
            </p:nvSpPr>
            <p:spPr>
              <a:xfrm>
                <a:off x="192" y="2688"/>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4</a:t>
                </a:r>
                <a:endParaRPr lang="en-US" altLang="zh-CN" sz="2400" dirty="0">
                  <a:solidFill>
                    <a:schemeClr val="tx1"/>
                  </a:solidFill>
                  <a:latin typeface="Times New Roman" panose="02020603050405020304" pitchFamily="18" charset="0"/>
                </a:endParaRPr>
              </a:p>
            </p:txBody>
          </p:sp>
        </p:grpSp>
        <p:sp>
          <p:nvSpPr>
            <p:cNvPr id="115741" name="Text Box 40"/>
            <p:cNvSpPr txBox="1"/>
            <p:nvPr/>
          </p:nvSpPr>
          <p:spPr>
            <a:xfrm>
              <a:off x="768" y="3552"/>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7</a:t>
              </a:r>
              <a:endParaRPr lang="en-US" altLang="zh-CN" sz="2400" dirty="0">
                <a:solidFill>
                  <a:schemeClr val="tx1"/>
                </a:solidFill>
                <a:latin typeface="Times New Roman" panose="02020603050405020304" pitchFamily="18" charset="0"/>
              </a:endParaRPr>
            </a:p>
          </p:txBody>
        </p:sp>
        <p:sp>
          <p:nvSpPr>
            <p:cNvPr id="115742" name="Text Box 41"/>
            <p:cNvSpPr txBox="1"/>
            <p:nvPr/>
          </p:nvSpPr>
          <p:spPr>
            <a:xfrm>
              <a:off x="1536" y="3552"/>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5</a:t>
              </a:r>
              <a:endParaRPr lang="en-US" altLang="zh-CN" sz="2400" dirty="0">
                <a:solidFill>
                  <a:schemeClr val="tx1"/>
                </a:solidFill>
                <a:latin typeface="Times New Roman" panose="02020603050405020304" pitchFamily="18" charset="0"/>
              </a:endParaRPr>
            </a:p>
          </p:txBody>
        </p:sp>
      </p:grpSp>
      <p:sp>
        <p:nvSpPr>
          <p:cNvPr id="303146" name="Text Box 42"/>
          <p:cNvSpPr txBox="1"/>
          <p:nvPr/>
        </p:nvSpPr>
        <p:spPr>
          <a:xfrm>
            <a:off x="0" y="5086350"/>
            <a:ext cx="3886200" cy="457200"/>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WPL=</a:t>
            </a:r>
            <a:r>
              <a:rPr lang="en-US" altLang="zh-CN" sz="2400" dirty="0">
                <a:solidFill>
                  <a:schemeClr val="accent2"/>
                </a:solidFill>
                <a:latin typeface="Times New Roman" panose="02020603050405020304" pitchFamily="18" charset="0"/>
              </a:rPr>
              <a:t>7</a:t>
            </a:r>
            <a:r>
              <a:rPr lang="en-US" altLang="zh-CN" sz="2400" dirty="0">
                <a:solidFill>
                  <a:schemeClr val="tx1"/>
                </a:solidFill>
                <a:latin typeface="Times New Roman" panose="02020603050405020304" pitchFamily="18" charset="0"/>
              </a:rPr>
              <a:t>*3+</a:t>
            </a:r>
            <a:r>
              <a:rPr lang="en-US" altLang="zh-CN" sz="2400" dirty="0">
                <a:solidFill>
                  <a:schemeClr val="accent2"/>
                </a:solidFill>
                <a:latin typeface="Times New Roman" panose="02020603050405020304" pitchFamily="18" charset="0"/>
              </a:rPr>
              <a:t>5</a:t>
            </a:r>
            <a:r>
              <a:rPr lang="en-US" altLang="zh-CN" sz="2400" dirty="0">
                <a:solidFill>
                  <a:schemeClr val="tx1"/>
                </a:solidFill>
                <a:latin typeface="Times New Roman" panose="02020603050405020304" pitchFamily="18" charset="0"/>
              </a:rPr>
              <a:t>*3+</a:t>
            </a:r>
            <a:r>
              <a:rPr lang="en-US" altLang="zh-CN" sz="2400" dirty="0">
                <a:solidFill>
                  <a:schemeClr val="accent2"/>
                </a:solidFill>
                <a:latin typeface="Times New Roman" panose="02020603050405020304" pitchFamily="18" charset="0"/>
              </a:rPr>
              <a:t>2</a:t>
            </a:r>
            <a:r>
              <a:rPr lang="en-US" altLang="zh-CN" sz="2400" dirty="0">
                <a:solidFill>
                  <a:schemeClr val="tx1"/>
                </a:solidFill>
                <a:latin typeface="Times New Roman" panose="02020603050405020304" pitchFamily="18" charset="0"/>
              </a:rPr>
              <a:t>*1+</a:t>
            </a:r>
            <a:r>
              <a:rPr lang="en-US" altLang="zh-CN" sz="2400" dirty="0">
                <a:solidFill>
                  <a:schemeClr val="accent2"/>
                </a:solidFill>
                <a:latin typeface="Times New Roman" panose="02020603050405020304" pitchFamily="18" charset="0"/>
              </a:rPr>
              <a:t>4</a:t>
            </a:r>
            <a:r>
              <a:rPr lang="en-US" altLang="zh-CN" sz="2400" dirty="0">
                <a:solidFill>
                  <a:schemeClr val="tx1"/>
                </a:solidFill>
                <a:latin typeface="Times New Roman" panose="02020603050405020304" pitchFamily="18" charset="0"/>
              </a:rPr>
              <a:t>*2=46</a:t>
            </a:r>
            <a:endParaRPr lang="en-US" altLang="zh-CN" sz="2400" dirty="0">
              <a:solidFill>
                <a:schemeClr val="tx1"/>
              </a:solidFill>
              <a:latin typeface="Times New Roman" panose="02020603050405020304" pitchFamily="18" charset="0"/>
            </a:endParaRPr>
          </a:p>
        </p:txBody>
      </p:sp>
      <p:grpSp>
        <p:nvGrpSpPr>
          <p:cNvPr id="6" name="Group 43"/>
          <p:cNvGrpSpPr/>
          <p:nvPr/>
        </p:nvGrpSpPr>
        <p:grpSpPr>
          <a:xfrm>
            <a:off x="4476750" y="3695700"/>
            <a:ext cx="3886200" cy="2743200"/>
            <a:chOff x="2880" y="1968"/>
            <a:chExt cx="2448" cy="1728"/>
          </a:xfrm>
        </p:grpSpPr>
        <p:sp>
          <p:nvSpPr>
            <p:cNvPr id="303148" name="Oval 44"/>
            <p:cNvSpPr>
              <a:spLocks noChangeArrowheads="1"/>
            </p:cNvSpPr>
            <p:nvPr/>
          </p:nvSpPr>
          <p:spPr bwMode="auto">
            <a:xfrm>
              <a:off x="3600" y="1968"/>
              <a:ext cx="240" cy="240"/>
            </a:xfrm>
            <a:prstGeom prst="ellipse">
              <a:avLst/>
            </a:prstGeom>
            <a:solidFill>
              <a:srgbClr val="66CCFF"/>
            </a:solidFill>
            <a:ln w="19050">
              <a:solidFill>
                <a:srgbClr val="FF33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5724" name="Oval 45"/>
            <p:cNvSpPr/>
            <p:nvPr/>
          </p:nvSpPr>
          <p:spPr>
            <a:xfrm>
              <a:off x="3120" y="2400"/>
              <a:ext cx="240" cy="240"/>
            </a:xfrm>
            <a:prstGeom prst="ellipse">
              <a:avLst/>
            </a:prstGeom>
            <a:solidFill>
              <a:srgbClr val="66CCFF"/>
            </a:solidFill>
            <a:ln w="19050" cap="flat" cmpd="sng">
              <a:solidFill>
                <a:srgbClr val="FF3300"/>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a</a:t>
              </a:r>
              <a:endParaRPr lang="en-US" altLang="zh-CN" sz="2400" dirty="0">
                <a:solidFill>
                  <a:schemeClr val="tx1"/>
                </a:solidFill>
                <a:latin typeface="Times New Roman" panose="02020603050405020304" pitchFamily="18" charset="0"/>
              </a:endParaRPr>
            </a:p>
          </p:txBody>
        </p:sp>
        <p:sp>
          <p:nvSpPr>
            <p:cNvPr id="303150" name="Oval 46"/>
            <p:cNvSpPr>
              <a:spLocks noChangeArrowheads="1"/>
            </p:cNvSpPr>
            <p:nvPr/>
          </p:nvSpPr>
          <p:spPr bwMode="auto">
            <a:xfrm>
              <a:off x="4080" y="2400"/>
              <a:ext cx="240" cy="240"/>
            </a:xfrm>
            <a:prstGeom prst="ellipse">
              <a:avLst/>
            </a:prstGeom>
            <a:solidFill>
              <a:srgbClr val="66CCFF"/>
            </a:solidFill>
            <a:ln w="19050">
              <a:solidFill>
                <a:srgbClr val="FF33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5726" name="Oval 47"/>
            <p:cNvSpPr/>
            <p:nvPr/>
          </p:nvSpPr>
          <p:spPr>
            <a:xfrm>
              <a:off x="3744" y="2928"/>
              <a:ext cx="240" cy="240"/>
            </a:xfrm>
            <a:prstGeom prst="ellipse">
              <a:avLst/>
            </a:prstGeom>
            <a:solidFill>
              <a:srgbClr val="66CCFF"/>
            </a:solidFill>
            <a:ln w="19050" cap="flat" cmpd="sng">
              <a:solidFill>
                <a:srgbClr val="FF3300"/>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b</a:t>
              </a:r>
              <a:endParaRPr lang="en-US" altLang="zh-CN" sz="2400" dirty="0">
                <a:solidFill>
                  <a:schemeClr val="tx1"/>
                </a:solidFill>
                <a:latin typeface="Times New Roman" panose="02020603050405020304" pitchFamily="18" charset="0"/>
              </a:endParaRPr>
            </a:p>
          </p:txBody>
        </p:sp>
        <p:sp>
          <p:nvSpPr>
            <p:cNvPr id="115727" name="Oval 48"/>
            <p:cNvSpPr/>
            <p:nvPr/>
          </p:nvSpPr>
          <p:spPr>
            <a:xfrm>
              <a:off x="4464" y="2928"/>
              <a:ext cx="240" cy="240"/>
            </a:xfrm>
            <a:prstGeom prst="ellipse">
              <a:avLst/>
            </a:prstGeom>
            <a:solidFill>
              <a:srgbClr val="66CCFF"/>
            </a:solidFill>
            <a:ln w="19050" cap="flat" cmpd="sng">
              <a:solidFill>
                <a:srgbClr val="FF3300"/>
              </a:solidFill>
              <a:prstDash val="solid"/>
              <a:headEnd type="none" w="med" len="med"/>
              <a:tailEnd type="none" w="med" len="med"/>
            </a:ln>
          </p:spPr>
          <p:txBody>
            <a:bodyPr wrap="none" anchor="ctr" anchorCtr="0"/>
            <a:p>
              <a:pPr algn="ctr"/>
              <a:endParaRPr lang="zh-CN" altLang="zh-CN" sz="2400" dirty="0">
                <a:solidFill>
                  <a:schemeClr val="tx1"/>
                </a:solidFill>
                <a:latin typeface="Times New Roman" panose="02020603050405020304" pitchFamily="18" charset="0"/>
              </a:endParaRPr>
            </a:p>
          </p:txBody>
        </p:sp>
        <p:cxnSp>
          <p:nvCxnSpPr>
            <p:cNvPr id="115728" name="AutoShape 49"/>
            <p:cNvCxnSpPr>
              <a:stCxn id="303148" idx="3"/>
              <a:endCxn id="115724" idx="7"/>
            </p:cNvCxnSpPr>
            <p:nvPr/>
          </p:nvCxnSpPr>
          <p:spPr>
            <a:xfrm flipH="1">
              <a:off x="3325" y="2179"/>
              <a:ext cx="310" cy="250"/>
            </a:xfrm>
            <a:prstGeom prst="straightConnector1">
              <a:avLst/>
            </a:prstGeom>
            <a:ln w="19050" cap="flat" cmpd="sng">
              <a:solidFill>
                <a:srgbClr val="FF3300"/>
              </a:solidFill>
              <a:prstDash val="solid"/>
              <a:headEnd type="none" w="med" len="med"/>
              <a:tailEnd type="none" w="med" len="med"/>
            </a:ln>
          </p:spPr>
        </p:cxnSp>
        <p:cxnSp>
          <p:nvCxnSpPr>
            <p:cNvPr id="115729" name="AutoShape 50"/>
            <p:cNvCxnSpPr>
              <a:stCxn id="303148" idx="5"/>
              <a:endCxn id="303150" idx="1"/>
            </p:cNvCxnSpPr>
            <p:nvPr/>
          </p:nvCxnSpPr>
          <p:spPr>
            <a:xfrm>
              <a:off x="3805" y="2179"/>
              <a:ext cx="310" cy="250"/>
            </a:xfrm>
            <a:prstGeom prst="straightConnector1">
              <a:avLst/>
            </a:prstGeom>
            <a:ln w="19050" cap="flat" cmpd="sng">
              <a:solidFill>
                <a:srgbClr val="FF3300"/>
              </a:solidFill>
              <a:prstDash val="solid"/>
              <a:headEnd type="none" w="med" len="med"/>
              <a:tailEnd type="none" w="med" len="med"/>
            </a:ln>
          </p:spPr>
        </p:cxnSp>
        <p:cxnSp>
          <p:nvCxnSpPr>
            <p:cNvPr id="115730" name="AutoShape 51"/>
            <p:cNvCxnSpPr>
              <a:stCxn id="303150" idx="3"/>
              <a:endCxn id="115726" idx="0"/>
            </p:cNvCxnSpPr>
            <p:nvPr/>
          </p:nvCxnSpPr>
          <p:spPr>
            <a:xfrm flipH="1">
              <a:off x="3864" y="2611"/>
              <a:ext cx="251" cy="311"/>
            </a:xfrm>
            <a:prstGeom prst="straightConnector1">
              <a:avLst/>
            </a:prstGeom>
            <a:ln w="19050" cap="flat" cmpd="sng">
              <a:solidFill>
                <a:srgbClr val="FF3300"/>
              </a:solidFill>
              <a:prstDash val="solid"/>
              <a:headEnd type="none" w="med" len="med"/>
              <a:tailEnd type="none" w="med" len="med"/>
            </a:ln>
          </p:spPr>
        </p:cxnSp>
        <p:cxnSp>
          <p:nvCxnSpPr>
            <p:cNvPr id="115731" name="AutoShape 52"/>
            <p:cNvCxnSpPr>
              <a:stCxn id="303150" idx="5"/>
              <a:endCxn id="115727" idx="0"/>
            </p:cNvCxnSpPr>
            <p:nvPr/>
          </p:nvCxnSpPr>
          <p:spPr>
            <a:xfrm>
              <a:off x="4285" y="2611"/>
              <a:ext cx="299" cy="311"/>
            </a:xfrm>
            <a:prstGeom prst="straightConnector1">
              <a:avLst/>
            </a:prstGeom>
            <a:ln w="19050" cap="flat" cmpd="sng">
              <a:solidFill>
                <a:srgbClr val="FF3300"/>
              </a:solidFill>
              <a:prstDash val="solid"/>
              <a:headEnd type="none" w="med" len="med"/>
              <a:tailEnd type="none" w="med" len="med"/>
            </a:ln>
          </p:spPr>
        </p:cxnSp>
        <p:sp>
          <p:nvSpPr>
            <p:cNvPr id="115732" name="Oval 53"/>
            <p:cNvSpPr/>
            <p:nvPr/>
          </p:nvSpPr>
          <p:spPr>
            <a:xfrm>
              <a:off x="4128" y="3456"/>
              <a:ext cx="240" cy="240"/>
            </a:xfrm>
            <a:prstGeom prst="ellipse">
              <a:avLst/>
            </a:prstGeom>
            <a:solidFill>
              <a:srgbClr val="66CCFF"/>
            </a:solidFill>
            <a:ln w="19050" cap="flat" cmpd="sng">
              <a:solidFill>
                <a:srgbClr val="FF3300"/>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c</a:t>
              </a:r>
              <a:endParaRPr lang="en-US" altLang="zh-CN" sz="2400" dirty="0">
                <a:solidFill>
                  <a:schemeClr val="tx1"/>
                </a:solidFill>
                <a:latin typeface="Times New Roman" panose="02020603050405020304" pitchFamily="18" charset="0"/>
              </a:endParaRPr>
            </a:p>
          </p:txBody>
        </p:sp>
        <p:cxnSp>
          <p:nvCxnSpPr>
            <p:cNvPr id="115733" name="AutoShape 54"/>
            <p:cNvCxnSpPr>
              <a:stCxn id="303150" idx="5"/>
              <a:endCxn id="115732" idx="0"/>
            </p:cNvCxnSpPr>
            <p:nvPr/>
          </p:nvCxnSpPr>
          <p:spPr>
            <a:xfrm flipH="1">
              <a:off x="4248" y="3127"/>
              <a:ext cx="251" cy="323"/>
            </a:xfrm>
            <a:prstGeom prst="straightConnector1">
              <a:avLst/>
            </a:prstGeom>
            <a:ln w="19050" cap="flat" cmpd="sng">
              <a:solidFill>
                <a:srgbClr val="FF3300"/>
              </a:solidFill>
              <a:prstDash val="solid"/>
              <a:headEnd type="none" w="med" len="med"/>
              <a:tailEnd type="none" w="med" len="med"/>
            </a:ln>
          </p:spPr>
        </p:cxnSp>
        <p:sp>
          <p:nvSpPr>
            <p:cNvPr id="115734" name="Oval 55"/>
            <p:cNvSpPr/>
            <p:nvPr/>
          </p:nvSpPr>
          <p:spPr>
            <a:xfrm>
              <a:off x="4800" y="3456"/>
              <a:ext cx="240" cy="240"/>
            </a:xfrm>
            <a:prstGeom prst="ellipse">
              <a:avLst/>
            </a:prstGeom>
            <a:solidFill>
              <a:srgbClr val="66CCFF"/>
            </a:solidFill>
            <a:ln w="19050" cap="flat" cmpd="sng">
              <a:solidFill>
                <a:srgbClr val="FF3300"/>
              </a:solidFill>
              <a:prstDash val="solid"/>
              <a:headEnd type="none" w="med" len="med"/>
              <a:tailEnd type="none" w="med" len="med"/>
            </a:ln>
          </p:spPr>
          <p:txBody>
            <a:bodyPr wrap="none" anchor="ctr" anchorCtr="0"/>
            <a:p>
              <a:pPr algn="ctr"/>
              <a:r>
                <a:rPr lang="en-US" altLang="zh-CN" sz="2400" dirty="0">
                  <a:solidFill>
                    <a:schemeClr val="tx1"/>
                  </a:solidFill>
                  <a:latin typeface="Times New Roman" panose="02020603050405020304" pitchFamily="18" charset="0"/>
                </a:rPr>
                <a:t>d</a:t>
              </a:r>
              <a:endParaRPr lang="en-US" altLang="zh-CN" sz="2400" dirty="0">
                <a:solidFill>
                  <a:schemeClr val="tx1"/>
                </a:solidFill>
                <a:latin typeface="Times New Roman" panose="02020603050405020304" pitchFamily="18" charset="0"/>
              </a:endParaRPr>
            </a:p>
          </p:txBody>
        </p:sp>
        <p:cxnSp>
          <p:nvCxnSpPr>
            <p:cNvPr id="115735" name="AutoShape 56"/>
            <p:cNvCxnSpPr>
              <a:stCxn id="115727" idx="5"/>
              <a:endCxn id="115734" idx="0"/>
            </p:cNvCxnSpPr>
            <p:nvPr/>
          </p:nvCxnSpPr>
          <p:spPr>
            <a:xfrm>
              <a:off x="4669" y="3139"/>
              <a:ext cx="251" cy="311"/>
            </a:xfrm>
            <a:prstGeom prst="straightConnector1">
              <a:avLst/>
            </a:prstGeom>
            <a:ln w="19050" cap="flat" cmpd="sng">
              <a:solidFill>
                <a:srgbClr val="FF3300"/>
              </a:solidFill>
              <a:prstDash val="solid"/>
              <a:headEnd type="none" w="med" len="med"/>
              <a:tailEnd type="none" w="med" len="med"/>
            </a:ln>
          </p:spPr>
        </p:cxnSp>
        <p:sp>
          <p:nvSpPr>
            <p:cNvPr id="115736" name="Text Box 57"/>
            <p:cNvSpPr txBox="1"/>
            <p:nvPr/>
          </p:nvSpPr>
          <p:spPr>
            <a:xfrm>
              <a:off x="2880" y="2352"/>
              <a:ext cx="240" cy="288"/>
            </a:xfrm>
            <a:prstGeom prst="rect">
              <a:avLst/>
            </a:prstGeom>
            <a:noFill/>
            <a:ln w="19050">
              <a:noFill/>
            </a:ln>
          </p:spPr>
          <p:txBody>
            <a:bodyPr>
              <a:spAutoFit/>
            </a:bodyPr>
            <a:p>
              <a:pPr algn="ctr">
                <a:spcBef>
                  <a:spcPct val="50000"/>
                </a:spcBef>
              </a:pPr>
              <a:r>
                <a:rPr lang="en-US" altLang="zh-CN" sz="2400" dirty="0">
                  <a:solidFill>
                    <a:schemeClr val="tx1"/>
                  </a:solidFill>
                  <a:latin typeface="Times New Roman" panose="02020603050405020304" pitchFamily="18" charset="0"/>
                </a:rPr>
                <a:t>7</a:t>
              </a:r>
              <a:endParaRPr lang="en-US" altLang="zh-CN" sz="2400" dirty="0">
                <a:solidFill>
                  <a:schemeClr val="tx1"/>
                </a:solidFill>
                <a:latin typeface="Times New Roman" panose="02020603050405020304" pitchFamily="18" charset="0"/>
              </a:endParaRPr>
            </a:p>
          </p:txBody>
        </p:sp>
        <p:sp>
          <p:nvSpPr>
            <p:cNvPr id="115737" name="Text Box 58"/>
            <p:cNvSpPr txBox="1"/>
            <p:nvPr/>
          </p:nvSpPr>
          <p:spPr>
            <a:xfrm>
              <a:off x="3456" y="2928"/>
              <a:ext cx="240" cy="288"/>
            </a:xfrm>
            <a:prstGeom prst="rect">
              <a:avLst/>
            </a:prstGeom>
            <a:noFill/>
            <a:ln w="19050">
              <a:noFill/>
            </a:ln>
          </p:spPr>
          <p:txBody>
            <a:bodyPr>
              <a:spAutoFit/>
            </a:bodyPr>
            <a:p>
              <a:pPr algn="ctr">
                <a:spcBef>
                  <a:spcPct val="50000"/>
                </a:spcBef>
              </a:pPr>
              <a:r>
                <a:rPr lang="en-US" altLang="zh-CN" sz="2400" dirty="0">
                  <a:solidFill>
                    <a:schemeClr val="tx1"/>
                  </a:solidFill>
                  <a:latin typeface="Times New Roman" panose="02020603050405020304" pitchFamily="18" charset="0"/>
                </a:rPr>
                <a:t>5</a:t>
              </a:r>
              <a:endParaRPr lang="en-US" altLang="zh-CN" sz="2400" dirty="0">
                <a:solidFill>
                  <a:schemeClr val="tx1"/>
                </a:solidFill>
                <a:latin typeface="Times New Roman" panose="02020603050405020304" pitchFamily="18" charset="0"/>
              </a:endParaRPr>
            </a:p>
          </p:txBody>
        </p:sp>
        <p:sp>
          <p:nvSpPr>
            <p:cNvPr id="115738" name="Text Box 59"/>
            <p:cNvSpPr txBox="1"/>
            <p:nvPr/>
          </p:nvSpPr>
          <p:spPr>
            <a:xfrm>
              <a:off x="3792" y="3408"/>
              <a:ext cx="240" cy="288"/>
            </a:xfrm>
            <a:prstGeom prst="rect">
              <a:avLst/>
            </a:prstGeom>
            <a:noFill/>
            <a:ln w="19050">
              <a:noFill/>
            </a:ln>
          </p:spPr>
          <p:txBody>
            <a:bodyPr>
              <a:spAutoFit/>
            </a:bodyPr>
            <a:p>
              <a:pPr algn="ctr">
                <a:spcBef>
                  <a:spcPct val="50000"/>
                </a:spcBef>
              </a:pPr>
              <a:r>
                <a:rPr lang="en-US" altLang="zh-CN" sz="2400" dirty="0">
                  <a:solidFill>
                    <a:schemeClr val="tx1"/>
                  </a:solidFill>
                  <a:latin typeface="Times New Roman" panose="02020603050405020304" pitchFamily="18" charset="0"/>
                </a:rPr>
                <a:t>2</a:t>
              </a:r>
              <a:endParaRPr lang="en-US" altLang="zh-CN" sz="2400" dirty="0">
                <a:solidFill>
                  <a:schemeClr val="tx1"/>
                </a:solidFill>
                <a:latin typeface="Times New Roman" panose="02020603050405020304" pitchFamily="18" charset="0"/>
              </a:endParaRPr>
            </a:p>
          </p:txBody>
        </p:sp>
        <p:sp>
          <p:nvSpPr>
            <p:cNvPr id="115739" name="Text Box 60"/>
            <p:cNvSpPr txBox="1"/>
            <p:nvPr/>
          </p:nvSpPr>
          <p:spPr>
            <a:xfrm>
              <a:off x="5088" y="3408"/>
              <a:ext cx="240" cy="288"/>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4</a:t>
              </a:r>
              <a:endParaRPr lang="en-US" altLang="zh-CN" sz="2400" dirty="0">
                <a:solidFill>
                  <a:schemeClr val="tx1"/>
                </a:solidFill>
                <a:latin typeface="Times New Roman" panose="02020603050405020304" pitchFamily="18" charset="0"/>
              </a:endParaRPr>
            </a:p>
          </p:txBody>
        </p:sp>
      </p:grpSp>
      <p:sp>
        <p:nvSpPr>
          <p:cNvPr id="303165" name="Text Box 61"/>
          <p:cNvSpPr txBox="1"/>
          <p:nvPr/>
        </p:nvSpPr>
        <p:spPr>
          <a:xfrm>
            <a:off x="4876800" y="6400800"/>
            <a:ext cx="3886200" cy="457200"/>
          </a:xfrm>
          <a:prstGeom prst="rect">
            <a:avLst/>
          </a:prstGeom>
          <a:noFill/>
          <a:ln w="9525">
            <a:noFill/>
          </a:ln>
        </p:spPr>
        <p:txBody>
          <a:bodyPr>
            <a:spAutoFit/>
          </a:bodyPr>
          <a:p>
            <a:pPr algn="ctr">
              <a:spcBef>
                <a:spcPct val="50000"/>
              </a:spcBef>
            </a:pPr>
            <a:r>
              <a:rPr lang="en-US" altLang="zh-CN" sz="2400" dirty="0">
                <a:solidFill>
                  <a:schemeClr val="tx1"/>
                </a:solidFill>
                <a:latin typeface="Times New Roman" panose="02020603050405020304" pitchFamily="18" charset="0"/>
              </a:rPr>
              <a:t>WPL=</a:t>
            </a:r>
            <a:r>
              <a:rPr lang="en-US" altLang="zh-CN" sz="2400" dirty="0">
                <a:solidFill>
                  <a:schemeClr val="accent2"/>
                </a:solidFill>
                <a:latin typeface="Times New Roman" panose="02020603050405020304" pitchFamily="18" charset="0"/>
              </a:rPr>
              <a:t>7</a:t>
            </a:r>
            <a:r>
              <a:rPr lang="en-US" altLang="zh-CN" sz="2400" dirty="0">
                <a:solidFill>
                  <a:schemeClr val="tx1"/>
                </a:solidFill>
                <a:latin typeface="Times New Roman" panose="02020603050405020304" pitchFamily="18" charset="0"/>
              </a:rPr>
              <a:t>*1+</a:t>
            </a:r>
            <a:r>
              <a:rPr lang="en-US" altLang="zh-CN" sz="2400" dirty="0">
                <a:solidFill>
                  <a:schemeClr val="accent2"/>
                </a:solidFill>
                <a:latin typeface="Times New Roman" panose="02020603050405020304" pitchFamily="18" charset="0"/>
              </a:rPr>
              <a:t>5</a:t>
            </a:r>
            <a:r>
              <a:rPr lang="en-US" altLang="zh-CN" sz="2400" dirty="0">
                <a:solidFill>
                  <a:schemeClr val="tx1"/>
                </a:solidFill>
                <a:latin typeface="Times New Roman" panose="02020603050405020304" pitchFamily="18" charset="0"/>
              </a:rPr>
              <a:t>*2+</a:t>
            </a:r>
            <a:r>
              <a:rPr lang="en-US" altLang="zh-CN" sz="2400" dirty="0">
                <a:solidFill>
                  <a:schemeClr val="accent2"/>
                </a:solidFill>
                <a:latin typeface="Times New Roman" panose="02020603050405020304" pitchFamily="18" charset="0"/>
              </a:rPr>
              <a:t>2</a:t>
            </a:r>
            <a:r>
              <a:rPr lang="en-US" altLang="zh-CN" sz="2400" dirty="0">
                <a:solidFill>
                  <a:schemeClr val="tx1"/>
                </a:solidFill>
                <a:latin typeface="Times New Roman" panose="02020603050405020304" pitchFamily="18" charset="0"/>
              </a:rPr>
              <a:t>*3+</a:t>
            </a:r>
            <a:r>
              <a:rPr lang="en-US" altLang="zh-CN" sz="2400" dirty="0">
                <a:solidFill>
                  <a:schemeClr val="accent2"/>
                </a:solidFill>
                <a:latin typeface="Times New Roman" panose="02020603050405020304" pitchFamily="18" charset="0"/>
              </a:rPr>
              <a:t>4</a:t>
            </a:r>
            <a:r>
              <a:rPr lang="en-US" altLang="zh-CN" sz="2400" dirty="0">
                <a:solidFill>
                  <a:schemeClr val="tx1"/>
                </a:solidFill>
                <a:latin typeface="Times New Roman" panose="02020603050405020304" pitchFamily="18" charset="0"/>
              </a:rPr>
              <a:t>*3=35</a:t>
            </a:r>
            <a:endParaRPr lang="en-US" altLang="zh-CN" sz="2400" dirty="0">
              <a:solidFill>
                <a:schemeClr val="tx1"/>
              </a:solidFill>
              <a:latin typeface="Times New Roman" panose="02020603050405020304" pitchFamily="18" charset="0"/>
            </a:endParaRPr>
          </a:p>
        </p:txBody>
      </p:sp>
      <p:sp>
        <p:nvSpPr>
          <p:cNvPr id="115721" name="Text Box 62"/>
          <p:cNvSpPr txBox="1"/>
          <p:nvPr/>
        </p:nvSpPr>
        <p:spPr>
          <a:xfrm>
            <a:off x="2574925" y="2049463"/>
            <a:ext cx="184150" cy="396875"/>
          </a:xfrm>
          <a:prstGeom prst="rect">
            <a:avLst/>
          </a:prstGeom>
          <a:noFill/>
          <a:ln w="9525">
            <a:noFill/>
          </a:ln>
        </p:spPr>
        <p:txBody>
          <a:bodyPr>
            <a:spAutoFit/>
          </a:bodyPr>
          <a:p>
            <a:pPr>
              <a:spcBef>
                <a:spcPct val="50000"/>
              </a:spcBef>
            </a:pPr>
            <a:endParaRPr lang="zh-CN" altLang="zh-CN" dirty="0">
              <a:solidFill>
                <a:schemeClr val="tx1"/>
              </a:solidFill>
              <a:latin typeface="Times New Roman" panose="02020603050405020304" pitchFamily="18" charset="0"/>
            </a:endParaRPr>
          </a:p>
        </p:txBody>
      </p:sp>
      <p:graphicFrame>
        <p:nvGraphicFramePr>
          <p:cNvPr id="303167" name="Object 63"/>
          <p:cNvGraphicFramePr/>
          <p:nvPr/>
        </p:nvGraphicFramePr>
        <p:xfrm>
          <a:off x="3373438" y="762000"/>
          <a:ext cx="1608137" cy="742950"/>
        </p:xfrm>
        <a:graphic>
          <a:graphicData uri="http://schemas.openxmlformats.org/presentationml/2006/ole">
            <mc:AlternateContent xmlns:mc="http://schemas.openxmlformats.org/markup-compatibility/2006">
              <mc:Choice xmlns:v="urn:schemas-microsoft-com:vml" Requires="v">
                <p:oleObj spid="_x0000_s3077" name="" r:id="rId1" imgW="1040765" imgH="431800" progId="Equation.3">
                  <p:embed/>
                </p:oleObj>
              </mc:Choice>
              <mc:Fallback>
                <p:oleObj name="" r:id="rId1" imgW="1040765" imgH="431800" progId="Equation.3">
                  <p:embed/>
                  <p:pic>
                    <p:nvPicPr>
                      <p:cNvPr id="0" name="20 3076"/>
                      <p:cNvPicPr/>
                      <p:nvPr/>
                    </p:nvPicPr>
                    <p:blipFill>
                      <a:blip r:embed="rId2"/>
                      <a:stretch>
                        <a:fillRect/>
                      </a:stretch>
                    </p:blipFill>
                    <p:spPr>
                      <a:xfrm>
                        <a:off x="3373438" y="762000"/>
                        <a:ext cx="1608137" cy="7429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3106">
                                            <p:txEl>
                                              <p:charRg st="0" end="35"/>
                                            </p:txEl>
                                          </p:spTgt>
                                        </p:tgtEl>
                                        <p:attrNameLst>
                                          <p:attrName>style.visibility</p:attrName>
                                        </p:attrNameLst>
                                      </p:cBhvr>
                                      <p:to>
                                        <p:strVal val="visible"/>
                                      </p:to>
                                    </p:set>
                                    <p:animEffect transition="in" filter="box(out)">
                                      <p:cBhvr>
                                        <p:cTn id="7" dur="500"/>
                                        <p:tgtEl>
                                          <p:spTgt spid="303106">
                                            <p:txEl>
                                              <p:charRg st="0" end="35"/>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03167"/>
                                        </p:tgtEl>
                                        <p:attrNameLst>
                                          <p:attrName>style.visibility</p:attrName>
                                        </p:attrNameLst>
                                      </p:cBhvr>
                                      <p:to>
                                        <p:strVal val="visible"/>
                                      </p:to>
                                    </p:set>
                                    <p:animEffect transition="in" filter="box(out)">
                                      <p:cBhvr>
                                        <p:cTn id="12" dur="500"/>
                                        <p:tgtEl>
                                          <p:spTgt spid="30316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out)">
                                      <p:cBhvr>
                                        <p:cTn id="22" dur="500"/>
                                        <p:tgtEl>
                                          <p:spTgt spid="4"/>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500"/>
                                        <p:tgtEl>
                                          <p:spTgt spid="6"/>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03126">
                                            <p:txEl>
                                              <p:charRg st="0" end="23"/>
                                            </p:txEl>
                                          </p:spTgt>
                                        </p:tgtEl>
                                        <p:attrNameLst>
                                          <p:attrName>style.visibility</p:attrName>
                                        </p:attrNameLst>
                                      </p:cBhvr>
                                      <p:to>
                                        <p:strVal val="visible"/>
                                      </p:to>
                                    </p:set>
                                    <p:animEffect transition="in" filter="box(out)">
                                      <p:cBhvr>
                                        <p:cTn id="32" dur="500"/>
                                        <p:tgtEl>
                                          <p:spTgt spid="303126">
                                            <p:txEl>
                                              <p:charRg st="0" end="23"/>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03146">
                                            <p:txEl>
                                              <p:charRg st="0" end="23"/>
                                            </p:txEl>
                                          </p:spTgt>
                                        </p:tgtEl>
                                        <p:attrNameLst>
                                          <p:attrName>style.visibility</p:attrName>
                                        </p:attrNameLst>
                                      </p:cBhvr>
                                      <p:to>
                                        <p:strVal val="visible"/>
                                      </p:to>
                                    </p:set>
                                    <p:animEffect transition="in" filter="box(out)">
                                      <p:cBhvr>
                                        <p:cTn id="37" dur="500"/>
                                        <p:tgtEl>
                                          <p:spTgt spid="303146">
                                            <p:txEl>
                                              <p:charRg st="0" end="23"/>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03165">
                                            <p:txEl>
                                              <p:charRg st="0" end="23"/>
                                            </p:txEl>
                                          </p:spTgt>
                                        </p:tgtEl>
                                        <p:attrNameLst>
                                          <p:attrName>style.visibility</p:attrName>
                                        </p:attrNameLst>
                                      </p:cBhvr>
                                      <p:to>
                                        <p:strVal val="visible"/>
                                      </p:to>
                                    </p:set>
                                    <p:animEffect transition="in" filter="box(out)">
                                      <p:cBhvr>
                                        <p:cTn id="42" dur="500"/>
                                        <p:tgtEl>
                                          <p:spTgt spid="303165">
                                            <p:txEl>
                                              <p:charRg st="0" end="23"/>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6" grpId="0" build="p"/>
      <p:bldP spid="303126" grpId="0" build="p"/>
      <p:bldP spid="303146" grpId="0" build="p"/>
      <p:bldP spid="303165" grpId="0" build="p"/>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6738" name="Rectangle 2"/>
          <p:cNvSpPr/>
          <p:nvPr/>
        </p:nvSpPr>
        <p:spPr>
          <a:xfrm>
            <a:off x="0" y="0"/>
            <a:ext cx="9144000" cy="1800225"/>
          </a:xfrm>
          <a:prstGeom prst="rect">
            <a:avLst/>
          </a:prstGeom>
          <a:noFill/>
          <a:ln w="9525">
            <a:noFill/>
          </a:ln>
        </p:spPr>
        <p:txBody>
          <a:bodyPr>
            <a:spAutoFit/>
          </a:bodyPr>
          <a:p>
            <a:pPr eaLnBrk="1" hangingPunct="1">
              <a:buFont typeface="Wingdings" panose="05000000000000000000" pitchFamily="2" charset="2"/>
              <a:buChar char="§"/>
            </a:pPr>
            <a:r>
              <a:rPr lang="zh-CN" altLang="en-US" sz="2800" b="0" dirty="0">
                <a:solidFill>
                  <a:schemeClr val="tx1"/>
                </a:solidFill>
                <a:latin typeface="宋体" panose="02010600030101010101" pitchFamily="2" charset="-122"/>
              </a:rPr>
              <a:t>赫夫曼树的应用</a:t>
            </a:r>
            <a:endParaRPr lang="zh-CN" altLang="en-US" sz="2800" b="0" dirty="0">
              <a:solidFill>
                <a:schemeClr val="tx1"/>
              </a:solidFill>
              <a:latin typeface="宋体" panose="02010600030101010101" pitchFamily="2" charset="-122"/>
            </a:endParaRPr>
          </a:p>
          <a:p>
            <a:pPr lvl="1" eaLnBrk="1" hangingPunct="1">
              <a:buFont typeface="Wingdings" panose="05000000000000000000" pitchFamily="2" charset="2"/>
              <a:buChar char="v"/>
            </a:pPr>
            <a:r>
              <a:rPr lang="zh-CN" altLang="en-US" sz="2800" b="0" dirty="0">
                <a:solidFill>
                  <a:schemeClr val="tx1"/>
                </a:solidFill>
                <a:latin typeface="宋体" panose="02010600030101010101" pitchFamily="2" charset="-122"/>
              </a:rPr>
              <a:t> 最佳判定树</a:t>
            </a:r>
            <a:endParaRPr lang="zh-CN" altLang="en-US" sz="2800" b="0" dirty="0">
              <a:solidFill>
                <a:schemeClr val="tx1"/>
              </a:solidFill>
              <a:latin typeface="宋体" panose="02010600030101010101" pitchFamily="2" charset="-122"/>
            </a:endParaRPr>
          </a:p>
          <a:p>
            <a:pPr lvl="1" algn="just" eaLnBrk="1" hangingPunct="1">
              <a:buFont typeface="Wingdings" panose="05000000000000000000" pitchFamily="2" charset="2"/>
            </a:pPr>
            <a:r>
              <a:rPr lang="zh-CN" altLang="en-US" sz="2800" b="0" dirty="0">
                <a:solidFill>
                  <a:schemeClr val="tx1"/>
                </a:solidFill>
                <a:latin typeface="宋体" panose="02010600030101010101" pitchFamily="2" charset="-122"/>
              </a:rPr>
              <a:t>   </a:t>
            </a:r>
            <a:r>
              <a:rPr lang="zh-CN" altLang="en-US" sz="2400" b="0" dirty="0">
                <a:solidFill>
                  <a:schemeClr val="tx1"/>
                </a:solidFill>
                <a:latin typeface="宋体" panose="02010600030101010101" pitchFamily="2" charset="-122"/>
              </a:rPr>
              <a:t>20的分布呈正态分布即：中等成绩的学生较多，而较好或较差学生均比较少。设其分布规律如下表：</a:t>
            </a:r>
            <a:r>
              <a:rPr lang="zh-CN" altLang="en-US" sz="2800" b="0" dirty="0">
                <a:solidFill>
                  <a:schemeClr val="tx1"/>
                </a:solidFill>
                <a:latin typeface="宋体" panose="02010600030101010101" pitchFamily="2" charset="-122"/>
              </a:rPr>
              <a:t>  </a:t>
            </a:r>
            <a:endParaRPr lang="zh-CN" altLang="en-US" sz="2800" b="0" dirty="0">
              <a:solidFill>
                <a:schemeClr val="tx1"/>
              </a:solidFill>
              <a:latin typeface="宋体" panose="02010600030101010101" pitchFamily="2" charset="-122"/>
            </a:endParaRPr>
          </a:p>
        </p:txBody>
      </p:sp>
      <p:grpSp>
        <p:nvGrpSpPr>
          <p:cNvPr id="2" name="Group 3"/>
          <p:cNvGrpSpPr/>
          <p:nvPr/>
        </p:nvGrpSpPr>
        <p:grpSpPr>
          <a:xfrm>
            <a:off x="1992313" y="2001838"/>
            <a:ext cx="5243512" cy="1211262"/>
            <a:chOff x="847" y="1203"/>
            <a:chExt cx="3303" cy="763"/>
          </a:xfrm>
        </p:grpSpPr>
        <p:grpSp>
          <p:nvGrpSpPr>
            <p:cNvPr id="116743" name="Group 4"/>
            <p:cNvGrpSpPr/>
            <p:nvPr/>
          </p:nvGrpSpPr>
          <p:grpSpPr>
            <a:xfrm>
              <a:off x="867" y="1210"/>
              <a:ext cx="3278" cy="745"/>
              <a:chOff x="867" y="1210"/>
              <a:chExt cx="3278" cy="745"/>
            </a:xfrm>
          </p:grpSpPr>
          <p:sp>
            <p:nvSpPr>
              <p:cNvPr id="834565" name="Rectangle 5"/>
              <p:cNvSpPr>
                <a:spLocks noChangeArrowheads="1"/>
              </p:cNvSpPr>
              <p:nvPr/>
            </p:nvSpPr>
            <p:spPr bwMode="auto">
              <a:xfrm>
                <a:off x="867" y="1211"/>
                <a:ext cx="3278" cy="734"/>
              </a:xfrm>
              <a:prstGeom prst="rect">
                <a:avLst/>
              </a:prstGeom>
              <a:noFill/>
              <a:ln w="952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34566" name="Line 6"/>
              <p:cNvSpPr>
                <a:spLocks noChangeShapeType="1"/>
              </p:cNvSpPr>
              <p:nvPr/>
            </p:nvSpPr>
            <p:spPr bwMode="auto">
              <a:xfrm flipV="1">
                <a:off x="867" y="1454"/>
                <a:ext cx="3267" cy="1"/>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34567" name="Line 7"/>
              <p:cNvSpPr>
                <a:spLocks noChangeShapeType="1"/>
              </p:cNvSpPr>
              <p:nvPr/>
            </p:nvSpPr>
            <p:spPr bwMode="auto">
              <a:xfrm>
                <a:off x="1400" y="1211"/>
                <a:ext cx="0" cy="722"/>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34568" name="Line 8"/>
              <p:cNvSpPr>
                <a:spLocks noChangeShapeType="1"/>
              </p:cNvSpPr>
              <p:nvPr/>
            </p:nvSpPr>
            <p:spPr bwMode="auto">
              <a:xfrm>
                <a:off x="1940" y="1211"/>
                <a:ext cx="0" cy="733"/>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34569" name="Line 9"/>
              <p:cNvSpPr>
                <a:spLocks noChangeShapeType="1"/>
              </p:cNvSpPr>
              <p:nvPr/>
            </p:nvSpPr>
            <p:spPr bwMode="auto">
              <a:xfrm>
                <a:off x="2481" y="1211"/>
                <a:ext cx="0" cy="733"/>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34570" name="Line 10"/>
              <p:cNvSpPr>
                <a:spLocks noChangeShapeType="1"/>
              </p:cNvSpPr>
              <p:nvPr/>
            </p:nvSpPr>
            <p:spPr bwMode="auto">
              <a:xfrm>
                <a:off x="3021" y="1211"/>
                <a:ext cx="0" cy="744"/>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34571" name="Line 11"/>
              <p:cNvSpPr>
                <a:spLocks noChangeShapeType="1"/>
              </p:cNvSpPr>
              <p:nvPr/>
            </p:nvSpPr>
            <p:spPr bwMode="auto">
              <a:xfrm>
                <a:off x="3562" y="1210"/>
                <a:ext cx="0" cy="722"/>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34572" name="Line 12"/>
              <p:cNvSpPr>
                <a:spLocks noChangeShapeType="1"/>
              </p:cNvSpPr>
              <p:nvPr/>
            </p:nvSpPr>
            <p:spPr bwMode="auto">
              <a:xfrm>
                <a:off x="867" y="1711"/>
                <a:ext cx="3278" cy="0"/>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16744" name="Text Box 13"/>
            <p:cNvSpPr txBox="1"/>
            <p:nvPr/>
          </p:nvSpPr>
          <p:spPr>
            <a:xfrm>
              <a:off x="915" y="1208"/>
              <a:ext cx="43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等级</a:t>
              </a:r>
              <a:endParaRPr lang="zh-CN" altLang="en-US" b="0" dirty="0">
                <a:solidFill>
                  <a:schemeClr val="tx1"/>
                </a:solidFill>
                <a:latin typeface="宋体" panose="02010600030101010101" pitchFamily="2" charset="-122"/>
              </a:endParaRPr>
            </a:p>
          </p:txBody>
        </p:sp>
        <p:sp>
          <p:nvSpPr>
            <p:cNvPr id="116745" name="Text Box 14"/>
            <p:cNvSpPr txBox="1"/>
            <p:nvPr/>
          </p:nvSpPr>
          <p:spPr>
            <a:xfrm>
              <a:off x="847" y="1475"/>
              <a:ext cx="59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分数段</a:t>
              </a:r>
              <a:endParaRPr lang="zh-CN" altLang="en-US" b="0" dirty="0">
                <a:solidFill>
                  <a:schemeClr val="tx1"/>
                </a:solidFill>
                <a:latin typeface="宋体" panose="02010600030101010101" pitchFamily="2" charset="-122"/>
              </a:endParaRPr>
            </a:p>
          </p:txBody>
        </p:sp>
        <p:sp>
          <p:nvSpPr>
            <p:cNvPr id="116746" name="Text Box 15"/>
            <p:cNvSpPr txBox="1"/>
            <p:nvPr/>
          </p:nvSpPr>
          <p:spPr>
            <a:xfrm>
              <a:off x="916" y="1708"/>
              <a:ext cx="43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比例</a:t>
              </a:r>
              <a:endParaRPr lang="zh-CN" altLang="en-US" b="0" dirty="0">
                <a:solidFill>
                  <a:schemeClr val="tx1"/>
                </a:solidFill>
                <a:latin typeface="宋体" panose="02010600030101010101" pitchFamily="2" charset="-122"/>
              </a:endParaRPr>
            </a:p>
          </p:txBody>
        </p:sp>
        <p:sp>
          <p:nvSpPr>
            <p:cNvPr id="116747" name="Text Box 16"/>
            <p:cNvSpPr txBox="1"/>
            <p:nvPr/>
          </p:nvSpPr>
          <p:spPr>
            <a:xfrm>
              <a:off x="3626" y="1208"/>
              <a:ext cx="43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优秀</a:t>
              </a:r>
              <a:endParaRPr lang="zh-CN" altLang="en-US" b="0" dirty="0">
                <a:solidFill>
                  <a:schemeClr val="tx1"/>
                </a:solidFill>
                <a:latin typeface="宋体" panose="02010600030101010101" pitchFamily="2" charset="-122"/>
              </a:endParaRPr>
            </a:p>
          </p:txBody>
        </p:sp>
        <p:sp>
          <p:nvSpPr>
            <p:cNvPr id="116748" name="Text Box 17"/>
            <p:cNvSpPr txBox="1"/>
            <p:nvPr/>
          </p:nvSpPr>
          <p:spPr>
            <a:xfrm>
              <a:off x="3089" y="1203"/>
              <a:ext cx="43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良好</a:t>
              </a:r>
              <a:endParaRPr lang="zh-CN" altLang="en-US" b="0" dirty="0">
                <a:solidFill>
                  <a:schemeClr val="tx1"/>
                </a:solidFill>
                <a:latin typeface="宋体" panose="02010600030101010101" pitchFamily="2" charset="-122"/>
              </a:endParaRPr>
            </a:p>
          </p:txBody>
        </p:sp>
        <p:sp>
          <p:nvSpPr>
            <p:cNvPr id="116749" name="Text Box 18"/>
            <p:cNvSpPr txBox="1"/>
            <p:nvPr/>
          </p:nvSpPr>
          <p:spPr>
            <a:xfrm>
              <a:off x="2543" y="1215"/>
              <a:ext cx="43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中等</a:t>
              </a:r>
              <a:endParaRPr lang="zh-CN" altLang="en-US" b="0" dirty="0">
                <a:solidFill>
                  <a:schemeClr val="tx1"/>
                </a:solidFill>
                <a:latin typeface="宋体" panose="02010600030101010101" pitchFamily="2" charset="-122"/>
              </a:endParaRPr>
            </a:p>
          </p:txBody>
        </p:sp>
        <p:sp>
          <p:nvSpPr>
            <p:cNvPr id="116750" name="Text Box 19"/>
            <p:cNvSpPr txBox="1"/>
            <p:nvPr/>
          </p:nvSpPr>
          <p:spPr>
            <a:xfrm>
              <a:off x="1977" y="1204"/>
              <a:ext cx="43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及格</a:t>
              </a:r>
              <a:endParaRPr lang="zh-CN" altLang="en-US" b="0" dirty="0">
                <a:solidFill>
                  <a:schemeClr val="tx1"/>
                </a:solidFill>
                <a:latin typeface="宋体" panose="02010600030101010101" pitchFamily="2" charset="-122"/>
              </a:endParaRPr>
            </a:p>
          </p:txBody>
        </p:sp>
        <p:sp>
          <p:nvSpPr>
            <p:cNvPr id="116751" name="Text Box 20"/>
            <p:cNvSpPr txBox="1"/>
            <p:nvPr/>
          </p:nvSpPr>
          <p:spPr>
            <a:xfrm>
              <a:off x="1364" y="1204"/>
              <a:ext cx="59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宋体" panose="02010600030101010101" pitchFamily="2" charset="-122"/>
                </a:rPr>
                <a:t>不及格</a:t>
              </a:r>
              <a:endParaRPr lang="zh-CN" altLang="en-US" b="0" dirty="0">
                <a:solidFill>
                  <a:schemeClr val="tx1"/>
                </a:solidFill>
                <a:latin typeface="宋体" panose="02010600030101010101" pitchFamily="2" charset="-122"/>
              </a:endParaRPr>
            </a:p>
          </p:txBody>
        </p:sp>
        <p:sp>
          <p:nvSpPr>
            <p:cNvPr id="116752" name="Text Box 21"/>
            <p:cNvSpPr txBox="1"/>
            <p:nvPr/>
          </p:nvSpPr>
          <p:spPr>
            <a:xfrm>
              <a:off x="1449" y="1475"/>
              <a:ext cx="43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0~59</a:t>
              </a:r>
              <a:endParaRPr lang="en-US" altLang="zh-CN" b="0" dirty="0">
                <a:solidFill>
                  <a:schemeClr val="tx1"/>
                </a:solidFill>
                <a:latin typeface="宋体" panose="02010600030101010101" pitchFamily="2" charset="-122"/>
              </a:endParaRPr>
            </a:p>
          </p:txBody>
        </p:sp>
        <p:sp>
          <p:nvSpPr>
            <p:cNvPr id="116753" name="Text Box 22"/>
            <p:cNvSpPr txBox="1"/>
            <p:nvPr/>
          </p:nvSpPr>
          <p:spPr>
            <a:xfrm>
              <a:off x="1939" y="1471"/>
              <a:ext cx="51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60~69</a:t>
              </a:r>
              <a:endParaRPr lang="en-US" altLang="zh-CN" b="0" dirty="0">
                <a:solidFill>
                  <a:schemeClr val="tx1"/>
                </a:solidFill>
                <a:latin typeface="宋体" panose="02010600030101010101" pitchFamily="2" charset="-122"/>
              </a:endParaRPr>
            </a:p>
          </p:txBody>
        </p:sp>
        <p:sp>
          <p:nvSpPr>
            <p:cNvPr id="116754" name="Text Box 23"/>
            <p:cNvSpPr txBox="1"/>
            <p:nvPr/>
          </p:nvSpPr>
          <p:spPr>
            <a:xfrm>
              <a:off x="2494" y="1471"/>
              <a:ext cx="51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70~79</a:t>
              </a:r>
              <a:endParaRPr lang="en-US" altLang="zh-CN" b="0" dirty="0">
                <a:solidFill>
                  <a:schemeClr val="tx1"/>
                </a:solidFill>
                <a:latin typeface="宋体" panose="02010600030101010101" pitchFamily="2" charset="-122"/>
              </a:endParaRPr>
            </a:p>
          </p:txBody>
        </p:sp>
        <p:sp>
          <p:nvSpPr>
            <p:cNvPr id="116755" name="Text Box 24"/>
            <p:cNvSpPr txBox="1"/>
            <p:nvPr/>
          </p:nvSpPr>
          <p:spPr>
            <a:xfrm>
              <a:off x="3027" y="1471"/>
              <a:ext cx="51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80~89</a:t>
              </a:r>
              <a:endParaRPr lang="en-US" altLang="zh-CN" b="0" dirty="0">
                <a:solidFill>
                  <a:schemeClr val="tx1"/>
                </a:solidFill>
                <a:latin typeface="宋体" panose="02010600030101010101" pitchFamily="2" charset="-122"/>
              </a:endParaRPr>
            </a:p>
          </p:txBody>
        </p:sp>
        <p:sp>
          <p:nvSpPr>
            <p:cNvPr id="116756" name="Text Box 25"/>
            <p:cNvSpPr txBox="1"/>
            <p:nvPr/>
          </p:nvSpPr>
          <p:spPr>
            <a:xfrm>
              <a:off x="3554" y="1471"/>
              <a:ext cx="5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90~100</a:t>
              </a:r>
              <a:endParaRPr lang="en-US" altLang="zh-CN" b="0" dirty="0">
                <a:solidFill>
                  <a:schemeClr val="tx1"/>
                </a:solidFill>
                <a:latin typeface="宋体" panose="02010600030101010101" pitchFamily="2" charset="-122"/>
              </a:endParaRPr>
            </a:p>
          </p:txBody>
        </p:sp>
        <p:sp>
          <p:nvSpPr>
            <p:cNvPr id="116757" name="Text Box 26"/>
            <p:cNvSpPr txBox="1"/>
            <p:nvPr/>
          </p:nvSpPr>
          <p:spPr>
            <a:xfrm>
              <a:off x="1499" y="1709"/>
              <a:ext cx="35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5</a:t>
              </a:r>
              <a:r>
                <a:rPr lang="zh-CN" altLang="en-US" b="0" dirty="0">
                  <a:solidFill>
                    <a:schemeClr val="tx1"/>
                  </a:solidFill>
                  <a:latin typeface="宋体" panose="02010600030101010101" pitchFamily="2" charset="-122"/>
                </a:rPr>
                <a:t>％</a:t>
              </a:r>
              <a:endParaRPr lang="zh-CN" altLang="en-US" b="0" dirty="0">
                <a:solidFill>
                  <a:schemeClr val="tx1"/>
                </a:solidFill>
                <a:latin typeface="宋体" panose="02010600030101010101" pitchFamily="2" charset="-122"/>
              </a:endParaRPr>
            </a:p>
          </p:txBody>
        </p:sp>
        <p:sp>
          <p:nvSpPr>
            <p:cNvPr id="116758" name="Text Box 27"/>
            <p:cNvSpPr txBox="1"/>
            <p:nvPr/>
          </p:nvSpPr>
          <p:spPr>
            <a:xfrm>
              <a:off x="2010" y="1716"/>
              <a:ext cx="43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15</a:t>
              </a:r>
              <a:r>
                <a:rPr lang="zh-CN" altLang="en-US" b="0" dirty="0">
                  <a:solidFill>
                    <a:schemeClr val="tx1"/>
                  </a:solidFill>
                  <a:latin typeface="宋体" panose="02010600030101010101" pitchFamily="2" charset="-122"/>
                </a:rPr>
                <a:t>％</a:t>
              </a:r>
              <a:endParaRPr lang="zh-CN" altLang="en-US" b="0" dirty="0">
                <a:solidFill>
                  <a:schemeClr val="tx1"/>
                </a:solidFill>
                <a:latin typeface="宋体" panose="02010600030101010101" pitchFamily="2" charset="-122"/>
              </a:endParaRPr>
            </a:p>
          </p:txBody>
        </p:sp>
        <p:sp>
          <p:nvSpPr>
            <p:cNvPr id="116759" name="Text Box 28"/>
            <p:cNvSpPr txBox="1"/>
            <p:nvPr/>
          </p:nvSpPr>
          <p:spPr>
            <a:xfrm>
              <a:off x="2533" y="1716"/>
              <a:ext cx="43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40</a:t>
              </a:r>
              <a:r>
                <a:rPr lang="zh-CN" altLang="en-US" b="0" dirty="0">
                  <a:solidFill>
                    <a:schemeClr val="tx1"/>
                  </a:solidFill>
                  <a:latin typeface="宋体" panose="02010600030101010101" pitchFamily="2" charset="-122"/>
                </a:rPr>
                <a:t>％</a:t>
              </a:r>
              <a:endParaRPr lang="zh-CN" altLang="en-US" b="0" dirty="0">
                <a:solidFill>
                  <a:schemeClr val="tx1"/>
                </a:solidFill>
                <a:latin typeface="宋体" panose="02010600030101010101" pitchFamily="2" charset="-122"/>
              </a:endParaRPr>
            </a:p>
          </p:txBody>
        </p:sp>
        <p:sp>
          <p:nvSpPr>
            <p:cNvPr id="116760" name="Text Box 29"/>
            <p:cNvSpPr txBox="1"/>
            <p:nvPr/>
          </p:nvSpPr>
          <p:spPr>
            <a:xfrm>
              <a:off x="3077" y="1705"/>
              <a:ext cx="43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30</a:t>
              </a:r>
              <a:r>
                <a:rPr lang="zh-CN" altLang="en-US" b="0" dirty="0">
                  <a:solidFill>
                    <a:schemeClr val="tx1"/>
                  </a:solidFill>
                  <a:latin typeface="宋体" panose="02010600030101010101" pitchFamily="2" charset="-122"/>
                </a:rPr>
                <a:t>％</a:t>
              </a:r>
              <a:endParaRPr lang="zh-CN" altLang="en-US" b="0" dirty="0">
                <a:solidFill>
                  <a:schemeClr val="tx1"/>
                </a:solidFill>
                <a:latin typeface="宋体" panose="02010600030101010101" pitchFamily="2" charset="-122"/>
              </a:endParaRPr>
            </a:p>
          </p:txBody>
        </p:sp>
        <p:sp>
          <p:nvSpPr>
            <p:cNvPr id="116761" name="Text Box 30"/>
            <p:cNvSpPr txBox="1"/>
            <p:nvPr/>
          </p:nvSpPr>
          <p:spPr>
            <a:xfrm>
              <a:off x="3644" y="1716"/>
              <a:ext cx="43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宋体" panose="02010600030101010101" pitchFamily="2" charset="-122"/>
                </a:rPr>
                <a:t>10</a:t>
              </a:r>
              <a:r>
                <a:rPr lang="zh-CN" altLang="en-US" b="0" dirty="0">
                  <a:solidFill>
                    <a:schemeClr val="tx1"/>
                  </a:solidFill>
                  <a:latin typeface="宋体" panose="02010600030101010101" pitchFamily="2" charset="-122"/>
                </a:rPr>
                <a:t>％</a:t>
              </a:r>
              <a:endParaRPr lang="zh-CN" altLang="en-US" b="0" dirty="0">
                <a:solidFill>
                  <a:schemeClr val="tx1"/>
                </a:solidFill>
                <a:latin typeface="宋体" panose="02010600030101010101" pitchFamily="2" charset="-122"/>
              </a:endParaRPr>
            </a:p>
          </p:txBody>
        </p:sp>
      </p:grpSp>
      <p:sp>
        <p:nvSpPr>
          <p:cNvPr id="834591" name="Rectangle 31"/>
          <p:cNvSpPr>
            <a:spLocks noChangeArrowheads="1"/>
          </p:cNvSpPr>
          <p:nvPr/>
        </p:nvSpPr>
        <p:spPr bwMode="auto">
          <a:xfrm>
            <a:off x="3552825" y="2390775"/>
            <a:ext cx="9144000" cy="0"/>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116741" name="Picture 32" descr="6"/>
          <p:cNvPicPr>
            <a:picLocks noChangeAspect="1"/>
          </p:cNvPicPr>
          <p:nvPr/>
        </p:nvPicPr>
        <p:blipFill>
          <a:blip r:embed="rId1"/>
          <a:stretch>
            <a:fillRect/>
          </a:stretch>
        </p:blipFill>
        <p:spPr>
          <a:xfrm>
            <a:off x="250825" y="3429000"/>
            <a:ext cx="3365500" cy="3429000"/>
          </a:xfrm>
          <a:prstGeom prst="rect">
            <a:avLst/>
          </a:prstGeom>
          <a:noFill/>
          <a:ln w="9525">
            <a:noFill/>
          </a:ln>
        </p:spPr>
      </p:pic>
      <p:sp>
        <p:nvSpPr>
          <p:cNvPr id="116742" name="Rectangle 33"/>
          <p:cNvSpPr/>
          <p:nvPr/>
        </p:nvSpPr>
        <p:spPr>
          <a:xfrm>
            <a:off x="3708400" y="4581525"/>
            <a:ext cx="5111750" cy="1187450"/>
          </a:xfrm>
          <a:prstGeom prst="rect">
            <a:avLst/>
          </a:prstGeom>
          <a:noFill/>
          <a:ln w="9525">
            <a:noFill/>
          </a:ln>
        </p:spPr>
        <p:txBody>
          <a:bodyPr anchor="b" anchorCtr="0">
            <a:spAutoFit/>
          </a:bodyPr>
          <a:p>
            <a:pPr eaLnBrk="1" hangingPunct="1"/>
            <a:r>
              <a:rPr lang="zh-CN" altLang="en-US" sz="2400" b="0" dirty="0">
                <a:solidFill>
                  <a:schemeClr val="tx1"/>
                </a:solidFill>
                <a:latin typeface="Verdana" panose="020B0604030504040204" pitchFamily="34" charset="0"/>
              </a:rPr>
              <a:t>若采用左图来进行判断，则</a:t>
            </a:r>
            <a:r>
              <a:rPr lang="en-US" altLang="zh-CN" sz="2400" b="0" dirty="0">
                <a:solidFill>
                  <a:schemeClr val="tx1"/>
                </a:solidFill>
                <a:latin typeface="Verdana" panose="020B0604030504040204" pitchFamily="34" charset="0"/>
              </a:rPr>
              <a:t>80%</a:t>
            </a:r>
            <a:r>
              <a:rPr lang="zh-CN" altLang="en-US" sz="2400" b="0" dirty="0">
                <a:solidFill>
                  <a:schemeClr val="tx1"/>
                </a:solidFill>
                <a:latin typeface="Verdana" panose="020B0604030504040204" pitchFamily="34" charset="0"/>
              </a:rPr>
              <a:t>以上的数据要进行三次或三次以上的比较才能得到结果。</a:t>
            </a:r>
            <a:endParaRPr lang="zh-CN" altLang="en-US" sz="2400" b="0" dirty="0">
              <a:solidFill>
                <a:schemeClr val="tx1"/>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7762" name="Rectangle 2"/>
          <p:cNvSpPr/>
          <p:nvPr/>
        </p:nvSpPr>
        <p:spPr>
          <a:xfrm>
            <a:off x="4643438" y="1003300"/>
            <a:ext cx="4348162" cy="3990975"/>
          </a:xfrm>
          <a:prstGeom prst="rect">
            <a:avLst/>
          </a:prstGeom>
          <a:noFill/>
          <a:ln w="9525">
            <a:noFill/>
          </a:ln>
        </p:spPr>
        <p:txBody>
          <a:bodyPr>
            <a:spAutoFit/>
          </a:bodyPr>
          <a:p>
            <a:pPr algn="just" eaLnBrk="1" hangingPunct="1"/>
            <a:r>
              <a:rPr lang="zh-CN" altLang="en-US" sz="3200" b="0" dirty="0">
                <a:solidFill>
                  <a:schemeClr val="tx1"/>
                </a:solidFill>
                <a:latin typeface="宋体" panose="02010600030101010101" pitchFamily="2" charset="-122"/>
              </a:rPr>
              <a:t>如果我们以各分数段人数的占总人数的比例</a:t>
            </a:r>
            <a:r>
              <a:rPr lang="en-US" altLang="zh-CN" sz="3200" b="0" dirty="0">
                <a:solidFill>
                  <a:schemeClr val="tx1"/>
                </a:solidFill>
                <a:latin typeface="宋体" panose="02010600030101010101" pitchFamily="2" charset="-122"/>
              </a:rPr>
              <a:t>5</a:t>
            </a:r>
            <a:r>
              <a:rPr lang="zh-CN" altLang="en-US" sz="3200" b="0" dirty="0">
                <a:solidFill>
                  <a:schemeClr val="tx1"/>
                </a:solidFill>
                <a:latin typeface="宋体" panose="02010600030101010101" pitchFamily="2" charset="-122"/>
              </a:rPr>
              <a:t>、</a:t>
            </a:r>
            <a:r>
              <a:rPr lang="en-US" altLang="zh-CN" sz="3200" b="0" dirty="0">
                <a:solidFill>
                  <a:schemeClr val="tx1"/>
                </a:solidFill>
                <a:latin typeface="宋体" panose="02010600030101010101" pitchFamily="2" charset="-122"/>
              </a:rPr>
              <a:t>15</a:t>
            </a:r>
            <a:r>
              <a:rPr lang="zh-CN" altLang="en-US" sz="3200" b="0" dirty="0">
                <a:solidFill>
                  <a:schemeClr val="tx1"/>
                </a:solidFill>
                <a:latin typeface="宋体" panose="02010600030101010101" pitchFamily="2" charset="-122"/>
              </a:rPr>
              <a:t>、</a:t>
            </a:r>
            <a:r>
              <a:rPr lang="en-US" altLang="zh-CN" sz="3200" b="0" dirty="0">
                <a:solidFill>
                  <a:schemeClr val="tx1"/>
                </a:solidFill>
                <a:latin typeface="宋体" panose="02010600030101010101" pitchFamily="2" charset="-122"/>
              </a:rPr>
              <a:t>40</a:t>
            </a:r>
            <a:r>
              <a:rPr lang="zh-CN" altLang="en-US" sz="3200" b="0" dirty="0">
                <a:solidFill>
                  <a:schemeClr val="tx1"/>
                </a:solidFill>
                <a:latin typeface="宋体" panose="02010600030101010101" pitchFamily="2" charset="-122"/>
              </a:rPr>
              <a:t>、</a:t>
            </a:r>
            <a:r>
              <a:rPr lang="en-US" altLang="zh-CN" sz="3200" b="0" dirty="0">
                <a:solidFill>
                  <a:schemeClr val="tx1"/>
                </a:solidFill>
                <a:latin typeface="宋体" panose="02010600030101010101" pitchFamily="2" charset="-122"/>
              </a:rPr>
              <a:t>30</a:t>
            </a:r>
            <a:r>
              <a:rPr lang="zh-CN" altLang="en-US" sz="3200" b="0" dirty="0">
                <a:solidFill>
                  <a:schemeClr val="tx1"/>
                </a:solidFill>
                <a:latin typeface="宋体" panose="02010600030101010101" pitchFamily="2" charset="-122"/>
              </a:rPr>
              <a:t>、</a:t>
            </a:r>
            <a:r>
              <a:rPr lang="en-US" altLang="zh-CN" sz="3200" b="0" dirty="0">
                <a:solidFill>
                  <a:schemeClr val="tx1"/>
                </a:solidFill>
                <a:latin typeface="宋体" panose="02010600030101010101" pitchFamily="2" charset="-122"/>
              </a:rPr>
              <a:t>10</a:t>
            </a:r>
            <a:r>
              <a:rPr lang="zh-CN" altLang="en-US" sz="3200" b="0" dirty="0">
                <a:solidFill>
                  <a:schemeClr val="tx1"/>
                </a:solidFill>
                <a:latin typeface="宋体" panose="02010600030101010101" pitchFamily="2" charset="-122"/>
              </a:rPr>
              <a:t>为权值构造赫夫曼树，可得到如图所示的判定树来进行判断</a:t>
            </a:r>
            <a:r>
              <a:rPr lang="en-US" altLang="zh-CN" sz="3200" b="0" dirty="0">
                <a:solidFill>
                  <a:schemeClr val="tx1"/>
                </a:solidFill>
                <a:latin typeface="宋体" panose="02010600030101010101" pitchFamily="2" charset="-122"/>
              </a:rPr>
              <a:t>,</a:t>
            </a:r>
            <a:r>
              <a:rPr lang="zh-CN" altLang="en-US" sz="3200" b="0" dirty="0">
                <a:solidFill>
                  <a:schemeClr val="tx1"/>
                </a:solidFill>
                <a:latin typeface="宋体" panose="02010600030101010101" pitchFamily="2" charset="-122"/>
              </a:rPr>
              <a:t>就可以使大部分数据经过比较少次数的比较得到结果。 </a:t>
            </a:r>
            <a:endParaRPr lang="zh-CN" altLang="en-US" sz="3200" b="0" dirty="0">
              <a:solidFill>
                <a:schemeClr val="tx1"/>
              </a:solidFill>
              <a:latin typeface="宋体" panose="02010600030101010101" pitchFamily="2" charset="-122"/>
            </a:endParaRPr>
          </a:p>
        </p:txBody>
      </p:sp>
      <p:pic>
        <p:nvPicPr>
          <p:cNvPr id="117763" name="Picture 3" descr="6"/>
          <p:cNvPicPr>
            <a:picLocks noChangeAspect="1"/>
          </p:cNvPicPr>
          <p:nvPr/>
        </p:nvPicPr>
        <p:blipFill>
          <a:blip r:embed="rId1"/>
          <a:stretch>
            <a:fillRect/>
          </a:stretch>
        </p:blipFill>
        <p:spPr>
          <a:xfrm>
            <a:off x="395288" y="1412875"/>
            <a:ext cx="3581400" cy="3448050"/>
          </a:xfrm>
          <a:prstGeom prst="rect">
            <a:avLst/>
          </a:prstGeom>
          <a:noFill/>
          <a:ln w="9525">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4130" name="Rectangle 2"/>
          <p:cNvSpPr>
            <a:spLocks noGrp="1" noChangeArrowheads="1"/>
          </p:cNvSpPr>
          <p:nvPr>
            <p:ph idx="1"/>
          </p:nvPr>
        </p:nvSpPr>
        <p:spPr>
          <a:xfrm>
            <a:off x="0" y="381000"/>
            <a:ext cx="8763000" cy="47244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构造</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Huffman</a:t>
            </a:r>
            <a:r>
              <a:rPr kumimoji="0" lang="zh-CN"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树的方法——</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Huffman</a:t>
            </a:r>
            <a:r>
              <a:rPr kumimoji="0" lang="zh-CN"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rPr>
              <a:t>算法</a:t>
            </a:r>
            <a:endParaRPr kumimoji="0" lang="zh-CN"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 构造</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Huffman</a:t>
            </a:r>
            <a:r>
              <a:rPr kumimoji="0" lang="zh-CN"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树步骤</a:t>
            </a:r>
            <a:endParaRPr kumimoji="0" lang="zh-CN"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根据给定的</a:t>
            </a:r>
            <a:r>
              <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n</a:t>
            </a:r>
            <a:r>
              <a:rPr kumimoji="0" lang="zh-CN"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个权值{</a:t>
            </a:r>
            <a:r>
              <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w1,w2,……wn}</a:t>
            </a:r>
            <a:r>
              <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a:t>
            </a:r>
            <a:r>
              <a:rPr kumimoji="0" lang="zh-CN"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构造</a:t>
            </a:r>
            <a:r>
              <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n</a:t>
            </a:r>
            <a:r>
              <a:rPr kumimoji="0" lang="zh-CN"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棵只有根结点的二叉树，令起权值为</a:t>
            </a:r>
            <a:r>
              <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wj</a:t>
            </a:r>
            <a:endParaRPr kumimoji="0" lang="en-US"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在森林中选取两棵根结点权值最小的树作左右子树，构造一棵新的二叉树，置新二叉树根结点权值为其左右子树根结点权值之和</a:t>
            </a:r>
            <a:endParaRPr kumimoji="0" lang="zh-CN"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zh-CN" sz="2300" b="1" i="0" u="none" strike="noStrike" kern="0" cap="none" spc="0" normalizeH="0" baseline="0" noProof="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ea"/>
              </a:rPr>
              <a:t>在森林中删除这两棵树，同时将新得到的二叉树加入森林中</a:t>
            </a:r>
            <a:endParaRPr kumimoji="0" lang="zh-CN" altLang="zh-CN" sz="2300" b="1" i="0" u="none" strike="noStrike" kern="0" cap="none" spc="0" normalizeH="0" baseline="0" noProof="0">
              <a:ln>
                <a:noFill/>
              </a:ln>
              <a:solidFill>
                <a:schemeClr val="accent2"/>
              </a:solidFill>
              <a:effectLst>
                <a:outerShdw blurRad="38100" dist="38100" dir="2700000" algn="tl">
                  <a:srgbClr val="C0C0C0"/>
                </a:outerShdw>
              </a:effectLst>
              <a:uLnTx/>
              <a:uFillTx/>
              <a:latin typeface="宋体" panose="02010600030101010101" pitchFamily="2" charset="-122"/>
              <a:ea typeface="+mn-ea"/>
              <a:cs typeface="+mn-ea"/>
            </a:endParaRPr>
          </a:p>
          <a:p>
            <a:pPr marL="1304925" marR="0" lvl="2" indent="-39560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zh-CN"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rPr>
              <a:t>重复上述两步，直到只含一棵树为止，这棵树即哈夫曼树</a:t>
            </a:r>
            <a:endParaRPr kumimoji="0" lang="zh-CN" altLang="en-US" sz="2300" b="1" i="0" u="none" strike="noStrike" kern="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4130">
                                            <p:txEl>
                                              <p:charRg st="0" end="25"/>
                                            </p:txEl>
                                          </p:spTgt>
                                        </p:tgtEl>
                                        <p:attrNameLst>
                                          <p:attrName>style.visibility</p:attrName>
                                        </p:attrNameLst>
                                      </p:cBhvr>
                                      <p:to>
                                        <p:strVal val="visible"/>
                                      </p:to>
                                    </p:set>
                                    <p:anim calcmode="lin" valueType="num">
                                      <p:cBhvr additive="base">
                                        <p:cTn id="7" dur="500" fill="hold"/>
                                        <p:tgtEl>
                                          <p:spTgt spid="304130">
                                            <p:txEl>
                                              <p:charRg st="0" end="2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4130">
                                            <p:txEl>
                                              <p:charRg st="0" end="2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4130">
                                            <p:txEl>
                                              <p:charRg st="25" end="39"/>
                                            </p:txEl>
                                          </p:spTgt>
                                        </p:tgtEl>
                                        <p:attrNameLst>
                                          <p:attrName>style.visibility</p:attrName>
                                        </p:attrNameLst>
                                      </p:cBhvr>
                                      <p:to>
                                        <p:strVal val="visible"/>
                                      </p:to>
                                    </p:set>
                                    <p:anim calcmode="lin" valueType="num">
                                      <p:cBhvr additive="base">
                                        <p:cTn id="13" dur="500" fill="hold"/>
                                        <p:tgtEl>
                                          <p:spTgt spid="304130">
                                            <p:txEl>
                                              <p:charRg st="25" end="39"/>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4130">
                                            <p:txEl>
                                              <p:charRg st="25" end="3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4130">
                                            <p:txEl>
                                              <p:charRg st="39" end="83"/>
                                            </p:txEl>
                                          </p:spTgt>
                                        </p:tgtEl>
                                        <p:attrNameLst>
                                          <p:attrName>style.visibility</p:attrName>
                                        </p:attrNameLst>
                                      </p:cBhvr>
                                      <p:to>
                                        <p:strVal val="visible"/>
                                      </p:to>
                                    </p:set>
                                    <p:anim calcmode="lin" valueType="num">
                                      <p:cBhvr additive="base">
                                        <p:cTn id="19" dur="500" fill="hold"/>
                                        <p:tgtEl>
                                          <p:spTgt spid="304130">
                                            <p:txEl>
                                              <p:charRg st="39" end="8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4130">
                                            <p:txEl>
                                              <p:charRg st="39" end="8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4130">
                                            <p:txEl>
                                              <p:charRg st="83" end="140"/>
                                            </p:txEl>
                                          </p:spTgt>
                                        </p:tgtEl>
                                        <p:attrNameLst>
                                          <p:attrName>style.visibility</p:attrName>
                                        </p:attrNameLst>
                                      </p:cBhvr>
                                      <p:to>
                                        <p:strVal val="visible"/>
                                      </p:to>
                                    </p:set>
                                    <p:anim calcmode="lin" valueType="num">
                                      <p:cBhvr additive="base">
                                        <p:cTn id="25" dur="500" fill="hold"/>
                                        <p:tgtEl>
                                          <p:spTgt spid="304130">
                                            <p:txEl>
                                              <p:charRg st="83" end="14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4130">
                                            <p:txEl>
                                              <p:charRg st="83" end="14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4130">
                                            <p:txEl>
                                              <p:charRg st="140" end="167"/>
                                            </p:txEl>
                                          </p:spTgt>
                                        </p:tgtEl>
                                        <p:attrNameLst>
                                          <p:attrName>style.visibility</p:attrName>
                                        </p:attrNameLst>
                                      </p:cBhvr>
                                      <p:to>
                                        <p:strVal val="visible"/>
                                      </p:to>
                                    </p:set>
                                    <p:anim calcmode="lin" valueType="num">
                                      <p:cBhvr additive="base">
                                        <p:cTn id="31" dur="500" fill="hold"/>
                                        <p:tgtEl>
                                          <p:spTgt spid="304130">
                                            <p:txEl>
                                              <p:charRg st="140" end="16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4130">
                                            <p:txEl>
                                              <p:charRg st="140" end="16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1"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4130">
                                            <p:txEl>
                                              <p:charRg st="167" end="193"/>
                                            </p:txEl>
                                          </p:spTgt>
                                        </p:tgtEl>
                                        <p:attrNameLst>
                                          <p:attrName>style.visibility</p:attrName>
                                        </p:attrNameLst>
                                      </p:cBhvr>
                                      <p:to>
                                        <p:strVal val="visible"/>
                                      </p:to>
                                    </p:set>
                                    <p:anim calcmode="lin" valueType="num">
                                      <p:cBhvr additive="base">
                                        <p:cTn id="37" dur="500" fill="hold"/>
                                        <p:tgtEl>
                                          <p:spTgt spid="304130">
                                            <p:txEl>
                                              <p:charRg st="167" end="19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04130">
                                            <p:txEl>
                                              <p:charRg st="167" end="19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0" grpId="0" bldLvl="5" build="p"/>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 name="Group 2"/>
          <p:cNvGrpSpPr/>
          <p:nvPr/>
        </p:nvGrpSpPr>
        <p:grpSpPr>
          <a:xfrm>
            <a:off x="804863" y="701675"/>
            <a:ext cx="2578100" cy="674688"/>
            <a:chOff x="507" y="442"/>
            <a:chExt cx="1624" cy="425"/>
          </a:xfrm>
        </p:grpSpPr>
        <p:sp>
          <p:nvSpPr>
            <p:cNvPr id="119885" name="Text Box 3"/>
            <p:cNvSpPr txBox="1"/>
            <p:nvPr/>
          </p:nvSpPr>
          <p:spPr>
            <a:xfrm>
              <a:off x="507" y="442"/>
              <a:ext cx="276" cy="250"/>
            </a:xfrm>
            <a:prstGeom prst="rect">
              <a:avLst/>
            </a:prstGeom>
            <a:noFill/>
            <a:ln w="9525">
              <a:noFill/>
            </a:ln>
          </p:spPr>
          <p:txBody>
            <a:bodyPr wrap="none" anchor="ctr" anchorCtr="0">
              <a:spAutoFit/>
            </a:bodyPr>
            <a:p>
              <a:pPr algn="ctr" eaLnBrk="1" hangingPunct="1"/>
              <a:r>
                <a:rPr lang="zh-CN" altLang="en-US" b="0" dirty="0">
                  <a:solidFill>
                    <a:schemeClr val="tx1"/>
                  </a:solidFill>
                  <a:latin typeface="Times New Roman" panose="02020603050405020304" pitchFamily="18" charset="0"/>
                </a:rPr>
                <a:t>例</a:t>
              </a:r>
              <a:endParaRPr lang="zh-CN" altLang="en-US" b="0" dirty="0">
                <a:solidFill>
                  <a:schemeClr val="tx1"/>
                </a:solidFill>
                <a:latin typeface="Times New Roman" panose="02020603050405020304" pitchFamily="18" charset="0"/>
              </a:endParaRPr>
            </a:p>
          </p:txBody>
        </p:sp>
        <p:grpSp>
          <p:nvGrpSpPr>
            <p:cNvPr id="119886" name="Group 4"/>
            <p:cNvGrpSpPr/>
            <p:nvPr/>
          </p:nvGrpSpPr>
          <p:grpSpPr>
            <a:xfrm>
              <a:off x="1022" y="496"/>
              <a:ext cx="220" cy="371"/>
              <a:chOff x="1022" y="496"/>
              <a:chExt cx="220" cy="371"/>
            </a:xfrm>
          </p:grpSpPr>
          <p:sp>
            <p:nvSpPr>
              <p:cNvPr id="119896" name="Oval 5"/>
              <p:cNvSpPr/>
              <p:nvPr/>
            </p:nvSpPr>
            <p:spPr>
              <a:xfrm>
                <a:off x="1022"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19897" name="Text Box 6"/>
              <p:cNvSpPr txBox="1"/>
              <p:nvPr/>
            </p:nvSpPr>
            <p:spPr>
              <a:xfrm>
                <a:off x="1046" y="496"/>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grpSp>
        <p:grpSp>
          <p:nvGrpSpPr>
            <p:cNvPr id="119887" name="Group 7"/>
            <p:cNvGrpSpPr/>
            <p:nvPr/>
          </p:nvGrpSpPr>
          <p:grpSpPr>
            <a:xfrm>
              <a:off x="1321" y="508"/>
              <a:ext cx="199" cy="359"/>
              <a:chOff x="1321" y="508"/>
              <a:chExt cx="199" cy="359"/>
            </a:xfrm>
          </p:grpSpPr>
          <p:sp>
            <p:nvSpPr>
              <p:cNvPr id="119894" name="Oval 8"/>
              <p:cNvSpPr/>
              <p:nvPr/>
            </p:nvSpPr>
            <p:spPr>
              <a:xfrm>
                <a:off x="1321"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19895" name="Text Box 9"/>
              <p:cNvSpPr txBox="1"/>
              <p:nvPr/>
            </p:nvSpPr>
            <p:spPr>
              <a:xfrm>
                <a:off x="1324" y="508"/>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grpSp>
        <p:grpSp>
          <p:nvGrpSpPr>
            <p:cNvPr id="119888" name="Group 10"/>
            <p:cNvGrpSpPr/>
            <p:nvPr/>
          </p:nvGrpSpPr>
          <p:grpSpPr>
            <a:xfrm>
              <a:off x="1620" y="497"/>
              <a:ext cx="201" cy="370"/>
              <a:chOff x="1620" y="497"/>
              <a:chExt cx="201" cy="370"/>
            </a:xfrm>
          </p:grpSpPr>
          <p:sp>
            <p:nvSpPr>
              <p:cNvPr id="119892" name="Oval 11"/>
              <p:cNvSpPr/>
              <p:nvPr/>
            </p:nvSpPr>
            <p:spPr>
              <a:xfrm>
                <a:off x="1620"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19893" name="Text Box 12"/>
              <p:cNvSpPr txBox="1"/>
              <p:nvPr/>
            </p:nvSpPr>
            <p:spPr>
              <a:xfrm>
                <a:off x="1625" y="497"/>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2</a:t>
                </a:r>
                <a:endParaRPr lang="en-US" altLang="zh-CN" b="0" dirty="0">
                  <a:solidFill>
                    <a:schemeClr val="tx1"/>
                  </a:solidFill>
                  <a:latin typeface="Times New Roman" panose="02020603050405020304" pitchFamily="18" charset="0"/>
                </a:endParaRPr>
              </a:p>
            </p:txBody>
          </p:sp>
        </p:grpSp>
        <p:grpSp>
          <p:nvGrpSpPr>
            <p:cNvPr id="119889" name="Group 13"/>
            <p:cNvGrpSpPr/>
            <p:nvPr/>
          </p:nvGrpSpPr>
          <p:grpSpPr>
            <a:xfrm>
              <a:off x="1919" y="498"/>
              <a:ext cx="212" cy="369"/>
              <a:chOff x="1919" y="498"/>
              <a:chExt cx="212" cy="369"/>
            </a:xfrm>
          </p:grpSpPr>
          <p:sp>
            <p:nvSpPr>
              <p:cNvPr id="119890" name="Oval 14"/>
              <p:cNvSpPr/>
              <p:nvPr/>
            </p:nvSpPr>
            <p:spPr>
              <a:xfrm>
                <a:off x="1919"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19891" name="Text Box 15"/>
              <p:cNvSpPr txBox="1"/>
              <p:nvPr/>
            </p:nvSpPr>
            <p:spPr>
              <a:xfrm>
                <a:off x="1935" y="498"/>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4</a:t>
                </a:r>
                <a:endParaRPr lang="en-US" altLang="zh-CN" b="0" dirty="0">
                  <a:solidFill>
                    <a:schemeClr val="tx1"/>
                  </a:solidFill>
                  <a:latin typeface="Times New Roman" panose="02020603050405020304" pitchFamily="18" charset="0"/>
                </a:endParaRPr>
              </a:p>
            </p:txBody>
          </p:sp>
        </p:grpSp>
      </p:grpSp>
      <p:grpSp>
        <p:nvGrpSpPr>
          <p:cNvPr id="7" name="Group 16"/>
          <p:cNvGrpSpPr/>
          <p:nvPr/>
        </p:nvGrpSpPr>
        <p:grpSpPr>
          <a:xfrm>
            <a:off x="1581150" y="2122488"/>
            <a:ext cx="1900238" cy="1152525"/>
            <a:chOff x="996" y="1337"/>
            <a:chExt cx="1197" cy="726"/>
          </a:xfrm>
        </p:grpSpPr>
        <p:grpSp>
          <p:nvGrpSpPr>
            <p:cNvPr id="119867" name="Group 17"/>
            <p:cNvGrpSpPr/>
            <p:nvPr/>
          </p:nvGrpSpPr>
          <p:grpSpPr>
            <a:xfrm>
              <a:off x="996" y="1337"/>
              <a:ext cx="220" cy="371"/>
              <a:chOff x="1022" y="496"/>
              <a:chExt cx="220" cy="371"/>
            </a:xfrm>
          </p:grpSpPr>
          <p:sp>
            <p:nvSpPr>
              <p:cNvPr id="119883" name="Oval 18"/>
              <p:cNvSpPr/>
              <p:nvPr/>
            </p:nvSpPr>
            <p:spPr>
              <a:xfrm>
                <a:off x="1022"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19884" name="Text Box 19"/>
              <p:cNvSpPr txBox="1"/>
              <p:nvPr/>
            </p:nvSpPr>
            <p:spPr>
              <a:xfrm>
                <a:off x="1046" y="496"/>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grpSp>
        <p:grpSp>
          <p:nvGrpSpPr>
            <p:cNvPr id="119868" name="Group 20"/>
            <p:cNvGrpSpPr/>
            <p:nvPr/>
          </p:nvGrpSpPr>
          <p:grpSpPr>
            <a:xfrm>
              <a:off x="1339" y="1360"/>
              <a:ext cx="199" cy="359"/>
              <a:chOff x="1321" y="508"/>
              <a:chExt cx="199" cy="359"/>
            </a:xfrm>
          </p:grpSpPr>
          <p:sp>
            <p:nvSpPr>
              <p:cNvPr id="119881" name="Oval 21"/>
              <p:cNvSpPr/>
              <p:nvPr/>
            </p:nvSpPr>
            <p:spPr>
              <a:xfrm>
                <a:off x="1321"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19882" name="Text Box 22"/>
              <p:cNvSpPr txBox="1"/>
              <p:nvPr/>
            </p:nvSpPr>
            <p:spPr>
              <a:xfrm>
                <a:off x="1324" y="508"/>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grpSp>
        <p:grpSp>
          <p:nvGrpSpPr>
            <p:cNvPr id="119869" name="Group 23"/>
            <p:cNvGrpSpPr/>
            <p:nvPr/>
          </p:nvGrpSpPr>
          <p:grpSpPr>
            <a:xfrm>
              <a:off x="1616" y="1361"/>
              <a:ext cx="577" cy="702"/>
              <a:chOff x="1627" y="1472"/>
              <a:chExt cx="577" cy="702"/>
            </a:xfrm>
          </p:grpSpPr>
          <p:grpSp>
            <p:nvGrpSpPr>
              <p:cNvPr id="119870" name="Group 24"/>
              <p:cNvGrpSpPr/>
              <p:nvPr/>
            </p:nvGrpSpPr>
            <p:grpSpPr>
              <a:xfrm>
                <a:off x="1627" y="1804"/>
                <a:ext cx="201" cy="370"/>
                <a:chOff x="1620" y="497"/>
                <a:chExt cx="201" cy="370"/>
              </a:xfrm>
            </p:grpSpPr>
            <p:sp>
              <p:nvSpPr>
                <p:cNvPr id="119879" name="Oval 25"/>
                <p:cNvSpPr/>
                <p:nvPr/>
              </p:nvSpPr>
              <p:spPr>
                <a:xfrm>
                  <a:off x="1620"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19880" name="Text Box 26"/>
                <p:cNvSpPr txBox="1"/>
                <p:nvPr/>
              </p:nvSpPr>
              <p:spPr>
                <a:xfrm>
                  <a:off x="1625" y="497"/>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2</a:t>
                  </a:r>
                  <a:endParaRPr lang="en-US" altLang="zh-CN" b="0" dirty="0">
                    <a:solidFill>
                      <a:schemeClr val="tx1"/>
                    </a:solidFill>
                    <a:latin typeface="Times New Roman" panose="02020603050405020304" pitchFamily="18" charset="0"/>
                  </a:endParaRPr>
                </a:p>
              </p:txBody>
            </p:sp>
          </p:grpSp>
          <p:grpSp>
            <p:nvGrpSpPr>
              <p:cNvPr id="119871" name="Group 27"/>
              <p:cNvGrpSpPr/>
              <p:nvPr/>
            </p:nvGrpSpPr>
            <p:grpSpPr>
              <a:xfrm>
                <a:off x="1992" y="1805"/>
                <a:ext cx="212" cy="369"/>
                <a:chOff x="1919" y="498"/>
                <a:chExt cx="212" cy="369"/>
              </a:xfrm>
            </p:grpSpPr>
            <p:sp>
              <p:nvSpPr>
                <p:cNvPr id="119877" name="Oval 28"/>
                <p:cNvSpPr/>
                <p:nvPr/>
              </p:nvSpPr>
              <p:spPr>
                <a:xfrm>
                  <a:off x="1919"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19878" name="Text Box 29"/>
                <p:cNvSpPr txBox="1"/>
                <p:nvPr/>
              </p:nvSpPr>
              <p:spPr>
                <a:xfrm>
                  <a:off x="1935" y="498"/>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4</a:t>
                  </a:r>
                  <a:endParaRPr lang="en-US" altLang="zh-CN" b="0" dirty="0">
                    <a:solidFill>
                      <a:schemeClr val="tx1"/>
                    </a:solidFill>
                    <a:latin typeface="Times New Roman" panose="02020603050405020304" pitchFamily="18" charset="0"/>
                  </a:endParaRPr>
                </a:p>
              </p:txBody>
            </p:sp>
          </p:grpSp>
          <p:grpSp>
            <p:nvGrpSpPr>
              <p:cNvPr id="119872" name="Group 30"/>
              <p:cNvGrpSpPr/>
              <p:nvPr/>
            </p:nvGrpSpPr>
            <p:grpSpPr>
              <a:xfrm>
                <a:off x="1816" y="1472"/>
                <a:ext cx="212" cy="369"/>
                <a:chOff x="1782" y="1616"/>
                <a:chExt cx="212" cy="369"/>
              </a:xfrm>
            </p:grpSpPr>
            <p:sp>
              <p:nvSpPr>
                <p:cNvPr id="119875" name="Oval 31"/>
                <p:cNvSpPr/>
                <p:nvPr/>
              </p:nvSpPr>
              <p:spPr>
                <a:xfrm>
                  <a:off x="1782" y="1807"/>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endParaRPr lang="zh-CN" altLang="zh-CN" b="0" dirty="0">
                    <a:solidFill>
                      <a:schemeClr val="tx1"/>
                    </a:solidFill>
                    <a:latin typeface="Times New Roman" panose="02020603050405020304" pitchFamily="18" charset="0"/>
                  </a:endParaRPr>
                </a:p>
              </p:txBody>
            </p:sp>
            <p:sp>
              <p:nvSpPr>
                <p:cNvPr id="119876" name="Text Box 32"/>
                <p:cNvSpPr txBox="1"/>
                <p:nvPr/>
              </p:nvSpPr>
              <p:spPr>
                <a:xfrm>
                  <a:off x="1798" y="1616"/>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6</a:t>
                  </a:r>
                  <a:endParaRPr lang="en-US" altLang="zh-CN" b="0" dirty="0">
                    <a:solidFill>
                      <a:schemeClr val="tx1"/>
                    </a:solidFill>
                    <a:latin typeface="Times New Roman" panose="02020603050405020304" pitchFamily="18" charset="0"/>
                  </a:endParaRPr>
                </a:p>
              </p:txBody>
            </p:sp>
          </p:grpSp>
          <p:sp>
            <p:nvSpPr>
              <p:cNvPr id="305185" name="Line 33"/>
              <p:cNvSpPr>
                <a:spLocks noChangeShapeType="1"/>
              </p:cNvSpPr>
              <p:nvPr/>
            </p:nvSpPr>
            <p:spPr bwMode="auto">
              <a:xfrm flipH="1">
                <a:off x="1767" y="1833"/>
                <a:ext cx="100"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5186" name="Line 34"/>
              <p:cNvSpPr>
                <a:spLocks noChangeShapeType="1"/>
              </p:cNvSpPr>
              <p:nvPr/>
            </p:nvSpPr>
            <p:spPr bwMode="auto">
              <a:xfrm>
                <a:off x="1922" y="1833"/>
                <a:ext cx="112" cy="1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14" name="Group 35"/>
          <p:cNvGrpSpPr/>
          <p:nvPr/>
        </p:nvGrpSpPr>
        <p:grpSpPr>
          <a:xfrm>
            <a:off x="1504950" y="3825875"/>
            <a:ext cx="1970088" cy="1646238"/>
            <a:chOff x="948" y="2410"/>
            <a:chExt cx="1241" cy="1037"/>
          </a:xfrm>
        </p:grpSpPr>
        <p:grpSp>
          <p:nvGrpSpPr>
            <p:cNvPr id="119843" name="Group 36"/>
            <p:cNvGrpSpPr/>
            <p:nvPr/>
          </p:nvGrpSpPr>
          <p:grpSpPr>
            <a:xfrm>
              <a:off x="948" y="2410"/>
              <a:ext cx="220" cy="371"/>
              <a:chOff x="1022" y="496"/>
              <a:chExt cx="220" cy="371"/>
            </a:xfrm>
          </p:grpSpPr>
          <p:sp>
            <p:nvSpPr>
              <p:cNvPr id="119865" name="Oval 37"/>
              <p:cNvSpPr/>
              <p:nvPr/>
            </p:nvSpPr>
            <p:spPr>
              <a:xfrm>
                <a:off x="1022"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19866" name="Text Box 38"/>
              <p:cNvSpPr txBox="1"/>
              <p:nvPr/>
            </p:nvSpPr>
            <p:spPr>
              <a:xfrm>
                <a:off x="1046" y="496"/>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grpSp>
        <p:grpSp>
          <p:nvGrpSpPr>
            <p:cNvPr id="119844" name="Group 39"/>
            <p:cNvGrpSpPr/>
            <p:nvPr/>
          </p:nvGrpSpPr>
          <p:grpSpPr>
            <a:xfrm>
              <a:off x="1400" y="2418"/>
              <a:ext cx="789" cy="1029"/>
              <a:chOff x="1645" y="2663"/>
              <a:chExt cx="789" cy="1029"/>
            </a:xfrm>
          </p:grpSpPr>
          <p:grpSp>
            <p:nvGrpSpPr>
              <p:cNvPr id="119845" name="Group 40"/>
              <p:cNvGrpSpPr/>
              <p:nvPr/>
            </p:nvGrpSpPr>
            <p:grpSpPr>
              <a:xfrm>
                <a:off x="1645" y="3011"/>
                <a:ext cx="204" cy="359"/>
                <a:chOff x="1321" y="508"/>
                <a:chExt cx="193" cy="359"/>
              </a:xfrm>
            </p:grpSpPr>
            <p:sp>
              <p:nvSpPr>
                <p:cNvPr id="119863" name="Oval 41"/>
                <p:cNvSpPr/>
                <p:nvPr/>
              </p:nvSpPr>
              <p:spPr>
                <a:xfrm>
                  <a:off x="1321"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19864" name="Text Box 42"/>
                <p:cNvSpPr txBox="1"/>
                <p:nvPr/>
              </p:nvSpPr>
              <p:spPr>
                <a:xfrm>
                  <a:off x="1329" y="508"/>
                  <a:ext cx="185"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grpSp>
          <p:grpSp>
            <p:nvGrpSpPr>
              <p:cNvPr id="119846" name="Group 43"/>
              <p:cNvGrpSpPr/>
              <p:nvPr/>
            </p:nvGrpSpPr>
            <p:grpSpPr>
              <a:xfrm>
                <a:off x="1857" y="2990"/>
                <a:ext cx="577" cy="702"/>
                <a:chOff x="1627" y="1472"/>
                <a:chExt cx="577" cy="702"/>
              </a:xfrm>
            </p:grpSpPr>
            <p:grpSp>
              <p:nvGrpSpPr>
                <p:cNvPr id="119852" name="Group 44"/>
                <p:cNvGrpSpPr/>
                <p:nvPr/>
              </p:nvGrpSpPr>
              <p:grpSpPr>
                <a:xfrm>
                  <a:off x="1627" y="1804"/>
                  <a:ext cx="201" cy="370"/>
                  <a:chOff x="1620" y="497"/>
                  <a:chExt cx="201" cy="370"/>
                </a:xfrm>
              </p:grpSpPr>
              <p:sp>
                <p:nvSpPr>
                  <p:cNvPr id="119861" name="Oval 45"/>
                  <p:cNvSpPr/>
                  <p:nvPr/>
                </p:nvSpPr>
                <p:spPr>
                  <a:xfrm>
                    <a:off x="1620"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19862" name="Text Box 46"/>
                  <p:cNvSpPr txBox="1"/>
                  <p:nvPr/>
                </p:nvSpPr>
                <p:spPr>
                  <a:xfrm>
                    <a:off x="1625" y="497"/>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2</a:t>
                    </a:r>
                    <a:endParaRPr lang="en-US" altLang="zh-CN" b="0" dirty="0">
                      <a:solidFill>
                        <a:schemeClr val="tx1"/>
                      </a:solidFill>
                      <a:latin typeface="Times New Roman" panose="02020603050405020304" pitchFamily="18" charset="0"/>
                    </a:endParaRPr>
                  </a:p>
                </p:txBody>
              </p:sp>
            </p:grpSp>
            <p:grpSp>
              <p:nvGrpSpPr>
                <p:cNvPr id="119853" name="Group 47"/>
                <p:cNvGrpSpPr/>
                <p:nvPr/>
              </p:nvGrpSpPr>
              <p:grpSpPr>
                <a:xfrm>
                  <a:off x="1992" y="1805"/>
                  <a:ext cx="212" cy="369"/>
                  <a:chOff x="1919" y="498"/>
                  <a:chExt cx="212" cy="369"/>
                </a:xfrm>
              </p:grpSpPr>
              <p:sp>
                <p:nvSpPr>
                  <p:cNvPr id="119859" name="Oval 48"/>
                  <p:cNvSpPr/>
                  <p:nvPr/>
                </p:nvSpPr>
                <p:spPr>
                  <a:xfrm>
                    <a:off x="1919"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19860" name="Text Box 49"/>
                  <p:cNvSpPr txBox="1"/>
                  <p:nvPr/>
                </p:nvSpPr>
                <p:spPr>
                  <a:xfrm>
                    <a:off x="1935" y="498"/>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4</a:t>
                    </a:r>
                    <a:endParaRPr lang="en-US" altLang="zh-CN" b="0" dirty="0">
                      <a:solidFill>
                        <a:schemeClr val="tx1"/>
                      </a:solidFill>
                      <a:latin typeface="Times New Roman" panose="02020603050405020304" pitchFamily="18" charset="0"/>
                    </a:endParaRPr>
                  </a:p>
                </p:txBody>
              </p:sp>
            </p:grpSp>
            <p:grpSp>
              <p:nvGrpSpPr>
                <p:cNvPr id="119854" name="Group 50"/>
                <p:cNvGrpSpPr/>
                <p:nvPr/>
              </p:nvGrpSpPr>
              <p:grpSpPr>
                <a:xfrm>
                  <a:off x="1816" y="1472"/>
                  <a:ext cx="212" cy="369"/>
                  <a:chOff x="1782" y="1616"/>
                  <a:chExt cx="212" cy="369"/>
                </a:xfrm>
              </p:grpSpPr>
              <p:sp>
                <p:nvSpPr>
                  <p:cNvPr id="119857" name="Oval 51"/>
                  <p:cNvSpPr/>
                  <p:nvPr/>
                </p:nvSpPr>
                <p:spPr>
                  <a:xfrm>
                    <a:off x="1782" y="1807"/>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endParaRPr lang="zh-CN" altLang="zh-CN" b="0" dirty="0">
                      <a:solidFill>
                        <a:schemeClr val="tx1"/>
                      </a:solidFill>
                      <a:latin typeface="Times New Roman" panose="02020603050405020304" pitchFamily="18" charset="0"/>
                    </a:endParaRPr>
                  </a:p>
                </p:txBody>
              </p:sp>
              <p:sp>
                <p:nvSpPr>
                  <p:cNvPr id="119858" name="Text Box 52"/>
                  <p:cNvSpPr txBox="1"/>
                  <p:nvPr/>
                </p:nvSpPr>
                <p:spPr>
                  <a:xfrm>
                    <a:off x="1798" y="1616"/>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6</a:t>
                    </a:r>
                    <a:endParaRPr lang="en-US" altLang="zh-CN" b="0" dirty="0">
                      <a:solidFill>
                        <a:schemeClr val="tx1"/>
                      </a:solidFill>
                      <a:latin typeface="Times New Roman" panose="02020603050405020304" pitchFamily="18" charset="0"/>
                    </a:endParaRPr>
                  </a:p>
                </p:txBody>
              </p:sp>
            </p:grpSp>
            <p:sp>
              <p:nvSpPr>
                <p:cNvPr id="305205" name="Line 53"/>
                <p:cNvSpPr>
                  <a:spLocks noChangeShapeType="1"/>
                </p:cNvSpPr>
                <p:nvPr/>
              </p:nvSpPr>
              <p:spPr bwMode="auto">
                <a:xfrm flipH="1">
                  <a:off x="1767" y="1833"/>
                  <a:ext cx="100"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5206" name="Line 54"/>
                <p:cNvSpPr>
                  <a:spLocks noChangeShapeType="1"/>
                </p:cNvSpPr>
                <p:nvPr/>
              </p:nvSpPr>
              <p:spPr bwMode="auto">
                <a:xfrm>
                  <a:off x="1922" y="1833"/>
                  <a:ext cx="112" cy="1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19847" name="Group 55"/>
              <p:cNvGrpSpPr/>
              <p:nvPr/>
            </p:nvGrpSpPr>
            <p:grpSpPr>
              <a:xfrm>
                <a:off x="1809" y="2663"/>
                <a:ext cx="276" cy="359"/>
                <a:chOff x="1291" y="508"/>
                <a:chExt cx="261" cy="359"/>
              </a:xfrm>
            </p:grpSpPr>
            <p:sp>
              <p:nvSpPr>
                <p:cNvPr id="119850" name="Oval 56"/>
                <p:cNvSpPr/>
                <p:nvPr/>
              </p:nvSpPr>
              <p:spPr>
                <a:xfrm>
                  <a:off x="1321"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endParaRPr lang="zh-CN" altLang="zh-CN" b="0" dirty="0">
                    <a:solidFill>
                      <a:schemeClr val="tx1"/>
                    </a:solidFill>
                    <a:latin typeface="Times New Roman" panose="02020603050405020304" pitchFamily="18" charset="0"/>
                  </a:endParaRPr>
                </a:p>
              </p:txBody>
            </p:sp>
            <p:sp>
              <p:nvSpPr>
                <p:cNvPr id="119851" name="Text Box 57"/>
                <p:cNvSpPr txBox="1"/>
                <p:nvPr/>
              </p:nvSpPr>
              <p:spPr>
                <a:xfrm>
                  <a:off x="1291" y="508"/>
                  <a:ext cx="261"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sp>
            <p:nvSpPr>
              <p:cNvPr id="305210" name="Line 58"/>
              <p:cNvSpPr>
                <a:spLocks noChangeShapeType="1"/>
              </p:cNvSpPr>
              <p:nvPr/>
            </p:nvSpPr>
            <p:spPr bwMode="auto">
              <a:xfrm flipH="1">
                <a:off x="1800" y="3011"/>
                <a:ext cx="89" cy="200"/>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5211" name="Line 59"/>
              <p:cNvSpPr>
                <a:spLocks noChangeShapeType="1"/>
              </p:cNvSpPr>
              <p:nvPr/>
            </p:nvSpPr>
            <p:spPr bwMode="auto">
              <a:xfrm>
                <a:off x="1978" y="3011"/>
                <a:ext cx="100" cy="200"/>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23" name="Group 60"/>
          <p:cNvGrpSpPr/>
          <p:nvPr/>
        </p:nvGrpSpPr>
        <p:grpSpPr>
          <a:xfrm>
            <a:off x="5521325" y="2349500"/>
            <a:ext cx="1633538" cy="2181225"/>
            <a:chOff x="3478" y="1480"/>
            <a:chExt cx="1029" cy="1374"/>
          </a:xfrm>
        </p:grpSpPr>
        <p:grpSp>
          <p:nvGrpSpPr>
            <p:cNvPr id="119814" name="Group 61"/>
            <p:cNvGrpSpPr/>
            <p:nvPr/>
          </p:nvGrpSpPr>
          <p:grpSpPr>
            <a:xfrm>
              <a:off x="3478" y="1817"/>
              <a:ext cx="220" cy="371"/>
              <a:chOff x="1022" y="496"/>
              <a:chExt cx="220" cy="371"/>
            </a:xfrm>
          </p:grpSpPr>
          <p:sp>
            <p:nvSpPr>
              <p:cNvPr id="119841" name="Oval 62"/>
              <p:cNvSpPr/>
              <p:nvPr/>
            </p:nvSpPr>
            <p:spPr>
              <a:xfrm>
                <a:off x="1022"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a</a:t>
                </a:r>
                <a:endParaRPr lang="en-US" altLang="zh-CN" b="0" dirty="0">
                  <a:solidFill>
                    <a:schemeClr val="tx1"/>
                  </a:solidFill>
                  <a:latin typeface="Times New Roman" panose="02020603050405020304" pitchFamily="18" charset="0"/>
                </a:endParaRPr>
              </a:p>
            </p:txBody>
          </p:sp>
          <p:sp>
            <p:nvSpPr>
              <p:cNvPr id="119842" name="Text Box 63"/>
              <p:cNvSpPr txBox="1"/>
              <p:nvPr/>
            </p:nvSpPr>
            <p:spPr>
              <a:xfrm>
                <a:off x="1046" y="496"/>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grpSp>
        <p:grpSp>
          <p:nvGrpSpPr>
            <p:cNvPr id="119815" name="Group 64"/>
            <p:cNvGrpSpPr/>
            <p:nvPr/>
          </p:nvGrpSpPr>
          <p:grpSpPr>
            <a:xfrm>
              <a:off x="3718" y="1825"/>
              <a:ext cx="789" cy="1029"/>
              <a:chOff x="1645" y="2663"/>
              <a:chExt cx="789" cy="1029"/>
            </a:xfrm>
          </p:grpSpPr>
          <p:grpSp>
            <p:nvGrpSpPr>
              <p:cNvPr id="119821" name="Group 65"/>
              <p:cNvGrpSpPr/>
              <p:nvPr/>
            </p:nvGrpSpPr>
            <p:grpSpPr>
              <a:xfrm>
                <a:off x="1645" y="3011"/>
                <a:ext cx="204" cy="359"/>
                <a:chOff x="1321" y="508"/>
                <a:chExt cx="193" cy="359"/>
              </a:xfrm>
            </p:grpSpPr>
            <p:sp>
              <p:nvSpPr>
                <p:cNvPr id="119839" name="Oval 66"/>
                <p:cNvSpPr/>
                <p:nvPr/>
              </p:nvSpPr>
              <p:spPr>
                <a:xfrm>
                  <a:off x="1321"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b</a:t>
                  </a:r>
                  <a:endParaRPr lang="en-US" altLang="zh-CN" b="0" dirty="0">
                    <a:solidFill>
                      <a:schemeClr val="tx1"/>
                    </a:solidFill>
                    <a:latin typeface="Times New Roman" panose="02020603050405020304" pitchFamily="18" charset="0"/>
                  </a:endParaRPr>
                </a:p>
              </p:txBody>
            </p:sp>
            <p:sp>
              <p:nvSpPr>
                <p:cNvPr id="119840" name="Text Box 67"/>
                <p:cNvSpPr txBox="1"/>
                <p:nvPr/>
              </p:nvSpPr>
              <p:spPr>
                <a:xfrm>
                  <a:off x="1329" y="508"/>
                  <a:ext cx="185"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grpSp>
          <p:grpSp>
            <p:nvGrpSpPr>
              <p:cNvPr id="119822" name="Group 68"/>
              <p:cNvGrpSpPr/>
              <p:nvPr/>
            </p:nvGrpSpPr>
            <p:grpSpPr>
              <a:xfrm>
                <a:off x="1857" y="2990"/>
                <a:ext cx="577" cy="702"/>
                <a:chOff x="1627" y="1472"/>
                <a:chExt cx="577" cy="702"/>
              </a:xfrm>
            </p:grpSpPr>
            <p:grpSp>
              <p:nvGrpSpPr>
                <p:cNvPr id="119828" name="Group 69"/>
                <p:cNvGrpSpPr/>
                <p:nvPr/>
              </p:nvGrpSpPr>
              <p:grpSpPr>
                <a:xfrm>
                  <a:off x="1627" y="1804"/>
                  <a:ext cx="201" cy="370"/>
                  <a:chOff x="1620" y="497"/>
                  <a:chExt cx="201" cy="370"/>
                </a:xfrm>
              </p:grpSpPr>
              <p:sp>
                <p:nvSpPr>
                  <p:cNvPr id="119837" name="Oval 70"/>
                  <p:cNvSpPr/>
                  <p:nvPr/>
                </p:nvSpPr>
                <p:spPr>
                  <a:xfrm>
                    <a:off x="1620"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c</a:t>
                    </a:r>
                    <a:endParaRPr lang="en-US" altLang="zh-CN" b="0" dirty="0">
                      <a:solidFill>
                        <a:schemeClr val="tx1"/>
                      </a:solidFill>
                      <a:latin typeface="Times New Roman" panose="02020603050405020304" pitchFamily="18" charset="0"/>
                    </a:endParaRPr>
                  </a:p>
                </p:txBody>
              </p:sp>
              <p:sp>
                <p:nvSpPr>
                  <p:cNvPr id="119838" name="Text Box 71"/>
                  <p:cNvSpPr txBox="1"/>
                  <p:nvPr/>
                </p:nvSpPr>
                <p:spPr>
                  <a:xfrm>
                    <a:off x="1625" y="497"/>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2</a:t>
                    </a:r>
                    <a:endParaRPr lang="en-US" altLang="zh-CN" b="0" dirty="0">
                      <a:solidFill>
                        <a:schemeClr val="tx1"/>
                      </a:solidFill>
                      <a:latin typeface="Times New Roman" panose="02020603050405020304" pitchFamily="18" charset="0"/>
                    </a:endParaRPr>
                  </a:p>
                </p:txBody>
              </p:sp>
            </p:grpSp>
            <p:grpSp>
              <p:nvGrpSpPr>
                <p:cNvPr id="119829" name="Group 72"/>
                <p:cNvGrpSpPr/>
                <p:nvPr/>
              </p:nvGrpSpPr>
              <p:grpSpPr>
                <a:xfrm>
                  <a:off x="1992" y="1805"/>
                  <a:ext cx="212" cy="369"/>
                  <a:chOff x="1919" y="498"/>
                  <a:chExt cx="212" cy="369"/>
                </a:xfrm>
              </p:grpSpPr>
              <p:sp>
                <p:nvSpPr>
                  <p:cNvPr id="119835" name="Oval 73"/>
                  <p:cNvSpPr/>
                  <p:nvPr/>
                </p:nvSpPr>
                <p:spPr>
                  <a:xfrm>
                    <a:off x="1919"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d</a:t>
                    </a:r>
                    <a:endParaRPr lang="en-US" altLang="zh-CN" b="0" dirty="0">
                      <a:solidFill>
                        <a:schemeClr val="tx1"/>
                      </a:solidFill>
                      <a:latin typeface="Times New Roman" panose="02020603050405020304" pitchFamily="18" charset="0"/>
                    </a:endParaRPr>
                  </a:p>
                </p:txBody>
              </p:sp>
              <p:sp>
                <p:nvSpPr>
                  <p:cNvPr id="119836" name="Text Box 74"/>
                  <p:cNvSpPr txBox="1"/>
                  <p:nvPr/>
                </p:nvSpPr>
                <p:spPr>
                  <a:xfrm>
                    <a:off x="1935" y="498"/>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4</a:t>
                    </a:r>
                    <a:endParaRPr lang="en-US" altLang="zh-CN" b="0" dirty="0">
                      <a:solidFill>
                        <a:schemeClr val="tx1"/>
                      </a:solidFill>
                      <a:latin typeface="Times New Roman" panose="02020603050405020304" pitchFamily="18" charset="0"/>
                    </a:endParaRPr>
                  </a:p>
                </p:txBody>
              </p:sp>
            </p:grpSp>
            <p:grpSp>
              <p:nvGrpSpPr>
                <p:cNvPr id="119830" name="Group 75"/>
                <p:cNvGrpSpPr/>
                <p:nvPr/>
              </p:nvGrpSpPr>
              <p:grpSpPr>
                <a:xfrm>
                  <a:off x="1816" y="1472"/>
                  <a:ext cx="212" cy="369"/>
                  <a:chOff x="1782" y="1616"/>
                  <a:chExt cx="212" cy="369"/>
                </a:xfrm>
              </p:grpSpPr>
              <p:sp>
                <p:nvSpPr>
                  <p:cNvPr id="119833" name="Oval 76"/>
                  <p:cNvSpPr/>
                  <p:nvPr/>
                </p:nvSpPr>
                <p:spPr>
                  <a:xfrm>
                    <a:off x="1782" y="1807"/>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endParaRPr lang="zh-CN" altLang="zh-CN" b="0" dirty="0">
                      <a:solidFill>
                        <a:schemeClr val="tx1"/>
                      </a:solidFill>
                      <a:latin typeface="Times New Roman" panose="02020603050405020304" pitchFamily="18" charset="0"/>
                    </a:endParaRPr>
                  </a:p>
                </p:txBody>
              </p:sp>
              <p:sp>
                <p:nvSpPr>
                  <p:cNvPr id="119834" name="Text Box 77"/>
                  <p:cNvSpPr txBox="1"/>
                  <p:nvPr/>
                </p:nvSpPr>
                <p:spPr>
                  <a:xfrm>
                    <a:off x="1798" y="1616"/>
                    <a:ext cx="19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6</a:t>
                    </a:r>
                    <a:endParaRPr lang="en-US" altLang="zh-CN" b="0" dirty="0">
                      <a:solidFill>
                        <a:schemeClr val="tx1"/>
                      </a:solidFill>
                      <a:latin typeface="Times New Roman" panose="02020603050405020304" pitchFamily="18" charset="0"/>
                    </a:endParaRPr>
                  </a:p>
                </p:txBody>
              </p:sp>
            </p:grpSp>
            <p:sp>
              <p:nvSpPr>
                <p:cNvPr id="305230" name="Line 78"/>
                <p:cNvSpPr>
                  <a:spLocks noChangeShapeType="1"/>
                </p:cNvSpPr>
                <p:nvPr/>
              </p:nvSpPr>
              <p:spPr bwMode="auto">
                <a:xfrm flipH="1">
                  <a:off x="1767" y="1833"/>
                  <a:ext cx="100" cy="189"/>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5231" name="Line 79"/>
                <p:cNvSpPr>
                  <a:spLocks noChangeShapeType="1"/>
                </p:cNvSpPr>
                <p:nvPr/>
              </p:nvSpPr>
              <p:spPr bwMode="auto">
                <a:xfrm>
                  <a:off x="1922" y="1833"/>
                  <a:ext cx="112" cy="178"/>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19823" name="Group 80"/>
              <p:cNvGrpSpPr/>
              <p:nvPr/>
            </p:nvGrpSpPr>
            <p:grpSpPr>
              <a:xfrm>
                <a:off x="1809" y="2663"/>
                <a:ext cx="276" cy="359"/>
                <a:chOff x="1291" y="508"/>
                <a:chExt cx="261" cy="359"/>
              </a:xfrm>
            </p:grpSpPr>
            <p:sp>
              <p:nvSpPr>
                <p:cNvPr id="119826" name="Oval 81"/>
                <p:cNvSpPr/>
                <p:nvPr/>
              </p:nvSpPr>
              <p:spPr>
                <a:xfrm>
                  <a:off x="1321"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endParaRPr lang="zh-CN" altLang="zh-CN" b="0" dirty="0">
                    <a:solidFill>
                      <a:schemeClr val="tx1"/>
                    </a:solidFill>
                    <a:latin typeface="Times New Roman" panose="02020603050405020304" pitchFamily="18" charset="0"/>
                  </a:endParaRPr>
                </a:p>
              </p:txBody>
            </p:sp>
            <p:sp>
              <p:nvSpPr>
                <p:cNvPr id="119827" name="Text Box 82"/>
                <p:cNvSpPr txBox="1"/>
                <p:nvPr/>
              </p:nvSpPr>
              <p:spPr>
                <a:xfrm>
                  <a:off x="1291" y="508"/>
                  <a:ext cx="261"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sp>
            <p:nvSpPr>
              <p:cNvPr id="305235" name="Line 83"/>
              <p:cNvSpPr>
                <a:spLocks noChangeShapeType="1"/>
              </p:cNvSpPr>
              <p:nvPr/>
            </p:nvSpPr>
            <p:spPr bwMode="auto">
              <a:xfrm flipH="1">
                <a:off x="1800" y="3011"/>
                <a:ext cx="89" cy="200"/>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5236" name="Line 84"/>
              <p:cNvSpPr>
                <a:spLocks noChangeShapeType="1"/>
              </p:cNvSpPr>
              <p:nvPr/>
            </p:nvSpPr>
            <p:spPr bwMode="auto">
              <a:xfrm>
                <a:off x="1978" y="3011"/>
                <a:ext cx="100" cy="200"/>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19816" name="Group 85"/>
            <p:cNvGrpSpPr/>
            <p:nvPr/>
          </p:nvGrpSpPr>
          <p:grpSpPr>
            <a:xfrm>
              <a:off x="3681" y="1480"/>
              <a:ext cx="276" cy="371"/>
              <a:chOff x="1006" y="496"/>
              <a:chExt cx="276" cy="371"/>
            </a:xfrm>
          </p:grpSpPr>
          <p:sp>
            <p:nvSpPr>
              <p:cNvPr id="119819" name="Oval 86"/>
              <p:cNvSpPr/>
              <p:nvPr/>
            </p:nvSpPr>
            <p:spPr>
              <a:xfrm>
                <a:off x="1022" y="689"/>
                <a:ext cx="167" cy="178"/>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endParaRPr lang="zh-CN" altLang="zh-CN" b="0" dirty="0">
                  <a:solidFill>
                    <a:schemeClr val="tx1"/>
                  </a:solidFill>
                  <a:latin typeface="Times New Roman" panose="02020603050405020304" pitchFamily="18" charset="0"/>
                </a:endParaRPr>
              </a:p>
            </p:txBody>
          </p:sp>
          <p:sp>
            <p:nvSpPr>
              <p:cNvPr id="119820" name="Text Box 87"/>
              <p:cNvSpPr txBox="1"/>
              <p:nvPr/>
            </p:nvSpPr>
            <p:spPr>
              <a:xfrm>
                <a:off x="1006" y="496"/>
                <a:ext cx="276" cy="250"/>
              </a:xfrm>
              <a:prstGeom prst="rect">
                <a:avLst/>
              </a:prstGeom>
              <a:noFill/>
              <a:ln w="9525">
                <a:noFill/>
              </a:ln>
            </p:spPr>
            <p:txBody>
              <a:bodyPr wrap="none" anchor="ctr" anchorCtr="0">
                <a:spAutoFit/>
              </a:bodyPr>
              <a:p>
                <a:pPr algn="ctr" eaLnBrk="1" hangingPunct="1"/>
                <a:r>
                  <a:rPr lang="en-US" altLang="zh-CN" b="0" dirty="0">
                    <a:solidFill>
                      <a:schemeClr val="tx1"/>
                    </a:solidFill>
                    <a:latin typeface="Times New Roman" panose="02020603050405020304" pitchFamily="18" charset="0"/>
                  </a:rPr>
                  <a:t>18</a:t>
                </a:r>
                <a:endParaRPr lang="en-US" altLang="zh-CN" b="0" dirty="0">
                  <a:solidFill>
                    <a:schemeClr val="tx1"/>
                  </a:solidFill>
                  <a:latin typeface="Times New Roman" panose="02020603050405020304" pitchFamily="18" charset="0"/>
                </a:endParaRPr>
              </a:p>
            </p:txBody>
          </p:sp>
        </p:grpSp>
        <p:sp>
          <p:nvSpPr>
            <p:cNvPr id="305240" name="Line 88"/>
            <p:cNvSpPr>
              <a:spLocks noChangeShapeType="1"/>
            </p:cNvSpPr>
            <p:nvPr/>
          </p:nvSpPr>
          <p:spPr bwMode="auto">
            <a:xfrm flipH="1">
              <a:off x="3623" y="1822"/>
              <a:ext cx="111" cy="211"/>
            </a:xfrm>
            <a:prstGeom prst="line">
              <a:avLst/>
            </a:prstGeom>
            <a:noFill/>
            <a:ln w="9525">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5241" name="Line 89"/>
            <p:cNvSpPr>
              <a:spLocks noChangeShapeType="1"/>
            </p:cNvSpPr>
            <p:nvPr/>
          </p:nvSpPr>
          <p:spPr bwMode="auto">
            <a:xfrm>
              <a:off x="3812" y="1844"/>
              <a:ext cx="122" cy="200"/>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0-#ppt_w/2"/>
                                          </p:val>
                                        </p:tav>
                                        <p:tav tm="100000">
                                          <p:val>
                                            <p:strVal val="#ppt_x"/>
                                          </p:val>
                                        </p:tav>
                                      </p:tavLst>
                                    </p:anim>
                                    <p:anim calcmode="lin" valueType="num">
                                      <p:cBhvr additive="base">
                                        <p:cTn id="26" dur="500" fill="hold"/>
                                        <p:tgtEl>
                                          <p:spTgt spid="2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6178" name="Text Box 2"/>
          <p:cNvSpPr txBox="1"/>
          <p:nvPr/>
        </p:nvSpPr>
        <p:spPr>
          <a:xfrm>
            <a:off x="711200" y="438150"/>
            <a:ext cx="3613150" cy="396875"/>
          </a:xfrm>
          <a:prstGeom prst="rect">
            <a:avLst/>
          </a:prstGeom>
          <a:noFill/>
          <a:ln w="9525">
            <a:noFill/>
          </a:ln>
        </p:spPr>
        <p:txBody>
          <a:bodyPr wrap="none" anchor="ctr" anchorCtr="0">
            <a:spAutoFit/>
          </a:bodyPr>
          <a:p>
            <a:pPr eaLnBrk="1" hangingPunct="1"/>
            <a:r>
              <a:rPr lang="zh-CN" altLang="en-US" b="0" dirty="0">
                <a:solidFill>
                  <a:schemeClr val="tx1"/>
                </a:solidFill>
                <a:latin typeface="Times New Roman" panose="02020603050405020304" pitchFamily="18" charset="0"/>
              </a:rPr>
              <a:t>例   </a:t>
            </a:r>
            <a:r>
              <a:rPr lang="en-US" altLang="zh-CN" b="0" dirty="0">
                <a:solidFill>
                  <a:schemeClr val="tx1"/>
                </a:solidFill>
                <a:latin typeface="Times New Roman" panose="02020603050405020304" pitchFamily="18" charset="0"/>
              </a:rPr>
              <a:t>w={5, 29, 7, 8, 14, 23, 3, 11}</a:t>
            </a:r>
            <a:endParaRPr lang="en-US" altLang="zh-CN" b="0" dirty="0">
              <a:solidFill>
                <a:schemeClr val="tx1"/>
              </a:solidFill>
              <a:latin typeface="Times New Roman" panose="02020603050405020304" pitchFamily="18" charset="0"/>
            </a:endParaRPr>
          </a:p>
        </p:txBody>
      </p:sp>
      <p:grpSp>
        <p:nvGrpSpPr>
          <p:cNvPr id="2" name="Group 3"/>
          <p:cNvGrpSpPr/>
          <p:nvPr/>
        </p:nvGrpSpPr>
        <p:grpSpPr>
          <a:xfrm>
            <a:off x="1200150" y="1217613"/>
            <a:ext cx="3030538" cy="300037"/>
            <a:chOff x="756" y="567"/>
            <a:chExt cx="1909" cy="189"/>
          </a:xfrm>
        </p:grpSpPr>
        <p:sp>
          <p:nvSpPr>
            <p:cNvPr id="121010" name="Oval 4"/>
            <p:cNvSpPr/>
            <p:nvPr/>
          </p:nvSpPr>
          <p:spPr>
            <a:xfrm>
              <a:off x="756"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1011" name="Oval 5"/>
            <p:cNvSpPr/>
            <p:nvPr/>
          </p:nvSpPr>
          <p:spPr>
            <a:xfrm>
              <a:off x="1738"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sp>
          <p:nvSpPr>
            <p:cNvPr id="121012" name="Oval 6"/>
            <p:cNvSpPr/>
            <p:nvPr/>
          </p:nvSpPr>
          <p:spPr>
            <a:xfrm>
              <a:off x="1001"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121013" name="Oval 7"/>
            <p:cNvSpPr/>
            <p:nvPr/>
          </p:nvSpPr>
          <p:spPr>
            <a:xfrm>
              <a:off x="1247"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1014" name="Oval 8"/>
            <p:cNvSpPr/>
            <p:nvPr/>
          </p:nvSpPr>
          <p:spPr>
            <a:xfrm>
              <a:off x="1493"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1015" name="Oval 9"/>
            <p:cNvSpPr/>
            <p:nvPr/>
          </p:nvSpPr>
          <p:spPr>
            <a:xfrm>
              <a:off x="1984"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sp>
          <p:nvSpPr>
            <p:cNvPr id="121016" name="Oval 10"/>
            <p:cNvSpPr/>
            <p:nvPr/>
          </p:nvSpPr>
          <p:spPr>
            <a:xfrm>
              <a:off x="2230"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1017" name="Oval 11"/>
            <p:cNvSpPr/>
            <p:nvPr/>
          </p:nvSpPr>
          <p:spPr>
            <a:xfrm>
              <a:off x="2476" y="56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grpSp>
        <p:nvGrpSpPr>
          <p:cNvPr id="3" name="Group 12"/>
          <p:cNvGrpSpPr/>
          <p:nvPr/>
        </p:nvGrpSpPr>
        <p:grpSpPr>
          <a:xfrm>
            <a:off x="1211263" y="1670050"/>
            <a:ext cx="2792412" cy="733425"/>
            <a:chOff x="674" y="1452"/>
            <a:chExt cx="1759" cy="462"/>
          </a:xfrm>
        </p:grpSpPr>
        <p:sp>
          <p:nvSpPr>
            <p:cNvPr id="120998" name="Oval 13"/>
            <p:cNvSpPr/>
            <p:nvPr/>
          </p:nvSpPr>
          <p:spPr>
            <a:xfrm>
              <a:off x="1411" y="145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sp>
          <p:nvSpPr>
            <p:cNvPr id="120999" name="Oval 14"/>
            <p:cNvSpPr/>
            <p:nvPr/>
          </p:nvSpPr>
          <p:spPr>
            <a:xfrm>
              <a:off x="674" y="145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121000" name="Oval 15"/>
            <p:cNvSpPr/>
            <p:nvPr/>
          </p:nvSpPr>
          <p:spPr>
            <a:xfrm>
              <a:off x="920" y="145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1001" name="Oval 16"/>
            <p:cNvSpPr/>
            <p:nvPr/>
          </p:nvSpPr>
          <p:spPr>
            <a:xfrm>
              <a:off x="1166" y="145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1002" name="Oval 17"/>
            <p:cNvSpPr/>
            <p:nvPr/>
          </p:nvSpPr>
          <p:spPr>
            <a:xfrm>
              <a:off x="1657" y="145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sp>
          <p:nvSpPr>
            <p:cNvPr id="121003" name="Oval 18"/>
            <p:cNvSpPr/>
            <p:nvPr/>
          </p:nvSpPr>
          <p:spPr>
            <a:xfrm>
              <a:off x="1893" y="145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nvGrpSpPr>
            <p:cNvPr id="121004" name="Group 19"/>
            <p:cNvGrpSpPr/>
            <p:nvPr/>
          </p:nvGrpSpPr>
          <p:grpSpPr>
            <a:xfrm>
              <a:off x="1926" y="1455"/>
              <a:ext cx="507" cy="459"/>
              <a:chOff x="1596" y="1881"/>
              <a:chExt cx="507" cy="459"/>
            </a:xfrm>
          </p:grpSpPr>
          <p:sp>
            <p:nvSpPr>
              <p:cNvPr id="121005" name="Oval 20"/>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1006" name="Oval 21"/>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1007" name="Oval 22"/>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306199" name="Line 23"/>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00" name="Line 24"/>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5" name="Group 25"/>
          <p:cNvGrpSpPr/>
          <p:nvPr/>
        </p:nvGrpSpPr>
        <p:grpSpPr>
          <a:xfrm>
            <a:off x="1204913" y="2527300"/>
            <a:ext cx="2913062" cy="747713"/>
            <a:chOff x="714" y="2169"/>
            <a:chExt cx="1835" cy="471"/>
          </a:xfrm>
        </p:grpSpPr>
        <p:grpSp>
          <p:nvGrpSpPr>
            <p:cNvPr id="120982" name="Group 26"/>
            <p:cNvGrpSpPr/>
            <p:nvPr/>
          </p:nvGrpSpPr>
          <p:grpSpPr>
            <a:xfrm>
              <a:off x="2042" y="2181"/>
              <a:ext cx="507" cy="459"/>
              <a:chOff x="1596" y="1881"/>
              <a:chExt cx="507" cy="459"/>
            </a:xfrm>
          </p:grpSpPr>
          <p:sp>
            <p:nvSpPr>
              <p:cNvPr id="120993" name="Oval 27"/>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0994" name="Oval 28"/>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0995" name="Oval 29"/>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15</a:t>
                </a:r>
                <a:endParaRPr lang="en-US" altLang="zh-CN" b="0" dirty="0">
                  <a:solidFill>
                    <a:schemeClr val="tx1"/>
                  </a:solidFill>
                  <a:latin typeface="Times New Roman" panose="02020603050405020304" pitchFamily="18" charset="0"/>
                </a:endParaRPr>
              </a:p>
            </p:txBody>
          </p:sp>
          <p:sp>
            <p:nvSpPr>
              <p:cNvPr id="306206" name="Line 30"/>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07" name="Line 31"/>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83" name="Oval 32"/>
            <p:cNvSpPr/>
            <p:nvPr/>
          </p:nvSpPr>
          <p:spPr>
            <a:xfrm>
              <a:off x="940" y="217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sp>
          <p:nvSpPr>
            <p:cNvPr id="120984" name="Oval 33"/>
            <p:cNvSpPr/>
            <p:nvPr/>
          </p:nvSpPr>
          <p:spPr>
            <a:xfrm>
              <a:off x="714" y="217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120985" name="Oval 34"/>
            <p:cNvSpPr/>
            <p:nvPr/>
          </p:nvSpPr>
          <p:spPr>
            <a:xfrm>
              <a:off x="1186" y="217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grpSp>
          <p:nvGrpSpPr>
            <p:cNvPr id="120986" name="Group 35"/>
            <p:cNvGrpSpPr/>
            <p:nvPr/>
          </p:nvGrpSpPr>
          <p:grpSpPr>
            <a:xfrm>
              <a:off x="1496" y="2169"/>
              <a:ext cx="507" cy="459"/>
              <a:chOff x="1596" y="1881"/>
              <a:chExt cx="507" cy="459"/>
            </a:xfrm>
          </p:grpSpPr>
          <p:sp>
            <p:nvSpPr>
              <p:cNvPr id="120988" name="Oval 36"/>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0989" name="Oval 37"/>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0990" name="Oval 38"/>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306215" name="Line 39"/>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16" name="Line 40"/>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87" name="Oval 41"/>
            <p:cNvSpPr/>
            <p:nvPr/>
          </p:nvSpPr>
          <p:spPr>
            <a:xfrm>
              <a:off x="1433" y="217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grpSp>
        <p:nvGrpSpPr>
          <p:cNvPr id="8" name="Group 42"/>
          <p:cNvGrpSpPr/>
          <p:nvPr/>
        </p:nvGrpSpPr>
        <p:grpSpPr>
          <a:xfrm>
            <a:off x="1249363" y="3457575"/>
            <a:ext cx="2798762" cy="1231900"/>
            <a:chOff x="709" y="2867"/>
            <a:chExt cx="1763" cy="776"/>
          </a:xfrm>
        </p:grpSpPr>
        <p:grpSp>
          <p:nvGrpSpPr>
            <p:cNvPr id="120962" name="Group 43"/>
            <p:cNvGrpSpPr/>
            <p:nvPr/>
          </p:nvGrpSpPr>
          <p:grpSpPr>
            <a:xfrm>
              <a:off x="1766" y="2867"/>
              <a:ext cx="706" cy="776"/>
              <a:chOff x="1633" y="2900"/>
              <a:chExt cx="706" cy="776"/>
            </a:xfrm>
          </p:grpSpPr>
          <p:sp>
            <p:nvSpPr>
              <p:cNvPr id="120972" name="Oval 44"/>
              <p:cNvSpPr/>
              <p:nvPr/>
            </p:nvSpPr>
            <p:spPr>
              <a:xfrm>
                <a:off x="1633" y="319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nvGrpSpPr>
              <p:cNvPr id="120973" name="Group 45"/>
              <p:cNvGrpSpPr/>
              <p:nvPr/>
            </p:nvGrpSpPr>
            <p:grpSpPr>
              <a:xfrm>
                <a:off x="1832" y="3217"/>
                <a:ext cx="507" cy="459"/>
                <a:chOff x="1596" y="1881"/>
                <a:chExt cx="507" cy="459"/>
              </a:xfrm>
            </p:grpSpPr>
            <p:sp>
              <p:nvSpPr>
                <p:cNvPr id="120977" name="Oval 46"/>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0978" name="Oval 47"/>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0979" name="Oval 48"/>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306225" name="Line 49"/>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26" name="Line 50"/>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74" name="Oval 51"/>
              <p:cNvSpPr/>
              <p:nvPr/>
            </p:nvSpPr>
            <p:spPr>
              <a:xfrm>
                <a:off x="1851" y="290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19</a:t>
                </a:r>
                <a:endParaRPr lang="en-US" altLang="zh-CN" b="0" dirty="0">
                  <a:solidFill>
                    <a:schemeClr val="tx1"/>
                  </a:solidFill>
                  <a:latin typeface="Times New Roman" panose="02020603050405020304" pitchFamily="18" charset="0"/>
                </a:endParaRPr>
              </a:p>
            </p:txBody>
          </p:sp>
          <p:sp>
            <p:nvSpPr>
              <p:cNvPr id="306228" name="Line 52"/>
              <p:cNvSpPr>
                <a:spLocks noChangeShapeType="1"/>
              </p:cNvSpPr>
              <p:nvPr/>
            </p:nvSpPr>
            <p:spPr bwMode="auto">
              <a:xfrm flipH="1">
                <a:off x="1800" y="3066"/>
                <a:ext cx="89" cy="1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29" name="Line 53"/>
              <p:cNvSpPr>
                <a:spLocks noChangeShapeType="1"/>
              </p:cNvSpPr>
              <p:nvPr/>
            </p:nvSpPr>
            <p:spPr bwMode="auto">
              <a:xfrm>
                <a:off x="1978" y="3078"/>
                <a:ext cx="100"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63" name="Oval 54"/>
            <p:cNvSpPr/>
            <p:nvPr/>
          </p:nvSpPr>
          <p:spPr>
            <a:xfrm>
              <a:off x="935" y="287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sp>
          <p:nvSpPr>
            <p:cNvPr id="120964" name="Oval 55"/>
            <p:cNvSpPr/>
            <p:nvPr/>
          </p:nvSpPr>
          <p:spPr>
            <a:xfrm>
              <a:off x="709" y="287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120965" name="Oval 56"/>
            <p:cNvSpPr/>
            <p:nvPr/>
          </p:nvSpPr>
          <p:spPr>
            <a:xfrm>
              <a:off x="1181" y="2877"/>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grpSp>
          <p:nvGrpSpPr>
            <p:cNvPr id="120966" name="Group 57"/>
            <p:cNvGrpSpPr/>
            <p:nvPr/>
          </p:nvGrpSpPr>
          <p:grpSpPr>
            <a:xfrm>
              <a:off x="1227" y="2888"/>
              <a:ext cx="507" cy="459"/>
              <a:chOff x="1596" y="1881"/>
              <a:chExt cx="507" cy="459"/>
            </a:xfrm>
          </p:grpSpPr>
          <p:sp>
            <p:nvSpPr>
              <p:cNvPr id="120967" name="Oval 58"/>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0968" name="Oval 59"/>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0969" name="Oval 60"/>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15</a:t>
                </a:r>
                <a:endParaRPr lang="en-US" altLang="zh-CN" b="0" dirty="0">
                  <a:solidFill>
                    <a:schemeClr val="tx1"/>
                  </a:solidFill>
                  <a:latin typeface="Times New Roman" panose="02020603050405020304" pitchFamily="18" charset="0"/>
                </a:endParaRPr>
              </a:p>
            </p:txBody>
          </p:sp>
          <p:sp>
            <p:nvSpPr>
              <p:cNvPr id="306237" name="Line 61"/>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38" name="Line 62"/>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12" name="Group 63"/>
          <p:cNvGrpSpPr/>
          <p:nvPr/>
        </p:nvGrpSpPr>
        <p:grpSpPr>
          <a:xfrm>
            <a:off x="1208088" y="4738688"/>
            <a:ext cx="2705100" cy="1235075"/>
            <a:chOff x="3228" y="363"/>
            <a:chExt cx="1704" cy="778"/>
          </a:xfrm>
        </p:grpSpPr>
        <p:grpSp>
          <p:nvGrpSpPr>
            <p:cNvPr id="120938" name="Group 64"/>
            <p:cNvGrpSpPr/>
            <p:nvPr/>
          </p:nvGrpSpPr>
          <p:grpSpPr>
            <a:xfrm>
              <a:off x="3563" y="365"/>
              <a:ext cx="706" cy="776"/>
              <a:chOff x="1633" y="2900"/>
              <a:chExt cx="706" cy="776"/>
            </a:xfrm>
          </p:grpSpPr>
          <p:sp>
            <p:nvSpPr>
              <p:cNvPr id="120952" name="Oval 65"/>
              <p:cNvSpPr/>
              <p:nvPr/>
            </p:nvSpPr>
            <p:spPr>
              <a:xfrm>
                <a:off x="1633" y="319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nvGrpSpPr>
              <p:cNvPr id="120953" name="Group 66"/>
              <p:cNvGrpSpPr/>
              <p:nvPr/>
            </p:nvGrpSpPr>
            <p:grpSpPr>
              <a:xfrm>
                <a:off x="1832" y="3217"/>
                <a:ext cx="507" cy="459"/>
                <a:chOff x="1596" y="1881"/>
                <a:chExt cx="507" cy="459"/>
              </a:xfrm>
            </p:grpSpPr>
            <p:sp>
              <p:nvSpPr>
                <p:cNvPr id="120957" name="Oval 67"/>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0958" name="Oval 68"/>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0959" name="Oval 69"/>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306246" name="Line 70"/>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47" name="Line 71"/>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54" name="Oval 72"/>
              <p:cNvSpPr/>
              <p:nvPr/>
            </p:nvSpPr>
            <p:spPr>
              <a:xfrm>
                <a:off x="1851" y="290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19</a:t>
                </a:r>
                <a:endParaRPr lang="en-US" altLang="zh-CN" b="0" dirty="0">
                  <a:solidFill>
                    <a:schemeClr val="tx1"/>
                  </a:solidFill>
                  <a:latin typeface="Times New Roman" panose="02020603050405020304" pitchFamily="18" charset="0"/>
                </a:endParaRPr>
              </a:p>
            </p:txBody>
          </p:sp>
          <p:sp>
            <p:nvSpPr>
              <p:cNvPr id="306249" name="Line 73"/>
              <p:cNvSpPr>
                <a:spLocks noChangeShapeType="1"/>
              </p:cNvSpPr>
              <p:nvPr/>
            </p:nvSpPr>
            <p:spPr bwMode="auto">
              <a:xfrm flipH="1">
                <a:off x="1800" y="3066"/>
                <a:ext cx="89" cy="1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50" name="Line 74"/>
              <p:cNvSpPr>
                <a:spLocks noChangeShapeType="1"/>
              </p:cNvSpPr>
              <p:nvPr/>
            </p:nvSpPr>
            <p:spPr bwMode="auto">
              <a:xfrm>
                <a:off x="1978" y="3078"/>
                <a:ext cx="100"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39" name="Oval 75"/>
            <p:cNvSpPr/>
            <p:nvPr/>
          </p:nvSpPr>
          <p:spPr>
            <a:xfrm>
              <a:off x="3228" y="363"/>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120940" name="Oval 76"/>
            <p:cNvSpPr/>
            <p:nvPr/>
          </p:nvSpPr>
          <p:spPr>
            <a:xfrm>
              <a:off x="3489" y="363"/>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grpSp>
          <p:nvGrpSpPr>
            <p:cNvPr id="120941" name="Group 77"/>
            <p:cNvGrpSpPr/>
            <p:nvPr/>
          </p:nvGrpSpPr>
          <p:grpSpPr>
            <a:xfrm>
              <a:off x="4244" y="381"/>
              <a:ext cx="688" cy="741"/>
              <a:chOff x="3643" y="814"/>
              <a:chExt cx="688" cy="741"/>
            </a:xfrm>
          </p:grpSpPr>
          <p:sp>
            <p:nvSpPr>
              <p:cNvPr id="120942" name="Oval 78"/>
              <p:cNvSpPr/>
              <p:nvPr/>
            </p:nvSpPr>
            <p:spPr>
              <a:xfrm>
                <a:off x="3643" y="107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grpSp>
            <p:nvGrpSpPr>
              <p:cNvPr id="120943" name="Group 79"/>
              <p:cNvGrpSpPr/>
              <p:nvPr/>
            </p:nvGrpSpPr>
            <p:grpSpPr>
              <a:xfrm>
                <a:off x="3824" y="1096"/>
                <a:ext cx="507" cy="459"/>
                <a:chOff x="1596" y="1881"/>
                <a:chExt cx="507" cy="459"/>
              </a:xfrm>
            </p:grpSpPr>
            <p:sp>
              <p:nvSpPr>
                <p:cNvPr id="120947" name="Oval 80"/>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0948" name="Oval 81"/>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0949" name="Oval 82"/>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15</a:t>
                  </a:r>
                  <a:endParaRPr lang="en-US" altLang="zh-CN" b="0" dirty="0">
                    <a:solidFill>
                      <a:schemeClr val="tx1"/>
                    </a:solidFill>
                    <a:latin typeface="Times New Roman" panose="02020603050405020304" pitchFamily="18" charset="0"/>
                  </a:endParaRPr>
                </a:p>
              </p:txBody>
            </p:sp>
            <p:sp>
              <p:nvSpPr>
                <p:cNvPr id="306259" name="Line 83"/>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60" name="Line 84"/>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44" name="Oval 85"/>
              <p:cNvSpPr/>
              <p:nvPr/>
            </p:nvSpPr>
            <p:spPr>
              <a:xfrm>
                <a:off x="3861" y="81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306262" name="Line 86"/>
              <p:cNvSpPr>
                <a:spLocks noChangeShapeType="1"/>
              </p:cNvSpPr>
              <p:nvPr/>
            </p:nvSpPr>
            <p:spPr bwMode="auto">
              <a:xfrm flipH="1">
                <a:off x="3800" y="967"/>
                <a:ext cx="78"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63" name="Line 87"/>
              <p:cNvSpPr>
                <a:spLocks noChangeShapeType="1"/>
              </p:cNvSpPr>
              <p:nvPr/>
            </p:nvSpPr>
            <p:spPr bwMode="auto">
              <a:xfrm>
                <a:off x="4001" y="978"/>
                <a:ext cx="66"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17" name="Group 88"/>
          <p:cNvGrpSpPr/>
          <p:nvPr/>
        </p:nvGrpSpPr>
        <p:grpSpPr>
          <a:xfrm>
            <a:off x="5454650" y="441325"/>
            <a:ext cx="2798763" cy="1736725"/>
            <a:chOff x="3224" y="1422"/>
            <a:chExt cx="1763" cy="1094"/>
          </a:xfrm>
        </p:grpSpPr>
        <p:sp>
          <p:nvSpPr>
            <p:cNvPr id="120910" name="Oval 89"/>
            <p:cNvSpPr/>
            <p:nvPr/>
          </p:nvSpPr>
          <p:spPr>
            <a:xfrm>
              <a:off x="3224" y="1426"/>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grpSp>
          <p:nvGrpSpPr>
            <p:cNvPr id="120911" name="Group 90"/>
            <p:cNvGrpSpPr/>
            <p:nvPr/>
          </p:nvGrpSpPr>
          <p:grpSpPr>
            <a:xfrm>
              <a:off x="3440" y="1422"/>
              <a:ext cx="688" cy="741"/>
              <a:chOff x="3643" y="814"/>
              <a:chExt cx="688" cy="741"/>
            </a:xfrm>
          </p:grpSpPr>
          <p:sp>
            <p:nvSpPr>
              <p:cNvPr id="120928" name="Oval 91"/>
              <p:cNvSpPr/>
              <p:nvPr/>
            </p:nvSpPr>
            <p:spPr>
              <a:xfrm>
                <a:off x="3643" y="107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grpSp>
            <p:nvGrpSpPr>
              <p:cNvPr id="120929" name="Group 92"/>
              <p:cNvGrpSpPr/>
              <p:nvPr/>
            </p:nvGrpSpPr>
            <p:grpSpPr>
              <a:xfrm>
                <a:off x="3824" y="1096"/>
                <a:ext cx="507" cy="459"/>
                <a:chOff x="1596" y="1881"/>
                <a:chExt cx="507" cy="459"/>
              </a:xfrm>
            </p:grpSpPr>
            <p:sp>
              <p:nvSpPr>
                <p:cNvPr id="120933" name="Oval 93"/>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0934" name="Oval 94"/>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0935" name="Oval 95"/>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15</a:t>
                  </a:r>
                  <a:endParaRPr lang="en-US" altLang="zh-CN" b="0" dirty="0">
                    <a:solidFill>
                      <a:schemeClr val="tx1"/>
                    </a:solidFill>
                    <a:latin typeface="Times New Roman" panose="02020603050405020304" pitchFamily="18" charset="0"/>
                  </a:endParaRPr>
                </a:p>
              </p:txBody>
            </p:sp>
            <p:sp>
              <p:nvSpPr>
                <p:cNvPr id="306272" name="Line 96"/>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73" name="Line 97"/>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30" name="Oval 98"/>
              <p:cNvSpPr/>
              <p:nvPr/>
            </p:nvSpPr>
            <p:spPr>
              <a:xfrm>
                <a:off x="3861" y="81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306275" name="Line 99"/>
              <p:cNvSpPr>
                <a:spLocks noChangeShapeType="1"/>
              </p:cNvSpPr>
              <p:nvPr/>
            </p:nvSpPr>
            <p:spPr bwMode="auto">
              <a:xfrm flipH="1">
                <a:off x="3800" y="967"/>
                <a:ext cx="78"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76" name="Line 100"/>
              <p:cNvSpPr>
                <a:spLocks noChangeShapeType="1"/>
              </p:cNvSpPr>
              <p:nvPr/>
            </p:nvSpPr>
            <p:spPr bwMode="auto">
              <a:xfrm>
                <a:off x="4001" y="978"/>
                <a:ext cx="66"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20912" name="Group 101"/>
            <p:cNvGrpSpPr/>
            <p:nvPr/>
          </p:nvGrpSpPr>
          <p:grpSpPr>
            <a:xfrm>
              <a:off x="4086" y="1434"/>
              <a:ext cx="901" cy="1082"/>
              <a:chOff x="3441" y="1789"/>
              <a:chExt cx="901" cy="1082"/>
            </a:xfrm>
          </p:grpSpPr>
          <p:grpSp>
            <p:nvGrpSpPr>
              <p:cNvPr id="120913" name="Group 102"/>
              <p:cNvGrpSpPr/>
              <p:nvPr/>
            </p:nvGrpSpPr>
            <p:grpSpPr>
              <a:xfrm>
                <a:off x="3636" y="2095"/>
                <a:ext cx="706" cy="776"/>
                <a:chOff x="1633" y="2900"/>
                <a:chExt cx="706" cy="776"/>
              </a:xfrm>
            </p:grpSpPr>
            <p:sp>
              <p:nvSpPr>
                <p:cNvPr id="120918" name="Oval 103"/>
                <p:cNvSpPr/>
                <p:nvPr/>
              </p:nvSpPr>
              <p:spPr>
                <a:xfrm>
                  <a:off x="1633" y="319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nvGrpSpPr>
                <p:cNvPr id="120919" name="Group 104"/>
                <p:cNvGrpSpPr/>
                <p:nvPr/>
              </p:nvGrpSpPr>
              <p:grpSpPr>
                <a:xfrm>
                  <a:off x="1832" y="3217"/>
                  <a:ext cx="507" cy="459"/>
                  <a:chOff x="1596" y="1881"/>
                  <a:chExt cx="507" cy="459"/>
                </a:xfrm>
              </p:grpSpPr>
              <p:sp>
                <p:nvSpPr>
                  <p:cNvPr id="120923" name="Oval 105"/>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0924" name="Oval 106"/>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0925" name="Oval 107"/>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306284" name="Line 108"/>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85" name="Line 109"/>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20" name="Oval 110"/>
                <p:cNvSpPr/>
                <p:nvPr/>
              </p:nvSpPr>
              <p:spPr>
                <a:xfrm>
                  <a:off x="1851" y="290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19</a:t>
                  </a:r>
                  <a:endParaRPr lang="en-US" altLang="zh-CN" b="0" dirty="0">
                    <a:solidFill>
                      <a:schemeClr val="tx1"/>
                    </a:solidFill>
                    <a:latin typeface="Times New Roman" panose="02020603050405020304" pitchFamily="18" charset="0"/>
                  </a:endParaRPr>
                </a:p>
              </p:txBody>
            </p:sp>
            <p:sp>
              <p:nvSpPr>
                <p:cNvPr id="306287" name="Line 111"/>
                <p:cNvSpPr>
                  <a:spLocks noChangeShapeType="1"/>
                </p:cNvSpPr>
                <p:nvPr/>
              </p:nvSpPr>
              <p:spPr bwMode="auto">
                <a:xfrm flipH="1">
                  <a:off x="1800" y="3066"/>
                  <a:ext cx="89" cy="1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88" name="Line 112"/>
                <p:cNvSpPr>
                  <a:spLocks noChangeShapeType="1"/>
                </p:cNvSpPr>
                <p:nvPr/>
              </p:nvSpPr>
              <p:spPr bwMode="auto">
                <a:xfrm>
                  <a:off x="1978" y="3078"/>
                  <a:ext cx="100"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14" name="Oval 113"/>
              <p:cNvSpPr/>
              <p:nvPr/>
            </p:nvSpPr>
            <p:spPr>
              <a:xfrm>
                <a:off x="3441" y="207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sp>
            <p:nvSpPr>
              <p:cNvPr id="120915" name="Oval 114"/>
              <p:cNvSpPr/>
              <p:nvPr/>
            </p:nvSpPr>
            <p:spPr>
              <a:xfrm>
                <a:off x="3693" y="1789"/>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42</a:t>
                </a:r>
                <a:endParaRPr lang="en-US" altLang="zh-CN" b="0" dirty="0">
                  <a:solidFill>
                    <a:schemeClr val="tx1"/>
                  </a:solidFill>
                  <a:latin typeface="Times New Roman" panose="02020603050405020304" pitchFamily="18" charset="0"/>
                </a:endParaRPr>
              </a:p>
            </p:txBody>
          </p:sp>
          <p:sp>
            <p:nvSpPr>
              <p:cNvPr id="306291" name="Line 115"/>
              <p:cNvSpPr>
                <a:spLocks noChangeShapeType="1"/>
              </p:cNvSpPr>
              <p:nvPr/>
            </p:nvSpPr>
            <p:spPr bwMode="auto">
              <a:xfrm flipH="1">
                <a:off x="3612" y="1933"/>
                <a:ext cx="10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292" name="Line 116"/>
              <p:cNvSpPr>
                <a:spLocks noChangeShapeType="1"/>
              </p:cNvSpPr>
              <p:nvPr/>
            </p:nvSpPr>
            <p:spPr bwMode="auto">
              <a:xfrm>
                <a:off x="3823" y="1955"/>
                <a:ext cx="78" cy="1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23" name="Group 117"/>
          <p:cNvGrpSpPr/>
          <p:nvPr/>
        </p:nvGrpSpPr>
        <p:grpSpPr>
          <a:xfrm>
            <a:off x="5386388" y="2324100"/>
            <a:ext cx="2763837" cy="1717675"/>
            <a:chOff x="3038" y="2475"/>
            <a:chExt cx="1741" cy="1082"/>
          </a:xfrm>
        </p:grpSpPr>
        <p:grpSp>
          <p:nvGrpSpPr>
            <p:cNvPr id="120878" name="Group 118"/>
            <p:cNvGrpSpPr/>
            <p:nvPr/>
          </p:nvGrpSpPr>
          <p:grpSpPr>
            <a:xfrm>
              <a:off x="3038" y="2475"/>
              <a:ext cx="901" cy="1082"/>
              <a:chOff x="3441" y="1789"/>
              <a:chExt cx="901" cy="1082"/>
            </a:xfrm>
          </p:grpSpPr>
          <p:grpSp>
            <p:nvGrpSpPr>
              <p:cNvPr id="120895" name="Group 119"/>
              <p:cNvGrpSpPr/>
              <p:nvPr/>
            </p:nvGrpSpPr>
            <p:grpSpPr>
              <a:xfrm>
                <a:off x="3636" y="2095"/>
                <a:ext cx="706" cy="776"/>
                <a:chOff x="1633" y="2900"/>
                <a:chExt cx="706" cy="776"/>
              </a:xfrm>
            </p:grpSpPr>
            <p:sp>
              <p:nvSpPr>
                <p:cNvPr id="120900" name="Oval 120"/>
                <p:cNvSpPr/>
                <p:nvPr/>
              </p:nvSpPr>
              <p:spPr>
                <a:xfrm>
                  <a:off x="1633" y="319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nvGrpSpPr>
                <p:cNvPr id="120901" name="Group 121"/>
                <p:cNvGrpSpPr/>
                <p:nvPr/>
              </p:nvGrpSpPr>
              <p:grpSpPr>
                <a:xfrm>
                  <a:off x="1832" y="3217"/>
                  <a:ext cx="507" cy="459"/>
                  <a:chOff x="1596" y="1881"/>
                  <a:chExt cx="507" cy="459"/>
                </a:xfrm>
              </p:grpSpPr>
              <p:sp>
                <p:nvSpPr>
                  <p:cNvPr id="120905" name="Oval 122"/>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0906" name="Oval 123"/>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0907" name="Oval 124"/>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306301" name="Line 125"/>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02" name="Line 126"/>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902" name="Oval 127"/>
                <p:cNvSpPr/>
                <p:nvPr/>
              </p:nvSpPr>
              <p:spPr>
                <a:xfrm>
                  <a:off x="1851" y="290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19</a:t>
                  </a:r>
                  <a:endParaRPr lang="en-US" altLang="zh-CN" b="0" dirty="0">
                    <a:solidFill>
                      <a:schemeClr val="tx1"/>
                    </a:solidFill>
                    <a:latin typeface="Times New Roman" panose="02020603050405020304" pitchFamily="18" charset="0"/>
                  </a:endParaRPr>
                </a:p>
              </p:txBody>
            </p:sp>
            <p:sp>
              <p:nvSpPr>
                <p:cNvPr id="306304" name="Line 128"/>
                <p:cNvSpPr>
                  <a:spLocks noChangeShapeType="1"/>
                </p:cNvSpPr>
                <p:nvPr/>
              </p:nvSpPr>
              <p:spPr bwMode="auto">
                <a:xfrm flipH="1">
                  <a:off x="1800" y="3066"/>
                  <a:ext cx="89" cy="1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05" name="Line 129"/>
                <p:cNvSpPr>
                  <a:spLocks noChangeShapeType="1"/>
                </p:cNvSpPr>
                <p:nvPr/>
              </p:nvSpPr>
              <p:spPr bwMode="auto">
                <a:xfrm>
                  <a:off x="1978" y="3078"/>
                  <a:ext cx="100"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96" name="Oval 130"/>
              <p:cNvSpPr/>
              <p:nvPr/>
            </p:nvSpPr>
            <p:spPr>
              <a:xfrm>
                <a:off x="3441" y="207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sp>
            <p:nvSpPr>
              <p:cNvPr id="120897" name="Oval 131"/>
              <p:cNvSpPr/>
              <p:nvPr/>
            </p:nvSpPr>
            <p:spPr>
              <a:xfrm>
                <a:off x="3693" y="1789"/>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42</a:t>
                </a:r>
                <a:endParaRPr lang="en-US" altLang="zh-CN" b="0" dirty="0">
                  <a:solidFill>
                    <a:schemeClr val="tx1"/>
                  </a:solidFill>
                  <a:latin typeface="Times New Roman" panose="02020603050405020304" pitchFamily="18" charset="0"/>
                </a:endParaRPr>
              </a:p>
            </p:txBody>
          </p:sp>
          <p:sp>
            <p:nvSpPr>
              <p:cNvPr id="306308" name="Line 132"/>
              <p:cNvSpPr>
                <a:spLocks noChangeShapeType="1"/>
              </p:cNvSpPr>
              <p:nvPr/>
            </p:nvSpPr>
            <p:spPr bwMode="auto">
              <a:xfrm flipH="1">
                <a:off x="3612" y="1933"/>
                <a:ext cx="10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09" name="Line 133"/>
              <p:cNvSpPr>
                <a:spLocks noChangeShapeType="1"/>
              </p:cNvSpPr>
              <p:nvPr/>
            </p:nvSpPr>
            <p:spPr bwMode="auto">
              <a:xfrm>
                <a:off x="3823" y="1955"/>
                <a:ext cx="78" cy="1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20879" name="Group 134"/>
            <p:cNvGrpSpPr/>
            <p:nvPr/>
          </p:nvGrpSpPr>
          <p:grpSpPr>
            <a:xfrm>
              <a:off x="3875" y="2485"/>
              <a:ext cx="904" cy="1064"/>
              <a:chOff x="3309" y="2529"/>
              <a:chExt cx="904" cy="1064"/>
            </a:xfrm>
          </p:grpSpPr>
          <p:sp>
            <p:nvSpPr>
              <p:cNvPr id="120880" name="Oval 135"/>
              <p:cNvSpPr/>
              <p:nvPr/>
            </p:nvSpPr>
            <p:spPr>
              <a:xfrm>
                <a:off x="3309" y="2856"/>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grpSp>
            <p:nvGrpSpPr>
              <p:cNvPr id="120881" name="Group 136"/>
              <p:cNvGrpSpPr/>
              <p:nvPr/>
            </p:nvGrpSpPr>
            <p:grpSpPr>
              <a:xfrm>
                <a:off x="3525" y="2852"/>
                <a:ext cx="688" cy="741"/>
                <a:chOff x="3643" y="814"/>
                <a:chExt cx="688" cy="741"/>
              </a:xfrm>
            </p:grpSpPr>
            <p:sp>
              <p:nvSpPr>
                <p:cNvPr id="120885" name="Oval 137"/>
                <p:cNvSpPr/>
                <p:nvPr/>
              </p:nvSpPr>
              <p:spPr>
                <a:xfrm>
                  <a:off x="3643" y="107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grpSp>
              <p:nvGrpSpPr>
                <p:cNvPr id="120886" name="Group 138"/>
                <p:cNvGrpSpPr/>
                <p:nvPr/>
              </p:nvGrpSpPr>
              <p:grpSpPr>
                <a:xfrm>
                  <a:off x="3824" y="1096"/>
                  <a:ext cx="507" cy="459"/>
                  <a:chOff x="1596" y="1881"/>
                  <a:chExt cx="507" cy="459"/>
                </a:xfrm>
              </p:grpSpPr>
              <p:sp>
                <p:nvSpPr>
                  <p:cNvPr id="120890" name="Oval 139"/>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0891" name="Oval 140"/>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0892" name="Oval 141"/>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15</a:t>
                    </a:r>
                    <a:endParaRPr lang="en-US" altLang="zh-CN" b="0" dirty="0">
                      <a:solidFill>
                        <a:schemeClr val="tx1"/>
                      </a:solidFill>
                      <a:latin typeface="Times New Roman" panose="02020603050405020304" pitchFamily="18" charset="0"/>
                    </a:endParaRPr>
                  </a:p>
                </p:txBody>
              </p:sp>
              <p:sp>
                <p:nvSpPr>
                  <p:cNvPr id="306318" name="Line 142"/>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19" name="Line 143"/>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87" name="Oval 144"/>
                <p:cNvSpPr/>
                <p:nvPr/>
              </p:nvSpPr>
              <p:spPr>
                <a:xfrm>
                  <a:off x="3861" y="81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306321" name="Line 145"/>
                <p:cNvSpPr>
                  <a:spLocks noChangeShapeType="1"/>
                </p:cNvSpPr>
                <p:nvPr/>
              </p:nvSpPr>
              <p:spPr bwMode="auto">
                <a:xfrm flipH="1">
                  <a:off x="3800" y="967"/>
                  <a:ext cx="78"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22" name="Line 146"/>
                <p:cNvSpPr>
                  <a:spLocks noChangeShapeType="1"/>
                </p:cNvSpPr>
                <p:nvPr/>
              </p:nvSpPr>
              <p:spPr bwMode="auto">
                <a:xfrm>
                  <a:off x="4001" y="978"/>
                  <a:ext cx="66"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82" name="Oval 147"/>
              <p:cNvSpPr/>
              <p:nvPr/>
            </p:nvSpPr>
            <p:spPr>
              <a:xfrm>
                <a:off x="3539" y="2529"/>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58</a:t>
                </a:r>
                <a:endParaRPr lang="en-US" altLang="zh-CN" b="0" dirty="0">
                  <a:solidFill>
                    <a:schemeClr val="tx1"/>
                  </a:solidFill>
                  <a:latin typeface="Times New Roman" panose="02020603050405020304" pitchFamily="18" charset="0"/>
                </a:endParaRPr>
              </a:p>
            </p:txBody>
          </p:sp>
          <p:sp>
            <p:nvSpPr>
              <p:cNvPr id="306324" name="Line 148"/>
              <p:cNvSpPr>
                <a:spLocks noChangeShapeType="1"/>
              </p:cNvSpPr>
              <p:nvPr/>
            </p:nvSpPr>
            <p:spPr bwMode="auto">
              <a:xfrm flipH="1">
                <a:off x="3467" y="2711"/>
                <a:ext cx="111"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25" name="Line 149"/>
              <p:cNvSpPr>
                <a:spLocks noChangeShapeType="1"/>
              </p:cNvSpPr>
              <p:nvPr/>
            </p:nvSpPr>
            <p:spPr bwMode="auto">
              <a:xfrm>
                <a:off x="3678" y="2689"/>
                <a:ext cx="100" cy="16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grpSp>
        <p:nvGrpSpPr>
          <p:cNvPr id="30" name="Group 150"/>
          <p:cNvGrpSpPr/>
          <p:nvPr/>
        </p:nvGrpSpPr>
        <p:grpSpPr>
          <a:xfrm>
            <a:off x="5416550" y="4119563"/>
            <a:ext cx="2640013" cy="2314575"/>
            <a:chOff x="3190" y="2862"/>
            <a:chExt cx="1663" cy="1458"/>
          </a:xfrm>
        </p:grpSpPr>
        <p:grpSp>
          <p:nvGrpSpPr>
            <p:cNvPr id="120843" name="Group 151"/>
            <p:cNvGrpSpPr/>
            <p:nvPr/>
          </p:nvGrpSpPr>
          <p:grpSpPr>
            <a:xfrm>
              <a:off x="3190" y="3238"/>
              <a:ext cx="901" cy="1082"/>
              <a:chOff x="3441" y="1789"/>
              <a:chExt cx="901" cy="1082"/>
            </a:xfrm>
          </p:grpSpPr>
          <p:grpSp>
            <p:nvGrpSpPr>
              <p:cNvPr id="120863" name="Group 152"/>
              <p:cNvGrpSpPr/>
              <p:nvPr/>
            </p:nvGrpSpPr>
            <p:grpSpPr>
              <a:xfrm>
                <a:off x="3636" y="2095"/>
                <a:ext cx="706" cy="776"/>
                <a:chOff x="1633" y="2900"/>
                <a:chExt cx="706" cy="776"/>
              </a:xfrm>
            </p:grpSpPr>
            <p:sp>
              <p:nvSpPr>
                <p:cNvPr id="120868" name="Oval 153"/>
                <p:cNvSpPr/>
                <p:nvPr/>
              </p:nvSpPr>
              <p:spPr>
                <a:xfrm>
                  <a:off x="1633" y="3192"/>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11</a:t>
                  </a:r>
                  <a:endParaRPr lang="en-US" altLang="zh-CN" b="0" dirty="0">
                    <a:solidFill>
                      <a:schemeClr val="tx1"/>
                    </a:solidFill>
                    <a:latin typeface="Times New Roman" panose="02020603050405020304" pitchFamily="18" charset="0"/>
                  </a:endParaRPr>
                </a:p>
              </p:txBody>
            </p:sp>
            <p:grpSp>
              <p:nvGrpSpPr>
                <p:cNvPr id="120869" name="Group 154"/>
                <p:cNvGrpSpPr/>
                <p:nvPr/>
              </p:nvGrpSpPr>
              <p:grpSpPr>
                <a:xfrm>
                  <a:off x="1832" y="3217"/>
                  <a:ext cx="507" cy="459"/>
                  <a:chOff x="1596" y="1881"/>
                  <a:chExt cx="507" cy="459"/>
                </a:xfrm>
              </p:grpSpPr>
              <p:sp>
                <p:nvSpPr>
                  <p:cNvPr id="120873" name="Oval 155"/>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20874" name="Oval 156"/>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20875" name="Oval 157"/>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306334" name="Line 158"/>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35" name="Line 159"/>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70" name="Oval 160"/>
                <p:cNvSpPr/>
                <p:nvPr/>
              </p:nvSpPr>
              <p:spPr>
                <a:xfrm>
                  <a:off x="1851" y="2900"/>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19</a:t>
                  </a:r>
                  <a:endParaRPr lang="en-US" altLang="zh-CN" b="0" dirty="0">
                    <a:solidFill>
                      <a:schemeClr val="tx1"/>
                    </a:solidFill>
                    <a:latin typeface="Times New Roman" panose="02020603050405020304" pitchFamily="18" charset="0"/>
                  </a:endParaRPr>
                </a:p>
              </p:txBody>
            </p:sp>
            <p:sp>
              <p:nvSpPr>
                <p:cNvPr id="306337" name="Line 161"/>
                <p:cNvSpPr>
                  <a:spLocks noChangeShapeType="1"/>
                </p:cNvSpPr>
                <p:nvPr/>
              </p:nvSpPr>
              <p:spPr bwMode="auto">
                <a:xfrm flipH="1">
                  <a:off x="1800" y="3066"/>
                  <a:ext cx="89" cy="13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38" name="Line 162"/>
                <p:cNvSpPr>
                  <a:spLocks noChangeShapeType="1"/>
                </p:cNvSpPr>
                <p:nvPr/>
              </p:nvSpPr>
              <p:spPr bwMode="auto">
                <a:xfrm>
                  <a:off x="1978" y="3078"/>
                  <a:ext cx="100" cy="144"/>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64" name="Oval 163"/>
              <p:cNvSpPr/>
              <p:nvPr/>
            </p:nvSpPr>
            <p:spPr>
              <a:xfrm>
                <a:off x="3441" y="207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23</a:t>
                </a:r>
                <a:endParaRPr lang="en-US" altLang="zh-CN" b="0" dirty="0">
                  <a:solidFill>
                    <a:schemeClr val="tx1"/>
                  </a:solidFill>
                  <a:latin typeface="Times New Roman" panose="02020603050405020304" pitchFamily="18" charset="0"/>
                </a:endParaRPr>
              </a:p>
            </p:txBody>
          </p:sp>
          <p:sp>
            <p:nvSpPr>
              <p:cNvPr id="120865" name="Oval 164"/>
              <p:cNvSpPr/>
              <p:nvPr/>
            </p:nvSpPr>
            <p:spPr>
              <a:xfrm>
                <a:off x="3693" y="1789"/>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42</a:t>
                </a:r>
                <a:endParaRPr lang="en-US" altLang="zh-CN" b="0" dirty="0">
                  <a:solidFill>
                    <a:schemeClr val="tx1"/>
                  </a:solidFill>
                  <a:latin typeface="Times New Roman" panose="02020603050405020304" pitchFamily="18" charset="0"/>
                </a:endParaRPr>
              </a:p>
            </p:txBody>
          </p:sp>
          <p:sp>
            <p:nvSpPr>
              <p:cNvPr id="306341" name="Line 165"/>
              <p:cNvSpPr>
                <a:spLocks noChangeShapeType="1"/>
              </p:cNvSpPr>
              <p:nvPr/>
            </p:nvSpPr>
            <p:spPr bwMode="auto">
              <a:xfrm flipH="1">
                <a:off x="3612" y="1933"/>
                <a:ext cx="100"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42" name="Line 166"/>
              <p:cNvSpPr>
                <a:spLocks noChangeShapeType="1"/>
              </p:cNvSpPr>
              <p:nvPr/>
            </p:nvSpPr>
            <p:spPr bwMode="auto">
              <a:xfrm>
                <a:off x="3823" y="1955"/>
                <a:ext cx="78" cy="15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grpSp>
          <p:nvGrpSpPr>
            <p:cNvPr id="120844" name="Group 167"/>
            <p:cNvGrpSpPr/>
            <p:nvPr/>
          </p:nvGrpSpPr>
          <p:grpSpPr>
            <a:xfrm>
              <a:off x="3949" y="3256"/>
              <a:ext cx="904" cy="1064"/>
              <a:chOff x="3309" y="2529"/>
              <a:chExt cx="904" cy="1064"/>
            </a:xfrm>
          </p:grpSpPr>
          <p:sp>
            <p:nvSpPr>
              <p:cNvPr id="120848" name="Oval 168"/>
              <p:cNvSpPr/>
              <p:nvPr/>
            </p:nvSpPr>
            <p:spPr>
              <a:xfrm>
                <a:off x="3309" y="2856"/>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grpSp>
            <p:nvGrpSpPr>
              <p:cNvPr id="120849" name="Group 169"/>
              <p:cNvGrpSpPr/>
              <p:nvPr/>
            </p:nvGrpSpPr>
            <p:grpSpPr>
              <a:xfrm>
                <a:off x="3525" y="2852"/>
                <a:ext cx="688" cy="741"/>
                <a:chOff x="3643" y="814"/>
                <a:chExt cx="688" cy="741"/>
              </a:xfrm>
            </p:grpSpPr>
            <p:sp>
              <p:nvSpPr>
                <p:cNvPr id="120853" name="Oval 170"/>
                <p:cNvSpPr/>
                <p:nvPr/>
              </p:nvSpPr>
              <p:spPr>
                <a:xfrm>
                  <a:off x="3643" y="107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14</a:t>
                  </a:r>
                  <a:endParaRPr lang="en-US" altLang="zh-CN" b="0" dirty="0">
                    <a:solidFill>
                      <a:schemeClr val="tx1"/>
                    </a:solidFill>
                    <a:latin typeface="Times New Roman" panose="02020603050405020304" pitchFamily="18" charset="0"/>
                  </a:endParaRPr>
                </a:p>
              </p:txBody>
            </p:sp>
            <p:grpSp>
              <p:nvGrpSpPr>
                <p:cNvPr id="120854" name="Group 171"/>
                <p:cNvGrpSpPr/>
                <p:nvPr/>
              </p:nvGrpSpPr>
              <p:grpSpPr>
                <a:xfrm>
                  <a:off x="3824" y="1096"/>
                  <a:ext cx="507" cy="459"/>
                  <a:chOff x="1596" y="1881"/>
                  <a:chExt cx="507" cy="459"/>
                </a:xfrm>
              </p:grpSpPr>
              <p:sp>
                <p:nvSpPr>
                  <p:cNvPr id="120858" name="Oval 172"/>
                  <p:cNvSpPr/>
                  <p:nvPr/>
                </p:nvSpPr>
                <p:spPr>
                  <a:xfrm>
                    <a:off x="1914"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20859" name="Oval 173"/>
                  <p:cNvSpPr/>
                  <p:nvPr/>
                </p:nvSpPr>
                <p:spPr>
                  <a:xfrm>
                    <a:off x="1596" y="215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20860" name="Oval 174"/>
                  <p:cNvSpPr/>
                  <p:nvPr/>
                </p:nvSpPr>
                <p:spPr>
                  <a:xfrm>
                    <a:off x="1792" y="1881"/>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15</a:t>
                    </a:r>
                    <a:endParaRPr lang="en-US" altLang="zh-CN" b="0" dirty="0">
                      <a:solidFill>
                        <a:schemeClr val="tx1"/>
                      </a:solidFill>
                      <a:latin typeface="Times New Roman" panose="02020603050405020304" pitchFamily="18" charset="0"/>
                    </a:endParaRPr>
                  </a:p>
                </p:txBody>
              </p:sp>
              <p:sp>
                <p:nvSpPr>
                  <p:cNvPr id="306351" name="Line 175"/>
                  <p:cNvSpPr>
                    <a:spLocks noChangeShapeType="1"/>
                  </p:cNvSpPr>
                  <p:nvPr/>
                </p:nvSpPr>
                <p:spPr bwMode="auto">
                  <a:xfrm flipH="1">
                    <a:off x="1745" y="2033"/>
                    <a:ext cx="66" cy="14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52" name="Line 176"/>
                  <p:cNvSpPr>
                    <a:spLocks noChangeShapeType="1"/>
                  </p:cNvSpPr>
                  <p:nvPr/>
                </p:nvSpPr>
                <p:spPr bwMode="auto">
                  <a:xfrm>
                    <a:off x="1945" y="2033"/>
                    <a:ext cx="55" cy="122"/>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55" name="Oval 177"/>
                <p:cNvSpPr/>
                <p:nvPr/>
              </p:nvSpPr>
              <p:spPr>
                <a:xfrm>
                  <a:off x="3861" y="814"/>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29</a:t>
                  </a:r>
                  <a:endParaRPr lang="en-US" altLang="zh-CN" b="0" dirty="0">
                    <a:solidFill>
                      <a:schemeClr val="tx1"/>
                    </a:solidFill>
                    <a:latin typeface="Times New Roman" panose="02020603050405020304" pitchFamily="18" charset="0"/>
                  </a:endParaRPr>
                </a:p>
              </p:txBody>
            </p:sp>
            <p:sp>
              <p:nvSpPr>
                <p:cNvPr id="306354" name="Line 178"/>
                <p:cNvSpPr>
                  <a:spLocks noChangeShapeType="1"/>
                </p:cNvSpPr>
                <p:nvPr/>
              </p:nvSpPr>
              <p:spPr bwMode="auto">
                <a:xfrm flipH="1">
                  <a:off x="3800" y="967"/>
                  <a:ext cx="78" cy="155"/>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55" name="Line 179"/>
                <p:cNvSpPr>
                  <a:spLocks noChangeShapeType="1"/>
                </p:cNvSpPr>
                <p:nvPr/>
              </p:nvSpPr>
              <p:spPr bwMode="auto">
                <a:xfrm>
                  <a:off x="4001" y="978"/>
                  <a:ext cx="66" cy="133"/>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50" name="Oval 180"/>
              <p:cNvSpPr/>
              <p:nvPr/>
            </p:nvSpPr>
            <p:spPr>
              <a:xfrm>
                <a:off x="3539" y="2529"/>
                <a:ext cx="189" cy="189"/>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58</a:t>
                </a:r>
                <a:endParaRPr lang="en-US" altLang="zh-CN" b="0" dirty="0">
                  <a:solidFill>
                    <a:schemeClr val="tx1"/>
                  </a:solidFill>
                  <a:latin typeface="Times New Roman" panose="02020603050405020304" pitchFamily="18" charset="0"/>
                </a:endParaRPr>
              </a:p>
            </p:txBody>
          </p:sp>
          <p:sp>
            <p:nvSpPr>
              <p:cNvPr id="306357" name="Line 181"/>
              <p:cNvSpPr>
                <a:spLocks noChangeShapeType="1"/>
              </p:cNvSpPr>
              <p:nvPr/>
            </p:nvSpPr>
            <p:spPr bwMode="auto">
              <a:xfrm flipH="1">
                <a:off x="3467" y="2711"/>
                <a:ext cx="111" cy="167"/>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58" name="Line 182"/>
              <p:cNvSpPr>
                <a:spLocks noChangeShapeType="1"/>
              </p:cNvSpPr>
              <p:nvPr/>
            </p:nvSpPr>
            <p:spPr bwMode="auto">
              <a:xfrm>
                <a:off x="3678" y="2689"/>
                <a:ext cx="100" cy="166"/>
              </a:xfrm>
              <a:prstGeom prst="line">
                <a:avLst/>
              </a:prstGeom>
              <a:noFill/>
              <a:ln w="9525">
                <a:solidFill>
                  <a:schemeClr val="tx1"/>
                </a:solid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
          <p:nvSpPr>
            <p:cNvPr id="120845" name="Oval 183"/>
            <p:cNvSpPr/>
            <p:nvPr/>
          </p:nvSpPr>
          <p:spPr>
            <a:xfrm>
              <a:off x="3805" y="2862"/>
              <a:ext cx="245" cy="256"/>
            </a:xfrm>
            <a:prstGeom prst="ellipse">
              <a:avLst/>
            </a:prstGeom>
            <a:noFill/>
            <a:ln w="9525" cap="flat" cmpd="sng">
              <a:solidFill>
                <a:schemeClr val="tx1"/>
              </a:solidFill>
              <a:prstDash val="solid"/>
              <a:headEnd type="none" w="med" len="med"/>
              <a:tailEnd type="none" w="med" len="med"/>
            </a:ln>
          </p:spPr>
          <p:txBody>
            <a:bodyPr wrap="none" anchor="ctr" anchorCtr="0"/>
            <a:p>
              <a:pPr algn="ctr" eaLnBrk="1" hangingPunct="1"/>
              <a:r>
                <a:rPr lang="en-US" altLang="zh-CN" b="0" dirty="0">
                  <a:solidFill>
                    <a:schemeClr val="tx1"/>
                  </a:solidFill>
                  <a:latin typeface="Times New Roman" panose="02020603050405020304" pitchFamily="18" charset="0"/>
                </a:rPr>
                <a:t>100</a:t>
              </a:r>
              <a:endParaRPr lang="en-US" altLang="zh-CN" b="0" dirty="0">
                <a:solidFill>
                  <a:schemeClr val="tx1"/>
                </a:solidFill>
                <a:latin typeface="Times New Roman" panose="02020603050405020304" pitchFamily="18" charset="0"/>
              </a:endParaRPr>
            </a:p>
          </p:txBody>
        </p:sp>
        <p:sp>
          <p:nvSpPr>
            <p:cNvPr id="306360" name="Line 184"/>
            <p:cNvSpPr>
              <a:spLocks noChangeShapeType="1"/>
            </p:cNvSpPr>
            <p:nvPr/>
          </p:nvSpPr>
          <p:spPr bwMode="auto">
            <a:xfrm flipH="1">
              <a:off x="3634" y="3100"/>
              <a:ext cx="222" cy="166"/>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06361" name="Line 185"/>
            <p:cNvSpPr>
              <a:spLocks noChangeShapeType="1"/>
            </p:cNvSpPr>
            <p:nvPr/>
          </p:nvSpPr>
          <p:spPr bwMode="auto">
            <a:xfrm>
              <a:off x="3978" y="3100"/>
              <a:ext cx="245" cy="200"/>
            </a:xfrm>
            <a:prstGeom prst="line">
              <a:avLst/>
            </a:prstGeom>
            <a:noFill/>
            <a:ln w="9525">
              <a:solidFill>
                <a:schemeClr val="tx1"/>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6178">
                                            <p:txEl>
                                              <p:charRg st="0" end="35"/>
                                            </p:txEl>
                                          </p:spTgt>
                                        </p:tgtEl>
                                        <p:attrNameLst>
                                          <p:attrName>style.visibility</p:attrName>
                                        </p:attrNameLst>
                                      </p:cBhvr>
                                      <p:to>
                                        <p:strVal val="visible"/>
                                      </p:to>
                                    </p:set>
                                    <p:anim calcmode="lin" valueType="num">
                                      <p:cBhvr additive="base">
                                        <p:cTn id="7" dur="500" fill="hold"/>
                                        <p:tgtEl>
                                          <p:spTgt spid="306178">
                                            <p:txEl>
                                              <p:charRg st="0" end="3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6178">
                                            <p:txEl>
                                              <p:charRg st="0" end="3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1"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0-#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1" name="WHOOSH.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0-#ppt_w/2"/>
                                          </p:val>
                                        </p:tav>
                                        <p:tav tm="100000">
                                          <p:val>
                                            <p:strVal val="#ppt_x"/>
                                          </p:val>
                                        </p:tav>
                                      </p:tavLst>
                                    </p:anim>
                                    <p:anim calcmode="lin" valueType="num">
                                      <p:cBhvr additive="base">
                                        <p:cTn id="44" dur="500" fill="hold"/>
                                        <p:tgtEl>
                                          <p:spTgt spid="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1"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0-#ppt_w/2"/>
                                          </p:val>
                                        </p:tav>
                                        <p:tav tm="100000">
                                          <p:val>
                                            <p:strVal val="#ppt_x"/>
                                          </p:val>
                                        </p:tav>
                                      </p:tavLst>
                                    </p:anim>
                                    <p:anim calcmode="lin" valueType="num">
                                      <p:cBhvr additive="base">
                                        <p:cTn id="50" dur="500" fill="hold"/>
                                        <p:tgtEl>
                                          <p:spTgt spid="2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1" name="WHOOSH.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additive="base">
                                        <p:cTn id="55" dur="500" fill="hold"/>
                                        <p:tgtEl>
                                          <p:spTgt spid="30"/>
                                        </p:tgtEl>
                                        <p:attrNameLst>
                                          <p:attrName>ppt_x</p:attrName>
                                        </p:attrNameLst>
                                      </p:cBhvr>
                                      <p:tavLst>
                                        <p:tav tm="0">
                                          <p:val>
                                            <p:strVal val="0-#ppt_w/2"/>
                                          </p:val>
                                        </p:tav>
                                        <p:tav tm="100000">
                                          <p:val>
                                            <p:strVal val="#ppt_x"/>
                                          </p:val>
                                        </p:tav>
                                      </p:tavLst>
                                    </p:anim>
                                    <p:anim calcmode="lin" valueType="num">
                                      <p:cBhvr additive="base">
                                        <p:cTn id="56" dur="500" fill="hold"/>
                                        <p:tgtEl>
                                          <p:spTgt spid="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8"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6.6.2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赫夫曼编码</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1744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编码：将文字转换成二进制串</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B</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C</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D → 00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01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11</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ABACCDA ←→00 01 00 10 10 11 00</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解码：将二进制串转换成文字</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00 01 00 10 10 11 00→ ABACCDA</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码长越短越好</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频度高的字符赋予短码</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B</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C</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D → 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00</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01</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0000 →AAAA? BB? AAB?...</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6.6.2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赫夫曼编码</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18467" name="Rectangle 3"/>
          <p:cNvSpPr>
            <a:spLocks noGrp="1" noChangeArrowheads="1"/>
          </p:cNvSpPr>
          <p:nvPr>
            <p:ph idx="1"/>
          </p:nvPr>
        </p:nvSpPr>
        <p:spPr>
          <a:xfrm>
            <a:off x="566738" y="1752600"/>
            <a:ext cx="4437063"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前缀编码</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任意一个字符的编码不是另一个字符编码的前缀</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如右图</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二叉树设计前缀编码</a:t>
            </a:r>
            <a:endPar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约定</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 </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左分支为</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0, </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右分支为</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1</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叶子为字符，从根到叶的路径上分支字符为该叶的编码</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传输字符串所需编码长度最短的前缀编码</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pic>
        <p:nvPicPr>
          <p:cNvPr id="122884" name="Picture 4"/>
          <p:cNvPicPr>
            <a:picLocks noChangeAspect="1"/>
          </p:cNvPicPr>
          <p:nvPr/>
        </p:nvPicPr>
        <p:blipFill>
          <a:blip r:embed="rId1"/>
          <a:stretch>
            <a:fillRect/>
          </a:stretch>
        </p:blipFill>
        <p:spPr>
          <a:xfrm>
            <a:off x="5148263" y="2205038"/>
            <a:ext cx="3240087" cy="2995612"/>
          </a:xfrm>
          <a:prstGeom prst="rect">
            <a:avLst/>
          </a:prstGeom>
          <a:noFill/>
          <a:ln w="9525">
            <a:noFill/>
          </a:ln>
        </p:spPr>
      </p:pic>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6.6.2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赫夫曼编码</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19491" name="Rectangle 3"/>
          <p:cNvSpPr>
            <a:spLocks noGrp="1" noChangeArrowheads="1"/>
          </p:cNvSpPr>
          <p:nvPr>
            <p:ph idx="1"/>
          </p:nvPr>
        </p:nvSpPr>
        <p:spPr>
          <a:xfrm>
            <a:off x="566738" y="1752600"/>
            <a:ext cx="4076700"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字符</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出现次数为</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w</a:t>
            </a:r>
            <a:r>
              <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，编码长度为</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，则总长为∑</a:t>
            </a:r>
            <a:r>
              <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 </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w</a:t>
            </a:r>
            <a:r>
              <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endPar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w</a:t>
            </a:r>
            <a:r>
              <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为叶节点权重， </a:t>
            </a:r>
            <a:r>
              <a:rPr kumimoji="0" lang="en-US" altLang="zh-CN" sz="3000" b="1" i="1"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l</a:t>
            </a:r>
            <a:r>
              <a:rPr kumimoji="0" lang="en-US" altLang="zh-CN" sz="3000" b="1" i="1" u="none" strike="noStrike" kern="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i</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为根到叶的路径长度，则最短的前缀编码可为赫夫曼树求解问题</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endParaRPr>
          </a:p>
        </p:txBody>
      </p:sp>
      <p:pic>
        <p:nvPicPr>
          <p:cNvPr id="123908" name="Picture 4"/>
          <p:cNvPicPr>
            <a:picLocks noChangeAspect="1"/>
          </p:cNvPicPr>
          <p:nvPr/>
        </p:nvPicPr>
        <p:blipFill>
          <a:blip r:embed="rId1"/>
          <a:stretch>
            <a:fillRect/>
          </a:stretch>
        </p:blipFill>
        <p:spPr>
          <a:xfrm>
            <a:off x="5148263" y="2205038"/>
            <a:ext cx="3240087" cy="2995612"/>
          </a:xfrm>
          <a:prstGeom prst="rect">
            <a:avLst/>
          </a:prstGeom>
          <a:noFill/>
          <a:ln w="9525">
            <a:noFill/>
          </a:ln>
        </p:spPr>
      </p:pic>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24930" name="Picture 5"/>
          <p:cNvPicPr>
            <a:picLocks noChangeAspect="1"/>
          </p:cNvPicPr>
          <p:nvPr/>
        </p:nvPicPr>
        <p:blipFill>
          <a:blip r:embed="rId1"/>
          <a:stretch>
            <a:fillRect/>
          </a:stretch>
        </p:blipFill>
        <p:spPr>
          <a:xfrm>
            <a:off x="2555875" y="1477963"/>
            <a:ext cx="5307013" cy="3946525"/>
          </a:xfrm>
          <a:prstGeom prst="rect">
            <a:avLst/>
          </a:prstGeom>
          <a:noFill/>
          <a:ln w="9525">
            <a:noFill/>
          </a:ln>
        </p:spPr>
      </p:pic>
      <p:sp>
        <p:nvSpPr>
          <p:cNvPr id="322566" name="AutoShape 6"/>
          <p:cNvSpPr/>
          <p:nvPr/>
        </p:nvSpPr>
        <p:spPr>
          <a:xfrm>
            <a:off x="468313" y="4926013"/>
            <a:ext cx="2160587" cy="609600"/>
          </a:xfrm>
          <a:prstGeom prst="cloudCallout">
            <a:avLst>
              <a:gd name="adj1" fmla="val 104958"/>
              <a:gd name="adj2" fmla="val -126042"/>
            </a:avLst>
          </a:prstGeom>
          <a:noFill/>
          <a:ln w="9525" cap="flat" cmpd="sng">
            <a:solidFill>
              <a:schemeClr val="accent2"/>
            </a:solidFill>
            <a:prstDash val="solid"/>
            <a:headEnd type="none" w="med" len="med"/>
            <a:tailEnd type="none" w="med" len="med"/>
          </a:ln>
        </p:spPr>
        <p:txBody>
          <a:bodyPr anchor="b" anchorCtr="0"/>
          <a:p>
            <a:pPr algn="ctr" eaLnBrk="1" hangingPunct="1"/>
            <a:r>
              <a:rPr lang="zh-CN" altLang="en-US" b="0" dirty="0">
                <a:latin typeface="Verdana" panose="020B0604030504040204" pitchFamily="34" charset="0"/>
              </a:rPr>
              <a:t>答案非唯一</a:t>
            </a:r>
            <a:endParaRPr lang="zh-CN" altLang="en-US" b="0" dirty="0">
              <a:latin typeface="Verdana" panose="020B0604030504040204" pitchFamily="34" charset="0"/>
            </a:endParaRPr>
          </a:p>
        </p:txBody>
      </p:sp>
      <p:sp>
        <p:nvSpPr>
          <p:cNvPr id="322567" name="Line 7"/>
          <p:cNvSpPr>
            <a:spLocks noChangeShapeType="1"/>
          </p:cNvSpPr>
          <p:nvPr/>
        </p:nvSpPr>
        <p:spPr bwMode="auto">
          <a:xfrm>
            <a:off x="3995738" y="4437063"/>
            <a:ext cx="885825" cy="11113"/>
          </a:xfrm>
          <a:prstGeom prst="line">
            <a:avLst/>
          </a:prstGeom>
          <a:noFill/>
          <a:ln w="9525">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22568" name="Line 8"/>
          <p:cNvSpPr>
            <a:spLocks noChangeShapeType="1"/>
          </p:cNvSpPr>
          <p:nvPr/>
        </p:nvSpPr>
        <p:spPr bwMode="auto">
          <a:xfrm>
            <a:off x="6227763" y="4448175"/>
            <a:ext cx="865188" cy="0"/>
          </a:xfrm>
          <a:prstGeom prst="line">
            <a:avLst/>
          </a:prstGeom>
          <a:noFill/>
          <a:ln w="9525">
            <a:solidFill>
              <a:schemeClr val="accent2"/>
            </a:solidFill>
            <a:round/>
          </a:ln>
          <a:effectLst/>
        </p:spPr>
        <p:txBody>
          <a:bodyPr anchor="b"/>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pic>
        <p:nvPicPr>
          <p:cNvPr id="124934" name="20 1"/>
          <p:cNvPicPr>
            <a:picLocks noChangeAspect="1"/>
          </p:cNvPicPr>
          <p:nvPr/>
        </p:nvPicPr>
        <p:blipFill>
          <a:blip r:embed="rId2"/>
          <a:stretch>
            <a:fillRect/>
          </a:stretch>
        </p:blipFill>
        <p:spPr>
          <a:xfrm>
            <a:off x="36513" y="298450"/>
            <a:ext cx="9107487" cy="103187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2566"/>
                                        </p:tgtEl>
                                        <p:attrNameLst>
                                          <p:attrName>style.visibility</p:attrName>
                                        </p:attrNameLst>
                                      </p:cBhvr>
                                      <p:to>
                                        <p:strVal val="visible"/>
                                      </p:to>
                                    </p:set>
                                    <p:animEffect transition="in" filter="blinds(horizontal)">
                                      <p:cBhvr>
                                        <p:cTn id="7" dur="500"/>
                                        <p:tgtEl>
                                          <p:spTgt spid="322566"/>
                                        </p:tgtEl>
                                      </p:cBhvr>
                                    </p:animEffect>
                                  </p:childTnLst>
                                </p:cTn>
                              </p:par>
                              <p:par>
                                <p:cTn id="8" presetID="3" presetClass="entr" presetSubtype="10" fill="hold" nodeType="withEffect">
                                  <p:stCondLst>
                                    <p:cond delay="0"/>
                                  </p:stCondLst>
                                  <p:childTnLst>
                                    <p:set>
                                      <p:cBhvr>
                                        <p:cTn id="9" dur="1" fill="hold">
                                          <p:stCondLst>
                                            <p:cond delay="0"/>
                                          </p:stCondLst>
                                        </p:cTn>
                                        <p:tgtEl>
                                          <p:spTgt spid="322568"/>
                                        </p:tgtEl>
                                        <p:attrNameLst>
                                          <p:attrName>style.visibility</p:attrName>
                                        </p:attrNameLst>
                                      </p:cBhvr>
                                      <p:to>
                                        <p:strVal val="visible"/>
                                      </p:to>
                                    </p:set>
                                    <p:animEffect transition="in" filter="blinds(horizontal)">
                                      <p:cBhvr>
                                        <p:cTn id="10" dur="500"/>
                                        <p:tgtEl>
                                          <p:spTgt spid="322568"/>
                                        </p:tgtEl>
                                      </p:cBhvr>
                                    </p:animEffect>
                                  </p:childTnLst>
                                </p:cTn>
                              </p:par>
                              <p:par>
                                <p:cTn id="11" presetID="3" presetClass="entr" presetSubtype="10" fill="hold" nodeType="withEffect">
                                  <p:stCondLst>
                                    <p:cond delay="0"/>
                                  </p:stCondLst>
                                  <p:childTnLst>
                                    <p:set>
                                      <p:cBhvr>
                                        <p:cTn id="12" dur="1" fill="hold">
                                          <p:stCondLst>
                                            <p:cond delay="0"/>
                                          </p:stCondLst>
                                        </p:cTn>
                                        <p:tgtEl>
                                          <p:spTgt spid="322567"/>
                                        </p:tgtEl>
                                        <p:attrNameLst>
                                          <p:attrName>style.visibility</p:attrName>
                                        </p:attrNameLst>
                                      </p:cBhvr>
                                      <p:to>
                                        <p:strVal val="visible"/>
                                      </p:to>
                                    </p:set>
                                    <p:animEffect transition="in" filter="blinds(horizontal)">
                                      <p:cBhvr>
                                        <p:cTn id="13" dur="500"/>
                                        <p:tgtEl>
                                          <p:spTgt spid="322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6"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6612" name="Rectangle 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课后作业</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7</a:t>
            </a:r>
            <a:endPar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25955" name="20 1"/>
          <p:cNvPicPr>
            <a:picLocks noChangeAspect="1"/>
          </p:cNvPicPr>
          <p:nvPr/>
        </p:nvPicPr>
        <p:blipFill>
          <a:blip r:embed="rId1"/>
          <a:stretch>
            <a:fillRect/>
          </a:stretch>
        </p:blipFill>
        <p:spPr>
          <a:xfrm>
            <a:off x="0" y="1933575"/>
            <a:ext cx="9144000" cy="1436688"/>
          </a:xfrm>
          <a:prstGeom prst="rect">
            <a:avLst/>
          </a:prstGeom>
          <a:noFill/>
          <a:ln w="9525">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bg>
      <p:bgPr>
        <a:solidFill>
          <a:srgbClr val="F7FD9D"/>
        </a:solidFill>
        <a:effectLst/>
      </p:bgPr>
    </p:bg>
    <p:spTree>
      <p:nvGrpSpPr>
        <p:cNvPr id="1" name=""/>
        <p:cNvGrpSpPr/>
        <p:nvPr/>
      </p:nvGrpSpPr>
      <p:grpSpPr/>
      <p:sp>
        <p:nvSpPr>
          <p:cNvPr id="1955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3800" b="0"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本章小结</a:t>
            </a:r>
            <a:endParaRPr kumimoji="0" lang="zh-CN" sz="3800" b="0"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9558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6.1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树的定义和基本概念</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6.2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二叉树</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6.2.1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树的定义和基本术语</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6.2.2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二叉树的性质</a:t>
            </a:r>
            <a:r>
              <a:rPr kumimoji="0" lang="zh-CN" altLang="en-US"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a:t>
            </a:r>
            <a:r>
              <a:rPr kumimoji="0" lang="en-US" altLang="zh-CN"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5</a:t>
            </a:r>
            <a:r>
              <a:rPr kumimoji="0" lang="zh-CN" altLang="en-US"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个性质）</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6.2.3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二叉树的存储结构</a:t>
            </a:r>
            <a:r>
              <a:rPr kumimoji="0" lang="zh-CN" altLang="en-US"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（顺序存储、链式存储）</a:t>
            </a:r>
            <a:endParaRPr kumimoji="0" lang="zh-CN" altLang="en-US"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6.3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遍历二叉树</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6.3.1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遍历二叉树</a:t>
            </a:r>
            <a:r>
              <a:rPr kumimoji="0" lang="zh-CN" altLang="en-US"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（先序、中序、后序、层次遍历）</a:t>
            </a:r>
            <a:endParaRPr kumimoji="0" lang="zh-CN" altLang="en-US"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6.4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树和森林</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6.4.1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树的存储结构</a:t>
            </a:r>
            <a:r>
              <a:rPr kumimoji="0" lang="zh-CN" altLang="en-US" sz="20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ea"/>
              </a:rPr>
              <a:t>（双亲表示法、孩子表示法、孩子兄弟表示法）</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6.4.2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森林与二叉树的转换</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6.4.3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树和森林的遍历</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6.6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赫夫曼树及其应用</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6.6.1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最优二叉树（赫夫曼树）</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6.6.2 </a:t>
            </a:r>
            <a:r>
              <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赫夫曼编码</a:t>
            </a:r>
            <a:endParaRPr kumimoji="0" lang="zh-CN" altLang="en-US" sz="20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开放作业</a:t>
            </a:r>
            <a:r>
              <a:rPr lang="en-US" altLang="zh-CN"/>
              <a:t>1</a:t>
            </a:r>
            <a:endParaRPr lang="en-US" altLang="zh-CN"/>
          </a:p>
        </p:txBody>
      </p:sp>
      <p:sp>
        <p:nvSpPr>
          <p:cNvPr id="3" name="内容占位符 2"/>
          <p:cNvSpPr>
            <a:spLocks noGrp="1"/>
          </p:cNvSpPr>
          <p:nvPr>
            <p:ph idx="1"/>
          </p:nvPr>
        </p:nvSpPr>
        <p:spPr/>
        <p:txBody>
          <a:bodyPr/>
          <a:p>
            <a:r>
              <a:rPr lang="zh-CN" altLang="en-US" sz="2400">
                <a:sym typeface="+mn-ea"/>
              </a:rPr>
              <a:t>开放</a:t>
            </a:r>
            <a:r>
              <a:rPr lang="zh-CN" altLang="en-US" sz="2400"/>
              <a:t>作业</a:t>
            </a:r>
            <a:r>
              <a:rPr lang="en-US" altLang="zh-CN" sz="2400"/>
              <a:t>1</a:t>
            </a:r>
            <a:r>
              <a:rPr lang="zh-CN" altLang="en-US" sz="2400"/>
              <a:t>：利用互联网查找</a:t>
            </a:r>
            <a:r>
              <a:rPr lang="en-US" altLang="zh-CN" sz="2400"/>
              <a:t>“</a:t>
            </a:r>
            <a:r>
              <a:rPr lang="zh-CN" altLang="en-US" sz="2400"/>
              <a:t>顺序表相关的编程题目</a:t>
            </a:r>
            <a:r>
              <a:rPr lang="en-US" altLang="zh-CN" sz="2400"/>
              <a:t>”</a:t>
            </a:r>
            <a:r>
              <a:rPr lang="zh-CN" altLang="en-US" sz="2400"/>
              <a:t>，并编程进行实现，报告中可以体现题目内容</a:t>
            </a:r>
            <a:r>
              <a:rPr lang="zh-CN" altLang="en-US" sz="2400">
                <a:sym typeface="+mn-ea"/>
              </a:rPr>
              <a:t>、描述解题思路</a:t>
            </a:r>
            <a:r>
              <a:rPr lang="zh-CN" altLang="en-US" sz="2400">
                <a:latin typeface="仿宋_GB2312" panose="02010609030101010101" charset="-122"/>
                <a:ea typeface="仿宋_GB2312" panose="02010609030101010101" charset="-122"/>
                <a:sym typeface="+mn-ea"/>
              </a:rPr>
              <a:t>、</a:t>
            </a:r>
            <a:r>
              <a:rPr lang="zh-CN" altLang="en-US" sz="2400">
                <a:sym typeface="+mn-ea"/>
              </a:rPr>
              <a:t>具体的程序及运行结果、</a:t>
            </a:r>
            <a:r>
              <a:rPr lang="zh-CN" altLang="en-US" sz="2400"/>
              <a:t>通过做题目收获的知识或者心得体会。</a:t>
            </a:r>
            <a:endParaRPr lang="zh-CN" altLang="en-US" sz="2400"/>
          </a:p>
          <a:p>
            <a:r>
              <a:rPr lang="zh-CN" altLang="en-US" sz="2400"/>
              <a:t>要求：作业的格式</a:t>
            </a:r>
            <a:r>
              <a:rPr lang="zh-CN" altLang="en-US" sz="2400">
                <a:latin typeface="仿宋_GB2312" panose="02010609030101010101" charset="-122"/>
                <a:ea typeface="仿宋_GB2312" panose="02010609030101010101" charset="-122"/>
              </a:rPr>
              <a:t>、</a:t>
            </a:r>
            <a:r>
              <a:rPr lang="zh-CN" altLang="en-US" sz="2400">
                <a:sym typeface="+mn-ea"/>
              </a:rPr>
              <a:t>内容</a:t>
            </a:r>
            <a:r>
              <a:rPr lang="zh-CN" altLang="en-US" sz="2400">
                <a:latin typeface="仿宋_GB2312" panose="02010609030101010101" charset="-122"/>
                <a:ea typeface="仿宋_GB2312" panose="02010609030101010101" charset="-122"/>
                <a:sym typeface="+mn-ea"/>
              </a:rPr>
              <a:t>、</a:t>
            </a:r>
            <a:r>
              <a:rPr lang="zh-CN" altLang="en-US" sz="2400">
                <a:sym typeface="+mn-ea"/>
              </a:rPr>
              <a:t>数量</a:t>
            </a:r>
            <a:r>
              <a:rPr lang="zh-CN" altLang="en-US" sz="2400"/>
              <a:t>不限，但要求务必在提交的作业中，体现出独立完成该项知识点的过程。做多少道题目合适呢，直到觉得已经熟练掌握</a:t>
            </a:r>
            <a:r>
              <a:rPr lang="en-US" altLang="zh-CN" sz="2400">
                <a:sym typeface="+mn-ea"/>
              </a:rPr>
              <a:t>“</a:t>
            </a:r>
            <a:r>
              <a:rPr lang="zh-CN" altLang="en-US" sz="2400">
                <a:sym typeface="+mn-ea"/>
              </a:rPr>
              <a:t>顺序表相关的编程题目</a:t>
            </a:r>
            <a:r>
              <a:rPr lang="en-US" altLang="zh-CN" sz="2400">
                <a:sym typeface="+mn-ea"/>
              </a:rPr>
              <a:t>”</a:t>
            </a:r>
            <a:r>
              <a:rPr lang="zh-CN" altLang="en-US" sz="2400"/>
              <a:t>该知识点。</a:t>
            </a:r>
            <a:endParaRPr lang="zh-CN" altLang="en-US" sz="240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开放作业</a:t>
            </a:r>
            <a:r>
              <a:rPr lang="en-US" altLang="zh-CN"/>
              <a:t>2</a:t>
            </a:r>
            <a:endParaRPr lang="en-US" altLang="zh-CN"/>
          </a:p>
        </p:txBody>
      </p:sp>
      <p:sp>
        <p:nvSpPr>
          <p:cNvPr id="3" name="内容占位符 2"/>
          <p:cNvSpPr>
            <a:spLocks noGrp="1"/>
          </p:cNvSpPr>
          <p:nvPr>
            <p:ph idx="1"/>
          </p:nvPr>
        </p:nvSpPr>
        <p:spPr>
          <a:xfrm>
            <a:off x="335280" y="1752600"/>
            <a:ext cx="8587105" cy="4267200"/>
          </a:xfrm>
        </p:spPr>
        <p:txBody>
          <a:bodyPr/>
          <a:p>
            <a:r>
              <a:rPr lang="zh-CN" altLang="en-US" sz="2400">
                <a:sym typeface="+mn-ea"/>
              </a:rPr>
              <a:t>开放</a:t>
            </a:r>
            <a:r>
              <a:rPr lang="zh-CN" altLang="en-US" sz="2400"/>
              <a:t>作业</a:t>
            </a:r>
            <a:r>
              <a:rPr lang="en-US" altLang="zh-CN" sz="2400"/>
              <a:t>2</a:t>
            </a:r>
            <a:r>
              <a:rPr lang="zh-CN" altLang="en-US" sz="2400"/>
              <a:t>：利用互联网查找</a:t>
            </a:r>
            <a:r>
              <a:rPr lang="en-US" altLang="zh-CN" sz="2400"/>
              <a:t>“</a:t>
            </a:r>
            <a:r>
              <a:rPr lang="zh-CN" altLang="en-US" sz="2400"/>
              <a:t>链表相关的编程题目</a:t>
            </a:r>
            <a:r>
              <a:rPr lang="en-US" altLang="zh-CN" sz="2400"/>
              <a:t>”</a:t>
            </a:r>
            <a:r>
              <a:rPr lang="zh-CN" altLang="en-US" sz="2400"/>
              <a:t>，并编程进行实现，报告中可以体现题目内容</a:t>
            </a:r>
            <a:r>
              <a:rPr lang="zh-CN" altLang="en-US" sz="2400">
                <a:sym typeface="+mn-ea"/>
              </a:rPr>
              <a:t>、描述解题思路</a:t>
            </a:r>
            <a:r>
              <a:rPr lang="zh-CN" altLang="en-US" sz="2400">
                <a:latin typeface="仿宋_GB2312" panose="02010609030101010101" charset="-122"/>
                <a:ea typeface="仿宋_GB2312" panose="02010609030101010101" charset="-122"/>
                <a:sym typeface="+mn-ea"/>
              </a:rPr>
              <a:t>、</a:t>
            </a:r>
            <a:r>
              <a:rPr lang="zh-CN" altLang="en-US" sz="2400">
                <a:sym typeface="+mn-ea"/>
              </a:rPr>
              <a:t>具体的程序及运行结果、</a:t>
            </a:r>
            <a:r>
              <a:rPr lang="zh-CN" altLang="en-US" sz="2400"/>
              <a:t>通过做题目收获的知识或者心得体会。</a:t>
            </a:r>
            <a:endParaRPr lang="zh-CN" altLang="en-US" sz="2400"/>
          </a:p>
          <a:p>
            <a:r>
              <a:rPr lang="zh-CN" altLang="en-US" sz="2400"/>
              <a:t>要求：具体要求同开放作业</a:t>
            </a:r>
            <a:r>
              <a:rPr lang="en-US" altLang="zh-CN" sz="2400"/>
              <a:t>1</a:t>
            </a:r>
            <a:r>
              <a:rPr lang="zh-CN" altLang="en-US" sz="2400">
                <a:sym typeface="+mn-ea"/>
              </a:rPr>
              <a:t>。</a:t>
            </a:r>
            <a:endParaRPr lang="zh-CN" altLang="en-US" sz="2400">
              <a:sym typeface="+mn-ea"/>
            </a:endParaRPr>
          </a:p>
          <a:p>
            <a:r>
              <a:rPr lang="zh-CN" altLang="en-US" sz="2400"/>
              <a:t>上述两个作业的提交截止时间同为：</a:t>
            </a:r>
            <a:endParaRPr lang="zh-CN" altLang="en-US" sz="2400"/>
          </a:p>
          <a:p>
            <a:pPr marL="0" indent="457200">
              <a:buNone/>
            </a:pPr>
            <a:r>
              <a:rPr lang="en-US" altLang="zh-CN" sz="2400"/>
              <a:t>2023</a:t>
            </a:r>
            <a:r>
              <a:rPr lang="zh-CN" altLang="en-US" sz="2400"/>
              <a:t>年</a:t>
            </a:r>
            <a:r>
              <a:rPr lang="en-US" altLang="zh-CN" sz="2400"/>
              <a:t>11</a:t>
            </a:r>
            <a:r>
              <a:rPr lang="zh-CN" altLang="en-US" sz="2400"/>
              <a:t>月</a:t>
            </a:r>
            <a:r>
              <a:rPr lang="en-US" altLang="zh-CN" sz="2400"/>
              <a:t>30</a:t>
            </a:r>
            <a:r>
              <a:rPr lang="zh-CN" altLang="en-US" sz="2400"/>
              <a:t>日中午</a:t>
            </a:r>
            <a:r>
              <a:rPr lang="en-US" altLang="zh-CN" sz="2400"/>
              <a:t>12</a:t>
            </a:r>
            <a:r>
              <a:rPr lang="zh-CN" altLang="en-US" sz="2400"/>
              <a:t>：</a:t>
            </a:r>
            <a:r>
              <a:rPr lang="en-US" altLang="zh-CN" sz="2400"/>
              <a:t>00</a:t>
            </a:r>
            <a:r>
              <a:rPr lang="zh-CN" altLang="en-US" sz="2400"/>
              <a:t>前</a:t>
            </a:r>
            <a:endParaRPr lang="zh-CN" altLang="en-US" sz="2400"/>
          </a:p>
          <a:p>
            <a:pPr marL="0" indent="457200">
              <a:buNone/>
            </a:pPr>
            <a:r>
              <a:rPr lang="zh-CN" altLang="en-US" sz="2400"/>
              <a:t>作业提交地址：与之前的课后作业提交地址相同（具体见群公告）。WORD文档命名：20-周杰伦-</a:t>
            </a:r>
            <a:r>
              <a:rPr lang="zh-CN" altLang="en-US" sz="2400">
                <a:solidFill>
                  <a:srgbClr val="FF0000"/>
                </a:solidFill>
              </a:rPr>
              <a:t>开放</a:t>
            </a:r>
            <a:r>
              <a:rPr lang="zh-CN" altLang="en-US" sz="2400"/>
              <a:t>作业1</a:t>
            </a:r>
            <a:r>
              <a:rPr lang="en-US" altLang="zh-CN" sz="2400"/>
              <a:t>/2</a:t>
            </a:r>
            <a:endParaRPr lang="en-US" altLang="zh-CN" sz="2400"/>
          </a:p>
        </p:txBody>
      </p:sp>
    </p:spTree>
  </p:cSld>
  <p:clrMapOvr>
    <a:masterClrMapping/>
  </p:clrMapOvr>
</p:sld>
</file>

<file path=ppt/tags/tag1.xml><?xml version="1.0" encoding="utf-8"?>
<p:tagLst xmlns:p="http://schemas.openxmlformats.org/presentationml/2006/main">
  <p:tag name="KSO_WM_UNIT_PLACING_PICTURE_USER_VIEWPORT" val="{&quot;height&quot;:3050,&quot;width&quot;:3310}"/>
</p:tagLst>
</file>

<file path=ppt/tags/tag2.xml><?xml version="1.0" encoding="utf-8"?>
<p:tagLst xmlns:p="http://schemas.openxmlformats.org/presentationml/2006/main">
  <p:tag name="KSO_WM_UNIT_PLACING_PICTURE_USER_VIEWPORT" val="{&quot;height&quot;:3470,&quot;width&quot;:4420}"/>
</p:tagLst>
</file>

<file path=ppt/tags/tag3.xml><?xml version="1.0" encoding="utf-8"?>
<p:tagLst xmlns:p="http://schemas.openxmlformats.org/presentationml/2006/main">
  <p:tag name="KSO_WM_UNIT_PLACING_PICTURE_USER_VIEWPORT" val="{&quot;height&quot;:7170,&quot;width&quot;:8510}"/>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commondata" val="eyJoZGlkIjoiYjFiN2NjNWM5Yjc2ZDdhMWExZGQ5OTBjOGZlOGJiODQ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10707</Words>
  <Application>WPS 演示</Application>
  <PresentationFormat>全屏显示(4:3)</PresentationFormat>
  <Paragraphs>1876</Paragraphs>
  <Slides>112</Slides>
  <Notes>17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112</vt:i4>
      </vt:variant>
    </vt:vector>
  </HeadingPairs>
  <TitlesOfParts>
    <vt:vector size="132" baseType="lpstr">
      <vt:lpstr>Arial</vt:lpstr>
      <vt:lpstr>宋体</vt:lpstr>
      <vt:lpstr>Wingdings</vt:lpstr>
      <vt:lpstr>Verdana</vt:lpstr>
      <vt:lpstr>Symbol</vt:lpstr>
      <vt:lpstr>Times New Roman</vt:lpstr>
      <vt:lpstr>楷体_GB2312</vt:lpstr>
      <vt:lpstr>新宋体</vt:lpstr>
      <vt:lpstr>微软雅黑</vt:lpstr>
      <vt:lpstr>Arial Unicode MS</vt:lpstr>
      <vt:lpstr>隶书</vt:lpstr>
      <vt:lpstr>Monotype Sorts</vt:lpstr>
      <vt:lpstr>Wingdings</vt:lpstr>
      <vt:lpstr>Arial</vt:lpstr>
      <vt:lpstr>-apple-system</vt:lpstr>
      <vt:lpstr>Segoe Print</vt:lpstr>
      <vt:lpstr>仿宋_GB2312</vt:lpstr>
      <vt:lpstr>Profile</vt:lpstr>
      <vt:lpstr>Equation.3</vt:lpstr>
      <vt:lpstr>Equation.3</vt:lpstr>
      <vt:lpstr>第6章 树和二叉树</vt:lpstr>
      <vt:lpstr>第6章 树和二叉树</vt:lpstr>
      <vt:lpstr>数据库系统中——树结构组织信息</vt:lpstr>
      <vt:lpstr>数据库系统中——树结构组织信息</vt:lpstr>
      <vt:lpstr>第6章 树和二叉树——引例</vt:lpstr>
      <vt:lpstr>第6章 树和二叉树——引例</vt:lpstr>
      <vt:lpstr>第6章 树和二叉树</vt:lpstr>
      <vt:lpstr>6.1  树的定义和基本概念</vt:lpstr>
      <vt:lpstr>树的ADT定义-结构</vt:lpstr>
      <vt:lpstr>PowerPoint 演示文稿</vt:lpstr>
      <vt:lpstr>树的抽象类型定义</vt:lpstr>
      <vt:lpstr>树的ADT定义-操作</vt:lpstr>
      <vt:lpstr>PowerPoint 演示文稿</vt:lpstr>
      <vt:lpstr>PowerPoint 演示文稿</vt:lpstr>
      <vt:lpstr>基本术语</vt:lpstr>
      <vt:lpstr>基本术语</vt:lpstr>
      <vt:lpstr>树表示</vt:lpstr>
      <vt:lpstr>PowerPoint 演示文稿</vt:lpstr>
      <vt:lpstr>课堂练习</vt:lpstr>
      <vt:lpstr>课堂练习解答</vt:lpstr>
      <vt:lpstr>6.2 二叉树（Binary Tree）</vt:lpstr>
      <vt:lpstr>6.2.1 定义</vt:lpstr>
      <vt:lpstr>二叉树的抽象类型定义</vt:lpstr>
      <vt:lpstr>PowerPoint 演示文稿</vt:lpstr>
      <vt:lpstr>PowerPoint 演示文稿</vt:lpstr>
      <vt:lpstr>6.2.2 二叉树的性质</vt:lpstr>
      <vt:lpstr>PowerPoint 演示文稿</vt:lpstr>
      <vt:lpstr>前情提要</vt:lpstr>
      <vt:lpstr>满二叉树和完全二叉树——两类特殊的二叉树</vt:lpstr>
      <vt:lpstr>PowerPoint 演示文稿</vt:lpstr>
      <vt:lpstr>PowerPoint 演示文稿</vt:lpstr>
      <vt:lpstr>6.2.3 二叉树的存储结构</vt:lpstr>
      <vt:lpstr>6.2.3 二叉树的存储结构－顺序存储结构</vt:lpstr>
      <vt:lpstr>6.2.3 二叉树的存储结构－顺序存储结构</vt:lpstr>
      <vt:lpstr>PowerPoint 演示文稿</vt:lpstr>
      <vt:lpstr>PowerPoint 演示文稿</vt:lpstr>
      <vt:lpstr>6.2.3 二叉树的存储结构－顺序存储结构</vt:lpstr>
      <vt:lpstr>6.2.3 二叉树的存储结构</vt:lpstr>
      <vt:lpstr>链式存储结构</vt:lpstr>
      <vt:lpstr>链式存储结构</vt:lpstr>
      <vt:lpstr>PowerPoint 演示文稿</vt:lpstr>
      <vt:lpstr>Status (*visit)(TElemType e ) 函数指针理解</vt:lpstr>
      <vt:lpstr>练习</vt:lpstr>
      <vt:lpstr>空指针域</vt:lpstr>
      <vt:lpstr>6.3 遍历二叉树和线索二叉树</vt:lpstr>
      <vt:lpstr>6.3.1 遍历二叉树</vt:lpstr>
      <vt:lpstr>先（根）序遍历DLR</vt:lpstr>
      <vt:lpstr>中（根）序遍历LDR</vt:lpstr>
      <vt:lpstr>后（根）序遍历LRD</vt:lpstr>
      <vt:lpstr>PowerPoint 演示文稿</vt:lpstr>
      <vt:lpstr>前情提要</vt:lpstr>
      <vt:lpstr>前情提要</vt:lpstr>
      <vt:lpstr>课后练习</vt:lpstr>
      <vt:lpstr>上述练习题的解题思路</vt:lpstr>
      <vt:lpstr>例子</vt:lpstr>
      <vt:lpstr>例子</vt:lpstr>
      <vt:lpstr>例子</vt:lpstr>
      <vt:lpstr>例子</vt:lpstr>
      <vt:lpstr>例子</vt:lpstr>
      <vt:lpstr>算法－先序遍历</vt:lpstr>
      <vt:lpstr>PowerPoint 演示文稿</vt:lpstr>
      <vt:lpstr>非递归算法－中序</vt:lpstr>
      <vt:lpstr>非递归算法－中序</vt:lpstr>
      <vt:lpstr>（先序、中序、后序）遍历复杂度</vt:lpstr>
      <vt:lpstr>先序创建二叉树</vt:lpstr>
      <vt:lpstr>6.3.2 线索二叉树</vt:lpstr>
      <vt:lpstr>线索链表</vt:lpstr>
      <vt:lpstr>线索二叉树数据类型定义</vt:lpstr>
      <vt:lpstr>线索化算法</vt:lpstr>
      <vt:lpstr>6.4 树和森林－6.4.1 树存储结构</vt:lpstr>
      <vt:lpstr>6.4 树和森林－6.4.1 树存储结构</vt:lpstr>
      <vt:lpstr>PowerPoint 演示文稿</vt:lpstr>
      <vt:lpstr>PowerPoint 演示文稿</vt:lpstr>
      <vt:lpstr>6.4.1 树存储结构</vt:lpstr>
      <vt:lpstr>N(k-1)+1 空指针</vt:lpstr>
      <vt:lpstr>PowerPoint 演示文稿</vt:lpstr>
      <vt:lpstr>PowerPoint 演示文稿</vt:lpstr>
      <vt:lpstr>PowerPoint 演示文稿</vt:lpstr>
      <vt:lpstr>前情提要</vt:lpstr>
      <vt:lpstr>前情提要</vt:lpstr>
      <vt:lpstr>PowerPoint 演示文稿</vt:lpstr>
      <vt:lpstr>6.4.1 树存储结构</vt:lpstr>
      <vt:lpstr>PowerPoint 演示文稿</vt:lpstr>
      <vt:lpstr>6.4.2 森林与二叉树的转换</vt:lpstr>
      <vt:lpstr>PowerPoint 演示文稿</vt:lpstr>
      <vt:lpstr>练习</vt:lpstr>
      <vt:lpstr>PowerPoint 演示文稿</vt:lpstr>
      <vt:lpstr>PowerPoint 演示文稿</vt:lpstr>
      <vt:lpstr>PowerPoint 演示文稿</vt:lpstr>
      <vt:lpstr>练习</vt:lpstr>
      <vt:lpstr>小结</vt:lpstr>
      <vt:lpstr>6.4.3 树和森林的遍历</vt:lpstr>
      <vt:lpstr>PowerPoint 演示文稿</vt:lpstr>
      <vt:lpstr>森林的遍历</vt:lpstr>
      <vt:lpstr>PowerPoint 演示文稿</vt:lpstr>
      <vt:lpstr>回忆 树和二叉树——引例</vt:lpstr>
      <vt:lpstr>6.6 赫夫曼树及其应用</vt:lpstr>
      <vt:lpstr>树的带权路径长度      树的带权路径长度是指树中所有叶子结点的带权路径长度之和。 </vt:lpstr>
      <vt:lpstr>PowerPoint 演示文稿</vt:lpstr>
      <vt:lpstr>PowerPoint 演示文稿</vt:lpstr>
      <vt:lpstr>PowerPoint 演示文稿</vt:lpstr>
      <vt:lpstr>PowerPoint 演示文稿</vt:lpstr>
      <vt:lpstr>PowerPoint 演示文稿</vt:lpstr>
      <vt:lpstr>PowerPoint 演示文稿</vt:lpstr>
      <vt:lpstr>6.6.2 赫夫曼编码</vt:lpstr>
      <vt:lpstr>6.6.2 赫夫曼编码</vt:lpstr>
      <vt:lpstr>6.6.2 赫夫曼编码</vt:lpstr>
      <vt:lpstr>PowerPoint 演示文稿</vt:lpstr>
      <vt:lpstr>课后作业7</vt:lpstr>
      <vt:lpstr>本章小结</vt:lpstr>
      <vt:lpstr>开放作业</vt:lpstr>
      <vt:lpstr>开放作业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数据结构（Data Structure）</dc:title>
  <dc:creator>MC SYSTEM</dc:creator>
  <cp:lastModifiedBy>鱼丸粗面</cp:lastModifiedBy>
  <cp:revision>555</cp:revision>
  <dcterms:created xsi:type="dcterms:W3CDTF">2007-02-11T07:05:00Z</dcterms:created>
  <dcterms:modified xsi:type="dcterms:W3CDTF">2023-10-22T13:12:18Z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F7FD8B2355D341E4B8454B28D151CF42_12</vt:lpwstr>
  </property>
</Properties>
</file>