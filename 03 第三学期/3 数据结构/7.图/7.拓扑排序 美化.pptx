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95" r:id="rId4"/>
    <p:sldId id="296" r:id="rId5"/>
    <p:sldId id="297" r:id="rId6"/>
    <p:sldId id="298" r:id="rId7"/>
    <p:sldId id="299" r:id="rId8"/>
    <p:sldId id="300" r:id="rId9"/>
    <p:sldId id="301" r:id="rId10"/>
    <p:sldId id="302" r:id="rId11"/>
    <p:sldId id="303" r:id="rId12"/>
    <p:sldId id="304" r:id="rId13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5B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94660"/>
  </p:normalViewPr>
  <p:slideViewPr>
    <p:cSldViewPr snapToGrid="0">
      <p:cViewPr varScale="1">
        <p:scale>
          <a:sx n="96" d="100"/>
          <a:sy n="96" d="100"/>
        </p:scale>
        <p:origin x="5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92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31844-757F-4497-A6B9-29138D45B0D0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BABFAC-0D77-4680-9C08-FA0DD250B4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9311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6039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81491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2271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060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08646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94446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713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512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8479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488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7388" y="1143000"/>
            <a:ext cx="548322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11242B-E086-4BFA-A7CA-F34B92C86E2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592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032"/>
            <a:ext cx="6858000" cy="1791253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2363"/>
            <a:ext cx="6858000" cy="1242205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4021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3160"/>
            <a:ext cx="7886700" cy="1125488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642"/>
            <a:ext cx="3886200" cy="326451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929"/>
            <a:ext cx="7886700" cy="9944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1261"/>
            <a:ext cx="3868340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9386"/>
            <a:ext cx="3868340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1261"/>
            <a:ext cx="3887391" cy="61812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9386"/>
            <a:ext cx="3887391" cy="276429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253" y="196280"/>
            <a:ext cx="144049" cy="5040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rtlCol="0" anchor="ctr"/>
          <a:lstStyle/>
          <a:p>
            <a:pPr algn="ctr" defTabSz="685800"/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6" name="文本框 37"/>
          <p:cNvSpPr txBox="1"/>
          <p:nvPr userDrawn="1"/>
        </p:nvSpPr>
        <p:spPr>
          <a:xfrm>
            <a:off x="216310" y="196280"/>
            <a:ext cx="2190351" cy="315475"/>
          </a:xfrm>
          <a:prstGeom prst="rect">
            <a:avLst/>
          </a:prstGeom>
          <a:noFill/>
        </p:spPr>
        <p:txBody>
          <a:bodyPr wrap="none" lIns="68584" tIns="34292" rIns="68584" bIns="34292" rtlCol="0">
            <a:spAutoFit/>
          </a:bodyPr>
          <a:lstStyle/>
          <a:p>
            <a:pPr defTabSz="685800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</a:p>
        </p:txBody>
      </p:sp>
      <p:sp>
        <p:nvSpPr>
          <p:cNvPr id="7" name="文本框 38"/>
          <p:cNvSpPr txBox="1"/>
          <p:nvPr userDrawn="1"/>
        </p:nvSpPr>
        <p:spPr>
          <a:xfrm>
            <a:off x="265271" y="520316"/>
            <a:ext cx="2039271" cy="207753"/>
          </a:xfrm>
          <a:prstGeom prst="rect">
            <a:avLst/>
          </a:prstGeom>
          <a:noFill/>
        </p:spPr>
        <p:txBody>
          <a:bodyPr wrap="square" lIns="68584" tIns="34292" rIns="68584" bIns="34292" rtlCol="0">
            <a:spAutoFit/>
          </a:bodyPr>
          <a:lstStyle/>
          <a:p>
            <a:pPr algn="dist" defTabSz="685800"/>
            <a:r>
              <a:rPr lang="en-US" altLang="zh-CN" sz="9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9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798"/>
            <a:ext cx="4629150" cy="365634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006"/>
            <a:ext cx="2949178" cy="120052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798"/>
            <a:ext cx="4629150" cy="365634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单击图标添加20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526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928"/>
            <a:ext cx="1971675" cy="436022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928"/>
            <a:ext cx="5800725" cy="43602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9ABEBE-EF13-4983-B182-046B37A0370C}" type="datetime1">
              <a:rPr lang="zh-CN" altLang="en-US"/>
              <a:t>2023/11/2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145E6F-D1B7-49E0-9AB3-789D9698C190}" type="slidenum">
              <a:rPr lang="zh-CN" altLang="en-US"/>
              <a:t>‹#›</a:t>
            </a:fld>
            <a:endParaRPr lang="zh-CN" altLang="en-US" sz="14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143000" y="374188"/>
            <a:ext cx="6858000" cy="523279"/>
          </a:xfrm>
        </p:spPr>
        <p:txBody>
          <a:bodyPr anchor="b">
            <a:normAutofit/>
          </a:bodyPr>
          <a:lstStyle>
            <a:lvl1pPr algn="ctr">
              <a:defRPr sz="3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143000" y="918257"/>
            <a:ext cx="6858000" cy="280749"/>
          </a:xfrm>
        </p:spPr>
        <p:txBody>
          <a:bodyPr>
            <a:normAutofit/>
          </a:bodyPr>
          <a:lstStyle>
            <a:lvl1pPr marL="0" indent="0" algn="ctr">
              <a:buNone/>
              <a:defRPr sz="1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  <a:endParaRPr lang="en-AU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28650" y="1503977"/>
            <a:ext cx="3942159" cy="353809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accent1"/>
                </a:solidFill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28650" y="1869220"/>
            <a:ext cx="3942159" cy="1320052"/>
          </a:xfrm>
        </p:spPr>
        <p:txBody>
          <a:bodyPr>
            <a:normAutofit/>
          </a:bodyPr>
          <a:lstStyle>
            <a:lvl1pPr marL="0" indent="0">
              <a:buNone/>
              <a:defRPr sz="11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629841" y="3288332"/>
            <a:ext cx="3940969" cy="370398"/>
          </a:xfrm>
        </p:spPr>
        <p:txBody>
          <a:bodyPr>
            <a:normAutofit/>
          </a:bodyPr>
          <a:lstStyle>
            <a:lvl1pPr marL="0" indent="0">
              <a:buNone/>
              <a:defRPr sz="1200" b="1" i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3" name="Text Placeholder 13"/>
          <p:cNvSpPr>
            <a:spLocks noGrp="1"/>
          </p:cNvSpPr>
          <p:nvPr>
            <p:ph type="body" sz="quarter" idx="16"/>
          </p:nvPr>
        </p:nvSpPr>
        <p:spPr>
          <a:xfrm>
            <a:off x="629841" y="3658730"/>
            <a:ext cx="3940969" cy="370399"/>
          </a:xfrm>
        </p:spPr>
        <p:txBody>
          <a:bodyPr>
            <a:normAutofit/>
          </a:bodyPr>
          <a:lstStyle>
            <a:lvl1pPr marL="0" indent="0">
              <a:buNone/>
              <a:defRPr sz="900" b="1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4" name="Text Placeholder 15"/>
          <p:cNvSpPr>
            <a:spLocks noGrp="1"/>
          </p:cNvSpPr>
          <p:nvPr>
            <p:ph type="body" sz="quarter" idx="17"/>
          </p:nvPr>
        </p:nvSpPr>
        <p:spPr>
          <a:xfrm>
            <a:off x="629841" y="4029128"/>
            <a:ext cx="3942159" cy="270355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722F6D6F-DD99-46DF-A9EA-728D63EA6A31}" type="datetimeFigureOut">
              <a:rPr lang="en-AU" smtClean="0"/>
              <a:t>2/11/2023</a:t>
            </a:fld>
            <a:endParaRPr lang="en-AU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8735"/>
            <a:ext cx="30861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endParaRPr lang="en-AU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4768735"/>
            <a:ext cx="2057400" cy="273928"/>
          </a:xfrm>
        </p:spPr>
        <p:txBody>
          <a:bodyPr/>
          <a:lstStyle>
            <a:lvl1pPr>
              <a:defRPr>
                <a:latin typeface="Lato Light" panose="020F0302020204030203" pitchFamily="34" charset="0"/>
              </a:defRPr>
            </a:lvl1pPr>
          </a:lstStyle>
          <a:p>
            <a:fld id="{84AD2E7E-F7BA-4F6B-9D0C-0B2331C2AE06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9" name="Text Placeholder 18"/>
          <p:cNvSpPr>
            <a:spLocks noGrp="1"/>
          </p:cNvSpPr>
          <p:nvPr>
            <p:ph type="body" sz="quarter" idx="18"/>
          </p:nvPr>
        </p:nvSpPr>
        <p:spPr>
          <a:xfrm>
            <a:off x="5112544" y="1504225"/>
            <a:ext cx="3251597" cy="353724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</a:lstStyle>
          <a:p>
            <a:pPr lvl="0"/>
            <a:endParaRPr lang="en-AU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9"/>
          </p:nvPr>
        </p:nvSpPr>
        <p:spPr>
          <a:xfrm>
            <a:off x="5112544" y="1868668"/>
            <a:ext cx="3251597" cy="703876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Lato Light" panose="020F0302020204030203" pitchFamily="34" charset="0"/>
              </a:defRPr>
            </a:lvl1pPr>
          </a:lstStyle>
          <a:p>
            <a:pPr lvl="0"/>
            <a:endParaRPr lang="en-AU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929"/>
            <a:ext cx="7886700" cy="9944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642"/>
            <a:ext cx="7886700" cy="3264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0A747-1217-4325-A876-522190C71555}" type="datetimeFigureOut">
              <a:rPr lang="zh-CN" altLang="en-US" smtClean="0"/>
              <a:t>2023/11/2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8735"/>
            <a:ext cx="30861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8735"/>
            <a:ext cx="20574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7CFC9F-4B06-4ABB-A28A-559A77B7DC5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411" y="5875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pic>
        <p:nvPicPr>
          <p:cNvPr id="3" name="20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4"/>
          <a:stretch>
            <a:fillRect/>
          </a:stretch>
        </p:blipFill>
        <p:spPr>
          <a:xfrm>
            <a:off x="4224" y="1133312"/>
            <a:ext cx="3523982" cy="4018760"/>
          </a:xfrm>
          <a:prstGeom prst="rect">
            <a:avLst/>
          </a:prstGeom>
          <a:solidFill>
            <a:srgbClr val="2A5BA8"/>
          </a:solidFill>
        </p:spPr>
      </p:pic>
      <p:pic>
        <p:nvPicPr>
          <p:cNvPr id="5" name="20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564" b="51735"/>
          <a:stretch>
            <a:fillRect/>
          </a:stretch>
        </p:blipFill>
        <p:spPr>
          <a:xfrm flipV="1">
            <a:off x="7180313" y="794"/>
            <a:ext cx="1952652" cy="1727659"/>
          </a:xfrm>
          <a:prstGeom prst="rect">
            <a:avLst/>
          </a:prstGeom>
        </p:spPr>
      </p:pic>
      <p:sp>
        <p:nvSpPr>
          <p:cNvPr id="7" name="矩形 259"/>
          <p:cNvSpPr>
            <a:spLocks noChangeArrowheads="1"/>
          </p:cNvSpPr>
          <p:nvPr/>
        </p:nvSpPr>
        <p:spPr bwMode="auto">
          <a:xfrm>
            <a:off x="6750050" y="2957195"/>
            <a:ext cx="1868170" cy="372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en-US" altLang="zh-CN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——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类</a:t>
            </a:r>
            <a:r>
              <a:rPr 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C</a:t>
            </a:r>
            <a:r>
              <a:rPr lang="zh-CN" altLang="en-US" sz="2000" b="1" cap="all" spc="213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描述</a:t>
            </a:r>
          </a:p>
        </p:txBody>
      </p:sp>
      <p:sp>
        <p:nvSpPr>
          <p:cNvPr id="8" name="矩形 259"/>
          <p:cNvSpPr>
            <a:spLocks noChangeArrowheads="1"/>
          </p:cNvSpPr>
          <p:nvPr/>
        </p:nvSpPr>
        <p:spPr bwMode="auto">
          <a:xfrm>
            <a:off x="3472815" y="2324735"/>
            <a:ext cx="5669280" cy="49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65012" tIns="32506" rIns="65012" bIns="32506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>
              <a:buNone/>
            </a:pPr>
            <a:r>
              <a:rPr lang="zh-CN" altLang="en-US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数据结构 </a:t>
            </a:r>
            <a:r>
              <a:rPr lang="en-US" altLang="zh-CN" sz="2800" cap="all" spc="213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DATA STRUCTURE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 bwMode="auto">
          <a:xfrm>
            <a:off x="4803775" y="3791585"/>
            <a:ext cx="1569085" cy="184150"/>
          </a:xfrm>
          <a:prstGeom prst="rect">
            <a:avLst/>
          </a:prstGeom>
          <a:solidFill>
            <a:schemeClr val="accent1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r>
              <a:rPr lang="zh-CN" altLang="en-US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任课教师：</a:t>
            </a:r>
            <a:r>
              <a:rPr 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王青松</a:t>
            </a:r>
            <a:r>
              <a:rPr lang="en-US" altLang="zh-CN" sz="1200" b="0" noProof="1">
                <a:effectLst/>
                <a:latin typeface="百度综艺简体" panose="02010601030101010101" charset="-122"/>
                <a:ea typeface="百度综艺简体" panose="02010601030101010101" charset="-122"/>
                <a:cs typeface="百度综艺简体" panose="02010601030101010101" charset="-122"/>
              </a:rPr>
              <a:t> </a:t>
            </a:r>
            <a:r>
              <a:rPr lang="en-US" altLang="zh-CN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  </a:t>
            </a:r>
            <a:r>
              <a:rPr lang="zh-CN" altLang="en-US" sz="1200" b="0" noProof="1">
                <a:effectLst/>
                <a:latin typeface="华文中宋" panose="02010600040101010101" charset="-122"/>
                <a:ea typeface="华文中宋" panose="02010600040101010101" charset="-122"/>
              </a:rPr>
              <a:t>   </a:t>
            </a:r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6372558" y="3791658"/>
            <a:ext cx="2760406" cy="184538"/>
          </a:xfrm>
          <a:prstGeom prst="rect">
            <a:avLst/>
          </a:prstGeom>
          <a:solidFill>
            <a:schemeClr val="accent2"/>
          </a:solidFill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ctr">
              <a:spcBef>
                <a:spcPct val="0"/>
              </a:spcBef>
              <a:buNone/>
              <a:defRPr lang="ko-KR" altLang="en-US" sz="4400" b="1" baseline="0" dirty="0">
                <a:solidFill>
                  <a:schemeClr val="bg1"/>
                </a:solidFill>
                <a:effectLst>
                  <a:outerShdw blurRad="12700" dist="25400" dir="5400000" algn="t" rotWithShape="0">
                    <a:prstClr val="black">
                      <a:alpha val="50000"/>
                    </a:prst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algn="l"/>
            <a:endParaRPr lang="en-US" altLang="ko-KR" sz="1200" b="0" noProof="1">
              <a:effectLst/>
              <a:latin typeface="华文中宋" panose="02010600040101010101" charset="-122"/>
              <a:ea typeface="华文中宋" panose="0201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 tmFilter="0,0; .5, 1; 1, 1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99"/>
                            </p:stCondLst>
                            <p:childTnLst>
                              <p:par>
                                <p:cTn id="2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99"/>
                            </p:stCondLst>
                            <p:childTnLst>
                              <p:par>
                                <p:cTn id="28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 tmFilter="0,0; .5, 1; 1, 1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850"/>
                            </p:stCondLst>
                            <p:childTnLst>
                              <p:par>
                                <p:cTn id="3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7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8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35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85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099953" y="1577691"/>
            <a:ext cx="6563995" cy="16732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所有的工程或者某种流程可以分为若干个小的工程或阶段，这些小的工程或阶段就称为活动。若以图中的顶点来表示活动，有向边表示活动之间的优先关系，则这样活动在顶点上的有向图称为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AOV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网。在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AOV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网中，若从顶点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到顶点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之间存在一条有向路径，称顶点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是顶点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的前驱，或者称顶点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是顶点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的后继。若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&lt;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i,j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&gt;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是图中的弧，则称顶点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是顶点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的直接前驱，顶点</a:t>
            </a: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j 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是顶点</a:t>
            </a:r>
            <a:r>
              <a:rPr lang="en-US" altLang="zh-CN" sz="1400" dirty="0" err="1">
                <a:latin typeface="百度综艺简体" panose="02010601030101010101" charset="-122"/>
                <a:ea typeface="百度综艺简体" panose="02010601030101010101" charset="-122"/>
              </a:rPr>
              <a:t>i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的直接后驱。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sp>
        <p:nvSpPr>
          <p:cNvPr id="41" name="Text Placeholder 11"/>
          <p:cNvSpPr txBox="1"/>
          <p:nvPr/>
        </p:nvSpPr>
        <p:spPr>
          <a:xfrm>
            <a:off x="775037" y="815845"/>
            <a:ext cx="6266465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sz="20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 AOV(Activity On Vertex Network)</a:t>
            </a:r>
            <a:r>
              <a:rPr lang="en-US" sz="2000" dirty="0" err="1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网与拓扑排序</a:t>
            </a:r>
            <a:endParaRPr sz="2000" dirty="0">
              <a:solidFill>
                <a:schemeClr val="accent1"/>
              </a:solidFill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7" name="TextBox 5"/>
          <p:cNvSpPr txBox="1">
            <a:spLocks noChangeArrowheads="1"/>
          </p:cNvSpPr>
          <p:nvPr/>
        </p:nvSpPr>
        <p:spPr bwMode="auto">
          <a:xfrm>
            <a:off x="1101090" y="3311363"/>
            <a:ext cx="6563995" cy="102694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latin typeface="百度综艺简体" panose="02010601030101010101" charset="-122"/>
                <a:ea typeface="百度综艺简体" panose="02010601030101010101" charset="-122"/>
              </a:rPr>
              <a:t>AOV</a:t>
            </a: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网中的弧表示了活动之间存在的制约关系。例如，计算机专业的学生必须完成一系列规定的基础课和专业课才能毕业。学生按照怎样的顺序来学习这些课程呢？这个问题可以被看成是一个大的工程，其活动就是学习每一门课程。</a:t>
            </a:r>
          </a:p>
        </p:txBody>
      </p:sp>
      <p:sp>
        <p:nvSpPr>
          <p:cNvPr id="14" name="Text Placeholder 11"/>
          <p:cNvSpPr txBox="1"/>
          <p:nvPr/>
        </p:nvSpPr>
        <p:spPr>
          <a:xfrm>
            <a:off x="828620" y="1260741"/>
            <a:ext cx="1964276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en-US" sz="18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1．AOV</a:t>
            </a:r>
            <a:r>
              <a:rPr lang="zh-CN" altLang="en-US" sz="18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41" grpId="0"/>
      <p:bldP spid="17" grpId="0" autoUpdateAnimBg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645863" y="867885"/>
            <a:ext cx="6563995" cy="38061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latin typeface="百度综艺简体" panose="02010601030101010101" charset="-122"/>
                <a:ea typeface="百度综艺简体" panose="02010601030101010101" charset="-122"/>
              </a:rPr>
              <a:t>例如：软件专业学生必须学习一系列基本课程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aphicFrame>
        <p:nvGraphicFramePr>
          <p:cNvPr id="18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0736943"/>
              </p:ext>
            </p:extLst>
          </p:nvPr>
        </p:nvGraphicFramePr>
        <p:xfrm>
          <a:off x="1971870" y="1452177"/>
          <a:ext cx="5386873" cy="3423810"/>
        </p:xfrm>
        <a:graphic>
          <a:graphicData uri="http://schemas.openxmlformats.org/drawingml/2006/table">
            <a:tbl>
              <a:tblPr/>
              <a:tblGrid>
                <a:gridCol w="1094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14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课程编号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课程名称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先决条件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程序设计基础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离散数学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数据结构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r>
                        <a:rPr kumimoji="1" lang="zh-CN" altLang="en-US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 </a:t>
                      </a: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汇编语言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语言的设计与分析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 </a:t>
                      </a: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计算机原理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编译原理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 </a:t>
                      </a:r>
                      <a:r>
                        <a:rPr kumimoji="1" lang="zh-CN" altLang="en-US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操作系统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r>
                        <a:rPr kumimoji="1" lang="zh-CN" altLang="en-US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 </a:t>
                      </a: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高等数学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无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线性代数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11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普通物理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337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</a:t>
                      </a:r>
                    </a:p>
                  </a:txBody>
                  <a:tcPr marT="45723" marB="4572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数值分析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9</a:t>
                      </a:r>
                      <a:r>
                        <a:rPr kumimoji="1" lang="zh-CN" altLang="en-US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</a:t>
                      </a:r>
                      <a:r>
                        <a:rPr kumimoji="1" lang="zh-CN" altLang="en-US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，</a:t>
                      </a:r>
                      <a:r>
                        <a:rPr kumimoji="1" lang="en-US" altLang="zh-CN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en-US" altLang="zh-CN" sz="1100" b="1" i="0" u="none" strike="noStrike" cap="none" normalizeH="0" baseline="-2500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2982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828620" y="998513"/>
            <a:ext cx="6820883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0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defTabSz="911225">
              <a:buNone/>
            </a:pPr>
            <a:r>
              <a:rPr lang="zh-CN" altLang="en-US" sz="1800" dirty="0">
                <a:solidFill>
                  <a:schemeClr val="accent3"/>
                </a:solidFill>
                <a:latin typeface="百度综艺简体" panose="02010601030101010101" charset="-122"/>
                <a:ea typeface="百度综艺简体" panose="02010601030101010101" charset="-122"/>
              </a:rPr>
              <a:t>课程之间的优先关系可以用有向图表示：</a:t>
            </a:r>
          </a:p>
        </p:txBody>
      </p: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2021694" y="2612116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1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2021694" y="3779654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9</a:t>
            </a:r>
            <a:endParaRPr lang="en-US" altLang="zh-CN" sz="12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0" name="Oval 5"/>
          <p:cNvSpPr>
            <a:spLocks noChangeArrowheads="1"/>
          </p:cNvSpPr>
          <p:nvPr/>
        </p:nvSpPr>
        <p:spPr bwMode="auto">
          <a:xfrm>
            <a:off x="3004884" y="1444577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 dirty="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4</a:t>
            </a:r>
            <a:endParaRPr lang="en-US" altLang="zh-CN" sz="12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3" name="Oval 6"/>
          <p:cNvSpPr>
            <a:spLocks noChangeArrowheads="1"/>
          </p:cNvSpPr>
          <p:nvPr/>
        </p:nvSpPr>
        <p:spPr bwMode="auto">
          <a:xfrm>
            <a:off x="3680828" y="2059071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2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4541119" y="2550667"/>
            <a:ext cx="368696" cy="368696"/>
          </a:xfrm>
          <a:prstGeom prst="ellipse">
            <a:avLst/>
          </a:prstGeom>
          <a:solidFill>
            <a:srgbClr val="CCFFFF"/>
          </a:solidFill>
          <a:ln w="2857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3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8" name="Oval 8"/>
          <p:cNvSpPr>
            <a:spLocks noChangeArrowheads="1"/>
          </p:cNvSpPr>
          <p:nvPr/>
        </p:nvSpPr>
        <p:spPr bwMode="auto">
          <a:xfrm>
            <a:off x="3926625" y="3165160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12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9" name="Oval 9"/>
          <p:cNvSpPr>
            <a:spLocks noChangeArrowheads="1"/>
          </p:cNvSpPr>
          <p:nvPr/>
        </p:nvSpPr>
        <p:spPr bwMode="auto">
          <a:xfrm>
            <a:off x="3127783" y="3779654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10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0" name="Oval 10"/>
          <p:cNvSpPr>
            <a:spLocks noChangeArrowheads="1"/>
          </p:cNvSpPr>
          <p:nvPr/>
        </p:nvSpPr>
        <p:spPr bwMode="auto">
          <a:xfrm>
            <a:off x="3004884" y="4578497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11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2" name="Oval 11"/>
          <p:cNvSpPr>
            <a:spLocks noChangeArrowheads="1"/>
          </p:cNvSpPr>
          <p:nvPr/>
        </p:nvSpPr>
        <p:spPr bwMode="auto">
          <a:xfrm>
            <a:off x="5893006" y="1444577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5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3" name="Oval 12"/>
          <p:cNvSpPr>
            <a:spLocks noChangeArrowheads="1"/>
          </p:cNvSpPr>
          <p:nvPr/>
        </p:nvSpPr>
        <p:spPr bwMode="auto">
          <a:xfrm>
            <a:off x="6691848" y="2566029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7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4" name="Oval 13"/>
          <p:cNvSpPr>
            <a:spLocks noChangeArrowheads="1"/>
          </p:cNvSpPr>
          <p:nvPr/>
        </p:nvSpPr>
        <p:spPr bwMode="auto">
          <a:xfrm>
            <a:off x="4909816" y="4209800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6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5" name="Oval 14"/>
          <p:cNvSpPr>
            <a:spLocks noChangeArrowheads="1"/>
          </p:cNvSpPr>
          <p:nvPr/>
        </p:nvSpPr>
        <p:spPr bwMode="auto">
          <a:xfrm>
            <a:off x="6630399" y="3656756"/>
            <a:ext cx="368696" cy="368696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3366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r>
              <a:rPr lang="en-US" altLang="zh-CN" sz="1600" b="1" baseline="-25000">
                <a:solidFill>
                  <a:srgbClr val="000099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8</a:t>
            </a:r>
            <a:endParaRPr lang="en-US" altLang="zh-CN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6" name="Line 15"/>
          <p:cNvSpPr>
            <a:spLocks noChangeShapeType="1"/>
          </p:cNvSpPr>
          <p:nvPr/>
        </p:nvSpPr>
        <p:spPr bwMode="auto">
          <a:xfrm>
            <a:off x="2390390" y="2796464"/>
            <a:ext cx="2150729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8" name="Line 16"/>
          <p:cNvSpPr>
            <a:spLocks noChangeShapeType="1"/>
          </p:cNvSpPr>
          <p:nvPr/>
        </p:nvSpPr>
        <p:spPr bwMode="auto">
          <a:xfrm>
            <a:off x="4909816" y="2735015"/>
            <a:ext cx="1782032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9" name="Line 17"/>
          <p:cNvSpPr>
            <a:spLocks noChangeShapeType="1"/>
          </p:cNvSpPr>
          <p:nvPr/>
        </p:nvSpPr>
        <p:spPr bwMode="auto">
          <a:xfrm flipV="1">
            <a:off x="2267492" y="1813274"/>
            <a:ext cx="798842" cy="79884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0" name="Line 18"/>
          <p:cNvSpPr>
            <a:spLocks noChangeShapeType="1"/>
          </p:cNvSpPr>
          <p:nvPr/>
        </p:nvSpPr>
        <p:spPr bwMode="auto">
          <a:xfrm flipV="1">
            <a:off x="2328941" y="2304869"/>
            <a:ext cx="1351887" cy="36869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1" name="Line 19"/>
          <p:cNvSpPr>
            <a:spLocks noChangeShapeType="1"/>
          </p:cNvSpPr>
          <p:nvPr/>
        </p:nvSpPr>
        <p:spPr bwMode="auto">
          <a:xfrm>
            <a:off x="4049524" y="2304869"/>
            <a:ext cx="553045" cy="30724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2" name="Line 20"/>
          <p:cNvSpPr>
            <a:spLocks noChangeShapeType="1"/>
          </p:cNvSpPr>
          <p:nvPr/>
        </p:nvSpPr>
        <p:spPr bwMode="auto">
          <a:xfrm>
            <a:off x="3373581" y="1628926"/>
            <a:ext cx="2519425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3" name="Line 21"/>
          <p:cNvSpPr>
            <a:spLocks noChangeShapeType="1"/>
          </p:cNvSpPr>
          <p:nvPr/>
        </p:nvSpPr>
        <p:spPr bwMode="auto">
          <a:xfrm>
            <a:off x="6200253" y="1797911"/>
            <a:ext cx="553045" cy="79884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4" name="Line 22"/>
          <p:cNvSpPr>
            <a:spLocks noChangeShapeType="1"/>
          </p:cNvSpPr>
          <p:nvPr/>
        </p:nvSpPr>
        <p:spPr bwMode="auto">
          <a:xfrm>
            <a:off x="2328941" y="2919363"/>
            <a:ext cx="1597684" cy="36869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5" name="Line 23"/>
          <p:cNvSpPr>
            <a:spLocks noChangeShapeType="1"/>
          </p:cNvSpPr>
          <p:nvPr/>
        </p:nvSpPr>
        <p:spPr bwMode="auto">
          <a:xfrm>
            <a:off x="2390390" y="3964003"/>
            <a:ext cx="73739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6" name="Line 24"/>
          <p:cNvSpPr>
            <a:spLocks noChangeShapeType="1"/>
          </p:cNvSpPr>
          <p:nvPr/>
        </p:nvSpPr>
        <p:spPr bwMode="auto">
          <a:xfrm flipV="1">
            <a:off x="2328941" y="3410958"/>
            <a:ext cx="1597684" cy="43014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7" name="Line 25"/>
          <p:cNvSpPr>
            <a:spLocks noChangeShapeType="1"/>
          </p:cNvSpPr>
          <p:nvPr/>
        </p:nvSpPr>
        <p:spPr bwMode="auto">
          <a:xfrm>
            <a:off x="2328941" y="4148351"/>
            <a:ext cx="737393" cy="49159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8" name="Line 26"/>
          <p:cNvSpPr>
            <a:spLocks noChangeShapeType="1"/>
          </p:cNvSpPr>
          <p:nvPr/>
        </p:nvSpPr>
        <p:spPr bwMode="auto">
          <a:xfrm flipV="1">
            <a:off x="3496479" y="3533857"/>
            <a:ext cx="553045" cy="43014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49" name="Line 27"/>
          <p:cNvSpPr>
            <a:spLocks noChangeShapeType="1"/>
          </p:cNvSpPr>
          <p:nvPr/>
        </p:nvSpPr>
        <p:spPr bwMode="auto">
          <a:xfrm flipV="1">
            <a:off x="3373581" y="4455598"/>
            <a:ext cx="1536235" cy="307247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0" name="Line 28"/>
          <p:cNvSpPr>
            <a:spLocks noChangeShapeType="1"/>
          </p:cNvSpPr>
          <p:nvPr/>
        </p:nvSpPr>
        <p:spPr bwMode="auto">
          <a:xfrm flipV="1">
            <a:off x="5278512" y="3902553"/>
            <a:ext cx="1351887" cy="430146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1" name="Line 29"/>
          <p:cNvSpPr>
            <a:spLocks noChangeShapeType="1"/>
          </p:cNvSpPr>
          <p:nvPr/>
        </p:nvSpPr>
        <p:spPr bwMode="auto">
          <a:xfrm>
            <a:off x="4848366" y="2857913"/>
            <a:ext cx="1782032" cy="86029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52" name="Line 30"/>
          <p:cNvSpPr>
            <a:spLocks noChangeShapeType="1"/>
          </p:cNvSpPr>
          <p:nvPr/>
        </p:nvSpPr>
        <p:spPr bwMode="auto">
          <a:xfrm flipV="1">
            <a:off x="4848366" y="1751824"/>
            <a:ext cx="1106089" cy="86029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2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448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107273" y="1335599"/>
            <a:ext cx="7229174" cy="30008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复习一下离散数学中的偏序集合与全序集合两个概念。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若集合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中的二元关系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是自反的、反对称的和传递的，则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上的偏序关系。集合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与关系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一起称为一个偏序集合。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是集合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上的一个偏序关系，如果对每个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、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b∈A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必有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aRb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或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bRa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，则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是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上的全序关系。集合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与关系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R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一起称为一个全序集合。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偏序关系经常出现在我们的日常生活中。例如，若把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看成一项大的工程必须完成的一批活动，则</a:t>
            </a:r>
            <a:r>
              <a:rPr lang="en-US" altLang="zh-CN" dirty="0" err="1">
                <a:latin typeface="百度综艺简体" panose="02010601030101010101" charset="-122"/>
                <a:ea typeface="百度综艺简体" panose="02010601030101010101" charset="-122"/>
              </a:rPr>
              <a:t>aRb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意味着活动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必须在活动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b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之前完成。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373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957413" y="2083863"/>
            <a:ext cx="7229174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拓扑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排序（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Topological Sort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）就是由某个集合上的一个偏序得到该集合上的一个全序（线性序列）的操作。构造拓扑序列的过程称为拓扑排序。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1204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39699" y="834624"/>
            <a:ext cx="7229174" cy="1294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例如，对学生选课工程图进行拓扑排序，得到的拓扑有序序列为</a:t>
            </a: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    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C1 , C2 , C3 , C4 , C5 , C6 , C8 , C9 , C7</a:t>
            </a:r>
            <a:b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</a:b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或     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C1 , C8 , C9 , C2 , C5 , C3 , C4 , C7 , C6	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Picture 10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9617" y="2299047"/>
            <a:ext cx="4738151" cy="2572139"/>
          </a:xfrm>
          <a:prstGeom prst="rect">
            <a:avLst/>
          </a:prstGeom>
          <a:ln w="38100">
            <a:solidFill>
              <a:srgbClr val="2A5BA8"/>
            </a:solidFill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323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1337429" y="1341391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 用顶点表示活动，用弧表示活动间优先关系的有向图称为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AOV-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网。 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TextBox 5"/>
          <p:cNvSpPr txBox="1">
            <a:spLocks noChangeArrowheads="1"/>
          </p:cNvSpPr>
          <p:nvPr/>
        </p:nvSpPr>
        <p:spPr bwMode="auto">
          <a:xfrm>
            <a:off x="957413" y="1892736"/>
            <a:ext cx="7229174" cy="87851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在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AOV-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网中，不应该出现有向环，因为存在环意味着某项活动应以自己为先决条件。显然，这是荒谬的。</a:t>
            </a:r>
          </a:p>
        </p:txBody>
      </p:sp>
      <p:sp>
        <p:nvSpPr>
          <p:cNvPr id="13" name="TextBox 5"/>
          <p:cNvSpPr txBox="1">
            <a:spLocks noChangeArrowheads="1"/>
          </p:cNvSpPr>
          <p:nvPr/>
        </p:nvSpPr>
        <p:spPr bwMode="auto">
          <a:xfrm>
            <a:off x="957413" y="2938773"/>
            <a:ext cx="7229174" cy="129400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      因此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，对给定的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AOV-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网，应首先判定网中是否存在环。检测的办法是对有向图构造其顶点的拓扑有序序列，若网中所有顶点都在它的拓扑有序序列中，则该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AOV-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网中必定不存在环。</a:t>
            </a:r>
          </a:p>
        </p:txBody>
      </p:sp>
    </p:spTree>
    <p:extLst>
      <p:ext uri="{BB962C8B-B14F-4D97-AF65-F5344CB8AC3E}">
        <p14:creationId xmlns:p14="http://schemas.microsoft.com/office/powerpoint/2010/main" val="12838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12" grpId="0" autoUpdateAnimBg="0"/>
      <p:bldP spid="13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02948" y="891540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例如：对于下列有向图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4" name="Oval 3"/>
          <p:cNvSpPr>
            <a:spLocks noChangeArrowheads="1"/>
          </p:cNvSpPr>
          <p:nvPr/>
        </p:nvSpPr>
        <p:spPr bwMode="auto">
          <a:xfrm>
            <a:off x="3962400" y="1537758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0099"/>
                </a:solidFill>
              </a:rPr>
              <a:t>B</a:t>
            </a:r>
            <a:endParaRPr lang="en-US" altLang="zh-CN"/>
          </a:p>
        </p:txBody>
      </p:sp>
      <p:sp>
        <p:nvSpPr>
          <p:cNvPr id="17" name="Oval 4"/>
          <p:cNvSpPr>
            <a:spLocks noChangeArrowheads="1"/>
          </p:cNvSpPr>
          <p:nvPr/>
        </p:nvSpPr>
        <p:spPr bwMode="auto">
          <a:xfrm>
            <a:off x="5257800" y="2134658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0099"/>
                </a:solidFill>
              </a:rPr>
              <a:t>D</a:t>
            </a:r>
            <a:endParaRPr lang="en-US" altLang="zh-CN"/>
          </a:p>
        </p:txBody>
      </p:sp>
      <p:sp>
        <p:nvSpPr>
          <p:cNvPr id="18" name="Oval 5"/>
          <p:cNvSpPr>
            <a:spLocks noChangeArrowheads="1"/>
          </p:cNvSpPr>
          <p:nvPr/>
        </p:nvSpPr>
        <p:spPr bwMode="auto">
          <a:xfrm>
            <a:off x="2667000" y="2134658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0099"/>
                </a:solidFill>
              </a:rPr>
              <a:t>A</a:t>
            </a:r>
            <a:endParaRPr lang="en-US" altLang="zh-CN"/>
          </a:p>
        </p:txBody>
      </p:sp>
      <p:sp>
        <p:nvSpPr>
          <p:cNvPr id="20" name="Oval 6"/>
          <p:cNvSpPr>
            <a:spLocks noChangeArrowheads="1"/>
          </p:cNvSpPr>
          <p:nvPr/>
        </p:nvSpPr>
        <p:spPr bwMode="auto">
          <a:xfrm>
            <a:off x="3962400" y="2668058"/>
            <a:ext cx="457200" cy="457200"/>
          </a:xfrm>
          <a:prstGeom prst="ellipse">
            <a:avLst/>
          </a:prstGeom>
          <a:noFill/>
          <a:ln w="12700" cap="sq">
            <a:solidFill>
              <a:srgbClr val="000099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000099"/>
                </a:solidFill>
              </a:rPr>
              <a:t>C</a:t>
            </a:r>
            <a:endParaRPr lang="en-US" altLang="zh-CN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3124200" y="1753658"/>
            <a:ext cx="838200" cy="4572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3048000" y="2515658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Line 9"/>
          <p:cNvSpPr>
            <a:spLocks noChangeShapeType="1"/>
          </p:cNvSpPr>
          <p:nvPr/>
        </p:nvSpPr>
        <p:spPr bwMode="auto">
          <a:xfrm>
            <a:off x="4419600" y="1829858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Line 10"/>
          <p:cNvSpPr>
            <a:spLocks noChangeShapeType="1"/>
          </p:cNvSpPr>
          <p:nvPr/>
        </p:nvSpPr>
        <p:spPr bwMode="auto">
          <a:xfrm flipV="1">
            <a:off x="4419600" y="2515658"/>
            <a:ext cx="914400" cy="381000"/>
          </a:xfrm>
          <a:prstGeom prst="line">
            <a:avLst/>
          </a:prstGeom>
          <a:noFill/>
          <a:ln w="25400" cap="sq">
            <a:solidFill>
              <a:srgbClr val="000099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702948" y="3427848"/>
            <a:ext cx="7229174" cy="9233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pt-BR" dirty="0">
                <a:latin typeface="百度综艺简体" panose="02010601030101010101" charset="-122"/>
                <a:ea typeface="百度综艺简体" panose="02010601030101010101" charset="-122"/>
              </a:rPr>
              <a:t>可求得</a:t>
            </a:r>
            <a:r>
              <a:rPr lang="zh-CN" altLang="pt-BR" dirty="0">
                <a:solidFill>
                  <a:srgbClr val="FF0000"/>
                </a:solidFill>
                <a:latin typeface="百度综艺简体" panose="02010601030101010101" charset="-122"/>
                <a:ea typeface="百度综艺简体" panose="02010601030101010101" charset="-122"/>
              </a:rPr>
              <a:t>拓扑有序序列</a:t>
            </a:r>
            <a:r>
              <a:rPr lang="zh-CN" altLang="pt-BR" dirty="0">
                <a:latin typeface="百度综艺简体" panose="02010601030101010101" charset="-122"/>
                <a:ea typeface="百度综艺简体" panose="02010601030101010101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zh-CN" altLang="pt-BR" dirty="0">
                <a:latin typeface="百度综艺简体" panose="02010601030101010101" charset="-122"/>
                <a:ea typeface="百度综艺简体" panose="02010601030101010101" charset="-122"/>
              </a:rPr>
              <a:t>        </a:t>
            </a:r>
            <a:r>
              <a:rPr lang="pt-BR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A B C D    </a:t>
            </a:r>
            <a:r>
              <a:rPr lang="zh-CN" altLang="pt-BR" dirty="0">
                <a:latin typeface="百度综艺简体" panose="02010601030101010101" charset="-122"/>
                <a:ea typeface="百度综艺简体" panose="02010601030101010101" charset="-122"/>
              </a:rPr>
              <a:t>或    </a:t>
            </a:r>
            <a:r>
              <a:rPr lang="pt-BR" altLang="zh-CN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A C B D</a:t>
            </a:r>
          </a:p>
        </p:txBody>
      </p:sp>
    </p:spTree>
    <p:extLst>
      <p:ext uri="{BB962C8B-B14F-4D97-AF65-F5344CB8AC3E}">
        <p14:creationId xmlns:p14="http://schemas.microsoft.com/office/powerpoint/2010/main" val="3621411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14" grpId="0" animBg="1" autoUpdateAnimBg="0"/>
      <p:bldP spid="17" grpId="0" animBg="1" autoUpdateAnimBg="0"/>
      <p:bldP spid="18" grpId="0" animBg="1" autoUpdateAnimBg="0"/>
      <p:bldP spid="20" grpId="0" animBg="1" autoUpdateAnimBg="0"/>
      <p:bldP spid="23" grpId="0" animBg="1"/>
      <p:bldP spid="24" grpId="0" animBg="1"/>
      <p:bldP spid="28" grpId="0" animBg="1"/>
      <p:bldP spid="29" grpId="0" animBg="1"/>
      <p:bldP spid="3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02948" y="891540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反之，对于下列有向图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702948" y="3427848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不能求得它的拓扑有序序列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。</a:t>
            </a:r>
            <a:endParaRPr lang="zh-CN" altLang="en-US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702948" y="3959038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因为图中存在一个回路 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{B, C, D}</a:t>
            </a:r>
          </a:p>
        </p:txBody>
      </p:sp>
      <p:sp>
        <p:nvSpPr>
          <p:cNvPr id="33" name="Oval 2"/>
          <p:cNvSpPr>
            <a:spLocks noChangeArrowheads="1"/>
          </p:cNvSpPr>
          <p:nvPr/>
        </p:nvSpPr>
        <p:spPr bwMode="auto">
          <a:xfrm>
            <a:off x="4069702" y="16108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B</a:t>
            </a:r>
            <a:endParaRPr lang="en-US" altLang="zh-CN" sz="2400"/>
          </a:p>
        </p:txBody>
      </p:sp>
      <p:sp>
        <p:nvSpPr>
          <p:cNvPr id="34" name="Oval 3"/>
          <p:cNvSpPr>
            <a:spLocks noChangeArrowheads="1"/>
          </p:cNvSpPr>
          <p:nvPr/>
        </p:nvSpPr>
        <p:spPr bwMode="auto">
          <a:xfrm>
            <a:off x="5365102" y="21442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D</a:t>
            </a:r>
            <a:endParaRPr lang="en-US" altLang="zh-CN" sz="2400"/>
          </a:p>
        </p:txBody>
      </p:sp>
      <p:sp>
        <p:nvSpPr>
          <p:cNvPr id="35" name="Oval 4"/>
          <p:cNvSpPr>
            <a:spLocks noChangeArrowheads="1"/>
          </p:cNvSpPr>
          <p:nvPr/>
        </p:nvSpPr>
        <p:spPr bwMode="auto">
          <a:xfrm>
            <a:off x="2774302" y="21442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A</a:t>
            </a:r>
          </a:p>
        </p:txBody>
      </p:sp>
      <p:sp>
        <p:nvSpPr>
          <p:cNvPr id="36" name="Oval 5"/>
          <p:cNvSpPr>
            <a:spLocks noChangeArrowheads="1"/>
          </p:cNvSpPr>
          <p:nvPr/>
        </p:nvSpPr>
        <p:spPr bwMode="auto">
          <a:xfrm>
            <a:off x="4069702" y="2677625"/>
            <a:ext cx="457200" cy="457200"/>
          </a:xfrm>
          <a:prstGeom prst="ellipse">
            <a:avLst/>
          </a:prstGeom>
          <a:solidFill>
            <a:srgbClr val="CCFFCC">
              <a:alpha val="50195"/>
            </a:srgbClr>
          </a:solidFill>
          <a:ln w="12700" cap="sq">
            <a:solidFill>
              <a:schemeClr val="tx2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99"/>
                </a:solidFill>
              </a:rPr>
              <a:t>C</a:t>
            </a:r>
            <a:endParaRPr lang="en-US" altLang="zh-CN" sz="2400"/>
          </a:p>
        </p:txBody>
      </p:sp>
      <p:sp>
        <p:nvSpPr>
          <p:cNvPr id="38" name="Line 6"/>
          <p:cNvSpPr>
            <a:spLocks noChangeShapeType="1"/>
          </p:cNvSpPr>
          <p:nvPr/>
        </p:nvSpPr>
        <p:spPr bwMode="auto">
          <a:xfrm flipV="1">
            <a:off x="3231502" y="1915625"/>
            <a:ext cx="838200" cy="3048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Line 7"/>
          <p:cNvSpPr>
            <a:spLocks noChangeShapeType="1"/>
          </p:cNvSpPr>
          <p:nvPr/>
        </p:nvSpPr>
        <p:spPr bwMode="auto">
          <a:xfrm>
            <a:off x="3155302" y="2525225"/>
            <a:ext cx="914400" cy="3810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Line 8"/>
          <p:cNvSpPr>
            <a:spLocks noChangeShapeType="1"/>
          </p:cNvSpPr>
          <p:nvPr/>
        </p:nvSpPr>
        <p:spPr bwMode="auto">
          <a:xfrm flipV="1">
            <a:off x="4526902" y="2525225"/>
            <a:ext cx="914400" cy="3810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 flipH="1" flipV="1">
            <a:off x="4526902" y="1839425"/>
            <a:ext cx="914400" cy="4572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2" name="Line 10"/>
          <p:cNvSpPr>
            <a:spLocks noChangeShapeType="1"/>
          </p:cNvSpPr>
          <p:nvPr/>
        </p:nvSpPr>
        <p:spPr bwMode="auto">
          <a:xfrm>
            <a:off x="4298302" y="2068025"/>
            <a:ext cx="0" cy="609600"/>
          </a:xfrm>
          <a:prstGeom prst="line">
            <a:avLst/>
          </a:prstGeom>
          <a:noFill/>
          <a:ln w="28575" cap="sq">
            <a:solidFill>
              <a:schemeClr val="tx2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905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2000"/>
                            </p:stCondLst>
                            <p:childTnLst>
                              <p:par>
                                <p:cTn id="9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500"/>
                            </p:stCondLst>
                            <p:childTnLst>
                              <p:par>
                                <p:cTn id="102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3000"/>
                            </p:stCondLst>
                            <p:childTnLst>
                              <p:par>
                                <p:cTn id="109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16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4000"/>
                            </p:stCondLst>
                            <p:childTnLst>
                              <p:par>
                                <p:cTn id="123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30" grpId="0" autoUpdateAnimBg="0"/>
      <p:bldP spid="32" grpId="0" autoUpdateAnimBg="0"/>
      <p:bldP spid="33" grpId="0" animBg="1" autoUpdateAnimBg="0"/>
      <p:bldP spid="34" grpId="0" animBg="1" autoUpdateAnimBg="0"/>
      <p:bldP spid="35" grpId="0" animBg="1" autoUpdateAnimBg="0"/>
      <p:bldP spid="36" grpId="0" animBg="1" autoUpdateAnimBg="0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26" name="TextBox 5"/>
          <p:cNvSpPr txBox="1">
            <a:spLocks noChangeArrowheads="1"/>
          </p:cNvSpPr>
          <p:nvPr/>
        </p:nvSpPr>
        <p:spPr bwMode="auto">
          <a:xfrm>
            <a:off x="702948" y="891540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如何进行拓扑排序？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1194360" y="1680288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⑴ 从图中选择一个没有前驱的顶点，（即入度为零的点）且输出之；</a:t>
            </a: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1194360" y="2198407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⑵ 从图中删除此顶点及其所有由它发出的边；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194360" y="2730867"/>
            <a:ext cx="7229174" cy="133882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⑶ 重复⑴、 ⑵两步，直到所有的顶点均已输出，整个拓扑排序完成；或者直到剩下的图中再也没有入度为零的顶点，说明此图是有环图，拓扑排序不能再进行下去了。</a:t>
            </a:r>
          </a:p>
        </p:txBody>
      </p:sp>
    </p:spTree>
    <p:extLst>
      <p:ext uri="{BB962C8B-B14F-4D97-AF65-F5344CB8AC3E}">
        <p14:creationId xmlns:p14="http://schemas.microsoft.com/office/powerpoint/2010/main" val="927500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 tmFilter="0,0; .5, 1; 1, 1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26" grpId="0" autoUpdateAnimBg="0"/>
      <p:bldP spid="37" grpId="0" animBg="1"/>
      <p:bldP spid="30" grpId="0" autoUpdateAnimBg="0"/>
      <p:bldP spid="32" grpId="0" autoUpdateAnimBg="0"/>
      <p:bldP spid="23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直接连接符 14"/>
          <p:cNvCxnSpPr>
            <a:cxnSpLocks noChangeShapeType="1"/>
          </p:cNvCxnSpPr>
          <p:nvPr/>
        </p:nvCxnSpPr>
        <p:spPr bwMode="auto">
          <a:xfrm>
            <a:off x="307340" y="537845"/>
            <a:ext cx="8829040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</a:ln>
          <a:effectLst/>
        </p:spPr>
      </p:cxnSp>
      <p:sp>
        <p:nvSpPr>
          <p:cNvPr id="16" name="矩形 15"/>
          <p:cNvSpPr/>
          <p:nvPr/>
        </p:nvSpPr>
        <p:spPr>
          <a:xfrm>
            <a:off x="1411" y="160"/>
            <a:ext cx="9141179" cy="5134013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zh-CN" altLang="en-US" sz="1800" dirty="0">
              <a:solidFill>
                <a:schemeClr val="accent2"/>
              </a:solidFill>
              <a:effectLst/>
              <a:latin typeface="百度综艺简体" panose="02010601030101010101" charset="-122"/>
              <a:ea typeface="百度综艺简体" panose="02010601030101010101" charset="-122"/>
              <a:sym typeface="+mn-ea"/>
            </a:endParaRPr>
          </a:p>
        </p:txBody>
      </p:sp>
      <p:sp>
        <p:nvSpPr>
          <p:cNvPr id="19" name="TextBox 5"/>
          <p:cNvSpPr txBox="1">
            <a:spLocks noChangeArrowheads="1"/>
          </p:cNvSpPr>
          <p:nvPr/>
        </p:nvSpPr>
        <p:spPr bwMode="auto">
          <a:xfrm>
            <a:off x="234950" y="203835"/>
            <a:ext cx="206756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zh-CN" altLang="en-US" sz="2400" dirty="0">
                <a:solidFill>
                  <a:schemeClr val="accent1"/>
                </a:solidFill>
                <a:latin typeface="百度综艺简体" panose="02010601030101010101" charset="-122"/>
                <a:ea typeface="百度综艺简体" panose="02010601030101010101" charset="-122"/>
              </a:rPr>
              <a:t>《数据结构》</a:t>
            </a: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1412" y="217303"/>
            <a:ext cx="401225" cy="4012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txBody>
          <a:bodyPr/>
          <a:lstStyle/>
          <a:p>
            <a:pPr>
              <a:buFontTx/>
              <a:buNone/>
            </a:pPr>
            <a:endParaRPr lang="zh-CN" altLang="en-US" sz="1800"/>
          </a:p>
        </p:txBody>
      </p:sp>
      <p:sp>
        <p:nvSpPr>
          <p:cNvPr id="31" name="Text Placeholder 11"/>
          <p:cNvSpPr txBox="1"/>
          <p:nvPr/>
        </p:nvSpPr>
        <p:spPr>
          <a:xfrm>
            <a:off x="2302510" y="241067"/>
            <a:ext cx="2805430" cy="353695"/>
          </a:xfrm>
          <a:prstGeom prst="rect">
            <a:avLst/>
          </a:prstGeom>
        </p:spPr>
        <p:txBody>
          <a:bodyPr lIns="68538" tIns="34270" rIns="68538" bIns="34270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911225">
              <a:buNone/>
            </a:pPr>
            <a:r>
              <a:rPr lang="zh-CN" altLang="en-US" sz="1800" dirty="0">
                <a:solidFill>
                  <a:schemeClr val="accent2"/>
                </a:solidFill>
                <a:latin typeface="百度综艺简体" panose="02010601030101010101" charset="-122"/>
                <a:ea typeface="百度综艺简体" panose="02010601030101010101" charset="-122"/>
                <a:sym typeface="Arial" panose="020B0604020202020204" pitchFamily="34" charset="0"/>
              </a:rPr>
              <a:t>拓扑排序</a:t>
            </a:r>
          </a:p>
        </p:txBody>
      </p:sp>
      <p:sp>
        <p:nvSpPr>
          <p:cNvPr id="37" name="AutoShape 3"/>
          <p:cNvSpPr>
            <a:spLocks noChangeAspect="1" noChangeArrowheads="1" noTextEdit="1"/>
          </p:cNvSpPr>
          <p:nvPr/>
        </p:nvSpPr>
        <p:spPr bwMode="auto">
          <a:xfrm>
            <a:off x="557288" y="744733"/>
            <a:ext cx="542665" cy="54122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21" name="组合 20"/>
          <p:cNvGrpSpPr/>
          <p:nvPr/>
        </p:nvGrpSpPr>
        <p:grpSpPr>
          <a:xfrm>
            <a:off x="2134235" y="483235"/>
            <a:ext cx="7002145" cy="109220"/>
            <a:chOff x="2140585" y="362585"/>
            <a:chExt cx="7002145" cy="10922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2140585" y="417195"/>
              <a:ext cx="6889750" cy="0"/>
            </a:xfrm>
            <a:prstGeom prst="line">
              <a:avLst/>
            </a:prstGeom>
            <a:ln w="22225">
              <a:solidFill>
                <a:srgbClr val="2A5BA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9033510" y="362585"/>
              <a:ext cx="109220" cy="10922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1232179" y="2374682"/>
            <a:ext cx="7229174" cy="4630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2A5BA8"/>
                </a:solidFill>
                <a:latin typeface="百度综艺简体" panose="02010601030101010101" charset="-122"/>
                <a:ea typeface="百度综艺简体" panose="02010601030101010101" charset="-122"/>
              </a:rPr>
              <a:t>在算法中需要用定量的描述替代定性的概念</a:t>
            </a:r>
          </a:p>
        </p:txBody>
      </p:sp>
      <p:sp>
        <p:nvSpPr>
          <p:cNvPr id="32" name="TextBox 5"/>
          <p:cNvSpPr txBox="1">
            <a:spLocks noChangeArrowheads="1"/>
          </p:cNvSpPr>
          <p:nvPr/>
        </p:nvSpPr>
        <p:spPr bwMode="auto">
          <a:xfrm>
            <a:off x="1232179" y="2892801"/>
            <a:ext cx="722917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没有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前驱的顶点 </a:t>
            </a:r>
            <a:r>
              <a:rPr lang="zh-CN" altLang="en-US" b="1" dirty="0">
                <a:solidFill>
                  <a:srgbClr val="2A5BA8"/>
                </a:solidFill>
                <a:ea typeface="楷体_GB2312" pitchFamily="49" charset="-122"/>
                <a:sym typeface="Symbol" panose="05050102010706020507" pitchFamily="18" charset="2"/>
              </a:rPr>
              <a:t>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入度为零的顶点</a:t>
            </a:r>
            <a:endParaRPr lang="en-US" altLang="zh-CN" dirty="0">
              <a:latin typeface="百度综艺简体" panose="02010601030101010101" charset="-122"/>
              <a:ea typeface="百度综艺简体" panose="02010601030101010101" charset="-122"/>
            </a:endParaRPr>
          </a:p>
        </p:txBody>
      </p:sp>
      <p:sp>
        <p:nvSpPr>
          <p:cNvPr id="23" name="TextBox 5"/>
          <p:cNvSpPr txBox="1">
            <a:spLocks noChangeArrowheads="1"/>
          </p:cNvSpPr>
          <p:nvPr/>
        </p:nvSpPr>
        <p:spPr bwMode="auto">
          <a:xfrm>
            <a:off x="1232179" y="3425261"/>
            <a:ext cx="7229174" cy="50783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删除顶点及其发出的边 </a:t>
            </a:r>
            <a:r>
              <a:rPr lang="zh-CN" altLang="en-US" b="1" dirty="0">
                <a:solidFill>
                  <a:srgbClr val="2A5BA8"/>
                </a:solidFill>
                <a:ea typeface="楷体_GB2312" pitchFamily="49" charset="-122"/>
                <a:sym typeface="Symbol" panose="05050102010706020507" pitchFamily="18" charset="2"/>
              </a:rPr>
              <a:t></a:t>
            </a:r>
            <a:r>
              <a:rPr lang="zh-CN" altLang="en-US" dirty="0" smtClean="0">
                <a:latin typeface="百度综艺简体" panose="02010601030101010101" charset="-122"/>
                <a:ea typeface="百度综艺简体" panose="02010601030101010101" charset="-122"/>
              </a:rPr>
              <a:t> </a:t>
            </a:r>
            <a:r>
              <a:rPr lang="zh-CN" altLang="en-US" dirty="0">
                <a:latin typeface="百度综艺简体" panose="02010601030101010101" charset="-122"/>
                <a:ea typeface="百度综艺简体" panose="02010601030101010101" charset="-122"/>
              </a:rPr>
              <a:t>弧头顶点的入度减</a:t>
            </a:r>
            <a:r>
              <a:rPr lang="en-US" altLang="zh-CN" dirty="0">
                <a:latin typeface="百度综艺简体" panose="02010601030101010101" charset="-122"/>
                <a:ea typeface="百度综艺简体" panose="02010601030101010101" charset="-122"/>
              </a:rPr>
              <a:t>1</a:t>
            </a:r>
          </a:p>
        </p:txBody>
      </p:sp>
      <p:sp>
        <p:nvSpPr>
          <p:cNvPr id="17" name="Text Box 20"/>
          <p:cNvSpPr txBox="1">
            <a:spLocks noChangeArrowheads="1"/>
          </p:cNvSpPr>
          <p:nvPr/>
        </p:nvSpPr>
        <p:spPr bwMode="auto">
          <a:xfrm>
            <a:off x="1413135" y="1035529"/>
            <a:ext cx="4427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a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18" name="Text Box 21"/>
          <p:cNvSpPr txBox="1">
            <a:spLocks noChangeArrowheads="1"/>
          </p:cNvSpPr>
          <p:nvPr/>
        </p:nvSpPr>
        <p:spPr bwMode="auto">
          <a:xfrm>
            <a:off x="2191010" y="1035529"/>
            <a:ext cx="4459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b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0" name="Text Box 22"/>
          <p:cNvSpPr txBox="1">
            <a:spLocks noChangeArrowheads="1"/>
          </p:cNvSpPr>
          <p:nvPr/>
        </p:nvSpPr>
        <p:spPr bwMode="auto">
          <a:xfrm>
            <a:off x="2972060" y="1035529"/>
            <a:ext cx="41870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h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4" name="Text Box 23"/>
          <p:cNvSpPr txBox="1">
            <a:spLocks noChangeArrowheads="1"/>
          </p:cNvSpPr>
          <p:nvPr/>
        </p:nvSpPr>
        <p:spPr bwMode="auto">
          <a:xfrm>
            <a:off x="3715010" y="1035529"/>
            <a:ext cx="43473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c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8" name="Text Box 24"/>
          <p:cNvSpPr txBox="1">
            <a:spLocks noChangeArrowheads="1"/>
          </p:cNvSpPr>
          <p:nvPr/>
        </p:nvSpPr>
        <p:spPr bwMode="auto">
          <a:xfrm>
            <a:off x="4400810" y="1035529"/>
            <a:ext cx="44595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 dirty="0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d</a:t>
            </a:r>
            <a:endParaRPr lang="en-US" altLang="zh-CN" sz="4000" dirty="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29" name="Text Box 25"/>
          <p:cNvSpPr txBox="1">
            <a:spLocks noChangeArrowheads="1"/>
          </p:cNvSpPr>
          <p:nvPr/>
        </p:nvSpPr>
        <p:spPr bwMode="auto">
          <a:xfrm>
            <a:off x="5181860" y="1035529"/>
            <a:ext cx="442750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g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3" name="Text Box 26"/>
          <p:cNvSpPr txBox="1">
            <a:spLocks noChangeArrowheads="1"/>
          </p:cNvSpPr>
          <p:nvPr/>
        </p:nvSpPr>
        <p:spPr bwMode="auto">
          <a:xfrm>
            <a:off x="5924810" y="1035529"/>
            <a:ext cx="40748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f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  <p:sp>
        <p:nvSpPr>
          <p:cNvPr id="34" name="Text Box 27"/>
          <p:cNvSpPr txBox="1">
            <a:spLocks noChangeArrowheads="1"/>
          </p:cNvSpPr>
          <p:nvPr/>
        </p:nvSpPr>
        <p:spPr bwMode="auto">
          <a:xfrm>
            <a:off x="6610610" y="1035529"/>
            <a:ext cx="44114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 b="1">
                <a:solidFill>
                  <a:srgbClr val="CC0000"/>
                </a:solidFill>
                <a:latin typeface="百度综艺简体" panose="02010601030101010101" pitchFamily="2" charset="-122"/>
                <a:ea typeface="百度综艺简体" panose="02010601030101010101" pitchFamily="2" charset="-122"/>
              </a:rPr>
              <a:t>e</a:t>
            </a:r>
            <a:endParaRPr lang="en-US" altLang="zh-CN" sz="4000">
              <a:latin typeface="百度综艺简体" panose="02010601030101010101" pitchFamily="2" charset="-122"/>
              <a:ea typeface="百度综艺简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9922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random/>
      </p:transition>
    </mc:Choice>
    <mc:Fallback xmlns="">
      <p:transition spd="slow" advClick="0" advTm="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5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 tmFilter="0,0; .5, 1; 1, 1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 tmFilter="0,0; .5, 1; 1, 1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 tmFilter="0,0; .5, 1; 1, 1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2" grpId="0" bldLvl="0" animBg="1" autoUpdateAnimBg="0"/>
      <p:bldP spid="31" grpId="0"/>
      <p:bldP spid="37" grpId="0" animBg="1"/>
      <p:bldP spid="30" grpId="0" autoUpdateAnimBg="0"/>
      <p:bldP spid="32" grpId="0" autoUpdateAnimBg="0"/>
      <p:bldP spid="23" grpId="0" autoUpdateAnimBg="0"/>
      <p:bldP spid="17" grpId="0" autoUpdateAnimBg="0"/>
      <p:bldP spid="18" grpId="0" autoUpdateAnimBg="0"/>
      <p:bldP spid="20" grpId="0" autoUpdateAnimBg="0"/>
      <p:bldP spid="24" grpId="0" autoUpdateAnimBg="0"/>
      <p:bldP spid="28" grpId="0" autoUpdateAnimBg="0"/>
      <p:bldP spid="29" grpId="0" autoUpdateAnimBg="0"/>
      <p:bldP spid="33" grpId="0" autoUpdateAnimBg="0"/>
      <p:bldP spid="34" grpId="0" autoUpdateAnimBg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64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A5BA8"/>
      </a:accent1>
      <a:accent2>
        <a:srgbClr val="48AC92"/>
      </a:accent2>
      <a:accent3>
        <a:srgbClr val="2A5BA8"/>
      </a:accent3>
      <a:accent4>
        <a:srgbClr val="48AC92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130</TotalTime>
  <Words>896</Words>
  <Application>Microsoft Office PowerPoint</Application>
  <PresentationFormat>自定义</PresentationFormat>
  <Paragraphs>132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Lato Light</vt:lpstr>
      <vt:lpstr>百度综艺简体</vt:lpstr>
      <vt:lpstr>等线</vt:lpstr>
      <vt:lpstr>等线 Light</vt:lpstr>
      <vt:lpstr>华文中宋</vt:lpstr>
      <vt:lpstr>楷体_GB2312</vt:lpstr>
      <vt:lpstr>宋体</vt:lpstr>
      <vt:lpstr>微软雅黑</vt:lpstr>
      <vt:lpstr>Arial</vt:lpstr>
      <vt:lpstr>Calibri</vt:lpstr>
      <vt:lpstr>Calibri Light</vt:lpstr>
      <vt:lpstr>Symbol</vt:lpstr>
      <vt:lpstr>Tahoma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Neusoft</cp:lastModifiedBy>
  <cp:revision>50</cp:revision>
  <dcterms:created xsi:type="dcterms:W3CDTF">2017-06-21T11:46:00Z</dcterms:created>
  <dcterms:modified xsi:type="dcterms:W3CDTF">2023-11-02T13:51:32Z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