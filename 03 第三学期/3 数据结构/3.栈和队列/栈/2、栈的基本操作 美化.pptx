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83" r:id="rId2"/>
    <p:sldId id="305" r:id="rId3"/>
    <p:sldId id="307" r:id="rId4"/>
    <p:sldId id="313" r:id="rId5"/>
    <p:sldId id="314" r:id="rId6"/>
    <p:sldId id="315" r:id="rId7"/>
    <p:sldId id="316" r:id="rId8"/>
    <p:sldId id="317" r:id="rId9"/>
    <p:sldId id="319" r:id="rId10"/>
  </p:sldIdLst>
  <p:sldSz cx="9144000" cy="5145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5B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2" autoAdjust="0"/>
    <p:restoredTop sz="94660"/>
  </p:normalViewPr>
  <p:slideViewPr>
    <p:cSldViewPr snapToGrid="0">
      <p:cViewPr varScale="1">
        <p:scale>
          <a:sx n="96" d="100"/>
          <a:sy n="96" d="100"/>
        </p:scale>
        <p:origin x="534" y="78"/>
      </p:cViewPr>
      <p:guideLst/>
    </p:cSldViewPr>
  </p:slideViewPr>
  <p:notesTextViewPr>
    <p:cViewPr>
      <p:scale>
        <a:sx n="1" d="1"/>
        <a:sy n="1" d="1"/>
      </p:scale>
      <p:origin x="0" y="0"/>
    </p:cViewPr>
  </p:notesTextViewPr>
  <p:sorterViewPr>
    <p:cViewPr>
      <p:scale>
        <a:sx n="100" d="100"/>
        <a:sy n="100" d="100"/>
      </p:scale>
      <p:origin x="0" y="-1692"/>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31844-757F-4497-A6B9-29138D45B0D0}" type="datetimeFigureOut">
              <a:rPr lang="zh-CN" altLang="en-US" smtClean="0"/>
              <a:t>2020/7/13</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ABFAC-0D77-4680-9C08-FA0DD250B4A7}" type="slidenum">
              <a:rPr lang="zh-CN" altLang="en-US" smtClean="0"/>
              <a:t>‹#›</a:t>
            </a:fld>
            <a:endParaRPr lang="zh-CN" altLang="en-US"/>
          </a:p>
        </p:txBody>
      </p:sp>
    </p:spTree>
    <p:extLst>
      <p:ext uri="{BB962C8B-B14F-4D97-AF65-F5344CB8AC3E}">
        <p14:creationId xmlns:p14="http://schemas.microsoft.com/office/powerpoint/2010/main" val="164808501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2</a:t>
            </a:fld>
            <a:endParaRPr lang="zh-CN" altLang="en-US"/>
          </a:p>
        </p:txBody>
      </p:sp>
    </p:spTree>
    <p:extLst>
      <p:ext uri="{BB962C8B-B14F-4D97-AF65-F5344CB8AC3E}">
        <p14:creationId xmlns:p14="http://schemas.microsoft.com/office/powerpoint/2010/main" val="61239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3</a:t>
            </a:fld>
            <a:endParaRPr lang="zh-CN" altLang="en-US"/>
          </a:p>
        </p:txBody>
      </p:sp>
    </p:spTree>
    <p:extLst>
      <p:ext uri="{BB962C8B-B14F-4D97-AF65-F5344CB8AC3E}">
        <p14:creationId xmlns:p14="http://schemas.microsoft.com/office/powerpoint/2010/main" val="86153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4</a:t>
            </a:fld>
            <a:endParaRPr lang="zh-CN" altLang="en-US"/>
          </a:p>
        </p:txBody>
      </p:sp>
    </p:spTree>
    <p:extLst>
      <p:ext uri="{BB962C8B-B14F-4D97-AF65-F5344CB8AC3E}">
        <p14:creationId xmlns:p14="http://schemas.microsoft.com/office/powerpoint/2010/main" val="3322147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5</a:t>
            </a:fld>
            <a:endParaRPr lang="zh-CN" altLang="en-US"/>
          </a:p>
        </p:txBody>
      </p:sp>
    </p:spTree>
    <p:extLst>
      <p:ext uri="{BB962C8B-B14F-4D97-AF65-F5344CB8AC3E}">
        <p14:creationId xmlns:p14="http://schemas.microsoft.com/office/powerpoint/2010/main" val="1317445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6</a:t>
            </a:fld>
            <a:endParaRPr lang="zh-CN" altLang="en-US"/>
          </a:p>
        </p:txBody>
      </p:sp>
    </p:spTree>
    <p:extLst>
      <p:ext uri="{BB962C8B-B14F-4D97-AF65-F5344CB8AC3E}">
        <p14:creationId xmlns:p14="http://schemas.microsoft.com/office/powerpoint/2010/main" val="120530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7</a:t>
            </a:fld>
            <a:endParaRPr lang="zh-CN" altLang="en-US"/>
          </a:p>
        </p:txBody>
      </p:sp>
    </p:spTree>
    <p:extLst>
      <p:ext uri="{BB962C8B-B14F-4D97-AF65-F5344CB8AC3E}">
        <p14:creationId xmlns:p14="http://schemas.microsoft.com/office/powerpoint/2010/main" val="4124444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8</a:t>
            </a:fld>
            <a:endParaRPr lang="zh-CN" altLang="en-US"/>
          </a:p>
        </p:txBody>
      </p:sp>
    </p:spTree>
    <p:extLst>
      <p:ext uri="{BB962C8B-B14F-4D97-AF65-F5344CB8AC3E}">
        <p14:creationId xmlns:p14="http://schemas.microsoft.com/office/powerpoint/2010/main" val="476751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911242B-E086-4BFA-A7CA-F34B92C86E2F}" type="slidenum">
              <a:rPr lang="zh-CN" altLang="en-US" smtClean="0"/>
              <a:t>9</a:t>
            </a:fld>
            <a:endParaRPr lang="zh-CN" altLang="en-US"/>
          </a:p>
        </p:txBody>
      </p:sp>
    </p:spTree>
    <p:extLst>
      <p:ext uri="{BB962C8B-B14F-4D97-AF65-F5344CB8AC3E}">
        <p14:creationId xmlns:p14="http://schemas.microsoft.com/office/powerpoint/2010/main" val="3710217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032"/>
            <a:ext cx="6858000" cy="1791253"/>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2363"/>
            <a:ext cx="6858000" cy="124220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4021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3160"/>
            <a:ext cx="7886700" cy="112548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642"/>
            <a:ext cx="3886200" cy="326451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929"/>
            <a:ext cx="7886700" cy="994479"/>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1261"/>
            <a:ext cx="3868340"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9386"/>
            <a:ext cx="3868340"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1261"/>
            <a:ext cx="3887391" cy="618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9386"/>
            <a:ext cx="3887391" cy="276429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C7CFC9F-4B06-4ABB-A28A-559A77B7DC59}" type="slidenum">
              <a:rPr lang="zh-CN" altLang="en-US" smtClean="0"/>
              <a:t>‹#›</a:t>
            </a:fld>
            <a:endParaRPr lang="zh-CN" altLang="en-US"/>
          </a:p>
        </p:txBody>
      </p:sp>
      <p:sp>
        <p:nvSpPr>
          <p:cNvPr id="5" name="矩形 4"/>
          <p:cNvSpPr/>
          <p:nvPr userDrawn="1"/>
        </p:nvSpPr>
        <p:spPr>
          <a:xfrm>
            <a:off x="253" y="196280"/>
            <a:ext cx="14404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800"/>
            <a:endParaRPr lang="zh-CN" altLang="en-US" sz="1400" dirty="0">
              <a:solidFill>
                <a:srgbClr val="E7E6E6">
                  <a:lumMod val="50000"/>
                </a:srgbClr>
              </a:solidFill>
              <a:cs typeface="+mn-ea"/>
              <a:sym typeface="+mn-lt"/>
            </a:endParaRPr>
          </a:p>
        </p:txBody>
      </p:sp>
      <p:sp>
        <p:nvSpPr>
          <p:cNvPr id="6" name="文本框 37"/>
          <p:cNvSpPr txBox="1"/>
          <p:nvPr userDrawn="1"/>
        </p:nvSpPr>
        <p:spPr>
          <a:xfrm>
            <a:off x="216310" y="196280"/>
            <a:ext cx="2190351" cy="315475"/>
          </a:xfrm>
          <a:prstGeom prst="rect">
            <a:avLst/>
          </a:prstGeom>
          <a:noFill/>
        </p:spPr>
        <p:txBody>
          <a:bodyPr wrap="none" lIns="68584" tIns="34292" rIns="68584" bIns="34292" rtlCol="0">
            <a:spAutoFit/>
          </a:bodyPr>
          <a:lstStyle/>
          <a:p>
            <a:pPr defTabSz="685800"/>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7" name="文本框 38"/>
          <p:cNvSpPr txBox="1"/>
          <p:nvPr userDrawn="1"/>
        </p:nvSpPr>
        <p:spPr>
          <a:xfrm>
            <a:off x="265271" y="520316"/>
            <a:ext cx="2039271" cy="207753"/>
          </a:xfrm>
          <a:prstGeom prst="rect">
            <a:avLst/>
          </a:prstGeom>
          <a:noFill/>
        </p:spPr>
        <p:txBody>
          <a:bodyPr wrap="square" lIns="68584" tIns="34292" rIns="68584" bIns="34292" rtlCol="0">
            <a:spAutoFit/>
          </a:bodyPr>
          <a:lstStyle/>
          <a:p>
            <a:pPr algn="dist" defTabSz="685800"/>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798"/>
            <a:ext cx="4629150" cy="365634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3006"/>
            <a:ext cx="2949178" cy="1200521"/>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798"/>
            <a:ext cx="4629150" cy="365634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单击图标添加20</a:t>
            </a:r>
            <a:endParaRPr lang="en-US" dirty="0"/>
          </a:p>
        </p:txBody>
      </p:sp>
      <p:sp>
        <p:nvSpPr>
          <p:cNvPr id="4" name="Text Placeholder 3"/>
          <p:cNvSpPr>
            <a:spLocks noGrp="1"/>
          </p:cNvSpPr>
          <p:nvPr>
            <p:ph type="body" sz="half" idx="2" hasCustomPrompt="1"/>
          </p:nvPr>
        </p:nvSpPr>
        <p:spPr>
          <a:xfrm>
            <a:off x="629841" y="1543526"/>
            <a:ext cx="2949178" cy="285957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928"/>
            <a:ext cx="1971675" cy="436022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928"/>
            <a:ext cx="5800725" cy="436022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5B0A747-1217-4325-A876-522190C71555}" type="datetimeFigureOut">
              <a:rPr lang="zh-CN" altLang="en-US" smtClean="0"/>
              <a:t>2020/7/13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C7CFC9F-4B06-4ABB-A28A-559A77B7DC5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929"/>
            <a:ext cx="7886700" cy="994479"/>
          </a:xfrm>
        </p:spPr>
        <p:txBody>
          <a:body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a:lvl1pPr>
          </a:lstStyle>
          <a:p>
            <a:pPr>
              <a:defRPr/>
            </a:pPr>
            <a:fld id="{0C9ABEBE-EF13-4983-B182-046B37A0370C}" type="datetime1">
              <a:rPr lang="zh-CN" altLang="en-US"/>
              <a:t>2020/7/13</a:t>
            </a:fld>
            <a:endParaRPr lang="zh-CN" altLang="en-US" sz="1400" dirty="0">
              <a:solidFill>
                <a:prstClr val="black"/>
              </a:solidFill>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lvl1pPr>
              <a:defRPr/>
            </a:lvl1pPr>
          </a:lstStyle>
          <a:p>
            <a:pPr>
              <a:defRPr/>
            </a:pPr>
            <a:endParaRPr lang="zh-CN" altLang="zh-CN"/>
          </a:p>
        </p:txBody>
      </p:sp>
      <p:sp>
        <p:nvSpPr>
          <p:cNvPr id="5" name="灯片编号占位符 4"/>
          <p:cNvSpPr>
            <a:spLocks noGrp="1"/>
          </p:cNvSpPr>
          <p:nvPr>
            <p:ph type="sldNum" sz="quarter" idx="12"/>
          </p:nvPr>
        </p:nvSpPr>
        <p:spPr/>
        <p:txBody>
          <a:bodyPr/>
          <a:lstStyle>
            <a:lvl1pPr>
              <a:defRPr/>
            </a:lvl1pPr>
          </a:lstStyle>
          <a:p>
            <a:fld id="{98145E6F-D1B7-49E0-9AB3-789D9698C190}" type="slidenum">
              <a:rPr lang="zh-CN" altLang="en-US"/>
              <a:t>‹#›</a:t>
            </a:fld>
            <a:endParaRPr lang="zh-CN" altLang="en-US" sz="1400" dirty="0">
              <a:solidFill>
                <a:prstClr val="black"/>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188"/>
            <a:ext cx="6858000" cy="523279"/>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8257"/>
            <a:ext cx="6858000" cy="280749"/>
          </a:xfrm>
        </p:spPr>
        <p:txBody>
          <a:bodyPr>
            <a:normAutofit/>
          </a:bodyPr>
          <a:lstStyle>
            <a:lvl1pPr marL="0" indent="0" algn="ctr">
              <a:buNone/>
              <a:defRPr sz="1100">
                <a:solidFill>
                  <a:schemeClr val="bg1">
                    <a:lumMod val="50000"/>
                  </a:schemeClr>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977"/>
            <a:ext cx="3942159" cy="353809"/>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9220"/>
            <a:ext cx="3942159" cy="1320052"/>
          </a:xfrm>
        </p:spPr>
        <p:txBody>
          <a:bodyPr>
            <a:normAutofit/>
          </a:bodyPr>
          <a:lstStyle>
            <a:lvl1pPr marL="0" indent="0">
              <a:buNone/>
              <a:defRPr sz="11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8332"/>
            <a:ext cx="3940969" cy="370398"/>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8730"/>
            <a:ext cx="3940969" cy="370399"/>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9128"/>
            <a:ext cx="3942159" cy="27035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8735"/>
            <a:ext cx="2057400" cy="273928"/>
          </a:xfrm>
        </p:spPr>
        <p:txBody>
          <a:bodyPr/>
          <a:lstStyle>
            <a:lvl1pPr>
              <a:defRPr>
                <a:latin typeface="Lato Light" panose="020F0302020204030203" pitchFamily="34" charset="0"/>
              </a:defRPr>
            </a:lvl1pPr>
          </a:lstStyle>
          <a:p>
            <a:fld id="{722F6D6F-DD99-46DF-A9EA-728D63EA6A31}" type="datetimeFigureOut">
              <a:rPr lang="en-AU" smtClean="0"/>
              <a:t>13/07/2020</a:t>
            </a:fld>
            <a:endParaRPr lang="en-AU" dirty="0"/>
          </a:p>
        </p:txBody>
      </p:sp>
      <p:sp>
        <p:nvSpPr>
          <p:cNvPr id="16" name="Footer Placeholder 4"/>
          <p:cNvSpPr>
            <a:spLocks noGrp="1"/>
          </p:cNvSpPr>
          <p:nvPr>
            <p:ph type="ftr" sz="quarter" idx="11"/>
          </p:nvPr>
        </p:nvSpPr>
        <p:spPr>
          <a:xfrm>
            <a:off x="3028950" y="4768735"/>
            <a:ext cx="3086100" cy="273928"/>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8735"/>
            <a:ext cx="2057400" cy="273928"/>
          </a:xfrm>
        </p:spPr>
        <p:txBody>
          <a:bodyPr/>
          <a:lstStyle>
            <a:lvl1pPr>
              <a:defRPr>
                <a:latin typeface="Lato Light" panose="020F0302020204030203" pitchFamily="34" charset="0"/>
              </a:defRPr>
            </a:lvl1pPr>
          </a:lstStyle>
          <a:p>
            <a:fld id="{84AD2E7E-F7BA-4F6B-9D0C-0B2331C2AE06}" type="slidenum">
              <a:rPr lang="en-AU" smtClean="0"/>
              <a:t>‹#›</a:t>
            </a:fld>
            <a:endParaRPr lang="en-AU" dirty="0"/>
          </a:p>
        </p:txBody>
      </p:sp>
      <p:sp>
        <p:nvSpPr>
          <p:cNvPr id="19" name="Text Placeholder 18"/>
          <p:cNvSpPr>
            <a:spLocks noGrp="1"/>
          </p:cNvSpPr>
          <p:nvPr>
            <p:ph type="body" sz="quarter" idx="18"/>
          </p:nvPr>
        </p:nvSpPr>
        <p:spPr>
          <a:xfrm>
            <a:off x="5112544" y="1504225"/>
            <a:ext cx="3251597" cy="353724"/>
          </a:xfrm>
        </p:spPr>
        <p:txBody>
          <a:bodyPr>
            <a:normAutofit/>
          </a:bodyPr>
          <a:lstStyle>
            <a:lvl1pPr marL="0" indent="0">
              <a:buNone/>
              <a:defRPr sz="1400"/>
            </a:lvl1pPr>
          </a:lstStyle>
          <a:p>
            <a:pPr lvl="0"/>
            <a:endParaRPr lang="en-AU" dirty="0"/>
          </a:p>
        </p:txBody>
      </p:sp>
      <p:sp>
        <p:nvSpPr>
          <p:cNvPr id="21" name="Text Placeholder 20"/>
          <p:cNvSpPr>
            <a:spLocks noGrp="1"/>
          </p:cNvSpPr>
          <p:nvPr>
            <p:ph type="body" sz="quarter" idx="19"/>
          </p:nvPr>
        </p:nvSpPr>
        <p:spPr>
          <a:xfrm>
            <a:off x="5112544" y="1868668"/>
            <a:ext cx="3251597" cy="703876"/>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929"/>
            <a:ext cx="7886700" cy="99447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642"/>
            <a:ext cx="7886700" cy="326451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8735"/>
            <a:ext cx="2057400" cy="273928"/>
          </a:xfrm>
          <a:prstGeom prst="rect">
            <a:avLst/>
          </a:prstGeom>
        </p:spPr>
        <p:txBody>
          <a:bodyPr vert="horz" lIns="91440" tIns="45720" rIns="91440" bIns="45720" rtlCol="0" anchor="ctr"/>
          <a:lstStyle>
            <a:lvl1pPr algn="l">
              <a:defRPr sz="900">
                <a:solidFill>
                  <a:schemeClr val="tx1">
                    <a:tint val="75000"/>
                  </a:schemeClr>
                </a:solidFill>
              </a:defRPr>
            </a:lvl1pPr>
          </a:lstStyle>
          <a:p>
            <a:fld id="{75B0A747-1217-4325-A876-522190C71555}" type="datetimeFigureOut">
              <a:rPr lang="zh-CN" altLang="en-US" smtClean="0"/>
              <a:t>2020/7/13</a:t>
            </a:fld>
            <a:endParaRPr lang="zh-CN" altLang="en-US"/>
          </a:p>
        </p:txBody>
      </p:sp>
      <p:sp>
        <p:nvSpPr>
          <p:cNvPr id="5" name="Footer Placeholder 4"/>
          <p:cNvSpPr>
            <a:spLocks noGrp="1"/>
          </p:cNvSpPr>
          <p:nvPr>
            <p:ph type="ftr" sz="quarter" idx="3"/>
          </p:nvPr>
        </p:nvSpPr>
        <p:spPr>
          <a:xfrm>
            <a:off x="3028950" y="4768735"/>
            <a:ext cx="3086100" cy="273928"/>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8735"/>
            <a:ext cx="2057400" cy="273928"/>
          </a:xfrm>
          <a:prstGeom prst="rect">
            <a:avLst/>
          </a:prstGeom>
        </p:spPr>
        <p:txBody>
          <a:bodyPr vert="horz" lIns="91440" tIns="45720" rIns="91440" bIns="45720" rtlCol="0" anchor="ctr"/>
          <a:lstStyle>
            <a:lvl1pPr algn="r">
              <a:defRPr sz="900">
                <a:solidFill>
                  <a:schemeClr val="tx1">
                    <a:tint val="75000"/>
                  </a:schemeClr>
                </a:solidFill>
              </a:defRPr>
            </a:lvl1pPr>
          </a:lstStyle>
          <a:p>
            <a:fld id="{BC7CFC9F-4B06-4ABB-A28A-559A77B7DC5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11" y="5875"/>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20 2"/>
          <p:cNvPicPr>
            <a:picLocks noChangeAspect="1"/>
          </p:cNvPicPr>
          <p:nvPr/>
        </p:nvPicPr>
        <p:blipFill rotWithShape="1">
          <a:blip r:embed="rId2">
            <a:extLst>
              <a:ext uri="{28A0092B-C50C-407E-A947-70E740481C1C}">
                <a14:useLocalDpi xmlns:a14="http://schemas.microsoft.com/office/drawing/2010/main" val="0"/>
              </a:ext>
            </a:extLst>
          </a:blip>
          <a:srcRect l="9884"/>
          <a:stretch>
            <a:fillRect/>
          </a:stretch>
        </p:blipFill>
        <p:spPr>
          <a:xfrm>
            <a:off x="4224" y="1133312"/>
            <a:ext cx="3523982" cy="4018760"/>
          </a:xfrm>
          <a:prstGeom prst="rect">
            <a:avLst/>
          </a:prstGeom>
          <a:solidFill>
            <a:srgbClr val="2A5BA8"/>
          </a:solidFill>
        </p:spPr>
      </p:pic>
      <p:pic>
        <p:nvPicPr>
          <p:cNvPr id="5" name="20 4"/>
          <p:cNvPicPr>
            <a:picLocks noChangeAspect="1"/>
          </p:cNvPicPr>
          <p:nvPr/>
        </p:nvPicPr>
        <p:blipFill rotWithShape="1">
          <a:blip r:embed="rId2">
            <a:extLst>
              <a:ext uri="{28A0092B-C50C-407E-A947-70E740481C1C}">
                <a14:useLocalDpi xmlns:a14="http://schemas.microsoft.com/office/drawing/2010/main" val="0"/>
              </a:ext>
            </a:extLst>
          </a:blip>
          <a:srcRect r="46564" b="51735"/>
          <a:stretch>
            <a:fillRect/>
          </a:stretch>
        </p:blipFill>
        <p:spPr>
          <a:xfrm flipV="1">
            <a:off x="7180313" y="794"/>
            <a:ext cx="1952652" cy="1727659"/>
          </a:xfrm>
          <a:prstGeom prst="rect">
            <a:avLst/>
          </a:prstGeom>
        </p:spPr>
      </p:pic>
      <p:sp>
        <p:nvSpPr>
          <p:cNvPr id="7" name="矩形 259"/>
          <p:cNvSpPr>
            <a:spLocks noChangeArrowheads="1"/>
          </p:cNvSpPr>
          <p:nvPr/>
        </p:nvSpPr>
        <p:spPr bwMode="auto">
          <a:xfrm>
            <a:off x="6750050" y="2957195"/>
            <a:ext cx="1868170" cy="37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类</a:t>
            </a:r>
            <a:r>
              <a:rPr 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C</a:t>
            </a:r>
            <a:r>
              <a:rPr lang="zh-CN" altLang="en-US" sz="2000" b="1" cap="all" spc="213" dirty="0">
                <a:solidFill>
                  <a:schemeClr val="accent2"/>
                </a:solidFill>
                <a:latin typeface="百度综艺简体" panose="02010601030101010101" charset="-122"/>
                <a:ea typeface="百度综艺简体" panose="02010601030101010101" charset="-122"/>
                <a:cs typeface="百度综艺简体" panose="02010601030101010101" charset="-122"/>
              </a:rPr>
              <a:t>描述</a:t>
            </a:r>
          </a:p>
        </p:txBody>
      </p:sp>
      <p:sp>
        <p:nvSpPr>
          <p:cNvPr id="8" name="矩形 259"/>
          <p:cNvSpPr>
            <a:spLocks noChangeArrowheads="1"/>
          </p:cNvSpPr>
          <p:nvPr/>
        </p:nvSpPr>
        <p:spPr bwMode="auto">
          <a:xfrm>
            <a:off x="3472815" y="2324735"/>
            <a:ext cx="566928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12" tIns="32506" rIns="65012" bIns="3250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数据结构 </a:t>
            </a:r>
            <a:r>
              <a:rPr lang="en-US" altLang="zh-CN" sz="2800" cap="all" spc="213" dirty="0">
                <a:solidFill>
                  <a:schemeClr val="accent1"/>
                </a:solidFill>
                <a:latin typeface="百度综艺简体" panose="02010601030101010101" charset="-122"/>
                <a:ea typeface="百度综艺简体" panose="02010601030101010101" charset="-122"/>
                <a:cs typeface="百度综艺简体" panose="02010601030101010101" charset="-122"/>
              </a:rPr>
              <a:t>DATA STRUCTURE</a:t>
            </a:r>
          </a:p>
        </p:txBody>
      </p:sp>
      <p:sp>
        <p:nvSpPr>
          <p:cNvPr id="10" name="Rectangle 3"/>
          <p:cNvSpPr txBox="1">
            <a:spLocks noChangeArrowheads="1"/>
          </p:cNvSpPr>
          <p:nvPr/>
        </p:nvSpPr>
        <p:spPr bwMode="auto">
          <a:xfrm>
            <a:off x="4803775" y="3791585"/>
            <a:ext cx="1569085" cy="184150"/>
          </a:xfrm>
          <a:prstGeom prst="rect">
            <a:avLst/>
          </a:prstGeom>
          <a:solidFill>
            <a:schemeClr val="accent1"/>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r>
              <a:rPr lang="zh-CN" altLang="en-US" sz="1200" b="0" noProof="1">
                <a:effectLst/>
                <a:latin typeface="百度综艺简体" panose="02010601030101010101" charset="-122"/>
                <a:ea typeface="百度综艺简体" panose="02010601030101010101" charset="-122"/>
                <a:cs typeface="百度综艺简体" panose="02010601030101010101" charset="-122"/>
              </a:rPr>
              <a:t>任课教师：</a:t>
            </a:r>
            <a:r>
              <a:rPr lang="zh-CN" sz="1200" b="0" noProof="1">
                <a:effectLst/>
                <a:latin typeface="百度综艺简体" panose="02010601030101010101" charset="-122"/>
                <a:ea typeface="百度综艺简体" panose="02010601030101010101" charset="-122"/>
                <a:cs typeface="百度综艺简体" panose="02010601030101010101" charset="-122"/>
              </a:rPr>
              <a:t>王青松</a:t>
            </a:r>
            <a:r>
              <a:rPr lang="en-US" altLang="zh-CN" sz="1200" b="0" noProof="1">
                <a:effectLst/>
                <a:latin typeface="百度综艺简体" panose="02010601030101010101" charset="-122"/>
                <a:ea typeface="百度综艺简体" panose="02010601030101010101" charset="-122"/>
                <a:cs typeface="百度综艺简体" panose="02010601030101010101" charset="-122"/>
              </a:rPr>
              <a:t> </a:t>
            </a:r>
            <a:r>
              <a:rPr lang="en-US" altLang="zh-CN" sz="1200" b="0" noProof="1">
                <a:effectLst/>
                <a:latin typeface="华文中宋" panose="02010600040101010101" charset="-122"/>
                <a:ea typeface="华文中宋" panose="02010600040101010101" charset="-122"/>
              </a:rPr>
              <a:t>     </a:t>
            </a:r>
            <a:r>
              <a:rPr lang="zh-CN" altLang="en-US" sz="1200" b="0" noProof="1">
                <a:effectLst/>
                <a:latin typeface="华文中宋" panose="02010600040101010101" charset="-122"/>
                <a:ea typeface="华文中宋" panose="02010600040101010101" charset="-122"/>
              </a:rPr>
              <a:t>   </a:t>
            </a:r>
            <a:endParaRPr lang="en-US" altLang="ko-KR" sz="1200" b="0" noProof="1">
              <a:effectLst/>
              <a:latin typeface="华文中宋" panose="02010600040101010101" charset="-122"/>
              <a:ea typeface="华文中宋" panose="02010600040101010101" charset="-122"/>
            </a:endParaRPr>
          </a:p>
        </p:txBody>
      </p:sp>
      <p:sp>
        <p:nvSpPr>
          <p:cNvPr id="11" name="Rectangle 3"/>
          <p:cNvSpPr txBox="1">
            <a:spLocks noChangeArrowheads="1"/>
          </p:cNvSpPr>
          <p:nvPr/>
        </p:nvSpPr>
        <p:spPr bwMode="auto">
          <a:xfrm>
            <a:off x="6372558" y="3791658"/>
            <a:ext cx="2760406" cy="184538"/>
          </a:xfrm>
          <a:prstGeom prst="rect">
            <a:avLst/>
          </a:prstGeom>
          <a:solidFill>
            <a:schemeClr val="accent2"/>
          </a:solidFill>
        </p:spPr>
        <p:txBody>
          <a:bodyPr wrap="square" lIns="0" tIns="0" rIns="0" bIns="0">
            <a:spAutoFit/>
            <a:scene3d>
              <a:camera prst="orthographicFront"/>
              <a:lightRig rig="threePt" dir="t"/>
            </a:scene3d>
            <a:sp3d>
              <a:bevelT w="1270" h="1270"/>
            </a:sp3d>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a:endParaRPr lang="en-US" altLang="ko-KR" sz="1200" b="0" noProof="1">
              <a:effectLst/>
              <a:latin typeface="华文中宋" panose="02010600040101010101" charset="-122"/>
              <a:ea typeface="华文中宋" panose="02010600040101010101" charset="-122"/>
            </a:endParaRPr>
          </a:p>
        </p:txBody>
      </p:sp>
    </p:spTree>
    <p:extLst>
      <p:ext uri="{BB962C8B-B14F-4D97-AF65-F5344CB8AC3E}">
        <p14:creationId xmlns:p14="http://schemas.microsoft.com/office/powerpoint/2010/main" val="245742400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 calcmode="lin" valueType="num">
                                      <p:cBhvr>
                                        <p:cTn id="2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8"/>
                                        </p:tgtEl>
                                      </p:cBhvr>
                                    </p:animEffect>
                                  </p:childTnLst>
                                </p:cTn>
                              </p:par>
                            </p:childTnLst>
                          </p:cTn>
                        </p:par>
                        <p:par>
                          <p:cTn id="23" fill="hold">
                            <p:stCondLst>
                              <p:cond delay="2599"/>
                            </p:stCondLst>
                            <p:childTnLst>
                              <p:par>
                                <p:cTn id="24" presetID="26" presetClass="emph" presetSubtype="0" fill="hold" grpId="1" nodeType="afterEffect">
                                  <p:stCondLst>
                                    <p:cond delay="0"/>
                                  </p:stCondLst>
                                  <p:iterate type="lt">
                                    <p:tmPct val="0"/>
                                  </p:iterate>
                                  <p:childTnLst>
                                    <p:animEffect transition="out" filter="fade">
                                      <p:cBhvr>
                                        <p:cTn id="25" dur="500" tmFilter="0, 0; .2, .5; .8, .5; 1, 0"/>
                                        <p:tgtEl>
                                          <p:spTgt spid="8"/>
                                        </p:tgtEl>
                                      </p:cBhvr>
                                    </p:animEffect>
                                    <p:animScale>
                                      <p:cBhvr>
                                        <p:cTn id="26" dur="250" autoRev="1" fill="hold"/>
                                        <p:tgtEl>
                                          <p:spTgt spid="8"/>
                                        </p:tgtEl>
                                      </p:cBhvr>
                                      <p:by x="105000" y="105000"/>
                                    </p:animScale>
                                  </p:childTnLst>
                                </p:cTn>
                              </p:par>
                            </p:childTnLst>
                          </p:cTn>
                        </p:par>
                        <p:par>
                          <p:cTn id="27" fill="hold">
                            <p:stCondLst>
                              <p:cond delay="3099"/>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7"/>
                                        </p:tgtEl>
                                        <p:attrNameLst>
                                          <p:attrName>ppt_y</p:attrName>
                                        </p:attrNameLst>
                                      </p:cBhvr>
                                      <p:tavLst>
                                        <p:tav tm="0">
                                          <p:val>
                                            <p:strVal val="#ppt_y"/>
                                          </p:val>
                                        </p:tav>
                                        <p:tav tm="100000">
                                          <p:val>
                                            <p:strVal val="#ppt_y"/>
                                          </p:val>
                                        </p:tav>
                                      </p:tavLst>
                                    </p:anim>
                                    <p:anim calcmode="lin" valueType="num">
                                      <p:cBhvr>
                                        <p:cTn id="32"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7"/>
                                        </p:tgtEl>
                                      </p:cBhvr>
                                    </p:animEffect>
                                  </p:childTnLst>
                                </p:cTn>
                              </p:par>
                            </p:childTnLst>
                          </p:cTn>
                        </p:par>
                        <p:par>
                          <p:cTn id="35" fill="hold">
                            <p:stCondLst>
                              <p:cond delay="3850"/>
                            </p:stCondLst>
                            <p:childTnLst>
                              <p:par>
                                <p:cTn id="36" presetID="26" presetClass="emph" presetSubtype="0" fill="hold" grpId="1" nodeType="afterEffect">
                                  <p:stCondLst>
                                    <p:cond delay="0"/>
                                  </p:stCondLst>
                                  <p:iterate type="lt">
                                    <p:tmPct val="0"/>
                                  </p:iterate>
                                  <p:childTnLst>
                                    <p:animEffect transition="out" filter="fade">
                                      <p:cBhvr>
                                        <p:cTn id="37" dur="500" tmFilter="0, 0; .2, .5; .8, .5; 1, 0"/>
                                        <p:tgtEl>
                                          <p:spTgt spid="7"/>
                                        </p:tgtEl>
                                      </p:cBhvr>
                                    </p:animEffect>
                                    <p:animScale>
                                      <p:cBhvr>
                                        <p:cTn id="38" dur="250" autoRev="1" fill="hold"/>
                                        <p:tgtEl>
                                          <p:spTgt spid="7"/>
                                        </p:tgtEl>
                                      </p:cBhvr>
                                      <p:by x="105000" y="105000"/>
                                    </p:animScale>
                                  </p:childTnLst>
                                </p:cTn>
                              </p:par>
                            </p:childTnLst>
                          </p:cTn>
                        </p:par>
                        <p:par>
                          <p:cTn id="39" fill="hold">
                            <p:stCondLst>
                              <p:cond delay="435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par>
                          <p:cTn id="43" fill="hold">
                            <p:stCondLst>
                              <p:cond delay="485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26" name="TextBox 5"/>
          <p:cNvSpPr txBox="1">
            <a:spLocks noChangeArrowheads="1"/>
          </p:cNvSpPr>
          <p:nvPr/>
        </p:nvSpPr>
        <p:spPr bwMode="auto">
          <a:xfrm>
            <a:off x="1593094" y="2139200"/>
            <a:ext cx="6574756" cy="553998"/>
          </a:xfrm>
          <a:prstGeom prst="rect">
            <a:avLst/>
          </a:prstGeom>
          <a:noFill/>
          <a:ln w="9525">
            <a:noFill/>
            <a:miter lim="800000"/>
          </a:ln>
        </p:spPr>
        <p:txBody>
          <a:bodyPr wrap="square">
            <a:spAutoFit/>
          </a:bodyPr>
          <a:lstStyle/>
          <a:p>
            <a:pPr marL="342900" indent="-342900" fontAlgn="auto">
              <a:lnSpc>
                <a:spcPct val="150000"/>
              </a:lnSpc>
              <a:buFont typeface="Wingdings" panose="05000000000000000000" pitchFamily="2" charset="2"/>
              <a:buChar char="l"/>
            </a:pPr>
            <a:r>
              <a:rPr lang="zh-CN" altLang="en-US" sz="2000" dirty="0">
                <a:solidFill>
                  <a:srgbClr val="FF0000"/>
                </a:solidFill>
                <a:latin typeface="百度综艺简体" panose="02010601030101010101" charset="-122"/>
                <a:ea typeface="百度综艺简体" panose="02010601030101010101" charset="-122"/>
              </a:rPr>
              <a:t>和线性表类似，栈也有两种存储结构。</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sp>
        <p:nvSpPr>
          <p:cNvPr id="41" name="Text Placeholder 11"/>
          <p:cNvSpPr txBox="1"/>
          <p:nvPr/>
        </p:nvSpPr>
        <p:spPr>
          <a:xfrm>
            <a:off x="557287" y="915304"/>
            <a:ext cx="3724029"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2400" dirty="0">
                <a:solidFill>
                  <a:schemeClr val="accent4"/>
                </a:solidFill>
                <a:latin typeface="百度综艺简体" panose="02010601030101010101" charset="-122"/>
                <a:ea typeface="百度综艺简体" panose="02010601030101010101" charset="-122"/>
                <a:sym typeface="Arial" panose="020B0604020202020204" pitchFamily="34" charset="0"/>
              </a:rPr>
              <a:t>栈类型的实现</a:t>
            </a:r>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 Placeholder 11"/>
          <p:cNvSpPr txBox="1"/>
          <p:nvPr/>
        </p:nvSpPr>
        <p:spPr>
          <a:xfrm>
            <a:off x="964489" y="1679546"/>
            <a:ext cx="3724029"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200" dirty="0">
                <a:solidFill>
                  <a:schemeClr val="accent1"/>
                </a:solidFill>
                <a:latin typeface="百度综艺简体" panose="02010601030101010101" charset="-122"/>
                <a:ea typeface="百度综艺简体" panose="02010601030101010101" charset="-122"/>
                <a:sym typeface="Arial" panose="020B0604020202020204" pitchFamily="34" charset="0"/>
              </a:rPr>
              <a:t>一、栈的顺序存储结构</a:t>
            </a:r>
          </a:p>
        </p:txBody>
      </p:sp>
      <p:sp>
        <p:nvSpPr>
          <p:cNvPr id="28" name="TextBox 5"/>
          <p:cNvSpPr txBox="1">
            <a:spLocks noChangeArrowheads="1"/>
          </p:cNvSpPr>
          <p:nvPr/>
        </p:nvSpPr>
        <p:spPr bwMode="auto">
          <a:xfrm>
            <a:off x="1593092" y="2673137"/>
            <a:ext cx="6310610" cy="1015663"/>
          </a:xfrm>
          <a:prstGeom prst="rect">
            <a:avLst/>
          </a:prstGeom>
          <a:noFill/>
          <a:ln w="9525">
            <a:noFill/>
            <a:miter lim="800000"/>
          </a:ln>
        </p:spPr>
        <p:txBody>
          <a:bodyPr wrap="square">
            <a:spAutoFit/>
          </a:bodyPr>
          <a:lstStyle/>
          <a:p>
            <a:pPr marL="342900" indent="-342900" fontAlgn="auto">
              <a:lnSpc>
                <a:spcPct val="150000"/>
              </a:lnSpc>
              <a:buFont typeface="Wingdings" panose="05000000000000000000" pitchFamily="2" charset="2"/>
              <a:buChar char="l"/>
            </a:pPr>
            <a:r>
              <a:rPr lang="zh-CN" altLang="en-US" sz="2000" dirty="0">
                <a:latin typeface="百度综艺简体" panose="02010601030101010101" charset="-122"/>
                <a:ea typeface="百度综艺简体" panose="02010601030101010101" charset="-122"/>
              </a:rPr>
              <a:t>顺序栈即栈的顺序存储结构是利用一组地址连续的存储单元依次存放自栈底到栈顶的数据元素。</a:t>
            </a:r>
          </a:p>
        </p:txBody>
      </p:sp>
      <p:sp>
        <p:nvSpPr>
          <p:cNvPr id="29" name="TextBox 5"/>
          <p:cNvSpPr txBox="1">
            <a:spLocks noChangeArrowheads="1"/>
          </p:cNvSpPr>
          <p:nvPr/>
        </p:nvSpPr>
        <p:spPr bwMode="auto">
          <a:xfrm>
            <a:off x="1593092" y="3688800"/>
            <a:ext cx="6310610" cy="504177"/>
          </a:xfrm>
          <a:prstGeom prst="rect">
            <a:avLst/>
          </a:prstGeom>
          <a:noFill/>
          <a:ln w="9525">
            <a:noFill/>
            <a:miter lim="800000"/>
          </a:ln>
        </p:spPr>
        <p:txBody>
          <a:bodyPr wrap="square">
            <a:spAutoFit/>
          </a:bodyPr>
          <a:lstStyle/>
          <a:p>
            <a:pPr marL="342900" indent="-342900" fontAlgn="auto">
              <a:lnSpc>
                <a:spcPct val="150000"/>
              </a:lnSpc>
              <a:buFont typeface="Wingdings" panose="05000000000000000000" pitchFamily="2" charset="2"/>
              <a:buChar char="l"/>
            </a:pPr>
            <a:r>
              <a:rPr lang="zh-CN" altLang="en-US" sz="2000" dirty="0">
                <a:latin typeface="百度综艺简体" panose="02010601030101010101" charset="-122"/>
                <a:ea typeface="百度综艺简体" panose="02010601030101010101" charset="-122"/>
              </a:rPr>
              <a:t>栈的顺序存储结构</a:t>
            </a:r>
          </a:p>
        </p:txBody>
      </p:sp>
    </p:spTree>
    <p:extLst>
      <p:ext uri="{BB962C8B-B14F-4D97-AF65-F5344CB8AC3E}">
        <p14:creationId xmlns:p14="http://schemas.microsoft.com/office/powerpoint/2010/main" val="275606689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55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550" decel="50000" fill="hold">
                                          <p:stCondLst>
                                            <p:cond delay="0"/>
                                          </p:stCondLst>
                                        </p:cTn>
                                        <p:tgtEl>
                                          <p:spTgt spid="37"/>
                                        </p:tgtEl>
                                        <p:attrNameLst>
                                          <p:attrName>ppt_x</p:attrName>
                                          <p:attrName>ppt_y</p:attrName>
                                        </p:attrNameLst>
                                      </p:cBhvr>
                                      <p:rCtr x="0" y="0"/>
                                    </p:animMotion>
                                    <p:animEffect transition="in" filter="fade">
                                      <p:cBhvr>
                                        <p:cTn id="31" dur="550"/>
                                        <p:tgtEl>
                                          <p:spTgt spid="37"/>
                                        </p:tgtEl>
                                      </p:cBhvr>
                                    </p:animEffect>
                                  </p:childTnLst>
                                </p:cTn>
                              </p:par>
                            </p:childTnLst>
                          </p:cTn>
                        </p:par>
                        <p:par>
                          <p:cTn id="32" fill="hold">
                            <p:stCondLst>
                              <p:cond delay="280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3800"/>
                            </p:stCondLst>
                            <p:childTnLst>
                              <p:par>
                                <p:cTn id="39" presetID="42" presetClass="entr" presetSubtype="0" fill="hold" grpId="0" nodeType="after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1000"/>
                                        <p:tgtEl>
                                          <p:spTgt spid="41"/>
                                        </p:tgtEl>
                                      </p:cBhvr>
                                    </p:animEffect>
                                    <p:anim calcmode="lin" valueType="num">
                                      <p:cBhvr>
                                        <p:cTn id="42" dur="1000" fill="hold"/>
                                        <p:tgtEl>
                                          <p:spTgt spid="41"/>
                                        </p:tgtEl>
                                        <p:attrNameLst>
                                          <p:attrName>ppt_x</p:attrName>
                                        </p:attrNameLst>
                                      </p:cBhvr>
                                      <p:tavLst>
                                        <p:tav tm="0">
                                          <p:val>
                                            <p:strVal val="#ppt_x"/>
                                          </p:val>
                                        </p:tav>
                                        <p:tav tm="100000">
                                          <p:val>
                                            <p:strVal val="#ppt_x"/>
                                          </p:val>
                                        </p:tav>
                                      </p:tavLst>
                                    </p:anim>
                                    <p:anim calcmode="lin" valueType="num">
                                      <p:cBhvr>
                                        <p:cTn id="43" dur="1000" fill="hold"/>
                                        <p:tgtEl>
                                          <p:spTgt spid="41"/>
                                        </p:tgtEl>
                                        <p:attrNameLst>
                                          <p:attrName>ppt_y</p:attrName>
                                        </p:attrNameLst>
                                      </p:cBhvr>
                                      <p:tavLst>
                                        <p:tav tm="0">
                                          <p:val>
                                            <p:strVal val="#ppt_y+.1"/>
                                          </p:val>
                                        </p:tav>
                                        <p:tav tm="100000">
                                          <p:val>
                                            <p:strVal val="#ppt_y"/>
                                          </p:val>
                                        </p:tav>
                                      </p:tavLst>
                                    </p:anim>
                                  </p:childTnLst>
                                </p:cTn>
                              </p:par>
                            </p:childTnLst>
                          </p:cTn>
                        </p:par>
                        <p:par>
                          <p:cTn id="44" fill="hold">
                            <p:stCondLst>
                              <p:cond delay="4800"/>
                            </p:stCondLst>
                            <p:childTnLst>
                              <p:par>
                                <p:cTn id="45" presetID="42"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childTnLst>
                          </p:cTn>
                        </p:par>
                        <p:par>
                          <p:cTn id="50" fill="hold">
                            <p:stCondLst>
                              <p:cond delay="5800"/>
                            </p:stCondLst>
                            <p:childTnLst>
                              <p:par>
                                <p:cTn id="51" presetID="41" presetClass="entr" presetSubtype="0" fill="hold" grpId="0" nodeType="afterEffect">
                                  <p:stCondLst>
                                    <p:cond delay="0"/>
                                  </p:stCondLst>
                                  <p:iterate type="lt">
                                    <p:tmPct val="10000"/>
                                  </p:iterate>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54" dur="500" fill="hold"/>
                                        <p:tgtEl>
                                          <p:spTgt spid="26"/>
                                        </p:tgtEl>
                                        <p:attrNameLst>
                                          <p:attrName>ppt_y</p:attrName>
                                        </p:attrNameLst>
                                      </p:cBhvr>
                                      <p:tavLst>
                                        <p:tav tm="0">
                                          <p:val>
                                            <p:strVal val="#ppt_y"/>
                                          </p:val>
                                        </p:tav>
                                        <p:tav tm="100000">
                                          <p:val>
                                            <p:strVal val="#ppt_y"/>
                                          </p:val>
                                        </p:tav>
                                      </p:tavLst>
                                    </p:anim>
                                    <p:anim calcmode="lin" valueType="num">
                                      <p:cBhvr>
                                        <p:cTn id="55"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56"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57" dur="500" tmFilter="0,0; .5, 1; 1, 1"/>
                                        <p:tgtEl>
                                          <p:spTgt spid="26"/>
                                        </p:tgtEl>
                                      </p:cBhvr>
                                    </p:animEffect>
                                  </p:childTnLst>
                                </p:cTn>
                              </p:par>
                            </p:childTnLst>
                          </p:cTn>
                        </p:par>
                        <p:par>
                          <p:cTn id="58" fill="hold">
                            <p:stCondLst>
                              <p:cond delay="7100"/>
                            </p:stCondLst>
                            <p:childTnLst>
                              <p:par>
                                <p:cTn id="59" presetID="41" presetClass="entr" presetSubtype="0" fill="hold" grpId="0" nodeType="afterEffect">
                                  <p:stCondLst>
                                    <p:cond delay="0"/>
                                  </p:stCondLst>
                                  <p:iterate type="lt">
                                    <p:tmPct val="10000"/>
                                  </p:iterate>
                                  <p:childTnLst>
                                    <p:set>
                                      <p:cBhvr>
                                        <p:cTn id="60" dur="1" fill="hold">
                                          <p:stCondLst>
                                            <p:cond delay="0"/>
                                          </p:stCondLst>
                                        </p:cTn>
                                        <p:tgtEl>
                                          <p:spTgt spid="28"/>
                                        </p:tgtEl>
                                        <p:attrNameLst>
                                          <p:attrName>style.visibility</p:attrName>
                                        </p:attrNameLst>
                                      </p:cBhvr>
                                      <p:to>
                                        <p:strVal val="visible"/>
                                      </p:to>
                                    </p:set>
                                    <p:anim calcmode="lin" valueType="num">
                                      <p:cBhvr>
                                        <p:cTn id="61" dur="5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62" dur="500" fill="hold"/>
                                        <p:tgtEl>
                                          <p:spTgt spid="28"/>
                                        </p:tgtEl>
                                        <p:attrNameLst>
                                          <p:attrName>ppt_y</p:attrName>
                                        </p:attrNameLst>
                                      </p:cBhvr>
                                      <p:tavLst>
                                        <p:tav tm="0">
                                          <p:val>
                                            <p:strVal val="#ppt_y"/>
                                          </p:val>
                                        </p:tav>
                                        <p:tav tm="100000">
                                          <p:val>
                                            <p:strVal val="#ppt_y"/>
                                          </p:val>
                                        </p:tav>
                                      </p:tavLst>
                                    </p:anim>
                                    <p:anim calcmode="lin" valueType="num">
                                      <p:cBhvr>
                                        <p:cTn id="63" dur="5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64" dur="5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65" dur="500" tmFilter="0,0; .5, 1; 1, 1"/>
                                        <p:tgtEl>
                                          <p:spTgt spid="28"/>
                                        </p:tgtEl>
                                      </p:cBhvr>
                                    </p:animEffect>
                                  </p:childTnLst>
                                </p:cTn>
                              </p:par>
                            </p:childTnLst>
                          </p:cTn>
                        </p:par>
                        <p:par>
                          <p:cTn id="66" fill="hold">
                            <p:stCondLst>
                              <p:cond delay="9650"/>
                            </p:stCondLst>
                            <p:childTnLst>
                              <p:par>
                                <p:cTn id="67" presetID="41" presetClass="entr" presetSubtype="0" fill="hold" grpId="0" nodeType="afterEffect">
                                  <p:stCondLst>
                                    <p:cond delay="0"/>
                                  </p:stCondLst>
                                  <p:iterate type="lt">
                                    <p:tmPct val="10000"/>
                                  </p:iterate>
                                  <p:childTnLst>
                                    <p:set>
                                      <p:cBhvr>
                                        <p:cTn id="68" dur="1" fill="hold">
                                          <p:stCondLst>
                                            <p:cond delay="0"/>
                                          </p:stCondLst>
                                        </p:cTn>
                                        <p:tgtEl>
                                          <p:spTgt spid="29"/>
                                        </p:tgtEl>
                                        <p:attrNameLst>
                                          <p:attrName>style.visibility</p:attrName>
                                        </p:attrNameLst>
                                      </p:cBhvr>
                                      <p:to>
                                        <p:strVal val="visible"/>
                                      </p:to>
                                    </p:set>
                                    <p:anim calcmode="lin" valueType="num">
                                      <p:cBhvr>
                                        <p:cTn id="69"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70" dur="500" fill="hold"/>
                                        <p:tgtEl>
                                          <p:spTgt spid="29"/>
                                        </p:tgtEl>
                                        <p:attrNameLst>
                                          <p:attrName>ppt_y</p:attrName>
                                        </p:attrNameLst>
                                      </p:cBhvr>
                                      <p:tavLst>
                                        <p:tav tm="0">
                                          <p:val>
                                            <p:strVal val="#ppt_y"/>
                                          </p:val>
                                        </p:tav>
                                        <p:tav tm="100000">
                                          <p:val>
                                            <p:strVal val="#ppt_y"/>
                                          </p:val>
                                        </p:tav>
                                      </p:tavLst>
                                    </p:anim>
                                    <p:anim calcmode="lin" valueType="num">
                                      <p:cBhvr>
                                        <p:cTn id="71"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72"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73"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41" grpId="0"/>
      <p:bldP spid="18" grpId="0"/>
      <p:bldP spid="28" grpId="0" autoUpdateAnimBg="0"/>
      <p:bldP spid="2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26" name="TextBox 5"/>
          <p:cNvSpPr txBox="1">
            <a:spLocks noChangeArrowheads="1"/>
          </p:cNvSpPr>
          <p:nvPr/>
        </p:nvSpPr>
        <p:spPr bwMode="auto">
          <a:xfrm>
            <a:off x="2134235" y="1549953"/>
            <a:ext cx="6574756" cy="3000821"/>
          </a:xfrm>
          <a:prstGeom prst="rect">
            <a:avLst/>
          </a:prstGeom>
          <a:noFill/>
          <a:ln w="9525">
            <a:noFill/>
            <a:miter lim="800000"/>
          </a:ln>
        </p:spPr>
        <p:txBody>
          <a:bodyPr wrap="square">
            <a:spAutoFit/>
          </a:bodyPr>
          <a:lstStyle/>
          <a:p>
            <a:pPr fontAlgn="auto">
              <a:lnSpc>
                <a:spcPct val="150000"/>
              </a:lnSpc>
            </a:pPr>
            <a:r>
              <a:rPr lang="en-US" altLang="zh-CN" smtClean="0">
                <a:latin typeface="百度综艺简体" panose="02010601030101010101" charset="-122"/>
                <a:ea typeface="百度综艺简体" panose="02010601030101010101" charset="-122"/>
              </a:rPr>
              <a:t># define   </a:t>
            </a:r>
            <a:r>
              <a:rPr lang="en-US" altLang="zh-CN" dirty="0">
                <a:latin typeface="百度综艺简体" panose="02010601030101010101" charset="-122"/>
                <a:ea typeface="百度综艺简体" panose="02010601030101010101" charset="-122"/>
              </a:rPr>
              <a:t>	STACK_INIT_SIZE		100</a:t>
            </a:r>
          </a:p>
          <a:p>
            <a:pPr fontAlgn="auto">
              <a:lnSpc>
                <a:spcPct val="150000"/>
              </a:lnSpc>
            </a:pPr>
            <a:r>
              <a:rPr lang="en-US" altLang="zh-CN" dirty="0">
                <a:latin typeface="百度综艺简体" panose="02010601030101010101" charset="-122"/>
                <a:ea typeface="百度综艺简体" panose="02010601030101010101" charset="-122"/>
              </a:rPr>
              <a:t># define	STACKINCREMENT	10</a:t>
            </a:r>
          </a:p>
          <a:p>
            <a:pPr fontAlgn="auto">
              <a:lnSpc>
                <a:spcPct val="150000"/>
              </a:lnSpc>
            </a:pPr>
            <a:r>
              <a:rPr lang="en-US" altLang="zh-CN" dirty="0">
                <a:latin typeface="百度综艺简体" panose="02010601030101010101" charset="-122"/>
                <a:ea typeface="百度综艺简体" panose="02010601030101010101" charset="-122"/>
              </a:rPr>
              <a:t>typedef </a:t>
            </a:r>
            <a:r>
              <a:rPr lang="en-US" altLang="zh-CN" dirty="0" err="1">
                <a:latin typeface="百度综艺简体" panose="02010601030101010101" charset="-122"/>
                <a:ea typeface="百度综艺简体" panose="02010601030101010101" charset="-122"/>
              </a:rPr>
              <a:t>struct</a:t>
            </a:r>
            <a:r>
              <a:rPr lang="en-US" altLang="zh-CN" dirty="0">
                <a:latin typeface="百度综艺简体" panose="02010601030101010101" charset="-122"/>
                <a:ea typeface="百度综艺简体" panose="02010601030101010101" charset="-122"/>
              </a:rPr>
              <a:t>{</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SElemType</a:t>
            </a:r>
            <a:r>
              <a:rPr lang="en-US" altLang="zh-CN" dirty="0">
                <a:latin typeface="百度综艺简体" panose="02010601030101010101" charset="-122"/>
                <a:ea typeface="百度综艺简体" panose="02010601030101010101" charset="-122"/>
              </a:rPr>
              <a:t> *base;	//</a:t>
            </a:r>
            <a:r>
              <a:rPr lang="zh-CN" altLang="en-US" dirty="0">
                <a:latin typeface="百度综艺简体" panose="02010601030101010101" charset="-122"/>
                <a:ea typeface="百度综艺简体" panose="02010601030101010101" charset="-122"/>
              </a:rPr>
              <a:t>栈底指针</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SElemType</a:t>
            </a:r>
            <a:r>
              <a:rPr lang="en-US" altLang="zh-CN" dirty="0">
                <a:latin typeface="百度综艺简体" panose="02010601030101010101" charset="-122"/>
                <a:ea typeface="百度综艺简体" panose="02010601030101010101" charset="-122"/>
              </a:rPr>
              <a:t>  *top;	//</a:t>
            </a:r>
            <a:r>
              <a:rPr lang="zh-CN" altLang="en-US" dirty="0">
                <a:latin typeface="百度综艺简体" panose="02010601030101010101" charset="-122"/>
                <a:ea typeface="百度综艺简体" panose="02010601030101010101" charset="-122"/>
              </a:rPr>
              <a:t>栈顶指针</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int</a:t>
            </a: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stacksize</a:t>
            </a: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当前已经分配空间</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SqStack</a:t>
            </a:r>
            <a:r>
              <a:rPr lang="en-US" altLang="zh-CN" dirty="0">
                <a:latin typeface="百度综艺简体" panose="02010601030101010101" charset="-122"/>
                <a:ea typeface="百度综艺简体" panose="02010601030101010101" charset="-122"/>
              </a:rPr>
              <a:t>;</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 Placeholder 11"/>
          <p:cNvSpPr txBox="1"/>
          <p:nvPr/>
        </p:nvSpPr>
        <p:spPr>
          <a:xfrm>
            <a:off x="964489" y="998220"/>
            <a:ext cx="4419361"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顺序栈的</a:t>
            </a:r>
            <a:r>
              <a:rPr lang="en-US" altLang="zh-CN" sz="2000" dirty="0">
                <a:solidFill>
                  <a:schemeClr val="accent1"/>
                </a:solidFill>
                <a:latin typeface="百度综艺简体" panose="02010601030101010101" charset="-122"/>
                <a:ea typeface="百度综艺简体" panose="02010601030101010101" charset="-122"/>
                <a:sym typeface="Arial" panose="020B0604020202020204" pitchFamily="34" charset="0"/>
              </a:rPr>
              <a:t>C</a:t>
            </a: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语言描述：</a:t>
            </a:r>
          </a:p>
        </p:txBody>
      </p:sp>
    </p:spTree>
    <p:extLst>
      <p:ext uri="{BB962C8B-B14F-4D97-AF65-F5344CB8AC3E}">
        <p14:creationId xmlns:p14="http://schemas.microsoft.com/office/powerpoint/2010/main" val="115713712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grpId="0"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1000"/>
                                        <p:tgtEl>
                                          <p:spTgt spid="26"/>
                                        </p:tgtEl>
                                      </p:cBhvr>
                                    </p:animEffect>
                                    <p:anim calcmode="lin" valueType="num">
                                      <p:cBhvr>
                                        <p:cTn id="48" dur="1000" fill="hold"/>
                                        <p:tgtEl>
                                          <p:spTgt spid="26"/>
                                        </p:tgtEl>
                                        <p:attrNameLst>
                                          <p:attrName>ppt_x</p:attrName>
                                        </p:attrNameLst>
                                      </p:cBhvr>
                                      <p:tavLst>
                                        <p:tav tm="0">
                                          <p:val>
                                            <p:strVal val="#ppt_x"/>
                                          </p:val>
                                        </p:tav>
                                        <p:tav tm="100000">
                                          <p:val>
                                            <p:strVal val="#ppt_x"/>
                                          </p:val>
                                        </p:tav>
                                      </p:tavLst>
                                    </p:anim>
                                    <p:anim calcmode="lin" valueType="num">
                                      <p:cBhvr>
                                        <p:cTn id="4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26" name="TextBox 5"/>
          <p:cNvSpPr txBox="1">
            <a:spLocks noChangeArrowheads="1"/>
          </p:cNvSpPr>
          <p:nvPr/>
        </p:nvSpPr>
        <p:spPr bwMode="auto">
          <a:xfrm>
            <a:off x="2134235" y="1549953"/>
            <a:ext cx="6574756" cy="2956002"/>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Status  </a:t>
            </a:r>
            <a:r>
              <a:rPr lang="en-US" altLang="zh-CN" dirty="0" err="1">
                <a:latin typeface="百度综艺简体" panose="02010601030101010101" charset="-122"/>
                <a:ea typeface="百度综艺简体" panose="02010601030101010101" charset="-122"/>
              </a:rPr>
              <a:t>InitStack</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SqStack</a:t>
            </a:r>
            <a:r>
              <a:rPr lang="en-US" altLang="zh-CN" dirty="0">
                <a:latin typeface="百度综艺简体" panose="02010601030101010101" charset="-122"/>
                <a:ea typeface="百度综艺简体" panose="02010601030101010101" charset="-122"/>
              </a:rPr>
              <a:t> &amp;S){</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S.base</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SElemType</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malloc</a:t>
            </a:r>
            <a:r>
              <a:rPr lang="en-US" altLang="zh-CN" dirty="0">
                <a:latin typeface="百度综艺简体" panose="02010601030101010101" charset="-122"/>
                <a:ea typeface="百度综艺简体" panose="02010601030101010101" charset="-122"/>
              </a:rPr>
              <a:t>(</a:t>
            </a:r>
          </a:p>
          <a:p>
            <a:pPr fontAlgn="auto">
              <a:lnSpc>
                <a:spcPct val="150000"/>
              </a:lnSpc>
            </a:pPr>
            <a:r>
              <a:rPr lang="en-US" altLang="zh-CN" dirty="0">
                <a:latin typeface="百度综艺简体" panose="02010601030101010101" charset="-122"/>
                <a:ea typeface="百度综艺简体" panose="02010601030101010101" charset="-122"/>
              </a:rPr>
              <a:t>           STACK_INIT_SIZE*</a:t>
            </a:r>
            <a:r>
              <a:rPr lang="en-US" altLang="zh-CN" dirty="0" err="1">
                <a:latin typeface="百度综艺简体" panose="02010601030101010101" charset="-122"/>
                <a:ea typeface="百度综艺简体" panose="02010601030101010101" charset="-122"/>
              </a:rPr>
              <a:t>sizeof</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SElemType</a:t>
            </a:r>
            <a:r>
              <a:rPr lang="en-US" altLang="zh-CN" dirty="0">
                <a:latin typeface="百度综艺简体" panose="02010601030101010101" charset="-122"/>
                <a:ea typeface="百度综艺简体" panose="02010601030101010101" charset="-122"/>
              </a:rPr>
              <a:t>));</a:t>
            </a:r>
          </a:p>
          <a:p>
            <a:pPr fontAlgn="auto">
              <a:lnSpc>
                <a:spcPct val="150000"/>
              </a:lnSpc>
            </a:pPr>
            <a:r>
              <a:rPr lang="en-US" altLang="zh-CN" dirty="0">
                <a:latin typeface="百度综艺简体" panose="02010601030101010101" charset="-122"/>
                <a:ea typeface="百度综艺简体" panose="02010601030101010101" charset="-122"/>
              </a:rPr>
              <a:t>      if(!</a:t>
            </a:r>
            <a:r>
              <a:rPr lang="en-US" altLang="zh-CN" dirty="0" err="1">
                <a:latin typeface="百度综艺简体" panose="02010601030101010101" charset="-122"/>
                <a:ea typeface="百度综艺简体" panose="02010601030101010101" charset="-122"/>
              </a:rPr>
              <a:t>S.base</a:t>
            </a:r>
            <a:r>
              <a:rPr lang="en-US" altLang="zh-CN" dirty="0">
                <a:latin typeface="百度综艺简体" panose="02010601030101010101" charset="-122"/>
                <a:ea typeface="百度综艺简体" panose="02010601030101010101" charset="-122"/>
              </a:rPr>
              <a:t>) exit(1);</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 </a:t>
            </a:r>
            <a:r>
              <a:rPr lang="en-US" altLang="zh-CN" dirty="0" err="1">
                <a:latin typeface="百度综艺简体" panose="02010601030101010101" charset="-122"/>
                <a:ea typeface="百度综艺简体" panose="02010601030101010101" charset="-122"/>
              </a:rPr>
              <a:t>S.base</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栈顶和栈底指向同一位置，栈空</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S.stacksize</a:t>
            </a:r>
            <a:r>
              <a:rPr lang="en-US" altLang="zh-CN" dirty="0">
                <a:latin typeface="百度综艺简体" panose="02010601030101010101" charset="-122"/>
                <a:ea typeface="百度综艺简体" panose="02010601030101010101" charset="-122"/>
              </a:rPr>
              <a:t> = STACK_INIT_SIZE;</a:t>
            </a:r>
          </a:p>
          <a:p>
            <a:pPr fontAlgn="auto">
              <a:lnSpc>
                <a:spcPct val="150000"/>
              </a:lnSpc>
            </a:pPr>
            <a:r>
              <a:rPr lang="en-US" altLang="zh-CN" dirty="0">
                <a:latin typeface="百度综艺简体" panose="02010601030101010101" charset="-122"/>
                <a:ea typeface="百度综艺简体" panose="02010601030101010101" charset="-122"/>
              </a:rPr>
              <a:t>}</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58561173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 Placeholder 11"/>
          <p:cNvSpPr txBox="1"/>
          <p:nvPr/>
        </p:nvSpPr>
        <p:spPr>
          <a:xfrm>
            <a:off x="964489" y="998220"/>
            <a:ext cx="4419361"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000" dirty="0">
                <a:solidFill>
                  <a:schemeClr val="accent1"/>
                </a:solidFill>
                <a:latin typeface="百度综艺简体" panose="02010601030101010101" charset="-122"/>
                <a:ea typeface="百度综艺简体" panose="02010601030101010101" charset="-122"/>
                <a:sym typeface="Arial" panose="020B0604020202020204" pitchFamily="34" charset="0"/>
              </a:rPr>
              <a:t>下面为栈的操作演示</a:t>
            </a:r>
            <a:r>
              <a:rPr lang="en-US" altLang="zh-CN" sz="2000" dirty="0">
                <a:solidFill>
                  <a:schemeClr val="accent1"/>
                </a:solidFill>
                <a:latin typeface="百度综艺简体" panose="02010601030101010101" charset="-122"/>
                <a:ea typeface="百度综艺简体" panose="02010601030101010101" charset="-122"/>
                <a:sym typeface="Arial" panose="020B0604020202020204" pitchFamily="34" charset="0"/>
              </a:rPr>
              <a:t>: </a:t>
            </a:r>
          </a:p>
        </p:txBody>
      </p:sp>
      <p:graphicFrame>
        <p:nvGraphicFramePr>
          <p:cNvPr id="13" name="Object 4"/>
          <p:cNvGraphicFramePr>
            <a:graphicFrameLocks noChangeAspect="1"/>
          </p:cNvGraphicFramePr>
          <p:nvPr>
            <p:extLst>
              <p:ext uri="{D42A27DB-BD31-4B8C-83A1-F6EECF244321}">
                <p14:modId xmlns:p14="http://schemas.microsoft.com/office/powerpoint/2010/main" val="2217064506"/>
              </p:ext>
            </p:extLst>
          </p:nvPr>
        </p:nvGraphicFramePr>
        <p:xfrm>
          <a:off x="2262994" y="1605402"/>
          <a:ext cx="4917732" cy="3247061"/>
        </p:xfrm>
        <a:graphic>
          <a:graphicData uri="http://schemas.openxmlformats.org/presentationml/2006/ole">
            <mc:AlternateContent xmlns:mc="http://schemas.openxmlformats.org/markup-compatibility/2006">
              <mc:Choice xmlns:v="urn:schemas-microsoft-com:vml" Requires="v">
                <p:oleObj spid="_x0000_s1032" name="BMP 图像" r:id="rId4" imgW="5495238" imgH="2180952" progId="Paint.Picture">
                  <p:embed/>
                </p:oleObj>
              </mc:Choice>
              <mc:Fallback>
                <p:oleObj name="BMP 图像" r:id="rId4" imgW="5495238" imgH="2180952"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2994" y="1605402"/>
                        <a:ext cx="4917732" cy="3247061"/>
                      </a:xfrm>
                      <a:prstGeom prst="rect">
                        <a:avLst/>
                      </a:prstGeom>
                      <a:noFill/>
                      <a:ln w="57150">
                        <a:solidFill>
                          <a:srgbClr val="2A5BA8"/>
                        </a:solidFill>
                      </a:ln>
                      <a:effectLst/>
                    </p:spPr>
                  </p:pic>
                </p:oleObj>
              </mc:Fallback>
            </mc:AlternateContent>
          </a:graphicData>
        </a:graphic>
      </p:graphicFrame>
    </p:spTree>
    <p:extLst>
      <p:ext uri="{BB962C8B-B14F-4D97-AF65-F5344CB8AC3E}">
        <p14:creationId xmlns:p14="http://schemas.microsoft.com/office/powerpoint/2010/main" val="3307711431"/>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par>
                          <p:cTn id="44" fill="hold">
                            <p:stCondLst>
                              <p:cond delay="5250"/>
                            </p:stCondLst>
                            <p:childTnLst>
                              <p:par>
                                <p:cTn id="45" presetID="42" presetClass="entr" presetSubtype="0"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ppt_x</p:attrName>
                                        </p:attrNameLst>
                                      </p:cBhvr>
                                      <p:tavLst>
                                        <p:tav tm="0">
                                          <p:val>
                                            <p:strVal val="#ppt_x"/>
                                          </p:val>
                                        </p:tav>
                                        <p:tav tm="100000">
                                          <p:val>
                                            <p:strVal val="#ppt_x"/>
                                          </p:val>
                                        </p:tav>
                                      </p:tavLst>
                                    </p:anim>
                                    <p:anim calcmode="lin" valueType="num">
                                      <p:cBhvr>
                                        <p:cTn id="4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26" name="TextBox 5"/>
          <p:cNvSpPr txBox="1">
            <a:spLocks noChangeArrowheads="1"/>
          </p:cNvSpPr>
          <p:nvPr/>
        </p:nvSpPr>
        <p:spPr bwMode="auto">
          <a:xfrm>
            <a:off x="2134235" y="1549953"/>
            <a:ext cx="6574756" cy="2169825"/>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Status   </a:t>
            </a:r>
            <a:r>
              <a:rPr lang="en-US" altLang="zh-CN" dirty="0" err="1">
                <a:latin typeface="百度综艺简体" panose="02010601030101010101" charset="-122"/>
                <a:ea typeface="百度综艺简体" panose="02010601030101010101" charset="-122"/>
              </a:rPr>
              <a:t>GetTop</a:t>
            </a:r>
            <a:r>
              <a:rPr lang="en-US" altLang="zh-CN" dirty="0">
                <a:latin typeface="百度综艺简体" panose="02010601030101010101" charset="-122"/>
                <a:ea typeface="百度综艺简体" panose="02010601030101010101" charset="-122"/>
              </a:rPr>
              <a:t>(</a:t>
            </a:r>
            <a:r>
              <a:rPr lang="en-US" altLang="zh-CN" dirty="0" err="1">
                <a:latin typeface="百度综艺简体" panose="02010601030101010101" charset="-122"/>
                <a:ea typeface="百度综艺简体" panose="02010601030101010101" charset="-122"/>
              </a:rPr>
              <a:t>SqStack</a:t>
            </a:r>
            <a:r>
              <a:rPr lang="en-US" altLang="zh-CN" dirty="0">
                <a:latin typeface="百度综艺简体" panose="02010601030101010101" charset="-122"/>
                <a:ea typeface="百度综艺简体" panose="02010601030101010101" charset="-122"/>
              </a:rPr>
              <a:t> S, </a:t>
            </a:r>
            <a:r>
              <a:rPr lang="en-US" altLang="zh-CN" dirty="0" err="1">
                <a:latin typeface="百度综艺简体" panose="02010601030101010101" charset="-122"/>
                <a:ea typeface="百度综艺简体" panose="02010601030101010101" charset="-122"/>
              </a:rPr>
              <a:t>SElemType</a:t>
            </a:r>
            <a:r>
              <a:rPr lang="en-US" altLang="zh-CN" dirty="0">
                <a:latin typeface="百度综艺简体" panose="02010601030101010101" charset="-122"/>
                <a:ea typeface="百度综艺简体" panose="02010601030101010101" charset="-122"/>
              </a:rPr>
              <a:t> &amp;e){</a:t>
            </a:r>
          </a:p>
          <a:p>
            <a:pPr fontAlgn="auto">
              <a:lnSpc>
                <a:spcPct val="150000"/>
              </a:lnSpc>
            </a:pPr>
            <a:r>
              <a:rPr lang="en-US" altLang="zh-CN" dirty="0">
                <a:latin typeface="百度综艺简体" panose="02010601030101010101" charset="-122"/>
                <a:ea typeface="百度综艺简体" panose="02010601030101010101" charset="-122"/>
              </a:rPr>
              <a:t>     	// S</a:t>
            </a:r>
            <a:r>
              <a:rPr lang="zh-CN" altLang="en-US" dirty="0">
                <a:latin typeface="百度综艺简体" panose="02010601030101010101" charset="-122"/>
                <a:ea typeface="百度综艺简体" panose="02010601030101010101" charset="-122"/>
              </a:rPr>
              <a:t>不能为空</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if(</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 </a:t>
            </a:r>
            <a:r>
              <a:rPr lang="en-US" altLang="zh-CN" dirty="0" err="1">
                <a:latin typeface="百度综艺简体" panose="02010601030101010101" charset="-122"/>
                <a:ea typeface="百度综艺简体" panose="02010601030101010101" charset="-122"/>
              </a:rPr>
              <a:t>S.base</a:t>
            </a:r>
            <a:r>
              <a:rPr lang="en-US" altLang="zh-CN" dirty="0">
                <a:latin typeface="百度综艺简体" panose="02010601030101010101" charset="-122"/>
                <a:ea typeface="百度综艺简体" panose="02010601030101010101" charset="-122"/>
              </a:rPr>
              <a:t>) return ERROR;</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smtClean="0">
                <a:latin typeface="百度综艺简体" panose="02010601030101010101" charset="-122"/>
                <a:ea typeface="百度综艺简体" panose="02010601030101010101" charset="-122"/>
              </a:rPr>
              <a:t> e </a:t>
            </a: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 1);//</a:t>
            </a:r>
            <a:r>
              <a:rPr lang="zh-CN" altLang="en-US" dirty="0">
                <a:latin typeface="百度综艺简体" panose="02010601030101010101" charset="-122"/>
                <a:ea typeface="百度综艺简体" panose="02010601030101010101" charset="-122"/>
              </a:rPr>
              <a:t>注意</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没有变化</a:t>
            </a:r>
          </a:p>
          <a:p>
            <a:pPr fontAlgn="auto">
              <a:lnSpc>
                <a:spcPct val="150000"/>
              </a:lnSpc>
            </a:pPr>
            <a:r>
              <a:rPr lang="en-US" altLang="zh-CN" dirty="0">
                <a:latin typeface="百度综艺简体" panose="02010601030101010101" charset="-122"/>
                <a:ea typeface="百度综艺简体" panose="02010601030101010101" charset="-122"/>
              </a:rPr>
              <a:t>}</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0619493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26" name="TextBox 5"/>
          <p:cNvSpPr txBox="1">
            <a:spLocks noChangeArrowheads="1"/>
          </p:cNvSpPr>
          <p:nvPr/>
        </p:nvSpPr>
        <p:spPr bwMode="auto">
          <a:xfrm>
            <a:off x="1461052" y="1450801"/>
            <a:ext cx="6718852" cy="2585323"/>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Status Pop(</a:t>
            </a:r>
            <a:r>
              <a:rPr lang="en-US" altLang="zh-CN" dirty="0" err="1">
                <a:latin typeface="百度综艺简体" panose="02010601030101010101" charset="-122"/>
                <a:ea typeface="百度综艺简体" panose="02010601030101010101" charset="-122"/>
              </a:rPr>
              <a:t>SqStack</a:t>
            </a:r>
            <a:r>
              <a:rPr lang="en-US" altLang="zh-CN" dirty="0">
                <a:latin typeface="百度综艺简体" panose="02010601030101010101" charset="-122"/>
                <a:ea typeface="百度综艺简体" panose="02010601030101010101" charset="-122"/>
              </a:rPr>
              <a:t> &amp;</a:t>
            </a:r>
            <a:r>
              <a:rPr lang="en-US" altLang="zh-CN" dirty="0" err="1">
                <a:latin typeface="百度综艺简体" panose="02010601030101010101" charset="-122"/>
                <a:ea typeface="百度综艺简体" panose="02010601030101010101" charset="-122"/>
              </a:rPr>
              <a:t>S,SElemType</a:t>
            </a:r>
            <a:r>
              <a:rPr lang="en-US" altLang="zh-CN" dirty="0">
                <a:latin typeface="百度综艺简体" panose="02010601030101010101" charset="-122"/>
                <a:ea typeface="百度综艺简体" panose="02010601030101010101" charset="-122"/>
              </a:rPr>
              <a:t> &amp;e){</a:t>
            </a:r>
          </a:p>
          <a:p>
            <a:pPr fontAlgn="auto">
              <a:lnSpc>
                <a:spcPct val="150000"/>
              </a:lnSpc>
            </a:pP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考虑栈空情况，避免下溢</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if(</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 </a:t>
            </a:r>
            <a:r>
              <a:rPr lang="en-US" altLang="zh-CN" dirty="0" err="1">
                <a:latin typeface="百度综艺简体" panose="02010601030101010101" charset="-122"/>
                <a:ea typeface="百度综艺简体" panose="02010601030101010101" charset="-122"/>
              </a:rPr>
              <a:t>S.base</a:t>
            </a:r>
            <a:r>
              <a:rPr lang="en-US" altLang="zh-CN" dirty="0">
                <a:latin typeface="百度综艺简体" panose="02010601030101010101" charset="-122"/>
                <a:ea typeface="百度综艺简体" panose="02010601030101010101" charset="-122"/>
              </a:rPr>
              <a:t>) return ERROR;</a:t>
            </a:r>
          </a:p>
          <a:p>
            <a:pPr fontAlgn="auto">
              <a:lnSpc>
                <a:spcPct val="150000"/>
              </a:lnSpc>
            </a:pPr>
            <a:r>
              <a:rPr lang="en-US" altLang="zh-CN" dirty="0">
                <a:latin typeface="百度综艺简体" panose="02010601030101010101" charset="-122"/>
                <a:ea typeface="百度综艺简体" panose="02010601030101010101" charset="-122"/>
              </a:rPr>
              <a:t>	e = * --</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注意</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变化了，减</a:t>
            </a:r>
            <a:r>
              <a:rPr lang="en-US" altLang="zh-CN" dirty="0">
                <a:latin typeface="百度综艺简体" panose="02010601030101010101" charset="-122"/>
                <a:ea typeface="百度综艺简体" panose="02010601030101010101" charset="-122"/>
              </a:rPr>
              <a:t>1</a:t>
            </a:r>
          </a:p>
          <a:p>
            <a:pPr fontAlgn="auto">
              <a:lnSpc>
                <a:spcPct val="150000"/>
              </a:lnSpc>
            </a:pPr>
            <a:r>
              <a:rPr lang="en-US" altLang="zh-CN" dirty="0">
                <a:latin typeface="百度综艺简体" panose="02010601030101010101" charset="-122"/>
                <a:ea typeface="百度综艺简体" panose="02010601030101010101" charset="-122"/>
              </a:rPr>
              <a:t>	return OK;</a:t>
            </a:r>
          </a:p>
          <a:p>
            <a:pPr fontAlgn="auto">
              <a:lnSpc>
                <a:spcPct val="150000"/>
              </a:lnSpc>
            </a:pPr>
            <a:r>
              <a:rPr lang="en-US" altLang="zh-CN" dirty="0">
                <a:latin typeface="百度综艺简体" panose="02010601030101010101" charset="-122"/>
                <a:ea typeface="百度综艺简体" panose="02010601030101010101" charset="-122"/>
              </a:rPr>
              <a:t>}</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689355022"/>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4799" y="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26" name="TextBox 5"/>
          <p:cNvSpPr txBox="1">
            <a:spLocks noChangeArrowheads="1"/>
          </p:cNvSpPr>
          <p:nvPr/>
        </p:nvSpPr>
        <p:spPr bwMode="auto">
          <a:xfrm>
            <a:off x="1381539" y="1335519"/>
            <a:ext cx="6190124" cy="3000821"/>
          </a:xfrm>
          <a:prstGeom prst="rect">
            <a:avLst/>
          </a:prstGeom>
          <a:noFill/>
          <a:ln w="9525">
            <a:noFill/>
            <a:miter lim="800000"/>
          </a:ln>
        </p:spPr>
        <p:txBody>
          <a:bodyPr wrap="square">
            <a:spAutoFit/>
          </a:bodyPr>
          <a:lstStyle/>
          <a:p>
            <a:pPr fontAlgn="auto">
              <a:lnSpc>
                <a:spcPct val="150000"/>
              </a:lnSpc>
            </a:pPr>
            <a:r>
              <a:rPr lang="en-US" altLang="zh-CN" dirty="0">
                <a:latin typeface="百度综艺简体" panose="02010601030101010101" charset="-122"/>
                <a:ea typeface="百度综艺简体" panose="02010601030101010101" charset="-122"/>
              </a:rPr>
              <a:t>Status Push(</a:t>
            </a:r>
            <a:r>
              <a:rPr lang="en-US" altLang="zh-CN" dirty="0" err="1">
                <a:latin typeface="百度综艺简体" panose="02010601030101010101" charset="-122"/>
                <a:ea typeface="百度综艺简体" panose="02010601030101010101" charset="-122"/>
              </a:rPr>
              <a:t>SqStack</a:t>
            </a:r>
            <a:r>
              <a:rPr lang="en-US" altLang="zh-CN" dirty="0">
                <a:latin typeface="百度综艺简体" panose="02010601030101010101" charset="-122"/>
                <a:ea typeface="百度综艺简体" panose="02010601030101010101" charset="-122"/>
              </a:rPr>
              <a:t> &amp;</a:t>
            </a:r>
            <a:r>
              <a:rPr lang="en-US" altLang="zh-CN" dirty="0" err="1">
                <a:latin typeface="百度综艺简体" panose="02010601030101010101" charset="-122"/>
                <a:ea typeface="百度综艺简体" panose="02010601030101010101" charset="-122"/>
              </a:rPr>
              <a:t>s,SElemType</a:t>
            </a:r>
            <a:r>
              <a:rPr lang="en-US" altLang="zh-CN" dirty="0">
                <a:latin typeface="百度综艺简体" panose="02010601030101010101" charset="-122"/>
                <a:ea typeface="百度综艺简体" panose="02010601030101010101" charset="-122"/>
              </a:rPr>
              <a:t> e){</a:t>
            </a:r>
          </a:p>
          <a:p>
            <a:pPr fontAlgn="auto">
              <a:lnSpc>
                <a:spcPct val="150000"/>
              </a:lnSpc>
            </a:pP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考虑栈满情况，避免上溢</a:t>
            </a:r>
          </a:p>
          <a:p>
            <a:pPr fontAlgn="auto">
              <a:lnSpc>
                <a:spcPct val="150000"/>
              </a:lnSpc>
            </a:pPr>
            <a:r>
              <a:rPr lang="zh-CN" altLang="en-US" dirty="0">
                <a:latin typeface="百度综艺简体" panose="02010601030101010101" charset="-122"/>
                <a:ea typeface="百度综艺简体" panose="02010601030101010101" charset="-122"/>
              </a:rPr>
              <a:t>	</a:t>
            </a:r>
            <a:r>
              <a:rPr lang="en-US" altLang="zh-CN" dirty="0">
                <a:latin typeface="百度综艺简体" panose="02010601030101010101" charset="-122"/>
                <a:ea typeface="百度综艺简体" panose="02010601030101010101" charset="-122"/>
              </a:rPr>
              <a:t>if(</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 </a:t>
            </a:r>
            <a:r>
              <a:rPr lang="en-US" altLang="zh-CN" dirty="0" err="1">
                <a:latin typeface="百度综艺简体" panose="02010601030101010101" charset="-122"/>
                <a:ea typeface="百度综艺简体" panose="02010601030101010101" charset="-122"/>
              </a:rPr>
              <a:t>s.base</a:t>
            </a:r>
            <a:r>
              <a:rPr lang="en-US" altLang="zh-CN" dirty="0">
                <a:latin typeface="百度综艺简体" panose="02010601030101010101" charset="-122"/>
                <a:ea typeface="百度综艺简体" panose="02010601030101010101" charset="-122"/>
              </a:rPr>
              <a:t> &gt;=</a:t>
            </a:r>
            <a:r>
              <a:rPr lang="en-US" altLang="zh-CN" dirty="0" err="1">
                <a:latin typeface="百度综艺简体" panose="02010601030101010101" charset="-122"/>
                <a:ea typeface="百度综艺简体" panose="02010601030101010101" charset="-122"/>
              </a:rPr>
              <a:t>s.stacksize</a:t>
            </a:r>
            <a:r>
              <a:rPr lang="en-US" altLang="zh-CN" dirty="0">
                <a:latin typeface="百度综艺简体" panose="02010601030101010101" charset="-122"/>
                <a:ea typeface="百度综艺简体" panose="02010601030101010101" charset="-122"/>
              </a:rPr>
              <a:t>){</a:t>
            </a:r>
          </a:p>
          <a:p>
            <a:pPr fontAlgn="auto">
              <a:lnSpc>
                <a:spcPct val="150000"/>
              </a:lnSpc>
            </a:pP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再分配空间；</a:t>
            </a:r>
            <a:r>
              <a:rPr lang="en-US" altLang="zh-CN" dirty="0">
                <a:latin typeface="百度综艺简体" panose="02010601030101010101" charset="-122"/>
                <a:ea typeface="百度综艺简体" panose="02010601030101010101" charset="-122"/>
              </a:rPr>
              <a:t>}</a:t>
            </a:r>
          </a:p>
          <a:p>
            <a:pPr fontAlgn="auto">
              <a:lnSpc>
                <a:spcPct val="150000"/>
              </a:lnSpc>
            </a:pPr>
            <a:r>
              <a:rPr lang="en-US" altLang="zh-CN" dirty="0">
                <a:latin typeface="百度综艺简体" panose="02010601030101010101" charset="-122"/>
                <a:ea typeface="百度综艺简体" panose="02010601030101010101" charset="-122"/>
              </a:rPr>
              <a:t>	*</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 e; //</a:t>
            </a:r>
            <a:r>
              <a:rPr lang="zh-CN" altLang="en-US" dirty="0">
                <a:latin typeface="百度综艺简体" panose="02010601030101010101" charset="-122"/>
                <a:ea typeface="百度综艺简体" panose="02010601030101010101" charset="-122"/>
              </a:rPr>
              <a:t>注意</a:t>
            </a:r>
            <a:r>
              <a:rPr lang="en-US" altLang="zh-CN" dirty="0" err="1">
                <a:latin typeface="百度综艺简体" panose="02010601030101010101" charset="-122"/>
                <a:ea typeface="百度综艺简体" panose="02010601030101010101" charset="-122"/>
              </a:rPr>
              <a:t>S.top</a:t>
            </a:r>
            <a:r>
              <a:rPr lang="en-US" altLang="zh-CN" dirty="0">
                <a:latin typeface="百度综艺简体" panose="02010601030101010101" charset="-122"/>
                <a:ea typeface="百度综艺简体" panose="02010601030101010101" charset="-122"/>
              </a:rPr>
              <a:t> </a:t>
            </a:r>
            <a:r>
              <a:rPr lang="zh-CN" altLang="en-US" dirty="0">
                <a:latin typeface="百度综艺简体" panose="02010601030101010101" charset="-122"/>
                <a:ea typeface="百度综艺简体" panose="02010601030101010101" charset="-122"/>
              </a:rPr>
              <a:t>变化了，增</a:t>
            </a:r>
            <a:r>
              <a:rPr lang="en-US" altLang="zh-CN" dirty="0">
                <a:latin typeface="百度综艺简体" panose="02010601030101010101" charset="-122"/>
                <a:ea typeface="百度综艺简体" panose="02010601030101010101" charset="-122"/>
              </a:rPr>
              <a:t>1</a:t>
            </a:r>
          </a:p>
          <a:p>
            <a:pPr fontAlgn="auto">
              <a:lnSpc>
                <a:spcPct val="150000"/>
              </a:lnSpc>
            </a:pPr>
            <a:r>
              <a:rPr lang="en-US" altLang="zh-CN" dirty="0">
                <a:latin typeface="百度综艺简体" panose="02010601030101010101" charset="-122"/>
                <a:ea typeface="百度综艺简体" panose="02010601030101010101" charset="-122"/>
              </a:rPr>
              <a:t> 	return Ok;</a:t>
            </a:r>
          </a:p>
          <a:p>
            <a:pPr fontAlgn="auto">
              <a:lnSpc>
                <a:spcPct val="150000"/>
              </a:lnSpc>
            </a:pPr>
            <a:r>
              <a:rPr lang="en-US" altLang="zh-CN" dirty="0">
                <a:latin typeface="百度综艺简体" panose="02010601030101010101" charset="-122"/>
                <a:ea typeface="百度综艺简体" panose="02010601030101010101" charset="-122"/>
              </a:rPr>
              <a:t> }</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79997330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37"/>
                                        </p:tgtEl>
                                        <p:attrNameLst>
                                          <p:attrName>ppt_x</p:attrName>
                                          <p:attrName>ppt_y</p:attrName>
                                        </p:attrNameLst>
                                      </p:cBhvr>
                                      <p:rCtr x="0" y="0"/>
                                    </p:animMotion>
                                    <p:animEffect transition="in" filter="fade">
                                      <p:cBhvr>
                                        <p:cTn id="31" dur="1000"/>
                                        <p:tgtEl>
                                          <p:spTgt spid="37"/>
                                        </p:tgtEl>
                                      </p:cBhvr>
                                    </p:animEffect>
                                  </p:childTnLst>
                                </p:cTn>
                              </p:par>
                            </p:childTnLst>
                          </p:cTn>
                        </p:par>
                        <p:par>
                          <p:cTn id="32" fill="hold">
                            <p:stCondLst>
                              <p:cond delay="32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42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26" grpId="0" autoUpdateAnimBg="0"/>
      <p:bldP spid="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a:cxnSpLocks noChangeShapeType="1"/>
          </p:cNvCxnSpPr>
          <p:nvPr/>
        </p:nvCxnSpPr>
        <p:spPr bwMode="auto">
          <a:xfrm>
            <a:off x="307340" y="537845"/>
            <a:ext cx="8829040" cy="0"/>
          </a:xfrm>
          <a:prstGeom prst="line">
            <a:avLst/>
          </a:prstGeom>
          <a:noFill/>
          <a:ln w="9525">
            <a:solidFill>
              <a:schemeClr val="accent1"/>
            </a:solidFill>
            <a:round/>
          </a:ln>
          <a:effectLst/>
        </p:spPr>
      </p:cxnSp>
      <p:sp>
        <p:nvSpPr>
          <p:cNvPr id="16" name="矩形 15"/>
          <p:cNvSpPr/>
          <p:nvPr/>
        </p:nvSpPr>
        <p:spPr>
          <a:xfrm>
            <a:off x="1411" y="5240"/>
            <a:ext cx="9141179" cy="5134013"/>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800" dirty="0">
              <a:solidFill>
                <a:schemeClr val="accent2"/>
              </a:solidFill>
              <a:effectLst/>
              <a:latin typeface="百度综艺简体" panose="02010601030101010101" charset="-122"/>
              <a:ea typeface="百度综艺简体" panose="02010601030101010101" charset="-122"/>
              <a:sym typeface="+mn-ea"/>
            </a:endParaRPr>
          </a:p>
        </p:txBody>
      </p:sp>
      <p:sp>
        <p:nvSpPr>
          <p:cNvPr id="19" name="TextBox 5"/>
          <p:cNvSpPr txBox="1">
            <a:spLocks noChangeArrowheads="1"/>
          </p:cNvSpPr>
          <p:nvPr/>
        </p:nvSpPr>
        <p:spPr bwMode="auto">
          <a:xfrm>
            <a:off x="234950" y="203835"/>
            <a:ext cx="2067560" cy="460375"/>
          </a:xfrm>
          <a:prstGeom prst="rect">
            <a:avLst/>
          </a:prstGeom>
          <a:noFill/>
          <a:ln w="9525">
            <a:noFill/>
            <a:miter lim="800000"/>
          </a:ln>
        </p:spPr>
        <p:txBody>
          <a:bodyPr wrap="square">
            <a:spAutoFit/>
          </a:bodyPr>
          <a:lstStyle/>
          <a:p>
            <a:pPr>
              <a:buFontTx/>
              <a:buNone/>
            </a:pPr>
            <a:r>
              <a:rPr lang="zh-CN" altLang="en-US" sz="2400" dirty="0">
                <a:solidFill>
                  <a:schemeClr val="accent1"/>
                </a:solidFill>
                <a:latin typeface="百度综艺简体" panose="02010601030101010101" charset="-122"/>
                <a:ea typeface="百度综艺简体" panose="02010601030101010101" charset="-122"/>
              </a:rPr>
              <a:t>《数据结构》</a:t>
            </a:r>
          </a:p>
        </p:txBody>
      </p:sp>
      <p:sp>
        <p:nvSpPr>
          <p:cNvPr id="22" name="矩形 21"/>
          <p:cNvSpPr>
            <a:spLocks noChangeArrowheads="1"/>
          </p:cNvSpPr>
          <p:nvPr/>
        </p:nvSpPr>
        <p:spPr bwMode="auto">
          <a:xfrm>
            <a:off x="1412" y="217303"/>
            <a:ext cx="401225" cy="401225"/>
          </a:xfrm>
          <a:prstGeom prst="rect">
            <a:avLst/>
          </a:prstGeom>
          <a:solidFill>
            <a:schemeClr val="accent1"/>
          </a:solidFill>
          <a:ln w="9525">
            <a:noFill/>
            <a:miter lim="800000"/>
          </a:ln>
        </p:spPr>
        <p:txBody>
          <a:bodyPr/>
          <a:lstStyle/>
          <a:p>
            <a:pPr>
              <a:buFontTx/>
              <a:buNone/>
            </a:pPr>
            <a:endParaRPr lang="zh-CN" altLang="en-US" sz="1800"/>
          </a:p>
        </p:txBody>
      </p:sp>
      <p:sp>
        <p:nvSpPr>
          <p:cNvPr id="31" name="Text Placeholder 11"/>
          <p:cNvSpPr txBox="1"/>
          <p:nvPr/>
        </p:nvSpPr>
        <p:spPr>
          <a:xfrm>
            <a:off x="2302510" y="241067"/>
            <a:ext cx="2805430"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11225">
              <a:buNone/>
            </a:pPr>
            <a:r>
              <a:rPr lang="zh-CN" altLang="en-US" sz="1800" dirty="0">
                <a:solidFill>
                  <a:schemeClr val="accent2"/>
                </a:solidFill>
                <a:latin typeface="百度综艺简体" panose="02010601030101010101" charset="-122"/>
                <a:ea typeface="百度综艺简体" panose="02010601030101010101" charset="-122"/>
                <a:sym typeface="Arial" panose="020B0604020202020204" pitchFamily="34" charset="0"/>
              </a:rPr>
              <a:t>栈的基本操作</a:t>
            </a:r>
          </a:p>
        </p:txBody>
      </p:sp>
      <p:sp>
        <p:nvSpPr>
          <p:cNvPr id="37" name="AutoShape 3"/>
          <p:cNvSpPr>
            <a:spLocks noChangeAspect="1" noChangeArrowheads="1" noTextEdit="1"/>
          </p:cNvSpPr>
          <p:nvPr/>
        </p:nvSpPr>
        <p:spPr bwMode="auto">
          <a:xfrm>
            <a:off x="557288" y="744733"/>
            <a:ext cx="542665" cy="541221"/>
          </a:xfrm>
          <a:prstGeom prst="rect">
            <a:avLst/>
          </a:prstGeom>
          <a:noFill/>
          <a:ln w="9525">
            <a:noFill/>
            <a:miter lim="800000"/>
          </a:ln>
        </p:spPr>
        <p:txBody>
          <a:bodyPr/>
          <a:lstStyle/>
          <a:p>
            <a:endParaRPr lang="zh-CN" altLang="en-US" sz="1800"/>
          </a:p>
        </p:txBody>
      </p:sp>
      <p:grpSp>
        <p:nvGrpSpPr>
          <p:cNvPr id="21" name="组合 20"/>
          <p:cNvGrpSpPr/>
          <p:nvPr/>
        </p:nvGrpSpPr>
        <p:grpSpPr>
          <a:xfrm>
            <a:off x="2134235" y="483235"/>
            <a:ext cx="7002145" cy="109220"/>
            <a:chOff x="2140585" y="362585"/>
            <a:chExt cx="7002145" cy="109220"/>
          </a:xfrm>
        </p:grpSpPr>
        <p:cxnSp>
          <p:nvCxnSpPr>
            <p:cNvPr id="25" name="直接连接符 24"/>
            <p:cNvCxnSpPr/>
            <p:nvPr/>
          </p:nvCxnSpPr>
          <p:spPr>
            <a:xfrm>
              <a:off x="2140585" y="417195"/>
              <a:ext cx="6889750" cy="0"/>
            </a:xfrm>
            <a:prstGeom prst="line">
              <a:avLst/>
            </a:prstGeom>
            <a:ln w="22225">
              <a:solidFill>
                <a:srgbClr val="2A5BA8"/>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033510" y="362585"/>
              <a:ext cx="109220" cy="109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Text Placeholder 11"/>
          <p:cNvSpPr txBox="1"/>
          <p:nvPr/>
        </p:nvSpPr>
        <p:spPr>
          <a:xfrm>
            <a:off x="964489" y="950519"/>
            <a:ext cx="3724029" cy="353695"/>
          </a:xfrm>
          <a:prstGeom prst="rect">
            <a:avLst/>
          </a:prstGeom>
        </p:spPr>
        <p:txBody>
          <a:bodyPr lIns="68538" tIns="34270" rIns="68538" bIns="3427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1225">
              <a:buNone/>
            </a:pPr>
            <a:r>
              <a:rPr lang="zh-CN" altLang="en-US" sz="2200" dirty="0">
                <a:solidFill>
                  <a:schemeClr val="accent1"/>
                </a:solidFill>
                <a:latin typeface="百度综艺简体" panose="02010601030101010101" charset="-122"/>
                <a:ea typeface="百度综艺简体" panose="02010601030101010101" charset="-122"/>
                <a:sym typeface="Arial" panose="020B0604020202020204" pitchFamily="34" charset="0"/>
              </a:rPr>
              <a:t>二、栈的链式存贮结构</a:t>
            </a:r>
          </a:p>
        </p:txBody>
      </p:sp>
      <p:sp>
        <p:nvSpPr>
          <p:cNvPr id="28" name="TextBox 5"/>
          <p:cNvSpPr txBox="1">
            <a:spLocks noChangeArrowheads="1"/>
          </p:cNvSpPr>
          <p:nvPr/>
        </p:nvSpPr>
        <p:spPr bwMode="auto">
          <a:xfrm>
            <a:off x="964489" y="1387838"/>
            <a:ext cx="3038865" cy="1754326"/>
          </a:xfrm>
          <a:prstGeom prst="rect">
            <a:avLst/>
          </a:prstGeom>
          <a:noFill/>
          <a:ln w="9525">
            <a:noFill/>
            <a:miter lim="800000"/>
          </a:ln>
        </p:spPr>
        <p:txBody>
          <a:bodyPr wrap="square">
            <a:spAutoFit/>
          </a:bodyPr>
          <a:lstStyle/>
          <a:p>
            <a:pPr fontAlgn="auto">
              <a:lnSpc>
                <a:spcPct val="150000"/>
              </a:lnSpc>
            </a:pPr>
            <a:r>
              <a:rPr lang="zh-CN" altLang="en-US" dirty="0" smtClean="0">
                <a:latin typeface="百度综艺简体" panose="02010601030101010101" charset="-122"/>
                <a:ea typeface="百度综艺简体" panose="02010601030101010101" charset="-122"/>
              </a:rPr>
              <a:t>        当</a:t>
            </a:r>
            <a:r>
              <a:rPr lang="zh-CN" altLang="en-US" dirty="0">
                <a:latin typeface="百度综艺简体" panose="02010601030101010101" charset="-122"/>
                <a:ea typeface="百度综艺简体" panose="02010601030101010101" charset="-122"/>
              </a:rPr>
              <a:t>最大需要容量事先不能估计时</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采用链式存贮结构是有效的方法</a:t>
            </a:r>
            <a:r>
              <a:rPr lang="en-US" altLang="zh-CN" dirty="0">
                <a:latin typeface="百度综艺简体" panose="02010601030101010101" charset="-122"/>
                <a:ea typeface="百度综艺简体" panose="02010601030101010101" charset="-122"/>
              </a:rPr>
              <a:t>.</a:t>
            </a:r>
            <a:r>
              <a:rPr lang="zh-CN" altLang="en-US" dirty="0">
                <a:latin typeface="百度综艺简体" panose="02010601030101010101" charset="-122"/>
                <a:ea typeface="百度综艺简体" panose="02010601030101010101" charset="-122"/>
              </a:rPr>
              <a:t>链栈的操作只能在表头（栈顶）处进行。</a:t>
            </a:r>
          </a:p>
        </p:txBody>
      </p:sp>
      <p:sp>
        <p:nvSpPr>
          <p:cNvPr id="29" name="TextBox 5"/>
          <p:cNvSpPr txBox="1">
            <a:spLocks noChangeArrowheads="1"/>
          </p:cNvSpPr>
          <p:nvPr/>
        </p:nvSpPr>
        <p:spPr bwMode="auto">
          <a:xfrm>
            <a:off x="1099953" y="3037896"/>
            <a:ext cx="4044685" cy="1938992"/>
          </a:xfrm>
          <a:prstGeom prst="rect">
            <a:avLst/>
          </a:prstGeom>
          <a:noFill/>
          <a:ln w="9525">
            <a:noFill/>
            <a:miter lim="800000"/>
          </a:ln>
        </p:spPr>
        <p:txBody>
          <a:bodyPr wrap="square">
            <a:spAutoFit/>
          </a:bodyPr>
          <a:lstStyle/>
          <a:p>
            <a:pPr fontAlgn="auto">
              <a:lnSpc>
                <a:spcPct val="150000"/>
              </a:lnSpc>
            </a:pPr>
            <a:r>
              <a:rPr lang="en-US" altLang="zh-CN" sz="2000" dirty="0">
                <a:latin typeface="百度综艺简体" panose="02010601030101010101" charset="-122"/>
                <a:ea typeface="百度综艺简体" panose="02010601030101010101" charset="-122"/>
              </a:rPr>
              <a:t>typedef </a:t>
            </a:r>
            <a:r>
              <a:rPr lang="en-US" altLang="zh-CN" sz="2000" dirty="0" err="1">
                <a:latin typeface="百度综艺简体" panose="02010601030101010101" charset="-122"/>
                <a:ea typeface="百度综艺简体" panose="02010601030101010101" charset="-122"/>
              </a:rPr>
              <a:t>struct</a:t>
            </a:r>
            <a:r>
              <a:rPr lang="en-US" altLang="zh-CN" sz="2000" dirty="0">
                <a:latin typeface="百度综艺简体" panose="02010601030101010101" charset="-122"/>
                <a:ea typeface="百度综艺简体" panose="02010601030101010101" charset="-122"/>
              </a:rPr>
              <a:t>  </a:t>
            </a:r>
            <a:r>
              <a:rPr lang="en-US" altLang="zh-CN" sz="2000" dirty="0" err="1" smtClean="0">
                <a:latin typeface="百度综艺简体" panose="02010601030101010101" charset="-122"/>
                <a:ea typeface="百度综艺简体" panose="02010601030101010101" charset="-122"/>
              </a:rPr>
              <a:t>SNode</a:t>
            </a:r>
            <a:r>
              <a:rPr lang="en-US" altLang="zh-CN" sz="2000" dirty="0" smtClean="0">
                <a:latin typeface="百度综艺简体" panose="02010601030101010101" charset="-122"/>
                <a:ea typeface="百度综艺简体" panose="02010601030101010101" charset="-122"/>
              </a:rPr>
              <a:t> </a:t>
            </a:r>
            <a:endParaRPr lang="en-US" altLang="zh-CN" sz="2000" dirty="0">
              <a:latin typeface="百度综艺简体" panose="02010601030101010101" charset="-122"/>
              <a:ea typeface="百度综艺简体" panose="02010601030101010101" charset="-122"/>
            </a:endParaRPr>
          </a:p>
          <a:p>
            <a:pPr fontAlgn="auto">
              <a:lnSpc>
                <a:spcPct val="150000"/>
              </a:lnSpc>
            </a:pPr>
            <a:r>
              <a:rPr lang="en-US" altLang="zh-CN" sz="2000" dirty="0">
                <a:latin typeface="百度综艺简体" panose="02010601030101010101" charset="-122"/>
                <a:ea typeface="百度综艺简体" panose="02010601030101010101" charset="-122"/>
              </a:rPr>
              <a:t>     { </a:t>
            </a:r>
            <a:r>
              <a:rPr lang="en-US" altLang="zh-CN" sz="2000" dirty="0" err="1" smtClean="0">
                <a:latin typeface="百度综艺简体" panose="02010601030101010101" charset="-122"/>
                <a:ea typeface="百度综艺简体" panose="02010601030101010101" charset="-122"/>
              </a:rPr>
              <a:t>ElemType</a:t>
            </a:r>
            <a:r>
              <a:rPr lang="en-US" altLang="zh-CN" sz="2000" dirty="0" smtClean="0">
                <a:latin typeface="百度综艺简体" panose="02010601030101010101" charset="-122"/>
                <a:ea typeface="百度综艺简体" panose="02010601030101010101" charset="-122"/>
              </a:rPr>
              <a:t>  </a:t>
            </a:r>
            <a:r>
              <a:rPr lang="en-US" altLang="zh-CN" sz="2000" dirty="0">
                <a:latin typeface="百度综艺简体" panose="02010601030101010101" charset="-122"/>
                <a:ea typeface="百度综艺简体" panose="02010601030101010101" charset="-122"/>
              </a:rPr>
              <a:t>data;         </a:t>
            </a:r>
          </a:p>
          <a:p>
            <a:pPr fontAlgn="auto">
              <a:lnSpc>
                <a:spcPct val="150000"/>
              </a:lnSpc>
            </a:pPr>
            <a:r>
              <a:rPr lang="en-US" altLang="zh-CN" sz="2000" dirty="0">
                <a:latin typeface="百度综艺简体" panose="02010601030101010101" charset="-122"/>
                <a:ea typeface="百度综艺简体" panose="02010601030101010101" charset="-122"/>
              </a:rPr>
              <a:t>        </a:t>
            </a:r>
            <a:r>
              <a:rPr lang="en-US" altLang="zh-CN" sz="2000" dirty="0" err="1">
                <a:latin typeface="百度综艺简体" panose="02010601030101010101" charset="-122"/>
                <a:ea typeface="百度综艺简体" panose="02010601030101010101" charset="-122"/>
              </a:rPr>
              <a:t>struct</a:t>
            </a:r>
            <a:r>
              <a:rPr lang="en-US" altLang="zh-CN" sz="2000" dirty="0">
                <a:latin typeface="百度综艺简体" panose="02010601030101010101" charset="-122"/>
                <a:ea typeface="百度综艺简体" panose="02010601030101010101" charset="-122"/>
              </a:rPr>
              <a:t>  </a:t>
            </a:r>
            <a:r>
              <a:rPr lang="en-US" altLang="zh-CN" sz="2000" dirty="0" err="1">
                <a:latin typeface="百度综艺简体" panose="02010601030101010101" charset="-122"/>
                <a:ea typeface="百度综艺简体" panose="02010601030101010101" charset="-122"/>
              </a:rPr>
              <a:t>SNode</a:t>
            </a:r>
            <a:r>
              <a:rPr lang="en-US" altLang="zh-CN" sz="2000" dirty="0">
                <a:latin typeface="百度综艺简体" panose="02010601030101010101" charset="-122"/>
                <a:ea typeface="百度综艺简体" panose="02010601030101010101" charset="-122"/>
              </a:rPr>
              <a:t>  *next; </a:t>
            </a:r>
          </a:p>
          <a:p>
            <a:pPr fontAlgn="auto">
              <a:lnSpc>
                <a:spcPct val="150000"/>
              </a:lnSpc>
            </a:pPr>
            <a:r>
              <a:rPr lang="en-US" altLang="zh-CN" sz="2000" dirty="0">
                <a:latin typeface="百度综艺简体" panose="02010601030101010101" charset="-122"/>
                <a:ea typeface="百度综艺简体" panose="02010601030101010101" charset="-122"/>
              </a:rPr>
              <a:t>      </a:t>
            </a:r>
            <a:r>
              <a:rPr lang="en-US" altLang="zh-CN" sz="2000" dirty="0" smtClean="0">
                <a:latin typeface="百度综艺简体" panose="02010601030101010101" charset="-122"/>
                <a:ea typeface="百度综艺简体" panose="02010601030101010101" charset="-122"/>
              </a:rPr>
              <a:t>}*</a:t>
            </a:r>
            <a:r>
              <a:rPr lang="en-US" altLang="zh-CN" sz="2000" dirty="0" err="1" smtClean="0">
                <a:latin typeface="百度综艺简体" panose="02010601030101010101" charset="-122"/>
                <a:ea typeface="百度综艺简体" panose="02010601030101010101" charset="-122"/>
              </a:rPr>
              <a:t>LinkStack</a:t>
            </a:r>
            <a:r>
              <a:rPr lang="en-US" altLang="zh-CN" sz="2000" dirty="0">
                <a:latin typeface="百度综艺简体" panose="02010601030101010101" charset="-122"/>
                <a:ea typeface="百度综艺简体" panose="02010601030101010101" charset="-122"/>
              </a:rPr>
              <a:t>;</a:t>
            </a:r>
          </a:p>
        </p:txBody>
      </p:sp>
      <p:sp>
        <p:nvSpPr>
          <p:cNvPr id="17" name="Rectangle 3"/>
          <p:cNvSpPr>
            <a:spLocks noChangeArrowheads="1"/>
          </p:cNvSpPr>
          <p:nvPr/>
        </p:nvSpPr>
        <p:spPr bwMode="auto">
          <a:xfrm>
            <a:off x="6118080" y="1106611"/>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a:t>
            </a:r>
            <a:r>
              <a:rPr lang="en-US" altLang="zh-CN" sz="1800" b="1"/>
              <a:t>5</a:t>
            </a:r>
            <a:endParaRPr lang="en-US" altLang="zh-CN" sz="3200" b="1"/>
          </a:p>
        </p:txBody>
      </p:sp>
      <p:sp>
        <p:nvSpPr>
          <p:cNvPr id="20" name="Rectangle 4"/>
          <p:cNvSpPr>
            <a:spLocks noChangeArrowheads="1"/>
          </p:cNvSpPr>
          <p:nvPr/>
        </p:nvSpPr>
        <p:spPr bwMode="auto">
          <a:xfrm>
            <a:off x="6953360" y="1106611"/>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 name="Rectangle 5"/>
          <p:cNvSpPr>
            <a:spLocks noChangeArrowheads="1"/>
          </p:cNvSpPr>
          <p:nvPr/>
        </p:nvSpPr>
        <p:spPr bwMode="auto">
          <a:xfrm>
            <a:off x="6118080" y="1909445"/>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a:t>
            </a:r>
            <a:r>
              <a:rPr lang="en-US" altLang="zh-CN" sz="1800" b="1"/>
              <a:t>4</a:t>
            </a:r>
            <a:endParaRPr lang="en-US" altLang="zh-CN" sz="3200"/>
          </a:p>
        </p:txBody>
      </p:sp>
      <p:sp>
        <p:nvSpPr>
          <p:cNvPr id="24" name="Rectangle 6"/>
          <p:cNvSpPr>
            <a:spLocks noChangeArrowheads="1"/>
          </p:cNvSpPr>
          <p:nvPr/>
        </p:nvSpPr>
        <p:spPr bwMode="auto">
          <a:xfrm>
            <a:off x="6953360" y="1909445"/>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 name="Rectangle 7"/>
          <p:cNvSpPr>
            <a:spLocks noChangeArrowheads="1"/>
          </p:cNvSpPr>
          <p:nvPr/>
        </p:nvSpPr>
        <p:spPr bwMode="auto">
          <a:xfrm>
            <a:off x="6118081" y="2721042"/>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a:t>
            </a:r>
            <a:r>
              <a:rPr lang="en-US" altLang="zh-CN" sz="1800" b="1"/>
              <a:t>3</a:t>
            </a:r>
            <a:endParaRPr lang="en-US" altLang="zh-CN" sz="3200" b="1"/>
          </a:p>
        </p:txBody>
      </p:sp>
      <p:sp>
        <p:nvSpPr>
          <p:cNvPr id="32" name="Rectangle 8"/>
          <p:cNvSpPr>
            <a:spLocks noChangeArrowheads="1"/>
          </p:cNvSpPr>
          <p:nvPr/>
        </p:nvSpPr>
        <p:spPr bwMode="auto">
          <a:xfrm>
            <a:off x="6953361" y="2721042"/>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 name="Rectangle 9"/>
          <p:cNvSpPr>
            <a:spLocks noChangeArrowheads="1"/>
          </p:cNvSpPr>
          <p:nvPr/>
        </p:nvSpPr>
        <p:spPr bwMode="auto">
          <a:xfrm>
            <a:off x="6118080" y="3488802"/>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a:t>
            </a:r>
            <a:r>
              <a:rPr lang="en-US" altLang="zh-CN" sz="1800" b="1"/>
              <a:t>2</a:t>
            </a:r>
            <a:endParaRPr lang="en-US" altLang="zh-CN" sz="3200" b="1"/>
          </a:p>
        </p:txBody>
      </p:sp>
      <p:sp>
        <p:nvSpPr>
          <p:cNvPr id="34" name="Rectangle 10"/>
          <p:cNvSpPr>
            <a:spLocks noChangeArrowheads="1"/>
          </p:cNvSpPr>
          <p:nvPr/>
        </p:nvSpPr>
        <p:spPr bwMode="auto">
          <a:xfrm>
            <a:off x="6953360" y="3488802"/>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 name="Rectangle 11"/>
          <p:cNvSpPr>
            <a:spLocks noChangeArrowheads="1"/>
          </p:cNvSpPr>
          <p:nvPr/>
        </p:nvSpPr>
        <p:spPr bwMode="auto">
          <a:xfrm>
            <a:off x="6125965" y="4238928"/>
            <a:ext cx="822381"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a:t>
            </a:r>
            <a:r>
              <a:rPr lang="en-US" altLang="zh-CN" sz="1800" b="1"/>
              <a:t>1</a:t>
            </a:r>
            <a:endParaRPr lang="en-US" altLang="zh-CN" sz="3200" b="1"/>
          </a:p>
        </p:txBody>
      </p:sp>
      <p:sp>
        <p:nvSpPr>
          <p:cNvPr id="36" name="Rectangle 12"/>
          <p:cNvSpPr>
            <a:spLocks noChangeArrowheads="1"/>
          </p:cNvSpPr>
          <p:nvPr/>
        </p:nvSpPr>
        <p:spPr bwMode="auto">
          <a:xfrm>
            <a:off x="6961245" y="4238928"/>
            <a:ext cx="806613" cy="3524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t>^</a:t>
            </a:r>
          </a:p>
        </p:txBody>
      </p:sp>
      <p:sp>
        <p:nvSpPr>
          <p:cNvPr id="38" name="Rectangle 13"/>
          <p:cNvSpPr>
            <a:spLocks noChangeArrowheads="1"/>
          </p:cNvSpPr>
          <p:nvPr/>
        </p:nvSpPr>
        <p:spPr bwMode="auto">
          <a:xfrm>
            <a:off x="7775741" y="4256562"/>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1800" dirty="0">
                <a:latin typeface="百度综艺简体" panose="02010601030101010101" charset="-122"/>
                <a:ea typeface="百度综艺简体" panose="02010601030101010101" charset="-122"/>
              </a:rPr>
              <a:t>栈底</a:t>
            </a:r>
          </a:p>
        </p:txBody>
      </p:sp>
      <p:cxnSp>
        <p:nvCxnSpPr>
          <p:cNvPr id="39" name="AutoShape 14"/>
          <p:cNvCxnSpPr>
            <a:cxnSpLocks noChangeShapeType="1"/>
            <a:stCxn id="20" idx="2"/>
            <a:endCxn id="23" idx="0"/>
          </p:cNvCxnSpPr>
          <p:nvPr/>
        </p:nvCxnSpPr>
        <p:spPr bwMode="auto">
          <a:xfrm rot="5400000">
            <a:off x="6721719" y="1266612"/>
            <a:ext cx="450385" cy="83528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15"/>
          <p:cNvCxnSpPr>
            <a:cxnSpLocks noChangeShapeType="1"/>
          </p:cNvCxnSpPr>
          <p:nvPr/>
        </p:nvCxnSpPr>
        <p:spPr bwMode="auto">
          <a:xfrm rot="5400000">
            <a:off x="6834071" y="1957095"/>
            <a:ext cx="457200" cy="1066800"/>
          </a:xfrm>
          <a:prstGeom prst="bentConnector3">
            <a:avLst>
              <a:gd name="adj1" fmla="val 51869"/>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16"/>
          <p:cNvCxnSpPr>
            <a:cxnSpLocks noChangeShapeType="1"/>
          </p:cNvCxnSpPr>
          <p:nvPr/>
        </p:nvCxnSpPr>
        <p:spPr bwMode="auto">
          <a:xfrm rot="5400000">
            <a:off x="6816287" y="2768691"/>
            <a:ext cx="457200" cy="106680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17"/>
          <p:cNvCxnSpPr>
            <a:cxnSpLocks noChangeShapeType="1"/>
          </p:cNvCxnSpPr>
          <p:nvPr/>
        </p:nvCxnSpPr>
        <p:spPr bwMode="auto">
          <a:xfrm rot="5400000">
            <a:off x="6816287" y="3513781"/>
            <a:ext cx="457200" cy="106680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Rectangle 19"/>
          <p:cNvSpPr>
            <a:spLocks noChangeArrowheads="1"/>
          </p:cNvSpPr>
          <p:nvPr/>
        </p:nvSpPr>
        <p:spPr bwMode="auto">
          <a:xfrm>
            <a:off x="7729930" y="1023624"/>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1800" dirty="0">
                <a:latin typeface="百度综艺简体" panose="02010601030101010101" charset="-122"/>
                <a:ea typeface="百度综艺简体" panose="02010601030101010101" charset="-122"/>
              </a:rPr>
              <a:t>栈顶</a:t>
            </a:r>
          </a:p>
        </p:txBody>
      </p:sp>
      <p:sp>
        <p:nvSpPr>
          <p:cNvPr id="45" name="Line 20"/>
          <p:cNvSpPr>
            <a:spLocks noChangeShapeType="1"/>
          </p:cNvSpPr>
          <p:nvPr/>
        </p:nvSpPr>
        <p:spPr bwMode="auto">
          <a:xfrm>
            <a:off x="5571781" y="1171269"/>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Text Box 21"/>
          <p:cNvSpPr txBox="1">
            <a:spLocks noChangeArrowheads="1"/>
          </p:cNvSpPr>
          <p:nvPr/>
        </p:nvSpPr>
        <p:spPr bwMode="auto">
          <a:xfrm>
            <a:off x="5080249" y="787536"/>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t>  </a:t>
            </a:r>
            <a:r>
              <a:rPr lang="en-US" altLang="zh-CN" sz="1800" dirty="0">
                <a:latin typeface="百度综艺简体" panose="02010601030101010101" charset="-122"/>
                <a:ea typeface="百度综艺简体" panose="02010601030101010101" charset="-122"/>
              </a:rPr>
              <a:t>top</a:t>
            </a:r>
          </a:p>
        </p:txBody>
      </p:sp>
      <p:sp>
        <p:nvSpPr>
          <p:cNvPr id="47" name="Text Box 22"/>
          <p:cNvSpPr txBox="1">
            <a:spLocks noChangeArrowheads="1"/>
          </p:cNvSpPr>
          <p:nvPr/>
        </p:nvSpPr>
        <p:spPr bwMode="auto">
          <a:xfrm>
            <a:off x="6027184" y="683282"/>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latin typeface="百度综艺简体" panose="02010601030101010101" charset="-122"/>
                <a:ea typeface="百度综艺简体" panose="02010601030101010101" charset="-122"/>
              </a:rPr>
              <a:t>data</a:t>
            </a:r>
            <a:r>
              <a:rPr lang="en-US" altLang="zh-CN" sz="2800" dirty="0"/>
              <a:t>     </a:t>
            </a:r>
            <a:r>
              <a:rPr lang="en-US" altLang="zh-CN" sz="1800" dirty="0">
                <a:latin typeface="百度综艺简体" panose="02010601030101010101" charset="-122"/>
                <a:ea typeface="百度综艺简体" panose="02010601030101010101" charset="-122"/>
              </a:rPr>
              <a:t>next</a:t>
            </a:r>
          </a:p>
        </p:txBody>
      </p:sp>
    </p:spTree>
    <p:extLst>
      <p:ext uri="{BB962C8B-B14F-4D97-AF65-F5344CB8AC3E}">
        <p14:creationId xmlns:p14="http://schemas.microsoft.com/office/powerpoint/2010/main" val="2399696121"/>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9"/>
                                        </p:tgtEl>
                                        <p:attrNameLst>
                                          <p:attrName>ppt_y</p:attrName>
                                        </p:attrNameLst>
                                      </p:cBhvr>
                                      <p:tavLst>
                                        <p:tav tm="0">
                                          <p:val>
                                            <p:strVal val="#ppt_y"/>
                                          </p:val>
                                        </p:tav>
                                        <p:tav tm="100000">
                                          <p:val>
                                            <p:strVal val="#ppt_y"/>
                                          </p:val>
                                        </p:tav>
                                      </p:tavLst>
                                    </p:anim>
                                    <p:anim calcmode="lin" valueType="num">
                                      <p:cBhvr>
                                        <p:cTn id="18"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9"/>
                                        </p:tgtEl>
                                      </p:cBhvr>
                                    </p:animEffect>
                                  </p:childTnLst>
                                </p:cTn>
                              </p:par>
                            </p:childTnLst>
                          </p:cTn>
                        </p:par>
                        <p:par>
                          <p:cTn id="21" fill="hold">
                            <p:stCondLst>
                              <p:cond delay="1750"/>
                            </p:stCondLst>
                            <p:childTnLst>
                              <p:par>
                                <p:cTn id="22" presetID="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0-#ppt_w/2"/>
                                          </p:val>
                                        </p:tav>
                                        <p:tav tm="100000">
                                          <p:val>
                                            <p:strVal val="#ppt_x"/>
                                          </p:val>
                                        </p:tav>
                                      </p:tavLst>
                                    </p:anim>
                                    <p:anim calcmode="lin" valueType="num">
                                      <p:cBhvr additive="base">
                                        <p:cTn id="25" dur="5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250"/>
                            </p:stCondLst>
                            <p:childTnLst>
                              <p:par>
                                <p:cTn id="27" presetID="52"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gtEl>
                                        <p:attrNameLst>
                                          <p:attrName>style.visibility</p:attrName>
                                        </p:attrNameLst>
                                      </p:cBhvr>
                                      <p:to>
                                        <p:strVal val="visible"/>
                                      </p:to>
                                    </p:set>
                                    <p:animScale>
                                      <p:cBhvr>
                                        <p:cTn id="29" dur="55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550" decel="50000" fill="hold">
                                          <p:stCondLst>
                                            <p:cond delay="0"/>
                                          </p:stCondLst>
                                        </p:cTn>
                                        <p:tgtEl>
                                          <p:spTgt spid="37"/>
                                        </p:tgtEl>
                                        <p:attrNameLst>
                                          <p:attrName>ppt_x</p:attrName>
                                          <p:attrName>ppt_y</p:attrName>
                                        </p:attrNameLst>
                                      </p:cBhvr>
                                      <p:rCtr x="0" y="0"/>
                                    </p:animMotion>
                                    <p:animEffect transition="in" filter="fade">
                                      <p:cBhvr>
                                        <p:cTn id="31" dur="550"/>
                                        <p:tgtEl>
                                          <p:spTgt spid="37"/>
                                        </p:tgtEl>
                                      </p:cBhvr>
                                    </p:animEffect>
                                  </p:childTnLst>
                                </p:cTn>
                              </p:par>
                            </p:childTnLst>
                          </p:cTn>
                        </p:par>
                        <p:par>
                          <p:cTn id="32" fill="hold">
                            <p:stCondLst>
                              <p:cond delay="280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3800"/>
                            </p:stCondLst>
                            <p:childTnLst>
                              <p:par>
                                <p:cTn id="39" presetID="42"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par>
                          <p:cTn id="44" fill="hold">
                            <p:stCondLst>
                              <p:cond delay="4800"/>
                            </p:stCondLst>
                            <p:childTnLst>
                              <p:par>
                                <p:cTn id="45" presetID="41" presetClass="entr" presetSubtype="0" fill="hold" grpId="0" nodeType="afterEffect">
                                  <p:stCondLst>
                                    <p:cond delay="0"/>
                                  </p:stCondLst>
                                  <p:iterate type="lt">
                                    <p:tmPct val="10000"/>
                                  </p:iterate>
                                  <p:childTnLst>
                                    <p:set>
                                      <p:cBhvr>
                                        <p:cTn id="46" dur="1" fill="hold">
                                          <p:stCondLst>
                                            <p:cond delay="0"/>
                                          </p:stCondLst>
                                        </p:cTn>
                                        <p:tgtEl>
                                          <p:spTgt spid="28"/>
                                        </p:tgtEl>
                                        <p:attrNameLst>
                                          <p:attrName>style.visibility</p:attrName>
                                        </p:attrNameLst>
                                      </p:cBhvr>
                                      <p:to>
                                        <p:strVal val="visible"/>
                                      </p:to>
                                    </p:set>
                                    <p:anim calcmode="lin" valueType="num">
                                      <p:cBhvr>
                                        <p:cTn id="47" dur="5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48" dur="500" fill="hold"/>
                                        <p:tgtEl>
                                          <p:spTgt spid="28"/>
                                        </p:tgtEl>
                                        <p:attrNameLst>
                                          <p:attrName>ppt_y</p:attrName>
                                        </p:attrNameLst>
                                      </p:cBhvr>
                                      <p:tavLst>
                                        <p:tav tm="0">
                                          <p:val>
                                            <p:strVal val="#ppt_y"/>
                                          </p:val>
                                        </p:tav>
                                        <p:tav tm="100000">
                                          <p:val>
                                            <p:strVal val="#ppt_y"/>
                                          </p:val>
                                        </p:tav>
                                      </p:tavLst>
                                    </p:anim>
                                    <p:anim calcmode="lin" valueType="num">
                                      <p:cBhvr>
                                        <p:cTn id="49" dur="5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50" dur="5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51" dur="500" tmFilter="0,0; .5, 1; 1, 1"/>
                                        <p:tgtEl>
                                          <p:spTgt spid="28"/>
                                        </p:tgtEl>
                                      </p:cBhvr>
                                    </p:animEffect>
                                  </p:childTnLst>
                                </p:cTn>
                              </p:par>
                            </p:childTnLst>
                          </p:cTn>
                        </p:par>
                        <p:par>
                          <p:cTn id="52" fill="hold">
                            <p:stCondLst>
                              <p:cond delay="7650"/>
                            </p:stCondLst>
                            <p:childTnLst>
                              <p:par>
                                <p:cTn id="53" presetID="41" presetClass="entr" presetSubtype="0" fill="hold" grpId="0" nodeType="afterEffect">
                                  <p:stCondLst>
                                    <p:cond delay="0"/>
                                  </p:stCondLst>
                                  <p:iterate type="lt">
                                    <p:tmPct val="10000"/>
                                  </p:iterate>
                                  <p:childTnLst>
                                    <p:set>
                                      <p:cBhvr>
                                        <p:cTn id="54" dur="1" fill="hold">
                                          <p:stCondLst>
                                            <p:cond delay="0"/>
                                          </p:stCondLst>
                                        </p:cTn>
                                        <p:tgtEl>
                                          <p:spTgt spid="29"/>
                                        </p:tgtEl>
                                        <p:attrNameLst>
                                          <p:attrName>style.visibility</p:attrName>
                                        </p:attrNameLst>
                                      </p:cBhvr>
                                      <p:to>
                                        <p:strVal val="visible"/>
                                      </p:to>
                                    </p:set>
                                    <p:anim calcmode="lin" valueType="num">
                                      <p:cBhvr>
                                        <p:cTn id="55"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6" dur="500" fill="hold"/>
                                        <p:tgtEl>
                                          <p:spTgt spid="29"/>
                                        </p:tgtEl>
                                        <p:attrNameLst>
                                          <p:attrName>ppt_y</p:attrName>
                                        </p:attrNameLst>
                                      </p:cBhvr>
                                      <p:tavLst>
                                        <p:tav tm="0">
                                          <p:val>
                                            <p:strVal val="#ppt_y"/>
                                          </p:val>
                                        </p:tav>
                                        <p:tav tm="100000">
                                          <p:val>
                                            <p:strVal val="#ppt_y"/>
                                          </p:val>
                                        </p:tav>
                                      </p:tavLst>
                                    </p:anim>
                                    <p:anim calcmode="lin" valueType="num">
                                      <p:cBhvr>
                                        <p:cTn id="57"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58"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59"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2" grpId="0" bldLvl="0" animBg="1" autoUpdateAnimBg="0"/>
      <p:bldP spid="31" grpId="0"/>
      <p:bldP spid="37" grpId="0" animBg="1"/>
      <p:bldP spid="18" grpId="0"/>
      <p:bldP spid="28" grpId="0" autoUpdateAnimBg="0"/>
      <p:bldP spid="29" grpId="0" autoUpdateAnimBg="0"/>
    </p:bldLst>
  </p:timing>
</p:sld>
</file>

<file path=ppt/theme/theme1.xml><?xml version="1.0" encoding="utf-8"?>
<a:theme xmlns:a="http://schemas.openxmlformats.org/drawingml/2006/main" name="Office 主题​​">
  <a:themeElements>
    <a:clrScheme name="自定义 647">
      <a:dk1>
        <a:sysClr val="windowText" lastClr="000000"/>
      </a:dk1>
      <a:lt1>
        <a:sysClr val="window" lastClr="FFFFFF"/>
      </a:lt1>
      <a:dk2>
        <a:srgbClr val="44546A"/>
      </a:dk2>
      <a:lt2>
        <a:srgbClr val="E7E6E6"/>
      </a:lt2>
      <a:accent1>
        <a:srgbClr val="2A5BA8"/>
      </a:accent1>
      <a:accent2>
        <a:srgbClr val="48AC92"/>
      </a:accent2>
      <a:accent3>
        <a:srgbClr val="2A5BA8"/>
      </a:accent3>
      <a:accent4>
        <a:srgbClr val="48AC92"/>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409</TotalTime>
  <Words>431</Words>
  <Application>Microsoft Office PowerPoint</Application>
  <PresentationFormat>自定义</PresentationFormat>
  <Paragraphs>82</Paragraphs>
  <Slides>9</Slides>
  <Notes>8</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9</vt:i4>
      </vt:variant>
    </vt:vector>
  </HeadingPairs>
  <TitlesOfParts>
    <vt:vector size="24" baseType="lpstr">
      <vt:lpstr>Lato Light</vt:lpstr>
      <vt:lpstr>百度综艺简体</vt:lpstr>
      <vt:lpstr>等线</vt:lpstr>
      <vt:lpstr>等线 Light</vt:lpstr>
      <vt:lpstr>华文中宋</vt:lpstr>
      <vt:lpstr>宋体</vt:lpstr>
      <vt:lpstr>微软雅黑</vt:lpstr>
      <vt:lpstr>Arial</vt:lpstr>
      <vt:lpstr>Calibri</vt:lpstr>
      <vt:lpstr>Calibri Light</vt:lpstr>
      <vt:lpstr>Tahoma</vt:lpstr>
      <vt:lpstr>Times New Roman</vt:lpstr>
      <vt:lpstr>Wingdings</vt:lpstr>
      <vt:lpstr>Office 主题​​</vt:lpstr>
      <vt:lpstr>BMP 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Neusoft</cp:lastModifiedBy>
  <cp:revision>57</cp:revision>
  <dcterms:created xsi:type="dcterms:W3CDTF">2017-06-21T11:46:00Z</dcterms:created>
  <dcterms:modified xsi:type="dcterms:W3CDTF">2020-07-13T02:48:35Z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