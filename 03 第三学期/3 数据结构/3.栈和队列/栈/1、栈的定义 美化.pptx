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3" r:id="rId2"/>
    <p:sldId id="284" r:id="rId3"/>
    <p:sldId id="304" r:id="rId4"/>
    <p:sldId id="306" r:id="rId5"/>
    <p:sldId id="307" r:id="rId6"/>
    <p:sldId id="308" r:id="rId7"/>
    <p:sldId id="309" r:id="rId8"/>
    <p:sldId id="310" r:id="rId9"/>
    <p:sldId id="312" r:id="rId10"/>
    <p:sldId id="313" r:id="rId11"/>
    <p:sldId id="314" r:id="rId1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1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02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729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14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421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463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450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230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24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261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2020/7/7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7/07/2020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42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20072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栈和队列是限定插入和删除只能在表的“端点”进行的线性表。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栈和队列是两种常用的数据类型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 Box 1027"/>
          <p:cNvSpPr txBox="1">
            <a:spLocks noChangeArrowheads="1"/>
          </p:cNvSpPr>
          <p:nvPr/>
        </p:nvSpPr>
        <p:spPr bwMode="auto">
          <a:xfrm>
            <a:off x="2063920" y="2399258"/>
            <a:ext cx="5315879" cy="1692771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1800" dirty="0" smtClean="0">
                <a:latin typeface="百度综艺简体" panose="02010601030101010101" charset="-122"/>
                <a:ea typeface="百度综艺简体" panose="02010601030101010101" charset="-122"/>
              </a:rPr>
              <a:t>线性表                      栈                      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队列</a:t>
            </a:r>
          </a:p>
          <a:p>
            <a:pPr eaLnBrk="1" hangingPunct="1"/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Insert(L, </a:t>
            </a:r>
            <a:r>
              <a:rPr lang="en-US" altLang="zh-CN" sz="18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, x)    Insert(S, n+1, x)    Insert(Q, n+1, x)</a:t>
            </a:r>
          </a:p>
          <a:p>
            <a:pPr eaLnBrk="1" hangingPunct="1"/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 1≤i≤n+1</a:t>
            </a:r>
          </a:p>
          <a:p>
            <a:pPr eaLnBrk="1" hangingPunct="1"/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 Delete(L, </a:t>
            </a:r>
            <a:r>
              <a:rPr lang="en-US" altLang="zh-CN" sz="18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)        Delete(S, n)            Delete(Q, 1)</a:t>
            </a:r>
          </a:p>
          <a:p>
            <a:pPr eaLnBrk="1" hangingPunct="1"/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   1≤i≤n</a:t>
            </a:r>
          </a:p>
        </p:txBody>
      </p:sp>
    </p:spTree>
    <p:extLst>
      <p:ext uri="{BB962C8B-B14F-4D97-AF65-F5344CB8AC3E}">
        <p14:creationId xmlns:p14="http://schemas.microsoft.com/office/powerpoint/2010/main" val="350231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68730" y="2551125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定义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 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 Queue )</a:t>
            </a:r>
            <a:endParaRPr lang="zh-CN" altLang="en-US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224" y="1554517"/>
            <a:ext cx="5215551" cy="787253"/>
          </a:xfrm>
          <a:prstGeom prst="rect">
            <a:avLst/>
          </a:prstGeom>
          <a:noFill/>
          <a:ln w="57150">
            <a:solidFill>
              <a:srgbClr val="2A5BA8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858558" y="2969576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队列是只允许在一端删除，在另一端插入的顺序表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858558" y="3358441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允许删除的一端叫做队头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，允许插入的一端叫做队尾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68730" y="3821417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特性</a:t>
            </a: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1858558" y="4226437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先进先出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(FIFO, First In First Out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890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25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8" grpId="0"/>
      <p:bldP spid="20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083" y="1518622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一、栈（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STACK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）的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定义</a:t>
            </a:r>
            <a:endParaRPr lang="zh-CN" altLang="en-US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634710" y="978479"/>
            <a:ext cx="3937290" cy="368138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800" dirty="0">
                <a:solidFill>
                  <a:schemeClr val="accent4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栈的类型定义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268730" y="2280584"/>
            <a:ext cx="7277822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限定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仅在表尾进行插入或删除操作的线性表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。其中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允许进行插入和删除的一端（表尾）称为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栈顶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；另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一端（表头）称为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栈底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672419" y="3413225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当表中没有元素时，称为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空栈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2880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828620" y="858388"/>
            <a:ext cx="1195427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假设栈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55830" y="1271224"/>
            <a:ext cx="2519563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S=(a1,a2,…,an) 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828620" y="2683379"/>
            <a:ext cx="4687842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进栈次序：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a1, a2 , …, an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退栈次序：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an, an-1 ,…, a2, a1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栈是按照“后进先出”原则处理数据元素的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也称为“后进先出”表，简称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LIFO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表。</a:t>
            </a:r>
          </a:p>
        </p:txBody>
      </p:sp>
      <p:sp>
        <p:nvSpPr>
          <p:cNvPr id="17" name="Text Box 1029"/>
          <p:cNvSpPr txBox="1">
            <a:spLocks noChangeArrowheads="1"/>
          </p:cNvSpPr>
          <p:nvPr/>
        </p:nvSpPr>
        <p:spPr bwMode="auto">
          <a:xfrm>
            <a:off x="1512729" y="2006298"/>
            <a:ext cx="15795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栈底元素</a:t>
            </a:r>
          </a:p>
        </p:txBody>
      </p:sp>
      <p:sp>
        <p:nvSpPr>
          <p:cNvPr id="23" name="Line 1033"/>
          <p:cNvSpPr>
            <a:spLocks noChangeShapeType="1"/>
          </p:cNvSpPr>
          <p:nvPr/>
        </p:nvSpPr>
        <p:spPr bwMode="auto">
          <a:xfrm flipV="1">
            <a:off x="2148879" y="1643401"/>
            <a:ext cx="1587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Text Box 1031"/>
          <p:cNvSpPr txBox="1">
            <a:spLocks noChangeArrowheads="1"/>
          </p:cNvSpPr>
          <p:nvPr/>
        </p:nvSpPr>
        <p:spPr bwMode="auto">
          <a:xfrm>
            <a:off x="2722562" y="2006298"/>
            <a:ext cx="1965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栈顶元素</a:t>
            </a:r>
          </a:p>
        </p:txBody>
      </p:sp>
      <p:sp>
        <p:nvSpPr>
          <p:cNvPr id="28" name="Line 1035"/>
          <p:cNvSpPr>
            <a:spLocks noChangeShapeType="1"/>
          </p:cNvSpPr>
          <p:nvPr/>
        </p:nvSpPr>
        <p:spPr bwMode="auto">
          <a:xfrm flipV="1">
            <a:off x="3193193" y="1667281"/>
            <a:ext cx="1587" cy="381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1037"/>
          <p:cNvSpPr>
            <a:spLocks noChangeShapeType="1"/>
          </p:cNvSpPr>
          <p:nvPr/>
        </p:nvSpPr>
        <p:spPr bwMode="auto">
          <a:xfrm>
            <a:off x="6894412" y="2024401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1038"/>
          <p:cNvSpPr>
            <a:spLocks noChangeShapeType="1"/>
          </p:cNvSpPr>
          <p:nvPr/>
        </p:nvSpPr>
        <p:spPr bwMode="auto">
          <a:xfrm>
            <a:off x="6894412" y="453900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1039"/>
          <p:cNvSpPr>
            <a:spLocks noChangeShapeType="1"/>
          </p:cNvSpPr>
          <p:nvPr/>
        </p:nvSpPr>
        <p:spPr bwMode="auto">
          <a:xfrm flipV="1">
            <a:off x="7808812" y="2024401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Line 1040"/>
          <p:cNvSpPr>
            <a:spLocks noChangeShapeType="1"/>
          </p:cNvSpPr>
          <p:nvPr/>
        </p:nvSpPr>
        <p:spPr bwMode="auto">
          <a:xfrm>
            <a:off x="6894412" y="415800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Line 1041"/>
          <p:cNvSpPr>
            <a:spLocks noChangeShapeType="1"/>
          </p:cNvSpPr>
          <p:nvPr/>
        </p:nvSpPr>
        <p:spPr bwMode="auto">
          <a:xfrm>
            <a:off x="6894412" y="3715089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Line 1042"/>
          <p:cNvSpPr>
            <a:spLocks noChangeShapeType="1"/>
          </p:cNvSpPr>
          <p:nvPr/>
        </p:nvSpPr>
        <p:spPr bwMode="auto">
          <a:xfrm>
            <a:off x="6894412" y="2938801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1043"/>
          <p:cNvSpPr>
            <a:spLocks noChangeShapeType="1"/>
          </p:cNvSpPr>
          <p:nvPr/>
        </p:nvSpPr>
        <p:spPr bwMode="auto">
          <a:xfrm>
            <a:off x="6894412" y="2495889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Text Box 1044"/>
          <p:cNvSpPr txBox="1">
            <a:spLocks noChangeArrowheads="1"/>
          </p:cNvSpPr>
          <p:nvPr/>
        </p:nvSpPr>
        <p:spPr bwMode="auto">
          <a:xfrm>
            <a:off x="7163494" y="4058315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2800" baseline="-250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</a:p>
        </p:txBody>
      </p:sp>
      <p:sp>
        <p:nvSpPr>
          <p:cNvPr id="39" name="Text Box 1045"/>
          <p:cNvSpPr txBox="1">
            <a:spLocks noChangeArrowheads="1"/>
          </p:cNvSpPr>
          <p:nvPr/>
        </p:nvSpPr>
        <p:spPr bwMode="auto">
          <a:xfrm>
            <a:off x="7127775" y="3634126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2800" baseline="-250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</a:p>
        </p:txBody>
      </p:sp>
      <p:sp>
        <p:nvSpPr>
          <p:cNvPr id="40" name="Text Box 1046"/>
          <p:cNvSpPr txBox="1">
            <a:spLocks noChangeArrowheads="1"/>
          </p:cNvSpPr>
          <p:nvPr/>
        </p:nvSpPr>
        <p:spPr bwMode="auto">
          <a:xfrm>
            <a:off x="7132537" y="2405401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2800" baseline="-25000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</a:p>
        </p:txBody>
      </p:sp>
      <p:sp>
        <p:nvSpPr>
          <p:cNvPr id="42" name="Line 1047"/>
          <p:cNvSpPr>
            <a:spLocks noChangeShapeType="1"/>
          </p:cNvSpPr>
          <p:nvPr/>
        </p:nvSpPr>
        <p:spPr bwMode="auto">
          <a:xfrm>
            <a:off x="7346850" y="3015001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" name="Line 1048"/>
          <p:cNvSpPr>
            <a:spLocks noChangeShapeType="1"/>
          </p:cNvSpPr>
          <p:nvPr/>
        </p:nvSpPr>
        <p:spPr bwMode="auto">
          <a:xfrm>
            <a:off x="6589612" y="2710201"/>
            <a:ext cx="3048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" name="Line 1049"/>
          <p:cNvSpPr>
            <a:spLocks noChangeShapeType="1"/>
          </p:cNvSpPr>
          <p:nvPr/>
        </p:nvSpPr>
        <p:spPr bwMode="auto">
          <a:xfrm>
            <a:off x="6589612" y="4386601"/>
            <a:ext cx="3048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" name="Rectangle 1052"/>
          <p:cNvSpPr>
            <a:spLocks noChangeArrowheads="1"/>
          </p:cNvSpPr>
          <p:nvPr/>
        </p:nvSpPr>
        <p:spPr bwMode="auto">
          <a:xfrm>
            <a:off x="5808562" y="2481601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栈顶</a:t>
            </a:r>
          </a:p>
        </p:txBody>
      </p:sp>
      <p:sp>
        <p:nvSpPr>
          <p:cNvPr id="46" name="Rectangle 1053"/>
          <p:cNvSpPr>
            <a:spLocks noChangeArrowheads="1"/>
          </p:cNvSpPr>
          <p:nvPr/>
        </p:nvSpPr>
        <p:spPr bwMode="auto">
          <a:xfrm>
            <a:off x="5827612" y="4158001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栈底</a:t>
            </a:r>
          </a:p>
        </p:txBody>
      </p:sp>
      <p:sp>
        <p:nvSpPr>
          <p:cNvPr id="47" name="Line 1056"/>
          <p:cNvSpPr>
            <a:spLocks noChangeShapeType="1"/>
          </p:cNvSpPr>
          <p:nvPr/>
        </p:nvSpPr>
        <p:spPr bwMode="auto">
          <a:xfrm flipH="1">
            <a:off x="7404481" y="1323959"/>
            <a:ext cx="457200" cy="9906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8" name="Line 1057"/>
          <p:cNvSpPr>
            <a:spLocks noChangeShapeType="1"/>
          </p:cNvSpPr>
          <p:nvPr/>
        </p:nvSpPr>
        <p:spPr bwMode="auto">
          <a:xfrm flipH="1" flipV="1">
            <a:off x="6742012" y="1383846"/>
            <a:ext cx="533400" cy="914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Rectangle 1058"/>
          <p:cNvSpPr>
            <a:spLocks noChangeArrowheads="1"/>
          </p:cNvSpPr>
          <p:nvPr/>
        </p:nvSpPr>
        <p:spPr bwMode="auto">
          <a:xfrm>
            <a:off x="7827862" y="1338601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进栈</a:t>
            </a:r>
          </a:p>
        </p:txBody>
      </p:sp>
      <p:sp>
        <p:nvSpPr>
          <p:cNvPr id="50" name="Rectangle 1059"/>
          <p:cNvSpPr>
            <a:spLocks noChangeArrowheads="1"/>
          </p:cNvSpPr>
          <p:nvPr/>
        </p:nvSpPr>
        <p:spPr bwMode="auto">
          <a:xfrm>
            <a:off x="5975250" y="1357651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退栈</a:t>
            </a:r>
          </a:p>
        </p:txBody>
      </p:sp>
    </p:spTree>
    <p:extLst>
      <p:ext uri="{BB962C8B-B14F-4D97-AF65-F5344CB8AC3E}">
        <p14:creationId xmlns:p14="http://schemas.microsoft.com/office/powerpoint/2010/main" val="34135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25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8" grpId="0"/>
      <p:bldP spid="20" grpId="0"/>
      <p:bldP spid="17" grpId="0"/>
      <p:bldP spid="23" grpId="0" animBg="1"/>
      <p:bldP spid="24" grpId="0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083" y="873451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二、栈的抽象数据类型的类型定义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72419" y="1299537"/>
            <a:ext cx="7277822" cy="25853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ADT Stack 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数据对象：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＝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ai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|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ai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∈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ElemSet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=1,2,...,n,  n≥0 }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数据关系：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＝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 &lt;ai-1,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ai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&gt;| ai-1,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ai∈D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=2,...,n }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约定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an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端为栈顶，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a1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端为栈底。 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2134235" y="3795129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基本操作：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//</a:t>
            </a:r>
            <a:r>
              <a:rPr lang="zh-CN" altLang="en-US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从数据类型上看栈和线性表大不相同</a:t>
            </a:r>
            <a:endParaRPr lang="zh-CN" altLang="en-US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672419" y="4258141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 ADT Stack</a:t>
            </a:r>
          </a:p>
        </p:txBody>
      </p:sp>
    </p:spTree>
    <p:extLst>
      <p:ext uri="{BB962C8B-B14F-4D97-AF65-F5344CB8AC3E}">
        <p14:creationId xmlns:p14="http://schemas.microsoft.com/office/powerpoint/2010/main" val="41994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8" grpId="0"/>
      <p:bldP spid="20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72419" y="1299537"/>
            <a:ext cx="7277822" cy="12940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InitStack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(&amp;S)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初始化操作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结果：构造一个空栈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672419" y="2572246"/>
            <a:ext cx="7277822" cy="12940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DestroyStack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(&amp;S)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/>
            </a:r>
            <a:b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初始条件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已存在。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被销毁。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14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72419" y="1299537"/>
            <a:ext cx="7277822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 err="1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StackEmpty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(S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)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判定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是否为空栈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初始条件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已存在。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结果：若栈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为空栈，则返回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TRUE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         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否则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FALSE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672419" y="3042185"/>
            <a:ext cx="7277822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/>
            </a:r>
            <a:b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err="1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StackLength</a:t>
            </a:r>
            <a:r>
              <a:rPr lang="en-US" altLang="zh-CN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(S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)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求栈的长度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初始条件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已存在。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结果：返回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的元素个数，即栈的长度。</a:t>
            </a:r>
          </a:p>
        </p:txBody>
      </p:sp>
    </p:spTree>
    <p:extLst>
      <p:ext uri="{BB962C8B-B14F-4D97-AF65-F5344CB8AC3E}">
        <p14:creationId xmlns:p14="http://schemas.microsoft.com/office/powerpoint/2010/main" val="113063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33637" y="71358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72419" y="1299537"/>
            <a:ext cx="7277822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GetTop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(S, &amp;e) 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取栈顶元素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初始条件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已存在且非空。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结果：用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返回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的栈顶元素。</a:t>
            </a: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795940" y="3069721"/>
            <a:ext cx="1588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795940" y="3298321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1795940" y="4136521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1814990" y="3349121"/>
            <a:ext cx="67518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2424590" y="3349121"/>
            <a:ext cx="67518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5400272" y="3388877"/>
            <a:ext cx="1089980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 flipV="1">
            <a:off x="5682140" y="4136521"/>
            <a:ext cx="1588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440590" y="3295146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b="1">
                <a:solidFill>
                  <a:srgbClr val="FF0000"/>
                </a:solidFill>
              </a:rPr>
              <a:t>… …</a:t>
            </a:r>
            <a:endParaRPr lang="en-US" altLang="zh-CN" sz="4000"/>
          </a:p>
        </p:txBody>
      </p:sp>
    </p:spTree>
    <p:extLst>
      <p:ext uri="{BB962C8B-B14F-4D97-AF65-F5344CB8AC3E}">
        <p14:creationId xmlns:p14="http://schemas.microsoft.com/office/powerpoint/2010/main" val="278449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25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3" grpId="0" animBg="1"/>
      <p:bldP spid="14" grpId="0" animBg="1"/>
      <p:bldP spid="20" grpId="0" animBg="1"/>
      <p:bldP spid="23" grpId="0" animBg="1"/>
      <p:bldP spid="24" grpId="0" animBg="1"/>
      <p:bldP spid="26" grpId="0" animBg="1"/>
      <p:bldP spid="28" grpId="0" animBg="1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72419" y="1299537"/>
            <a:ext cx="7277822" cy="12940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Pop(&amp;S, &amp;e) 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出栈操作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初始条件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已存在且非空。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结果：删除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的栈顶元素，并用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返回其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值。</a:t>
            </a: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795940" y="3069721"/>
            <a:ext cx="1588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795940" y="3298321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1795940" y="4136521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1814990" y="3349121"/>
            <a:ext cx="67518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2424590" y="3349121"/>
            <a:ext cx="67518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5400271" y="3388877"/>
            <a:ext cx="1467668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 smtClean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 smtClean="0">
                <a:latin typeface="百度综艺简体" panose="02010601030101010101" charset="-122"/>
                <a:ea typeface="百度综艺简体" panose="02010601030101010101" charset="-122"/>
              </a:rPr>
              <a:t>n-1</a:t>
            </a:r>
            <a:endParaRPr lang="en-US" altLang="zh-CN" sz="4000" baseline="-25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 flipV="1">
            <a:off x="5682140" y="4136521"/>
            <a:ext cx="1588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440590" y="3295146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b="1">
                <a:solidFill>
                  <a:srgbClr val="FF0000"/>
                </a:solidFill>
              </a:rPr>
              <a:t>… …</a:t>
            </a:r>
            <a:endParaRPr lang="en-US" altLang="zh-CN" sz="4000"/>
          </a:p>
        </p:txBody>
      </p:sp>
    </p:spTree>
    <p:extLst>
      <p:ext uri="{BB962C8B-B14F-4D97-AF65-F5344CB8AC3E}">
        <p14:creationId xmlns:p14="http://schemas.microsoft.com/office/powerpoint/2010/main" val="95505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25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3" grpId="0" animBg="1"/>
      <p:bldP spid="14" grpId="0" animBg="1"/>
      <p:bldP spid="20" grpId="0" animBg="1"/>
      <p:bldP spid="23" grpId="0" animBg="1"/>
      <p:bldP spid="24" grpId="0" animBg="1"/>
      <p:bldP spid="26" grpId="0" animBg="1"/>
      <p:bldP spid="28" grpId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栈的定义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672419" y="1299537"/>
            <a:ext cx="7277822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Push(&amp;S, e) 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入栈操作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初始条件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：栈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已存在。</a:t>
            </a:r>
            <a:b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	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操作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结果：插入元素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为新的栈顶元素。</a:t>
            </a: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795940" y="3069721"/>
            <a:ext cx="1588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795940" y="3298321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1795940" y="4136521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1814990" y="3349121"/>
            <a:ext cx="67518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2424590" y="3349121"/>
            <a:ext cx="675185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5400271" y="3388877"/>
            <a:ext cx="1169494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 smtClean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en-US" altLang="zh-CN" sz="4000" baseline="-25000" dirty="0" smtClean="0">
                <a:latin typeface="百度综艺简体" panose="02010601030101010101" charset="-122"/>
                <a:ea typeface="百度综艺简体" panose="02010601030101010101" charset="-122"/>
              </a:rPr>
              <a:t>n-1</a:t>
            </a:r>
            <a:endParaRPr lang="en-US" altLang="zh-CN" sz="4000" baseline="-25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 flipV="1">
            <a:off x="6806088" y="4236463"/>
            <a:ext cx="1588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440590" y="3295146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b="1">
                <a:solidFill>
                  <a:srgbClr val="FF0000"/>
                </a:solidFill>
              </a:rPr>
              <a:t>… …</a:t>
            </a:r>
            <a:endParaRPr lang="en-US" altLang="zh-CN" sz="4000"/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7050076" y="3428635"/>
            <a:ext cx="724878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2A5BA8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sz="4000" dirty="0" smtClean="0">
                <a:latin typeface="百度综艺简体" panose="02010601030101010101" charset="-122"/>
                <a:ea typeface="百度综艺简体" panose="02010601030101010101" charset="-122"/>
              </a:rPr>
              <a:t>e </a:t>
            </a:r>
            <a:endParaRPr lang="en-US" altLang="zh-CN" sz="4000" baseline="-25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29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25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13" grpId="0" animBg="1"/>
      <p:bldP spid="14" grpId="0" animBg="1"/>
      <p:bldP spid="20" grpId="0" animBg="1"/>
      <p:bldP spid="23" grpId="0" animBg="1"/>
      <p:bldP spid="24" grpId="0" animBg="1"/>
      <p:bldP spid="26" grpId="0" animBg="1"/>
      <p:bldP spid="28" grpId="0" animBg="1"/>
      <p:bldP spid="29" grpId="0"/>
      <p:bldP spid="32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</TotalTime>
  <Words>638</Words>
  <Application>Microsoft Office PowerPoint</Application>
  <PresentationFormat>自定义</PresentationFormat>
  <Paragraphs>95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Lato Light</vt:lpstr>
      <vt:lpstr>百度综艺简体</vt:lpstr>
      <vt:lpstr>等线</vt:lpstr>
      <vt:lpstr>等线 Light</vt:lpstr>
      <vt:lpstr>华文中宋</vt:lpstr>
      <vt:lpstr>隶书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51</cp:revision>
  <dcterms:created xsi:type="dcterms:W3CDTF">2017-06-21T11:46:00Z</dcterms:created>
  <dcterms:modified xsi:type="dcterms:W3CDTF">2020-07-07T06:35:32Z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