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83" r:id="rId2"/>
    <p:sldId id="284" r:id="rId3"/>
    <p:sldId id="361" r:id="rId4"/>
    <p:sldId id="362" r:id="rId5"/>
    <p:sldId id="363" r:id="rId6"/>
    <p:sldId id="364" r:id="rId7"/>
    <p:sldId id="365" r:id="rId8"/>
    <p:sldId id="366" r:id="rId9"/>
    <p:sldId id="367" r:id="rId10"/>
    <p:sldId id="368" r:id="rId11"/>
    <p:sldId id="352" r:id="rId12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2020/11/13 Friday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71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262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694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883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367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891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740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1613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15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036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2020/11/13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2020/11/13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2020/11/13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2020/11/13 Friday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2020/11/13 Friday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2020/11/13 Friday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2020/11/13 Friday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2020/11/13 Friday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2020/11/13 Friday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2020/11/13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2020/11/13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2020/11/13 Friday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13/11/2020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2020/11/13 Friday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Microsoft_Word_97_-_2003___1.doc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6750050" y="2957195"/>
            <a:ext cx="1868170" cy="37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5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哈希表的定义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437946" y="1453554"/>
            <a:ext cx="6809583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以上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两节讨论的表示查找表的各种结构的共同特点：记录在表中的位置和它的关键字之间不存在一个确定的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关系。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4" y="998339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一、哈希表是什么？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5"/>
          <p:cNvSpPr txBox="1">
            <a:spLocks noChangeArrowheads="1"/>
          </p:cNvSpPr>
          <p:nvPr/>
        </p:nvSpPr>
        <p:spPr bwMode="auto">
          <a:xfrm>
            <a:off x="1437946" y="2525658"/>
            <a:ext cx="6322928" cy="8785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查找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的过程为给定值依次和关键字集合中各个关键字进行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比较。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30" name="TextBox 5"/>
          <p:cNvSpPr txBox="1">
            <a:spLocks noChangeArrowheads="1"/>
          </p:cNvSpPr>
          <p:nvPr/>
        </p:nvSpPr>
        <p:spPr bwMode="auto">
          <a:xfrm>
            <a:off x="1410536" y="3546896"/>
            <a:ext cx="6322928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查找的效率取决于和给定值进行比较的关键字个数。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29" grpId="0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哈希表的定义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509663" y="1759776"/>
            <a:ext cx="6809583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用这类方法表示的查找表，其平均查找长度都不为零。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5"/>
          <p:cNvSpPr txBox="1">
            <a:spLocks noChangeArrowheads="1"/>
          </p:cNvSpPr>
          <p:nvPr/>
        </p:nvSpPr>
        <p:spPr bwMode="auto">
          <a:xfrm>
            <a:off x="1509663" y="2970956"/>
            <a:ext cx="6165156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不同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的表示方法，其差别仅在于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：</a:t>
            </a:r>
            <a:endParaRPr lang="en-US" altLang="zh-CN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20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关键字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和给定值进行比较的顺序不同。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8745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哈希表的定义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187450" y="1326810"/>
            <a:ext cx="6809583" cy="11208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对于频繁使用的查找表，希望</a:t>
            </a:r>
          </a:p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        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ASL = 0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5"/>
          <p:cNvSpPr txBox="1">
            <a:spLocks noChangeArrowheads="1"/>
          </p:cNvSpPr>
          <p:nvPr/>
        </p:nvSpPr>
        <p:spPr bwMode="auto">
          <a:xfrm>
            <a:off x="1099954" y="2559290"/>
            <a:ext cx="6165156" cy="566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只有一个办法：预先知道所查关键字在表中的位置，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099953" y="3331182"/>
            <a:ext cx="7084823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即，要求：记录在表中位置和其关键字之间存在一种确定的关系。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0992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29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哈希表的定义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107498" y="1008276"/>
            <a:ext cx="6817586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例如：为每年招收的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1000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名新生建立一张查找表，其关键字为20，其值的范围为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xx000 ~ xx999 (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前两位为年份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5"/>
          <p:cNvSpPr txBox="1">
            <a:spLocks noChangeArrowheads="1"/>
          </p:cNvSpPr>
          <p:nvPr/>
        </p:nvSpPr>
        <p:spPr bwMode="auto">
          <a:xfrm>
            <a:off x="1107498" y="2208196"/>
            <a:ext cx="6165156" cy="566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若以下标为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000 ~ 999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的顺序表表示之。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107498" y="2914497"/>
            <a:ext cx="7084823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则查找过程可以简单进行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：</a:t>
            </a:r>
            <a:endParaRPr lang="en-US" altLang="zh-CN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   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取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给定值（20）的后三位，不需要经过比较便可直接从顺序表中找到待查关键字。</a:t>
            </a:r>
          </a:p>
        </p:txBody>
      </p:sp>
    </p:spTree>
    <p:extLst>
      <p:ext uri="{BB962C8B-B14F-4D97-AF65-F5344CB8AC3E}">
        <p14:creationId xmlns:p14="http://schemas.microsoft.com/office/powerpoint/2010/main" val="3178904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29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哈希表的定义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107498" y="1008276"/>
            <a:ext cx="6817586" cy="566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但是，对于动态查找表而言，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5"/>
          <p:cNvSpPr txBox="1">
            <a:spLocks noChangeArrowheads="1"/>
          </p:cNvSpPr>
          <p:nvPr/>
        </p:nvSpPr>
        <p:spPr bwMode="auto">
          <a:xfrm>
            <a:off x="1433713" y="1499644"/>
            <a:ext cx="6165156" cy="566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1)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表长不确定；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433713" y="1988220"/>
            <a:ext cx="7084823" cy="566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2)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在设计查找表时，只知道关键字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所属范围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，而不知道确切的关键字。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433713" y="2857797"/>
            <a:ext cx="6840712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因此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在一般情况下，需在关键字与记录在表中的存储位置之间建立一个函数关系</a:t>
            </a: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，以 </a:t>
            </a:r>
            <a:r>
              <a:rPr lang="en-US" altLang="zh-CN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f(key) </a:t>
            </a: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作为关键字为 </a:t>
            </a:r>
            <a:r>
              <a:rPr lang="en-US" altLang="zh-CN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key </a:t>
            </a: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的记录在表中的位置，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通常</a:t>
            </a: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称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这个函数</a:t>
            </a: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f(key) </a:t>
            </a: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为哈希函数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268929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29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哈希表的定义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107498" y="1008276"/>
            <a:ext cx="6817586" cy="566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例如：对于如下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9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个关键字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5"/>
          <p:cNvSpPr txBox="1">
            <a:spLocks noChangeArrowheads="1"/>
          </p:cNvSpPr>
          <p:nvPr/>
        </p:nvSpPr>
        <p:spPr bwMode="auto">
          <a:xfrm>
            <a:off x="1433713" y="1499644"/>
            <a:ext cx="6165156" cy="566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{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Z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hao,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Q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ian,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S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un,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L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i,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W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u,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C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hen,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H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an,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Y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e,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D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ei} 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433713" y="1988220"/>
            <a:ext cx="7084823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设 哈希函数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f(key) =(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Ord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第一个字母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 -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Ord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('A')+1)/2</a:t>
            </a:r>
          </a:p>
        </p:txBody>
      </p:sp>
      <p:graphicFrame>
        <p:nvGraphicFramePr>
          <p:cNvPr id="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174079"/>
              </p:ext>
            </p:extLst>
          </p:nvPr>
        </p:nvGraphicFramePr>
        <p:xfrm>
          <a:off x="809659" y="2810684"/>
          <a:ext cx="7545686" cy="1022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Document" r:id="rId4" imgW="8658099" imgH="733634" progId="Word.Document.8">
                  <p:embed/>
                </p:oleObj>
              </mc:Choice>
              <mc:Fallback>
                <p:oleObj name="Document" r:id="rId4" imgW="8658099" imgH="73363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59" y="2810684"/>
                        <a:ext cx="7545686" cy="10226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1318632" y="3302052"/>
            <a:ext cx="59343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dirty="0">
                <a:solidFill>
                  <a:srgbClr val="A50021"/>
                </a:solidFill>
              </a:rPr>
              <a:t>Chen</a:t>
            </a:r>
            <a:endParaRPr lang="en-US" altLang="zh-CN" sz="1400" dirty="0"/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7551002" y="3309428"/>
            <a:ext cx="58381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dirty="0">
                <a:solidFill>
                  <a:srgbClr val="A50021"/>
                </a:solidFill>
              </a:rPr>
              <a:t>Zhao</a:t>
            </a:r>
            <a:endParaRPr lang="en-US" altLang="zh-CN" sz="1400" dirty="0"/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4949911" y="3285835"/>
            <a:ext cx="5629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dirty="0">
                <a:solidFill>
                  <a:srgbClr val="A50021"/>
                </a:solidFill>
              </a:rPr>
              <a:t>Qian</a:t>
            </a:r>
            <a:endParaRPr lang="en-US" altLang="zh-CN" sz="1400" dirty="0"/>
          </a:p>
        </p:txBody>
      </p:sp>
      <p:sp>
        <p:nvSpPr>
          <p:cNvPr id="24" name="Text Box 9"/>
          <p:cNvSpPr txBox="1">
            <a:spLocks noChangeArrowheads="1"/>
          </p:cNvSpPr>
          <p:nvPr/>
        </p:nvSpPr>
        <p:spPr bwMode="auto">
          <a:xfrm>
            <a:off x="5532179" y="3302051"/>
            <a:ext cx="48282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dirty="0">
                <a:solidFill>
                  <a:srgbClr val="A50021"/>
                </a:solidFill>
              </a:rPr>
              <a:t>Sun</a:t>
            </a:r>
            <a:endParaRPr lang="en-US" altLang="zh-CN" sz="1400" dirty="0"/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4048203" y="3313929"/>
            <a:ext cx="35458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dirty="0">
                <a:solidFill>
                  <a:srgbClr val="A50021"/>
                </a:solidFill>
              </a:rPr>
              <a:t>Li</a:t>
            </a:r>
            <a:endParaRPr lang="en-US" altLang="zh-CN" sz="1400" dirty="0"/>
          </a:p>
        </p:txBody>
      </p:sp>
      <p:sp>
        <p:nvSpPr>
          <p:cNvPr id="30" name="Text Box 11"/>
          <p:cNvSpPr txBox="1">
            <a:spLocks noChangeArrowheads="1"/>
          </p:cNvSpPr>
          <p:nvPr/>
        </p:nvSpPr>
        <p:spPr bwMode="auto">
          <a:xfrm>
            <a:off x="6594497" y="3315409"/>
            <a:ext cx="46031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dirty="0">
                <a:solidFill>
                  <a:srgbClr val="A50021"/>
                </a:solidFill>
              </a:rPr>
              <a:t>Wu</a:t>
            </a:r>
            <a:endParaRPr lang="en-US" altLang="zh-CN" sz="1400" dirty="0"/>
          </a:p>
        </p:txBody>
      </p:sp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2914278" y="3285835"/>
            <a:ext cx="51328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dirty="0">
                <a:solidFill>
                  <a:srgbClr val="A50021"/>
                </a:solidFill>
              </a:rPr>
              <a:t>Han</a:t>
            </a:r>
            <a:endParaRPr lang="en-US" altLang="zh-CN" sz="1400" dirty="0"/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7163852" y="3309429"/>
            <a:ext cx="37478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dirty="0">
                <a:solidFill>
                  <a:srgbClr val="A50021"/>
                </a:solidFill>
              </a:rPr>
              <a:t>Ye</a:t>
            </a:r>
            <a:endParaRPr lang="en-US" altLang="zh-CN" sz="1400" dirty="0"/>
          </a:p>
        </p:txBody>
      </p:sp>
      <p:sp>
        <p:nvSpPr>
          <p:cNvPr id="34" name="Text Box 14"/>
          <p:cNvSpPr txBox="1">
            <a:spLocks noChangeArrowheads="1"/>
          </p:cNvSpPr>
          <p:nvPr/>
        </p:nvSpPr>
        <p:spPr bwMode="auto">
          <a:xfrm>
            <a:off x="1894279" y="3309430"/>
            <a:ext cx="44435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 dirty="0">
                <a:solidFill>
                  <a:srgbClr val="A50021"/>
                </a:solidFill>
              </a:rPr>
              <a:t>Dei</a:t>
            </a:r>
            <a:endParaRPr lang="en-US" altLang="zh-CN" sz="1400" dirty="0"/>
          </a:p>
        </p:txBody>
      </p:sp>
      <p:sp>
        <p:nvSpPr>
          <p:cNvPr id="35" name="TextBox 5"/>
          <p:cNvSpPr txBox="1">
            <a:spLocks noChangeArrowheads="1"/>
          </p:cNvSpPr>
          <p:nvPr/>
        </p:nvSpPr>
        <p:spPr bwMode="auto">
          <a:xfrm>
            <a:off x="1246339" y="3795038"/>
            <a:ext cx="6817586" cy="12003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问题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: 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若添加关键字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Zhou ,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怎么办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？</a:t>
            </a:r>
          </a:p>
          <a:p>
            <a:pPr fontAlgn="auto">
              <a:lnSpc>
                <a:spcPct val="20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    能否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找到另一个哈希函数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？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729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29" grpId="0"/>
      <p:bldP spid="13" grpId="0"/>
      <p:bldP spid="18" grpId="0" autoUpdateAnimBg="0"/>
      <p:bldP spid="20" grpId="0" autoUpdateAnimBg="0"/>
      <p:bldP spid="23" grpId="0" autoUpdateAnimBg="0"/>
      <p:bldP spid="24" grpId="0" autoUpdateAnimBg="0"/>
      <p:bldP spid="28" grpId="0" autoUpdateAnimBg="0"/>
      <p:bldP spid="30" grpId="0" autoUpdateAnimBg="0"/>
      <p:bldP spid="32" grpId="0" autoUpdateAnimBg="0"/>
      <p:bldP spid="33" grpId="0" autoUpdateAnimBg="0"/>
      <p:bldP spid="34" grpId="0" autoUpdateAnimBg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哈希表的定义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107498" y="1008276"/>
            <a:ext cx="6817586" cy="566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从这个例子可见：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5"/>
          <p:cNvSpPr txBox="1">
            <a:spLocks noChangeArrowheads="1"/>
          </p:cNvSpPr>
          <p:nvPr/>
        </p:nvSpPr>
        <p:spPr bwMode="auto">
          <a:xfrm>
            <a:off x="1433713" y="1499644"/>
            <a:ext cx="6165156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1)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哈希函数是一个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映象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，即：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将关键字的集合映射到某个地址集合上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 它的设置很灵活，只要这个地址集合的大小不超出允许范围即可；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433713" y="3306560"/>
            <a:ext cx="7084823" cy="11208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2)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由于哈希函数是一个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压缩映象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，因此，在一般情况下，很容易产生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“冲突”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现象，即：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key1 key2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，而  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f(key1) = f(key2)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24968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29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哈希表的定义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5"/>
          <p:cNvSpPr txBox="1">
            <a:spLocks noChangeArrowheads="1"/>
          </p:cNvSpPr>
          <p:nvPr/>
        </p:nvSpPr>
        <p:spPr bwMode="auto">
          <a:xfrm>
            <a:off x="1460607" y="1258435"/>
            <a:ext cx="6165156" cy="11208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3) 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很难找到一个不产生冲突的哈希函数。一般情况下，只能选择恰当的哈希函数，使冲突尽可能少地产生。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460607" y="2620936"/>
            <a:ext cx="7084823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因此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，在构造这种特殊的“查找表” 时，除了需要选择一个</a:t>
            </a: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“好”</a:t>
            </a:r>
            <a:r>
              <a:rPr lang="en-US" altLang="zh-CN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尽可能少产生冲突</a:t>
            </a:r>
            <a:r>
              <a:rPr lang="en-US" altLang="zh-CN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的哈希函数之外；还需要找到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一种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“</a:t>
            </a: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处理冲突”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的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方法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2162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9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哈希表的定义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5"/>
          <p:cNvSpPr txBox="1">
            <a:spLocks noChangeArrowheads="1"/>
          </p:cNvSpPr>
          <p:nvPr/>
        </p:nvSpPr>
        <p:spPr bwMode="auto">
          <a:xfrm>
            <a:off x="958584" y="1101063"/>
            <a:ext cx="6165156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哈希表的定义：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179448" y="1850473"/>
            <a:ext cx="7084823" cy="22288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根据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设定的</a:t>
            </a: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哈希函数 </a:t>
            </a:r>
            <a:r>
              <a:rPr lang="en-US" altLang="zh-CN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H(key)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和所选中的</a:t>
            </a: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处理冲突的方法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，将一组关键字映象到一个有限的、地址连续的地址集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区间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上，并以关键字在地址集中的“象”作为相应记录在表中的</a:t>
            </a: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存储位置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，如此构造所得的查找表称之为</a:t>
            </a: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“哈希表”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23840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9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4990595" y="2335478"/>
            <a:ext cx="3266020" cy="896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54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本</a:t>
            </a:r>
            <a:r>
              <a:rPr lang="zh-CN" altLang="en-US" sz="5400" cap="all" spc="213" dirty="0" smtClean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节结束</a:t>
            </a:r>
            <a:endParaRPr lang="en-US" altLang="zh-CN" sz="5400" cap="all" spc="213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cs typeface="百度综艺简体" panose="02010601030101010101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850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49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49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 bldLvl="0" animBg="1"/>
      <p:bldP spid="11" grpId="0" bldLvl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</TotalTime>
  <Words>696</Words>
  <Application>Microsoft Office PowerPoint</Application>
  <PresentationFormat>自定义</PresentationFormat>
  <Paragraphs>73</Paragraphs>
  <Slides>11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Lato Light</vt:lpstr>
      <vt:lpstr>百度综艺简体</vt:lpstr>
      <vt:lpstr>等线</vt:lpstr>
      <vt:lpstr>等线 Light</vt:lpstr>
      <vt:lpstr>华文中宋</vt:lpstr>
      <vt:lpstr>宋体</vt:lpstr>
      <vt:lpstr>微软雅黑</vt:lpstr>
      <vt:lpstr>Arial</vt:lpstr>
      <vt:lpstr>Calibri</vt:lpstr>
      <vt:lpstr>Calibri Light</vt:lpstr>
      <vt:lpstr>Tahoma</vt:lpstr>
      <vt:lpstr>Times New Roman</vt:lpstr>
      <vt:lpstr>Office 主题​​</vt:lpstr>
      <vt:lpstr>Microsoft Word 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China</cp:lastModifiedBy>
  <cp:revision>74</cp:revision>
  <dcterms:created xsi:type="dcterms:W3CDTF">2017-06-21T11:46:00Z</dcterms:created>
  <dcterms:modified xsi:type="dcterms:W3CDTF">2020-11-13T08:01:43Z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2052-11.1.0.8986</vt:lpwstr>
  </property>
</Properties>
</file>