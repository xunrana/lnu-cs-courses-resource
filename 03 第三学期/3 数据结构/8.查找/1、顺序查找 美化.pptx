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3" r:id="rId2"/>
    <p:sldId id="284" r:id="rId3"/>
    <p:sldId id="393" r:id="rId4"/>
    <p:sldId id="394" r:id="rId5"/>
    <p:sldId id="395" r:id="rId6"/>
    <p:sldId id="396" r:id="rId7"/>
    <p:sldId id="397" r:id="rId8"/>
    <p:sldId id="398" r:id="rId9"/>
    <p:sldId id="399" r:id="rId10"/>
    <p:sldId id="400" r:id="rId11"/>
    <p:sldId id="401" r:id="rId12"/>
    <p:sldId id="402" r:id="rId13"/>
    <p:sldId id="403" r:id="rId14"/>
    <p:sldId id="404" r:id="rId15"/>
    <p:sldId id="352" r:id="rId16"/>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5BA8"/>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2" autoAdjust="0"/>
    <p:restoredTop sz="94660"/>
  </p:normalViewPr>
  <p:slideViewPr>
    <p:cSldViewPr snapToGrid="0">
      <p:cViewPr varScale="1">
        <p:scale>
          <a:sx n="96" d="100"/>
          <a:sy n="96" d="100"/>
        </p:scale>
        <p:origin x="534" y="78"/>
      </p:cViewPr>
      <p:guideLst/>
    </p:cSldViewPr>
  </p:slideViewPr>
  <p:notesTextViewPr>
    <p:cViewPr>
      <p:scale>
        <a:sx n="1" d="1"/>
        <a:sy n="1" d="1"/>
      </p:scale>
      <p:origin x="0" y="0"/>
    </p:cViewPr>
  </p:notesTextViewPr>
  <p:sorterViewPr>
    <p:cViewPr>
      <p:scale>
        <a:sx n="100" d="100"/>
        <a:sy n="100" d="100"/>
      </p:scale>
      <p:origin x="0" y="-1692"/>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31844-757F-4497-A6B9-29138D45B0D0}" type="datetimeFigureOut">
              <a:rPr lang="zh-CN" altLang="en-US" smtClean="0"/>
              <a:t>2020/11/17</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ABFAC-0D77-4680-9C08-FA0DD250B4A7}" type="slidenum">
              <a:rPr lang="zh-CN" altLang="en-US" smtClean="0"/>
              <a:t>‹#›</a:t>
            </a:fld>
            <a:endParaRPr lang="zh-CN" altLang="en-US"/>
          </a:p>
        </p:txBody>
      </p:sp>
    </p:spTree>
    <p:extLst>
      <p:ext uri="{BB962C8B-B14F-4D97-AF65-F5344CB8AC3E}">
        <p14:creationId xmlns:p14="http://schemas.microsoft.com/office/powerpoint/2010/main" val="269971313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2</a:t>
            </a:fld>
            <a:endParaRPr lang="zh-CN" altLang="en-US"/>
          </a:p>
        </p:txBody>
      </p:sp>
    </p:spTree>
    <p:extLst>
      <p:ext uri="{BB962C8B-B14F-4D97-AF65-F5344CB8AC3E}">
        <p14:creationId xmlns:p14="http://schemas.microsoft.com/office/powerpoint/2010/main" val="2187262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3</a:t>
            </a:fld>
            <a:endParaRPr lang="zh-CN" altLang="en-US"/>
          </a:p>
        </p:txBody>
      </p:sp>
    </p:spTree>
    <p:extLst>
      <p:ext uri="{BB962C8B-B14F-4D97-AF65-F5344CB8AC3E}">
        <p14:creationId xmlns:p14="http://schemas.microsoft.com/office/powerpoint/2010/main" val="143114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4</a:t>
            </a:fld>
            <a:endParaRPr lang="zh-CN" altLang="en-US"/>
          </a:p>
        </p:txBody>
      </p:sp>
    </p:spTree>
    <p:extLst>
      <p:ext uri="{BB962C8B-B14F-4D97-AF65-F5344CB8AC3E}">
        <p14:creationId xmlns:p14="http://schemas.microsoft.com/office/powerpoint/2010/main" val="864951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5</a:t>
            </a:fld>
            <a:endParaRPr lang="zh-CN" altLang="en-US"/>
          </a:p>
        </p:txBody>
      </p:sp>
    </p:spTree>
    <p:extLst>
      <p:ext uri="{BB962C8B-B14F-4D97-AF65-F5344CB8AC3E}">
        <p14:creationId xmlns:p14="http://schemas.microsoft.com/office/powerpoint/2010/main" val="1207718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6</a:t>
            </a:fld>
            <a:endParaRPr lang="zh-CN" altLang="en-US"/>
          </a:p>
        </p:txBody>
      </p:sp>
    </p:spTree>
    <p:extLst>
      <p:ext uri="{BB962C8B-B14F-4D97-AF65-F5344CB8AC3E}">
        <p14:creationId xmlns:p14="http://schemas.microsoft.com/office/powerpoint/2010/main" val="1848985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7</a:t>
            </a:fld>
            <a:endParaRPr lang="zh-CN" altLang="en-US"/>
          </a:p>
        </p:txBody>
      </p:sp>
    </p:spTree>
    <p:extLst>
      <p:ext uri="{BB962C8B-B14F-4D97-AF65-F5344CB8AC3E}">
        <p14:creationId xmlns:p14="http://schemas.microsoft.com/office/powerpoint/2010/main" val="708322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8</a:t>
            </a:fld>
            <a:endParaRPr lang="zh-CN" altLang="en-US"/>
          </a:p>
        </p:txBody>
      </p:sp>
    </p:spTree>
    <p:extLst>
      <p:ext uri="{BB962C8B-B14F-4D97-AF65-F5344CB8AC3E}">
        <p14:creationId xmlns:p14="http://schemas.microsoft.com/office/powerpoint/2010/main" val="3078199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9</a:t>
            </a:fld>
            <a:endParaRPr lang="zh-CN" altLang="en-US"/>
          </a:p>
        </p:txBody>
      </p:sp>
    </p:spTree>
    <p:extLst>
      <p:ext uri="{BB962C8B-B14F-4D97-AF65-F5344CB8AC3E}">
        <p14:creationId xmlns:p14="http://schemas.microsoft.com/office/powerpoint/2010/main" val="3361614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10</a:t>
            </a:fld>
            <a:endParaRPr lang="zh-CN" altLang="en-US"/>
          </a:p>
        </p:txBody>
      </p:sp>
    </p:spTree>
    <p:extLst>
      <p:ext uri="{BB962C8B-B14F-4D97-AF65-F5344CB8AC3E}">
        <p14:creationId xmlns:p14="http://schemas.microsoft.com/office/powerpoint/2010/main" val="3456649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11</a:t>
            </a:fld>
            <a:endParaRPr lang="zh-CN" altLang="en-US"/>
          </a:p>
        </p:txBody>
      </p:sp>
    </p:spTree>
    <p:extLst>
      <p:ext uri="{BB962C8B-B14F-4D97-AF65-F5344CB8AC3E}">
        <p14:creationId xmlns:p14="http://schemas.microsoft.com/office/powerpoint/2010/main" val="1958423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12</a:t>
            </a:fld>
            <a:endParaRPr lang="zh-CN" altLang="en-US"/>
          </a:p>
        </p:txBody>
      </p:sp>
    </p:spTree>
    <p:extLst>
      <p:ext uri="{BB962C8B-B14F-4D97-AF65-F5344CB8AC3E}">
        <p14:creationId xmlns:p14="http://schemas.microsoft.com/office/powerpoint/2010/main" val="2404192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13</a:t>
            </a:fld>
            <a:endParaRPr lang="zh-CN" altLang="en-US"/>
          </a:p>
        </p:txBody>
      </p:sp>
    </p:spTree>
    <p:extLst>
      <p:ext uri="{BB962C8B-B14F-4D97-AF65-F5344CB8AC3E}">
        <p14:creationId xmlns:p14="http://schemas.microsoft.com/office/powerpoint/2010/main" val="2820679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14</a:t>
            </a:fld>
            <a:endParaRPr lang="zh-CN" altLang="en-US"/>
          </a:p>
        </p:txBody>
      </p:sp>
    </p:spTree>
    <p:extLst>
      <p:ext uri="{BB962C8B-B14F-4D97-AF65-F5344CB8AC3E}">
        <p14:creationId xmlns:p14="http://schemas.microsoft.com/office/powerpoint/2010/main" val="1639813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032"/>
            <a:ext cx="6858000" cy="1791253"/>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2363"/>
            <a:ext cx="6858000" cy="124220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4021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3160"/>
            <a:ext cx="7886700" cy="112548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929"/>
            <a:ext cx="7886700" cy="994479"/>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1261"/>
            <a:ext cx="3868340"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9386"/>
            <a:ext cx="3868340"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1261"/>
            <a:ext cx="3887391"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9386"/>
            <a:ext cx="3887391"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C7CFC9F-4B06-4ABB-A28A-559A77B7DC59}" type="slidenum">
              <a:rPr lang="zh-CN" altLang="en-US" smtClean="0"/>
              <a:t>‹#›</a:t>
            </a:fld>
            <a:endParaRPr lang="zh-CN" altLang="en-US"/>
          </a:p>
        </p:txBody>
      </p:sp>
      <p:sp>
        <p:nvSpPr>
          <p:cNvPr id="5" name="矩形 4"/>
          <p:cNvSpPr/>
          <p:nvPr userDrawn="1"/>
        </p:nvSpPr>
        <p:spPr>
          <a:xfrm>
            <a:off x="253" y="196280"/>
            <a:ext cx="14404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6" name="文本框 37"/>
          <p:cNvSpPr txBox="1"/>
          <p:nvPr userDrawn="1"/>
        </p:nvSpPr>
        <p:spPr>
          <a:xfrm>
            <a:off x="216310" y="196280"/>
            <a:ext cx="2190351" cy="315475"/>
          </a:xfrm>
          <a:prstGeom prst="rect">
            <a:avLst/>
          </a:prstGeom>
          <a:noFill/>
        </p:spPr>
        <p:txBody>
          <a:bodyPr wrap="none" lIns="68584" tIns="34292" rIns="68584" bIns="34292" rtlCol="0">
            <a:spAutoFit/>
          </a:bodyPr>
          <a:lstStyle/>
          <a:p>
            <a:pPr defTabSz="685800"/>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7" name="文本框 38"/>
          <p:cNvSpPr txBox="1"/>
          <p:nvPr userDrawn="1"/>
        </p:nvSpPr>
        <p:spPr>
          <a:xfrm>
            <a:off x="265271" y="520316"/>
            <a:ext cx="2039271" cy="207753"/>
          </a:xfrm>
          <a:prstGeom prst="rect">
            <a:avLst/>
          </a:prstGeom>
          <a:noFill/>
        </p:spPr>
        <p:txBody>
          <a:bodyPr wrap="square" lIns="68584" tIns="34292" rIns="68584" bIns="34292" rtlCol="0">
            <a:spAutoFit/>
          </a:bodyPr>
          <a:lstStyle/>
          <a:p>
            <a:pPr algn="dist" defTabSz="685800"/>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798"/>
            <a:ext cx="4629150" cy="36563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798"/>
            <a:ext cx="4629150" cy="365634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单击图标添加20</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928"/>
            <a:ext cx="1971675" cy="436022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928"/>
            <a:ext cx="5800725" cy="436022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2020/11/17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929"/>
            <a:ext cx="7886700" cy="994479"/>
          </a:xfrm>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a:lvl1pPr>
          </a:lstStyle>
          <a:p>
            <a:pPr>
              <a:defRPr/>
            </a:pPr>
            <a:fld id="{0C9ABEBE-EF13-4983-B182-046B37A0370C}" type="datetime1">
              <a:rPr lang="zh-CN" altLang="en-US"/>
              <a:t>2020/11/17</a:t>
            </a:fld>
            <a:endParaRPr lang="zh-CN" altLang="en-US" sz="1400" dirty="0">
              <a:solidFill>
                <a:prstClr val="black"/>
              </a:solidFill>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fld id="{98145E6F-D1B7-49E0-9AB3-789D9698C190}" type="slidenum">
              <a:rPr lang="zh-CN" altLang="en-US"/>
              <a:t>‹#›</a:t>
            </a:fld>
            <a:endParaRPr lang="zh-CN" altLang="en-US" sz="1400" dirty="0">
              <a:solidFill>
                <a:prstClr val="black"/>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t>17/11/2020</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929"/>
            <a:ext cx="7886700" cy="99447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642"/>
            <a:ext cx="7886700" cy="326451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8735"/>
            <a:ext cx="2057400" cy="273928"/>
          </a:xfrm>
          <a:prstGeom prst="rect">
            <a:avLst/>
          </a:prstGeom>
        </p:spPr>
        <p:txBody>
          <a:bodyPr vert="horz" lIns="91440" tIns="45720" rIns="91440" bIns="45720" rtlCol="0" anchor="ctr"/>
          <a:lstStyle>
            <a:lvl1pPr algn="l">
              <a:defRPr sz="900">
                <a:solidFill>
                  <a:schemeClr val="tx1">
                    <a:tint val="75000"/>
                  </a:schemeClr>
                </a:solidFill>
              </a:defRPr>
            </a:lvl1pPr>
          </a:lstStyle>
          <a:p>
            <a:fld id="{75B0A747-1217-4325-A876-522190C71555}" type="datetimeFigureOut">
              <a:rPr lang="zh-CN" altLang="en-US" smtClean="0"/>
              <a:t>2020/11/17</a:t>
            </a:fld>
            <a:endParaRPr lang="zh-CN" altLang="en-US"/>
          </a:p>
        </p:txBody>
      </p:sp>
      <p:sp>
        <p:nvSpPr>
          <p:cNvPr id="5" name="Footer Placeholder 4"/>
          <p:cNvSpPr>
            <a:spLocks noGrp="1"/>
          </p:cNvSpPr>
          <p:nvPr>
            <p:ph type="ftr" sz="quarter" idx="3"/>
          </p:nvPr>
        </p:nvSpPr>
        <p:spPr>
          <a:xfrm>
            <a:off x="3028950" y="4768735"/>
            <a:ext cx="3086100" cy="2739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8735"/>
            <a:ext cx="2057400" cy="273928"/>
          </a:xfrm>
          <a:prstGeom prst="rect">
            <a:avLst/>
          </a:prstGeom>
        </p:spPr>
        <p:txBody>
          <a:bodyPr vert="horz" lIns="91440" tIns="45720" rIns="91440" bIns="45720" rtlCol="0" anchor="ctr"/>
          <a:lstStyle>
            <a:lvl1pPr algn="r">
              <a:defRPr sz="900">
                <a:solidFill>
                  <a:schemeClr val="tx1">
                    <a:tint val="75000"/>
                  </a:schemeClr>
                </a:solidFill>
              </a:defRPr>
            </a:lvl1pPr>
          </a:lstStyle>
          <a:p>
            <a:fld id="{BC7CFC9F-4B06-4ABB-A28A-559A77B7DC5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1500"/>
    </mc:Choice>
    <mc:Fallback xmlns="">
      <p:transition spd="slow"/>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4.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1" y="5875"/>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20 2"/>
          <p:cNvPicPr>
            <a:picLocks noChangeAspect="1"/>
          </p:cNvPicPr>
          <p:nvPr/>
        </p:nvPicPr>
        <p:blipFill rotWithShape="1">
          <a:blip r:embed="rId2">
            <a:extLst>
              <a:ext uri="{28A0092B-C50C-407E-A947-70E740481C1C}">
                <a14:useLocalDpi xmlns:a14="http://schemas.microsoft.com/office/drawing/2010/main" val="0"/>
              </a:ext>
            </a:extLst>
          </a:blip>
          <a:srcRect l="9884"/>
          <a:stretch>
            <a:fillRect/>
          </a:stretch>
        </p:blipFill>
        <p:spPr>
          <a:xfrm>
            <a:off x="4224" y="1133312"/>
            <a:ext cx="3523982" cy="4018760"/>
          </a:xfrm>
          <a:prstGeom prst="rect">
            <a:avLst/>
          </a:prstGeom>
          <a:solidFill>
            <a:srgbClr val="2A5BA8"/>
          </a:solidFill>
        </p:spPr>
      </p:pic>
      <p:pic>
        <p:nvPicPr>
          <p:cNvPr id="5" name="20 4"/>
          <p:cNvPicPr>
            <a:picLocks noChangeAspect="1"/>
          </p:cNvPicPr>
          <p:nvPr/>
        </p:nvPicPr>
        <p:blipFill rotWithShape="1">
          <a:blip r:embed="rId2">
            <a:extLst>
              <a:ext uri="{28A0092B-C50C-407E-A947-70E740481C1C}">
                <a14:useLocalDpi xmlns:a14="http://schemas.microsoft.com/office/drawing/2010/main" val="0"/>
              </a:ext>
            </a:extLst>
          </a:blip>
          <a:srcRect r="46564" b="51735"/>
          <a:stretch>
            <a:fillRect/>
          </a:stretch>
        </p:blipFill>
        <p:spPr>
          <a:xfrm flipV="1">
            <a:off x="7180313" y="794"/>
            <a:ext cx="1952652" cy="1727659"/>
          </a:xfrm>
          <a:prstGeom prst="rect">
            <a:avLst/>
          </a:prstGeom>
        </p:spPr>
      </p:pic>
      <p:sp>
        <p:nvSpPr>
          <p:cNvPr id="7" name="矩形 259"/>
          <p:cNvSpPr>
            <a:spLocks noChangeArrowheads="1"/>
          </p:cNvSpPr>
          <p:nvPr/>
        </p:nvSpPr>
        <p:spPr bwMode="auto">
          <a:xfrm>
            <a:off x="6750050" y="2957195"/>
            <a:ext cx="1868170" cy="37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类</a:t>
            </a:r>
            <a:r>
              <a:rPr 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C</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描述</a:t>
            </a:r>
          </a:p>
        </p:txBody>
      </p:sp>
      <p:sp>
        <p:nvSpPr>
          <p:cNvPr id="8" name="矩形 259"/>
          <p:cNvSpPr>
            <a:spLocks noChangeArrowheads="1"/>
          </p:cNvSpPr>
          <p:nvPr/>
        </p:nvSpPr>
        <p:spPr bwMode="auto">
          <a:xfrm>
            <a:off x="3472815" y="2324735"/>
            <a:ext cx="566928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数据结构 </a:t>
            </a:r>
            <a:r>
              <a:rPr lang="en-US" altLang="zh-CN"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DATA STRUCTURE</a:t>
            </a:r>
          </a:p>
        </p:txBody>
      </p:sp>
      <p:sp>
        <p:nvSpPr>
          <p:cNvPr id="10" name="Rectangle 3"/>
          <p:cNvSpPr txBox="1">
            <a:spLocks noChangeArrowheads="1"/>
          </p:cNvSpPr>
          <p:nvPr/>
        </p:nvSpPr>
        <p:spPr bwMode="auto">
          <a:xfrm>
            <a:off x="4803775" y="3791585"/>
            <a:ext cx="1569085" cy="184150"/>
          </a:xfrm>
          <a:prstGeom prst="rect">
            <a:avLst/>
          </a:prstGeom>
          <a:solidFill>
            <a:schemeClr val="accent1"/>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r>
              <a:rPr lang="zh-CN" altLang="en-US" sz="1200" b="0" noProof="1">
                <a:effectLst/>
                <a:latin typeface="百度综艺简体" panose="02010601030101010101" charset="-122"/>
                <a:ea typeface="百度综艺简体" panose="02010601030101010101" charset="-122"/>
                <a:cs typeface="百度综艺简体" panose="02010601030101010101" charset="-122"/>
              </a:rPr>
              <a:t>任课教师：</a:t>
            </a:r>
            <a:r>
              <a:rPr lang="zh-CN" sz="1200" b="0" noProof="1">
                <a:effectLst/>
                <a:latin typeface="百度综艺简体" panose="02010601030101010101" charset="-122"/>
                <a:ea typeface="百度综艺简体" panose="02010601030101010101" charset="-122"/>
                <a:cs typeface="百度综艺简体" panose="02010601030101010101" charset="-122"/>
              </a:rPr>
              <a:t>王青松</a:t>
            </a:r>
            <a:r>
              <a:rPr lang="en-US" altLang="zh-CN" sz="1200" b="0" noProof="1">
                <a:effectLst/>
                <a:latin typeface="百度综艺简体" panose="02010601030101010101" charset="-122"/>
                <a:ea typeface="百度综艺简体" panose="02010601030101010101" charset="-122"/>
                <a:cs typeface="百度综艺简体" panose="02010601030101010101" charset="-122"/>
              </a:rPr>
              <a:t> </a:t>
            </a:r>
            <a:r>
              <a:rPr lang="en-US" altLang="zh-CN" sz="1200" b="0" noProof="1">
                <a:effectLst/>
                <a:latin typeface="华文中宋" panose="02010600040101010101" charset="-122"/>
                <a:ea typeface="华文中宋" panose="02010600040101010101" charset="-122"/>
              </a:rPr>
              <a:t>     </a:t>
            </a:r>
            <a:r>
              <a:rPr lang="zh-CN" altLang="en-US" sz="1200" b="0" noProof="1">
                <a:effectLst/>
                <a:latin typeface="华文中宋" panose="02010600040101010101" charset="-122"/>
                <a:ea typeface="华文中宋" panose="02010600040101010101" charset="-122"/>
              </a:rPr>
              <a:t>   </a:t>
            </a:r>
            <a:endParaRPr lang="en-US" altLang="ko-KR" sz="1200" b="0" noProof="1">
              <a:effectLst/>
              <a:latin typeface="华文中宋" panose="02010600040101010101" charset="-122"/>
              <a:ea typeface="华文中宋" panose="02010600040101010101" charset="-122"/>
            </a:endParaRPr>
          </a:p>
        </p:txBody>
      </p:sp>
      <p:sp>
        <p:nvSpPr>
          <p:cNvPr id="11" name="Rectangle 3"/>
          <p:cNvSpPr txBox="1">
            <a:spLocks noChangeArrowheads="1"/>
          </p:cNvSpPr>
          <p:nvPr/>
        </p:nvSpPr>
        <p:spPr bwMode="auto">
          <a:xfrm>
            <a:off x="6372558" y="3791658"/>
            <a:ext cx="2760406" cy="184538"/>
          </a:xfrm>
          <a:prstGeom prst="rect">
            <a:avLst/>
          </a:prstGeom>
          <a:solidFill>
            <a:schemeClr val="accent2"/>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endParaRPr lang="en-US" altLang="ko-KR" sz="1200" b="0" noProof="1">
              <a:effectLst/>
              <a:latin typeface="华文中宋" panose="02010600040101010101" charset="-122"/>
              <a:ea typeface="华文中宋"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 calcmode="lin" valueType="num">
                                      <p:cBhvr>
                                        <p:cTn id="2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8"/>
                                        </p:tgtEl>
                                      </p:cBhvr>
                                    </p:animEffect>
                                  </p:childTnLst>
                                </p:cTn>
                              </p:par>
                            </p:childTnLst>
                          </p:cTn>
                        </p:par>
                        <p:par>
                          <p:cTn id="23" fill="hold">
                            <p:stCondLst>
                              <p:cond delay="2599"/>
                            </p:stCondLst>
                            <p:childTnLst>
                              <p:par>
                                <p:cTn id="24" presetID="26" presetClass="emph" presetSubtype="0" fill="hold" grpId="1" nodeType="afterEffect">
                                  <p:stCondLst>
                                    <p:cond delay="0"/>
                                  </p:stCondLst>
                                  <p:iterate type="lt">
                                    <p:tmPct val="0"/>
                                  </p:iterate>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par>
                          <p:cTn id="27" fill="hold">
                            <p:stCondLst>
                              <p:cond delay="3099"/>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7"/>
                                        </p:tgtEl>
                                        <p:attrNameLst>
                                          <p:attrName>ppt_y</p:attrName>
                                        </p:attrNameLst>
                                      </p:cBhvr>
                                      <p:tavLst>
                                        <p:tav tm="0">
                                          <p:val>
                                            <p:strVal val="#ppt_y"/>
                                          </p:val>
                                        </p:tav>
                                        <p:tav tm="100000">
                                          <p:val>
                                            <p:strVal val="#ppt_y"/>
                                          </p:val>
                                        </p:tav>
                                      </p:tavLst>
                                    </p:anim>
                                    <p:anim calcmode="lin" valueType="num">
                                      <p:cBhvr>
                                        <p:cTn id="3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7"/>
                                        </p:tgtEl>
                                      </p:cBhvr>
                                    </p:animEffect>
                                  </p:childTnLst>
                                </p:cTn>
                              </p:par>
                            </p:childTnLst>
                          </p:cTn>
                        </p:par>
                        <p:par>
                          <p:cTn id="35" fill="hold">
                            <p:stCondLst>
                              <p:cond delay="3850"/>
                            </p:stCondLst>
                            <p:childTnLst>
                              <p:par>
                                <p:cTn id="36" presetID="26" presetClass="emph" presetSubtype="0" fill="hold" grpId="1" nodeType="afterEffect">
                                  <p:stCondLst>
                                    <p:cond delay="0"/>
                                  </p:stCondLst>
                                  <p:iterate type="lt">
                                    <p:tmPct val="0"/>
                                  </p:iterate>
                                  <p:childTnLst>
                                    <p:animEffect transition="out" filter="fade">
                                      <p:cBhvr>
                                        <p:cTn id="37" dur="500" tmFilter="0, 0; .2, .5; .8, .5; 1, 0"/>
                                        <p:tgtEl>
                                          <p:spTgt spid="7"/>
                                        </p:tgtEl>
                                      </p:cBhvr>
                                    </p:animEffect>
                                    <p:animScale>
                                      <p:cBhvr>
                                        <p:cTn id="38" dur="250" autoRev="1" fill="hold"/>
                                        <p:tgtEl>
                                          <p:spTgt spid="7"/>
                                        </p:tgtEl>
                                      </p:cBhvr>
                                      <p:by x="105000" y="105000"/>
                                    </p:animScale>
                                  </p:childTnLst>
                                </p:cTn>
                              </p:par>
                            </p:childTnLst>
                          </p:cTn>
                        </p:par>
                        <p:par>
                          <p:cTn id="39" fill="hold">
                            <p:stCondLst>
                              <p:cond delay="435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485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333552" y="2041583"/>
            <a:ext cx="6809583" cy="463012"/>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 查找表是由同一类型的数据元素</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或记录</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构成的集合。</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1019335" y="1313060"/>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何谓查找表 ？</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TextBox 5"/>
          <p:cNvSpPr txBox="1">
            <a:spLocks noChangeArrowheads="1"/>
          </p:cNvSpPr>
          <p:nvPr/>
        </p:nvSpPr>
        <p:spPr bwMode="auto">
          <a:xfrm>
            <a:off x="1333552" y="3404065"/>
            <a:ext cx="7018369" cy="878510"/>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 由于“集合”中的数据元素之间存在着松散的关系，因此查找表是一种应用灵便的结构。</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1000"/>
                                        <p:tgtEl>
                                          <p:spTgt spid="29"/>
                                        </p:tgtEl>
                                      </p:cBhvr>
                                    </p:animEffect>
                                    <p:anim calcmode="lin" valueType="num">
                                      <p:cBhvr>
                                        <p:cTn id="48" dur="1000" fill="hold"/>
                                        <p:tgtEl>
                                          <p:spTgt spid="29"/>
                                        </p:tgtEl>
                                        <p:attrNameLst>
                                          <p:attrName>ppt_x</p:attrName>
                                        </p:attrNameLst>
                                      </p:cBhvr>
                                      <p:tavLst>
                                        <p:tav tm="0">
                                          <p:val>
                                            <p:strVal val="#ppt_x"/>
                                          </p:val>
                                        </p:tav>
                                        <p:tav tm="100000">
                                          <p:val>
                                            <p:strVal val="#ppt_x"/>
                                          </p:val>
                                        </p:tav>
                                      </p:tavLst>
                                    </p:anim>
                                    <p:anim calcmode="lin" valueType="num">
                                      <p:cBhvr>
                                        <p:cTn id="4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41"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333552" y="2041583"/>
            <a:ext cx="6809583" cy="507831"/>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1)</a:t>
            </a:r>
            <a:r>
              <a:rPr lang="zh-CN" altLang="en-US" dirty="0">
                <a:solidFill>
                  <a:srgbClr val="2A5BA8"/>
                </a:solidFill>
                <a:latin typeface="百度综艺简体" panose="02010601030101010101" charset="-122"/>
                <a:ea typeface="百度综艺简体" panose="02010601030101010101" charset="-122"/>
              </a:rPr>
              <a:t>查询</a:t>
            </a:r>
            <a:r>
              <a:rPr lang="zh-CN" altLang="en-US" dirty="0">
                <a:latin typeface="百度综艺简体" panose="02010601030101010101" charset="-122"/>
                <a:ea typeface="百度综艺简体" panose="02010601030101010101" charset="-122"/>
              </a:rPr>
              <a:t>某个</a:t>
            </a:r>
            <a:r>
              <a:rPr lang="zh-CN" altLang="en-US" dirty="0">
                <a:solidFill>
                  <a:srgbClr val="FF0000"/>
                </a:solidFill>
                <a:latin typeface="百度综艺简体" panose="02010601030101010101" charset="-122"/>
                <a:ea typeface="百度综艺简体" panose="02010601030101010101" charset="-122"/>
              </a:rPr>
              <a:t>“特定的”</a:t>
            </a:r>
            <a:r>
              <a:rPr lang="zh-CN" altLang="en-US" dirty="0">
                <a:latin typeface="百度综艺简体" panose="02010601030101010101" charset="-122"/>
                <a:ea typeface="百度综艺简体" panose="02010601030101010101" charset="-122"/>
              </a:rPr>
              <a:t>数据元素是否在</a:t>
            </a:r>
            <a:r>
              <a:rPr lang="zh-CN" altLang="en-US" dirty="0" smtClean="0">
                <a:latin typeface="百度综艺简体" panose="02010601030101010101" charset="-122"/>
                <a:ea typeface="百度综艺简体" panose="02010601030101010101" charset="-122"/>
              </a:rPr>
              <a:t>查找表</a:t>
            </a:r>
            <a:r>
              <a:rPr lang="zh-CN" altLang="en-US" dirty="0">
                <a:latin typeface="百度综艺简体" panose="02010601030101010101" charset="-122"/>
                <a:ea typeface="百度综艺简体" panose="02010601030101010101" charset="-122"/>
              </a:rPr>
              <a:t>中；</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1019335" y="1313060"/>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对查找表经常进行的操作</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a:t>
            </a:r>
            <a:endPar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endParaRP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TextBox 5"/>
          <p:cNvSpPr txBox="1">
            <a:spLocks noChangeArrowheads="1"/>
          </p:cNvSpPr>
          <p:nvPr/>
        </p:nvSpPr>
        <p:spPr bwMode="auto">
          <a:xfrm>
            <a:off x="1333552" y="2752578"/>
            <a:ext cx="6809583" cy="507831"/>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2)</a:t>
            </a:r>
            <a:r>
              <a:rPr lang="zh-CN" altLang="en-US" dirty="0">
                <a:solidFill>
                  <a:srgbClr val="2A5BA8"/>
                </a:solidFill>
                <a:latin typeface="百度综艺简体" panose="02010601030101010101" charset="-122"/>
                <a:ea typeface="百度综艺简体" panose="02010601030101010101" charset="-122"/>
              </a:rPr>
              <a:t>检索</a:t>
            </a:r>
            <a:r>
              <a:rPr lang="zh-CN" altLang="en-US" dirty="0">
                <a:latin typeface="百度综艺简体" panose="02010601030101010101" charset="-122"/>
                <a:ea typeface="百度综艺简体" panose="02010601030101010101" charset="-122"/>
              </a:rPr>
              <a:t>某个</a:t>
            </a:r>
            <a:r>
              <a:rPr lang="zh-CN" altLang="en-US" dirty="0">
                <a:solidFill>
                  <a:srgbClr val="FF0000"/>
                </a:solidFill>
                <a:latin typeface="百度综艺简体" panose="02010601030101010101" charset="-122"/>
                <a:ea typeface="百度综艺简体" panose="02010601030101010101" charset="-122"/>
              </a:rPr>
              <a:t>“特定的”</a:t>
            </a:r>
            <a:r>
              <a:rPr lang="zh-CN" altLang="en-US" dirty="0">
                <a:latin typeface="百度综艺简体" panose="02010601030101010101" charset="-122"/>
                <a:ea typeface="百度综艺简体" panose="02010601030101010101" charset="-122"/>
              </a:rPr>
              <a:t>数据元素的各种属性；</a:t>
            </a:r>
          </a:p>
        </p:txBody>
      </p:sp>
      <p:sp>
        <p:nvSpPr>
          <p:cNvPr id="17" name="TextBox 5"/>
          <p:cNvSpPr txBox="1">
            <a:spLocks noChangeArrowheads="1"/>
          </p:cNvSpPr>
          <p:nvPr/>
        </p:nvSpPr>
        <p:spPr bwMode="auto">
          <a:xfrm>
            <a:off x="1333552" y="3463573"/>
            <a:ext cx="6809583" cy="507831"/>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3)</a:t>
            </a:r>
            <a:r>
              <a:rPr lang="zh-CN" altLang="en-US" dirty="0">
                <a:latin typeface="百度综艺简体" panose="02010601030101010101" charset="-122"/>
                <a:ea typeface="百度综艺简体" panose="02010601030101010101" charset="-122"/>
              </a:rPr>
              <a:t>在查找表中</a:t>
            </a:r>
            <a:r>
              <a:rPr lang="zh-CN" altLang="en-US" dirty="0">
                <a:solidFill>
                  <a:srgbClr val="2A5BA8"/>
                </a:solidFill>
                <a:latin typeface="百度综艺简体" panose="02010601030101010101" charset="-122"/>
                <a:ea typeface="百度综艺简体" panose="02010601030101010101" charset="-122"/>
              </a:rPr>
              <a:t>插入</a:t>
            </a:r>
            <a:r>
              <a:rPr lang="zh-CN" altLang="en-US" dirty="0">
                <a:latin typeface="百度综艺简体" panose="02010601030101010101" charset="-122"/>
                <a:ea typeface="百度综艺简体" panose="02010601030101010101" charset="-122"/>
              </a:rPr>
              <a:t>一个数据元素；</a:t>
            </a:r>
          </a:p>
        </p:txBody>
      </p:sp>
      <p:sp>
        <p:nvSpPr>
          <p:cNvPr id="18" name="TextBox 5"/>
          <p:cNvSpPr txBox="1">
            <a:spLocks noChangeArrowheads="1"/>
          </p:cNvSpPr>
          <p:nvPr/>
        </p:nvSpPr>
        <p:spPr bwMode="auto">
          <a:xfrm>
            <a:off x="1333552" y="4174568"/>
            <a:ext cx="6809583" cy="507831"/>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4)</a:t>
            </a:r>
            <a:r>
              <a:rPr lang="zh-CN" altLang="en-US" dirty="0">
                <a:latin typeface="百度综艺简体" panose="02010601030101010101" charset="-122"/>
                <a:ea typeface="百度综艺简体" panose="02010601030101010101" charset="-122"/>
              </a:rPr>
              <a:t>从查找表中</a:t>
            </a:r>
            <a:r>
              <a:rPr lang="zh-CN" altLang="en-US" dirty="0">
                <a:solidFill>
                  <a:srgbClr val="2A5BA8"/>
                </a:solidFill>
                <a:latin typeface="百度综艺简体" panose="02010601030101010101" charset="-122"/>
                <a:ea typeface="百度综艺简体" panose="02010601030101010101" charset="-122"/>
              </a:rPr>
              <a:t>删去</a:t>
            </a:r>
            <a:r>
              <a:rPr lang="zh-CN" altLang="en-US" dirty="0">
                <a:latin typeface="百度综艺简体" panose="02010601030101010101" charset="-122"/>
                <a:ea typeface="百度综艺简体" panose="02010601030101010101" charset="-122"/>
              </a:rPr>
              <a:t>某个数据元素。</a:t>
            </a:r>
          </a:p>
        </p:txBody>
      </p:sp>
    </p:spTree>
    <p:extLst>
      <p:ext uri="{BB962C8B-B14F-4D97-AF65-F5344CB8AC3E}">
        <p14:creationId xmlns:p14="http://schemas.microsoft.com/office/powerpoint/2010/main" val="3291550802"/>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childTnLst>
                          </p:cTn>
                        </p:par>
                        <p:par>
                          <p:cTn id="50" fill="hold">
                            <p:stCondLst>
                              <p:cond delay="6250"/>
                            </p:stCondLst>
                            <p:childTnLst>
                              <p:par>
                                <p:cTn id="51" presetID="42" presetClass="entr" presetSubtype="0" fill="hold" grpId="0"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1000"/>
                                        <p:tgtEl>
                                          <p:spTgt spid="17"/>
                                        </p:tgtEl>
                                      </p:cBhvr>
                                    </p:animEffect>
                                    <p:anim calcmode="lin" valueType="num">
                                      <p:cBhvr>
                                        <p:cTn id="54" dur="1000" fill="hold"/>
                                        <p:tgtEl>
                                          <p:spTgt spid="17"/>
                                        </p:tgtEl>
                                        <p:attrNameLst>
                                          <p:attrName>ppt_x</p:attrName>
                                        </p:attrNameLst>
                                      </p:cBhvr>
                                      <p:tavLst>
                                        <p:tav tm="0">
                                          <p:val>
                                            <p:strVal val="#ppt_x"/>
                                          </p:val>
                                        </p:tav>
                                        <p:tav tm="100000">
                                          <p:val>
                                            <p:strVal val="#ppt_x"/>
                                          </p:val>
                                        </p:tav>
                                      </p:tavLst>
                                    </p:anim>
                                    <p:anim calcmode="lin" valueType="num">
                                      <p:cBhvr>
                                        <p:cTn id="55" dur="1000" fill="hold"/>
                                        <p:tgtEl>
                                          <p:spTgt spid="17"/>
                                        </p:tgtEl>
                                        <p:attrNameLst>
                                          <p:attrName>ppt_y</p:attrName>
                                        </p:attrNameLst>
                                      </p:cBhvr>
                                      <p:tavLst>
                                        <p:tav tm="0">
                                          <p:val>
                                            <p:strVal val="#ppt_y+.1"/>
                                          </p:val>
                                        </p:tav>
                                        <p:tav tm="100000">
                                          <p:val>
                                            <p:strVal val="#ppt_y"/>
                                          </p:val>
                                        </p:tav>
                                      </p:tavLst>
                                    </p:anim>
                                  </p:childTnLst>
                                </p:cTn>
                              </p:par>
                            </p:childTnLst>
                          </p:cTn>
                        </p:par>
                        <p:par>
                          <p:cTn id="56" fill="hold">
                            <p:stCondLst>
                              <p:cond delay="7250"/>
                            </p:stCondLst>
                            <p:childTnLst>
                              <p:par>
                                <p:cTn id="57" presetID="42"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1000"/>
                                        <p:tgtEl>
                                          <p:spTgt spid="18"/>
                                        </p:tgtEl>
                                      </p:cBhvr>
                                    </p:animEffect>
                                    <p:anim calcmode="lin" valueType="num">
                                      <p:cBhvr>
                                        <p:cTn id="60" dur="1000" fill="hold"/>
                                        <p:tgtEl>
                                          <p:spTgt spid="18"/>
                                        </p:tgtEl>
                                        <p:attrNameLst>
                                          <p:attrName>ppt_x</p:attrName>
                                        </p:attrNameLst>
                                      </p:cBhvr>
                                      <p:tavLst>
                                        <p:tav tm="0">
                                          <p:val>
                                            <p:strVal val="#ppt_x"/>
                                          </p:val>
                                        </p:tav>
                                        <p:tav tm="100000">
                                          <p:val>
                                            <p:strVal val="#ppt_x"/>
                                          </p:val>
                                        </p:tav>
                                      </p:tavLst>
                                    </p:anim>
                                    <p:anim calcmode="lin" valueType="num">
                                      <p:cBhvr>
                                        <p:cTn id="6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41" grpId="0"/>
      <p:bldP spid="14"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543882" y="1619242"/>
            <a:ext cx="6809583" cy="507831"/>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静态查找表</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1011384" y="1196815"/>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查找表可分为两类</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TextBox 5"/>
          <p:cNvSpPr txBox="1">
            <a:spLocks noChangeArrowheads="1"/>
          </p:cNvSpPr>
          <p:nvPr/>
        </p:nvSpPr>
        <p:spPr bwMode="auto">
          <a:xfrm>
            <a:off x="1543881" y="2745457"/>
            <a:ext cx="6809583"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动态查找表</a:t>
            </a:r>
          </a:p>
        </p:txBody>
      </p:sp>
      <p:sp>
        <p:nvSpPr>
          <p:cNvPr id="23" name="TextBox 5"/>
          <p:cNvSpPr txBox="1">
            <a:spLocks noChangeArrowheads="1"/>
          </p:cNvSpPr>
          <p:nvPr/>
        </p:nvSpPr>
        <p:spPr bwMode="auto">
          <a:xfrm>
            <a:off x="2134235" y="2182349"/>
            <a:ext cx="6809583" cy="507831"/>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仅作</a:t>
            </a:r>
            <a:r>
              <a:rPr lang="zh-CN" altLang="en-US" dirty="0">
                <a:solidFill>
                  <a:srgbClr val="FF0000"/>
                </a:solidFill>
                <a:latin typeface="百度综艺简体" panose="02010601030101010101" charset="-122"/>
                <a:ea typeface="百度综艺简体" panose="02010601030101010101" charset="-122"/>
              </a:rPr>
              <a:t>查询</a:t>
            </a:r>
            <a:r>
              <a:rPr lang="zh-CN" altLang="en-US" dirty="0">
                <a:latin typeface="百度综艺简体" panose="02010601030101010101" charset="-122"/>
                <a:ea typeface="百度综艺简体" panose="02010601030101010101" charset="-122"/>
              </a:rPr>
              <a:t>和</a:t>
            </a:r>
            <a:r>
              <a:rPr lang="zh-CN" altLang="en-US" dirty="0">
                <a:solidFill>
                  <a:srgbClr val="FF0000"/>
                </a:solidFill>
                <a:latin typeface="百度综艺简体" panose="02010601030101010101" charset="-122"/>
                <a:ea typeface="百度综艺简体" panose="02010601030101010101" charset="-122"/>
              </a:rPr>
              <a:t>检索</a:t>
            </a:r>
            <a:r>
              <a:rPr lang="zh-CN" altLang="en-US" dirty="0">
                <a:latin typeface="百度综艺简体" panose="02010601030101010101" charset="-122"/>
                <a:ea typeface="百度综艺简体" panose="02010601030101010101" charset="-122"/>
              </a:rPr>
              <a:t>操作的查找表为静态查找表。</a:t>
            </a:r>
          </a:p>
        </p:txBody>
      </p:sp>
      <p:sp>
        <p:nvSpPr>
          <p:cNvPr id="24" name="TextBox 5"/>
          <p:cNvSpPr txBox="1">
            <a:spLocks noChangeArrowheads="1"/>
          </p:cNvSpPr>
          <p:nvPr/>
        </p:nvSpPr>
        <p:spPr bwMode="auto">
          <a:xfrm>
            <a:off x="1543881" y="3397314"/>
            <a:ext cx="6809583" cy="1338828"/>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有时</a:t>
            </a:r>
            <a:r>
              <a:rPr lang="zh-CN" altLang="en-US" dirty="0">
                <a:latin typeface="百度综艺简体" panose="02010601030101010101" charset="-122"/>
                <a:ea typeface="百度综艺简体" panose="02010601030101010101" charset="-122"/>
              </a:rPr>
              <a:t>在查询之后，还需要将“查询”结果为“</a:t>
            </a:r>
            <a:r>
              <a:rPr lang="zh-CN" altLang="en-US" dirty="0">
                <a:solidFill>
                  <a:srgbClr val="FF0000"/>
                </a:solidFill>
                <a:latin typeface="百度综艺简体" panose="02010601030101010101" charset="-122"/>
                <a:ea typeface="百度综艺简体" panose="02010601030101010101" charset="-122"/>
              </a:rPr>
              <a:t>不在查找表中</a:t>
            </a:r>
            <a:r>
              <a:rPr lang="zh-CN" altLang="en-US" dirty="0">
                <a:latin typeface="百度综艺简体" panose="02010601030101010101" charset="-122"/>
                <a:ea typeface="百度综艺简体" panose="02010601030101010101" charset="-122"/>
              </a:rPr>
              <a:t>”的数据元素</a:t>
            </a:r>
            <a:r>
              <a:rPr lang="zh-CN" altLang="en-US" dirty="0">
                <a:solidFill>
                  <a:srgbClr val="FF0000"/>
                </a:solidFill>
                <a:latin typeface="百度综艺简体" panose="02010601030101010101" charset="-122"/>
                <a:ea typeface="百度综艺简体" panose="02010601030101010101" charset="-122"/>
              </a:rPr>
              <a:t>插入到</a:t>
            </a:r>
            <a:r>
              <a:rPr lang="zh-CN" altLang="en-US" dirty="0">
                <a:latin typeface="百度综艺简体" panose="02010601030101010101" charset="-122"/>
                <a:ea typeface="百度综艺简体" panose="02010601030101010101" charset="-122"/>
              </a:rPr>
              <a:t>查找表中；或者，从查找表中</a:t>
            </a:r>
            <a:r>
              <a:rPr lang="zh-CN" altLang="en-US" dirty="0">
                <a:solidFill>
                  <a:srgbClr val="FF0000"/>
                </a:solidFill>
                <a:latin typeface="百度综艺简体" panose="02010601030101010101" charset="-122"/>
                <a:ea typeface="百度综艺简体" panose="02010601030101010101" charset="-122"/>
              </a:rPr>
              <a:t>删除</a:t>
            </a:r>
            <a:r>
              <a:rPr lang="zh-CN" altLang="en-US" dirty="0">
                <a:latin typeface="百度综艺简体" panose="02010601030101010101" charset="-122"/>
                <a:ea typeface="百度综艺简体" panose="02010601030101010101" charset="-122"/>
              </a:rPr>
              <a:t>其“查询”结果为“</a:t>
            </a:r>
            <a:r>
              <a:rPr lang="zh-CN" altLang="en-US" dirty="0">
                <a:solidFill>
                  <a:srgbClr val="FF0000"/>
                </a:solidFill>
                <a:latin typeface="百度综艺简体" panose="02010601030101010101" charset="-122"/>
                <a:ea typeface="百度综艺简体" panose="02010601030101010101" charset="-122"/>
              </a:rPr>
              <a:t>在查找表中</a:t>
            </a:r>
            <a:r>
              <a:rPr lang="zh-CN" altLang="en-US" dirty="0">
                <a:latin typeface="百度综艺简体" panose="02010601030101010101" charset="-122"/>
                <a:ea typeface="百度综艺简体" panose="02010601030101010101" charset="-122"/>
              </a:rPr>
              <a:t>”的数据元素</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此类表为动态查找表。</a:t>
            </a:r>
          </a:p>
        </p:txBody>
      </p:sp>
    </p:spTree>
    <p:extLst>
      <p:ext uri="{BB962C8B-B14F-4D97-AF65-F5344CB8AC3E}">
        <p14:creationId xmlns:p14="http://schemas.microsoft.com/office/powerpoint/2010/main" val="1450494213"/>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par>
                          <p:cTn id="50" fill="hold">
                            <p:stCondLst>
                              <p:cond delay="6250"/>
                            </p:stCondLst>
                            <p:childTnLst>
                              <p:par>
                                <p:cTn id="51" presetID="42"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0"/>
                                        <p:tgtEl>
                                          <p:spTgt spid="20"/>
                                        </p:tgtEl>
                                      </p:cBhvr>
                                    </p:animEffect>
                                    <p:anim calcmode="lin" valueType="num">
                                      <p:cBhvr>
                                        <p:cTn id="54" dur="1000" fill="hold"/>
                                        <p:tgtEl>
                                          <p:spTgt spid="20"/>
                                        </p:tgtEl>
                                        <p:attrNameLst>
                                          <p:attrName>ppt_x</p:attrName>
                                        </p:attrNameLst>
                                      </p:cBhvr>
                                      <p:tavLst>
                                        <p:tav tm="0">
                                          <p:val>
                                            <p:strVal val="#ppt_x"/>
                                          </p:val>
                                        </p:tav>
                                        <p:tav tm="100000">
                                          <p:val>
                                            <p:strVal val="#ppt_x"/>
                                          </p:val>
                                        </p:tav>
                                      </p:tavLst>
                                    </p:anim>
                                    <p:anim calcmode="lin" valueType="num">
                                      <p:cBhvr>
                                        <p:cTn id="55" dur="1000" fill="hold"/>
                                        <p:tgtEl>
                                          <p:spTgt spid="20"/>
                                        </p:tgtEl>
                                        <p:attrNameLst>
                                          <p:attrName>ppt_y</p:attrName>
                                        </p:attrNameLst>
                                      </p:cBhvr>
                                      <p:tavLst>
                                        <p:tav tm="0">
                                          <p:val>
                                            <p:strVal val="#ppt_y+.1"/>
                                          </p:val>
                                        </p:tav>
                                        <p:tav tm="100000">
                                          <p:val>
                                            <p:strVal val="#ppt_y"/>
                                          </p:val>
                                        </p:tav>
                                      </p:tavLst>
                                    </p:anim>
                                  </p:childTnLst>
                                </p:cTn>
                              </p:par>
                            </p:childTnLst>
                          </p:cTn>
                        </p:par>
                        <p:par>
                          <p:cTn id="56" fill="hold">
                            <p:stCondLst>
                              <p:cond delay="7250"/>
                            </p:stCondLst>
                            <p:childTnLst>
                              <p:par>
                                <p:cTn id="57" presetID="42"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anim calcmode="lin" valueType="num">
                                      <p:cBhvr>
                                        <p:cTn id="60" dur="1000" fill="hold"/>
                                        <p:tgtEl>
                                          <p:spTgt spid="24"/>
                                        </p:tgtEl>
                                        <p:attrNameLst>
                                          <p:attrName>ppt_x</p:attrName>
                                        </p:attrNameLst>
                                      </p:cBhvr>
                                      <p:tavLst>
                                        <p:tav tm="0">
                                          <p:val>
                                            <p:strVal val="#ppt_x"/>
                                          </p:val>
                                        </p:tav>
                                        <p:tav tm="100000">
                                          <p:val>
                                            <p:strVal val="#ppt_x"/>
                                          </p:val>
                                        </p:tav>
                                      </p:tavLst>
                                    </p:anim>
                                    <p:anim calcmode="lin" valueType="num">
                                      <p:cBhvr>
                                        <p:cTn id="6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41" grpId="0"/>
      <p:bldP spid="20" grpId="0"/>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155054" y="1692900"/>
            <a:ext cx="6809583"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关键字</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622556" y="1108066"/>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查找表可分为两类</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TextBox 5"/>
          <p:cNvSpPr txBox="1">
            <a:spLocks noChangeArrowheads="1"/>
          </p:cNvSpPr>
          <p:nvPr/>
        </p:nvSpPr>
        <p:spPr bwMode="auto">
          <a:xfrm>
            <a:off x="1155053" y="2523920"/>
            <a:ext cx="6809583"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主关键字</a:t>
            </a:r>
          </a:p>
        </p:txBody>
      </p:sp>
      <p:sp>
        <p:nvSpPr>
          <p:cNvPr id="23" name="TextBox 5"/>
          <p:cNvSpPr txBox="1">
            <a:spLocks noChangeArrowheads="1"/>
          </p:cNvSpPr>
          <p:nvPr/>
        </p:nvSpPr>
        <p:spPr bwMode="auto">
          <a:xfrm>
            <a:off x="1703148" y="2090858"/>
            <a:ext cx="6809583" cy="463012"/>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用来标识一个数据元素（或记录）的某个数据项的值，称为关键字。 </a:t>
            </a:r>
          </a:p>
        </p:txBody>
      </p:sp>
      <p:sp>
        <p:nvSpPr>
          <p:cNvPr id="24" name="TextBox 5"/>
          <p:cNvSpPr txBox="1">
            <a:spLocks noChangeArrowheads="1"/>
          </p:cNvSpPr>
          <p:nvPr/>
        </p:nvSpPr>
        <p:spPr bwMode="auto">
          <a:xfrm>
            <a:off x="1703148" y="2986932"/>
            <a:ext cx="6809583" cy="463012"/>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若此关键字可唯一地标识一个记录，则称此关键字是主关键字；</a:t>
            </a:r>
          </a:p>
        </p:txBody>
      </p:sp>
      <p:sp>
        <p:nvSpPr>
          <p:cNvPr id="17" name="TextBox 5"/>
          <p:cNvSpPr txBox="1">
            <a:spLocks noChangeArrowheads="1"/>
          </p:cNvSpPr>
          <p:nvPr/>
        </p:nvSpPr>
        <p:spPr bwMode="auto">
          <a:xfrm>
            <a:off x="1155053" y="3495664"/>
            <a:ext cx="6809583"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次关键字</a:t>
            </a:r>
          </a:p>
        </p:txBody>
      </p:sp>
      <p:sp>
        <p:nvSpPr>
          <p:cNvPr id="18" name="TextBox 5"/>
          <p:cNvSpPr txBox="1">
            <a:spLocks noChangeArrowheads="1"/>
          </p:cNvSpPr>
          <p:nvPr/>
        </p:nvSpPr>
        <p:spPr bwMode="auto">
          <a:xfrm>
            <a:off x="1703148" y="4004396"/>
            <a:ext cx="6809583" cy="463012"/>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反之，用以识别若干记录的关键字是次关键字。</a:t>
            </a:r>
          </a:p>
        </p:txBody>
      </p:sp>
    </p:spTree>
    <p:extLst>
      <p:ext uri="{BB962C8B-B14F-4D97-AF65-F5344CB8AC3E}">
        <p14:creationId xmlns:p14="http://schemas.microsoft.com/office/powerpoint/2010/main" val="3914656216"/>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par>
                          <p:cTn id="50" fill="hold">
                            <p:stCondLst>
                              <p:cond delay="6250"/>
                            </p:stCondLst>
                            <p:childTnLst>
                              <p:par>
                                <p:cTn id="51" presetID="42"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0"/>
                                        <p:tgtEl>
                                          <p:spTgt spid="20"/>
                                        </p:tgtEl>
                                      </p:cBhvr>
                                    </p:animEffect>
                                    <p:anim calcmode="lin" valueType="num">
                                      <p:cBhvr>
                                        <p:cTn id="54" dur="1000" fill="hold"/>
                                        <p:tgtEl>
                                          <p:spTgt spid="20"/>
                                        </p:tgtEl>
                                        <p:attrNameLst>
                                          <p:attrName>ppt_x</p:attrName>
                                        </p:attrNameLst>
                                      </p:cBhvr>
                                      <p:tavLst>
                                        <p:tav tm="0">
                                          <p:val>
                                            <p:strVal val="#ppt_x"/>
                                          </p:val>
                                        </p:tav>
                                        <p:tav tm="100000">
                                          <p:val>
                                            <p:strVal val="#ppt_x"/>
                                          </p:val>
                                        </p:tav>
                                      </p:tavLst>
                                    </p:anim>
                                    <p:anim calcmode="lin" valueType="num">
                                      <p:cBhvr>
                                        <p:cTn id="55" dur="1000" fill="hold"/>
                                        <p:tgtEl>
                                          <p:spTgt spid="20"/>
                                        </p:tgtEl>
                                        <p:attrNameLst>
                                          <p:attrName>ppt_y</p:attrName>
                                        </p:attrNameLst>
                                      </p:cBhvr>
                                      <p:tavLst>
                                        <p:tav tm="0">
                                          <p:val>
                                            <p:strVal val="#ppt_y+.1"/>
                                          </p:val>
                                        </p:tav>
                                        <p:tav tm="100000">
                                          <p:val>
                                            <p:strVal val="#ppt_y"/>
                                          </p:val>
                                        </p:tav>
                                      </p:tavLst>
                                    </p:anim>
                                  </p:childTnLst>
                                </p:cTn>
                              </p:par>
                            </p:childTnLst>
                          </p:cTn>
                        </p:par>
                        <p:par>
                          <p:cTn id="56" fill="hold">
                            <p:stCondLst>
                              <p:cond delay="7250"/>
                            </p:stCondLst>
                            <p:childTnLst>
                              <p:par>
                                <p:cTn id="57" presetID="42"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anim calcmode="lin" valueType="num">
                                      <p:cBhvr>
                                        <p:cTn id="60" dur="1000" fill="hold"/>
                                        <p:tgtEl>
                                          <p:spTgt spid="24"/>
                                        </p:tgtEl>
                                        <p:attrNameLst>
                                          <p:attrName>ppt_x</p:attrName>
                                        </p:attrNameLst>
                                      </p:cBhvr>
                                      <p:tavLst>
                                        <p:tav tm="0">
                                          <p:val>
                                            <p:strVal val="#ppt_x"/>
                                          </p:val>
                                        </p:tav>
                                        <p:tav tm="100000">
                                          <p:val>
                                            <p:strVal val="#ppt_x"/>
                                          </p:val>
                                        </p:tav>
                                      </p:tavLst>
                                    </p:anim>
                                    <p:anim calcmode="lin" valueType="num">
                                      <p:cBhvr>
                                        <p:cTn id="61" dur="1000" fill="hold"/>
                                        <p:tgtEl>
                                          <p:spTgt spid="24"/>
                                        </p:tgtEl>
                                        <p:attrNameLst>
                                          <p:attrName>ppt_y</p:attrName>
                                        </p:attrNameLst>
                                      </p:cBhvr>
                                      <p:tavLst>
                                        <p:tav tm="0">
                                          <p:val>
                                            <p:strVal val="#ppt_y+.1"/>
                                          </p:val>
                                        </p:tav>
                                        <p:tav tm="100000">
                                          <p:val>
                                            <p:strVal val="#ppt_y"/>
                                          </p:val>
                                        </p:tav>
                                      </p:tavLst>
                                    </p:anim>
                                  </p:childTnLst>
                                </p:cTn>
                              </p:par>
                            </p:childTnLst>
                          </p:cTn>
                        </p:par>
                        <p:par>
                          <p:cTn id="62" fill="hold">
                            <p:stCondLst>
                              <p:cond delay="8250"/>
                            </p:stCondLst>
                            <p:childTnLst>
                              <p:par>
                                <p:cTn id="63" presetID="42" presetClass="entr" presetSubtype="0"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1000"/>
                                        <p:tgtEl>
                                          <p:spTgt spid="17"/>
                                        </p:tgtEl>
                                      </p:cBhvr>
                                    </p:animEffect>
                                    <p:anim calcmode="lin" valueType="num">
                                      <p:cBhvr>
                                        <p:cTn id="66" dur="1000" fill="hold"/>
                                        <p:tgtEl>
                                          <p:spTgt spid="17"/>
                                        </p:tgtEl>
                                        <p:attrNameLst>
                                          <p:attrName>ppt_x</p:attrName>
                                        </p:attrNameLst>
                                      </p:cBhvr>
                                      <p:tavLst>
                                        <p:tav tm="0">
                                          <p:val>
                                            <p:strVal val="#ppt_x"/>
                                          </p:val>
                                        </p:tav>
                                        <p:tav tm="100000">
                                          <p:val>
                                            <p:strVal val="#ppt_x"/>
                                          </p:val>
                                        </p:tav>
                                      </p:tavLst>
                                    </p:anim>
                                    <p:anim calcmode="lin" valueType="num">
                                      <p:cBhvr>
                                        <p:cTn id="67" dur="1000" fill="hold"/>
                                        <p:tgtEl>
                                          <p:spTgt spid="17"/>
                                        </p:tgtEl>
                                        <p:attrNameLst>
                                          <p:attrName>ppt_y</p:attrName>
                                        </p:attrNameLst>
                                      </p:cBhvr>
                                      <p:tavLst>
                                        <p:tav tm="0">
                                          <p:val>
                                            <p:strVal val="#ppt_y+.1"/>
                                          </p:val>
                                        </p:tav>
                                        <p:tav tm="100000">
                                          <p:val>
                                            <p:strVal val="#ppt_y"/>
                                          </p:val>
                                        </p:tav>
                                      </p:tavLst>
                                    </p:anim>
                                  </p:childTnLst>
                                </p:cTn>
                              </p:par>
                            </p:childTnLst>
                          </p:cTn>
                        </p:par>
                        <p:par>
                          <p:cTn id="68" fill="hold">
                            <p:stCondLst>
                              <p:cond delay="9250"/>
                            </p:stCondLst>
                            <p:childTnLst>
                              <p:par>
                                <p:cTn id="69" presetID="42" presetClass="entr" presetSubtype="0" fill="hold" grpId="0" nodeType="after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1000"/>
                                        <p:tgtEl>
                                          <p:spTgt spid="18"/>
                                        </p:tgtEl>
                                      </p:cBhvr>
                                    </p:animEffect>
                                    <p:anim calcmode="lin" valueType="num">
                                      <p:cBhvr>
                                        <p:cTn id="72" dur="1000" fill="hold"/>
                                        <p:tgtEl>
                                          <p:spTgt spid="18"/>
                                        </p:tgtEl>
                                        <p:attrNameLst>
                                          <p:attrName>ppt_x</p:attrName>
                                        </p:attrNameLst>
                                      </p:cBhvr>
                                      <p:tavLst>
                                        <p:tav tm="0">
                                          <p:val>
                                            <p:strVal val="#ppt_x"/>
                                          </p:val>
                                        </p:tav>
                                        <p:tav tm="100000">
                                          <p:val>
                                            <p:strVal val="#ppt_x"/>
                                          </p:val>
                                        </p:tav>
                                      </p:tavLst>
                                    </p:anim>
                                    <p:anim calcmode="lin" valueType="num">
                                      <p:cBhvr>
                                        <p:cTn id="7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41" grpId="0"/>
      <p:bldP spid="20" grpId="0"/>
      <p:bldP spid="23" grpId="0"/>
      <p:bldP spid="24"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26" name="TextBox 5"/>
          <p:cNvSpPr txBox="1">
            <a:spLocks noChangeArrowheads="1"/>
          </p:cNvSpPr>
          <p:nvPr/>
        </p:nvSpPr>
        <p:spPr bwMode="auto">
          <a:xfrm>
            <a:off x="1155054" y="1692900"/>
            <a:ext cx="6809583" cy="463012"/>
          </a:xfrm>
          <a:prstGeom prst="rect">
            <a:avLst/>
          </a:prstGeom>
          <a:noFill/>
          <a:ln w="9525">
            <a:noFill/>
            <a:miter lim="800000"/>
          </a:ln>
        </p:spPr>
        <p:txBody>
          <a:bodyPr wrap="square">
            <a:spAutoFit/>
          </a:bodyPr>
          <a:lstStyle/>
          <a:p>
            <a:pPr marL="285750" indent="-285750" fontAlgn="auto">
              <a:lnSpc>
                <a:spcPct val="150000"/>
              </a:lnSpc>
              <a:buFont typeface="Wingdings" panose="05000000000000000000" pitchFamily="2" charset="2"/>
              <a:buChar char="u"/>
            </a:pPr>
            <a:r>
              <a:rPr lang="zh-CN" altLang="en-US" dirty="0">
                <a:latin typeface="百度综艺简体" panose="02010601030101010101" charset="-122"/>
                <a:ea typeface="百度综艺简体" panose="02010601030101010101" charset="-122"/>
              </a:rPr>
              <a:t>查找</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622556" y="1108066"/>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查找表可分为两类</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TextBox 5"/>
          <p:cNvSpPr txBox="1">
            <a:spLocks noChangeArrowheads="1"/>
          </p:cNvSpPr>
          <p:nvPr/>
        </p:nvSpPr>
        <p:spPr bwMode="auto">
          <a:xfrm>
            <a:off x="1317068" y="2235797"/>
            <a:ext cx="6809583" cy="878510"/>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根据</a:t>
            </a:r>
            <a:r>
              <a:rPr lang="zh-CN" altLang="en-US" dirty="0">
                <a:latin typeface="百度综艺简体" panose="02010601030101010101" charset="-122"/>
                <a:ea typeface="百度综艺简体" panose="02010601030101010101" charset="-122"/>
              </a:rPr>
              <a:t>给定的某个值，在查找表中确定一个其关键字等于给定值的数据元素或</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记录</a:t>
            </a:r>
            <a:r>
              <a:rPr lang="en-US" altLang="zh-CN" dirty="0">
                <a:latin typeface="百度综艺简体" panose="02010601030101010101" charset="-122"/>
                <a:ea typeface="百度综艺简体" panose="02010601030101010101" charset="-122"/>
              </a:rPr>
              <a:t>)</a:t>
            </a:r>
            <a:endParaRPr lang="zh-CN" altLang="en-US" dirty="0">
              <a:latin typeface="百度综艺简体" panose="02010601030101010101" charset="-122"/>
              <a:ea typeface="百度综艺简体" panose="02010601030101010101" charset="-122"/>
            </a:endParaRPr>
          </a:p>
        </p:txBody>
      </p:sp>
      <p:sp>
        <p:nvSpPr>
          <p:cNvPr id="24" name="TextBox 5"/>
          <p:cNvSpPr txBox="1">
            <a:spLocks noChangeArrowheads="1"/>
          </p:cNvSpPr>
          <p:nvPr/>
        </p:nvSpPr>
        <p:spPr bwMode="auto">
          <a:xfrm>
            <a:off x="1317068" y="3194193"/>
            <a:ext cx="7195663" cy="1338828"/>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若</a:t>
            </a:r>
            <a:r>
              <a:rPr lang="zh-CN" altLang="en-US" dirty="0">
                <a:latin typeface="百度综艺简体" panose="02010601030101010101" charset="-122"/>
                <a:ea typeface="百度综艺简体" panose="02010601030101010101" charset="-122"/>
              </a:rPr>
              <a:t>查找表中存在这样一个记录，则称“查找成功”。查找结果给出整个记录的信息，或指示该记录在查找表中的位置；</a:t>
            </a:r>
          </a:p>
          <a:p>
            <a:pPr fontAlgn="auto">
              <a:lnSpc>
                <a:spcPct val="150000"/>
              </a:lnSpc>
            </a:pPr>
            <a:r>
              <a:rPr lang="zh-CN" altLang="en-US" dirty="0">
                <a:latin typeface="百度综艺简体" panose="02010601030101010101" charset="-122"/>
                <a:ea typeface="百度综艺简体" panose="02010601030101010101" charset="-122"/>
              </a:rPr>
              <a:t>        否则称“查找不成功”。查找结果给</a:t>
            </a:r>
            <a:r>
              <a:rPr lang="zh-CN" altLang="en-US" dirty="0" smtClean="0">
                <a:latin typeface="百度综艺简体" panose="02010601030101010101" charset="-122"/>
                <a:ea typeface="百度综艺简体" panose="02010601030101010101" charset="-122"/>
              </a:rPr>
              <a:t>出“空记录”</a:t>
            </a:r>
            <a:r>
              <a:rPr lang="zh-CN" altLang="en-US" dirty="0">
                <a:latin typeface="百度综艺简体" panose="02010601030101010101" charset="-122"/>
                <a:ea typeface="百度综艺简体" panose="02010601030101010101" charset="-122"/>
              </a:rPr>
              <a:t>或“空指针”。</a:t>
            </a:r>
          </a:p>
        </p:txBody>
      </p:sp>
    </p:spTree>
    <p:extLst>
      <p:ext uri="{BB962C8B-B14F-4D97-AF65-F5344CB8AC3E}">
        <p14:creationId xmlns:p14="http://schemas.microsoft.com/office/powerpoint/2010/main" val="341662292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par>
                          <p:cTn id="50" fill="hold">
                            <p:stCondLst>
                              <p:cond delay="6250"/>
                            </p:stCondLst>
                            <p:childTnLst>
                              <p:par>
                                <p:cTn id="51" presetID="42"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1000"/>
                                        <p:tgtEl>
                                          <p:spTgt spid="24"/>
                                        </p:tgtEl>
                                      </p:cBhvr>
                                    </p:animEffect>
                                    <p:anim calcmode="lin" valueType="num">
                                      <p:cBhvr>
                                        <p:cTn id="54" dur="1000" fill="hold"/>
                                        <p:tgtEl>
                                          <p:spTgt spid="24"/>
                                        </p:tgtEl>
                                        <p:attrNameLst>
                                          <p:attrName>ppt_x</p:attrName>
                                        </p:attrNameLst>
                                      </p:cBhvr>
                                      <p:tavLst>
                                        <p:tav tm="0">
                                          <p:val>
                                            <p:strVal val="#ppt_x"/>
                                          </p:val>
                                        </p:tav>
                                        <p:tav tm="100000">
                                          <p:val>
                                            <p:strVal val="#ppt_x"/>
                                          </p:val>
                                        </p:tav>
                                      </p:tavLst>
                                    </p:anim>
                                    <p:anim calcmode="lin" valueType="num">
                                      <p:cBhvr>
                                        <p:cTn id="5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p:bldP spid="41" grpId="0"/>
      <p:bldP spid="23"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622555" y="1108066"/>
            <a:ext cx="4824087"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假设静态查找表的顺序存储结构为</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974168" y="1833542"/>
            <a:ext cx="7195663" cy="2585323"/>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typedef  </a:t>
            </a:r>
            <a:r>
              <a:rPr lang="en-US" altLang="zh-CN" dirty="0" err="1">
                <a:latin typeface="百度综艺简体" panose="02010601030101010101" charset="-122"/>
                <a:ea typeface="百度综艺简体" panose="02010601030101010101" charset="-122"/>
              </a:rPr>
              <a:t>struct</a:t>
            </a:r>
            <a:r>
              <a:rPr lang="en-US" altLang="zh-CN" dirty="0">
                <a:latin typeface="百度综艺简体" panose="02010601030101010101" charset="-122"/>
                <a:ea typeface="百度综艺简体" panose="02010601030101010101" charset="-122"/>
              </a:rPr>
              <a:t> {</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ElemType</a:t>
            </a: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elem</a:t>
            </a:r>
            <a:r>
              <a:rPr lang="en-US" altLang="zh-CN" dirty="0" smtClean="0">
                <a:latin typeface="百度综艺简体" panose="02010601030101010101" charset="-122"/>
                <a:ea typeface="百度综艺简体" panose="02010601030101010101" charset="-122"/>
              </a:rPr>
              <a:t>;</a:t>
            </a:r>
            <a:endParaRPr lang="en-US" altLang="zh-CN" dirty="0">
              <a:latin typeface="百度综艺简体" panose="02010601030101010101" charset="-122"/>
              <a:ea typeface="百度综艺简体" panose="02010601030101010101" charset="-122"/>
            </a:endParaRPr>
          </a:p>
          <a:p>
            <a:pPr fontAlgn="auto">
              <a:lnSpc>
                <a:spcPct val="150000"/>
              </a:lnSpc>
            </a:pPr>
            <a:r>
              <a:rPr lang="en-US" altLang="zh-CN" dirty="0">
                <a:solidFill>
                  <a:schemeClr val="accent2"/>
                </a:solidFill>
                <a:latin typeface="百度综艺简体" panose="02010601030101010101" charset="-122"/>
                <a:ea typeface="百度综艺简体" panose="02010601030101010101" charset="-122"/>
              </a:rPr>
              <a:t>           // </a:t>
            </a:r>
            <a:r>
              <a:rPr lang="zh-CN" altLang="en-US" dirty="0">
                <a:solidFill>
                  <a:schemeClr val="accent2"/>
                </a:solidFill>
                <a:latin typeface="百度综艺简体" panose="02010601030101010101" charset="-122"/>
                <a:ea typeface="百度综艺简体" panose="02010601030101010101" charset="-122"/>
              </a:rPr>
              <a:t>数据元素存储空间基址，建表时</a:t>
            </a:r>
          </a:p>
          <a:p>
            <a:pPr fontAlgn="auto">
              <a:lnSpc>
                <a:spcPct val="150000"/>
              </a:lnSpc>
            </a:pPr>
            <a:r>
              <a:rPr lang="zh-CN" altLang="en-US" dirty="0">
                <a:solidFill>
                  <a:schemeClr val="accent2"/>
                </a:solidFill>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按实际长度分配，</a:t>
            </a:r>
            <a:r>
              <a:rPr lang="en-US" altLang="zh-CN" dirty="0">
                <a:solidFill>
                  <a:schemeClr val="accent2"/>
                </a:solidFill>
                <a:latin typeface="百度综艺简体" panose="02010601030101010101" charset="-122"/>
                <a:ea typeface="百度综艺简体" panose="02010601030101010101" charset="-122"/>
              </a:rPr>
              <a:t>0</a:t>
            </a:r>
            <a:r>
              <a:rPr lang="zh-CN" altLang="en-US" dirty="0">
                <a:solidFill>
                  <a:schemeClr val="accent2"/>
                </a:solidFill>
                <a:latin typeface="百度综艺简体" panose="02010601030101010101" charset="-122"/>
                <a:ea typeface="百度综艺简体" panose="02010601030101010101" charset="-122"/>
              </a:rPr>
              <a:t>号单元留空</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int</a:t>
            </a:r>
            <a:r>
              <a:rPr lang="en-US" altLang="zh-CN" dirty="0">
                <a:latin typeface="百度综艺简体" panose="02010601030101010101" charset="-122"/>
                <a:ea typeface="百度综艺简体" panose="02010601030101010101" charset="-122"/>
              </a:rPr>
              <a:t>  length;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表的长度</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SSTable</a:t>
            </a:r>
            <a:r>
              <a:rPr lang="en-US" altLang="zh-CN" dirty="0">
                <a:latin typeface="百度综艺简体" panose="02010601030101010101" charset="-122"/>
                <a:ea typeface="百度综艺简体" panose="02010601030101010101" charset="-122"/>
              </a:rPr>
              <a:t>;</a:t>
            </a:r>
          </a:p>
        </p:txBody>
      </p:sp>
    </p:spTree>
    <p:extLst>
      <p:ext uri="{BB962C8B-B14F-4D97-AF65-F5344CB8AC3E}">
        <p14:creationId xmlns:p14="http://schemas.microsoft.com/office/powerpoint/2010/main" val="233675524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41"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622555" y="1108066"/>
            <a:ext cx="4824087"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数据元素类型的定义为</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974168" y="1833542"/>
            <a:ext cx="7195663" cy="1709507"/>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typedef </a:t>
            </a:r>
            <a:r>
              <a:rPr lang="en-US" altLang="zh-CN" dirty="0" err="1">
                <a:latin typeface="百度综艺简体" panose="02010601030101010101" charset="-122"/>
                <a:ea typeface="百度综艺简体" panose="02010601030101010101" charset="-122"/>
              </a:rPr>
              <a:t>struct</a:t>
            </a:r>
            <a:r>
              <a:rPr lang="en-US" altLang="zh-CN" dirty="0">
                <a:latin typeface="百度综艺简体" panose="02010601030101010101" charset="-122"/>
                <a:ea typeface="百度综艺简体" panose="02010601030101010101" charset="-122"/>
              </a:rPr>
              <a:t> {</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keyType</a:t>
            </a:r>
            <a:r>
              <a:rPr lang="en-US" altLang="zh-CN" dirty="0">
                <a:latin typeface="百度综艺简体" panose="02010601030101010101" charset="-122"/>
                <a:ea typeface="百度综艺简体" panose="02010601030101010101" charset="-122"/>
              </a:rPr>
              <a:t>  key;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关键字域</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 …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其它属性域</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ElemType</a:t>
            </a:r>
            <a:r>
              <a:rPr lang="en-US" altLang="zh-CN" dirty="0">
                <a:latin typeface="百度综艺简体" panose="02010601030101010101" charset="-122"/>
                <a:ea typeface="百度综艺简体" panose="02010601030101010101" charset="-122"/>
              </a:rPr>
              <a:t> ;</a:t>
            </a:r>
          </a:p>
        </p:txBody>
      </p:sp>
      <p:sp>
        <p:nvSpPr>
          <p:cNvPr id="13" name="TextBox 5"/>
          <p:cNvSpPr txBox="1">
            <a:spLocks noChangeArrowheads="1"/>
          </p:cNvSpPr>
          <p:nvPr/>
        </p:nvSpPr>
        <p:spPr bwMode="auto">
          <a:xfrm>
            <a:off x="2433306" y="3084701"/>
            <a:ext cx="1510541" cy="463012"/>
          </a:xfrm>
          <a:prstGeom prst="rect">
            <a:avLst/>
          </a:prstGeom>
          <a:noFill/>
          <a:ln w="9525">
            <a:noFill/>
            <a:miter lim="800000"/>
          </a:ln>
        </p:spPr>
        <p:txBody>
          <a:bodyPr wrap="square">
            <a:spAutoFit/>
          </a:bodyPr>
          <a:lstStyle/>
          <a:p>
            <a:pPr fontAlgn="auto">
              <a:lnSpc>
                <a:spcPct val="150000"/>
              </a:lnSpc>
            </a:pPr>
            <a:r>
              <a:rPr lang="en-US" altLang="zh-CN" dirty="0" err="1">
                <a:solidFill>
                  <a:srgbClr val="FF0000"/>
                </a:solidFill>
                <a:latin typeface="百度综艺简体" panose="02010601030101010101" charset="-122"/>
                <a:ea typeface="百度综艺简体" panose="02010601030101010101" charset="-122"/>
              </a:rPr>
              <a:t>TElemType</a:t>
            </a:r>
            <a:r>
              <a:rPr lang="en-US" altLang="zh-CN" dirty="0">
                <a:solidFill>
                  <a:srgbClr val="FF0000"/>
                </a:solidFill>
                <a:latin typeface="百度综艺简体" panose="02010601030101010101" charset="-122"/>
                <a:ea typeface="百度综艺简体" panose="02010601030101010101" charset="-122"/>
              </a:rPr>
              <a:t> ;</a:t>
            </a:r>
          </a:p>
        </p:txBody>
      </p:sp>
    </p:spTree>
    <p:extLst>
      <p:ext uri="{BB962C8B-B14F-4D97-AF65-F5344CB8AC3E}">
        <p14:creationId xmlns:p14="http://schemas.microsoft.com/office/powerpoint/2010/main" val="3598449326"/>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ppt_x</p:attrName>
                                        </p:attrNameLst>
                                      </p:cBhvr>
                                      <p:tavLst>
                                        <p:tav tm="0">
                                          <p:val>
                                            <p:strVal val="#ppt_x"/>
                                          </p:val>
                                        </p:tav>
                                        <p:tav tm="100000">
                                          <p:val>
                                            <p:strVal val="#ppt_x"/>
                                          </p:val>
                                        </p:tav>
                                      </p:tavLst>
                                    </p:anim>
                                    <p:anim calcmode="lin" valueType="num">
                                      <p:cBhvr>
                                        <p:cTn id="4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41" grpId="0"/>
      <p:bldP spid="24"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934484" y="1535297"/>
            <a:ext cx="393729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一、顺序查找表</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2517715" y="2506163"/>
            <a:ext cx="4248845" cy="507831"/>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 以顺序表或线性链表表示静态查找表</a:t>
            </a:r>
          </a:p>
        </p:txBody>
      </p:sp>
    </p:spTree>
    <p:extLst>
      <p:ext uri="{BB962C8B-B14F-4D97-AF65-F5344CB8AC3E}">
        <p14:creationId xmlns:p14="http://schemas.microsoft.com/office/powerpoint/2010/main" val="3003086848"/>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41"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3" name="Object 2"/>
          <p:cNvGraphicFramePr>
            <a:graphicFrameLocks noChangeAspect="1"/>
          </p:cNvGraphicFramePr>
          <p:nvPr>
            <p:extLst>
              <p:ext uri="{D42A27DB-BD31-4B8C-83A1-F6EECF244321}">
                <p14:modId xmlns:p14="http://schemas.microsoft.com/office/powerpoint/2010/main" val="159868119"/>
              </p:ext>
            </p:extLst>
          </p:nvPr>
        </p:nvGraphicFramePr>
        <p:xfrm>
          <a:off x="1768682" y="1739193"/>
          <a:ext cx="5737349" cy="1209092"/>
        </p:xfrm>
        <a:graphic>
          <a:graphicData uri="http://schemas.openxmlformats.org/presentationml/2006/ole">
            <mc:AlternateContent xmlns:mc="http://schemas.openxmlformats.org/markup-compatibility/2006">
              <mc:Choice xmlns:v="urn:schemas-microsoft-com:vml" Requires="v">
                <p:oleObj spid="_x0000_s8198" name="文档" r:id="rId4" imgW="8186928" imgH="1728216" progId="Word.Document.8">
                  <p:embed/>
                </p:oleObj>
              </mc:Choice>
              <mc:Fallback>
                <p:oleObj name="文档" r:id="rId4" imgW="8186928" imgH="17282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8682" y="1739193"/>
                        <a:ext cx="5737349" cy="1209092"/>
                      </a:xfrm>
                      <a:prstGeom prst="rect">
                        <a:avLst/>
                      </a:prstGeom>
                      <a:noFill/>
                      <a:ln>
                        <a:noFill/>
                      </a:ln>
                      <a:effectLst/>
                    </p:spPr>
                  </p:pic>
                </p:oleObj>
              </mc:Fallback>
            </mc:AlternateContent>
          </a:graphicData>
        </a:graphic>
      </p:graphicFrame>
      <p:sp>
        <p:nvSpPr>
          <p:cNvPr id="14" name="Text Box 3"/>
          <p:cNvSpPr txBox="1">
            <a:spLocks noChangeArrowheads="1"/>
          </p:cNvSpPr>
          <p:nvPr/>
        </p:nvSpPr>
        <p:spPr bwMode="auto">
          <a:xfrm>
            <a:off x="1091826" y="1210555"/>
            <a:ext cx="11941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err="1"/>
              <a:t>ST.elem</a:t>
            </a:r>
            <a:endParaRPr lang="en-US" altLang="zh-CN" sz="2400" dirty="0"/>
          </a:p>
        </p:txBody>
      </p:sp>
      <p:sp>
        <p:nvSpPr>
          <p:cNvPr id="17" name="Line 4"/>
          <p:cNvSpPr>
            <a:spLocks noChangeShapeType="1"/>
          </p:cNvSpPr>
          <p:nvPr/>
        </p:nvSpPr>
        <p:spPr bwMode="auto">
          <a:xfrm>
            <a:off x="6843985" y="744263"/>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8" name="Line 5"/>
          <p:cNvSpPr>
            <a:spLocks noChangeShapeType="1"/>
          </p:cNvSpPr>
          <p:nvPr/>
        </p:nvSpPr>
        <p:spPr bwMode="auto">
          <a:xfrm>
            <a:off x="5107940" y="744733"/>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20" name="Text Box 6"/>
          <p:cNvSpPr txBox="1">
            <a:spLocks noChangeArrowheads="1"/>
          </p:cNvSpPr>
          <p:nvPr/>
        </p:nvSpPr>
        <p:spPr bwMode="auto">
          <a:xfrm>
            <a:off x="5090007" y="1080421"/>
            <a:ext cx="269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err="1">
                <a:solidFill>
                  <a:srgbClr val="990000"/>
                </a:solidFill>
              </a:rPr>
              <a:t>i</a:t>
            </a:r>
            <a:endParaRPr lang="en-US" altLang="zh-CN" sz="2400" dirty="0"/>
          </a:p>
        </p:txBody>
      </p:sp>
      <p:graphicFrame>
        <p:nvGraphicFramePr>
          <p:cNvPr id="23" name="Object 7"/>
          <p:cNvGraphicFramePr>
            <a:graphicFrameLocks noChangeAspect="1"/>
          </p:cNvGraphicFramePr>
          <p:nvPr>
            <p:extLst>
              <p:ext uri="{D42A27DB-BD31-4B8C-83A1-F6EECF244321}">
                <p14:modId xmlns:p14="http://schemas.microsoft.com/office/powerpoint/2010/main" val="3899023920"/>
              </p:ext>
            </p:extLst>
          </p:nvPr>
        </p:nvGraphicFramePr>
        <p:xfrm>
          <a:off x="1768682" y="3735196"/>
          <a:ext cx="5751910" cy="1212161"/>
        </p:xfrm>
        <a:graphic>
          <a:graphicData uri="http://schemas.openxmlformats.org/presentationml/2006/ole">
            <mc:AlternateContent xmlns:mc="http://schemas.openxmlformats.org/markup-compatibility/2006">
              <mc:Choice xmlns:v="urn:schemas-microsoft-com:vml" Requires="v">
                <p:oleObj spid="_x0000_s8199" name="文档" r:id="rId6" imgW="8186928" imgH="1728216" progId="Word.Document.8">
                  <p:embed/>
                </p:oleObj>
              </mc:Choice>
              <mc:Fallback>
                <p:oleObj name="文档" r:id="rId6" imgW="8186928" imgH="17282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8682" y="3735196"/>
                        <a:ext cx="5751910" cy="1212161"/>
                      </a:xfrm>
                      <a:prstGeom prst="rect">
                        <a:avLst/>
                      </a:prstGeom>
                      <a:noFill/>
                      <a:ln>
                        <a:noFill/>
                      </a:ln>
                      <a:effectLst/>
                    </p:spPr>
                  </p:pic>
                </p:oleObj>
              </mc:Fallback>
            </mc:AlternateContent>
          </a:graphicData>
        </a:graphic>
      </p:graphicFrame>
      <p:sp>
        <p:nvSpPr>
          <p:cNvPr id="26" name="Text Box 8"/>
          <p:cNvSpPr txBox="1">
            <a:spLocks noChangeArrowheads="1"/>
          </p:cNvSpPr>
          <p:nvPr/>
        </p:nvSpPr>
        <p:spPr bwMode="auto">
          <a:xfrm>
            <a:off x="1091825" y="3110908"/>
            <a:ext cx="11941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err="1"/>
              <a:t>ST.elem</a:t>
            </a:r>
            <a:endParaRPr lang="en-US" altLang="zh-CN" sz="2400" dirty="0"/>
          </a:p>
        </p:txBody>
      </p:sp>
      <p:sp>
        <p:nvSpPr>
          <p:cNvPr id="28" name="Line 9"/>
          <p:cNvSpPr>
            <a:spLocks noChangeShapeType="1"/>
          </p:cNvSpPr>
          <p:nvPr/>
        </p:nvSpPr>
        <p:spPr bwMode="auto">
          <a:xfrm flipH="1">
            <a:off x="6838051" y="3145392"/>
            <a:ext cx="5934" cy="613072"/>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29" name="Line 10"/>
          <p:cNvSpPr>
            <a:spLocks noChangeShapeType="1"/>
          </p:cNvSpPr>
          <p:nvPr/>
        </p:nvSpPr>
        <p:spPr bwMode="auto">
          <a:xfrm>
            <a:off x="2105080" y="2744596"/>
            <a:ext cx="0" cy="990600"/>
          </a:xfrm>
          <a:prstGeom prst="line">
            <a:avLst/>
          </a:prstGeom>
          <a:noFill/>
          <a:ln w="12700">
            <a:solidFill>
              <a:srgbClr val="99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0" name="Text Box 11"/>
          <p:cNvSpPr txBox="1">
            <a:spLocks noChangeArrowheads="1"/>
          </p:cNvSpPr>
          <p:nvPr/>
        </p:nvSpPr>
        <p:spPr bwMode="auto">
          <a:xfrm>
            <a:off x="2091166" y="3058632"/>
            <a:ext cx="269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err="1">
                <a:solidFill>
                  <a:srgbClr val="990000"/>
                </a:solidFill>
              </a:rPr>
              <a:t>i</a:t>
            </a:r>
            <a:endParaRPr lang="en-US" altLang="zh-CN" sz="2400" dirty="0"/>
          </a:p>
        </p:txBody>
      </p:sp>
      <p:sp>
        <p:nvSpPr>
          <p:cNvPr id="32" name="Text Box 12"/>
          <p:cNvSpPr txBox="1">
            <a:spLocks noChangeArrowheads="1"/>
          </p:cNvSpPr>
          <p:nvPr/>
        </p:nvSpPr>
        <p:spPr bwMode="auto">
          <a:xfrm>
            <a:off x="1755451" y="3719262"/>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a:solidFill>
                  <a:srgbClr val="CC0000"/>
                </a:solidFill>
              </a:rPr>
              <a:t>60</a:t>
            </a:r>
            <a:endParaRPr lang="en-US" altLang="zh-CN" sz="2400" dirty="0"/>
          </a:p>
        </p:txBody>
      </p:sp>
      <p:sp>
        <p:nvSpPr>
          <p:cNvPr id="33" name="Text Box 13"/>
          <p:cNvSpPr txBox="1">
            <a:spLocks noChangeArrowheads="1"/>
          </p:cNvSpPr>
          <p:nvPr/>
        </p:nvSpPr>
        <p:spPr bwMode="auto">
          <a:xfrm>
            <a:off x="6928123" y="820463"/>
            <a:ext cx="269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solidFill>
                  <a:srgbClr val="990000"/>
                </a:solidFill>
              </a:rPr>
              <a:t>i</a:t>
            </a:r>
            <a:endParaRPr lang="en-US" altLang="zh-CN" sz="2400"/>
          </a:p>
        </p:txBody>
      </p:sp>
      <p:sp>
        <p:nvSpPr>
          <p:cNvPr id="34" name="Text Box 14"/>
          <p:cNvSpPr txBox="1">
            <a:spLocks noChangeArrowheads="1"/>
          </p:cNvSpPr>
          <p:nvPr/>
        </p:nvSpPr>
        <p:spPr bwMode="auto">
          <a:xfrm>
            <a:off x="2285999" y="2486620"/>
            <a:ext cx="11095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a:solidFill>
                  <a:srgbClr val="CC0000"/>
                </a:solidFill>
              </a:rPr>
              <a:t>key=64</a:t>
            </a:r>
            <a:endParaRPr lang="en-US" altLang="zh-CN" sz="2400" dirty="0"/>
          </a:p>
        </p:txBody>
      </p:sp>
      <p:sp>
        <p:nvSpPr>
          <p:cNvPr id="35" name="Text Box 15"/>
          <p:cNvSpPr txBox="1">
            <a:spLocks noChangeArrowheads="1"/>
          </p:cNvSpPr>
          <p:nvPr/>
        </p:nvSpPr>
        <p:spPr bwMode="auto">
          <a:xfrm>
            <a:off x="2737230" y="4556879"/>
            <a:ext cx="11095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a:solidFill>
                  <a:srgbClr val="CC0000"/>
                </a:solidFill>
              </a:rPr>
              <a:t>key=60</a:t>
            </a:r>
            <a:endParaRPr lang="en-US" altLang="zh-CN" sz="2400" dirty="0"/>
          </a:p>
        </p:txBody>
      </p:sp>
      <p:sp>
        <p:nvSpPr>
          <p:cNvPr id="36" name="Text Box 16"/>
          <p:cNvSpPr txBox="1">
            <a:spLocks noChangeArrowheads="1"/>
          </p:cNvSpPr>
          <p:nvPr/>
        </p:nvSpPr>
        <p:spPr bwMode="auto">
          <a:xfrm>
            <a:off x="6884155" y="3202344"/>
            <a:ext cx="269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err="1">
                <a:solidFill>
                  <a:srgbClr val="990000"/>
                </a:solidFill>
              </a:rPr>
              <a:t>i</a:t>
            </a:r>
            <a:endParaRPr lang="en-US" altLang="zh-CN" sz="2400" dirty="0"/>
          </a:p>
        </p:txBody>
      </p:sp>
      <p:sp>
        <p:nvSpPr>
          <p:cNvPr id="38" name="Text Box 17"/>
          <p:cNvSpPr txBox="1">
            <a:spLocks noChangeArrowheads="1"/>
          </p:cNvSpPr>
          <p:nvPr/>
        </p:nvSpPr>
        <p:spPr bwMode="auto">
          <a:xfrm>
            <a:off x="1755451" y="170430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a:solidFill>
                  <a:srgbClr val="CC0000"/>
                </a:solidFill>
              </a:rPr>
              <a:t>64</a:t>
            </a:r>
            <a:endParaRPr lang="en-US" altLang="zh-CN" sz="2400" dirty="0"/>
          </a:p>
        </p:txBody>
      </p:sp>
      <p:sp>
        <p:nvSpPr>
          <p:cNvPr id="39" name="Rectangle 18"/>
          <p:cNvSpPr>
            <a:spLocks noChangeArrowheads="1"/>
          </p:cNvSpPr>
          <p:nvPr/>
        </p:nvSpPr>
        <p:spPr bwMode="auto">
          <a:xfrm>
            <a:off x="6591864" y="591863"/>
            <a:ext cx="533400" cy="1143000"/>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40" name="Rectangle 19"/>
          <p:cNvSpPr>
            <a:spLocks noChangeArrowheads="1"/>
          </p:cNvSpPr>
          <p:nvPr/>
        </p:nvSpPr>
        <p:spPr bwMode="auto">
          <a:xfrm>
            <a:off x="6591864" y="3138875"/>
            <a:ext cx="533400" cy="588601"/>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1211139330"/>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22" presetClass="entr" presetSubtype="1"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par>
                          <p:cTn id="36" fill="hold">
                            <p:stCondLst>
                              <p:cond delay="3750"/>
                            </p:stCondLst>
                            <p:childTnLst>
                              <p:par>
                                <p:cTn id="37" presetID="2" presetClass="entr" presetSubtype="8"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0-#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wipe(left)">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wipe(left)">
                                      <p:cBhvr>
                                        <p:cTn id="50" dur="500"/>
                                        <p:tgtEl>
                                          <p:spTgt spid="3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1+#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childTnLst>
                          </p:cTn>
                        </p:par>
                        <p:par>
                          <p:cTn id="57" fill="hold">
                            <p:stCondLst>
                              <p:cond delay="500"/>
                            </p:stCondLst>
                            <p:childTnLst>
                              <p:par>
                                <p:cTn id="58" presetID="2" presetClass="entr" presetSubtype="1" fill="hold" grpId="0" nodeType="afterEffect">
                                  <p:stCondLst>
                                    <p:cond delay="0"/>
                                  </p:stCondLst>
                                  <p:childTnLst>
                                    <p:set>
                                      <p:cBhvr>
                                        <p:cTn id="59" dur="1" fill="hold">
                                          <p:stCondLst>
                                            <p:cond delay="0"/>
                                          </p:stCondLst>
                                        </p:cTn>
                                        <p:tgtEl>
                                          <p:spTgt spid="33"/>
                                        </p:tgtEl>
                                        <p:attrNameLst>
                                          <p:attrName>style.visibility</p:attrName>
                                        </p:attrNameLst>
                                      </p:cBhvr>
                                      <p:to>
                                        <p:strVal val="visible"/>
                                      </p:to>
                                    </p:set>
                                    <p:anim calcmode="lin" valueType="num">
                                      <p:cBhvr additive="base">
                                        <p:cTn id="60" dur="500" fill="hold"/>
                                        <p:tgtEl>
                                          <p:spTgt spid="33"/>
                                        </p:tgtEl>
                                        <p:attrNameLst>
                                          <p:attrName>ppt_x</p:attrName>
                                        </p:attrNameLst>
                                      </p:cBhvr>
                                      <p:tavLst>
                                        <p:tav tm="0">
                                          <p:val>
                                            <p:strVal val="#ppt_x"/>
                                          </p:val>
                                        </p:tav>
                                        <p:tav tm="100000">
                                          <p:val>
                                            <p:strVal val="#ppt_x"/>
                                          </p:val>
                                        </p:tav>
                                      </p:tavLst>
                                    </p:anim>
                                    <p:anim calcmode="lin" valueType="num">
                                      <p:cBhvr additive="base">
                                        <p:cTn id="61" dur="500" fill="hold"/>
                                        <p:tgtEl>
                                          <p:spTgt spid="33"/>
                                        </p:tgtEl>
                                        <p:attrNameLst>
                                          <p:attrName>ppt_y</p:attrName>
                                        </p:attrNameLst>
                                      </p:cBhvr>
                                      <p:tavLst>
                                        <p:tav tm="0">
                                          <p:val>
                                            <p:strVal val="0-#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39"/>
                                        </p:tgtEl>
                                        <p:attrNameLst>
                                          <p:attrName>style.visibility</p:attrName>
                                        </p:attrNameLst>
                                      </p:cBhvr>
                                      <p:to>
                                        <p:strVal val="visible"/>
                                      </p:to>
                                    </p:set>
                                  </p:childTnLst>
                                </p:cTn>
                              </p:par>
                            </p:childTnLst>
                          </p:cTn>
                        </p:par>
                        <p:par>
                          <p:cTn id="66" fill="hold">
                            <p:stCondLst>
                              <p:cond delay="500"/>
                            </p:stCondLst>
                            <p:childTnLst>
                              <p:par>
                                <p:cTn id="67" presetID="12" presetClass="entr" presetSubtype="2"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slide(fromRight)">
                                      <p:cBhvr>
                                        <p:cTn id="69" dur="500"/>
                                        <p:tgtEl>
                                          <p:spTgt spid="18"/>
                                        </p:tgtEl>
                                      </p:cBhvr>
                                    </p:animEffect>
                                  </p:childTnLst>
                                </p:cTn>
                              </p:par>
                            </p:childTnLst>
                          </p:cTn>
                        </p:par>
                        <p:par>
                          <p:cTn id="70" fill="hold">
                            <p:stCondLst>
                              <p:cond delay="1000"/>
                            </p:stCondLst>
                            <p:childTnLst>
                              <p:par>
                                <p:cTn id="71" presetID="2" presetClass="entr" presetSubtype="1" fill="hold" grpId="0" nodeType="after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0-#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ppt_x"/>
                                          </p:val>
                                        </p:tav>
                                        <p:tav tm="100000">
                                          <p:val>
                                            <p:strVal val="#ppt_x"/>
                                          </p:val>
                                        </p:tav>
                                      </p:tavLst>
                                    </p:anim>
                                    <p:anim calcmode="lin" valueType="num">
                                      <p:cBhvr additive="base">
                                        <p:cTn id="80" dur="500" fill="hold"/>
                                        <p:tgtEl>
                                          <p:spTgt spid="23"/>
                                        </p:tgtEl>
                                        <p:attrNameLst>
                                          <p:attrName>ppt_y</p:attrName>
                                        </p:attrNameLst>
                                      </p:cBhvr>
                                      <p:tavLst>
                                        <p:tav tm="0">
                                          <p:val>
                                            <p:strVal val="1+#ppt_h/2"/>
                                          </p:val>
                                        </p:tav>
                                        <p:tav tm="100000">
                                          <p:val>
                                            <p:strVal val="#ppt_y"/>
                                          </p:val>
                                        </p:tav>
                                      </p:tavLst>
                                    </p:anim>
                                  </p:childTnLst>
                                </p:cTn>
                              </p:par>
                            </p:childTnLst>
                          </p:cTn>
                        </p:par>
                        <p:par>
                          <p:cTn id="81" fill="hold">
                            <p:stCondLst>
                              <p:cond delay="500"/>
                            </p:stCondLst>
                            <p:childTnLst>
                              <p:par>
                                <p:cTn id="82" presetID="2" presetClass="entr" presetSubtype="8" fill="hold" grpId="0" nodeType="after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additive="base">
                                        <p:cTn id="84" dur="500" fill="hold"/>
                                        <p:tgtEl>
                                          <p:spTgt spid="26"/>
                                        </p:tgtEl>
                                        <p:attrNameLst>
                                          <p:attrName>ppt_x</p:attrName>
                                        </p:attrNameLst>
                                      </p:cBhvr>
                                      <p:tavLst>
                                        <p:tav tm="0">
                                          <p:val>
                                            <p:strVal val="0-#ppt_w/2"/>
                                          </p:val>
                                        </p:tav>
                                        <p:tav tm="100000">
                                          <p:val>
                                            <p:strVal val="#ppt_x"/>
                                          </p:val>
                                        </p:tav>
                                      </p:tavLst>
                                    </p:anim>
                                    <p:anim calcmode="lin" valueType="num">
                                      <p:cBhvr additive="base">
                                        <p:cTn id="8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wipe(left)">
                                      <p:cBhvr>
                                        <p:cTn id="90" dur="500"/>
                                        <p:tgtEl>
                                          <p:spTgt spid="35"/>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wipe(left)">
                                      <p:cBhvr>
                                        <p:cTn id="95" dur="500"/>
                                        <p:tgtEl>
                                          <p:spTgt spid="32"/>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2" fill="hold" grpId="0" nodeType="click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additive="base">
                                        <p:cTn id="100" dur="500" fill="hold"/>
                                        <p:tgtEl>
                                          <p:spTgt spid="28"/>
                                        </p:tgtEl>
                                        <p:attrNameLst>
                                          <p:attrName>ppt_x</p:attrName>
                                        </p:attrNameLst>
                                      </p:cBhvr>
                                      <p:tavLst>
                                        <p:tav tm="0">
                                          <p:val>
                                            <p:strVal val="1+#ppt_w/2"/>
                                          </p:val>
                                        </p:tav>
                                        <p:tav tm="100000">
                                          <p:val>
                                            <p:strVal val="#ppt_x"/>
                                          </p:val>
                                        </p:tav>
                                      </p:tavLst>
                                    </p:anim>
                                    <p:anim calcmode="lin" valueType="num">
                                      <p:cBhvr additive="base">
                                        <p:cTn id="101" dur="500" fill="hold"/>
                                        <p:tgtEl>
                                          <p:spTgt spid="28"/>
                                        </p:tgtEl>
                                        <p:attrNameLst>
                                          <p:attrName>ppt_y</p:attrName>
                                        </p:attrNameLst>
                                      </p:cBhvr>
                                      <p:tavLst>
                                        <p:tav tm="0">
                                          <p:val>
                                            <p:strVal val="#ppt_y"/>
                                          </p:val>
                                        </p:tav>
                                        <p:tav tm="100000">
                                          <p:val>
                                            <p:strVal val="#ppt_y"/>
                                          </p:val>
                                        </p:tav>
                                      </p:tavLst>
                                    </p:anim>
                                  </p:childTnLst>
                                </p:cTn>
                              </p:par>
                            </p:childTnLst>
                          </p:cTn>
                        </p:par>
                        <p:par>
                          <p:cTn id="102" fill="hold">
                            <p:stCondLst>
                              <p:cond delay="500"/>
                            </p:stCondLst>
                            <p:childTnLst>
                              <p:par>
                                <p:cTn id="103" presetID="2" presetClass="entr" presetSubtype="2" fill="hold" grpId="0" nodeType="afterEffect">
                                  <p:stCondLst>
                                    <p:cond delay="0"/>
                                  </p:stCondLst>
                                  <p:childTnLst>
                                    <p:set>
                                      <p:cBhvr>
                                        <p:cTn id="104" dur="1" fill="hold">
                                          <p:stCondLst>
                                            <p:cond delay="0"/>
                                          </p:stCondLst>
                                        </p:cTn>
                                        <p:tgtEl>
                                          <p:spTgt spid="36"/>
                                        </p:tgtEl>
                                        <p:attrNameLst>
                                          <p:attrName>style.visibility</p:attrName>
                                        </p:attrNameLst>
                                      </p:cBhvr>
                                      <p:to>
                                        <p:strVal val="visible"/>
                                      </p:to>
                                    </p:set>
                                    <p:anim calcmode="lin" valueType="num">
                                      <p:cBhvr additive="base">
                                        <p:cTn id="105" dur="500" fill="hold"/>
                                        <p:tgtEl>
                                          <p:spTgt spid="36"/>
                                        </p:tgtEl>
                                        <p:attrNameLst>
                                          <p:attrName>ppt_x</p:attrName>
                                        </p:attrNameLst>
                                      </p:cBhvr>
                                      <p:tavLst>
                                        <p:tav tm="0">
                                          <p:val>
                                            <p:strVal val="1+#ppt_w/2"/>
                                          </p:val>
                                        </p:tav>
                                        <p:tav tm="100000">
                                          <p:val>
                                            <p:strVal val="#ppt_x"/>
                                          </p:val>
                                        </p:tav>
                                      </p:tavLst>
                                    </p:anim>
                                    <p:anim calcmode="lin" valueType="num">
                                      <p:cBhvr additive="base">
                                        <p:cTn id="106"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2" presetClass="entr" presetSubtype="2" fill="hold" grpId="0" nodeType="clickEffect">
                                  <p:stCondLst>
                                    <p:cond delay="0"/>
                                  </p:stCondLst>
                                  <p:childTnLst>
                                    <p:set>
                                      <p:cBhvr>
                                        <p:cTn id="114" dur="1" fill="hold">
                                          <p:stCondLst>
                                            <p:cond delay="0"/>
                                          </p:stCondLst>
                                        </p:cTn>
                                        <p:tgtEl>
                                          <p:spTgt spid="29"/>
                                        </p:tgtEl>
                                        <p:attrNameLst>
                                          <p:attrName>style.visibility</p:attrName>
                                        </p:attrNameLst>
                                      </p:cBhvr>
                                      <p:to>
                                        <p:strVal val="visible"/>
                                      </p:to>
                                    </p:set>
                                    <p:animEffect transition="in" filter="slide(fromRight)">
                                      <p:cBhvr>
                                        <p:cTn id="115" dur="500"/>
                                        <p:tgtEl>
                                          <p:spTgt spid="29"/>
                                        </p:tgtEl>
                                      </p:cBhvr>
                                    </p:animEffect>
                                  </p:childTnLst>
                                </p:cTn>
                              </p:par>
                            </p:childTnLst>
                          </p:cTn>
                        </p:par>
                        <p:par>
                          <p:cTn id="116" fill="hold">
                            <p:stCondLst>
                              <p:cond delay="500"/>
                            </p:stCondLst>
                            <p:childTnLst>
                              <p:par>
                                <p:cTn id="117" presetID="12" presetClass="entr" presetSubtype="2" fill="hold" grpId="0" nodeType="after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slide(fromRight)">
                                      <p:cBhvr>
                                        <p:cTn id="1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14" grpId="0" autoUpdateAnimBg="0"/>
      <p:bldP spid="17" grpId="0" animBg="1"/>
      <p:bldP spid="18" grpId="0" animBg="1"/>
      <p:bldP spid="20" grpId="0" autoUpdateAnimBg="0"/>
      <p:bldP spid="26" grpId="0" autoUpdateAnimBg="0"/>
      <p:bldP spid="28" grpId="0" animBg="1"/>
      <p:bldP spid="29" grpId="0" animBg="1"/>
      <p:bldP spid="30" grpId="0" autoUpdateAnimBg="0"/>
      <p:bldP spid="32" grpId="0" autoUpdateAnimBg="0"/>
      <p:bldP spid="33" grpId="0" autoUpdateAnimBg="0"/>
      <p:bldP spid="34" grpId="0" autoUpdateAnimBg="0"/>
      <p:bldP spid="35" grpId="0" autoUpdateAnimBg="0"/>
      <p:bldP spid="36" grpId="0" autoUpdateAnimBg="0"/>
      <p:bldP spid="38" grpId="0" autoUpdateAnimBg="0"/>
      <p:bldP spid="39" grpId="0" animBg="1"/>
      <p:bldP spid="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1655830" y="794217"/>
            <a:ext cx="7195663" cy="4247317"/>
          </a:xfrm>
          <a:prstGeom prst="rect">
            <a:avLst/>
          </a:prstGeom>
          <a:noFill/>
          <a:ln w="9525">
            <a:noFill/>
            <a:miter lim="800000"/>
          </a:ln>
        </p:spPr>
        <p:txBody>
          <a:bodyPr wrap="square">
            <a:spAutoFit/>
          </a:bodyPr>
          <a:lstStyle/>
          <a:p>
            <a:pPr fontAlgn="auto">
              <a:lnSpc>
                <a:spcPct val="150000"/>
              </a:lnSpc>
            </a:pPr>
            <a:r>
              <a:rPr lang="en-US" altLang="zh-CN" dirty="0" err="1">
                <a:latin typeface="百度综艺简体" panose="02010601030101010101" charset="-122"/>
                <a:ea typeface="百度综艺简体" panose="02010601030101010101" charset="-122"/>
              </a:rPr>
              <a:t>int</a:t>
            </a: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Search_Seq</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SSTable</a:t>
            </a:r>
            <a:r>
              <a:rPr lang="en-US" altLang="zh-CN" dirty="0">
                <a:latin typeface="百度综艺简体" panose="02010601030101010101" charset="-122"/>
                <a:ea typeface="百度综艺简体" panose="02010601030101010101" charset="-122"/>
              </a:rPr>
              <a:t> ST, </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KeyType</a:t>
            </a:r>
            <a:r>
              <a:rPr lang="en-US" altLang="zh-CN" dirty="0">
                <a:latin typeface="百度综艺简体" panose="02010601030101010101" charset="-122"/>
                <a:ea typeface="百度综艺简体" panose="02010601030101010101" charset="-122"/>
              </a:rPr>
              <a:t> key) {</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在顺序表</a:t>
            </a:r>
            <a:r>
              <a:rPr lang="en-US" altLang="zh-CN" dirty="0">
                <a:solidFill>
                  <a:schemeClr val="accent2"/>
                </a:solidFill>
                <a:latin typeface="百度综艺简体" panose="02010601030101010101" charset="-122"/>
                <a:ea typeface="百度综艺简体" panose="02010601030101010101" charset="-122"/>
              </a:rPr>
              <a:t>ST</a:t>
            </a:r>
            <a:r>
              <a:rPr lang="zh-CN" altLang="en-US" dirty="0">
                <a:solidFill>
                  <a:schemeClr val="accent2"/>
                </a:solidFill>
                <a:latin typeface="百度综艺简体" panose="02010601030101010101" charset="-122"/>
                <a:ea typeface="百度综艺简体" panose="02010601030101010101" charset="-122"/>
              </a:rPr>
              <a:t>中顺序查找其关键字等于</a:t>
            </a:r>
          </a:p>
          <a:p>
            <a:pPr fontAlgn="auto">
              <a:lnSpc>
                <a:spcPct val="150000"/>
              </a:lnSpc>
            </a:pPr>
            <a:r>
              <a:rPr lang="zh-CN" altLang="en-US" dirty="0">
                <a:solidFill>
                  <a:schemeClr val="accent2"/>
                </a:solidFill>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  key</a:t>
            </a:r>
            <a:r>
              <a:rPr lang="zh-CN" altLang="en-US" dirty="0">
                <a:solidFill>
                  <a:schemeClr val="accent2"/>
                </a:solidFill>
                <a:latin typeface="百度综艺简体" panose="02010601030101010101" charset="-122"/>
                <a:ea typeface="百度综艺简体" panose="02010601030101010101" charset="-122"/>
              </a:rPr>
              <a:t>的数据元素。若找到，则函数值为</a:t>
            </a:r>
          </a:p>
          <a:p>
            <a:pPr fontAlgn="auto">
              <a:lnSpc>
                <a:spcPct val="150000"/>
              </a:lnSpc>
            </a:pPr>
            <a:r>
              <a:rPr lang="zh-CN" altLang="en-US" dirty="0">
                <a:solidFill>
                  <a:schemeClr val="accent2"/>
                </a:solidFill>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该元素在表中的位置，否则为</a:t>
            </a:r>
            <a:r>
              <a:rPr lang="en-US" altLang="zh-CN" dirty="0">
                <a:solidFill>
                  <a:schemeClr val="accent2"/>
                </a:solidFill>
                <a:latin typeface="百度综艺简体" panose="02010601030101010101" charset="-122"/>
                <a:ea typeface="百度综艺简体" panose="02010601030101010101" charset="-122"/>
              </a:rPr>
              <a:t>0</a:t>
            </a:r>
            <a:r>
              <a:rPr lang="zh-CN" altLang="en-US" dirty="0">
                <a:solidFill>
                  <a:schemeClr val="accent2"/>
                </a:solidFill>
                <a:latin typeface="百度综艺简体" panose="02010601030101010101" charset="-122"/>
                <a:ea typeface="百度综艺简体" panose="02010601030101010101" charset="-122"/>
              </a:rPr>
              <a:t>。</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err="1">
                <a:solidFill>
                  <a:srgbClr val="FF0000"/>
                </a:solidFill>
                <a:latin typeface="百度综艺简体" panose="02010601030101010101" charset="-122"/>
                <a:ea typeface="百度综艺简体" panose="02010601030101010101" charset="-122"/>
              </a:rPr>
              <a:t>ST.elem</a:t>
            </a:r>
            <a:r>
              <a:rPr lang="en-US" altLang="zh-CN" dirty="0">
                <a:solidFill>
                  <a:srgbClr val="FF0000"/>
                </a:solidFill>
                <a:latin typeface="百度综艺简体" panose="02010601030101010101" charset="-122"/>
                <a:ea typeface="百度综艺简体" panose="02010601030101010101" charset="-122"/>
              </a:rPr>
              <a:t>[0].key = key;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哨兵”</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for (</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ST.length</a:t>
            </a:r>
            <a:r>
              <a:rPr lang="en-US" altLang="zh-CN" dirty="0">
                <a:latin typeface="百度综艺简体" panose="02010601030101010101" charset="-122"/>
                <a:ea typeface="百度综艺简体" panose="02010601030101010101" charset="-122"/>
              </a:rPr>
              <a:t>; </a:t>
            </a:r>
            <a:r>
              <a:rPr lang="en-US" altLang="zh-CN" dirty="0" err="1">
                <a:solidFill>
                  <a:srgbClr val="FF0000"/>
                </a:solidFill>
                <a:latin typeface="百度综艺简体" panose="02010601030101010101" charset="-122"/>
                <a:ea typeface="百度综艺简体" panose="02010601030101010101" charset="-122"/>
              </a:rPr>
              <a:t>ST.elem</a:t>
            </a:r>
            <a:r>
              <a:rPr lang="en-US" altLang="zh-CN" dirty="0">
                <a:solidFill>
                  <a:srgbClr val="FF0000"/>
                </a:solidFill>
                <a:latin typeface="百度综艺简体" panose="02010601030101010101" charset="-122"/>
                <a:ea typeface="百度综艺简体" panose="02010601030101010101" charset="-122"/>
              </a:rPr>
              <a:t>[</a:t>
            </a:r>
            <a:r>
              <a:rPr lang="en-US" altLang="zh-CN" dirty="0" err="1">
                <a:solidFill>
                  <a:srgbClr val="FF0000"/>
                </a:solidFill>
                <a:latin typeface="百度综艺简体" panose="02010601030101010101" charset="-122"/>
                <a:ea typeface="百度综艺简体" panose="02010601030101010101" charset="-122"/>
              </a:rPr>
              <a:t>i</a:t>
            </a:r>
            <a:r>
              <a:rPr lang="en-US" altLang="zh-CN" dirty="0">
                <a:solidFill>
                  <a:srgbClr val="FF0000"/>
                </a:solidFill>
                <a:latin typeface="百度综艺简体" panose="02010601030101010101" charset="-122"/>
                <a:ea typeface="百度综艺简体" panose="02010601030101010101" charset="-122"/>
              </a:rPr>
              <a:t>].key!=key;  </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  </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从后往前找</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return </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              </a:t>
            </a:r>
            <a:r>
              <a:rPr lang="en-US" altLang="zh-CN" dirty="0">
                <a:solidFill>
                  <a:schemeClr val="accent2"/>
                </a:solidFill>
                <a:latin typeface="百度综艺简体" panose="02010601030101010101" charset="-122"/>
                <a:ea typeface="百度综艺简体" panose="02010601030101010101" charset="-122"/>
              </a:rPr>
              <a:t>// </a:t>
            </a:r>
            <a:r>
              <a:rPr lang="zh-CN" altLang="en-US" dirty="0">
                <a:solidFill>
                  <a:schemeClr val="accent2"/>
                </a:solidFill>
                <a:latin typeface="百度综艺简体" panose="02010601030101010101" charset="-122"/>
                <a:ea typeface="百度综艺简体" panose="02010601030101010101" charset="-122"/>
              </a:rPr>
              <a:t>找不到时，</a:t>
            </a:r>
            <a:r>
              <a:rPr lang="en-US" altLang="zh-CN" dirty="0" err="1">
                <a:solidFill>
                  <a:schemeClr val="accent2"/>
                </a:solidFill>
                <a:latin typeface="百度综艺简体" panose="02010601030101010101" charset="-122"/>
                <a:ea typeface="百度综艺简体" panose="02010601030101010101" charset="-122"/>
              </a:rPr>
              <a:t>i</a:t>
            </a:r>
            <a:r>
              <a:rPr lang="zh-CN" altLang="en-US" dirty="0">
                <a:solidFill>
                  <a:schemeClr val="accent2"/>
                </a:solidFill>
                <a:latin typeface="百度综艺简体" panose="02010601030101010101" charset="-122"/>
                <a:ea typeface="百度综艺简体" panose="02010601030101010101" charset="-122"/>
              </a:rPr>
              <a:t>为</a:t>
            </a:r>
            <a:r>
              <a:rPr lang="en-US" altLang="zh-CN" dirty="0">
                <a:solidFill>
                  <a:schemeClr val="accent2"/>
                </a:solidFill>
                <a:latin typeface="百度综艺简体" panose="02010601030101010101" charset="-122"/>
                <a:ea typeface="百度综艺简体" panose="02010601030101010101" charset="-122"/>
              </a:rPr>
              <a:t>0</a:t>
            </a:r>
          </a:p>
          <a:p>
            <a:pPr fontAlgn="auto">
              <a:lnSpc>
                <a:spcPct val="150000"/>
              </a:lnSpc>
            </a:pPr>
            <a:r>
              <a:rPr lang="en-US" altLang="zh-CN" dirty="0">
                <a:latin typeface="百度综艺简体" panose="02010601030101010101" charset="-122"/>
                <a:ea typeface="百度综艺简体" panose="02010601030101010101" charset="-122"/>
              </a:rPr>
              <a:t>} // </a:t>
            </a:r>
            <a:r>
              <a:rPr lang="en-US" altLang="zh-CN" dirty="0" err="1">
                <a:latin typeface="百度综艺简体" panose="02010601030101010101" charset="-122"/>
                <a:ea typeface="百度综艺简体" panose="02010601030101010101" charset="-122"/>
              </a:rPr>
              <a:t>Search_Seq</a:t>
            </a:r>
            <a:endParaRPr lang="en-US" altLang="zh-CN"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1011466824"/>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828620" y="1211798"/>
            <a:ext cx="4824087"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分析顺序查找的时间性能</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1124028" y="2182529"/>
            <a:ext cx="7195663" cy="1754326"/>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 查找算法的</a:t>
            </a:r>
            <a:r>
              <a:rPr lang="zh-CN" altLang="en-US" dirty="0">
                <a:solidFill>
                  <a:srgbClr val="FF0000"/>
                </a:solidFill>
                <a:latin typeface="百度综艺简体" panose="02010601030101010101" charset="-122"/>
                <a:ea typeface="百度综艺简体" panose="02010601030101010101" charset="-122"/>
              </a:rPr>
              <a:t>平均查找</a:t>
            </a:r>
            <a:r>
              <a:rPr lang="zh-CN" altLang="en-US" dirty="0" smtClean="0">
                <a:solidFill>
                  <a:srgbClr val="FF0000"/>
                </a:solidFill>
                <a:latin typeface="百度综艺简体" panose="02010601030101010101" charset="-122"/>
                <a:ea typeface="百度综艺简体" panose="02010601030101010101" charset="-122"/>
              </a:rPr>
              <a:t>长度 </a:t>
            </a:r>
            <a:r>
              <a:rPr lang="en-US" altLang="zh-CN" dirty="0">
                <a:latin typeface="百度综艺简体" panose="02010601030101010101" charset="-122"/>
                <a:ea typeface="百度综艺简体" panose="02010601030101010101" charset="-122"/>
              </a:rPr>
              <a:t>(</a:t>
            </a:r>
            <a:r>
              <a:rPr lang="en-US" altLang="zh-CN" dirty="0">
                <a:solidFill>
                  <a:srgbClr val="2A5BA8"/>
                </a:solidFill>
                <a:latin typeface="百度综艺简体" panose="02010601030101010101" charset="-122"/>
                <a:ea typeface="百度综艺简体" panose="02010601030101010101" charset="-122"/>
              </a:rPr>
              <a:t>A</a:t>
            </a:r>
            <a:r>
              <a:rPr lang="en-US" altLang="zh-CN" dirty="0">
                <a:latin typeface="百度综艺简体" panose="02010601030101010101" charset="-122"/>
                <a:ea typeface="百度综艺简体" panose="02010601030101010101" charset="-122"/>
              </a:rPr>
              <a:t>verage </a:t>
            </a:r>
            <a:r>
              <a:rPr lang="en-US" altLang="zh-CN" dirty="0">
                <a:solidFill>
                  <a:srgbClr val="2A5BA8"/>
                </a:solidFill>
                <a:latin typeface="百度综艺简体" panose="02010601030101010101" charset="-122"/>
                <a:ea typeface="百度综艺简体" panose="02010601030101010101" charset="-122"/>
              </a:rPr>
              <a:t>S</a:t>
            </a:r>
            <a:r>
              <a:rPr lang="en-US" altLang="zh-CN" dirty="0">
                <a:latin typeface="百度综艺简体" panose="02010601030101010101" charset="-122"/>
                <a:ea typeface="百度综艺简体" panose="02010601030101010101" charset="-122"/>
              </a:rPr>
              <a:t>earch </a:t>
            </a:r>
            <a:r>
              <a:rPr lang="en-US" altLang="zh-CN" dirty="0">
                <a:solidFill>
                  <a:srgbClr val="2A5BA8"/>
                </a:solidFill>
                <a:latin typeface="百度综艺简体" panose="02010601030101010101" charset="-122"/>
                <a:ea typeface="百度综艺简体" panose="02010601030101010101" charset="-122"/>
              </a:rPr>
              <a:t>L</a:t>
            </a:r>
            <a:r>
              <a:rPr lang="en-US" altLang="zh-CN" dirty="0">
                <a:latin typeface="百度综艺简体" panose="02010601030101010101" charset="-122"/>
                <a:ea typeface="百度综艺简体" panose="02010601030101010101" charset="-122"/>
              </a:rPr>
              <a:t>ength) </a:t>
            </a:r>
          </a:p>
          <a:p>
            <a:pPr fontAlgn="auto">
              <a:lnSpc>
                <a:spcPct val="150000"/>
              </a:lnSpc>
            </a:pPr>
            <a:r>
              <a:rPr lang="en-US" altLang="zh-CN" dirty="0">
                <a:latin typeface="百度综艺简体" panose="02010601030101010101" charset="-122"/>
                <a:ea typeface="百度综艺简体" panose="02010601030101010101" charset="-122"/>
              </a:rPr>
              <a:t/>
            </a:r>
            <a:br>
              <a:rPr lang="en-US" altLang="zh-CN" dirty="0">
                <a:latin typeface="百度综艺简体" panose="02010601030101010101" charset="-122"/>
                <a:ea typeface="百度综艺简体" panose="02010601030101010101" charset="-122"/>
              </a:rPr>
            </a:br>
            <a:r>
              <a:rPr lang="en-US" altLang="zh-CN" dirty="0">
                <a:latin typeface="百度综艺简体" panose="02010601030101010101" charset="-122"/>
                <a:ea typeface="百度综艺简体" panose="02010601030101010101" charset="-122"/>
              </a:rPr>
              <a:t>    </a:t>
            </a:r>
            <a:r>
              <a:rPr lang="en-US" altLang="zh-CN" dirty="0" smtClean="0">
                <a:latin typeface="百度综艺简体" panose="02010601030101010101" charset="-122"/>
                <a:ea typeface="百度综艺简体" panose="02010601030101010101" charset="-122"/>
              </a:rPr>
              <a:t>   </a:t>
            </a:r>
            <a:r>
              <a:rPr lang="zh-CN" altLang="en-US" dirty="0" smtClean="0">
                <a:latin typeface="百度综艺简体" panose="02010601030101010101" charset="-122"/>
                <a:ea typeface="百度综艺简体" panose="02010601030101010101" charset="-122"/>
              </a:rPr>
              <a:t>为</a:t>
            </a:r>
            <a:r>
              <a:rPr lang="zh-CN" altLang="en-US" dirty="0">
                <a:latin typeface="百度综艺简体" panose="02010601030101010101" charset="-122"/>
                <a:ea typeface="百度综艺简体" panose="02010601030101010101" charset="-122"/>
              </a:rPr>
              <a:t>确定记录在表中的位置，需和给定值进行比较的关键字次数的期望值称为查找算法在查找成功时的</a:t>
            </a:r>
            <a:r>
              <a:rPr lang="zh-CN" altLang="en-US" dirty="0">
                <a:solidFill>
                  <a:srgbClr val="FF0000"/>
                </a:solidFill>
                <a:latin typeface="百度综艺简体" panose="02010601030101010101" charset="-122"/>
                <a:ea typeface="百度综艺简体" panose="02010601030101010101" charset="-122"/>
              </a:rPr>
              <a:t>平均查找长度</a:t>
            </a:r>
            <a:r>
              <a:rPr lang="zh-CN" altLang="en-US" dirty="0">
                <a:latin typeface="百度综艺简体" panose="02010601030101010101" charset="-122"/>
                <a:ea typeface="百度综艺简体" panose="02010601030101010101" charset="-122"/>
              </a:rPr>
              <a:t>。</a:t>
            </a:r>
            <a:endParaRPr lang="en-US" altLang="zh-CN" dirty="0">
              <a:latin typeface="百度综艺简体" panose="02010601030101010101" charset="-122"/>
              <a:ea typeface="百度综艺简体" panose="02010601030101010101" charset="-122"/>
            </a:endParaRPr>
          </a:p>
        </p:txBody>
      </p:sp>
    </p:spTree>
    <p:extLst>
      <p:ext uri="{BB962C8B-B14F-4D97-AF65-F5344CB8AC3E}">
        <p14:creationId xmlns:p14="http://schemas.microsoft.com/office/powerpoint/2010/main" val="2430553193"/>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41"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974168" y="960988"/>
            <a:ext cx="7195663" cy="1443472"/>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对于含有</a:t>
            </a:r>
            <a:r>
              <a:rPr lang="en-US" altLang="zh-CN" dirty="0" smtClean="0">
                <a:latin typeface="百度综艺简体" panose="02010601030101010101" charset="-122"/>
                <a:ea typeface="百度综艺简体" panose="02010601030101010101" charset="-122"/>
              </a:rPr>
              <a:t>n</a:t>
            </a:r>
            <a:r>
              <a:rPr lang="zh-CN" altLang="en-US" dirty="0" smtClean="0">
                <a:latin typeface="百度综艺简体" panose="02010601030101010101" charset="-122"/>
                <a:ea typeface="百度综艺简体" panose="02010601030101010101" charset="-122"/>
              </a:rPr>
              <a:t>个数据元素的表</a:t>
            </a: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查找成功时的平均查找长度为</a:t>
            </a:r>
            <a:r>
              <a:rPr lang="en-US" altLang="zh-CN" dirty="0" smtClean="0">
                <a:latin typeface="百度综艺简体" panose="02010601030101010101" charset="-122"/>
                <a:ea typeface="百度综艺简体" panose="02010601030101010101" charset="-122"/>
              </a:rPr>
              <a:t>:</a:t>
            </a:r>
          </a:p>
          <a:p>
            <a:pPr>
              <a:lnSpc>
                <a:spcPct val="80000"/>
              </a:lnSpc>
              <a:spcBef>
                <a:spcPct val="0"/>
              </a:spcBef>
            </a:pPr>
            <a:r>
              <a:rPr lang="en-US" altLang="zh-CN" sz="2000" b="1" dirty="0" smtClean="0">
                <a:solidFill>
                  <a:srgbClr val="A50021"/>
                </a:solidFill>
                <a:latin typeface="楷体_GB2312" pitchFamily="49" charset="-122"/>
                <a:ea typeface="楷体_GB2312" pitchFamily="49" charset="-122"/>
              </a:rPr>
              <a:t>                       n</a:t>
            </a:r>
            <a:endParaRPr lang="en-US" altLang="zh-CN" sz="2000" b="1" dirty="0">
              <a:solidFill>
                <a:srgbClr val="A50021"/>
              </a:solidFill>
              <a:latin typeface="楷体_GB2312" pitchFamily="49" charset="-122"/>
              <a:ea typeface="楷体_GB2312" pitchFamily="49" charset="-122"/>
            </a:endParaRPr>
          </a:p>
          <a:p>
            <a:pPr>
              <a:lnSpc>
                <a:spcPct val="80000"/>
              </a:lnSpc>
              <a:spcBef>
                <a:spcPct val="0"/>
              </a:spcBef>
            </a:pPr>
            <a:r>
              <a:rPr lang="en-US" altLang="zh-CN" b="1" dirty="0">
                <a:solidFill>
                  <a:srgbClr val="A50021"/>
                </a:solidFill>
                <a:latin typeface="楷体_GB2312" pitchFamily="49" charset="-122"/>
                <a:ea typeface="楷体_GB2312" pitchFamily="49" charset="-122"/>
              </a:rPr>
              <a:t>         </a:t>
            </a:r>
            <a:r>
              <a:rPr lang="en-US" altLang="zh-CN" b="1" dirty="0" smtClean="0">
                <a:solidFill>
                  <a:srgbClr val="A50021"/>
                </a:solidFill>
                <a:latin typeface="楷体_GB2312" pitchFamily="49" charset="-122"/>
                <a:ea typeface="楷体_GB2312" pitchFamily="49" charset="-122"/>
              </a:rPr>
              <a:t>           </a:t>
            </a:r>
            <a:r>
              <a:rPr lang="en-US" altLang="zh-CN" b="1" dirty="0">
                <a:solidFill>
                  <a:srgbClr val="A50021"/>
                </a:solidFill>
                <a:latin typeface="楷体_GB2312" pitchFamily="49" charset="-122"/>
                <a:ea typeface="楷体_GB2312" pitchFamily="49" charset="-122"/>
              </a:rPr>
              <a:t>ASL=</a:t>
            </a:r>
            <a:r>
              <a:rPr lang="en-US" altLang="zh-CN" sz="3600" b="1" dirty="0" err="1">
                <a:solidFill>
                  <a:srgbClr val="A50021"/>
                </a:solidFill>
                <a:latin typeface="楷体_GB2312" pitchFamily="49" charset="-122"/>
                <a:ea typeface="楷体_GB2312" pitchFamily="49" charset="-122"/>
              </a:rPr>
              <a:t>Σ</a:t>
            </a:r>
            <a:r>
              <a:rPr lang="en-US" altLang="zh-CN" b="1" dirty="0" err="1">
                <a:solidFill>
                  <a:srgbClr val="A50021"/>
                </a:solidFill>
                <a:latin typeface="楷体_GB2312" pitchFamily="49" charset="-122"/>
                <a:ea typeface="楷体_GB2312" pitchFamily="49" charset="-122"/>
              </a:rPr>
              <a:t>P</a:t>
            </a:r>
            <a:r>
              <a:rPr lang="en-US" altLang="zh-CN" b="1" baseline="-25000" dirty="0" err="1">
                <a:solidFill>
                  <a:srgbClr val="A50021"/>
                </a:solidFill>
                <a:latin typeface="楷体_GB2312" pitchFamily="49" charset="-122"/>
                <a:ea typeface="楷体_GB2312" pitchFamily="49" charset="-122"/>
              </a:rPr>
              <a:t>i</a:t>
            </a:r>
            <a:r>
              <a:rPr lang="en-US" altLang="zh-CN" b="1" dirty="0" err="1">
                <a:solidFill>
                  <a:srgbClr val="A50021"/>
                </a:solidFill>
                <a:latin typeface="楷体_GB2312" pitchFamily="49" charset="-122"/>
                <a:ea typeface="楷体_GB2312" pitchFamily="49" charset="-122"/>
              </a:rPr>
              <a:t>C</a:t>
            </a:r>
            <a:r>
              <a:rPr lang="en-US" altLang="zh-CN" b="1" baseline="-25000" dirty="0" err="1">
                <a:solidFill>
                  <a:srgbClr val="A50021"/>
                </a:solidFill>
                <a:latin typeface="楷体_GB2312" pitchFamily="49" charset="-122"/>
                <a:ea typeface="楷体_GB2312" pitchFamily="49" charset="-122"/>
              </a:rPr>
              <a:t>i</a:t>
            </a:r>
            <a:r>
              <a:rPr lang="en-US" altLang="zh-CN" b="1" dirty="0">
                <a:solidFill>
                  <a:srgbClr val="A50021"/>
                </a:solidFill>
                <a:latin typeface="楷体_GB2312" pitchFamily="49" charset="-122"/>
                <a:ea typeface="楷体_GB2312" pitchFamily="49" charset="-122"/>
              </a:rPr>
              <a:t>	</a:t>
            </a:r>
          </a:p>
          <a:p>
            <a:pPr>
              <a:lnSpc>
                <a:spcPct val="80000"/>
              </a:lnSpc>
              <a:spcBef>
                <a:spcPct val="0"/>
              </a:spcBef>
            </a:pPr>
            <a:r>
              <a:rPr lang="en-US" altLang="zh-CN" b="1" dirty="0">
                <a:solidFill>
                  <a:srgbClr val="A50021"/>
                </a:solidFill>
                <a:latin typeface="楷体_GB2312" pitchFamily="49" charset="-122"/>
                <a:ea typeface="楷体_GB2312" pitchFamily="49" charset="-122"/>
              </a:rPr>
              <a:t>              </a:t>
            </a:r>
            <a:r>
              <a:rPr lang="en-US" altLang="zh-CN" b="1" dirty="0" smtClean="0">
                <a:solidFill>
                  <a:srgbClr val="A50021"/>
                </a:solidFill>
                <a:latin typeface="楷体_GB2312" pitchFamily="49" charset="-122"/>
                <a:ea typeface="楷体_GB2312" pitchFamily="49" charset="-122"/>
              </a:rPr>
              <a:t>          </a:t>
            </a:r>
            <a:r>
              <a:rPr lang="en-US" altLang="zh-CN" sz="2000" b="1" dirty="0" err="1">
                <a:solidFill>
                  <a:srgbClr val="A50021"/>
                </a:solidFill>
                <a:latin typeface="楷体_GB2312" pitchFamily="49" charset="-122"/>
                <a:ea typeface="楷体_GB2312" pitchFamily="49" charset="-122"/>
              </a:rPr>
              <a:t>i</a:t>
            </a:r>
            <a:r>
              <a:rPr lang="en-US" altLang="zh-CN" sz="2000" b="1" dirty="0">
                <a:solidFill>
                  <a:srgbClr val="A50021"/>
                </a:solidFill>
                <a:latin typeface="楷体_GB2312" pitchFamily="49" charset="-122"/>
                <a:ea typeface="楷体_GB2312" pitchFamily="49" charset="-122"/>
              </a:rPr>
              <a:t>=1</a:t>
            </a:r>
            <a:endParaRPr lang="en-US" altLang="zh-CN" dirty="0" smtClean="0">
              <a:latin typeface="百度综艺简体" panose="02010601030101010101" charset="-122"/>
              <a:ea typeface="百度综艺简体" panose="02010601030101010101" charset="-122"/>
            </a:endParaRPr>
          </a:p>
        </p:txBody>
      </p:sp>
      <p:sp>
        <p:nvSpPr>
          <p:cNvPr id="14" name="TextBox 5"/>
          <p:cNvSpPr txBox="1">
            <a:spLocks noChangeArrowheads="1"/>
          </p:cNvSpPr>
          <p:nvPr/>
        </p:nvSpPr>
        <p:spPr bwMode="auto">
          <a:xfrm>
            <a:off x="974167" y="2404460"/>
            <a:ext cx="7195663" cy="463012"/>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其中</a:t>
            </a:r>
            <a:r>
              <a:rPr lang="en-US" altLang="zh-CN" dirty="0">
                <a:latin typeface="百度综艺简体" panose="02010601030101010101" charset="-122"/>
                <a:ea typeface="百度综艺简体" panose="02010601030101010101" charset="-122"/>
              </a:rPr>
              <a:t>:Pi</a:t>
            </a:r>
            <a:r>
              <a:rPr lang="zh-CN" altLang="en-US" dirty="0">
                <a:latin typeface="百度综艺简体" panose="02010601030101010101" charset="-122"/>
                <a:ea typeface="百度综艺简体" panose="02010601030101010101" charset="-122"/>
              </a:rPr>
              <a:t>为查找第</a:t>
            </a:r>
            <a:r>
              <a:rPr lang="en-US" altLang="zh-CN" dirty="0" err="1">
                <a:latin typeface="百度综艺简体" panose="02010601030101010101" charset="-122"/>
                <a:ea typeface="百度综艺简体" panose="02010601030101010101" charset="-122"/>
              </a:rPr>
              <a:t>i</a:t>
            </a:r>
            <a:r>
              <a:rPr lang="zh-CN" altLang="en-US" dirty="0">
                <a:latin typeface="百度综艺简体" panose="02010601030101010101" charset="-122"/>
                <a:ea typeface="百度综艺简体" panose="02010601030101010101" charset="-122"/>
              </a:rPr>
              <a:t>个数据元素的概率</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且</a:t>
            </a:r>
          </a:p>
        </p:txBody>
      </p:sp>
      <p:graphicFrame>
        <p:nvGraphicFramePr>
          <p:cNvPr id="17" name="Object 3"/>
          <p:cNvGraphicFramePr>
            <a:graphicFrameLocks noChangeAspect="1"/>
          </p:cNvGraphicFramePr>
          <p:nvPr>
            <p:extLst>
              <p:ext uri="{D42A27DB-BD31-4B8C-83A1-F6EECF244321}">
                <p14:modId xmlns:p14="http://schemas.microsoft.com/office/powerpoint/2010/main" val="3870747631"/>
              </p:ext>
            </p:extLst>
          </p:nvPr>
        </p:nvGraphicFramePr>
        <p:xfrm>
          <a:off x="4167698" y="2967654"/>
          <a:ext cx="940242" cy="743134"/>
        </p:xfrm>
        <a:graphic>
          <a:graphicData uri="http://schemas.openxmlformats.org/presentationml/2006/ole">
            <mc:AlternateContent xmlns:mc="http://schemas.openxmlformats.org/markup-compatibility/2006">
              <mc:Choice xmlns:v="urn:schemas-microsoft-com:vml" Requires="v">
                <p:oleObj spid="_x0000_s9219" name="公式" r:id="rId4" imgW="545863" imgH="431613" progId="Equation.3">
                  <p:embed/>
                </p:oleObj>
              </mc:Choice>
              <mc:Fallback>
                <p:oleObj name="公式" r:id="rId4" imgW="545863" imgH="4316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7698" y="2967654"/>
                        <a:ext cx="940242" cy="743134"/>
                      </a:xfrm>
                      <a:prstGeom prst="rect">
                        <a:avLst/>
                      </a:prstGeom>
                      <a:noFill/>
                      <a:ln>
                        <a:noFill/>
                      </a:ln>
                      <a:effectLst/>
                    </p:spPr>
                  </p:pic>
                </p:oleObj>
              </mc:Fallback>
            </mc:AlternateContent>
          </a:graphicData>
        </a:graphic>
      </p:graphicFrame>
      <p:sp>
        <p:nvSpPr>
          <p:cNvPr id="18" name="TextBox 5"/>
          <p:cNvSpPr txBox="1">
            <a:spLocks noChangeArrowheads="1"/>
          </p:cNvSpPr>
          <p:nvPr/>
        </p:nvSpPr>
        <p:spPr bwMode="auto">
          <a:xfrm>
            <a:off x="974167" y="3847932"/>
            <a:ext cx="7195663" cy="463012"/>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Ci</a:t>
            </a:r>
            <a:r>
              <a:rPr lang="zh-CN" altLang="en-US" dirty="0">
                <a:latin typeface="百度综艺简体" panose="02010601030101010101" charset="-122"/>
                <a:ea typeface="百度综艺简体" panose="02010601030101010101" charset="-122"/>
              </a:rPr>
              <a:t>为查到第</a:t>
            </a:r>
            <a:r>
              <a:rPr lang="en-US" altLang="zh-CN" dirty="0" err="1">
                <a:latin typeface="百度综艺简体" panose="02010601030101010101" charset="-122"/>
                <a:ea typeface="百度综艺简体" panose="02010601030101010101" charset="-122"/>
              </a:rPr>
              <a:t>i</a:t>
            </a:r>
            <a:r>
              <a:rPr lang="zh-CN" altLang="en-US" dirty="0">
                <a:latin typeface="百度综艺简体" panose="02010601030101010101" charset="-122"/>
                <a:ea typeface="百度综艺简体" panose="02010601030101010101" charset="-122"/>
              </a:rPr>
              <a:t>个数据元素时</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需要进行</a:t>
            </a:r>
            <a:r>
              <a:rPr lang="zh-CN" altLang="en-US" dirty="0" smtClean="0">
                <a:latin typeface="百度综艺简体" panose="02010601030101010101" charset="-122"/>
                <a:ea typeface="百度综艺简体" panose="02010601030101010101" charset="-122"/>
              </a:rPr>
              <a:t>的比较</a:t>
            </a:r>
            <a:r>
              <a:rPr lang="zh-CN" altLang="en-US" dirty="0">
                <a:latin typeface="百度综艺简体" panose="02010601030101010101" charset="-122"/>
                <a:ea typeface="百度综艺简体" panose="02010601030101010101" charset="-122"/>
              </a:rPr>
              <a:t>次数</a:t>
            </a:r>
            <a:r>
              <a:rPr lang="en-US" altLang="zh-CN" dirty="0">
                <a:latin typeface="百度综艺简体" panose="02010601030101010101" charset="-122"/>
                <a:ea typeface="百度综艺简体" panose="02010601030101010101" charset="-122"/>
              </a:rPr>
              <a:t>.</a:t>
            </a:r>
          </a:p>
        </p:txBody>
      </p:sp>
    </p:spTree>
    <p:extLst>
      <p:ext uri="{BB962C8B-B14F-4D97-AF65-F5344CB8AC3E}">
        <p14:creationId xmlns:p14="http://schemas.microsoft.com/office/powerpoint/2010/main" val="28011411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1" presetClass="entr" presetSubtype="0" fill="hold" nodeType="afterEffect">
                                  <p:stCondLst>
                                    <p:cond delay="0"/>
                                  </p:stCondLst>
                                  <p:childTnLst>
                                    <p:set>
                                      <p:cBhvr>
                                        <p:cTn id="46" dur="1" fill="hold">
                                          <p:stCondLst>
                                            <p:cond delay="499"/>
                                          </p:stCondLst>
                                        </p:cTn>
                                        <p:tgtEl>
                                          <p:spTgt spid="17"/>
                                        </p:tgtEl>
                                        <p:attrNameLst>
                                          <p:attrName>style.visibility</p:attrName>
                                        </p:attrNameLst>
                                      </p:cBhvr>
                                      <p:to>
                                        <p:strVal val="visible"/>
                                      </p:to>
                                    </p:set>
                                  </p:childTnLst>
                                </p:cTn>
                              </p:par>
                            </p:childTnLst>
                          </p:cTn>
                        </p:par>
                        <p:par>
                          <p:cTn id="47" fill="hold">
                            <p:stCondLst>
                              <p:cond delay="5750"/>
                            </p:stCondLst>
                            <p:childTnLst>
                              <p:par>
                                <p:cTn id="48" presetID="42" presetClass="entr" presetSubtype="0"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1000"/>
                                        <p:tgtEl>
                                          <p:spTgt spid="18"/>
                                        </p:tgtEl>
                                      </p:cBhvr>
                                    </p:animEffect>
                                    <p:anim calcmode="lin" valueType="num">
                                      <p:cBhvr>
                                        <p:cTn id="51" dur="1000" fill="hold"/>
                                        <p:tgtEl>
                                          <p:spTgt spid="18"/>
                                        </p:tgtEl>
                                        <p:attrNameLst>
                                          <p:attrName>ppt_x</p:attrName>
                                        </p:attrNameLst>
                                      </p:cBhvr>
                                      <p:tavLst>
                                        <p:tav tm="0">
                                          <p:val>
                                            <p:strVal val="#ppt_x"/>
                                          </p:val>
                                        </p:tav>
                                        <p:tav tm="100000">
                                          <p:val>
                                            <p:strVal val="#ppt_x"/>
                                          </p:val>
                                        </p:tav>
                                      </p:tavLst>
                                    </p:anim>
                                    <p:anim calcmode="lin" valueType="num">
                                      <p:cBhvr>
                                        <p:cTn id="5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4" grpId="0"/>
      <p:bldP spid="14"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smtClean="0">
                <a:solidFill>
                  <a:schemeClr val="accent2"/>
                </a:solidFill>
                <a:latin typeface="百度综艺简体" panose="02010601030101010101" charset="-122"/>
                <a:ea typeface="百度综艺简体" panose="02010601030101010101" charset="-122"/>
                <a:sym typeface="Arial" panose="020B0604020202020204" pitchFamily="34" charset="0"/>
              </a:rPr>
              <a:t>顺序查找</a:t>
            </a:r>
            <a:endParaRPr lang="zh-CN" sz="1800" dirty="0">
              <a:solidFill>
                <a:schemeClr val="accent2"/>
              </a:solidFill>
              <a:latin typeface="百度综艺简体" panose="02010601030101010101" charset="-122"/>
              <a:ea typeface="百度综艺简体" panose="02010601030101010101" charset="-122"/>
              <a:sym typeface="Arial" panose="020B0604020202020204" pitchFamily="34" charset="0"/>
            </a:endParaRP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Box 5"/>
          <p:cNvSpPr txBox="1">
            <a:spLocks noChangeArrowheads="1"/>
          </p:cNvSpPr>
          <p:nvPr/>
        </p:nvSpPr>
        <p:spPr bwMode="auto">
          <a:xfrm>
            <a:off x="974168" y="960988"/>
            <a:ext cx="7195663" cy="2125005"/>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对顺序表而言， </a:t>
            </a:r>
            <a:r>
              <a:rPr lang="en-US" altLang="zh-CN" dirty="0">
                <a:latin typeface="百度综艺简体" panose="02010601030101010101" charset="-122"/>
                <a:ea typeface="百度综艺简体" panose="02010601030101010101" charset="-122"/>
              </a:rPr>
              <a:t>Ci</a:t>
            </a:r>
            <a:r>
              <a:rPr lang="zh-CN" altLang="en-US" dirty="0">
                <a:latin typeface="百度综艺简体" panose="02010601030101010101" charset="-122"/>
                <a:ea typeface="百度综艺简体" panose="02010601030101010101" charset="-122"/>
              </a:rPr>
              <a:t>取决于所查元素所处的位置：</a:t>
            </a:r>
          </a:p>
          <a:p>
            <a:pPr fontAlgn="auto">
              <a:lnSpc>
                <a:spcPct val="150000"/>
              </a:lnSpc>
            </a:pP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查找</a:t>
            </a:r>
            <a:r>
              <a:rPr lang="zh-CN" altLang="en-US" dirty="0">
                <a:latin typeface="百度综艺简体" panose="02010601030101010101" charset="-122"/>
                <a:ea typeface="百度综艺简体" panose="02010601030101010101" charset="-122"/>
              </a:rPr>
              <a:t>记录是</a:t>
            </a:r>
            <a:r>
              <a:rPr lang="en-US" altLang="zh-CN" dirty="0">
                <a:latin typeface="百度综艺简体" panose="02010601030101010101" charset="-122"/>
                <a:ea typeface="百度综艺简体" panose="02010601030101010101" charset="-122"/>
              </a:rPr>
              <a:t>A[n]</a:t>
            </a:r>
            <a:r>
              <a:rPr lang="zh-CN" altLang="en-US" dirty="0">
                <a:latin typeface="百度综艺简体" panose="02010601030101010101" charset="-122"/>
                <a:ea typeface="百度综艺简体" panose="02010601030101010101" charset="-122"/>
              </a:rPr>
              <a:t>时</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仅需比较一次</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查找</a:t>
            </a:r>
            <a:r>
              <a:rPr lang="zh-CN" altLang="en-US" dirty="0">
                <a:latin typeface="百度综艺简体" panose="02010601030101010101" charset="-122"/>
                <a:ea typeface="百度综艺简体" panose="02010601030101010101" charset="-122"/>
              </a:rPr>
              <a:t>记录是</a:t>
            </a:r>
            <a:r>
              <a:rPr lang="en-US" altLang="zh-CN" dirty="0">
                <a:latin typeface="百度综艺简体" panose="02010601030101010101" charset="-122"/>
                <a:ea typeface="百度综艺简体" panose="02010601030101010101" charset="-122"/>
              </a:rPr>
              <a:t>A[1]</a:t>
            </a:r>
            <a:r>
              <a:rPr lang="zh-CN" altLang="en-US" dirty="0">
                <a:latin typeface="百度综艺简体" panose="02010601030101010101" charset="-122"/>
                <a:ea typeface="百度综艺简体" panose="02010601030101010101" charset="-122"/>
              </a:rPr>
              <a:t>时</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要比较</a:t>
            </a:r>
            <a:r>
              <a:rPr lang="en-US" altLang="zh-CN" dirty="0">
                <a:latin typeface="百度综艺简体" panose="02010601030101010101" charset="-122"/>
                <a:ea typeface="百度综艺简体" panose="02010601030101010101" charset="-122"/>
              </a:rPr>
              <a:t>n</a:t>
            </a:r>
            <a:r>
              <a:rPr lang="zh-CN" altLang="en-US" dirty="0">
                <a:latin typeface="百度综艺简体" panose="02010601030101010101" charset="-122"/>
                <a:ea typeface="百度综艺简体" panose="02010601030101010101" charset="-122"/>
              </a:rPr>
              <a:t>次</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smtClean="0">
                <a:latin typeface="百度综艺简体" panose="02010601030101010101" charset="-122"/>
                <a:ea typeface="百度综艺简体" panose="02010601030101010101" charset="-122"/>
              </a:rPr>
              <a:t>-</a:t>
            </a:r>
            <a:r>
              <a:rPr lang="zh-CN" altLang="en-US" dirty="0" smtClean="0">
                <a:latin typeface="百度综艺简体" panose="02010601030101010101" charset="-122"/>
                <a:ea typeface="百度综艺简体" panose="02010601030101010101" charset="-122"/>
              </a:rPr>
              <a:t>查找</a:t>
            </a:r>
            <a:r>
              <a:rPr lang="zh-CN" altLang="en-US" dirty="0">
                <a:latin typeface="百度综艺简体" panose="02010601030101010101" charset="-122"/>
                <a:ea typeface="百度综艺简体" panose="02010601030101010101" charset="-122"/>
              </a:rPr>
              <a:t>记录是</a:t>
            </a:r>
            <a:r>
              <a:rPr lang="en-US" altLang="zh-CN" dirty="0">
                <a:latin typeface="百度综艺简体" panose="02010601030101010101" charset="-122"/>
                <a:ea typeface="百度综艺简体" panose="02010601030101010101" charset="-122"/>
              </a:rPr>
              <a:t>A[</a:t>
            </a:r>
            <a:r>
              <a:rPr lang="en-US" altLang="zh-CN" dirty="0" err="1">
                <a:latin typeface="百度综艺简体" panose="02010601030101010101" charset="-122"/>
                <a:ea typeface="百度综艺简体" panose="02010601030101010101" charset="-122"/>
              </a:rPr>
              <a:t>i</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时</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要比较</a:t>
            </a:r>
            <a:r>
              <a:rPr lang="en-US" altLang="zh-CN" dirty="0">
                <a:latin typeface="百度综艺简体" panose="02010601030101010101" charset="-122"/>
                <a:ea typeface="百度综艺简体" panose="02010601030101010101" charset="-122"/>
              </a:rPr>
              <a:t>n-i+1</a:t>
            </a:r>
            <a:r>
              <a:rPr lang="zh-CN" altLang="en-US" dirty="0">
                <a:latin typeface="百度综艺简体" panose="02010601030101010101" charset="-122"/>
                <a:ea typeface="百度综艺简体" panose="02010601030101010101" charset="-122"/>
              </a:rPr>
              <a:t>次</a:t>
            </a:r>
            <a:r>
              <a:rPr lang="en-US" altLang="zh-CN" dirty="0">
                <a:latin typeface="百度综艺简体" panose="02010601030101010101" charset="-122"/>
                <a:ea typeface="百度综艺简体" panose="02010601030101010101" charset="-122"/>
              </a:rPr>
              <a:t>.</a:t>
            </a:r>
          </a:p>
          <a:p>
            <a:pPr fontAlgn="auto">
              <a:lnSpc>
                <a:spcPct val="150000"/>
              </a:lnSpc>
            </a:pPr>
            <a:endParaRPr lang="en-US" altLang="zh-CN" dirty="0">
              <a:latin typeface="百度综艺简体" panose="02010601030101010101" charset="-122"/>
              <a:ea typeface="百度综艺简体" panose="02010601030101010101" charset="-122"/>
            </a:endParaRPr>
          </a:p>
        </p:txBody>
      </p:sp>
      <p:sp>
        <p:nvSpPr>
          <p:cNvPr id="18" name="TextBox 5"/>
          <p:cNvSpPr txBox="1">
            <a:spLocks noChangeArrowheads="1"/>
          </p:cNvSpPr>
          <p:nvPr/>
        </p:nvSpPr>
        <p:spPr bwMode="auto">
          <a:xfrm>
            <a:off x="2755259" y="2716661"/>
            <a:ext cx="3343391" cy="369332"/>
          </a:xfrm>
          <a:prstGeom prst="rect">
            <a:avLst/>
          </a:prstGeom>
          <a:noFill/>
          <a:ln w="9525">
            <a:noFill/>
            <a:miter lim="800000"/>
          </a:ln>
        </p:spPr>
        <p:txBody>
          <a:bodyPr wrap="square">
            <a:spAutoFit/>
          </a:bodyPr>
          <a:lstStyle/>
          <a:p>
            <a:pPr>
              <a:spcBef>
                <a:spcPct val="0"/>
              </a:spcBef>
            </a:pPr>
            <a:r>
              <a:rPr lang="en-US" altLang="zh-CN" b="1" i="1" dirty="0">
                <a:solidFill>
                  <a:srgbClr val="A50021"/>
                </a:solidFill>
                <a:ea typeface="楷体_GB2312" pitchFamily="49" charset="-122"/>
              </a:rPr>
              <a:t>ASL = nP</a:t>
            </a:r>
            <a:r>
              <a:rPr lang="en-US" altLang="zh-CN" b="1" i="1" baseline="-25000" dirty="0">
                <a:solidFill>
                  <a:srgbClr val="A50021"/>
                </a:solidFill>
                <a:ea typeface="楷体_GB2312" pitchFamily="49" charset="-122"/>
              </a:rPr>
              <a:t>1</a:t>
            </a:r>
            <a:r>
              <a:rPr lang="en-US" altLang="zh-CN" b="1" i="1" dirty="0">
                <a:solidFill>
                  <a:srgbClr val="A50021"/>
                </a:solidFill>
                <a:ea typeface="楷体_GB2312" pitchFamily="49" charset="-122"/>
              </a:rPr>
              <a:t> +(n-1)P</a:t>
            </a:r>
            <a:r>
              <a:rPr lang="en-US" altLang="zh-CN" b="1" i="1" baseline="-25000" dirty="0">
                <a:solidFill>
                  <a:srgbClr val="A50021"/>
                </a:solidFill>
                <a:ea typeface="楷体_GB2312" pitchFamily="49" charset="-122"/>
              </a:rPr>
              <a:t>2</a:t>
            </a:r>
            <a:r>
              <a:rPr lang="en-US" altLang="zh-CN" b="1" i="1" dirty="0">
                <a:solidFill>
                  <a:srgbClr val="A50021"/>
                </a:solidFill>
                <a:ea typeface="楷体_GB2312" pitchFamily="49" charset="-122"/>
              </a:rPr>
              <a:t> + … +2P</a:t>
            </a:r>
            <a:r>
              <a:rPr lang="en-US" altLang="zh-CN" b="1" i="1" baseline="-25000" dirty="0">
                <a:solidFill>
                  <a:srgbClr val="A50021"/>
                </a:solidFill>
                <a:ea typeface="楷体_GB2312" pitchFamily="49" charset="-122"/>
              </a:rPr>
              <a:t>n-1</a:t>
            </a:r>
            <a:r>
              <a:rPr lang="en-US" altLang="zh-CN" b="1" i="1" dirty="0">
                <a:solidFill>
                  <a:srgbClr val="A50021"/>
                </a:solidFill>
                <a:ea typeface="楷体_GB2312" pitchFamily="49" charset="-122"/>
              </a:rPr>
              <a:t>+P</a:t>
            </a:r>
            <a:r>
              <a:rPr lang="en-US" altLang="zh-CN" b="1" i="1" baseline="-25000" dirty="0">
                <a:solidFill>
                  <a:srgbClr val="A50021"/>
                </a:solidFill>
                <a:ea typeface="楷体_GB2312" pitchFamily="49" charset="-122"/>
              </a:rPr>
              <a:t>n</a:t>
            </a:r>
          </a:p>
        </p:txBody>
      </p:sp>
      <p:graphicFrame>
        <p:nvGraphicFramePr>
          <p:cNvPr id="20" name="Object 5"/>
          <p:cNvGraphicFramePr>
            <a:graphicFrameLocks noChangeAspect="1"/>
          </p:cNvGraphicFramePr>
          <p:nvPr>
            <p:extLst>
              <p:ext uri="{D42A27DB-BD31-4B8C-83A1-F6EECF244321}">
                <p14:modId xmlns:p14="http://schemas.microsoft.com/office/powerpoint/2010/main" val="2656516132"/>
              </p:ext>
            </p:extLst>
          </p:nvPr>
        </p:nvGraphicFramePr>
        <p:xfrm>
          <a:off x="2861807" y="4100813"/>
          <a:ext cx="3236843" cy="740853"/>
        </p:xfrm>
        <a:graphic>
          <a:graphicData uri="http://schemas.openxmlformats.org/presentationml/2006/ole">
            <mc:AlternateContent xmlns:mc="http://schemas.openxmlformats.org/markup-compatibility/2006">
              <mc:Choice xmlns:v="urn:schemas-microsoft-com:vml" Requires="v">
                <p:oleObj spid="_x0000_s10244" name="公式" r:id="rId4" imgW="1879600" imgH="431800" progId="Equation.3">
                  <p:embed/>
                </p:oleObj>
              </mc:Choice>
              <mc:Fallback>
                <p:oleObj name="公式" r:id="rId4" imgW="18796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1807" y="4100813"/>
                        <a:ext cx="3236843" cy="740853"/>
                      </a:xfrm>
                      <a:prstGeom prst="rect">
                        <a:avLst/>
                      </a:prstGeom>
                      <a:noFill/>
                      <a:ln>
                        <a:noFill/>
                      </a:ln>
                      <a:effectLst/>
                    </p:spPr>
                  </p:pic>
                </p:oleObj>
              </mc:Fallback>
            </mc:AlternateContent>
          </a:graphicData>
        </a:graphic>
      </p:graphicFrame>
      <p:sp>
        <p:nvSpPr>
          <p:cNvPr id="23" name="TextBox 5"/>
          <p:cNvSpPr txBox="1">
            <a:spLocks noChangeArrowheads="1"/>
          </p:cNvSpPr>
          <p:nvPr/>
        </p:nvSpPr>
        <p:spPr bwMode="auto">
          <a:xfrm>
            <a:off x="1099953" y="3207518"/>
            <a:ext cx="7195663" cy="878510"/>
          </a:xfrm>
          <a:prstGeom prst="rect">
            <a:avLst/>
          </a:prstGeom>
          <a:noFill/>
          <a:ln w="9525">
            <a:noFill/>
            <a:miter lim="800000"/>
          </a:ln>
        </p:spPr>
        <p:txBody>
          <a:bodyPr wrap="square">
            <a:spAutoFit/>
          </a:bodyPr>
          <a:lstStyle/>
          <a:p>
            <a:pPr fontAlgn="auto">
              <a:lnSpc>
                <a:spcPct val="150000"/>
              </a:lnSpc>
            </a:pPr>
            <a:r>
              <a:rPr lang="zh-CN" altLang="en-US" dirty="0">
                <a:latin typeface="百度综艺简体" panose="02010601030101010101" charset="-122"/>
                <a:ea typeface="百度综艺简体" panose="02010601030101010101" charset="-122"/>
              </a:rPr>
              <a:t>在等概率查找的情况下，</a:t>
            </a:r>
          </a:p>
          <a:p>
            <a:pPr fontAlgn="auto">
              <a:lnSpc>
                <a:spcPct val="150000"/>
              </a:lnSpc>
            </a:pPr>
            <a:r>
              <a:rPr lang="zh-CN" altLang="en-US" dirty="0">
                <a:latin typeface="百度综艺简体" panose="02010601030101010101" charset="-122"/>
                <a:ea typeface="百度综艺简体" panose="02010601030101010101" charset="-122"/>
              </a:rPr>
              <a:t>顺序表查找的平均查找长度为：</a:t>
            </a:r>
            <a:endParaRPr lang="en-US" altLang="zh-CN" dirty="0">
              <a:latin typeface="百度综艺简体" panose="02010601030101010101" charset="-122"/>
              <a:ea typeface="百度综艺简体" panose="02010601030101010101" charset="-122"/>
            </a:endParaRPr>
          </a:p>
        </p:txBody>
      </p:sp>
      <p:graphicFrame>
        <p:nvGraphicFramePr>
          <p:cNvPr id="26" name="Object 4"/>
          <p:cNvGraphicFramePr>
            <a:graphicFrameLocks noChangeAspect="1"/>
          </p:cNvGraphicFramePr>
          <p:nvPr>
            <p:extLst>
              <p:ext uri="{D42A27DB-BD31-4B8C-83A1-F6EECF244321}">
                <p14:modId xmlns:p14="http://schemas.microsoft.com/office/powerpoint/2010/main" val="871862297"/>
              </p:ext>
            </p:extLst>
          </p:nvPr>
        </p:nvGraphicFramePr>
        <p:xfrm>
          <a:off x="3846482" y="3207518"/>
          <a:ext cx="633746" cy="593311"/>
        </p:xfrm>
        <a:graphic>
          <a:graphicData uri="http://schemas.openxmlformats.org/presentationml/2006/ole">
            <mc:AlternateContent xmlns:mc="http://schemas.openxmlformats.org/markup-compatibility/2006">
              <mc:Choice xmlns:v="urn:schemas-microsoft-com:vml" Requires="v">
                <p:oleObj spid="_x0000_s10245" name="公式" r:id="rId6" imgW="418918" imgH="393529" progId="Equation.3">
                  <p:embed/>
                </p:oleObj>
              </mc:Choice>
              <mc:Fallback>
                <p:oleObj name="公式" r:id="rId6" imgW="418918" imgH="39352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482" y="3207518"/>
                        <a:ext cx="633746" cy="59331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81829747"/>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42"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1" presetClass="entr" presetSubtype="0" fill="hold" nodeType="afterEffect">
                                  <p:stCondLst>
                                    <p:cond delay="0"/>
                                  </p:stCondLst>
                                  <p:childTnLst>
                                    <p:set>
                                      <p:cBhvr>
                                        <p:cTn id="46" dur="1" fill="hold">
                                          <p:stCondLst>
                                            <p:cond delay="499"/>
                                          </p:stCondLst>
                                        </p:cTn>
                                        <p:tgtEl>
                                          <p:spTgt spid="20"/>
                                        </p:tgtEl>
                                        <p:attrNameLst>
                                          <p:attrName>style.visibility</p:attrName>
                                        </p:attrNameLst>
                                      </p:cBhvr>
                                      <p:to>
                                        <p:strVal val="visible"/>
                                      </p:to>
                                    </p:set>
                                  </p:childTnLst>
                                </p:cTn>
                              </p:par>
                            </p:childTnLst>
                          </p:cTn>
                        </p:par>
                        <p:par>
                          <p:cTn id="47" fill="hold">
                            <p:stCondLst>
                              <p:cond delay="5750"/>
                            </p:stCondLst>
                            <p:childTnLst>
                              <p:par>
                                <p:cTn id="48" presetID="1" presetClass="entr" presetSubtype="0" fill="hold" nodeType="afterEffect">
                                  <p:stCondLst>
                                    <p:cond delay="0"/>
                                  </p:stCondLst>
                                  <p:childTnLst>
                                    <p:set>
                                      <p:cBhvr>
                                        <p:cTn id="49" dur="1" fill="hold">
                                          <p:stCondLst>
                                            <p:cond delay="499"/>
                                          </p:stCondLst>
                                        </p:cTn>
                                        <p:tgtEl>
                                          <p:spTgt spid="26"/>
                                        </p:tgtEl>
                                        <p:attrNameLst>
                                          <p:attrName>style.visibility</p:attrName>
                                        </p:attrNameLst>
                                      </p:cBhvr>
                                      <p:to>
                                        <p:strVal val="visible"/>
                                      </p:to>
                                    </p:set>
                                  </p:childTnLst>
                                </p:cTn>
                              </p:par>
                            </p:childTnLst>
                          </p:cTn>
                        </p:par>
                        <p:par>
                          <p:cTn id="50" fill="hold">
                            <p:stCondLst>
                              <p:cond delay="6250"/>
                            </p:stCondLst>
                            <p:childTnLst>
                              <p:par>
                                <p:cTn id="51" presetID="42" presetClass="entr" presetSubtype="0" fill="hold" grpId="0" nodeType="after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1000"/>
                                        <p:tgtEl>
                                          <p:spTgt spid="23"/>
                                        </p:tgtEl>
                                      </p:cBhvr>
                                    </p:animEffect>
                                    <p:anim calcmode="lin" valueType="num">
                                      <p:cBhvr>
                                        <p:cTn id="54" dur="1000" fill="hold"/>
                                        <p:tgtEl>
                                          <p:spTgt spid="23"/>
                                        </p:tgtEl>
                                        <p:attrNameLst>
                                          <p:attrName>ppt_x</p:attrName>
                                        </p:attrNameLst>
                                      </p:cBhvr>
                                      <p:tavLst>
                                        <p:tav tm="0">
                                          <p:val>
                                            <p:strVal val="#ppt_x"/>
                                          </p:val>
                                        </p:tav>
                                        <p:tav tm="100000">
                                          <p:val>
                                            <p:strVal val="#ppt_x"/>
                                          </p:val>
                                        </p:tav>
                                      </p:tavLst>
                                    </p:anim>
                                    <p:anim calcmode="lin" valueType="num">
                                      <p:cBhvr>
                                        <p:cTn id="5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4" grpId="0"/>
      <p:bldP spid="18"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1" y="5875"/>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20 2"/>
          <p:cNvPicPr>
            <a:picLocks noChangeAspect="1"/>
          </p:cNvPicPr>
          <p:nvPr/>
        </p:nvPicPr>
        <p:blipFill rotWithShape="1">
          <a:blip r:embed="rId2">
            <a:extLst>
              <a:ext uri="{28A0092B-C50C-407E-A947-70E740481C1C}">
                <a14:useLocalDpi xmlns:a14="http://schemas.microsoft.com/office/drawing/2010/main" val="0"/>
              </a:ext>
            </a:extLst>
          </a:blip>
          <a:srcRect l="9884"/>
          <a:stretch>
            <a:fillRect/>
          </a:stretch>
        </p:blipFill>
        <p:spPr>
          <a:xfrm>
            <a:off x="4224" y="1133312"/>
            <a:ext cx="3523982" cy="4018760"/>
          </a:xfrm>
          <a:prstGeom prst="rect">
            <a:avLst/>
          </a:prstGeom>
          <a:solidFill>
            <a:srgbClr val="2A5BA8"/>
          </a:solidFill>
        </p:spPr>
      </p:pic>
      <p:pic>
        <p:nvPicPr>
          <p:cNvPr id="5" name="20 4"/>
          <p:cNvPicPr>
            <a:picLocks noChangeAspect="1"/>
          </p:cNvPicPr>
          <p:nvPr/>
        </p:nvPicPr>
        <p:blipFill rotWithShape="1">
          <a:blip r:embed="rId2">
            <a:extLst>
              <a:ext uri="{28A0092B-C50C-407E-A947-70E740481C1C}">
                <a14:useLocalDpi xmlns:a14="http://schemas.microsoft.com/office/drawing/2010/main" val="0"/>
              </a:ext>
            </a:extLst>
          </a:blip>
          <a:srcRect r="46564" b="51735"/>
          <a:stretch>
            <a:fillRect/>
          </a:stretch>
        </p:blipFill>
        <p:spPr>
          <a:xfrm flipV="1">
            <a:off x="7180313" y="794"/>
            <a:ext cx="1952652" cy="1727659"/>
          </a:xfrm>
          <a:prstGeom prst="rect">
            <a:avLst/>
          </a:prstGeom>
        </p:spPr>
      </p:pic>
      <p:sp>
        <p:nvSpPr>
          <p:cNvPr id="8" name="矩形 259"/>
          <p:cNvSpPr>
            <a:spLocks noChangeArrowheads="1"/>
          </p:cNvSpPr>
          <p:nvPr/>
        </p:nvSpPr>
        <p:spPr bwMode="auto">
          <a:xfrm>
            <a:off x="4990595" y="2335478"/>
            <a:ext cx="3266020" cy="896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54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本</a:t>
            </a:r>
            <a:r>
              <a:rPr lang="zh-CN" altLang="en-US" sz="5400" cap="all" spc="213" dirty="0" smtClean="0">
                <a:solidFill>
                  <a:schemeClr val="accent1"/>
                </a:solidFill>
                <a:latin typeface="百度综艺简体" panose="02010601030101010101" charset="-122"/>
                <a:ea typeface="百度综艺简体" panose="02010601030101010101" charset="-122"/>
                <a:cs typeface="百度综艺简体" panose="02010601030101010101" charset="-122"/>
              </a:rPr>
              <a:t>节结束</a:t>
            </a:r>
            <a:endParaRPr lang="en-US" altLang="zh-CN" sz="5400" cap="all" spc="213" dirty="0">
              <a:solidFill>
                <a:schemeClr val="accent1"/>
              </a:solidFill>
              <a:latin typeface="百度综艺简体" panose="02010601030101010101" charset="-122"/>
              <a:ea typeface="百度综艺简体" panose="02010601030101010101" charset="-122"/>
              <a:cs typeface="百度综艺简体" panose="02010601030101010101" charset="-122"/>
            </a:endParaRPr>
          </a:p>
        </p:txBody>
      </p:sp>
      <p:sp>
        <p:nvSpPr>
          <p:cNvPr id="10" name="Rectangle 3"/>
          <p:cNvSpPr txBox="1">
            <a:spLocks noChangeArrowheads="1"/>
          </p:cNvSpPr>
          <p:nvPr/>
        </p:nvSpPr>
        <p:spPr bwMode="auto">
          <a:xfrm>
            <a:off x="4803775" y="3791585"/>
            <a:ext cx="1569085" cy="184150"/>
          </a:xfrm>
          <a:prstGeom prst="rect">
            <a:avLst/>
          </a:prstGeom>
          <a:solidFill>
            <a:schemeClr val="accent1"/>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r>
              <a:rPr lang="zh-CN" altLang="en-US" sz="1200" b="0" noProof="1">
                <a:effectLst/>
                <a:latin typeface="百度综艺简体" panose="02010601030101010101" charset="-122"/>
                <a:ea typeface="百度综艺简体" panose="02010601030101010101" charset="-122"/>
                <a:cs typeface="百度综艺简体" panose="02010601030101010101" charset="-122"/>
              </a:rPr>
              <a:t>任课教师：</a:t>
            </a:r>
            <a:r>
              <a:rPr lang="zh-CN" sz="1200" b="0" noProof="1">
                <a:effectLst/>
                <a:latin typeface="百度综艺简体" panose="02010601030101010101" charset="-122"/>
                <a:ea typeface="百度综艺简体" panose="02010601030101010101" charset="-122"/>
                <a:cs typeface="百度综艺简体" panose="02010601030101010101" charset="-122"/>
              </a:rPr>
              <a:t>王青松</a:t>
            </a:r>
            <a:r>
              <a:rPr lang="en-US" altLang="zh-CN" sz="1200" b="0" noProof="1">
                <a:effectLst/>
                <a:latin typeface="百度综艺简体" panose="02010601030101010101" charset="-122"/>
                <a:ea typeface="百度综艺简体" panose="02010601030101010101" charset="-122"/>
                <a:cs typeface="百度综艺简体" panose="02010601030101010101" charset="-122"/>
              </a:rPr>
              <a:t> </a:t>
            </a:r>
            <a:r>
              <a:rPr lang="en-US" altLang="zh-CN" sz="1200" b="0" noProof="1">
                <a:effectLst/>
                <a:latin typeface="华文中宋" panose="02010600040101010101" charset="-122"/>
                <a:ea typeface="华文中宋" panose="02010600040101010101" charset="-122"/>
              </a:rPr>
              <a:t>     </a:t>
            </a:r>
            <a:r>
              <a:rPr lang="zh-CN" altLang="en-US" sz="1200" b="0" noProof="1">
                <a:effectLst/>
                <a:latin typeface="华文中宋" panose="02010600040101010101" charset="-122"/>
                <a:ea typeface="华文中宋" panose="02010600040101010101" charset="-122"/>
              </a:rPr>
              <a:t>   </a:t>
            </a:r>
            <a:endParaRPr lang="en-US" altLang="ko-KR" sz="1200" b="0" noProof="1">
              <a:effectLst/>
              <a:latin typeface="华文中宋" panose="02010600040101010101" charset="-122"/>
              <a:ea typeface="华文中宋" panose="02010600040101010101" charset="-122"/>
            </a:endParaRPr>
          </a:p>
        </p:txBody>
      </p:sp>
      <p:sp>
        <p:nvSpPr>
          <p:cNvPr id="11" name="Rectangle 3"/>
          <p:cNvSpPr txBox="1">
            <a:spLocks noChangeArrowheads="1"/>
          </p:cNvSpPr>
          <p:nvPr/>
        </p:nvSpPr>
        <p:spPr bwMode="auto">
          <a:xfrm>
            <a:off x="6372558" y="3791658"/>
            <a:ext cx="2760406" cy="184538"/>
          </a:xfrm>
          <a:prstGeom prst="rect">
            <a:avLst/>
          </a:prstGeom>
          <a:solidFill>
            <a:schemeClr val="accent2"/>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endParaRPr lang="en-US" altLang="ko-KR" sz="1200" b="0" noProof="1">
              <a:effectLst/>
              <a:latin typeface="华文中宋" panose="02010600040101010101" charset="-122"/>
              <a:ea typeface="华文中宋"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 calcmode="lin" valueType="num">
                                      <p:cBhvr>
                                        <p:cTn id="2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8"/>
                                        </p:tgtEl>
                                      </p:cBhvr>
                                    </p:animEffect>
                                  </p:childTnLst>
                                </p:cTn>
                              </p:par>
                            </p:childTnLst>
                          </p:cTn>
                        </p:par>
                        <p:par>
                          <p:cTn id="23" fill="hold">
                            <p:stCondLst>
                              <p:cond delay="1850"/>
                            </p:stCondLst>
                            <p:childTnLst>
                              <p:par>
                                <p:cTn id="24" presetID="26" presetClass="emph" presetSubtype="0" fill="hold" grpId="1" nodeType="afterEffect">
                                  <p:stCondLst>
                                    <p:cond delay="0"/>
                                  </p:stCondLst>
                                  <p:iterate type="lt">
                                    <p:tmPct val="0"/>
                                  </p:iterate>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par>
                          <p:cTn id="27" fill="hold">
                            <p:stCondLst>
                              <p:cond delay="2349"/>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2849"/>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bldLvl="0" animBg="1"/>
      <p:bldP spid="11" grpId="0" bldLvl="0" animBg="1"/>
    </p:bldLst>
  </p:timing>
</p:sld>
</file>

<file path=ppt/theme/theme1.xml><?xml version="1.0" encoding="utf-8"?>
<a:theme xmlns:a="http://schemas.openxmlformats.org/drawingml/2006/main" name="Office 主题​​">
  <a:themeElements>
    <a:clrScheme name="自定义 647">
      <a:dk1>
        <a:sysClr val="windowText" lastClr="000000"/>
      </a:dk1>
      <a:lt1>
        <a:sysClr val="window" lastClr="FFFFFF"/>
      </a:lt1>
      <a:dk2>
        <a:srgbClr val="44546A"/>
      </a:dk2>
      <a:lt2>
        <a:srgbClr val="E7E6E6"/>
      </a:lt2>
      <a:accent1>
        <a:srgbClr val="2A5BA8"/>
      </a:accent1>
      <a:accent2>
        <a:srgbClr val="48AC92"/>
      </a:accent2>
      <a:accent3>
        <a:srgbClr val="2A5BA8"/>
      </a:accent3>
      <a:accent4>
        <a:srgbClr val="48AC92"/>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325</TotalTime>
  <Words>787</Words>
  <Application>Microsoft Office PowerPoint</Application>
  <PresentationFormat>自定义</PresentationFormat>
  <Paragraphs>120</Paragraphs>
  <Slides>15</Slides>
  <Notes>13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15</vt:i4>
      </vt:variant>
    </vt:vector>
  </HeadingPairs>
  <TitlesOfParts>
    <vt:vector size="32" baseType="lpstr">
      <vt:lpstr>Lato Light</vt:lpstr>
      <vt:lpstr>百度综艺简体</vt:lpstr>
      <vt:lpstr>等线</vt:lpstr>
      <vt:lpstr>等线 Light</vt:lpstr>
      <vt:lpstr>华文中宋</vt:lpstr>
      <vt:lpstr>楷体_GB2312</vt:lpstr>
      <vt:lpstr>宋体</vt:lpstr>
      <vt:lpstr>微软雅黑</vt:lpstr>
      <vt:lpstr>Arial</vt:lpstr>
      <vt:lpstr>Calibri</vt:lpstr>
      <vt:lpstr>Calibri Light</vt:lpstr>
      <vt:lpstr>Tahoma</vt:lpstr>
      <vt:lpstr>Times New Roman</vt:lpstr>
      <vt:lpstr>Wingdings</vt:lpstr>
      <vt:lpstr>Office 主题​​</vt:lpstr>
      <vt:lpstr>文档</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Neusoft</cp:lastModifiedBy>
  <cp:revision>92</cp:revision>
  <dcterms:created xsi:type="dcterms:W3CDTF">2017-06-21T11:46:00Z</dcterms:created>
  <dcterms:modified xsi:type="dcterms:W3CDTF">2020-11-17T12:45:54Z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2052-11.1.0.8986</vt:lpwstr>
  </property>
</Properties>
</file>