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83" r:id="rId2"/>
    <p:sldId id="284" r:id="rId3"/>
    <p:sldId id="355" r:id="rId4"/>
    <p:sldId id="356" r:id="rId5"/>
    <p:sldId id="357" r:id="rId6"/>
    <p:sldId id="358" r:id="rId7"/>
    <p:sldId id="359" r:id="rId8"/>
    <p:sldId id="360" r:id="rId9"/>
    <p:sldId id="352" r:id="rId10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2020/11/17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7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262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310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708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582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256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562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077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2020/11/17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17/11/2020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2020/11/17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6750050" y="2957195"/>
            <a:ext cx="1868170" cy="37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5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哈希表的构造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437946" y="1755611"/>
            <a:ext cx="4534558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对数字的关键字可有下列构造方法：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一、构造哈希函数的方法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912346" y="2256865"/>
            <a:ext cx="2114088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1.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直接定址法</a:t>
            </a: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912346" y="2758119"/>
            <a:ext cx="2114088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2.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数字分析法</a:t>
            </a: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1912346" y="3259373"/>
            <a:ext cx="2114088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3.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平方取中法</a:t>
            </a: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4646581" y="2256865"/>
            <a:ext cx="2114088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4.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折叠法</a:t>
            </a:r>
          </a:p>
        </p:txBody>
      </p:sp>
      <p:sp>
        <p:nvSpPr>
          <p:cNvPr id="24" name="TextBox 5"/>
          <p:cNvSpPr txBox="1">
            <a:spLocks noChangeArrowheads="1"/>
          </p:cNvSpPr>
          <p:nvPr/>
        </p:nvSpPr>
        <p:spPr bwMode="auto">
          <a:xfrm>
            <a:off x="4646581" y="2758119"/>
            <a:ext cx="2114088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5.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除留余数法</a:t>
            </a:r>
          </a:p>
        </p:txBody>
      </p:sp>
      <p:sp>
        <p:nvSpPr>
          <p:cNvPr id="28" name="TextBox 5"/>
          <p:cNvSpPr txBox="1">
            <a:spLocks noChangeArrowheads="1"/>
          </p:cNvSpPr>
          <p:nvPr/>
        </p:nvSpPr>
        <p:spPr bwMode="auto">
          <a:xfrm>
            <a:off x="4646581" y="3259373"/>
            <a:ext cx="2114088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6.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随机数法</a:t>
            </a:r>
          </a:p>
        </p:txBody>
      </p:sp>
      <p:sp>
        <p:nvSpPr>
          <p:cNvPr id="29" name="TextBox 5"/>
          <p:cNvSpPr txBox="1">
            <a:spLocks noChangeArrowheads="1"/>
          </p:cNvSpPr>
          <p:nvPr/>
        </p:nvSpPr>
        <p:spPr bwMode="auto">
          <a:xfrm>
            <a:off x="1437946" y="4020703"/>
            <a:ext cx="6322928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若是非数字关键字，则需先对其进行数字化处理。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25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925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25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1250"/>
                            </p:stCondLst>
                            <p:childTnLst>
                              <p:par>
                                <p:cTn id="8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18" grpId="0"/>
      <p:bldP spid="17" grpId="0"/>
      <p:bldP spid="20" grpId="0"/>
      <p:bldP spid="23" grpId="0"/>
      <p:bldP spid="24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哈希表的构造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318349" y="1961386"/>
            <a:ext cx="6807022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实际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造表时，采用何种构造哈希函数的方法取决于建表的关键字集合的情况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包括关键字的范围和形态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，总的原则是使产生冲突的可能性降到尽可能地小。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7689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哈希表的构造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268730" y="1605640"/>
            <a:ext cx="7030026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“处理冲突” 的实际含义是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：为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产生冲突的地址寻找下一个哈希地址。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二、处理冲突的方法 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966134" y="2419828"/>
            <a:ext cx="2114088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1.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开放定址法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966134" y="3124349"/>
            <a:ext cx="2114088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2.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链地址法</a:t>
            </a:r>
          </a:p>
        </p:txBody>
      </p:sp>
    </p:spTree>
    <p:extLst>
      <p:ext uri="{BB962C8B-B14F-4D97-AF65-F5344CB8AC3E}">
        <p14:creationId xmlns:p14="http://schemas.microsoft.com/office/powerpoint/2010/main" val="198204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哈希表的构造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707796" y="1113731"/>
            <a:ext cx="7030026" cy="5041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1. 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开放定址法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870573" y="1911820"/>
            <a:ext cx="5402854" cy="216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为产生冲突的地址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H(key)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求得一个地址序列：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H0, H1, H2, …, Hs     1≤ s≤m-1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其中：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H0 = H(key)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           Hi = ( H(key) + di ) MOD m 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                      </a:t>
            </a: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=1, 2, …, s</a:t>
            </a:r>
            <a:endParaRPr lang="zh-CN" altLang="en-US" dirty="0">
              <a:solidFill>
                <a:srgbClr val="FF0000"/>
              </a:solidFill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3788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哈希表的构造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707796" y="1113731"/>
            <a:ext cx="7030026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对增量 </a:t>
            </a:r>
            <a:r>
              <a:rPr lang="en-US" altLang="zh-CN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d</a:t>
            </a:r>
            <a:r>
              <a:rPr lang="en-US" altLang="zh-CN" sz="2000" baseline="-25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有三种取法：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521382" y="1754538"/>
            <a:ext cx="5402854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1)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线性探测再散列</a:t>
            </a:r>
            <a:b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d</a:t>
            </a:r>
            <a:r>
              <a:rPr lang="en-US" altLang="zh-CN" baseline="-25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= </a:t>
            </a:r>
            <a:r>
              <a:rPr lang="en-US" altLang="zh-CN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c</a:t>
            </a:r>
            <a:r>
              <a:rPr lang="en-US" altLang="zh-CN" b="1" i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×</a:t>
            </a:r>
            <a:r>
              <a:rPr lang="en-US" altLang="zh-CN" dirty="0" err="1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 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最简单的情况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c=1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521382" y="2633048"/>
            <a:ext cx="5402854" cy="8785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2)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平方探测再散列</a:t>
            </a:r>
            <a:b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</a:t>
            </a:r>
            <a:r>
              <a:rPr lang="en-US" altLang="zh-CN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d</a:t>
            </a:r>
            <a:r>
              <a:rPr lang="en-US" altLang="zh-CN" baseline="-25000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= 1</a:t>
            </a:r>
            <a:r>
              <a:rPr lang="en-US" altLang="zh-CN" baseline="30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, -1</a:t>
            </a:r>
            <a:r>
              <a:rPr lang="en-US" altLang="zh-CN" baseline="30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, 2</a:t>
            </a:r>
            <a:r>
              <a:rPr lang="en-US" altLang="zh-CN" baseline="30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, -2</a:t>
            </a:r>
            <a:r>
              <a:rPr lang="en-US" altLang="zh-CN" baseline="30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, …,</a:t>
            </a: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581573" y="3653744"/>
            <a:ext cx="5402854" cy="13388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3)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随机探测再散列</a:t>
            </a:r>
            <a:b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d</a:t>
            </a:r>
            <a:r>
              <a:rPr lang="en-US" altLang="zh-CN" baseline="-25000" dirty="0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是一组伪随机数列   或者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d</a:t>
            </a:r>
            <a:r>
              <a:rPr lang="en-US" altLang="zh-CN" baseline="-25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=i×H</a:t>
            </a:r>
            <a:r>
              <a:rPr lang="en-US" altLang="zh-CN" baseline="-25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(key)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又称双散列函数探测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531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13" grpId="0"/>
      <p:bldP spid="14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哈希表的构造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907581" y="883556"/>
            <a:ext cx="7030026" cy="9658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例如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:  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关键字集合 </a:t>
            </a: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      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{ 19, 01, 23, 14, 55, 68, 11, 82, 36 }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721167" y="1867437"/>
            <a:ext cx="5402854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设定哈希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函数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H(key) = key MOD 11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表长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=11 )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721167" y="2342192"/>
            <a:ext cx="5402854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若采用线性探测再散列处理冲突</a:t>
            </a: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721167" y="4322255"/>
            <a:ext cx="5402854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ASL=(1*4+2*2+3+5+6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）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/ 9 =22/9</a:t>
            </a:r>
          </a:p>
        </p:txBody>
      </p:sp>
      <p:graphicFrame>
        <p:nvGraphicFramePr>
          <p:cNvPr id="2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7388908"/>
              </p:ext>
            </p:extLst>
          </p:nvPr>
        </p:nvGraphicFramePr>
        <p:xfrm>
          <a:off x="733425" y="2848130"/>
          <a:ext cx="8039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文档" r:id="rId4" imgW="5972076" imgH="714183" progId="Word.Document.8">
                  <p:embed/>
                </p:oleObj>
              </mc:Choice>
              <mc:Fallback>
                <p:oleObj name="文档" r:id="rId4" imgW="5972076" imgH="71418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2848130"/>
                        <a:ext cx="80391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6600825" y="307673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A50021"/>
                </a:solidFill>
              </a:rPr>
              <a:t>19</a:t>
            </a:r>
            <a:endParaRPr lang="en-US" altLang="zh-CN" sz="3600"/>
          </a:p>
        </p:txBody>
      </p: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1495425" y="307673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A50021"/>
                </a:solidFill>
              </a:rPr>
              <a:t>01</a:t>
            </a:r>
            <a:endParaRPr lang="en-US" altLang="zh-CN" sz="3600"/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2276475" y="307673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3333FF"/>
                </a:solidFill>
              </a:rPr>
              <a:t>23</a:t>
            </a:r>
            <a:endParaRPr lang="en-US" altLang="zh-CN" sz="3600"/>
          </a:p>
        </p:txBody>
      </p: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2962275" y="307673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A50021"/>
                </a:solidFill>
              </a:rPr>
              <a:t>14</a:t>
            </a:r>
            <a:endParaRPr lang="en-US" altLang="zh-CN" sz="3600"/>
          </a:p>
        </p:txBody>
      </p:sp>
      <p:sp>
        <p:nvSpPr>
          <p:cNvPr id="32" name="Text Box 10"/>
          <p:cNvSpPr txBox="1">
            <a:spLocks noChangeArrowheads="1"/>
          </p:cNvSpPr>
          <p:nvPr/>
        </p:nvSpPr>
        <p:spPr bwMode="auto">
          <a:xfrm>
            <a:off x="828675" y="307673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A50021"/>
                </a:solidFill>
              </a:rPr>
              <a:t>55</a:t>
            </a:r>
            <a:endParaRPr lang="en-US" altLang="zh-CN" sz="3600"/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3705225" y="307673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00FF"/>
                </a:solidFill>
              </a:rPr>
              <a:t>68</a:t>
            </a:r>
            <a:endParaRPr lang="en-US" altLang="zh-CN" sz="3600"/>
          </a:p>
        </p:txBody>
      </p: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4410075" y="307673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6600"/>
                </a:solidFill>
              </a:rPr>
              <a:t>11</a:t>
            </a:r>
            <a:endParaRPr lang="en-US" altLang="zh-CN" sz="3600"/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5095875" y="307673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3333FF"/>
                </a:solidFill>
              </a:rPr>
              <a:t>82</a:t>
            </a:r>
            <a:endParaRPr lang="en-US" altLang="zh-CN" sz="3600" dirty="0"/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5857875" y="307673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</a:rPr>
              <a:t>36</a:t>
            </a:r>
            <a:endParaRPr lang="en-US" altLang="zh-CN" sz="3600"/>
          </a:p>
        </p:txBody>
      </p:sp>
      <p:sp>
        <p:nvSpPr>
          <p:cNvPr id="38" name="Text Box 26"/>
          <p:cNvSpPr txBox="1">
            <a:spLocks noChangeArrowheads="1"/>
          </p:cNvSpPr>
          <p:nvPr/>
        </p:nvSpPr>
        <p:spPr bwMode="auto">
          <a:xfrm>
            <a:off x="904875" y="3600605"/>
            <a:ext cx="6140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1      1      2      1      3       6      2      5      1</a:t>
            </a:r>
          </a:p>
        </p:txBody>
      </p:sp>
    </p:spTree>
    <p:extLst>
      <p:ext uri="{BB962C8B-B14F-4D97-AF65-F5344CB8AC3E}">
        <p14:creationId xmlns:p14="http://schemas.microsoft.com/office/powerpoint/2010/main" val="185117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25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13" grpId="0"/>
      <p:bldP spid="14" grpId="0"/>
      <p:bldP spid="17" grpId="0"/>
      <p:bldP spid="24" grpId="0" autoUpdateAnimBg="0"/>
      <p:bldP spid="28" grpId="0" autoUpdateAnimBg="0"/>
      <p:bldP spid="29" grpId="0" autoUpdateAnimBg="0"/>
      <p:bldP spid="30" grpId="0" autoUpdateAnimBg="0"/>
      <p:bldP spid="32" grpId="0" autoUpdateAnimBg="0"/>
      <p:bldP spid="33" grpId="0" autoUpdateAnimBg="0"/>
      <p:bldP spid="34" grpId="0" autoUpdateAnimBg="0"/>
      <p:bldP spid="35" grpId="0" autoUpdateAnimBg="0"/>
      <p:bldP spid="36" grpId="0" autoUpdateAnimBg="0"/>
      <p:bldP spid="3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25748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哈希表的构造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5366230" y="1467402"/>
            <a:ext cx="5402854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将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所有哈希地址相同的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记录都</a:t>
            </a:r>
            <a:endParaRPr lang="en-US" altLang="zh-CN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链接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在同一链表中。 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39" name="TextBox 5"/>
          <p:cNvSpPr txBox="1">
            <a:spLocks noChangeArrowheads="1"/>
          </p:cNvSpPr>
          <p:nvPr/>
        </p:nvSpPr>
        <p:spPr bwMode="auto">
          <a:xfrm>
            <a:off x="707796" y="1113731"/>
            <a:ext cx="7030026" cy="5041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2. 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链地址法</a:t>
            </a:r>
          </a:p>
        </p:txBody>
      </p:sp>
      <p:sp>
        <p:nvSpPr>
          <p:cNvPr id="40" name="Rectangle 4"/>
          <p:cNvSpPr>
            <a:spLocks noChangeArrowheads="1"/>
          </p:cNvSpPr>
          <p:nvPr/>
        </p:nvSpPr>
        <p:spPr bwMode="auto">
          <a:xfrm>
            <a:off x="1358937" y="1735475"/>
            <a:ext cx="326571" cy="3176774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1" name="Line 5"/>
          <p:cNvSpPr>
            <a:spLocks noChangeShapeType="1"/>
          </p:cNvSpPr>
          <p:nvPr/>
        </p:nvSpPr>
        <p:spPr bwMode="auto">
          <a:xfrm flipV="1">
            <a:off x="1360062" y="2152812"/>
            <a:ext cx="326571" cy="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6"/>
          <p:cNvSpPr>
            <a:spLocks noChangeShapeType="1"/>
          </p:cNvSpPr>
          <p:nvPr/>
        </p:nvSpPr>
        <p:spPr bwMode="auto">
          <a:xfrm flipV="1">
            <a:off x="1359351" y="2628483"/>
            <a:ext cx="326571" cy="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Line 7"/>
          <p:cNvSpPr>
            <a:spLocks noChangeShapeType="1"/>
          </p:cNvSpPr>
          <p:nvPr/>
        </p:nvSpPr>
        <p:spPr bwMode="auto">
          <a:xfrm flipV="1">
            <a:off x="1359352" y="3101672"/>
            <a:ext cx="326571" cy="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Line 8"/>
          <p:cNvSpPr>
            <a:spLocks noChangeShapeType="1"/>
          </p:cNvSpPr>
          <p:nvPr/>
        </p:nvSpPr>
        <p:spPr bwMode="auto">
          <a:xfrm flipV="1">
            <a:off x="1370236" y="3559851"/>
            <a:ext cx="326571" cy="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Line 9"/>
          <p:cNvSpPr>
            <a:spLocks noChangeShapeType="1"/>
          </p:cNvSpPr>
          <p:nvPr/>
        </p:nvSpPr>
        <p:spPr bwMode="auto">
          <a:xfrm flipV="1">
            <a:off x="1359351" y="3965605"/>
            <a:ext cx="326571" cy="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Line 10"/>
          <p:cNvSpPr>
            <a:spLocks noChangeShapeType="1"/>
          </p:cNvSpPr>
          <p:nvPr/>
        </p:nvSpPr>
        <p:spPr bwMode="auto">
          <a:xfrm flipV="1">
            <a:off x="1359351" y="4435589"/>
            <a:ext cx="326571" cy="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Text Box 11"/>
          <p:cNvSpPr txBox="1">
            <a:spLocks noChangeArrowheads="1"/>
          </p:cNvSpPr>
          <p:nvPr/>
        </p:nvSpPr>
        <p:spPr bwMode="auto">
          <a:xfrm>
            <a:off x="1021003" y="1745917"/>
            <a:ext cx="49545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rgbClr val="6600CC"/>
                </a:solidFill>
              </a:rPr>
              <a:t>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rgbClr val="6600CC"/>
                </a:solidFill>
              </a:rPr>
              <a:t>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rgbClr val="6600CC"/>
                </a:solidFill>
              </a:rPr>
              <a:t>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rgbClr val="6600CC"/>
                </a:solidFill>
              </a:rPr>
              <a:t>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rgbClr val="6600CC"/>
                </a:solidFill>
              </a:rPr>
              <a:t>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rgbClr val="6600CC"/>
                </a:solidFill>
              </a:rPr>
              <a:t>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rgbClr val="6600CC"/>
                </a:solidFill>
              </a:rPr>
              <a:t>6</a:t>
            </a:r>
            <a:endParaRPr lang="en-US" altLang="zh-CN" sz="2000" dirty="0"/>
          </a:p>
        </p:txBody>
      </p:sp>
      <p:sp>
        <p:nvSpPr>
          <p:cNvPr id="48" name="Rectangle 12"/>
          <p:cNvSpPr>
            <a:spLocks noChangeArrowheads="1"/>
          </p:cNvSpPr>
          <p:nvPr/>
        </p:nvSpPr>
        <p:spPr bwMode="auto">
          <a:xfrm>
            <a:off x="2177771" y="1727717"/>
            <a:ext cx="778571" cy="424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14</a:t>
            </a:r>
            <a:endParaRPr lang="en-US" altLang="zh-CN" sz="2400"/>
          </a:p>
        </p:txBody>
      </p:sp>
      <p:sp>
        <p:nvSpPr>
          <p:cNvPr id="49" name="Line 13"/>
          <p:cNvSpPr>
            <a:spLocks noChangeShapeType="1"/>
          </p:cNvSpPr>
          <p:nvPr/>
        </p:nvSpPr>
        <p:spPr bwMode="auto">
          <a:xfrm flipH="1">
            <a:off x="2650427" y="1716729"/>
            <a:ext cx="1" cy="42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2177771" y="2251296"/>
            <a:ext cx="778571" cy="424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accent2"/>
                </a:solidFill>
              </a:rPr>
              <a:t>01</a:t>
            </a:r>
            <a:endParaRPr lang="en-US" altLang="zh-CN" sz="2400" dirty="0"/>
          </a:p>
        </p:txBody>
      </p:sp>
      <p:sp>
        <p:nvSpPr>
          <p:cNvPr id="51" name="Line 15"/>
          <p:cNvSpPr>
            <a:spLocks noChangeShapeType="1"/>
          </p:cNvSpPr>
          <p:nvPr/>
        </p:nvSpPr>
        <p:spPr bwMode="auto">
          <a:xfrm flipH="1">
            <a:off x="2651542" y="2251296"/>
            <a:ext cx="1" cy="42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Rectangle 16"/>
          <p:cNvSpPr>
            <a:spLocks noChangeArrowheads="1"/>
          </p:cNvSpPr>
          <p:nvPr/>
        </p:nvSpPr>
        <p:spPr bwMode="auto">
          <a:xfrm>
            <a:off x="3701771" y="2251296"/>
            <a:ext cx="778571" cy="424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36</a:t>
            </a:r>
            <a:endParaRPr lang="en-US" altLang="zh-CN" sz="2400"/>
          </a:p>
        </p:txBody>
      </p:sp>
      <p:sp>
        <p:nvSpPr>
          <p:cNvPr id="53" name="Line 17"/>
          <p:cNvSpPr>
            <a:spLocks noChangeShapeType="1"/>
          </p:cNvSpPr>
          <p:nvPr/>
        </p:nvSpPr>
        <p:spPr bwMode="auto">
          <a:xfrm flipH="1">
            <a:off x="4175542" y="2251296"/>
            <a:ext cx="1" cy="42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Rectangle 18"/>
          <p:cNvSpPr>
            <a:spLocks noChangeArrowheads="1"/>
          </p:cNvSpPr>
          <p:nvPr/>
        </p:nvSpPr>
        <p:spPr bwMode="auto">
          <a:xfrm>
            <a:off x="2188441" y="2733477"/>
            <a:ext cx="778571" cy="424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55" name="Line 19"/>
          <p:cNvSpPr>
            <a:spLocks noChangeShapeType="1"/>
          </p:cNvSpPr>
          <p:nvPr/>
        </p:nvSpPr>
        <p:spPr bwMode="auto">
          <a:xfrm flipH="1">
            <a:off x="2650426" y="2753996"/>
            <a:ext cx="1" cy="42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Rectangle 20"/>
          <p:cNvSpPr>
            <a:spLocks noChangeArrowheads="1"/>
          </p:cNvSpPr>
          <p:nvPr/>
        </p:nvSpPr>
        <p:spPr bwMode="auto">
          <a:xfrm>
            <a:off x="2204201" y="3522843"/>
            <a:ext cx="778571" cy="424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57" name="Line 21"/>
          <p:cNvSpPr>
            <a:spLocks noChangeShapeType="1"/>
          </p:cNvSpPr>
          <p:nvPr/>
        </p:nvSpPr>
        <p:spPr bwMode="auto">
          <a:xfrm flipH="1">
            <a:off x="2677972" y="3522843"/>
            <a:ext cx="1" cy="42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Rectangle 22"/>
          <p:cNvSpPr>
            <a:spLocks noChangeArrowheads="1"/>
          </p:cNvSpPr>
          <p:nvPr/>
        </p:nvSpPr>
        <p:spPr bwMode="auto">
          <a:xfrm>
            <a:off x="2204201" y="4025803"/>
            <a:ext cx="778571" cy="424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19</a:t>
            </a:r>
            <a:endParaRPr lang="en-US" altLang="zh-CN" sz="2400"/>
          </a:p>
        </p:txBody>
      </p:sp>
      <p:sp>
        <p:nvSpPr>
          <p:cNvPr id="59" name="Line 23"/>
          <p:cNvSpPr>
            <a:spLocks noChangeShapeType="1"/>
          </p:cNvSpPr>
          <p:nvPr/>
        </p:nvSpPr>
        <p:spPr bwMode="auto">
          <a:xfrm flipH="1">
            <a:off x="2677972" y="4025803"/>
            <a:ext cx="1" cy="42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Rectangle 24"/>
          <p:cNvSpPr>
            <a:spLocks noChangeArrowheads="1"/>
          </p:cNvSpPr>
          <p:nvPr/>
        </p:nvSpPr>
        <p:spPr bwMode="auto">
          <a:xfrm>
            <a:off x="3728201" y="4025803"/>
            <a:ext cx="778571" cy="424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61" name="Line 25"/>
          <p:cNvSpPr>
            <a:spLocks noChangeShapeType="1"/>
          </p:cNvSpPr>
          <p:nvPr/>
        </p:nvSpPr>
        <p:spPr bwMode="auto">
          <a:xfrm flipH="1">
            <a:off x="4201972" y="4025803"/>
            <a:ext cx="1" cy="42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Rectangle 26"/>
          <p:cNvSpPr>
            <a:spLocks noChangeArrowheads="1"/>
          </p:cNvSpPr>
          <p:nvPr/>
        </p:nvSpPr>
        <p:spPr bwMode="auto">
          <a:xfrm>
            <a:off x="5252201" y="4025803"/>
            <a:ext cx="778571" cy="424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82</a:t>
            </a:r>
            <a:endParaRPr lang="en-US" altLang="zh-CN" sz="2400"/>
          </a:p>
        </p:txBody>
      </p:sp>
      <p:sp>
        <p:nvSpPr>
          <p:cNvPr id="63" name="Line 27"/>
          <p:cNvSpPr>
            <a:spLocks noChangeShapeType="1"/>
          </p:cNvSpPr>
          <p:nvPr/>
        </p:nvSpPr>
        <p:spPr bwMode="auto">
          <a:xfrm flipH="1">
            <a:off x="5725972" y="4025803"/>
            <a:ext cx="1" cy="42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Rectangle 28"/>
          <p:cNvSpPr>
            <a:spLocks noChangeArrowheads="1"/>
          </p:cNvSpPr>
          <p:nvPr/>
        </p:nvSpPr>
        <p:spPr bwMode="auto">
          <a:xfrm>
            <a:off x="2209053" y="4509356"/>
            <a:ext cx="778571" cy="424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65" name="Line 29"/>
          <p:cNvSpPr>
            <a:spLocks noChangeShapeType="1"/>
          </p:cNvSpPr>
          <p:nvPr/>
        </p:nvSpPr>
        <p:spPr bwMode="auto">
          <a:xfrm flipH="1">
            <a:off x="2670033" y="4518133"/>
            <a:ext cx="1" cy="42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Line 30"/>
          <p:cNvSpPr>
            <a:spLocks noChangeShapeType="1"/>
          </p:cNvSpPr>
          <p:nvPr/>
        </p:nvSpPr>
        <p:spPr bwMode="auto">
          <a:xfrm flipV="1">
            <a:off x="1625878" y="1968602"/>
            <a:ext cx="544286" cy="1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" name="Line 31"/>
          <p:cNvSpPr>
            <a:spLocks noChangeShapeType="1"/>
          </p:cNvSpPr>
          <p:nvPr/>
        </p:nvSpPr>
        <p:spPr bwMode="auto">
          <a:xfrm flipV="1">
            <a:off x="1613899" y="2448149"/>
            <a:ext cx="544286" cy="1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Line 32"/>
          <p:cNvSpPr>
            <a:spLocks noChangeShapeType="1"/>
          </p:cNvSpPr>
          <p:nvPr/>
        </p:nvSpPr>
        <p:spPr bwMode="auto">
          <a:xfrm flipV="1">
            <a:off x="1613899" y="2867122"/>
            <a:ext cx="544286" cy="1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33"/>
          <p:cNvSpPr>
            <a:spLocks noChangeShapeType="1"/>
          </p:cNvSpPr>
          <p:nvPr/>
        </p:nvSpPr>
        <p:spPr bwMode="auto">
          <a:xfrm flipV="1">
            <a:off x="1625878" y="3762728"/>
            <a:ext cx="544286" cy="1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34"/>
          <p:cNvSpPr>
            <a:spLocks noChangeShapeType="1"/>
          </p:cNvSpPr>
          <p:nvPr/>
        </p:nvSpPr>
        <p:spPr bwMode="auto">
          <a:xfrm flipV="1">
            <a:off x="1625878" y="4241100"/>
            <a:ext cx="544286" cy="1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Line 35"/>
          <p:cNvSpPr>
            <a:spLocks noChangeShapeType="1"/>
          </p:cNvSpPr>
          <p:nvPr/>
        </p:nvSpPr>
        <p:spPr bwMode="auto">
          <a:xfrm flipV="1">
            <a:off x="1633485" y="4673919"/>
            <a:ext cx="544286" cy="1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Line 36"/>
          <p:cNvSpPr>
            <a:spLocks noChangeShapeType="1"/>
          </p:cNvSpPr>
          <p:nvPr/>
        </p:nvSpPr>
        <p:spPr bwMode="auto">
          <a:xfrm flipV="1">
            <a:off x="3043429" y="2447371"/>
            <a:ext cx="598714" cy="1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Line 37"/>
          <p:cNvSpPr>
            <a:spLocks noChangeShapeType="1"/>
          </p:cNvSpPr>
          <p:nvPr/>
        </p:nvSpPr>
        <p:spPr bwMode="auto">
          <a:xfrm flipV="1">
            <a:off x="3069859" y="4221878"/>
            <a:ext cx="598714" cy="1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Line 38"/>
          <p:cNvSpPr>
            <a:spLocks noChangeShapeType="1"/>
          </p:cNvSpPr>
          <p:nvPr/>
        </p:nvSpPr>
        <p:spPr bwMode="auto">
          <a:xfrm flipV="1">
            <a:off x="4593859" y="4221878"/>
            <a:ext cx="598714" cy="1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Text Box 39"/>
          <p:cNvSpPr txBox="1">
            <a:spLocks noChangeArrowheads="1"/>
          </p:cNvSpPr>
          <p:nvPr/>
        </p:nvSpPr>
        <p:spPr bwMode="auto">
          <a:xfrm>
            <a:off x="2191129" y="2740966"/>
            <a:ext cx="6110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accent2"/>
                </a:solidFill>
              </a:rPr>
              <a:t>23</a:t>
            </a:r>
            <a:endParaRPr lang="en-US" altLang="zh-CN" sz="2400" dirty="0"/>
          </a:p>
        </p:txBody>
      </p:sp>
      <p:sp>
        <p:nvSpPr>
          <p:cNvPr id="76" name="Text Box 40"/>
          <p:cNvSpPr txBox="1">
            <a:spLocks noChangeArrowheads="1"/>
          </p:cNvSpPr>
          <p:nvPr/>
        </p:nvSpPr>
        <p:spPr bwMode="auto">
          <a:xfrm>
            <a:off x="2223807" y="3522843"/>
            <a:ext cx="5783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accent2"/>
                </a:solidFill>
              </a:rPr>
              <a:t>11</a:t>
            </a:r>
            <a:endParaRPr lang="en-US" altLang="zh-CN" sz="2400" dirty="0"/>
          </a:p>
        </p:txBody>
      </p:sp>
      <p:sp>
        <p:nvSpPr>
          <p:cNvPr id="77" name="Text Box 41"/>
          <p:cNvSpPr txBox="1">
            <a:spLocks noChangeArrowheads="1"/>
          </p:cNvSpPr>
          <p:nvPr/>
        </p:nvSpPr>
        <p:spPr bwMode="auto">
          <a:xfrm>
            <a:off x="3741015" y="4025803"/>
            <a:ext cx="5227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68</a:t>
            </a:r>
            <a:endParaRPr lang="en-US" altLang="zh-CN" sz="2400"/>
          </a:p>
        </p:txBody>
      </p:sp>
      <p:sp>
        <p:nvSpPr>
          <p:cNvPr id="78" name="Text Box 42"/>
          <p:cNvSpPr txBox="1">
            <a:spLocks noChangeArrowheads="1"/>
          </p:cNvSpPr>
          <p:nvPr/>
        </p:nvSpPr>
        <p:spPr bwMode="auto">
          <a:xfrm>
            <a:off x="2204201" y="4503620"/>
            <a:ext cx="9721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accent2"/>
                </a:solidFill>
              </a:rPr>
              <a:t>55</a:t>
            </a:r>
            <a:endParaRPr lang="en-US" altLang="zh-CN" sz="2400" dirty="0"/>
          </a:p>
        </p:txBody>
      </p:sp>
      <p:sp>
        <p:nvSpPr>
          <p:cNvPr id="79" name="Text Box 43"/>
          <p:cNvSpPr txBox="1">
            <a:spLocks noChangeArrowheads="1"/>
          </p:cNvSpPr>
          <p:nvPr/>
        </p:nvSpPr>
        <p:spPr bwMode="auto">
          <a:xfrm>
            <a:off x="2611681" y="1641128"/>
            <a:ext cx="3701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</a:t>
            </a:r>
            <a:endParaRPr lang="en-US" altLang="zh-CN" sz="2400" dirty="0"/>
          </a:p>
        </p:txBody>
      </p:sp>
      <p:sp>
        <p:nvSpPr>
          <p:cNvPr id="80" name="Text Box 44"/>
          <p:cNvSpPr txBox="1">
            <a:spLocks noChangeArrowheads="1"/>
          </p:cNvSpPr>
          <p:nvPr/>
        </p:nvSpPr>
        <p:spPr bwMode="auto">
          <a:xfrm>
            <a:off x="4134535" y="2185761"/>
            <a:ext cx="3701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</a:t>
            </a:r>
            <a:endParaRPr lang="en-US" altLang="zh-CN" sz="2400" dirty="0"/>
          </a:p>
        </p:txBody>
      </p:sp>
      <p:sp>
        <p:nvSpPr>
          <p:cNvPr id="81" name="Text Box 45"/>
          <p:cNvSpPr txBox="1">
            <a:spLocks noChangeArrowheads="1"/>
          </p:cNvSpPr>
          <p:nvPr/>
        </p:nvSpPr>
        <p:spPr bwMode="auto">
          <a:xfrm>
            <a:off x="2590949" y="2657665"/>
            <a:ext cx="3701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</a:t>
            </a:r>
            <a:endParaRPr lang="en-US" altLang="zh-CN" sz="2400" dirty="0"/>
          </a:p>
        </p:txBody>
      </p:sp>
      <p:sp>
        <p:nvSpPr>
          <p:cNvPr id="82" name="Text Box 46"/>
          <p:cNvSpPr txBox="1">
            <a:spLocks noChangeArrowheads="1"/>
          </p:cNvSpPr>
          <p:nvPr/>
        </p:nvSpPr>
        <p:spPr bwMode="auto">
          <a:xfrm>
            <a:off x="2688857" y="3465337"/>
            <a:ext cx="3701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</a:t>
            </a:r>
            <a:endParaRPr lang="en-US" altLang="zh-CN" sz="2400"/>
          </a:p>
        </p:txBody>
      </p:sp>
      <p:sp>
        <p:nvSpPr>
          <p:cNvPr id="83" name="Text Box 47"/>
          <p:cNvSpPr txBox="1">
            <a:spLocks noChangeArrowheads="1"/>
          </p:cNvSpPr>
          <p:nvPr/>
        </p:nvSpPr>
        <p:spPr bwMode="auto">
          <a:xfrm>
            <a:off x="5693270" y="3943668"/>
            <a:ext cx="3701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</a:t>
            </a:r>
            <a:endParaRPr lang="en-US" altLang="zh-CN" sz="2400" dirty="0"/>
          </a:p>
        </p:txBody>
      </p:sp>
      <p:sp>
        <p:nvSpPr>
          <p:cNvPr id="84" name="Text Box 48"/>
          <p:cNvSpPr txBox="1">
            <a:spLocks noChangeArrowheads="1"/>
          </p:cNvSpPr>
          <p:nvPr/>
        </p:nvSpPr>
        <p:spPr bwMode="auto">
          <a:xfrm>
            <a:off x="2651183" y="4436649"/>
            <a:ext cx="3701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</a:t>
            </a:r>
            <a:endParaRPr lang="en-US" altLang="zh-CN" sz="2400"/>
          </a:p>
        </p:txBody>
      </p:sp>
      <p:sp>
        <p:nvSpPr>
          <p:cNvPr id="85" name="Text Box 49"/>
          <p:cNvSpPr txBox="1">
            <a:spLocks noChangeArrowheads="1"/>
          </p:cNvSpPr>
          <p:nvPr/>
        </p:nvSpPr>
        <p:spPr bwMode="auto">
          <a:xfrm>
            <a:off x="1317644" y="3036632"/>
            <a:ext cx="3701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</a:t>
            </a:r>
            <a:endParaRPr lang="en-US" altLang="zh-CN" sz="2400" dirty="0"/>
          </a:p>
        </p:txBody>
      </p:sp>
      <p:sp>
        <p:nvSpPr>
          <p:cNvPr id="86" name="Text Box 50"/>
          <p:cNvSpPr txBox="1">
            <a:spLocks noChangeArrowheads="1"/>
          </p:cNvSpPr>
          <p:nvPr/>
        </p:nvSpPr>
        <p:spPr bwMode="auto">
          <a:xfrm>
            <a:off x="5617210" y="3295902"/>
            <a:ext cx="32255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A50021"/>
                </a:solidFill>
              </a:rPr>
              <a:t>ASL=(6×1+2×2+3)/9=13/9</a:t>
            </a:r>
            <a:endParaRPr lang="en-US" altLang="zh-CN" sz="2000" dirty="0"/>
          </a:p>
        </p:txBody>
      </p:sp>
      <p:sp>
        <p:nvSpPr>
          <p:cNvPr id="87" name="Text Box 51"/>
          <p:cNvSpPr txBox="1">
            <a:spLocks noChangeArrowheads="1"/>
          </p:cNvSpPr>
          <p:nvPr/>
        </p:nvSpPr>
        <p:spPr bwMode="auto">
          <a:xfrm>
            <a:off x="5370690" y="2474844"/>
            <a:ext cx="3810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例如</a:t>
            </a:r>
            <a:r>
              <a:rPr lang="en-US" altLang="zh-CN" sz="1800" dirty="0">
                <a:latin typeface="百度综艺简体" panose="02010601030101010101" charset="-122"/>
                <a:ea typeface="百度综艺简体" panose="02010601030101010101" charset="-122"/>
              </a:rPr>
              <a:t>:</a:t>
            </a: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同前例的关键字，哈希函数为 </a:t>
            </a:r>
            <a:r>
              <a:rPr lang="en-US" altLang="zh-CN" sz="1800" dirty="0">
                <a:latin typeface="百度综艺简体" panose="02010601030101010101" charset="-122"/>
                <a:ea typeface="百度综艺简体" panose="02010601030101010101" charset="-122"/>
              </a:rPr>
              <a:t>H(key)=key MOD 7</a:t>
            </a:r>
          </a:p>
        </p:txBody>
      </p:sp>
    </p:spTree>
    <p:extLst>
      <p:ext uri="{BB962C8B-B14F-4D97-AF65-F5344CB8AC3E}">
        <p14:creationId xmlns:p14="http://schemas.microsoft.com/office/powerpoint/2010/main" val="382221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5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0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0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5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0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85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90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1500"/>
                            </p:stCondLst>
                            <p:childTnLst>
                              <p:par>
                                <p:cTn id="1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2500"/>
                            </p:stCondLst>
                            <p:childTnLst>
                              <p:par>
                                <p:cTn id="1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35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400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5000"/>
                            </p:stCondLst>
                            <p:childTnLst>
                              <p:par>
                                <p:cTn id="1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550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6000"/>
                            </p:stCondLst>
                            <p:childTnLst>
                              <p:par>
                                <p:cTn id="1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6500"/>
                            </p:stCondLst>
                            <p:childTnLst>
                              <p:par>
                                <p:cTn id="1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70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7500"/>
                            </p:stCondLst>
                            <p:childTnLst>
                              <p:par>
                                <p:cTn id="1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8000"/>
                            </p:stCondLst>
                            <p:childTnLst>
                              <p:par>
                                <p:cTn id="1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8500"/>
                            </p:stCondLst>
                            <p:childTnLst>
                              <p:par>
                                <p:cTn id="1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900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9500"/>
                            </p:stCondLst>
                            <p:childTnLst>
                              <p:par>
                                <p:cTn id="1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000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0500"/>
                            </p:stCondLst>
                            <p:childTnLst>
                              <p:par>
                                <p:cTn id="1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1000"/>
                            </p:stCondLst>
                            <p:childTnLst>
                              <p:par>
                                <p:cTn id="1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21500"/>
                            </p:stCondLst>
                            <p:childTnLst>
                              <p:par>
                                <p:cTn id="1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2000"/>
                            </p:stCondLst>
                            <p:childTnLst>
                              <p:par>
                                <p:cTn id="1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2500"/>
                            </p:stCondLst>
                            <p:childTnLst>
                              <p:par>
                                <p:cTn id="1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3" grpId="0"/>
      <p:bldP spid="39" grpId="0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utoUpdateAnimBg="0"/>
      <p:bldP spid="48" grpId="0" animBg="1" autoUpdateAnimBg="0"/>
      <p:bldP spid="49" grpId="0" animBg="1"/>
      <p:bldP spid="50" grpId="0" animBg="1" autoUpdateAnimBg="0"/>
      <p:bldP spid="51" grpId="0" animBg="1"/>
      <p:bldP spid="52" grpId="0" animBg="1" autoUpdateAnimBg="0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 autoUpdateAnimBg="0"/>
      <p:bldP spid="59" grpId="0" animBg="1"/>
      <p:bldP spid="60" grpId="0" animBg="1"/>
      <p:bldP spid="61" grpId="0" animBg="1"/>
      <p:bldP spid="62" grpId="0" animBg="1" autoUpdateAnimBg="0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utoUpdateAnimBg="0"/>
      <p:bldP spid="76" grpId="0" autoUpdateAnimBg="0"/>
      <p:bldP spid="77" grpId="0" autoUpdateAnimBg="0"/>
      <p:bldP spid="78" grpId="0" autoUpdateAnimBg="0"/>
      <p:bldP spid="79" grpId="0" autoUpdateAnimBg="0"/>
      <p:bldP spid="80" grpId="0" autoUpdateAnimBg="0"/>
      <p:bldP spid="81" grpId="0" autoUpdateAnimBg="0"/>
      <p:bldP spid="82" grpId="0" autoUpdateAnimBg="0"/>
      <p:bldP spid="83" grpId="0" autoUpdateAnimBg="0"/>
      <p:bldP spid="84" grpId="0" autoUpdateAnimBg="0"/>
      <p:bldP spid="85" grpId="0" autoUpdateAnimBg="0"/>
      <p:bldP spid="86" grpId="0" autoUpdateAnimBg="0"/>
      <p:bldP spid="8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4990595" y="2335478"/>
            <a:ext cx="3266020" cy="896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54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本</a:t>
            </a:r>
            <a:r>
              <a:rPr lang="zh-CN" altLang="en-US" sz="5400" cap="all" spc="213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节结束</a:t>
            </a:r>
            <a:endParaRPr lang="en-US" altLang="zh-CN" sz="5400" cap="all" spc="213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cs typeface="百度综艺简体" panose="02010601030101010101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850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49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49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 bldLvl="0" animBg="1"/>
      <p:bldP spid="11" grpId="0" bldLvl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488</Words>
  <Application>Microsoft Office PowerPoint</Application>
  <PresentationFormat>自定义</PresentationFormat>
  <Paragraphs>94</Paragraphs>
  <Slides>9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Lato Light</vt:lpstr>
      <vt:lpstr>百度综艺简体</vt:lpstr>
      <vt:lpstr>等线</vt:lpstr>
      <vt:lpstr>等线 Light</vt:lpstr>
      <vt:lpstr>华文中宋</vt:lpstr>
      <vt:lpstr>楷体_GB2312</vt:lpstr>
      <vt:lpstr>宋体</vt:lpstr>
      <vt:lpstr>微软雅黑</vt:lpstr>
      <vt:lpstr>Arial</vt:lpstr>
      <vt:lpstr>Calibri</vt:lpstr>
      <vt:lpstr>Calibri Light</vt:lpstr>
      <vt:lpstr>Symbol</vt:lpstr>
      <vt:lpstr>Tahoma</vt:lpstr>
      <vt:lpstr>Times New Roman</vt:lpstr>
      <vt:lpstr>Office 主题​​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71</cp:revision>
  <dcterms:created xsi:type="dcterms:W3CDTF">2017-06-21T11:46:00Z</dcterms:created>
  <dcterms:modified xsi:type="dcterms:W3CDTF">2020-11-17T13:02:58Z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2052-11.1.0.8986</vt:lpwstr>
  </property>
</Properties>
</file>