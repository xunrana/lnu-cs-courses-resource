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83" r:id="rId2"/>
    <p:sldId id="284" r:id="rId3"/>
    <p:sldId id="387" r:id="rId4"/>
    <p:sldId id="388" r:id="rId5"/>
    <p:sldId id="389" r:id="rId6"/>
    <p:sldId id="391" r:id="rId7"/>
    <p:sldId id="392" r:id="rId8"/>
    <p:sldId id="352" r:id="rId9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262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48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574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05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656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505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2023/11/9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9/11/2023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2023/11/9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折半查找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333552" y="2041583"/>
            <a:ext cx="6809583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上述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顺序查找表的查找算法简单，但平均查找长度较大，特别不适用于表长较大的查找表。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19335" y="1313060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有序查找表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333552" y="3404065"/>
            <a:ext cx="7018369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若以有序表表示静态查找表，则查找过程可以基于“折半”进行。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折半查找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67208" y="1891449"/>
            <a:ext cx="6809583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如果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查找表中的数据元素按关键字有序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假设递增有序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),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则在查找时不必逐个顺序比较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而采用跳跃的方式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19335" y="1033925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折半查找又称为二分查找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447440" y="2814500"/>
            <a:ext cx="701836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先与“中间位置”的记录关键字值比较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若相等则查找成功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  <p:sp>
        <p:nvSpPr>
          <p:cNvPr id="14" name="Text Placeholder 11"/>
          <p:cNvSpPr txBox="1"/>
          <p:nvPr/>
        </p:nvSpPr>
        <p:spPr>
          <a:xfrm>
            <a:off x="1019335" y="1537754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基本思想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447440" y="3188136"/>
            <a:ext cx="7018369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若给定值大于“中间位置”的关键字值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则在后半部继续进行折半查找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447439" y="3561772"/>
            <a:ext cx="7018369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否则在前半部进行折半查找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.</a:t>
            </a:r>
          </a:p>
        </p:txBody>
      </p:sp>
      <p:sp>
        <p:nvSpPr>
          <p:cNvPr id="23" name="Text Placeholder 11"/>
          <p:cNvSpPr txBox="1"/>
          <p:nvPr/>
        </p:nvSpPr>
        <p:spPr>
          <a:xfrm>
            <a:off x="1019332" y="4161924"/>
            <a:ext cx="7080613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折半查找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仅适用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于以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顺序存贮结构组织的查找表</a:t>
            </a: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的查找。</a:t>
            </a:r>
          </a:p>
        </p:txBody>
      </p:sp>
    </p:spTree>
    <p:extLst>
      <p:ext uri="{BB962C8B-B14F-4D97-AF65-F5344CB8AC3E}">
        <p14:creationId xmlns:p14="http://schemas.microsoft.com/office/powerpoint/2010/main" val="228219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2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25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29" grpId="0"/>
      <p:bldP spid="14" grpId="0"/>
      <p:bldP spid="17" grpId="0"/>
      <p:bldP spid="18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折半查找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237756"/>
              </p:ext>
            </p:extLst>
          </p:nvPr>
        </p:nvGraphicFramePr>
        <p:xfrm>
          <a:off x="939290" y="2138363"/>
          <a:ext cx="7296150" cy="1720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文档" r:id="rId4" imgW="8417560" imgH="1981200" progId="Word.Document.8">
                  <p:embed/>
                </p:oleObj>
              </mc:Choice>
              <mc:Fallback>
                <p:oleObj name="文档" r:id="rId4" imgW="8417560" imgH="1981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290" y="2138363"/>
                        <a:ext cx="7296150" cy="1720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799110" y="1648224"/>
            <a:ext cx="9925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 err="1">
                <a:latin typeface="百度综艺简体" panose="02010601030101010101" pitchFamily="2" charset="-122"/>
                <a:ea typeface="百度综艺简体" panose="02010601030101010101" pitchFamily="2" charset="-122"/>
              </a:rPr>
              <a:t>ST.elem</a:t>
            </a:r>
            <a:endParaRPr lang="en-US" altLang="zh-CN" sz="18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8" name="Line 4"/>
          <p:cNvSpPr>
            <a:spLocks noChangeShapeType="1"/>
          </p:cNvSpPr>
          <p:nvPr/>
        </p:nvSpPr>
        <p:spPr bwMode="auto">
          <a:xfrm>
            <a:off x="7249601" y="119515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7233726" y="1185625"/>
            <a:ext cx="11432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百度综艺简体" panose="02010601030101010101" pitchFamily="2" charset="-122"/>
                <a:ea typeface="百度综艺简体" panose="02010601030101010101" pitchFamily="2" charset="-122"/>
              </a:rPr>
              <a:t>ST.length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557288" y="971551"/>
            <a:ext cx="33970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660033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例如</a:t>
            </a:r>
            <a:r>
              <a:rPr lang="en-US" altLang="zh-CN" sz="1800" b="1" dirty="0">
                <a:solidFill>
                  <a:srgbClr val="660033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: </a:t>
            </a:r>
            <a:r>
              <a:rPr lang="en-US" altLang="zh-CN" sz="1800" b="1" dirty="0">
                <a:solidFill>
                  <a:srgbClr val="CC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key=64</a:t>
            </a:r>
            <a:r>
              <a:rPr lang="en-US" altLang="zh-CN" sz="1800" dirty="0">
                <a:solidFill>
                  <a:srgbClr val="660033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</a:t>
            </a:r>
            <a:r>
              <a:rPr lang="zh-CN" altLang="en-US" sz="1800" dirty="0">
                <a:solidFill>
                  <a:srgbClr val="660033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的查找过程如下：</a:t>
            </a:r>
            <a:endParaRPr lang="zh-CN" altLang="en-US" sz="18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3" name="AutoShape 7"/>
          <p:cNvSpPr>
            <a:spLocks noChangeArrowheads="1"/>
          </p:cNvSpPr>
          <p:nvPr/>
        </p:nvSpPr>
        <p:spPr bwMode="auto">
          <a:xfrm>
            <a:off x="1579212" y="3002742"/>
            <a:ext cx="153063" cy="583096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00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4" name="AutoShape 8"/>
          <p:cNvSpPr>
            <a:spLocks noChangeArrowheads="1"/>
          </p:cNvSpPr>
          <p:nvPr/>
        </p:nvSpPr>
        <p:spPr bwMode="auto">
          <a:xfrm>
            <a:off x="4373680" y="3031953"/>
            <a:ext cx="151551" cy="479551"/>
          </a:xfrm>
          <a:prstGeom prst="upArrow">
            <a:avLst>
              <a:gd name="adj1" fmla="val 50000"/>
              <a:gd name="adj2" fmla="val 150000"/>
            </a:avLst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5" name="AutoShape 9"/>
          <p:cNvSpPr>
            <a:spLocks noChangeArrowheads="1"/>
          </p:cNvSpPr>
          <p:nvPr/>
        </p:nvSpPr>
        <p:spPr bwMode="auto">
          <a:xfrm>
            <a:off x="7201845" y="3043621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1776063" y="3383917"/>
            <a:ext cx="5332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low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7398695" y="3577021"/>
            <a:ext cx="570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chemeClr val="accent2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high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9" name="Text Box 12"/>
          <p:cNvSpPr txBox="1">
            <a:spLocks noChangeArrowheads="1"/>
          </p:cNvSpPr>
          <p:nvPr/>
        </p:nvSpPr>
        <p:spPr bwMode="auto">
          <a:xfrm>
            <a:off x="4122092" y="3626403"/>
            <a:ext cx="5437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80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mid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0" name="AutoShape 13"/>
          <p:cNvSpPr>
            <a:spLocks noChangeArrowheads="1"/>
          </p:cNvSpPr>
          <p:nvPr/>
        </p:nvSpPr>
        <p:spPr bwMode="auto">
          <a:xfrm>
            <a:off x="4944668" y="3043621"/>
            <a:ext cx="120650" cy="663575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00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2" name="Text Box 14"/>
          <p:cNvSpPr txBox="1">
            <a:spLocks noChangeArrowheads="1"/>
          </p:cNvSpPr>
          <p:nvPr/>
        </p:nvSpPr>
        <p:spPr bwMode="auto">
          <a:xfrm>
            <a:off x="5027391" y="3568583"/>
            <a:ext cx="4443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66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low</a:t>
            </a:r>
            <a:endParaRPr lang="en-US" altLang="zh-CN" sz="14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 useBgFill="1">
        <p:nvSpPr>
          <p:cNvPr id="43" name="AutoShape 15"/>
          <p:cNvSpPr>
            <a:spLocks noChangeArrowheads="1"/>
          </p:cNvSpPr>
          <p:nvPr/>
        </p:nvSpPr>
        <p:spPr bwMode="auto">
          <a:xfrm>
            <a:off x="1579212" y="3002742"/>
            <a:ext cx="153063" cy="583096"/>
          </a:xfrm>
          <a:prstGeom prst="upArrow">
            <a:avLst>
              <a:gd name="adj1" fmla="val 50000"/>
              <a:gd name="adj2" fmla="val 1375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 useBgFill="1"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1776063" y="3383917"/>
            <a:ext cx="571864" cy="369332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66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     </a:t>
            </a:r>
            <a:endParaRPr lang="en-US" altLang="zh-CN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5" name="AutoShape 17"/>
          <p:cNvSpPr>
            <a:spLocks noChangeArrowheads="1"/>
          </p:cNvSpPr>
          <p:nvPr/>
        </p:nvSpPr>
        <p:spPr bwMode="auto">
          <a:xfrm>
            <a:off x="6041819" y="2992952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6238669" y="3511504"/>
            <a:ext cx="5437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80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mid</a:t>
            </a:r>
            <a:endParaRPr lang="en-US" altLang="zh-CN" sz="18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 useBgFill="1">
        <p:nvSpPr>
          <p:cNvPr id="47" name="AutoShape 19"/>
          <p:cNvSpPr>
            <a:spLocks noChangeArrowheads="1"/>
          </p:cNvSpPr>
          <p:nvPr/>
        </p:nvSpPr>
        <p:spPr bwMode="auto">
          <a:xfrm>
            <a:off x="4357777" y="3024002"/>
            <a:ext cx="186345" cy="533656"/>
          </a:xfrm>
          <a:prstGeom prst="upArrow">
            <a:avLst>
              <a:gd name="adj1" fmla="val 50000"/>
              <a:gd name="adj2" fmla="val 1500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 useBgFill="1">
        <p:nvSpPr>
          <p:cNvPr id="48" name="Text Box 20"/>
          <p:cNvSpPr txBox="1">
            <a:spLocks noChangeArrowheads="1"/>
          </p:cNvSpPr>
          <p:nvPr/>
        </p:nvSpPr>
        <p:spPr bwMode="auto">
          <a:xfrm>
            <a:off x="4122092" y="3612115"/>
            <a:ext cx="569387" cy="369332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80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     </a:t>
            </a:r>
            <a:endParaRPr lang="en-US" altLang="zh-CN" sz="18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 useBgFill="1">
        <p:nvSpPr>
          <p:cNvPr id="49" name="AutoShape 21"/>
          <p:cNvSpPr>
            <a:spLocks noChangeArrowheads="1"/>
          </p:cNvSpPr>
          <p:nvPr/>
        </p:nvSpPr>
        <p:spPr bwMode="auto">
          <a:xfrm>
            <a:off x="7201845" y="3043621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 useBgFill="1">
        <p:nvSpPr>
          <p:cNvPr id="50" name="Text Box 22"/>
          <p:cNvSpPr txBox="1">
            <a:spLocks noChangeArrowheads="1"/>
          </p:cNvSpPr>
          <p:nvPr/>
        </p:nvSpPr>
        <p:spPr bwMode="auto">
          <a:xfrm>
            <a:off x="7398695" y="3577021"/>
            <a:ext cx="633507" cy="369332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百度综艺简体" panose="02010601030101010101" pitchFamily="2" charset="-122"/>
                <a:ea typeface="百度综艺简体" panose="02010601030101010101" pitchFamily="2" charset="-122"/>
              </a:rPr>
              <a:t>       </a:t>
            </a:r>
          </a:p>
        </p:txBody>
      </p:sp>
      <p:sp>
        <p:nvSpPr>
          <p:cNvPr id="51" name="AutoShape 23"/>
          <p:cNvSpPr>
            <a:spLocks noChangeArrowheads="1"/>
          </p:cNvSpPr>
          <p:nvPr/>
        </p:nvSpPr>
        <p:spPr bwMode="auto">
          <a:xfrm>
            <a:off x="5433268" y="3064475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52" name="Text Box 24"/>
          <p:cNvSpPr txBox="1">
            <a:spLocks noChangeArrowheads="1"/>
          </p:cNvSpPr>
          <p:nvPr/>
        </p:nvSpPr>
        <p:spPr bwMode="auto">
          <a:xfrm>
            <a:off x="5501954" y="3541367"/>
            <a:ext cx="5709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chemeClr val="accent2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high</a:t>
            </a:r>
            <a:endParaRPr lang="en-US" altLang="zh-CN" sz="18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 useBgFill="1">
        <p:nvSpPr>
          <p:cNvPr id="53" name="AutoShape 25"/>
          <p:cNvSpPr>
            <a:spLocks noChangeArrowheads="1"/>
          </p:cNvSpPr>
          <p:nvPr/>
        </p:nvSpPr>
        <p:spPr bwMode="auto">
          <a:xfrm>
            <a:off x="6041819" y="2992952"/>
            <a:ext cx="152400" cy="914400"/>
          </a:xfrm>
          <a:prstGeom prst="upArrow">
            <a:avLst>
              <a:gd name="adj1" fmla="val 50000"/>
              <a:gd name="adj2" fmla="val 150000"/>
            </a:avLst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 useBgFill="1">
        <p:nvSpPr>
          <p:cNvPr id="54" name="Text Box 26"/>
          <p:cNvSpPr txBox="1">
            <a:spLocks noChangeArrowheads="1"/>
          </p:cNvSpPr>
          <p:nvPr/>
        </p:nvSpPr>
        <p:spPr bwMode="auto">
          <a:xfrm>
            <a:off x="6220757" y="3565609"/>
            <a:ext cx="569387" cy="369332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百度综艺简体" panose="02010601030101010101" pitchFamily="2" charset="-122"/>
                <a:ea typeface="百度综艺简体" panose="02010601030101010101" pitchFamily="2" charset="-122"/>
              </a:rPr>
              <a:t>      </a:t>
            </a:r>
          </a:p>
        </p:txBody>
      </p:sp>
      <p:sp>
        <p:nvSpPr>
          <p:cNvPr id="55" name="AutoShape 27"/>
          <p:cNvSpPr>
            <a:spLocks noChangeArrowheads="1"/>
          </p:cNvSpPr>
          <p:nvPr/>
        </p:nvSpPr>
        <p:spPr bwMode="auto">
          <a:xfrm>
            <a:off x="5079635" y="3078709"/>
            <a:ext cx="88901" cy="533406"/>
          </a:xfrm>
          <a:prstGeom prst="upArrow">
            <a:avLst>
              <a:gd name="adj1" fmla="val 50000"/>
              <a:gd name="adj2" fmla="val 150000"/>
            </a:avLst>
          </a:prstGeom>
          <a:solidFill>
            <a:srgbClr val="8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56" name="Text Box 28"/>
          <p:cNvSpPr txBox="1">
            <a:spLocks noChangeArrowheads="1"/>
          </p:cNvSpPr>
          <p:nvPr/>
        </p:nvSpPr>
        <p:spPr bwMode="auto">
          <a:xfrm>
            <a:off x="4711685" y="3703108"/>
            <a:ext cx="45076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80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mid</a:t>
            </a:r>
            <a:endParaRPr lang="en-US" altLang="zh-CN" sz="14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57" name="Text Box 29"/>
          <p:cNvSpPr txBox="1">
            <a:spLocks noChangeArrowheads="1"/>
          </p:cNvSpPr>
          <p:nvPr/>
        </p:nvSpPr>
        <p:spPr bwMode="auto">
          <a:xfrm>
            <a:off x="910983" y="3928856"/>
            <a:ext cx="2446504" cy="957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0066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low</a:t>
            </a:r>
            <a:r>
              <a:rPr lang="en-US" altLang="zh-CN" sz="1600" dirty="0">
                <a:solidFill>
                  <a:srgbClr val="80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 </a:t>
            </a:r>
            <a:r>
              <a:rPr lang="zh-CN" altLang="en-US" sz="1600" dirty="0">
                <a:latin typeface="百度综艺简体" panose="02010601030101010101" pitchFamily="2" charset="-122"/>
                <a:ea typeface="百度综艺简体" panose="02010601030101010101" pitchFamily="2" charset="-122"/>
              </a:rPr>
              <a:t>指示查找区间的下界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accent2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high</a:t>
            </a:r>
            <a:r>
              <a:rPr lang="en-US" altLang="zh-CN" sz="1600" dirty="0">
                <a:solidFill>
                  <a:srgbClr val="80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 </a:t>
            </a:r>
            <a:r>
              <a:rPr lang="zh-CN" altLang="en-US" sz="1600" dirty="0">
                <a:latin typeface="百度综艺简体" panose="02010601030101010101" pitchFamily="2" charset="-122"/>
                <a:ea typeface="百度综艺简体" panose="02010601030101010101" pitchFamily="2" charset="-122"/>
              </a:rPr>
              <a:t>指示查找区间的上界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80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mid   </a:t>
            </a:r>
            <a:r>
              <a:rPr lang="en-US" altLang="zh-CN" sz="1600" dirty="0">
                <a:latin typeface="百度综艺简体" panose="02010601030101010101" pitchFamily="2" charset="-122"/>
                <a:ea typeface="百度综艺简体" panose="02010601030101010101" pitchFamily="2" charset="-122"/>
              </a:rPr>
              <a:t>= (</a:t>
            </a:r>
            <a:r>
              <a:rPr lang="en-US" altLang="zh-CN" sz="1600" dirty="0" err="1">
                <a:latin typeface="百度综艺简体" panose="02010601030101010101" pitchFamily="2" charset="-122"/>
                <a:ea typeface="百度综艺简体" panose="02010601030101010101" pitchFamily="2" charset="-122"/>
              </a:rPr>
              <a:t>low+high</a:t>
            </a:r>
            <a:r>
              <a:rPr lang="en-US" altLang="zh-CN" sz="1600" dirty="0">
                <a:latin typeface="百度综艺简体" panose="02010601030101010101" pitchFamily="2" charset="-122"/>
                <a:ea typeface="百度综艺简体" panose="02010601030101010101" pitchFamily="2" charset="-122"/>
              </a:rPr>
              <a:t>)/2</a:t>
            </a:r>
          </a:p>
        </p:txBody>
      </p:sp>
    </p:spTree>
    <p:extLst>
      <p:ext uri="{BB962C8B-B14F-4D97-AF65-F5344CB8AC3E}">
        <p14:creationId xmlns:p14="http://schemas.microsoft.com/office/powerpoint/2010/main" val="13369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4" grpId="0" autoUpdateAnimBg="0"/>
      <p:bldP spid="28" grpId="0" animBg="1"/>
      <p:bldP spid="30" grpId="0" autoUpdateAnimBg="0"/>
      <p:bldP spid="32" grpId="0" autoUpdateAnimBg="0"/>
      <p:bldP spid="33" grpId="0" animBg="1"/>
      <p:bldP spid="34" grpId="0" animBg="1"/>
      <p:bldP spid="35" grpId="0" animBg="1"/>
      <p:bldP spid="36" grpId="0" autoUpdateAnimBg="0"/>
      <p:bldP spid="38" grpId="0" autoUpdateAnimBg="0"/>
      <p:bldP spid="39" grpId="0" autoUpdateAnimBg="0"/>
      <p:bldP spid="40" grpId="0" animBg="1"/>
      <p:bldP spid="42" grpId="0" autoUpdateAnimBg="0"/>
      <p:bldP spid="43" grpId="0" animBg="1"/>
      <p:bldP spid="44" grpId="0" animBg="1" autoUpdateAnimBg="0"/>
      <p:bldP spid="45" grpId="0" animBg="1"/>
      <p:bldP spid="46" grpId="0" autoUpdateAnimBg="0"/>
      <p:bldP spid="47" grpId="0" animBg="1"/>
      <p:bldP spid="48" grpId="0" animBg="1" autoUpdateAnimBg="0"/>
      <p:bldP spid="49" grpId="0" animBg="1"/>
      <p:bldP spid="50" grpId="0" animBg="1" autoUpdateAnimBg="0"/>
      <p:bldP spid="51" grpId="0" animBg="1"/>
      <p:bldP spid="52" grpId="0" autoUpdateAnimBg="0"/>
      <p:bldP spid="53" grpId="0" animBg="1"/>
      <p:bldP spid="54" grpId="0" animBg="1" autoUpdateAnimBg="0"/>
      <p:bldP spid="55" grpId="0" animBg="1"/>
      <p:bldP spid="56" grpId="0" autoUpdateAnimBg="0"/>
      <p:bldP spid="5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折半查找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67208" y="1702513"/>
            <a:ext cx="6809583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设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待查元素所在区域的下界为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low,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上界为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hig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则中间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位置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mid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=(low +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hig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)DIV2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19335" y="1033925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折半查找算法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447440" y="2961912"/>
            <a:ext cx="7018369" cy="4217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若此元素关键字值等于给定值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则查找成功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447439" y="3418701"/>
            <a:ext cx="701836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若此元素关键字值大于给定值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则在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区域</a:t>
            </a: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mid+1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hig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]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进行折半查找</a:t>
            </a:r>
          </a:p>
        </p:txBody>
      </p: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447439" y="3915374"/>
            <a:ext cx="7018369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若此关键字值小于给定值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,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则在</a:t>
            </a:r>
            <a:r>
              <a:rPr lang="zh-CN" altLang="en-US" sz="1600" dirty="0" smtClean="0">
                <a:latin typeface="百度综艺简体" panose="02010601030101010101" charset="-122"/>
                <a:ea typeface="百度综艺简体" panose="02010601030101010101" charset="-122"/>
              </a:rPr>
              <a:t>区域</a:t>
            </a:r>
            <a:r>
              <a:rPr lang="en-US" altLang="zh-CN" sz="1600" dirty="0" smtClean="0">
                <a:latin typeface="百度综艺简体" panose="02010601030101010101" charset="-122"/>
                <a:ea typeface="百度综艺简体" panose="02010601030101010101" charset="-122"/>
              </a:rPr>
              <a:t>[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low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mid-1]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内进行折半查找</a:t>
            </a:r>
          </a:p>
        </p:txBody>
      </p:sp>
    </p:spTree>
    <p:extLst>
      <p:ext uri="{BB962C8B-B14F-4D97-AF65-F5344CB8AC3E}">
        <p14:creationId xmlns:p14="http://schemas.microsoft.com/office/powerpoint/2010/main" val="248680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29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折半查找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551831" y="1408467"/>
            <a:ext cx="6809583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先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看一个具体的情况，假设：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n=11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19335" y="1033925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分析折半查找的平均查找长度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Oval 4"/>
          <p:cNvSpPr>
            <a:spLocks noChangeArrowheads="1"/>
          </p:cNvSpPr>
          <p:nvPr/>
        </p:nvSpPr>
        <p:spPr bwMode="auto">
          <a:xfrm>
            <a:off x="4217786" y="3092116"/>
            <a:ext cx="472285" cy="413249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006600"/>
                </a:solidFill>
              </a:rPr>
              <a:t>6</a:t>
            </a:r>
            <a:endParaRPr lang="en-US" altLang="zh-CN" sz="2000" dirty="0"/>
          </a:p>
        </p:txBody>
      </p:sp>
      <p:sp>
        <p:nvSpPr>
          <p:cNvPr id="23" name="Oval 5"/>
          <p:cNvSpPr>
            <a:spLocks noChangeArrowheads="1"/>
          </p:cNvSpPr>
          <p:nvPr/>
        </p:nvSpPr>
        <p:spPr bwMode="auto">
          <a:xfrm>
            <a:off x="1959616" y="3410997"/>
            <a:ext cx="472285" cy="413249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accent2"/>
                </a:solidFill>
              </a:rPr>
              <a:t>3</a:t>
            </a:r>
            <a:endParaRPr lang="en-US" altLang="zh-CN" sz="2000"/>
          </a:p>
        </p:txBody>
      </p:sp>
      <p:sp>
        <p:nvSpPr>
          <p:cNvPr id="24" name="Oval 6"/>
          <p:cNvSpPr>
            <a:spLocks noChangeArrowheads="1"/>
          </p:cNvSpPr>
          <p:nvPr/>
        </p:nvSpPr>
        <p:spPr bwMode="auto">
          <a:xfrm>
            <a:off x="5908791" y="3324469"/>
            <a:ext cx="472285" cy="413249"/>
          </a:xfrm>
          <a:prstGeom prst="ellipse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accent2"/>
                </a:solidFill>
              </a:rPr>
              <a:t>9</a:t>
            </a:r>
            <a:endParaRPr lang="en-US" altLang="zh-CN" sz="2000" b="1"/>
          </a:p>
        </p:txBody>
      </p:sp>
      <p:sp>
        <p:nvSpPr>
          <p:cNvPr id="28" name="Oval 7"/>
          <p:cNvSpPr>
            <a:spLocks noChangeArrowheads="1"/>
          </p:cNvSpPr>
          <p:nvPr/>
        </p:nvSpPr>
        <p:spPr bwMode="auto">
          <a:xfrm>
            <a:off x="1255142" y="3737718"/>
            <a:ext cx="472285" cy="413249"/>
          </a:xfrm>
          <a:prstGeom prst="ellipse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00FF"/>
                </a:solidFill>
              </a:rPr>
              <a:t>1</a:t>
            </a:r>
            <a:endParaRPr lang="en-US" altLang="zh-CN" sz="2000"/>
          </a:p>
        </p:txBody>
      </p:sp>
      <p:sp>
        <p:nvSpPr>
          <p:cNvPr id="30" name="Oval 8"/>
          <p:cNvSpPr>
            <a:spLocks noChangeArrowheads="1"/>
          </p:cNvSpPr>
          <p:nvPr/>
        </p:nvSpPr>
        <p:spPr bwMode="auto">
          <a:xfrm>
            <a:off x="2643555" y="3783680"/>
            <a:ext cx="472285" cy="413249"/>
          </a:xfrm>
          <a:prstGeom prst="ellipse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00FF"/>
                </a:solidFill>
              </a:rPr>
              <a:t>4</a:t>
            </a:r>
            <a:endParaRPr lang="en-US" altLang="zh-CN" sz="2000"/>
          </a:p>
        </p:txBody>
      </p:sp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828945" y="4338462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33" name="Rectangle 10"/>
          <p:cNvSpPr>
            <a:spLocks noChangeArrowheads="1"/>
          </p:cNvSpPr>
          <p:nvPr/>
        </p:nvSpPr>
        <p:spPr bwMode="auto">
          <a:xfrm>
            <a:off x="1655430" y="4630934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34" name="Rectangle 11"/>
          <p:cNvSpPr>
            <a:spLocks noChangeArrowheads="1"/>
          </p:cNvSpPr>
          <p:nvPr/>
        </p:nvSpPr>
        <p:spPr bwMode="auto">
          <a:xfrm>
            <a:off x="2327787" y="4671030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2703836" y="4437326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36" name="Rectangle 13"/>
          <p:cNvSpPr>
            <a:spLocks noChangeArrowheads="1"/>
          </p:cNvSpPr>
          <p:nvPr/>
        </p:nvSpPr>
        <p:spPr bwMode="auto">
          <a:xfrm>
            <a:off x="3186368" y="4647322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3911772" y="4630934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39" name="Rectangle 15"/>
          <p:cNvSpPr>
            <a:spLocks noChangeArrowheads="1"/>
          </p:cNvSpPr>
          <p:nvPr/>
        </p:nvSpPr>
        <p:spPr bwMode="auto">
          <a:xfrm>
            <a:off x="4428516" y="4173643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40" name="Rectangle 16"/>
          <p:cNvSpPr>
            <a:spLocks noChangeArrowheads="1"/>
          </p:cNvSpPr>
          <p:nvPr/>
        </p:nvSpPr>
        <p:spPr bwMode="auto">
          <a:xfrm>
            <a:off x="5202712" y="4630934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>
            <a:off x="5862261" y="4633114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43" name="Rectangle 18"/>
          <p:cNvSpPr>
            <a:spLocks noChangeArrowheads="1"/>
          </p:cNvSpPr>
          <p:nvPr/>
        </p:nvSpPr>
        <p:spPr bwMode="auto">
          <a:xfrm>
            <a:off x="6475624" y="4301528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44" name="Rectangle 19"/>
          <p:cNvSpPr>
            <a:spLocks noChangeArrowheads="1"/>
          </p:cNvSpPr>
          <p:nvPr/>
        </p:nvSpPr>
        <p:spPr bwMode="auto">
          <a:xfrm>
            <a:off x="7230064" y="4647434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45" name="Rectangle 20"/>
          <p:cNvSpPr>
            <a:spLocks noChangeArrowheads="1"/>
          </p:cNvSpPr>
          <p:nvPr/>
        </p:nvSpPr>
        <p:spPr bwMode="auto">
          <a:xfrm>
            <a:off x="7915864" y="4647434"/>
            <a:ext cx="236143" cy="35421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46" name="Oval 21"/>
          <p:cNvSpPr>
            <a:spLocks noChangeArrowheads="1"/>
          </p:cNvSpPr>
          <p:nvPr/>
        </p:nvSpPr>
        <p:spPr bwMode="auto">
          <a:xfrm>
            <a:off x="1888594" y="4043281"/>
            <a:ext cx="472285" cy="413249"/>
          </a:xfrm>
          <a:prstGeom prst="ellipse">
            <a:avLst/>
          </a:prstGeom>
          <a:solidFill>
            <a:srgbClr val="9D9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6600CC"/>
                </a:solidFill>
              </a:rPr>
              <a:t>2</a:t>
            </a:r>
            <a:endParaRPr lang="en-US" altLang="zh-CN" sz="2000"/>
          </a:p>
        </p:txBody>
      </p:sp>
      <p:sp>
        <p:nvSpPr>
          <p:cNvPr id="47" name="Oval 22"/>
          <p:cNvSpPr>
            <a:spLocks noChangeArrowheads="1"/>
          </p:cNvSpPr>
          <p:nvPr/>
        </p:nvSpPr>
        <p:spPr bwMode="auto">
          <a:xfrm>
            <a:off x="3318750" y="4051546"/>
            <a:ext cx="472285" cy="413249"/>
          </a:xfrm>
          <a:prstGeom prst="ellipse">
            <a:avLst/>
          </a:prstGeom>
          <a:solidFill>
            <a:srgbClr val="9D9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6600CC"/>
                </a:solidFill>
              </a:rPr>
              <a:t>5</a:t>
            </a:r>
            <a:endParaRPr lang="en-US" altLang="zh-CN" sz="2000"/>
          </a:p>
        </p:txBody>
      </p:sp>
      <p:sp>
        <p:nvSpPr>
          <p:cNvPr id="48" name="Oval 23"/>
          <p:cNvSpPr>
            <a:spLocks noChangeArrowheads="1"/>
          </p:cNvSpPr>
          <p:nvPr/>
        </p:nvSpPr>
        <p:spPr bwMode="auto">
          <a:xfrm>
            <a:off x="4809235" y="3680696"/>
            <a:ext cx="472285" cy="413249"/>
          </a:xfrm>
          <a:prstGeom prst="ellipse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00FF"/>
                </a:solidFill>
              </a:rPr>
              <a:t>7</a:t>
            </a:r>
            <a:endParaRPr lang="en-US" altLang="zh-CN" sz="2000"/>
          </a:p>
        </p:txBody>
      </p:sp>
      <p:sp>
        <p:nvSpPr>
          <p:cNvPr id="49" name="Oval 24"/>
          <p:cNvSpPr>
            <a:spLocks noChangeArrowheads="1"/>
          </p:cNvSpPr>
          <p:nvPr/>
        </p:nvSpPr>
        <p:spPr bwMode="auto">
          <a:xfrm>
            <a:off x="5343579" y="4051546"/>
            <a:ext cx="472285" cy="413249"/>
          </a:xfrm>
          <a:prstGeom prst="ellipse">
            <a:avLst/>
          </a:prstGeom>
          <a:solidFill>
            <a:srgbClr val="9D9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6600CC"/>
                </a:solidFill>
              </a:rPr>
              <a:t>8</a:t>
            </a:r>
            <a:endParaRPr lang="en-US" altLang="zh-CN" sz="2000"/>
          </a:p>
        </p:txBody>
      </p:sp>
      <p:sp>
        <p:nvSpPr>
          <p:cNvPr id="50" name="Oval 25"/>
          <p:cNvSpPr>
            <a:spLocks noChangeArrowheads="1"/>
          </p:cNvSpPr>
          <p:nvPr/>
        </p:nvSpPr>
        <p:spPr bwMode="auto">
          <a:xfrm>
            <a:off x="6811044" y="3680696"/>
            <a:ext cx="472285" cy="413249"/>
          </a:xfrm>
          <a:prstGeom prst="ellipse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00FF"/>
                </a:solidFill>
              </a:rPr>
              <a:t>10</a:t>
            </a:r>
            <a:endParaRPr lang="en-US" altLang="zh-CN" sz="2000"/>
          </a:p>
        </p:txBody>
      </p:sp>
      <p:sp>
        <p:nvSpPr>
          <p:cNvPr id="51" name="Oval 26"/>
          <p:cNvSpPr>
            <a:spLocks noChangeArrowheads="1"/>
          </p:cNvSpPr>
          <p:nvPr/>
        </p:nvSpPr>
        <p:spPr bwMode="auto">
          <a:xfrm>
            <a:off x="7452471" y="4054067"/>
            <a:ext cx="472285" cy="413249"/>
          </a:xfrm>
          <a:prstGeom prst="ellipse">
            <a:avLst/>
          </a:prstGeom>
          <a:solidFill>
            <a:srgbClr val="9D9D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sq">
                <a:solidFill>
                  <a:srgbClr val="00808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6600CC"/>
                </a:solidFill>
              </a:rPr>
              <a:t>11</a:t>
            </a:r>
            <a:endParaRPr lang="en-US" altLang="zh-CN" sz="2000"/>
          </a:p>
        </p:txBody>
      </p:sp>
      <p:sp>
        <p:nvSpPr>
          <p:cNvPr id="52" name="Line 27"/>
          <p:cNvSpPr>
            <a:spLocks noChangeShapeType="1"/>
          </p:cNvSpPr>
          <p:nvPr/>
        </p:nvSpPr>
        <p:spPr bwMode="auto">
          <a:xfrm flipH="1">
            <a:off x="2431901" y="3307196"/>
            <a:ext cx="1771069" cy="29517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3" name="Line 28"/>
          <p:cNvSpPr>
            <a:spLocks noChangeShapeType="1"/>
          </p:cNvSpPr>
          <p:nvPr/>
        </p:nvSpPr>
        <p:spPr bwMode="auto">
          <a:xfrm>
            <a:off x="4721860" y="3321026"/>
            <a:ext cx="1180713" cy="177107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4" name="Line 29"/>
          <p:cNvSpPr>
            <a:spLocks noChangeShapeType="1"/>
          </p:cNvSpPr>
          <p:nvPr/>
        </p:nvSpPr>
        <p:spPr bwMode="auto">
          <a:xfrm flipH="1">
            <a:off x="1662558" y="3659135"/>
            <a:ext cx="295178" cy="17710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5" name="Line 30"/>
          <p:cNvSpPr>
            <a:spLocks noChangeShapeType="1"/>
          </p:cNvSpPr>
          <p:nvPr/>
        </p:nvSpPr>
        <p:spPr bwMode="auto">
          <a:xfrm flipH="1">
            <a:off x="950160" y="4019822"/>
            <a:ext cx="310748" cy="31864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6" name="Line 31"/>
          <p:cNvSpPr>
            <a:spLocks noChangeShapeType="1"/>
          </p:cNvSpPr>
          <p:nvPr/>
        </p:nvSpPr>
        <p:spPr bwMode="auto">
          <a:xfrm>
            <a:off x="1714398" y="3987407"/>
            <a:ext cx="243338" cy="132074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7" name="Line 32"/>
          <p:cNvSpPr>
            <a:spLocks noChangeShapeType="1"/>
          </p:cNvSpPr>
          <p:nvPr/>
        </p:nvSpPr>
        <p:spPr bwMode="auto">
          <a:xfrm flipH="1">
            <a:off x="1785139" y="4328731"/>
            <a:ext cx="118071" cy="29517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8" name="Line 33"/>
          <p:cNvSpPr>
            <a:spLocks noChangeShapeType="1"/>
          </p:cNvSpPr>
          <p:nvPr/>
        </p:nvSpPr>
        <p:spPr bwMode="auto">
          <a:xfrm>
            <a:off x="2315500" y="4375852"/>
            <a:ext cx="118071" cy="29517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59" name="Line 34"/>
          <p:cNvSpPr>
            <a:spLocks noChangeShapeType="1"/>
          </p:cNvSpPr>
          <p:nvPr/>
        </p:nvSpPr>
        <p:spPr bwMode="auto">
          <a:xfrm>
            <a:off x="2406249" y="3705359"/>
            <a:ext cx="354214" cy="11807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0" name="Line 35"/>
          <p:cNvSpPr>
            <a:spLocks noChangeShapeType="1"/>
          </p:cNvSpPr>
          <p:nvPr/>
        </p:nvSpPr>
        <p:spPr bwMode="auto">
          <a:xfrm>
            <a:off x="2826645" y="4196929"/>
            <a:ext cx="1" cy="237119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1" name="Line 36"/>
          <p:cNvSpPr>
            <a:spLocks noChangeShapeType="1"/>
          </p:cNvSpPr>
          <p:nvPr/>
        </p:nvSpPr>
        <p:spPr bwMode="auto">
          <a:xfrm>
            <a:off x="3785830" y="4347872"/>
            <a:ext cx="203892" cy="2760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2" name="Line 37"/>
          <p:cNvSpPr>
            <a:spLocks noChangeShapeType="1"/>
          </p:cNvSpPr>
          <p:nvPr/>
        </p:nvSpPr>
        <p:spPr bwMode="auto">
          <a:xfrm>
            <a:off x="3102432" y="3953244"/>
            <a:ext cx="257912" cy="14070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3" name="Line 38"/>
          <p:cNvSpPr>
            <a:spLocks noChangeShapeType="1"/>
          </p:cNvSpPr>
          <p:nvPr/>
        </p:nvSpPr>
        <p:spPr bwMode="auto">
          <a:xfrm flipH="1">
            <a:off x="3253240" y="4348212"/>
            <a:ext cx="76722" cy="27569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4" name="Line 39"/>
          <p:cNvSpPr>
            <a:spLocks noChangeShapeType="1"/>
          </p:cNvSpPr>
          <p:nvPr/>
        </p:nvSpPr>
        <p:spPr bwMode="auto">
          <a:xfrm flipH="1">
            <a:off x="5281520" y="3617492"/>
            <a:ext cx="621053" cy="223209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5" name="Line 40"/>
          <p:cNvSpPr>
            <a:spLocks noChangeShapeType="1"/>
          </p:cNvSpPr>
          <p:nvPr/>
        </p:nvSpPr>
        <p:spPr bwMode="auto">
          <a:xfrm flipH="1">
            <a:off x="4504950" y="4001409"/>
            <a:ext cx="348898" cy="164684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6" name="Line 41"/>
          <p:cNvSpPr>
            <a:spLocks noChangeShapeType="1"/>
          </p:cNvSpPr>
          <p:nvPr/>
        </p:nvSpPr>
        <p:spPr bwMode="auto">
          <a:xfrm>
            <a:off x="5228957" y="4019822"/>
            <a:ext cx="236143" cy="17710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7" name="Line 42"/>
          <p:cNvSpPr>
            <a:spLocks noChangeShapeType="1"/>
          </p:cNvSpPr>
          <p:nvPr/>
        </p:nvSpPr>
        <p:spPr bwMode="auto">
          <a:xfrm flipH="1">
            <a:off x="5315196" y="4405382"/>
            <a:ext cx="99704" cy="22037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8" name="Line 43"/>
          <p:cNvSpPr>
            <a:spLocks noChangeShapeType="1"/>
          </p:cNvSpPr>
          <p:nvPr/>
        </p:nvSpPr>
        <p:spPr bwMode="auto">
          <a:xfrm>
            <a:off x="5779757" y="4380269"/>
            <a:ext cx="139094" cy="24549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69" name="Line 44"/>
          <p:cNvSpPr>
            <a:spLocks noChangeShapeType="1"/>
          </p:cNvSpPr>
          <p:nvPr/>
        </p:nvSpPr>
        <p:spPr bwMode="auto">
          <a:xfrm>
            <a:off x="6381076" y="3659135"/>
            <a:ext cx="425241" cy="165111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70" name="Line 45"/>
          <p:cNvSpPr>
            <a:spLocks noChangeShapeType="1"/>
          </p:cNvSpPr>
          <p:nvPr/>
        </p:nvSpPr>
        <p:spPr bwMode="auto">
          <a:xfrm flipH="1">
            <a:off x="6593696" y="3992200"/>
            <a:ext cx="236143" cy="295179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71" name="Line 46"/>
          <p:cNvSpPr>
            <a:spLocks noChangeShapeType="1"/>
          </p:cNvSpPr>
          <p:nvPr/>
        </p:nvSpPr>
        <p:spPr bwMode="auto">
          <a:xfrm>
            <a:off x="7283329" y="3883338"/>
            <a:ext cx="236143" cy="23614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72" name="Line 47"/>
          <p:cNvSpPr>
            <a:spLocks noChangeShapeType="1"/>
          </p:cNvSpPr>
          <p:nvPr/>
        </p:nvSpPr>
        <p:spPr bwMode="auto">
          <a:xfrm flipH="1">
            <a:off x="7386962" y="4389617"/>
            <a:ext cx="118071" cy="23614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73" name="Line 48"/>
          <p:cNvSpPr>
            <a:spLocks noChangeShapeType="1"/>
          </p:cNvSpPr>
          <p:nvPr/>
        </p:nvSpPr>
        <p:spPr bwMode="auto">
          <a:xfrm>
            <a:off x="7872194" y="4409787"/>
            <a:ext cx="118071" cy="23614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74" name="Text Box 49"/>
          <p:cNvSpPr txBox="1">
            <a:spLocks noChangeArrowheads="1"/>
          </p:cNvSpPr>
          <p:nvPr/>
        </p:nvSpPr>
        <p:spPr bwMode="auto">
          <a:xfrm>
            <a:off x="1030357" y="2843460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判定树</a:t>
            </a:r>
          </a:p>
        </p:txBody>
      </p:sp>
      <p:graphicFrame>
        <p:nvGraphicFramePr>
          <p:cNvPr id="75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799983"/>
              </p:ext>
            </p:extLst>
          </p:nvPr>
        </p:nvGraphicFramePr>
        <p:xfrm>
          <a:off x="2017188" y="1956221"/>
          <a:ext cx="5450411" cy="81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文档" r:id="rId4" imgW="8503920" imgH="1267968" progId="Word.Document.8">
                  <p:embed/>
                </p:oleObj>
              </mc:Choice>
              <mc:Fallback>
                <p:oleObj name="文档" r:id="rId4" imgW="8503920" imgH="12679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188" y="1956221"/>
                        <a:ext cx="5450411" cy="811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Text Box 51"/>
          <p:cNvSpPr txBox="1">
            <a:spLocks noChangeArrowheads="1"/>
          </p:cNvSpPr>
          <p:nvPr/>
        </p:nvSpPr>
        <p:spPr bwMode="auto">
          <a:xfrm>
            <a:off x="4739485" y="2272480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1</a:t>
            </a:r>
            <a:endParaRPr lang="en-US" altLang="zh-CN" sz="1400" dirty="0"/>
          </a:p>
        </p:txBody>
      </p:sp>
      <p:sp>
        <p:nvSpPr>
          <p:cNvPr id="77" name="Text Box 52"/>
          <p:cNvSpPr txBox="1">
            <a:spLocks noChangeArrowheads="1"/>
          </p:cNvSpPr>
          <p:nvPr/>
        </p:nvSpPr>
        <p:spPr bwMode="auto">
          <a:xfrm>
            <a:off x="3422511" y="2270209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2</a:t>
            </a:r>
            <a:endParaRPr lang="en-US" altLang="zh-CN" sz="1400" dirty="0"/>
          </a:p>
        </p:txBody>
      </p:sp>
      <p:sp>
        <p:nvSpPr>
          <p:cNvPr id="78" name="Text Box 53"/>
          <p:cNvSpPr txBox="1">
            <a:spLocks noChangeArrowheads="1"/>
          </p:cNvSpPr>
          <p:nvPr/>
        </p:nvSpPr>
        <p:spPr bwMode="auto">
          <a:xfrm>
            <a:off x="6135515" y="2285074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2</a:t>
            </a:r>
            <a:endParaRPr lang="en-US" altLang="zh-CN" sz="1400" dirty="0"/>
          </a:p>
        </p:txBody>
      </p:sp>
      <p:sp>
        <p:nvSpPr>
          <p:cNvPr id="79" name="Text Box 54"/>
          <p:cNvSpPr txBox="1">
            <a:spLocks noChangeArrowheads="1"/>
          </p:cNvSpPr>
          <p:nvPr/>
        </p:nvSpPr>
        <p:spPr bwMode="auto">
          <a:xfrm>
            <a:off x="2563959" y="2268377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00FF"/>
                </a:solidFill>
              </a:rPr>
              <a:t>3</a:t>
            </a:r>
            <a:endParaRPr lang="en-US" altLang="zh-CN" sz="1400" dirty="0"/>
          </a:p>
        </p:txBody>
      </p:sp>
      <p:sp>
        <p:nvSpPr>
          <p:cNvPr id="80" name="Text Box 55"/>
          <p:cNvSpPr txBox="1">
            <a:spLocks noChangeArrowheads="1"/>
          </p:cNvSpPr>
          <p:nvPr/>
        </p:nvSpPr>
        <p:spPr bwMode="auto">
          <a:xfrm>
            <a:off x="3877643" y="2275292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00FF"/>
                </a:solidFill>
              </a:rPr>
              <a:t>3</a:t>
            </a:r>
            <a:endParaRPr lang="en-US" altLang="zh-CN" sz="1400" dirty="0"/>
          </a:p>
        </p:txBody>
      </p:sp>
      <p:sp>
        <p:nvSpPr>
          <p:cNvPr id="81" name="Text Box 56"/>
          <p:cNvSpPr txBox="1">
            <a:spLocks noChangeArrowheads="1"/>
          </p:cNvSpPr>
          <p:nvPr/>
        </p:nvSpPr>
        <p:spPr bwMode="auto">
          <a:xfrm>
            <a:off x="5182771" y="2274340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00FF"/>
                </a:solidFill>
              </a:rPr>
              <a:t>3</a:t>
            </a:r>
            <a:endParaRPr lang="en-US" altLang="zh-CN" sz="1400" dirty="0"/>
          </a:p>
        </p:txBody>
      </p:sp>
      <p:sp>
        <p:nvSpPr>
          <p:cNvPr id="82" name="Text Box 57"/>
          <p:cNvSpPr txBox="1">
            <a:spLocks noChangeArrowheads="1"/>
          </p:cNvSpPr>
          <p:nvPr/>
        </p:nvSpPr>
        <p:spPr bwMode="auto">
          <a:xfrm>
            <a:off x="6565293" y="2280658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FF00FF"/>
                </a:solidFill>
              </a:rPr>
              <a:t>3</a:t>
            </a:r>
            <a:endParaRPr lang="en-US" altLang="zh-CN" sz="1400" dirty="0"/>
          </a:p>
        </p:txBody>
      </p:sp>
      <p:sp>
        <p:nvSpPr>
          <p:cNvPr id="83" name="Text Box 58"/>
          <p:cNvSpPr txBox="1">
            <a:spLocks noChangeArrowheads="1"/>
          </p:cNvSpPr>
          <p:nvPr/>
        </p:nvSpPr>
        <p:spPr bwMode="auto">
          <a:xfrm>
            <a:off x="2967747" y="2270209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9D9DFF"/>
                </a:solidFill>
              </a:rPr>
              <a:t>4</a:t>
            </a:r>
            <a:endParaRPr lang="en-US" altLang="zh-CN" sz="1400" dirty="0"/>
          </a:p>
        </p:txBody>
      </p:sp>
      <p:sp>
        <p:nvSpPr>
          <p:cNvPr id="84" name="Text Box 59"/>
          <p:cNvSpPr txBox="1">
            <a:spLocks noChangeArrowheads="1"/>
          </p:cNvSpPr>
          <p:nvPr/>
        </p:nvSpPr>
        <p:spPr bwMode="auto">
          <a:xfrm>
            <a:off x="4296199" y="2267869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9D9DFF"/>
                </a:solidFill>
              </a:rPr>
              <a:t>4</a:t>
            </a:r>
            <a:endParaRPr lang="en-US" altLang="zh-CN" sz="1400"/>
          </a:p>
        </p:txBody>
      </p:sp>
      <p:sp>
        <p:nvSpPr>
          <p:cNvPr id="85" name="Text Box 60"/>
          <p:cNvSpPr txBox="1">
            <a:spLocks noChangeArrowheads="1"/>
          </p:cNvSpPr>
          <p:nvPr/>
        </p:nvSpPr>
        <p:spPr bwMode="auto">
          <a:xfrm>
            <a:off x="5655298" y="2285074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9D9DFF"/>
                </a:solidFill>
              </a:rPr>
              <a:t>4</a:t>
            </a:r>
            <a:endParaRPr lang="en-US" altLang="zh-CN" sz="1400" dirty="0"/>
          </a:p>
        </p:txBody>
      </p:sp>
      <p:sp>
        <p:nvSpPr>
          <p:cNvPr id="86" name="Text Box 61"/>
          <p:cNvSpPr txBox="1">
            <a:spLocks noChangeArrowheads="1"/>
          </p:cNvSpPr>
          <p:nvPr/>
        </p:nvSpPr>
        <p:spPr bwMode="auto">
          <a:xfrm>
            <a:off x="6995071" y="2261452"/>
            <a:ext cx="3129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rgbClr val="9D9DFF"/>
                </a:solidFill>
              </a:rPr>
              <a:t>4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16979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45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5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65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70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7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8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85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95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5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30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35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45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5000"/>
                            </p:stCondLst>
                            <p:childTnLst>
                              <p:par>
                                <p:cTn id="1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5500"/>
                            </p:stCondLst>
                            <p:childTnLst>
                              <p:par>
                                <p:cTn id="1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60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500"/>
                            </p:stCondLst>
                            <p:childTnLst>
                              <p:par>
                                <p:cTn id="2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2000"/>
                            </p:stCondLst>
                            <p:childTnLst>
                              <p:par>
                                <p:cTn id="2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500"/>
                            </p:stCondLst>
                            <p:childTnLst>
                              <p:par>
                                <p:cTn id="2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4000"/>
                            </p:stCondLst>
                            <p:childTnLst>
                              <p:par>
                                <p:cTn id="2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4500"/>
                            </p:stCondLst>
                            <p:childTnLst>
                              <p:par>
                                <p:cTn id="2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0"/>
                            </p:stCondLst>
                            <p:childTnLst>
                              <p:par>
                                <p:cTn id="2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5500"/>
                            </p:stCondLst>
                            <p:childTnLst>
                              <p:par>
                                <p:cTn id="2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20" grpId="0" animBg="1" autoUpdateAnimBg="0"/>
      <p:bldP spid="23" grpId="0" animBg="1" autoUpdateAnimBg="0"/>
      <p:bldP spid="24" grpId="0" animBg="1" autoUpdateAnimBg="0"/>
      <p:bldP spid="28" grpId="0" animBg="1" autoUpdateAnimBg="0"/>
      <p:bldP spid="30" grpId="0" animBg="1" autoUpdateAnimBg="0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 autoUpdateAnimBg="0"/>
      <p:bldP spid="47" grpId="0" animBg="1" autoUpdateAnimBg="0"/>
      <p:bldP spid="48" grpId="0" animBg="1" autoUpdateAnimBg="0"/>
      <p:bldP spid="49" grpId="0" animBg="1" autoUpdateAnimBg="0"/>
      <p:bldP spid="50" grpId="0" animBg="1" autoUpdateAnimBg="0"/>
      <p:bldP spid="51" grpId="0" animBg="1" autoUpdateAnimBg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utoUpdateAnimBg="0"/>
      <p:bldP spid="76" grpId="0" autoUpdateAnimBg="0"/>
      <p:bldP spid="77" grpId="0" autoUpdateAnimBg="0"/>
      <p:bldP spid="78" grpId="0" autoUpdateAnimBg="0"/>
      <p:bldP spid="79" grpId="0" autoUpdateAnimBg="0"/>
      <p:bldP spid="80" grpId="0" autoUpdateAnimBg="0"/>
      <p:bldP spid="81" grpId="0" autoUpdateAnimBg="0"/>
      <p:bldP spid="82" grpId="0" autoUpdateAnimBg="0"/>
      <p:bldP spid="83" grpId="0" autoUpdateAnimBg="0"/>
      <p:bldP spid="84" grpId="0" autoUpdateAnimBg="0"/>
      <p:bldP spid="85" grpId="0" autoUpdateAnimBg="0"/>
      <p:bldP spid="8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折半查找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317068" y="1142184"/>
            <a:ext cx="6809583" cy="878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一般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情况下，表长为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的折半查找的判定树的深度和含有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个结点的完全二叉树的深度相同。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317068" y="2123744"/>
            <a:ext cx="6809583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假设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n=2</a:t>
            </a:r>
            <a:r>
              <a:rPr lang="en-US" altLang="zh-CN" baseline="30000" dirty="0">
                <a:latin typeface="百度综艺简体" panose="02010601030101010101" charset="-122"/>
                <a:ea typeface="百度综艺简体" panose="02010601030101010101" charset="-122"/>
              </a:rPr>
              <a:t>h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-1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并且查找概率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相等则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aphicFrame>
        <p:nvGraphicFramePr>
          <p:cNvPr id="2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417521"/>
              </p:ext>
            </p:extLst>
          </p:nvPr>
        </p:nvGraphicFramePr>
        <p:xfrm>
          <a:off x="2229594" y="2660345"/>
          <a:ext cx="4570675" cy="73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公式" r:id="rId4" imgW="3314700" imgH="482600" progId="Equation.3">
                  <p:embed/>
                </p:oleObj>
              </mc:Choice>
              <mc:Fallback>
                <p:oleObj name="公式" r:id="rId4" imgW="33147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9594" y="2660345"/>
                        <a:ext cx="4570675" cy="732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1317068" y="3568316"/>
            <a:ext cx="6809583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n&gt;50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时，可得近似结果 </a:t>
            </a:r>
          </a:p>
        </p:txBody>
      </p:sp>
      <p:graphicFrame>
        <p:nvGraphicFramePr>
          <p:cNvPr id="2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962741"/>
              </p:ext>
            </p:extLst>
          </p:nvPr>
        </p:nvGraphicFramePr>
        <p:xfrm>
          <a:off x="2134235" y="4250034"/>
          <a:ext cx="3288555" cy="55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公式" r:id="rId6" imgW="1384300" imgH="228600" progId="Equation.3">
                  <p:embed/>
                </p:oleObj>
              </mc:Choice>
              <mc:Fallback>
                <p:oleObj name="公式" r:id="rId6" imgW="1384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4235" y="4250034"/>
                        <a:ext cx="3288555" cy="5550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833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75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75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20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4990595" y="2335478"/>
            <a:ext cx="3266020" cy="896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54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本</a:t>
            </a:r>
            <a:r>
              <a:rPr lang="zh-CN" altLang="en-US" sz="5400" cap="all" spc="213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节结束</a:t>
            </a:r>
            <a:endParaRPr lang="en-US" altLang="zh-CN" sz="5400" cap="all" spc="213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cs typeface="百度综艺简体" panose="02010601030101010101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49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49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bldLvl="0" animBg="1"/>
      <p:bldP spid="11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</TotalTime>
  <Words>389</Words>
  <Application>Microsoft Office PowerPoint</Application>
  <PresentationFormat>自定义</PresentationFormat>
  <Paragraphs>84</Paragraphs>
  <Slides>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Wingdings</vt:lpstr>
      <vt:lpstr>Office 主题​​</vt:lpstr>
      <vt:lpstr>文档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90</cp:revision>
  <dcterms:created xsi:type="dcterms:W3CDTF">2017-06-21T11:46:00Z</dcterms:created>
  <dcterms:modified xsi:type="dcterms:W3CDTF">2023-11-09T00:52:14Z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2052-11.1.0.8986</vt:lpwstr>
  </property>
</Properties>
</file>