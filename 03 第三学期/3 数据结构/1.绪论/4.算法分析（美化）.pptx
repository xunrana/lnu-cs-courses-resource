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97" r:id="rId2"/>
    <p:sldId id="307" r:id="rId3"/>
    <p:sldId id="308" r:id="rId4"/>
    <p:sldId id="309" r:id="rId5"/>
    <p:sldId id="310" r:id="rId6"/>
    <p:sldId id="311" r:id="rId7"/>
    <p:sldId id="312" r:id="rId8"/>
    <p:sldId id="314" r:id="rId9"/>
    <p:sldId id="315" r:id="rId10"/>
    <p:sldId id="316" r:id="rId11"/>
    <p:sldId id="317" r:id="rId12"/>
    <p:sldId id="318" r:id="rId13"/>
    <p:sldId id="319" r:id="rId14"/>
    <p:sldId id="320" r:id="rId15"/>
    <p:sldId id="321" r:id="rId16"/>
    <p:sldId id="322" r:id="rId17"/>
    <p:sldId id="323" r:id="rId18"/>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5B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94660"/>
  </p:normalViewPr>
  <p:slideViewPr>
    <p:cSldViewPr snapToGrid="0">
      <p:cViewPr varScale="1">
        <p:scale>
          <a:sx n="96" d="100"/>
          <a:sy n="96" d="100"/>
        </p:scale>
        <p:origin x="534" y="78"/>
      </p:cViewPr>
      <p:guideLst/>
    </p:cSldViewPr>
  </p:slideViewPr>
  <p:notesTextViewPr>
    <p:cViewPr>
      <p:scale>
        <a:sx n="1" d="1"/>
        <a:sy n="1" d="1"/>
      </p:scale>
      <p:origin x="0" y="0"/>
    </p:cViewPr>
  </p:notesTextViewPr>
  <p:sorterViewPr>
    <p:cViewPr>
      <p:scale>
        <a:sx n="100" d="100"/>
        <a:sy n="100" d="100"/>
      </p:scale>
      <p:origin x="0" y="-169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31844-757F-4497-A6B9-29138D45B0D0}" type="datetimeFigureOut">
              <a:rPr lang="zh-CN" altLang="en-US" smtClean="0"/>
              <a:t>2020/3/31</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BFAC-0D77-4680-9C08-FA0DD250B4A7}" type="slidenum">
              <a:rPr lang="zh-CN" altLang="en-US" smtClean="0"/>
              <a:t>‹#›</a:t>
            </a:fld>
            <a:endParaRPr lang="zh-CN" altLang="en-US"/>
          </a:p>
        </p:txBody>
      </p:sp>
    </p:spTree>
    <p:extLst>
      <p:ext uri="{BB962C8B-B14F-4D97-AF65-F5344CB8AC3E}">
        <p14:creationId xmlns:p14="http://schemas.microsoft.com/office/powerpoint/2010/main" val="202006083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2</a:t>
            </a:fld>
            <a:endParaRPr lang="zh-CN" altLang="en-US"/>
          </a:p>
        </p:txBody>
      </p:sp>
    </p:spTree>
    <p:extLst>
      <p:ext uri="{BB962C8B-B14F-4D97-AF65-F5344CB8AC3E}">
        <p14:creationId xmlns:p14="http://schemas.microsoft.com/office/powerpoint/2010/main" val="3969777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3</a:t>
            </a:fld>
            <a:endParaRPr lang="zh-CN" altLang="en-US"/>
          </a:p>
        </p:txBody>
      </p:sp>
    </p:spTree>
    <p:extLst>
      <p:ext uri="{BB962C8B-B14F-4D97-AF65-F5344CB8AC3E}">
        <p14:creationId xmlns:p14="http://schemas.microsoft.com/office/powerpoint/2010/main" val="1144015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4</a:t>
            </a:fld>
            <a:endParaRPr lang="zh-CN" altLang="en-US"/>
          </a:p>
        </p:txBody>
      </p:sp>
    </p:spTree>
    <p:extLst>
      <p:ext uri="{BB962C8B-B14F-4D97-AF65-F5344CB8AC3E}">
        <p14:creationId xmlns:p14="http://schemas.microsoft.com/office/powerpoint/2010/main" val="1280518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5</a:t>
            </a:fld>
            <a:endParaRPr lang="zh-CN" altLang="en-US"/>
          </a:p>
        </p:txBody>
      </p:sp>
    </p:spTree>
    <p:extLst>
      <p:ext uri="{BB962C8B-B14F-4D97-AF65-F5344CB8AC3E}">
        <p14:creationId xmlns:p14="http://schemas.microsoft.com/office/powerpoint/2010/main" val="1343710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6</a:t>
            </a:fld>
            <a:endParaRPr lang="zh-CN" altLang="en-US"/>
          </a:p>
        </p:txBody>
      </p:sp>
    </p:spTree>
    <p:extLst>
      <p:ext uri="{BB962C8B-B14F-4D97-AF65-F5344CB8AC3E}">
        <p14:creationId xmlns:p14="http://schemas.microsoft.com/office/powerpoint/2010/main" val="3445028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7</a:t>
            </a:fld>
            <a:endParaRPr lang="zh-CN" altLang="en-US"/>
          </a:p>
        </p:txBody>
      </p:sp>
    </p:spTree>
    <p:extLst>
      <p:ext uri="{BB962C8B-B14F-4D97-AF65-F5344CB8AC3E}">
        <p14:creationId xmlns:p14="http://schemas.microsoft.com/office/powerpoint/2010/main" val="76756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8</a:t>
            </a:fld>
            <a:endParaRPr lang="zh-CN" altLang="en-US"/>
          </a:p>
        </p:txBody>
      </p:sp>
    </p:spTree>
    <p:extLst>
      <p:ext uri="{BB962C8B-B14F-4D97-AF65-F5344CB8AC3E}">
        <p14:creationId xmlns:p14="http://schemas.microsoft.com/office/powerpoint/2010/main" val="3375600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9</a:t>
            </a:fld>
            <a:endParaRPr lang="zh-CN" altLang="en-US"/>
          </a:p>
        </p:txBody>
      </p:sp>
    </p:spTree>
    <p:extLst>
      <p:ext uri="{BB962C8B-B14F-4D97-AF65-F5344CB8AC3E}">
        <p14:creationId xmlns:p14="http://schemas.microsoft.com/office/powerpoint/2010/main" val="2205798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10</a:t>
            </a:fld>
            <a:endParaRPr lang="zh-CN" altLang="en-US"/>
          </a:p>
        </p:txBody>
      </p:sp>
    </p:spTree>
    <p:extLst>
      <p:ext uri="{BB962C8B-B14F-4D97-AF65-F5344CB8AC3E}">
        <p14:creationId xmlns:p14="http://schemas.microsoft.com/office/powerpoint/2010/main" val="1310286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11</a:t>
            </a:fld>
            <a:endParaRPr lang="zh-CN" altLang="en-US"/>
          </a:p>
        </p:txBody>
      </p:sp>
    </p:spTree>
    <p:extLst>
      <p:ext uri="{BB962C8B-B14F-4D97-AF65-F5344CB8AC3E}">
        <p14:creationId xmlns:p14="http://schemas.microsoft.com/office/powerpoint/2010/main" val="2264714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12</a:t>
            </a:fld>
            <a:endParaRPr lang="zh-CN" altLang="en-US"/>
          </a:p>
        </p:txBody>
      </p:sp>
    </p:spTree>
    <p:extLst>
      <p:ext uri="{BB962C8B-B14F-4D97-AF65-F5344CB8AC3E}">
        <p14:creationId xmlns:p14="http://schemas.microsoft.com/office/powerpoint/2010/main" val="2947656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13</a:t>
            </a:fld>
            <a:endParaRPr lang="zh-CN" altLang="en-US"/>
          </a:p>
        </p:txBody>
      </p:sp>
    </p:spTree>
    <p:extLst>
      <p:ext uri="{BB962C8B-B14F-4D97-AF65-F5344CB8AC3E}">
        <p14:creationId xmlns:p14="http://schemas.microsoft.com/office/powerpoint/2010/main" val="3854349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14</a:t>
            </a:fld>
            <a:endParaRPr lang="zh-CN" altLang="en-US"/>
          </a:p>
        </p:txBody>
      </p:sp>
    </p:spTree>
    <p:extLst>
      <p:ext uri="{BB962C8B-B14F-4D97-AF65-F5344CB8AC3E}">
        <p14:creationId xmlns:p14="http://schemas.microsoft.com/office/powerpoint/2010/main" val="1829438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15</a:t>
            </a:fld>
            <a:endParaRPr lang="zh-CN" altLang="en-US"/>
          </a:p>
        </p:txBody>
      </p:sp>
    </p:spTree>
    <p:extLst>
      <p:ext uri="{BB962C8B-B14F-4D97-AF65-F5344CB8AC3E}">
        <p14:creationId xmlns:p14="http://schemas.microsoft.com/office/powerpoint/2010/main" val="1704107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16</a:t>
            </a:fld>
            <a:endParaRPr lang="zh-CN" altLang="en-US"/>
          </a:p>
        </p:txBody>
      </p:sp>
    </p:spTree>
    <p:extLst>
      <p:ext uri="{BB962C8B-B14F-4D97-AF65-F5344CB8AC3E}">
        <p14:creationId xmlns:p14="http://schemas.microsoft.com/office/powerpoint/2010/main" val="17547987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17</a:t>
            </a:fld>
            <a:endParaRPr lang="zh-CN" altLang="en-US"/>
          </a:p>
        </p:txBody>
      </p:sp>
    </p:spTree>
    <p:extLst>
      <p:ext uri="{BB962C8B-B14F-4D97-AF65-F5344CB8AC3E}">
        <p14:creationId xmlns:p14="http://schemas.microsoft.com/office/powerpoint/2010/main" val="172138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7CFC9F-4B06-4ABB-A28A-559A77B7DC59}" type="slidenum">
              <a:rPr lang="zh-CN" altLang="en-US" smtClean="0"/>
              <a:t>‹#›</a:t>
            </a:fld>
            <a:endParaRPr lang="zh-CN" altLang="en-US"/>
          </a:p>
        </p:txBody>
      </p:sp>
      <p:sp>
        <p:nvSpPr>
          <p:cNvPr id="5" name="矩形 4"/>
          <p:cNvSpPr/>
          <p:nvPr userDrawn="1"/>
        </p:nvSpPr>
        <p:spPr>
          <a:xfrm>
            <a:off x="253" y="196280"/>
            <a:ext cx="14404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6" name="文本框 37"/>
          <p:cNvSpPr txBox="1"/>
          <p:nvPr userDrawn="1"/>
        </p:nvSpPr>
        <p:spPr>
          <a:xfrm>
            <a:off x="216310" y="196280"/>
            <a:ext cx="2190351" cy="315475"/>
          </a:xfrm>
          <a:prstGeom prst="rect">
            <a:avLst/>
          </a:prstGeom>
          <a:noFill/>
        </p:spPr>
        <p:txBody>
          <a:bodyPr wrap="none" lIns="68584" tIns="34292" rIns="68584" bIns="34292" rtlCol="0">
            <a:spAutoFit/>
          </a:bodyPr>
          <a:lstStyle/>
          <a:p>
            <a:pPr defTabSz="685800"/>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7" name="文本框 38"/>
          <p:cNvSpPr txBox="1"/>
          <p:nvPr userDrawn="1"/>
        </p:nvSpPr>
        <p:spPr>
          <a:xfrm>
            <a:off x="265271" y="520316"/>
            <a:ext cx="2039271" cy="207753"/>
          </a:xfrm>
          <a:prstGeom prst="rect">
            <a:avLst/>
          </a:prstGeom>
          <a:noFill/>
        </p:spPr>
        <p:txBody>
          <a:bodyPr wrap="square" lIns="68584" tIns="34292" rIns="68584" bIns="34292" rtlCol="0">
            <a:spAutoFit/>
          </a:bodyPr>
          <a:lstStyle/>
          <a:p>
            <a:pPr algn="dist" defTabSz="685800"/>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单击图标添加20</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929"/>
            <a:ext cx="7886700" cy="994479"/>
          </a:xfrm>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C9ABEBE-EF13-4983-B182-046B37A0370C}" type="datetime1">
              <a:rPr lang="zh-CN" altLang="en-US"/>
              <a:t>2020/3/31</a:t>
            </a:fld>
            <a:endParaRPr lang="zh-CN" altLang="en-US" sz="1400" dirty="0">
              <a:solidFill>
                <a:prstClr val="black"/>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fld id="{98145E6F-D1B7-49E0-9AB3-789D9698C190}" type="slidenum">
              <a:rPr lang="zh-CN" altLang="en-US"/>
              <a:t>‹#›</a:t>
            </a:fld>
            <a:endParaRPr lang="zh-CN" altLang="en-US" sz="1400" dirty="0">
              <a:solidFill>
                <a:prstClr val="black"/>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t>31/03/2020</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75B0A747-1217-4325-A876-522190C71555}" type="datetimeFigureOut">
              <a:rPr lang="zh-CN" altLang="en-US" smtClean="0"/>
              <a:t>2020/3/31</a:t>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BC7CFC9F-4B06-4ABB-A28A-559A77B7DC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7" name="矩形 259"/>
          <p:cNvSpPr>
            <a:spLocks noChangeArrowheads="1"/>
          </p:cNvSpPr>
          <p:nvPr/>
        </p:nvSpPr>
        <p:spPr bwMode="auto">
          <a:xfrm>
            <a:off x="6750050" y="2957195"/>
            <a:ext cx="1868170" cy="37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类</a:t>
            </a:r>
            <a:r>
              <a:rPr 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C</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描述</a:t>
            </a:r>
          </a:p>
        </p:txBody>
      </p:sp>
      <p:sp>
        <p:nvSpPr>
          <p:cNvPr id="8" name="矩形 259"/>
          <p:cNvSpPr>
            <a:spLocks noChangeArrowheads="1"/>
          </p:cNvSpPr>
          <p:nvPr/>
        </p:nvSpPr>
        <p:spPr bwMode="auto">
          <a:xfrm>
            <a:off x="3472815" y="2324735"/>
            <a:ext cx="566928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数据结构 </a:t>
            </a:r>
            <a:r>
              <a:rPr lang="en-US" altLang="zh-CN"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DATA STRUCTURE</a:t>
            </a: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2599"/>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30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7"/>
                                        </p:tgtEl>
                                        <p:attrNameLst>
                                          <p:attrName>ppt_y</p:attrName>
                                        </p:attrNameLst>
                                      </p:cBhvr>
                                      <p:tavLst>
                                        <p:tav tm="0">
                                          <p:val>
                                            <p:strVal val="#ppt_y"/>
                                          </p:val>
                                        </p:tav>
                                        <p:tav tm="100000">
                                          <p:val>
                                            <p:strVal val="#ppt_y"/>
                                          </p:val>
                                        </p:tav>
                                      </p:tavLst>
                                    </p:anim>
                                    <p:anim calcmode="lin" valueType="num">
                                      <p:cBhvr>
                                        <p:cTn id="3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7"/>
                                        </p:tgtEl>
                                      </p:cBhvr>
                                    </p:animEffect>
                                  </p:childTnLst>
                                </p:cTn>
                              </p:par>
                            </p:childTnLst>
                          </p:cTn>
                        </p:par>
                        <p:par>
                          <p:cTn id="35" fill="hold">
                            <p:stCondLst>
                              <p:cond delay="3850"/>
                            </p:stCondLst>
                            <p:childTnLst>
                              <p:par>
                                <p:cTn id="36" presetID="26" presetClass="emph" presetSubtype="0" fill="hold" grpId="1" nodeType="afterEffect">
                                  <p:stCondLst>
                                    <p:cond delay="0"/>
                                  </p:stCondLst>
                                  <p:iterate type="lt">
                                    <p:tmPct val="0"/>
                                  </p:iterate>
                                  <p:childTnLst>
                                    <p:animEffect transition="out" filter="fade">
                                      <p:cBhvr>
                                        <p:cTn id="37" dur="500" tmFilter="0, 0; .2, .5; .8, .5; 1, 0"/>
                                        <p:tgtEl>
                                          <p:spTgt spid="7"/>
                                        </p:tgtEl>
                                      </p:cBhvr>
                                    </p:animEffect>
                                    <p:animScale>
                                      <p:cBhvr>
                                        <p:cTn id="38" dur="250" autoRev="1" fill="hold"/>
                                        <p:tgtEl>
                                          <p:spTgt spid="7"/>
                                        </p:tgtEl>
                                      </p:cBhvr>
                                      <p:by x="105000" y="105000"/>
                                    </p:animScale>
                                  </p:childTnLst>
                                </p:cTn>
                              </p:par>
                            </p:childTnLst>
                          </p:cTn>
                        </p:par>
                        <p:par>
                          <p:cTn id="39" fill="hold">
                            <p:stCondLst>
                              <p:cond delay="435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485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876264"/>
            <a:ext cx="7277822" cy="923330"/>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当</a:t>
            </a:r>
            <a:r>
              <a:rPr lang="zh-CN" altLang="en-US" dirty="0">
                <a:latin typeface="百度综艺简体" panose="02010601030101010101" charset="-122"/>
                <a:ea typeface="百度综艺简体" panose="02010601030101010101" charset="-122"/>
              </a:rPr>
              <a:t>我们将一个算法转换成程序并在计算机上执行时，其运行所需要的时间取决于下列因素：</a:t>
            </a:r>
            <a:endParaRPr lang="zh-CN" altLang="en-US" dirty="0">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52" name="Text Placeholder 11"/>
          <p:cNvSpPr txBox="1"/>
          <p:nvPr/>
        </p:nvSpPr>
        <p:spPr>
          <a:xfrm>
            <a:off x="951230" y="1817158"/>
            <a:ext cx="362077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en-US" altLang="zh-CN" sz="1800" dirty="0" smtClean="0">
                <a:solidFill>
                  <a:schemeClr val="accent1"/>
                </a:solidFill>
                <a:latin typeface="百度综艺简体" panose="02010601030101010101" charset="-122"/>
                <a:ea typeface="百度综艺简体" panose="02010601030101010101" charset="-122"/>
                <a:sym typeface="Arial" panose="020B0604020202020204" pitchFamily="34" charset="0"/>
              </a:rPr>
              <a:t>1.   </a:t>
            </a:r>
            <a:r>
              <a:rPr lang="zh-CN" altLang="en-US" sz="1800" dirty="0" smtClean="0">
                <a:solidFill>
                  <a:schemeClr val="accent1"/>
                </a:solidFill>
                <a:latin typeface="百度综艺简体" panose="02010601030101010101" charset="-122"/>
                <a:ea typeface="百度综艺简体" panose="02010601030101010101" charset="-122"/>
                <a:sym typeface="Arial" panose="020B0604020202020204" pitchFamily="34" charset="0"/>
              </a:rPr>
              <a:t>硬件的速度</a:t>
            </a:r>
            <a:endParaRPr lang="zh-CN" sz="18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53" name="TextBox 5"/>
          <p:cNvSpPr txBox="1">
            <a:spLocks noChangeArrowheads="1"/>
          </p:cNvSpPr>
          <p:nvPr/>
        </p:nvSpPr>
        <p:spPr bwMode="auto">
          <a:xfrm>
            <a:off x="1623674" y="2194889"/>
            <a:ext cx="4778375"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例如使用</a:t>
            </a:r>
            <a:r>
              <a:rPr lang="en-US" altLang="zh-CN" sz="1600" dirty="0">
                <a:latin typeface="百度综艺简体" panose="02010601030101010101" charset="-122"/>
                <a:ea typeface="百度综艺简体" panose="02010601030101010101" charset="-122"/>
              </a:rPr>
              <a:t>486</a:t>
            </a:r>
            <a:r>
              <a:rPr lang="zh-CN" altLang="en-US" sz="1600" dirty="0">
                <a:latin typeface="百度综艺简体" panose="02010601030101010101" charset="-122"/>
                <a:ea typeface="百度综艺简体" panose="02010601030101010101" charset="-122"/>
              </a:rPr>
              <a:t>机还是使用</a:t>
            </a:r>
            <a:r>
              <a:rPr lang="en-US" altLang="zh-CN" sz="1600" dirty="0">
                <a:latin typeface="百度综艺简体" panose="02010601030101010101" charset="-122"/>
                <a:ea typeface="百度综艺简体" panose="02010601030101010101" charset="-122"/>
              </a:rPr>
              <a:t>586</a:t>
            </a:r>
            <a:r>
              <a:rPr lang="zh-CN" altLang="en-US" sz="1600" dirty="0">
                <a:latin typeface="百度综艺简体" panose="02010601030101010101" charset="-122"/>
                <a:ea typeface="百度综艺简体" panose="02010601030101010101" charset="-122"/>
              </a:rPr>
              <a:t>机。</a:t>
            </a:r>
            <a:endParaRPr lang="en-US" altLang="zh-CN" sz="1600" dirty="0">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TextBox 5"/>
          <p:cNvSpPr txBox="1">
            <a:spLocks noChangeArrowheads="1"/>
          </p:cNvSpPr>
          <p:nvPr/>
        </p:nvSpPr>
        <p:spPr bwMode="auto">
          <a:xfrm>
            <a:off x="1623674" y="2942607"/>
            <a:ext cx="4778375"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实现语言的级别越高，其执行效率就越</a:t>
            </a:r>
            <a:r>
              <a:rPr lang="zh-CN" altLang="en-US" sz="1600" dirty="0" smtClean="0">
                <a:latin typeface="百度综艺简体" panose="02010601030101010101" charset="-122"/>
                <a:ea typeface="百度综艺简体" panose="02010601030101010101" charset="-122"/>
              </a:rPr>
              <a:t>低。</a:t>
            </a:r>
            <a:endParaRPr lang="en-US" altLang="zh-CN" sz="1600" dirty="0">
              <a:latin typeface="百度综艺简体" panose="02010601030101010101" charset="-122"/>
              <a:ea typeface="百度综艺简体" panose="02010601030101010101" charset="-122"/>
            </a:endParaRPr>
          </a:p>
        </p:txBody>
      </p:sp>
      <p:sp>
        <p:nvSpPr>
          <p:cNvPr id="18" name="TextBox 5"/>
          <p:cNvSpPr txBox="1">
            <a:spLocks noChangeArrowheads="1"/>
          </p:cNvSpPr>
          <p:nvPr/>
        </p:nvSpPr>
        <p:spPr bwMode="auto">
          <a:xfrm>
            <a:off x="1623675" y="3690029"/>
            <a:ext cx="6857962"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对于代码优化较好的编译程序其所生成的程序质量较高。</a:t>
            </a:r>
            <a:endParaRPr lang="en-US" altLang="zh-CN" sz="1600" dirty="0">
              <a:latin typeface="百度综艺简体" panose="02010601030101010101" charset="-122"/>
              <a:ea typeface="百度综艺简体" panose="02010601030101010101" charset="-122"/>
            </a:endParaRPr>
          </a:p>
        </p:txBody>
      </p:sp>
      <p:sp>
        <p:nvSpPr>
          <p:cNvPr id="23" name="TextBox 5"/>
          <p:cNvSpPr txBox="1">
            <a:spLocks noChangeArrowheads="1"/>
          </p:cNvSpPr>
          <p:nvPr/>
        </p:nvSpPr>
        <p:spPr bwMode="auto">
          <a:xfrm>
            <a:off x="1623674" y="4440016"/>
            <a:ext cx="6857963"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例如，求</a:t>
            </a:r>
            <a:r>
              <a:rPr lang="en-US" altLang="zh-CN" sz="1600" dirty="0">
                <a:latin typeface="百度综艺简体" panose="02010601030101010101" charset="-122"/>
                <a:ea typeface="百度综艺简体" panose="02010601030101010101" charset="-122"/>
              </a:rPr>
              <a:t>100</a:t>
            </a:r>
            <a:r>
              <a:rPr lang="zh-CN" altLang="en-US" sz="1600" dirty="0">
                <a:latin typeface="百度综艺简体" panose="02010601030101010101" charset="-122"/>
                <a:ea typeface="百度综艺简体" panose="02010601030101010101" charset="-122"/>
              </a:rPr>
              <a:t>以内的素数与求</a:t>
            </a:r>
            <a:r>
              <a:rPr lang="en-US" altLang="zh-CN" sz="1600" dirty="0">
                <a:latin typeface="百度综艺简体" panose="02010601030101010101" charset="-122"/>
                <a:ea typeface="百度综艺简体" panose="02010601030101010101" charset="-122"/>
              </a:rPr>
              <a:t>1000</a:t>
            </a:r>
            <a:r>
              <a:rPr lang="zh-CN" altLang="en-US" sz="1600" dirty="0">
                <a:latin typeface="百度综艺简体" panose="02010601030101010101" charset="-122"/>
                <a:ea typeface="百度综艺简体" panose="02010601030101010101" charset="-122"/>
              </a:rPr>
              <a:t>以内的素数其执行时间必然是不同的。</a:t>
            </a:r>
            <a:endParaRPr lang="en-US" altLang="zh-CN" sz="1600" dirty="0">
              <a:latin typeface="百度综艺简体" panose="02010601030101010101" charset="-122"/>
              <a:ea typeface="百度综艺简体" panose="02010601030101010101" charset="-122"/>
            </a:endParaRPr>
          </a:p>
        </p:txBody>
      </p:sp>
      <p:sp>
        <p:nvSpPr>
          <p:cNvPr id="20" name="Text Placeholder 11"/>
          <p:cNvSpPr txBox="1"/>
          <p:nvPr/>
        </p:nvSpPr>
        <p:spPr>
          <a:xfrm>
            <a:off x="951230" y="2561326"/>
            <a:ext cx="362077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en-US" altLang="zh-CN" sz="1800" dirty="0" smtClean="0">
                <a:solidFill>
                  <a:schemeClr val="accent1"/>
                </a:solidFill>
                <a:latin typeface="百度综艺简体" panose="02010601030101010101" charset="-122"/>
                <a:ea typeface="百度综艺简体" panose="02010601030101010101" charset="-122"/>
              </a:rPr>
              <a:t>2.   </a:t>
            </a:r>
            <a:r>
              <a:rPr lang="zh-CN" altLang="en-US" sz="1800" dirty="0" smtClean="0">
                <a:solidFill>
                  <a:schemeClr val="accent1"/>
                </a:solidFill>
                <a:latin typeface="百度综艺简体" panose="02010601030101010101" charset="-122"/>
                <a:ea typeface="百度综艺简体" panose="02010601030101010101" charset="-122"/>
              </a:rPr>
              <a:t>书写</a:t>
            </a:r>
            <a:r>
              <a:rPr lang="zh-CN" altLang="en-US" sz="1800" dirty="0">
                <a:solidFill>
                  <a:schemeClr val="accent1"/>
                </a:solidFill>
                <a:latin typeface="百度综艺简体" panose="02010601030101010101" charset="-122"/>
                <a:ea typeface="百度综艺简体" panose="02010601030101010101" charset="-122"/>
              </a:rPr>
              <a:t>程序的语言</a:t>
            </a:r>
            <a:endParaRPr lang="zh-CN" sz="18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24" name="Text Placeholder 11"/>
          <p:cNvSpPr txBox="1"/>
          <p:nvPr/>
        </p:nvSpPr>
        <p:spPr>
          <a:xfrm>
            <a:off x="951230" y="3307465"/>
            <a:ext cx="4022552"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en-US" altLang="zh-CN" sz="1800" dirty="0" smtClean="0">
                <a:solidFill>
                  <a:schemeClr val="accent1"/>
                </a:solidFill>
                <a:latin typeface="百度综艺简体" panose="02010601030101010101" charset="-122"/>
                <a:ea typeface="百度综艺简体" panose="02010601030101010101" charset="-122"/>
              </a:rPr>
              <a:t>3.    </a:t>
            </a:r>
            <a:r>
              <a:rPr lang="zh-CN" altLang="en-US" sz="1800" dirty="0" smtClean="0">
                <a:solidFill>
                  <a:schemeClr val="accent1"/>
                </a:solidFill>
                <a:latin typeface="百度综艺简体" panose="02010601030101010101" charset="-122"/>
                <a:ea typeface="百度综艺简体" panose="02010601030101010101" charset="-122"/>
              </a:rPr>
              <a:t>编译程序</a:t>
            </a:r>
            <a:r>
              <a:rPr lang="zh-CN" altLang="en-US" sz="1800" dirty="0">
                <a:solidFill>
                  <a:schemeClr val="accent1"/>
                </a:solidFill>
                <a:latin typeface="百度综艺简体" panose="02010601030101010101" charset="-122"/>
                <a:ea typeface="百度综艺简体" panose="02010601030101010101" charset="-122"/>
              </a:rPr>
              <a:t>所生成目标代码的质量</a:t>
            </a:r>
            <a:endParaRPr lang="zh-CN" sz="18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29" name="Text Placeholder 11"/>
          <p:cNvSpPr txBox="1"/>
          <p:nvPr/>
        </p:nvSpPr>
        <p:spPr>
          <a:xfrm>
            <a:off x="933089" y="4057452"/>
            <a:ext cx="362077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en-US" altLang="zh-CN" sz="1800" dirty="0" smtClean="0">
                <a:solidFill>
                  <a:schemeClr val="accent1"/>
                </a:solidFill>
                <a:latin typeface="百度综艺简体" panose="02010601030101010101" charset="-122"/>
                <a:ea typeface="百度综艺简体" panose="02010601030101010101" charset="-122"/>
              </a:rPr>
              <a:t>4.     </a:t>
            </a:r>
            <a:r>
              <a:rPr lang="zh-CN" altLang="en-US" sz="1800" dirty="0" smtClean="0">
                <a:solidFill>
                  <a:schemeClr val="accent1"/>
                </a:solidFill>
                <a:latin typeface="百度综艺简体" panose="02010601030101010101" charset="-122"/>
                <a:ea typeface="百度综艺简体" panose="02010601030101010101" charset="-122"/>
              </a:rPr>
              <a:t>问题的规模</a:t>
            </a:r>
            <a:endParaRPr lang="zh-CN" sz="18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1000"/>
                                        <p:tgtEl>
                                          <p:spTgt spid="52"/>
                                        </p:tgtEl>
                                      </p:cBhvr>
                                    </p:animEffect>
                                    <p:anim calcmode="lin" valueType="num">
                                      <p:cBhvr>
                                        <p:cTn id="52" dur="1000" fill="hold"/>
                                        <p:tgtEl>
                                          <p:spTgt spid="52"/>
                                        </p:tgtEl>
                                        <p:attrNameLst>
                                          <p:attrName>ppt_x</p:attrName>
                                        </p:attrNameLst>
                                      </p:cBhvr>
                                      <p:tavLst>
                                        <p:tav tm="0">
                                          <p:val>
                                            <p:strVal val="#ppt_x"/>
                                          </p:val>
                                        </p:tav>
                                        <p:tav tm="100000">
                                          <p:val>
                                            <p:strVal val="#ppt_x"/>
                                          </p:val>
                                        </p:tav>
                                      </p:tavLst>
                                    </p:anim>
                                    <p:anim calcmode="lin" valueType="num">
                                      <p:cBhvr>
                                        <p:cTn id="5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1" presetClass="entr" presetSubtype="0" fill="hold" grpId="0" nodeType="clickEffect">
                                  <p:stCondLst>
                                    <p:cond delay="0"/>
                                  </p:stCondLst>
                                  <p:iterate type="lt">
                                    <p:tmPct val="10000"/>
                                  </p:iterate>
                                  <p:childTnLst>
                                    <p:set>
                                      <p:cBhvr>
                                        <p:cTn id="57" dur="1" fill="hold">
                                          <p:stCondLst>
                                            <p:cond delay="0"/>
                                          </p:stCondLst>
                                        </p:cTn>
                                        <p:tgtEl>
                                          <p:spTgt spid="53"/>
                                        </p:tgtEl>
                                        <p:attrNameLst>
                                          <p:attrName>style.visibility</p:attrName>
                                        </p:attrNameLst>
                                      </p:cBhvr>
                                      <p:to>
                                        <p:strVal val="visible"/>
                                      </p:to>
                                    </p:set>
                                    <p:anim calcmode="lin" valueType="num">
                                      <p:cBhvr>
                                        <p:cTn id="58"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53"/>
                                        </p:tgtEl>
                                        <p:attrNameLst>
                                          <p:attrName>ppt_y</p:attrName>
                                        </p:attrNameLst>
                                      </p:cBhvr>
                                      <p:tavLst>
                                        <p:tav tm="0">
                                          <p:val>
                                            <p:strVal val="#ppt_y"/>
                                          </p:val>
                                        </p:tav>
                                        <p:tav tm="100000">
                                          <p:val>
                                            <p:strVal val="#ppt_y"/>
                                          </p:val>
                                        </p:tav>
                                      </p:tavLst>
                                    </p:anim>
                                    <p:anim calcmode="lin" valueType="num">
                                      <p:cBhvr>
                                        <p:cTn id="60"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53"/>
                                        </p:tgtEl>
                                      </p:cBhvr>
                                    </p:animEffect>
                                  </p:childTnLst>
                                </p:cTn>
                              </p:par>
                            </p:childTnLst>
                          </p:cTn>
                        </p:par>
                      </p:childTnLst>
                    </p:cTn>
                  </p:par>
                  <p:par>
                    <p:cTn id="63" fill="hold">
                      <p:stCondLst>
                        <p:cond delay="indefinite"/>
                      </p:stCondLst>
                      <p:childTnLst>
                        <p:par>
                          <p:cTn id="64" fill="hold">
                            <p:stCondLst>
                              <p:cond delay="0"/>
                            </p:stCondLst>
                            <p:childTnLst>
                              <p:par>
                                <p:cTn id="65" presetID="41" presetClass="entr" presetSubtype="0" fill="hold" grpId="0" nodeType="clickEffect">
                                  <p:stCondLst>
                                    <p:cond delay="0"/>
                                  </p:stCondLst>
                                  <p:iterate type="lt">
                                    <p:tmPct val="10000"/>
                                  </p:iterate>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17"/>
                                        </p:tgtEl>
                                        <p:attrNameLst>
                                          <p:attrName>ppt_y</p:attrName>
                                        </p:attrNameLst>
                                      </p:cBhvr>
                                      <p:tavLst>
                                        <p:tav tm="0">
                                          <p:val>
                                            <p:strVal val="#ppt_y"/>
                                          </p:val>
                                        </p:tav>
                                        <p:tav tm="100000">
                                          <p:val>
                                            <p:strVal val="#ppt_y"/>
                                          </p:val>
                                        </p:tav>
                                      </p:tavLst>
                                    </p:anim>
                                    <p:anim calcmode="lin" valueType="num">
                                      <p:cBhvr>
                                        <p:cTn id="6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41" presetClass="entr" presetSubtype="0" fill="hold" grpId="0" nodeType="clickEffect">
                                  <p:stCondLst>
                                    <p:cond delay="0"/>
                                  </p:stCondLst>
                                  <p:iterate type="lt">
                                    <p:tmPct val="10000"/>
                                  </p:iterate>
                                  <p:childTnLst>
                                    <p:set>
                                      <p:cBhvr>
                                        <p:cTn id="75" dur="1" fill="hold">
                                          <p:stCondLst>
                                            <p:cond delay="0"/>
                                          </p:stCondLst>
                                        </p:cTn>
                                        <p:tgtEl>
                                          <p:spTgt spid="18"/>
                                        </p:tgtEl>
                                        <p:attrNameLst>
                                          <p:attrName>style.visibility</p:attrName>
                                        </p:attrNameLst>
                                      </p:cBhvr>
                                      <p:to>
                                        <p:strVal val="visible"/>
                                      </p:to>
                                    </p:set>
                                    <p:anim calcmode="lin" valueType="num">
                                      <p:cBhvr>
                                        <p:cTn id="7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7" dur="500" fill="hold"/>
                                        <p:tgtEl>
                                          <p:spTgt spid="18"/>
                                        </p:tgtEl>
                                        <p:attrNameLst>
                                          <p:attrName>ppt_y</p:attrName>
                                        </p:attrNameLst>
                                      </p:cBhvr>
                                      <p:tavLst>
                                        <p:tav tm="0">
                                          <p:val>
                                            <p:strVal val="#ppt_y"/>
                                          </p:val>
                                        </p:tav>
                                        <p:tav tm="100000">
                                          <p:val>
                                            <p:strVal val="#ppt_y"/>
                                          </p:val>
                                        </p:tav>
                                      </p:tavLst>
                                    </p:anim>
                                    <p:anim calcmode="lin" valueType="num">
                                      <p:cBhvr>
                                        <p:cTn id="7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80" dur="500" tmFilter="0,0; .5, 1; 1, 1"/>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41" presetClass="entr" presetSubtype="0" fill="hold" grpId="0" nodeType="clickEffect">
                                  <p:stCondLst>
                                    <p:cond delay="0"/>
                                  </p:stCondLst>
                                  <p:iterate type="lt">
                                    <p:tmPct val="10000"/>
                                  </p:iterate>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86" dur="500" fill="hold"/>
                                        <p:tgtEl>
                                          <p:spTgt spid="23"/>
                                        </p:tgtEl>
                                        <p:attrNameLst>
                                          <p:attrName>ppt_y</p:attrName>
                                        </p:attrNameLst>
                                      </p:cBhvr>
                                      <p:tavLst>
                                        <p:tav tm="0">
                                          <p:val>
                                            <p:strVal val="#ppt_y"/>
                                          </p:val>
                                        </p:tav>
                                        <p:tav tm="100000">
                                          <p:val>
                                            <p:strVal val="#ppt_y"/>
                                          </p:val>
                                        </p:tav>
                                      </p:tavLst>
                                    </p:anim>
                                    <p:anim calcmode="lin" valueType="num">
                                      <p:cBhvr>
                                        <p:cTn id="87"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88"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89" dur="500" tmFilter="0,0; .5, 1; 1, 1"/>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anim calcmode="lin" valueType="num">
                                      <p:cBhvr>
                                        <p:cTn id="95" dur="1000" fill="hold"/>
                                        <p:tgtEl>
                                          <p:spTgt spid="20"/>
                                        </p:tgtEl>
                                        <p:attrNameLst>
                                          <p:attrName>ppt_x</p:attrName>
                                        </p:attrNameLst>
                                      </p:cBhvr>
                                      <p:tavLst>
                                        <p:tav tm="0">
                                          <p:val>
                                            <p:strVal val="#ppt_x"/>
                                          </p:val>
                                        </p:tav>
                                        <p:tav tm="100000">
                                          <p:val>
                                            <p:strVal val="#ppt_x"/>
                                          </p:val>
                                        </p:tav>
                                      </p:tavLst>
                                    </p:anim>
                                    <p:anim calcmode="lin" valueType="num">
                                      <p:cBhvr>
                                        <p:cTn id="9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1000"/>
                                        <p:tgtEl>
                                          <p:spTgt spid="24"/>
                                        </p:tgtEl>
                                      </p:cBhvr>
                                    </p:animEffect>
                                    <p:anim calcmode="lin" valueType="num">
                                      <p:cBhvr>
                                        <p:cTn id="102" dur="1000" fill="hold"/>
                                        <p:tgtEl>
                                          <p:spTgt spid="24"/>
                                        </p:tgtEl>
                                        <p:attrNameLst>
                                          <p:attrName>ppt_x</p:attrName>
                                        </p:attrNameLst>
                                      </p:cBhvr>
                                      <p:tavLst>
                                        <p:tav tm="0">
                                          <p:val>
                                            <p:strVal val="#ppt_x"/>
                                          </p:val>
                                        </p:tav>
                                        <p:tav tm="100000">
                                          <p:val>
                                            <p:strVal val="#ppt_x"/>
                                          </p:val>
                                        </p:tav>
                                      </p:tavLst>
                                    </p:anim>
                                    <p:anim calcmode="lin" valueType="num">
                                      <p:cBhvr>
                                        <p:cTn id="10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fade">
                                      <p:cBhvr>
                                        <p:cTn id="108" dur="1000"/>
                                        <p:tgtEl>
                                          <p:spTgt spid="29"/>
                                        </p:tgtEl>
                                      </p:cBhvr>
                                    </p:animEffect>
                                    <p:anim calcmode="lin" valueType="num">
                                      <p:cBhvr>
                                        <p:cTn id="109" dur="1000" fill="hold"/>
                                        <p:tgtEl>
                                          <p:spTgt spid="29"/>
                                        </p:tgtEl>
                                        <p:attrNameLst>
                                          <p:attrName>ppt_x</p:attrName>
                                        </p:attrNameLst>
                                      </p:cBhvr>
                                      <p:tavLst>
                                        <p:tav tm="0">
                                          <p:val>
                                            <p:strVal val="#ppt_x"/>
                                          </p:val>
                                        </p:tav>
                                        <p:tav tm="100000">
                                          <p:val>
                                            <p:strVal val="#ppt_x"/>
                                          </p:val>
                                        </p:tav>
                                      </p:tavLst>
                                    </p:anim>
                                    <p:anim calcmode="lin" valueType="num">
                                      <p:cBhvr>
                                        <p:cTn id="11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52" grpId="0"/>
      <p:bldP spid="53" grpId="0" autoUpdateAnimBg="0"/>
      <p:bldP spid="17" grpId="0" autoUpdateAnimBg="0"/>
      <p:bldP spid="18" grpId="0" autoUpdateAnimBg="0"/>
      <p:bldP spid="23" grpId="0" autoUpdateAnimBg="0"/>
      <p:bldP spid="20" grpId="0"/>
      <p:bldP spid="24"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2763138" y="1208089"/>
            <a:ext cx="7277822" cy="369332"/>
          </a:xfrm>
          <a:prstGeom prst="rect">
            <a:avLst/>
          </a:prstGeom>
          <a:noFill/>
          <a:ln w="9525">
            <a:noFill/>
            <a:miter lim="800000"/>
          </a:ln>
        </p:spPr>
        <p:txBody>
          <a:bodyPr wrap="square">
            <a:spAutoFit/>
          </a:bodyPr>
          <a:lstStyle/>
          <a:p>
            <a:r>
              <a:rPr lang="zh-CN" altLang="en-US" dirty="0">
                <a:latin typeface="百度综艺简体" panose="02010601030101010101" charset="-122"/>
                <a:ea typeface="百度综艺简体" panose="02010601030101010101" charset="-122"/>
              </a:rPr>
              <a:t>通常有两种衡量算法效率的方法</a:t>
            </a: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52" name="Text Placeholder 11"/>
          <p:cNvSpPr txBox="1"/>
          <p:nvPr/>
        </p:nvSpPr>
        <p:spPr>
          <a:xfrm>
            <a:off x="804891" y="801692"/>
            <a:ext cx="335840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算法效率的衡量方法和准则</a:t>
            </a:r>
            <a:endParaRPr lang="zh-CN"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TextBox 5"/>
          <p:cNvSpPr txBox="1">
            <a:spLocks noChangeArrowheads="1"/>
          </p:cNvSpPr>
          <p:nvPr/>
        </p:nvSpPr>
        <p:spPr bwMode="auto">
          <a:xfrm>
            <a:off x="1623674" y="2111467"/>
            <a:ext cx="2214035"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缺点</a:t>
            </a:r>
            <a:r>
              <a:rPr lang="zh-CN" altLang="en-US" sz="1600" dirty="0" smtClean="0">
                <a:latin typeface="百度综艺简体" panose="02010601030101010101" charset="-122"/>
                <a:ea typeface="百度综艺简体" panose="02010601030101010101" charset="-122"/>
              </a:rPr>
              <a:t>：</a:t>
            </a:r>
            <a:r>
              <a:rPr lang="en-US" altLang="zh-CN" sz="1600" dirty="0" smtClean="0">
                <a:latin typeface="百度综艺简体" panose="02010601030101010101" charset="-122"/>
                <a:ea typeface="百度综艺简体" panose="02010601030101010101" charset="-122"/>
              </a:rPr>
              <a:t>1.</a:t>
            </a:r>
            <a:r>
              <a:rPr lang="zh-CN" altLang="en-US" sz="1600" dirty="0" smtClean="0">
                <a:latin typeface="百度综艺简体" panose="02010601030101010101" charset="-122"/>
                <a:ea typeface="百度综艺简体" panose="02010601030101010101" charset="-122"/>
              </a:rPr>
              <a:t>必须</a:t>
            </a:r>
            <a:r>
              <a:rPr lang="zh-CN" altLang="en-US" sz="1600" dirty="0">
                <a:latin typeface="百度综艺简体" panose="02010601030101010101" charset="-122"/>
                <a:ea typeface="百度综艺简体" panose="02010601030101010101" charset="-122"/>
              </a:rPr>
              <a:t>执行程序</a:t>
            </a:r>
            <a:endParaRPr lang="en-US" altLang="zh-CN" sz="1600" dirty="0">
              <a:latin typeface="百度综艺简体" panose="02010601030101010101" charset="-122"/>
              <a:ea typeface="百度综艺简体" panose="02010601030101010101" charset="-122"/>
            </a:endParaRPr>
          </a:p>
        </p:txBody>
      </p:sp>
      <p:sp>
        <p:nvSpPr>
          <p:cNvPr id="18" name="TextBox 5"/>
          <p:cNvSpPr txBox="1">
            <a:spLocks noChangeArrowheads="1"/>
          </p:cNvSpPr>
          <p:nvPr/>
        </p:nvSpPr>
        <p:spPr bwMode="auto">
          <a:xfrm>
            <a:off x="1623674" y="3284297"/>
            <a:ext cx="3484266" cy="338554"/>
          </a:xfrm>
          <a:prstGeom prst="rect">
            <a:avLst/>
          </a:prstGeom>
          <a:noFill/>
          <a:ln w="9525">
            <a:noFill/>
            <a:miter lim="800000"/>
          </a:ln>
        </p:spPr>
        <p:txBody>
          <a:bodyPr wrap="square">
            <a:spAutoFit/>
          </a:bodyPr>
          <a:lstStyle/>
          <a:p>
            <a:r>
              <a:rPr lang="en-US" altLang="zh-CN" sz="1600" dirty="0">
                <a:latin typeface="百度综艺简体" panose="02010601030101010101" charset="-122"/>
                <a:ea typeface="百度综艺简体" panose="02010601030101010101" charset="-122"/>
              </a:rPr>
              <a:t>1</a:t>
            </a:r>
            <a:r>
              <a:rPr lang="zh-CN" altLang="en-US" sz="1600" dirty="0">
                <a:latin typeface="百度综艺简体" panose="02010601030101010101" charset="-122"/>
                <a:ea typeface="百度综艺简体" panose="02010601030101010101" charset="-122"/>
              </a:rPr>
              <a:t>．算法选用的策略</a:t>
            </a:r>
            <a:endParaRPr lang="en-US" altLang="zh-CN" sz="1600" dirty="0">
              <a:latin typeface="百度综艺简体" panose="02010601030101010101" charset="-122"/>
              <a:ea typeface="百度综艺简体" panose="02010601030101010101" charset="-122"/>
            </a:endParaRPr>
          </a:p>
        </p:txBody>
      </p:sp>
      <p:sp>
        <p:nvSpPr>
          <p:cNvPr id="20" name="Text Placeholder 11"/>
          <p:cNvSpPr txBox="1"/>
          <p:nvPr/>
        </p:nvSpPr>
        <p:spPr>
          <a:xfrm>
            <a:off x="804891" y="1661132"/>
            <a:ext cx="362077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事后统计法</a:t>
            </a:r>
            <a:endParaRPr lang="zh-CN"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28" name="TextBox 5"/>
          <p:cNvSpPr txBox="1">
            <a:spLocks noChangeArrowheads="1"/>
          </p:cNvSpPr>
          <p:nvPr/>
        </p:nvSpPr>
        <p:spPr bwMode="auto">
          <a:xfrm>
            <a:off x="2096844" y="2438264"/>
            <a:ext cx="3606417" cy="338554"/>
          </a:xfrm>
          <a:prstGeom prst="rect">
            <a:avLst/>
          </a:prstGeom>
          <a:noFill/>
          <a:ln w="9525">
            <a:noFill/>
            <a:miter lim="800000"/>
          </a:ln>
        </p:spPr>
        <p:txBody>
          <a:bodyPr wrap="square">
            <a:spAutoFit/>
          </a:bodyPr>
          <a:lstStyle/>
          <a:p>
            <a:r>
              <a:rPr lang="en-US" altLang="zh-CN" sz="1600" dirty="0" smtClean="0">
                <a:latin typeface="百度综艺简体" panose="02010601030101010101" charset="-122"/>
                <a:ea typeface="百度综艺简体" panose="02010601030101010101" charset="-122"/>
              </a:rPr>
              <a:t>   2.</a:t>
            </a:r>
            <a:r>
              <a:rPr lang="zh-CN" altLang="en-US" sz="1600" dirty="0" smtClean="0">
                <a:latin typeface="百度综艺简体" panose="02010601030101010101" charset="-122"/>
                <a:ea typeface="百度综艺简体" panose="02010601030101010101" charset="-122"/>
              </a:rPr>
              <a:t>其它</a:t>
            </a:r>
            <a:r>
              <a:rPr lang="zh-CN" altLang="en-US" sz="1600" dirty="0">
                <a:latin typeface="百度综艺简体" panose="02010601030101010101" charset="-122"/>
                <a:ea typeface="百度综艺简体" panose="02010601030101010101" charset="-122"/>
              </a:rPr>
              <a:t>因素掩盖算法本质</a:t>
            </a:r>
            <a:endParaRPr lang="en-US" altLang="zh-CN" sz="1600" dirty="0">
              <a:latin typeface="百度综艺简体" panose="02010601030101010101" charset="-122"/>
              <a:ea typeface="百度综艺简体" panose="02010601030101010101" charset="-122"/>
            </a:endParaRPr>
          </a:p>
        </p:txBody>
      </p:sp>
      <p:sp>
        <p:nvSpPr>
          <p:cNvPr id="30" name="Text Placeholder 11"/>
          <p:cNvSpPr txBox="1"/>
          <p:nvPr/>
        </p:nvSpPr>
        <p:spPr>
          <a:xfrm>
            <a:off x="828620" y="2834556"/>
            <a:ext cx="587698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事前分析估算</a:t>
            </a:r>
            <a:r>
              <a:rPr lang="zh-CN" altLang="en-US" sz="2000" dirty="0" smtClean="0">
                <a:solidFill>
                  <a:schemeClr val="accent1"/>
                </a:solidFill>
                <a:latin typeface="百度综艺简体" panose="02010601030101010101" charset="-122"/>
                <a:ea typeface="百度综艺简体" panose="02010601030101010101" charset="-122"/>
              </a:rPr>
              <a:t>法和</a:t>
            </a:r>
            <a:r>
              <a:rPr lang="zh-CN" altLang="en-US" sz="2000" dirty="0">
                <a:solidFill>
                  <a:schemeClr val="accent1"/>
                </a:solidFill>
                <a:latin typeface="百度综艺简体" panose="02010601030101010101" charset="-122"/>
                <a:ea typeface="百度综艺简体" panose="02010601030101010101" charset="-122"/>
              </a:rPr>
              <a:t>算法执行时间相关的因素：</a:t>
            </a:r>
            <a:endParaRPr lang="zh-CN"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32" name="TextBox 5"/>
          <p:cNvSpPr txBox="1">
            <a:spLocks noChangeArrowheads="1"/>
          </p:cNvSpPr>
          <p:nvPr/>
        </p:nvSpPr>
        <p:spPr bwMode="auto">
          <a:xfrm>
            <a:off x="1623674" y="3622851"/>
            <a:ext cx="3484266" cy="338554"/>
          </a:xfrm>
          <a:prstGeom prst="rect">
            <a:avLst/>
          </a:prstGeom>
          <a:noFill/>
          <a:ln w="9525">
            <a:noFill/>
            <a:miter lim="800000"/>
          </a:ln>
        </p:spPr>
        <p:txBody>
          <a:bodyPr wrap="square">
            <a:spAutoFit/>
          </a:bodyPr>
          <a:lstStyle/>
          <a:p>
            <a:r>
              <a:rPr lang="en-US" altLang="zh-CN" sz="1600" dirty="0">
                <a:latin typeface="百度综艺简体" panose="02010601030101010101" charset="-122"/>
                <a:ea typeface="百度综艺简体" panose="02010601030101010101" charset="-122"/>
              </a:rPr>
              <a:t>2</a:t>
            </a:r>
            <a:r>
              <a:rPr lang="zh-CN" altLang="en-US" sz="1600" dirty="0">
                <a:latin typeface="百度综艺简体" panose="02010601030101010101" charset="-122"/>
                <a:ea typeface="百度综艺简体" panose="02010601030101010101" charset="-122"/>
              </a:rPr>
              <a:t>．问题的规模</a:t>
            </a:r>
            <a:endParaRPr lang="en-US" altLang="zh-CN" sz="1600" dirty="0">
              <a:latin typeface="百度综艺简体" panose="02010601030101010101" charset="-122"/>
              <a:ea typeface="百度综艺简体" panose="02010601030101010101" charset="-122"/>
            </a:endParaRPr>
          </a:p>
        </p:txBody>
      </p:sp>
      <p:sp>
        <p:nvSpPr>
          <p:cNvPr id="33" name="TextBox 5"/>
          <p:cNvSpPr txBox="1">
            <a:spLocks noChangeArrowheads="1"/>
          </p:cNvSpPr>
          <p:nvPr/>
        </p:nvSpPr>
        <p:spPr bwMode="auto">
          <a:xfrm>
            <a:off x="1623674" y="3958006"/>
            <a:ext cx="3484266" cy="338554"/>
          </a:xfrm>
          <a:prstGeom prst="rect">
            <a:avLst/>
          </a:prstGeom>
          <a:noFill/>
          <a:ln w="9525">
            <a:noFill/>
            <a:miter lim="800000"/>
          </a:ln>
        </p:spPr>
        <p:txBody>
          <a:bodyPr wrap="square">
            <a:spAutoFit/>
          </a:bodyPr>
          <a:lstStyle/>
          <a:p>
            <a:r>
              <a:rPr lang="en-US" altLang="zh-CN" sz="1600" dirty="0">
                <a:latin typeface="百度综艺简体" panose="02010601030101010101" charset="-122"/>
                <a:ea typeface="百度综艺简体" panose="02010601030101010101" charset="-122"/>
              </a:rPr>
              <a:t>3</a:t>
            </a:r>
            <a:r>
              <a:rPr lang="zh-CN" altLang="en-US" sz="1600" dirty="0">
                <a:latin typeface="百度综艺简体" panose="02010601030101010101" charset="-122"/>
                <a:ea typeface="百度综艺简体" panose="02010601030101010101" charset="-122"/>
              </a:rPr>
              <a:t>．编写程序的语言</a:t>
            </a:r>
            <a:endParaRPr lang="en-US" altLang="zh-CN" sz="1600" dirty="0">
              <a:latin typeface="百度综艺简体" panose="02010601030101010101" charset="-122"/>
              <a:ea typeface="百度综艺简体" panose="02010601030101010101" charset="-122"/>
            </a:endParaRPr>
          </a:p>
        </p:txBody>
      </p:sp>
      <p:sp>
        <p:nvSpPr>
          <p:cNvPr id="34" name="TextBox 5"/>
          <p:cNvSpPr txBox="1">
            <a:spLocks noChangeArrowheads="1"/>
          </p:cNvSpPr>
          <p:nvPr/>
        </p:nvSpPr>
        <p:spPr bwMode="auto">
          <a:xfrm>
            <a:off x="1623674" y="4296560"/>
            <a:ext cx="3484266" cy="338554"/>
          </a:xfrm>
          <a:prstGeom prst="rect">
            <a:avLst/>
          </a:prstGeom>
          <a:noFill/>
          <a:ln w="9525">
            <a:noFill/>
            <a:miter lim="800000"/>
          </a:ln>
        </p:spPr>
        <p:txBody>
          <a:bodyPr wrap="square">
            <a:spAutoFit/>
          </a:bodyPr>
          <a:lstStyle/>
          <a:p>
            <a:r>
              <a:rPr lang="en-US" altLang="zh-CN" sz="1600" dirty="0">
                <a:latin typeface="百度综艺简体" panose="02010601030101010101" charset="-122"/>
                <a:ea typeface="百度综艺简体" panose="02010601030101010101" charset="-122"/>
              </a:rPr>
              <a:t>4</a:t>
            </a:r>
            <a:r>
              <a:rPr lang="zh-CN" altLang="en-US" sz="1600" dirty="0">
                <a:latin typeface="百度综艺简体" panose="02010601030101010101" charset="-122"/>
                <a:ea typeface="百度综艺简体" panose="02010601030101010101" charset="-122"/>
              </a:rPr>
              <a:t>．编译程序产生的机器代码的质量</a:t>
            </a:r>
            <a:endParaRPr lang="en-US" altLang="zh-CN" sz="1600" dirty="0">
              <a:latin typeface="百度综艺简体" panose="02010601030101010101" charset="-122"/>
              <a:ea typeface="百度综艺简体" panose="02010601030101010101" charset="-122"/>
            </a:endParaRPr>
          </a:p>
        </p:txBody>
      </p:sp>
      <p:sp>
        <p:nvSpPr>
          <p:cNvPr id="35" name="TextBox 5"/>
          <p:cNvSpPr txBox="1">
            <a:spLocks noChangeArrowheads="1"/>
          </p:cNvSpPr>
          <p:nvPr/>
        </p:nvSpPr>
        <p:spPr bwMode="auto">
          <a:xfrm>
            <a:off x="1623674" y="4640406"/>
            <a:ext cx="3484266" cy="338554"/>
          </a:xfrm>
          <a:prstGeom prst="rect">
            <a:avLst/>
          </a:prstGeom>
          <a:noFill/>
          <a:ln w="9525">
            <a:noFill/>
            <a:miter lim="800000"/>
          </a:ln>
        </p:spPr>
        <p:txBody>
          <a:bodyPr wrap="square">
            <a:spAutoFit/>
          </a:bodyPr>
          <a:lstStyle/>
          <a:p>
            <a:r>
              <a:rPr lang="en-US" altLang="zh-CN" sz="1600" dirty="0">
                <a:latin typeface="百度综艺简体" panose="02010601030101010101" charset="-122"/>
                <a:ea typeface="百度综艺简体" panose="02010601030101010101" charset="-122"/>
              </a:rPr>
              <a:t>5</a:t>
            </a:r>
            <a:r>
              <a:rPr lang="zh-CN" altLang="en-US" sz="1600" dirty="0">
                <a:latin typeface="百度综艺简体" panose="02010601030101010101" charset="-122"/>
                <a:ea typeface="百度综艺简体" panose="02010601030101010101" charset="-122"/>
              </a:rPr>
              <a:t>．计算机执行指令的速度</a:t>
            </a:r>
            <a:endParaRPr lang="en-US" altLang="zh-CN" sz="1600"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1000"/>
                                        <p:tgtEl>
                                          <p:spTgt spid="52"/>
                                        </p:tgtEl>
                                      </p:cBhvr>
                                    </p:animEffect>
                                    <p:anim calcmode="lin" valueType="num">
                                      <p:cBhvr>
                                        <p:cTn id="52" dur="1000" fill="hold"/>
                                        <p:tgtEl>
                                          <p:spTgt spid="52"/>
                                        </p:tgtEl>
                                        <p:attrNameLst>
                                          <p:attrName>ppt_x</p:attrName>
                                        </p:attrNameLst>
                                      </p:cBhvr>
                                      <p:tavLst>
                                        <p:tav tm="0">
                                          <p:val>
                                            <p:strVal val="#ppt_x"/>
                                          </p:val>
                                        </p:tav>
                                        <p:tav tm="100000">
                                          <p:val>
                                            <p:strVal val="#ppt_x"/>
                                          </p:val>
                                        </p:tav>
                                      </p:tavLst>
                                    </p:anim>
                                    <p:anim calcmode="lin" valueType="num">
                                      <p:cBhvr>
                                        <p:cTn id="5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1" presetClass="entr" presetSubtype="0" fill="hold" grpId="0" nodeType="clickEffect">
                                  <p:stCondLst>
                                    <p:cond delay="0"/>
                                  </p:stCondLst>
                                  <p:iterate type="lt">
                                    <p:tmPct val="10000"/>
                                  </p:iterate>
                                  <p:childTnLst>
                                    <p:set>
                                      <p:cBhvr>
                                        <p:cTn id="57" dur="1" fill="hold">
                                          <p:stCondLst>
                                            <p:cond delay="0"/>
                                          </p:stCondLst>
                                        </p:cTn>
                                        <p:tgtEl>
                                          <p:spTgt spid="17"/>
                                        </p:tgtEl>
                                        <p:attrNameLst>
                                          <p:attrName>style.visibility</p:attrName>
                                        </p:attrNameLst>
                                      </p:cBhvr>
                                      <p:to>
                                        <p:strVal val="visible"/>
                                      </p:to>
                                    </p:set>
                                    <p:anim calcmode="lin" valueType="num">
                                      <p:cBhvr>
                                        <p:cTn id="58"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17"/>
                                        </p:tgtEl>
                                        <p:attrNameLst>
                                          <p:attrName>ppt_y</p:attrName>
                                        </p:attrNameLst>
                                      </p:cBhvr>
                                      <p:tavLst>
                                        <p:tav tm="0">
                                          <p:val>
                                            <p:strVal val="#ppt_y"/>
                                          </p:val>
                                        </p:tav>
                                        <p:tav tm="100000">
                                          <p:val>
                                            <p:strVal val="#ppt_y"/>
                                          </p:val>
                                        </p:tav>
                                      </p:tavLst>
                                    </p:anim>
                                    <p:anim calcmode="lin" valueType="num">
                                      <p:cBhvr>
                                        <p:cTn id="60"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41" presetClass="entr" presetSubtype="0" fill="hold" grpId="0" nodeType="clickEffect">
                                  <p:stCondLst>
                                    <p:cond delay="0"/>
                                  </p:stCondLst>
                                  <p:iterate type="lt">
                                    <p:tmPct val="10000"/>
                                  </p:iterate>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18"/>
                                        </p:tgtEl>
                                        <p:attrNameLst>
                                          <p:attrName>ppt_y</p:attrName>
                                        </p:attrNameLst>
                                      </p:cBhvr>
                                      <p:tavLst>
                                        <p:tav tm="0">
                                          <p:val>
                                            <p:strVal val="#ppt_y"/>
                                          </p:val>
                                        </p:tav>
                                        <p:tav tm="100000">
                                          <p:val>
                                            <p:strVal val="#ppt_y"/>
                                          </p:val>
                                        </p:tav>
                                      </p:tavLst>
                                    </p:anim>
                                    <p:anim calcmode="lin" valueType="num">
                                      <p:cBhvr>
                                        <p:cTn id="69"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1000"/>
                                        <p:tgtEl>
                                          <p:spTgt spid="20"/>
                                        </p:tgtEl>
                                      </p:cBhvr>
                                    </p:animEffect>
                                    <p:anim calcmode="lin" valueType="num">
                                      <p:cBhvr>
                                        <p:cTn id="77" dur="1000" fill="hold"/>
                                        <p:tgtEl>
                                          <p:spTgt spid="20"/>
                                        </p:tgtEl>
                                        <p:attrNameLst>
                                          <p:attrName>ppt_x</p:attrName>
                                        </p:attrNameLst>
                                      </p:cBhvr>
                                      <p:tavLst>
                                        <p:tav tm="0">
                                          <p:val>
                                            <p:strVal val="#ppt_x"/>
                                          </p:val>
                                        </p:tav>
                                        <p:tav tm="100000">
                                          <p:val>
                                            <p:strVal val="#ppt_x"/>
                                          </p:val>
                                        </p:tav>
                                      </p:tavLst>
                                    </p:anim>
                                    <p:anim calcmode="lin" valueType="num">
                                      <p:cBhvr>
                                        <p:cTn id="7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1" presetClass="entr" presetSubtype="0" fill="hold" grpId="0" nodeType="clickEffect">
                                  <p:stCondLst>
                                    <p:cond delay="0"/>
                                  </p:stCondLst>
                                  <p:iterate type="lt">
                                    <p:tmPct val="10000"/>
                                  </p:iterate>
                                  <p:childTnLst>
                                    <p:set>
                                      <p:cBhvr>
                                        <p:cTn id="82" dur="1" fill="hold">
                                          <p:stCondLst>
                                            <p:cond delay="0"/>
                                          </p:stCondLst>
                                        </p:cTn>
                                        <p:tgtEl>
                                          <p:spTgt spid="28"/>
                                        </p:tgtEl>
                                        <p:attrNameLst>
                                          <p:attrName>style.visibility</p:attrName>
                                        </p:attrNameLst>
                                      </p:cBhvr>
                                      <p:to>
                                        <p:strVal val="visible"/>
                                      </p:to>
                                    </p:set>
                                    <p:anim calcmode="lin" valueType="num">
                                      <p:cBhvr>
                                        <p:cTn id="83"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84" dur="500" fill="hold"/>
                                        <p:tgtEl>
                                          <p:spTgt spid="28"/>
                                        </p:tgtEl>
                                        <p:attrNameLst>
                                          <p:attrName>ppt_y</p:attrName>
                                        </p:attrNameLst>
                                      </p:cBhvr>
                                      <p:tavLst>
                                        <p:tav tm="0">
                                          <p:val>
                                            <p:strVal val="#ppt_y"/>
                                          </p:val>
                                        </p:tav>
                                        <p:tav tm="100000">
                                          <p:val>
                                            <p:strVal val="#ppt_y"/>
                                          </p:val>
                                        </p:tav>
                                      </p:tavLst>
                                    </p:anim>
                                    <p:anim calcmode="lin" valueType="num">
                                      <p:cBhvr>
                                        <p:cTn id="85"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86"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87" dur="500" tmFilter="0,0; .5, 1; 1, 1"/>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1000"/>
                                        <p:tgtEl>
                                          <p:spTgt spid="30"/>
                                        </p:tgtEl>
                                      </p:cBhvr>
                                    </p:animEffect>
                                    <p:anim calcmode="lin" valueType="num">
                                      <p:cBhvr>
                                        <p:cTn id="93" dur="1000" fill="hold"/>
                                        <p:tgtEl>
                                          <p:spTgt spid="30"/>
                                        </p:tgtEl>
                                        <p:attrNameLst>
                                          <p:attrName>ppt_x</p:attrName>
                                        </p:attrNameLst>
                                      </p:cBhvr>
                                      <p:tavLst>
                                        <p:tav tm="0">
                                          <p:val>
                                            <p:strVal val="#ppt_x"/>
                                          </p:val>
                                        </p:tav>
                                        <p:tav tm="100000">
                                          <p:val>
                                            <p:strVal val="#ppt_x"/>
                                          </p:val>
                                        </p:tav>
                                      </p:tavLst>
                                    </p:anim>
                                    <p:anim calcmode="lin" valueType="num">
                                      <p:cBhvr>
                                        <p:cTn id="9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1" presetClass="entr" presetSubtype="0" fill="hold" grpId="0" nodeType="clickEffect">
                                  <p:stCondLst>
                                    <p:cond delay="0"/>
                                  </p:stCondLst>
                                  <p:iterate type="lt">
                                    <p:tmPct val="10000"/>
                                  </p:iterate>
                                  <p:childTnLst>
                                    <p:set>
                                      <p:cBhvr>
                                        <p:cTn id="98" dur="1" fill="hold">
                                          <p:stCondLst>
                                            <p:cond delay="0"/>
                                          </p:stCondLst>
                                        </p:cTn>
                                        <p:tgtEl>
                                          <p:spTgt spid="32"/>
                                        </p:tgtEl>
                                        <p:attrNameLst>
                                          <p:attrName>style.visibility</p:attrName>
                                        </p:attrNameLst>
                                      </p:cBhvr>
                                      <p:to>
                                        <p:strVal val="visible"/>
                                      </p:to>
                                    </p:set>
                                    <p:anim calcmode="lin" valueType="num">
                                      <p:cBhvr>
                                        <p:cTn id="99"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100" dur="500" fill="hold"/>
                                        <p:tgtEl>
                                          <p:spTgt spid="32"/>
                                        </p:tgtEl>
                                        <p:attrNameLst>
                                          <p:attrName>ppt_y</p:attrName>
                                        </p:attrNameLst>
                                      </p:cBhvr>
                                      <p:tavLst>
                                        <p:tav tm="0">
                                          <p:val>
                                            <p:strVal val="#ppt_y"/>
                                          </p:val>
                                        </p:tav>
                                        <p:tav tm="100000">
                                          <p:val>
                                            <p:strVal val="#ppt_y"/>
                                          </p:val>
                                        </p:tav>
                                      </p:tavLst>
                                    </p:anim>
                                    <p:anim calcmode="lin" valueType="num">
                                      <p:cBhvr>
                                        <p:cTn id="101"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2"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03" dur="500" tmFilter="0,0; .5, 1; 1, 1"/>
                                        <p:tgtEl>
                                          <p:spTgt spid="32"/>
                                        </p:tgtEl>
                                      </p:cBhvr>
                                    </p:animEffect>
                                  </p:childTnLst>
                                </p:cTn>
                              </p:par>
                            </p:childTnLst>
                          </p:cTn>
                        </p:par>
                      </p:childTnLst>
                    </p:cTn>
                  </p:par>
                  <p:par>
                    <p:cTn id="104" fill="hold">
                      <p:stCondLst>
                        <p:cond delay="indefinite"/>
                      </p:stCondLst>
                      <p:childTnLst>
                        <p:par>
                          <p:cTn id="105" fill="hold">
                            <p:stCondLst>
                              <p:cond delay="0"/>
                            </p:stCondLst>
                            <p:childTnLst>
                              <p:par>
                                <p:cTn id="106" presetID="41" presetClass="entr" presetSubtype="0" fill="hold" grpId="0" nodeType="clickEffect">
                                  <p:stCondLst>
                                    <p:cond delay="0"/>
                                  </p:stCondLst>
                                  <p:iterate type="lt">
                                    <p:tmPct val="10000"/>
                                  </p:iterate>
                                  <p:childTnLst>
                                    <p:set>
                                      <p:cBhvr>
                                        <p:cTn id="107" dur="1" fill="hold">
                                          <p:stCondLst>
                                            <p:cond delay="0"/>
                                          </p:stCondLst>
                                        </p:cTn>
                                        <p:tgtEl>
                                          <p:spTgt spid="33"/>
                                        </p:tgtEl>
                                        <p:attrNameLst>
                                          <p:attrName>style.visibility</p:attrName>
                                        </p:attrNameLst>
                                      </p:cBhvr>
                                      <p:to>
                                        <p:strVal val="visible"/>
                                      </p:to>
                                    </p:set>
                                    <p:anim calcmode="lin" valueType="num">
                                      <p:cBhvr>
                                        <p:cTn id="108"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109" dur="500" fill="hold"/>
                                        <p:tgtEl>
                                          <p:spTgt spid="33"/>
                                        </p:tgtEl>
                                        <p:attrNameLst>
                                          <p:attrName>ppt_y</p:attrName>
                                        </p:attrNameLst>
                                      </p:cBhvr>
                                      <p:tavLst>
                                        <p:tav tm="0">
                                          <p:val>
                                            <p:strVal val="#ppt_y"/>
                                          </p:val>
                                        </p:tav>
                                        <p:tav tm="100000">
                                          <p:val>
                                            <p:strVal val="#ppt_y"/>
                                          </p:val>
                                        </p:tav>
                                      </p:tavLst>
                                    </p:anim>
                                    <p:anim calcmode="lin" valueType="num">
                                      <p:cBhvr>
                                        <p:cTn id="110"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11"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2" dur="500" tmFilter="0,0; .5, 1; 1, 1"/>
                                        <p:tgtEl>
                                          <p:spTgt spid="33"/>
                                        </p:tgtEl>
                                      </p:cBhvr>
                                    </p:animEffect>
                                  </p:childTnLst>
                                </p:cTn>
                              </p:par>
                            </p:childTnLst>
                          </p:cTn>
                        </p:par>
                      </p:childTnLst>
                    </p:cTn>
                  </p:par>
                  <p:par>
                    <p:cTn id="113" fill="hold">
                      <p:stCondLst>
                        <p:cond delay="indefinite"/>
                      </p:stCondLst>
                      <p:childTnLst>
                        <p:par>
                          <p:cTn id="114" fill="hold">
                            <p:stCondLst>
                              <p:cond delay="0"/>
                            </p:stCondLst>
                            <p:childTnLst>
                              <p:par>
                                <p:cTn id="115" presetID="41" presetClass="entr" presetSubtype="0" fill="hold" grpId="0" nodeType="clickEffect">
                                  <p:stCondLst>
                                    <p:cond delay="0"/>
                                  </p:stCondLst>
                                  <p:iterate type="lt">
                                    <p:tmPct val="10000"/>
                                  </p:iterate>
                                  <p:childTnLst>
                                    <p:set>
                                      <p:cBhvr>
                                        <p:cTn id="116" dur="1" fill="hold">
                                          <p:stCondLst>
                                            <p:cond delay="0"/>
                                          </p:stCondLst>
                                        </p:cTn>
                                        <p:tgtEl>
                                          <p:spTgt spid="34"/>
                                        </p:tgtEl>
                                        <p:attrNameLst>
                                          <p:attrName>style.visibility</p:attrName>
                                        </p:attrNameLst>
                                      </p:cBhvr>
                                      <p:to>
                                        <p:strVal val="visible"/>
                                      </p:to>
                                    </p:set>
                                    <p:anim calcmode="lin" valueType="num">
                                      <p:cBhvr>
                                        <p:cTn id="11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118" dur="500" fill="hold"/>
                                        <p:tgtEl>
                                          <p:spTgt spid="34"/>
                                        </p:tgtEl>
                                        <p:attrNameLst>
                                          <p:attrName>ppt_y</p:attrName>
                                        </p:attrNameLst>
                                      </p:cBhvr>
                                      <p:tavLst>
                                        <p:tav tm="0">
                                          <p:val>
                                            <p:strVal val="#ppt_y"/>
                                          </p:val>
                                        </p:tav>
                                        <p:tav tm="100000">
                                          <p:val>
                                            <p:strVal val="#ppt_y"/>
                                          </p:val>
                                        </p:tav>
                                      </p:tavLst>
                                    </p:anim>
                                    <p:anim calcmode="lin" valueType="num">
                                      <p:cBhvr>
                                        <p:cTn id="11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2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21" dur="500" tmFilter="0,0; .5, 1; 1, 1"/>
                                        <p:tgtEl>
                                          <p:spTgt spid="34"/>
                                        </p:tgtEl>
                                      </p:cBhvr>
                                    </p:animEffect>
                                  </p:childTnLst>
                                </p:cTn>
                              </p:par>
                            </p:childTnLst>
                          </p:cTn>
                        </p:par>
                      </p:childTnLst>
                    </p:cTn>
                  </p:par>
                  <p:par>
                    <p:cTn id="122" fill="hold">
                      <p:stCondLst>
                        <p:cond delay="indefinite"/>
                      </p:stCondLst>
                      <p:childTnLst>
                        <p:par>
                          <p:cTn id="123" fill="hold">
                            <p:stCondLst>
                              <p:cond delay="0"/>
                            </p:stCondLst>
                            <p:childTnLst>
                              <p:par>
                                <p:cTn id="124" presetID="41" presetClass="entr" presetSubtype="0" fill="hold" grpId="0" nodeType="clickEffect">
                                  <p:stCondLst>
                                    <p:cond delay="0"/>
                                  </p:stCondLst>
                                  <p:iterate type="lt">
                                    <p:tmPct val="10000"/>
                                  </p:iterate>
                                  <p:childTnLst>
                                    <p:set>
                                      <p:cBhvr>
                                        <p:cTn id="125" dur="1" fill="hold">
                                          <p:stCondLst>
                                            <p:cond delay="0"/>
                                          </p:stCondLst>
                                        </p:cTn>
                                        <p:tgtEl>
                                          <p:spTgt spid="35"/>
                                        </p:tgtEl>
                                        <p:attrNameLst>
                                          <p:attrName>style.visibility</p:attrName>
                                        </p:attrNameLst>
                                      </p:cBhvr>
                                      <p:to>
                                        <p:strVal val="visible"/>
                                      </p:to>
                                    </p:set>
                                    <p:anim calcmode="lin" valueType="num">
                                      <p:cBhvr>
                                        <p:cTn id="12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7" dur="500" fill="hold"/>
                                        <p:tgtEl>
                                          <p:spTgt spid="35"/>
                                        </p:tgtEl>
                                        <p:attrNameLst>
                                          <p:attrName>ppt_y</p:attrName>
                                        </p:attrNameLst>
                                      </p:cBhvr>
                                      <p:tavLst>
                                        <p:tav tm="0">
                                          <p:val>
                                            <p:strVal val="#ppt_y"/>
                                          </p:val>
                                        </p:tav>
                                        <p:tav tm="100000">
                                          <p:val>
                                            <p:strVal val="#ppt_y"/>
                                          </p:val>
                                        </p:tav>
                                      </p:tavLst>
                                    </p:anim>
                                    <p:anim calcmode="lin" valueType="num">
                                      <p:cBhvr>
                                        <p:cTn id="12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2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30"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52" grpId="0"/>
      <p:bldP spid="17" grpId="0" autoUpdateAnimBg="0"/>
      <p:bldP spid="18" grpId="0" autoUpdateAnimBg="0"/>
      <p:bldP spid="20" grpId="0"/>
      <p:bldP spid="28" grpId="0" autoUpdateAnimBg="0"/>
      <p:bldP spid="30" grpId="0"/>
      <p:bldP spid="32" grpId="0" autoUpdateAnimBg="0"/>
      <p:bldP spid="33" grpId="0" autoUpdateAnimBg="0"/>
      <p:bldP spid="34" grpId="0" autoUpdateAnimBg="0"/>
      <p:bldP spid="3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81580" y="1356183"/>
            <a:ext cx="7277822" cy="787973"/>
          </a:xfrm>
          <a:prstGeom prst="rect">
            <a:avLst/>
          </a:prstGeom>
          <a:noFill/>
          <a:ln w="9525">
            <a:noFill/>
            <a:miter lim="800000"/>
          </a:ln>
        </p:spPr>
        <p:txBody>
          <a:bodyPr wrap="square">
            <a:spAutoFit/>
          </a:bodyPr>
          <a:lstStyle/>
          <a:p>
            <a:pPr indent="552450">
              <a:lnSpc>
                <a:spcPct val="150000"/>
              </a:lnSpc>
            </a:pPr>
            <a:r>
              <a:rPr lang="zh-CN" altLang="en-US" sz="1600" dirty="0">
                <a:latin typeface="百度综艺简体" panose="02010601030101010101" charset="-122"/>
                <a:ea typeface="百度综艺简体" panose="02010601030101010101" charset="-122"/>
              </a:rPr>
              <a:t>算法的执行时间等于它所有基本操作执行时间之和，  而一条基本操作的执行时间等于它执行的次数和每一次执行的时间的</a:t>
            </a:r>
            <a:r>
              <a:rPr lang="zh-CN" altLang="en-US" sz="1600" dirty="0" smtClean="0">
                <a:latin typeface="百度综艺简体" panose="02010601030101010101" charset="-122"/>
                <a:ea typeface="百度综艺简体" panose="02010601030101010101" charset="-122"/>
              </a:rPr>
              <a:t>积。</a:t>
            </a:r>
            <a:endParaRPr lang="zh-CN" altLang="en-US" sz="1600"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TextBox 5"/>
          <p:cNvSpPr txBox="1">
            <a:spLocks noChangeArrowheads="1"/>
          </p:cNvSpPr>
          <p:nvPr/>
        </p:nvSpPr>
        <p:spPr bwMode="auto">
          <a:xfrm>
            <a:off x="1554402" y="2768798"/>
            <a:ext cx="2601962"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算法的执行时间  ＝</a:t>
            </a:r>
            <a:endParaRPr lang="en-US" altLang="zh-CN" sz="1600" dirty="0">
              <a:latin typeface="百度综艺简体" panose="02010601030101010101" charset="-122"/>
              <a:ea typeface="百度综艺简体" panose="02010601030101010101" charset="-122"/>
            </a:endParaRPr>
          </a:p>
        </p:txBody>
      </p:sp>
      <p:sp>
        <p:nvSpPr>
          <p:cNvPr id="28" name="TextBox 5"/>
          <p:cNvSpPr txBox="1">
            <a:spLocks noChangeArrowheads="1"/>
          </p:cNvSpPr>
          <p:nvPr/>
        </p:nvSpPr>
        <p:spPr bwMode="auto">
          <a:xfrm>
            <a:off x="3414298" y="2774090"/>
            <a:ext cx="3606417"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操作</a:t>
            </a:r>
            <a:r>
              <a:rPr lang="en-US" altLang="zh-CN" sz="1600" dirty="0">
                <a:latin typeface="百度综艺简体" panose="02010601030101010101" charset="-122"/>
                <a:ea typeface="百度综艺简体" panose="02010601030101010101" charset="-122"/>
              </a:rPr>
              <a:t>1  </a:t>
            </a:r>
            <a:r>
              <a:rPr lang="zh-CN" altLang="en-US" sz="1600" dirty="0">
                <a:latin typeface="百度综艺简体" panose="02010601030101010101" charset="-122"/>
                <a:ea typeface="百度综艺简体" panose="02010601030101010101" charset="-122"/>
              </a:rPr>
              <a:t>＋  操作</a:t>
            </a:r>
            <a:r>
              <a:rPr lang="en-US" altLang="zh-CN" sz="1600" dirty="0">
                <a:latin typeface="百度综艺简体" panose="02010601030101010101" charset="-122"/>
                <a:ea typeface="百度综艺简体" panose="02010601030101010101" charset="-122"/>
              </a:rPr>
              <a:t>2  </a:t>
            </a:r>
            <a:r>
              <a:rPr lang="zh-CN" altLang="en-US" sz="1600" dirty="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 </a:t>
            </a:r>
            <a:r>
              <a:rPr lang="zh-CN" altLang="en-US" sz="1600" dirty="0">
                <a:latin typeface="百度综艺简体" panose="02010601030101010101" charset="-122"/>
                <a:ea typeface="百度综艺简体" panose="02010601030101010101" charset="-122"/>
              </a:rPr>
              <a:t>操作</a:t>
            </a:r>
            <a:r>
              <a:rPr lang="en-US" altLang="zh-CN" sz="1600" dirty="0">
                <a:latin typeface="百度综艺简体" panose="02010601030101010101" charset="-122"/>
                <a:ea typeface="百度综艺简体" panose="02010601030101010101" charset="-122"/>
              </a:rPr>
              <a:t>n</a:t>
            </a:r>
          </a:p>
        </p:txBody>
      </p:sp>
      <p:sp>
        <p:nvSpPr>
          <p:cNvPr id="34" name="TextBox 5"/>
          <p:cNvSpPr txBox="1">
            <a:spLocks noChangeArrowheads="1"/>
          </p:cNvSpPr>
          <p:nvPr/>
        </p:nvSpPr>
        <p:spPr bwMode="auto">
          <a:xfrm>
            <a:off x="3348565" y="3382792"/>
            <a:ext cx="3484266" cy="338554"/>
          </a:xfrm>
          <a:prstGeom prst="rect">
            <a:avLst/>
          </a:prstGeom>
          <a:noFill/>
          <a:ln w="9525">
            <a:noFill/>
            <a:miter lim="800000"/>
          </a:ln>
        </p:spPr>
        <p:txBody>
          <a:bodyPr wrap="square">
            <a:spAutoFit/>
          </a:bodyPr>
          <a:lstStyle/>
          <a:p>
            <a:r>
              <a:rPr lang="zh-CN" altLang="en-US" sz="1600" dirty="0">
                <a:latin typeface="百度综艺简体" panose="02010601030101010101" charset="-122"/>
                <a:ea typeface="百度综艺简体" panose="02010601030101010101" charset="-122"/>
              </a:rPr>
              <a:t>操作执行次数  </a:t>
            </a:r>
            <a:r>
              <a:rPr lang="en-US" altLang="zh-CN" sz="1600" dirty="0">
                <a:latin typeface="百度综艺简体" panose="02010601030101010101" charset="-122"/>
                <a:ea typeface="百度综艺简体" panose="02010601030101010101" charset="-122"/>
              </a:rPr>
              <a:t>×  </a:t>
            </a:r>
            <a:r>
              <a:rPr lang="zh-CN" altLang="en-US" sz="1600" b="1" dirty="0">
                <a:latin typeface="百度综艺简体" panose="02010601030101010101" charset="-122"/>
                <a:ea typeface="百度综艺简体" panose="02010601030101010101" charset="-122"/>
              </a:rPr>
              <a:t>执行一次的时间</a:t>
            </a:r>
            <a:endParaRPr lang="en-US" altLang="zh-CN" sz="1600" b="1" dirty="0">
              <a:latin typeface="百度综艺简体" panose="02010601030101010101" charset="-122"/>
              <a:ea typeface="百度综艺简体" panose="02010601030101010101" charset="-122"/>
            </a:endParaRPr>
          </a:p>
        </p:txBody>
      </p:sp>
      <p:sp>
        <p:nvSpPr>
          <p:cNvPr id="23" name="TextBox 5"/>
          <p:cNvSpPr txBox="1">
            <a:spLocks noChangeArrowheads="1"/>
          </p:cNvSpPr>
          <p:nvPr/>
        </p:nvSpPr>
        <p:spPr bwMode="auto">
          <a:xfrm>
            <a:off x="1554402" y="3377500"/>
            <a:ext cx="2601962" cy="338554"/>
          </a:xfrm>
          <a:prstGeom prst="rect">
            <a:avLst/>
          </a:prstGeom>
          <a:noFill/>
          <a:ln w="9525">
            <a:noFill/>
            <a:miter lim="800000"/>
          </a:ln>
        </p:spPr>
        <p:txBody>
          <a:bodyPr wrap="square">
            <a:spAutoFit/>
          </a:bodyPr>
          <a:lstStyle/>
          <a:p>
            <a:r>
              <a:rPr lang="zh-CN" altLang="en-US" sz="1600" dirty="0" smtClean="0">
                <a:latin typeface="百度综艺简体" panose="02010601030101010101" charset="-122"/>
                <a:ea typeface="百度综艺简体" panose="02010601030101010101" charset="-122"/>
              </a:rPr>
              <a:t>操作的</a:t>
            </a:r>
            <a:r>
              <a:rPr lang="zh-CN" altLang="en-US" sz="1600" dirty="0">
                <a:latin typeface="百度综艺简体" panose="02010601030101010101" charset="-122"/>
                <a:ea typeface="百度综艺简体" panose="02010601030101010101" charset="-122"/>
              </a:rPr>
              <a:t>执行时间  ＝</a:t>
            </a:r>
            <a:endParaRPr lang="en-US" altLang="zh-CN" sz="1600"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1" presetClass="entr" presetSubtype="0" fill="hold" grpId="0" nodeType="clickEffect">
                                  <p:stCondLst>
                                    <p:cond delay="0"/>
                                  </p:stCondLst>
                                  <p:iterate type="lt">
                                    <p:tmPct val="10000"/>
                                  </p:iterate>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17"/>
                                        </p:tgtEl>
                                        <p:attrNameLst>
                                          <p:attrName>ppt_y</p:attrName>
                                        </p:attrNameLst>
                                      </p:cBhvr>
                                      <p:tavLst>
                                        <p:tav tm="0">
                                          <p:val>
                                            <p:strVal val="#ppt_y"/>
                                          </p:val>
                                        </p:tav>
                                        <p:tav tm="100000">
                                          <p:val>
                                            <p:strVal val="#ppt_y"/>
                                          </p:val>
                                        </p:tav>
                                      </p:tavLst>
                                    </p:anim>
                                    <p:anim calcmode="lin" valueType="num">
                                      <p:cBhvr>
                                        <p:cTn id="53"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41" presetClass="entr" presetSubtype="0" fill="hold" grpId="0" nodeType="clickEffect">
                                  <p:stCondLst>
                                    <p:cond delay="0"/>
                                  </p:stCondLst>
                                  <p:iterate type="lt">
                                    <p:tmPct val="10000"/>
                                  </p:iterate>
                                  <p:childTnLst>
                                    <p:set>
                                      <p:cBhvr>
                                        <p:cTn id="59" dur="1" fill="hold">
                                          <p:stCondLst>
                                            <p:cond delay="0"/>
                                          </p:stCondLst>
                                        </p:cTn>
                                        <p:tgtEl>
                                          <p:spTgt spid="28"/>
                                        </p:tgtEl>
                                        <p:attrNameLst>
                                          <p:attrName>style.visibility</p:attrName>
                                        </p:attrNameLst>
                                      </p:cBhvr>
                                      <p:to>
                                        <p:strVal val="visible"/>
                                      </p:to>
                                    </p:set>
                                    <p:anim calcmode="lin" valueType="num">
                                      <p:cBhvr>
                                        <p:cTn id="60"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28"/>
                                        </p:tgtEl>
                                        <p:attrNameLst>
                                          <p:attrName>ppt_y</p:attrName>
                                        </p:attrNameLst>
                                      </p:cBhvr>
                                      <p:tavLst>
                                        <p:tav tm="0">
                                          <p:val>
                                            <p:strVal val="#ppt_y"/>
                                          </p:val>
                                        </p:tav>
                                        <p:tav tm="100000">
                                          <p:val>
                                            <p:strVal val="#ppt_y"/>
                                          </p:val>
                                        </p:tav>
                                      </p:tavLst>
                                    </p:anim>
                                    <p:anim calcmode="lin" valueType="num">
                                      <p:cBhvr>
                                        <p:cTn id="62"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28"/>
                                        </p:tgtEl>
                                      </p:cBhvr>
                                    </p:animEffect>
                                  </p:childTnLst>
                                </p:cTn>
                              </p:par>
                            </p:childTnLst>
                          </p:cTn>
                        </p:par>
                      </p:childTnLst>
                    </p:cTn>
                  </p:par>
                  <p:par>
                    <p:cTn id="65" fill="hold">
                      <p:stCondLst>
                        <p:cond delay="indefinite"/>
                      </p:stCondLst>
                      <p:childTnLst>
                        <p:par>
                          <p:cTn id="66" fill="hold">
                            <p:stCondLst>
                              <p:cond delay="0"/>
                            </p:stCondLst>
                            <p:childTnLst>
                              <p:par>
                                <p:cTn id="67" presetID="41" presetClass="entr" presetSubtype="0" fill="hold" grpId="0" nodeType="clickEffect">
                                  <p:stCondLst>
                                    <p:cond delay="0"/>
                                  </p:stCondLst>
                                  <p:iterate type="lt">
                                    <p:tmPct val="10000"/>
                                  </p:iterate>
                                  <p:childTnLst>
                                    <p:set>
                                      <p:cBhvr>
                                        <p:cTn id="68" dur="1" fill="hold">
                                          <p:stCondLst>
                                            <p:cond delay="0"/>
                                          </p:stCondLst>
                                        </p:cTn>
                                        <p:tgtEl>
                                          <p:spTgt spid="34"/>
                                        </p:tgtEl>
                                        <p:attrNameLst>
                                          <p:attrName>style.visibility</p:attrName>
                                        </p:attrNameLst>
                                      </p:cBhvr>
                                      <p:to>
                                        <p:strVal val="visible"/>
                                      </p:to>
                                    </p:set>
                                    <p:anim calcmode="lin" valueType="num">
                                      <p:cBhvr>
                                        <p:cTn id="69"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70" dur="500" fill="hold"/>
                                        <p:tgtEl>
                                          <p:spTgt spid="34"/>
                                        </p:tgtEl>
                                        <p:attrNameLst>
                                          <p:attrName>ppt_y</p:attrName>
                                        </p:attrNameLst>
                                      </p:cBhvr>
                                      <p:tavLst>
                                        <p:tav tm="0">
                                          <p:val>
                                            <p:strVal val="#ppt_y"/>
                                          </p:val>
                                        </p:tav>
                                        <p:tav tm="100000">
                                          <p:val>
                                            <p:strVal val="#ppt_y"/>
                                          </p:val>
                                        </p:tav>
                                      </p:tavLst>
                                    </p:anim>
                                    <p:anim calcmode="lin" valueType="num">
                                      <p:cBhvr>
                                        <p:cTn id="71"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72"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73" dur="500" tmFilter="0,0; .5, 1; 1, 1"/>
                                        <p:tgtEl>
                                          <p:spTgt spid="34"/>
                                        </p:tgtEl>
                                      </p:cBhvr>
                                    </p:animEffect>
                                  </p:childTnLst>
                                </p:cTn>
                              </p:par>
                            </p:childTnLst>
                          </p:cTn>
                        </p:par>
                      </p:childTnLst>
                    </p:cTn>
                  </p:par>
                  <p:par>
                    <p:cTn id="74" fill="hold">
                      <p:stCondLst>
                        <p:cond delay="indefinite"/>
                      </p:stCondLst>
                      <p:childTnLst>
                        <p:par>
                          <p:cTn id="75" fill="hold">
                            <p:stCondLst>
                              <p:cond delay="0"/>
                            </p:stCondLst>
                            <p:childTnLst>
                              <p:par>
                                <p:cTn id="76" presetID="41" presetClass="entr" presetSubtype="0" fill="hold" grpId="0" nodeType="clickEffect">
                                  <p:stCondLst>
                                    <p:cond delay="0"/>
                                  </p:stCondLst>
                                  <p:iterate type="lt">
                                    <p:tmPct val="10000"/>
                                  </p:iterate>
                                  <p:childTnLst>
                                    <p:set>
                                      <p:cBhvr>
                                        <p:cTn id="77" dur="1" fill="hold">
                                          <p:stCondLst>
                                            <p:cond delay="0"/>
                                          </p:stCondLst>
                                        </p:cTn>
                                        <p:tgtEl>
                                          <p:spTgt spid="23"/>
                                        </p:tgtEl>
                                        <p:attrNameLst>
                                          <p:attrName>style.visibility</p:attrName>
                                        </p:attrNameLst>
                                      </p:cBhvr>
                                      <p:to>
                                        <p:strVal val="visible"/>
                                      </p:to>
                                    </p:set>
                                    <p:anim calcmode="lin" valueType="num">
                                      <p:cBhvr>
                                        <p:cTn id="78"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79" dur="500" fill="hold"/>
                                        <p:tgtEl>
                                          <p:spTgt spid="23"/>
                                        </p:tgtEl>
                                        <p:attrNameLst>
                                          <p:attrName>ppt_y</p:attrName>
                                        </p:attrNameLst>
                                      </p:cBhvr>
                                      <p:tavLst>
                                        <p:tav tm="0">
                                          <p:val>
                                            <p:strVal val="#ppt_y"/>
                                          </p:val>
                                        </p:tav>
                                        <p:tav tm="100000">
                                          <p:val>
                                            <p:strVal val="#ppt_y"/>
                                          </p:val>
                                        </p:tav>
                                      </p:tavLst>
                                    </p:anim>
                                    <p:anim calcmode="lin" valueType="num">
                                      <p:cBhvr>
                                        <p:cTn id="80"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81"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82"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7" grpId="0" autoUpdateAnimBg="0"/>
      <p:bldP spid="28" grpId="0" autoUpdateAnimBg="0"/>
      <p:bldP spid="34" grpId="0" autoUpdateAnimBg="0"/>
      <p:bldP spid="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8" y="1757964"/>
            <a:ext cx="7653793" cy="1938992"/>
          </a:xfrm>
          <a:prstGeom prst="rect">
            <a:avLst/>
          </a:prstGeom>
          <a:noFill/>
          <a:ln w="9525">
            <a:noFill/>
            <a:miter lim="800000"/>
          </a:ln>
        </p:spPr>
        <p:txBody>
          <a:bodyPr wrap="square">
            <a:spAutoFit/>
          </a:bodyPr>
          <a:lstStyle/>
          <a:p>
            <a:pPr indent="552450">
              <a:lnSpc>
                <a:spcPct val="150000"/>
              </a:lnSpc>
            </a:pPr>
            <a:r>
              <a:rPr lang="zh-CN" altLang="en-US" sz="1600" dirty="0">
                <a:latin typeface="百度综艺简体" panose="02010601030101010101" charset="-122"/>
                <a:ea typeface="百度综艺简体" panose="02010601030101010101" charset="-122"/>
              </a:rPr>
              <a:t>然而存在一个问题，不同的编程语言，不同的编译器，或不同的</a:t>
            </a:r>
            <a:r>
              <a:rPr lang="en-US" altLang="zh-CN" sz="1600" dirty="0">
                <a:latin typeface="百度综艺简体" panose="02010601030101010101" charset="-122"/>
                <a:ea typeface="百度综艺简体" panose="02010601030101010101" charset="-122"/>
              </a:rPr>
              <a:t>CPU</a:t>
            </a:r>
            <a:r>
              <a:rPr lang="zh-CN" altLang="en-US" sz="1600" dirty="0">
                <a:latin typeface="百度综艺简体" panose="02010601030101010101" charset="-122"/>
                <a:ea typeface="百度综艺简体" panose="02010601030101010101" charset="-122"/>
              </a:rPr>
              <a:t>等因素将导致执行一次操作的时间各不相同，这样的结果会使算法的比较</a:t>
            </a:r>
            <a:r>
              <a:rPr lang="zh-CN" altLang="en-US" sz="1600" dirty="0" smtClean="0">
                <a:latin typeface="百度综艺简体" panose="02010601030101010101" charset="-122"/>
                <a:ea typeface="百度综艺简体" panose="02010601030101010101" charset="-122"/>
              </a:rPr>
              <a:t>产生歧义，</a:t>
            </a:r>
            <a:r>
              <a:rPr lang="zh-CN" altLang="en-US" sz="1600" dirty="0">
                <a:latin typeface="百度综艺简体" panose="02010601030101010101" charset="-122"/>
                <a:ea typeface="百度综艺简体" panose="02010601030101010101" charset="-122"/>
              </a:rPr>
              <a:t>  于是我们假定所有计算机执行相同的一次基本操作所需时间相同，而把算法中基本操作所执行的最大次数作为量度。就是说我们把算法的执行时间简单地用基本操作的执行次数来代替了。</a:t>
            </a:r>
            <a:endParaRPr lang="en-US" altLang="zh-CN" sz="1600"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8" y="1274165"/>
            <a:ext cx="7277822" cy="369525"/>
          </a:xfrm>
          <a:prstGeom prst="rect">
            <a:avLst/>
          </a:prstGeom>
          <a:noFill/>
          <a:ln w="9525">
            <a:noFill/>
            <a:miter lim="800000"/>
          </a:ln>
        </p:spPr>
        <p:txBody>
          <a:bodyPr wrap="square">
            <a:spAutoFit/>
          </a:bodyPr>
          <a:lstStyle/>
          <a:p>
            <a:pPr marL="285750" indent="-285750">
              <a:lnSpc>
                <a:spcPct val="105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一个算法所耗费的时间应是该算法中每条语句执行时间之和</a:t>
            </a: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Box 5"/>
          <p:cNvSpPr txBox="1">
            <a:spLocks noChangeArrowheads="1"/>
          </p:cNvSpPr>
          <p:nvPr/>
        </p:nvSpPr>
        <p:spPr bwMode="auto">
          <a:xfrm>
            <a:off x="933088" y="2953584"/>
            <a:ext cx="7277822" cy="923330"/>
          </a:xfrm>
          <a:prstGeom prst="rect">
            <a:avLst/>
          </a:prstGeom>
          <a:noFill/>
          <a:ln w="9525">
            <a:noFill/>
            <a:miter lim="800000"/>
          </a:ln>
        </p:spPr>
        <p:txBody>
          <a:bodyPr wrap="square">
            <a:spAutoFit/>
          </a:bodyPr>
          <a:lstStyle/>
          <a:p>
            <a:pPr marL="285750" indent="-285750">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假设每条语句执行一次所需要的时间均是单位时间</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那么一个算法的时间耗费就是该算法中所有语句的</a:t>
            </a:r>
            <a:r>
              <a:rPr lang="zh-CN" altLang="en-US" b="1" dirty="0">
                <a:latin typeface="百度综艺简体" panose="02010601030101010101" charset="-122"/>
                <a:ea typeface="百度综艺简体" panose="02010601030101010101" charset="-122"/>
              </a:rPr>
              <a:t>频度</a:t>
            </a:r>
            <a:r>
              <a:rPr lang="zh-CN" altLang="en-US" dirty="0">
                <a:latin typeface="百度综艺简体" panose="02010601030101010101" charset="-122"/>
                <a:ea typeface="百度综艺简体" panose="02010601030101010101" charset="-122"/>
              </a:rPr>
              <a:t>之</a:t>
            </a:r>
            <a:r>
              <a:rPr lang="zh-CN" altLang="en-US" dirty="0" smtClean="0">
                <a:latin typeface="百度综艺简体" panose="02010601030101010101" charset="-122"/>
                <a:ea typeface="百度综艺简体" panose="02010601030101010101" charset="-122"/>
              </a:rPr>
              <a:t>和。</a:t>
            </a:r>
            <a:endParaRPr lang="en-US" altLang="zh-CN" dirty="0">
              <a:latin typeface="百度综艺简体" panose="02010601030101010101" charset="-122"/>
              <a:ea typeface="百度综艺简体" panose="02010601030101010101" charset="-122"/>
            </a:endParaRPr>
          </a:p>
        </p:txBody>
      </p:sp>
      <p:sp>
        <p:nvSpPr>
          <p:cNvPr id="13" name="TextBox 5"/>
          <p:cNvSpPr txBox="1">
            <a:spLocks noChangeArrowheads="1"/>
          </p:cNvSpPr>
          <p:nvPr/>
        </p:nvSpPr>
        <p:spPr bwMode="auto">
          <a:xfrm>
            <a:off x="933088" y="1983318"/>
            <a:ext cx="7277822" cy="674031"/>
          </a:xfrm>
          <a:prstGeom prst="rect">
            <a:avLst/>
          </a:prstGeom>
          <a:noFill/>
          <a:ln w="9525">
            <a:noFill/>
            <a:miter lim="800000"/>
          </a:ln>
        </p:spPr>
        <p:txBody>
          <a:bodyPr wrap="square">
            <a:spAutoFit/>
          </a:bodyPr>
          <a:lstStyle/>
          <a:p>
            <a:pPr marL="285750" indent="-285750">
              <a:lnSpc>
                <a:spcPct val="105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而每条语句的执行时间是该语句的执行次数</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也称为</a:t>
            </a:r>
            <a:r>
              <a:rPr lang="zh-CN" altLang="en-US" b="1" dirty="0">
                <a:latin typeface="百度综艺简体" panose="02010601030101010101" charset="-122"/>
                <a:ea typeface="百度综艺简体" panose="02010601030101010101" charset="-122"/>
              </a:rPr>
              <a:t>频度</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与该语句执行一次所需时间的</a:t>
            </a:r>
            <a:r>
              <a:rPr lang="zh-CN" altLang="en-US" dirty="0" smtClean="0">
                <a:latin typeface="百度综艺简体" panose="02010601030101010101" charset="-122"/>
                <a:ea typeface="百度综艺简体" panose="02010601030101010101" charset="-122"/>
              </a:rPr>
              <a:t>乘积；</a:t>
            </a:r>
            <a:endParaRPr lang="en-US" altLang="zh-CN"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1" presetClass="entr" presetSubtype="0" fill="hold" grpId="0" nodeType="clickEffect">
                                  <p:stCondLst>
                                    <p:cond delay="0"/>
                                  </p:stCondLst>
                                  <p:iterate type="lt">
                                    <p:tmPct val="10000"/>
                                  </p:iterate>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12"/>
                                        </p:tgtEl>
                                        <p:attrNameLst>
                                          <p:attrName>ppt_y</p:attrName>
                                        </p:attrNameLst>
                                      </p:cBhvr>
                                      <p:tavLst>
                                        <p:tav tm="0">
                                          <p:val>
                                            <p:strVal val="#ppt_y"/>
                                          </p:val>
                                        </p:tav>
                                        <p:tav tm="100000">
                                          <p:val>
                                            <p:strVal val="#ppt_y"/>
                                          </p:val>
                                        </p:tav>
                                      </p:tavLst>
                                    </p:anim>
                                    <p:anim calcmode="lin" valueType="num">
                                      <p:cBhvr>
                                        <p:cTn id="5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41" presetClass="entr" presetSubtype="0" fill="hold" grpId="0" nodeType="clickEffect">
                                  <p:stCondLst>
                                    <p:cond delay="0"/>
                                  </p:stCondLst>
                                  <p:iterate type="lt">
                                    <p:tmPct val="10000"/>
                                  </p:iterate>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13"/>
                                        </p:tgtEl>
                                        <p:attrNameLst>
                                          <p:attrName>ppt_y</p:attrName>
                                        </p:attrNameLst>
                                      </p:cBhvr>
                                      <p:tavLst>
                                        <p:tav tm="0">
                                          <p:val>
                                            <p:strVal val="#ppt_y"/>
                                          </p:val>
                                        </p:tav>
                                        <p:tav tm="100000">
                                          <p:val>
                                            <p:strVal val="#ppt_y"/>
                                          </p:val>
                                        </p:tav>
                                      </p:tavLst>
                                    </p:anim>
                                    <p:anim calcmode="lin" valueType="num">
                                      <p:cBhvr>
                                        <p:cTn id="62"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2" grpId="0" autoUpdateAnimBg="0"/>
      <p:bldP spid="1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1366477"/>
            <a:ext cx="7902074" cy="2585323"/>
          </a:xfrm>
          <a:prstGeom prst="rect">
            <a:avLst/>
          </a:prstGeom>
          <a:noFill/>
          <a:ln w="9525">
            <a:noFill/>
            <a:miter lim="800000"/>
          </a:ln>
        </p:spPr>
        <p:txBody>
          <a:bodyPr wrap="square">
            <a:spAutoFit/>
          </a:bodyPr>
          <a:lstStyle/>
          <a:p>
            <a:pPr lvl="0" defTabSz="1129030" eaLnBrk="0" fontAlgn="base" hangingPunct="0">
              <a:lnSpc>
                <a:spcPct val="150000"/>
              </a:lnSpc>
              <a:spcBef>
                <a:spcPct val="0"/>
              </a:spcBef>
              <a:spcAft>
                <a:spcPct val="0"/>
              </a:spcAft>
              <a:defRPr/>
            </a:pPr>
            <a:r>
              <a:rPr lang="en-US" altLang="zh-CN" b="1" dirty="0" smtClean="0">
                <a:latin typeface="百度综艺简体" panose="02010601030101010101" charset="-122"/>
                <a:ea typeface="百度综艺简体" panose="02010601030101010101" charset="-122"/>
              </a:rPr>
              <a:t>float</a:t>
            </a:r>
            <a:r>
              <a:rPr lang="en-US" altLang="zh-CN" dirty="0" smtClean="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sum </a:t>
            </a:r>
            <a:r>
              <a:rPr lang="en-US" altLang="zh-CN" dirty="0">
                <a:latin typeface="百度综艺简体" panose="02010601030101010101" charset="-122"/>
                <a:ea typeface="百度综艺简体" panose="02010601030101010101" charset="-122"/>
              </a:rPr>
              <a:t>(</a:t>
            </a:r>
            <a:r>
              <a:rPr lang="en-US" altLang="zh-CN" i="1" dirty="0">
                <a:latin typeface="百度综艺简体" panose="02010601030101010101" charset="-122"/>
                <a:ea typeface="百度综艺简体" panose="02010601030101010101" charset="-122"/>
              </a:rPr>
              <a:t> </a:t>
            </a:r>
            <a:r>
              <a:rPr lang="en-US" altLang="zh-CN" b="1" dirty="0">
                <a:latin typeface="百度综艺简体" panose="02010601030101010101" charset="-122"/>
                <a:ea typeface="百度综艺简体" panose="02010601030101010101" charset="-122"/>
              </a:rPr>
              <a:t>float </a:t>
            </a:r>
            <a:r>
              <a:rPr lang="en-US" altLang="zh-CN" b="1" dirty="0" smtClean="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a</a:t>
            </a:r>
            <a:r>
              <a:rPr lang="en-US" altLang="zh-CN" dirty="0">
                <a:latin typeface="百度综艺简体" panose="02010601030101010101" charset="-122"/>
                <a:ea typeface="百度综艺简体" panose="02010601030101010101" charset="-122"/>
              </a:rPr>
              <a:t>[ ],</a:t>
            </a:r>
            <a:r>
              <a:rPr lang="en-US" altLang="zh-CN" i="1" dirty="0">
                <a:latin typeface="百度综艺简体" panose="02010601030101010101" charset="-122"/>
                <a:ea typeface="百度综艺简体" panose="02010601030101010101" charset="-122"/>
              </a:rPr>
              <a:t> </a:t>
            </a:r>
            <a:r>
              <a:rPr lang="en-US" altLang="zh-CN" b="1" dirty="0" err="1">
                <a:latin typeface="百度综艺简体" panose="02010601030101010101" charset="-122"/>
                <a:ea typeface="百度综艺简体" panose="02010601030101010101" charset="-122"/>
              </a:rPr>
              <a:t>int</a:t>
            </a:r>
            <a:r>
              <a:rPr lang="en-US" altLang="zh-CN" b="1"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 </a:t>
            </a:r>
            <a:r>
              <a:rPr lang="en-US" altLang="zh-CN" i="1" dirty="0">
                <a:latin typeface="百度综艺简体" panose="02010601030101010101" charset="-122"/>
                <a:ea typeface="百度综艺简体" panose="02010601030101010101" charset="-122"/>
              </a:rPr>
              <a:t>n </a:t>
            </a:r>
            <a:r>
              <a:rPr lang="en-US" altLang="zh-CN" dirty="0">
                <a:latin typeface="百度综艺简体" panose="02010601030101010101" charset="-122"/>
                <a:ea typeface="百度综艺简体" panose="02010601030101010101" charset="-122"/>
              </a:rPr>
              <a:t>)</a:t>
            </a:r>
            <a:r>
              <a:rPr lang="en-US" altLang="zh-CN" b="1" dirty="0">
                <a:latin typeface="百度综艺简体" panose="02010601030101010101" charset="-122"/>
                <a:ea typeface="百度综艺简体" panose="02010601030101010101" charset="-122"/>
              </a:rPr>
              <a:t>	{</a:t>
            </a:r>
          </a:p>
          <a:p>
            <a:pPr lvl="0" defTabSz="1129030" eaLnBrk="0" fontAlgn="base" hangingPunct="0">
              <a:lnSpc>
                <a:spcPct val="150000"/>
              </a:lnSpc>
              <a:spcBef>
                <a:spcPct val="0"/>
              </a:spcBef>
              <a:spcAft>
                <a:spcPct val="0"/>
              </a:spcAft>
              <a:defRPr/>
            </a:pPr>
            <a:r>
              <a:rPr lang="en-US" altLang="zh-CN" b="1" dirty="0">
                <a:latin typeface="百度综艺简体" panose="02010601030101010101" charset="-122"/>
                <a:ea typeface="百度综艺简体" panose="02010601030101010101" charset="-122"/>
              </a:rPr>
              <a:t>       float</a:t>
            </a:r>
            <a:r>
              <a:rPr lang="en-US" altLang="zh-CN" i="1" dirty="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 s </a:t>
            </a:r>
            <a:r>
              <a:rPr lang="en-US" altLang="zh-CN" i="1"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0.0</a:t>
            </a:r>
            <a:r>
              <a:rPr lang="en-US" altLang="zh-CN" b="1" dirty="0" smtClean="0">
                <a:latin typeface="百度综艺简体" panose="02010601030101010101" charset="-122"/>
                <a:ea typeface="百度综艺简体" panose="02010601030101010101" charset="-122"/>
              </a:rPr>
              <a:t>;  </a:t>
            </a:r>
            <a:r>
              <a:rPr lang="en-US" altLang="zh-CN" b="1" dirty="0" smtClean="0">
                <a:solidFill>
                  <a:schemeClr val="accent2"/>
                </a:solidFill>
                <a:latin typeface="百度综艺简体" panose="02010601030101010101" charset="-122"/>
                <a:ea typeface="百度综艺简体" panose="02010601030101010101" charset="-122"/>
              </a:rPr>
              <a:t>//</a:t>
            </a:r>
            <a:r>
              <a:rPr lang="zh-CN" altLang="en-US" b="1" dirty="0" smtClean="0">
                <a:solidFill>
                  <a:schemeClr val="accent2"/>
                </a:solidFill>
                <a:latin typeface="百度综艺简体" panose="02010601030101010101" charset="-122"/>
                <a:ea typeface="百度综艺简体" panose="02010601030101010101" charset="-122"/>
              </a:rPr>
              <a:t>语句执行</a:t>
            </a:r>
            <a:r>
              <a:rPr lang="en-US" altLang="zh-CN" b="1" dirty="0" smtClean="0">
                <a:solidFill>
                  <a:schemeClr val="accent2"/>
                </a:solidFill>
                <a:latin typeface="百度综艺简体" panose="02010601030101010101" charset="-122"/>
                <a:ea typeface="百度综艺简体" panose="02010601030101010101" charset="-122"/>
              </a:rPr>
              <a:t>1</a:t>
            </a:r>
            <a:r>
              <a:rPr lang="zh-CN" altLang="en-US" b="1" dirty="0" smtClean="0">
                <a:solidFill>
                  <a:schemeClr val="accent2"/>
                </a:solidFill>
                <a:latin typeface="百度综艺简体" panose="02010601030101010101" charset="-122"/>
                <a:ea typeface="百度综艺简体" panose="02010601030101010101" charset="-122"/>
              </a:rPr>
              <a:t>次，语句频度为</a:t>
            </a:r>
            <a:r>
              <a:rPr lang="en-US" altLang="zh-CN" b="1" dirty="0" smtClean="0">
                <a:solidFill>
                  <a:schemeClr val="accent2"/>
                </a:solidFill>
                <a:latin typeface="百度综艺简体" panose="02010601030101010101" charset="-122"/>
                <a:ea typeface="百度综艺简体" panose="02010601030101010101" charset="-122"/>
              </a:rPr>
              <a:t>1    </a:t>
            </a:r>
            <a:r>
              <a:rPr lang="en-US" altLang="zh-CN" b="1" dirty="0" smtClean="0">
                <a:latin typeface="百度综艺简体" panose="02010601030101010101" charset="-122"/>
                <a:ea typeface="百度综艺简体" panose="02010601030101010101" charset="-122"/>
              </a:rPr>
              <a:t>                  </a:t>
            </a:r>
            <a:endParaRPr lang="en-US" altLang="zh-CN" i="1" dirty="0">
              <a:latin typeface="百度综艺简体" panose="02010601030101010101" charset="-122"/>
              <a:ea typeface="百度综艺简体" panose="02010601030101010101" charset="-122"/>
            </a:endParaRPr>
          </a:p>
          <a:p>
            <a:pPr lvl="0" defTabSz="1129030" eaLnBrk="0" fontAlgn="base" hangingPunct="0">
              <a:lnSpc>
                <a:spcPct val="150000"/>
              </a:lnSpc>
              <a:spcBef>
                <a:spcPct val="0"/>
              </a:spcBef>
              <a:spcAft>
                <a:spcPct val="0"/>
              </a:spcAft>
              <a:defRPr/>
            </a:pPr>
            <a:r>
              <a:rPr lang="en-US" altLang="zh-CN" b="1" dirty="0">
                <a:latin typeface="百度综艺简体" panose="02010601030101010101" charset="-122"/>
                <a:ea typeface="百度综艺简体" panose="02010601030101010101" charset="-122"/>
              </a:rPr>
              <a:t>       for </a:t>
            </a:r>
            <a:r>
              <a:rPr lang="en-US" altLang="zh-CN" dirty="0">
                <a:latin typeface="百度综艺简体" panose="02010601030101010101" charset="-122"/>
                <a:ea typeface="百度综艺简体" panose="02010601030101010101" charset="-122"/>
              </a:rPr>
              <a:t>(</a:t>
            </a:r>
            <a:r>
              <a:rPr lang="en-US" altLang="zh-CN" i="1" dirty="0">
                <a:latin typeface="百度综艺简体" panose="02010601030101010101" charset="-122"/>
                <a:ea typeface="百度综艺简体" panose="02010601030101010101" charset="-122"/>
              </a:rPr>
              <a:t> </a:t>
            </a:r>
            <a:r>
              <a:rPr lang="en-US" altLang="zh-CN" b="1" dirty="0" err="1" smtClean="0">
                <a:latin typeface="百度综艺简体" panose="02010601030101010101" charset="-122"/>
                <a:ea typeface="百度综艺简体" panose="02010601030101010101" charset="-122"/>
              </a:rPr>
              <a:t>int</a:t>
            </a:r>
            <a:r>
              <a:rPr lang="en-US" altLang="zh-CN" b="1" dirty="0" smtClean="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 </a:t>
            </a:r>
            <a:r>
              <a:rPr lang="en-US" altLang="zh-CN" i="1" dirty="0" err="1">
                <a:latin typeface="百度综艺简体" panose="02010601030101010101" charset="-122"/>
                <a:ea typeface="百度综艺简体" panose="02010601030101010101" charset="-122"/>
              </a:rPr>
              <a:t>i</a:t>
            </a:r>
            <a:r>
              <a:rPr lang="en-US" altLang="zh-CN" i="1" dirty="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0</a:t>
            </a:r>
            <a:r>
              <a:rPr lang="en-US" altLang="zh-CN" b="1" dirty="0">
                <a:latin typeface="百度综艺简体" panose="02010601030101010101" charset="-122"/>
                <a:ea typeface="百度综艺简体" panose="02010601030101010101" charset="-122"/>
              </a:rPr>
              <a:t>;</a:t>
            </a:r>
            <a:r>
              <a:rPr lang="en-US" altLang="zh-CN" i="1" dirty="0">
                <a:latin typeface="百度综艺简体" panose="02010601030101010101" charset="-122"/>
                <a:ea typeface="百度综艺简体" panose="02010601030101010101" charset="-122"/>
              </a:rPr>
              <a:t> </a:t>
            </a:r>
            <a:r>
              <a:rPr lang="en-US" altLang="zh-CN" i="1" dirty="0" err="1">
                <a:latin typeface="百度综艺简体" panose="02010601030101010101" charset="-122"/>
                <a:ea typeface="百度综艺简体" panose="02010601030101010101" charset="-122"/>
              </a:rPr>
              <a:t>i</a:t>
            </a:r>
            <a:r>
              <a:rPr lang="en-US" altLang="zh-CN" i="1" dirty="0">
                <a:latin typeface="百度综艺简体" panose="02010601030101010101" charset="-122"/>
                <a:ea typeface="百度综艺简体" panose="02010601030101010101" charset="-122"/>
              </a:rPr>
              <a:t>&lt;n</a:t>
            </a:r>
            <a:r>
              <a:rPr lang="en-US" altLang="zh-CN" b="1" dirty="0">
                <a:latin typeface="百度综艺简体" panose="02010601030101010101" charset="-122"/>
                <a:ea typeface="百度综艺简体" panose="02010601030101010101" charset="-122"/>
              </a:rPr>
              <a:t>;</a:t>
            </a:r>
            <a:r>
              <a:rPr lang="en-US" altLang="zh-CN" i="1" dirty="0">
                <a:latin typeface="百度综艺简体" panose="02010601030101010101" charset="-122"/>
                <a:ea typeface="百度综艺简体" panose="02010601030101010101" charset="-122"/>
              </a:rPr>
              <a:t> </a:t>
            </a:r>
            <a:r>
              <a:rPr lang="en-US" altLang="zh-CN" i="1" dirty="0" err="1">
                <a:latin typeface="百度综艺简体" panose="02010601030101010101" charset="-122"/>
                <a:ea typeface="百度综艺简体" panose="02010601030101010101" charset="-122"/>
              </a:rPr>
              <a:t>i</a:t>
            </a:r>
            <a:r>
              <a:rPr lang="en-US" altLang="zh-CN" i="1" dirty="0">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a:t>
            </a:r>
            <a:r>
              <a:rPr lang="en-US" altLang="zh-CN" i="1" dirty="0">
                <a:solidFill>
                  <a:schemeClr val="accent2"/>
                </a:solidFill>
                <a:latin typeface="百度综艺简体" panose="02010601030101010101" charset="-122"/>
                <a:ea typeface="百度综艺简体" panose="02010601030101010101" charset="-122"/>
              </a:rPr>
              <a:t> </a:t>
            </a:r>
            <a:r>
              <a:rPr lang="en-US" altLang="zh-CN" b="1" dirty="0" smtClean="0">
                <a:solidFill>
                  <a:schemeClr val="accent2"/>
                </a:solidFill>
                <a:latin typeface="百度综艺简体" panose="02010601030101010101" charset="-122"/>
                <a:ea typeface="百度综艺简体" panose="02010601030101010101" charset="-122"/>
              </a:rPr>
              <a:t>    //for</a:t>
            </a:r>
            <a:r>
              <a:rPr lang="zh-CN" altLang="en-US" b="1" dirty="0" smtClean="0">
                <a:solidFill>
                  <a:schemeClr val="accent2"/>
                </a:solidFill>
                <a:latin typeface="百度综艺简体" panose="02010601030101010101" charset="-122"/>
                <a:ea typeface="百度综艺简体" panose="02010601030101010101" charset="-122"/>
              </a:rPr>
              <a:t>语句执行了</a:t>
            </a:r>
            <a:r>
              <a:rPr lang="en-US" altLang="zh-CN" b="1" dirty="0" smtClean="0">
                <a:solidFill>
                  <a:schemeClr val="accent2"/>
                </a:solidFill>
                <a:latin typeface="百度综艺简体" panose="02010601030101010101" charset="-122"/>
                <a:ea typeface="百度综艺简体" panose="02010601030101010101" charset="-122"/>
              </a:rPr>
              <a:t>n+1</a:t>
            </a:r>
            <a:r>
              <a:rPr lang="zh-CN" altLang="en-US" b="1" dirty="0" smtClean="0">
                <a:solidFill>
                  <a:schemeClr val="accent2"/>
                </a:solidFill>
                <a:latin typeface="百度综艺简体" panose="02010601030101010101" charset="-122"/>
                <a:ea typeface="百度综艺简体" panose="02010601030101010101" charset="-122"/>
              </a:rPr>
              <a:t>次</a:t>
            </a:r>
            <a:endParaRPr lang="en-US" altLang="zh-CN" dirty="0" smtClean="0">
              <a:solidFill>
                <a:schemeClr val="accent2"/>
              </a:solidFill>
              <a:latin typeface="百度综艺简体" panose="02010601030101010101" charset="-122"/>
              <a:ea typeface="百度综艺简体" panose="02010601030101010101" charset="-122"/>
            </a:endParaRPr>
          </a:p>
          <a:p>
            <a:pPr lvl="0" defTabSz="1129030" eaLnBrk="0" fontAlgn="base" hangingPunct="0">
              <a:lnSpc>
                <a:spcPct val="150000"/>
              </a:lnSpc>
              <a:spcBef>
                <a:spcPct val="0"/>
              </a:spcBef>
              <a:spcAft>
                <a:spcPct val="0"/>
              </a:spcAft>
              <a:defRPr/>
            </a:pPr>
            <a:r>
              <a:rPr lang="zh-CN" altLang="en-US" dirty="0">
                <a:latin typeface="百度综艺简体" panose="02010601030101010101" charset="-122"/>
                <a:ea typeface="百度综艺简体" panose="02010601030101010101" charset="-122"/>
              </a:rPr>
              <a:t> </a:t>
            </a:r>
            <a:r>
              <a:rPr lang="zh-CN" altLang="en-US" dirty="0" smtClean="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s += a</a:t>
            </a:r>
            <a:r>
              <a:rPr lang="en-US" altLang="zh-CN" dirty="0" smtClean="0">
                <a:latin typeface="百度综艺简体" panose="02010601030101010101" charset="-122"/>
                <a:ea typeface="百度综艺简体" panose="02010601030101010101" charset="-122"/>
              </a:rPr>
              <a:t>[</a:t>
            </a:r>
            <a:r>
              <a:rPr lang="en-US" altLang="zh-CN" i="1" dirty="0" err="1" smtClean="0">
                <a:latin typeface="百度综艺简体" panose="02010601030101010101" charset="-122"/>
                <a:ea typeface="百度综艺简体" panose="02010601030101010101" charset="-122"/>
              </a:rPr>
              <a:t>i</a:t>
            </a:r>
            <a:r>
              <a:rPr lang="en-US" altLang="zh-CN" dirty="0" smtClean="0">
                <a:latin typeface="百度综艺简体" panose="02010601030101010101" charset="-122"/>
                <a:ea typeface="百度综艺简体" panose="02010601030101010101" charset="-122"/>
              </a:rPr>
              <a:t>]</a:t>
            </a:r>
            <a:r>
              <a:rPr lang="en-US" altLang="zh-CN" b="1" dirty="0" smtClean="0">
                <a:latin typeface="百度综艺简体" panose="02010601030101010101" charset="-122"/>
                <a:ea typeface="百度综艺简体" panose="02010601030101010101" charset="-122"/>
              </a:rPr>
              <a:t>;   </a:t>
            </a:r>
            <a:r>
              <a:rPr lang="en-US" altLang="zh-CN" b="1" dirty="0" smtClean="0">
                <a:solidFill>
                  <a:schemeClr val="accent2"/>
                </a:solidFill>
                <a:latin typeface="百度综艺简体" panose="02010601030101010101" charset="-122"/>
                <a:ea typeface="百度综艺简体" panose="02010601030101010101" charset="-122"/>
              </a:rPr>
              <a:t>//</a:t>
            </a:r>
            <a:r>
              <a:rPr lang="zh-CN" altLang="en-US" b="1" dirty="0" smtClean="0">
                <a:solidFill>
                  <a:schemeClr val="accent2"/>
                </a:solidFill>
                <a:latin typeface="百度综艺简体" panose="02010601030101010101" charset="-122"/>
                <a:ea typeface="百度综艺简体" panose="02010601030101010101" charset="-122"/>
              </a:rPr>
              <a:t>语句执行</a:t>
            </a:r>
            <a:r>
              <a:rPr lang="en-US" altLang="zh-CN" b="1" dirty="0" smtClean="0">
                <a:solidFill>
                  <a:schemeClr val="accent2"/>
                </a:solidFill>
                <a:latin typeface="百度综艺简体" panose="02010601030101010101" charset="-122"/>
                <a:ea typeface="百度综艺简体" panose="02010601030101010101" charset="-122"/>
              </a:rPr>
              <a:t>n</a:t>
            </a:r>
            <a:r>
              <a:rPr lang="zh-CN" altLang="en-US" b="1" dirty="0" smtClean="0">
                <a:solidFill>
                  <a:schemeClr val="accent2"/>
                </a:solidFill>
                <a:latin typeface="百度综艺简体" panose="02010601030101010101" charset="-122"/>
                <a:ea typeface="百度综艺简体" panose="02010601030101010101" charset="-122"/>
              </a:rPr>
              <a:t>次</a:t>
            </a:r>
            <a:r>
              <a:rPr lang="en-US" altLang="zh-CN" b="1" dirty="0" smtClean="0">
                <a:latin typeface="百度综艺简体" panose="02010601030101010101" charset="-122"/>
                <a:ea typeface="百度综艺简体" panose="02010601030101010101" charset="-122"/>
              </a:rPr>
              <a:t>	</a:t>
            </a:r>
            <a:endParaRPr lang="zh-CN" altLang="en-US" dirty="0" smtClean="0">
              <a:latin typeface="百度综艺简体" panose="02010601030101010101" charset="-122"/>
              <a:ea typeface="百度综艺简体" panose="02010601030101010101" charset="-122"/>
            </a:endParaRPr>
          </a:p>
          <a:p>
            <a:pPr lvl="0" defTabSz="1129030" eaLnBrk="0" fontAlgn="base" hangingPunct="0">
              <a:lnSpc>
                <a:spcPct val="150000"/>
              </a:lnSpc>
              <a:spcBef>
                <a:spcPct val="0"/>
              </a:spcBef>
              <a:spcAft>
                <a:spcPct val="0"/>
              </a:spcAft>
              <a:defRPr/>
            </a:pPr>
            <a:r>
              <a:rPr lang="en-US" altLang="zh-CN" b="1" dirty="0" smtClean="0">
                <a:latin typeface="百度综艺简体" panose="02010601030101010101" charset="-122"/>
                <a:ea typeface="百度综艺简体" panose="02010601030101010101" charset="-122"/>
              </a:rPr>
              <a:t>        </a:t>
            </a:r>
            <a:r>
              <a:rPr lang="en-US" altLang="zh-CN" b="1" dirty="0">
                <a:latin typeface="百度综艺简体" panose="02010601030101010101" charset="-122"/>
                <a:ea typeface="百度综艺简体" panose="02010601030101010101" charset="-122"/>
              </a:rPr>
              <a:t>return</a:t>
            </a:r>
            <a:r>
              <a:rPr lang="en-US" altLang="zh-CN" i="1" dirty="0">
                <a:latin typeface="百度综艺简体" panose="02010601030101010101" charset="-122"/>
                <a:ea typeface="百度综艺简体" panose="02010601030101010101" charset="-122"/>
              </a:rPr>
              <a:t> </a:t>
            </a:r>
            <a:r>
              <a:rPr lang="en-US" altLang="zh-CN" i="1" dirty="0" smtClean="0">
                <a:latin typeface="百度综艺简体" panose="02010601030101010101" charset="-122"/>
                <a:ea typeface="百度综艺简体" panose="02010601030101010101" charset="-122"/>
              </a:rPr>
              <a:t>  s</a:t>
            </a:r>
            <a:r>
              <a:rPr lang="zh-CN" altLang="en-US" i="1" dirty="0" smtClean="0">
                <a:latin typeface="百度综艺简体" panose="02010601030101010101" charset="-122"/>
                <a:ea typeface="百度综艺简体" panose="02010601030101010101" charset="-122"/>
              </a:rPr>
              <a:t>；</a:t>
            </a:r>
            <a:r>
              <a:rPr lang="en-US" altLang="zh-CN" b="1" dirty="0" smtClean="0">
                <a:latin typeface="百度综艺简体" panose="02010601030101010101" charset="-122"/>
                <a:ea typeface="百度综艺简体" panose="02010601030101010101" charset="-122"/>
              </a:rPr>
              <a:t>     </a:t>
            </a:r>
            <a:r>
              <a:rPr lang="en-US" altLang="zh-CN" b="1" dirty="0" smtClean="0">
                <a:solidFill>
                  <a:schemeClr val="accent2"/>
                </a:solidFill>
                <a:latin typeface="百度综艺简体" panose="02010601030101010101" charset="-122"/>
                <a:ea typeface="百度综艺简体" panose="02010601030101010101" charset="-122"/>
              </a:rPr>
              <a:t>//</a:t>
            </a:r>
            <a:r>
              <a:rPr lang="zh-CN" altLang="en-US" b="1" dirty="0">
                <a:solidFill>
                  <a:schemeClr val="accent2"/>
                </a:solidFill>
                <a:latin typeface="百度综艺简体" panose="02010601030101010101" charset="-122"/>
                <a:ea typeface="百度综艺简体" panose="02010601030101010101" charset="-122"/>
              </a:rPr>
              <a:t>语句</a:t>
            </a:r>
            <a:r>
              <a:rPr lang="zh-CN" altLang="en-US" b="1" dirty="0" smtClean="0">
                <a:solidFill>
                  <a:schemeClr val="accent2"/>
                </a:solidFill>
                <a:latin typeface="百度综艺简体" panose="02010601030101010101" charset="-122"/>
                <a:ea typeface="百度综艺简体" panose="02010601030101010101" charset="-122"/>
              </a:rPr>
              <a:t>执行</a:t>
            </a:r>
            <a:r>
              <a:rPr lang="en-US" altLang="zh-CN" b="1" dirty="0">
                <a:solidFill>
                  <a:schemeClr val="accent2"/>
                </a:solidFill>
                <a:latin typeface="百度综艺简体" panose="02010601030101010101" charset="-122"/>
                <a:ea typeface="百度综艺简体" panose="02010601030101010101" charset="-122"/>
              </a:rPr>
              <a:t>1</a:t>
            </a:r>
            <a:r>
              <a:rPr lang="zh-CN" altLang="en-US" b="1" dirty="0">
                <a:solidFill>
                  <a:schemeClr val="accent2"/>
                </a:solidFill>
                <a:latin typeface="百度综艺简体" panose="02010601030101010101" charset="-122"/>
                <a:ea typeface="百度综艺简体" panose="02010601030101010101" charset="-122"/>
              </a:rPr>
              <a:t>次</a:t>
            </a:r>
            <a:endParaRPr lang="en-US" altLang="zh-CN" dirty="0">
              <a:solidFill>
                <a:schemeClr val="accent2"/>
              </a:solidFill>
              <a:latin typeface="百度综艺简体" panose="02010601030101010101" charset="-122"/>
              <a:ea typeface="百度综艺简体" panose="02010601030101010101" charset="-122"/>
            </a:endParaRPr>
          </a:p>
          <a:p>
            <a:pPr defTabSz="1129030" eaLnBrk="0" fontAlgn="base" hangingPunct="0">
              <a:lnSpc>
                <a:spcPct val="150000"/>
              </a:lnSpc>
              <a:spcBef>
                <a:spcPct val="0"/>
              </a:spcBef>
              <a:spcAft>
                <a:spcPct val="0"/>
              </a:spcAft>
              <a:defRPr/>
            </a:pPr>
            <a:r>
              <a:rPr lang="en-US" altLang="zh-CN" b="1" dirty="0">
                <a:latin typeface="百度综艺简体" panose="02010601030101010101" charset="-122"/>
                <a:ea typeface="百度综艺简体" panose="02010601030101010101" charset="-122"/>
              </a:rPr>
              <a:t>   </a:t>
            </a:r>
            <a:r>
              <a:rPr lang="en-US" altLang="zh-CN" b="1" dirty="0" smtClean="0">
                <a:latin typeface="百度综艺简体" panose="02010601030101010101" charset="-122"/>
                <a:ea typeface="百度综艺简体" panose="02010601030101010101" charset="-122"/>
              </a:rPr>
              <a:t>}</a:t>
            </a:r>
            <a:r>
              <a:rPr kumimoji="1" lang="zh-CN" altLang="en-US" b="1" dirty="0">
                <a:latin typeface="百度综艺简体" panose="02010601030101010101" charset="-122"/>
                <a:ea typeface="百度综艺简体" panose="02010601030101010101" charset="-122"/>
              </a:rPr>
              <a:t>程序步</a:t>
            </a:r>
            <a:r>
              <a:rPr kumimoji="1" lang="zh-CN" altLang="en-US" b="1" dirty="0" smtClean="0">
                <a:latin typeface="百度综艺简体" panose="02010601030101010101" charset="-122"/>
                <a:ea typeface="百度综艺简体" panose="02010601030101010101" charset="-122"/>
              </a:rPr>
              <a:t>数（算法语句频度之和）</a:t>
            </a:r>
            <a:r>
              <a:rPr lang="en-US" altLang="zh-CN" b="1" i="1" dirty="0" smtClean="0">
                <a:latin typeface="百度综艺简体" panose="02010601030101010101" charset="-122"/>
                <a:ea typeface="百度综艺简体" panose="02010601030101010101" charset="-122"/>
              </a:rPr>
              <a:t>count </a:t>
            </a:r>
            <a:r>
              <a:rPr lang="en-US" altLang="zh-CN" b="1" i="1" dirty="0">
                <a:latin typeface="百度综艺简体" panose="02010601030101010101" charset="-122"/>
                <a:ea typeface="百度综艺简体" panose="02010601030101010101" charset="-122"/>
              </a:rPr>
              <a:t>=</a:t>
            </a:r>
            <a:r>
              <a:rPr lang="zh-CN" altLang="en-US" b="1" dirty="0">
                <a:latin typeface="百度综艺简体" panose="02010601030101010101" charset="-122"/>
                <a:ea typeface="百度综艺简体" panose="02010601030101010101" charset="-122"/>
              </a:rPr>
              <a:t>2 *</a:t>
            </a:r>
            <a:r>
              <a:rPr lang="zh-CN" altLang="en-US" b="1" i="1" dirty="0">
                <a:latin typeface="百度综艺简体" panose="02010601030101010101" charset="-122"/>
                <a:ea typeface="百度综艺简体" panose="02010601030101010101" charset="-122"/>
              </a:rPr>
              <a:t> </a:t>
            </a:r>
            <a:r>
              <a:rPr lang="en-US" altLang="zh-CN" b="1" i="1" dirty="0">
                <a:latin typeface="百度综艺简体" panose="02010601030101010101" charset="-122"/>
                <a:ea typeface="百度综艺简体" panose="02010601030101010101" charset="-122"/>
              </a:rPr>
              <a:t>n </a:t>
            </a:r>
            <a:r>
              <a:rPr lang="en-US" altLang="zh-CN" b="1" dirty="0">
                <a:latin typeface="百度综艺简体" panose="02010601030101010101" charset="-122"/>
                <a:ea typeface="百度综艺简体" panose="02010601030101010101" charset="-122"/>
              </a:rPr>
              <a:t>+ 3 </a:t>
            </a:r>
            <a:r>
              <a:rPr lang="en-US" altLang="zh-CN" b="1" dirty="0" smtClean="0">
                <a:latin typeface="百度综艺简体" panose="02010601030101010101" charset="-122"/>
                <a:ea typeface="百度综艺简体" panose="02010601030101010101" charset="-122"/>
              </a:rPr>
              <a:t>     </a:t>
            </a:r>
            <a:r>
              <a:rPr lang="zh-CN" altLang="en-US" b="1" dirty="0" smtClean="0">
                <a:latin typeface="百度综艺简体" panose="02010601030101010101" charset="-122"/>
                <a:ea typeface="百度综艺简体" panose="02010601030101010101" charset="-122"/>
              </a:rPr>
              <a:t>（事前分析方法）</a:t>
            </a:r>
            <a:endParaRPr lang="en-US" altLang="zh-CN"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1717492"/>
            <a:ext cx="7277822" cy="1709507"/>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rPr>
              <a:t>当问题规模即要处理的数据增长时，  基本操作要重复执行的次数必定也会增长，  那么我们关心地是这个执行次数以什么样的数量级增长。所谓数量级可以理解为增长率。这个所谓的数量级就称为算法的渐近时间复杂度</a:t>
            </a:r>
            <a:r>
              <a:rPr lang="en-US" altLang="zh-CN" dirty="0">
                <a:latin typeface="百度综艺简体" panose="02010601030101010101" charset="-122"/>
                <a:ea typeface="百度综艺简体" panose="02010601030101010101" charset="-122"/>
              </a:rPr>
              <a:t>(asymptotic time complexity)</a:t>
            </a:r>
            <a:r>
              <a:rPr lang="zh-CN" altLang="en-US" dirty="0">
                <a:latin typeface="百度综艺简体" panose="02010601030101010101" charset="-122"/>
                <a:ea typeface="百度综艺简体" panose="02010601030101010101" charset="-122"/>
              </a:rPr>
              <a:t>， </a:t>
            </a:r>
            <a:r>
              <a:rPr lang="zh-CN" altLang="en-US" dirty="0" smtClean="0">
                <a:latin typeface="百度综艺简体" panose="02010601030101010101" charset="-122"/>
                <a:ea typeface="百度综艺简体" panose="02010601030101010101" charset="-122"/>
              </a:rPr>
              <a:t>简称</a:t>
            </a:r>
            <a:r>
              <a:rPr lang="zh-CN" altLang="en-US" dirty="0">
                <a:latin typeface="百度综艺简体" panose="02010601030101010101" charset="-122"/>
                <a:ea typeface="百度综艺简体" panose="02010601030101010101" charset="-122"/>
              </a:rPr>
              <a:t>为时间复杂度。</a:t>
            </a:r>
            <a:endParaRPr lang="en-US" altLang="zh-CN"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1661362"/>
            <a:ext cx="7277822" cy="2585323"/>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rPr>
              <a:t>由于基本操作的执行次数是问题规模</a:t>
            </a:r>
            <a:r>
              <a:rPr lang="en-US" altLang="zh-CN" dirty="0">
                <a:latin typeface="百度综艺简体" panose="02010601030101010101" charset="-122"/>
                <a:ea typeface="百度综艺简体" panose="02010601030101010101" charset="-122"/>
              </a:rPr>
              <a:t>n </a:t>
            </a:r>
            <a:r>
              <a:rPr lang="zh-CN" altLang="en-US" dirty="0">
                <a:latin typeface="百度综艺简体" panose="02010601030101010101" charset="-122"/>
                <a:ea typeface="百度综艺简体" panose="02010601030101010101" charset="-122"/>
              </a:rPr>
              <a:t>的一个函数</a:t>
            </a:r>
            <a:r>
              <a:rPr lang="en-US" altLang="zh-CN" dirty="0">
                <a:latin typeface="百度综艺简体" panose="02010601030101010101" charset="-122"/>
                <a:ea typeface="百度综艺简体" panose="02010601030101010101" charset="-122"/>
              </a:rPr>
              <a:t>T(n)</a:t>
            </a:r>
            <a:r>
              <a:rPr lang="zh-CN" altLang="en-US" dirty="0">
                <a:latin typeface="百度综艺简体" panose="02010601030101010101" charset="-122"/>
                <a:ea typeface="百度综艺简体" panose="02010601030101010101" charset="-122"/>
              </a:rPr>
              <a:t>，  所以问题就是我们要确定这个函数</a:t>
            </a:r>
            <a:r>
              <a:rPr lang="en-US" altLang="zh-CN" dirty="0">
                <a:latin typeface="百度综艺简体" panose="02010601030101010101" charset="-122"/>
                <a:ea typeface="百度综艺简体" panose="02010601030101010101" charset="-122"/>
              </a:rPr>
              <a:t>T(n)</a:t>
            </a:r>
            <a:r>
              <a:rPr lang="zh-CN" altLang="en-US" dirty="0">
                <a:latin typeface="百度综艺简体" panose="02010601030101010101" charset="-122"/>
                <a:ea typeface="百度综艺简体" panose="02010601030101010101" charset="-122"/>
              </a:rPr>
              <a:t>是什么，  然后分析它的数量级， 拥有相同数量级的函数 </a:t>
            </a:r>
            <a:r>
              <a:rPr lang="en-US" altLang="zh-CN" dirty="0">
                <a:latin typeface="百度综艺简体" panose="02010601030101010101" charset="-122"/>
                <a:ea typeface="百度综艺简体" panose="02010601030101010101" charset="-122"/>
              </a:rPr>
              <a:t>f(n)  </a:t>
            </a:r>
            <a:r>
              <a:rPr lang="zh-CN" altLang="en-US" dirty="0">
                <a:latin typeface="百度综艺简体" panose="02010601030101010101" charset="-122"/>
                <a:ea typeface="百度综艺简体" panose="02010601030101010101" charset="-122"/>
              </a:rPr>
              <a:t>的集合表示为 </a:t>
            </a:r>
            <a:r>
              <a:rPr lang="en-US" altLang="zh-CN" dirty="0">
                <a:latin typeface="百度综艺简体" panose="02010601030101010101" charset="-122"/>
                <a:ea typeface="百度综艺简体" panose="02010601030101010101" charset="-122"/>
              </a:rPr>
              <a:t>O(f(n))</a:t>
            </a: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O</a:t>
            </a:r>
            <a:r>
              <a:rPr lang="zh-CN" altLang="en-US" dirty="0">
                <a:latin typeface="百度综艺简体" panose="02010601030101010101" charset="-122"/>
                <a:ea typeface="百度综艺简体" panose="02010601030101010101" charset="-122"/>
              </a:rPr>
              <a:t>是数量级的标记。如果</a:t>
            </a:r>
            <a:r>
              <a:rPr lang="en-US" altLang="zh-CN" dirty="0">
                <a:latin typeface="百度综艺简体" panose="02010601030101010101" charset="-122"/>
                <a:ea typeface="百度综艺简体" panose="02010601030101010101" charset="-122"/>
              </a:rPr>
              <a:t>T(n)</a:t>
            </a:r>
            <a:r>
              <a:rPr lang="zh-CN" altLang="en-US" dirty="0">
                <a:latin typeface="百度综艺简体" panose="02010601030101010101" charset="-122"/>
                <a:ea typeface="百度综艺简体" panose="02010601030101010101" charset="-122"/>
              </a:rPr>
              <a:t>的数量级和</a:t>
            </a:r>
            <a:r>
              <a:rPr lang="en-US" altLang="zh-CN" dirty="0">
                <a:latin typeface="百度综艺简体" panose="02010601030101010101" charset="-122"/>
                <a:ea typeface="百度综艺简体" panose="02010601030101010101" charset="-122"/>
              </a:rPr>
              <a:t>f(n)</a:t>
            </a:r>
            <a:r>
              <a:rPr lang="zh-CN" altLang="en-US" dirty="0">
                <a:latin typeface="百度综艺简体" panose="02010601030101010101" charset="-122"/>
                <a:ea typeface="百度综艺简体" panose="02010601030101010101" charset="-122"/>
              </a:rPr>
              <a:t>相同</a:t>
            </a:r>
            <a:r>
              <a:rPr lang="zh-CN" altLang="en-US" dirty="0" smtClean="0">
                <a:latin typeface="百度综艺简体" panose="02010601030101010101" charset="-122"/>
                <a:ea typeface="百度综艺简体" panose="02010601030101010101" charset="-122"/>
              </a:rPr>
              <a:t>，显然</a:t>
            </a:r>
            <a:r>
              <a:rPr lang="en-US" altLang="zh-CN" dirty="0">
                <a:latin typeface="百度综艺简体" panose="02010601030101010101" charset="-122"/>
                <a:ea typeface="百度综艺简体" panose="02010601030101010101" charset="-122"/>
              </a:rPr>
              <a:t>T(n) </a:t>
            </a:r>
            <a:r>
              <a:rPr lang="en-US" altLang="zh-CN" dirty="0" smtClean="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  O</a:t>
            </a:r>
            <a:r>
              <a:rPr lang="zh-CN" altLang="en-US" dirty="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f(n)</a:t>
            </a:r>
            <a:r>
              <a:rPr lang="zh-CN" altLang="en-US" dirty="0">
                <a:latin typeface="百度综艺简体" panose="02010601030101010101" charset="-122"/>
                <a:ea typeface="百度综艺简体" panose="02010601030101010101" charset="-122"/>
              </a:rPr>
              <a:t>）。这个函数的值表示当要处理的数据量增长时，基本操作执行次数以什么样的比例增长。即</a:t>
            </a:r>
            <a:r>
              <a:rPr lang="en-US" altLang="zh-CN" dirty="0">
                <a:latin typeface="百度综艺简体" panose="02010601030101010101" charset="-122"/>
                <a:ea typeface="百度综艺简体" panose="02010601030101010101" charset="-122"/>
              </a:rPr>
              <a:t>n</a:t>
            </a:r>
            <a:r>
              <a:rPr lang="zh-CN" altLang="en-US" dirty="0">
                <a:latin typeface="百度综艺简体" panose="02010601030101010101" charset="-122"/>
                <a:ea typeface="百度综艺简体" panose="02010601030101010101" charset="-122"/>
              </a:rPr>
              <a:t>增长时，</a:t>
            </a:r>
            <a:r>
              <a:rPr lang="en-US" altLang="zh-CN" dirty="0">
                <a:latin typeface="百度综艺简体" panose="02010601030101010101" charset="-122"/>
                <a:ea typeface="百度综艺简体" panose="02010601030101010101" charset="-122"/>
              </a:rPr>
              <a:t>T(n)</a:t>
            </a:r>
            <a:r>
              <a:rPr lang="zh-CN" altLang="en-US" dirty="0">
                <a:latin typeface="百度综艺简体" panose="02010601030101010101" charset="-122"/>
                <a:ea typeface="百度综艺简体" panose="02010601030101010101" charset="-122"/>
              </a:rPr>
              <a:t>增长多少？ </a:t>
            </a:r>
            <a:endParaRPr lang="en-US" altLang="zh-CN"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 Placeholder 11"/>
          <p:cNvSpPr txBox="1"/>
          <p:nvPr/>
        </p:nvSpPr>
        <p:spPr>
          <a:xfrm>
            <a:off x="557286" y="970170"/>
            <a:ext cx="4187895"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如何分析这个数量级呢？</a:t>
            </a:r>
            <a:endParaRPr lang="zh-CN"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1286077"/>
            <a:ext cx="7277822" cy="922020"/>
          </a:xfrm>
          <a:prstGeom prst="rect">
            <a:avLst/>
          </a:prstGeom>
          <a:noFill/>
          <a:ln w="9525">
            <a:noFill/>
            <a:miter lim="800000"/>
          </a:ln>
        </p:spPr>
        <p:txBody>
          <a:bodyPr wrap="square">
            <a:spAutoFit/>
          </a:bodyPr>
          <a:lstStyle/>
          <a:p>
            <a:pPr indent="552450">
              <a:lnSpc>
                <a:spcPct val="150000"/>
              </a:lnSpc>
            </a:pPr>
            <a:r>
              <a:rPr lang="zh-CN" altLang="en-US" dirty="0" smtClean="0">
                <a:latin typeface="百度综艺简体" panose="02010601030101010101" charset="-122"/>
                <a:ea typeface="百度综艺简体" panose="02010601030101010101" charset="-122"/>
                <a:sym typeface="+mn-ea"/>
              </a:rPr>
              <a:t>一般情况下，一</a:t>
            </a:r>
            <a:r>
              <a:rPr lang="zh-CN" altLang="en-US" dirty="0">
                <a:latin typeface="百度综艺简体" panose="02010601030101010101" charset="-122"/>
                <a:ea typeface="百度综艺简体" panose="02010601030101010101" charset="-122"/>
                <a:sym typeface="+mn-ea"/>
              </a:rPr>
              <a:t>个特定算法的</a:t>
            </a:r>
            <a:r>
              <a:rPr lang="zh-CN" altLang="en-US" dirty="0">
                <a:solidFill>
                  <a:srgbClr val="FF0000"/>
                </a:solidFill>
                <a:latin typeface="百度综艺简体" panose="02010601030101010101" charset="-122"/>
                <a:ea typeface="百度综艺简体" panose="02010601030101010101" charset="-122"/>
                <a:sym typeface="+mn-ea"/>
              </a:rPr>
              <a:t>“运行工作量”</a:t>
            </a:r>
            <a:r>
              <a:rPr lang="zh-CN" altLang="en-US" dirty="0">
                <a:latin typeface="百度综艺简体" panose="02010601030101010101" charset="-122"/>
                <a:ea typeface="百度综艺简体" panose="02010601030101010101" charset="-122"/>
                <a:sym typeface="+mn-ea"/>
              </a:rPr>
              <a:t>的大小</a:t>
            </a:r>
            <a:r>
              <a:rPr lang="zh-CN" altLang="en-US" dirty="0" smtClean="0">
                <a:latin typeface="百度综艺简体" panose="02010601030101010101" charset="-122"/>
                <a:ea typeface="百度综艺简体" panose="02010601030101010101" charset="-122"/>
                <a:sym typeface="+mn-ea"/>
              </a:rPr>
              <a:t>，依赖</a:t>
            </a:r>
            <a:r>
              <a:rPr lang="zh-CN" altLang="en-US" dirty="0">
                <a:latin typeface="百度综艺简体" panose="02010601030101010101" charset="-122"/>
                <a:ea typeface="百度综艺简体" panose="02010601030101010101" charset="-122"/>
                <a:sym typeface="+mn-ea"/>
              </a:rPr>
              <a:t>于问题的规模（通常用整数量n表示），或者说，</a:t>
            </a:r>
            <a:r>
              <a:rPr lang="zh-CN" altLang="en-US" dirty="0">
                <a:solidFill>
                  <a:srgbClr val="FF0000"/>
                </a:solidFill>
                <a:latin typeface="百度综艺简体" panose="02010601030101010101" charset="-122"/>
                <a:ea typeface="百度综艺简体" panose="02010601030101010101" charset="-122"/>
                <a:sym typeface="+mn-ea"/>
              </a:rPr>
              <a:t>它是问题规模的函数</a:t>
            </a:r>
            <a:r>
              <a:rPr lang="zh-CN" altLang="en-US" dirty="0">
                <a:latin typeface="百度综艺简体" panose="02010601030101010101" charset="-122"/>
                <a:ea typeface="百度综艺简体" panose="02010601030101010101" charset="-122"/>
                <a:sym typeface="+mn-ea"/>
              </a:rPr>
              <a:t>。</a:t>
            </a:r>
            <a:endParaRPr lang="zh-CN" altLang="en-US"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5"/>
          <p:cNvSpPr txBox="1">
            <a:spLocks noChangeArrowheads="1"/>
          </p:cNvSpPr>
          <p:nvPr/>
        </p:nvSpPr>
        <p:spPr bwMode="auto">
          <a:xfrm>
            <a:off x="1041039" y="2207462"/>
            <a:ext cx="7277822" cy="922020"/>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sym typeface="+mn-ea"/>
              </a:rPr>
              <a:t>假如，随着问题规模n的增长，</a:t>
            </a:r>
            <a:r>
              <a:rPr lang="zh-CN" altLang="en-US" dirty="0">
                <a:solidFill>
                  <a:srgbClr val="FF0000"/>
                </a:solidFill>
                <a:latin typeface="百度综艺简体" panose="02010601030101010101" charset="-122"/>
                <a:ea typeface="百度综艺简体" panose="02010601030101010101" charset="-122"/>
                <a:sym typeface="+mn-ea"/>
              </a:rPr>
              <a:t>算法执行时间的增长率和f(n)的增长率相同</a:t>
            </a:r>
            <a:r>
              <a:rPr lang="zh-CN" altLang="en-US" dirty="0">
                <a:latin typeface="百度综艺简体" panose="02010601030101010101" charset="-122"/>
                <a:ea typeface="百度综艺简体" panose="02010601030101010101" charset="-122"/>
                <a:sym typeface="+mn-ea"/>
              </a:rPr>
              <a:t>，则可记作：</a:t>
            </a:r>
            <a:endParaRPr lang="zh-CN" altLang="en-US" dirty="0">
              <a:latin typeface="百度综艺简体" panose="02010601030101010101" charset="-122"/>
              <a:ea typeface="百度综艺简体" panose="02010601030101010101" charset="-122"/>
            </a:endParaRPr>
          </a:p>
        </p:txBody>
      </p:sp>
      <p:sp>
        <p:nvSpPr>
          <p:cNvPr id="3" name="TextBox 5"/>
          <p:cNvSpPr txBox="1">
            <a:spLocks noChangeArrowheads="1"/>
          </p:cNvSpPr>
          <p:nvPr/>
        </p:nvSpPr>
        <p:spPr bwMode="auto">
          <a:xfrm>
            <a:off x="2375535" y="3064510"/>
            <a:ext cx="5943326" cy="506730"/>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sym typeface="+mn-ea"/>
              </a:rPr>
              <a:t>T (n) = O(f(n)) </a:t>
            </a:r>
            <a:r>
              <a:rPr lang="zh-CN" altLang="en-US" dirty="0" smtClean="0">
                <a:latin typeface="百度综艺简体" panose="02010601030101010101" charset="-122"/>
                <a:ea typeface="百度综艺简体" panose="02010601030101010101" charset="-122"/>
                <a:sym typeface="+mn-ea"/>
              </a:rPr>
              <a:t>   </a:t>
            </a:r>
            <a:r>
              <a:rPr lang="zh-CN" altLang="en-US" dirty="0" smtClean="0">
                <a:solidFill>
                  <a:schemeClr val="accent1"/>
                </a:solidFill>
                <a:latin typeface="百度综艺简体" panose="02010601030101010101" charset="-122"/>
                <a:ea typeface="百度综艺简体" panose="02010601030101010101" charset="-122"/>
                <a:sym typeface="+mn-ea"/>
              </a:rPr>
              <a:t>n</a:t>
            </a:r>
            <a:r>
              <a:rPr lang="zh-CN" altLang="en-US" dirty="0">
                <a:solidFill>
                  <a:schemeClr val="accent1"/>
                </a:solidFill>
                <a:latin typeface="百度综艺简体" panose="02010601030101010101" charset="-122"/>
                <a:ea typeface="百度综艺简体" panose="02010601030101010101" charset="-122"/>
                <a:sym typeface="+mn-ea"/>
              </a:rPr>
              <a:t>趋于</a:t>
            </a:r>
            <a:r>
              <a:rPr lang="zh-CN" altLang="en-US" dirty="0" smtClean="0">
                <a:solidFill>
                  <a:schemeClr val="accent1"/>
                </a:solidFill>
                <a:latin typeface="百度综艺简体" panose="02010601030101010101" charset="-122"/>
                <a:ea typeface="百度综艺简体" panose="02010601030101010101" charset="-122"/>
                <a:sym typeface="+mn-ea"/>
              </a:rPr>
              <a:t>无穷时</a:t>
            </a:r>
            <a:r>
              <a:rPr lang="zh-CN" altLang="en-US" dirty="0">
                <a:solidFill>
                  <a:schemeClr val="accent1"/>
                </a:solidFill>
                <a:latin typeface="百度综艺简体" panose="02010601030101010101" charset="-122"/>
                <a:ea typeface="百度综艺简体" panose="02010601030101010101" charset="-122"/>
                <a:sym typeface="+mn-ea"/>
              </a:rPr>
              <a:t>的数量级</a:t>
            </a:r>
            <a:r>
              <a:rPr lang="zh-CN" altLang="en-US" dirty="0">
                <a:latin typeface="百度综艺简体" panose="02010601030101010101" charset="-122"/>
                <a:ea typeface="百度综艺简体" panose="02010601030101010101" charset="-122"/>
                <a:sym typeface="+mn-ea"/>
              </a:rPr>
              <a:t>。</a:t>
            </a:r>
            <a:endParaRPr lang="zh-CN" altLang="en-US" dirty="0">
              <a:latin typeface="百度综艺简体" panose="02010601030101010101" charset="-122"/>
              <a:ea typeface="百度综艺简体" panose="02010601030101010101" charset="-122"/>
            </a:endParaRPr>
          </a:p>
        </p:txBody>
      </p:sp>
      <p:sp>
        <p:nvSpPr>
          <p:cNvPr id="4" name="TextBox 5"/>
          <p:cNvSpPr txBox="1">
            <a:spLocks noChangeArrowheads="1"/>
          </p:cNvSpPr>
          <p:nvPr/>
        </p:nvSpPr>
        <p:spPr bwMode="auto">
          <a:xfrm>
            <a:off x="2343785" y="3623310"/>
            <a:ext cx="4756785" cy="506730"/>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sym typeface="+mn-ea"/>
              </a:rPr>
              <a:t>称O(f(n))为算法的</a:t>
            </a:r>
            <a:r>
              <a:rPr lang="zh-CN" altLang="en-US" dirty="0">
                <a:solidFill>
                  <a:srgbClr val="FF0000"/>
                </a:solidFill>
                <a:latin typeface="百度综艺简体" panose="02010601030101010101" charset="-122"/>
                <a:ea typeface="百度综艺简体" panose="02010601030101010101" charset="-122"/>
                <a:sym typeface="+mn-ea"/>
              </a:rPr>
              <a:t>(渐近)时间复杂度</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1" presetClass="entr" presetSubtype="0" fill="hold" grpId="0" nodeType="clickEffect">
                                  <p:stCondLst>
                                    <p:cond delay="0"/>
                                  </p:stCondLst>
                                  <p:iterate type="lt">
                                    <p:tmPct val="10000"/>
                                  </p:iterate>
                                  <p:childTnLst>
                                    <p:set>
                                      <p:cBhvr>
                                        <p:cTn id="50" dur="1" fill="hold">
                                          <p:stCondLst>
                                            <p:cond delay="0"/>
                                          </p:stCondLst>
                                        </p:cTn>
                                        <p:tgtEl>
                                          <p:spTgt spid="2"/>
                                        </p:tgtEl>
                                        <p:attrNameLst>
                                          <p:attrName>style.visibility</p:attrName>
                                        </p:attrNameLst>
                                      </p:cBhvr>
                                      <p:to>
                                        <p:strVal val="visible"/>
                                      </p:to>
                                    </p:set>
                                    <p:anim calcmode="lin" valueType="num">
                                      <p:cBhvr>
                                        <p:cTn id="5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
                                        </p:tgtEl>
                                        <p:attrNameLst>
                                          <p:attrName>ppt_y</p:attrName>
                                        </p:attrNameLst>
                                      </p:cBhvr>
                                      <p:tavLst>
                                        <p:tav tm="0">
                                          <p:val>
                                            <p:strVal val="#ppt_y"/>
                                          </p:val>
                                        </p:tav>
                                        <p:tav tm="100000">
                                          <p:val>
                                            <p:strVal val="#ppt_y"/>
                                          </p:val>
                                        </p:tav>
                                      </p:tavLst>
                                    </p:anim>
                                    <p:anim calcmode="lin" valueType="num">
                                      <p:cBhvr>
                                        <p:cTn id="5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41" presetClass="entr" presetSubtype="0" fill="hold" grpId="0" nodeType="clickEffect">
                                  <p:stCondLst>
                                    <p:cond delay="0"/>
                                  </p:stCondLst>
                                  <p:iterate type="lt">
                                    <p:tmPct val="10000"/>
                                  </p:iterate>
                                  <p:childTnLst>
                                    <p:set>
                                      <p:cBhvr>
                                        <p:cTn id="59" dur="1" fill="hold">
                                          <p:stCondLst>
                                            <p:cond delay="0"/>
                                          </p:stCondLst>
                                        </p:cTn>
                                        <p:tgtEl>
                                          <p:spTgt spid="3"/>
                                        </p:tgtEl>
                                        <p:attrNameLst>
                                          <p:attrName>style.visibility</p:attrName>
                                        </p:attrNameLst>
                                      </p:cBhvr>
                                      <p:to>
                                        <p:strVal val="visible"/>
                                      </p:to>
                                    </p:set>
                                    <p:anim calcmode="lin" valueType="num">
                                      <p:cBhvr>
                                        <p:cTn id="60"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3"/>
                                        </p:tgtEl>
                                        <p:attrNameLst>
                                          <p:attrName>ppt_y</p:attrName>
                                        </p:attrNameLst>
                                      </p:cBhvr>
                                      <p:tavLst>
                                        <p:tav tm="0">
                                          <p:val>
                                            <p:strVal val="#ppt_y"/>
                                          </p:val>
                                        </p:tav>
                                        <p:tav tm="100000">
                                          <p:val>
                                            <p:strVal val="#ppt_y"/>
                                          </p:val>
                                        </p:tav>
                                      </p:tavLst>
                                    </p:anim>
                                    <p:anim calcmode="lin" valueType="num">
                                      <p:cBhvr>
                                        <p:cTn id="62"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3"/>
                                        </p:tgtEl>
                                      </p:cBhvr>
                                    </p:animEffect>
                                  </p:childTnLst>
                                </p:cTn>
                              </p:par>
                            </p:childTnLst>
                          </p:cTn>
                        </p:par>
                      </p:childTnLst>
                    </p:cTn>
                  </p:par>
                  <p:par>
                    <p:cTn id="65" fill="hold">
                      <p:stCondLst>
                        <p:cond delay="indefinite"/>
                      </p:stCondLst>
                      <p:childTnLst>
                        <p:par>
                          <p:cTn id="66" fill="hold">
                            <p:stCondLst>
                              <p:cond delay="0"/>
                            </p:stCondLst>
                            <p:childTnLst>
                              <p:par>
                                <p:cTn id="67" presetID="41" presetClass="entr" presetSubtype="0" fill="hold" grpId="0" nodeType="clickEffect">
                                  <p:stCondLst>
                                    <p:cond delay="0"/>
                                  </p:stCondLst>
                                  <p:iterate type="lt">
                                    <p:tmPct val="10000"/>
                                  </p:iterate>
                                  <p:childTnLst>
                                    <p:set>
                                      <p:cBhvr>
                                        <p:cTn id="68" dur="1" fill="hold">
                                          <p:stCondLst>
                                            <p:cond delay="0"/>
                                          </p:stCondLst>
                                        </p:cTn>
                                        <p:tgtEl>
                                          <p:spTgt spid="4"/>
                                        </p:tgtEl>
                                        <p:attrNameLst>
                                          <p:attrName>style.visibility</p:attrName>
                                        </p:attrNameLst>
                                      </p:cBhvr>
                                      <p:to>
                                        <p:strVal val="visible"/>
                                      </p:to>
                                    </p:set>
                                    <p:anim calcmode="lin" valueType="num">
                                      <p:cBhvr>
                                        <p:cTn id="6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70" dur="500" fill="hold"/>
                                        <p:tgtEl>
                                          <p:spTgt spid="4"/>
                                        </p:tgtEl>
                                        <p:attrNameLst>
                                          <p:attrName>ppt_y</p:attrName>
                                        </p:attrNameLst>
                                      </p:cBhvr>
                                      <p:tavLst>
                                        <p:tav tm="0">
                                          <p:val>
                                            <p:strVal val="#ppt_y"/>
                                          </p:val>
                                        </p:tav>
                                        <p:tav tm="100000">
                                          <p:val>
                                            <p:strVal val="#ppt_y"/>
                                          </p:val>
                                        </p:tav>
                                      </p:tavLst>
                                    </p:anim>
                                    <p:anim calcmode="lin" valueType="num">
                                      <p:cBhvr>
                                        <p:cTn id="7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7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73" dur="5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2" grpId="0" autoUpdateAnimBg="0"/>
      <p:bldP spid="3" grpId="0" autoUpdateAnimBg="0"/>
      <p:bldP spid="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601564" y="1511391"/>
            <a:ext cx="7723505" cy="1753235"/>
          </a:xfrm>
          <a:prstGeom prst="rect">
            <a:avLst/>
          </a:prstGeom>
          <a:noFill/>
          <a:ln w="9525">
            <a:noFill/>
            <a:miter lim="800000"/>
          </a:ln>
        </p:spPr>
        <p:txBody>
          <a:bodyPr wrap="square">
            <a:spAutoFit/>
          </a:bodyPr>
          <a:lstStyle/>
          <a:p>
            <a:pPr lvl="1" fontAlgn="auto">
              <a:lnSpc>
                <a:spcPct val="150000"/>
              </a:lnSpc>
              <a:spcBef>
                <a:spcPts val="0"/>
              </a:spcBef>
            </a:pPr>
            <a:r>
              <a:rPr lang="zh-CN" altLang="en-US" dirty="0">
                <a:latin typeface="百度综艺简体" panose="02010601030101010101" charset="-122"/>
                <a:ea typeface="百度综艺简体" panose="02010601030101010101" charset="-122"/>
                <a:sym typeface="+mn-ea"/>
              </a:rPr>
              <a:t>如果存在着正的常数 C 和自然数 n</a:t>
            </a:r>
            <a:r>
              <a:rPr lang="zh-CN" altLang="en-US" baseline="-25000" dirty="0">
                <a:latin typeface="百度综艺简体" panose="02010601030101010101" charset="-122"/>
                <a:ea typeface="百度综艺简体" panose="02010601030101010101" charset="-122"/>
                <a:sym typeface="+mn-ea"/>
              </a:rPr>
              <a:t>0</a:t>
            </a:r>
            <a:r>
              <a:rPr lang="zh-CN" altLang="en-US" dirty="0">
                <a:latin typeface="百度综艺简体" panose="02010601030101010101" charset="-122"/>
                <a:ea typeface="百度综艺简体" panose="02010601030101010101" charset="-122"/>
                <a:sym typeface="+mn-ea"/>
              </a:rPr>
              <a:t>，当 n </a:t>
            </a:r>
            <a:r>
              <a:rPr lang="zh-CN" altLang="en-US" dirty="0" smtClean="0">
                <a:latin typeface="宋体" panose="02010600030101010101" pitchFamily="2" charset="-122"/>
                <a:ea typeface="宋体" panose="02010600030101010101" pitchFamily="2" charset="-122"/>
                <a:sym typeface="+mn-ea"/>
              </a:rPr>
              <a:t>≥</a:t>
            </a:r>
            <a:r>
              <a:rPr lang="zh-CN" altLang="en-US" dirty="0" smtClean="0">
                <a:latin typeface="百度综艺简体" panose="02010601030101010101" charset="-122"/>
                <a:ea typeface="百度综艺简体" panose="02010601030101010101" charset="-122"/>
                <a:sym typeface="+mn-ea"/>
              </a:rPr>
              <a:t> </a:t>
            </a:r>
            <a:r>
              <a:rPr lang="zh-CN" altLang="en-US" dirty="0">
                <a:latin typeface="百度综艺简体" panose="02010601030101010101" charset="-122"/>
                <a:ea typeface="百度综艺简体" panose="02010601030101010101" charset="-122"/>
                <a:sym typeface="+mn-ea"/>
              </a:rPr>
              <a:t>n</a:t>
            </a:r>
            <a:r>
              <a:rPr lang="zh-CN" altLang="en-US" baseline="-25000" dirty="0" smtClean="0">
                <a:latin typeface="百度综艺简体" panose="02010601030101010101" charset="-122"/>
                <a:ea typeface="百度综艺简体" panose="02010601030101010101" charset="-122"/>
                <a:sym typeface="+mn-ea"/>
              </a:rPr>
              <a:t>0 </a:t>
            </a:r>
            <a:r>
              <a:rPr lang="zh-CN" altLang="en-US" dirty="0" smtClean="0">
                <a:latin typeface="百度综艺简体" panose="02010601030101010101" charset="-122"/>
                <a:ea typeface="百度综艺简体" panose="02010601030101010101" charset="-122"/>
                <a:sym typeface="+mn-ea"/>
              </a:rPr>
              <a:t>时</a:t>
            </a:r>
            <a:r>
              <a:rPr lang="zh-CN" altLang="en-US" dirty="0">
                <a:latin typeface="百度综艺简体" panose="02010601030101010101" charset="-122"/>
                <a:ea typeface="百度综艺简体" panose="02010601030101010101" charset="-122"/>
                <a:sym typeface="+mn-ea"/>
              </a:rPr>
              <a:t>；有 </a:t>
            </a:r>
            <a:r>
              <a:rPr lang="en-US" altLang="zh-CN" dirty="0" smtClean="0">
                <a:latin typeface="百度综艺简体" panose="02010601030101010101" charset="-122"/>
                <a:ea typeface="百度综艺简体" panose="02010601030101010101" charset="-122"/>
                <a:sym typeface="+mn-ea"/>
              </a:rPr>
              <a:t>T</a:t>
            </a:r>
            <a:r>
              <a:rPr lang="zh-CN" altLang="en-US" dirty="0" smtClean="0">
                <a:latin typeface="百度综艺简体" panose="02010601030101010101" charset="-122"/>
                <a:ea typeface="百度综艺简体" panose="02010601030101010101" charset="-122"/>
                <a:sym typeface="+mn-ea"/>
              </a:rPr>
              <a:t> </a:t>
            </a:r>
            <a:r>
              <a:rPr lang="zh-CN" altLang="en-US" dirty="0">
                <a:latin typeface="百度综艺简体" panose="02010601030101010101" charset="-122"/>
                <a:ea typeface="百度综艺简体" panose="02010601030101010101" charset="-122"/>
                <a:sym typeface="+mn-ea"/>
              </a:rPr>
              <a:t>(n) </a:t>
            </a:r>
            <a:r>
              <a:rPr lang="zh-CN" altLang="en-US" dirty="0" smtClean="0">
                <a:latin typeface="百度综艺简体" panose="02010601030101010101" charset="-122"/>
                <a:ea typeface="百度综艺简体" panose="02010601030101010101" charset="-122"/>
                <a:sym typeface="+mn-ea"/>
              </a:rPr>
              <a:t>≤ </a:t>
            </a:r>
            <a:r>
              <a:rPr lang="zh-CN" altLang="en-US" dirty="0">
                <a:latin typeface="百度综艺简体" panose="02010601030101010101" charset="-122"/>
                <a:ea typeface="百度综艺简体" panose="02010601030101010101" charset="-122"/>
                <a:sym typeface="+mn-ea"/>
              </a:rPr>
              <a:t>Cf(n) 成立，则称 </a:t>
            </a:r>
            <a:r>
              <a:rPr lang="en-US" altLang="zh-CN" dirty="0" smtClean="0">
                <a:latin typeface="百度综艺简体" panose="02010601030101010101" charset="-122"/>
                <a:ea typeface="百度综艺简体" panose="02010601030101010101" charset="-122"/>
                <a:sym typeface="+mn-ea"/>
              </a:rPr>
              <a:t>T</a:t>
            </a:r>
            <a:r>
              <a:rPr lang="zh-CN" altLang="en-US" dirty="0" smtClean="0">
                <a:latin typeface="百度综艺简体" panose="02010601030101010101" charset="-122"/>
                <a:ea typeface="百度综艺简体" panose="02010601030101010101" charset="-122"/>
                <a:sym typeface="+mn-ea"/>
              </a:rPr>
              <a:t>( </a:t>
            </a:r>
            <a:r>
              <a:rPr lang="zh-CN" altLang="en-US" dirty="0">
                <a:latin typeface="百度综艺简体" panose="02010601030101010101" charset="-122"/>
                <a:ea typeface="百度综艺简体" panose="02010601030101010101" charset="-122"/>
                <a:sym typeface="+mn-ea"/>
              </a:rPr>
              <a:t>n ) = O（f( n )) 。</a:t>
            </a:r>
            <a:endParaRPr lang="zh-CN" altLang="en-US" dirty="0">
              <a:solidFill>
                <a:schemeClr val="tx1"/>
              </a:solidFill>
              <a:latin typeface="百度综艺简体" panose="02010601030101010101" charset="-122"/>
              <a:ea typeface="百度综艺简体" panose="02010601030101010101" charset="-122"/>
            </a:endParaRPr>
          </a:p>
          <a:p>
            <a:pPr lvl="1" fontAlgn="auto">
              <a:lnSpc>
                <a:spcPct val="150000"/>
              </a:lnSpc>
              <a:spcBef>
                <a:spcPts val="0"/>
              </a:spcBef>
            </a:pPr>
            <a:r>
              <a:rPr lang="zh-CN" altLang="en-US" dirty="0">
                <a:latin typeface="百度综艺简体" panose="02010601030101010101" charset="-122"/>
                <a:ea typeface="百度综艺简体" panose="02010601030101010101" charset="-122"/>
                <a:sym typeface="+mn-ea"/>
              </a:rPr>
              <a:t>在算法分析中， 如果一个的算法的</a:t>
            </a:r>
            <a:r>
              <a:rPr lang="zh-CN" altLang="en-US" b="1" dirty="0">
                <a:latin typeface="百度综艺简体" panose="02010601030101010101" charset="-122"/>
                <a:ea typeface="百度综艺简体" panose="02010601030101010101" charset="-122"/>
                <a:sym typeface="+mn-ea"/>
              </a:rPr>
              <a:t>时间</a:t>
            </a:r>
            <a:r>
              <a:rPr lang="zh-CN" altLang="en-US" b="1" dirty="0" smtClean="0">
                <a:latin typeface="百度综艺简体" panose="02010601030101010101" charset="-122"/>
                <a:ea typeface="百度综艺简体" panose="02010601030101010101" charset="-122"/>
                <a:sym typeface="+mn-ea"/>
              </a:rPr>
              <a:t>复杂度</a:t>
            </a:r>
            <a:r>
              <a:rPr lang="zh-CN" altLang="en-US" dirty="0" smtClean="0">
                <a:latin typeface="百度综艺简体" panose="02010601030101010101" charset="-122"/>
                <a:ea typeface="百度综艺简体" panose="02010601030101010101" charset="-122"/>
                <a:sym typeface="+mn-ea"/>
              </a:rPr>
              <a:t>是</a:t>
            </a:r>
            <a:r>
              <a:rPr lang="zh-CN" altLang="en-US" dirty="0">
                <a:latin typeface="百度综艺简体" panose="02010601030101010101" charset="-122"/>
                <a:ea typeface="百度综艺简体" panose="02010601030101010101" charset="-122"/>
                <a:sym typeface="+mn-ea"/>
              </a:rPr>
              <a:t>O(f( n ))，读作 f( n )  “ 级  ” 的或 “ 阶 ” 的。 如： 线性阶的、平方阶的、立方阶的 ……</a:t>
            </a:r>
            <a:endParaRPr lang="zh-CN" altLang="en-US"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 Placeholder 11"/>
          <p:cNvSpPr txBox="1"/>
          <p:nvPr/>
        </p:nvSpPr>
        <p:spPr>
          <a:xfrm>
            <a:off x="557286" y="970170"/>
            <a:ext cx="4187895"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大</a:t>
            </a:r>
            <a:r>
              <a:rPr lang="en-US" altLang="zh-CN" sz="2000" dirty="0">
                <a:solidFill>
                  <a:schemeClr val="accent1"/>
                </a:solidFill>
                <a:latin typeface="百度综艺简体" panose="02010601030101010101" charset="-122"/>
                <a:ea typeface="百度综艺简体" panose="02010601030101010101" charset="-122"/>
              </a:rPr>
              <a:t>O</a:t>
            </a:r>
            <a:r>
              <a:rPr lang="zh-CN" altLang="en-US" sz="2000" dirty="0">
                <a:solidFill>
                  <a:schemeClr val="accent1"/>
                </a:solidFill>
                <a:latin typeface="百度综艺简体" panose="02010601030101010101" charset="-122"/>
                <a:ea typeface="百度综艺简体" panose="02010601030101010101" charset="-122"/>
              </a:rPr>
              <a:t>表示</a:t>
            </a:r>
            <a:r>
              <a:rPr lang="zh-CN" altLang="en-US" sz="2000" dirty="0" smtClean="0">
                <a:solidFill>
                  <a:schemeClr val="accent1"/>
                </a:solidFill>
                <a:latin typeface="百度综艺简体" panose="02010601030101010101" charset="-122"/>
                <a:ea typeface="百度综艺简体" panose="02010601030101010101" charset="-122"/>
              </a:rPr>
              <a:t>法定义：</a:t>
            </a:r>
            <a:endPar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4799" y="-111021"/>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696897" y="1495784"/>
            <a:ext cx="7327087" cy="584775"/>
          </a:xfrm>
          <a:prstGeom prst="rect">
            <a:avLst/>
          </a:prstGeom>
          <a:noFill/>
          <a:ln w="9525">
            <a:noFill/>
            <a:miter lim="800000"/>
          </a:ln>
        </p:spPr>
        <p:txBody>
          <a:bodyPr wrap="square">
            <a:spAutoFit/>
          </a:bodyPr>
          <a:lstStyle/>
          <a:p>
            <a:pPr marL="0" lvl="1" defTabSz="911225">
              <a:spcBef>
                <a:spcPct val="20000"/>
              </a:spcBef>
            </a:pPr>
            <a:r>
              <a:rPr lang="en-US" altLang="zh-CN" sz="1600" dirty="0" smtClean="0">
                <a:latin typeface="百度综艺简体" panose="02010601030101010101" charset="-122"/>
                <a:ea typeface="百度综艺简体" panose="02010601030101010101" charset="-122"/>
              </a:rPr>
              <a:t>       =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a:latin typeface="百度综艺简体" panose="02010601030101010101" charset="-122"/>
                <a:ea typeface="百度综艺简体" panose="02010601030101010101" charset="-122"/>
              </a:rPr>
              <a:t>+2n +1 </a:t>
            </a:r>
            <a:r>
              <a:rPr lang="zh-CN" altLang="en-US" sz="1600" dirty="0">
                <a:latin typeface="百度综艺简体" panose="02010601030101010101" charset="-122"/>
                <a:ea typeface="百度综艺简体" panose="02010601030101010101" charset="-122"/>
                <a:sym typeface="+mn-ea"/>
              </a:rPr>
              <a:t>≤</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+ 2n + 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zh-CN" altLang="zh-CN" sz="1600" dirty="0">
                <a:latin typeface="百度综艺简体" panose="02010601030101010101" charset="-122"/>
                <a:ea typeface="百度综艺简体" panose="02010601030101010101" charset="-122"/>
              </a:rPr>
              <a:t>在 </a:t>
            </a:r>
            <a:r>
              <a:rPr lang="en-US" altLang="zh-CN" sz="1600" dirty="0">
                <a:latin typeface="百度综艺简体" panose="02010601030101010101" charset="-122"/>
                <a:ea typeface="百度综艺简体" panose="02010601030101010101" charset="-122"/>
              </a:rPr>
              <a:t>n=1 </a:t>
            </a:r>
            <a:r>
              <a:rPr lang="zh-CN" altLang="zh-CN" sz="1600" dirty="0">
                <a:latin typeface="百度综艺简体" panose="02010601030101010101" charset="-122"/>
                <a:ea typeface="百度综艺简体" panose="02010601030101010101" charset="-122"/>
              </a:rPr>
              <a:t>时，等式成立，</a:t>
            </a:r>
            <a:r>
              <a:rPr lang="en-US" altLang="zh-CN" sz="1600" dirty="0">
                <a:latin typeface="百度综艺简体" panose="02010601030101010101" charset="-122"/>
                <a:ea typeface="百度综艺简体" panose="02010601030101010101" charset="-122"/>
              </a:rPr>
              <a:t>n&gt;1 </a:t>
            </a:r>
            <a:r>
              <a:rPr lang="zh-CN" altLang="zh-CN" sz="1600" dirty="0">
                <a:latin typeface="百度综艺简体" panose="02010601030101010101" charset="-122"/>
                <a:ea typeface="百度综艺简体" panose="02010601030101010101" charset="-122"/>
              </a:rPr>
              <a:t>时，&lt; 式</a:t>
            </a:r>
            <a:r>
              <a:rPr lang="zh-CN" altLang="zh-CN" sz="1600" dirty="0" smtClean="0">
                <a:latin typeface="百度综艺简体" panose="02010601030101010101" charset="-122"/>
                <a:ea typeface="百度综艺简体" panose="02010601030101010101" charset="-122"/>
              </a:rPr>
              <a:t>成立</a:t>
            </a:r>
            <a:r>
              <a:rPr lang="en-US" altLang="zh-CN" sz="1600" dirty="0" smtClean="0">
                <a:latin typeface="百度综艺简体" panose="02010601030101010101" charset="-122"/>
                <a:ea typeface="百度综艺简体" panose="02010601030101010101" charset="-122"/>
              </a:rPr>
              <a:t> </a:t>
            </a:r>
            <a:r>
              <a:rPr lang="zh-CN" altLang="en-US" sz="1600" dirty="0" smtClean="0">
                <a:latin typeface="百度综艺简体" panose="02010601030101010101" charset="-122"/>
                <a:ea typeface="百度综艺简体" panose="02010601030101010101" charset="-122"/>
              </a:rPr>
              <a:t>，</a:t>
            </a:r>
            <a:r>
              <a:rPr lang="zh-CN" altLang="zh-CN" sz="1600" dirty="0" smtClean="0">
                <a:latin typeface="百度综艺简体" panose="02010601030101010101" charset="-122"/>
                <a:ea typeface="百度综艺简体" panose="02010601030101010101" charset="-122"/>
              </a:rPr>
              <a:t>选 </a:t>
            </a:r>
            <a:r>
              <a:rPr lang="zh-CN" altLang="en-US" sz="1600" dirty="0">
                <a:latin typeface="百度综艺简体" panose="02010601030101010101" charset="-122"/>
                <a:ea typeface="百度综艺简体" panose="02010601030101010101" charset="-122"/>
                <a:sym typeface="+mn-ea"/>
              </a:rPr>
              <a:t>n</a:t>
            </a:r>
            <a:r>
              <a:rPr lang="zh-CN" altLang="en-US" sz="1600" baseline="-25000" dirty="0">
                <a:latin typeface="百度综艺简体" panose="02010601030101010101" charset="-122"/>
                <a:ea typeface="百度综艺简体" panose="02010601030101010101" charset="-122"/>
                <a:sym typeface="+mn-ea"/>
              </a:rPr>
              <a:t>0</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1, C=4 ; T(n) </a:t>
            </a:r>
            <a:r>
              <a:rPr lang="zh-CN" altLang="en-US" sz="1600" dirty="0">
                <a:latin typeface="百度综艺简体" panose="02010601030101010101" charset="-122"/>
                <a:ea typeface="百度综艺简体" panose="02010601030101010101" charset="-122"/>
                <a:sym typeface="+mn-ea"/>
              </a:rPr>
              <a:t>≤</a:t>
            </a:r>
            <a:r>
              <a:rPr lang="en-US" altLang="zh-CN" sz="1600" dirty="0" smtClean="0">
                <a:latin typeface="百度综艺简体" panose="02010601030101010101" charset="-122"/>
                <a:ea typeface="百度综艺简体" panose="02010601030101010101" charset="-122"/>
              </a:rPr>
              <a:t> 4n</a:t>
            </a:r>
            <a:r>
              <a:rPr lang="en-US" altLang="zh-CN" sz="1600" baseline="30000" dirty="0" smtClean="0">
                <a:latin typeface="百度综艺简体" panose="02010601030101010101" charset="-122"/>
                <a:ea typeface="百度综艺简体" panose="02010601030101010101" charset="-122"/>
              </a:rPr>
              <a:t>2 </a:t>
            </a:r>
            <a:r>
              <a:rPr lang="zh-CN" altLang="en-US" sz="1600" dirty="0" smtClean="0">
                <a:latin typeface="百度综艺简体" panose="02010601030101010101" charset="-122"/>
                <a:ea typeface="百度综艺简体" panose="02010601030101010101" charset="-122"/>
              </a:rPr>
              <a:t>。</a:t>
            </a:r>
            <a:r>
              <a:rPr lang="zh-CN" altLang="zh-CN" sz="1600" dirty="0">
                <a:latin typeface="百度综艺简体" panose="02010601030101010101" charset="-122"/>
                <a:ea typeface="百度综艺简体" panose="02010601030101010101" charset="-122"/>
              </a:rPr>
              <a:t>所以，</a:t>
            </a:r>
            <a:r>
              <a:rPr lang="en-US" altLang="zh-CN" sz="1600" dirty="0">
                <a:latin typeface="百度综艺简体" panose="02010601030101010101" charset="-122"/>
                <a:ea typeface="百度综艺简体" panose="02010601030101010101" charset="-122"/>
              </a:rPr>
              <a:t>T(n) = O(n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a:t>
            </a:r>
            <a:endParaRPr lang="en-US" altLang="zh-CN" sz="1600"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 Placeholder 11"/>
          <p:cNvSpPr txBox="1"/>
          <p:nvPr/>
        </p:nvSpPr>
        <p:spPr>
          <a:xfrm>
            <a:off x="557286" y="829168"/>
            <a:ext cx="4187895"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大</a:t>
            </a:r>
            <a:r>
              <a:rPr lang="en-US" altLang="zh-CN" sz="2000" dirty="0">
                <a:solidFill>
                  <a:schemeClr val="accent1"/>
                </a:solidFill>
                <a:latin typeface="百度综艺简体" panose="02010601030101010101" charset="-122"/>
                <a:ea typeface="百度综艺简体" panose="02010601030101010101" charset="-122"/>
              </a:rPr>
              <a:t>O</a:t>
            </a:r>
            <a:r>
              <a:rPr lang="zh-CN" altLang="en-US" sz="2000" dirty="0">
                <a:solidFill>
                  <a:schemeClr val="accent1"/>
                </a:solidFill>
                <a:latin typeface="百度综艺简体" panose="02010601030101010101" charset="-122"/>
                <a:ea typeface="百度综艺简体" panose="02010601030101010101" charset="-122"/>
              </a:rPr>
              <a:t>表示法：</a:t>
            </a:r>
            <a:endPar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2" name="Text Placeholder 11"/>
          <p:cNvSpPr txBox="1"/>
          <p:nvPr/>
        </p:nvSpPr>
        <p:spPr>
          <a:xfrm>
            <a:off x="811387" y="1233174"/>
            <a:ext cx="2645695"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1600" dirty="0" smtClean="0">
                <a:solidFill>
                  <a:schemeClr val="accent1"/>
                </a:solidFill>
                <a:latin typeface="百度综艺简体" panose="02010601030101010101" charset="-122"/>
                <a:ea typeface="百度综艺简体" panose="02010601030101010101" charset="-122"/>
              </a:rPr>
              <a:t>例</a:t>
            </a:r>
            <a:r>
              <a:rPr lang="en-US" altLang="zh-CN" sz="1600" dirty="0" smtClean="0">
                <a:solidFill>
                  <a:schemeClr val="accent1"/>
                </a:solidFill>
                <a:latin typeface="百度综艺简体" panose="02010601030101010101" charset="-122"/>
                <a:ea typeface="百度综艺简体" panose="02010601030101010101" charset="-122"/>
              </a:rPr>
              <a:t>1</a:t>
            </a:r>
            <a:r>
              <a:rPr lang="zh-CN" altLang="en-US" sz="1600" dirty="0" smtClean="0">
                <a:solidFill>
                  <a:schemeClr val="accent1"/>
                </a:solidFill>
                <a:latin typeface="百度综艺简体" panose="02010601030101010101" charset="-122"/>
                <a:ea typeface="百度综艺简体" panose="02010601030101010101" charset="-122"/>
              </a:rPr>
              <a:t>、 设 </a:t>
            </a:r>
            <a:r>
              <a:rPr lang="en-US" altLang="zh-CN" sz="1600" dirty="0" smtClean="0">
                <a:solidFill>
                  <a:schemeClr val="accent1"/>
                </a:solidFill>
                <a:latin typeface="百度综艺简体" panose="02010601030101010101" charset="-122"/>
                <a:ea typeface="百度综艺简体" panose="02010601030101010101" charset="-122"/>
              </a:rPr>
              <a:t>T(n) = (n+1)</a:t>
            </a:r>
            <a:r>
              <a:rPr lang="en-US" altLang="zh-CN" sz="1600" baseline="30000" dirty="0" smtClean="0">
                <a:solidFill>
                  <a:schemeClr val="accent1"/>
                </a:solidFill>
                <a:latin typeface="百度综艺简体" panose="02010601030101010101" charset="-122"/>
                <a:ea typeface="百度综艺简体" panose="02010601030101010101" charset="-122"/>
              </a:rPr>
              <a:t>2</a:t>
            </a:r>
            <a:r>
              <a:rPr lang="en-US" altLang="zh-CN" sz="1600" dirty="0" smtClean="0">
                <a:solidFill>
                  <a:schemeClr val="accent1"/>
                </a:solidFill>
                <a:latin typeface="百度综艺简体" panose="02010601030101010101" charset="-122"/>
                <a:ea typeface="百度综艺简体" panose="02010601030101010101" charset="-122"/>
              </a:rPr>
              <a:t> </a:t>
            </a:r>
            <a:endParaRPr lang="zh-CN" sz="16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14" name="Text Placeholder 11"/>
          <p:cNvSpPr txBox="1"/>
          <p:nvPr/>
        </p:nvSpPr>
        <p:spPr>
          <a:xfrm>
            <a:off x="402637" y="2279139"/>
            <a:ext cx="3774482"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lvl="1" indent="0">
              <a:spcBef>
                <a:spcPct val="50000"/>
              </a:spcBef>
              <a:buNone/>
            </a:pPr>
            <a:r>
              <a:rPr lang="zh-CN" altLang="en-US" sz="1600" dirty="0">
                <a:solidFill>
                  <a:schemeClr val="accent1"/>
                </a:solidFill>
                <a:latin typeface="百度综艺简体" panose="02010601030101010101" charset="-122"/>
                <a:ea typeface="百度综艺简体" panose="02010601030101010101" charset="-122"/>
              </a:rPr>
              <a:t>例</a:t>
            </a:r>
            <a:r>
              <a:rPr lang="en-US" altLang="zh-CN" sz="1600" dirty="0">
                <a:solidFill>
                  <a:schemeClr val="accent1"/>
                </a:solidFill>
                <a:latin typeface="百度综艺简体" panose="02010601030101010101" charset="-122"/>
                <a:ea typeface="百度综艺简体" panose="02010601030101010101" charset="-122"/>
              </a:rPr>
              <a:t>2</a:t>
            </a:r>
            <a:r>
              <a:rPr lang="zh-CN" altLang="en-US" sz="1600" dirty="0">
                <a:solidFill>
                  <a:schemeClr val="accent1"/>
                </a:solidFill>
                <a:latin typeface="百度综艺简体" panose="02010601030101010101" charset="-122"/>
                <a:ea typeface="百度综艺简体" panose="02010601030101010101" charset="-122"/>
              </a:rPr>
              <a:t>、 设 </a:t>
            </a:r>
            <a:r>
              <a:rPr lang="en-US" altLang="zh-CN" sz="1600" dirty="0">
                <a:solidFill>
                  <a:schemeClr val="accent1"/>
                </a:solidFill>
                <a:latin typeface="百度综艺简体" panose="02010601030101010101" charset="-122"/>
                <a:ea typeface="百度综艺简体" panose="02010601030101010101" charset="-122"/>
              </a:rPr>
              <a:t>T(n) = 3n</a:t>
            </a:r>
            <a:r>
              <a:rPr lang="en-US" altLang="zh-CN" sz="1600" baseline="30000" dirty="0">
                <a:solidFill>
                  <a:schemeClr val="accent1"/>
                </a:solidFill>
                <a:latin typeface="百度综艺简体" panose="02010601030101010101" charset="-122"/>
                <a:ea typeface="百度综艺简体" panose="02010601030101010101" charset="-122"/>
              </a:rPr>
              <a:t>3</a:t>
            </a:r>
            <a:r>
              <a:rPr lang="en-US" altLang="zh-CN" sz="1600" dirty="0">
                <a:solidFill>
                  <a:schemeClr val="accent1"/>
                </a:solidFill>
                <a:latin typeface="百度综艺简体" panose="02010601030101010101" charset="-122"/>
                <a:ea typeface="百度综艺简体" panose="02010601030101010101" charset="-122"/>
              </a:rPr>
              <a:t>+2n</a:t>
            </a:r>
            <a:r>
              <a:rPr lang="en-US" altLang="zh-CN" sz="1600" baseline="30000" dirty="0">
                <a:solidFill>
                  <a:schemeClr val="accent1"/>
                </a:solidFill>
                <a:latin typeface="百度综艺简体" panose="02010601030101010101" charset="-122"/>
                <a:ea typeface="百度综艺简体" panose="02010601030101010101" charset="-122"/>
              </a:rPr>
              <a:t>2</a:t>
            </a:r>
          </a:p>
        </p:txBody>
      </p:sp>
      <p:sp>
        <p:nvSpPr>
          <p:cNvPr id="17" name="TextBox 5"/>
          <p:cNvSpPr txBox="1">
            <a:spLocks noChangeArrowheads="1"/>
          </p:cNvSpPr>
          <p:nvPr/>
        </p:nvSpPr>
        <p:spPr bwMode="auto">
          <a:xfrm>
            <a:off x="1516505" y="2632834"/>
            <a:ext cx="7379227" cy="732508"/>
          </a:xfrm>
          <a:prstGeom prst="rect">
            <a:avLst/>
          </a:prstGeom>
          <a:noFill/>
          <a:ln w="9525">
            <a:noFill/>
            <a:miter lim="800000"/>
          </a:ln>
        </p:spPr>
        <p:txBody>
          <a:bodyPr wrap="square">
            <a:spAutoFit/>
          </a:bodyPr>
          <a:lstStyle/>
          <a:p>
            <a:pPr marL="0" lvl="1" defTabSz="911225">
              <a:lnSpc>
                <a:spcPct val="120000"/>
              </a:lnSpc>
              <a:spcBef>
                <a:spcPct val="20000"/>
              </a:spcBef>
            </a:pPr>
            <a:r>
              <a:rPr lang="zh-CN" altLang="zh-CN" sz="1600" dirty="0">
                <a:latin typeface="百度综艺简体" panose="02010601030101010101" charset="-122"/>
                <a:ea typeface="百度综艺简体" panose="02010601030101010101" charset="-122"/>
              </a:rPr>
              <a:t>选 </a:t>
            </a:r>
            <a:r>
              <a:rPr lang="zh-CN" altLang="en-US" sz="1600" dirty="0">
                <a:latin typeface="百度综艺简体" panose="02010601030101010101" charset="-122"/>
                <a:ea typeface="百度综艺简体" panose="02010601030101010101" charset="-122"/>
                <a:sym typeface="+mn-ea"/>
              </a:rPr>
              <a:t>n</a:t>
            </a:r>
            <a:r>
              <a:rPr lang="zh-CN" altLang="en-US" sz="1600" baseline="-25000" dirty="0">
                <a:latin typeface="百度综艺简体" panose="02010601030101010101" charset="-122"/>
                <a:ea typeface="百度综艺简体" panose="02010601030101010101" charset="-122"/>
                <a:sym typeface="+mn-ea"/>
              </a:rPr>
              <a:t>0</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0, C=5 ; T(n) </a:t>
            </a:r>
            <a:r>
              <a:rPr lang="zh-CN" altLang="en-US" sz="1600" dirty="0">
                <a:latin typeface="百度综艺简体" panose="02010601030101010101" charset="-122"/>
                <a:ea typeface="百度综艺简体" panose="02010601030101010101" charset="-122"/>
                <a:sym typeface="+mn-ea"/>
              </a:rPr>
              <a:t>≤ </a:t>
            </a:r>
            <a:r>
              <a:rPr lang="en-US" altLang="zh-CN" sz="1600" dirty="0" smtClean="0">
                <a:latin typeface="百度综艺简体" panose="02010601030101010101" charset="-122"/>
                <a:ea typeface="百度综艺简体" panose="02010601030101010101" charset="-122"/>
              </a:rPr>
              <a:t>5n</a:t>
            </a:r>
            <a:r>
              <a:rPr lang="en-US" altLang="zh-CN" sz="1600" baseline="30000" dirty="0" smtClean="0">
                <a:latin typeface="百度综艺简体" panose="02010601030101010101" charset="-122"/>
                <a:ea typeface="百度综艺简体" panose="02010601030101010101" charset="-122"/>
              </a:rPr>
              <a:t>3</a:t>
            </a:r>
            <a:r>
              <a:rPr lang="zh-CN" altLang="en-US" sz="1600" dirty="0">
                <a:latin typeface="百度综艺简体" panose="02010601030101010101" charset="-122"/>
                <a:ea typeface="百度综艺简体" panose="02010601030101010101" charset="-122"/>
              </a:rPr>
              <a:t>。</a:t>
            </a:r>
            <a:r>
              <a:rPr lang="zh-CN" altLang="zh-CN" sz="1600" dirty="0">
                <a:latin typeface="百度综艺简体" panose="02010601030101010101" charset="-122"/>
                <a:ea typeface="百度综艺简体" panose="02010601030101010101" charset="-122"/>
              </a:rPr>
              <a:t>所以，</a:t>
            </a:r>
            <a:r>
              <a:rPr lang="en-US" altLang="zh-CN" sz="1600" dirty="0">
                <a:latin typeface="百度综艺简体" panose="02010601030101010101" charset="-122"/>
                <a:ea typeface="百度综艺简体" panose="02010601030101010101" charset="-122"/>
              </a:rPr>
              <a:t>T(n) = O(n</a:t>
            </a:r>
            <a:r>
              <a:rPr lang="en-US" altLang="zh-CN" sz="1600" baseline="30000" dirty="0">
                <a:latin typeface="百度综艺简体" panose="02010601030101010101" charset="-122"/>
                <a:ea typeface="百度综艺简体" panose="02010601030101010101" charset="-122"/>
              </a:rPr>
              <a:t>3</a:t>
            </a:r>
            <a:r>
              <a:rPr lang="en-US" altLang="zh-CN" sz="1600" dirty="0" smtClean="0">
                <a:latin typeface="百度综艺简体" panose="02010601030101010101" charset="-122"/>
                <a:ea typeface="百度综艺简体" panose="02010601030101010101" charset="-122"/>
              </a:rPr>
              <a:t>)</a:t>
            </a:r>
            <a:endParaRPr lang="en-US" altLang="zh-CN" sz="1600" dirty="0">
              <a:latin typeface="百度综艺简体" panose="02010601030101010101" charset="-122"/>
              <a:ea typeface="百度综艺简体" panose="02010601030101010101" charset="-122"/>
            </a:endParaRPr>
          </a:p>
          <a:p>
            <a:pPr marL="0" lvl="1" defTabSz="911225">
              <a:lnSpc>
                <a:spcPct val="120000"/>
              </a:lnSpc>
              <a:spcBef>
                <a:spcPct val="20000"/>
              </a:spcBef>
            </a:pPr>
            <a:r>
              <a:rPr lang="en-US" altLang="zh-CN" sz="1600" dirty="0">
                <a:latin typeface="百度综艺简体" panose="02010601030101010101" charset="-122"/>
                <a:ea typeface="百度综艺简体" panose="02010601030101010101" charset="-122"/>
              </a:rPr>
              <a:t>	             </a:t>
            </a:r>
            <a:r>
              <a:rPr lang="zh-CN" altLang="zh-CN" sz="1600" dirty="0">
                <a:latin typeface="百度综艺简体" panose="02010601030101010101" charset="-122"/>
                <a:ea typeface="百度综艺简体" panose="02010601030101010101" charset="-122"/>
              </a:rPr>
              <a:t>同理：选 </a:t>
            </a:r>
            <a:r>
              <a:rPr lang="zh-CN" altLang="en-US" sz="1600" dirty="0">
                <a:latin typeface="百度综艺简体" panose="02010601030101010101" charset="-122"/>
                <a:ea typeface="百度综艺简体" panose="02010601030101010101" charset="-122"/>
                <a:sym typeface="+mn-ea"/>
              </a:rPr>
              <a:t>n</a:t>
            </a:r>
            <a:r>
              <a:rPr lang="zh-CN" altLang="en-US" sz="1600" baseline="-25000" dirty="0">
                <a:latin typeface="百度综艺简体" panose="02010601030101010101" charset="-122"/>
                <a:ea typeface="百度综艺简体" panose="02010601030101010101" charset="-122"/>
                <a:sym typeface="+mn-ea"/>
              </a:rPr>
              <a:t>0</a:t>
            </a:r>
            <a:r>
              <a:rPr lang="en-US" altLang="zh-CN" sz="1600" dirty="0">
                <a:latin typeface="百度综艺简体" panose="02010601030101010101" charset="-122"/>
                <a:ea typeface="百度综艺简体" panose="02010601030101010101" charset="-122"/>
              </a:rPr>
              <a:t> = 0, C=5 ; T(n) </a:t>
            </a:r>
            <a:r>
              <a:rPr lang="zh-CN" altLang="en-US" sz="1600" dirty="0">
                <a:latin typeface="百度综艺简体" panose="02010601030101010101" charset="-122"/>
                <a:ea typeface="百度综艺简体" panose="02010601030101010101" charset="-122"/>
                <a:sym typeface="+mn-ea"/>
              </a:rPr>
              <a:t>≤</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5n</a:t>
            </a:r>
            <a:r>
              <a:rPr lang="en-US" altLang="zh-CN" sz="1600" baseline="30000" dirty="0">
                <a:latin typeface="百度综艺简体" panose="02010601030101010101" charset="-122"/>
                <a:ea typeface="百度综艺简体" panose="02010601030101010101" charset="-122"/>
              </a:rPr>
              <a:t>4</a:t>
            </a:r>
            <a:r>
              <a:rPr lang="zh-CN" altLang="en-US" sz="1600" dirty="0">
                <a:latin typeface="百度综艺简体" panose="02010601030101010101" charset="-122"/>
                <a:ea typeface="百度综艺简体" panose="02010601030101010101" charset="-122"/>
              </a:rPr>
              <a:t>。</a:t>
            </a:r>
            <a:r>
              <a:rPr lang="zh-CN" altLang="zh-CN" sz="1600" dirty="0">
                <a:latin typeface="百度综艺简体" panose="02010601030101010101" charset="-122"/>
                <a:ea typeface="百度综艺简体" panose="02010601030101010101" charset="-122"/>
              </a:rPr>
              <a:t>所以，</a:t>
            </a:r>
            <a:r>
              <a:rPr lang="en-US" altLang="zh-CN" sz="1600" dirty="0">
                <a:latin typeface="百度综艺简体" panose="02010601030101010101" charset="-122"/>
                <a:ea typeface="百度综艺简体" panose="02010601030101010101" charset="-122"/>
              </a:rPr>
              <a:t>T(n) = O(n</a:t>
            </a:r>
            <a:r>
              <a:rPr lang="en-US" altLang="zh-CN" sz="1600" baseline="30000" dirty="0">
                <a:latin typeface="百度综艺简体" panose="02010601030101010101" charset="-122"/>
                <a:ea typeface="百度综艺简体" panose="02010601030101010101" charset="-122"/>
              </a:rPr>
              <a:t>4</a:t>
            </a:r>
            <a:r>
              <a:rPr lang="en-US" altLang="zh-CN" sz="1600" dirty="0" smtClean="0">
                <a:latin typeface="百度综艺简体" panose="02010601030101010101" charset="-122"/>
                <a:ea typeface="百度综艺简体" panose="02010601030101010101" charset="-122"/>
              </a:rPr>
              <a:t>)</a:t>
            </a:r>
            <a:r>
              <a:rPr lang="zh-CN" altLang="en-US" sz="1600" dirty="0">
                <a:latin typeface="百度综艺简体" panose="02010601030101010101" charset="-122"/>
                <a:ea typeface="百度综艺简体" panose="02010601030101010101" charset="-122"/>
              </a:rPr>
              <a:t>？？？</a:t>
            </a:r>
          </a:p>
        </p:txBody>
      </p:sp>
      <p:sp>
        <p:nvSpPr>
          <p:cNvPr id="18" name="TextBox 5"/>
          <p:cNvSpPr txBox="1">
            <a:spLocks noChangeArrowheads="1"/>
          </p:cNvSpPr>
          <p:nvPr/>
        </p:nvSpPr>
        <p:spPr bwMode="auto">
          <a:xfrm>
            <a:off x="1034425" y="3449175"/>
            <a:ext cx="6822084" cy="662489"/>
          </a:xfrm>
          <a:prstGeom prst="rect">
            <a:avLst/>
          </a:prstGeom>
          <a:noFill/>
          <a:ln w="9525">
            <a:noFill/>
            <a:miter lim="800000"/>
          </a:ln>
        </p:spPr>
        <p:txBody>
          <a:bodyPr wrap="square">
            <a:spAutoFit/>
          </a:bodyPr>
          <a:lstStyle/>
          <a:p>
            <a:pPr marL="0" lvl="1" defTabSz="911225">
              <a:lnSpc>
                <a:spcPct val="120000"/>
              </a:lnSpc>
              <a:spcBef>
                <a:spcPct val="20000"/>
              </a:spcBef>
            </a:pPr>
            <a:r>
              <a:rPr lang="zh-CN" altLang="zh-CN" sz="1600" dirty="0">
                <a:latin typeface="百度综艺简体" panose="02010601030101010101" charset="-122"/>
                <a:ea typeface="百度综艺简体" panose="02010601030101010101" charset="-122"/>
              </a:rPr>
              <a:t>在算法分析中，通常所说的找到了时间复杂性的级别，是指找到了同样级别的最简单的函数。</a:t>
            </a:r>
            <a:endParaRPr lang="zh-CN" altLang="en-US" sz="1600" dirty="0">
              <a:latin typeface="百度综艺简体" panose="02010601030101010101" charset="-122"/>
              <a:ea typeface="百度综艺简体" panose="02010601030101010101" charset="-122"/>
            </a:endParaRPr>
          </a:p>
        </p:txBody>
      </p:sp>
      <p:sp>
        <p:nvSpPr>
          <p:cNvPr id="20" name="TextBox 5"/>
          <p:cNvSpPr txBox="1">
            <a:spLocks noChangeArrowheads="1"/>
          </p:cNvSpPr>
          <p:nvPr/>
        </p:nvSpPr>
        <p:spPr bwMode="auto">
          <a:xfrm>
            <a:off x="1034425" y="4140044"/>
            <a:ext cx="7611942" cy="707886"/>
          </a:xfrm>
          <a:prstGeom prst="rect">
            <a:avLst/>
          </a:prstGeom>
          <a:noFill/>
          <a:ln w="9525">
            <a:noFill/>
            <a:miter lim="800000"/>
          </a:ln>
        </p:spPr>
        <p:txBody>
          <a:bodyPr wrap="square">
            <a:spAutoFit/>
          </a:bodyPr>
          <a:lstStyle/>
          <a:p>
            <a:pPr lvl="1">
              <a:spcBef>
                <a:spcPct val="50000"/>
              </a:spcBef>
            </a:pPr>
            <a:r>
              <a:rPr lang="zh-CN" altLang="zh-CN" sz="1600" dirty="0">
                <a:latin typeface="百度综艺简体" panose="02010601030101010101" charset="-122"/>
                <a:ea typeface="百度综艺简体" panose="02010601030101010101" charset="-122"/>
              </a:rPr>
              <a:t>如：307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zh-CN" altLang="en-US"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/2</a:t>
            </a:r>
            <a:r>
              <a:rPr lang="zh-CN" altLang="en-US" sz="1600" dirty="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zh-CN" altLang="zh-CN" sz="1600" dirty="0">
                <a:latin typeface="百度综艺简体" panose="02010601030101010101" charset="-122"/>
                <a:ea typeface="百度综艺简体" panose="02010601030101010101" charset="-122"/>
              </a:rPr>
              <a:t>都是同一级别的函数，最简单的函数</a:t>
            </a:r>
            <a:r>
              <a:rPr lang="zh-CN" altLang="zh-CN" sz="1600" dirty="0" smtClean="0">
                <a:latin typeface="百度综艺简体" panose="02010601030101010101" charset="-122"/>
                <a:ea typeface="百度综艺简体" panose="02010601030101010101" charset="-122"/>
              </a:rPr>
              <a:t>是</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zh-CN" altLang="en-US" sz="1600" dirty="0" smtClean="0">
                <a:latin typeface="百度综艺简体" panose="02010601030101010101" charset="-122"/>
                <a:ea typeface="百度综艺简体" panose="02010601030101010101" charset="-122"/>
              </a:rPr>
              <a:t>。</a:t>
            </a:r>
            <a:endParaRPr lang="en-US" altLang="zh-CN" sz="1600" dirty="0" smtClean="0">
              <a:latin typeface="百度综艺简体" panose="02010601030101010101" charset="-122"/>
              <a:ea typeface="百度综艺简体" panose="02010601030101010101" charset="-122"/>
            </a:endParaRPr>
          </a:p>
          <a:p>
            <a:pPr lvl="1">
              <a:spcBef>
                <a:spcPct val="50000"/>
              </a:spcBef>
            </a:pPr>
            <a:r>
              <a:rPr lang="zh-CN" altLang="zh-CN" sz="1600" dirty="0" smtClean="0">
                <a:latin typeface="百度综艺简体" panose="02010601030101010101" charset="-122"/>
                <a:ea typeface="百度综艺简体" panose="02010601030101010101" charset="-122"/>
              </a:rPr>
              <a:t>所以</a:t>
            </a:r>
            <a:r>
              <a:rPr lang="zh-CN" altLang="zh-CN" sz="1600" dirty="0">
                <a:latin typeface="百度综艺简体" panose="02010601030101010101" charset="-122"/>
                <a:ea typeface="百度综艺简体" panose="02010601030101010101" charset="-122"/>
              </a:rPr>
              <a:t>， </a:t>
            </a:r>
            <a:r>
              <a:rPr lang="zh-CN" altLang="zh-CN" sz="1600" dirty="0" smtClean="0">
                <a:latin typeface="百度综艺简体" panose="02010601030101010101" charset="-122"/>
                <a:ea typeface="百度综艺简体" panose="02010601030101010101" charset="-122"/>
              </a:rPr>
              <a:t>307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zh-CN" altLang="en-US"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/2</a:t>
            </a:r>
            <a:r>
              <a:rPr lang="zh-CN" altLang="en-US" sz="1600" dirty="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zh-CN" altLang="zh-CN" sz="1600" dirty="0">
                <a:latin typeface="百度综艺简体" panose="02010601030101010101" charset="-122"/>
                <a:ea typeface="百度综艺简体" panose="02010601030101010101" charset="-122"/>
              </a:rPr>
              <a:t>的级别都是</a:t>
            </a:r>
            <a:r>
              <a:rPr lang="en-US" altLang="zh-CN" sz="1600" dirty="0">
                <a:latin typeface="百度综艺简体" panose="02010601030101010101" charset="-122"/>
                <a:ea typeface="百度综艺简体" panose="02010601030101010101" charset="-122"/>
              </a:rPr>
              <a:t>O(n</a:t>
            </a:r>
            <a:r>
              <a:rPr lang="en-US" altLang="zh-CN" sz="1600" baseline="30000" dirty="0">
                <a:latin typeface="百度综艺简体" panose="02010601030101010101" charset="-122"/>
                <a:ea typeface="百度综艺简体" panose="02010601030101010101" charset="-122"/>
              </a:rPr>
              <a:t>2</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a:t>
            </a:r>
            <a:r>
              <a:rPr lang="zh-CN" altLang="en-US" sz="1600" dirty="0">
                <a:latin typeface="百度综艺简体" panose="02010601030101010101" charset="-122"/>
                <a:ea typeface="百度综艺简体" panose="02010601030101010101" charset="-122"/>
              </a:rPr>
              <a:t>。</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fade">
                                      <p:cBhvr>
                                        <p:cTn id="58" dur="1000"/>
                                        <p:tgtEl>
                                          <p:spTgt spid="2"/>
                                        </p:tgtEl>
                                      </p:cBhvr>
                                    </p:animEffect>
                                    <p:anim calcmode="lin" valueType="num">
                                      <p:cBhvr>
                                        <p:cTn id="59" dur="1000" fill="hold"/>
                                        <p:tgtEl>
                                          <p:spTgt spid="2"/>
                                        </p:tgtEl>
                                        <p:attrNameLst>
                                          <p:attrName>ppt_x</p:attrName>
                                        </p:attrNameLst>
                                      </p:cBhvr>
                                      <p:tavLst>
                                        <p:tav tm="0">
                                          <p:val>
                                            <p:strVal val="#ppt_x"/>
                                          </p:val>
                                        </p:tav>
                                        <p:tav tm="100000">
                                          <p:val>
                                            <p:strVal val="#ppt_x"/>
                                          </p:val>
                                        </p:tav>
                                      </p:tavLst>
                                    </p:anim>
                                    <p:anim calcmode="lin" valueType="num">
                                      <p:cBhvr>
                                        <p:cTn id="6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1000"/>
                                        <p:tgtEl>
                                          <p:spTgt spid="14"/>
                                        </p:tgtEl>
                                      </p:cBhvr>
                                    </p:animEffect>
                                    <p:anim calcmode="lin" valueType="num">
                                      <p:cBhvr>
                                        <p:cTn id="66" dur="1000" fill="hold"/>
                                        <p:tgtEl>
                                          <p:spTgt spid="14"/>
                                        </p:tgtEl>
                                        <p:attrNameLst>
                                          <p:attrName>ppt_x</p:attrName>
                                        </p:attrNameLst>
                                      </p:cBhvr>
                                      <p:tavLst>
                                        <p:tav tm="0">
                                          <p:val>
                                            <p:strVal val="#ppt_x"/>
                                          </p:val>
                                        </p:tav>
                                        <p:tav tm="100000">
                                          <p:val>
                                            <p:strVal val="#ppt_x"/>
                                          </p:val>
                                        </p:tav>
                                      </p:tavLst>
                                    </p:anim>
                                    <p:anim calcmode="lin" valueType="num">
                                      <p:cBhvr>
                                        <p:cTn id="6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1" presetClass="entr" presetSubtype="0" fill="hold" grpId="0" nodeType="clickEffect">
                                  <p:stCondLst>
                                    <p:cond delay="0"/>
                                  </p:stCondLst>
                                  <p:iterate type="lt">
                                    <p:tmPct val="10000"/>
                                  </p:iterate>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73" dur="500" fill="hold"/>
                                        <p:tgtEl>
                                          <p:spTgt spid="17"/>
                                        </p:tgtEl>
                                        <p:attrNameLst>
                                          <p:attrName>ppt_y</p:attrName>
                                        </p:attrNameLst>
                                      </p:cBhvr>
                                      <p:tavLst>
                                        <p:tav tm="0">
                                          <p:val>
                                            <p:strVal val="#ppt_y"/>
                                          </p:val>
                                        </p:tav>
                                        <p:tav tm="100000">
                                          <p:val>
                                            <p:strVal val="#ppt_y"/>
                                          </p:val>
                                        </p:tav>
                                      </p:tavLst>
                                    </p:anim>
                                    <p:anim calcmode="lin" valueType="num">
                                      <p:cBhvr>
                                        <p:cTn id="74"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75"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76" dur="500" tmFilter="0,0; .5, 1; 1, 1"/>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41" presetClass="entr" presetSubtype="0" fill="hold" grpId="0" nodeType="clickEffect">
                                  <p:stCondLst>
                                    <p:cond delay="0"/>
                                  </p:stCondLst>
                                  <p:iterate type="lt">
                                    <p:tmPct val="10000"/>
                                  </p:iterate>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82" dur="500" fill="hold"/>
                                        <p:tgtEl>
                                          <p:spTgt spid="18"/>
                                        </p:tgtEl>
                                        <p:attrNameLst>
                                          <p:attrName>ppt_y</p:attrName>
                                        </p:attrNameLst>
                                      </p:cBhvr>
                                      <p:tavLst>
                                        <p:tav tm="0">
                                          <p:val>
                                            <p:strVal val="#ppt_y"/>
                                          </p:val>
                                        </p:tav>
                                        <p:tav tm="100000">
                                          <p:val>
                                            <p:strVal val="#ppt_y"/>
                                          </p:val>
                                        </p:tav>
                                      </p:tavLst>
                                    </p:anim>
                                    <p:anim calcmode="lin" valueType="num">
                                      <p:cBhvr>
                                        <p:cTn id="83"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84"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85" dur="500" tmFilter="0,0; .5, 1; 1, 1"/>
                                        <p:tgtEl>
                                          <p:spTgt spid="18"/>
                                        </p:tgtEl>
                                      </p:cBhvr>
                                    </p:animEffect>
                                  </p:childTnLst>
                                </p:cTn>
                              </p:par>
                            </p:childTnLst>
                          </p:cTn>
                        </p:par>
                      </p:childTnLst>
                    </p:cTn>
                  </p:par>
                  <p:par>
                    <p:cTn id="86" fill="hold">
                      <p:stCondLst>
                        <p:cond delay="indefinite"/>
                      </p:stCondLst>
                      <p:childTnLst>
                        <p:par>
                          <p:cTn id="87" fill="hold">
                            <p:stCondLst>
                              <p:cond delay="0"/>
                            </p:stCondLst>
                            <p:childTnLst>
                              <p:par>
                                <p:cTn id="88" presetID="41" presetClass="entr" presetSubtype="0" fill="hold" grpId="0" nodeType="clickEffect">
                                  <p:stCondLst>
                                    <p:cond delay="0"/>
                                  </p:stCondLst>
                                  <p:iterate type="lt">
                                    <p:tmPct val="10000"/>
                                  </p:iterate>
                                  <p:childTnLst>
                                    <p:set>
                                      <p:cBhvr>
                                        <p:cTn id="89" dur="1" fill="hold">
                                          <p:stCondLst>
                                            <p:cond delay="0"/>
                                          </p:stCondLst>
                                        </p:cTn>
                                        <p:tgtEl>
                                          <p:spTgt spid="20"/>
                                        </p:tgtEl>
                                        <p:attrNameLst>
                                          <p:attrName>style.visibility</p:attrName>
                                        </p:attrNameLst>
                                      </p:cBhvr>
                                      <p:to>
                                        <p:strVal val="visible"/>
                                      </p:to>
                                    </p:set>
                                    <p:anim calcmode="lin" valueType="num">
                                      <p:cBhvr>
                                        <p:cTn id="90"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91" dur="500" fill="hold"/>
                                        <p:tgtEl>
                                          <p:spTgt spid="20"/>
                                        </p:tgtEl>
                                        <p:attrNameLst>
                                          <p:attrName>ppt_y</p:attrName>
                                        </p:attrNameLst>
                                      </p:cBhvr>
                                      <p:tavLst>
                                        <p:tav tm="0">
                                          <p:val>
                                            <p:strVal val="#ppt_y"/>
                                          </p:val>
                                        </p:tav>
                                        <p:tav tm="100000">
                                          <p:val>
                                            <p:strVal val="#ppt_y"/>
                                          </p:val>
                                        </p:tav>
                                      </p:tavLst>
                                    </p:anim>
                                    <p:anim calcmode="lin" valueType="num">
                                      <p:cBhvr>
                                        <p:cTn id="92"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93"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94" dur="500" tmFilter="0,0; .5, 1; 1, 1"/>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2" grpId="0"/>
      <p:bldP spid="2" grpId="0"/>
      <p:bldP spid="14" grpId="0"/>
      <p:bldP spid="17" grpId="0" autoUpdateAnimBg="0"/>
      <p:bldP spid="18" grpId="0" autoUpdateAnimBg="0"/>
      <p:bldP spid="2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4799" y="-18167"/>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1270101" y="984752"/>
            <a:ext cx="6822084" cy="3345531"/>
          </a:xfrm>
          <a:prstGeom prst="rect">
            <a:avLst/>
          </a:prstGeom>
          <a:noFill/>
          <a:ln w="9525">
            <a:noFill/>
            <a:miter lim="800000"/>
          </a:ln>
        </p:spPr>
        <p:txBody>
          <a:bodyPr wrap="square">
            <a:spAutoFit/>
          </a:bodyPr>
          <a:lstStyle/>
          <a:p>
            <a:pPr lvl="1" fontAlgn="base">
              <a:lnSpc>
                <a:spcPct val="80000"/>
              </a:lnSpc>
              <a:spcBef>
                <a:spcPct val="50000"/>
              </a:spcBef>
              <a:spcAft>
                <a:spcPct val="0"/>
              </a:spcAft>
              <a:defRPr/>
            </a:pPr>
            <a:r>
              <a:rPr lang="en-US" altLang="zh-CN" dirty="0">
                <a:latin typeface="百度综艺简体" panose="02010601030101010101" charset="-122"/>
                <a:ea typeface="百度综艺简体" panose="02010601030101010101" charset="-122"/>
              </a:rPr>
              <a:t>float sum ( float a[ ], </a:t>
            </a:r>
            <a:r>
              <a:rPr lang="en-US" altLang="zh-CN" dirty="0" err="1">
                <a:latin typeface="百度综艺简体" panose="02010601030101010101" charset="-122"/>
                <a:ea typeface="百度综艺简体" panose="02010601030101010101" charset="-122"/>
              </a:rPr>
              <a:t>int</a:t>
            </a:r>
            <a:r>
              <a:rPr lang="en-US" altLang="zh-CN" dirty="0">
                <a:latin typeface="百度综艺简体" panose="02010601030101010101" charset="-122"/>
                <a:ea typeface="百度综艺简体" panose="02010601030101010101" charset="-122"/>
              </a:rPr>
              <a:t>   n )	{</a:t>
            </a:r>
          </a:p>
          <a:p>
            <a:pPr lvl="1" fontAlgn="base">
              <a:lnSpc>
                <a:spcPct val="80000"/>
              </a:lnSpc>
              <a:spcBef>
                <a:spcPct val="50000"/>
              </a:spcBef>
              <a:spcAft>
                <a:spcPct val="0"/>
              </a:spcAft>
              <a:defRPr/>
            </a:pPr>
            <a:r>
              <a:rPr lang="en-US" altLang="zh-CN" dirty="0">
                <a:latin typeface="百度综艺简体" panose="02010601030101010101" charset="-122"/>
                <a:ea typeface="百度综艺简体" panose="02010601030101010101" charset="-122"/>
              </a:rPr>
              <a:t>       float s = 0.0;</a:t>
            </a:r>
          </a:p>
          <a:p>
            <a:pPr lvl="1" fontAlgn="base">
              <a:lnSpc>
                <a:spcPct val="80000"/>
              </a:lnSpc>
              <a:spcBef>
                <a:spcPct val="50000"/>
              </a:spcBef>
              <a:spcAft>
                <a:spcPct val="0"/>
              </a:spcAft>
              <a:defRPr/>
            </a:pPr>
            <a:r>
              <a:rPr lang="en-US" altLang="zh-CN" dirty="0" smtClean="0">
                <a:latin typeface="百度综艺简体" panose="02010601030101010101" charset="-122"/>
                <a:ea typeface="百度综艺简体" panose="02010601030101010101" charset="-122"/>
              </a:rPr>
              <a:t>       for </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int</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=0; </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&lt;n; </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 ) </a:t>
            </a:r>
          </a:p>
          <a:p>
            <a:pPr lvl="1" fontAlgn="base">
              <a:lnSpc>
                <a:spcPct val="80000"/>
              </a:lnSpc>
              <a:spcBef>
                <a:spcPct val="50000"/>
              </a:spcBef>
              <a:spcAft>
                <a:spcPct val="0"/>
              </a:spcAft>
              <a:defRPr/>
            </a:pPr>
            <a:r>
              <a:rPr lang="zh-CN" altLang="en-US" dirty="0">
                <a:latin typeface="百度综艺简体" panose="02010601030101010101" charset="-122"/>
                <a:ea typeface="百度综艺简体" panose="02010601030101010101" charset="-122"/>
              </a:rPr>
              <a:t>	</a:t>
            </a:r>
            <a:r>
              <a:rPr lang="zh-CN" altLang="en-US" dirty="0" smtClean="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s += a[</a:t>
            </a:r>
            <a:r>
              <a:rPr lang="en-US" altLang="zh-CN" dirty="0" err="1">
                <a:latin typeface="百度综艺简体" panose="02010601030101010101" charset="-122"/>
                <a:ea typeface="百度综艺简体" panose="02010601030101010101" charset="-122"/>
              </a:rPr>
              <a:t>i</a:t>
            </a: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a:t>
            </a:r>
            <a:r>
              <a:rPr lang="en-US" altLang="zh-CN" dirty="0" smtClean="0">
                <a:latin typeface="百度综艺简体" panose="02010601030101010101" charset="-122"/>
                <a:ea typeface="百度综艺简体" panose="02010601030101010101" charset="-122"/>
              </a:rPr>
              <a:t>       </a:t>
            </a:r>
          </a:p>
          <a:p>
            <a:pPr lvl="1" fontAlgn="base">
              <a:lnSpc>
                <a:spcPct val="80000"/>
              </a:lnSpc>
              <a:spcBef>
                <a:spcPct val="50000"/>
              </a:spcBef>
              <a:spcAft>
                <a:spcPct val="0"/>
              </a:spcAft>
              <a:defRPr/>
            </a:pPr>
            <a:r>
              <a:rPr lang="en-US" altLang="zh-CN" dirty="0">
                <a:latin typeface="百度综艺简体" panose="02010601030101010101" charset="-122"/>
                <a:ea typeface="百度综艺简体" panose="02010601030101010101" charset="-122"/>
              </a:rPr>
              <a:t> </a:t>
            </a:r>
            <a:r>
              <a:rPr lang="en-US" altLang="zh-CN" dirty="0" smtClean="0">
                <a:latin typeface="百度综艺简体" panose="02010601030101010101" charset="-122"/>
                <a:ea typeface="百度综艺简体" panose="02010601030101010101" charset="-122"/>
              </a:rPr>
              <a:t>      return </a:t>
            </a:r>
            <a:r>
              <a:rPr lang="en-US" altLang="zh-CN" dirty="0">
                <a:latin typeface="百度综艺简体" panose="02010601030101010101" charset="-122"/>
                <a:ea typeface="百度综艺简体" panose="02010601030101010101" charset="-122"/>
              </a:rPr>
              <a:t>s;</a:t>
            </a:r>
          </a:p>
          <a:p>
            <a:pPr lvl="1" fontAlgn="base">
              <a:lnSpc>
                <a:spcPct val="80000"/>
              </a:lnSpc>
              <a:spcBef>
                <a:spcPct val="50000"/>
              </a:spcBef>
              <a:spcAft>
                <a:spcPct val="0"/>
              </a:spcAft>
              <a:defRPr/>
            </a:pP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 </a:t>
            </a:r>
            <a:endParaRPr lang="en-US" altLang="zh-CN" dirty="0" smtClean="0">
              <a:latin typeface="百度综艺简体" panose="02010601030101010101" charset="-122"/>
              <a:ea typeface="百度综艺简体" panose="02010601030101010101" charset="-122"/>
            </a:endParaRPr>
          </a:p>
          <a:p>
            <a:pPr lvl="1" fontAlgn="base">
              <a:lnSpc>
                <a:spcPct val="150000"/>
              </a:lnSpc>
              <a:spcBef>
                <a:spcPct val="50000"/>
              </a:spcBef>
              <a:spcAft>
                <a:spcPct val="0"/>
              </a:spcAft>
              <a:defRPr/>
            </a:pPr>
            <a:r>
              <a:rPr lang="zh-CN" altLang="en-US" sz="2000" dirty="0" smtClean="0">
                <a:latin typeface="百度综艺简体" panose="02010601030101010101" charset="-122"/>
                <a:ea typeface="百度综艺简体" panose="02010601030101010101" charset="-122"/>
              </a:rPr>
              <a:t>程序</a:t>
            </a:r>
            <a:r>
              <a:rPr lang="zh-CN" altLang="en-US" sz="2000" dirty="0">
                <a:latin typeface="百度综艺简体" panose="02010601030101010101" charset="-122"/>
                <a:ea typeface="百度综艺简体" panose="02010601030101010101" charset="-122"/>
              </a:rPr>
              <a:t>步数</a:t>
            </a:r>
            <a:r>
              <a:rPr lang="en-US" altLang="zh-CN" sz="2000" dirty="0">
                <a:latin typeface="百度综艺简体" panose="02010601030101010101" charset="-122"/>
                <a:ea typeface="百度综艺简体" panose="02010601030101010101" charset="-122"/>
              </a:rPr>
              <a:t>count =</a:t>
            </a:r>
            <a:r>
              <a:rPr lang="zh-CN" altLang="en-US" sz="2000" dirty="0">
                <a:latin typeface="百度综艺简体" panose="02010601030101010101" charset="-122"/>
                <a:ea typeface="百度综艺简体" panose="02010601030101010101" charset="-122"/>
              </a:rPr>
              <a:t>2 * </a:t>
            </a:r>
            <a:r>
              <a:rPr lang="en-US" altLang="zh-CN" sz="2000" dirty="0">
                <a:latin typeface="百度综艺简体" panose="02010601030101010101" charset="-122"/>
                <a:ea typeface="百度综艺简体" panose="02010601030101010101" charset="-122"/>
              </a:rPr>
              <a:t>n + 3  </a:t>
            </a:r>
            <a:r>
              <a:rPr lang="en-US" altLang="zh-CN" sz="2000" dirty="0" smtClean="0">
                <a:latin typeface="百度综艺简体" panose="02010601030101010101" charset="-122"/>
                <a:ea typeface="百度综艺简体" panose="02010601030101010101" charset="-122"/>
              </a:rPr>
              <a:t>, </a:t>
            </a:r>
            <a:r>
              <a:rPr lang="zh-CN" altLang="en-US" sz="2000" b="1" dirty="0" smtClean="0">
                <a:latin typeface="百度综艺简体" panose="02010601030101010101" charset="-122"/>
                <a:ea typeface="百度综艺简体" panose="02010601030101010101" charset="-122"/>
              </a:rPr>
              <a:t>算法时间复杂度：</a:t>
            </a:r>
            <a:r>
              <a:rPr lang="en-US" altLang="zh-CN" sz="2000" dirty="0" smtClean="0">
                <a:latin typeface="百度综艺简体" panose="02010601030101010101" charset="-122"/>
                <a:ea typeface="百度综艺简体" panose="02010601030101010101" charset="-122"/>
              </a:rPr>
              <a:t>O(n)     </a:t>
            </a:r>
          </a:p>
          <a:p>
            <a:pPr lvl="1" fontAlgn="base">
              <a:lnSpc>
                <a:spcPct val="150000"/>
              </a:lnSpc>
              <a:spcBef>
                <a:spcPct val="50000"/>
              </a:spcBef>
              <a:spcAft>
                <a:spcPct val="0"/>
              </a:spcAft>
              <a:defRPr/>
            </a:pPr>
            <a:r>
              <a:rPr lang="en-US" altLang="zh-CN" sz="2000" b="1" dirty="0" smtClean="0">
                <a:latin typeface="百度综艺简体" panose="02010601030101010101" charset="-122"/>
                <a:ea typeface="百度综艺简体" panose="02010601030101010101" charset="-122"/>
              </a:rPr>
              <a:t>T(n)=2*n+3 </a:t>
            </a: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 </a:t>
            </a:r>
            <a:r>
              <a:rPr lang="zh-CN" altLang="en-US" sz="2000" dirty="0" smtClean="0">
                <a:latin typeface="百度综艺简体" panose="02010601030101010101" charset="-122"/>
                <a:ea typeface="百度综艺简体" panose="02010601030101010101" charset="-122"/>
              </a:rPr>
              <a:t>（</a:t>
            </a:r>
            <a:r>
              <a:rPr lang="en-US" altLang="zh-CN" sz="2000" dirty="0" smtClean="0">
                <a:latin typeface="百度综艺简体" panose="02010601030101010101" charset="-122"/>
                <a:ea typeface="百度综艺简体" panose="02010601030101010101" charset="-122"/>
              </a:rPr>
              <a:t>C=3, </a:t>
            </a:r>
            <a:r>
              <a:rPr lang="zh-CN" altLang="en-US" sz="2000" dirty="0">
                <a:latin typeface="百度综艺简体" panose="02010601030101010101" charset="-122"/>
                <a:ea typeface="百度综艺简体" panose="02010601030101010101" charset="-122"/>
                <a:sym typeface="+mn-ea"/>
              </a:rPr>
              <a:t>n</a:t>
            </a:r>
            <a:r>
              <a:rPr lang="zh-CN" altLang="en-US" sz="2000" baseline="-25000" dirty="0">
                <a:latin typeface="百度综艺简体" panose="02010601030101010101" charset="-122"/>
                <a:ea typeface="百度综艺简体" panose="02010601030101010101" charset="-122"/>
                <a:sym typeface="+mn-ea"/>
              </a:rPr>
              <a:t>0 </a:t>
            </a:r>
            <a:r>
              <a:rPr lang="en-US" altLang="zh-CN" sz="2000" dirty="0" smtClean="0">
                <a:latin typeface="百度综艺简体" panose="02010601030101010101" charset="-122"/>
                <a:ea typeface="百度综艺简体" panose="02010601030101010101" charset="-122"/>
              </a:rPr>
              <a:t>=3 , n</a:t>
            </a:r>
            <a:r>
              <a:rPr lang="zh-CN" altLang="en-US" sz="2000" dirty="0">
                <a:latin typeface="百度综艺简体" panose="02010601030101010101" charset="-122"/>
                <a:ea typeface="百度综艺简体" panose="02010601030101010101" charset="-122"/>
                <a:sym typeface="+mn-ea"/>
              </a:rPr>
              <a:t> </a:t>
            </a:r>
            <a:r>
              <a:rPr lang="zh-CN" altLang="en-US" sz="2000" dirty="0">
                <a:latin typeface="宋体" panose="02010600030101010101" pitchFamily="2" charset="-122"/>
                <a:ea typeface="宋体" panose="02010600030101010101" pitchFamily="2" charset="-122"/>
                <a:sym typeface="+mn-ea"/>
              </a:rPr>
              <a:t>≥</a:t>
            </a:r>
            <a:r>
              <a:rPr lang="zh-CN" altLang="en-US" sz="2000" dirty="0" smtClean="0">
                <a:latin typeface="百度综艺简体" panose="02010601030101010101" charset="-122"/>
                <a:ea typeface="百度综艺简体" panose="02010601030101010101" charset="-122"/>
                <a:sym typeface="+mn-ea"/>
              </a:rPr>
              <a:t>  </a:t>
            </a:r>
            <a:r>
              <a:rPr lang="zh-CN" altLang="en-US" sz="2000" dirty="0">
                <a:latin typeface="百度综艺简体" panose="02010601030101010101" charset="-122"/>
                <a:ea typeface="百度综艺简体" panose="02010601030101010101" charset="-122"/>
                <a:sym typeface="+mn-ea"/>
              </a:rPr>
              <a:t>n</a:t>
            </a:r>
            <a:r>
              <a:rPr lang="zh-CN" altLang="en-US" sz="2000" baseline="-25000" dirty="0">
                <a:latin typeface="百度综艺简体" panose="02010601030101010101" charset="-122"/>
                <a:ea typeface="百度综艺简体" panose="02010601030101010101" charset="-122"/>
                <a:sym typeface="+mn-ea"/>
              </a:rPr>
              <a:t>0 </a:t>
            </a:r>
            <a:r>
              <a:rPr lang="en-US" altLang="zh-CN" sz="2000" baseline="-25000" dirty="0" smtClean="0">
                <a:latin typeface="百度综艺简体" panose="02010601030101010101" charset="-122"/>
                <a:ea typeface="百度综艺简体" panose="02010601030101010101" charset="-122"/>
                <a:sym typeface="+mn-ea"/>
              </a:rPr>
              <a:t>,</a:t>
            </a:r>
            <a:r>
              <a:rPr lang="zh-CN" altLang="en-US" sz="2000" baseline="-25000" dirty="0" smtClean="0">
                <a:latin typeface="百度综艺简体" panose="02010601030101010101" charset="-122"/>
                <a:ea typeface="百度综艺简体" panose="02010601030101010101" charset="-122"/>
                <a:sym typeface="+mn-ea"/>
              </a:rPr>
              <a:t>  </a:t>
            </a:r>
            <a:r>
              <a:rPr lang="zh-CN" altLang="en-US" sz="2000" dirty="0" smtClean="0">
                <a:latin typeface="百度综艺简体" panose="02010601030101010101" charset="-122"/>
                <a:ea typeface="百度综艺简体" panose="02010601030101010101" charset="-122"/>
                <a:sym typeface="+mn-ea"/>
              </a:rPr>
              <a:t> </a:t>
            </a:r>
            <a:r>
              <a:rPr lang="en-US" altLang="zh-CN" sz="2000" b="1" dirty="0" smtClean="0">
                <a:latin typeface="百度综艺简体" panose="02010601030101010101" charset="-122"/>
                <a:ea typeface="百度综艺简体" panose="02010601030101010101" charset="-122"/>
                <a:sym typeface="+mn-ea"/>
              </a:rPr>
              <a:t>T(n)</a:t>
            </a:r>
            <a:r>
              <a:rPr lang="zh-CN" altLang="en-US" sz="2000" b="1" dirty="0">
                <a:latin typeface="百度综艺简体" panose="02010601030101010101" charset="-122"/>
                <a:ea typeface="百度综艺简体" panose="02010601030101010101" charset="-122"/>
                <a:sym typeface="+mn-ea"/>
              </a:rPr>
              <a:t> ≤ </a:t>
            </a:r>
            <a:r>
              <a:rPr lang="en-US" altLang="zh-CN" sz="2000" b="1" dirty="0" smtClean="0">
                <a:latin typeface="百度综艺简体" panose="02010601030101010101" charset="-122"/>
                <a:ea typeface="百度综艺简体" panose="02010601030101010101" charset="-122"/>
                <a:sym typeface="+mn-ea"/>
              </a:rPr>
              <a:t>C*n</a:t>
            </a:r>
            <a:r>
              <a:rPr lang="zh-CN" altLang="en-US" sz="2000" dirty="0" smtClean="0">
                <a:latin typeface="百度综艺简体" panose="02010601030101010101" charset="-122"/>
                <a:ea typeface="百度综艺简体" panose="02010601030101010101" charset="-122"/>
              </a:rPr>
              <a:t>）</a:t>
            </a:r>
            <a:endParaRPr lang="en-US" altLang="zh-CN" sz="2000"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387521167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18"/>
                                        </p:tgtEl>
                                        <p:attrNameLst>
                                          <p:attrName>ppt_y</p:attrName>
                                        </p:attrNameLst>
                                      </p:cBhvr>
                                      <p:tavLst>
                                        <p:tav tm="0">
                                          <p:val>
                                            <p:strVal val="#ppt_y"/>
                                          </p:val>
                                        </p:tav>
                                        <p:tav tm="100000">
                                          <p:val>
                                            <p:strVal val="#ppt_y"/>
                                          </p:val>
                                        </p:tav>
                                      </p:tavLst>
                                    </p:anim>
                                    <p:anim calcmode="lin" valueType="num">
                                      <p:cBhvr>
                                        <p:cTn id="44"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animBg="1"/>
      <p:bldP spid="1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447897" y="1300407"/>
            <a:ext cx="8136266" cy="923330"/>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rPr>
              <a:t>例如，一个程序的实际执行时间为</a:t>
            </a:r>
            <a:r>
              <a:rPr lang="en-US" altLang="zh-CN" dirty="0">
                <a:latin typeface="百度综艺简体" panose="02010601030101010101" charset="-122"/>
                <a:ea typeface="百度综艺简体" panose="02010601030101010101" charset="-122"/>
              </a:rPr>
              <a:t>2.7n</a:t>
            </a:r>
            <a:r>
              <a:rPr lang="en-US" altLang="zh-CN" baseline="30000" dirty="0">
                <a:latin typeface="百度综艺简体" panose="02010601030101010101" charset="-122"/>
                <a:ea typeface="百度综艺简体" panose="02010601030101010101" charset="-122"/>
              </a:rPr>
              <a:t>3</a:t>
            </a:r>
            <a:r>
              <a:rPr lang="en-US" altLang="zh-CN" dirty="0">
                <a:latin typeface="百度综艺简体" panose="02010601030101010101" charset="-122"/>
                <a:ea typeface="百度综艺简体" panose="02010601030101010101" charset="-122"/>
              </a:rPr>
              <a:t>+3.8n</a:t>
            </a:r>
            <a:r>
              <a:rPr lang="en-US" altLang="zh-CN" baseline="30000" dirty="0">
                <a:latin typeface="百度综艺简体" panose="02010601030101010101" charset="-122"/>
                <a:ea typeface="百度综艺简体" panose="02010601030101010101" charset="-122"/>
              </a:rPr>
              <a:t>2</a:t>
            </a:r>
            <a:r>
              <a:rPr lang="en-US" altLang="zh-CN" dirty="0">
                <a:latin typeface="百度综艺简体" panose="02010601030101010101" charset="-122"/>
                <a:ea typeface="百度综艺简体" panose="02010601030101010101" charset="-122"/>
              </a:rPr>
              <a:t>+5.3</a:t>
            </a:r>
            <a:r>
              <a:rPr lang="zh-CN" altLang="en-US" dirty="0" smtClean="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则</a:t>
            </a:r>
            <a:r>
              <a:rPr lang="en-US" altLang="zh-CN" dirty="0">
                <a:latin typeface="百度综艺简体" panose="02010601030101010101" charset="-122"/>
                <a:ea typeface="百度综艺简体" panose="02010601030101010101" charset="-122"/>
              </a:rPr>
              <a:t>T(n)</a:t>
            </a:r>
            <a:r>
              <a:rPr lang="zh-CN" altLang="en-US" dirty="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Ο(n</a:t>
            </a:r>
            <a:r>
              <a:rPr lang="en-US" altLang="zh-CN" baseline="30000" dirty="0">
                <a:latin typeface="百度综艺简体" panose="02010601030101010101" charset="-122"/>
                <a:ea typeface="百度综艺简体" panose="02010601030101010101" charset="-122"/>
              </a:rPr>
              <a:t>3</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a:t>
            </a:r>
          </a:p>
          <a:p>
            <a:pPr indent="552450">
              <a:lnSpc>
                <a:spcPct val="150000"/>
              </a:lnSpc>
            </a:pPr>
            <a:endParaRPr lang="zh-CN" altLang="en-US" dirty="0">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5"/>
          <p:cNvSpPr txBox="1">
            <a:spLocks noChangeArrowheads="1"/>
          </p:cNvSpPr>
          <p:nvPr/>
        </p:nvSpPr>
        <p:spPr bwMode="auto">
          <a:xfrm>
            <a:off x="993461" y="1930648"/>
            <a:ext cx="7083739" cy="1754326"/>
          </a:xfrm>
          <a:prstGeom prst="rect">
            <a:avLst/>
          </a:prstGeom>
          <a:noFill/>
          <a:ln w="9525">
            <a:noFill/>
            <a:miter lim="800000"/>
          </a:ln>
        </p:spPr>
        <p:txBody>
          <a:bodyPr wrap="square">
            <a:spAutoFit/>
          </a:bodyPr>
          <a:lstStyle/>
          <a:p>
            <a:pPr indent="552450">
              <a:lnSpc>
                <a:spcPct val="150000"/>
              </a:lnSpc>
            </a:pPr>
            <a:r>
              <a:rPr lang="zh-CN" altLang="en-US" dirty="0">
                <a:latin typeface="百度综艺简体" panose="02010601030101010101" charset="-122"/>
                <a:ea typeface="百度综艺简体" panose="02010601030101010101" charset="-122"/>
              </a:rPr>
              <a:t>从算法中选取一种对于所研究的问题来说是基本操作的原操作，以该基本操作在算法中重复执行的次数作为算法运行时间的衡量</a:t>
            </a:r>
            <a:r>
              <a:rPr lang="zh-CN" altLang="en-US" dirty="0" smtClean="0">
                <a:latin typeface="百度综艺简体" panose="02010601030101010101" charset="-122"/>
                <a:ea typeface="百度综艺简体" panose="02010601030101010101" charset="-122"/>
              </a:rPr>
              <a:t>准则</a:t>
            </a:r>
            <a:r>
              <a:rPr lang="zh-CN" altLang="en-US" dirty="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通常</a:t>
            </a:r>
            <a:r>
              <a:rPr lang="zh-CN" altLang="en-US" dirty="0">
                <a:latin typeface="百度综艺简体" panose="02010601030101010101" charset="-122"/>
                <a:ea typeface="百度综艺简体" panose="02010601030101010101" charset="-122"/>
              </a:rPr>
              <a:t>用</a:t>
            </a:r>
            <a:r>
              <a:rPr lang="en-US" altLang="zh-CN" dirty="0">
                <a:latin typeface="百度综艺简体" panose="02010601030101010101" charset="-122"/>
                <a:ea typeface="百度综艺简体" panose="02010601030101010101" charset="-122"/>
              </a:rPr>
              <a:t>Ο(1)</a:t>
            </a:r>
            <a:r>
              <a:rPr lang="zh-CN" altLang="en-US" dirty="0">
                <a:latin typeface="百度综艺简体" panose="02010601030101010101" charset="-122"/>
                <a:ea typeface="百度综艺简体" panose="02010601030101010101" charset="-122"/>
              </a:rPr>
              <a:t>表示常数</a:t>
            </a:r>
            <a:r>
              <a:rPr lang="zh-CN" altLang="en-US" dirty="0" smtClean="0">
                <a:latin typeface="百度综艺简体" panose="02010601030101010101" charset="-122"/>
                <a:ea typeface="百度综艺简体" panose="02010601030101010101" charset="-122"/>
              </a:rPr>
              <a:t>计算时间。</a:t>
            </a:r>
            <a:endParaRPr lang="zh-CN" altLang="en-US" dirty="0">
              <a:latin typeface="百度综艺简体" panose="02010601030101010101" charset="-122"/>
              <a:ea typeface="百度综艺简体" panose="02010601030101010101" charset="-122"/>
              <a:sym typeface="+mn-ea"/>
            </a:endParaRPr>
          </a:p>
          <a:p>
            <a:pPr indent="552450">
              <a:lnSpc>
                <a:spcPct val="150000"/>
              </a:lnSpc>
            </a:pPr>
            <a:endParaRPr lang="zh-CN" altLang="en-US" dirty="0">
              <a:latin typeface="百度综艺简体" panose="02010601030101010101" charset="-122"/>
              <a:ea typeface="百度综艺简体" panose="02010601030101010101" charset="-122"/>
            </a:endParaRPr>
          </a:p>
        </p:txBody>
      </p:sp>
      <p:sp>
        <p:nvSpPr>
          <p:cNvPr id="17" name="TextBox 5"/>
          <p:cNvSpPr txBox="1">
            <a:spLocks noChangeArrowheads="1"/>
          </p:cNvSpPr>
          <p:nvPr/>
        </p:nvSpPr>
        <p:spPr bwMode="auto">
          <a:xfrm>
            <a:off x="993461" y="3500158"/>
            <a:ext cx="2968940" cy="341632"/>
          </a:xfrm>
          <a:prstGeom prst="rect">
            <a:avLst/>
          </a:prstGeom>
          <a:noFill/>
          <a:ln w="9525">
            <a:noFill/>
            <a:miter lim="800000"/>
          </a:ln>
        </p:spPr>
        <p:txBody>
          <a:bodyPr wrap="square">
            <a:spAutoFit/>
          </a:bodyPr>
          <a:lstStyle/>
          <a:p>
            <a:pPr>
              <a:lnSpc>
                <a:spcPct val="90000"/>
              </a:lnSpc>
            </a:pPr>
            <a:r>
              <a:rPr lang="zh-CN" altLang="en-US" dirty="0">
                <a:latin typeface="百度综艺简体" panose="02010601030101010101" charset="-122"/>
                <a:ea typeface="百度综艺简体" panose="02010601030101010101" charset="-122"/>
              </a:rPr>
              <a:t>常见的渐进</a:t>
            </a:r>
            <a:r>
              <a:rPr lang="zh-CN" altLang="en-US" b="1" dirty="0">
                <a:latin typeface="百度综艺简体" panose="02010601030101010101" charset="-122"/>
                <a:ea typeface="百度综艺简体" panose="02010601030101010101" charset="-122"/>
              </a:rPr>
              <a:t>时间复杂度</a:t>
            </a:r>
            <a:r>
              <a:rPr lang="zh-CN" altLang="en-US" dirty="0">
                <a:latin typeface="百度综艺简体" panose="02010601030101010101" charset="-122"/>
                <a:ea typeface="百度综艺简体" panose="02010601030101010101" charset="-122"/>
              </a:rPr>
              <a:t>有：</a:t>
            </a:r>
          </a:p>
        </p:txBody>
      </p:sp>
      <p:sp>
        <p:nvSpPr>
          <p:cNvPr id="18" name="TextBox 5"/>
          <p:cNvSpPr txBox="1">
            <a:spLocks noChangeArrowheads="1"/>
          </p:cNvSpPr>
          <p:nvPr/>
        </p:nvSpPr>
        <p:spPr bwMode="auto">
          <a:xfrm>
            <a:off x="1099953" y="3940281"/>
            <a:ext cx="7484210" cy="341632"/>
          </a:xfrm>
          <a:prstGeom prst="rect">
            <a:avLst/>
          </a:prstGeom>
          <a:noFill/>
          <a:ln w="9525">
            <a:noFill/>
            <a:miter lim="800000"/>
          </a:ln>
        </p:spPr>
        <p:txBody>
          <a:bodyPr wrap="square">
            <a:spAutoFit/>
          </a:bodyPr>
          <a:lstStyle/>
          <a:p>
            <a:pPr>
              <a:lnSpc>
                <a:spcPct val="90000"/>
              </a:lnSpc>
            </a:pPr>
            <a:r>
              <a:rPr lang="en-US" altLang="zh-CN" dirty="0">
                <a:latin typeface="百度综艺简体" panose="02010601030101010101" charset="-122"/>
                <a:ea typeface="百度综艺简体" panose="02010601030101010101" charset="-122"/>
              </a:rPr>
              <a:t>Ο(1</a:t>
            </a: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a:t>
            </a:r>
            <a:r>
              <a:rPr lang="en-US" altLang="zh-CN" dirty="0" smtClean="0">
                <a:latin typeface="百度综艺简体" panose="02010601030101010101" charset="-122"/>
                <a:ea typeface="百度综艺简体" panose="02010601030101010101" charset="-122"/>
              </a:rPr>
              <a:t>Ο(log</a:t>
            </a:r>
            <a:r>
              <a:rPr lang="en-US" altLang="zh-CN" baseline="-25000" dirty="0" smtClean="0">
                <a:latin typeface="百度综艺简体" panose="02010601030101010101" charset="-122"/>
                <a:ea typeface="百度综艺简体" panose="02010601030101010101" charset="-122"/>
              </a:rPr>
              <a:t>2</a:t>
            </a:r>
            <a:r>
              <a:rPr lang="en-US" altLang="zh-CN" dirty="0" smtClean="0">
                <a:latin typeface="百度综艺简体" panose="02010601030101010101" charset="-122"/>
                <a:ea typeface="百度综艺简体" panose="02010601030101010101" charset="-122"/>
              </a:rPr>
              <a:t>n)</a:t>
            </a:r>
            <a:r>
              <a:rPr lang="zh-CN" altLang="en-US" dirty="0" smtClean="0">
                <a:latin typeface="百度综艺简体" panose="02010601030101010101" charset="-122"/>
                <a:ea typeface="百度综艺简体" panose="02010601030101010101" charset="-122"/>
              </a:rPr>
              <a:t>，</a:t>
            </a:r>
            <a:r>
              <a:rPr lang="en-US" altLang="zh-CN" dirty="0" smtClean="0">
                <a:latin typeface="百度综艺简体" panose="02010601030101010101" charset="-122"/>
                <a:ea typeface="百度综艺简体" panose="02010601030101010101" charset="-122"/>
              </a:rPr>
              <a:t>Ο(n)</a:t>
            </a:r>
            <a:r>
              <a:rPr lang="zh-CN" altLang="en-US" dirty="0" smtClean="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Ο(nlog</a:t>
            </a:r>
            <a:r>
              <a:rPr lang="en-US" altLang="zh-CN" baseline="-25000" dirty="0">
                <a:latin typeface="百度综艺简体" panose="02010601030101010101" charset="-122"/>
                <a:ea typeface="百度综艺简体" panose="02010601030101010101" charset="-122"/>
              </a:rPr>
              <a:t>2</a:t>
            </a:r>
            <a:r>
              <a:rPr lang="en-US" altLang="zh-CN" dirty="0">
                <a:latin typeface="百度综艺简体" panose="02010601030101010101" charset="-122"/>
                <a:ea typeface="百度综艺简体" panose="02010601030101010101" charset="-122"/>
              </a:rPr>
              <a:t>n)</a:t>
            </a:r>
            <a:r>
              <a:rPr lang="zh-CN" altLang="en-US" dirty="0" smtClean="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Ο(n</a:t>
            </a:r>
            <a:r>
              <a:rPr lang="en-US" altLang="zh-CN" baseline="30000" dirty="0">
                <a:latin typeface="百度综艺简体" panose="02010601030101010101" charset="-122"/>
                <a:ea typeface="百度综艺简体" panose="02010601030101010101" charset="-122"/>
              </a:rPr>
              <a:t>2</a:t>
            </a: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a:t>
            </a:r>
            <a:r>
              <a:rPr lang="en-US" altLang="zh-CN" dirty="0">
                <a:latin typeface="百度综艺简体" panose="02010601030101010101" charset="-122"/>
                <a:ea typeface="百度综艺简体" panose="02010601030101010101" charset="-122"/>
              </a:rPr>
              <a:t>Ο(n</a:t>
            </a:r>
            <a:r>
              <a:rPr lang="en-US" altLang="zh-CN" baseline="30000" dirty="0">
                <a:latin typeface="百度综艺简体" panose="02010601030101010101" charset="-122"/>
                <a:ea typeface="百度综艺简体" panose="02010601030101010101" charset="-122"/>
              </a:rPr>
              <a:t>3</a:t>
            </a:r>
            <a:r>
              <a:rPr lang="en-US" altLang="zh-CN" dirty="0" smtClean="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 ， </a:t>
            </a:r>
            <a:r>
              <a:rPr lang="en-US" altLang="zh-CN" dirty="0" smtClean="0">
                <a:latin typeface="百度综艺简体" panose="02010601030101010101" charset="-122"/>
                <a:ea typeface="百度综艺简体" panose="02010601030101010101" charset="-122"/>
              </a:rPr>
              <a:t>Ο(</a:t>
            </a:r>
            <a:r>
              <a:rPr lang="en-US" altLang="zh-CN" dirty="0" err="1" smtClean="0">
                <a:latin typeface="百度综艺简体" panose="02010601030101010101" charset="-122"/>
                <a:ea typeface="百度综艺简体" panose="02010601030101010101" charset="-122"/>
              </a:rPr>
              <a:t>n</a:t>
            </a:r>
            <a:r>
              <a:rPr lang="en-US" altLang="zh-CN" baseline="30000" dirty="0" err="1" smtClean="0">
                <a:latin typeface="百度综艺简体" panose="02010601030101010101" charset="-122"/>
                <a:ea typeface="百度综艺简体" panose="02010601030101010101" charset="-122"/>
              </a:rPr>
              <a:t>k</a:t>
            </a:r>
            <a:r>
              <a:rPr lang="en-US" altLang="zh-CN" dirty="0" smtClean="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a:t>
            </a:r>
            <a:r>
              <a:rPr lang="en-US" altLang="zh-CN" dirty="0" smtClean="0">
                <a:latin typeface="百度综艺简体" panose="02010601030101010101" charset="-122"/>
                <a:ea typeface="百度综艺简体" panose="02010601030101010101" charset="-122"/>
              </a:rPr>
              <a:t>Ο(2</a:t>
            </a:r>
            <a:r>
              <a:rPr lang="en-US" altLang="zh-CN" baseline="30000" dirty="0" smtClean="0">
                <a:latin typeface="百度综艺简体" panose="02010601030101010101" charset="-122"/>
                <a:ea typeface="百度综艺简体" panose="02010601030101010101" charset="-122"/>
              </a:rPr>
              <a:t>n</a:t>
            </a:r>
            <a:r>
              <a:rPr lang="en-US" altLang="zh-CN" dirty="0">
                <a:latin typeface="百度综艺简体" panose="02010601030101010101" charset="-122"/>
                <a:ea typeface="百度综艺简体" panose="02010601030101010101" charset="-122"/>
              </a:rPr>
              <a:t>)</a:t>
            </a:r>
          </a:p>
        </p:txBody>
      </p:sp>
    </p:spTree>
    <p:extLst>
      <p:ext uri="{BB962C8B-B14F-4D97-AF65-F5344CB8AC3E}">
        <p14:creationId xmlns:p14="http://schemas.microsoft.com/office/powerpoint/2010/main" val="1476289609"/>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1" presetClass="entr" presetSubtype="0" fill="hold" grpId="0" nodeType="clickEffect">
                                  <p:stCondLst>
                                    <p:cond delay="0"/>
                                  </p:stCondLst>
                                  <p:iterate type="lt">
                                    <p:tmPct val="10000"/>
                                  </p:iterate>
                                  <p:childTnLst>
                                    <p:set>
                                      <p:cBhvr>
                                        <p:cTn id="50" dur="1" fill="hold">
                                          <p:stCondLst>
                                            <p:cond delay="0"/>
                                          </p:stCondLst>
                                        </p:cTn>
                                        <p:tgtEl>
                                          <p:spTgt spid="2"/>
                                        </p:tgtEl>
                                        <p:attrNameLst>
                                          <p:attrName>style.visibility</p:attrName>
                                        </p:attrNameLst>
                                      </p:cBhvr>
                                      <p:to>
                                        <p:strVal val="visible"/>
                                      </p:to>
                                    </p:set>
                                    <p:anim calcmode="lin" valueType="num">
                                      <p:cBhvr>
                                        <p:cTn id="5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
                                        </p:tgtEl>
                                        <p:attrNameLst>
                                          <p:attrName>ppt_y</p:attrName>
                                        </p:attrNameLst>
                                      </p:cBhvr>
                                      <p:tavLst>
                                        <p:tav tm="0">
                                          <p:val>
                                            <p:strVal val="#ppt_y"/>
                                          </p:val>
                                        </p:tav>
                                        <p:tav tm="100000">
                                          <p:val>
                                            <p:strVal val="#ppt_y"/>
                                          </p:val>
                                        </p:tav>
                                      </p:tavLst>
                                    </p:anim>
                                    <p:anim calcmode="lin" valueType="num">
                                      <p:cBhvr>
                                        <p:cTn id="5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41" presetClass="entr" presetSubtype="0" fill="hold" grpId="0" nodeType="clickEffect">
                                  <p:stCondLst>
                                    <p:cond delay="0"/>
                                  </p:stCondLst>
                                  <p:iterate type="lt">
                                    <p:tmPct val="10000"/>
                                  </p:iterate>
                                  <p:childTnLst>
                                    <p:set>
                                      <p:cBhvr>
                                        <p:cTn id="59" dur="1" fill="hold">
                                          <p:stCondLst>
                                            <p:cond delay="0"/>
                                          </p:stCondLst>
                                        </p:cTn>
                                        <p:tgtEl>
                                          <p:spTgt spid="17"/>
                                        </p:tgtEl>
                                        <p:attrNameLst>
                                          <p:attrName>style.visibility</p:attrName>
                                        </p:attrNameLst>
                                      </p:cBhvr>
                                      <p:to>
                                        <p:strVal val="visible"/>
                                      </p:to>
                                    </p:set>
                                    <p:anim calcmode="lin" valueType="num">
                                      <p:cBhvr>
                                        <p:cTn id="60"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17"/>
                                        </p:tgtEl>
                                        <p:attrNameLst>
                                          <p:attrName>ppt_y</p:attrName>
                                        </p:attrNameLst>
                                      </p:cBhvr>
                                      <p:tavLst>
                                        <p:tav tm="0">
                                          <p:val>
                                            <p:strVal val="#ppt_y"/>
                                          </p:val>
                                        </p:tav>
                                        <p:tav tm="100000">
                                          <p:val>
                                            <p:strVal val="#ppt_y"/>
                                          </p:val>
                                        </p:tav>
                                      </p:tavLst>
                                    </p:anim>
                                    <p:anim calcmode="lin" valueType="num">
                                      <p:cBhvr>
                                        <p:cTn id="62"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41" presetClass="entr" presetSubtype="0" fill="hold" grpId="0" nodeType="clickEffect">
                                  <p:stCondLst>
                                    <p:cond delay="0"/>
                                  </p:stCondLst>
                                  <p:iterate type="lt">
                                    <p:tmPct val="10000"/>
                                  </p:iterate>
                                  <p:childTnLst>
                                    <p:set>
                                      <p:cBhvr>
                                        <p:cTn id="68" dur="1" fill="hold">
                                          <p:stCondLst>
                                            <p:cond delay="0"/>
                                          </p:stCondLst>
                                        </p:cTn>
                                        <p:tgtEl>
                                          <p:spTgt spid="18"/>
                                        </p:tgtEl>
                                        <p:attrNameLst>
                                          <p:attrName>style.visibility</p:attrName>
                                        </p:attrNameLst>
                                      </p:cBhvr>
                                      <p:to>
                                        <p:strVal val="visible"/>
                                      </p:to>
                                    </p:set>
                                    <p:anim calcmode="lin" valueType="num">
                                      <p:cBhvr>
                                        <p:cTn id="69"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0" dur="500" fill="hold"/>
                                        <p:tgtEl>
                                          <p:spTgt spid="18"/>
                                        </p:tgtEl>
                                        <p:attrNameLst>
                                          <p:attrName>ppt_y</p:attrName>
                                        </p:attrNameLst>
                                      </p:cBhvr>
                                      <p:tavLst>
                                        <p:tav tm="0">
                                          <p:val>
                                            <p:strVal val="#ppt_y"/>
                                          </p:val>
                                        </p:tav>
                                        <p:tav tm="100000">
                                          <p:val>
                                            <p:strVal val="#ppt_y"/>
                                          </p:val>
                                        </p:tav>
                                      </p:tavLst>
                                    </p:anim>
                                    <p:anim calcmode="lin" valueType="num">
                                      <p:cBhvr>
                                        <p:cTn id="71"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2"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73" dur="500" tmFilter="0,0; .5, 1; 1, 1"/>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2" grpId="0" autoUpdateAnimBg="0"/>
      <p:bldP spid="17" grpId="0" autoUpdateAnimBg="0"/>
      <p:bldP spid="1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a:t>
            </a: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空间</a:t>
            </a: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710247" y="1525544"/>
            <a:ext cx="7723505" cy="463012"/>
          </a:xfrm>
          <a:prstGeom prst="rect">
            <a:avLst/>
          </a:prstGeom>
          <a:noFill/>
          <a:ln w="9525">
            <a:noFill/>
            <a:miter lim="800000"/>
          </a:ln>
        </p:spPr>
        <p:txBody>
          <a:bodyPr wrap="square">
            <a:spAutoFit/>
          </a:bodyPr>
          <a:lstStyle/>
          <a:p>
            <a:pPr marL="0" lvl="1" defTabSz="911225">
              <a:lnSpc>
                <a:spcPct val="150000"/>
              </a:lnSpc>
              <a:spcBef>
                <a:spcPct val="20000"/>
              </a:spcBef>
            </a:pPr>
            <a:r>
              <a:rPr lang="zh-CN" altLang="en-US" dirty="0">
                <a:latin typeface="百度综艺简体" panose="02010601030101010101" charset="-122"/>
                <a:ea typeface="百度综艺简体" panose="02010601030101010101" charset="-122"/>
              </a:rPr>
              <a:t>算法的空间复杂度  </a:t>
            </a:r>
            <a:r>
              <a:rPr lang="en-US" altLang="zh-CN" dirty="0">
                <a:latin typeface="百度综艺简体" panose="02010601030101010101" charset="-122"/>
                <a:ea typeface="百度综艺简体" panose="02010601030101010101" charset="-122"/>
              </a:rPr>
              <a:t>S(n) = O(g(n))</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 Placeholder 11"/>
          <p:cNvSpPr txBox="1"/>
          <p:nvPr/>
        </p:nvSpPr>
        <p:spPr>
          <a:xfrm>
            <a:off x="557287" y="970170"/>
            <a:ext cx="2496934"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算法的存储空间需求</a:t>
            </a:r>
            <a:endPar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14" name="TextBox 5"/>
          <p:cNvSpPr txBox="1">
            <a:spLocks noChangeArrowheads="1"/>
          </p:cNvSpPr>
          <p:nvPr/>
        </p:nvSpPr>
        <p:spPr bwMode="auto">
          <a:xfrm>
            <a:off x="672363" y="2109922"/>
            <a:ext cx="7799272" cy="507831"/>
          </a:xfrm>
          <a:prstGeom prst="rect">
            <a:avLst/>
          </a:prstGeom>
          <a:noFill/>
          <a:ln w="9525">
            <a:noFill/>
            <a:miter lim="800000"/>
          </a:ln>
        </p:spPr>
        <p:txBody>
          <a:bodyPr wrap="square">
            <a:spAutoFit/>
          </a:bodyPr>
          <a:lstStyle/>
          <a:p>
            <a:pPr marL="0" lvl="1" defTabSz="911225">
              <a:lnSpc>
                <a:spcPct val="150000"/>
              </a:lnSpc>
              <a:spcBef>
                <a:spcPct val="20000"/>
              </a:spcBef>
            </a:pPr>
            <a:r>
              <a:rPr lang="zh-CN" altLang="en-US" dirty="0">
                <a:latin typeface="百度综艺简体" panose="02010601030101010101" charset="-122"/>
                <a:ea typeface="百度综艺简体" panose="02010601030101010101" charset="-122"/>
              </a:rPr>
              <a:t>表示随着问题规模</a:t>
            </a:r>
            <a:r>
              <a:rPr lang="en-US" altLang="zh-CN" dirty="0">
                <a:latin typeface="百度综艺简体" panose="02010601030101010101" charset="-122"/>
                <a:ea typeface="百度综艺简体" panose="02010601030101010101" charset="-122"/>
              </a:rPr>
              <a:t>n</a:t>
            </a:r>
            <a:r>
              <a:rPr lang="zh-CN" altLang="en-US" dirty="0">
                <a:latin typeface="百度综艺简体" panose="02010601030101010101" charset="-122"/>
                <a:ea typeface="百度综艺简体" panose="02010601030101010101" charset="-122"/>
              </a:rPr>
              <a:t>的增大，算法运行所需存储量的增长率与</a:t>
            </a:r>
            <a:r>
              <a:rPr lang="en-US" altLang="zh-CN" dirty="0">
                <a:latin typeface="百度综艺简体" panose="02010601030101010101" charset="-122"/>
                <a:ea typeface="百度综艺简体" panose="02010601030101010101" charset="-122"/>
              </a:rPr>
              <a:t>g(n)</a:t>
            </a:r>
            <a:r>
              <a:rPr lang="zh-CN" altLang="en-US" dirty="0">
                <a:latin typeface="百度综艺简体" panose="02010601030101010101" charset="-122"/>
                <a:ea typeface="百度综艺简体" panose="02010601030101010101" charset="-122"/>
              </a:rPr>
              <a:t>的增长率相同。</a:t>
            </a:r>
            <a:endParaRPr lang="en-US" altLang="zh-CN" dirty="0">
              <a:latin typeface="百度综艺简体" panose="02010601030101010101" charset="-122"/>
              <a:ea typeface="百度综艺简体" panose="02010601030101010101" charset="-122"/>
            </a:endParaRPr>
          </a:p>
        </p:txBody>
      </p:sp>
      <p:sp>
        <p:nvSpPr>
          <p:cNvPr id="17" name="TextBox 5"/>
          <p:cNvSpPr txBox="1">
            <a:spLocks noChangeArrowheads="1"/>
          </p:cNvSpPr>
          <p:nvPr/>
        </p:nvSpPr>
        <p:spPr bwMode="auto">
          <a:xfrm>
            <a:off x="679145" y="3008982"/>
            <a:ext cx="7723505" cy="369332"/>
          </a:xfrm>
          <a:prstGeom prst="rect">
            <a:avLst/>
          </a:prstGeom>
          <a:noFill/>
          <a:ln w="9525">
            <a:noFill/>
            <a:miter lim="800000"/>
          </a:ln>
        </p:spPr>
        <p:txBody>
          <a:bodyPr wrap="square">
            <a:spAutoFit/>
          </a:bodyPr>
          <a:lstStyle/>
          <a:p>
            <a:r>
              <a:rPr lang="zh-CN" altLang="en-US" dirty="0">
                <a:latin typeface="百度综艺简体" panose="02010601030101010101" charset="-122"/>
                <a:ea typeface="百度综艺简体" panose="02010601030101010101" charset="-122"/>
              </a:rPr>
              <a:t>算法的存储量包括</a:t>
            </a:r>
            <a:r>
              <a:rPr lang="en-US" altLang="zh-CN" dirty="0">
                <a:latin typeface="百度综艺简体" panose="02010601030101010101" charset="-122"/>
                <a:ea typeface="百度综艺简体" panose="02010601030101010101" charset="-122"/>
              </a:rPr>
              <a:t>:</a:t>
            </a:r>
          </a:p>
        </p:txBody>
      </p:sp>
      <p:sp>
        <p:nvSpPr>
          <p:cNvPr id="18" name="TextBox 5"/>
          <p:cNvSpPr txBox="1">
            <a:spLocks noChangeArrowheads="1"/>
          </p:cNvSpPr>
          <p:nvPr/>
        </p:nvSpPr>
        <p:spPr bwMode="auto">
          <a:xfrm>
            <a:off x="2043963" y="3387279"/>
            <a:ext cx="2496935" cy="369332"/>
          </a:xfrm>
          <a:prstGeom prst="rect">
            <a:avLst/>
          </a:prstGeom>
          <a:noFill/>
          <a:ln w="9525">
            <a:noFill/>
            <a:miter lim="800000"/>
          </a:ln>
        </p:spPr>
        <p:txBody>
          <a:bodyPr wrap="square">
            <a:spAutoFit/>
          </a:bodyPr>
          <a:lstStyle/>
          <a:p>
            <a:r>
              <a:rPr lang="en-US" altLang="zh-CN" dirty="0">
                <a:latin typeface="百度综艺简体" panose="02010601030101010101" charset="-122"/>
                <a:ea typeface="百度综艺简体" panose="02010601030101010101" charset="-122"/>
              </a:rPr>
              <a:t>1</a:t>
            </a:r>
            <a:r>
              <a:rPr lang="zh-CN" altLang="en-US" dirty="0">
                <a:latin typeface="百度综艺简体" panose="02010601030101010101" charset="-122"/>
                <a:ea typeface="百度综艺简体" panose="02010601030101010101" charset="-122"/>
              </a:rPr>
              <a:t>．输入数据所占空间</a:t>
            </a:r>
            <a:r>
              <a:rPr lang="en-US" altLang="zh-CN" dirty="0">
                <a:latin typeface="百度综艺简体" panose="02010601030101010101" charset="-122"/>
                <a:ea typeface="百度综艺简体" panose="02010601030101010101" charset="-122"/>
              </a:rPr>
              <a:t>;</a:t>
            </a:r>
          </a:p>
        </p:txBody>
      </p:sp>
      <p:sp>
        <p:nvSpPr>
          <p:cNvPr id="20" name="TextBox 5"/>
          <p:cNvSpPr txBox="1">
            <a:spLocks noChangeArrowheads="1"/>
          </p:cNvSpPr>
          <p:nvPr/>
        </p:nvSpPr>
        <p:spPr bwMode="auto">
          <a:xfrm>
            <a:off x="2075064" y="3875839"/>
            <a:ext cx="2496935" cy="369332"/>
          </a:xfrm>
          <a:prstGeom prst="rect">
            <a:avLst/>
          </a:prstGeom>
          <a:noFill/>
          <a:ln w="9525">
            <a:noFill/>
            <a:miter lim="800000"/>
          </a:ln>
        </p:spPr>
        <p:txBody>
          <a:bodyPr wrap="square">
            <a:spAutoFit/>
          </a:bodyPr>
          <a:lstStyle/>
          <a:p>
            <a:r>
              <a:rPr lang="en-US" altLang="zh-CN" dirty="0">
                <a:latin typeface="百度综艺简体" panose="02010601030101010101" charset="-122"/>
                <a:ea typeface="百度综艺简体" panose="02010601030101010101" charset="-122"/>
              </a:rPr>
              <a:t>2</a:t>
            </a:r>
            <a:r>
              <a:rPr lang="zh-CN" altLang="en-US" dirty="0">
                <a:latin typeface="百度综艺简体" panose="02010601030101010101" charset="-122"/>
                <a:ea typeface="百度综艺简体" panose="02010601030101010101" charset="-122"/>
              </a:rPr>
              <a:t>．程序本身所占</a:t>
            </a:r>
            <a:r>
              <a:rPr lang="zh-CN" altLang="en-US" dirty="0" smtClean="0">
                <a:latin typeface="百度综艺简体" panose="02010601030101010101" charset="-122"/>
                <a:ea typeface="百度综艺简体" panose="02010601030101010101" charset="-122"/>
              </a:rPr>
              <a:t>空间</a:t>
            </a:r>
            <a:r>
              <a:rPr lang="en-US" altLang="zh-CN" dirty="0" smtClean="0">
                <a:latin typeface="百度综艺简体" panose="02010601030101010101" charset="-122"/>
                <a:ea typeface="百度综艺简体" panose="02010601030101010101" charset="-122"/>
              </a:rPr>
              <a:t>;</a:t>
            </a:r>
            <a:endParaRPr lang="en-US" altLang="zh-CN" dirty="0">
              <a:latin typeface="百度综艺简体" panose="02010601030101010101" charset="-122"/>
              <a:ea typeface="百度综艺简体" panose="02010601030101010101" charset="-122"/>
            </a:endParaRPr>
          </a:p>
        </p:txBody>
      </p:sp>
      <p:sp>
        <p:nvSpPr>
          <p:cNvPr id="23" name="TextBox 5"/>
          <p:cNvSpPr txBox="1">
            <a:spLocks noChangeArrowheads="1"/>
          </p:cNvSpPr>
          <p:nvPr/>
        </p:nvSpPr>
        <p:spPr bwMode="auto">
          <a:xfrm>
            <a:off x="2075064" y="4364399"/>
            <a:ext cx="2496935" cy="369332"/>
          </a:xfrm>
          <a:prstGeom prst="rect">
            <a:avLst/>
          </a:prstGeom>
          <a:noFill/>
          <a:ln w="9525">
            <a:noFill/>
            <a:miter lim="800000"/>
          </a:ln>
        </p:spPr>
        <p:txBody>
          <a:bodyPr wrap="square">
            <a:spAutoFit/>
          </a:bodyPr>
          <a:lstStyle/>
          <a:p>
            <a:r>
              <a:rPr lang="en-US" altLang="zh-CN" dirty="0">
                <a:latin typeface="百度综艺简体" panose="02010601030101010101" charset="-122"/>
                <a:ea typeface="百度综艺简体" panose="02010601030101010101" charset="-122"/>
              </a:rPr>
              <a:t>3</a:t>
            </a:r>
            <a:r>
              <a:rPr lang="zh-CN" altLang="en-US" dirty="0">
                <a:latin typeface="百度综艺简体" panose="02010601030101010101" charset="-122"/>
                <a:ea typeface="百度综艺简体" panose="02010601030101010101" charset="-122"/>
              </a:rPr>
              <a:t>．辅助变量所占空间。</a:t>
            </a:r>
            <a:endParaRPr lang="en-US" altLang="zh-CN"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308942839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1" presetClass="entr" presetSubtype="0" fill="hold" grpId="0" nodeType="clickEffect">
                                  <p:stCondLst>
                                    <p:cond delay="0"/>
                                  </p:stCondLst>
                                  <p:iterate type="lt">
                                    <p:tmPct val="10000"/>
                                  </p:iterate>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14"/>
                                        </p:tgtEl>
                                        <p:attrNameLst>
                                          <p:attrName>ppt_y</p:attrName>
                                        </p:attrNameLst>
                                      </p:cBhvr>
                                      <p:tavLst>
                                        <p:tav tm="0">
                                          <p:val>
                                            <p:strVal val="#ppt_y"/>
                                          </p:val>
                                        </p:tav>
                                        <p:tav tm="100000">
                                          <p:val>
                                            <p:strVal val="#ppt_y"/>
                                          </p:val>
                                        </p:tav>
                                      </p:tavLst>
                                    </p:anim>
                                    <p:anim calcmode="lin" valueType="num">
                                      <p:cBhvr>
                                        <p:cTn id="60"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41" presetClass="entr" presetSubtype="0" fill="hold" grpId="0" nodeType="clickEffect">
                                  <p:stCondLst>
                                    <p:cond delay="0"/>
                                  </p:stCondLst>
                                  <p:iterate type="lt">
                                    <p:tmPct val="10000"/>
                                  </p:iterate>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17"/>
                                        </p:tgtEl>
                                        <p:attrNameLst>
                                          <p:attrName>ppt_y</p:attrName>
                                        </p:attrNameLst>
                                      </p:cBhvr>
                                      <p:tavLst>
                                        <p:tav tm="0">
                                          <p:val>
                                            <p:strVal val="#ppt_y"/>
                                          </p:val>
                                        </p:tav>
                                        <p:tav tm="100000">
                                          <p:val>
                                            <p:strVal val="#ppt_y"/>
                                          </p:val>
                                        </p:tav>
                                      </p:tavLst>
                                    </p:anim>
                                    <p:anim calcmode="lin" valueType="num">
                                      <p:cBhvr>
                                        <p:cTn id="6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41" presetClass="entr" presetSubtype="0" fill="hold" grpId="0" nodeType="clickEffect">
                                  <p:stCondLst>
                                    <p:cond delay="0"/>
                                  </p:stCondLst>
                                  <p:iterate type="lt">
                                    <p:tmPct val="10000"/>
                                  </p:iterate>
                                  <p:childTnLst>
                                    <p:set>
                                      <p:cBhvr>
                                        <p:cTn id="75" dur="1" fill="hold">
                                          <p:stCondLst>
                                            <p:cond delay="0"/>
                                          </p:stCondLst>
                                        </p:cTn>
                                        <p:tgtEl>
                                          <p:spTgt spid="18"/>
                                        </p:tgtEl>
                                        <p:attrNameLst>
                                          <p:attrName>style.visibility</p:attrName>
                                        </p:attrNameLst>
                                      </p:cBhvr>
                                      <p:to>
                                        <p:strVal val="visible"/>
                                      </p:to>
                                    </p:set>
                                    <p:anim calcmode="lin" valueType="num">
                                      <p:cBhvr>
                                        <p:cTn id="7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7" dur="500" fill="hold"/>
                                        <p:tgtEl>
                                          <p:spTgt spid="18"/>
                                        </p:tgtEl>
                                        <p:attrNameLst>
                                          <p:attrName>ppt_y</p:attrName>
                                        </p:attrNameLst>
                                      </p:cBhvr>
                                      <p:tavLst>
                                        <p:tav tm="0">
                                          <p:val>
                                            <p:strVal val="#ppt_y"/>
                                          </p:val>
                                        </p:tav>
                                        <p:tav tm="100000">
                                          <p:val>
                                            <p:strVal val="#ppt_y"/>
                                          </p:val>
                                        </p:tav>
                                      </p:tavLst>
                                    </p:anim>
                                    <p:anim calcmode="lin" valueType="num">
                                      <p:cBhvr>
                                        <p:cTn id="7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80" dur="500" tmFilter="0,0; .5, 1; 1, 1"/>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41" presetClass="entr" presetSubtype="0" fill="hold" grpId="0" nodeType="clickEffect">
                                  <p:stCondLst>
                                    <p:cond delay="0"/>
                                  </p:stCondLst>
                                  <p:iterate type="lt">
                                    <p:tmPct val="10000"/>
                                  </p:iterate>
                                  <p:childTnLst>
                                    <p:set>
                                      <p:cBhvr>
                                        <p:cTn id="84" dur="1" fill="hold">
                                          <p:stCondLst>
                                            <p:cond delay="0"/>
                                          </p:stCondLst>
                                        </p:cTn>
                                        <p:tgtEl>
                                          <p:spTgt spid="20"/>
                                        </p:tgtEl>
                                        <p:attrNameLst>
                                          <p:attrName>style.visibility</p:attrName>
                                        </p:attrNameLst>
                                      </p:cBhvr>
                                      <p:to>
                                        <p:strVal val="visible"/>
                                      </p:to>
                                    </p:set>
                                    <p:anim calcmode="lin" valueType="num">
                                      <p:cBhvr>
                                        <p:cTn id="85"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86" dur="500" fill="hold"/>
                                        <p:tgtEl>
                                          <p:spTgt spid="20"/>
                                        </p:tgtEl>
                                        <p:attrNameLst>
                                          <p:attrName>ppt_y</p:attrName>
                                        </p:attrNameLst>
                                      </p:cBhvr>
                                      <p:tavLst>
                                        <p:tav tm="0">
                                          <p:val>
                                            <p:strVal val="#ppt_y"/>
                                          </p:val>
                                        </p:tav>
                                        <p:tav tm="100000">
                                          <p:val>
                                            <p:strVal val="#ppt_y"/>
                                          </p:val>
                                        </p:tav>
                                      </p:tavLst>
                                    </p:anim>
                                    <p:anim calcmode="lin" valueType="num">
                                      <p:cBhvr>
                                        <p:cTn id="87"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88"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89" dur="500" tmFilter="0,0; .5, 1; 1, 1"/>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41" presetClass="entr" presetSubtype="0" fill="hold" grpId="0" nodeType="clickEffect">
                                  <p:stCondLst>
                                    <p:cond delay="0"/>
                                  </p:stCondLst>
                                  <p:iterate type="lt">
                                    <p:tmPct val="10000"/>
                                  </p:iterate>
                                  <p:childTnLst>
                                    <p:set>
                                      <p:cBhvr>
                                        <p:cTn id="93" dur="1" fill="hold">
                                          <p:stCondLst>
                                            <p:cond delay="0"/>
                                          </p:stCondLst>
                                        </p:cTn>
                                        <p:tgtEl>
                                          <p:spTgt spid="23"/>
                                        </p:tgtEl>
                                        <p:attrNameLst>
                                          <p:attrName>style.visibility</p:attrName>
                                        </p:attrNameLst>
                                      </p:cBhvr>
                                      <p:to>
                                        <p:strVal val="visible"/>
                                      </p:to>
                                    </p:set>
                                    <p:anim calcmode="lin" valueType="num">
                                      <p:cBhvr>
                                        <p:cTn id="94"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95" dur="500" fill="hold"/>
                                        <p:tgtEl>
                                          <p:spTgt spid="23"/>
                                        </p:tgtEl>
                                        <p:attrNameLst>
                                          <p:attrName>ppt_y</p:attrName>
                                        </p:attrNameLst>
                                      </p:cBhvr>
                                      <p:tavLst>
                                        <p:tav tm="0">
                                          <p:val>
                                            <p:strVal val="#ppt_y"/>
                                          </p:val>
                                        </p:tav>
                                        <p:tav tm="100000">
                                          <p:val>
                                            <p:strVal val="#ppt_y"/>
                                          </p:val>
                                        </p:tav>
                                      </p:tavLst>
                                    </p:anim>
                                    <p:anim calcmode="lin" valueType="num">
                                      <p:cBhvr>
                                        <p:cTn id="96"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97"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98"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2" grpId="0"/>
      <p:bldP spid="14" grpId="0" autoUpdateAnimBg="0"/>
      <p:bldP spid="17" grpId="0" autoUpdateAnimBg="0"/>
      <p:bldP spid="18" grpId="0" autoUpdateAnimBg="0"/>
      <p:bldP spid="20" grpId="0" autoUpdateAnimBg="0"/>
      <p:bldP spid="2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算法空间的</a:t>
            </a: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 Placeholder 11"/>
          <p:cNvSpPr txBox="1"/>
          <p:nvPr/>
        </p:nvSpPr>
        <p:spPr>
          <a:xfrm>
            <a:off x="557287" y="970170"/>
            <a:ext cx="2496934"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rPr>
              <a:t>算法的存储空间需求</a:t>
            </a:r>
            <a:endPar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sp>
        <p:nvSpPr>
          <p:cNvPr id="24" name="Rectangle 5"/>
          <p:cNvSpPr>
            <a:spLocks noGrp="1" noChangeArrowheads="1"/>
          </p:cNvSpPr>
          <p:nvPr/>
        </p:nvSpPr>
        <p:spPr>
          <a:xfrm>
            <a:off x="1024787" y="1851608"/>
            <a:ext cx="7186152" cy="605453"/>
          </a:xfrm>
          <a:prstGeom prst="rect">
            <a:avLst/>
          </a:prstGeom>
          <a:noFill/>
          <a:ln w="9525">
            <a:noFill/>
          </a:ln>
        </p:spPr>
        <p:txBody>
          <a:bodyPr vert="horz" wrap="square" lIns="113731" tIns="56866" rIns="113731" bIns="56866" numCol="1" anchor="t" anchorCtr="0" compatLnSpc="1"/>
          <a:lstStyle>
            <a:lvl1pPr marL="424180" indent="-424180" algn="l" defTabSz="1129030" rtl="0" eaLnBrk="0" fontAlgn="base" hangingPunct="0">
              <a:spcBef>
                <a:spcPct val="20000"/>
              </a:spcBef>
              <a:spcAft>
                <a:spcPct val="0"/>
              </a:spcAft>
              <a:buClr>
                <a:schemeClr val="hlink"/>
              </a:buClr>
              <a:buSzPct val="50000"/>
              <a:buFont typeface="Monotype Sorts" pitchFamily="2" charset="2"/>
              <a:buChar char="n"/>
              <a:defRPr kumimoji="1" sz="3500" kern="1200">
                <a:solidFill>
                  <a:schemeClr val="tx1"/>
                </a:solidFill>
                <a:latin typeface="+mn-lt"/>
                <a:ea typeface="+mn-ea"/>
                <a:cs typeface="+mn-cs"/>
              </a:defRPr>
            </a:lvl1pPr>
            <a:lvl2pPr marL="917575" indent="-352425" algn="l" defTabSz="1129030" rtl="0" eaLnBrk="0" fontAlgn="base" hangingPunct="0">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2pPr>
            <a:lvl3pPr marL="1411605" indent="-282575" algn="l" defTabSz="1129030" rtl="0" eaLnBrk="0" fontAlgn="base" hangingPunct="0">
              <a:spcBef>
                <a:spcPct val="20000"/>
              </a:spcBef>
              <a:spcAft>
                <a:spcPct val="0"/>
              </a:spcAft>
              <a:buClr>
                <a:schemeClr val="hlink"/>
              </a:buClr>
              <a:buSzPct val="65000"/>
              <a:buFont typeface="Monotype Sorts" pitchFamily="2" charset="2"/>
              <a:buChar char="F"/>
              <a:defRPr kumimoji="1" sz="3000" kern="1200">
                <a:solidFill>
                  <a:schemeClr val="tx1"/>
                </a:solidFill>
                <a:latin typeface="+mn-lt"/>
                <a:ea typeface="+mn-ea"/>
                <a:cs typeface="+mn-cs"/>
              </a:defRPr>
            </a:lvl3pPr>
            <a:lvl4pPr marL="1976755" indent="-282575" algn="l" defTabSz="1129030" rtl="0" eaLnBrk="0" fontAlgn="base" hangingPunct="0">
              <a:spcBef>
                <a:spcPct val="20000"/>
              </a:spcBef>
              <a:spcAft>
                <a:spcPct val="0"/>
              </a:spcAft>
              <a:buClr>
                <a:schemeClr val="tx2"/>
              </a:buClr>
              <a:buSzPct val="100000"/>
              <a:buChar char="•"/>
              <a:defRPr kumimoji="1" sz="2500" kern="1200">
                <a:solidFill>
                  <a:schemeClr val="tx1"/>
                </a:solidFill>
                <a:latin typeface="+mn-lt"/>
                <a:ea typeface="+mn-ea"/>
                <a:cs typeface="+mn-cs"/>
              </a:defRPr>
            </a:lvl4pPr>
            <a:lvl5pPr marL="2541905" indent="-282575" algn="l" defTabSz="1129030" rtl="0" eaLnBrk="0" fontAlgn="base" hangingPunct="0">
              <a:spcBef>
                <a:spcPct val="20000"/>
              </a:spcBef>
              <a:spcAft>
                <a:spcPct val="0"/>
              </a:spcAft>
              <a:buClr>
                <a:schemeClr val="hlink"/>
              </a:buClr>
              <a:buSzPct val="100000"/>
              <a:buChar char="–"/>
              <a:defRPr kumimoji="1" sz="2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457200" eaLnBrk="1" fontAlgn="base" hangingPunct="1">
              <a:lnSpc>
                <a:spcPct val="150000"/>
              </a:lnSpc>
              <a:spcBef>
                <a:spcPct val="20000"/>
              </a:spcBef>
              <a:spcAft>
                <a:spcPct val="0"/>
              </a:spcAft>
              <a:buClr>
                <a:schemeClr val="hlink"/>
              </a:buClr>
              <a:buSzPct val="50000"/>
              <a:buNone/>
              <a:defRPr/>
            </a:pPr>
            <a:r>
              <a:rPr lang="zh-CN" altLang="en-US" sz="1800" dirty="0">
                <a:latin typeface="百度综艺简体" panose="02010601030101010101" charset="-122"/>
                <a:ea typeface="百度综艺简体" panose="02010601030101010101" charset="-122"/>
              </a:rPr>
              <a:t>若输入数据所占空间只</a:t>
            </a:r>
            <a:r>
              <a:rPr lang="zh-CN" altLang="en-US" sz="1800" dirty="0" smtClean="0">
                <a:latin typeface="百度综艺简体" panose="02010601030101010101" charset="-122"/>
                <a:ea typeface="百度综艺简体" panose="02010601030101010101" charset="-122"/>
              </a:rPr>
              <a:t>取决于问题</a:t>
            </a:r>
            <a:r>
              <a:rPr lang="zh-CN" altLang="en-US" sz="1800" dirty="0">
                <a:latin typeface="百度综艺简体" panose="02010601030101010101" charset="-122"/>
                <a:ea typeface="百度综艺简体" panose="02010601030101010101" charset="-122"/>
              </a:rPr>
              <a:t>本身，和算法无关，则只需要分析除输入和程序之外的</a:t>
            </a:r>
            <a:r>
              <a:rPr lang="zh-CN" altLang="en-US" sz="1800" dirty="0">
                <a:solidFill>
                  <a:srgbClr val="FF0000"/>
                </a:solidFill>
                <a:latin typeface="百度综艺简体" panose="02010601030101010101" charset="-122"/>
                <a:ea typeface="百度综艺简体" panose="02010601030101010101" charset="-122"/>
              </a:rPr>
              <a:t>额外空间</a:t>
            </a:r>
            <a:r>
              <a:rPr lang="zh-CN" altLang="en-US" sz="1800" dirty="0">
                <a:latin typeface="百度综艺简体" panose="02010601030101010101" charset="-122"/>
                <a:ea typeface="百度综艺简体" panose="02010601030101010101" charset="-122"/>
              </a:rPr>
              <a:t>。</a:t>
            </a:r>
            <a:endParaRPr lang="en-US" altLang="zh-CN" sz="1800" dirty="0">
              <a:latin typeface="百度综艺简体" panose="02010601030101010101" charset="-122"/>
              <a:ea typeface="百度综艺简体" panose="02010601030101010101" charset="-122"/>
            </a:endParaRPr>
          </a:p>
          <a:p>
            <a:pPr marL="0" marR="0" lvl="0" indent="0" defTabSz="457200" eaLnBrk="1" fontAlgn="base" hangingPunct="1">
              <a:lnSpc>
                <a:spcPct val="150000"/>
              </a:lnSpc>
              <a:spcBef>
                <a:spcPct val="20000"/>
              </a:spcBef>
              <a:spcAft>
                <a:spcPct val="0"/>
              </a:spcAft>
              <a:buClr>
                <a:schemeClr val="hlink"/>
              </a:buClr>
              <a:buSzPct val="50000"/>
              <a:buFont typeface="Monotype Sorts" pitchFamily="2" charset="2"/>
              <a:buNone/>
              <a:defRPr/>
            </a:pPr>
            <a:endParaRPr lang="en-US" altLang="zh-CN" sz="1800" dirty="0">
              <a:latin typeface="百度综艺简体" panose="02010601030101010101" charset="-122"/>
              <a:ea typeface="百度综艺简体" panose="02010601030101010101" charset="-122"/>
            </a:endParaRPr>
          </a:p>
          <a:p>
            <a:pPr marL="0" marR="0" lvl="0" indent="0" defTabSz="457200" eaLnBrk="1" fontAlgn="base" hangingPunct="1">
              <a:lnSpc>
                <a:spcPct val="150000"/>
              </a:lnSpc>
              <a:spcBef>
                <a:spcPct val="20000"/>
              </a:spcBef>
              <a:spcAft>
                <a:spcPct val="0"/>
              </a:spcAft>
              <a:buClr>
                <a:schemeClr val="hlink"/>
              </a:buClr>
              <a:buSzPct val="50000"/>
              <a:buFont typeface="Monotype Sorts" pitchFamily="2" charset="2"/>
              <a:buNone/>
              <a:defRPr/>
            </a:pPr>
            <a:endParaRPr lang="zh-CN" altLang="en-US" sz="1800" dirty="0">
              <a:latin typeface="百度综艺简体" panose="02010601030101010101" charset="-122"/>
              <a:ea typeface="百度综艺简体" panose="02010601030101010101" charset="-122"/>
            </a:endParaRPr>
          </a:p>
          <a:p>
            <a:pPr marL="0" marR="0" lvl="0" indent="0" defTabSz="457200" eaLnBrk="1" fontAlgn="base" hangingPunct="1">
              <a:lnSpc>
                <a:spcPct val="150000"/>
              </a:lnSpc>
              <a:spcBef>
                <a:spcPct val="20000"/>
              </a:spcBef>
              <a:spcAft>
                <a:spcPct val="0"/>
              </a:spcAft>
              <a:buClr>
                <a:schemeClr val="hlink"/>
              </a:buClr>
              <a:buSzPct val="50000"/>
              <a:buNone/>
              <a:defRPr/>
            </a:pPr>
            <a:r>
              <a:rPr lang="zh-CN" altLang="en-US" sz="1800" dirty="0">
                <a:latin typeface="百度综艺简体" panose="02010601030101010101" charset="-122"/>
                <a:ea typeface="百度综艺简体" panose="02010601030101010101" charset="-122"/>
              </a:rPr>
              <a:t/>
            </a:r>
            <a:br>
              <a:rPr lang="zh-CN" altLang="en-US" sz="1800" dirty="0">
                <a:latin typeface="百度综艺简体" panose="02010601030101010101" charset="-122"/>
                <a:ea typeface="百度综艺简体" panose="02010601030101010101" charset="-122"/>
              </a:rPr>
            </a:br>
            <a:endParaRPr lang="zh-CN" altLang="en-US" sz="1800" dirty="0">
              <a:latin typeface="百度综艺简体" panose="02010601030101010101" charset="-122"/>
              <a:ea typeface="百度综艺简体" panose="02010601030101010101" charset="-122"/>
            </a:endParaRPr>
          </a:p>
        </p:txBody>
      </p:sp>
      <p:sp>
        <p:nvSpPr>
          <p:cNvPr id="28" name="Rectangle 5"/>
          <p:cNvSpPr>
            <a:spLocks noGrp="1" noChangeArrowheads="1"/>
          </p:cNvSpPr>
          <p:nvPr/>
        </p:nvSpPr>
        <p:spPr>
          <a:xfrm>
            <a:off x="978924" y="3141422"/>
            <a:ext cx="7838072" cy="308908"/>
          </a:xfrm>
          <a:prstGeom prst="rect">
            <a:avLst/>
          </a:prstGeom>
          <a:noFill/>
          <a:ln w="9525">
            <a:noFill/>
          </a:ln>
        </p:spPr>
        <p:txBody>
          <a:bodyPr vert="horz" wrap="square" lIns="113731" tIns="56866" rIns="113731" bIns="56866" numCol="1" anchor="t" anchorCtr="0" compatLnSpc="1"/>
          <a:lstStyle>
            <a:lvl1pPr marL="424180" indent="-424180" algn="l" defTabSz="1129030" rtl="0" eaLnBrk="0" fontAlgn="base" hangingPunct="0">
              <a:spcBef>
                <a:spcPct val="20000"/>
              </a:spcBef>
              <a:spcAft>
                <a:spcPct val="0"/>
              </a:spcAft>
              <a:buClr>
                <a:schemeClr val="hlink"/>
              </a:buClr>
              <a:buSzPct val="50000"/>
              <a:buFont typeface="Monotype Sorts" pitchFamily="2" charset="2"/>
              <a:buChar char="n"/>
              <a:defRPr kumimoji="1" sz="3500" kern="1200">
                <a:solidFill>
                  <a:schemeClr val="tx1"/>
                </a:solidFill>
                <a:latin typeface="+mn-lt"/>
                <a:ea typeface="+mn-ea"/>
                <a:cs typeface="+mn-cs"/>
              </a:defRPr>
            </a:lvl1pPr>
            <a:lvl2pPr marL="917575" indent="-352425" algn="l" defTabSz="1129030" rtl="0" eaLnBrk="0" fontAlgn="base" hangingPunct="0">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2pPr>
            <a:lvl3pPr marL="1411605" indent="-282575" algn="l" defTabSz="1129030" rtl="0" eaLnBrk="0" fontAlgn="base" hangingPunct="0">
              <a:spcBef>
                <a:spcPct val="20000"/>
              </a:spcBef>
              <a:spcAft>
                <a:spcPct val="0"/>
              </a:spcAft>
              <a:buClr>
                <a:schemeClr val="hlink"/>
              </a:buClr>
              <a:buSzPct val="65000"/>
              <a:buFont typeface="Monotype Sorts" pitchFamily="2" charset="2"/>
              <a:buChar char="F"/>
              <a:defRPr kumimoji="1" sz="3000" kern="1200">
                <a:solidFill>
                  <a:schemeClr val="tx1"/>
                </a:solidFill>
                <a:latin typeface="+mn-lt"/>
                <a:ea typeface="+mn-ea"/>
                <a:cs typeface="+mn-cs"/>
              </a:defRPr>
            </a:lvl3pPr>
            <a:lvl4pPr marL="1976755" indent="-282575" algn="l" defTabSz="1129030" rtl="0" eaLnBrk="0" fontAlgn="base" hangingPunct="0">
              <a:spcBef>
                <a:spcPct val="20000"/>
              </a:spcBef>
              <a:spcAft>
                <a:spcPct val="0"/>
              </a:spcAft>
              <a:buClr>
                <a:schemeClr val="tx2"/>
              </a:buClr>
              <a:buSzPct val="100000"/>
              <a:buChar char="•"/>
              <a:defRPr kumimoji="1" sz="2500" kern="1200">
                <a:solidFill>
                  <a:schemeClr val="tx1"/>
                </a:solidFill>
                <a:latin typeface="+mn-lt"/>
                <a:ea typeface="+mn-ea"/>
                <a:cs typeface="+mn-cs"/>
              </a:defRPr>
            </a:lvl4pPr>
            <a:lvl5pPr marL="2541905" indent="-282575" algn="l" defTabSz="1129030" rtl="0" eaLnBrk="0" fontAlgn="base" hangingPunct="0">
              <a:spcBef>
                <a:spcPct val="20000"/>
              </a:spcBef>
              <a:spcAft>
                <a:spcPct val="0"/>
              </a:spcAft>
              <a:buClr>
                <a:schemeClr val="hlink"/>
              </a:buClr>
              <a:buSzPct val="100000"/>
              <a:buChar char="–"/>
              <a:defRPr kumimoji="1" sz="2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457200" eaLnBrk="1" fontAlgn="base" hangingPunct="1">
              <a:lnSpc>
                <a:spcPct val="100000"/>
              </a:lnSpc>
              <a:spcBef>
                <a:spcPct val="20000"/>
              </a:spcBef>
              <a:spcAft>
                <a:spcPct val="0"/>
              </a:spcAft>
              <a:buClr>
                <a:schemeClr val="hlink"/>
              </a:buClr>
              <a:buSzPct val="50000"/>
              <a:buNone/>
              <a:defRPr/>
            </a:pPr>
            <a:r>
              <a:rPr lang="zh-CN" altLang="en-US" sz="1800" dirty="0" smtClean="0">
                <a:latin typeface="百度综艺简体" panose="02010601030101010101" charset="-122"/>
                <a:ea typeface="百度综艺简体" panose="02010601030101010101" charset="-122"/>
              </a:rPr>
              <a:t>若</a:t>
            </a:r>
            <a:r>
              <a:rPr lang="zh-CN" altLang="en-US" sz="1800" dirty="0">
                <a:latin typeface="百度综艺简体" panose="02010601030101010101" charset="-122"/>
                <a:ea typeface="百度综艺简体" panose="02010601030101010101" charset="-122"/>
              </a:rPr>
              <a:t>所需额外空间相对于输入数据量来说是常数，则称此算法为</a:t>
            </a:r>
            <a:r>
              <a:rPr lang="zh-CN" altLang="en-US" sz="1800" dirty="0">
                <a:solidFill>
                  <a:srgbClr val="FF0000"/>
                </a:solidFill>
                <a:latin typeface="百度综艺简体" panose="02010601030101010101" charset="-122"/>
                <a:ea typeface="百度综艺简体" panose="02010601030101010101" charset="-122"/>
              </a:rPr>
              <a:t>原地工作</a:t>
            </a:r>
            <a:r>
              <a:rPr lang="zh-CN" altLang="en-US" sz="1800" dirty="0" smtClean="0">
                <a:latin typeface="百度综艺简体" panose="02010601030101010101" charset="-122"/>
                <a:ea typeface="百度综艺简体" panose="02010601030101010101" charset="-122"/>
              </a:rPr>
              <a:t>。</a:t>
            </a:r>
            <a:endParaRPr lang="zh-CN" altLang="en-US" sz="1800"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28171070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animBg="1"/>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4926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算法效率的度量</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Box 5"/>
          <p:cNvSpPr txBox="1">
            <a:spLocks noChangeArrowheads="1"/>
          </p:cNvSpPr>
          <p:nvPr/>
        </p:nvSpPr>
        <p:spPr bwMode="auto">
          <a:xfrm>
            <a:off x="1412946" y="1015343"/>
            <a:ext cx="6822084" cy="2062103"/>
          </a:xfrm>
          <a:prstGeom prst="rect">
            <a:avLst/>
          </a:prstGeom>
          <a:noFill/>
          <a:ln w="9525">
            <a:noFill/>
            <a:miter lim="800000"/>
          </a:ln>
        </p:spPr>
        <p:txBody>
          <a:bodyPr wrap="square">
            <a:spAutoFit/>
          </a:bodyPr>
          <a:lstStyle/>
          <a:p>
            <a:pPr defTabSz="911225" fontAlgn="base">
              <a:lnSpc>
                <a:spcPct val="90000"/>
              </a:lnSpc>
              <a:spcBef>
                <a:spcPct val="20000"/>
              </a:spcBef>
              <a:spcAft>
                <a:spcPct val="0"/>
              </a:spcAft>
              <a:defRPr/>
            </a:pPr>
            <a:r>
              <a:rPr lang="en-US" altLang="zh-CN" sz="2000" dirty="0">
                <a:latin typeface="百度综艺简体" panose="02010601030101010101" charset="-122"/>
                <a:ea typeface="百度综艺简体" panose="02010601030101010101" charset="-122"/>
              </a:rPr>
              <a:t>float sum ( float a[ ], </a:t>
            </a:r>
            <a:r>
              <a:rPr lang="en-US" altLang="zh-CN" sz="2000" dirty="0" err="1">
                <a:latin typeface="百度综艺简体" panose="02010601030101010101" charset="-122"/>
                <a:ea typeface="百度综艺简体" panose="02010601030101010101" charset="-122"/>
              </a:rPr>
              <a:t>int</a:t>
            </a:r>
            <a:r>
              <a:rPr lang="en-US" altLang="zh-CN" sz="2000" dirty="0">
                <a:latin typeface="百度综艺简体" panose="02010601030101010101" charset="-122"/>
                <a:ea typeface="百度综艺简体" panose="02010601030101010101" charset="-122"/>
              </a:rPr>
              <a:t>   n )	{</a:t>
            </a:r>
          </a:p>
          <a:p>
            <a:pPr defTabSz="911225" fontAlgn="base">
              <a:lnSpc>
                <a:spcPct val="90000"/>
              </a:lnSpc>
              <a:spcBef>
                <a:spcPct val="20000"/>
              </a:spcBef>
              <a:spcAft>
                <a:spcPct val="0"/>
              </a:spcAft>
              <a:defRPr/>
            </a:pPr>
            <a:r>
              <a:rPr lang="en-US" altLang="zh-CN" sz="2000" dirty="0">
                <a:latin typeface="百度综艺简体" panose="02010601030101010101" charset="-122"/>
                <a:ea typeface="百度综艺简体" panose="02010601030101010101" charset="-122"/>
              </a:rPr>
              <a:t>       float </a:t>
            </a:r>
            <a:r>
              <a:rPr lang="en-US" altLang="zh-CN" sz="2000" dirty="0" smtClean="0">
                <a:latin typeface="百度综艺简体" panose="02010601030101010101" charset="-122"/>
                <a:ea typeface="百度综艺简体" panose="02010601030101010101" charset="-122"/>
              </a:rPr>
              <a:t>  s </a:t>
            </a:r>
            <a:r>
              <a:rPr lang="en-US" altLang="zh-CN" sz="2000" dirty="0">
                <a:latin typeface="百度综艺简体" panose="02010601030101010101" charset="-122"/>
                <a:ea typeface="百度综艺简体" panose="02010601030101010101" charset="-122"/>
              </a:rPr>
              <a:t>= 0.0;</a:t>
            </a:r>
          </a:p>
          <a:p>
            <a:pPr defTabSz="911225" fontAlgn="base">
              <a:lnSpc>
                <a:spcPct val="90000"/>
              </a:lnSpc>
              <a:spcBef>
                <a:spcPct val="20000"/>
              </a:spcBef>
              <a:spcAft>
                <a:spcPct val="0"/>
              </a:spcAft>
              <a:defRPr/>
            </a:pPr>
            <a:r>
              <a:rPr lang="en-US" altLang="zh-CN" sz="2000" dirty="0">
                <a:latin typeface="百度综艺简体" panose="02010601030101010101" charset="-122"/>
                <a:ea typeface="百度综艺简体" panose="02010601030101010101" charset="-122"/>
              </a:rPr>
              <a:t>       for ( </a:t>
            </a:r>
            <a:r>
              <a:rPr lang="en-US" altLang="zh-CN" sz="2000" dirty="0" err="1">
                <a:latin typeface="百度综艺简体" panose="02010601030101010101" charset="-122"/>
                <a:ea typeface="百度综艺简体" panose="02010601030101010101" charset="-122"/>
              </a:rPr>
              <a:t>int</a:t>
            </a:r>
            <a:r>
              <a:rPr lang="en-US" altLang="zh-CN" sz="2000" dirty="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 </a:t>
            </a:r>
            <a:r>
              <a:rPr lang="en-US" altLang="zh-CN" sz="2000" dirty="0" err="1" smtClean="0">
                <a:latin typeface="百度综艺简体" panose="02010601030101010101" charset="-122"/>
                <a:ea typeface="百度综艺简体" panose="02010601030101010101" charset="-122"/>
              </a:rPr>
              <a:t>i</a:t>
            </a:r>
            <a:r>
              <a:rPr lang="en-US" altLang="zh-CN" sz="2000" dirty="0" smtClean="0">
                <a:latin typeface="百度综艺简体" panose="02010601030101010101" charset="-122"/>
                <a:ea typeface="百度综艺简体" panose="02010601030101010101" charset="-122"/>
              </a:rPr>
              <a:t>=0</a:t>
            </a:r>
            <a:r>
              <a:rPr lang="en-US" altLang="zh-CN" sz="2000" dirty="0">
                <a:latin typeface="百度综艺简体" panose="02010601030101010101" charset="-122"/>
                <a:ea typeface="百度综艺简体" panose="02010601030101010101" charset="-122"/>
              </a:rPr>
              <a:t>; </a:t>
            </a:r>
            <a:r>
              <a:rPr lang="en-US" altLang="zh-CN" sz="2000" dirty="0" err="1">
                <a:latin typeface="百度综艺简体" panose="02010601030101010101" charset="-122"/>
                <a:ea typeface="百度综艺简体" panose="02010601030101010101" charset="-122"/>
              </a:rPr>
              <a:t>i</a:t>
            </a:r>
            <a:r>
              <a:rPr lang="en-US" altLang="zh-CN" sz="2000" dirty="0">
                <a:latin typeface="百度综艺简体" panose="02010601030101010101" charset="-122"/>
                <a:ea typeface="百度综艺简体" panose="02010601030101010101" charset="-122"/>
              </a:rPr>
              <a:t>&lt;n; </a:t>
            </a:r>
            <a:r>
              <a:rPr lang="en-US" altLang="zh-CN" sz="2000" dirty="0" err="1">
                <a:latin typeface="百度综艺简体" panose="02010601030101010101" charset="-122"/>
                <a:ea typeface="百度综艺简体" panose="02010601030101010101" charset="-122"/>
              </a:rPr>
              <a:t>i</a:t>
            </a:r>
            <a:r>
              <a:rPr lang="en-US" altLang="zh-CN" sz="2000" dirty="0">
                <a:latin typeface="百度综艺简体" panose="02010601030101010101" charset="-122"/>
                <a:ea typeface="百度综艺简体" panose="02010601030101010101" charset="-122"/>
              </a:rPr>
              <a:t>++ ) </a:t>
            </a:r>
          </a:p>
          <a:p>
            <a:pPr defTabSz="911225" fontAlgn="base">
              <a:lnSpc>
                <a:spcPct val="90000"/>
              </a:lnSpc>
              <a:spcBef>
                <a:spcPct val="20000"/>
              </a:spcBef>
              <a:spcAft>
                <a:spcPct val="0"/>
              </a:spcAft>
              <a:defRPr/>
            </a:pPr>
            <a:r>
              <a:rPr lang="zh-CN" altLang="en-US" sz="2000" dirty="0">
                <a:latin typeface="百度综艺简体" panose="02010601030101010101" charset="-122"/>
                <a:ea typeface="百度综艺简体" panose="02010601030101010101" charset="-122"/>
              </a:rPr>
              <a:t>	   </a:t>
            </a:r>
            <a:r>
              <a:rPr lang="en-US" altLang="zh-CN" sz="2000" dirty="0">
                <a:latin typeface="百度综艺简体" panose="02010601030101010101" charset="-122"/>
                <a:ea typeface="百度综艺简体" panose="02010601030101010101" charset="-122"/>
              </a:rPr>
              <a:t>s += a[</a:t>
            </a:r>
            <a:r>
              <a:rPr lang="en-US" altLang="zh-CN" sz="2000" dirty="0" err="1">
                <a:latin typeface="百度综艺简体" panose="02010601030101010101" charset="-122"/>
                <a:ea typeface="百度综艺简体" panose="02010601030101010101" charset="-122"/>
              </a:rPr>
              <a:t>i</a:t>
            </a:r>
            <a:r>
              <a:rPr lang="en-US" altLang="zh-CN" sz="2000" dirty="0" smtClean="0">
                <a:latin typeface="百度综艺简体" panose="02010601030101010101" charset="-122"/>
                <a:ea typeface="百度综艺简体" panose="02010601030101010101" charset="-122"/>
              </a:rPr>
              <a:t>];</a:t>
            </a:r>
            <a:r>
              <a:rPr lang="en-US" altLang="zh-CN" sz="2000" dirty="0">
                <a:latin typeface="百度综艺简体" panose="02010601030101010101" charset="-122"/>
                <a:ea typeface="百度综艺简体" panose="02010601030101010101" charset="-122"/>
              </a:rPr>
              <a:t>	</a:t>
            </a:r>
            <a:endParaRPr lang="zh-CN" altLang="en-US" sz="2000" dirty="0">
              <a:latin typeface="百度综艺简体" panose="02010601030101010101" charset="-122"/>
              <a:ea typeface="百度综艺简体" panose="02010601030101010101" charset="-122"/>
            </a:endParaRPr>
          </a:p>
          <a:p>
            <a:pPr defTabSz="911225" fontAlgn="base">
              <a:lnSpc>
                <a:spcPct val="90000"/>
              </a:lnSpc>
              <a:spcBef>
                <a:spcPct val="20000"/>
              </a:spcBef>
              <a:spcAft>
                <a:spcPct val="0"/>
              </a:spcAft>
              <a:defRPr/>
            </a:pPr>
            <a:r>
              <a:rPr lang="en-US" altLang="zh-CN" sz="2000" dirty="0">
                <a:latin typeface="百度综艺简体" panose="02010601030101010101" charset="-122"/>
                <a:ea typeface="百度综艺简体" panose="02010601030101010101" charset="-122"/>
              </a:rPr>
              <a:t>        </a:t>
            </a:r>
            <a:r>
              <a:rPr lang="en-US" altLang="zh-CN" sz="2000">
                <a:latin typeface="百度综艺简体" panose="02010601030101010101" charset="-122"/>
                <a:ea typeface="百度综艺简体" panose="02010601030101010101" charset="-122"/>
              </a:rPr>
              <a:t>return </a:t>
            </a:r>
            <a:r>
              <a:rPr lang="en-US" altLang="zh-CN" sz="2000" smtClean="0">
                <a:latin typeface="百度综艺简体" panose="02010601030101010101" charset="-122"/>
                <a:ea typeface="百度综艺简体" panose="02010601030101010101" charset="-122"/>
              </a:rPr>
              <a:t>   s</a:t>
            </a:r>
            <a:r>
              <a:rPr lang="en-US" altLang="zh-CN" sz="2000" dirty="0">
                <a:latin typeface="百度综艺简体" panose="02010601030101010101" charset="-122"/>
                <a:ea typeface="百度综艺简体" panose="02010601030101010101" charset="-122"/>
              </a:rPr>
              <a:t>;</a:t>
            </a:r>
          </a:p>
          <a:p>
            <a:pPr defTabSz="911225" fontAlgn="base">
              <a:lnSpc>
                <a:spcPct val="90000"/>
              </a:lnSpc>
              <a:spcBef>
                <a:spcPct val="20000"/>
              </a:spcBef>
              <a:spcAft>
                <a:spcPct val="0"/>
              </a:spcAft>
              <a:defRPr/>
            </a:pPr>
            <a:r>
              <a:rPr lang="en-US" altLang="zh-CN" sz="2000" dirty="0">
                <a:latin typeface="百度综艺简体" panose="02010601030101010101" charset="-122"/>
                <a:ea typeface="百度综艺简体" panose="02010601030101010101" charset="-122"/>
              </a:rPr>
              <a:t>   }</a:t>
            </a:r>
          </a:p>
        </p:txBody>
      </p:sp>
      <p:sp>
        <p:nvSpPr>
          <p:cNvPr id="13" name="Rectangle 5"/>
          <p:cNvSpPr>
            <a:spLocks noGrp="1" noChangeArrowheads="1"/>
          </p:cNvSpPr>
          <p:nvPr/>
        </p:nvSpPr>
        <p:spPr>
          <a:xfrm>
            <a:off x="1366484" y="3461740"/>
            <a:ext cx="6511890" cy="1437264"/>
          </a:xfrm>
          <a:prstGeom prst="rect">
            <a:avLst/>
          </a:prstGeom>
          <a:noFill/>
          <a:ln w="9525">
            <a:noFill/>
          </a:ln>
        </p:spPr>
        <p:txBody>
          <a:bodyPr vert="horz" wrap="square" lIns="113731" tIns="56866" rIns="113731" bIns="56866" numCol="1" anchor="t" anchorCtr="0" compatLnSpc="1"/>
          <a:lstStyle>
            <a:lvl1pPr marL="424180" indent="-424180" algn="l" defTabSz="1129030" rtl="0" eaLnBrk="0" fontAlgn="base" hangingPunct="0">
              <a:spcBef>
                <a:spcPct val="20000"/>
              </a:spcBef>
              <a:spcAft>
                <a:spcPct val="0"/>
              </a:spcAft>
              <a:buClr>
                <a:schemeClr val="hlink"/>
              </a:buClr>
              <a:buSzPct val="50000"/>
              <a:buFont typeface="Monotype Sorts" pitchFamily="2" charset="2"/>
              <a:buChar char="n"/>
              <a:defRPr kumimoji="1" sz="3500" kern="1200">
                <a:solidFill>
                  <a:schemeClr val="tx1"/>
                </a:solidFill>
                <a:latin typeface="+mn-lt"/>
                <a:ea typeface="+mn-ea"/>
                <a:cs typeface="+mn-cs"/>
              </a:defRPr>
            </a:lvl1pPr>
            <a:lvl2pPr marL="917575" indent="-352425" algn="l" defTabSz="1129030" rtl="0" eaLnBrk="0" fontAlgn="base" hangingPunct="0">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2pPr>
            <a:lvl3pPr marL="1411605" indent="-282575" algn="l" defTabSz="1129030" rtl="0" eaLnBrk="0" fontAlgn="base" hangingPunct="0">
              <a:spcBef>
                <a:spcPct val="20000"/>
              </a:spcBef>
              <a:spcAft>
                <a:spcPct val="0"/>
              </a:spcAft>
              <a:buClr>
                <a:schemeClr val="hlink"/>
              </a:buClr>
              <a:buSzPct val="65000"/>
              <a:buFont typeface="Monotype Sorts" pitchFamily="2" charset="2"/>
              <a:buChar char="F"/>
              <a:defRPr kumimoji="1" sz="3000" kern="1200">
                <a:solidFill>
                  <a:schemeClr val="tx1"/>
                </a:solidFill>
                <a:latin typeface="+mn-lt"/>
                <a:ea typeface="+mn-ea"/>
                <a:cs typeface="+mn-cs"/>
              </a:defRPr>
            </a:lvl3pPr>
            <a:lvl4pPr marL="1976755" indent="-282575" algn="l" defTabSz="1129030" rtl="0" eaLnBrk="0" fontAlgn="base" hangingPunct="0">
              <a:spcBef>
                <a:spcPct val="20000"/>
              </a:spcBef>
              <a:spcAft>
                <a:spcPct val="0"/>
              </a:spcAft>
              <a:buClr>
                <a:schemeClr val="tx2"/>
              </a:buClr>
              <a:buSzPct val="100000"/>
              <a:buChar char="•"/>
              <a:defRPr kumimoji="1" sz="2500" kern="1200">
                <a:solidFill>
                  <a:schemeClr val="tx1"/>
                </a:solidFill>
                <a:latin typeface="+mn-lt"/>
                <a:ea typeface="+mn-ea"/>
                <a:cs typeface="+mn-cs"/>
              </a:defRPr>
            </a:lvl4pPr>
            <a:lvl5pPr marL="2541905" indent="-282575" algn="l" defTabSz="1129030" rtl="0" eaLnBrk="0" fontAlgn="base" hangingPunct="0">
              <a:spcBef>
                <a:spcPct val="20000"/>
              </a:spcBef>
              <a:spcAft>
                <a:spcPct val="0"/>
              </a:spcAft>
              <a:buClr>
                <a:schemeClr val="hlink"/>
              </a:buClr>
              <a:buSzPct val="100000"/>
              <a:buChar char="–"/>
              <a:defRPr kumimoji="1" sz="2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spcBef>
                <a:spcPct val="0"/>
              </a:spcBef>
              <a:buClrTx/>
              <a:buSzTx/>
              <a:buNone/>
              <a:defRPr/>
            </a:pPr>
            <a:r>
              <a:rPr lang="zh-CN" altLang="en-US" sz="2400" b="1" dirty="0">
                <a:latin typeface="百度综艺简体" panose="02010601030101010101" charset="-122"/>
                <a:ea typeface="百度综艺简体" panose="02010601030101010101" charset="-122"/>
              </a:rPr>
              <a:t>额外空间：</a:t>
            </a:r>
            <a:r>
              <a:rPr lang="en-US" altLang="zh-CN" sz="2400" b="1" dirty="0">
                <a:latin typeface="百度综艺简体" panose="02010601030101010101" charset="-122"/>
                <a:ea typeface="百度综艺简体" panose="02010601030101010101" charset="-122"/>
              </a:rPr>
              <a:t>s , </a:t>
            </a:r>
            <a:r>
              <a:rPr lang="en-US" altLang="zh-CN" sz="2400" b="1" dirty="0" err="1" smtClean="0">
                <a:latin typeface="百度综艺简体" panose="02010601030101010101" charset="-122"/>
                <a:ea typeface="百度综艺简体" panose="02010601030101010101" charset="-122"/>
              </a:rPr>
              <a:t>i</a:t>
            </a:r>
            <a:r>
              <a:rPr lang="en-US" altLang="zh-CN" sz="2400" b="1" dirty="0" smtClean="0">
                <a:latin typeface="百度综艺简体" panose="02010601030101010101" charset="-122"/>
                <a:ea typeface="百度综艺简体" panose="02010601030101010101" charset="-122"/>
              </a:rPr>
              <a:t>     </a:t>
            </a:r>
            <a:endParaRPr lang="en-US" altLang="zh-CN" sz="2400" b="1" dirty="0">
              <a:latin typeface="百度综艺简体" panose="02010601030101010101" charset="-122"/>
              <a:ea typeface="百度综艺简体" panose="02010601030101010101" charset="-122"/>
            </a:endParaRPr>
          </a:p>
          <a:p>
            <a:pPr marL="0" lvl="0" indent="0">
              <a:lnSpc>
                <a:spcPct val="150000"/>
              </a:lnSpc>
              <a:spcBef>
                <a:spcPct val="0"/>
              </a:spcBef>
              <a:buClrTx/>
              <a:buSzTx/>
              <a:buNone/>
              <a:defRPr/>
            </a:pPr>
            <a:r>
              <a:rPr lang="zh-CN" altLang="en-US" sz="2400" b="1" dirty="0">
                <a:latin typeface="百度综艺简体" panose="02010601030101010101" charset="-122"/>
                <a:ea typeface="百度综艺简体" panose="02010601030101010101" charset="-122"/>
              </a:rPr>
              <a:t>空间复杂度</a:t>
            </a:r>
            <a:r>
              <a:rPr lang="en-US" altLang="zh-CN" sz="2400" b="1" dirty="0">
                <a:latin typeface="百度综艺简体" panose="02010601030101010101" charset="-122"/>
                <a:ea typeface="百度综艺简体" panose="02010601030101010101" charset="-122"/>
              </a:rPr>
              <a:t>:O(1</a:t>
            </a:r>
            <a:r>
              <a:rPr lang="en-US" altLang="zh-CN" sz="2400" b="1" dirty="0" smtClean="0">
                <a:latin typeface="百度综艺简体" panose="02010601030101010101" charset="-122"/>
                <a:ea typeface="百度综艺简体" panose="02010601030101010101" charset="-122"/>
              </a:rPr>
              <a:t>)  </a:t>
            </a:r>
            <a:r>
              <a:rPr lang="zh-CN" altLang="en-US" sz="2400" b="1" dirty="0" smtClean="0">
                <a:latin typeface="百度综艺简体" panose="02010601030101010101" charset="-122"/>
                <a:ea typeface="百度综艺简体" panose="02010601030101010101" charset="-122"/>
              </a:rPr>
              <a:t>，算法为原地工作。</a:t>
            </a:r>
            <a:endParaRPr lang="en-US" altLang="zh-CN" sz="2400" b="1"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238939109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18"/>
                                        </p:tgtEl>
                                        <p:attrNameLst>
                                          <p:attrName>ppt_y</p:attrName>
                                        </p:attrNameLst>
                                      </p:cBhvr>
                                      <p:tavLst>
                                        <p:tav tm="0">
                                          <p:val>
                                            <p:strVal val="#ppt_y"/>
                                          </p:val>
                                        </p:tav>
                                        <p:tav tm="100000">
                                          <p:val>
                                            <p:strVal val="#ppt_y"/>
                                          </p:val>
                                        </p:tav>
                                      </p:tavLst>
                                    </p:anim>
                                    <p:anim calcmode="lin" valueType="num">
                                      <p:cBhvr>
                                        <p:cTn id="44"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animBg="1"/>
      <p:bldP spid="18" grpId="0" autoUpdateAnimBg="0"/>
    </p:bldLst>
  </p:timing>
</p:sld>
</file>

<file path=ppt/theme/theme1.xml><?xml version="1.0" encoding="utf-8"?>
<a:theme xmlns:a="http://schemas.openxmlformats.org/drawingml/2006/main" name="Office 主题​​">
  <a:themeElements>
    <a:clrScheme name="自定义 647">
      <a:dk1>
        <a:sysClr val="windowText" lastClr="000000"/>
      </a:dk1>
      <a:lt1>
        <a:sysClr val="window" lastClr="FFFFFF"/>
      </a:lt1>
      <a:dk2>
        <a:srgbClr val="44546A"/>
      </a:dk2>
      <a:lt2>
        <a:srgbClr val="E7E6E6"/>
      </a:lt2>
      <a:accent1>
        <a:srgbClr val="2A5BA8"/>
      </a:accent1>
      <a:accent2>
        <a:srgbClr val="48AC92"/>
      </a:accent2>
      <a:accent3>
        <a:srgbClr val="2A5BA8"/>
      </a:accent3>
      <a:accent4>
        <a:srgbClr val="48AC92"/>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187</TotalTime>
  <Words>1558</Words>
  <Application>Microsoft Office PowerPoint</Application>
  <PresentationFormat>自定义</PresentationFormat>
  <Paragraphs>138</Paragraphs>
  <Slides>17</Slides>
  <Notes>16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Lato Light</vt:lpstr>
      <vt:lpstr>Monotype Sorts</vt:lpstr>
      <vt:lpstr>百度综艺简体</vt:lpstr>
      <vt:lpstr>等线</vt:lpstr>
      <vt:lpstr>等线 Light</vt:lpstr>
      <vt:lpstr>华文中宋</vt:lpstr>
      <vt:lpstr>宋体</vt:lpstr>
      <vt:lpstr>微软雅黑</vt:lpstr>
      <vt:lpstr>Arial</vt:lpstr>
      <vt:lpstr>Calibri</vt:lpstr>
      <vt:lpstr>Calibri Light</vt:lpstr>
      <vt:lpstr>Tahoma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Neusoft</cp:lastModifiedBy>
  <cp:revision>59</cp:revision>
  <dcterms:created xsi:type="dcterms:W3CDTF">2017-06-21T11:46:00Z</dcterms:created>
  <dcterms:modified xsi:type="dcterms:W3CDTF">2020-03-31T08:05:06Z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