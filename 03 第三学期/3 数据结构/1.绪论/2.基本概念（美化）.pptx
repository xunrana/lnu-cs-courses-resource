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83" r:id="rId2"/>
    <p:sldId id="284" r:id="rId3"/>
    <p:sldId id="288" r:id="rId4"/>
    <p:sldId id="289" r:id="rId5"/>
    <p:sldId id="292" r:id="rId6"/>
    <p:sldId id="290" r:id="rId7"/>
    <p:sldId id="291" r:id="rId8"/>
    <p:sldId id="293" r:id="rId9"/>
    <p:sldId id="294" r:id="rId10"/>
    <p:sldId id="295" r:id="rId11"/>
    <p:sldId id="296" r:id="rId12"/>
    <p:sldId id="297" r:id="rId13"/>
    <p:sldId id="298" r:id="rId14"/>
    <p:sldId id="299" r:id="rId15"/>
    <p:sldId id="300" r:id="rId16"/>
    <p:sldId id="301" r:id="rId17"/>
    <p:sldId id="302" r:id="rId18"/>
    <p:sldId id="303" r:id="rId19"/>
  </p:sldIdLst>
  <p:sldSz cx="9144000" cy="51450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A5B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92" autoAdjust="0"/>
    <p:restoredTop sz="94660"/>
  </p:normalViewPr>
  <p:slideViewPr>
    <p:cSldViewPr snapToGrid="0">
      <p:cViewPr varScale="1">
        <p:scale>
          <a:sx n="96" d="100"/>
          <a:sy n="96" d="100"/>
        </p:scale>
        <p:origin x="53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692"/>
    </p:cViewPr>
  </p:sorter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231844-757F-4497-A6B9-29138D45B0D0}" type="datetimeFigureOut">
              <a:rPr lang="zh-CN" altLang="en-US" smtClean="0"/>
              <a:t>2020/3/31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7388" y="1143000"/>
            <a:ext cx="5483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BABFAC-0D77-4680-9C08-FA0DD250B4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85848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11242B-E086-4BFA-A7CA-F34B92C86E2F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83073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11242B-E086-4BFA-A7CA-F34B92C86E2F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23663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11242B-E086-4BFA-A7CA-F34B92C86E2F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79923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11242B-E086-4BFA-A7CA-F34B92C86E2F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82760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11242B-E086-4BFA-A7CA-F34B92C86E2F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28034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11242B-E086-4BFA-A7CA-F34B92C86E2F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37328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11242B-E086-4BFA-A7CA-F34B92C86E2F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89844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11242B-E086-4BFA-A7CA-F34B92C86E2F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48397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11242B-E086-4BFA-A7CA-F34B92C86E2F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69677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11242B-E086-4BFA-A7CA-F34B92C86E2F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28281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11242B-E086-4BFA-A7CA-F34B92C86E2F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716928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11242B-E086-4BFA-A7CA-F34B92C86E2F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150614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11242B-E086-4BFA-A7CA-F34B92C86E2F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217862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11242B-E086-4BFA-A7CA-F34B92C86E2F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536000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11242B-E086-4BFA-A7CA-F34B92C86E2F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657620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11242B-E086-4BFA-A7CA-F34B92C86E2F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688077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11242B-E086-4BFA-A7CA-F34B92C86E2F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80484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2032"/>
            <a:ext cx="6858000" cy="1791253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143000" y="2702363"/>
            <a:ext cx="6858000" cy="1242205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2020/3/31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2020/3/31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700"/>
            <a:ext cx="7886700" cy="214021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23888" y="3443160"/>
            <a:ext cx="7886700" cy="1125488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2020/3/31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28650" y="1369642"/>
            <a:ext cx="3886200" cy="3264511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29150" y="1369642"/>
            <a:ext cx="3886200" cy="3264511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2020/3/31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929"/>
            <a:ext cx="7886700" cy="99447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29842" y="1261261"/>
            <a:ext cx="3868340" cy="61812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29842" y="1879386"/>
            <a:ext cx="3868340" cy="2764294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261261"/>
            <a:ext cx="3887391" cy="61812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4629150" y="1879386"/>
            <a:ext cx="3887391" cy="2764294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2020/3/31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2020/3/31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2020/3/31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矩形 4"/>
          <p:cNvSpPr/>
          <p:nvPr userDrawn="1"/>
        </p:nvSpPr>
        <p:spPr>
          <a:xfrm>
            <a:off x="253" y="196280"/>
            <a:ext cx="144049" cy="50405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4" tIns="34292" rIns="68584" bIns="34292" rtlCol="0" anchor="ctr"/>
          <a:lstStyle/>
          <a:p>
            <a:pPr algn="ctr" defTabSz="685800"/>
            <a:endParaRPr lang="zh-CN" altLang="en-US" sz="1400" dirty="0">
              <a:solidFill>
                <a:srgbClr val="E7E6E6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6" name="文本框 37"/>
          <p:cNvSpPr txBox="1"/>
          <p:nvPr userDrawn="1"/>
        </p:nvSpPr>
        <p:spPr>
          <a:xfrm>
            <a:off x="216310" y="196280"/>
            <a:ext cx="2190351" cy="315475"/>
          </a:xfrm>
          <a:prstGeom prst="rect">
            <a:avLst/>
          </a:prstGeom>
          <a:noFill/>
        </p:spPr>
        <p:txBody>
          <a:bodyPr wrap="none" lIns="68584" tIns="34292" rIns="68584" bIns="34292" rtlCol="0">
            <a:spAutoFit/>
          </a:bodyPr>
          <a:lstStyle/>
          <a:p>
            <a:pPr defTabSz="685800"/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点击添加相关标题文字</a:t>
            </a:r>
          </a:p>
        </p:txBody>
      </p:sp>
      <p:sp>
        <p:nvSpPr>
          <p:cNvPr id="7" name="文本框 38"/>
          <p:cNvSpPr txBox="1"/>
          <p:nvPr userDrawn="1"/>
        </p:nvSpPr>
        <p:spPr>
          <a:xfrm>
            <a:off x="265271" y="520316"/>
            <a:ext cx="2039271" cy="207753"/>
          </a:xfrm>
          <a:prstGeom prst="rect">
            <a:avLst/>
          </a:prstGeom>
          <a:noFill/>
        </p:spPr>
        <p:txBody>
          <a:bodyPr wrap="square" lIns="68584" tIns="34292" rIns="68584" bIns="34292" rtlCol="0">
            <a:spAutoFit/>
          </a:bodyPr>
          <a:lstStyle/>
          <a:p>
            <a:pPr algn="dist" defTabSz="685800"/>
            <a:r>
              <a:rPr lang="en-US" altLang="zh-CN" sz="9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ADD RELATED TITLE WORDS</a:t>
            </a:r>
            <a:endParaRPr lang="zh-CN" altLang="en-US" sz="9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3006"/>
            <a:ext cx="2949178" cy="120052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87391" y="740798"/>
            <a:ext cx="4629150" cy="365634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1543526"/>
            <a:ext cx="2949178" cy="2859574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2020/3/31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20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3006"/>
            <a:ext cx="2949178" cy="120052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798"/>
            <a:ext cx="4629150" cy="365634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单击图标添加20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1543526"/>
            <a:ext cx="2949178" cy="2859574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2020/3/31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2020/3/31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928"/>
            <a:ext cx="1971675" cy="436022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628650" y="273928"/>
            <a:ext cx="5800725" cy="4360224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2020/3/31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3929"/>
            <a:ext cx="7886700" cy="994479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9ABEBE-EF13-4983-B182-046B37A0370C}" type="datetime1">
              <a:rPr lang="zh-CN" altLang="en-US"/>
              <a:t>2020/3/31</a:t>
            </a:fld>
            <a:endParaRPr lang="zh-CN" altLang="en-US" sz="1400" dirty="0">
              <a:solidFill>
                <a:prstClr val="blac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8145E6F-D1B7-49E0-9AB3-789D9698C190}" type="slidenum">
              <a:rPr lang="zh-CN" altLang="en-US"/>
              <a:t>‹#›</a:t>
            </a:fld>
            <a:endParaRPr lang="zh-CN" altLang="en-US" sz="1400" dirty="0">
              <a:solidFill>
                <a:prstClr val="blac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1143000" y="374188"/>
            <a:ext cx="6858000" cy="523279"/>
          </a:xfrm>
        </p:spPr>
        <p:txBody>
          <a:bodyPr anchor="b">
            <a:normAutofit/>
          </a:bodyPr>
          <a:lstStyle>
            <a:lvl1pPr algn="ctr">
              <a:defRPr sz="3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7" name="Subtitle 2"/>
          <p:cNvSpPr>
            <a:spLocks noGrp="1"/>
          </p:cNvSpPr>
          <p:nvPr>
            <p:ph type="subTitle" idx="1"/>
          </p:nvPr>
        </p:nvSpPr>
        <p:spPr>
          <a:xfrm>
            <a:off x="1143000" y="918257"/>
            <a:ext cx="6858000" cy="280749"/>
          </a:xfrm>
        </p:spPr>
        <p:txBody>
          <a:bodyPr>
            <a:normAutofit/>
          </a:bodyPr>
          <a:lstStyle>
            <a:lvl1pPr marL="0" indent="0" algn="ctr">
              <a:buNone/>
              <a:defRPr sz="1100">
                <a:solidFill>
                  <a:schemeClr val="bg1">
                    <a:lumMod val="50000"/>
                  </a:schemeClr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40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  <a:endParaRPr lang="en-AU" dirty="0"/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628650" y="1503977"/>
            <a:ext cx="3942159" cy="353809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endParaRPr lang="en-AU" dirty="0"/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628650" y="1869220"/>
            <a:ext cx="3942159" cy="1320052"/>
          </a:xfrm>
        </p:spPr>
        <p:txBody>
          <a:bodyPr>
            <a:normAutofit/>
          </a:bodyPr>
          <a:lstStyle>
            <a:lvl1pPr marL="0" indent="0">
              <a:buNone/>
              <a:defRPr sz="1100">
                <a:latin typeface="Lato Light" panose="020F0302020204030203" pitchFamily="34" charset="0"/>
              </a:defRPr>
            </a:lvl1pPr>
          </a:lstStyle>
          <a:p>
            <a:pPr lvl="0"/>
            <a:endParaRPr lang="en-AU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5"/>
          </p:nvPr>
        </p:nvSpPr>
        <p:spPr>
          <a:xfrm>
            <a:off x="629841" y="3288332"/>
            <a:ext cx="3940969" cy="370398"/>
          </a:xfrm>
        </p:spPr>
        <p:txBody>
          <a:bodyPr>
            <a:normAutofit/>
          </a:bodyPr>
          <a:lstStyle>
            <a:lvl1pPr marL="0" indent="0">
              <a:buNone/>
              <a:defRPr sz="1200" b="1" i="1">
                <a:latin typeface="Lato Light" panose="020F0302020204030203" pitchFamily="34" charset="0"/>
              </a:defRPr>
            </a:lvl1pPr>
          </a:lstStyle>
          <a:p>
            <a:pPr lvl="0"/>
            <a:endParaRPr lang="en-AU" dirty="0"/>
          </a:p>
        </p:txBody>
      </p:sp>
      <p:sp>
        <p:nvSpPr>
          <p:cNvPr id="13" name="Text Placeholder 13"/>
          <p:cNvSpPr>
            <a:spLocks noGrp="1"/>
          </p:cNvSpPr>
          <p:nvPr>
            <p:ph type="body" sz="quarter" idx="16"/>
          </p:nvPr>
        </p:nvSpPr>
        <p:spPr>
          <a:xfrm>
            <a:off x="629841" y="3658730"/>
            <a:ext cx="3940969" cy="370399"/>
          </a:xfrm>
        </p:spPr>
        <p:txBody>
          <a:bodyPr>
            <a:normAutofit/>
          </a:bodyPr>
          <a:lstStyle>
            <a:lvl1pPr marL="0" indent="0">
              <a:buNone/>
              <a:defRPr sz="900" b="1">
                <a:latin typeface="Lato Light" panose="020F0302020204030203" pitchFamily="34" charset="0"/>
              </a:defRPr>
            </a:lvl1pPr>
          </a:lstStyle>
          <a:p>
            <a:pPr lvl="0"/>
            <a:endParaRPr lang="en-AU" dirty="0"/>
          </a:p>
        </p:txBody>
      </p:sp>
      <p:sp>
        <p:nvSpPr>
          <p:cNvPr id="14" name="Text Placeholder 15"/>
          <p:cNvSpPr>
            <a:spLocks noGrp="1"/>
          </p:cNvSpPr>
          <p:nvPr>
            <p:ph type="body" sz="quarter" idx="17"/>
          </p:nvPr>
        </p:nvSpPr>
        <p:spPr>
          <a:xfrm>
            <a:off x="629841" y="4029128"/>
            <a:ext cx="3942159" cy="270355"/>
          </a:xfrm>
        </p:spPr>
        <p:txBody>
          <a:bodyPr>
            <a:normAutofit/>
          </a:bodyPr>
          <a:lstStyle>
            <a:lvl1pPr marL="0" indent="0">
              <a:buNone/>
              <a:defRPr sz="900">
                <a:latin typeface="Lato Light" panose="020F0302020204030203" pitchFamily="34" charset="0"/>
              </a:defRPr>
            </a:lvl1pPr>
          </a:lstStyle>
          <a:p>
            <a:pPr lvl="0"/>
            <a:endParaRPr lang="en-AU" dirty="0"/>
          </a:p>
        </p:txBody>
      </p:sp>
      <p:sp>
        <p:nvSpPr>
          <p:cNvPr id="15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8735"/>
            <a:ext cx="2057400" cy="273928"/>
          </a:xfrm>
        </p:spPr>
        <p:txBody>
          <a:bodyPr/>
          <a:lstStyle>
            <a:lvl1pPr>
              <a:defRPr>
                <a:latin typeface="Lato Light" panose="020F0302020204030203" pitchFamily="34" charset="0"/>
              </a:defRPr>
            </a:lvl1pPr>
          </a:lstStyle>
          <a:p>
            <a:fld id="{722F6D6F-DD99-46DF-A9EA-728D63EA6A31}" type="datetimeFigureOut">
              <a:rPr lang="en-AU" smtClean="0"/>
              <a:t>31/03/2020</a:t>
            </a:fld>
            <a:endParaRPr lang="en-AU" dirty="0"/>
          </a:p>
        </p:txBody>
      </p:sp>
      <p:sp>
        <p:nvSpPr>
          <p:cNvPr id="1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8735"/>
            <a:ext cx="3086100" cy="273928"/>
          </a:xfrm>
        </p:spPr>
        <p:txBody>
          <a:bodyPr/>
          <a:lstStyle>
            <a:lvl1pPr>
              <a:defRPr>
                <a:latin typeface="Lato Light" panose="020F0302020204030203" pitchFamily="34" charset="0"/>
              </a:defRPr>
            </a:lvl1pPr>
          </a:lstStyle>
          <a:p>
            <a:endParaRPr lang="en-AU" dirty="0"/>
          </a:p>
        </p:txBody>
      </p:sp>
      <p:sp>
        <p:nvSpPr>
          <p:cNvPr id="1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8735"/>
            <a:ext cx="2057400" cy="273928"/>
          </a:xfrm>
        </p:spPr>
        <p:txBody>
          <a:bodyPr/>
          <a:lstStyle>
            <a:lvl1pPr>
              <a:defRPr>
                <a:latin typeface="Lato Light" panose="020F0302020204030203" pitchFamily="34" charset="0"/>
              </a:defRPr>
            </a:lvl1pPr>
          </a:lstStyle>
          <a:p>
            <a:fld id="{84AD2E7E-F7BA-4F6B-9D0C-0B2331C2AE06}" type="slidenum">
              <a:rPr lang="en-AU" smtClean="0"/>
              <a:t>‹#›</a:t>
            </a:fld>
            <a:endParaRPr lang="en-AU" dirty="0"/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18"/>
          </p:nvPr>
        </p:nvSpPr>
        <p:spPr>
          <a:xfrm>
            <a:off x="5112544" y="1504225"/>
            <a:ext cx="3251597" cy="353724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pPr lvl="0"/>
            <a:endParaRPr lang="en-AU" dirty="0"/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9"/>
          </p:nvPr>
        </p:nvSpPr>
        <p:spPr>
          <a:xfrm>
            <a:off x="5112544" y="1868668"/>
            <a:ext cx="3251597" cy="703876"/>
          </a:xfrm>
        </p:spPr>
        <p:txBody>
          <a:bodyPr>
            <a:normAutofit/>
          </a:bodyPr>
          <a:lstStyle>
            <a:lvl1pPr marL="0" indent="0">
              <a:buNone/>
              <a:defRPr sz="900">
                <a:latin typeface="Lato Light" panose="020F0302020204030203" pitchFamily="34" charset="0"/>
              </a:defRPr>
            </a:lvl1pPr>
          </a:lstStyle>
          <a:p>
            <a:pPr lvl="0"/>
            <a:endParaRPr lang="en-AU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929"/>
            <a:ext cx="7886700" cy="9944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642"/>
            <a:ext cx="7886700" cy="32645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8735"/>
            <a:ext cx="2057400" cy="2739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B0A747-1217-4325-A876-522190C71555}" type="datetimeFigureOut">
              <a:rPr lang="zh-CN" altLang="en-US" smtClean="0"/>
              <a:t>2020/3/31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8735"/>
            <a:ext cx="3086100" cy="2739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8735"/>
            <a:ext cx="2057400" cy="2739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411" y="5875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pic>
        <p:nvPicPr>
          <p:cNvPr id="3" name="20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84"/>
          <a:stretch>
            <a:fillRect/>
          </a:stretch>
        </p:blipFill>
        <p:spPr>
          <a:xfrm>
            <a:off x="4224" y="1133312"/>
            <a:ext cx="3523982" cy="4018760"/>
          </a:xfrm>
          <a:prstGeom prst="rect">
            <a:avLst/>
          </a:prstGeom>
          <a:solidFill>
            <a:srgbClr val="2A5BA8"/>
          </a:solidFill>
        </p:spPr>
      </p:pic>
      <p:pic>
        <p:nvPicPr>
          <p:cNvPr id="5" name="20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564" b="51735"/>
          <a:stretch>
            <a:fillRect/>
          </a:stretch>
        </p:blipFill>
        <p:spPr>
          <a:xfrm flipV="1">
            <a:off x="7180313" y="794"/>
            <a:ext cx="1952652" cy="1727659"/>
          </a:xfrm>
          <a:prstGeom prst="rect">
            <a:avLst/>
          </a:prstGeom>
        </p:spPr>
      </p:pic>
      <p:sp>
        <p:nvSpPr>
          <p:cNvPr id="7" name="矩形 259"/>
          <p:cNvSpPr>
            <a:spLocks noChangeArrowheads="1"/>
          </p:cNvSpPr>
          <p:nvPr/>
        </p:nvSpPr>
        <p:spPr bwMode="auto">
          <a:xfrm>
            <a:off x="6750050" y="2957195"/>
            <a:ext cx="1868170" cy="372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5012" tIns="32506" rIns="65012" bIns="3250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en-US" altLang="zh-CN" sz="2000" b="1" cap="all" spc="213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——</a:t>
            </a:r>
            <a:r>
              <a:rPr lang="zh-CN" altLang="en-US" sz="2000" b="1" cap="all" spc="213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类</a:t>
            </a:r>
            <a:r>
              <a:rPr lang="en-US" sz="2000" b="1" cap="all" spc="213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C</a:t>
            </a:r>
            <a:r>
              <a:rPr lang="zh-CN" altLang="en-US" sz="2000" b="1" cap="all" spc="213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描述</a:t>
            </a:r>
          </a:p>
        </p:txBody>
      </p:sp>
      <p:sp>
        <p:nvSpPr>
          <p:cNvPr id="8" name="矩形 259"/>
          <p:cNvSpPr>
            <a:spLocks noChangeArrowheads="1"/>
          </p:cNvSpPr>
          <p:nvPr/>
        </p:nvSpPr>
        <p:spPr bwMode="auto">
          <a:xfrm>
            <a:off x="3472815" y="2324735"/>
            <a:ext cx="566928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5012" tIns="32506" rIns="65012" bIns="3250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zh-CN" altLang="en-US" sz="2800" cap="all" spc="213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数据结构 </a:t>
            </a:r>
            <a:r>
              <a:rPr lang="en-US" altLang="zh-CN" sz="2800" cap="all" spc="213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DATA STRUCTURE</a:t>
            </a:r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4803775" y="3791585"/>
            <a:ext cx="1569085" cy="184150"/>
          </a:xfrm>
          <a:prstGeom prst="rect">
            <a:avLst/>
          </a:prstGeom>
          <a:solidFill>
            <a:schemeClr val="accent1"/>
          </a:solidFill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>
            <a:lvl1pPr algn="ctr">
              <a:spcBef>
                <a:spcPct val="0"/>
              </a:spcBef>
              <a:buNone/>
              <a:defRPr lang="ko-KR" altLang="en-US" sz="4400" b="1" baseline="0" dirty="0">
                <a:solidFill>
                  <a:schemeClr val="bg1"/>
                </a:solidFill>
                <a:effectLst>
                  <a:outerShdw blurRad="12700" dist="25400" dir="5400000" algn="t" rotWithShape="0">
                    <a:prstClr val="black">
                      <a:alpha val="50000"/>
                    </a:prst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l"/>
            <a:r>
              <a:rPr lang="zh-CN" altLang="en-US" sz="1200" b="0" noProof="1">
                <a:effectLst/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任课教师：</a:t>
            </a:r>
            <a:r>
              <a:rPr lang="zh-CN" sz="1200" b="0" noProof="1">
                <a:effectLst/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王青松</a:t>
            </a:r>
            <a:r>
              <a:rPr lang="en-US" altLang="zh-CN" sz="1200" b="0" noProof="1">
                <a:effectLst/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 </a:t>
            </a:r>
            <a:r>
              <a:rPr lang="en-US" altLang="zh-CN" sz="1200" b="0" noProof="1">
                <a:effectLst/>
                <a:latin typeface="华文中宋" panose="02010600040101010101" charset="-122"/>
                <a:ea typeface="华文中宋" panose="02010600040101010101" charset="-122"/>
              </a:rPr>
              <a:t>     </a:t>
            </a:r>
            <a:r>
              <a:rPr lang="zh-CN" altLang="en-US" sz="1200" b="0" noProof="1">
                <a:effectLst/>
                <a:latin typeface="华文中宋" panose="02010600040101010101" charset="-122"/>
                <a:ea typeface="华文中宋" panose="02010600040101010101" charset="-122"/>
              </a:rPr>
              <a:t>   </a:t>
            </a:r>
            <a:endParaRPr lang="en-US" altLang="ko-KR" sz="1200" b="0" noProof="1">
              <a:effectLst/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 bwMode="auto">
          <a:xfrm>
            <a:off x="6372558" y="3791658"/>
            <a:ext cx="2760406" cy="184538"/>
          </a:xfrm>
          <a:prstGeom prst="rect">
            <a:avLst/>
          </a:prstGeom>
          <a:solidFill>
            <a:schemeClr val="accent2"/>
          </a:solidFill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>
            <a:lvl1pPr algn="ctr">
              <a:spcBef>
                <a:spcPct val="0"/>
              </a:spcBef>
              <a:buNone/>
              <a:defRPr lang="ko-KR" altLang="en-US" sz="4400" b="1" baseline="0" dirty="0">
                <a:solidFill>
                  <a:schemeClr val="bg1"/>
                </a:solidFill>
                <a:effectLst>
                  <a:outerShdw blurRad="12700" dist="25400" dir="5400000" algn="t" rotWithShape="0">
                    <a:prstClr val="black">
                      <a:alpha val="50000"/>
                    </a:prst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l"/>
            <a:endParaRPr lang="en-US" altLang="ko-KR" sz="1200" b="0" noProof="1">
              <a:effectLst/>
              <a:latin typeface="华文中宋" panose="02010600040101010101" charset="-122"/>
              <a:ea typeface="华文中宋" panose="0201060004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 tmFilter="0,0; .5, 1; 1, 1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599"/>
                            </p:stCondLst>
                            <p:childTnLst>
                              <p:par>
                                <p:cTn id="24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25" dur="5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6" dur="25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099"/>
                            </p:stCondLst>
                            <p:childTnLst>
                              <p:par>
                                <p:cTn id="28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 tmFilter="0,0; .5, 1; 1, 1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850"/>
                            </p:stCondLst>
                            <p:childTnLst>
                              <p:par>
                                <p:cTn id="36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37" dur="5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8" dur="25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435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485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  <p:bldP spid="8" grpId="0"/>
      <p:bldP spid="8" grpId="1"/>
      <p:bldP spid="10" grpId="0" bldLvl="0" animBg="1"/>
      <p:bldP spid="11" grpId="0" bldLvl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>
            <a:cxnSpLocks noChangeShapeType="1"/>
          </p:cNvCxnSpPr>
          <p:nvPr/>
        </p:nvCxnSpPr>
        <p:spPr bwMode="auto">
          <a:xfrm>
            <a:off x="307340" y="537845"/>
            <a:ext cx="882904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</a:ln>
          <a:effectLst/>
        </p:spPr>
      </p:cxnSp>
      <p:sp>
        <p:nvSpPr>
          <p:cNvPr id="16" name="矩形 15"/>
          <p:cNvSpPr/>
          <p:nvPr/>
        </p:nvSpPr>
        <p:spPr>
          <a:xfrm>
            <a:off x="1411" y="5240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800" dirty="0">
              <a:solidFill>
                <a:schemeClr val="accent2"/>
              </a:solidFill>
              <a:effectLst/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19" name="TextBox 5"/>
          <p:cNvSpPr txBox="1">
            <a:spLocks noChangeArrowheads="1"/>
          </p:cNvSpPr>
          <p:nvPr/>
        </p:nvSpPr>
        <p:spPr bwMode="auto">
          <a:xfrm>
            <a:off x="234950" y="203835"/>
            <a:ext cx="206756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《数据结构》</a:t>
            </a: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1412" y="217303"/>
            <a:ext cx="401225" cy="40122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sp>
        <p:nvSpPr>
          <p:cNvPr id="31" name="Text Placeholder 11"/>
          <p:cNvSpPr txBox="1"/>
          <p:nvPr/>
        </p:nvSpPr>
        <p:spPr>
          <a:xfrm>
            <a:off x="2302510" y="241067"/>
            <a:ext cx="280543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1800" dirty="0" smtClean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基本概念和术语</a:t>
            </a:r>
            <a:endParaRPr lang="zh-CN" sz="1800" dirty="0">
              <a:solidFill>
                <a:schemeClr val="accent2"/>
              </a:solidFill>
              <a:latin typeface="百度综艺简体" panose="02010601030101010101" charset="-122"/>
              <a:ea typeface="百度综艺简体" panose="02010601030101010101" charset="-122"/>
              <a:sym typeface="Arial" panose="020B0604020202020204" pitchFamily="34" charset="0"/>
            </a:endParaRPr>
          </a:p>
        </p:txBody>
      </p:sp>
      <p:sp>
        <p:nvSpPr>
          <p:cNvPr id="26" name="TextBox 5"/>
          <p:cNvSpPr txBox="1">
            <a:spLocks noChangeArrowheads="1"/>
          </p:cNvSpPr>
          <p:nvPr/>
        </p:nvSpPr>
        <p:spPr bwMode="auto">
          <a:xfrm>
            <a:off x="1099953" y="1285954"/>
            <a:ext cx="7277822" cy="83099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sz="1600" dirty="0" smtClean="0">
                <a:latin typeface="百度综艺简体" panose="02010601030101010101" charset="-122"/>
                <a:ea typeface="百度综艺简体" panose="02010601030101010101" charset="-122"/>
              </a:rPr>
              <a:t>        所有能被输入到计算机中，且被计算机处理的符号的集合，是计算机操作的对象的总称，   是计算机处理的信息的某种特定的符号表示形式。</a:t>
            </a:r>
            <a:endParaRPr lang="zh-CN" altLang="en-US" sz="1600" dirty="0"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37" name="AutoShape 3"/>
          <p:cNvSpPr>
            <a:spLocks noChangeAspect="1" noChangeArrowheads="1" noTextEdit="1"/>
          </p:cNvSpPr>
          <p:nvPr/>
        </p:nvSpPr>
        <p:spPr bwMode="auto">
          <a:xfrm>
            <a:off x="557288" y="744733"/>
            <a:ext cx="542665" cy="54122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endParaRPr lang="zh-CN" altLang="en-US" sz="1800"/>
          </a:p>
        </p:txBody>
      </p:sp>
      <p:sp>
        <p:nvSpPr>
          <p:cNvPr id="41" name="Text Placeholder 11"/>
          <p:cNvSpPr txBox="1"/>
          <p:nvPr/>
        </p:nvSpPr>
        <p:spPr>
          <a:xfrm>
            <a:off x="1053454" y="998339"/>
            <a:ext cx="2137863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sz="2000" dirty="0" smtClean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数据</a:t>
            </a:r>
            <a:r>
              <a:rPr lang="en-US" altLang="zh-CN" sz="2000" dirty="0" smtClean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(data)</a:t>
            </a:r>
            <a:endParaRPr lang="zh-CN" sz="2000" dirty="0">
              <a:solidFill>
                <a:schemeClr val="accent1"/>
              </a:solidFill>
              <a:latin typeface="百度综艺简体" panose="02010601030101010101" charset="-122"/>
              <a:ea typeface="百度综艺简体" panose="02010601030101010101" charset="-122"/>
              <a:sym typeface="Arial" panose="020B0604020202020204" pitchFamily="34" charset="0"/>
            </a:endParaRPr>
          </a:p>
        </p:txBody>
      </p:sp>
      <p:sp>
        <p:nvSpPr>
          <p:cNvPr id="52" name="Text Placeholder 11"/>
          <p:cNvSpPr txBox="1"/>
          <p:nvPr/>
        </p:nvSpPr>
        <p:spPr>
          <a:xfrm>
            <a:off x="1047237" y="2333784"/>
            <a:ext cx="362077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20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数据</a:t>
            </a:r>
            <a:r>
              <a:rPr lang="zh-CN" altLang="en-US" sz="2000" dirty="0" smtClean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元素</a:t>
            </a:r>
            <a:r>
              <a:rPr lang="en-US" altLang="zh-CN" sz="2000" dirty="0" smtClean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(data element)</a:t>
            </a:r>
            <a:endParaRPr lang="zh-CN" sz="2000" dirty="0">
              <a:solidFill>
                <a:schemeClr val="accent1"/>
              </a:solidFill>
              <a:latin typeface="百度综艺简体" panose="02010601030101010101" charset="-122"/>
              <a:ea typeface="百度综艺简体" panose="02010601030101010101" charset="-122"/>
              <a:sym typeface="Arial" panose="020B0604020202020204" pitchFamily="34" charset="0"/>
            </a:endParaRPr>
          </a:p>
        </p:txBody>
      </p:sp>
      <p:sp>
        <p:nvSpPr>
          <p:cNvPr id="53" name="TextBox 5"/>
          <p:cNvSpPr txBox="1">
            <a:spLocks noChangeArrowheads="1"/>
          </p:cNvSpPr>
          <p:nvPr/>
        </p:nvSpPr>
        <p:spPr bwMode="auto">
          <a:xfrm>
            <a:off x="1634876" y="2724080"/>
            <a:ext cx="4778375" cy="33855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数据中的一个“个体”，构成数据的</a:t>
            </a:r>
            <a:r>
              <a:rPr lang="zh-CN" altLang="en-US" sz="1600" dirty="0" smtClean="0">
                <a:latin typeface="百度综艺简体" panose="02010601030101010101" charset="-122"/>
                <a:ea typeface="百度综艺简体" panose="02010601030101010101" charset="-122"/>
              </a:rPr>
              <a:t>基本单位</a:t>
            </a: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。</a:t>
            </a:r>
            <a:endParaRPr lang="en-US" altLang="zh-CN" sz="1600" dirty="0">
              <a:latin typeface="百度综艺简体" panose="02010601030101010101" charset="-122"/>
              <a:ea typeface="百度综艺简体" panose="02010601030101010101" charset="-122"/>
            </a:endParaRPr>
          </a:p>
        </p:txBody>
      </p:sp>
      <p:sp>
        <p:nvSpPr>
          <p:cNvPr id="55" name="TextBox 5"/>
          <p:cNvSpPr txBox="1">
            <a:spLocks noChangeArrowheads="1"/>
          </p:cNvSpPr>
          <p:nvPr/>
        </p:nvSpPr>
        <p:spPr bwMode="auto">
          <a:xfrm>
            <a:off x="1634876" y="3098701"/>
            <a:ext cx="6117590" cy="33855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zh-CN" altLang="en-US" sz="1600" dirty="0" smtClean="0">
                <a:latin typeface="百度综艺简体" panose="02010601030101010101" charset="-122"/>
                <a:ea typeface="百度综艺简体" panose="02010601030101010101" charset="-122"/>
              </a:rPr>
              <a:t>数据项是构成</a:t>
            </a: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数据的最小</a:t>
            </a:r>
            <a:r>
              <a:rPr lang="zh-CN" altLang="en-US" sz="1600" dirty="0" smtClean="0">
                <a:latin typeface="百度综艺简体" panose="02010601030101010101" charset="-122"/>
                <a:ea typeface="百度综艺简体" panose="02010601030101010101" charset="-122"/>
              </a:rPr>
              <a:t>单位。       数据</a:t>
            </a: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元素是数据项的</a:t>
            </a:r>
            <a:r>
              <a:rPr lang="zh-CN" altLang="en-US" sz="1600" dirty="0" smtClean="0">
                <a:latin typeface="百度综艺简体" panose="02010601030101010101" charset="-122"/>
                <a:ea typeface="百度综艺简体" panose="02010601030101010101" charset="-122"/>
              </a:rPr>
              <a:t>集合</a:t>
            </a: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。</a:t>
            </a:r>
            <a:endParaRPr lang="zh-CN" sz="1600" dirty="0"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2134235" y="483235"/>
            <a:ext cx="7002145" cy="109220"/>
            <a:chOff x="2140585" y="362585"/>
            <a:chExt cx="7002145" cy="109220"/>
          </a:xfrm>
        </p:grpSpPr>
        <p:cxnSp>
          <p:nvCxnSpPr>
            <p:cNvPr id="25" name="直接连接符 24"/>
            <p:cNvCxnSpPr/>
            <p:nvPr/>
          </p:nvCxnSpPr>
          <p:spPr>
            <a:xfrm>
              <a:off x="2140585" y="417195"/>
              <a:ext cx="6889750" cy="0"/>
            </a:xfrm>
            <a:prstGeom prst="line">
              <a:avLst/>
            </a:prstGeom>
            <a:ln w="22225">
              <a:solidFill>
                <a:srgbClr val="2A5B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椭圆 26"/>
            <p:cNvSpPr/>
            <p:nvPr/>
          </p:nvSpPr>
          <p:spPr>
            <a:xfrm>
              <a:off x="9033510" y="362585"/>
              <a:ext cx="109220" cy="1092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 tmFilter="0,0; .5, 1; 1, 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50"/>
                            </p:stCondLst>
                            <p:childTnLst>
                              <p:par>
                                <p:cTn id="27" presetID="52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9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30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250"/>
                            </p:stCondLst>
                            <p:childTnLst>
                              <p:par>
                                <p:cTn id="3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 tmFilter="0,0; .5, 1; 1, 1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 tmFilter="0,0; .5, 1; 1, 1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00" tmFilter="0,0; .5, 1; 1, 1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utoUpdateAnimBg="0"/>
      <p:bldP spid="22" grpId="0" bldLvl="0" animBg="1" autoUpdateAnimBg="0"/>
      <p:bldP spid="31" grpId="0"/>
      <p:bldP spid="26" grpId="0" autoUpdateAnimBg="0"/>
      <p:bldP spid="37" grpId="0" animBg="1"/>
      <p:bldP spid="41" grpId="0"/>
      <p:bldP spid="52" grpId="0"/>
      <p:bldP spid="53" grpId="0" autoUpdateAnimBg="0"/>
      <p:bldP spid="55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>
            <a:cxnSpLocks noChangeShapeType="1"/>
          </p:cNvCxnSpPr>
          <p:nvPr/>
        </p:nvCxnSpPr>
        <p:spPr bwMode="auto">
          <a:xfrm>
            <a:off x="307340" y="537845"/>
            <a:ext cx="882904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</a:ln>
          <a:effectLst/>
        </p:spPr>
      </p:cxnSp>
      <p:sp>
        <p:nvSpPr>
          <p:cNvPr id="16" name="矩形 15"/>
          <p:cNvSpPr/>
          <p:nvPr/>
        </p:nvSpPr>
        <p:spPr>
          <a:xfrm>
            <a:off x="1411" y="5240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800" dirty="0">
              <a:solidFill>
                <a:schemeClr val="accent2"/>
              </a:solidFill>
              <a:effectLst/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19" name="TextBox 5"/>
          <p:cNvSpPr txBox="1">
            <a:spLocks noChangeArrowheads="1"/>
          </p:cNvSpPr>
          <p:nvPr/>
        </p:nvSpPr>
        <p:spPr bwMode="auto">
          <a:xfrm>
            <a:off x="234950" y="203835"/>
            <a:ext cx="206756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《数据结构》</a:t>
            </a: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1412" y="217303"/>
            <a:ext cx="401225" cy="40122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sp>
        <p:nvSpPr>
          <p:cNvPr id="26" name="TextBox 5"/>
          <p:cNvSpPr txBox="1">
            <a:spLocks noChangeArrowheads="1"/>
          </p:cNvSpPr>
          <p:nvPr/>
        </p:nvSpPr>
        <p:spPr bwMode="auto">
          <a:xfrm>
            <a:off x="1598247" y="1431389"/>
            <a:ext cx="4678572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285750" indent="-285750" fontAlgn="auto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数据的子集。具有相同性质的数据元素的集合。</a:t>
            </a:r>
            <a:endParaRPr lang="zh-CN" altLang="en-US" sz="1600" dirty="0"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37" name="AutoShape 3"/>
          <p:cNvSpPr>
            <a:spLocks noChangeAspect="1" noChangeArrowheads="1" noTextEdit="1"/>
          </p:cNvSpPr>
          <p:nvPr/>
        </p:nvSpPr>
        <p:spPr bwMode="auto">
          <a:xfrm>
            <a:off x="557288" y="744733"/>
            <a:ext cx="542665" cy="54122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endParaRPr lang="zh-CN" altLang="en-US" sz="1800"/>
          </a:p>
        </p:txBody>
      </p:sp>
      <p:sp>
        <p:nvSpPr>
          <p:cNvPr id="41" name="Text Placeholder 11"/>
          <p:cNvSpPr txBox="1"/>
          <p:nvPr/>
        </p:nvSpPr>
        <p:spPr>
          <a:xfrm>
            <a:off x="1099953" y="1127367"/>
            <a:ext cx="3387268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sz="2000" dirty="0" smtClean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数据</a:t>
            </a:r>
            <a:r>
              <a:rPr lang="zh-CN" altLang="en-US" sz="2000" dirty="0" smtClean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对象</a:t>
            </a:r>
            <a:r>
              <a:rPr lang="en-US" altLang="zh-CN" sz="2000" dirty="0" smtClean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(data object)</a:t>
            </a:r>
            <a:endParaRPr lang="zh-CN" sz="2000" dirty="0">
              <a:solidFill>
                <a:schemeClr val="accent1"/>
              </a:solidFill>
              <a:latin typeface="百度综艺简体" panose="02010601030101010101" charset="-122"/>
              <a:ea typeface="百度综艺简体" panose="02010601030101010101" charset="-122"/>
              <a:sym typeface="Arial" panose="020B0604020202020204" pitchFamily="34" charset="0"/>
            </a:endParaRPr>
          </a:p>
        </p:txBody>
      </p:sp>
      <p:sp>
        <p:nvSpPr>
          <p:cNvPr id="52" name="Text Placeholder 11"/>
          <p:cNvSpPr txBox="1"/>
          <p:nvPr/>
        </p:nvSpPr>
        <p:spPr>
          <a:xfrm>
            <a:off x="1101265" y="2698855"/>
            <a:ext cx="362077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2000" dirty="0" smtClean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数据结构</a:t>
            </a:r>
            <a:r>
              <a:rPr lang="en-US" altLang="zh-CN" sz="2000" dirty="0" smtClean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(data structure)</a:t>
            </a:r>
            <a:endParaRPr lang="zh-CN" sz="2000" dirty="0">
              <a:solidFill>
                <a:schemeClr val="accent1"/>
              </a:solidFill>
              <a:latin typeface="百度综艺简体" panose="02010601030101010101" charset="-122"/>
              <a:ea typeface="百度综艺简体" panose="02010601030101010101" charset="-122"/>
              <a:sym typeface="Arial" panose="020B0604020202020204" pitchFamily="34" charset="0"/>
            </a:endParaRPr>
          </a:p>
        </p:txBody>
      </p:sp>
      <p:sp>
        <p:nvSpPr>
          <p:cNvPr id="53" name="TextBox 5"/>
          <p:cNvSpPr txBox="1">
            <a:spLocks noChangeArrowheads="1"/>
          </p:cNvSpPr>
          <p:nvPr/>
        </p:nvSpPr>
        <p:spPr bwMode="auto">
          <a:xfrm>
            <a:off x="1605776" y="3009795"/>
            <a:ext cx="6991679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 smtClean="0">
                <a:latin typeface="百度综艺简体" panose="02010601030101010101" charset="-122"/>
                <a:ea typeface="百度综艺简体" panose="02010601030101010101" charset="-122"/>
                <a:sym typeface="Symbol" panose="05050102010706020507" pitchFamily="18" charset="2"/>
              </a:rPr>
              <a:t>      是</a:t>
            </a: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  <a:sym typeface="Symbol" panose="05050102010706020507" pitchFamily="18" charset="2"/>
              </a:rPr>
              <a:t>指互相之间存在着一种或多种关系的数据元素的集合。</a:t>
            </a:r>
            <a:endParaRPr lang="en-US" altLang="zh-CN" sz="1600" dirty="0">
              <a:latin typeface="百度综艺简体" panose="02010601030101010101" charset="-122"/>
              <a:ea typeface="百度综艺简体" panose="02010601030101010101" charset="-122"/>
            </a:endParaRPr>
          </a:p>
        </p:txBody>
      </p:sp>
      <p:sp>
        <p:nvSpPr>
          <p:cNvPr id="21" name="TextBox 5"/>
          <p:cNvSpPr txBox="1">
            <a:spLocks noChangeArrowheads="1"/>
          </p:cNvSpPr>
          <p:nvPr/>
        </p:nvSpPr>
        <p:spPr bwMode="auto">
          <a:xfrm>
            <a:off x="1605776" y="1792002"/>
            <a:ext cx="3722608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整数数据对象 </a:t>
            </a:r>
            <a:r>
              <a:rPr lang="en-US" altLang="en-US" sz="1600" dirty="0" smtClean="0">
                <a:latin typeface="百度综艺简体" panose="02010601030101010101" charset="-122"/>
                <a:ea typeface="百度综艺简体" panose="02010601030101010101" charset="-122"/>
              </a:rPr>
              <a:t>I= </a:t>
            </a:r>
            <a:r>
              <a:rPr lang="en-US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{ 0, </a:t>
            </a:r>
            <a:r>
              <a:rPr lang="en-US" altLang="en-US" sz="1600" dirty="0">
                <a:latin typeface="百度综艺简体" panose="02010601030101010101" charset="-122"/>
                <a:ea typeface="百度综艺简体" panose="02010601030101010101" charset="-122"/>
                <a:sym typeface="Symbol" panose="05050102010706020507" pitchFamily="18" charset="2"/>
              </a:rPr>
              <a:t>1, 2, … }</a:t>
            </a:r>
            <a:endParaRPr lang="zh-CN" altLang="en-US" sz="1600" dirty="0"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25" name="TextBox 5"/>
          <p:cNvSpPr txBox="1">
            <a:spLocks noChangeArrowheads="1"/>
          </p:cNvSpPr>
          <p:nvPr/>
        </p:nvSpPr>
        <p:spPr bwMode="auto">
          <a:xfrm>
            <a:off x="1605776" y="2172486"/>
            <a:ext cx="4678572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285750" indent="-285750" fontAlgn="auto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  <a:sym typeface="Symbol" panose="05050102010706020507" pitchFamily="18" charset="2"/>
              </a:rPr>
              <a:t>学生数据对象</a:t>
            </a:r>
            <a:endParaRPr lang="zh-CN" altLang="en-US" sz="1600" dirty="0"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27" name="TextBox 5"/>
          <p:cNvSpPr txBox="1">
            <a:spLocks noChangeArrowheads="1"/>
          </p:cNvSpPr>
          <p:nvPr/>
        </p:nvSpPr>
        <p:spPr bwMode="auto">
          <a:xfrm>
            <a:off x="1598247" y="3497738"/>
            <a:ext cx="6216427" cy="83099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 smtClean="0">
                <a:latin typeface="百度综艺简体" panose="02010601030101010101" charset="-122"/>
                <a:ea typeface="百度综艺简体" panose="02010601030101010101" charset="-122"/>
                <a:sym typeface="Symbol" panose="05050102010706020507" pitchFamily="18" charset="2"/>
              </a:rPr>
              <a:t>       在</a:t>
            </a: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  <a:sym typeface="Symbol" panose="05050102010706020507" pitchFamily="18" charset="2"/>
              </a:rPr>
              <a:t>任何问题中，数据元素之间都不会是孤立的，在它们之间都存在着这样或那样的</a:t>
            </a:r>
            <a:r>
              <a:rPr lang="zh-CN" altLang="en-US" sz="1600" dirty="0" smtClean="0">
                <a:latin typeface="百度综艺简体" panose="02010601030101010101" charset="-122"/>
                <a:ea typeface="百度综艺简体" panose="02010601030101010101" charset="-122"/>
                <a:sym typeface="Symbol" panose="05050102010706020507" pitchFamily="18" charset="2"/>
              </a:rPr>
              <a:t>关系。</a:t>
            </a:r>
            <a:endParaRPr lang="en-US" altLang="zh-CN" sz="1600" dirty="0">
              <a:latin typeface="百度综艺简体" panose="02010601030101010101" charset="-122"/>
              <a:ea typeface="百度综艺简体" panose="02010601030101010101" charset="-122"/>
            </a:endParaRPr>
          </a:p>
        </p:txBody>
      </p:sp>
      <p:sp>
        <p:nvSpPr>
          <p:cNvPr id="23" name="Text Placeholder 11"/>
          <p:cNvSpPr txBox="1"/>
          <p:nvPr/>
        </p:nvSpPr>
        <p:spPr>
          <a:xfrm>
            <a:off x="2302510" y="241067"/>
            <a:ext cx="280543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1800" dirty="0" smtClean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基本概念和术语</a:t>
            </a:r>
            <a:endParaRPr lang="zh-CN" sz="1800" dirty="0">
              <a:solidFill>
                <a:schemeClr val="accent2"/>
              </a:solidFill>
              <a:latin typeface="百度综艺简体" panose="02010601030101010101" charset="-122"/>
              <a:ea typeface="百度综艺简体" panose="02010601030101010101" charset="-122"/>
              <a:sym typeface="Arial" panose="020B0604020202020204" pitchFamily="34" charset="0"/>
            </a:endParaRPr>
          </a:p>
        </p:txBody>
      </p:sp>
      <p:grpSp>
        <p:nvGrpSpPr>
          <p:cNvPr id="24" name="组合 23"/>
          <p:cNvGrpSpPr/>
          <p:nvPr/>
        </p:nvGrpSpPr>
        <p:grpSpPr>
          <a:xfrm>
            <a:off x="2134235" y="483235"/>
            <a:ext cx="7002145" cy="109220"/>
            <a:chOff x="2140585" y="362585"/>
            <a:chExt cx="7002145" cy="109220"/>
          </a:xfrm>
        </p:grpSpPr>
        <p:cxnSp>
          <p:nvCxnSpPr>
            <p:cNvPr id="32" name="直接连接符 31"/>
            <p:cNvCxnSpPr/>
            <p:nvPr/>
          </p:nvCxnSpPr>
          <p:spPr>
            <a:xfrm>
              <a:off x="2140585" y="417195"/>
              <a:ext cx="6889750" cy="0"/>
            </a:xfrm>
            <a:prstGeom prst="line">
              <a:avLst/>
            </a:prstGeom>
            <a:ln w="22225">
              <a:solidFill>
                <a:srgbClr val="2A5B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椭圆 32"/>
            <p:cNvSpPr/>
            <p:nvPr/>
          </p:nvSpPr>
          <p:spPr>
            <a:xfrm>
              <a:off x="9033510" y="362585"/>
              <a:ext cx="109220" cy="1092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 tmFilter="0,0; .5, 1; 1, 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 tmFilter="0,0; .5, 1; 1, 1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 tmFilter="0,0; .5, 1; 1, 1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 tmFilter="0,0; .5, 1; 1, 1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500" tmFilter="0,0; .5, 1; 1, 1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500" tmFilter="0,0; .5, 1; 1, 1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utoUpdateAnimBg="0"/>
      <p:bldP spid="22" grpId="0" bldLvl="0" animBg="1" autoUpdateAnimBg="0"/>
      <p:bldP spid="26" grpId="0" autoUpdateAnimBg="0"/>
      <p:bldP spid="41" grpId="0"/>
      <p:bldP spid="52" grpId="0"/>
      <p:bldP spid="53" grpId="0" autoUpdateAnimBg="0"/>
      <p:bldP spid="21" grpId="0" autoUpdateAnimBg="0"/>
      <p:bldP spid="25" grpId="0" autoUpdateAnimBg="0"/>
      <p:bldP spid="27" grpId="0" autoUpdateAnimBg="0"/>
      <p:bldP spid="2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>
            <a:cxnSpLocks noChangeShapeType="1"/>
          </p:cNvCxnSpPr>
          <p:nvPr/>
        </p:nvCxnSpPr>
        <p:spPr bwMode="auto">
          <a:xfrm>
            <a:off x="307340" y="537845"/>
            <a:ext cx="882904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</a:ln>
          <a:effectLst/>
        </p:spPr>
      </p:cxnSp>
      <p:sp>
        <p:nvSpPr>
          <p:cNvPr id="16" name="矩形 15"/>
          <p:cNvSpPr/>
          <p:nvPr/>
        </p:nvSpPr>
        <p:spPr>
          <a:xfrm>
            <a:off x="2821" y="-4275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800" dirty="0">
              <a:solidFill>
                <a:schemeClr val="accent2"/>
              </a:solidFill>
              <a:effectLst/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19" name="TextBox 5"/>
          <p:cNvSpPr txBox="1">
            <a:spLocks noChangeArrowheads="1"/>
          </p:cNvSpPr>
          <p:nvPr/>
        </p:nvSpPr>
        <p:spPr bwMode="auto">
          <a:xfrm>
            <a:off x="234950" y="203835"/>
            <a:ext cx="206756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《数据结构》</a:t>
            </a: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1412" y="217303"/>
            <a:ext cx="401225" cy="40122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sp>
        <p:nvSpPr>
          <p:cNvPr id="37" name="AutoShape 3"/>
          <p:cNvSpPr>
            <a:spLocks noChangeAspect="1" noChangeArrowheads="1" noTextEdit="1"/>
          </p:cNvSpPr>
          <p:nvPr/>
        </p:nvSpPr>
        <p:spPr bwMode="auto">
          <a:xfrm>
            <a:off x="557288" y="744733"/>
            <a:ext cx="542665" cy="54122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endParaRPr lang="zh-CN" altLang="en-US" sz="1800"/>
          </a:p>
        </p:txBody>
      </p:sp>
      <p:sp>
        <p:nvSpPr>
          <p:cNvPr id="41" name="Text Placeholder 11"/>
          <p:cNvSpPr txBox="1"/>
          <p:nvPr/>
        </p:nvSpPr>
        <p:spPr>
          <a:xfrm>
            <a:off x="1909884" y="1441107"/>
            <a:ext cx="348869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1225">
              <a:buNone/>
            </a:pPr>
            <a:r>
              <a:rPr lang="zh-CN" altLang="en-US" sz="2000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思考题</a:t>
            </a:r>
            <a:endParaRPr lang="zh-CN" sz="2000" dirty="0">
              <a:solidFill>
                <a:schemeClr val="accent2"/>
              </a:solidFill>
              <a:latin typeface="百度综艺简体" panose="02010601030101010101" charset="-122"/>
              <a:ea typeface="百度综艺简体" panose="02010601030101010101" charset="-122"/>
              <a:sym typeface="Arial" panose="020B0604020202020204" pitchFamily="34" charset="0"/>
            </a:endParaRPr>
          </a:p>
        </p:txBody>
      </p:sp>
      <p:sp>
        <p:nvSpPr>
          <p:cNvPr id="14" name="TextBox 5"/>
          <p:cNvSpPr txBox="1">
            <a:spLocks noChangeArrowheads="1"/>
          </p:cNvSpPr>
          <p:nvPr/>
        </p:nvSpPr>
        <p:spPr bwMode="auto">
          <a:xfrm>
            <a:off x="1896100" y="2033143"/>
            <a:ext cx="5479309" cy="50783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lvl="1"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数据元素、数据对象、数据结构区别和联系。</a:t>
            </a:r>
            <a:endParaRPr lang="zh-CN" altLang="en-US" dirty="0"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18" name="AutoShape 3"/>
          <p:cNvSpPr>
            <a:spLocks noChangeAspect="1" noChangeArrowheads="1" noTextEdit="1"/>
          </p:cNvSpPr>
          <p:nvPr/>
        </p:nvSpPr>
        <p:spPr bwMode="auto">
          <a:xfrm>
            <a:off x="1845069" y="2963455"/>
            <a:ext cx="409534" cy="40844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endParaRPr lang="zh-CN" altLang="en-US" sz="1800"/>
          </a:p>
        </p:txBody>
      </p:sp>
      <p:sp>
        <p:nvSpPr>
          <p:cNvPr id="21" name="Oval 6"/>
          <p:cNvSpPr>
            <a:spLocks noChangeArrowheads="1"/>
          </p:cNvSpPr>
          <p:nvPr/>
        </p:nvSpPr>
        <p:spPr bwMode="auto">
          <a:xfrm>
            <a:off x="1555186" y="1437632"/>
            <a:ext cx="340914" cy="339825"/>
          </a:xfrm>
          <a:prstGeom prst="ellipse">
            <a:avLst/>
          </a:prstGeom>
          <a:solidFill>
            <a:schemeClr val="accent2"/>
          </a:solidFill>
          <a:ln w="9525">
            <a:noFill/>
            <a:round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sp>
        <p:nvSpPr>
          <p:cNvPr id="25" name="TextBox 19"/>
          <p:cNvSpPr txBox="1">
            <a:spLocks noChangeArrowheads="1"/>
          </p:cNvSpPr>
          <p:nvPr/>
        </p:nvSpPr>
        <p:spPr bwMode="auto">
          <a:xfrm>
            <a:off x="1584755" y="1421210"/>
            <a:ext cx="250979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en-US" altLang="zh-CN" sz="2000" b="1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?</a:t>
            </a:r>
            <a:endParaRPr lang="zh-CN" altLang="en-US" sz="20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Text Placeholder 11"/>
          <p:cNvSpPr txBox="1"/>
          <p:nvPr/>
        </p:nvSpPr>
        <p:spPr>
          <a:xfrm>
            <a:off x="2302510" y="241067"/>
            <a:ext cx="280543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1800" dirty="0" smtClean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基本概念和术语</a:t>
            </a:r>
            <a:endParaRPr lang="zh-CN" sz="1800" dirty="0">
              <a:solidFill>
                <a:schemeClr val="accent2"/>
              </a:solidFill>
              <a:latin typeface="百度综艺简体" panose="02010601030101010101" charset="-122"/>
              <a:ea typeface="百度综艺简体" panose="02010601030101010101" charset="-122"/>
              <a:sym typeface="Arial" panose="020B0604020202020204" pitchFamily="34" charset="0"/>
            </a:endParaRPr>
          </a:p>
        </p:txBody>
      </p:sp>
      <p:grpSp>
        <p:nvGrpSpPr>
          <p:cNvPr id="24" name="组合 23"/>
          <p:cNvGrpSpPr/>
          <p:nvPr/>
        </p:nvGrpSpPr>
        <p:grpSpPr>
          <a:xfrm>
            <a:off x="2134235" y="483235"/>
            <a:ext cx="7002145" cy="109220"/>
            <a:chOff x="2140585" y="362585"/>
            <a:chExt cx="7002145" cy="109220"/>
          </a:xfrm>
        </p:grpSpPr>
        <p:cxnSp>
          <p:nvCxnSpPr>
            <p:cNvPr id="26" name="直接连接符 25"/>
            <p:cNvCxnSpPr/>
            <p:nvPr/>
          </p:nvCxnSpPr>
          <p:spPr>
            <a:xfrm>
              <a:off x="2140585" y="417195"/>
              <a:ext cx="6889750" cy="0"/>
            </a:xfrm>
            <a:prstGeom prst="line">
              <a:avLst/>
            </a:prstGeom>
            <a:ln w="22225">
              <a:solidFill>
                <a:srgbClr val="2A5B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椭圆 26"/>
            <p:cNvSpPr/>
            <p:nvPr/>
          </p:nvSpPr>
          <p:spPr>
            <a:xfrm>
              <a:off x="9033510" y="362585"/>
              <a:ext cx="109220" cy="1092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 tmFilter="0,0; .5, 1; 1, 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35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36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4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4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 tmFilter="0,0; .5, 1; 1, 1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5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6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65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66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utoUpdateAnimBg="0"/>
      <p:bldP spid="22" grpId="0" bldLvl="0" animBg="1" autoUpdateAnimBg="0"/>
      <p:bldP spid="41" grpId="0"/>
      <p:bldP spid="14" grpId="0" autoUpdateAnimBg="0"/>
      <p:bldP spid="18" grpId="0" animBg="1"/>
      <p:bldP spid="21" grpId="0" animBg="1" autoUpdateAnimBg="0"/>
      <p:bldP spid="25" grpId="0" autoUpdateAnimBg="0"/>
      <p:bldP spid="2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>
            <a:cxnSpLocks noChangeShapeType="1"/>
          </p:cNvCxnSpPr>
          <p:nvPr/>
        </p:nvCxnSpPr>
        <p:spPr bwMode="auto">
          <a:xfrm>
            <a:off x="307340" y="537845"/>
            <a:ext cx="882904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</a:ln>
          <a:effectLst/>
        </p:spPr>
      </p:cxnSp>
      <p:sp>
        <p:nvSpPr>
          <p:cNvPr id="16" name="矩形 15"/>
          <p:cNvSpPr/>
          <p:nvPr/>
        </p:nvSpPr>
        <p:spPr>
          <a:xfrm>
            <a:off x="1411" y="5240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800" dirty="0">
              <a:solidFill>
                <a:schemeClr val="accent2"/>
              </a:solidFill>
              <a:effectLst/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19" name="TextBox 5"/>
          <p:cNvSpPr txBox="1">
            <a:spLocks noChangeArrowheads="1"/>
          </p:cNvSpPr>
          <p:nvPr/>
        </p:nvSpPr>
        <p:spPr bwMode="auto">
          <a:xfrm>
            <a:off x="234950" y="203835"/>
            <a:ext cx="206756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《数据结构》</a:t>
            </a: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1412" y="217303"/>
            <a:ext cx="401225" cy="40122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sp>
        <p:nvSpPr>
          <p:cNvPr id="26" name="TextBox 5"/>
          <p:cNvSpPr txBox="1">
            <a:spLocks noChangeArrowheads="1"/>
          </p:cNvSpPr>
          <p:nvPr/>
        </p:nvSpPr>
        <p:spPr bwMode="auto">
          <a:xfrm>
            <a:off x="1142286" y="1347574"/>
            <a:ext cx="7277822" cy="120032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sz="1600" dirty="0" smtClean="0">
                <a:latin typeface="百度综艺简体" panose="02010601030101010101" charset="-122"/>
                <a:ea typeface="百度综艺简体" panose="02010601030101010101" charset="-122"/>
              </a:rPr>
              <a:t>       从</a:t>
            </a: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上面所介绍的数据结构的概念中可以知道，一个数据结构有两个要素。一个是数据元素的集合，另一个是关系的集合。在形式上，数据结构通常可以采用一个二元组来表示。</a:t>
            </a:r>
            <a:endParaRPr lang="zh-CN" altLang="en-US" sz="1600" dirty="0"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37" name="AutoShape 3"/>
          <p:cNvSpPr>
            <a:spLocks noChangeAspect="1" noChangeArrowheads="1" noTextEdit="1"/>
          </p:cNvSpPr>
          <p:nvPr/>
        </p:nvSpPr>
        <p:spPr bwMode="auto">
          <a:xfrm>
            <a:off x="557288" y="744733"/>
            <a:ext cx="542665" cy="54122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endParaRPr lang="zh-CN" altLang="en-US" sz="1800"/>
          </a:p>
        </p:txBody>
      </p:sp>
      <p:sp>
        <p:nvSpPr>
          <p:cNvPr id="53" name="TextBox 5"/>
          <p:cNvSpPr txBox="1">
            <a:spLocks noChangeArrowheads="1"/>
          </p:cNvSpPr>
          <p:nvPr/>
        </p:nvSpPr>
        <p:spPr bwMode="auto">
          <a:xfrm>
            <a:off x="3026807" y="2897122"/>
            <a:ext cx="4778375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400" b="1" dirty="0" err="1">
                <a:latin typeface="百度综艺简体" panose="02010601030101010101" charset="-122"/>
                <a:ea typeface="百度综艺简体" panose="02010601030101010101" charset="-122"/>
              </a:rPr>
              <a:t>Data_Structure</a:t>
            </a:r>
            <a:r>
              <a:rPr lang="en-US" altLang="zh-CN" sz="2400" b="1" dirty="0">
                <a:latin typeface="百度综艺简体" panose="02010601030101010101" charset="-122"/>
                <a:ea typeface="百度综艺简体" panose="02010601030101010101" charset="-122"/>
              </a:rPr>
              <a:t> = {D, S}</a:t>
            </a:r>
          </a:p>
        </p:txBody>
      </p:sp>
      <p:sp>
        <p:nvSpPr>
          <p:cNvPr id="55" name="TextBox 5"/>
          <p:cNvSpPr txBox="1">
            <a:spLocks noChangeArrowheads="1"/>
          </p:cNvSpPr>
          <p:nvPr/>
        </p:nvSpPr>
        <p:spPr bwMode="auto">
          <a:xfrm>
            <a:off x="1268730" y="3538729"/>
            <a:ext cx="6117590" cy="33855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其中，</a:t>
            </a:r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D</a:t>
            </a: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是某一数据对象（数据元素的有限集 ）</a:t>
            </a:r>
            <a:endParaRPr lang="zh-CN" sz="1600" dirty="0"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23" name="TextBox 5"/>
          <p:cNvSpPr txBox="1">
            <a:spLocks noChangeArrowheads="1"/>
          </p:cNvSpPr>
          <p:nvPr/>
        </p:nvSpPr>
        <p:spPr bwMode="auto">
          <a:xfrm>
            <a:off x="1268730" y="4000437"/>
            <a:ext cx="6117590" cy="33855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S</a:t>
            </a: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是该对象中所有数据元素之间</a:t>
            </a:r>
            <a:r>
              <a:rPr lang="zh-CN" altLang="en-US" sz="1600" dirty="0" smtClean="0">
                <a:latin typeface="百度综艺简体" panose="02010601030101010101" charset="-122"/>
                <a:ea typeface="百度综艺简体" panose="02010601030101010101" charset="-122"/>
              </a:rPr>
              <a:t>的关系</a:t>
            </a: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的有限集合。</a:t>
            </a:r>
            <a:endParaRPr lang="zh-CN" sz="1600" dirty="0"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18" name="Text Placeholder 11"/>
          <p:cNvSpPr txBox="1"/>
          <p:nvPr/>
        </p:nvSpPr>
        <p:spPr>
          <a:xfrm>
            <a:off x="2302510" y="241067"/>
            <a:ext cx="280543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1800" dirty="0" smtClean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基本概念和术语</a:t>
            </a:r>
            <a:endParaRPr lang="zh-CN" sz="1800" dirty="0">
              <a:solidFill>
                <a:schemeClr val="accent2"/>
              </a:solidFill>
              <a:latin typeface="百度综艺简体" panose="02010601030101010101" charset="-122"/>
              <a:ea typeface="百度综艺简体" panose="02010601030101010101" charset="-122"/>
              <a:sym typeface="Arial" panose="020B0604020202020204" pitchFamily="34" charset="0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2134235" y="483235"/>
            <a:ext cx="7002145" cy="109220"/>
            <a:chOff x="2140585" y="362585"/>
            <a:chExt cx="7002145" cy="109220"/>
          </a:xfrm>
        </p:grpSpPr>
        <p:cxnSp>
          <p:nvCxnSpPr>
            <p:cNvPr id="24" name="直接连接符 23"/>
            <p:cNvCxnSpPr/>
            <p:nvPr/>
          </p:nvCxnSpPr>
          <p:spPr>
            <a:xfrm>
              <a:off x="2140585" y="417195"/>
              <a:ext cx="6889750" cy="0"/>
            </a:xfrm>
            <a:prstGeom prst="line">
              <a:avLst/>
            </a:prstGeom>
            <a:ln w="22225">
              <a:solidFill>
                <a:srgbClr val="2A5B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椭圆 27"/>
            <p:cNvSpPr/>
            <p:nvPr/>
          </p:nvSpPr>
          <p:spPr>
            <a:xfrm>
              <a:off x="9033510" y="362585"/>
              <a:ext cx="109220" cy="1092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 tmFilter="0,0; .5, 1; 1, 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 tmFilter="0,0; .5, 1; 1, 1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 tmFilter="0,0; .5, 1; 1, 1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 tmFilter="0,0; .5, 1; 1, 1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 tmFilter="0,0; .5, 1; 1, 1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utoUpdateAnimBg="0"/>
      <p:bldP spid="22" grpId="0" bldLvl="0" animBg="1" autoUpdateAnimBg="0"/>
      <p:bldP spid="26" grpId="0" autoUpdateAnimBg="0"/>
      <p:bldP spid="53" grpId="0" autoUpdateAnimBg="0"/>
      <p:bldP spid="55" grpId="0" autoUpdateAnimBg="0"/>
      <p:bldP spid="23" grpId="0" autoUpdateAnimBg="0"/>
      <p:bldP spid="1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>
            <a:cxnSpLocks noChangeShapeType="1"/>
          </p:cNvCxnSpPr>
          <p:nvPr/>
        </p:nvCxnSpPr>
        <p:spPr bwMode="auto">
          <a:xfrm>
            <a:off x="307340" y="537845"/>
            <a:ext cx="882904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</a:ln>
          <a:effectLst/>
        </p:spPr>
      </p:cxnSp>
      <p:sp>
        <p:nvSpPr>
          <p:cNvPr id="16" name="矩形 15"/>
          <p:cNvSpPr/>
          <p:nvPr/>
        </p:nvSpPr>
        <p:spPr>
          <a:xfrm>
            <a:off x="1411" y="5240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800" dirty="0">
              <a:solidFill>
                <a:schemeClr val="accent2"/>
              </a:solidFill>
              <a:effectLst/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19" name="TextBox 5"/>
          <p:cNvSpPr txBox="1">
            <a:spLocks noChangeArrowheads="1"/>
          </p:cNvSpPr>
          <p:nvPr/>
        </p:nvSpPr>
        <p:spPr bwMode="auto">
          <a:xfrm>
            <a:off x="234950" y="203835"/>
            <a:ext cx="206756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《数据结构》</a:t>
            </a: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1412" y="217303"/>
            <a:ext cx="401225" cy="40122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sp>
        <p:nvSpPr>
          <p:cNvPr id="26" name="TextBox 5"/>
          <p:cNvSpPr txBox="1">
            <a:spLocks noChangeArrowheads="1"/>
          </p:cNvSpPr>
          <p:nvPr/>
        </p:nvSpPr>
        <p:spPr bwMode="auto">
          <a:xfrm>
            <a:off x="2302510" y="985924"/>
            <a:ext cx="4092234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sz="1600" b="1" dirty="0">
                <a:latin typeface="百度综艺简体" panose="02010601030101010101" charset="-122"/>
                <a:ea typeface="百度综艺简体" panose="02010601030101010101" charset="-122"/>
                <a:sym typeface="Symbol" panose="05050102010706020507" pitchFamily="18" charset="2"/>
              </a:rPr>
              <a:t>数据结构就是带结构的数据元素的</a:t>
            </a:r>
            <a:r>
              <a:rPr lang="zh-CN" altLang="en-US" sz="1600" b="1" dirty="0" smtClean="0">
                <a:latin typeface="百度综艺简体" panose="02010601030101010101" charset="-122"/>
                <a:ea typeface="百度综艺简体" panose="02010601030101010101" charset="-122"/>
                <a:sym typeface="Symbol" panose="05050102010706020507" pitchFamily="18" charset="2"/>
              </a:rPr>
              <a:t>集合</a:t>
            </a:r>
            <a:r>
              <a:rPr lang="zh-CN" altLang="en-US" sz="1600" dirty="0" smtClean="0">
                <a:latin typeface="百度综艺简体" panose="02010601030101010101" charset="-122"/>
                <a:ea typeface="百度综艺简体" panose="02010601030101010101" charset="-122"/>
                <a:sym typeface="Symbol" panose="05050102010706020507" pitchFamily="18" charset="2"/>
              </a:rPr>
              <a:t>。</a:t>
            </a:r>
            <a:endParaRPr lang="zh-CN" altLang="en-US" sz="1600" dirty="0"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37" name="AutoShape 3"/>
          <p:cNvSpPr>
            <a:spLocks noChangeAspect="1" noChangeArrowheads="1" noTextEdit="1"/>
          </p:cNvSpPr>
          <p:nvPr/>
        </p:nvSpPr>
        <p:spPr bwMode="auto">
          <a:xfrm>
            <a:off x="557288" y="744733"/>
            <a:ext cx="542665" cy="54122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endParaRPr lang="zh-CN" altLang="en-US" sz="1800"/>
          </a:p>
        </p:txBody>
      </p:sp>
      <p:sp>
        <p:nvSpPr>
          <p:cNvPr id="52" name="Text Placeholder 11"/>
          <p:cNvSpPr txBox="1"/>
          <p:nvPr/>
        </p:nvSpPr>
        <p:spPr>
          <a:xfrm>
            <a:off x="1107482" y="1041235"/>
            <a:ext cx="362077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2000" dirty="0" smtClean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数据结构：</a:t>
            </a:r>
            <a:endParaRPr lang="zh-CN" sz="2000" dirty="0">
              <a:solidFill>
                <a:schemeClr val="accent1"/>
              </a:solidFill>
              <a:latin typeface="百度综艺简体" panose="02010601030101010101" charset="-122"/>
              <a:ea typeface="百度综艺简体" panose="02010601030101010101" charset="-122"/>
              <a:sym typeface="Arial" panose="020B0604020202020204" pitchFamily="34" charset="0"/>
            </a:endParaRPr>
          </a:p>
        </p:txBody>
      </p:sp>
      <p:sp>
        <p:nvSpPr>
          <p:cNvPr id="21" name="TextBox 5"/>
          <p:cNvSpPr txBox="1">
            <a:spLocks noChangeArrowheads="1"/>
          </p:cNvSpPr>
          <p:nvPr/>
        </p:nvSpPr>
        <p:spPr bwMode="auto">
          <a:xfrm>
            <a:off x="557288" y="1604805"/>
            <a:ext cx="6287407" cy="33855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917575" lvl="1" indent="-352425" defTabSz="112903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defRPr/>
            </a:pP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  <a:sym typeface="Symbol" panose="05050102010706020507" pitchFamily="18" charset="2"/>
              </a:rPr>
              <a:t>根据数据元素间关系的不同特性，通常有下列四类基本的结构：</a:t>
            </a:r>
          </a:p>
        </p:txBody>
      </p:sp>
      <p:sp>
        <p:nvSpPr>
          <p:cNvPr id="24" name="TextBox 5"/>
          <p:cNvSpPr txBox="1">
            <a:spLocks noChangeArrowheads="1"/>
          </p:cNvSpPr>
          <p:nvPr/>
        </p:nvSpPr>
        <p:spPr bwMode="auto">
          <a:xfrm>
            <a:off x="1530670" y="1841151"/>
            <a:ext cx="3730137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342900" indent="-342900" fontAlgn="auto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600" b="1" dirty="0" smtClean="0">
                <a:latin typeface="百度综艺简体" panose="02010601030101010101" charset="-122"/>
                <a:ea typeface="百度综艺简体" panose="02010601030101010101" charset="-122"/>
                <a:sym typeface="Symbol" panose="05050102010706020507" pitchFamily="18" charset="2"/>
              </a:rPr>
              <a:t>集合结构</a:t>
            </a:r>
            <a:endParaRPr lang="zh-CN" altLang="en-US" sz="1600" b="1" dirty="0"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32" name="TextBox 5"/>
          <p:cNvSpPr txBox="1">
            <a:spLocks noChangeArrowheads="1"/>
          </p:cNvSpPr>
          <p:nvPr/>
        </p:nvSpPr>
        <p:spPr bwMode="auto">
          <a:xfrm>
            <a:off x="1530670" y="2215894"/>
            <a:ext cx="6768964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zh-CN" altLang="en-US" sz="1600" dirty="0" smtClean="0">
                <a:latin typeface="百度综艺简体" panose="02010601030101010101" charset="-122"/>
                <a:ea typeface="百度综艺简体" panose="02010601030101010101" charset="-122"/>
              </a:rPr>
              <a:t>       在</a:t>
            </a: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集合结构中，数据元素间的关系是“属于同一个集合”。集合是元素关系极为松散的一种结构。</a:t>
            </a:r>
            <a:endParaRPr lang="zh-CN" sz="1600" dirty="0"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33" name="TextBox 5"/>
          <p:cNvSpPr txBox="1">
            <a:spLocks noChangeArrowheads="1"/>
          </p:cNvSpPr>
          <p:nvPr/>
        </p:nvSpPr>
        <p:spPr bwMode="auto">
          <a:xfrm>
            <a:off x="1530529" y="2667135"/>
            <a:ext cx="3730137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342900" indent="-342900" fontAlgn="auto">
              <a:lnSpc>
                <a:spcPct val="150000"/>
              </a:lnSpc>
              <a:buFont typeface="+mj-ea"/>
              <a:buAutoNum type="circleNumDbPlain" startAt="2"/>
            </a:pPr>
            <a:r>
              <a:rPr lang="zh-CN" altLang="en-US" sz="1600" b="1" dirty="0" smtClean="0">
                <a:latin typeface="百度综艺简体" panose="02010601030101010101" charset="-122"/>
                <a:ea typeface="百度综艺简体" panose="02010601030101010101" charset="-122"/>
                <a:sym typeface="Symbol" panose="05050102010706020507" pitchFamily="18" charset="2"/>
              </a:rPr>
              <a:t>线性结构</a:t>
            </a:r>
            <a:endParaRPr lang="zh-CN" altLang="en-US" sz="1600" b="1" dirty="0"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34" name="TextBox 5"/>
          <p:cNvSpPr txBox="1">
            <a:spLocks noChangeArrowheads="1"/>
          </p:cNvSpPr>
          <p:nvPr/>
        </p:nvSpPr>
        <p:spPr bwMode="auto">
          <a:xfrm>
            <a:off x="1916191" y="3078939"/>
            <a:ext cx="6117590" cy="33855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该结构的数据元素之间存在着一对一的关系。</a:t>
            </a:r>
            <a:endParaRPr lang="zh-CN" sz="1600" dirty="0"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35" name="TextBox 5"/>
          <p:cNvSpPr txBox="1">
            <a:spLocks noChangeArrowheads="1"/>
          </p:cNvSpPr>
          <p:nvPr/>
        </p:nvSpPr>
        <p:spPr bwMode="auto">
          <a:xfrm>
            <a:off x="1530530" y="3311282"/>
            <a:ext cx="3730137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342900" indent="-342900" fontAlgn="auto">
              <a:lnSpc>
                <a:spcPct val="150000"/>
              </a:lnSpc>
              <a:buFont typeface="+mj-ea"/>
              <a:buAutoNum type="circleNumDbPlain" startAt="3"/>
            </a:pPr>
            <a:r>
              <a:rPr lang="zh-CN" altLang="en-US" sz="1600" b="1" dirty="0" smtClean="0">
                <a:latin typeface="百度综艺简体" panose="02010601030101010101" charset="-122"/>
                <a:ea typeface="百度综艺简体" panose="02010601030101010101" charset="-122"/>
                <a:sym typeface="Symbol" panose="05050102010706020507" pitchFamily="18" charset="2"/>
              </a:rPr>
              <a:t>树型结构</a:t>
            </a:r>
            <a:endParaRPr lang="zh-CN" altLang="en-US" sz="1600" b="1" dirty="0"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36" name="TextBox 5"/>
          <p:cNvSpPr txBox="1">
            <a:spLocks noChangeArrowheads="1"/>
          </p:cNvSpPr>
          <p:nvPr/>
        </p:nvSpPr>
        <p:spPr bwMode="auto">
          <a:xfrm>
            <a:off x="1916191" y="3730290"/>
            <a:ext cx="6117590" cy="33855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该结构的数据元素之间存在着</a:t>
            </a:r>
            <a:r>
              <a:rPr lang="zh-CN" altLang="en-US" sz="1600" dirty="0" smtClean="0">
                <a:latin typeface="百度综艺简体" panose="02010601030101010101" charset="-122"/>
                <a:ea typeface="百度综艺简体" panose="02010601030101010101" charset="-122"/>
              </a:rPr>
              <a:t>一对多的</a:t>
            </a: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关系。</a:t>
            </a:r>
            <a:endParaRPr lang="zh-CN" sz="1600" dirty="0"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42" name="TextBox 5"/>
          <p:cNvSpPr txBox="1">
            <a:spLocks noChangeArrowheads="1"/>
          </p:cNvSpPr>
          <p:nvPr/>
        </p:nvSpPr>
        <p:spPr bwMode="auto">
          <a:xfrm>
            <a:off x="1530530" y="3990643"/>
            <a:ext cx="3730137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342900" indent="-342900" fontAlgn="auto">
              <a:lnSpc>
                <a:spcPct val="150000"/>
              </a:lnSpc>
              <a:buFont typeface="+mj-ea"/>
              <a:buAutoNum type="circleNumDbPlain" startAt="4"/>
            </a:pPr>
            <a:r>
              <a:rPr lang="zh-CN" altLang="en-US" sz="1600" b="1" dirty="0" smtClean="0">
                <a:latin typeface="百度综艺简体" panose="02010601030101010101" charset="-122"/>
                <a:ea typeface="百度综艺简体" panose="02010601030101010101" charset="-122"/>
                <a:sym typeface="Symbol" panose="05050102010706020507" pitchFamily="18" charset="2"/>
              </a:rPr>
              <a:t>图</a:t>
            </a:r>
            <a:r>
              <a:rPr lang="zh-CN" altLang="en-US" sz="1600" b="1" dirty="0">
                <a:latin typeface="百度综艺简体" panose="02010601030101010101" charset="-122"/>
                <a:ea typeface="百度综艺简体" panose="02010601030101010101" charset="-122"/>
                <a:sym typeface="Symbol" panose="05050102010706020507" pitchFamily="18" charset="2"/>
              </a:rPr>
              <a:t>状</a:t>
            </a:r>
            <a:r>
              <a:rPr lang="zh-CN" altLang="en-US" sz="1600" b="1" dirty="0" smtClean="0">
                <a:latin typeface="百度综艺简体" panose="02010601030101010101" charset="-122"/>
                <a:ea typeface="百度综艺简体" panose="02010601030101010101" charset="-122"/>
                <a:sym typeface="Symbol" panose="05050102010706020507" pitchFamily="18" charset="2"/>
              </a:rPr>
              <a:t>结构</a:t>
            </a:r>
            <a:endParaRPr lang="zh-CN" altLang="en-US" sz="1600" b="1" dirty="0"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43" name="TextBox 5"/>
          <p:cNvSpPr txBox="1">
            <a:spLocks noChangeArrowheads="1"/>
          </p:cNvSpPr>
          <p:nvPr/>
        </p:nvSpPr>
        <p:spPr bwMode="auto">
          <a:xfrm>
            <a:off x="1916191" y="4372872"/>
            <a:ext cx="6809528" cy="33855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该结构的数据元素之间存在着多对多的关系，</a:t>
            </a:r>
            <a:r>
              <a:rPr lang="zh-CN" altLang="en-US" sz="1600" dirty="0" smtClean="0">
                <a:latin typeface="百度综艺简体" panose="02010601030101010101" charset="-122"/>
                <a:ea typeface="百度综艺简体" panose="02010601030101010101" charset="-122"/>
              </a:rPr>
              <a:t>图状结构</a:t>
            </a: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也称作网状结构。</a:t>
            </a:r>
            <a:endParaRPr lang="zh-CN" sz="1600" dirty="0"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25" name="Text Placeholder 11"/>
          <p:cNvSpPr txBox="1"/>
          <p:nvPr/>
        </p:nvSpPr>
        <p:spPr>
          <a:xfrm>
            <a:off x="2302510" y="241067"/>
            <a:ext cx="280543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1800" dirty="0" smtClean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基本概念和术语</a:t>
            </a:r>
            <a:endParaRPr lang="zh-CN" sz="1800" dirty="0">
              <a:solidFill>
                <a:schemeClr val="accent2"/>
              </a:solidFill>
              <a:latin typeface="百度综艺简体" panose="02010601030101010101" charset="-122"/>
              <a:ea typeface="百度综艺简体" panose="02010601030101010101" charset="-122"/>
              <a:sym typeface="Arial" panose="020B0604020202020204" pitchFamily="34" charset="0"/>
            </a:endParaRPr>
          </a:p>
        </p:txBody>
      </p:sp>
      <p:grpSp>
        <p:nvGrpSpPr>
          <p:cNvPr id="27" name="组合 26"/>
          <p:cNvGrpSpPr/>
          <p:nvPr/>
        </p:nvGrpSpPr>
        <p:grpSpPr>
          <a:xfrm>
            <a:off x="2134235" y="483235"/>
            <a:ext cx="7002145" cy="109220"/>
            <a:chOff x="2140585" y="362585"/>
            <a:chExt cx="7002145" cy="109220"/>
          </a:xfrm>
        </p:grpSpPr>
        <p:cxnSp>
          <p:nvCxnSpPr>
            <p:cNvPr id="41" name="直接连接符 40"/>
            <p:cNvCxnSpPr/>
            <p:nvPr/>
          </p:nvCxnSpPr>
          <p:spPr>
            <a:xfrm>
              <a:off x="2140585" y="417195"/>
              <a:ext cx="6889750" cy="0"/>
            </a:xfrm>
            <a:prstGeom prst="line">
              <a:avLst/>
            </a:prstGeom>
            <a:ln w="22225">
              <a:solidFill>
                <a:srgbClr val="2A5B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椭圆 43"/>
            <p:cNvSpPr/>
            <p:nvPr/>
          </p:nvSpPr>
          <p:spPr>
            <a:xfrm>
              <a:off x="9033510" y="362585"/>
              <a:ext cx="109220" cy="1092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 tmFilter="0,0; .5, 1; 1, 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00"/>
                            </p:stCondLst>
                            <p:childTnLst>
                              <p:par>
                                <p:cTn id="3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500"/>
                            </p:stCondLst>
                            <p:childTnLst>
                              <p:par>
                                <p:cTn id="40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 tmFilter="0,0; .5, 1; 1, 1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3850"/>
                            </p:stCondLst>
                            <p:childTnLst>
                              <p:par>
                                <p:cTn id="48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 tmFilter="0,0; .5, 1; 1, 1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700"/>
                            </p:stCondLst>
                            <p:childTnLst>
                              <p:par>
                                <p:cTn id="56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 tmFilter="0,0; .5, 1; 1, 1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 tmFilter="0,0; .5, 1; 1, 1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 tmFilter="0,0; .5, 1; 1, 1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500" tmFilter="0,0; .5, 1; 1, 1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500" tmFilter="0,0; .5, 1; 1, 1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500" tmFilter="0,0; .5, 1; 1, 1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6" dur="500" tmFilter="0,0; .5, 1; 1, 1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5" dur="500" tmFilter="0,0; .5, 1; 1, 1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utoUpdateAnimBg="0"/>
      <p:bldP spid="22" grpId="0" bldLvl="0" animBg="1" autoUpdateAnimBg="0"/>
      <p:bldP spid="26" grpId="0" autoUpdateAnimBg="0"/>
      <p:bldP spid="52" grpId="0"/>
      <p:bldP spid="21" grpId="0" autoUpdateAnimBg="0"/>
      <p:bldP spid="24" grpId="0" autoUpdateAnimBg="0"/>
      <p:bldP spid="32" grpId="0" autoUpdateAnimBg="0"/>
      <p:bldP spid="33" grpId="0" autoUpdateAnimBg="0"/>
      <p:bldP spid="34" grpId="0" autoUpdateAnimBg="0"/>
      <p:bldP spid="35" grpId="0" autoUpdateAnimBg="0"/>
      <p:bldP spid="36" grpId="0" autoUpdateAnimBg="0"/>
      <p:bldP spid="42" grpId="0" autoUpdateAnimBg="0"/>
      <p:bldP spid="43" grpId="0" autoUpdateAnimBg="0"/>
      <p:bldP spid="2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>
            <a:cxnSpLocks noChangeShapeType="1"/>
          </p:cNvCxnSpPr>
          <p:nvPr/>
        </p:nvCxnSpPr>
        <p:spPr bwMode="auto">
          <a:xfrm>
            <a:off x="307340" y="537845"/>
            <a:ext cx="882904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</a:ln>
          <a:effectLst/>
        </p:spPr>
      </p:cxnSp>
      <p:sp>
        <p:nvSpPr>
          <p:cNvPr id="16" name="矩形 15"/>
          <p:cNvSpPr/>
          <p:nvPr/>
        </p:nvSpPr>
        <p:spPr>
          <a:xfrm>
            <a:off x="1411" y="5240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800" dirty="0">
              <a:solidFill>
                <a:schemeClr val="accent2"/>
              </a:solidFill>
              <a:effectLst/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19" name="TextBox 5"/>
          <p:cNvSpPr txBox="1">
            <a:spLocks noChangeArrowheads="1"/>
          </p:cNvSpPr>
          <p:nvPr/>
        </p:nvSpPr>
        <p:spPr bwMode="auto">
          <a:xfrm>
            <a:off x="234950" y="203835"/>
            <a:ext cx="206756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《数据结构》</a:t>
            </a: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1412" y="217303"/>
            <a:ext cx="401225" cy="40122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sp>
        <p:nvSpPr>
          <p:cNvPr id="37" name="AutoShape 3"/>
          <p:cNvSpPr>
            <a:spLocks noChangeAspect="1" noChangeArrowheads="1" noTextEdit="1"/>
          </p:cNvSpPr>
          <p:nvPr/>
        </p:nvSpPr>
        <p:spPr bwMode="auto">
          <a:xfrm>
            <a:off x="557288" y="744733"/>
            <a:ext cx="542665" cy="54122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endParaRPr lang="zh-CN" altLang="en-US" sz="1800"/>
          </a:p>
        </p:txBody>
      </p:sp>
      <p:sp>
        <p:nvSpPr>
          <p:cNvPr id="52" name="Text Placeholder 11"/>
          <p:cNvSpPr txBox="1"/>
          <p:nvPr/>
        </p:nvSpPr>
        <p:spPr>
          <a:xfrm>
            <a:off x="1101090" y="1447225"/>
            <a:ext cx="362077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2000" dirty="0" smtClean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数据结构：</a:t>
            </a:r>
            <a:endParaRPr lang="zh-CN" sz="2000" dirty="0">
              <a:solidFill>
                <a:schemeClr val="accent1"/>
              </a:solidFill>
              <a:latin typeface="百度综艺简体" panose="02010601030101010101" charset="-122"/>
              <a:ea typeface="百度综艺简体" panose="02010601030101010101" charset="-122"/>
              <a:sym typeface="Arial" panose="020B0604020202020204" pitchFamily="34" charset="0"/>
            </a:endParaRPr>
          </a:p>
        </p:txBody>
      </p:sp>
      <p:pic>
        <p:nvPicPr>
          <p:cNvPr id="2" name="20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1733" y="1169383"/>
            <a:ext cx="2773957" cy="364495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solidFill>
              <a:schemeClr val="accent1"/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  <a:reflection blurRad="12700" stA="38000" endPos="28000" dist="5000" dir="5400000" sy="-100000" algn="bl" rotWithShape="0"/>
          </a:effectLst>
        </p:spPr>
      </p:pic>
      <p:sp>
        <p:nvSpPr>
          <p:cNvPr id="17" name="Text Placeholder 11"/>
          <p:cNvSpPr txBox="1"/>
          <p:nvPr/>
        </p:nvSpPr>
        <p:spPr>
          <a:xfrm>
            <a:off x="2302510" y="241067"/>
            <a:ext cx="280543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1800" dirty="0" smtClean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基本概念和术语</a:t>
            </a:r>
            <a:endParaRPr lang="zh-CN" sz="1800" dirty="0">
              <a:solidFill>
                <a:schemeClr val="accent2"/>
              </a:solidFill>
              <a:latin typeface="百度综艺简体" panose="02010601030101010101" charset="-122"/>
              <a:ea typeface="百度综艺简体" panose="02010601030101010101" charset="-122"/>
              <a:sym typeface="Arial" panose="020B0604020202020204" pitchFamily="34" charset="0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2134235" y="483235"/>
            <a:ext cx="7002145" cy="109220"/>
            <a:chOff x="2140585" y="362585"/>
            <a:chExt cx="7002145" cy="109220"/>
          </a:xfrm>
        </p:grpSpPr>
        <p:cxnSp>
          <p:nvCxnSpPr>
            <p:cNvPr id="20" name="直接连接符 19"/>
            <p:cNvCxnSpPr/>
            <p:nvPr/>
          </p:nvCxnSpPr>
          <p:spPr>
            <a:xfrm>
              <a:off x="2140585" y="417195"/>
              <a:ext cx="6889750" cy="0"/>
            </a:xfrm>
            <a:prstGeom prst="line">
              <a:avLst/>
            </a:prstGeom>
            <a:ln w="22225">
              <a:solidFill>
                <a:srgbClr val="2A5B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椭圆 20"/>
            <p:cNvSpPr/>
            <p:nvPr/>
          </p:nvSpPr>
          <p:spPr>
            <a:xfrm>
              <a:off x="9033510" y="362585"/>
              <a:ext cx="109220" cy="1092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 tmFilter="0,0; .5, 1; 1, 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utoUpdateAnimBg="0"/>
      <p:bldP spid="22" grpId="0" bldLvl="0" animBg="1" autoUpdateAnimBg="0"/>
      <p:bldP spid="52" grpId="0"/>
      <p:bldP spid="1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>
            <a:cxnSpLocks noChangeShapeType="1"/>
          </p:cNvCxnSpPr>
          <p:nvPr/>
        </p:nvCxnSpPr>
        <p:spPr bwMode="auto">
          <a:xfrm>
            <a:off x="307340" y="537845"/>
            <a:ext cx="882904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</a:ln>
          <a:effectLst/>
        </p:spPr>
      </p:cxnSp>
      <p:sp>
        <p:nvSpPr>
          <p:cNvPr id="16" name="矩形 15"/>
          <p:cNvSpPr/>
          <p:nvPr/>
        </p:nvSpPr>
        <p:spPr>
          <a:xfrm>
            <a:off x="1411" y="5240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800" dirty="0">
              <a:solidFill>
                <a:schemeClr val="accent2"/>
              </a:solidFill>
              <a:effectLst/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19" name="TextBox 5"/>
          <p:cNvSpPr txBox="1">
            <a:spLocks noChangeArrowheads="1"/>
          </p:cNvSpPr>
          <p:nvPr/>
        </p:nvSpPr>
        <p:spPr bwMode="auto">
          <a:xfrm>
            <a:off x="234950" y="203835"/>
            <a:ext cx="206756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《数据结构》</a:t>
            </a: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1412" y="217303"/>
            <a:ext cx="401225" cy="40122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sp>
        <p:nvSpPr>
          <p:cNvPr id="26" name="TextBox 5"/>
          <p:cNvSpPr txBox="1">
            <a:spLocks noChangeArrowheads="1"/>
          </p:cNvSpPr>
          <p:nvPr/>
        </p:nvSpPr>
        <p:spPr bwMode="auto">
          <a:xfrm>
            <a:off x="1636389" y="2211165"/>
            <a:ext cx="7277822" cy="41825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可以看作是从具体问题抽象出来的数学模型，它与数据的存储无关。</a:t>
            </a:r>
            <a:endParaRPr lang="zh-CN" altLang="en-US" sz="1600" dirty="0"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37" name="AutoShape 3"/>
          <p:cNvSpPr>
            <a:spLocks noChangeAspect="1" noChangeArrowheads="1" noTextEdit="1"/>
          </p:cNvSpPr>
          <p:nvPr/>
        </p:nvSpPr>
        <p:spPr bwMode="auto">
          <a:xfrm>
            <a:off x="557288" y="744733"/>
            <a:ext cx="542665" cy="54122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endParaRPr lang="zh-CN" altLang="en-US" sz="1800"/>
          </a:p>
        </p:txBody>
      </p:sp>
      <p:sp>
        <p:nvSpPr>
          <p:cNvPr id="55" name="TextBox 5"/>
          <p:cNvSpPr txBox="1">
            <a:spLocks noChangeArrowheads="1"/>
          </p:cNvSpPr>
          <p:nvPr/>
        </p:nvSpPr>
        <p:spPr bwMode="auto">
          <a:xfrm>
            <a:off x="1110995" y="1142205"/>
            <a:ext cx="6724989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百度综艺简体" panose="02010601030101010101" charset="-122"/>
                <a:ea typeface="百度综艺简体" panose="02010601030101010101" charset="-122"/>
              </a:rPr>
              <a:t>数据结构包括</a:t>
            </a:r>
            <a:r>
              <a:rPr lang="zh-CN" altLang="en-US" sz="2000" b="1" dirty="0">
                <a:latin typeface="百度综艺简体" panose="02010601030101010101" charset="-122"/>
                <a:ea typeface="百度综艺简体" panose="02010601030101010101" charset="-122"/>
              </a:rPr>
              <a:t>数据的逻辑结构</a:t>
            </a:r>
            <a:r>
              <a:rPr lang="zh-CN" altLang="en-US" sz="2000" dirty="0">
                <a:latin typeface="百度综艺简体" panose="02010601030101010101" charset="-122"/>
                <a:ea typeface="百度综艺简体" panose="02010601030101010101" charset="-122"/>
              </a:rPr>
              <a:t>和</a:t>
            </a:r>
            <a:r>
              <a:rPr lang="zh-CN" altLang="en-US" sz="2000" b="1" dirty="0">
                <a:latin typeface="百度综艺简体" panose="02010601030101010101" charset="-122"/>
                <a:ea typeface="百度综艺简体" panose="02010601030101010101" charset="-122"/>
              </a:rPr>
              <a:t>数据的物理</a:t>
            </a:r>
            <a:r>
              <a:rPr lang="zh-CN" altLang="en-US" sz="2000" b="1" dirty="0" smtClean="0">
                <a:latin typeface="百度综艺简体" panose="02010601030101010101" charset="-122"/>
                <a:ea typeface="百度综艺简体" panose="02010601030101010101" charset="-122"/>
              </a:rPr>
              <a:t>结构</a:t>
            </a:r>
            <a:r>
              <a:rPr lang="zh-CN" altLang="en-US" sz="2000" dirty="0" smtClean="0">
                <a:latin typeface="百度综艺简体" panose="02010601030101010101" charset="-122"/>
                <a:ea typeface="百度综艺简体" panose="02010601030101010101" charset="-122"/>
              </a:rPr>
              <a:t>。</a:t>
            </a:r>
            <a:endParaRPr lang="zh-CN" sz="2000" dirty="0"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23" name="TextBox 5"/>
          <p:cNvSpPr txBox="1">
            <a:spLocks noChangeArrowheads="1"/>
          </p:cNvSpPr>
          <p:nvPr/>
        </p:nvSpPr>
        <p:spPr bwMode="auto">
          <a:xfrm>
            <a:off x="1279525" y="3260090"/>
            <a:ext cx="6884670" cy="120032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 smtClean="0">
                <a:latin typeface="百度综艺简体" panose="02010601030101010101" charset="-122"/>
                <a:ea typeface="百度综艺简体" panose="02010601030101010101" charset="-122"/>
              </a:rPr>
              <a:t>        数据结构</a:t>
            </a: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在计算机中的标识（又称映像）称为数据的物理结构，或称存储结构。它所研究的是数据结构在计算机中的实现方法，包括数据结构中</a:t>
            </a:r>
            <a:r>
              <a:rPr lang="zh-CN" altLang="en-US" sz="1600" b="1" dirty="0">
                <a:latin typeface="百度综艺简体" panose="02010601030101010101" charset="-122"/>
                <a:ea typeface="百度综艺简体" panose="02010601030101010101" charset="-122"/>
              </a:rPr>
              <a:t>元素的表示及元素间关系的表示</a:t>
            </a: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。</a:t>
            </a:r>
            <a:endParaRPr lang="zh-CN" sz="1600" dirty="0"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18" name="Text Placeholder 11"/>
          <p:cNvSpPr txBox="1"/>
          <p:nvPr/>
        </p:nvSpPr>
        <p:spPr>
          <a:xfrm>
            <a:off x="1153328" y="1746191"/>
            <a:ext cx="362077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2000" dirty="0" smtClean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数据的逻辑结构：</a:t>
            </a:r>
            <a:endParaRPr lang="zh-CN" sz="2000" dirty="0">
              <a:solidFill>
                <a:schemeClr val="accent1"/>
              </a:solidFill>
              <a:latin typeface="百度综艺简体" panose="02010601030101010101" charset="-122"/>
              <a:ea typeface="百度综艺简体" panose="02010601030101010101" charset="-122"/>
              <a:sym typeface="Arial" panose="020B0604020202020204" pitchFamily="34" charset="0"/>
            </a:endParaRPr>
          </a:p>
        </p:txBody>
      </p:sp>
      <p:sp>
        <p:nvSpPr>
          <p:cNvPr id="20" name="Text Placeholder 11"/>
          <p:cNvSpPr txBox="1"/>
          <p:nvPr/>
        </p:nvSpPr>
        <p:spPr>
          <a:xfrm>
            <a:off x="1156080" y="2833038"/>
            <a:ext cx="362077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2000" dirty="0" smtClean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数据的物理结构：</a:t>
            </a:r>
            <a:endParaRPr lang="zh-CN" sz="2000" dirty="0">
              <a:solidFill>
                <a:schemeClr val="accent1"/>
              </a:solidFill>
              <a:latin typeface="百度综艺简体" panose="02010601030101010101" charset="-122"/>
              <a:ea typeface="百度综艺简体" panose="02010601030101010101" charset="-122"/>
              <a:sym typeface="Arial" panose="020B0604020202020204" pitchFamily="34" charset="0"/>
            </a:endParaRPr>
          </a:p>
        </p:txBody>
      </p:sp>
      <p:sp>
        <p:nvSpPr>
          <p:cNvPr id="24" name="Text Placeholder 11"/>
          <p:cNvSpPr txBox="1"/>
          <p:nvPr/>
        </p:nvSpPr>
        <p:spPr>
          <a:xfrm>
            <a:off x="2302510" y="241067"/>
            <a:ext cx="280543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1800" dirty="0" smtClean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基本概念和术语</a:t>
            </a:r>
            <a:endParaRPr lang="zh-CN" sz="1800" dirty="0">
              <a:solidFill>
                <a:schemeClr val="accent2"/>
              </a:solidFill>
              <a:latin typeface="百度综艺简体" panose="02010601030101010101" charset="-122"/>
              <a:ea typeface="百度综艺简体" panose="02010601030101010101" charset="-122"/>
              <a:sym typeface="Arial" panose="020B0604020202020204" pitchFamily="34" charset="0"/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2134235" y="483235"/>
            <a:ext cx="7002145" cy="109220"/>
            <a:chOff x="2140585" y="362585"/>
            <a:chExt cx="7002145" cy="109220"/>
          </a:xfrm>
        </p:grpSpPr>
        <p:cxnSp>
          <p:nvCxnSpPr>
            <p:cNvPr id="29" name="直接连接符 28"/>
            <p:cNvCxnSpPr/>
            <p:nvPr/>
          </p:nvCxnSpPr>
          <p:spPr>
            <a:xfrm>
              <a:off x="2140585" y="417195"/>
              <a:ext cx="6889750" cy="0"/>
            </a:xfrm>
            <a:prstGeom prst="line">
              <a:avLst/>
            </a:prstGeom>
            <a:ln w="22225">
              <a:solidFill>
                <a:srgbClr val="2A5B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椭圆 29"/>
            <p:cNvSpPr/>
            <p:nvPr/>
          </p:nvSpPr>
          <p:spPr>
            <a:xfrm>
              <a:off x="9033510" y="362585"/>
              <a:ext cx="109220" cy="1092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 tmFilter="0,0; .5, 1; 1, 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 tmFilter="0,0; .5, 1; 1, 1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 tmFilter="0,0; .5, 1; 1, 1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 tmFilter="0,0; .5, 1; 1, 1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utoUpdateAnimBg="0"/>
      <p:bldP spid="22" grpId="0" bldLvl="0" animBg="1" autoUpdateAnimBg="0"/>
      <p:bldP spid="26" grpId="0" autoUpdateAnimBg="0"/>
      <p:bldP spid="55" grpId="0" autoUpdateAnimBg="0"/>
      <p:bldP spid="23" grpId="0" autoUpdateAnimBg="0"/>
      <p:bldP spid="18" grpId="0"/>
      <p:bldP spid="20" grpId="0"/>
      <p:bldP spid="2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>
            <a:cxnSpLocks noChangeShapeType="1"/>
          </p:cNvCxnSpPr>
          <p:nvPr/>
        </p:nvCxnSpPr>
        <p:spPr bwMode="auto">
          <a:xfrm>
            <a:off x="307340" y="537845"/>
            <a:ext cx="882904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</a:ln>
          <a:effectLst/>
        </p:spPr>
      </p:cxnSp>
      <p:sp>
        <p:nvSpPr>
          <p:cNvPr id="16" name="矩形 15"/>
          <p:cNvSpPr/>
          <p:nvPr/>
        </p:nvSpPr>
        <p:spPr>
          <a:xfrm>
            <a:off x="1411" y="5240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800" dirty="0">
              <a:solidFill>
                <a:schemeClr val="accent2"/>
              </a:solidFill>
              <a:effectLst/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19" name="TextBox 5"/>
          <p:cNvSpPr txBox="1">
            <a:spLocks noChangeArrowheads="1"/>
          </p:cNvSpPr>
          <p:nvPr/>
        </p:nvSpPr>
        <p:spPr bwMode="auto">
          <a:xfrm>
            <a:off x="234950" y="203835"/>
            <a:ext cx="206756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《数据结构》</a:t>
            </a: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1412" y="217303"/>
            <a:ext cx="401225" cy="40122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sp>
        <p:nvSpPr>
          <p:cNvPr id="26" name="TextBox 5"/>
          <p:cNvSpPr txBox="1">
            <a:spLocks noChangeArrowheads="1"/>
          </p:cNvSpPr>
          <p:nvPr/>
        </p:nvSpPr>
        <p:spPr bwMode="auto">
          <a:xfrm>
            <a:off x="1752513" y="2557371"/>
            <a:ext cx="7277822" cy="41825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借助元素在存储器中的相对位置来表示数据之间的逻辑关系。</a:t>
            </a:r>
            <a:endParaRPr lang="zh-CN" altLang="en-US" sz="1600" dirty="0"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37" name="AutoShape 3"/>
          <p:cNvSpPr>
            <a:spLocks noChangeAspect="1" noChangeArrowheads="1" noTextEdit="1"/>
          </p:cNvSpPr>
          <p:nvPr/>
        </p:nvSpPr>
        <p:spPr bwMode="auto">
          <a:xfrm>
            <a:off x="557288" y="744733"/>
            <a:ext cx="542665" cy="54122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endParaRPr lang="zh-CN" altLang="en-US" sz="1800"/>
          </a:p>
        </p:txBody>
      </p:sp>
      <p:sp>
        <p:nvSpPr>
          <p:cNvPr id="55" name="TextBox 5"/>
          <p:cNvSpPr txBox="1">
            <a:spLocks noChangeArrowheads="1"/>
          </p:cNvSpPr>
          <p:nvPr/>
        </p:nvSpPr>
        <p:spPr bwMode="auto">
          <a:xfrm>
            <a:off x="1145038" y="1416995"/>
            <a:ext cx="7332847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百度综艺简体" panose="02010601030101010101" charset="-122"/>
                <a:ea typeface="百度综艺简体" panose="02010601030101010101" charset="-122"/>
              </a:rPr>
              <a:t>数据的存储结构可采用顺序存储或链式存储的</a:t>
            </a:r>
            <a:r>
              <a:rPr lang="zh-CN" altLang="en-US" sz="2000" dirty="0" smtClean="0">
                <a:latin typeface="百度综艺简体" panose="02010601030101010101" charset="-122"/>
                <a:ea typeface="百度综艺简体" panose="02010601030101010101" charset="-122"/>
              </a:rPr>
              <a:t>方法：</a:t>
            </a:r>
            <a:endParaRPr lang="zh-CN" sz="2000" dirty="0"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23" name="TextBox 5"/>
          <p:cNvSpPr txBox="1">
            <a:spLocks noChangeArrowheads="1"/>
          </p:cNvSpPr>
          <p:nvPr/>
        </p:nvSpPr>
        <p:spPr bwMode="auto">
          <a:xfrm>
            <a:off x="1752513" y="3868547"/>
            <a:ext cx="6884670" cy="41825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借助指示元素存储地址的指针表示数据之间的逻辑关系。</a:t>
            </a:r>
            <a:endParaRPr lang="zh-CN" sz="1600" dirty="0"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18" name="Text Placeholder 11"/>
          <p:cNvSpPr txBox="1"/>
          <p:nvPr/>
        </p:nvSpPr>
        <p:spPr>
          <a:xfrm>
            <a:off x="1145038" y="2089515"/>
            <a:ext cx="362077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20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顺序映像（顺序存储结构）</a:t>
            </a:r>
            <a:r>
              <a:rPr lang="zh-CN" altLang="en-US" sz="2000" dirty="0" smtClean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：</a:t>
            </a:r>
            <a:endParaRPr lang="zh-CN" sz="2000" dirty="0">
              <a:solidFill>
                <a:schemeClr val="accent1"/>
              </a:solidFill>
              <a:latin typeface="百度综艺简体" panose="02010601030101010101" charset="-122"/>
              <a:ea typeface="百度综艺简体" panose="02010601030101010101" charset="-122"/>
              <a:sym typeface="Arial" panose="020B0604020202020204" pitchFamily="34" charset="0"/>
            </a:endParaRPr>
          </a:p>
        </p:txBody>
      </p:sp>
      <p:sp>
        <p:nvSpPr>
          <p:cNvPr id="20" name="Text Placeholder 11"/>
          <p:cNvSpPr txBox="1"/>
          <p:nvPr/>
        </p:nvSpPr>
        <p:spPr>
          <a:xfrm>
            <a:off x="1145038" y="3345202"/>
            <a:ext cx="362077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20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非顺序映像（链式存储结构</a:t>
            </a:r>
            <a:r>
              <a:rPr lang="zh-CN" altLang="en-US" sz="2000" dirty="0" smtClean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）</a:t>
            </a:r>
            <a:r>
              <a:rPr lang="zh-CN" altLang="en-US" sz="20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 ：</a:t>
            </a:r>
            <a:endParaRPr lang="zh-CN" sz="2000" dirty="0">
              <a:solidFill>
                <a:schemeClr val="accent1"/>
              </a:solidFill>
              <a:latin typeface="百度综艺简体" panose="02010601030101010101" charset="-122"/>
              <a:ea typeface="百度综艺简体" panose="02010601030101010101" charset="-122"/>
              <a:sym typeface="Arial" panose="020B0604020202020204" pitchFamily="34" charset="0"/>
            </a:endParaRPr>
          </a:p>
        </p:txBody>
      </p:sp>
      <p:sp>
        <p:nvSpPr>
          <p:cNvPr id="24" name="Text Placeholder 11"/>
          <p:cNvSpPr txBox="1"/>
          <p:nvPr/>
        </p:nvSpPr>
        <p:spPr>
          <a:xfrm>
            <a:off x="2302510" y="241067"/>
            <a:ext cx="280543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1800" dirty="0" smtClean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基本概念和术语</a:t>
            </a:r>
            <a:endParaRPr lang="zh-CN" sz="1800" dirty="0">
              <a:solidFill>
                <a:schemeClr val="accent2"/>
              </a:solidFill>
              <a:latin typeface="百度综艺简体" panose="02010601030101010101" charset="-122"/>
              <a:ea typeface="百度综艺简体" panose="02010601030101010101" charset="-122"/>
              <a:sym typeface="Arial" panose="020B0604020202020204" pitchFamily="34" charset="0"/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2134235" y="483235"/>
            <a:ext cx="7002145" cy="109220"/>
            <a:chOff x="2140585" y="362585"/>
            <a:chExt cx="7002145" cy="109220"/>
          </a:xfrm>
        </p:grpSpPr>
        <p:cxnSp>
          <p:nvCxnSpPr>
            <p:cNvPr id="29" name="直接连接符 28"/>
            <p:cNvCxnSpPr/>
            <p:nvPr/>
          </p:nvCxnSpPr>
          <p:spPr>
            <a:xfrm>
              <a:off x="2140585" y="417195"/>
              <a:ext cx="6889750" cy="0"/>
            </a:xfrm>
            <a:prstGeom prst="line">
              <a:avLst/>
            </a:prstGeom>
            <a:ln w="22225">
              <a:solidFill>
                <a:srgbClr val="2A5B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椭圆 29"/>
            <p:cNvSpPr/>
            <p:nvPr/>
          </p:nvSpPr>
          <p:spPr>
            <a:xfrm>
              <a:off x="9033510" y="362585"/>
              <a:ext cx="109220" cy="1092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 tmFilter="0,0; .5, 1; 1, 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 tmFilter="0,0; .5, 1; 1, 1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 tmFilter="0,0; .5, 1; 1, 1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 tmFilter="0,0; .5, 1; 1, 1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utoUpdateAnimBg="0"/>
      <p:bldP spid="22" grpId="0" bldLvl="0" animBg="1" autoUpdateAnimBg="0"/>
      <p:bldP spid="26" grpId="0" autoUpdateAnimBg="0"/>
      <p:bldP spid="55" grpId="0" autoUpdateAnimBg="0"/>
      <p:bldP spid="23" grpId="0" autoUpdateAnimBg="0"/>
      <p:bldP spid="18" grpId="0"/>
      <p:bldP spid="20" grpId="0"/>
      <p:bldP spid="2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>
            <a:cxnSpLocks noChangeShapeType="1"/>
          </p:cNvCxnSpPr>
          <p:nvPr/>
        </p:nvCxnSpPr>
        <p:spPr bwMode="auto">
          <a:xfrm>
            <a:off x="307340" y="537845"/>
            <a:ext cx="882904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</a:ln>
          <a:effectLst/>
        </p:spPr>
      </p:cxnSp>
      <p:sp>
        <p:nvSpPr>
          <p:cNvPr id="16" name="矩形 15"/>
          <p:cNvSpPr/>
          <p:nvPr/>
        </p:nvSpPr>
        <p:spPr>
          <a:xfrm>
            <a:off x="1411" y="5240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800" dirty="0">
              <a:solidFill>
                <a:schemeClr val="accent2"/>
              </a:solidFill>
              <a:effectLst/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19" name="TextBox 5"/>
          <p:cNvSpPr txBox="1">
            <a:spLocks noChangeArrowheads="1"/>
          </p:cNvSpPr>
          <p:nvPr/>
        </p:nvSpPr>
        <p:spPr bwMode="auto">
          <a:xfrm>
            <a:off x="234950" y="203835"/>
            <a:ext cx="206756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《数据结构》</a:t>
            </a: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1412" y="217303"/>
            <a:ext cx="401225" cy="40122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sp>
        <p:nvSpPr>
          <p:cNvPr id="26" name="TextBox 5"/>
          <p:cNvSpPr txBox="1">
            <a:spLocks noChangeArrowheads="1"/>
          </p:cNvSpPr>
          <p:nvPr/>
        </p:nvSpPr>
        <p:spPr bwMode="auto">
          <a:xfrm>
            <a:off x="1591204" y="2009531"/>
            <a:ext cx="7277822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定义：一组性质相同的值的集合, 以及定义于这个值集合上的一组操作的</a:t>
            </a:r>
            <a:r>
              <a:rPr lang="zh-CN" altLang="en-US" sz="1600" dirty="0" smtClean="0">
                <a:latin typeface="百度综艺简体" panose="02010601030101010101" charset="-122"/>
                <a:ea typeface="百度综艺简体" panose="02010601030101010101" charset="-122"/>
              </a:rPr>
              <a:t>总称</a:t>
            </a: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。</a:t>
            </a:r>
            <a:endParaRPr lang="zh-CN" altLang="en-US" sz="1600" dirty="0"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37" name="AutoShape 3"/>
          <p:cNvSpPr>
            <a:spLocks noChangeAspect="1" noChangeArrowheads="1" noTextEdit="1"/>
          </p:cNvSpPr>
          <p:nvPr/>
        </p:nvSpPr>
        <p:spPr bwMode="auto">
          <a:xfrm>
            <a:off x="557288" y="744733"/>
            <a:ext cx="542665" cy="54122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endParaRPr lang="zh-CN" altLang="en-US" sz="1800"/>
          </a:p>
        </p:txBody>
      </p:sp>
      <p:sp>
        <p:nvSpPr>
          <p:cNvPr id="23" name="TextBox 5"/>
          <p:cNvSpPr txBox="1">
            <a:spLocks noChangeArrowheads="1"/>
          </p:cNvSpPr>
          <p:nvPr/>
        </p:nvSpPr>
        <p:spPr bwMode="auto">
          <a:xfrm>
            <a:off x="2559243" y="3288790"/>
            <a:ext cx="6167314" cy="6340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424180" lvl="0" indent="-424180" defTabSz="112903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defRPr/>
            </a:pPr>
            <a:r>
              <a:rPr lang="en-US" altLang="zh-CN" sz="1600" dirty="0" smtClean="0">
                <a:latin typeface="百度综艺简体" panose="02010601030101010101" charset="-122"/>
                <a:ea typeface="百度综艺简体" panose="02010601030101010101" charset="-122"/>
              </a:rPr>
              <a:t>     char        </a:t>
            </a:r>
            <a:r>
              <a:rPr lang="en-US" altLang="zh-CN" sz="1600" dirty="0" err="1" smtClean="0">
                <a:latin typeface="百度综艺简体" panose="02010601030101010101" charset="-122"/>
                <a:ea typeface="百度综艺简体" panose="02010601030101010101" charset="-122"/>
              </a:rPr>
              <a:t>int</a:t>
            </a:r>
            <a:r>
              <a:rPr lang="en-US" altLang="zh-CN" sz="1600" dirty="0" smtClean="0">
                <a:latin typeface="百度综艺简体" panose="02010601030101010101" charset="-122"/>
                <a:ea typeface="百度综艺简体" panose="02010601030101010101" charset="-122"/>
              </a:rPr>
              <a:t>        float          double        void</a:t>
            </a:r>
            <a:endParaRPr lang="en-US" altLang="zh-CN" sz="1600" dirty="0">
              <a:latin typeface="百度综艺简体" panose="02010601030101010101" charset="-122"/>
              <a:ea typeface="百度综艺简体" panose="02010601030101010101" charset="-122"/>
            </a:endParaRPr>
          </a:p>
          <a:p>
            <a:pPr marL="424180" lvl="0" indent="-424180" defTabSz="112903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defRPr/>
            </a:pPr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  </a:t>
            </a:r>
            <a:r>
              <a:rPr lang="en-US" altLang="zh-CN" sz="1600" dirty="0" smtClean="0">
                <a:latin typeface="百度综艺简体" panose="02010601030101010101" charset="-122"/>
                <a:ea typeface="百度综艺简体" panose="02010601030101010101" charset="-122"/>
              </a:rPr>
              <a:t>  </a:t>
            </a:r>
            <a:r>
              <a:rPr lang="zh-CN" altLang="en-US" sz="1600" dirty="0" smtClean="0">
                <a:latin typeface="百度综艺简体" panose="02010601030101010101" charset="-122"/>
                <a:ea typeface="百度综艺简体" panose="02010601030101010101" charset="-122"/>
              </a:rPr>
              <a:t>字符型      </a:t>
            </a: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整型 </a:t>
            </a:r>
            <a:r>
              <a:rPr lang="zh-CN" altLang="en-US" sz="1600" dirty="0" smtClean="0">
                <a:latin typeface="百度综艺简体" panose="02010601030101010101" charset="-122"/>
                <a:ea typeface="百度综艺简体" panose="02010601030101010101" charset="-122"/>
              </a:rPr>
              <a:t>    浮点</a:t>
            </a: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型 </a:t>
            </a:r>
            <a:r>
              <a:rPr lang="zh-CN" altLang="en-US" sz="1600" dirty="0" smtClean="0">
                <a:latin typeface="百度综艺简体" panose="02010601030101010101" charset="-122"/>
                <a:ea typeface="百度综艺简体" panose="02010601030101010101" charset="-122"/>
              </a:rPr>
              <a:t>        双精度</a:t>
            </a: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型 </a:t>
            </a:r>
            <a:r>
              <a:rPr lang="zh-CN" altLang="en-US" sz="1600" dirty="0" smtClean="0">
                <a:latin typeface="百度综艺简体" panose="02010601030101010101" charset="-122"/>
                <a:ea typeface="百度综艺简体" panose="02010601030101010101" charset="-122"/>
              </a:rPr>
              <a:t>     无</a:t>
            </a: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值  </a:t>
            </a:r>
          </a:p>
        </p:txBody>
      </p:sp>
      <p:sp>
        <p:nvSpPr>
          <p:cNvPr id="18" name="Text Placeholder 11"/>
          <p:cNvSpPr txBox="1"/>
          <p:nvPr/>
        </p:nvSpPr>
        <p:spPr>
          <a:xfrm>
            <a:off x="1051462" y="1563042"/>
            <a:ext cx="362077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2000" dirty="0" smtClean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数据类型</a:t>
            </a:r>
            <a:r>
              <a:rPr lang="en-US" altLang="zh-CN" sz="2000" dirty="0" smtClean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(data  type)</a:t>
            </a:r>
            <a:endParaRPr lang="zh-CN" sz="2000" dirty="0">
              <a:solidFill>
                <a:schemeClr val="accent1"/>
              </a:solidFill>
              <a:latin typeface="百度综艺简体" panose="02010601030101010101" charset="-122"/>
              <a:ea typeface="百度综艺简体" panose="02010601030101010101" charset="-122"/>
              <a:sym typeface="Arial" panose="020B0604020202020204" pitchFamily="34" charset="0"/>
            </a:endParaRPr>
          </a:p>
        </p:txBody>
      </p:sp>
      <p:sp>
        <p:nvSpPr>
          <p:cNvPr id="20" name="Text Placeholder 11"/>
          <p:cNvSpPr txBox="1"/>
          <p:nvPr/>
        </p:nvSpPr>
        <p:spPr>
          <a:xfrm>
            <a:off x="1051462" y="2818729"/>
            <a:ext cx="362077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en-US" altLang="zh-CN" sz="20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C</a:t>
            </a:r>
            <a:r>
              <a:rPr lang="zh-CN" altLang="zh-CN" sz="20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语言中的数据类型</a:t>
            </a:r>
            <a:endParaRPr lang="zh-CN" sz="2000" dirty="0">
              <a:solidFill>
                <a:schemeClr val="accent1"/>
              </a:solidFill>
              <a:latin typeface="百度综艺简体" panose="02010601030101010101" charset="-122"/>
              <a:ea typeface="百度综艺简体" panose="02010601030101010101" charset="-122"/>
              <a:sym typeface="Arial" panose="020B0604020202020204" pitchFamily="34" charset="0"/>
            </a:endParaRPr>
          </a:p>
        </p:txBody>
      </p:sp>
      <p:sp>
        <p:nvSpPr>
          <p:cNvPr id="24" name="Text Placeholder 11"/>
          <p:cNvSpPr txBox="1"/>
          <p:nvPr/>
        </p:nvSpPr>
        <p:spPr>
          <a:xfrm>
            <a:off x="2302510" y="241067"/>
            <a:ext cx="280543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1800" dirty="0" smtClean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基本概念和术语</a:t>
            </a:r>
            <a:endParaRPr lang="zh-CN" sz="1800" dirty="0">
              <a:solidFill>
                <a:schemeClr val="accent2"/>
              </a:solidFill>
              <a:latin typeface="百度综艺简体" panose="02010601030101010101" charset="-122"/>
              <a:ea typeface="百度综艺简体" panose="02010601030101010101" charset="-122"/>
              <a:sym typeface="Arial" panose="020B0604020202020204" pitchFamily="34" charset="0"/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2134235" y="483235"/>
            <a:ext cx="7002145" cy="109220"/>
            <a:chOff x="2140585" y="362585"/>
            <a:chExt cx="7002145" cy="109220"/>
          </a:xfrm>
        </p:grpSpPr>
        <p:cxnSp>
          <p:nvCxnSpPr>
            <p:cNvPr id="29" name="直接连接符 28"/>
            <p:cNvCxnSpPr/>
            <p:nvPr/>
          </p:nvCxnSpPr>
          <p:spPr>
            <a:xfrm>
              <a:off x="2140585" y="417195"/>
              <a:ext cx="6889750" cy="0"/>
            </a:xfrm>
            <a:prstGeom prst="line">
              <a:avLst/>
            </a:prstGeom>
            <a:ln w="22225">
              <a:solidFill>
                <a:srgbClr val="2A5B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椭圆 29"/>
            <p:cNvSpPr/>
            <p:nvPr/>
          </p:nvSpPr>
          <p:spPr>
            <a:xfrm>
              <a:off x="9033510" y="362585"/>
              <a:ext cx="109220" cy="1092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 tmFilter="0,0; .5, 1; 1, 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 tmFilter="0,0; .5, 1; 1, 1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 tmFilter="0,0; .5, 1; 1, 1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utoUpdateAnimBg="0"/>
      <p:bldP spid="22" grpId="0" bldLvl="0" animBg="1" autoUpdateAnimBg="0"/>
      <p:bldP spid="26" grpId="0" autoUpdateAnimBg="0"/>
      <p:bldP spid="23" grpId="0" autoUpdateAnimBg="0"/>
      <p:bldP spid="18" grpId="0"/>
      <p:bldP spid="20" grpId="0"/>
      <p:bldP spid="2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>
            <a:cxnSpLocks noChangeShapeType="1"/>
          </p:cNvCxnSpPr>
          <p:nvPr/>
        </p:nvCxnSpPr>
        <p:spPr bwMode="auto">
          <a:xfrm>
            <a:off x="307340" y="537845"/>
            <a:ext cx="882904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</a:ln>
          <a:effectLst/>
        </p:spPr>
      </p:cxnSp>
      <p:sp>
        <p:nvSpPr>
          <p:cNvPr id="16" name="矩形 15"/>
          <p:cNvSpPr/>
          <p:nvPr/>
        </p:nvSpPr>
        <p:spPr>
          <a:xfrm>
            <a:off x="1411" y="5240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800" dirty="0">
              <a:solidFill>
                <a:schemeClr val="accent2"/>
              </a:solidFill>
              <a:effectLst/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19" name="TextBox 5"/>
          <p:cNvSpPr txBox="1">
            <a:spLocks noChangeArrowheads="1"/>
          </p:cNvSpPr>
          <p:nvPr/>
        </p:nvSpPr>
        <p:spPr bwMode="auto">
          <a:xfrm>
            <a:off x="234950" y="203835"/>
            <a:ext cx="206756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《数据结构》</a:t>
            </a: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1412" y="217303"/>
            <a:ext cx="401225" cy="40122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sp>
        <p:nvSpPr>
          <p:cNvPr id="26" name="TextBox 5"/>
          <p:cNvSpPr txBox="1">
            <a:spLocks noChangeArrowheads="1"/>
          </p:cNvSpPr>
          <p:nvPr/>
        </p:nvSpPr>
        <p:spPr bwMode="auto">
          <a:xfrm>
            <a:off x="2257425" y="1848120"/>
            <a:ext cx="2133687" cy="42178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其值是不可分解的。</a:t>
            </a:r>
            <a:endParaRPr lang="zh-CN" altLang="en-US" sz="1600" dirty="0"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37" name="AutoShape 3"/>
          <p:cNvSpPr>
            <a:spLocks noChangeAspect="1" noChangeArrowheads="1" noTextEdit="1"/>
          </p:cNvSpPr>
          <p:nvPr/>
        </p:nvSpPr>
        <p:spPr bwMode="auto">
          <a:xfrm>
            <a:off x="557288" y="744733"/>
            <a:ext cx="542665" cy="54122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endParaRPr lang="zh-CN" altLang="en-US" sz="1800"/>
          </a:p>
        </p:txBody>
      </p:sp>
      <p:sp>
        <p:nvSpPr>
          <p:cNvPr id="55" name="TextBox 5"/>
          <p:cNvSpPr txBox="1">
            <a:spLocks noChangeArrowheads="1"/>
          </p:cNvSpPr>
          <p:nvPr/>
        </p:nvSpPr>
        <p:spPr bwMode="auto">
          <a:xfrm>
            <a:off x="1099953" y="1366477"/>
            <a:ext cx="4984829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百度综艺简体" panose="02010601030101010101" charset="-122"/>
                <a:ea typeface="百度综艺简体" panose="02010601030101010101" charset="-122"/>
              </a:rPr>
              <a:t>按“值”的不同特性，数据类型可分为两类</a:t>
            </a:r>
            <a:r>
              <a:rPr lang="zh-CN" altLang="en-US" sz="2000" dirty="0" smtClean="0">
                <a:latin typeface="百度综艺简体" panose="02010601030101010101" charset="-122"/>
                <a:ea typeface="百度综艺简体" panose="02010601030101010101" charset="-122"/>
              </a:rPr>
              <a:t>：</a:t>
            </a:r>
            <a:endParaRPr lang="zh-CN" altLang="en-US" sz="2000" dirty="0">
              <a:latin typeface="百度综艺简体" panose="02010601030101010101" charset="-122"/>
              <a:ea typeface="百度综艺简体" panose="02010601030101010101" charset="-122"/>
            </a:endParaRPr>
          </a:p>
        </p:txBody>
      </p:sp>
      <p:sp>
        <p:nvSpPr>
          <p:cNvPr id="18" name="Text Placeholder 11"/>
          <p:cNvSpPr txBox="1"/>
          <p:nvPr/>
        </p:nvSpPr>
        <p:spPr>
          <a:xfrm>
            <a:off x="1099953" y="1901372"/>
            <a:ext cx="362077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2000" dirty="0" smtClean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原子类型：</a:t>
            </a:r>
            <a:endParaRPr lang="zh-CN" sz="2000" dirty="0">
              <a:solidFill>
                <a:schemeClr val="accent1"/>
              </a:solidFill>
              <a:latin typeface="百度综艺简体" panose="02010601030101010101" charset="-122"/>
              <a:ea typeface="百度综艺简体" panose="02010601030101010101" charset="-122"/>
              <a:sym typeface="Arial" panose="020B0604020202020204" pitchFamily="34" charset="0"/>
            </a:endParaRPr>
          </a:p>
        </p:txBody>
      </p:sp>
      <p:sp>
        <p:nvSpPr>
          <p:cNvPr id="20" name="Text Placeholder 11"/>
          <p:cNvSpPr txBox="1"/>
          <p:nvPr/>
        </p:nvSpPr>
        <p:spPr>
          <a:xfrm>
            <a:off x="1099953" y="2918530"/>
            <a:ext cx="6373362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2000" dirty="0" smtClean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抽象数据类型</a:t>
            </a:r>
            <a:r>
              <a:rPr lang="zh-CN" altLang="en-US" sz="2000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</a:rPr>
              <a:t>(</a:t>
            </a:r>
            <a:r>
              <a:rPr lang="en-US" altLang="zh-CN" sz="2000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</a:rPr>
              <a:t>ADT: abstract  data  type)</a:t>
            </a:r>
            <a:endParaRPr lang="zh-CN" altLang="en-US" sz="2000" dirty="0">
              <a:solidFill>
                <a:schemeClr val="accent2"/>
              </a:solidFill>
              <a:latin typeface="百度综艺简体" panose="02010601030101010101" charset="-122"/>
              <a:ea typeface="百度综艺简体" panose="02010601030101010101" charset="-122"/>
            </a:endParaRPr>
          </a:p>
          <a:p>
            <a:pPr lvl="0" defTabSz="911225">
              <a:buNone/>
            </a:pPr>
            <a:endParaRPr lang="zh-CN" sz="2000" dirty="0">
              <a:solidFill>
                <a:schemeClr val="accent1"/>
              </a:solidFill>
              <a:latin typeface="百度综艺简体" panose="02010601030101010101" charset="-122"/>
              <a:ea typeface="百度综艺简体" panose="02010601030101010101" charset="-122"/>
              <a:sym typeface="Arial" panose="020B0604020202020204" pitchFamily="34" charset="0"/>
            </a:endParaRPr>
          </a:p>
        </p:txBody>
      </p:sp>
      <p:sp>
        <p:nvSpPr>
          <p:cNvPr id="24" name="Text Placeholder 11"/>
          <p:cNvSpPr txBox="1"/>
          <p:nvPr/>
        </p:nvSpPr>
        <p:spPr>
          <a:xfrm>
            <a:off x="1099953" y="2366580"/>
            <a:ext cx="362077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20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结构</a:t>
            </a:r>
            <a:r>
              <a:rPr lang="zh-CN" altLang="en-US" sz="2000" dirty="0" smtClean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类型：</a:t>
            </a:r>
            <a:endParaRPr lang="zh-CN" sz="2000" dirty="0">
              <a:solidFill>
                <a:schemeClr val="accent1"/>
              </a:solidFill>
              <a:latin typeface="百度综艺简体" panose="02010601030101010101" charset="-122"/>
              <a:ea typeface="百度综艺简体" panose="02010601030101010101" charset="-122"/>
              <a:sym typeface="Arial" panose="020B0604020202020204" pitchFamily="34" charset="0"/>
            </a:endParaRPr>
          </a:p>
        </p:txBody>
      </p:sp>
      <p:sp>
        <p:nvSpPr>
          <p:cNvPr id="28" name="TextBox 5"/>
          <p:cNvSpPr txBox="1">
            <a:spLocks noChangeArrowheads="1"/>
          </p:cNvSpPr>
          <p:nvPr/>
        </p:nvSpPr>
        <p:spPr bwMode="auto">
          <a:xfrm>
            <a:off x="2257425" y="2304974"/>
            <a:ext cx="4386157" cy="42178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其值是由若干成分按某种结构组成的。</a:t>
            </a:r>
            <a:endParaRPr lang="zh-CN" altLang="en-US" sz="1600" dirty="0"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29" name="TextBox 5"/>
          <p:cNvSpPr txBox="1">
            <a:spLocks noChangeArrowheads="1"/>
          </p:cNvSpPr>
          <p:nvPr/>
        </p:nvSpPr>
        <p:spPr bwMode="auto">
          <a:xfrm>
            <a:off x="1610548" y="3350012"/>
            <a:ext cx="6132453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百度综艺简体" panose="02010601030101010101" charset="-122"/>
                <a:ea typeface="百度综艺简体" panose="02010601030101010101" charset="-122"/>
              </a:rPr>
              <a:t>是指一个数学模型以及定义在模型上的一组</a:t>
            </a:r>
            <a:r>
              <a:rPr lang="zh-CN" altLang="en-US" sz="2000" dirty="0" smtClean="0">
                <a:latin typeface="百度综艺简体" panose="02010601030101010101" charset="-122"/>
                <a:ea typeface="百度综艺简体" panose="02010601030101010101" charset="-122"/>
              </a:rPr>
              <a:t>操作。</a:t>
            </a:r>
            <a:endParaRPr lang="zh-CN" altLang="en-US" sz="2000" dirty="0">
              <a:latin typeface="百度综艺简体" panose="02010601030101010101" charset="-122"/>
              <a:ea typeface="百度综艺简体" panose="02010601030101010101" charset="-122"/>
            </a:endParaRPr>
          </a:p>
        </p:txBody>
      </p:sp>
      <p:sp>
        <p:nvSpPr>
          <p:cNvPr id="30" name="TextBox 5"/>
          <p:cNvSpPr txBox="1">
            <a:spLocks noChangeArrowheads="1"/>
          </p:cNvSpPr>
          <p:nvPr/>
        </p:nvSpPr>
        <p:spPr bwMode="auto">
          <a:xfrm>
            <a:off x="1288744" y="3827909"/>
            <a:ext cx="6776060" cy="78797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742950" lvl="1" indent="-285750" defTabSz="914400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defRPr/>
            </a:pPr>
            <a:r>
              <a:rPr lang="zh-CN" altLang="en-US" sz="1600" dirty="0" smtClean="0">
                <a:latin typeface="百度综艺简体" panose="02010601030101010101" charset="-122"/>
                <a:ea typeface="百度综艺简体" panose="02010601030101010101" charset="-122"/>
              </a:rPr>
              <a:t>             抽象数据类型</a:t>
            </a: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的定义仅取决于它的一组逻辑特性</a:t>
            </a:r>
            <a:r>
              <a:rPr lang="zh-CN" altLang="en-US" sz="1600" dirty="0" smtClean="0">
                <a:latin typeface="百度综艺简体" panose="02010601030101010101" charset="-122"/>
                <a:ea typeface="百度综艺简体" panose="02010601030101010101" charset="-122"/>
              </a:rPr>
              <a:t>，而</a:t>
            </a: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与其在计算机内部如何表示和实现无关。</a:t>
            </a:r>
            <a:endParaRPr lang="zh-CN" altLang="en-US" sz="1600" dirty="0"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23" name="Text Placeholder 11"/>
          <p:cNvSpPr txBox="1"/>
          <p:nvPr/>
        </p:nvSpPr>
        <p:spPr>
          <a:xfrm>
            <a:off x="2302510" y="241067"/>
            <a:ext cx="280543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1800" dirty="0" smtClean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基本概念和术语</a:t>
            </a:r>
            <a:endParaRPr lang="zh-CN" sz="1800" dirty="0">
              <a:solidFill>
                <a:schemeClr val="accent2"/>
              </a:solidFill>
              <a:latin typeface="百度综艺简体" panose="02010601030101010101" charset="-122"/>
              <a:ea typeface="百度综艺简体" panose="02010601030101010101" charset="-122"/>
              <a:sym typeface="Arial" panose="020B0604020202020204" pitchFamily="34" charset="0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2134235" y="483235"/>
            <a:ext cx="7002145" cy="109220"/>
            <a:chOff x="2140585" y="362585"/>
            <a:chExt cx="7002145" cy="109220"/>
          </a:xfrm>
        </p:grpSpPr>
        <p:cxnSp>
          <p:nvCxnSpPr>
            <p:cNvPr id="34" name="直接连接符 33"/>
            <p:cNvCxnSpPr/>
            <p:nvPr/>
          </p:nvCxnSpPr>
          <p:spPr>
            <a:xfrm>
              <a:off x="2140585" y="417195"/>
              <a:ext cx="6889750" cy="0"/>
            </a:xfrm>
            <a:prstGeom prst="line">
              <a:avLst/>
            </a:prstGeom>
            <a:ln w="22225">
              <a:solidFill>
                <a:srgbClr val="2A5B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椭圆 34"/>
            <p:cNvSpPr/>
            <p:nvPr/>
          </p:nvSpPr>
          <p:spPr>
            <a:xfrm>
              <a:off x="9033510" y="362585"/>
              <a:ext cx="109220" cy="1092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6" name="Text Placeholder 11"/>
          <p:cNvSpPr txBox="1"/>
          <p:nvPr/>
        </p:nvSpPr>
        <p:spPr>
          <a:xfrm>
            <a:off x="1106170" y="815688"/>
            <a:ext cx="7056818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defTabSz="911225">
              <a:buNone/>
            </a:pPr>
            <a:r>
              <a:rPr lang="zh-CN" altLang="en-US" sz="2400" dirty="0" smtClean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数据类型</a:t>
            </a:r>
            <a:endParaRPr lang="zh-CN" sz="2400" dirty="0">
              <a:solidFill>
                <a:schemeClr val="accent1"/>
              </a:solidFill>
              <a:latin typeface="百度综艺简体" panose="02010601030101010101" charset="-122"/>
              <a:ea typeface="百度综艺简体" panose="02010601030101010101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 tmFilter="0,0; .5, 1; 1, 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 tmFilter="0,0; .5, 1; 1, 1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 tmFilter="0,0; .5, 1; 1, 1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 tmFilter="0,0; .5, 1; 1, 1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500" tmFilter="0,0; .5, 1; 1, 1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5" dur="500" tmFilter="0,0; .5, 1; 1, 1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utoUpdateAnimBg="0"/>
      <p:bldP spid="22" grpId="0" bldLvl="0" animBg="1" autoUpdateAnimBg="0"/>
      <p:bldP spid="26" grpId="0" autoUpdateAnimBg="0"/>
      <p:bldP spid="55" grpId="0" autoUpdateAnimBg="0"/>
      <p:bldP spid="18" grpId="0"/>
      <p:bldP spid="20" grpId="0"/>
      <p:bldP spid="24" grpId="0"/>
      <p:bldP spid="28" grpId="0" autoUpdateAnimBg="0"/>
      <p:bldP spid="29" grpId="0" autoUpdateAnimBg="0"/>
      <p:bldP spid="30" grpId="0" autoUpdateAnimBg="0"/>
      <p:bldP spid="23" grpId="0"/>
      <p:bldP spid="3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>
            <a:cxnSpLocks noChangeShapeType="1"/>
          </p:cNvCxnSpPr>
          <p:nvPr/>
        </p:nvCxnSpPr>
        <p:spPr bwMode="auto">
          <a:xfrm>
            <a:off x="307340" y="537845"/>
            <a:ext cx="882904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</a:ln>
          <a:effectLst/>
        </p:spPr>
      </p:cxnSp>
      <p:sp>
        <p:nvSpPr>
          <p:cNvPr id="16" name="矩形 15"/>
          <p:cNvSpPr/>
          <p:nvPr/>
        </p:nvSpPr>
        <p:spPr>
          <a:xfrm>
            <a:off x="1411" y="5240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800" dirty="0">
              <a:solidFill>
                <a:schemeClr val="accent2"/>
              </a:solidFill>
              <a:effectLst/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19" name="TextBox 5"/>
          <p:cNvSpPr txBox="1">
            <a:spLocks noChangeArrowheads="1"/>
          </p:cNvSpPr>
          <p:nvPr/>
        </p:nvSpPr>
        <p:spPr bwMode="auto">
          <a:xfrm>
            <a:off x="234950" y="203835"/>
            <a:ext cx="206756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《数据结构》</a:t>
            </a: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1412" y="217303"/>
            <a:ext cx="401225" cy="40122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sp>
        <p:nvSpPr>
          <p:cNvPr id="31" name="Text Placeholder 11"/>
          <p:cNvSpPr txBox="1"/>
          <p:nvPr/>
        </p:nvSpPr>
        <p:spPr>
          <a:xfrm>
            <a:off x="1106171" y="815688"/>
            <a:ext cx="3093296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2400" dirty="0" smtClean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抽象数据类型</a:t>
            </a:r>
            <a:endParaRPr lang="zh-CN" sz="2400" dirty="0">
              <a:solidFill>
                <a:schemeClr val="accent1"/>
              </a:solidFill>
              <a:latin typeface="百度综艺简体" panose="02010601030101010101" charset="-122"/>
              <a:ea typeface="百度综艺简体" panose="02010601030101010101" charset="-122"/>
              <a:sym typeface="Arial" panose="020B0604020202020204" pitchFamily="34" charset="0"/>
            </a:endParaRPr>
          </a:p>
        </p:txBody>
      </p:sp>
      <p:sp>
        <p:nvSpPr>
          <p:cNvPr id="26" name="TextBox 5"/>
          <p:cNvSpPr txBox="1">
            <a:spLocks noChangeArrowheads="1"/>
          </p:cNvSpPr>
          <p:nvPr/>
        </p:nvSpPr>
        <p:spPr bwMode="auto">
          <a:xfrm>
            <a:off x="2785110" y="1897904"/>
            <a:ext cx="1414357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D</a:t>
            </a: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是数据对象，</a:t>
            </a:r>
            <a:endParaRPr lang="zh-CN" altLang="en-US" sz="1600" dirty="0"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37" name="AutoShape 3"/>
          <p:cNvSpPr>
            <a:spLocks noChangeAspect="1" noChangeArrowheads="1" noTextEdit="1"/>
          </p:cNvSpPr>
          <p:nvPr/>
        </p:nvSpPr>
        <p:spPr bwMode="auto">
          <a:xfrm>
            <a:off x="557288" y="744733"/>
            <a:ext cx="542665" cy="54122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endParaRPr lang="zh-CN" altLang="en-US" sz="1800"/>
          </a:p>
        </p:txBody>
      </p:sp>
      <p:sp>
        <p:nvSpPr>
          <p:cNvPr id="55" name="TextBox 5"/>
          <p:cNvSpPr txBox="1">
            <a:spLocks noChangeArrowheads="1"/>
          </p:cNvSpPr>
          <p:nvPr/>
        </p:nvSpPr>
        <p:spPr bwMode="auto">
          <a:xfrm>
            <a:off x="1145038" y="1416995"/>
            <a:ext cx="4984829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zh-CN" altLang="en-US" sz="2000" dirty="0" smtClean="0">
                <a:latin typeface="百度综艺简体" panose="02010601030101010101" charset="-122"/>
                <a:ea typeface="百度综艺简体" panose="02010601030101010101" charset="-122"/>
              </a:rPr>
              <a:t>数据类型可用一个三元祖来表示：</a:t>
            </a:r>
            <a:endParaRPr lang="zh-CN" altLang="en-US" sz="2000" dirty="0">
              <a:latin typeface="百度综艺简体" panose="02010601030101010101" charset="-122"/>
              <a:ea typeface="百度综艺简体" panose="02010601030101010101" charset="-122"/>
            </a:endParaRPr>
          </a:p>
        </p:txBody>
      </p:sp>
      <p:sp>
        <p:nvSpPr>
          <p:cNvPr id="18" name="Text Placeholder 11"/>
          <p:cNvSpPr txBox="1"/>
          <p:nvPr/>
        </p:nvSpPr>
        <p:spPr>
          <a:xfrm>
            <a:off x="1145038" y="1951890"/>
            <a:ext cx="362077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20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（</a:t>
            </a:r>
            <a:r>
              <a:rPr lang="en-US" altLang="zh-CN" sz="20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D,S,P)</a:t>
            </a:r>
            <a:r>
              <a:rPr lang="zh-CN" altLang="en-US" sz="2000" dirty="0" smtClean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其中：</a:t>
            </a:r>
            <a:endParaRPr lang="zh-CN" sz="2000" dirty="0">
              <a:solidFill>
                <a:schemeClr val="accent1"/>
              </a:solidFill>
              <a:latin typeface="百度综艺简体" panose="02010601030101010101" charset="-122"/>
              <a:ea typeface="百度综艺简体" panose="02010601030101010101" charset="-122"/>
              <a:sym typeface="Arial" panose="020B0604020202020204" pitchFamily="34" charset="0"/>
            </a:endParaRPr>
          </a:p>
        </p:txBody>
      </p:sp>
      <p:sp>
        <p:nvSpPr>
          <p:cNvPr id="23" name="TextBox 5"/>
          <p:cNvSpPr txBox="1">
            <a:spLocks noChangeArrowheads="1"/>
          </p:cNvSpPr>
          <p:nvPr/>
        </p:nvSpPr>
        <p:spPr bwMode="auto">
          <a:xfrm>
            <a:off x="4199467" y="1919608"/>
            <a:ext cx="1980838" cy="41825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S</a:t>
            </a: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是</a:t>
            </a:r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D</a:t>
            </a: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上的关系集，</a:t>
            </a:r>
            <a:endParaRPr lang="zh-CN" altLang="en-US" sz="1600" dirty="0"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33" name="TextBox 5"/>
          <p:cNvSpPr txBox="1">
            <a:spLocks noChangeArrowheads="1"/>
          </p:cNvSpPr>
          <p:nvPr/>
        </p:nvSpPr>
        <p:spPr bwMode="auto">
          <a:xfrm>
            <a:off x="5909435" y="1940936"/>
            <a:ext cx="1980838" cy="41825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P</a:t>
            </a: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是对</a:t>
            </a:r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D</a:t>
            </a: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的基本操作。</a:t>
            </a:r>
            <a:endParaRPr lang="zh-CN" altLang="en-US" sz="1600" dirty="0"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34" name="Text Placeholder 11"/>
          <p:cNvSpPr txBox="1"/>
          <p:nvPr/>
        </p:nvSpPr>
        <p:spPr>
          <a:xfrm>
            <a:off x="1145038" y="2551175"/>
            <a:ext cx="362077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lnSpc>
                <a:spcPct val="80000"/>
              </a:lnSpc>
              <a:buNone/>
            </a:pPr>
            <a:r>
              <a:rPr lang="en-US" altLang="zh-CN" sz="20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ADT </a:t>
            </a:r>
            <a:r>
              <a:rPr lang="zh-CN" altLang="en-US" sz="20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抽象数据类型名 </a:t>
            </a:r>
            <a:r>
              <a:rPr lang="en-US" altLang="zh-CN" sz="20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{</a:t>
            </a:r>
          </a:p>
        </p:txBody>
      </p:sp>
      <p:sp>
        <p:nvSpPr>
          <p:cNvPr id="35" name="TextBox 5"/>
          <p:cNvSpPr txBox="1">
            <a:spLocks noChangeArrowheads="1"/>
          </p:cNvSpPr>
          <p:nvPr/>
        </p:nvSpPr>
        <p:spPr bwMode="auto">
          <a:xfrm>
            <a:off x="2624244" y="2827671"/>
            <a:ext cx="3505623" cy="41825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数据对象：</a:t>
            </a:r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〈</a:t>
            </a: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数据对象的定义</a:t>
            </a:r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〉</a:t>
            </a:r>
            <a:endParaRPr lang="zh-CN" altLang="en-US" sz="1600" dirty="0"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36" name="TextBox 5"/>
          <p:cNvSpPr txBox="1">
            <a:spLocks noChangeArrowheads="1"/>
          </p:cNvSpPr>
          <p:nvPr/>
        </p:nvSpPr>
        <p:spPr bwMode="auto">
          <a:xfrm>
            <a:off x="2624104" y="3141721"/>
            <a:ext cx="3505623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 smtClean="0">
                <a:latin typeface="百度综艺简体" panose="02010601030101010101" charset="-122"/>
                <a:ea typeface="百度综艺简体" panose="02010601030101010101" charset="-122"/>
              </a:rPr>
              <a:t>数据关系：</a:t>
            </a:r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〈</a:t>
            </a:r>
            <a:r>
              <a:rPr lang="zh-CN" altLang="en-US" sz="1600" dirty="0" smtClean="0">
                <a:latin typeface="百度综艺简体" panose="02010601030101010101" charset="-122"/>
                <a:ea typeface="百度综艺简体" panose="02010601030101010101" charset="-122"/>
              </a:rPr>
              <a:t>数据关系的</a:t>
            </a: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定义</a:t>
            </a:r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〉</a:t>
            </a:r>
            <a:endParaRPr lang="zh-CN" altLang="en-US" sz="1600" dirty="0"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41" name="TextBox 5"/>
          <p:cNvSpPr txBox="1">
            <a:spLocks noChangeArrowheads="1"/>
          </p:cNvSpPr>
          <p:nvPr/>
        </p:nvSpPr>
        <p:spPr bwMode="auto">
          <a:xfrm>
            <a:off x="2623964" y="3446281"/>
            <a:ext cx="3505623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 smtClean="0">
                <a:latin typeface="百度综艺简体" panose="02010601030101010101" charset="-122"/>
                <a:ea typeface="百度综艺简体" panose="02010601030101010101" charset="-122"/>
              </a:rPr>
              <a:t>基本操作：</a:t>
            </a:r>
            <a:r>
              <a:rPr lang="en-US" altLang="zh-CN" sz="1600" dirty="0" smtClean="0">
                <a:latin typeface="百度综艺简体" panose="02010601030101010101" charset="-122"/>
                <a:ea typeface="百度综艺简体" panose="02010601030101010101" charset="-122"/>
              </a:rPr>
              <a:t>〈</a:t>
            </a:r>
            <a:r>
              <a:rPr lang="zh-CN" altLang="en-US" sz="1600" dirty="0" smtClean="0">
                <a:latin typeface="百度综艺简体" panose="02010601030101010101" charset="-122"/>
                <a:ea typeface="百度综艺简体" panose="02010601030101010101" charset="-122"/>
              </a:rPr>
              <a:t>基本操作的</a:t>
            </a: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定义</a:t>
            </a:r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〉</a:t>
            </a:r>
            <a:endParaRPr lang="zh-CN" altLang="en-US" sz="1600" dirty="0"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42" name="Text Placeholder 11"/>
          <p:cNvSpPr txBox="1"/>
          <p:nvPr/>
        </p:nvSpPr>
        <p:spPr>
          <a:xfrm>
            <a:off x="1145038" y="3931452"/>
            <a:ext cx="362077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lnSpc>
                <a:spcPct val="80000"/>
              </a:lnSpc>
              <a:buNone/>
            </a:pPr>
            <a:r>
              <a:rPr lang="en-US" altLang="zh-CN" sz="20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} ADT </a:t>
            </a:r>
            <a:r>
              <a:rPr lang="zh-CN" altLang="en-US" sz="20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抽象数据类型名</a:t>
            </a:r>
            <a:endParaRPr lang="en-US" altLang="zh-CN" sz="2000" dirty="0">
              <a:solidFill>
                <a:schemeClr val="accent1"/>
              </a:solidFill>
              <a:latin typeface="百度综艺简体" panose="02010601030101010101" charset="-122"/>
              <a:ea typeface="百度综艺简体" panose="02010601030101010101" charset="-122"/>
            </a:endParaRPr>
          </a:p>
        </p:txBody>
      </p:sp>
      <p:sp>
        <p:nvSpPr>
          <p:cNvPr id="28" name="Text Placeholder 11"/>
          <p:cNvSpPr txBox="1"/>
          <p:nvPr/>
        </p:nvSpPr>
        <p:spPr>
          <a:xfrm>
            <a:off x="2302510" y="241067"/>
            <a:ext cx="280543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1800" dirty="0" smtClean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基本概念和术语</a:t>
            </a:r>
            <a:endParaRPr lang="zh-CN" sz="1800" dirty="0">
              <a:solidFill>
                <a:schemeClr val="accent2"/>
              </a:solidFill>
              <a:latin typeface="百度综艺简体" panose="02010601030101010101" charset="-122"/>
              <a:ea typeface="百度综艺简体" panose="02010601030101010101" charset="-122"/>
              <a:sym typeface="Arial" panose="020B0604020202020204" pitchFamily="34" charset="0"/>
            </a:endParaRPr>
          </a:p>
        </p:txBody>
      </p:sp>
      <p:grpSp>
        <p:nvGrpSpPr>
          <p:cNvPr id="30" name="组合 29"/>
          <p:cNvGrpSpPr/>
          <p:nvPr/>
        </p:nvGrpSpPr>
        <p:grpSpPr>
          <a:xfrm>
            <a:off x="2134235" y="483235"/>
            <a:ext cx="7002145" cy="109220"/>
            <a:chOff x="2140585" y="362585"/>
            <a:chExt cx="7002145" cy="109220"/>
          </a:xfrm>
        </p:grpSpPr>
        <p:cxnSp>
          <p:nvCxnSpPr>
            <p:cNvPr id="32" name="直接连接符 31"/>
            <p:cNvCxnSpPr/>
            <p:nvPr/>
          </p:nvCxnSpPr>
          <p:spPr>
            <a:xfrm>
              <a:off x="2140585" y="417195"/>
              <a:ext cx="6889750" cy="0"/>
            </a:xfrm>
            <a:prstGeom prst="line">
              <a:avLst/>
            </a:prstGeom>
            <a:ln w="22225">
              <a:solidFill>
                <a:srgbClr val="2A5B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椭圆 42"/>
            <p:cNvSpPr/>
            <p:nvPr/>
          </p:nvSpPr>
          <p:spPr>
            <a:xfrm>
              <a:off x="9033510" y="362585"/>
              <a:ext cx="109220" cy="1092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 tmFilter="0,0; .5, 1; 1, 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 tmFilter="0,0; .5, 1; 1, 1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 tmFilter="0,0; .5, 1; 1, 1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 tmFilter="0,0; .5, 1; 1, 1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500" tmFilter="0,0; .5, 1; 1, 1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500" tmFilter="0,0; .5, 1; 1, 1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500" tmFilter="0,0; .5, 1; 1, 1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6" dur="500" tmFilter="0,0; .5, 1; 1, 1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utoUpdateAnimBg="0"/>
      <p:bldP spid="22" grpId="0" bldLvl="0" animBg="1" autoUpdateAnimBg="0"/>
      <p:bldP spid="31" grpId="0"/>
      <p:bldP spid="26" grpId="0" autoUpdateAnimBg="0"/>
      <p:bldP spid="55" grpId="0" autoUpdateAnimBg="0"/>
      <p:bldP spid="18" grpId="0"/>
      <p:bldP spid="23" grpId="0" autoUpdateAnimBg="0"/>
      <p:bldP spid="33" grpId="0" autoUpdateAnimBg="0"/>
      <p:bldP spid="34" grpId="0"/>
      <p:bldP spid="35" grpId="0" autoUpdateAnimBg="0"/>
      <p:bldP spid="36" grpId="0" autoUpdateAnimBg="0"/>
      <p:bldP spid="41" grpId="0" autoUpdateAnimBg="0"/>
      <p:bldP spid="42" grpId="0"/>
      <p:bldP spid="2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>
            <a:cxnSpLocks noChangeShapeType="1"/>
          </p:cNvCxnSpPr>
          <p:nvPr/>
        </p:nvCxnSpPr>
        <p:spPr bwMode="auto">
          <a:xfrm>
            <a:off x="307340" y="537845"/>
            <a:ext cx="882904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</a:ln>
          <a:effectLst/>
        </p:spPr>
      </p:cxnSp>
      <p:sp>
        <p:nvSpPr>
          <p:cNvPr id="16" name="矩形 15"/>
          <p:cNvSpPr/>
          <p:nvPr/>
        </p:nvSpPr>
        <p:spPr>
          <a:xfrm>
            <a:off x="1411" y="5240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800" dirty="0">
              <a:solidFill>
                <a:schemeClr val="accent2"/>
              </a:solidFill>
              <a:effectLst/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19" name="TextBox 5"/>
          <p:cNvSpPr txBox="1">
            <a:spLocks noChangeArrowheads="1"/>
          </p:cNvSpPr>
          <p:nvPr/>
        </p:nvSpPr>
        <p:spPr bwMode="auto">
          <a:xfrm>
            <a:off x="234950" y="203835"/>
            <a:ext cx="206756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《数据结构》</a:t>
            </a: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1412" y="217303"/>
            <a:ext cx="401225" cy="40122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sp>
        <p:nvSpPr>
          <p:cNvPr id="31" name="Text Placeholder 11"/>
          <p:cNvSpPr txBox="1"/>
          <p:nvPr/>
        </p:nvSpPr>
        <p:spPr>
          <a:xfrm>
            <a:off x="1106171" y="815688"/>
            <a:ext cx="3093296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2400" dirty="0" smtClean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抽象数据类型</a:t>
            </a:r>
            <a:endParaRPr lang="zh-CN" sz="2400" dirty="0">
              <a:solidFill>
                <a:schemeClr val="accent1"/>
              </a:solidFill>
              <a:latin typeface="百度综艺简体" panose="02010601030101010101" charset="-122"/>
              <a:ea typeface="百度综艺简体" panose="02010601030101010101" charset="-122"/>
              <a:sym typeface="Arial" panose="020B0604020202020204" pitchFamily="34" charset="0"/>
            </a:endParaRPr>
          </a:p>
        </p:txBody>
      </p:sp>
      <p:sp>
        <p:nvSpPr>
          <p:cNvPr id="26" name="TextBox 5"/>
          <p:cNvSpPr txBox="1">
            <a:spLocks noChangeArrowheads="1"/>
          </p:cNvSpPr>
          <p:nvPr/>
        </p:nvSpPr>
        <p:spPr bwMode="auto">
          <a:xfrm>
            <a:off x="3976241" y="1669636"/>
            <a:ext cx="3934124" cy="116044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基本操作名（参数表）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          初始条件：</a:t>
            </a:r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〈</a:t>
            </a: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初始条件描述</a:t>
            </a:r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〉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          </a:t>
            </a: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操作结果：</a:t>
            </a:r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〈</a:t>
            </a: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操作结果描述</a:t>
            </a:r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〉</a:t>
            </a:r>
          </a:p>
        </p:txBody>
      </p:sp>
      <p:sp>
        <p:nvSpPr>
          <p:cNvPr id="37" name="AutoShape 3"/>
          <p:cNvSpPr>
            <a:spLocks noChangeAspect="1" noChangeArrowheads="1" noTextEdit="1"/>
          </p:cNvSpPr>
          <p:nvPr/>
        </p:nvSpPr>
        <p:spPr bwMode="auto">
          <a:xfrm>
            <a:off x="557288" y="744733"/>
            <a:ext cx="542665" cy="54122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endParaRPr lang="zh-CN" altLang="en-US" sz="1800"/>
          </a:p>
        </p:txBody>
      </p:sp>
      <p:sp>
        <p:nvSpPr>
          <p:cNvPr id="55" name="TextBox 5"/>
          <p:cNvSpPr txBox="1">
            <a:spLocks noChangeArrowheads="1"/>
          </p:cNvSpPr>
          <p:nvPr/>
        </p:nvSpPr>
        <p:spPr bwMode="auto">
          <a:xfrm>
            <a:off x="1145038" y="1317541"/>
            <a:ext cx="4984829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百度综艺简体" panose="02010601030101010101" charset="-122"/>
                <a:ea typeface="百度综艺简体" panose="02010601030101010101" charset="-122"/>
              </a:rPr>
              <a:t>基本操作定义如下：</a:t>
            </a:r>
          </a:p>
        </p:txBody>
      </p:sp>
      <p:sp>
        <p:nvSpPr>
          <p:cNvPr id="18" name="Text Placeholder 11"/>
          <p:cNvSpPr txBox="1"/>
          <p:nvPr/>
        </p:nvSpPr>
        <p:spPr>
          <a:xfrm>
            <a:off x="1161972" y="1722660"/>
            <a:ext cx="362077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20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基本操作的定义格式为</a:t>
            </a:r>
            <a:endParaRPr lang="zh-CN" sz="2000" dirty="0">
              <a:solidFill>
                <a:schemeClr val="accent1"/>
              </a:solidFill>
              <a:latin typeface="百度综艺简体" panose="02010601030101010101" charset="-122"/>
              <a:ea typeface="百度综艺简体" panose="02010601030101010101" charset="-122"/>
              <a:sym typeface="Arial" panose="020B0604020202020204" pitchFamily="34" charset="0"/>
            </a:endParaRPr>
          </a:p>
        </p:txBody>
      </p:sp>
      <p:sp>
        <p:nvSpPr>
          <p:cNvPr id="29" name="TextBox 5"/>
          <p:cNvSpPr txBox="1">
            <a:spLocks noChangeArrowheads="1"/>
          </p:cNvSpPr>
          <p:nvPr/>
        </p:nvSpPr>
        <p:spPr bwMode="auto">
          <a:xfrm>
            <a:off x="998402" y="2783612"/>
            <a:ext cx="7381034" cy="83099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zh-CN" altLang="en-US" sz="1600" dirty="0" smtClean="0">
                <a:latin typeface="百度综艺简体" panose="02010601030101010101" charset="-122"/>
                <a:ea typeface="百度综艺简体" panose="02010601030101010101" charset="-122"/>
              </a:rPr>
              <a:t>        基本</a:t>
            </a: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操作有</a:t>
            </a:r>
            <a:r>
              <a:rPr lang="zh-CN" altLang="en-US" sz="1600" dirty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两种参数</a:t>
            </a: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：</a:t>
            </a:r>
            <a:r>
              <a:rPr lang="zh-CN" altLang="en-US" sz="1600" dirty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赋值参数</a:t>
            </a: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只为操作提供输入值；</a:t>
            </a:r>
            <a:r>
              <a:rPr lang="zh-CN" altLang="en-US" sz="1600" dirty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引用参数以</a:t>
            </a:r>
            <a:r>
              <a:rPr lang="en-US" altLang="zh-CN" sz="1600" dirty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&amp;</a:t>
            </a:r>
            <a:r>
              <a:rPr lang="zh-CN" altLang="en-US" sz="1600" dirty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打头</a:t>
            </a: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， 除可提供输入值外，还将返回操作结果。</a:t>
            </a:r>
          </a:p>
        </p:txBody>
      </p:sp>
      <p:sp>
        <p:nvSpPr>
          <p:cNvPr id="30" name="TextBox 5"/>
          <p:cNvSpPr txBox="1">
            <a:spLocks noChangeArrowheads="1"/>
          </p:cNvSpPr>
          <p:nvPr/>
        </p:nvSpPr>
        <p:spPr bwMode="auto">
          <a:xfrm>
            <a:off x="998402" y="3494755"/>
            <a:ext cx="7381034" cy="79111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zh-CN" altLang="en-US" sz="1600" dirty="0" smtClean="0">
                <a:latin typeface="百度综艺简体" panose="02010601030101010101" charset="-122"/>
                <a:ea typeface="百度综艺简体" panose="02010601030101010101" charset="-122"/>
              </a:rPr>
              <a:t>      </a:t>
            </a:r>
            <a:r>
              <a:rPr lang="zh-CN" altLang="en-US" sz="1600" dirty="0" smtClean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“初始条件”</a:t>
            </a: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描述了操作执行之前数据结构和参数应满足的条件，若不满足，则操作失败，并返回相应出错信息。</a:t>
            </a:r>
          </a:p>
        </p:txBody>
      </p:sp>
      <p:sp>
        <p:nvSpPr>
          <p:cNvPr id="32" name="TextBox 5"/>
          <p:cNvSpPr txBox="1">
            <a:spLocks noChangeArrowheads="1"/>
          </p:cNvSpPr>
          <p:nvPr/>
        </p:nvSpPr>
        <p:spPr bwMode="auto">
          <a:xfrm>
            <a:off x="1049710" y="4205898"/>
            <a:ext cx="7381034" cy="79111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zh-CN" altLang="en-US" sz="1600" dirty="0" smtClean="0">
                <a:latin typeface="百度综艺简体" panose="02010601030101010101" charset="-122"/>
                <a:ea typeface="百度综艺简体" panose="02010601030101010101" charset="-122"/>
              </a:rPr>
              <a:t>     </a:t>
            </a:r>
            <a:r>
              <a:rPr lang="zh-CN" altLang="en-US" sz="1600" dirty="0" smtClean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“操作结果”</a:t>
            </a: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说明了操作正常完成之后，数据结构的变化状况和应返回的结果。若初始条件为空，则省略之。</a:t>
            </a:r>
          </a:p>
        </p:txBody>
      </p:sp>
      <p:sp>
        <p:nvSpPr>
          <p:cNvPr id="20" name="Text Placeholder 11"/>
          <p:cNvSpPr txBox="1"/>
          <p:nvPr/>
        </p:nvSpPr>
        <p:spPr>
          <a:xfrm>
            <a:off x="2302510" y="241067"/>
            <a:ext cx="280543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1800" dirty="0" smtClean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基本概念和术语</a:t>
            </a:r>
            <a:endParaRPr lang="zh-CN" sz="1800" dirty="0">
              <a:solidFill>
                <a:schemeClr val="accent2"/>
              </a:solidFill>
              <a:latin typeface="百度综艺简体" panose="02010601030101010101" charset="-122"/>
              <a:ea typeface="百度综艺简体" panose="02010601030101010101" charset="-122"/>
              <a:sym typeface="Arial" panose="020B0604020202020204" pitchFamily="34" charset="0"/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2134235" y="483235"/>
            <a:ext cx="7002145" cy="109220"/>
            <a:chOff x="2140585" y="362585"/>
            <a:chExt cx="7002145" cy="109220"/>
          </a:xfrm>
        </p:grpSpPr>
        <p:cxnSp>
          <p:nvCxnSpPr>
            <p:cNvPr id="24" name="直接连接符 23"/>
            <p:cNvCxnSpPr/>
            <p:nvPr/>
          </p:nvCxnSpPr>
          <p:spPr>
            <a:xfrm>
              <a:off x="2140585" y="417195"/>
              <a:ext cx="6889750" cy="0"/>
            </a:xfrm>
            <a:prstGeom prst="line">
              <a:avLst/>
            </a:prstGeom>
            <a:ln w="22225">
              <a:solidFill>
                <a:srgbClr val="2A5B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椭圆 27"/>
            <p:cNvSpPr/>
            <p:nvPr/>
          </p:nvSpPr>
          <p:spPr>
            <a:xfrm>
              <a:off x="9033510" y="362585"/>
              <a:ext cx="109220" cy="1092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 tmFilter="0,0; .5, 1; 1, 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 tmFilter="0,0; .5, 1; 1, 1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 tmFilter="0,0; .5, 1; 1, 1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 tmFilter="0,0; .5, 1; 1, 1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500" tmFilter="0,0; .5, 1; 1, 1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500" tmFilter="0,0; .5, 1; 1, 1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utoUpdateAnimBg="0"/>
      <p:bldP spid="22" grpId="0" bldLvl="0" animBg="1" autoUpdateAnimBg="0"/>
      <p:bldP spid="31" grpId="0"/>
      <p:bldP spid="26" grpId="0" autoUpdateAnimBg="0"/>
      <p:bldP spid="55" grpId="0" autoUpdateAnimBg="0"/>
      <p:bldP spid="18" grpId="0"/>
      <p:bldP spid="29" grpId="0" autoUpdateAnimBg="0"/>
      <p:bldP spid="30" grpId="0" autoUpdateAnimBg="0"/>
      <p:bldP spid="32" grpId="0" autoUpdateAnimBg="0"/>
      <p:bldP spid="2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>
            <a:cxnSpLocks noChangeShapeType="1"/>
          </p:cNvCxnSpPr>
          <p:nvPr/>
        </p:nvCxnSpPr>
        <p:spPr bwMode="auto">
          <a:xfrm>
            <a:off x="307340" y="537845"/>
            <a:ext cx="882904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</a:ln>
          <a:effectLst/>
        </p:spPr>
      </p:cxnSp>
      <p:sp>
        <p:nvSpPr>
          <p:cNvPr id="16" name="矩形 15"/>
          <p:cNvSpPr/>
          <p:nvPr/>
        </p:nvSpPr>
        <p:spPr>
          <a:xfrm>
            <a:off x="1411" y="5240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800" dirty="0">
              <a:solidFill>
                <a:schemeClr val="accent2"/>
              </a:solidFill>
              <a:effectLst/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19" name="TextBox 5"/>
          <p:cNvSpPr txBox="1">
            <a:spLocks noChangeArrowheads="1"/>
          </p:cNvSpPr>
          <p:nvPr/>
        </p:nvSpPr>
        <p:spPr bwMode="auto">
          <a:xfrm>
            <a:off x="234950" y="203835"/>
            <a:ext cx="206756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《数据结构》</a:t>
            </a: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1412" y="217303"/>
            <a:ext cx="401225" cy="40122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sp>
        <p:nvSpPr>
          <p:cNvPr id="31" name="Text Placeholder 11"/>
          <p:cNvSpPr txBox="1"/>
          <p:nvPr/>
        </p:nvSpPr>
        <p:spPr>
          <a:xfrm>
            <a:off x="1106171" y="815688"/>
            <a:ext cx="3093296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2400" dirty="0" smtClean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抽象数据类型</a:t>
            </a:r>
            <a:endParaRPr lang="zh-CN" sz="2400" dirty="0">
              <a:solidFill>
                <a:schemeClr val="accent1"/>
              </a:solidFill>
              <a:latin typeface="百度综艺简体" panose="02010601030101010101" charset="-122"/>
              <a:ea typeface="百度综艺简体" panose="02010601030101010101" charset="-122"/>
              <a:sym typeface="Arial" panose="020B0604020202020204" pitchFamily="34" charset="0"/>
            </a:endParaRPr>
          </a:p>
        </p:txBody>
      </p:sp>
      <p:sp>
        <p:nvSpPr>
          <p:cNvPr id="37" name="AutoShape 3"/>
          <p:cNvSpPr>
            <a:spLocks noChangeAspect="1" noChangeArrowheads="1" noTextEdit="1"/>
          </p:cNvSpPr>
          <p:nvPr/>
        </p:nvSpPr>
        <p:spPr bwMode="auto">
          <a:xfrm>
            <a:off x="557288" y="744733"/>
            <a:ext cx="542665" cy="54122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endParaRPr lang="zh-CN" altLang="en-US" sz="1800"/>
          </a:p>
        </p:txBody>
      </p:sp>
      <p:sp>
        <p:nvSpPr>
          <p:cNvPr id="55" name="TextBox 5"/>
          <p:cNvSpPr txBox="1">
            <a:spLocks noChangeArrowheads="1"/>
          </p:cNvSpPr>
          <p:nvPr/>
        </p:nvSpPr>
        <p:spPr bwMode="auto">
          <a:xfrm>
            <a:off x="1647324" y="1386983"/>
            <a:ext cx="4984829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342900" indent="-342900" defTabSz="911225">
              <a:spcBef>
                <a:spcPct val="20000"/>
              </a:spcBef>
            </a:pPr>
            <a:r>
              <a:rPr lang="zh-CN" altLang="en-US" sz="2000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</a:rPr>
              <a:t>例一 抽象数据类型复数的定义：</a:t>
            </a:r>
          </a:p>
        </p:txBody>
      </p:sp>
      <p:sp>
        <p:nvSpPr>
          <p:cNvPr id="41" name="Text Placeholder 11"/>
          <p:cNvSpPr txBox="1"/>
          <p:nvPr/>
        </p:nvSpPr>
        <p:spPr>
          <a:xfrm>
            <a:off x="1647324" y="1871588"/>
            <a:ext cx="362077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lnSpc>
                <a:spcPct val="80000"/>
              </a:lnSpc>
              <a:buNone/>
            </a:pPr>
            <a:r>
              <a:rPr lang="en-US" altLang="zh-CN" sz="20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ADT </a:t>
            </a:r>
            <a:r>
              <a:rPr lang="en-US" altLang="zh-CN" sz="2000" dirty="0" smtClean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Complex</a:t>
            </a:r>
            <a:r>
              <a:rPr lang="zh-CN" altLang="en-US" sz="2000" dirty="0" smtClean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 </a:t>
            </a:r>
            <a:r>
              <a:rPr lang="en-US" altLang="zh-CN" sz="20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{</a:t>
            </a:r>
          </a:p>
        </p:txBody>
      </p:sp>
      <p:sp>
        <p:nvSpPr>
          <p:cNvPr id="42" name="TextBox 5"/>
          <p:cNvSpPr txBox="1">
            <a:spLocks noChangeArrowheads="1"/>
          </p:cNvSpPr>
          <p:nvPr/>
        </p:nvSpPr>
        <p:spPr bwMode="auto">
          <a:xfrm>
            <a:off x="1997711" y="2153719"/>
            <a:ext cx="5283623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数据对象：</a:t>
            </a:r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D</a:t>
            </a: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＝</a:t>
            </a:r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{e1,e2</a:t>
            </a: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｜</a:t>
            </a:r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e1,e2∈RealSet  }</a:t>
            </a:r>
            <a:endParaRPr lang="zh-CN" altLang="en-US" sz="1600" dirty="0"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43" name="TextBox 5"/>
          <p:cNvSpPr txBox="1">
            <a:spLocks noChangeArrowheads="1"/>
          </p:cNvSpPr>
          <p:nvPr/>
        </p:nvSpPr>
        <p:spPr bwMode="auto">
          <a:xfrm>
            <a:off x="1997711" y="2507414"/>
            <a:ext cx="7026274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数据关系：</a:t>
            </a:r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R1</a:t>
            </a: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＝</a:t>
            </a:r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{&lt;e1,e2&gt; | e1</a:t>
            </a: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是复数的实数部分</a:t>
            </a:r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,e2 </a:t>
            </a: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是</a:t>
            </a:r>
            <a:r>
              <a:rPr lang="zh-CN" altLang="en-US" sz="1600" dirty="0" smtClean="0">
                <a:latin typeface="百度综艺简体" panose="02010601030101010101" charset="-122"/>
                <a:ea typeface="百度综艺简体" panose="02010601030101010101" charset="-122"/>
              </a:rPr>
              <a:t>复数的</a:t>
            </a: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虚数部分 </a:t>
            </a:r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}</a:t>
            </a:r>
            <a:endParaRPr lang="zh-CN" altLang="en-US" sz="1600" dirty="0"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45" name="TextBox 5"/>
          <p:cNvSpPr txBox="1">
            <a:spLocks noChangeArrowheads="1"/>
          </p:cNvSpPr>
          <p:nvPr/>
        </p:nvSpPr>
        <p:spPr bwMode="auto">
          <a:xfrm>
            <a:off x="1997711" y="3298231"/>
            <a:ext cx="5283623" cy="42364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基本操作：</a:t>
            </a:r>
            <a:endParaRPr lang="zh-CN" altLang="en-US" sz="1600" dirty="0">
              <a:solidFill>
                <a:srgbClr val="FF0000"/>
              </a:solidFill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46" name="TextBox 5"/>
          <p:cNvSpPr txBox="1">
            <a:spLocks noChangeArrowheads="1"/>
          </p:cNvSpPr>
          <p:nvPr/>
        </p:nvSpPr>
        <p:spPr bwMode="auto">
          <a:xfrm>
            <a:off x="2158717" y="3695408"/>
            <a:ext cx="6541418" cy="107721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1600" dirty="0" err="1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InitComplex</a:t>
            </a:r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( &amp;Z, v1, v2 )</a:t>
            </a:r>
          </a:p>
          <a:p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       </a:t>
            </a: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操作结果：构造复数</a:t>
            </a:r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Z,</a:t>
            </a: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其实部和虚部分别被赋以参数</a:t>
            </a:r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v1</a:t>
            </a: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和</a:t>
            </a:r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v2</a:t>
            </a: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的值。</a:t>
            </a:r>
          </a:p>
          <a:p>
            <a:r>
              <a:rPr lang="en-US" altLang="zh-CN" sz="1600" dirty="0" err="1" smtClean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DestroyComplex</a:t>
            </a:r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( &amp;Z)</a:t>
            </a:r>
          </a:p>
          <a:p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       </a:t>
            </a: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操作结果：复数</a:t>
            </a:r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Z</a:t>
            </a: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被销毁。</a:t>
            </a:r>
            <a:endParaRPr lang="zh-CN" altLang="en-US" sz="1600" dirty="0"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grpSp>
        <p:nvGrpSpPr>
          <p:cNvPr id="48" name="Group 15"/>
          <p:cNvGrpSpPr/>
          <p:nvPr/>
        </p:nvGrpSpPr>
        <p:grpSpPr>
          <a:xfrm>
            <a:off x="1254186" y="1454372"/>
            <a:ext cx="260331" cy="258820"/>
            <a:chOff x="2306360" y="1306978"/>
            <a:chExt cx="434268" cy="431771"/>
          </a:xfrm>
          <a:solidFill>
            <a:schemeClr val="bg1"/>
          </a:solidFill>
        </p:grpSpPr>
        <p:sp>
          <p:nvSpPr>
            <p:cNvPr id="49" name="Freeform 8"/>
            <p:cNvSpPr/>
            <p:nvPr/>
          </p:nvSpPr>
          <p:spPr bwMode="auto">
            <a:xfrm>
              <a:off x="2306360" y="1623943"/>
              <a:ext cx="114806" cy="114806"/>
            </a:xfrm>
            <a:custGeom>
              <a:avLst/>
              <a:gdLst>
                <a:gd name="T0" fmla="*/ 21 w 46"/>
                <a:gd name="T1" fmla="*/ 0 h 46"/>
                <a:gd name="T2" fmla="*/ 0 w 46"/>
                <a:gd name="T3" fmla="*/ 46 h 46"/>
                <a:gd name="T4" fmla="*/ 46 w 46"/>
                <a:gd name="T5" fmla="*/ 25 h 46"/>
                <a:gd name="T6" fmla="*/ 46 w 46"/>
                <a:gd name="T7" fmla="*/ 26 h 46"/>
                <a:gd name="T8" fmla="*/ 21 w 46"/>
                <a:gd name="T9" fmla="*/ 0 h 46"/>
                <a:gd name="T10" fmla="*/ 21 w 46"/>
                <a:gd name="T11" fmla="*/ 0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6" h="46">
                  <a:moveTo>
                    <a:pt x="21" y="0"/>
                  </a:moveTo>
                  <a:lnTo>
                    <a:pt x="0" y="46"/>
                  </a:lnTo>
                  <a:lnTo>
                    <a:pt x="46" y="25"/>
                  </a:lnTo>
                  <a:lnTo>
                    <a:pt x="46" y="26"/>
                  </a:lnTo>
                  <a:lnTo>
                    <a:pt x="21" y="0"/>
                  </a:lnTo>
                  <a:lnTo>
                    <a:pt x="21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384" tIns="45692" rIns="91384" bIns="45692" numCol="1" anchor="t" anchorCtr="0" compatLnSpc="1"/>
            <a:lstStyle/>
            <a:p>
              <a:endParaRPr lang="en-US" sz="1800"/>
            </a:p>
          </p:txBody>
        </p:sp>
        <p:sp>
          <p:nvSpPr>
            <p:cNvPr id="50" name="Freeform 9"/>
            <p:cNvSpPr/>
            <p:nvPr/>
          </p:nvSpPr>
          <p:spPr bwMode="auto">
            <a:xfrm>
              <a:off x="2371251" y="1344415"/>
              <a:ext cx="289511" cy="292007"/>
            </a:xfrm>
            <a:custGeom>
              <a:avLst/>
              <a:gdLst>
                <a:gd name="T0" fmla="*/ 105 w 116"/>
                <a:gd name="T1" fmla="*/ 0 h 117"/>
                <a:gd name="T2" fmla="*/ 0 w 116"/>
                <a:gd name="T3" fmla="*/ 106 h 117"/>
                <a:gd name="T4" fmla="*/ 11 w 116"/>
                <a:gd name="T5" fmla="*/ 117 h 117"/>
                <a:gd name="T6" fmla="*/ 116 w 116"/>
                <a:gd name="T7" fmla="*/ 10 h 117"/>
                <a:gd name="T8" fmla="*/ 105 w 116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6" h="117">
                  <a:moveTo>
                    <a:pt x="105" y="0"/>
                  </a:moveTo>
                  <a:lnTo>
                    <a:pt x="0" y="106"/>
                  </a:lnTo>
                  <a:lnTo>
                    <a:pt x="11" y="117"/>
                  </a:lnTo>
                  <a:lnTo>
                    <a:pt x="116" y="10"/>
                  </a:lnTo>
                  <a:lnTo>
                    <a:pt x="10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384" tIns="45692" rIns="91384" bIns="45692" numCol="1" anchor="t" anchorCtr="0" compatLnSpc="1"/>
            <a:lstStyle/>
            <a:p>
              <a:endParaRPr lang="en-US" sz="1800"/>
            </a:p>
          </p:txBody>
        </p:sp>
        <p:sp>
          <p:nvSpPr>
            <p:cNvPr id="51" name="Freeform 10"/>
            <p:cNvSpPr/>
            <p:nvPr/>
          </p:nvSpPr>
          <p:spPr bwMode="auto">
            <a:xfrm>
              <a:off x="2411183" y="1384348"/>
              <a:ext cx="289511" cy="292007"/>
            </a:xfrm>
            <a:custGeom>
              <a:avLst/>
              <a:gdLst>
                <a:gd name="T0" fmla="*/ 107 w 116"/>
                <a:gd name="T1" fmla="*/ 0 h 117"/>
                <a:gd name="T2" fmla="*/ 0 w 116"/>
                <a:gd name="T3" fmla="*/ 106 h 117"/>
                <a:gd name="T4" fmla="*/ 11 w 116"/>
                <a:gd name="T5" fmla="*/ 117 h 117"/>
                <a:gd name="T6" fmla="*/ 116 w 116"/>
                <a:gd name="T7" fmla="*/ 10 h 117"/>
                <a:gd name="T8" fmla="*/ 107 w 116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6" h="117">
                  <a:moveTo>
                    <a:pt x="107" y="0"/>
                  </a:moveTo>
                  <a:lnTo>
                    <a:pt x="0" y="106"/>
                  </a:lnTo>
                  <a:lnTo>
                    <a:pt x="11" y="117"/>
                  </a:lnTo>
                  <a:lnTo>
                    <a:pt x="116" y="10"/>
                  </a:lnTo>
                  <a:lnTo>
                    <a:pt x="10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384" tIns="45692" rIns="91384" bIns="45692" numCol="1" anchor="t" anchorCtr="0" compatLnSpc="1"/>
            <a:lstStyle/>
            <a:p>
              <a:endParaRPr lang="en-US" sz="1800"/>
            </a:p>
          </p:txBody>
        </p:sp>
        <p:sp>
          <p:nvSpPr>
            <p:cNvPr id="52" name="Freeform 11"/>
            <p:cNvSpPr/>
            <p:nvPr/>
          </p:nvSpPr>
          <p:spPr bwMode="auto">
            <a:xfrm>
              <a:off x="2653275" y="1306978"/>
              <a:ext cx="87353" cy="87353"/>
            </a:xfrm>
            <a:custGeom>
              <a:avLst/>
              <a:gdLst>
                <a:gd name="T0" fmla="*/ 17 w 26"/>
                <a:gd name="T1" fmla="*/ 8 h 26"/>
                <a:gd name="T2" fmla="*/ 0 w 26"/>
                <a:gd name="T3" fmla="*/ 7 h 26"/>
                <a:gd name="T4" fmla="*/ 19 w 26"/>
                <a:gd name="T5" fmla="*/ 26 h 26"/>
                <a:gd name="T6" fmla="*/ 17 w 26"/>
                <a:gd name="T7" fmla="*/ 8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" h="26">
                  <a:moveTo>
                    <a:pt x="17" y="8"/>
                  </a:moveTo>
                  <a:cubicBezTo>
                    <a:pt x="9" y="0"/>
                    <a:pt x="0" y="7"/>
                    <a:pt x="0" y="7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9" y="26"/>
                    <a:pt x="26" y="17"/>
                    <a:pt x="17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384" tIns="45692" rIns="91384" bIns="45692" numCol="1" anchor="t" anchorCtr="0" compatLnSpc="1"/>
            <a:lstStyle/>
            <a:p>
              <a:endParaRPr lang="en-US" sz="1800"/>
            </a:p>
          </p:txBody>
        </p:sp>
      </p:grpSp>
      <p:grpSp>
        <p:nvGrpSpPr>
          <p:cNvPr id="53" name="组合 52"/>
          <p:cNvGrpSpPr/>
          <p:nvPr/>
        </p:nvGrpSpPr>
        <p:grpSpPr>
          <a:xfrm>
            <a:off x="1166060" y="1328883"/>
            <a:ext cx="479188" cy="479188"/>
            <a:chOff x="697853" y="426488"/>
            <a:chExt cx="589535" cy="589535"/>
          </a:xfrm>
        </p:grpSpPr>
        <p:sp>
          <p:nvSpPr>
            <p:cNvPr id="54" name="椭圆 53"/>
            <p:cNvSpPr/>
            <p:nvPr/>
          </p:nvSpPr>
          <p:spPr>
            <a:xfrm>
              <a:off x="697853" y="426488"/>
              <a:ext cx="589535" cy="58953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56" name="椭圆 4"/>
            <p:cNvSpPr/>
            <p:nvPr/>
          </p:nvSpPr>
          <p:spPr>
            <a:xfrm>
              <a:off x="782818" y="520813"/>
              <a:ext cx="410245" cy="41024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30480" tIns="30480" rIns="30480" bIns="30480" numCol="1" spcCol="1270" anchor="ctr" anchorCtr="0">
              <a:noAutofit/>
            </a:bodyPr>
            <a:lstStyle/>
            <a:p>
              <a:pPr lvl="0"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2400" kern="12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57" name="Group 15"/>
          <p:cNvGrpSpPr/>
          <p:nvPr/>
        </p:nvGrpSpPr>
        <p:grpSpPr>
          <a:xfrm>
            <a:off x="1293086" y="1454372"/>
            <a:ext cx="260331" cy="258820"/>
            <a:chOff x="2306360" y="1306978"/>
            <a:chExt cx="434268" cy="431771"/>
          </a:xfrm>
          <a:solidFill>
            <a:schemeClr val="bg1"/>
          </a:solidFill>
        </p:grpSpPr>
        <p:sp>
          <p:nvSpPr>
            <p:cNvPr id="58" name="Freeform 8"/>
            <p:cNvSpPr/>
            <p:nvPr/>
          </p:nvSpPr>
          <p:spPr bwMode="auto">
            <a:xfrm>
              <a:off x="2306360" y="1623943"/>
              <a:ext cx="114806" cy="114806"/>
            </a:xfrm>
            <a:custGeom>
              <a:avLst/>
              <a:gdLst>
                <a:gd name="T0" fmla="*/ 21 w 46"/>
                <a:gd name="T1" fmla="*/ 0 h 46"/>
                <a:gd name="T2" fmla="*/ 0 w 46"/>
                <a:gd name="T3" fmla="*/ 46 h 46"/>
                <a:gd name="T4" fmla="*/ 46 w 46"/>
                <a:gd name="T5" fmla="*/ 25 h 46"/>
                <a:gd name="T6" fmla="*/ 46 w 46"/>
                <a:gd name="T7" fmla="*/ 26 h 46"/>
                <a:gd name="T8" fmla="*/ 21 w 46"/>
                <a:gd name="T9" fmla="*/ 0 h 46"/>
                <a:gd name="T10" fmla="*/ 21 w 46"/>
                <a:gd name="T11" fmla="*/ 0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6" h="46">
                  <a:moveTo>
                    <a:pt x="21" y="0"/>
                  </a:moveTo>
                  <a:lnTo>
                    <a:pt x="0" y="46"/>
                  </a:lnTo>
                  <a:lnTo>
                    <a:pt x="46" y="25"/>
                  </a:lnTo>
                  <a:lnTo>
                    <a:pt x="46" y="26"/>
                  </a:lnTo>
                  <a:lnTo>
                    <a:pt x="21" y="0"/>
                  </a:lnTo>
                  <a:lnTo>
                    <a:pt x="21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384" tIns="45692" rIns="91384" bIns="45692" numCol="1" anchor="t" anchorCtr="0" compatLnSpc="1"/>
            <a:lstStyle/>
            <a:p>
              <a:endParaRPr lang="en-US" sz="1800"/>
            </a:p>
          </p:txBody>
        </p:sp>
        <p:sp>
          <p:nvSpPr>
            <p:cNvPr id="59" name="Freeform 9"/>
            <p:cNvSpPr/>
            <p:nvPr/>
          </p:nvSpPr>
          <p:spPr bwMode="auto">
            <a:xfrm>
              <a:off x="2371251" y="1344415"/>
              <a:ext cx="289511" cy="292007"/>
            </a:xfrm>
            <a:custGeom>
              <a:avLst/>
              <a:gdLst>
                <a:gd name="T0" fmla="*/ 105 w 116"/>
                <a:gd name="T1" fmla="*/ 0 h 117"/>
                <a:gd name="T2" fmla="*/ 0 w 116"/>
                <a:gd name="T3" fmla="*/ 106 h 117"/>
                <a:gd name="T4" fmla="*/ 11 w 116"/>
                <a:gd name="T5" fmla="*/ 117 h 117"/>
                <a:gd name="T6" fmla="*/ 116 w 116"/>
                <a:gd name="T7" fmla="*/ 10 h 117"/>
                <a:gd name="T8" fmla="*/ 105 w 116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6" h="117">
                  <a:moveTo>
                    <a:pt x="105" y="0"/>
                  </a:moveTo>
                  <a:lnTo>
                    <a:pt x="0" y="106"/>
                  </a:lnTo>
                  <a:lnTo>
                    <a:pt x="11" y="117"/>
                  </a:lnTo>
                  <a:lnTo>
                    <a:pt x="116" y="10"/>
                  </a:lnTo>
                  <a:lnTo>
                    <a:pt x="10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384" tIns="45692" rIns="91384" bIns="45692" numCol="1" anchor="t" anchorCtr="0" compatLnSpc="1"/>
            <a:lstStyle/>
            <a:p>
              <a:endParaRPr lang="en-US" sz="1800"/>
            </a:p>
          </p:txBody>
        </p:sp>
        <p:sp>
          <p:nvSpPr>
            <p:cNvPr id="60" name="Freeform 10"/>
            <p:cNvSpPr/>
            <p:nvPr/>
          </p:nvSpPr>
          <p:spPr bwMode="auto">
            <a:xfrm>
              <a:off x="2411183" y="1384348"/>
              <a:ext cx="289511" cy="292007"/>
            </a:xfrm>
            <a:custGeom>
              <a:avLst/>
              <a:gdLst>
                <a:gd name="T0" fmla="*/ 107 w 116"/>
                <a:gd name="T1" fmla="*/ 0 h 117"/>
                <a:gd name="T2" fmla="*/ 0 w 116"/>
                <a:gd name="T3" fmla="*/ 106 h 117"/>
                <a:gd name="T4" fmla="*/ 11 w 116"/>
                <a:gd name="T5" fmla="*/ 117 h 117"/>
                <a:gd name="T6" fmla="*/ 116 w 116"/>
                <a:gd name="T7" fmla="*/ 10 h 117"/>
                <a:gd name="T8" fmla="*/ 107 w 116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6" h="117">
                  <a:moveTo>
                    <a:pt x="107" y="0"/>
                  </a:moveTo>
                  <a:lnTo>
                    <a:pt x="0" y="106"/>
                  </a:lnTo>
                  <a:lnTo>
                    <a:pt x="11" y="117"/>
                  </a:lnTo>
                  <a:lnTo>
                    <a:pt x="116" y="10"/>
                  </a:lnTo>
                  <a:lnTo>
                    <a:pt x="10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384" tIns="45692" rIns="91384" bIns="45692" numCol="1" anchor="t" anchorCtr="0" compatLnSpc="1"/>
            <a:lstStyle/>
            <a:p>
              <a:endParaRPr lang="en-US" sz="1800"/>
            </a:p>
          </p:txBody>
        </p:sp>
        <p:sp>
          <p:nvSpPr>
            <p:cNvPr id="61" name="Freeform 11"/>
            <p:cNvSpPr/>
            <p:nvPr/>
          </p:nvSpPr>
          <p:spPr bwMode="auto">
            <a:xfrm>
              <a:off x="2653275" y="1306978"/>
              <a:ext cx="87353" cy="87353"/>
            </a:xfrm>
            <a:custGeom>
              <a:avLst/>
              <a:gdLst>
                <a:gd name="T0" fmla="*/ 17 w 26"/>
                <a:gd name="T1" fmla="*/ 8 h 26"/>
                <a:gd name="T2" fmla="*/ 0 w 26"/>
                <a:gd name="T3" fmla="*/ 7 h 26"/>
                <a:gd name="T4" fmla="*/ 19 w 26"/>
                <a:gd name="T5" fmla="*/ 26 h 26"/>
                <a:gd name="T6" fmla="*/ 17 w 26"/>
                <a:gd name="T7" fmla="*/ 8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" h="26">
                  <a:moveTo>
                    <a:pt x="17" y="8"/>
                  </a:moveTo>
                  <a:cubicBezTo>
                    <a:pt x="9" y="0"/>
                    <a:pt x="0" y="7"/>
                    <a:pt x="0" y="7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9" y="26"/>
                    <a:pt x="26" y="17"/>
                    <a:pt x="17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384" tIns="45692" rIns="91384" bIns="45692" numCol="1" anchor="t" anchorCtr="0" compatLnSpc="1"/>
            <a:lstStyle/>
            <a:p>
              <a:endParaRPr lang="en-US" sz="1800"/>
            </a:p>
          </p:txBody>
        </p:sp>
      </p:grpSp>
      <p:sp>
        <p:nvSpPr>
          <p:cNvPr id="33" name="Text Placeholder 11"/>
          <p:cNvSpPr txBox="1"/>
          <p:nvPr/>
        </p:nvSpPr>
        <p:spPr>
          <a:xfrm>
            <a:off x="2302510" y="241067"/>
            <a:ext cx="280543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1800" dirty="0" smtClean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基本概念和术语</a:t>
            </a:r>
            <a:endParaRPr lang="zh-CN" sz="1800" dirty="0">
              <a:solidFill>
                <a:schemeClr val="accent2"/>
              </a:solidFill>
              <a:latin typeface="百度综艺简体" panose="02010601030101010101" charset="-122"/>
              <a:ea typeface="百度综艺简体" panose="02010601030101010101" charset="-122"/>
              <a:sym typeface="Arial" panose="020B0604020202020204" pitchFamily="34" charset="0"/>
            </a:endParaRPr>
          </a:p>
        </p:txBody>
      </p:sp>
      <p:grpSp>
        <p:nvGrpSpPr>
          <p:cNvPr id="34" name="组合 33"/>
          <p:cNvGrpSpPr/>
          <p:nvPr/>
        </p:nvGrpSpPr>
        <p:grpSpPr>
          <a:xfrm>
            <a:off x="2134235" y="483235"/>
            <a:ext cx="7002145" cy="109220"/>
            <a:chOff x="2140585" y="362585"/>
            <a:chExt cx="7002145" cy="109220"/>
          </a:xfrm>
        </p:grpSpPr>
        <p:cxnSp>
          <p:nvCxnSpPr>
            <p:cNvPr id="35" name="直接连接符 34"/>
            <p:cNvCxnSpPr/>
            <p:nvPr/>
          </p:nvCxnSpPr>
          <p:spPr>
            <a:xfrm>
              <a:off x="2140585" y="417195"/>
              <a:ext cx="6889750" cy="0"/>
            </a:xfrm>
            <a:prstGeom prst="line">
              <a:avLst/>
            </a:prstGeom>
            <a:ln w="22225">
              <a:solidFill>
                <a:srgbClr val="2A5B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椭圆 35"/>
            <p:cNvSpPr/>
            <p:nvPr/>
          </p:nvSpPr>
          <p:spPr>
            <a:xfrm>
              <a:off x="9033510" y="362585"/>
              <a:ext cx="109220" cy="1092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 tmFilter="0,0; .5, 1; 1, 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000"/>
                            </p:stCondLst>
                            <p:childTnLst>
                              <p:par>
                                <p:cTn id="54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 tmFilter="0,0; .5, 1; 1, 1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 tmFilter="0,0; .5, 1; 1, 1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 tmFilter="0,0; .5, 1; 1, 1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500" tmFilter="0,0; .5, 1; 1, 1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3" dur="500" tmFilter="0,0; .5, 1; 1, 1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utoUpdateAnimBg="0"/>
      <p:bldP spid="22" grpId="0" bldLvl="0" animBg="1" autoUpdateAnimBg="0"/>
      <p:bldP spid="31" grpId="0"/>
      <p:bldP spid="55" grpId="0" autoUpdateAnimBg="0"/>
      <p:bldP spid="41" grpId="0"/>
      <p:bldP spid="42" grpId="0" autoUpdateAnimBg="0"/>
      <p:bldP spid="43" grpId="0" autoUpdateAnimBg="0"/>
      <p:bldP spid="45" grpId="0" autoUpdateAnimBg="0"/>
      <p:bldP spid="46" grpId="0" autoUpdateAnimBg="0"/>
      <p:bldP spid="3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>
            <a:cxnSpLocks noChangeShapeType="1"/>
          </p:cNvCxnSpPr>
          <p:nvPr/>
        </p:nvCxnSpPr>
        <p:spPr bwMode="auto">
          <a:xfrm>
            <a:off x="307340" y="537845"/>
            <a:ext cx="882904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</a:ln>
          <a:effectLst/>
        </p:spPr>
      </p:cxnSp>
      <p:sp>
        <p:nvSpPr>
          <p:cNvPr id="16" name="矩形 15"/>
          <p:cNvSpPr/>
          <p:nvPr/>
        </p:nvSpPr>
        <p:spPr>
          <a:xfrm>
            <a:off x="1411" y="5240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800" dirty="0">
              <a:solidFill>
                <a:schemeClr val="accent2"/>
              </a:solidFill>
              <a:effectLst/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19" name="TextBox 5"/>
          <p:cNvSpPr txBox="1">
            <a:spLocks noChangeArrowheads="1"/>
          </p:cNvSpPr>
          <p:nvPr/>
        </p:nvSpPr>
        <p:spPr bwMode="auto">
          <a:xfrm>
            <a:off x="234950" y="203835"/>
            <a:ext cx="206756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《数据结构》</a:t>
            </a: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1412" y="217303"/>
            <a:ext cx="401225" cy="40122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sp>
        <p:nvSpPr>
          <p:cNvPr id="31" name="Text Placeholder 11"/>
          <p:cNvSpPr txBox="1"/>
          <p:nvPr/>
        </p:nvSpPr>
        <p:spPr>
          <a:xfrm>
            <a:off x="1106171" y="815688"/>
            <a:ext cx="3093296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2400" dirty="0" smtClean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抽象数据类型</a:t>
            </a:r>
            <a:endParaRPr lang="zh-CN" sz="2400" dirty="0">
              <a:solidFill>
                <a:schemeClr val="accent1"/>
              </a:solidFill>
              <a:latin typeface="百度综艺简体" panose="02010601030101010101" charset="-122"/>
              <a:ea typeface="百度综艺简体" panose="02010601030101010101" charset="-122"/>
              <a:sym typeface="Arial" panose="020B0604020202020204" pitchFamily="34" charset="0"/>
            </a:endParaRPr>
          </a:p>
        </p:txBody>
      </p:sp>
      <p:sp>
        <p:nvSpPr>
          <p:cNvPr id="37" name="AutoShape 3"/>
          <p:cNvSpPr>
            <a:spLocks noChangeAspect="1" noChangeArrowheads="1" noTextEdit="1"/>
          </p:cNvSpPr>
          <p:nvPr/>
        </p:nvSpPr>
        <p:spPr bwMode="auto">
          <a:xfrm>
            <a:off x="557288" y="744733"/>
            <a:ext cx="542665" cy="54122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endParaRPr lang="zh-CN" altLang="en-US" sz="1800"/>
          </a:p>
        </p:txBody>
      </p:sp>
      <p:sp>
        <p:nvSpPr>
          <p:cNvPr id="55" name="TextBox 5"/>
          <p:cNvSpPr txBox="1">
            <a:spLocks noChangeArrowheads="1"/>
          </p:cNvSpPr>
          <p:nvPr/>
        </p:nvSpPr>
        <p:spPr bwMode="auto">
          <a:xfrm>
            <a:off x="1647324" y="1386983"/>
            <a:ext cx="4984829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342900" indent="-342900" defTabSz="911225">
              <a:spcBef>
                <a:spcPct val="20000"/>
              </a:spcBef>
            </a:pPr>
            <a:r>
              <a:rPr lang="zh-CN" altLang="en-US" sz="2000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</a:rPr>
              <a:t>例一 抽象数据类型复数的定义：</a:t>
            </a:r>
          </a:p>
        </p:txBody>
      </p:sp>
      <p:grpSp>
        <p:nvGrpSpPr>
          <p:cNvPr id="20" name="组合 19"/>
          <p:cNvGrpSpPr/>
          <p:nvPr/>
        </p:nvGrpSpPr>
        <p:grpSpPr>
          <a:xfrm>
            <a:off x="1127160" y="1328883"/>
            <a:ext cx="479188" cy="479188"/>
            <a:chOff x="697853" y="426488"/>
            <a:chExt cx="589535" cy="589535"/>
          </a:xfrm>
        </p:grpSpPr>
        <p:sp>
          <p:nvSpPr>
            <p:cNvPr id="23" name="椭圆 22"/>
            <p:cNvSpPr/>
            <p:nvPr/>
          </p:nvSpPr>
          <p:spPr>
            <a:xfrm>
              <a:off x="697853" y="426488"/>
              <a:ext cx="589535" cy="58953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4" name="椭圆 4"/>
            <p:cNvSpPr/>
            <p:nvPr/>
          </p:nvSpPr>
          <p:spPr>
            <a:xfrm>
              <a:off x="782818" y="520813"/>
              <a:ext cx="410245" cy="41024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30480" tIns="30480" rIns="30480" bIns="30480" numCol="1" spcCol="1270" anchor="ctr" anchorCtr="0">
              <a:noAutofit/>
            </a:bodyPr>
            <a:lstStyle/>
            <a:p>
              <a:pPr lvl="0"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2400" kern="12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28" name="Group 15"/>
          <p:cNvGrpSpPr/>
          <p:nvPr/>
        </p:nvGrpSpPr>
        <p:grpSpPr>
          <a:xfrm>
            <a:off x="1254186" y="1454372"/>
            <a:ext cx="260331" cy="258820"/>
            <a:chOff x="2306360" y="1306978"/>
            <a:chExt cx="434268" cy="431771"/>
          </a:xfrm>
          <a:solidFill>
            <a:schemeClr val="bg1"/>
          </a:solidFill>
        </p:grpSpPr>
        <p:sp>
          <p:nvSpPr>
            <p:cNvPr id="33" name="Freeform 8"/>
            <p:cNvSpPr/>
            <p:nvPr/>
          </p:nvSpPr>
          <p:spPr bwMode="auto">
            <a:xfrm>
              <a:off x="2306360" y="1623943"/>
              <a:ext cx="114806" cy="114806"/>
            </a:xfrm>
            <a:custGeom>
              <a:avLst/>
              <a:gdLst>
                <a:gd name="T0" fmla="*/ 21 w 46"/>
                <a:gd name="T1" fmla="*/ 0 h 46"/>
                <a:gd name="T2" fmla="*/ 0 w 46"/>
                <a:gd name="T3" fmla="*/ 46 h 46"/>
                <a:gd name="T4" fmla="*/ 46 w 46"/>
                <a:gd name="T5" fmla="*/ 25 h 46"/>
                <a:gd name="T6" fmla="*/ 46 w 46"/>
                <a:gd name="T7" fmla="*/ 26 h 46"/>
                <a:gd name="T8" fmla="*/ 21 w 46"/>
                <a:gd name="T9" fmla="*/ 0 h 46"/>
                <a:gd name="T10" fmla="*/ 21 w 46"/>
                <a:gd name="T11" fmla="*/ 0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6" h="46">
                  <a:moveTo>
                    <a:pt x="21" y="0"/>
                  </a:moveTo>
                  <a:lnTo>
                    <a:pt x="0" y="46"/>
                  </a:lnTo>
                  <a:lnTo>
                    <a:pt x="46" y="25"/>
                  </a:lnTo>
                  <a:lnTo>
                    <a:pt x="46" y="26"/>
                  </a:lnTo>
                  <a:lnTo>
                    <a:pt x="21" y="0"/>
                  </a:lnTo>
                  <a:lnTo>
                    <a:pt x="21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384" tIns="45692" rIns="91384" bIns="45692" numCol="1" anchor="t" anchorCtr="0" compatLnSpc="1"/>
            <a:lstStyle/>
            <a:p>
              <a:endParaRPr lang="en-US" sz="1800"/>
            </a:p>
          </p:txBody>
        </p:sp>
        <p:sp>
          <p:nvSpPr>
            <p:cNvPr id="34" name="Freeform 9"/>
            <p:cNvSpPr/>
            <p:nvPr/>
          </p:nvSpPr>
          <p:spPr bwMode="auto">
            <a:xfrm>
              <a:off x="2371251" y="1344415"/>
              <a:ext cx="289511" cy="292007"/>
            </a:xfrm>
            <a:custGeom>
              <a:avLst/>
              <a:gdLst>
                <a:gd name="T0" fmla="*/ 105 w 116"/>
                <a:gd name="T1" fmla="*/ 0 h 117"/>
                <a:gd name="T2" fmla="*/ 0 w 116"/>
                <a:gd name="T3" fmla="*/ 106 h 117"/>
                <a:gd name="T4" fmla="*/ 11 w 116"/>
                <a:gd name="T5" fmla="*/ 117 h 117"/>
                <a:gd name="T6" fmla="*/ 116 w 116"/>
                <a:gd name="T7" fmla="*/ 10 h 117"/>
                <a:gd name="T8" fmla="*/ 105 w 116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6" h="117">
                  <a:moveTo>
                    <a:pt x="105" y="0"/>
                  </a:moveTo>
                  <a:lnTo>
                    <a:pt x="0" y="106"/>
                  </a:lnTo>
                  <a:lnTo>
                    <a:pt x="11" y="117"/>
                  </a:lnTo>
                  <a:lnTo>
                    <a:pt x="116" y="10"/>
                  </a:lnTo>
                  <a:lnTo>
                    <a:pt x="10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384" tIns="45692" rIns="91384" bIns="45692" numCol="1" anchor="t" anchorCtr="0" compatLnSpc="1"/>
            <a:lstStyle/>
            <a:p>
              <a:endParaRPr lang="en-US" sz="1800"/>
            </a:p>
          </p:txBody>
        </p:sp>
        <p:sp>
          <p:nvSpPr>
            <p:cNvPr id="35" name="Freeform 10"/>
            <p:cNvSpPr/>
            <p:nvPr/>
          </p:nvSpPr>
          <p:spPr bwMode="auto">
            <a:xfrm>
              <a:off x="2411183" y="1384348"/>
              <a:ext cx="289511" cy="292007"/>
            </a:xfrm>
            <a:custGeom>
              <a:avLst/>
              <a:gdLst>
                <a:gd name="T0" fmla="*/ 107 w 116"/>
                <a:gd name="T1" fmla="*/ 0 h 117"/>
                <a:gd name="T2" fmla="*/ 0 w 116"/>
                <a:gd name="T3" fmla="*/ 106 h 117"/>
                <a:gd name="T4" fmla="*/ 11 w 116"/>
                <a:gd name="T5" fmla="*/ 117 h 117"/>
                <a:gd name="T6" fmla="*/ 116 w 116"/>
                <a:gd name="T7" fmla="*/ 10 h 117"/>
                <a:gd name="T8" fmla="*/ 107 w 116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6" h="117">
                  <a:moveTo>
                    <a:pt x="107" y="0"/>
                  </a:moveTo>
                  <a:lnTo>
                    <a:pt x="0" y="106"/>
                  </a:lnTo>
                  <a:lnTo>
                    <a:pt x="11" y="117"/>
                  </a:lnTo>
                  <a:lnTo>
                    <a:pt x="116" y="10"/>
                  </a:lnTo>
                  <a:lnTo>
                    <a:pt x="10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384" tIns="45692" rIns="91384" bIns="45692" numCol="1" anchor="t" anchorCtr="0" compatLnSpc="1"/>
            <a:lstStyle/>
            <a:p>
              <a:endParaRPr lang="en-US" sz="1800"/>
            </a:p>
          </p:txBody>
        </p:sp>
        <p:sp>
          <p:nvSpPr>
            <p:cNvPr id="36" name="Freeform 11"/>
            <p:cNvSpPr/>
            <p:nvPr/>
          </p:nvSpPr>
          <p:spPr bwMode="auto">
            <a:xfrm>
              <a:off x="2653275" y="1306978"/>
              <a:ext cx="87353" cy="87353"/>
            </a:xfrm>
            <a:custGeom>
              <a:avLst/>
              <a:gdLst>
                <a:gd name="T0" fmla="*/ 17 w 26"/>
                <a:gd name="T1" fmla="*/ 8 h 26"/>
                <a:gd name="T2" fmla="*/ 0 w 26"/>
                <a:gd name="T3" fmla="*/ 7 h 26"/>
                <a:gd name="T4" fmla="*/ 19 w 26"/>
                <a:gd name="T5" fmla="*/ 26 h 26"/>
                <a:gd name="T6" fmla="*/ 17 w 26"/>
                <a:gd name="T7" fmla="*/ 8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" h="26">
                  <a:moveTo>
                    <a:pt x="17" y="8"/>
                  </a:moveTo>
                  <a:cubicBezTo>
                    <a:pt x="9" y="0"/>
                    <a:pt x="0" y="7"/>
                    <a:pt x="0" y="7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9" y="26"/>
                    <a:pt x="26" y="17"/>
                    <a:pt x="17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384" tIns="45692" rIns="91384" bIns="45692" numCol="1" anchor="t" anchorCtr="0" compatLnSpc="1"/>
            <a:lstStyle/>
            <a:p>
              <a:endParaRPr lang="en-US" sz="1800"/>
            </a:p>
          </p:txBody>
        </p:sp>
      </p:grpSp>
      <p:sp>
        <p:nvSpPr>
          <p:cNvPr id="45" name="TextBox 5"/>
          <p:cNvSpPr txBox="1">
            <a:spLocks noChangeArrowheads="1"/>
          </p:cNvSpPr>
          <p:nvPr/>
        </p:nvSpPr>
        <p:spPr bwMode="auto">
          <a:xfrm>
            <a:off x="1997711" y="1704827"/>
            <a:ext cx="5283623" cy="42364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基本操作：</a:t>
            </a:r>
            <a:endParaRPr lang="zh-CN" altLang="en-US" sz="1600" dirty="0">
              <a:solidFill>
                <a:srgbClr val="FF0000"/>
              </a:solidFill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46" name="TextBox 5"/>
          <p:cNvSpPr txBox="1">
            <a:spLocks noChangeArrowheads="1"/>
          </p:cNvSpPr>
          <p:nvPr/>
        </p:nvSpPr>
        <p:spPr bwMode="auto">
          <a:xfrm>
            <a:off x="2951559" y="1739010"/>
            <a:ext cx="6541418" cy="29500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ts val="2500"/>
              </a:lnSpc>
            </a:pPr>
            <a:r>
              <a:rPr lang="en-US" altLang="zh-CN" sz="1600" dirty="0" err="1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GetReal</a:t>
            </a:r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( Z, &amp;</a:t>
            </a:r>
            <a:r>
              <a:rPr lang="en-US" altLang="zh-CN" sz="1600" dirty="0" err="1">
                <a:latin typeface="百度综艺简体" panose="02010601030101010101" charset="-122"/>
                <a:ea typeface="百度综艺简体" panose="02010601030101010101" charset="-122"/>
              </a:rPr>
              <a:t>realPart</a:t>
            </a:r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 )</a:t>
            </a:r>
          </a:p>
          <a:p>
            <a:pPr>
              <a:lnSpc>
                <a:spcPts val="2500"/>
              </a:lnSpc>
            </a:pPr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       </a:t>
            </a: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初始条件：复数已存在。</a:t>
            </a:r>
          </a:p>
          <a:p>
            <a:pPr>
              <a:lnSpc>
                <a:spcPts val="2500"/>
              </a:lnSpc>
            </a:pP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       操作结果：用</a:t>
            </a:r>
            <a:r>
              <a:rPr lang="en-US" altLang="zh-CN" sz="1600" dirty="0" err="1">
                <a:latin typeface="百度综艺简体" panose="02010601030101010101" charset="-122"/>
                <a:ea typeface="百度综艺简体" panose="02010601030101010101" charset="-122"/>
              </a:rPr>
              <a:t>realPart</a:t>
            </a: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返回复数</a:t>
            </a:r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Z</a:t>
            </a: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的实部值。</a:t>
            </a:r>
          </a:p>
          <a:p>
            <a:pPr>
              <a:lnSpc>
                <a:spcPts val="2500"/>
              </a:lnSpc>
            </a:pPr>
            <a:r>
              <a:rPr lang="zh-CN" altLang="en-US" sz="1600" dirty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     </a:t>
            </a:r>
            <a:r>
              <a:rPr lang="en-US" altLang="zh-CN" sz="1600" dirty="0" err="1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GetImag</a:t>
            </a:r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( Z, &amp;</a:t>
            </a:r>
            <a:r>
              <a:rPr lang="en-US" altLang="zh-CN" sz="1600" dirty="0" err="1">
                <a:latin typeface="百度综艺简体" panose="02010601030101010101" charset="-122"/>
                <a:ea typeface="百度综艺简体" panose="02010601030101010101" charset="-122"/>
              </a:rPr>
              <a:t>ImagPart</a:t>
            </a:r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 )</a:t>
            </a:r>
          </a:p>
          <a:p>
            <a:pPr>
              <a:lnSpc>
                <a:spcPts val="2500"/>
              </a:lnSpc>
            </a:pPr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       </a:t>
            </a: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初始条件：复数已存在。</a:t>
            </a:r>
          </a:p>
          <a:p>
            <a:pPr>
              <a:lnSpc>
                <a:spcPts val="2500"/>
              </a:lnSpc>
            </a:pP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       操作结果：用</a:t>
            </a:r>
            <a:r>
              <a:rPr lang="en-US" altLang="zh-CN" sz="1600" dirty="0" err="1">
                <a:latin typeface="百度综艺简体" panose="02010601030101010101" charset="-122"/>
                <a:ea typeface="百度综艺简体" panose="02010601030101010101" charset="-122"/>
              </a:rPr>
              <a:t>ImagPart</a:t>
            </a: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返回复数</a:t>
            </a:r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Z</a:t>
            </a: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的虚部值。</a:t>
            </a:r>
          </a:p>
          <a:p>
            <a:pPr>
              <a:lnSpc>
                <a:spcPts val="2500"/>
              </a:lnSpc>
            </a:pPr>
            <a:r>
              <a:rPr lang="zh-CN" altLang="en-US" sz="1600" dirty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     </a:t>
            </a:r>
            <a:r>
              <a:rPr lang="en-US" altLang="zh-CN" sz="1600" dirty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Add</a:t>
            </a:r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( z1,z2, &amp;sum )</a:t>
            </a:r>
          </a:p>
          <a:p>
            <a:pPr>
              <a:lnSpc>
                <a:spcPts val="2500"/>
              </a:lnSpc>
            </a:pPr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       </a:t>
            </a: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初始条件：</a:t>
            </a:r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z1,z2</a:t>
            </a: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是复数。</a:t>
            </a:r>
          </a:p>
          <a:p>
            <a:pPr>
              <a:lnSpc>
                <a:spcPts val="2500"/>
              </a:lnSpc>
            </a:pP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      </a:t>
            </a:r>
            <a:r>
              <a:rPr lang="zh-CN" altLang="en-US" sz="1600" dirty="0" smtClean="0">
                <a:latin typeface="百度综艺简体" panose="02010601030101010101" charset="-122"/>
                <a:ea typeface="百度综艺简体" panose="02010601030101010101" charset="-122"/>
              </a:rPr>
              <a:t> 操作</a:t>
            </a: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结果：用</a:t>
            </a:r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sum</a:t>
            </a: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返回两个复数</a:t>
            </a:r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z1,z2</a:t>
            </a: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的和值。</a:t>
            </a:r>
            <a:endParaRPr lang="zh-CN" altLang="en-US" sz="1600" dirty="0"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29" name="Text Placeholder 11"/>
          <p:cNvSpPr txBox="1"/>
          <p:nvPr/>
        </p:nvSpPr>
        <p:spPr>
          <a:xfrm>
            <a:off x="2652819" y="4649052"/>
            <a:ext cx="362077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lnSpc>
                <a:spcPct val="80000"/>
              </a:lnSpc>
              <a:buNone/>
            </a:pPr>
            <a:r>
              <a:rPr lang="en-US" altLang="zh-CN" sz="1600" dirty="0" smtClean="0">
                <a:latin typeface="百度综艺简体" panose="02010601030101010101" charset="-122"/>
                <a:ea typeface="百度综艺简体" panose="02010601030101010101" charset="-122"/>
              </a:rPr>
              <a:t>} ADT Complex</a:t>
            </a:r>
            <a:r>
              <a:rPr lang="zh-CN" altLang="en-US" sz="1600" dirty="0" smtClean="0">
                <a:latin typeface="百度综艺简体" panose="02010601030101010101" charset="-122"/>
                <a:ea typeface="百度综艺简体" panose="02010601030101010101" charset="-122"/>
              </a:rPr>
              <a:t> </a:t>
            </a:r>
            <a:endParaRPr lang="en-US" altLang="zh-CN" sz="1600" dirty="0">
              <a:latin typeface="百度综艺简体" panose="02010601030101010101" charset="-122"/>
              <a:ea typeface="百度综艺简体" panose="02010601030101010101" charset="-122"/>
            </a:endParaRPr>
          </a:p>
        </p:txBody>
      </p:sp>
      <p:sp>
        <p:nvSpPr>
          <p:cNvPr id="26" name="Text Placeholder 11"/>
          <p:cNvSpPr txBox="1"/>
          <p:nvPr/>
        </p:nvSpPr>
        <p:spPr>
          <a:xfrm>
            <a:off x="2302510" y="241067"/>
            <a:ext cx="280543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1800" dirty="0" smtClean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基本概念和术语</a:t>
            </a:r>
            <a:endParaRPr lang="zh-CN" sz="1800" dirty="0">
              <a:solidFill>
                <a:schemeClr val="accent2"/>
              </a:solidFill>
              <a:latin typeface="百度综艺简体" panose="02010601030101010101" charset="-122"/>
              <a:ea typeface="百度综艺简体" panose="02010601030101010101" charset="-122"/>
              <a:sym typeface="Arial" panose="020B0604020202020204" pitchFamily="34" charset="0"/>
            </a:endParaRPr>
          </a:p>
        </p:txBody>
      </p:sp>
      <p:grpSp>
        <p:nvGrpSpPr>
          <p:cNvPr id="30" name="组合 29"/>
          <p:cNvGrpSpPr/>
          <p:nvPr/>
        </p:nvGrpSpPr>
        <p:grpSpPr>
          <a:xfrm>
            <a:off x="2134235" y="483235"/>
            <a:ext cx="7002145" cy="109220"/>
            <a:chOff x="2140585" y="362585"/>
            <a:chExt cx="7002145" cy="109220"/>
          </a:xfrm>
        </p:grpSpPr>
        <p:cxnSp>
          <p:nvCxnSpPr>
            <p:cNvPr id="32" name="直接连接符 31"/>
            <p:cNvCxnSpPr/>
            <p:nvPr/>
          </p:nvCxnSpPr>
          <p:spPr>
            <a:xfrm>
              <a:off x="2140585" y="417195"/>
              <a:ext cx="6889750" cy="0"/>
            </a:xfrm>
            <a:prstGeom prst="line">
              <a:avLst/>
            </a:prstGeom>
            <a:ln w="22225">
              <a:solidFill>
                <a:srgbClr val="2A5B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椭圆 40"/>
            <p:cNvSpPr/>
            <p:nvPr/>
          </p:nvSpPr>
          <p:spPr>
            <a:xfrm>
              <a:off x="9033510" y="362585"/>
              <a:ext cx="109220" cy="1092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 tmFilter="0,0; .5, 1; 1, 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750"/>
                            </p:stCondLst>
                            <p:childTnLst>
                              <p:par>
                                <p:cTn id="2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5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250"/>
                            </p:stCondLst>
                            <p:childTnLst>
                              <p:par>
                                <p:cTn id="3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000"/>
                            </p:stCondLst>
                            <p:childTnLst>
                              <p:par>
                                <p:cTn id="52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 tmFilter="0,0; .5, 1; 1, 1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 tmFilter="0,0; .5, 1; 1, 1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 tmFilter="0,0; .5, 1; 1, 1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utoUpdateAnimBg="0"/>
      <p:bldP spid="22" grpId="0" bldLvl="0" animBg="1" autoUpdateAnimBg="0"/>
      <p:bldP spid="31" grpId="0"/>
      <p:bldP spid="55" grpId="0" autoUpdateAnimBg="0"/>
      <p:bldP spid="45" grpId="0" autoUpdateAnimBg="0"/>
      <p:bldP spid="46" grpId="0" autoUpdateAnimBg="0"/>
      <p:bldP spid="29" grpId="0"/>
      <p:bldP spid="2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>
            <a:cxnSpLocks noChangeShapeType="1"/>
          </p:cNvCxnSpPr>
          <p:nvPr/>
        </p:nvCxnSpPr>
        <p:spPr bwMode="auto">
          <a:xfrm>
            <a:off x="307340" y="537845"/>
            <a:ext cx="882904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</a:ln>
          <a:effectLst/>
        </p:spPr>
      </p:cxnSp>
      <p:sp>
        <p:nvSpPr>
          <p:cNvPr id="16" name="矩形 15"/>
          <p:cNvSpPr/>
          <p:nvPr/>
        </p:nvSpPr>
        <p:spPr>
          <a:xfrm>
            <a:off x="1411" y="5240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800" dirty="0">
              <a:solidFill>
                <a:schemeClr val="accent2"/>
              </a:solidFill>
              <a:effectLst/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19" name="TextBox 5"/>
          <p:cNvSpPr txBox="1">
            <a:spLocks noChangeArrowheads="1"/>
          </p:cNvSpPr>
          <p:nvPr/>
        </p:nvSpPr>
        <p:spPr bwMode="auto">
          <a:xfrm>
            <a:off x="234950" y="203835"/>
            <a:ext cx="206756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《数据结构》</a:t>
            </a: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1412" y="217303"/>
            <a:ext cx="401225" cy="40122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sp>
        <p:nvSpPr>
          <p:cNvPr id="31" name="Text Placeholder 11"/>
          <p:cNvSpPr txBox="1"/>
          <p:nvPr/>
        </p:nvSpPr>
        <p:spPr>
          <a:xfrm>
            <a:off x="1106171" y="815688"/>
            <a:ext cx="3093296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2400" dirty="0" smtClean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抽象数据类型</a:t>
            </a:r>
            <a:endParaRPr lang="zh-CN" sz="2400" dirty="0">
              <a:solidFill>
                <a:schemeClr val="accent1"/>
              </a:solidFill>
              <a:latin typeface="百度综艺简体" panose="02010601030101010101" charset="-122"/>
              <a:ea typeface="百度综艺简体" panose="02010601030101010101" charset="-122"/>
              <a:sym typeface="Arial" panose="020B0604020202020204" pitchFamily="34" charset="0"/>
            </a:endParaRPr>
          </a:p>
        </p:txBody>
      </p:sp>
      <p:sp>
        <p:nvSpPr>
          <p:cNvPr id="26" name="TextBox 5"/>
          <p:cNvSpPr txBox="1">
            <a:spLocks noChangeArrowheads="1"/>
          </p:cNvSpPr>
          <p:nvPr/>
        </p:nvSpPr>
        <p:spPr bwMode="auto">
          <a:xfrm>
            <a:off x="1210594" y="2223654"/>
            <a:ext cx="7239000" cy="83099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sz="1600" dirty="0" smtClean="0">
                <a:latin typeface="百度综艺简体" panose="02010601030101010101" charset="-122"/>
                <a:ea typeface="百度综艺简体" panose="02010601030101010101" charset="-122"/>
              </a:rPr>
              <a:t>        对</a:t>
            </a: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程序处理的实体的描述强调的是其本质的特征、其所能完成的功能以及它和外部的接口</a:t>
            </a:r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(</a:t>
            </a: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即外界使用它的方法</a:t>
            </a:r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)</a:t>
            </a: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。</a:t>
            </a:r>
            <a:endParaRPr lang="zh-CN" altLang="en-US" sz="1600" dirty="0"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37" name="AutoShape 3"/>
          <p:cNvSpPr>
            <a:spLocks noChangeAspect="1" noChangeArrowheads="1" noTextEdit="1"/>
          </p:cNvSpPr>
          <p:nvPr/>
        </p:nvSpPr>
        <p:spPr bwMode="auto">
          <a:xfrm>
            <a:off x="557288" y="744733"/>
            <a:ext cx="542665" cy="54122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endParaRPr lang="zh-CN" altLang="en-US" sz="1800"/>
          </a:p>
        </p:txBody>
      </p:sp>
      <p:sp>
        <p:nvSpPr>
          <p:cNvPr id="55" name="TextBox 5"/>
          <p:cNvSpPr txBox="1">
            <a:spLocks noChangeArrowheads="1"/>
          </p:cNvSpPr>
          <p:nvPr/>
        </p:nvSpPr>
        <p:spPr bwMode="auto">
          <a:xfrm>
            <a:off x="1145038" y="1307330"/>
            <a:ext cx="4984829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百度综艺简体" panose="02010601030101010101" charset="-122"/>
                <a:ea typeface="百度综艺简体" panose="02010601030101010101" charset="-122"/>
              </a:rPr>
              <a:t>抽象数据类型的两个特征</a:t>
            </a:r>
            <a:r>
              <a:rPr lang="en-US" altLang="zh-CN" sz="2000" dirty="0">
                <a:latin typeface="百度综艺简体" panose="02010601030101010101" charset="-122"/>
                <a:ea typeface="百度综艺简体" panose="02010601030101010101" charset="-122"/>
              </a:rPr>
              <a:t>:</a:t>
            </a:r>
            <a:endParaRPr lang="zh-CN" altLang="en-US" sz="2000" dirty="0">
              <a:latin typeface="百度综艺简体" panose="02010601030101010101" charset="-122"/>
              <a:ea typeface="百度综艺简体" panose="02010601030101010101" charset="-122"/>
            </a:endParaRPr>
          </a:p>
        </p:txBody>
      </p:sp>
      <p:sp>
        <p:nvSpPr>
          <p:cNvPr id="18" name="Text Placeholder 11"/>
          <p:cNvSpPr txBox="1"/>
          <p:nvPr/>
        </p:nvSpPr>
        <p:spPr>
          <a:xfrm>
            <a:off x="1145038" y="1895874"/>
            <a:ext cx="362077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20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数据抽象</a:t>
            </a:r>
            <a:endParaRPr lang="zh-CN" sz="2000" dirty="0">
              <a:solidFill>
                <a:schemeClr val="accent1"/>
              </a:solidFill>
              <a:latin typeface="百度综艺简体" panose="02010601030101010101" charset="-122"/>
              <a:ea typeface="百度综艺简体" panose="02010601030101010101" charset="-122"/>
              <a:sym typeface="Arial" panose="020B0604020202020204" pitchFamily="34" charset="0"/>
            </a:endParaRPr>
          </a:p>
        </p:txBody>
      </p:sp>
      <p:sp>
        <p:nvSpPr>
          <p:cNvPr id="30" name="TextBox 5"/>
          <p:cNvSpPr txBox="1">
            <a:spLocks noChangeArrowheads="1"/>
          </p:cNvSpPr>
          <p:nvPr/>
        </p:nvSpPr>
        <p:spPr bwMode="auto">
          <a:xfrm>
            <a:off x="614000" y="4088652"/>
            <a:ext cx="7707699" cy="6340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742950" lvl="1" indent="-285750" defTabSz="914400" fontAlgn="base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defRPr/>
            </a:pPr>
            <a:r>
              <a:rPr lang="zh-CN" altLang="en-US" sz="1600" dirty="0" smtClean="0">
                <a:latin typeface="百度综艺简体" panose="02010601030101010101" charset="-122"/>
                <a:ea typeface="百度综艺简体" panose="02010601030101010101" charset="-122"/>
              </a:rPr>
              <a:t>             抽象数据类型</a:t>
            </a: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的特征是</a:t>
            </a:r>
            <a:r>
              <a:rPr lang="zh-CN" altLang="en-US" sz="1600" dirty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使用与实现相分离</a:t>
            </a: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，实行封装和信息隐蔽。就是说，在抽象数据类型设计时，把类型的定义与其实现分离开来。</a:t>
            </a:r>
            <a:endParaRPr lang="zh-CN" altLang="en-US" sz="1600" dirty="0"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23" name="TextBox 5"/>
          <p:cNvSpPr txBox="1">
            <a:spLocks noChangeArrowheads="1"/>
          </p:cNvSpPr>
          <p:nvPr/>
        </p:nvSpPr>
        <p:spPr bwMode="auto">
          <a:xfrm>
            <a:off x="1659467" y="3471232"/>
            <a:ext cx="7239000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sz="1600" dirty="0" smtClean="0">
                <a:latin typeface="百度综艺简体" panose="02010601030101010101" charset="-122"/>
                <a:ea typeface="百度综艺简体" panose="02010601030101010101" charset="-122"/>
              </a:rPr>
              <a:t> 将</a:t>
            </a: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实体的外部特性和其内部实现细节分离，并且对外部隐藏其内部实现细节。</a:t>
            </a:r>
            <a:endParaRPr lang="zh-CN" altLang="en-US" sz="1600" dirty="0"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33" name="Text Placeholder 11"/>
          <p:cNvSpPr txBox="1"/>
          <p:nvPr/>
        </p:nvSpPr>
        <p:spPr>
          <a:xfrm>
            <a:off x="1145038" y="3117563"/>
            <a:ext cx="362077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2000" dirty="0" smtClean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数据封装</a:t>
            </a:r>
            <a:endParaRPr lang="zh-CN" sz="2000" dirty="0">
              <a:solidFill>
                <a:schemeClr val="accent1"/>
              </a:solidFill>
              <a:latin typeface="百度综艺简体" panose="02010601030101010101" charset="-122"/>
              <a:ea typeface="百度综艺简体" panose="02010601030101010101" charset="-122"/>
              <a:sym typeface="Arial" panose="020B0604020202020204" pitchFamily="34" charset="0"/>
            </a:endParaRPr>
          </a:p>
        </p:txBody>
      </p:sp>
      <p:sp>
        <p:nvSpPr>
          <p:cNvPr id="20" name="Text Placeholder 11"/>
          <p:cNvSpPr txBox="1"/>
          <p:nvPr/>
        </p:nvSpPr>
        <p:spPr>
          <a:xfrm>
            <a:off x="2302510" y="241067"/>
            <a:ext cx="280543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1800" dirty="0" smtClean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基本概念和术语</a:t>
            </a:r>
            <a:endParaRPr lang="zh-CN" sz="1800" dirty="0">
              <a:solidFill>
                <a:schemeClr val="accent2"/>
              </a:solidFill>
              <a:latin typeface="百度综艺简体" panose="02010601030101010101" charset="-122"/>
              <a:ea typeface="百度综艺简体" panose="02010601030101010101" charset="-122"/>
              <a:sym typeface="Arial" panose="020B0604020202020204" pitchFamily="34" charset="0"/>
            </a:endParaRPr>
          </a:p>
        </p:txBody>
      </p:sp>
      <p:grpSp>
        <p:nvGrpSpPr>
          <p:cNvPr id="24" name="组合 23"/>
          <p:cNvGrpSpPr/>
          <p:nvPr/>
        </p:nvGrpSpPr>
        <p:grpSpPr>
          <a:xfrm>
            <a:off x="2134235" y="483235"/>
            <a:ext cx="7002145" cy="109220"/>
            <a:chOff x="2140585" y="362585"/>
            <a:chExt cx="7002145" cy="109220"/>
          </a:xfrm>
        </p:grpSpPr>
        <p:cxnSp>
          <p:nvCxnSpPr>
            <p:cNvPr id="28" name="直接连接符 27"/>
            <p:cNvCxnSpPr/>
            <p:nvPr/>
          </p:nvCxnSpPr>
          <p:spPr>
            <a:xfrm>
              <a:off x="2140585" y="417195"/>
              <a:ext cx="6889750" cy="0"/>
            </a:xfrm>
            <a:prstGeom prst="line">
              <a:avLst/>
            </a:prstGeom>
            <a:ln w="22225">
              <a:solidFill>
                <a:srgbClr val="2A5B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椭圆 28"/>
            <p:cNvSpPr/>
            <p:nvPr/>
          </p:nvSpPr>
          <p:spPr>
            <a:xfrm>
              <a:off x="9033510" y="362585"/>
              <a:ext cx="109220" cy="1092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 tmFilter="0,0; .5, 1; 1, 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 tmFilter="0,0; .5, 1; 1, 1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 tmFilter="0,0; .5, 1; 1, 1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 tmFilter="0,0; .5, 1; 1, 1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500" tmFilter="0,0; .5, 1; 1, 1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utoUpdateAnimBg="0"/>
      <p:bldP spid="22" grpId="0" bldLvl="0" animBg="1" autoUpdateAnimBg="0"/>
      <p:bldP spid="31" grpId="0"/>
      <p:bldP spid="26" grpId="0" autoUpdateAnimBg="0"/>
      <p:bldP spid="55" grpId="0" autoUpdateAnimBg="0"/>
      <p:bldP spid="18" grpId="0"/>
      <p:bldP spid="30" grpId="0" autoUpdateAnimBg="0"/>
      <p:bldP spid="23" grpId="0" autoUpdateAnimBg="0"/>
      <p:bldP spid="33" grpId="0"/>
      <p:bldP spid="2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>
            <a:cxnSpLocks noChangeShapeType="1"/>
          </p:cNvCxnSpPr>
          <p:nvPr/>
        </p:nvCxnSpPr>
        <p:spPr bwMode="auto">
          <a:xfrm>
            <a:off x="307340" y="537845"/>
            <a:ext cx="882904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</a:ln>
          <a:effectLst/>
        </p:spPr>
      </p:cxnSp>
      <p:sp>
        <p:nvSpPr>
          <p:cNvPr id="16" name="矩形 15"/>
          <p:cNvSpPr/>
          <p:nvPr/>
        </p:nvSpPr>
        <p:spPr>
          <a:xfrm>
            <a:off x="1411" y="5240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800" dirty="0">
              <a:solidFill>
                <a:schemeClr val="accent2"/>
              </a:solidFill>
              <a:effectLst/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19" name="TextBox 5"/>
          <p:cNvSpPr txBox="1">
            <a:spLocks noChangeArrowheads="1"/>
          </p:cNvSpPr>
          <p:nvPr/>
        </p:nvSpPr>
        <p:spPr bwMode="auto">
          <a:xfrm>
            <a:off x="234950" y="203835"/>
            <a:ext cx="206756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《数据结构》</a:t>
            </a: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1412" y="217303"/>
            <a:ext cx="401225" cy="40122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sp>
        <p:nvSpPr>
          <p:cNvPr id="31" name="Text Placeholder 11"/>
          <p:cNvSpPr txBox="1"/>
          <p:nvPr/>
        </p:nvSpPr>
        <p:spPr>
          <a:xfrm>
            <a:off x="1106171" y="815688"/>
            <a:ext cx="3093296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2400" dirty="0" smtClean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抽象数据类型</a:t>
            </a:r>
            <a:endParaRPr lang="zh-CN" sz="2400" dirty="0">
              <a:solidFill>
                <a:schemeClr val="accent1"/>
              </a:solidFill>
              <a:latin typeface="百度综艺简体" panose="02010601030101010101" charset="-122"/>
              <a:ea typeface="百度综艺简体" panose="02010601030101010101" charset="-122"/>
              <a:sym typeface="Arial" panose="020B0604020202020204" pitchFamily="34" charset="0"/>
            </a:endParaRPr>
          </a:p>
        </p:txBody>
      </p:sp>
      <p:sp>
        <p:nvSpPr>
          <p:cNvPr id="26" name="TextBox 5"/>
          <p:cNvSpPr txBox="1">
            <a:spLocks noChangeArrowheads="1"/>
          </p:cNvSpPr>
          <p:nvPr/>
        </p:nvSpPr>
        <p:spPr bwMode="auto">
          <a:xfrm>
            <a:off x="1062987" y="1669172"/>
            <a:ext cx="7239000" cy="83099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sz="1600" dirty="0" smtClean="0">
                <a:latin typeface="百度综艺简体" panose="02010601030101010101" charset="-122"/>
                <a:ea typeface="百度综艺简体" panose="02010601030101010101" charset="-122"/>
              </a:rPr>
              <a:t>        本</a:t>
            </a: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书采用的类</a:t>
            </a:r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C</a:t>
            </a: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语言，精选了</a:t>
            </a:r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C</a:t>
            </a: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语言的一核心子集，同时作了若干扩充修改，增加了语言的描述功能。</a:t>
            </a:r>
            <a:endParaRPr lang="zh-CN" altLang="en-US" sz="1600" dirty="0"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37" name="AutoShape 3"/>
          <p:cNvSpPr>
            <a:spLocks noChangeAspect="1" noChangeArrowheads="1" noTextEdit="1"/>
          </p:cNvSpPr>
          <p:nvPr/>
        </p:nvSpPr>
        <p:spPr bwMode="auto">
          <a:xfrm>
            <a:off x="557288" y="744733"/>
            <a:ext cx="542665" cy="54122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endParaRPr lang="zh-CN" altLang="en-US" sz="1800"/>
          </a:p>
        </p:txBody>
      </p:sp>
      <p:sp>
        <p:nvSpPr>
          <p:cNvPr id="55" name="TextBox 5"/>
          <p:cNvSpPr txBox="1">
            <a:spLocks noChangeArrowheads="1"/>
          </p:cNvSpPr>
          <p:nvPr/>
        </p:nvSpPr>
        <p:spPr bwMode="auto">
          <a:xfrm>
            <a:off x="1145038" y="1307330"/>
            <a:ext cx="4984829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342900" indent="-342900" defTabSz="911225">
              <a:spcBef>
                <a:spcPct val="20000"/>
              </a:spcBef>
            </a:pPr>
            <a:r>
              <a:rPr lang="zh-CN" altLang="en-US" sz="20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抽象数据类型的表示与实现</a:t>
            </a:r>
          </a:p>
        </p:txBody>
      </p:sp>
      <p:sp>
        <p:nvSpPr>
          <p:cNvPr id="30" name="TextBox 5"/>
          <p:cNvSpPr txBox="1">
            <a:spLocks noChangeArrowheads="1"/>
          </p:cNvSpPr>
          <p:nvPr/>
        </p:nvSpPr>
        <p:spPr bwMode="auto">
          <a:xfrm>
            <a:off x="2089785" y="2999958"/>
            <a:ext cx="7707699" cy="181588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#define  TRUE  1</a:t>
            </a:r>
          </a:p>
          <a:p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#define  FALSE   0</a:t>
            </a:r>
          </a:p>
          <a:p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#define </a:t>
            </a:r>
            <a:r>
              <a:rPr lang="en-US" altLang="zh-CN" sz="1600" dirty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OK</a:t>
            </a:r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  1</a:t>
            </a:r>
          </a:p>
          <a:p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#define </a:t>
            </a:r>
            <a:r>
              <a:rPr lang="en-US" altLang="zh-CN" sz="1600" dirty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ERROR</a:t>
            </a:r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  0</a:t>
            </a:r>
          </a:p>
          <a:p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#define INFEASIBLE   -1</a:t>
            </a:r>
          </a:p>
          <a:p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#define </a:t>
            </a:r>
            <a:r>
              <a:rPr lang="en-US" altLang="zh-CN" sz="1600" dirty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OVERFLOW</a:t>
            </a:r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  -2</a:t>
            </a:r>
          </a:p>
          <a:p>
            <a:r>
              <a:rPr lang="en-US" altLang="zh-CN" sz="1600" dirty="0" err="1">
                <a:latin typeface="百度综艺简体" panose="02010601030101010101" charset="-122"/>
                <a:ea typeface="百度综艺简体" panose="02010601030101010101" charset="-122"/>
              </a:rPr>
              <a:t>typedef</a:t>
            </a:r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   </a:t>
            </a:r>
            <a:r>
              <a:rPr lang="en-US" altLang="zh-CN" sz="1600" dirty="0" err="1">
                <a:latin typeface="百度综艺简体" panose="02010601030101010101" charset="-122"/>
                <a:ea typeface="百度综艺简体" panose="02010601030101010101" charset="-122"/>
              </a:rPr>
              <a:t>int</a:t>
            </a:r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   </a:t>
            </a:r>
            <a:r>
              <a:rPr lang="en-US" altLang="zh-CN" sz="1600" dirty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Status</a:t>
            </a:r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;</a:t>
            </a:r>
          </a:p>
        </p:txBody>
      </p:sp>
      <p:sp>
        <p:nvSpPr>
          <p:cNvPr id="33" name="Text Placeholder 11"/>
          <p:cNvSpPr txBox="1"/>
          <p:nvPr/>
        </p:nvSpPr>
        <p:spPr>
          <a:xfrm>
            <a:off x="1062987" y="2646263"/>
            <a:ext cx="362077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defTabSz="911225">
              <a:buFont typeface="+mj-ea"/>
              <a:buAutoNum type="circleNumDbPlain"/>
            </a:pPr>
            <a:r>
              <a:rPr lang="zh-CN" altLang="en-US" sz="2000" dirty="0" smtClean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预定</a:t>
            </a:r>
            <a:r>
              <a:rPr lang="zh-CN" altLang="en-US" sz="20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义常量和类型</a:t>
            </a:r>
            <a:endParaRPr lang="zh-CN" sz="2000" dirty="0">
              <a:solidFill>
                <a:schemeClr val="accent1"/>
              </a:solidFill>
              <a:latin typeface="百度综艺简体" panose="02010601030101010101" charset="-122"/>
              <a:ea typeface="百度综艺简体" panose="02010601030101010101" charset="-122"/>
              <a:sym typeface="Arial" panose="020B0604020202020204" pitchFamily="34" charset="0"/>
            </a:endParaRPr>
          </a:p>
        </p:txBody>
      </p:sp>
      <p:sp>
        <p:nvSpPr>
          <p:cNvPr id="18" name="Text Placeholder 11"/>
          <p:cNvSpPr txBox="1"/>
          <p:nvPr/>
        </p:nvSpPr>
        <p:spPr>
          <a:xfrm>
            <a:off x="2302510" y="241067"/>
            <a:ext cx="280543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1800" dirty="0" smtClean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基本概念和术语</a:t>
            </a:r>
            <a:endParaRPr lang="zh-CN" sz="1800" dirty="0">
              <a:solidFill>
                <a:schemeClr val="accent2"/>
              </a:solidFill>
              <a:latin typeface="百度综艺简体" panose="02010601030101010101" charset="-122"/>
              <a:ea typeface="百度综艺简体" panose="02010601030101010101" charset="-122"/>
              <a:sym typeface="Arial" panose="020B0604020202020204" pitchFamily="34" charset="0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2134235" y="483235"/>
            <a:ext cx="7002145" cy="109220"/>
            <a:chOff x="2140585" y="362585"/>
            <a:chExt cx="7002145" cy="109220"/>
          </a:xfrm>
        </p:grpSpPr>
        <p:cxnSp>
          <p:nvCxnSpPr>
            <p:cNvPr id="23" name="直接连接符 22"/>
            <p:cNvCxnSpPr/>
            <p:nvPr/>
          </p:nvCxnSpPr>
          <p:spPr>
            <a:xfrm>
              <a:off x="2140585" y="417195"/>
              <a:ext cx="6889750" cy="0"/>
            </a:xfrm>
            <a:prstGeom prst="line">
              <a:avLst/>
            </a:prstGeom>
            <a:ln w="22225">
              <a:solidFill>
                <a:srgbClr val="2A5B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椭圆 23"/>
            <p:cNvSpPr/>
            <p:nvPr/>
          </p:nvSpPr>
          <p:spPr>
            <a:xfrm>
              <a:off x="9033510" y="362585"/>
              <a:ext cx="109220" cy="1092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 tmFilter="0,0; .5, 1; 1, 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00"/>
                            </p:stCondLst>
                            <p:childTnLst>
                              <p:par>
                                <p:cTn id="3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 tmFilter="0,0; .5, 1; 1, 1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 tmFilter="0,0; .5, 1; 1, 1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 tmFilter="0,0; .5, 1; 1, 1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utoUpdateAnimBg="0"/>
      <p:bldP spid="22" grpId="0" bldLvl="0" animBg="1" autoUpdateAnimBg="0"/>
      <p:bldP spid="31" grpId="0"/>
      <p:bldP spid="26" grpId="0" autoUpdateAnimBg="0"/>
      <p:bldP spid="55" grpId="0" autoUpdateAnimBg="0"/>
      <p:bldP spid="30" grpId="0" autoUpdateAnimBg="0"/>
      <p:bldP spid="33" grpId="0"/>
      <p:bldP spid="1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>
            <a:cxnSpLocks noChangeShapeType="1"/>
          </p:cNvCxnSpPr>
          <p:nvPr/>
        </p:nvCxnSpPr>
        <p:spPr bwMode="auto">
          <a:xfrm>
            <a:off x="307340" y="537845"/>
            <a:ext cx="882904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</a:ln>
          <a:effectLst/>
        </p:spPr>
      </p:cxnSp>
      <p:sp>
        <p:nvSpPr>
          <p:cNvPr id="16" name="矩形 15"/>
          <p:cNvSpPr/>
          <p:nvPr/>
        </p:nvSpPr>
        <p:spPr>
          <a:xfrm>
            <a:off x="1411" y="5240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800" dirty="0">
              <a:solidFill>
                <a:schemeClr val="accent2"/>
              </a:solidFill>
              <a:effectLst/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19" name="TextBox 5"/>
          <p:cNvSpPr txBox="1">
            <a:spLocks noChangeArrowheads="1"/>
          </p:cNvSpPr>
          <p:nvPr/>
        </p:nvSpPr>
        <p:spPr bwMode="auto">
          <a:xfrm>
            <a:off x="234950" y="203835"/>
            <a:ext cx="206756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《数据结构》</a:t>
            </a: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1412" y="217303"/>
            <a:ext cx="401225" cy="40122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sp>
        <p:nvSpPr>
          <p:cNvPr id="31" name="Text Placeholder 11"/>
          <p:cNvSpPr txBox="1"/>
          <p:nvPr/>
        </p:nvSpPr>
        <p:spPr>
          <a:xfrm>
            <a:off x="1106171" y="815688"/>
            <a:ext cx="3093296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2400" dirty="0" smtClean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抽象数据类型</a:t>
            </a:r>
            <a:endParaRPr lang="zh-CN" sz="2400" dirty="0">
              <a:solidFill>
                <a:schemeClr val="accent1"/>
              </a:solidFill>
              <a:latin typeface="百度综艺简体" panose="02010601030101010101" charset="-122"/>
              <a:ea typeface="百度综艺简体" panose="02010601030101010101" charset="-122"/>
              <a:sym typeface="Arial" panose="020B0604020202020204" pitchFamily="34" charset="0"/>
            </a:endParaRPr>
          </a:p>
        </p:txBody>
      </p:sp>
      <p:sp>
        <p:nvSpPr>
          <p:cNvPr id="37" name="AutoShape 3"/>
          <p:cNvSpPr>
            <a:spLocks noChangeAspect="1" noChangeArrowheads="1" noTextEdit="1"/>
          </p:cNvSpPr>
          <p:nvPr/>
        </p:nvSpPr>
        <p:spPr bwMode="auto">
          <a:xfrm>
            <a:off x="557288" y="744733"/>
            <a:ext cx="542665" cy="54122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endParaRPr lang="zh-CN" altLang="en-US" sz="1800"/>
          </a:p>
        </p:txBody>
      </p:sp>
      <p:sp>
        <p:nvSpPr>
          <p:cNvPr id="30" name="TextBox 5"/>
          <p:cNvSpPr txBox="1">
            <a:spLocks noChangeArrowheads="1"/>
          </p:cNvSpPr>
          <p:nvPr/>
        </p:nvSpPr>
        <p:spPr bwMode="auto">
          <a:xfrm>
            <a:off x="1505585" y="1923208"/>
            <a:ext cx="3447415" cy="33855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数据元素类型约定为</a:t>
            </a:r>
            <a:r>
              <a:rPr lang="en-US" altLang="zh-CN" sz="1600" dirty="0" err="1" smtClean="0">
                <a:latin typeface="百度综艺简体" panose="02010601030101010101" charset="-122"/>
                <a:ea typeface="百度综艺简体" panose="02010601030101010101" charset="-122"/>
              </a:rPr>
              <a:t>ElemType</a:t>
            </a:r>
            <a:r>
              <a:rPr lang="zh-CN" altLang="en-US" sz="1600" dirty="0" smtClean="0">
                <a:latin typeface="百度综艺简体" panose="02010601030101010101" charset="-122"/>
                <a:ea typeface="百度综艺简体" panose="02010601030101010101" charset="-122"/>
              </a:rPr>
              <a:t>。</a:t>
            </a:r>
            <a:endParaRPr lang="en-US" altLang="zh-CN" sz="1600" dirty="0">
              <a:latin typeface="百度综艺简体" panose="02010601030101010101" charset="-122"/>
              <a:ea typeface="百度综艺简体" panose="02010601030101010101" charset="-122"/>
            </a:endParaRPr>
          </a:p>
        </p:txBody>
      </p:sp>
      <p:sp>
        <p:nvSpPr>
          <p:cNvPr id="33" name="Text Placeholder 11"/>
          <p:cNvSpPr txBox="1"/>
          <p:nvPr/>
        </p:nvSpPr>
        <p:spPr>
          <a:xfrm>
            <a:off x="1062987" y="1418035"/>
            <a:ext cx="6938013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defTabSz="911225">
              <a:buFont typeface="+mj-ea"/>
              <a:buAutoNum type="circleNumDbPlain" startAt="2"/>
            </a:pPr>
            <a:r>
              <a:rPr lang="zh-CN" altLang="en-US" sz="20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数据结构的表示（存储结构）用类型定义描述。</a:t>
            </a:r>
            <a:endParaRPr lang="zh-CN" sz="2000" dirty="0">
              <a:solidFill>
                <a:schemeClr val="accent1"/>
              </a:solidFill>
              <a:latin typeface="百度综艺简体" panose="02010601030101010101" charset="-122"/>
              <a:ea typeface="百度综艺简体" panose="02010601030101010101" charset="-122"/>
              <a:sym typeface="Arial" panose="020B0604020202020204" pitchFamily="34" charset="0"/>
            </a:endParaRPr>
          </a:p>
        </p:txBody>
      </p:sp>
      <p:sp>
        <p:nvSpPr>
          <p:cNvPr id="20" name="Text Placeholder 11"/>
          <p:cNvSpPr txBox="1"/>
          <p:nvPr/>
        </p:nvSpPr>
        <p:spPr>
          <a:xfrm>
            <a:off x="1099953" y="2368789"/>
            <a:ext cx="6938013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defTabSz="911225">
              <a:buFont typeface="+mj-ea"/>
              <a:buAutoNum type="circleNumDbPlain" startAt="3"/>
            </a:pPr>
            <a:r>
              <a:rPr lang="zh-CN" altLang="en-US" sz="20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基本操作的算法用函数描述。</a:t>
            </a:r>
            <a:endParaRPr lang="zh-CN" sz="2000" dirty="0">
              <a:solidFill>
                <a:schemeClr val="accent1"/>
              </a:solidFill>
              <a:latin typeface="百度综艺简体" panose="02010601030101010101" charset="-122"/>
              <a:ea typeface="百度综艺简体" panose="02010601030101010101" charset="-122"/>
              <a:sym typeface="Arial" panose="020B0604020202020204" pitchFamily="34" charset="0"/>
            </a:endParaRPr>
          </a:p>
        </p:txBody>
      </p:sp>
      <p:sp>
        <p:nvSpPr>
          <p:cNvPr id="23" name="TextBox 5"/>
          <p:cNvSpPr txBox="1">
            <a:spLocks noChangeArrowheads="1"/>
          </p:cNvSpPr>
          <p:nvPr/>
        </p:nvSpPr>
        <p:spPr bwMode="auto">
          <a:xfrm>
            <a:off x="1505585" y="2739418"/>
            <a:ext cx="3447415" cy="156966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函数类型  函数名（函数参数表）</a:t>
            </a:r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{</a:t>
            </a:r>
            <a:b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</a:br>
            <a:r>
              <a:rPr lang="en-US" altLang="zh-CN" sz="1600" dirty="0" smtClean="0">
                <a:latin typeface="百度综艺简体" panose="02010601030101010101" charset="-122"/>
                <a:ea typeface="百度综艺简体" panose="02010601030101010101" charset="-122"/>
              </a:rPr>
              <a:t>        //</a:t>
            </a: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算法说明</a:t>
            </a:r>
            <a:r>
              <a:rPr lang="zh-CN" altLang="en-US" sz="1600">
                <a:latin typeface="百度综艺简体" panose="02010601030101010101" charset="-122"/>
                <a:ea typeface="百度综艺简体" panose="02010601030101010101" charset="-122"/>
              </a:rPr>
              <a:t/>
            </a:r>
            <a:br>
              <a:rPr lang="zh-CN" altLang="en-US" sz="1600">
                <a:latin typeface="百度综艺简体" panose="02010601030101010101" charset="-122"/>
                <a:ea typeface="百度综艺简体" panose="02010601030101010101" charset="-122"/>
              </a:rPr>
            </a:br>
            <a:r>
              <a:rPr lang="zh-CN" altLang="en-US" sz="1600" smtClean="0">
                <a:latin typeface="百度综艺简体" panose="02010601030101010101" charset="-122"/>
                <a:ea typeface="百度综艺简体" panose="02010601030101010101" charset="-122"/>
              </a:rPr>
              <a:t>       语句</a:t>
            </a: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序列</a:t>
            </a:r>
            <a:b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</a:br>
            <a:r>
              <a:rPr lang="en-US" altLang="zh-CN" sz="1600" dirty="0" smtClean="0">
                <a:latin typeface="百度综艺简体" panose="02010601030101010101" charset="-122"/>
                <a:ea typeface="百度综艺简体" panose="02010601030101010101" charset="-122"/>
              </a:rPr>
              <a:t>}//</a:t>
            </a: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函数名</a:t>
            </a:r>
            <a:endParaRPr lang="en-US" altLang="zh-CN" sz="1600" dirty="0">
              <a:latin typeface="百度综艺简体" panose="02010601030101010101" charset="-122"/>
              <a:ea typeface="百度综艺简体" panose="02010601030101010101" charset="-122"/>
            </a:endParaRPr>
          </a:p>
        </p:txBody>
      </p:sp>
      <p:sp>
        <p:nvSpPr>
          <p:cNvPr id="24" name="TextBox 5"/>
          <p:cNvSpPr txBox="1">
            <a:spLocks noChangeArrowheads="1"/>
          </p:cNvSpPr>
          <p:nvPr/>
        </p:nvSpPr>
        <p:spPr bwMode="auto">
          <a:xfrm>
            <a:off x="837117" y="4216334"/>
            <a:ext cx="2133687" cy="4630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dirty="0" smtClean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注意：</a:t>
            </a:r>
            <a:endParaRPr lang="zh-CN" altLang="en-US" dirty="0">
              <a:solidFill>
                <a:srgbClr val="FF0000"/>
              </a:solidFill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28" name="TextBox 5"/>
          <p:cNvSpPr txBox="1">
            <a:spLocks noChangeArrowheads="1"/>
          </p:cNvSpPr>
          <p:nvPr/>
        </p:nvSpPr>
        <p:spPr bwMode="auto">
          <a:xfrm>
            <a:off x="1488651" y="4090789"/>
            <a:ext cx="6842548" cy="83099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/>
            </a:r>
            <a:b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zh-CN" altLang="en-US" sz="1600" dirty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除了函数参数需要说明类型外</a:t>
            </a: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，算法中使用的辅助变量可以不做变量说明。</a:t>
            </a:r>
            <a:r>
              <a:rPr lang="zh-CN" altLang="en-US" sz="3600" dirty="0">
                <a:solidFill>
                  <a:srgbClr val="CC0000"/>
                </a:solidFill>
              </a:rPr>
              <a:t/>
            </a:r>
            <a:br>
              <a:rPr lang="zh-CN" altLang="en-US" sz="3600" dirty="0">
                <a:solidFill>
                  <a:srgbClr val="CC0000"/>
                </a:solidFill>
              </a:rPr>
            </a:br>
            <a:endParaRPr lang="en-US" altLang="zh-CN" sz="1600" dirty="0">
              <a:latin typeface="百度综艺简体" panose="02010601030101010101" charset="-122"/>
              <a:ea typeface="百度综艺简体" panose="02010601030101010101" charset="-122"/>
            </a:endParaRPr>
          </a:p>
        </p:txBody>
      </p:sp>
      <p:sp>
        <p:nvSpPr>
          <p:cNvPr id="26" name="Text Placeholder 11"/>
          <p:cNvSpPr txBox="1"/>
          <p:nvPr/>
        </p:nvSpPr>
        <p:spPr>
          <a:xfrm>
            <a:off x="2302510" y="241067"/>
            <a:ext cx="280543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1800" dirty="0" smtClean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基本概念和术语</a:t>
            </a:r>
            <a:endParaRPr lang="zh-CN" sz="1800" dirty="0">
              <a:solidFill>
                <a:schemeClr val="accent2"/>
              </a:solidFill>
              <a:latin typeface="百度综艺简体" panose="02010601030101010101" charset="-122"/>
              <a:ea typeface="百度综艺简体" panose="02010601030101010101" charset="-122"/>
              <a:sym typeface="Arial" panose="020B0604020202020204" pitchFamily="34" charset="0"/>
            </a:endParaRPr>
          </a:p>
        </p:txBody>
      </p:sp>
      <p:grpSp>
        <p:nvGrpSpPr>
          <p:cNvPr id="29" name="组合 28"/>
          <p:cNvGrpSpPr/>
          <p:nvPr/>
        </p:nvGrpSpPr>
        <p:grpSpPr>
          <a:xfrm>
            <a:off x="2134235" y="483235"/>
            <a:ext cx="7002145" cy="109220"/>
            <a:chOff x="2140585" y="362585"/>
            <a:chExt cx="7002145" cy="109220"/>
          </a:xfrm>
        </p:grpSpPr>
        <p:cxnSp>
          <p:nvCxnSpPr>
            <p:cNvPr id="32" name="直接连接符 31"/>
            <p:cNvCxnSpPr/>
            <p:nvPr/>
          </p:nvCxnSpPr>
          <p:spPr>
            <a:xfrm>
              <a:off x="2140585" y="417195"/>
              <a:ext cx="6889750" cy="0"/>
            </a:xfrm>
            <a:prstGeom prst="line">
              <a:avLst/>
            </a:prstGeom>
            <a:ln w="22225">
              <a:solidFill>
                <a:srgbClr val="2A5B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椭圆 33"/>
            <p:cNvSpPr/>
            <p:nvPr/>
          </p:nvSpPr>
          <p:spPr>
            <a:xfrm>
              <a:off x="9033510" y="362585"/>
              <a:ext cx="109220" cy="1092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 tmFilter="0,0; .5, 1; 1, 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750"/>
                            </p:stCondLst>
                            <p:childTnLst>
                              <p:par>
                                <p:cTn id="2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5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 tmFilter="0,0; .5, 1; 1, 1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 tmFilter="0,0; .5, 1; 1, 1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 tmFilter="0,0; .5, 1; 1, 1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500" tmFilter="0,0; .5, 1; 1, 1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utoUpdateAnimBg="0"/>
      <p:bldP spid="22" grpId="0" bldLvl="0" animBg="1" autoUpdateAnimBg="0"/>
      <p:bldP spid="31" grpId="0"/>
      <p:bldP spid="30" grpId="0" autoUpdateAnimBg="0"/>
      <p:bldP spid="33" grpId="0"/>
      <p:bldP spid="20" grpId="0"/>
      <p:bldP spid="23" grpId="0" autoUpdateAnimBg="0"/>
      <p:bldP spid="24" grpId="0" autoUpdateAnimBg="0"/>
      <p:bldP spid="28" grpId="0" autoUpdateAnimBg="0"/>
      <p:bldP spid="26" grpId="0"/>
    </p:bldLst>
  </p:timing>
</p:sld>
</file>

<file path=ppt/theme/theme1.xml><?xml version="1.0" encoding="utf-8"?>
<a:theme xmlns:a="http://schemas.openxmlformats.org/drawingml/2006/main" name="Office 主题​​">
  <a:themeElements>
    <a:clrScheme name="自定义 64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A5BA8"/>
      </a:accent1>
      <a:accent2>
        <a:srgbClr val="48AC92"/>
      </a:accent2>
      <a:accent3>
        <a:srgbClr val="2A5BA8"/>
      </a:accent3>
      <a:accent4>
        <a:srgbClr val="48AC92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497</TotalTime>
  <Words>1421</Words>
  <Application>Microsoft Office PowerPoint</Application>
  <PresentationFormat>自定义</PresentationFormat>
  <Paragraphs>177</Paragraphs>
  <Slides>18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32" baseType="lpstr">
      <vt:lpstr>Lato Light</vt:lpstr>
      <vt:lpstr>百度综艺简体</vt:lpstr>
      <vt:lpstr>等线</vt:lpstr>
      <vt:lpstr>等线 Light</vt:lpstr>
      <vt:lpstr>华文中宋</vt:lpstr>
      <vt:lpstr>宋体</vt:lpstr>
      <vt:lpstr>微软雅黑</vt:lpstr>
      <vt:lpstr>Arial</vt:lpstr>
      <vt:lpstr>Calibri</vt:lpstr>
      <vt:lpstr>Calibri Light</vt:lpstr>
      <vt:lpstr>Symbol</vt:lpstr>
      <vt:lpstr>Tahoma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Neusoft</cp:lastModifiedBy>
  <cp:revision>59</cp:revision>
  <dcterms:created xsi:type="dcterms:W3CDTF">2017-06-21T11:46:00Z</dcterms:created>
  <dcterms:modified xsi:type="dcterms:W3CDTF">2020-03-31T08:05:47Z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2052-11.1.0.9098</vt:lpwstr>
  </property>
</Properties>
</file>