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97" r:id="rId2"/>
    <p:sldId id="261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2" autoAdjust="0"/>
    <p:restoredTop sz="94660"/>
  </p:normalViewPr>
  <p:slideViewPr>
    <p:cSldViewPr snapToGrid="0">
      <p:cViewPr varScale="1">
        <p:scale>
          <a:sx n="96" d="100"/>
          <a:sy n="96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261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459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779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110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101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83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303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83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210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416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2020/3/31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31/03/2020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6750050" y="2957195"/>
            <a:ext cx="1868170" cy="37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50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grpSp>
        <p:nvGrpSpPr>
          <p:cNvPr id="2" name="组合 1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ext Placeholder 11"/>
          <p:cNvSpPr txBox="1"/>
          <p:nvPr/>
        </p:nvSpPr>
        <p:spPr>
          <a:xfrm>
            <a:off x="1106170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数据结构学习的主要内容及意义</a:t>
            </a: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268730" y="1682680"/>
            <a:ext cx="7040129" cy="96949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buFontTx/>
              <a:buNone/>
            </a:pPr>
            <a:r>
              <a:rPr 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       </a:t>
            </a:r>
            <a:r>
              <a:rPr lang="zh-CN" dirty="0">
                <a:solidFill>
                  <a:schemeClr val="tx1"/>
                </a:solidFill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是计算机科学与技术专业的专业基础课，是十分重要核心课程。所有的计算机系统软件和应用软件都要用到各种类型的数据结构。</a:t>
            </a:r>
            <a:endParaRPr lang="zh-CN" altLang="en-US" dirty="0">
              <a:solidFill>
                <a:schemeClr val="tx1"/>
              </a:solidFill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8" name="Oval 5"/>
          <p:cNvSpPr>
            <a:spLocks noChangeArrowheads="1"/>
          </p:cNvSpPr>
          <p:nvPr/>
        </p:nvSpPr>
        <p:spPr bwMode="auto">
          <a:xfrm>
            <a:off x="557288" y="744734"/>
            <a:ext cx="548438" cy="546995"/>
          </a:xfrm>
          <a:prstGeom prst="ellipse">
            <a:avLst/>
          </a:prstGeom>
          <a:solidFill>
            <a:schemeClr val="bg2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9" name="Oval 6"/>
          <p:cNvSpPr>
            <a:spLocks noChangeArrowheads="1"/>
          </p:cNvSpPr>
          <p:nvPr/>
        </p:nvSpPr>
        <p:spPr bwMode="auto">
          <a:xfrm>
            <a:off x="611248" y="798693"/>
            <a:ext cx="451739" cy="450296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40" name="TextBox 14"/>
          <p:cNvSpPr txBox="1">
            <a:spLocks noChangeArrowheads="1"/>
          </p:cNvSpPr>
          <p:nvPr/>
        </p:nvSpPr>
        <p:spPr bwMode="auto">
          <a:xfrm>
            <a:off x="665834" y="803135"/>
            <a:ext cx="332568" cy="4615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 Placeholder 11"/>
          <p:cNvSpPr txBox="1"/>
          <p:nvPr/>
        </p:nvSpPr>
        <p:spPr>
          <a:xfrm>
            <a:off x="1106170" y="1390650"/>
            <a:ext cx="123698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数据结构</a:t>
            </a:r>
          </a:p>
        </p:txBody>
      </p:sp>
      <p:sp>
        <p:nvSpPr>
          <p:cNvPr id="52" name="Text Placeholder 11"/>
          <p:cNvSpPr txBox="1"/>
          <p:nvPr/>
        </p:nvSpPr>
        <p:spPr>
          <a:xfrm>
            <a:off x="1100455" y="2969895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用计算机解决一个具体问题时：</a:t>
            </a:r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1355725" y="3427095"/>
            <a:ext cx="4778375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charset="0"/>
              <a:buChar char="u"/>
            </a:pPr>
            <a:r>
              <a:rPr lang="zh-CN" sz="1800" dirty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从具体问题抽象一个适当</a:t>
            </a:r>
            <a:r>
              <a:rPr lang="zh-CN" sz="180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的</a:t>
            </a:r>
            <a:r>
              <a:rPr lang="zh-CN" sz="1800" smtClean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数</a:t>
            </a:r>
            <a:r>
              <a:rPr lang="zh-CN" altLang="en-US" sz="1800" smtClean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学</a:t>
            </a:r>
            <a:r>
              <a:rPr lang="zh-CN" sz="1800" smtClean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模型</a:t>
            </a:r>
            <a:r>
              <a:rPr lang="zh-CN" altLang="en-US" sz="1800" dirty="0" smtClean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；</a:t>
            </a:r>
            <a:endParaRPr lang="zh-CN" altLang="en-US" dirty="0">
              <a:solidFill>
                <a:schemeClr val="tx1"/>
              </a:solidFill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54" name="TextBox 5"/>
          <p:cNvSpPr txBox="1">
            <a:spLocks noChangeArrowheads="1"/>
          </p:cNvSpPr>
          <p:nvPr/>
        </p:nvSpPr>
        <p:spPr bwMode="auto">
          <a:xfrm>
            <a:off x="1355725" y="3795395"/>
            <a:ext cx="4778375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algn="l">
              <a:buClrTx/>
              <a:buSzTx/>
              <a:buFont typeface="Wingdings" panose="05000000000000000000" charset="0"/>
              <a:buChar char="u"/>
            </a:pPr>
            <a:r>
              <a:rPr lang="zh-CN" dirty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设计一个解决此数学模型的</a:t>
            </a:r>
            <a:r>
              <a:rPr lang="zh-CN" dirty="0" smtClean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算法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；</a:t>
            </a:r>
            <a:endParaRPr lang="zh-CN" dirty="0">
              <a:solidFill>
                <a:schemeClr val="tx1"/>
              </a:solidFill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55" name="TextBox 5"/>
          <p:cNvSpPr txBox="1">
            <a:spLocks noChangeArrowheads="1"/>
          </p:cNvSpPr>
          <p:nvPr/>
        </p:nvSpPr>
        <p:spPr bwMode="auto">
          <a:xfrm>
            <a:off x="1355725" y="4163695"/>
            <a:ext cx="611759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charset="0"/>
              <a:buChar char="u"/>
            </a:pPr>
            <a:r>
              <a:rPr lang="zh-CN" dirty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编出程序、进行调试、调整直至得到  最终</a:t>
            </a:r>
            <a:r>
              <a:rPr lang="zh-CN" dirty="0" smtClean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解答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。</a:t>
            </a:r>
            <a:endParaRPr lang="zh-CN" dirty="0">
              <a:solidFill>
                <a:schemeClr val="tx1"/>
              </a:solidFill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8149"/>
                            </p:stCondLst>
                            <p:childTnLst>
                              <p:par>
                                <p:cTn id="62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6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9149"/>
                            </p:stCondLst>
                            <p:childTnLst>
                              <p:par>
                                <p:cTn id="6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149"/>
                            </p:stCondLst>
                            <p:childTnLst>
                              <p:par>
                                <p:cTn id="7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1449"/>
                            </p:stCondLst>
                            <p:childTnLst>
                              <p:par>
                                <p:cTn id="8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 tmFilter="0,0; .5, 1; 1, 1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2649"/>
                            </p:stCondLst>
                            <p:childTnLst>
                              <p:par>
                                <p:cTn id="9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 tmFilter="0,0; .5, 1; 1, 1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 autoUpdateAnimBg="0"/>
      <p:bldP spid="37" grpId="0" animBg="1"/>
      <p:bldP spid="38" grpId="0" bldLvl="0" animBg="1" autoUpdateAnimBg="0"/>
      <p:bldP spid="39" grpId="0" bldLvl="0" animBg="1" autoUpdateAnimBg="0"/>
      <p:bldP spid="40" grpId="0" autoUpdateAnimBg="0"/>
      <p:bldP spid="41" grpId="0"/>
      <p:bldP spid="52" grpId="0"/>
      <p:bldP spid="53" grpId="0" autoUpdateAnimBg="0"/>
      <p:bldP spid="54" grpId="0" autoUpdateAnimBg="0"/>
      <p:bldP spid="5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1106170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数据结构学习的主要内容及意义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8" name="Oval 5"/>
          <p:cNvSpPr>
            <a:spLocks noChangeArrowheads="1"/>
          </p:cNvSpPr>
          <p:nvPr/>
        </p:nvSpPr>
        <p:spPr bwMode="auto">
          <a:xfrm>
            <a:off x="557288" y="744734"/>
            <a:ext cx="548438" cy="546995"/>
          </a:xfrm>
          <a:prstGeom prst="ellipse">
            <a:avLst/>
          </a:prstGeom>
          <a:solidFill>
            <a:schemeClr val="bg2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9" name="Oval 6"/>
          <p:cNvSpPr>
            <a:spLocks noChangeArrowheads="1"/>
          </p:cNvSpPr>
          <p:nvPr/>
        </p:nvSpPr>
        <p:spPr bwMode="auto">
          <a:xfrm>
            <a:off x="611248" y="798693"/>
            <a:ext cx="451739" cy="450296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40" name="TextBox 14"/>
          <p:cNvSpPr txBox="1">
            <a:spLocks noChangeArrowheads="1"/>
          </p:cNvSpPr>
          <p:nvPr/>
        </p:nvSpPr>
        <p:spPr bwMode="auto">
          <a:xfrm>
            <a:off x="665834" y="803135"/>
            <a:ext cx="332568" cy="4615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 Placeholder 11"/>
          <p:cNvSpPr txBox="1"/>
          <p:nvPr/>
        </p:nvSpPr>
        <p:spPr>
          <a:xfrm>
            <a:off x="1106170" y="1440180"/>
            <a:ext cx="191579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“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学生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”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表格</a:t>
            </a:r>
          </a:p>
        </p:txBody>
      </p:sp>
      <p:graphicFrame>
        <p:nvGraphicFramePr>
          <p:cNvPr id="6149" name="Object 3"/>
          <p:cNvGraphicFramePr>
            <a:graphicFrameLocks noChangeAspect="1"/>
          </p:cNvGraphicFramePr>
          <p:nvPr/>
        </p:nvGraphicFramePr>
        <p:xfrm>
          <a:off x="1915795" y="1946275"/>
          <a:ext cx="6964045" cy="299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r:id="rId4" imgW="5537200" imgH="3200400" progId="Word.Document.8">
                  <p:embed/>
                </p:oleObj>
              </mc:Choice>
              <mc:Fallback>
                <p:oleObj r:id="rId4" imgW="5537200" imgH="3200400" progId="Word.Document.8">
                  <p:embed/>
                  <p:pic>
                    <p:nvPicPr>
                      <p:cNvPr id="0" name="20 3075"/>
                      <p:cNvPicPr/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>
                      <a:xfrm>
                        <a:off x="1915795" y="1946275"/>
                        <a:ext cx="6964045" cy="29908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25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250"/>
                            </p:stCondLst>
                            <p:childTnLst>
                              <p:par>
                                <p:cTn id="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  <p:bldP spid="38" grpId="0" bldLvl="0" animBg="1" autoUpdateAnimBg="0"/>
      <p:bldP spid="39" grpId="0" bldLvl="0" animBg="1" autoUpdateAnimBg="0"/>
      <p:bldP spid="40" grpId="0" autoUpdateAnimBg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1106170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数据结构学习的主要内容及意义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8" name="Oval 5"/>
          <p:cNvSpPr>
            <a:spLocks noChangeArrowheads="1"/>
          </p:cNvSpPr>
          <p:nvPr/>
        </p:nvSpPr>
        <p:spPr bwMode="auto">
          <a:xfrm>
            <a:off x="557288" y="744734"/>
            <a:ext cx="548438" cy="546995"/>
          </a:xfrm>
          <a:prstGeom prst="ellipse">
            <a:avLst/>
          </a:prstGeom>
          <a:solidFill>
            <a:schemeClr val="bg2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9" name="Oval 6"/>
          <p:cNvSpPr>
            <a:spLocks noChangeArrowheads="1"/>
          </p:cNvSpPr>
          <p:nvPr/>
        </p:nvSpPr>
        <p:spPr bwMode="auto">
          <a:xfrm>
            <a:off x="611248" y="798693"/>
            <a:ext cx="451739" cy="450296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40" name="TextBox 14"/>
          <p:cNvSpPr txBox="1">
            <a:spLocks noChangeArrowheads="1"/>
          </p:cNvSpPr>
          <p:nvPr/>
        </p:nvSpPr>
        <p:spPr bwMode="auto">
          <a:xfrm>
            <a:off x="665834" y="803135"/>
            <a:ext cx="332568" cy="4615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 Placeholder 11"/>
          <p:cNvSpPr txBox="1"/>
          <p:nvPr/>
        </p:nvSpPr>
        <p:spPr>
          <a:xfrm>
            <a:off x="1106170" y="1440180"/>
            <a:ext cx="34886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UNIX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文件系统的系统结构图</a:t>
            </a:r>
          </a:p>
        </p:txBody>
      </p:sp>
      <p:pic>
        <p:nvPicPr>
          <p:cNvPr id="7173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585" y="2002155"/>
            <a:ext cx="4947920" cy="2590800"/>
          </a:xfrm>
          <a:prstGeom prst="rect">
            <a:avLst/>
          </a:prstGeom>
          <a:noFill/>
          <a:ln w="9525">
            <a:noFill/>
          </a:ln>
          <a:effectLst>
            <a:glow rad="63500">
              <a:schemeClr val="accent1">
                <a:alpha val="7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reflection blurRad="76200" stA="52000" endA="300" endPos="26000" dir="5400000" sy="-100000" algn="bl" rotWithShape="0"/>
            <a:softEdge rad="31750"/>
          </a:effectLst>
        </p:spPr>
      </p:pic>
      <p:grpSp>
        <p:nvGrpSpPr>
          <p:cNvPr id="17" name="组合 16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25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250"/>
                            </p:stCondLst>
                            <p:childTnLst>
                              <p:par>
                                <p:cTn id="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  <p:bldP spid="38" grpId="0" bldLvl="0" animBg="1" autoUpdateAnimBg="0"/>
      <p:bldP spid="39" grpId="0" bldLvl="0" animBg="1" autoUpdateAnimBg="0"/>
      <p:bldP spid="40" grpId="0" autoUpdateAnimBg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2821" y="-42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1106170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数据结构学习的主要内容及意义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8" name="Oval 5"/>
          <p:cNvSpPr>
            <a:spLocks noChangeArrowheads="1"/>
          </p:cNvSpPr>
          <p:nvPr/>
        </p:nvSpPr>
        <p:spPr bwMode="auto">
          <a:xfrm>
            <a:off x="557288" y="744734"/>
            <a:ext cx="548438" cy="546995"/>
          </a:xfrm>
          <a:prstGeom prst="ellipse">
            <a:avLst/>
          </a:prstGeom>
          <a:solidFill>
            <a:schemeClr val="bg2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9" name="Oval 6"/>
          <p:cNvSpPr>
            <a:spLocks noChangeArrowheads="1"/>
          </p:cNvSpPr>
          <p:nvPr/>
        </p:nvSpPr>
        <p:spPr bwMode="auto">
          <a:xfrm>
            <a:off x="611248" y="798693"/>
            <a:ext cx="451739" cy="450296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40" name="TextBox 14"/>
          <p:cNvSpPr txBox="1">
            <a:spLocks noChangeArrowheads="1"/>
          </p:cNvSpPr>
          <p:nvPr/>
        </p:nvSpPr>
        <p:spPr bwMode="auto">
          <a:xfrm>
            <a:off x="665834" y="803135"/>
            <a:ext cx="332568" cy="4615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 Placeholder 11"/>
          <p:cNvSpPr txBox="1"/>
          <p:nvPr/>
        </p:nvSpPr>
        <p:spPr>
          <a:xfrm>
            <a:off x="1801254" y="1630176"/>
            <a:ext cx="34886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1225">
              <a:buNone/>
            </a:pPr>
            <a:r>
              <a:rPr lang="zh-CN" sz="20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小区煤气管道的铺设问题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776624" y="2431635"/>
            <a:ext cx="4425489" cy="923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1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反映数据之间关系的图形结构，</a:t>
            </a:r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lvl="1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图形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结构即是该问题的数学模型。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7" name="Text Placeholder 11"/>
          <p:cNvSpPr txBox="1"/>
          <p:nvPr/>
        </p:nvSpPr>
        <p:spPr>
          <a:xfrm>
            <a:off x="1684020" y="2162944"/>
            <a:ext cx="123698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数据结构</a:t>
            </a:r>
          </a:p>
        </p:txBody>
      </p:sp>
      <p:sp>
        <p:nvSpPr>
          <p:cNvPr id="18" name="AutoShape 3"/>
          <p:cNvSpPr>
            <a:spLocks noChangeAspect="1" noChangeArrowheads="1" noTextEdit="1"/>
          </p:cNvSpPr>
          <p:nvPr/>
        </p:nvSpPr>
        <p:spPr bwMode="auto">
          <a:xfrm>
            <a:off x="1845069" y="2963455"/>
            <a:ext cx="409534" cy="4084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1" name="Oval 6"/>
          <p:cNvSpPr>
            <a:spLocks noChangeArrowheads="1"/>
          </p:cNvSpPr>
          <p:nvPr/>
        </p:nvSpPr>
        <p:spPr bwMode="auto">
          <a:xfrm>
            <a:off x="1330094" y="1614644"/>
            <a:ext cx="340914" cy="339825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25" name="TextBox 19"/>
          <p:cNvSpPr txBox="1">
            <a:spLocks noChangeArrowheads="1"/>
          </p:cNvSpPr>
          <p:nvPr/>
        </p:nvSpPr>
        <p:spPr bwMode="auto">
          <a:xfrm>
            <a:off x="1359663" y="1606969"/>
            <a:ext cx="250979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zh-CN" sz="2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Placeholder 11"/>
          <p:cNvSpPr txBox="1"/>
          <p:nvPr/>
        </p:nvSpPr>
        <p:spPr>
          <a:xfrm>
            <a:off x="1684020" y="3496573"/>
            <a:ext cx="123698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算法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7" name="TextBox 5"/>
          <p:cNvSpPr txBox="1">
            <a:spLocks noChangeArrowheads="1"/>
          </p:cNvSpPr>
          <p:nvPr/>
        </p:nvSpPr>
        <p:spPr bwMode="auto">
          <a:xfrm>
            <a:off x="1776623" y="3745424"/>
            <a:ext cx="4425489" cy="4590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1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图的最小生成树的算法。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椭圆 29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25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5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5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6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250"/>
                            </p:stCondLst>
                            <p:childTnLst>
                              <p:par>
                                <p:cTn id="6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250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250"/>
                            </p:stCondLst>
                            <p:childTnLst>
                              <p:par>
                                <p:cTn id="7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8600"/>
                            </p:stCondLst>
                            <p:childTnLst>
                              <p:par>
                                <p:cTn id="84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8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8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600"/>
                            </p:stCondLst>
                            <p:childTnLst>
                              <p:par>
                                <p:cTn id="9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600"/>
                            </p:stCondLst>
                            <p:childTnLst>
                              <p:par>
                                <p:cTn id="9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  <p:bldP spid="38" grpId="0" bldLvl="0" animBg="1" autoUpdateAnimBg="0"/>
      <p:bldP spid="39" grpId="0" bldLvl="0" animBg="1" autoUpdateAnimBg="0"/>
      <p:bldP spid="40" grpId="0" autoUpdateAnimBg="0"/>
      <p:bldP spid="41" grpId="0"/>
      <p:bldP spid="14" grpId="0" autoUpdateAnimBg="0"/>
      <p:bldP spid="17" grpId="0"/>
      <p:bldP spid="18" grpId="0" animBg="1"/>
      <p:bldP spid="21" grpId="0" animBg="1" autoUpdateAnimBg="0"/>
      <p:bldP spid="25" grpId="0" autoUpdateAnimBg="0"/>
      <p:bldP spid="26" grpId="0"/>
      <p:bldP spid="2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2821" y="4148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1106170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数据结构学习的主要内容及意义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8" name="Oval 5"/>
          <p:cNvSpPr>
            <a:spLocks noChangeArrowheads="1"/>
          </p:cNvSpPr>
          <p:nvPr/>
        </p:nvSpPr>
        <p:spPr bwMode="auto">
          <a:xfrm>
            <a:off x="557288" y="744734"/>
            <a:ext cx="548438" cy="546995"/>
          </a:xfrm>
          <a:prstGeom prst="ellipse">
            <a:avLst/>
          </a:prstGeom>
          <a:solidFill>
            <a:schemeClr val="bg2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9" name="Oval 6"/>
          <p:cNvSpPr>
            <a:spLocks noChangeArrowheads="1"/>
          </p:cNvSpPr>
          <p:nvPr/>
        </p:nvSpPr>
        <p:spPr bwMode="auto">
          <a:xfrm>
            <a:off x="611248" y="798693"/>
            <a:ext cx="451739" cy="450296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40" name="TextBox 14"/>
          <p:cNvSpPr txBox="1">
            <a:spLocks noChangeArrowheads="1"/>
          </p:cNvSpPr>
          <p:nvPr/>
        </p:nvSpPr>
        <p:spPr bwMode="auto">
          <a:xfrm>
            <a:off x="665834" y="803135"/>
            <a:ext cx="332568" cy="4615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606232" y="2133240"/>
            <a:ext cx="6069186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        数据结构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是讨论现实世界非数值计算</a:t>
            </a: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的数学模型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及其操作在计算机中如何</a:t>
            </a: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表示和实现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的一门学科。</a:t>
            </a:r>
            <a:endParaRPr lang="zh-CN" altLang="en-US" sz="20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8" name="AutoShape 3"/>
          <p:cNvSpPr>
            <a:spLocks noChangeAspect="1" noChangeArrowheads="1" noTextEdit="1"/>
          </p:cNvSpPr>
          <p:nvPr/>
        </p:nvSpPr>
        <p:spPr bwMode="auto">
          <a:xfrm>
            <a:off x="1845069" y="2963455"/>
            <a:ext cx="409534" cy="4084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8" name="Text Placeholder 11"/>
          <p:cNvSpPr txBox="1"/>
          <p:nvPr/>
        </p:nvSpPr>
        <p:spPr>
          <a:xfrm>
            <a:off x="1106170" y="1687465"/>
            <a:ext cx="123698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概括地说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25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250"/>
                            </p:stCondLst>
                            <p:childTnLst>
                              <p:par>
                                <p:cTn id="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250"/>
                            </p:stCondLst>
                            <p:childTnLst>
                              <p:par>
                                <p:cTn id="6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  <p:bldP spid="38" grpId="0" bldLvl="0" animBg="1" autoUpdateAnimBg="0"/>
      <p:bldP spid="39" grpId="0" bldLvl="0" animBg="1" autoUpdateAnimBg="0"/>
      <p:bldP spid="40" grpId="0" autoUpdateAnimBg="0"/>
      <p:bldP spid="14" grpId="0" autoUpdateAnimBg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1106170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数据结构学习的主要内容及意义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8" name="Oval 5"/>
          <p:cNvSpPr>
            <a:spLocks noChangeArrowheads="1"/>
          </p:cNvSpPr>
          <p:nvPr/>
        </p:nvSpPr>
        <p:spPr bwMode="auto">
          <a:xfrm>
            <a:off x="557288" y="744734"/>
            <a:ext cx="548438" cy="546995"/>
          </a:xfrm>
          <a:prstGeom prst="ellipse">
            <a:avLst/>
          </a:prstGeom>
          <a:solidFill>
            <a:schemeClr val="bg2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9" name="Oval 6"/>
          <p:cNvSpPr>
            <a:spLocks noChangeArrowheads="1"/>
          </p:cNvSpPr>
          <p:nvPr/>
        </p:nvSpPr>
        <p:spPr bwMode="auto">
          <a:xfrm>
            <a:off x="611248" y="798693"/>
            <a:ext cx="451739" cy="450296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40" name="TextBox 14"/>
          <p:cNvSpPr txBox="1">
            <a:spLocks noChangeArrowheads="1"/>
          </p:cNvSpPr>
          <p:nvPr/>
        </p:nvSpPr>
        <p:spPr bwMode="auto">
          <a:xfrm>
            <a:off x="665834" y="803135"/>
            <a:ext cx="332568" cy="4615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1695161" y="1917224"/>
            <a:ext cx="4778375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数据的逻辑结构；</a:t>
            </a:r>
            <a:endParaRPr lang="zh-CN" altLang="en-US" sz="20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54" name="TextBox 5"/>
          <p:cNvSpPr txBox="1">
            <a:spLocks noChangeArrowheads="1"/>
          </p:cNvSpPr>
          <p:nvPr/>
        </p:nvSpPr>
        <p:spPr bwMode="auto">
          <a:xfrm>
            <a:off x="1695161" y="2440900"/>
            <a:ext cx="4778375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数据的物理结构；</a:t>
            </a:r>
            <a:endParaRPr lang="zh-CN" sz="20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55" name="TextBox 5"/>
          <p:cNvSpPr txBox="1">
            <a:spLocks noChangeArrowheads="1"/>
          </p:cNvSpPr>
          <p:nvPr/>
        </p:nvSpPr>
        <p:spPr bwMode="auto">
          <a:xfrm>
            <a:off x="1695161" y="2994898"/>
            <a:ext cx="6117590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应用在物理结构上的各种操作。</a:t>
            </a:r>
            <a:endParaRPr lang="zh-CN" sz="20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25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250"/>
                            </p:stCondLst>
                            <p:childTnLst>
                              <p:par>
                                <p:cTn id="5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99"/>
                            </p:stCondLst>
                            <p:childTnLst>
                              <p:par>
                                <p:cTn id="6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 tmFilter="0,0; .5, 1; 1, 1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949"/>
                            </p:stCondLst>
                            <p:childTnLst>
                              <p:par>
                                <p:cTn id="7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 tmFilter="0,0; .5, 1; 1, 1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  <p:bldP spid="38" grpId="0" bldLvl="0" animBg="1" autoUpdateAnimBg="0"/>
      <p:bldP spid="39" grpId="0" bldLvl="0" animBg="1" autoUpdateAnimBg="0"/>
      <p:bldP spid="40" grpId="0" autoUpdateAnimBg="0"/>
      <p:bldP spid="53" grpId="0" autoUpdateAnimBg="0"/>
      <p:bldP spid="54" grpId="0" autoUpdateAnimBg="0"/>
      <p:bldP spid="5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1106170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en-US" altLang="zh-CN" sz="24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《</a:t>
            </a:r>
            <a:r>
              <a:rPr lang="zh-CN" altLang="zh-CN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数据结构</a:t>
            </a:r>
            <a:r>
              <a:rPr lang="en-US" altLang="zh-CN" sz="24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》</a:t>
            </a:r>
            <a:r>
              <a:rPr lang="zh-CN" altLang="en-US" sz="24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的先修课程</a:t>
            </a:r>
            <a:endParaRPr lang="zh-CN" sz="24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8" name="Oval 5"/>
          <p:cNvSpPr>
            <a:spLocks noChangeArrowheads="1"/>
          </p:cNvSpPr>
          <p:nvPr/>
        </p:nvSpPr>
        <p:spPr bwMode="auto">
          <a:xfrm>
            <a:off x="557288" y="744734"/>
            <a:ext cx="548438" cy="546995"/>
          </a:xfrm>
          <a:prstGeom prst="ellipse">
            <a:avLst/>
          </a:prstGeom>
          <a:solidFill>
            <a:schemeClr val="bg2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9" name="Oval 6"/>
          <p:cNvSpPr>
            <a:spLocks noChangeArrowheads="1"/>
          </p:cNvSpPr>
          <p:nvPr/>
        </p:nvSpPr>
        <p:spPr bwMode="auto">
          <a:xfrm>
            <a:off x="611248" y="798693"/>
            <a:ext cx="451739" cy="450296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40" name="TextBox 14"/>
          <p:cNvSpPr txBox="1">
            <a:spLocks noChangeArrowheads="1"/>
          </p:cNvSpPr>
          <p:nvPr/>
        </p:nvSpPr>
        <p:spPr bwMode="auto">
          <a:xfrm>
            <a:off x="665834" y="803135"/>
            <a:ext cx="332568" cy="4615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zh-CN" sz="24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1695161" y="1917224"/>
            <a:ext cx="4778375" cy="5041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 smtClean="0">
                <a:latin typeface="百度综艺简体" panose="02010601030101010101" charset="-122"/>
                <a:ea typeface="百度综艺简体" panose="02010601030101010101" charset="-122"/>
              </a:rPr>
              <a:t>《</a:t>
            </a: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离散数学</a:t>
            </a:r>
            <a:r>
              <a:rPr lang="en-US" altLang="zh-CN" sz="2000" dirty="0" smtClean="0">
                <a:latin typeface="百度综艺简体" panose="02010601030101010101" charset="-122"/>
                <a:ea typeface="百度综艺简体" panose="02010601030101010101" charset="-122"/>
              </a:rPr>
              <a:t>》</a:t>
            </a:r>
            <a:endParaRPr lang="zh-CN" altLang="en-US" sz="20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54" name="TextBox 5"/>
          <p:cNvSpPr txBox="1">
            <a:spLocks noChangeArrowheads="1"/>
          </p:cNvSpPr>
          <p:nvPr/>
        </p:nvSpPr>
        <p:spPr bwMode="auto">
          <a:xfrm>
            <a:off x="1695161" y="2440900"/>
            <a:ext cx="4778375" cy="5041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zh-CN" sz="2000" dirty="0" smtClean="0">
                <a:latin typeface="百度综艺简体" panose="02010601030101010101" charset="-122"/>
                <a:ea typeface="百度综艺简体" panose="02010601030101010101" charset="-122"/>
              </a:rPr>
              <a:t>《C</a:t>
            </a: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程序设计</a:t>
            </a:r>
            <a:r>
              <a:rPr lang="en-US" altLang="zh-CN" sz="2000" dirty="0" smtClean="0">
                <a:latin typeface="百度综艺简体" panose="02010601030101010101" charset="-122"/>
                <a:ea typeface="百度综艺简体" panose="02010601030101010101" charset="-122"/>
              </a:rPr>
              <a:t>》</a:t>
            </a: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（必须项）</a:t>
            </a:r>
            <a:endParaRPr lang="zh-CN" sz="20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25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250"/>
                            </p:stCondLst>
                            <p:childTnLst>
                              <p:par>
                                <p:cTn id="5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 tmFilter="0,0; .5, 1; 1, 1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  <p:bldP spid="38" grpId="0" bldLvl="0" animBg="1" autoUpdateAnimBg="0"/>
      <p:bldP spid="39" grpId="0" bldLvl="0" animBg="1" autoUpdateAnimBg="0"/>
      <p:bldP spid="40" grpId="0" autoUpdateAnimBg="0"/>
      <p:bldP spid="53" grpId="0" autoUpdateAnimBg="0"/>
      <p:bldP spid="5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1106170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en-US" altLang="zh-CN" sz="24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《</a:t>
            </a:r>
            <a:r>
              <a:rPr lang="zh-CN" altLang="zh-CN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数据结构</a:t>
            </a:r>
            <a:r>
              <a:rPr lang="en-US" altLang="zh-CN" sz="24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》</a:t>
            </a:r>
            <a:r>
              <a:rPr lang="zh-CN" altLang="en-US" sz="24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的选用教材</a:t>
            </a:r>
            <a:endParaRPr lang="zh-CN" sz="24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8" name="Oval 5"/>
          <p:cNvSpPr>
            <a:spLocks noChangeArrowheads="1"/>
          </p:cNvSpPr>
          <p:nvPr/>
        </p:nvSpPr>
        <p:spPr bwMode="auto">
          <a:xfrm>
            <a:off x="557288" y="744734"/>
            <a:ext cx="548438" cy="546995"/>
          </a:xfrm>
          <a:prstGeom prst="ellipse">
            <a:avLst/>
          </a:prstGeom>
          <a:solidFill>
            <a:schemeClr val="bg2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9" name="Oval 6"/>
          <p:cNvSpPr>
            <a:spLocks noChangeArrowheads="1"/>
          </p:cNvSpPr>
          <p:nvPr/>
        </p:nvSpPr>
        <p:spPr bwMode="auto">
          <a:xfrm>
            <a:off x="611248" y="798693"/>
            <a:ext cx="451739" cy="450296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40" name="TextBox 14"/>
          <p:cNvSpPr txBox="1">
            <a:spLocks noChangeArrowheads="1"/>
          </p:cNvSpPr>
          <p:nvPr/>
        </p:nvSpPr>
        <p:spPr bwMode="auto">
          <a:xfrm>
            <a:off x="665834" y="803135"/>
            <a:ext cx="332568" cy="4615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zh-CN" sz="24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Box 5"/>
          <p:cNvSpPr txBox="1">
            <a:spLocks noChangeArrowheads="1"/>
          </p:cNvSpPr>
          <p:nvPr/>
        </p:nvSpPr>
        <p:spPr bwMode="auto">
          <a:xfrm>
            <a:off x="1798004" y="1972081"/>
            <a:ext cx="6461873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严蔚敏  吴伟民 编著 （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C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语言版）</a:t>
            </a:r>
            <a:endParaRPr lang="en-US" altLang="zh-CN" sz="2000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             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                 </a:t>
            </a:r>
            <a:r>
              <a:rPr lang="en-US" altLang="zh-CN" sz="2000" dirty="0" smtClean="0">
                <a:latin typeface="百度综艺简体" panose="02010601030101010101" charset="-122"/>
                <a:ea typeface="百度综艺简体" panose="02010601030101010101" charset="-122"/>
              </a:rPr>
              <a:t>                 ——</a:t>
            </a: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清华大学出版社</a:t>
            </a:r>
            <a:endParaRPr lang="zh-CN" altLang="en-US" sz="20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25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250"/>
                            </p:stCondLst>
                            <p:childTnLst>
                              <p:par>
                                <p:cTn id="5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 tmFilter="0,0; .5, 1; 1, 1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  <p:bldP spid="38" grpId="0" bldLvl="0" animBg="1" autoUpdateAnimBg="0"/>
      <p:bldP spid="39" grpId="0" bldLvl="0" animBg="1" autoUpdateAnimBg="0"/>
      <p:bldP spid="40" grpId="0" autoUpdateAnimBg="0"/>
      <p:bldP spid="5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2821" y="110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1106170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en-US" altLang="zh-CN" sz="24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《</a:t>
            </a:r>
            <a:r>
              <a:rPr lang="zh-CN" altLang="zh-CN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数据结构</a:t>
            </a:r>
            <a:r>
              <a:rPr lang="en-US" altLang="zh-CN" sz="24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》</a:t>
            </a:r>
            <a:r>
              <a:rPr lang="zh-CN" altLang="en-US" sz="24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的学习方法</a:t>
            </a:r>
            <a:endParaRPr lang="zh-CN" sz="24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8" name="Oval 5"/>
          <p:cNvSpPr>
            <a:spLocks noChangeArrowheads="1"/>
          </p:cNvSpPr>
          <p:nvPr/>
        </p:nvSpPr>
        <p:spPr bwMode="auto">
          <a:xfrm>
            <a:off x="557288" y="744734"/>
            <a:ext cx="548438" cy="546995"/>
          </a:xfrm>
          <a:prstGeom prst="ellipse">
            <a:avLst/>
          </a:prstGeom>
          <a:solidFill>
            <a:schemeClr val="bg2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9" name="Oval 6"/>
          <p:cNvSpPr>
            <a:spLocks noChangeArrowheads="1"/>
          </p:cNvSpPr>
          <p:nvPr/>
        </p:nvSpPr>
        <p:spPr bwMode="auto">
          <a:xfrm>
            <a:off x="611248" y="798693"/>
            <a:ext cx="451739" cy="450296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40" name="TextBox 14"/>
          <p:cNvSpPr txBox="1">
            <a:spLocks noChangeArrowheads="1"/>
          </p:cNvSpPr>
          <p:nvPr/>
        </p:nvSpPr>
        <p:spPr bwMode="auto">
          <a:xfrm>
            <a:off x="665834" y="803135"/>
            <a:ext cx="332568" cy="4615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zh-CN" sz="24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Box 5"/>
          <p:cNvSpPr txBox="1">
            <a:spLocks noChangeArrowheads="1"/>
          </p:cNvSpPr>
          <p:nvPr/>
        </p:nvSpPr>
        <p:spPr bwMode="auto">
          <a:xfrm>
            <a:off x="3498273" y="2110581"/>
            <a:ext cx="2278075" cy="535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 smtClean="0">
                <a:latin typeface="百度综艺简体" panose="02010601030101010101" charset="-122"/>
                <a:ea typeface="百度综艺简体" panose="02010601030101010101" charset="-122"/>
              </a:rPr>
              <a:t>理论</a:t>
            </a:r>
            <a:r>
              <a:rPr lang="en-US" altLang="zh-CN" sz="2400" dirty="0" smtClean="0">
                <a:latin typeface="百度综艺简体" panose="02010601030101010101" charset="-122"/>
                <a:ea typeface="百度综艺简体" panose="02010601030101010101" charset="-122"/>
              </a:rPr>
              <a:t>+</a:t>
            </a:r>
            <a:r>
              <a:rPr lang="zh-CN" altLang="en-US" sz="2400" dirty="0">
                <a:latin typeface="百度综艺简体" panose="02010601030101010101" charset="-122"/>
                <a:ea typeface="百度综艺简体" panose="02010601030101010101" charset="-122"/>
              </a:rPr>
              <a:t>上机实践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25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250"/>
                            </p:stCondLst>
                            <p:childTnLst>
                              <p:par>
                                <p:cTn id="5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 tmFilter="0,0; .5, 1; 1, 1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  <p:bldP spid="38" grpId="0" bldLvl="0" animBg="1" autoUpdateAnimBg="0"/>
      <p:bldP spid="39" grpId="0" bldLvl="0" animBg="1" autoUpdateAnimBg="0"/>
      <p:bldP spid="40" grpId="0" autoUpdateAnimBg="0"/>
      <p:bldP spid="54" grpId="0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284</Words>
  <Application>Microsoft Office PowerPoint</Application>
  <PresentationFormat>自定义</PresentationFormat>
  <Paragraphs>65</Paragraphs>
  <Slides>10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Lato Light</vt:lpstr>
      <vt:lpstr>百度综艺简体</vt:lpstr>
      <vt:lpstr>等线</vt:lpstr>
      <vt:lpstr>等线 Light</vt:lpstr>
      <vt:lpstr>华文中宋</vt:lpstr>
      <vt:lpstr>宋体</vt:lpstr>
      <vt:lpstr>微软雅黑</vt:lpstr>
      <vt:lpstr>Arial</vt:lpstr>
      <vt:lpstr>Calibri</vt:lpstr>
      <vt:lpstr>Calibri Light</vt:lpstr>
      <vt:lpstr>Tahoma</vt:lpstr>
      <vt:lpstr>Wingdings</vt:lpstr>
      <vt:lpstr>Office 主题​​</vt:lpstr>
      <vt:lpstr>Microsoft Word 97 - 2003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Neusoft</cp:lastModifiedBy>
  <cp:revision>30</cp:revision>
  <dcterms:created xsi:type="dcterms:W3CDTF">2017-06-21T11:46:00Z</dcterms:created>
  <dcterms:modified xsi:type="dcterms:W3CDTF">2020-03-31T08:05:58Z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