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3" r:id="rId4"/>
    <p:sldId id="264" r:id="rId5"/>
    <p:sldId id="265" r:id="rId6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691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335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047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881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006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2020/3/31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31/03/2020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841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算法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469029" y="1547089"/>
            <a:ext cx="7277822" cy="4186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一个有穷的指令集，这些指令为解决某一特定任务规定了一个</a:t>
            </a: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运算</a:t>
            </a:r>
            <a:r>
              <a:rPr lang="zh-CN" altLang="en-US" sz="1600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序列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851546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定义：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52" name="Text Placeholder 11"/>
          <p:cNvSpPr txBox="1"/>
          <p:nvPr/>
        </p:nvSpPr>
        <p:spPr>
          <a:xfrm>
            <a:off x="1053454" y="2197846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特性：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634874" y="2622053"/>
            <a:ext cx="477837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输入：  有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0个或多个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输入。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634874" y="2991369"/>
            <a:ext cx="477837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输出：  有一个或多个输出(处理结果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)。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634874" y="3408615"/>
            <a:ext cx="477837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确定性：  每步定义都是确切、无歧义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的。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634874" y="3806991"/>
            <a:ext cx="477837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有穷性 ： 算法应在执行有穷步后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结束。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auto">
          <a:xfrm>
            <a:off x="1634874" y="4222355"/>
            <a:ext cx="565492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可行性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： 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每一条操作都可以通过以实现的基本操作实现。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339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  <p:bldP spid="41" grpId="0"/>
      <p:bldP spid="52" grpId="0"/>
      <p:bldP spid="53" grpId="0" autoUpdateAnimBg="0"/>
      <p:bldP spid="17" grpId="0" autoUpdateAnimBg="0"/>
      <p:bldP spid="18" grpId="0" autoUpdateAnimBg="0"/>
      <p:bldP spid="23" grpId="0" autoUpdateAnimBg="0"/>
      <p:bldP spid="2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算法设计的原则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933089" y="763193"/>
            <a:ext cx="7277822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设计算法时，通常应考虑达到以下目标：</a:t>
            </a:r>
            <a:endParaRPr lang="zh-CN" altLang="en-US" sz="20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2" name="Text Placeholder 11"/>
          <p:cNvSpPr txBox="1"/>
          <p:nvPr/>
        </p:nvSpPr>
        <p:spPr>
          <a:xfrm>
            <a:off x="933089" y="1335651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defTabSz="911225">
              <a:buFont typeface="+mj-lt"/>
              <a:buAutoNum type="arabicPeriod"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正确性：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380873" y="1854038"/>
            <a:ext cx="6576037" cy="2862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7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首先，算法应当满足以特定的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“规格说明”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方式给出的需求。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380873" y="2194561"/>
            <a:ext cx="7187393" cy="2862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7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其次，对算法是否“正确”的理解可以有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以下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四个层次：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2049741" y="2535084"/>
            <a:ext cx="477837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程序中不含语法错误；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2049740" y="2963019"/>
            <a:ext cx="6687859" cy="2740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70000"/>
              </a:lnSpc>
              <a:buFont typeface="+mj-lt"/>
              <a:buAutoNum type="alphaLcParenR" startAt="2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程序对于几组输入数据能够得出满足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要求的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结果；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2049740" y="3203704"/>
            <a:ext cx="6687859" cy="7911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LcParenR" startAt="3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程序对于精心选择的、典型、苛刻切带有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刁难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性的几组输入数据能够得出满足要求的结果；</a:t>
            </a:r>
          </a:p>
        </p:txBody>
      </p:sp>
      <p:sp>
        <p:nvSpPr>
          <p:cNvPr id="24" name="TextBox 5"/>
          <p:cNvSpPr txBox="1">
            <a:spLocks noChangeArrowheads="1"/>
          </p:cNvSpPr>
          <p:nvPr/>
        </p:nvSpPr>
        <p:spPr bwMode="auto">
          <a:xfrm>
            <a:off x="2049739" y="3941593"/>
            <a:ext cx="668785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LcParenR" startAt="4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程序对于一切合法的输入数据都能得出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满足要求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的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结果。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679088" y="4589591"/>
            <a:ext cx="7277822" cy="2862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561975">
              <a:lnSpc>
                <a:spcPct val="7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通常以第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c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层意义的正确性作为衡量一个算法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是否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合格的标准。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9253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  <p:bldP spid="52" grpId="0"/>
      <p:bldP spid="53" grpId="0" autoUpdateAnimBg="0"/>
      <p:bldP spid="17" grpId="0" autoUpdateAnimBg="0"/>
      <p:bldP spid="18" grpId="0" autoUpdateAnimBg="0"/>
      <p:bldP spid="23" grpId="0" autoUpdateAnimBg="0"/>
      <p:bldP spid="20" grpId="0" autoUpdateAnimBg="0"/>
      <p:bldP spid="24" grpId="0" autoUpdateAnimBg="0"/>
      <p:bldP spid="2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算法设计的原则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933089" y="763193"/>
            <a:ext cx="7277822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设计算法时，通常应考虑达到以下目标：</a:t>
            </a:r>
            <a:endParaRPr lang="zh-CN" altLang="en-US" sz="20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2" name="Text Placeholder 11"/>
          <p:cNvSpPr txBox="1"/>
          <p:nvPr/>
        </p:nvSpPr>
        <p:spPr>
          <a:xfrm>
            <a:off x="933089" y="1602293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defTabSz="911225">
              <a:buFont typeface="+mj-lt"/>
              <a:buAutoNum type="arabicPeriod" startAt="2"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可读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性：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283981" y="2169135"/>
            <a:ext cx="7030398" cy="1338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561975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算法主要是为了人的阅读与交流，其次才是为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计算机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执行。因此算法应该易于人的理解；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另一方面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，晦涩难读的程序易于隐藏较多错误而难以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调试。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6291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  <p:bldP spid="52" grpId="0"/>
      <p:bldP spid="5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算法设计的原则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933089" y="763193"/>
            <a:ext cx="7277822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设计算法时，通常应考虑达到以下目标：</a:t>
            </a:r>
            <a:endParaRPr lang="zh-CN" altLang="en-US" sz="20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2" name="Text Placeholder 11"/>
          <p:cNvSpPr txBox="1"/>
          <p:nvPr/>
        </p:nvSpPr>
        <p:spPr>
          <a:xfrm>
            <a:off x="933089" y="1446706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defTabSz="911225">
              <a:buFont typeface="+mj-lt"/>
              <a:buAutoNum type="arabicPeriod" startAt="3"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健壮性：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268730" y="1800401"/>
            <a:ext cx="7309686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561975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应是返回一个表示错误或错误性质的值，当输入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的数据非法时，算法应当恰当地作出反映或进行相应处理，而不是产生莫名奇妙的输出结果。并且，处理出错的方法不应是中断程序的执行，而以便在更高的抽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象层次上进行处理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 Placeholder 11"/>
          <p:cNvSpPr txBox="1"/>
          <p:nvPr/>
        </p:nvSpPr>
        <p:spPr>
          <a:xfrm>
            <a:off x="933089" y="3540257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911225">
              <a:buNone/>
            </a:pP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4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． 高效率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与低存储量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需求：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268730" y="3893952"/>
            <a:ext cx="7309686" cy="878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561975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通常，效率指的是算法执行时间；存储量指的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是算法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执行过程中所需的最大存储空间。两者都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与问题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的规模有关。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4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  <p:bldP spid="52" grpId="0"/>
      <p:bldP spid="53" grpId="0" autoUpdateAnimBg="0"/>
      <p:bldP spid="14" grpId="0"/>
      <p:bldP spid="17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477</TotalTime>
  <Words>416</Words>
  <Application>Microsoft Office PowerPoint</Application>
  <PresentationFormat>自定义</PresentationFormat>
  <Paragraphs>40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Tahoma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29</cp:revision>
  <dcterms:created xsi:type="dcterms:W3CDTF">2017-06-21T11:46:00Z</dcterms:created>
  <dcterms:modified xsi:type="dcterms:W3CDTF">2020-03-31T08:05:32Z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