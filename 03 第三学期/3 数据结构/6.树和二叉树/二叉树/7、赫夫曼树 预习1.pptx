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83" r:id="rId2"/>
    <p:sldId id="284" r:id="rId3"/>
    <p:sldId id="315" r:id="rId4"/>
    <p:sldId id="316" r:id="rId5"/>
    <p:sldId id="304" r:id="rId6"/>
    <p:sldId id="317" r:id="rId7"/>
    <p:sldId id="318" r:id="rId8"/>
    <p:sldId id="319" r:id="rId9"/>
    <p:sldId id="320" r:id="rId10"/>
    <p:sldId id="321" r:id="rId11"/>
    <p:sldId id="322" r:id="rId12"/>
    <p:sldId id="323" r:id="rId13"/>
    <p:sldId id="324" r:id="rId14"/>
    <p:sldId id="325" r:id="rId15"/>
  </p:sldIdLst>
  <p:sldSz cx="9144000" cy="51450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5B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2" autoAdjust="0"/>
    <p:restoredTop sz="94660"/>
  </p:normalViewPr>
  <p:slideViewPr>
    <p:cSldViewPr snapToGrid="0">
      <p:cViewPr varScale="1">
        <p:scale>
          <a:sx n="96" d="100"/>
          <a:sy n="96" d="100"/>
        </p:scale>
        <p:origin x="534" y="78"/>
      </p:cViewPr>
      <p:guideLst/>
    </p:cSldViewPr>
  </p:slideViewPr>
  <p:notesTextViewPr>
    <p:cViewPr>
      <p:scale>
        <a:sx n="1" d="1"/>
        <a:sy n="1" d="1"/>
      </p:scale>
      <p:origin x="0" y="0"/>
    </p:cViewPr>
  </p:notesTextViewPr>
  <p:sorterViewPr>
    <p:cViewPr>
      <p:scale>
        <a:sx n="100" d="100"/>
        <a:sy n="100" d="100"/>
      </p:scale>
      <p:origin x="0" y="-1692"/>
    </p:cViewPr>
  </p:sorter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31844-757F-4497-A6B9-29138D45B0D0}" type="datetimeFigureOut">
              <a:rPr lang="zh-CN" altLang="en-US" smtClean="0"/>
              <a:t>2023/10/20</a:t>
            </a:fld>
            <a:endParaRPr lang="zh-CN" altLang="en-US"/>
          </a:p>
        </p:txBody>
      </p:sp>
      <p:sp>
        <p:nvSpPr>
          <p:cNvPr id="4" name="幻灯片图像占位符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BABFAC-0D77-4680-9C08-FA0DD250B4A7}" type="slidenum">
              <a:rPr lang="zh-CN" altLang="en-US" smtClean="0"/>
              <a:t>‹#›</a:t>
            </a:fld>
            <a:endParaRPr lang="zh-CN" altLang="en-US"/>
          </a:p>
        </p:txBody>
      </p:sp>
    </p:spTree>
    <p:extLst>
      <p:ext uri="{BB962C8B-B14F-4D97-AF65-F5344CB8AC3E}">
        <p14:creationId xmlns:p14="http://schemas.microsoft.com/office/powerpoint/2010/main" val="1648085012"/>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2</a:t>
            </a:fld>
            <a:endParaRPr lang="zh-CN" altLang="en-US"/>
          </a:p>
        </p:txBody>
      </p:sp>
    </p:spTree>
    <p:extLst>
      <p:ext uri="{BB962C8B-B14F-4D97-AF65-F5344CB8AC3E}">
        <p14:creationId xmlns:p14="http://schemas.microsoft.com/office/powerpoint/2010/main" val="3524012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3</a:t>
            </a:fld>
            <a:endParaRPr lang="zh-CN" altLang="en-US"/>
          </a:p>
        </p:txBody>
      </p:sp>
    </p:spTree>
    <p:extLst>
      <p:ext uri="{BB962C8B-B14F-4D97-AF65-F5344CB8AC3E}">
        <p14:creationId xmlns:p14="http://schemas.microsoft.com/office/powerpoint/2010/main" val="3976701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4</a:t>
            </a:fld>
            <a:endParaRPr lang="zh-CN" altLang="en-US"/>
          </a:p>
        </p:txBody>
      </p:sp>
    </p:spTree>
    <p:extLst>
      <p:ext uri="{BB962C8B-B14F-4D97-AF65-F5344CB8AC3E}">
        <p14:creationId xmlns:p14="http://schemas.microsoft.com/office/powerpoint/2010/main" val="3375002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5</a:t>
            </a:fld>
            <a:endParaRPr lang="zh-CN" altLang="en-US"/>
          </a:p>
        </p:txBody>
      </p:sp>
    </p:spTree>
    <p:extLst>
      <p:ext uri="{BB962C8B-B14F-4D97-AF65-F5344CB8AC3E}">
        <p14:creationId xmlns:p14="http://schemas.microsoft.com/office/powerpoint/2010/main" val="15250028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6</a:t>
            </a:fld>
            <a:endParaRPr lang="zh-CN" altLang="en-US"/>
          </a:p>
        </p:txBody>
      </p:sp>
    </p:spTree>
    <p:extLst>
      <p:ext uri="{BB962C8B-B14F-4D97-AF65-F5344CB8AC3E}">
        <p14:creationId xmlns:p14="http://schemas.microsoft.com/office/powerpoint/2010/main" val="100103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7</a:t>
            </a:fld>
            <a:endParaRPr lang="zh-CN" altLang="en-US"/>
          </a:p>
        </p:txBody>
      </p:sp>
    </p:spTree>
    <p:extLst>
      <p:ext uri="{BB962C8B-B14F-4D97-AF65-F5344CB8AC3E}">
        <p14:creationId xmlns:p14="http://schemas.microsoft.com/office/powerpoint/2010/main" val="323928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8</a:t>
            </a:fld>
            <a:endParaRPr lang="zh-CN" altLang="en-US"/>
          </a:p>
        </p:txBody>
      </p:sp>
    </p:spTree>
    <p:extLst>
      <p:ext uri="{BB962C8B-B14F-4D97-AF65-F5344CB8AC3E}">
        <p14:creationId xmlns:p14="http://schemas.microsoft.com/office/powerpoint/2010/main" val="19159742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9</a:t>
            </a:fld>
            <a:endParaRPr lang="zh-CN" altLang="en-US"/>
          </a:p>
        </p:txBody>
      </p:sp>
    </p:spTree>
    <p:extLst>
      <p:ext uri="{BB962C8B-B14F-4D97-AF65-F5344CB8AC3E}">
        <p14:creationId xmlns:p14="http://schemas.microsoft.com/office/powerpoint/2010/main" val="3389494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10</a:t>
            </a:fld>
            <a:endParaRPr lang="zh-CN" altLang="en-US"/>
          </a:p>
        </p:txBody>
      </p:sp>
    </p:spTree>
    <p:extLst>
      <p:ext uri="{BB962C8B-B14F-4D97-AF65-F5344CB8AC3E}">
        <p14:creationId xmlns:p14="http://schemas.microsoft.com/office/powerpoint/2010/main" val="487306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11</a:t>
            </a:fld>
            <a:endParaRPr lang="zh-CN" altLang="en-US"/>
          </a:p>
        </p:txBody>
      </p:sp>
    </p:spTree>
    <p:extLst>
      <p:ext uri="{BB962C8B-B14F-4D97-AF65-F5344CB8AC3E}">
        <p14:creationId xmlns:p14="http://schemas.microsoft.com/office/powerpoint/2010/main" val="1764334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12</a:t>
            </a:fld>
            <a:endParaRPr lang="zh-CN" altLang="en-US"/>
          </a:p>
        </p:txBody>
      </p:sp>
    </p:spTree>
    <p:extLst>
      <p:ext uri="{BB962C8B-B14F-4D97-AF65-F5344CB8AC3E}">
        <p14:creationId xmlns:p14="http://schemas.microsoft.com/office/powerpoint/2010/main" val="379671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13</a:t>
            </a:fld>
            <a:endParaRPr lang="zh-CN" altLang="en-US"/>
          </a:p>
        </p:txBody>
      </p:sp>
    </p:spTree>
    <p:extLst>
      <p:ext uri="{BB962C8B-B14F-4D97-AF65-F5344CB8AC3E}">
        <p14:creationId xmlns:p14="http://schemas.microsoft.com/office/powerpoint/2010/main" val="10580535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14</a:t>
            </a:fld>
            <a:endParaRPr lang="zh-CN" altLang="en-US"/>
          </a:p>
        </p:txBody>
      </p:sp>
    </p:spTree>
    <p:extLst>
      <p:ext uri="{BB962C8B-B14F-4D97-AF65-F5344CB8AC3E}">
        <p14:creationId xmlns:p14="http://schemas.microsoft.com/office/powerpoint/2010/main" val="2291426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2032"/>
            <a:ext cx="6858000" cy="1791253"/>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143000" y="2702363"/>
            <a:ext cx="6858000" cy="1242205"/>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2023/10/20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2023/10/20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4021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3443160"/>
            <a:ext cx="7886700" cy="1125488"/>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75B0A747-1217-4325-A876-522190C71555}" type="datetimeFigureOut">
              <a:rPr lang="zh-CN" altLang="en-US" smtClean="0"/>
              <a:t>2023/10/20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369642"/>
            <a:ext cx="3886200" cy="326451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369642"/>
            <a:ext cx="3886200" cy="326451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75B0A747-1217-4325-A876-522190C71555}" type="datetimeFigureOut">
              <a:rPr lang="zh-CN" altLang="en-US" smtClean="0"/>
              <a:t>2023/10/20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929"/>
            <a:ext cx="7886700" cy="994479"/>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261261"/>
            <a:ext cx="3868340" cy="61812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hasCustomPrompt="1"/>
          </p:nvPr>
        </p:nvSpPr>
        <p:spPr>
          <a:xfrm>
            <a:off x="629842" y="1879386"/>
            <a:ext cx="3868340" cy="276429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261261"/>
            <a:ext cx="3887391" cy="61812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1879386"/>
            <a:ext cx="3887391" cy="276429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5B0A747-1217-4325-A876-522190C71555}" type="datetimeFigureOut">
              <a:rPr lang="zh-CN" altLang="en-US" smtClean="0"/>
              <a:t>2023/10/20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5B0A747-1217-4325-A876-522190C71555}" type="datetimeFigureOut">
              <a:rPr lang="zh-CN" altLang="en-US" smtClean="0"/>
              <a:t>2023/10/20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B0A747-1217-4325-A876-522190C71555}" type="datetimeFigureOut">
              <a:rPr lang="zh-CN" altLang="en-US" smtClean="0"/>
              <a:t>2023/10/20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C7CFC9F-4B06-4ABB-A28A-559A77B7DC59}" type="slidenum">
              <a:rPr lang="zh-CN" altLang="en-US" smtClean="0"/>
              <a:t>‹#›</a:t>
            </a:fld>
            <a:endParaRPr lang="zh-CN" altLang="en-US"/>
          </a:p>
        </p:txBody>
      </p:sp>
      <p:sp>
        <p:nvSpPr>
          <p:cNvPr id="5" name="矩形 4"/>
          <p:cNvSpPr/>
          <p:nvPr userDrawn="1"/>
        </p:nvSpPr>
        <p:spPr>
          <a:xfrm>
            <a:off x="253" y="196280"/>
            <a:ext cx="144049"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defTabSz="685800"/>
            <a:endParaRPr lang="zh-CN" altLang="en-US" sz="1400" dirty="0">
              <a:solidFill>
                <a:srgbClr val="E7E6E6">
                  <a:lumMod val="50000"/>
                </a:srgbClr>
              </a:solidFill>
              <a:cs typeface="+mn-ea"/>
              <a:sym typeface="+mn-lt"/>
            </a:endParaRPr>
          </a:p>
        </p:txBody>
      </p:sp>
      <p:sp>
        <p:nvSpPr>
          <p:cNvPr id="6" name="文本框 37"/>
          <p:cNvSpPr txBox="1"/>
          <p:nvPr userDrawn="1"/>
        </p:nvSpPr>
        <p:spPr>
          <a:xfrm>
            <a:off x="216310" y="196280"/>
            <a:ext cx="2190351" cy="315475"/>
          </a:xfrm>
          <a:prstGeom prst="rect">
            <a:avLst/>
          </a:prstGeom>
          <a:noFill/>
        </p:spPr>
        <p:txBody>
          <a:bodyPr wrap="none" lIns="68584" tIns="34292" rIns="68584" bIns="34292" rtlCol="0">
            <a:spAutoFit/>
          </a:bodyPr>
          <a:lstStyle/>
          <a:p>
            <a:pPr defTabSz="685800"/>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点击添加相关标题文字</a:t>
            </a:r>
          </a:p>
        </p:txBody>
      </p:sp>
      <p:sp>
        <p:nvSpPr>
          <p:cNvPr id="7" name="文本框 38"/>
          <p:cNvSpPr txBox="1"/>
          <p:nvPr userDrawn="1"/>
        </p:nvSpPr>
        <p:spPr>
          <a:xfrm>
            <a:off x="265271" y="520316"/>
            <a:ext cx="2039271" cy="207753"/>
          </a:xfrm>
          <a:prstGeom prst="rect">
            <a:avLst/>
          </a:prstGeom>
          <a:noFill/>
        </p:spPr>
        <p:txBody>
          <a:bodyPr wrap="square" lIns="68584" tIns="34292" rIns="68584" bIns="34292" rtlCol="0">
            <a:spAutoFit/>
          </a:bodyPr>
          <a:lstStyle/>
          <a:p>
            <a:pPr algn="dist" defTabSz="685800"/>
            <a:r>
              <a:rPr lang="en-US" altLang="zh-CN" sz="900" dirty="0">
                <a:solidFill>
                  <a:schemeClr val="tx1">
                    <a:lumMod val="50000"/>
                    <a:lumOff val="50000"/>
                  </a:schemeClr>
                </a:solidFill>
                <a:cs typeface="+mn-ea"/>
                <a:sym typeface="+mn-lt"/>
              </a:rPr>
              <a:t>ADD RELATED TITLE WORDS</a:t>
            </a:r>
            <a:endParaRPr lang="zh-CN" altLang="en-US" sz="9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3006"/>
            <a:ext cx="2949178" cy="1200521"/>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740798"/>
            <a:ext cx="4629150" cy="365634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1543526"/>
            <a:ext cx="2949178" cy="285957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75B0A747-1217-4325-A876-522190C71555}" type="datetimeFigureOut">
              <a:rPr lang="zh-CN" altLang="en-US" smtClean="0"/>
              <a:t>2023/10/20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3006"/>
            <a:ext cx="2949178" cy="1200521"/>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798"/>
            <a:ext cx="4629150" cy="365634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单击图标添加20</a:t>
            </a:r>
            <a:endParaRPr lang="en-US" dirty="0"/>
          </a:p>
        </p:txBody>
      </p:sp>
      <p:sp>
        <p:nvSpPr>
          <p:cNvPr id="4" name="Text Placeholder 3"/>
          <p:cNvSpPr>
            <a:spLocks noGrp="1"/>
          </p:cNvSpPr>
          <p:nvPr>
            <p:ph type="body" sz="half" idx="2" hasCustomPrompt="1"/>
          </p:nvPr>
        </p:nvSpPr>
        <p:spPr>
          <a:xfrm>
            <a:off x="629841" y="1543526"/>
            <a:ext cx="2949178" cy="285957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75B0A747-1217-4325-A876-522190C71555}" type="datetimeFigureOut">
              <a:rPr lang="zh-CN" altLang="en-US" smtClean="0"/>
              <a:t>2023/10/20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2023/10/20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928"/>
            <a:ext cx="1971675" cy="436022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273928"/>
            <a:ext cx="5800725" cy="4360224"/>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2023/10/20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929"/>
            <a:ext cx="7886700" cy="994479"/>
          </a:xfrm>
        </p:spPr>
        <p:txBody>
          <a:bodyPr/>
          <a:lstStyle/>
          <a:p>
            <a:r>
              <a:rPr lang="zh-CN" altLang="en-US" dirty="0"/>
              <a:t>单击此处编辑母版标题样式</a:t>
            </a:r>
          </a:p>
        </p:txBody>
      </p:sp>
      <p:sp>
        <p:nvSpPr>
          <p:cNvPr id="3" name="日期占位符 2"/>
          <p:cNvSpPr>
            <a:spLocks noGrp="1"/>
          </p:cNvSpPr>
          <p:nvPr>
            <p:ph type="dt" sz="half" idx="10"/>
          </p:nvPr>
        </p:nvSpPr>
        <p:spPr/>
        <p:txBody>
          <a:bodyPr/>
          <a:lstStyle>
            <a:lvl1pPr>
              <a:defRPr/>
            </a:lvl1pPr>
          </a:lstStyle>
          <a:p>
            <a:pPr>
              <a:defRPr/>
            </a:pPr>
            <a:fld id="{0C9ABEBE-EF13-4983-B182-046B37A0370C}" type="datetime1">
              <a:rPr lang="zh-CN" altLang="en-US"/>
              <a:t>2023/10/20</a:t>
            </a:fld>
            <a:endParaRPr lang="zh-CN" altLang="en-US" sz="1400" dirty="0">
              <a:solidFill>
                <a:prstClr val="black"/>
              </a:solidFill>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lvl1pPr>
              <a:defRPr/>
            </a:lvl1pPr>
          </a:lstStyle>
          <a:p>
            <a:pPr>
              <a:defRPr/>
            </a:pPr>
            <a:endParaRPr lang="zh-CN" altLang="zh-CN"/>
          </a:p>
        </p:txBody>
      </p:sp>
      <p:sp>
        <p:nvSpPr>
          <p:cNvPr id="5" name="灯片编号占位符 4"/>
          <p:cNvSpPr>
            <a:spLocks noGrp="1"/>
          </p:cNvSpPr>
          <p:nvPr>
            <p:ph type="sldNum" sz="quarter" idx="12"/>
          </p:nvPr>
        </p:nvSpPr>
        <p:spPr/>
        <p:txBody>
          <a:bodyPr/>
          <a:lstStyle>
            <a:lvl1pPr>
              <a:defRPr/>
            </a:lvl1pPr>
          </a:lstStyle>
          <a:p>
            <a:fld id="{98145E6F-D1B7-49E0-9AB3-789D9698C190}" type="slidenum">
              <a:rPr lang="zh-CN" altLang="en-US"/>
              <a:t>‹#›</a:t>
            </a:fld>
            <a:endParaRPr lang="zh-CN" altLang="en-US" sz="1400" dirty="0">
              <a:solidFill>
                <a:prstClr val="black"/>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ustom Layout 2">
    <p:spTree>
      <p:nvGrpSpPr>
        <p:cNvPr id="1" name=""/>
        <p:cNvGrpSpPr/>
        <p:nvPr/>
      </p:nvGrpSpPr>
      <p:grpSpPr>
        <a:xfrm>
          <a:off x="0" y="0"/>
          <a:ext cx="0" cy="0"/>
          <a:chOff x="0" y="0"/>
          <a:chExt cx="0" cy="0"/>
        </a:xfrm>
      </p:grpSpPr>
      <p:sp>
        <p:nvSpPr>
          <p:cNvPr id="6" name="Title 1"/>
          <p:cNvSpPr>
            <a:spLocks noGrp="1"/>
          </p:cNvSpPr>
          <p:nvPr>
            <p:ph type="ctrTitle"/>
          </p:nvPr>
        </p:nvSpPr>
        <p:spPr>
          <a:xfrm>
            <a:off x="1143000" y="374188"/>
            <a:ext cx="6858000" cy="523279"/>
          </a:xfrm>
        </p:spPr>
        <p:txBody>
          <a:bodyPr anchor="b">
            <a:normAutofit/>
          </a:bodyPr>
          <a:lstStyle>
            <a:lvl1pPr algn="ctr">
              <a:defRPr sz="3000">
                <a:solidFill>
                  <a:schemeClr val="tx1">
                    <a:lumMod val="65000"/>
                    <a:lumOff val="35000"/>
                  </a:schemeClr>
                </a:solidFill>
              </a:defRPr>
            </a:lvl1pPr>
          </a:lstStyle>
          <a:p>
            <a:r>
              <a:rPr lang="en-US" dirty="0"/>
              <a:t>Click to edit Master title style</a:t>
            </a:r>
            <a:endParaRPr lang="en-AU" dirty="0"/>
          </a:p>
        </p:txBody>
      </p:sp>
      <p:sp>
        <p:nvSpPr>
          <p:cNvPr id="7" name="Subtitle 2"/>
          <p:cNvSpPr>
            <a:spLocks noGrp="1"/>
          </p:cNvSpPr>
          <p:nvPr>
            <p:ph type="subTitle" idx="1"/>
          </p:nvPr>
        </p:nvSpPr>
        <p:spPr>
          <a:xfrm>
            <a:off x="1143000" y="918257"/>
            <a:ext cx="6858000" cy="280749"/>
          </a:xfrm>
        </p:spPr>
        <p:txBody>
          <a:bodyPr>
            <a:normAutofit/>
          </a:bodyPr>
          <a:lstStyle>
            <a:lvl1pPr marL="0" indent="0" algn="ctr">
              <a:buNone/>
              <a:defRPr sz="1100">
                <a:solidFill>
                  <a:schemeClr val="bg1">
                    <a:lumMod val="50000"/>
                  </a:schemeClr>
                </a:solidFill>
              </a:defRPr>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en-AU" dirty="0"/>
          </a:p>
        </p:txBody>
      </p:sp>
      <p:sp>
        <p:nvSpPr>
          <p:cNvPr id="10" name="Text Placeholder 7"/>
          <p:cNvSpPr>
            <a:spLocks noGrp="1"/>
          </p:cNvSpPr>
          <p:nvPr>
            <p:ph type="body" sz="quarter" idx="13"/>
          </p:nvPr>
        </p:nvSpPr>
        <p:spPr>
          <a:xfrm>
            <a:off x="628650" y="1503977"/>
            <a:ext cx="3942159" cy="353809"/>
          </a:xfrm>
        </p:spPr>
        <p:txBody>
          <a:bodyPr>
            <a:noAutofit/>
          </a:bodyPr>
          <a:lstStyle>
            <a:lvl1pPr marL="0" indent="0">
              <a:buNone/>
              <a:defRPr sz="1800">
                <a:solidFill>
                  <a:schemeClr val="accent1"/>
                </a:solidFill>
              </a:defRPr>
            </a:lvl1pPr>
          </a:lstStyle>
          <a:p>
            <a:pPr lvl="0"/>
            <a:endParaRPr lang="en-AU" dirty="0"/>
          </a:p>
        </p:txBody>
      </p:sp>
      <p:sp>
        <p:nvSpPr>
          <p:cNvPr id="11" name="Text Placeholder 9"/>
          <p:cNvSpPr>
            <a:spLocks noGrp="1"/>
          </p:cNvSpPr>
          <p:nvPr>
            <p:ph type="body" sz="quarter" idx="14"/>
          </p:nvPr>
        </p:nvSpPr>
        <p:spPr>
          <a:xfrm>
            <a:off x="628650" y="1869220"/>
            <a:ext cx="3942159" cy="1320052"/>
          </a:xfrm>
        </p:spPr>
        <p:txBody>
          <a:bodyPr>
            <a:normAutofit/>
          </a:bodyPr>
          <a:lstStyle>
            <a:lvl1pPr marL="0" indent="0">
              <a:buNone/>
              <a:defRPr sz="1100">
                <a:latin typeface="Lato Light" panose="020F0302020204030203" pitchFamily="34" charset="0"/>
              </a:defRPr>
            </a:lvl1pPr>
          </a:lstStyle>
          <a:p>
            <a:pPr lvl="0"/>
            <a:endParaRPr lang="en-AU" dirty="0"/>
          </a:p>
        </p:txBody>
      </p:sp>
      <p:sp>
        <p:nvSpPr>
          <p:cNvPr id="12" name="Text Placeholder 11"/>
          <p:cNvSpPr>
            <a:spLocks noGrp="1"/>
          </p:cNvSpPr>
          <p:nvPr>
            <p:ph type="body" sz="quarter" idx="15"/>
          </p:nvPr>
        </p:nvSpPr>
        <p:spPr>
          <a:xfrm>
            <a:off x="629841" y="3288332"/>
            <a:ext cx="3940969" cy="370398"/>
          </a:xfrm>
        </p:spPr>
        <p:txBody>
          <a:bodyPr>
            <a:normAutofit/>
          </a:bodyPr>
          <a:lstStyle>
            <a:lvl1pPr marL="0" indent="0">
              <a:buNone/>
              <a:defRPr sz="1200" b="1" i="1">
                <a:latin typeface="Lato Light" panose="020F0302020204030203" pitchFamily="34" charset="0"/>
              </a:defRPr>
            </a:lvl1pPr>
          </a:lstStyle>
          <a:p>
            <a:pPr lvl="0"/>
            <a:endParaRPr lang="en-AU" dirty="0"/>
          </a:p>
        </p:txBody>
      </p:sp>
      <p:sp>
        <p:nvSpPr>
          <p:cNvPr id="13" name="Text Placeholder 13"/>
          <p:cNvSpPr>
            <a:spLocks noGrp="1"/>
          </p:cNvSpPr>
          <p:nvPr>
            <p:ph type="body" sz="quarter" idx="16"/>
          </p:nvPr>
        </p:nvSpPr>
        <p:spPr>
          <a:xfrm>
            <a:off x="629841" y="3658730"/>
            <a:ext cx="3940969" cy="370399"/>
          </a:xfrm>
        </p:spPr>
        <p:txBody>
          <a:bodyPr>
            <a:normAutofit/>
          </a:bodyPr>
          <a:lstStyle>
            <a:lvl1pPr marL="0" indent="0">
              <a:buNone/>
              <a:defRPr sz="900" b="1">
                <a:latin typeface="Lato Light" panose="020F0302020204030203" pitchFamily="34" charset="0"/>
              </a:defRPr>
            </a:lvl1pPr>
          </a:lstStyle>
          <a:p>
            <a:pPr lvl="0"/>
            <a:endParaRPr lang="en-AU" dirty="0"/>
          </a:p>
        </p:txBody>
      </p:sp>
      <p:sp>
        <p:nvSpPr>
          <p:cNvPr id="14" name="Text Placeholder 15"/>
          <p:cNvSpPr>
            <a:spLocks noGrp="1"/>
          </p:cNvSpPr>
          <p:nvPr>
            <p:ph type="body" sz="quarter" idx="17"/>
          </p:nvPr>
        </p:nvSpPr>
        <p:spPr>
          <a:xfrm>
            <a:off x="629841" y="4029128"/>
            <a:ext cx="3942159" cy="270355"/>
          </a:xfrm>
        </p:spPr>
        <p:txBody>
          <a:bodyPr>
            <a:normAutofit/>
          </a:bodyPr>
          <a:lstStyle>
            <a:lvl1pPr marL="0" indent="0">
              <a:buNone/>
              <a:defRPr sz="900">
                <a:latin typeface="Lato Light" panose="020F0302020204030203" pitchFamily="34" charset="0"/>
              </a:defRPr>
            </a:lvl1pPr>
          </a:lstStyle>
          <a:p>
            <a:pPr lvl="0"/>
            <a:endParaRPr lang="en-AU" dirty="0"/>
          </a:p>
        </p:txBody>
      </p:sp>
      <p:sp>
        <p:nvSpPr>
          <p:cNvPr id="15" name="Date Placeholder 3"/>
          <p:cNvSpPr>
            <a:spLocks noGrp="1"/>
          </p:cNvSpPr>
          <p:nvPr>
            <p:ph type="dt" sz="half" idx="10"/>
          </p:nvPr>
        </p:nvSpPr>
        <p:spPr>
          <a:xfrm>
            <a:off x="628650" y="4768735"/>
            <a:ext cx="2057400" cy="273928"/>
          </a:xfrm>
        </p:spPr>
        <p:txBody>
          <a:bodyPr/>
          <a:lstStyle>
            <a:lvl1pPr>
              <a:defRPr>
                <a:latin typeface="Lato Light" panose="020F0302020204030203" pitchFamily="34" charset="0"/>
              </a:defRPr>
            </a:lvl1pPr>
          </a:lstStyle>
          <a:p>
            <a:fld id="{722F6D6F-DD99-46DF-A9EA-728D63EA6A31}" type="datetimeFigureOut">
              <a:rPr lang="en-AU" smtClean="0"/>
              <a:t>20/10/2023</a:t>
            </a:fld>
            <a:endParaRPr lang="en-AU" dirty="0"/>
          </a:p>
        </p:txBody>
      </p:sp>
      <p:sp>
        <p:nvSpPr>
          <p:cNvPr id="16" name="Footer Placeholder 4"/>
          <p:cNvSpPr>
            <a:spLocks noGrp="1"/>
          </p:cNvSpPr>
          <p:nvPr>
            <p:ph type="ftr" sz="quarter" idx="11"/>
          </p:nvPr>
        </p:nvSpPr>
        <p:spPr>
          <a:xfrm>
            <a:off x="3028950" y="4768735"/>
            <a:ext cx="3086100" cy="273928"/>
          </a:xfrm>
        </p:spPr>
        <p:txBody>
          <a:bodyPr/>
          <a:lstStyle>
            <a:lvl1pPr>
              <a:defRPr>
                <a:latin typeface="Lato Light" panose="020F0302020204030203" pitchFamily="34" charset="0"/>
              </a:defRPr>
            </a:lvl1pPr>
          </a:lstStyle>
          <a:p>
            <a:endParaRPr lang="en-AU" dirty="0"/>
          </a:p>
        </p:txBody>
      </p:sp>
      <p:sp>
        <p:nvSpPr>
          <p:cNvPr id="17" name="Slide Number Placeholder 5"/>
          <p:cNvSpPr>
            <a:spLocks noGrp="1"/>
          </p:cNvSpPr>
          <p:nvPr>
            <p:ph type="sldNum" sz="quarter" idx="12"/>
          </p:nvPr>
        </p:nvSpPr>
        <p:spPr>
          <a:xfrm>
            <a:off x="6457950" y="4768735"/>
            <a:ext cx="2057400" cy="273928"/>
          </a:xfrm>
        </p:spPr>
        <p:txBody>
          <a:bodyPr/>
          <a:lstStyle>
            <a:lvl1pPr>
              <a:defRPr>
                <a:latin typeface="Lato Light" panose="020F0302020204030203" pitchFamily="34" charset="0"/>
              </a:defRPr>
            </a:lvl1pPr>
          </a:lstStyle>
          <a:p>
            <a:fld id="{84AD2E7E-F7BA-4F6B-9D0C-0B2331C2AE06}" type="slidenum">
              <a:rPr lang="en-AU" smtClean="0"/>
              <a:t>‹#›</a:t>
            </a:fld>
            <a:endParaRPr lang="en-AU" dirty="0"/>
          </a:p>
        </p:txBody>
      </p:sp>
      <p:sp>
        <p:nvSpPr>
          <p:cNvPr id="19" name="Text Placeholder 18"/>
          <p:cNvSpPr>
            <a:spLocks noGrp="1"/>
          </p:cNvSpPr>
          <p:nvPr>
            <p:ph type="body" sz="quarter" idx="18"/>
          </p:nvPr>
        </p:nvSpPr>
        <p:spPr>
          <a:xfrm>
            <a:off x="5112544" y="1504225"/>
            <a:ext cx="3251597" cy="353724"/>
          </a:xfrm>
        </p:spPr>
        <p:txBody>
          <a:bodyPr>
            <a:normAutofit/>
          </a:bodyPr>
          <a:lstStyle>
            <a:lvl1pPr marL="0" indent="0">
              <a:buNone/>
              <a:defRPr sz="1400"/>
            </a:lvl1pPr>
          </a:lstStyle>
          <a:p>
            <a:pPr lvl="0"/>
            <a:endParaRPr lang="en-AU" dirty="0"/>
          </a:p>
        </p:txBody>
      </p:sp>
      <p:sp>
        <p:nvSpPr>
          <p:cNvPr id="21" name="Text Placeholder 20"/>
          <p:cNvSpPr>
            <a:spLocks noGrp="1"/>
          </p:cNvSpPr>
          <p:nvPr>
            <p:ph type="body" sz="quarter" idx="19"/>
          </p:nvPr>
        </p:nvSpPr>
        <p:spPr>
          <a:xfrm>
            <a:off x="5112544" y="1868668"/>
            <a:ext cx="3251597" cy="703876"/>
          </a:xfrm>
        </p:spPr>
        <p:txBody>
          <a:bodyPr>
            <a:normAutofit/>
          </a:bodyPr>
          <a:lstStyle>
            <a:lvl1pPr marL="0" indent="0">
              <a:buNone/>
              <a:defRPr sz="900">
                <a:latin typeface="Lato Light" panose="020F0302020204030203" pitchFamily="34" charset="0"/>
              </a:defRPr>
            </a:lvl1pPr>
          </a:lstStyle>
          <a:p>
            <a:pPr lvl="0"/>
            <a:endParaRPr lang="en-AU" dirty="0"/>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929"/>
            <a:ext cx="7886700" cy="994479"/>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642"/>
            <a:ext cx="7886700" cy="3264511"/>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8735"/>
            <a:ext cx="2057400" cy="273928"/>
          </a:xfrm>
          <a:prstGeom prst="rect">
            <a:avLst/>
          </a:prstGeom>
        </p:spPr>
        <p:txBody>
          <a:bodyPr vert="horz" lIns="91440" tIns="45720" rIns="91440" bIns="45720" rtlCol="0" anchor="ctr"/>
          <a:lstStyle>
            <a:lvl1pPr algn="l">
              <a:defRPr sz="900">
                <a:solidFill>
                  <a:schemeClr val="tx1">
                    <a:tint val="75000"/>
                  </a:schemeClr>
                </a:solidFill>
              </a:defRPr>
            </a:lvl1pPr>
          </a:lstStyle>
          <a:p>
            <a:fld id="{75B0A747-1217-4325-A876-522190C71555}" type="datetimeFigureOut">
              <a:rPr lang="zh-CN" altLang="en-US" smtClean="0"/>
              <a:t>2023/10/20</a:t>
            </a:fld>
            <a:endParaRPr lang="zh-CN" altLang="en-US"/>
          </a:p>
        </p:txBody>
      </p:sp>
      <p:sp>
        <p:nvSpPr>
          <p:cNvPr id="5" name="Footer Placeholder 4"/>
          <p:cNvSpPr>
            <a:spLocks noGrp="1"/>
          </p:cNvSpPr>
          <p:nvPr>
            <p:ph type="ftr" sz="quarter" idx="3"/>
          </p:nvPr>
        </p:nvSpPr>
        <p:spPr>
          <a:xfrm>
            <a:off x="3028950" y="4768735"/>
            <a:ext cx="3086100" cy="273928"/>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8735"/>
            <a:ext cx="2057400" cy="273928"/>
          </a:xfrm>
          <a:prstGeom prst="rect">
            <a:avLst/>
          </a:prstGeom>
        </p:spPr>
        <p:txBody>
          <a:bodyPr vert="horz" lIns="91440" tIns="45720" rIns="91440" bIns="45720" rtlCol="0" anchor="ctr"/>
          <a:lstStyle>
            <a:lvl1pPr algn="r">
              <a:defRPr sz="900">
                <a:solidFill>
                  <a:schemeClr val="tx1">
                    <a:tint val="75000"/>
                  </a:schemeClr>
                </a:solidFill>
              </a:defRPr>
            </a:lvl1pPr>
          </a:lstStyle>
          <a:p>
            <a:fld id="{BC7CFC9F-4B06-4ABB-A28A-559A77B7DC5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4.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411" y="5875"/>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20 2"/>
          <p:cNvPicPr>
            <a:picLocks noChangeAspect="1"/>
          </p:cNvPicPr>
          <p:nvPr/>
        </p:nvPicPr>
        <p:blipFill rotWithShape="1">
          <a:blip r:embed="rId2">
            <a:extLst>
              <a:ext uri="{28A0092B-C50C-407E-A947-70E740481C1C}">
                <a14:useLocalDpi xmlns:a14="http://schemas.microsoft.com/office/drawing/2010/main" val="0"/>
              </a:ext>
            </a:extLst>
          </a:blip>
          <a:srcRect l="9884"/>
          <a:stretch>
            <a:fillRect/>
          </a:stretch>
        </p:blipFill>
        <p:spPr>
          <a:xfrm>
            <a:off x="4224" y="1133312"/>
            <a:ext cx="3523982" cy="4018760"/>
          </a:xfrm>
          <a:prstGeom prst="rect">
            <a:avLst/>
          </a:prstGeom>
          <a:solidFill>
            <a:srgbClr val="2A5BA8"/>
          </a:solidFill>
        </p:spPr>
      </p:pic>
      <p:pic>
        <p:nvPicPr>
          <p:cNvPr id="5" name="20 4"/>
          <p:cNvPicPr>
            <a:picLocks noChangeAspect="1"/>
          </p:cNvPicPr>
          <p:nvPr/>
        </p:nvPicPr>
        <p:blipFill rotWithShape="1">
          <a:blip r:embed="rId2">
            <a:extLst>
              <a:ext uri="{28A0092B-C50C-407E-A947-70E740481C1C}">
                <a14:useLocalDpi xmlns:a14="http://schemas.microsoft.com/office/drawing/2010/main" val="0"/>
              </a:ext>
            </a:extLst>
          </a:blip>
          <a:srcRect r="46564" b="51735"/>
          <a:stretch>
            <a:fillRect/>
          </a:stretch>
        </p:blipFill>
        <p:spPr>
          <a:xfrm flipV="1">
            <a:off x="7180313" y="794"/>
            <a:ext cx="1952652" cy="1727659"/>
          </a:xfrm>
          <a:prstGeom prst="rect">
            <a:avLst/>
          </a:prstGeom>
        </p:spPr>
      </p:pic>
      <p:sp>
        <p:nvSpPr>
          <p:cNvPr id="7" name="矩形 259"/>
          <p:cNvSpPr>
            <a:spLocks noChangeArrowheads="1"/>
          </p:cNvSpPr>
          <p:nvPr/>
        </p:nvSpPr>
        <p:spPr bwMode="auto">
          <a:xfrm>
            <a:off x="6750050" y="2957195"/>
            <a:ext cx="1868170" cy="372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12" tIns="32506" rIns="65012" bIns="3250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en-US" altLang="zh-CN"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a:t>
            </a:r>
            <a:r>
              <a:rPr lang="zh-CN" altLang="en-US"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类</a:t>
            </a:r>
            <a:r>
              <a:rPr lang="en-US"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C</a:t>
            </a:r>
            <a:r>
              <a:rPr lang="zh-CN" altLang="en-US"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描述</a:t>
            </a:r>
          </a:p>
        </p:txBody>
      </p:sp>
      <p:sp>
        <p:nvSpPr>
          <p:cNvPr id="8" name="矩形 259"/>
          <p:cNvSpPr>
            <a:spLocks noChangeArrowheads="1"/>
          </p:cNvSpPr>
          <p:nvPr/>
        </p:nvSpPr>
        <p:spPr bwMode="auto">
          <a:xfrm>
            <a:off x="3472815" y="2324735"/>
            <a:ext cx="566928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12" tIns="32506" rIns="65012" bIns="3250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zh-CN" altLang="en-US" sz="2800" cap="all" spc="213" dirty="0">
                <a:solidFill>
                  <a:schemeClr val="accent1"/>
                </a:solidFill>
                <a:latin typeface="百度综艺简体" panose="02010601030101010101" charset="-122"/>
                <a:ea typeface="百度综艺简体" panose="02010601030101010101" charset="-122"/>
                <a:cs typeface="百度综艺简体" panose="02010601030101010101" charset="-122"/>
              </a:rPr>
              <a:t>数据结构 </a:t>
            </a:r>
            <a:r>
              <a:rPr lang="en-US" altLang="zh-CN" sz="2800" cap="all" spc="213" dirty="0">
                <a:solidFill>
                  <a:schemeClr val="accent1"/>
                </a:solidFill>
                <a:latin typeface="百度综艺简体" panose="02010601030101010101" charset="-122"/>
                <a:ea typeface="百度综艺简体" panose="02010601030101010101" charset="-122"/>
                <a:cs typeface="百度综艺简体" panose="02010601030101010101" charset="-122"/>
              </a:rPr>
              <a:t>DATA STRUCTURE</a:t>
            </a:r>
          </a:p>
        </p:txBody>
      </p:sp>
      <p:sp>
        <p:nvSpPr>
          <p:cNvPr id="10" name="Rectangle 3"/>
          <p:cNvSpPr txBox="1">
            <a:spLocks noChangeArrowheads="1"/>
          </p:cNvSpPr>
          <p:nvPr/>
        </p:nvSpPr>
        <p:spPr bwMode="auto">
          <a:xfrm>
            <a:off x="4803775" y="3791585"/>
            <a:ext cx="1569085" cy="184150"/>
          </a:xfrm>
          <a:prstGeom prst="rect">
            <a:avLst/>
          </a:prstGeom>
          <a:solidFill>
            <a:schemeClr val="accent1"/>
          </a:solidFill>
        </p:spPr>
        <p:txBody>
          <a:bodyPr wrap="square" lIns="0" tIns="0" rIns="0" bIns="0">
            <a:spAutoFit/>
            <a:scene3d>
              <a:camera prst="orthographicFront"/>
              <a:lightRig rig="threePt" dir="t"/>
            </a:scene3d>
            <a:sp3d>
              <a:bevelT w="1270" h="1270"/>
            </a:sp3d>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l"/>
            <a:r>
              <a:rPr lang="zh-CN" altLang="en-US" sz="1200" b="0" noProof="1">
                <a:effectLst/>
                <a:latin typeface="百度综艺简体" panose="02010601030101010101" charset="-122"/>
                <a:ea typeface="百度综艺简体" panose="02010601030101010101" charset="-122"/>
                <a:cs typeface="百度综艺简体" panose="02010601030101010101" charset="-122"/>
              </a:rPr>
              <a:t>任课教师：</a:t>
            </a:r>
            <a:r>
              <a:rPr lang="zh-CN" sz="1200" b="0" noProof="1">
                <a:effectLst/>
                <a:latin typeface="百度综艺简体" panose="02010601030101010101" charset="-122"/>
                <a:ea typeface="百度综艺简体" panose="02010601030101010101" charset="-122"/>
                <a:cs typeface="百度综艺简体" panose="02010601030101010101" charset="-122"/>
              </a:rPr>
              <a:t>王青松</a:t>
            </a:r>
            <a:r>
              <a:rPr lang="en-US" altLang="zh-CN" sz="1200" b="0" noProof="1">
                <a:effectLst/>
                <a:latin typeface="百度综艺简体" panose="02010601030101010101" charset="-122"/>
                <a:ea typeface="百度综艺简体" panose="02010601030101010101" charset="-122"/>
                <a:cs typeface="百度综艺简体" panose="02010601030101010101" charset="-122"/>
              </a:rPr>
              <a:t> </a:t>
            </a:r>
            <a:r>
              <a:rPr lang="en-US" altLang="zh-CN" sz="1200" b="0" noProof="1">
                <a:effectLst/>
                <a:latin typeface="华文中宋" panose="02010600040101010101" charset="-122"/>
                <a:ea typeface="华文中宋" panose="02010600040101010101" charset="-122"/>
              </a:rPr>
              <a:t>     </a:t>
            </a:r>
            <a:r>
              <a:rPr lang="zh-CN" altLang="en-US" sz="1200" b="0" noProof="1">
                <a:effectLst/>
                <a:latin typeface="华文中宋" panose="02010600040101010101" charset="-122"/>
                <a:ea typeface="华文中宋" panose="02010600040101010101" charset="-122"/>
              </a:rPr>
              <a:t>   </a:t>
            </a:r>
            <a:endParaRPr lang="en-US" altLang="ko-KR" sz="1200" b="0" noProof="1">
              <a:effectLst/>
              <a:latin typeface="华文中宋" panose="02010600040101010101" charset="-122"/>
              <a:ea typeface="华文中宋" panose="02010600040101010101" charset="-122"/>
            </a:endParaRPr>
          </a:p>
        </p:txBody>
      </p:sp>
      <p:sp>
        <p:nvSpPr>
          <p:cNvPr id="11" name="Rectangle 3"/>
          <p:cNvSpPr txBox="1">
            <a:spLocks noChangeArrowheads="1"/>
          </p:cNvSpPr>
          <p:nvPr/>
        </p:nvSpPr>
        <p:spPr bwMode="auto">
          <a:xfrm>
            <a:off x="6372558" y="3791658"/>
            <a:ext cx="2760406" cy="184538"/>
          </a:xfrm>
          <a:prstGeom prst="rect">
            <a:avLst/>
          </a:prstGeom>
          <a:solidFill>
            <a:schemeClr val="accent2"/>
          </a:solidFill>
        </p:spPr>
        <p:txBody>
          <a:bodyPr wrap="square" lIns="0" tIns="0" rIns="0" bIns="0">
            <a:spAutoFit/>
            <a:scene3d>
              <a:camera prst="orthographicFront"/>
              <a:lightRig rig="threePt" dir="t"/>
            </a:scene3d>
            <a:sp3d>
              <a:bevelT w="1270" h="1270"/>
            </a:sp3d>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l"/>
            <a:endParaRPr lang="en-US" altLang="ko-KR" sz="1200" b="0" noProof="1">
              <a:effectLst/>
              <a:latin typeface="华文中宋" panose="02010600040101010101" charset="-122"/>
              <a:ea typeface="华文中宋" panose="02010600040101010101" charset="-122"/>
            </a:endParaRPr>
          </a:p>
        </p:txBody>
      </p:sp>
    </p:spTree>
    <p:extLst>
      <p:ext uri="{BB962C8B-B14F-4D97-AF65-F5344CB8AC3E}">
        <p14:creationId xmlns:p14="http://schemas.microsoft.com/office/powerpoint/2010/main" val="2457424007"/>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2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8"/>
                                        </p:tgtEl>
                                        <p:attrNameLst>
                                          <p:attrName>ppt_y</p:attrName>
                                        </p:attrNameLst>
                                      </p:cBhvr>
                                      <p:tavLst>
                                        <p:tav tm="0">
                                          <p:val>
                                            <p:strVal val="#ppt_y"/>
                                          </p:val>
                                        </p:tav>
                                        <p:tav tm="100000">
                                          <p:val>
                                            <p:strVal val="#ppt_y"/>
                                          </p:val>
                                        </p:tav>
                                      </p:tavLst>
                                    </p:anim>
                                    <p:anim calcmode="lin" valueType="num">
                                      <p:cBhvr>
                                        <p:cTn id="20"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8"/>
                                        </p:tgtEl>
                                      </p:cBhvr>
                                    </p:animEffect>
                                  </p:childTnLst>
                                </p:cTn>
                              </p:par>
                            </p:childTnLst>
                          </p:cTn>
                        </p:par>
                        <p:par>
                          <p:cTn id="23" fill="hold">
                            <p:stCondLst>
                              <p:cond delay="2599"/>
                            </p:stCondLst>
                            <p:childTnLst>
                              <p:par>
                                <p:cTn id="24" presetID="26" presetClass="emph" presetSubtype="0" fill="hold" grpId="1" nodeType="afterEffect">
                                  <p:stCondLst>
                                    <p:cond delay="0"/>
                                  </p:stCondLst>
                                  <p:iterate type="lt">
                                    <p:tmPct val="0"/>
                                  </p:iterate>
                                  <p:childTnLst>
                                    <p:animEffect transition="out" filter="fade">
                                      <p:cBhvr>
                                        <p:cTn id="25" dur="500" tmFilter="0, 0; .2, .5; .8, .5; 1, 0"/>
                                        <p:tgtEl>
                                          <p:spTgt spid="8"/>
                                        </p:tgtEl>
                                      </p:cBhvr>
                                    </p:animEffect>
                                    <p:animScale>
                                      <p:cBhvr>
                                        <p:cTn id="26" dur="250" autoRev="1" fill="hold"/>
                                        <p:tgtEl>
                                          <p:spTgt spid="8"/>
                                        </p:tgtEl>
                                      </p:cBhvr>
                                      <p:by x="105000" y="105000"/>
                                    </p:animScale>
                                  </p:childTnLst>
                                </p:cTn>
                              </p:par>
                            </p:childTnLst>
                          </p:cTn>
                        </p:par>
                        <p:par>
                          <p:cTn id="27" fill="hold">
                            <p:stCondLst>
                              <p:cond delay="3099"/>
                            </p:stCondLst>
                            <p:childTnLst>
                              <p:par>
                                <p:cTn id="28" presetID="41" presetClass="entr" presetSubtype="0" fill="hold" grpId="0" nodeType="afterEffect">
                                  <p:stCondLst>
                                    <p:cond delay="0"/>
                                  </p:stCondLst>
                                  <p:iterate type="lt">
                                    <p:tmPct val="10000"/>
                                  </p:iterate>
                                  <p:childTnLst>
                                    <p:set>
                                      <p:cBhvr>
                                        <p:cTn id="29" dur="1" fill="hold">
                                          <p:stCondLst>
                                            <p:cond delay="0"/>
                                          </p:stCondLst>
                                        </p:cTn>
                                        <p:tgtEl>
                                          <p:spTgt spid="7"/>
                                        </p:tgtEl>
                                        <p:attrNameLst>
                                          <p:attrName>style.visibility</p:attrName>
                                        </p:attrNameLst>
                                      </p:cBhvr>
                                      <p:to>
                                        <p:strVal val="visible"/>
                                      </p:to>
                                    </p:set>
                                    <p:anim calcmode="lin" valueType="num">
                                      <p:cBhvr>
                                        <p:cTn id="30"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31" dur="500" fill="hold"/>
                                        <p:tgtEl>
                                          <p:spTgt spid="7"/>
                                        </p:tgtEl>
                                        <p:attrNameLst>
                                          <p:attrName>ppt_y</p:attrName>
                                        </p:attrNameLst>
                                      </p:cBhvr>
                                      <p:tavLst>
                                        <p:tav tm="0">
                                          <p:val>
                                            <p:strVal val="#ppt_y"/>
                                          </p:val>
                                        </p:tav>
                                        <p:tav tm="100000">
                                          <p:val>
                                            <p:strVal val="#ppt_y"/>
                                          </p:val>
                                        </p:tav>
                                      </p:tavLst>
                                    </p:anim>
                                    <p:anim calcmode="lin" valueType="num">
                                      <p:cBhvr>
                                        <p:cTn id="32"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33"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34" dur="500" tmFilter="0,0; .5, 1; 1, 1"/>
                                        <p:tgtEl>
                                          <p:spTgt spid="7"/>
                                        </p:tgtEl>
                                      </p:cBhvr>
                                    </p:animEffect>
                                  </p:childTnLst>
                                </p:cTn>
                              </p:par>
                            </p:childTnLst>
                          </p:cTn>
                        </p:par>
                        <p:par>
                          <p:cTn id="35" fill="hold">
                            <p:stCondLst>
                              <p:cond delay="3850"/>
                            </p:stCondLst>
                            <p:childTnLst>
                              <p:par>
                                <p:cTn id="36" presetID="26" presetClass="emph" presetSubtype="0" fill="hold" grpId="1" nodeType="afterEffect">
                                  <p:stCondLst>
                                    <p:cond delay="0"/>
                                  </p:stCondLst>
                                  <p:iterate type="lt">
                                    <p:tmPct val="0"/>
                                  </p:iterate>
                                  <p:childTnLst>
                                    <p:animEffect transition="out" filter="fade">
                                      <p:cBhvr>
                                        <p:cTn id="37" dur="500" tmFilter="0, 0; .2, .5; .8, .5; 1, 0"/>
                                        <p:tgtEl>
                                          <p:spTgt spid="7"/>
                                        </p:tgtEl>
                                      </p:cBhvr>
                                    </p:animEffect>
                                    <p:animScale>
                                      <p:cBhvr>
                                        <p:cTn id="38" dur="250" autoRev="1" fill="hold"/>
                                        <p:tgtEl>
                                          <p:spTgt spid="7"/>
                                        </p:tgtEl>
                                      </p:cBhvr>
                                      <p:by x="105000" y="105000"/>
                                    </p:animScale>
                                  </p:childTnLst>
                                </p:cTn>
                              </p:par>
                            </p:childTnLst>
                          </p:cTn>
                        </p:par>
                        <p:par>
                          <p:cTn id="39" fill="hold">
                            <p:stCondLst>
                              <p:cond delay="4350"/>
                            </p:stCondLst>
                            <p:childTnLst>
                              <p:par>
                                <p:cTn id="40" presetID="22" presetClass="entr" presetSubtype="8" fill="hold" grpId="0" nodeType="after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par>
                          <p:cTn id="43" fill="hold">
                            <p:stCondLst>
                              <p:cond delay="4850"/>
                            </p:stCondLst>
                            <p:childTnLst>
                              <p:par>
                                <p:cTn id="44" presetID="22" presetClass="entr" presetSubtype="8"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P spid="10"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赫夫曼树及应用</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2836583" y="1724872"/>
            <a:ext cx="3470833" cy="586571"/>
          </a:xfrm>
          <a:prstGeom prst="rect">
            <a:avLst/>
          </a:prstGeom>
          <a:noFill/>
          <a:ln w="9525">
            <a:noFill/>
            <a:miter lim="800000"/>
          </a:ln>
        </p:spPr>
        <p:txBody>
          <a:bodyPr wrap="square">
            <a:spAutoFit/>
          </a:bodyPr>
          <a:lstStyle/>
          <a:p>
            <a:pPr marL="342900" indent="-342900" fontAlgn="auto">
              <a:lnSpc>
                <a:spcPct val="150000"/>
              </a:lnSpc>
              <a:buFont typeface="Arial" panose="020B0604020202020204" pitchFamily="34" charset="0"/>
              <a:buChar char="•"/>
            </a:pPr>
            <a:r>
              <a:rPr lang="en-US" altLang="zh-CN" sz="2400" dirty="0">
                <a:latin typeface="百度综艺简体" panose="02010601030101010101" charset="-122"/>
                <a:ea typeface="百度综艺简体" panose="02010601030101010101" charset="-122"/>
              </a:rPr>
              <a:t>Huffman</a:t>
            </a:r>
            <a:r>
              <a:rPr lang="zh-CN" altLang="en-US" sz="2400" dirty="0">
                <a:latin typeface="百度综艺简体" panose="02010601030101010101" charset="-122"/>
                <a:ea typeface="百度综艺简体" panose="02010601030101010101" charset="-122"/>
              </a:rPr>
              <a:t>树的定义</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TextBox 5"/>
          <p:cNvSpPr txBox="1">
            <a:spLocks noChangeArrowheads="1"/>
          </p:cNvSpPr>
          <p:nvPr/>
        </p:nvSpPr>
        <p:spPr bwMode="auto">
          <a:xfrm>
            <a:off x="2836582" y="2854982"/>
            <a:ext cx="3470833" cy="586571"/>
          </a:xfrm>
          <a:prstGeom prst="rect">
            <a:avLst/>
          </a:prstGeom>
          <a:noFill/>
          <a:ln w="9525">
            <a:noFill/>
            <a:miter lim="800000"/>
          </a:ln>
        </p:spPr>
        <p:txBody>
          <a:bodyPr wrap="square">
            <a:spAutoFit/>
          </a:bodyPr>
          <a:lstStyle/>
          <a:p>
            <a:pPr marL="342900" indent="-342900" fontAlgn="auto">
              <a:lnSpc>
                <a:spcPct val="150000"/>
              </a:lnSpc>
              <a:buFont typeface="Arial" panose="020B0604020202020204" pitchFamily="34" charset="0"/>
              <a:buChar char="•"/>
            </a:pPr>
            <a:r>
              <a:rPr lang="zh-CN" altLang="en-US" sz="2400" dirty="0">
                <a:latin typeface="百度综艺简体" panose="02010601030101010101" charset="-122"/>
                <a:ea typeface="百度综艺简体" panose="02010601030101010101" charset="-122"/>
              </a:rPr>
              <a:t>如何构造</a:t>
            </a:r>
            <a:r>
              <a:rPr lang="en-US" altLang="zh-CN" sz="2400" dirty="0">
                <a:latin typeface="百度综艺简体" panose="02010601030101010101" charset="-122"/>
                <a:ea typeface="百度综艺简体" panose="02010601030101010101" charset="-122"/>
              </a:rPr>
              <a:t>Huffman</a:t>
            </a:r>
            <a:r>
              <a:rPr lang="zh-CN" altLang="en-US" sz="2400" dirty="0">
                <a:latin typeface="百度综艺简体" panose="02010601030101010101" charset="-122"/>
                <a:ea typeface="百度综艺简体" panose="02010601030101010101" charset="-122"/>
              </a:rPr>
              <a:t>树</a:t>
            </a:r>
          </a:p>
        </p:txBody>
      </p:sp>
    </p:spTree>
    <p:extLst>
      <p:ext uri="{BB962C8B-B14F-4D97-AF65-F5344CB8AC3E}">
        <p14:creationId xmlns:p14="http://schemas.microsoft.com/office/powerpoint/2010/main" val="3502313165"/>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1000"/>
                                        <p:tgtEl>
                                          <p:spTgt spid="26"/>
                                        </p:tgtEl>
                                      </p:cBhvr>
                                    </p:animEffect>
                                    <p:anim calcmode="lin" valueType="num">
                                      <p:cBhvr>
                                        <p:cTn id="36" dur="1000" fill="hold"/>
                                        <p:tgtEl>
                                          <p:spTgt spid="26"/>
                                        </p:tgtEl>
                                        <p:attrNameLst>
                                          <p:attrName>ppt_x</p:attrName>
                                        </p:attrNameLst>
                                      </p:cBhvr>
                                      <p:tavLst>
                                        <p:tav tm="0">
                                          <p:val>
                                            <p:strVal val="#ppt_x"/>
                                          </p:val>
                                        </p:tav>
                                        <p:tav tm="100000">
                                          <p:val>
                                            <p:strVal val="#ppt_x"/>
                                          </p:val>
                                        </p:tav>
                                      </p:tavLst>
                                    </p:anim>
                                    <p:anim calcmode="lin" valueType="num">
                                      <p:cBhvr>
                                        <p:cTn id="37" dur="1000" fill="hold"/>
                                        <p:tgtEl>
                                          <p:spTgt spid="26"/>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1000"/>
                                        <p:tgtEl>
                                          <p:spTgt spid="14"/>
                                        </p:tgtEl>
                                      </p:cBhvr>
                                    </p:animEffect>
                                    <p:anim calcmode="lin" valueType="num">
                                      <p:cBhvr>
                                        <p:cTn id="42" dur="1000" fill="hold"/>
                                        <p:tgtEl>
                                          <p:spTgt spid="14"/>
                                        </p:tgtEl>
                                        <p:attrNameLst>
                                          <p:attrName>ppt_x</p:attrName>
                                        </p:attrNameLst>
                                      </p:cBhvr>
                                      <p:tavLst>
                                        <p:tav tm="0">
                                          <p:val>
                                            <p:strVal val="#ppt_x"/>
                                          </p:val>
                                        </p:tav>
                                        <p:tav tm="100000">
                                          <p:val>
                                            <p:strVal val="#ppt_x"/>
                                          </p:val>
                                        </p:tav>
                                      </p:tavLst>
                                    </p:anim>
                                    <p:anim calcmode="lin" valueType="num">
                                      <p:cBhvr>
                                        <p:cTn id="4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赫夫曼树及应用</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TextBox 5"/>
          <p:cNvSpPr txBox="1">
            <a:spLocks noChangeArrowheads="1"/>
          </p:cNvSpPr>
          <p:nvPr/>
        </p:nvSpPr>
        <p:spPr bwMode="auto">
          <a:xfrm>
            <a:off x="2784031" y="1047826"/>
            <a:ext cx="5887004" cy="3785652"/>
          </a:xfrm>
          <a:prstGeom prst="rect">
            <a:avLst/>
          </a:prstGeom>
          <a:noFill/>
          <a:ln w="9525">
            <a:noFill/>
            <a:miter lim="800000"/>
          </a:ln>
        </p:spPr>
        <p:txBody>
          <a:bodyPr wrap="square">
            <a:spAutoFit/>
          </a:bodyPr>
          <a:lstStyle/>
          <a:p>
            <a:pPr fontAlgn="auto">
              <a:lnSpc>
                <a:spcPct val="150000"/>
              </a:lnSpc>
            </a:pPr>
            <a:r>
              <a:rPr lang="zh-CN" altLang="en-US" sz="1600" dirty="0" smtClean="0">
                <a:latin typeface="百度综艺简体" panose="02010601030101010101" charset="-122"/>
                <a:ea typeface="百度综艺简体" panose="02010601030101010101" charset="-122"/>
              </a:rPr>
              <a:t>        戴</a:t>
            </a:r>
            <a:r>
              <a:rPr lang="zh-CN" altLang="en-US" sz="1600" dirty="0">
                <a:latin typeface="百度综艺简体" panose="02010601030101010101" charset="-122"/>
                <a:ea typeface="百度综艺简体" panose="02010601030101010101" charset="-122"/>
              </a:rPr>
              <a:t>维</a:t>
            </a:r>
            <a:r>
              <a:rPr lang="en-US" altLang="zh-CN" sz="1600" dirty="0">
                <a:latin typeface="百度综艺简体" panose="02010601030101010101" charset="-122"/>
                <a:ea typeface="百度综艺简体" panose="02010601030101010101" charset="-122"/>
              </a:rPr>
              <a:t>·</a:t>
            </a:r>
            <a:r>
              <a:rPr lang="zh-CN" altLang="en-US" sz="1600" dirty="0">
                <a:latin typeface="百度综艺简体" panose="02010601030101010101" charset="-122"/>
                <a:ea typeface="百度综艺简体" panose="02010601030101010101" charset="-122"/>
              </a:rPr>
              <a:t>哈夫曼（</a:t>
            </a:r>
            <a:r>
              <a:rPr lang="en-US" altLang="zh-CN" sz="1600" dirty="0">
                <a:latin typeface="百度综艺简体" panose="02010601030101010101" charset="-122"/>
                <a:ea typeface="百度综艺简体" panose="02010601030101010101" charset="-122"/>
              </a:rPr>
              <a:t>David A. Huffman 1925—1999</a:t>
            </a:r>
            <a:r>
              <a:rPr lang="zh-CN" altLang="en-US" sz="1600" dirty="0">
                <a:latin typeface="百度综艺简体" panose="02010601030101010101" charset="-122"/>
                <a:ea typeface="百度综艺简体" panose="02010601030101010101" charset="-122"/>
              </a:rPr>
              <a:t>）美国计算机科学家，分别于</a:t>
            </a:r>
            <a:r>
              <a:rPr lang="en-US" altLang="zh-CN" sz="1600" dirty="0">
                <a:latin typeface="百度综艺简体" panose="02010601030101010101" charset="-122"/>
                <a:ea typeface="百度综艺简体" panose="02010601030101010101" charset="-122"/>
              </a:rPr>
              <a:t>1944</a:t>
            </a:r>
            <a:r>
              <a:rPr lang="zh-CN" altLang="en-US" sz="1600" dirty="0">
                <a:latin typeface="百度综艺简体" panose="02010601030101010101" charset="-122"/>
                <a:ea typeface="百度综艺简体" panose="02010601030101010101" charset="-122"/>
              </a:rPr>
              <a:t>年和</a:t>
            </a:r>
            <a:r>
              <a:rPr lang="en-US" altLang="zh-CN" sz="1600" dirty="0">
                <a:latin typeface="百度综艺简体" panose="02010601030101010101" charset="-122"/>
                <a:ea typeface="百度综艺简体" panose="02010601030101010101" charset="-122"/>
              </a:rPr>
              <a:t>1949</a:t>
            </a:r>
            <a:r>
              <a:rPr lang="zh-CN" altLang="en-US" sz="1600" dirty="0">
                <a:latin typeface="百度综艺简体" panose="02010601030101010101" charset="-122"/>
                <a:ea typeface="百度综艺简体" panose="02010601030101010101" charset="-122"/>
              </a:rPr>
              <a:t>年从俄亥俄洲立大学获得学士和硕士学位，</a:t>
            </a:r>
            <a:r>
              <a:rPr lang="en-US" altLang="zh-CN" sz="1600" dirty="0">
                <a:latin typeface="百度综艺简体" panose="02010601030101010101" charset="-122"/>
                <a:ea typeface="百度综艺简体" panose="02010601030101010101" charset="-122"/>
              </a:rPr>
              <a:t>1953</a:t>
            </a:r>
            <a:r>
              <a:rPr lang="zh-CN" altLang="en-US" sz="1600" dirty="0">
                <a:latin typeface="百度综艺简体" panose="02010601030101010101" charset="-122"/>
                <a:ea typeface="百度综艺简体" panose="02010601030101010101" charset="-122"/>
              </a:rPr>
              <a:t>年在麻省理工学院（</a:t>
            </a:r>
            <a:r>
              <a:rPr lang="en-US" altLang="zh-CN" sz="1600" dirty="0">
                <a:latin typeface="百度综艺简体" panose="02010601030101010101" charset="-122"/>
                <a:ea typeface="百度综艺简体" panose="02010601030101010101" charset="-122"/>
              </a:rPr>
              <a:t>MIT</a:t>
            </a:r>
            <a:r>
              <a:rPr lang="zh-CN" altLang="en-US" sz="1600" dirty="0">
                <a:latin typeface="百度综艺简体" panose="02010601030101010101" charset="-122"/>
                <a:ea typeface="百度综艺简体" panose="02010601030101010101" charset="-122"/>
              </a:rPr>
              <a:t>）获得博士学位。</a:t>
            </a:r>
            <a:r>
              <a:rPr lang="en-US" altLang="zh-CN" sz="1600" dirty="0">
                <a:latin typeface="百度综艺简体" panose="02010601030101010101" charset="-122"/>
                <a:ea typeface="百度综艺简体" panose="02010601030101010101" charset="-122"/>
              </a:rPr>
              <a:t>1962—1967</a:t>
            </a:r>
            <a:r>
              <a:rPr lang="zh-CN" altLang="en-US" sz="1600" dirty="0">
                <a:latin typeface="百度综艺简体" panose="02010601030101010101" charset="-122"/>
                <a:ea typeface="百度综艺简体" panose="02010601030101010101" charset="-122"/>
              </a:rPr>
              <a:t>年在</a:t>
            </a:r>
            <a:r>
              <a:rPr lang="en-US" altLang="zh-CN" sz="1600" dirty="0">
                <a:latin typeface="百度综艺简体" panose="02010601030101010101" charset="-122"/>
                <a:ea typeface="百度综艺简体" panose="02010601030101010101" charset="-122"/>
              </a:rPr>
              <a:t>MIT</a:t>
            </a:r>
            <a:r>
              <a:rPr lang="zh-CN" altLang="en-US" sz="1600" dirty="0">
                <a:latin typeface="百度综艺简体" panose="02010601030101010101" charset="-122"/>
                <a:ea typeface="百度综艺简体" panose="02010601030101010101" charset="-122"/>
              </a:rPr>
              <a:t>任教授，</a:t>
            </a:r>
            <a:r>
              <a:rPr lang="en-US" altLang="zh-CN" sz="1600" dirty="0">
                <a:latin typeface="百度综艺简体" panose="02010601030101010101" charset="-122"/>
                <a:ea typeface="百度综艺简体" panose="02010601030101010101" charset="-122"/>
              </a:rPr>
              <a:t>1967</a:t>
            </a:r>
            <a:r>
              <a:rPr lang="zh-CN" altLang="en-US" sz="1600" dirty="0">
                <a:latin typeface="百度综艺简体" panose="02010601030101010101" charset="-122"/>
                <a:ea typeface="百度综艺简体" panose="02010601030101010101" charset="-122"/>
              </a:rPr>
              <a:t>年到加洲大学圣克鲁斯分校创办计算机系。</a:t>
            </a:r>
            <a:r>
              <a:rPr lang="en-US" altLang="zh-CN" sz="1600" dirty="0">
                <a:latin typeface="百度综艺简体" panose="02010601030101010101" charset="-122"/>
                <a:ea typeface="百度综艺简体" panose="02010601030101010101" charset="-122"/>
              </a:rPr>
              <a:t>1982</a:t>
            </a:r>
            <a:r>
              <a:rPr lang="zh-CN" altLang="en-US" sz="1600" dirty="0">
                <a:latin typeface="百度综艺简体" panose="02010601030101010101" charset="-122"/>
                <a:ea typeface="百度综艺简体" panose="02010601030101010101" charset="-122"/>
              </a:rPr>
              <a:t>年获得</a:t>
            </a:r>
            <a:r>
              <a:rPr lang="en-US" altLang="zh-CN" sz="1600" dirty="0">
                <a:latin typeface="百度综艺简体" panose="02010601030101010101" charset="-122"/>
                <a:ea typeface="百度综艺简体" panose="02010601030101010101" charset="-122"/>
              </a:rPr>
              <a:t>IEEE</a:t>
            </a:r>
            <a:r>
              <a:rPr lang="zh-CN" altLang="en-US" sz="1600" dirty="0">
                <a:latin typeface="百度综艺简体" panose="02010601030101010101" charset="-122"/>
                <a:ea typeface="百度综艺简体" panose="02010601030101010101" charset="-122"/>
              </a:rPr>
              <a:t>计算机先驱奖，所提出的哈夫曼编码方法被广泛应用于数据的压缩和传输。</a:t>
            </a:r>
          </a:p>
          <a:p>
            <a:pPr fontAlgn="auto">
              <a:lnSpc>
                <a:spcPct val="150000"/>
              </a:lnSpc>
            </a:pPr>
            <a:r>
              <a:rPr lang="zh-CN" altLang="en-US" sz="1600" dirty="0">
                <a:latin typeface="百度综艺简体" panose="02010601030101010101" charset="-122"/>
                <a:ea typeface="百度综艺简体" panose="02010601030101010101" charset="-122"/>
              </a:rPr>
              <a:t>        哈夫曼对于有限状态自动机、开关电路、异步过程和信号设计有杰出的贡献。他发明的哈夫曼编码能够使我们通常的数据传输数量减少到最小。这个编码的发明和这个算法一样十分引人入胜。</a:t>
            </a:r>
          </a:p>
        </p:txBody>
      </p:sp>
      <p:pic>
        <p:nvPicPr>
          <p:cNvPr id="13" name="Picture 4" descr="u=237845410,3671431222&amp;fm=15&amp;gp=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88" y="1501973"/>
            <a:ext cx="1831975" cy="2466975"/>
          </a:xfrm>
          <a:prstGeom prst="roundRect">
            <a:avLst>
              <a:gd name="adj" fmla="val 8594"/>
            </a:avLst>
          </a:prstGeom>
          <a:solidFill>
            <a:srgbClr val="FFFFFF">
              <a:shade val="85000"/>
            </a:srgbClr>
          </a:solidFill>
          <a:ln w="28575">
            <a:solidFill>
              <a:srgbClr val="2A5BA8"/>
            </a:solidFill>
            <a:miter lim="800000"/>
            <a:headEnd/>
            <a:tailEnd/>
          </a:ln>
          <a:effectLst>
            <a:reflection blurRad="12700" stA="38000" endPos="28000" dist="5000" dir="5400000" sy="-100000" algn="bl" rotWithShape="0"/>
          </a:effectLst>
          <a:extLst/>
        </p:spPr>
      </p:pic>
    </p:spTree>
    <p:extLst>
      <p:ext uri="{BB962C8B-B14F-4D97-AF65-F5344CB8AC3E}">
        <p14:creationId xmlns:p14="http://schemas.microsoft.com/office/powerpoint/2010/main" val="1569781583"/>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000"/>
                                        <p:tgtEl>
                                          <p:spTgt spid="13"/>
                                        </p:tgtEl>
                                      </p:cBhvr>
                                    </p:animEffect>
                                    <p:anim calcmode="lin" valueType="num">
                                      <p:cBhvr>
                                        <p:cTn id="36" dur="1000" fill="hold"/>
                                        <p:tgtEl>
                                          <p:spTgt spid="13"/>
                                        </p:tgtEl>
                                        <p:attrNameLst>
                                          <p:attrName>ppt_x</p:attrName>
                                        </p:attrNameLst>
                                      </p:cBhvr>
                                      <p:tavLst>
                                        <p:tav tm="0">
                                          <p:val>
                                            <p:strVal val="#ppt_x"/>
                                          </p:val>
                                        </p:tav>
                                        <p:tav tm="100000">
                                          <p:val>
                                            <p:strVal val="#ppt_x"/>
                                          </p:val>
                                        </p:tav>
                                      </p:tavLst>
                                    </p:anim>
                                    <p:anim calcmode="lin" valueType="num">
                                      <p:cBhvr>
                                        <p:cTn id="37" dur="1000" fill="hold"/>
                                        <p:tgtEl>
                                          <p:spTgt spid="13"/>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1000"/>
                                        <p:tgtEl>
                                          <p:spTgt spid="14"/>
                                        </p:tgtEl>
                                      </p:cBhvr>
                                    </p:animEffect>
                                    <p:anim calcmode="lin" valueType="num">
                                      <p:cBhvr>
                                        <p:cTn id="42" dur="1000" fill="hold"/>
                                        <p:tgtEl>
                                          <p:spTgt spid="14"/>
                                        </p:tgtEl>
                                        <p:attrNameLst>
                                          <p:attrName>ppt_x</p:attrName>
                                        </p:attrNameLst>
                                      </p:cBhvr>
                                      <p:tavLst>
                                        <p:tav tm="0">
                                          <p:val>
                                            <p:strVal val="#ppt_x"/>
                                          </p:val>
                                        </p:tav>
                                        <p:tav tm="100000">
                                          <p:val>
                                            <p:strVal val="#ppt_x"/>
                                          </p:val>
                                        </p:tav>
                                      </p:tavLst>
                                    </p:anim>
                                    <p:anim calcmode="lin" valueType="num">
                                      <p:cBhvr>
                                        <p:cTn id="4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赫夫曼树及应用</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TextBox 5"/>
          <p:cNvSpPr txBox="1">
            <a:spLocks noChangeArrowheads="1"/>
          </p:cNvSpPr>
          <p:nvPr/>
        </p:nvSpPr>
        <p:spPr bwMode="auto">
          <a:xfrm>
            <a:off x="557288" y="1561709"/>
            <a:ext cx="5887004" cy="2806409"/>
          </a:xfrm>
          <a:prstGeom prst="rect">
            <a:avLst/>
          </a:prstGeom>
          <a:noFill/>
          <a:ln w="9525">
            <a:noFill/>
            <a:miter lim="800000"/>
          </a:ln>
        </p:spPr>
        <p:txBody>
          <a:bodyPr wrap="square">
            <a:spAutoFit/>
          </a:bodyPr>
          <a:lstStyle/>
          <a:p>
            <a:pPr fontAlgn="auto">
              <a:lnSpc>
                <a:spcPct val="150000"/>
              </a:lnSpc>
            </a:pPr>
            <a:r>
              <a:rPr lang="en-US" altLang="zh-CN" sz="1600" dirty="0" smtClean="0">
                <a:latin typeface="百度综艺简体" panose="02010601030101010101" charset="-122"/>
                <a:ea typeface="百度综艺简体" panose="02010601030101010101" charset="-122"/>
              </a:rPr>
              <a:t>       </a:t>
            </a:r>
            <a:r>
              <a:rPr lang="en-US" altLang="zh-CN" sz="2000" dirty="0" smtClean="0">
                <a:latin typeface="百度综艺简体" panose="02010601030101010101" charset="-122"/>
                <a:ea typeface="百度综艺简体" panose="02010601030101010101" charset="-122"/>
              </a:rPr>
              <a:t>1967</a:t>
            </a:r>
            <a:r>
              <a:rPr lang="zh-CN" altLang="en-US" sz="2000" dirty="0">
                <a:latin typeface="百度综艺简体" panose="02010601030101010101" charset="-122"/>
                <a:ea typeface="百度综艺简体" panose="02010601030101010101" charset="-122"/>
              </a:rPr>
              <a:t>年，哈夫曼来到加利福尼亚大学的计算机系任教，并为此系的学术做出了许多杰出的工作。而他所提出的算法也广泛应用于传真机，图象压缩和计算机安全领域。但是哈夫曼却从未为此算法申请过专利或其它相关能够为他带来经济利益的东西，他将他全部的精力放在教学</a:t>
            </a:r>
            <a:r>
              <a:rPr lang="zh-CN" altLang="en-US" sz="2000" dirty="0" smtClean="0">
                <a:latin typeface="百度综艺简体" panose="02010601030101010101" charset="-122"/>
                <a:ea typeface="百度综艺简体" panose="02010601030101010101" charset="-122"/>
              </a:rPr>
              <a:t>上。</a:t>
            </a:r>
            <a:endParaRPr lang="en-US" altLang="zh-CN" sz="2000" dirty="0">
              <a:latin typeface="百度综艺简体" panose="02010601030101010101" charset="-122"/>
              <a:ea typeface="百度综艺简体" panose="02010601030101010101" charset="-122"/>
            </a:endParaRPr>
          </a:p>
        </p:txBody>
      </p:sp>
      <p:pic>
        <p:nvPicPr>
          <p:cNvPr id="13" name="Picture 4" descr="u=237845410,3671431222&amp;fm=15&amp;gp=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0867" y="1466480"/>
            <a:ext cx="1831975" cy="2466975"/>
          </a:xfrm>
          <a:prstGeom prst="roundRect">
            <a:avLst>
              <a:gd name="adj" fmla="val 8594"/>
            </a:avLst>
          </a:prstGeom>
          <a:solidFill>
            <a:srgbClr val="FFFFFF">
              <a:shade val="85000"/>
            </a:srgbClr>
          </a:solidFill>
          <a:ln w="28575">
            <a:solidFill>
              <a:srgbClr val="2A5BA8"/>
            </a:solidFill>
            <a:miter lim="800000"/>
            <a:headEnd/>
            <a:tailEnd/>
          </a:ln>
          <a:effectLst>
            <a:reflection blurRad="12700" stA="38000" endPos="28000" dist="5000" dir="5400000" sy="-100000" algn="bl" rotWithShape="0"/>
          </a:effectLst>
          <a:extLst/>
        </p:spPr>
      </p:pic>
    </p:spTree>
    <p:extLst>
      <p:ext uri="{BB962C8B-B14F-4D97-AF65-F5344CB8AC3E}">
        <p14:creationId xmlns:p14="http://schemas.microsoft.com/office/powerpoint/2010/main" val="739617005"/>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000"/>
                                        <p:tgtEl>
                                          <p:spTgt spid="13"/>
                                        </p:tgtEl>
                                      </p:cBhvr>
                                    </p:animEffect>
                                    <p:anim calcmode="lin" valueType="num">
                                      <p:cBhvr>
                                        <p:cTn id="36" dur="1000" fill="hold"/>
                                        <p:tgtEl>
                                          <p:spTgt spid="13"/>
                                        </p:tgtEl>
                                        <p:attrNameLst>
                                          <p:attrName>ppt_x</p:attrName>
                                        </p:attrNameLst>
                                      </p:cBhvr>
                                      <p:tavLst>
                                        <p:tav tm="0">
                                          <p:val>
                                            <p:strVal val="#ppt_x"/>
                                          </p:val>
                                        </p:tav>
                                        <p:tav tm="100000">
                                          <p:val>
                                            <p:strVal val="#ppt_x"/>
                                          </p:val>
                                        </p:tav>
                                      </p:tavLst>
                                    </p:anim>
                                    <p:anim calcmode="lin" valueType="num">
                                      <p:cBhvr>
                                        <p:cTn id="37" dur="1000" fill="hold"/>
                                        <p:tgtEl>
                                          <p:spTgt spid="13"/>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1000"/>
                                        <p:tgtEl>
                                          <p:spTgt spid="14"/>
                                        </p:tgtEl>
                                      </p:cBhvr>
                                    </p:animEffect>
                                    <p:anim calcmode="lin" valueType="num">
                                      <p:cBhvr>
                                        <p:cTn id="42" dur="1000" fill="hold"/>
                                        <p:tgtEl>
                                          <p:spTgt spid="14"/>
                                        </p:tgtEl>
                                        <p:attrNameLst>
                                          <p:attrName>ppt_x</p:attrName>
                                        </p:attrNameLst>
                                      </p:cBhvr>
                                      <p:tavLst>
                                        <p:tav tm="0">
                                          <p:val>
                                            <p:strVal val="#ppt_x"/>
                                          </p:val>
                                        </p:tav>
                                        <p:tav tm="100000">
                                          <p:val>
                                            <p:strVal val="#ppt_x"/>
                                          </p:val>
                                        </p:tav>
                                      </p:tavLst>
                                    </p:anim>
                                    <p:anim calcmode="lin" valueType="num">
                                      <p:cBhvr>
                                        <p:cTn id="4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赫夫曼树及应用</a:t>
            </a:r>
            <a:endParaRPr lang="zh-CN" alt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979433" y="1356295"/>
            <a:ext cx="1758249" cy="507831"/>
          </a:xfrm>
          <a:prstGeom prst="rect">
            <a:avLst/>
          </a:prstGeom>
          <a:noFill/>
          <a:ln w="9525">
            <a:noFill/>
            <a:miter lim="800000"/>
          </a:ln>
        </p:spPr>
        <p:txBody>
          <a:bodyPr wrap="square">
            <a:spAutoFit/>
          </a:bodyPr>
          <a:lstStyle/>
          <a:p>
            <a:pPr marL="285750" indent="-285750" fontAlgn="auto">
              <a:lnSpc>
                <a:spcPct val="150000"/>
              </a:lnSpc>
              <a:buFont typeface="Wingdings" panose="05000000000000000000" pitchFamily="2" charset="2"/>
              <a:buChar char="u"/>
            </a:pPr>
            <a:r>
              <a:rPr lang="zh-CN" altLang="en-US" dirty="0">
                <a:solidFill>
                  <a:schemeClr val="accent1"/>
                </a:solidFill>
                <a:latin typeface="百度综艺简体" panose="02010601030101010101" charset="-122"/>
                <a:ea typeface="百度综艺简体" panose="02010601030101010101" charset="-122"/>
              </a:rPr>
              <a:t>路径：</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sp>
        <p:nvSpPr>
          <p:cNvPr id="41" name="Text Placeholder 11"/>
          <p:cNvSpPr txBox="1"/>
          <p:nvPr/>
        </p:nvSpPr>
        <p:spPr>
          <a:xfrm>
            <a:off x="557287" y="986922"/>
            <a:ext cx="393729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2000" dirty="0">
                <a:latin typeface="百度综艺简体" panose="02010601030101010101" charset="-122"/>
                <a:ea typeface="百度综艺简体" panose="02010601030101010101" charset="-122"/>
                <a:sym typeface="Arial" panose="020B0604020202020204" pitchFamily="34" charset="0"/>
              </a:rPr>
              <a:t> 一、</a:t>
            </a:r>
            <a:r>
              <a:rPr lang="en-US" altLang="zh-CN" sz="2000" dirty="0">
                <a:latin typeface="百度综艺简体" panose="02010601030101010101" charset="-122"/>
                <a:ea typeface="百度综艺简体" panose="02010601030101010101" charset="-122"/>
                <a:sym typeface="Arial" panose="020B0604020202020204" pitchFamily="34" charset="0"/>
              </a:rPr>
              <a:t>Huffman</a:t>
            </a:r>
            <a:r>
              <a:rPr lang="zh-CN" altLang="en-US" sz="2000" dirty="0">
                <a:latin typeface="百度综艺简体" panose="02010601030101010101" charset="-122"/>
                <a:ea typeface="百度综艺简体" panose="02010601030101010101" charset="-122"/>
                <a:sym typeface="Arial" panose="020B0604020202020204" pitchFamily="34" charset="0"/>
              </a:rPr>
              <a:t>树的定义</a:t>
            </a: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TextBox 5"/>
          <p:cNvSpPr txBox="1">
            <a:spLocks noChangeArrowheads="1"/>
          </p:cNvSpPr>
          <p:nvPr/>
        </p:nvSpPr>
        <p:spPr bwMode="auto">
          <a:xfrm>
            <a:off x="1268730" y="1864126"/>
            <a:ext cx="7277822" cy="463012"/>
          </a:xfrm>
          <a:prstGeom prst="rect">
            <a:avLst/>
          </a:prstGeom>
          <a:noFill/>
          <a:ln w="9525">
            <a:noFill/>
            <a:miter lim="800000"/>
          </a:ln>
        </p:spPr>
        <p:txBody>
          <a:bodyPr wrap="square">
            <a:spAutoFit/>
          </a:bodyPr>
          <a:lstStyle/>
          <a:p>
            <a:pPr fontAlgn="auto">
              <a:lnSpc>
                <a:spcPct val="150000"/>
              </a:lnSpc>
            </a:pPr>
            <a:r>
              <a:rPr lang="zh-CN" altLang="en-US" dirty="0">
                <a:latin typeface="百度综艺简体" panose="02010601030101010101" charset="-122"/>
                <a:ea typeface="百度综艺简体" panose="02010601030101010101" charset="-122"/>
              </a:rPr>
              <a:t>从树中一个结点到另一个结点之间的分支构成这两个结点之间的路径。</a:t>
            </a:r>
          </a:p>
        </p:txBody>
      </p:sp>
      <p:sp>
        <p:nvSpPr>
          <p:cNvPr id="20" name="TextBox 5"/>
          <p:cNvSpPr txBox="1">
            <a:spLocks noChangeArrowheads="1"/>
          </p:cNvSpPr>
          <p:nvPr/>
        </p:nvSpPr>
        <p:spPr bwMode="auto">
          <a:xfrm>
            <a:off x="1268730" y="3037120"/>
            <a:ext cx="4427877" cy="507831"/>
          </a:xfrm>
          <a:prstGeom prst="rect">
            <a:avLst/>
          </a:prstGeom>
          <a:noFill/>
          <a:ln w="9525">
            <a:noFill/>
            <a:miter lim="800000"/>
          </a:ln>
        </p:spPr>
        <p:txBody>
          <a:bodyPr wrap="square">
            <a:spAutoFit/>
          </a:bodyPr>
          <a:lstStyle/>
          <a:p>
            <a:pPr fontAlgn="auto">
              <a:lnSpc>
                <a:spcPct val="150000"/>
              </a:lnSpc>
            </a:pPr>
            <a:r>
              <a:rPr lang="zh-CN" altLang="en-US" dirty="0">
                <a:latin typeface="百度综艺简体" panose="02010601030101010101" charset="-122"/>
                <a:ea typeface="百度综艺简体" panose="02010601030101010101" charset="-122"/>
              </a:rPr>
              <a:t>从根结点到该结点的路径上分支的数目。</a:t>
            </a:r>
          </a:p>
        </p:txBody>
      </p:sp>
      <p:sp>
        <p:nvSpPr>
          <p:cNvPr id="23" name="TextBox 5"/>
          <p:cNvSpPr txBox="1">
            <a:spLocks noChangeArrowheads="1"/>
          </p:cNvSpPr>
          <p:nvPr/>
        </p:nvSpPr>
        <p:spPr bwMode="auto">
          <a:xfrm>
            <a:off x="979433" y="3679508"/>
            <a:ext cx="7277822" cy="463012"/>
          </a:xfrm>
          <a:prstGeom prst="rect">
            <a:avLst/>
          </a:prstGeom>
          <a:noFill/>
          <a:ln w="9525">
            <a:noFill/>
            <a:miter lim="800000"/>
          </a:ln>
        </p:spPr>
        <p:txBody>
          <a:bodyPr wrap="square">
            <a:spAutoFit/>
          </a:bodyPr>
          <a:lstStyle/>
          <a:p>
            <a:pPr marL="285750" indent="-285750" fontAlgn="auto">
              <a:lnSpc>
                <a:spcPct val="150000"/>
              </a:lnSpc>
              <a:buFont typeface="Wingdings" panose="05000000000000000000" pitchFamily="2" charset="2"/>
              <a:buChar char="u"/>
            </a:pPr>
            <a:r>
              <a:rPr lang="zh-CN" altLang="en-US" dirty="0">
                <a:solidFill>
                  <a:schemeClr val="accent1"/>
                </a:solidFill>
                <a:latin typeface="百度综艺简体" panose="02010601030101010101" charset="-122"/>
                <a:ea typeface="百度综艺简体" panose="02010601030101010101" charset="-122"/>
              </a:rPr>
              <a:t>树的路径长度：</a:t>
            </a:r>
          </a:p>
        </p:txBody>
      </p:sp>
      <p:sp>
        <p:nvSpPr>
          <p:cNvPr id="24" name="TextBox 5"/>
          <p:cNvSpPr txBox="1">
            <a:spLocks noChangeArrowheads="1"/>
          </p:cNvSpPr>
          <p:nvPr/>
        </p:nvSpPr>
        <p:spPr bwMode="auto">
          <a:xfrm>
            <a:off x="1268730" y="4271218"/>
            <a:ext cx="3839210" cy="507831"/>
          </a:xfrm>
          <a:prstGeom prst="rect">
            <a:avLst/>
          </a:prstGeom>
          <a:noFill/>
          <a:ln w="9525">
            <a:noFill/>
            <a:miter lim="800000"/>
          </a:ln>
        </p:spPr>
        <p:txBody>
          <a:bodyPr wrap="square">
            <a:spAutoFit/>
          </a:bodyPr>
          <a:lstStyle/>
          <a:p>
            <a:pPr fontAlgn="auto">
              <a:lnSpc>
                <a:spcPct val="150000"/>
              </a:lnSpc>
            </a:pPr>
            <a:r>
              <a:rPr lang="zh-CN" altLang="en-US" dirty="0">
                <a:latin typeface="百度综艺简体" panose="02010601030101010101" charset="-122"/>
                <a:ea typeface="百度综艺简体" panose="02010601030101010101" charset="-122"/>
              </a:rPr>
              <a:t>树中每个结点的路径长度之和。</a:t>
            </a:r>
          </a:p>
        </p:txBody>
      </p:sp>
      <p:sp>
        <p:nvSpPr>
          <p:cNvPr id="28" name="TextBox 5"/>
          <p:cNvSpPr txBox="1">
            <a:spLocks noChangeArrowheads="1"/>
          </p:cNvSpPr>
          <p:nvPr/>
        </p:nvSpPr>
        <p:spPr bwMode="auto">
          <a:xfrm>
            <a:off x="979433" y="2424606"/>
            <a:ext cx="2446939" cy="507831"/>
          </a:xfrm>
          <a:prstGeom prst="rect">
            <a:avLst/>
          </a:prstGeom>
          <a:noFill/>
          <a:ln w="9525">
            <a:noFill/>
            <a:miter lim="800000"/>
          </a:ln>
        </p:spPr>
        <p:txBody>
          <a:bodyPr wrap="square">
            <a:spAutoFit/>
          </a:bodyPr>
          <a:lstStyle/>
          <a:p>
            <a:pPr marL="285750" indent="-285750" fontAlgn="auto">
              <a:lnSpc>
                <a:spcPct val="150000"/>
              </a:lnSpc>
              <a:buFont typeface="Wingdings" panose="05000000000000000000" pitchFamily="2" charset="2"/>
              <a:buChar char="u"/>
            </a:pPr>
            <a:r>
              <a:rPr lang="zh-CN" altLang="en-US" dirty="0">
                <a:solidFill>
                  <a:schemeClr val="accent1"/>
                </a:solidFill>
                <a:latin typeface="百度综艺简体" panose="02010601030101010101" charset="-122"/>
                <a:ea typeface="百度综艺简体" panose="02010601030101010101" charset="-122"/>
              </a:rPr>
              <a:t>结点的路径长度：</a:t>
            </a:r>
          </a:p>
        </p:txBody>
      </p:sp>
    </p:spTree>
    <p:extLst>
      <p:ext uri="{BB962C8B-B14F-4D97-AF65-F5344CB8AC3E}">
        <p14:creationId xmlns:p14="http://schemas.microsoft.com/office/powerpoint/2010/main" val="4078904603"/>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1000"/>
                                        <p:tgtEl>
                                          <p:spTgt spid="41"/>
                                        </p:tgtEl>
                                      </p:cBhvr>
                                    </p:animEffect>
                                    <p:anim calcmode="lin" valueType="num">
                                      <p:cBhvr>
                                        <p:cTn id="36" dur="1000" fill="hold"/>
                                        <p:tgtEl>
                                          <p:spTgt spid="41"/>
                                        </p:tgtEl>
                                        <p:attrNameLst>
                                          <p:attrName>ppt_x</p:attrName>
                                        </p:attrNameLst>
                                      </p:cBhvr>
                                      <p:tavLst>
                                        <p:tav tm="0">
                                          <p:val>
                                            <p:strVal val="#ppt_x"/>
                                          </p:val>
                                        </p:tav>
                                        <p:tav tm="100000">
                                          <p:val>
                                            <p:strVal val="#ppt_x"/>
                                          </p:val>
                                        </p:tav>
                                      </p:tavLst>
                                    </p:anim>
                                    <p:anim calcmode="lin" valueType="num">
                                      <p:cBhvr>
                                        <p:cTn id="37" dur="1000" fill="hold"/>
                                        <p:tgtEl>
                                          <p:spTgt spid="41"/>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1000"/>
                                        <p:tgtEl>
                                          <p:spTgt spid="26"/>
                                        </p:tgtEl>
                                      </p:cBhvr>
                                    </p:animEffect>
                                    <p:anim calcmode="lin" valueType="num">
                                      <p:cBhvr>
                                        <p:cTn id="42" dur="1000" fill="hold"/>
                                        <p:tgtEl>
                                          <p:spTgt spid="26"/>
                                        </p:tgtEl>
                                        <p:attrNameLst>
                                          <p:attrName>ppt_x</p:attrName>
                                        </p:attrNameLst>
                                      </p:cBhvr>
                                      <p:tavLst>
                                        <p:tav tm="0">
                                          <p:val>
                                            <p:strVal val="#ppt_x"/>
                                          </p:val>
                                        </p:tav>
                                        <p:tav tm="100000">
                                          <p:val>
                                            <p:strVal val="#ppt_x"/>
                                          </p:val>
                                        </p:tav>
                                      </p:tavLst>
                                    </p:anim>
                                    <p:anim calcmode="lin" valueType="num">
                                      <p:cBhvr>
                                        <p:cTn id="43" dur="1000" fill="hold"/>
                                        <p:tgtEl>
                                          <p:spTgt spid="26"/>
                                        </p:tgtEl>
                                        <p:attrNameLst>
                                          <p:attrName>ppt_y</p:attrName>
                                        </p:attrNameLst>
                                      </p:cBhvr>
                                      <p:tavLst>
                                        <p:tav tm="0">
                                          <p:val>
                                            <p:strVal val="#ppt_y+.1"/>
                                          </p:val>
                                        </p:tav>
                                        <p:tav tm="100000">
                                          <p:val>
                                            <p:strVal val="#ppt_y"/>
                                          </p:val>
                                        </p:tav>
                                      </p:tavLst>
                                    </p:anim>
                                  </p:childTnLst>
                                </p:cTn>
                              </p:par>
                            </p:childTnLst>
                          </p:cTn>
                        </p:par>
                        <p:par>
                          <p:cTn id="44" fill="hold">
                            <p:stCondLst>
                              <p:cond delay="5250"/>
                            </p:stCondLst>
                            <p:childTnLst>
                              <p:par>
                                <p:cTn id="45" presetID="42"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1000"/>
                                        <p:tgtEl>
                                          <p:spTgt spid="18"/>
                                        </p:tgtEl>
                                      </p:cBhvr>
                                    </p:animEffect>
                                    <p:anim calcmode="lin" valueType="num">
                                      <p:cBhvr>
                                        <p:cTn id="48" dur="1000" fill="hold"/>
                                        <p:tgtEl>
                                          <p:spTgt spid="18"/>
                                        </p:tgtEl>
                                        <p:attrNameLst>
                                          <p:attrName>ppt_x</p:attrName>
                                        </p:attrNameLst>
                                      </p:cBhvr>
                                      <p:tavLst>
                                        <p:tav tm="0">
                                          <p:val>
                                            <p:strVal val="#ppt_x"/>
                                          </p:val>
                                        </p:tav>
                                        <p:tav tm="100000">
                                          <p:val>
                                            <p:strVal val="#ppt_x"/>
                                          </p:val>
                                        </p:tav>
                                      </p:tavLst>
                                    </p:anim>
                                    <p:anim calcmode="lin" valueType="num">
                                      <p:cBhvr>
                                        <p:cTn id="49" dur="1000" fill="hold"/>
                                        <p:tgtEl>
                                          <p:spTgt spid="18"/>
                                        </p:tgtEl>
                                        <p:attrNameLst>
                                          <p:attrName>ppt_y</p:attrName>
                                        </p:attrNameLst>
                                      </p:cBhvr>
                                      <p:tavLst>
                                        <p:tav tm="0">
                                          <p:val>
                                            <p:strVal val="#ppt_y+.1"/>
                                          </p:val>
                                        </p:tav>
                                        <p:tav tm="100000">
                                          <p:val>
                                            <p:strVal val="#ppt_y"/>
                                          </p:val>
                                        </p:tav>
                                      </p:tavLst>
                                    </p:anim>
                                  </p:childTnLst>
                                </p:cTn>
                              </p:par>
                            </p:childTnLst>
                          </p:cTn>
                        </p:par>
                        <p:par>
                          <p:cTn id="50" fill="hold">
                            <p:stCondLst>
                              <p:cond delay="6250"/>
                            </p:stCondLst>
                            <p:childTnLst>
                              <p:par>
                                <p:cTn id="51" presetID="42" presetClass="entr" presetSubtype="0" fill="hold" grpId="0" nodeType="after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1000"/>
                                        <p:tgtEl>
                                          <p:spTgt spid="20"/>
                                        </p:tgtEl>
                                      </p:cBhvr>
                                    </p:animEffect>
                                    <p:anim calcmode="lin" valueType="num">
                                      <p:cBhvr>
                                        <p:cTn id="54" dur="1000" fill="hold"/>
                                        <p:tgtEl>
                                          <p:spTgt spid="20"/>
                                        </p:tgtEl>
                                        <p:attrNameLst>
                                          <p:attrName>ppt_x</p:attrName>
                                        </p:attrNameLst>
                                      </p:cBhvr>
                                      <p:tavLst>
                                        <p:tav tm="0">
                                          <p:val>
                                            <p:strVal val="#ppt_x"/>
                                          </p:val>
                                        </p:tav>
                                        <p:tav tm="100000">
                                          <p:val>
                                            <p:strVal val="#ppt_x"/>
                                          </p:val>
                                        </p:tav>
                                      </p:tavLst>
                                    </p:anim>
                                    <p:anim calcmode="lin" valueType="num">
                                      <p:cBhvr>
                                        <p:cTn id="55" dur="1000" fill="hold"/>
                                        <p:tgtEl>
                                          <p:spTgt spid="20"/>
                                        </p:tgtEl>
                                        <p:attrNameLst>
                                          <p:attrName>ppt_y</p:attrName>
                                        </p:attrNameLst>
                                      </p:cBhvr>
                                      <p:tavLst>
                                        <p:tav tm="0">
                                          <p:val>
                                            <p:strVal val="#ppt_y+.1"/>
                                          </p:val>
                                        </p:tav>
                                        <p:tav tm="100000">
                                          <p:val>
                                            <p:strVal val="#ppt_y"/>
                                          </p:val>
                                        </p:tav>
                                      </p:tavLst>
                                    </p:anim>
                                  </p:childTnLst>
                                </p:cTn>
                              </p:par>
                            </p:childTnLst>
                          </p:cTn>
                        </p:par>
                        <p:par>
                          <p:cTn id="56" fill="hold">
                            <p:stCondLst>
                              <p:cond delay="7250"/>
                            </p:stCondLst>
                            <p:childTnLst>
                              <p:par>
                                <p:cTn id="57" presetID="42" presetClass="entr" presetSubtype="0" fill="hold" grpId="0" nodeType="after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1000"/>
                                        <p:tgtEl>
                                          <p:spTgt spid="23"/>
                                        </p:tgtEl>
                                      </p:cBhvr>
                                    </p:animEffect>
                                    <p:anim calcmode="lin" valueType="num">
                                      <p:cBhvr>
                                        <p:cTn id="60" dur="1000" fill="hold"/>
                                        <p:tgtEl>
                                          <p:spTgt spid="23"/>
                                        </p:tgtEl>
                                        <p:attrNameLst>
                                          <p:attrName>ppt_x</p:attrName>
                                        </p:attrNameLst>
                                      </p:cBhvr>
                                      <p:tavLst>
                                        <p:tav tm="0">
                                          <p:val>
                                            <p:strVal val="#ppt_x"/>
                                          </p:val>
                                        </p:tav>
                                        <p:tav tm="100000">
                                          <p:val>
                                            <p:strVal val="#ppt_x"/>
                                          </p:val>
                                        </p:tav>
                                      </p:tavLst>
                                    </p:anim>
                                    <p:anim calcmode="lin" valueType="num">
                                      <p:cBhvr>
                                        <p:cTn id="61" dur="1000" fill="hold"/>
                                        <p:tgtEl>
                                          <p:spTgt spid="23"/>
                                        </p:tgtEl>
                                        <p:attrNameLst>
                                          <p:attrName>ppt_y</p:attrName>
                                        </p:attrNameLst>
                                      </p:cBhvr>
                                      <p:tavLst>
                                        <p:tav tm="0">
                                          <p:val>
                                            <p:strVal val="#ppt_y+.1"/>
                                          </p:val>
                                        </p:tav>
                                        <p:tav tm="100000">
                                          <p:val>
                                            <p:strVal val="#ppt_y"/>
                                          </p:val>
                                        </p:tav>
                                      </p:tavLst>
                                    </p:anim>
                                  </p:childTnLst>
                                </p:cTn>
                              </p:par>
                            </p:childTnLst>
                          </p:cTn>
                        </p:par>
                        <p:par>
                          <p:cTn id="62" fill="hold">
                            <p:stCondLst>
                              <p:cond delay="8250"/>
                            </p:stCondLst>
                            <p:childTnLst>
                              <p:par>
                                <p:cTn id="63" presetID="42" presetClass="entr" presetSubtype="0" fill="hold" grpId="0" nodeType="after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1000"/>
                                        <p:tgtEl>
                                          <p:spTgt spid="24"/>
                                        </p:tgtEl>
                                      </p:cBhvr>
                                    </p:animEffect>
                                    <p:anim calcmode="lin" valueType="num">
                                      <p:cBhvr>
                                        <p:cTn id="66" dur="1000" fill="hold"/>
                                        <p:tgtEl>
                                          <p:spTgt spid="24"/>
                                        </p:tgtEl>
                                        <p:attrNameLst>
                                          <p:attrName>ppt_x</p:attrName>
                                        </p:attrNameLst>
                                      </p:cBhvr>
                                      <p:tavLst>
                                        <p:tav tm="0">
                                          <p:val>
                                            <p:strVal val="#ppt_x"/>
                                          </p:val>
                                        </p:tav>
                                        <p:tav tm="100000">
                                          <p:val>
                                            <p:strVal val="#ppt_x"/>
                                          </p:val>
                                        </p:tav>
                                      </p:tavLst>
                                    </p:anim>
                                    <p:anim calcmode="lin" valueType="num">
                                      <p:cBhvr>
                                        <p:cTn id="67" dur="1000" fill="hold"/>
                                        <p:tgtEl>
                                          <p:spTgt spid="24"/>
                                        </p:tgtEl>
                                        <p:attrNameLst>
                                          <p:attrName>ppt_y</p:attrName>
                                        </p:attrNameLst>
                                      </p:cBhvr>
                                      <p:tavLst>
                                        <p:tav tm="0">
                                          <p:val>
                                            <p:strVal val="#ppt_y+.1"/>
                                          </p:val>
                                        </p:tav>
                                        <p:tav tm="100000">
                                          <p:val>
                                            <p:strVal val="#ppt_y"/>
                                          </p:val>
                                        </p:tav>
                                      </p:tavLst>
                                    </p:anim>
                                  </p:childTnLst>
                                </p:cTn>
                              </p:par>
                            </p:childTnLst>
                          </p:cTn>
                        </p:par>
                        <p:par>
                          <p:cTn id="68" fill="hold">
                            <p:stCondLst>
                              <p:cond delay="9250"/>
                            </p:stCondLst>
                            <p:childTnLst>
                              <p:par>
                                <p:cTn id="69" presetID="42" presetClass="entr" presetSubtype="0" fill="hold" grpId="0" nodeType="after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1000"/>
                                        <p:tgtEl>
                                          <p:spTgt spid="28"/>
                                        </p:tgtEl>
                                      </p:cBhvr>
                                    </p:animEffect>
                                    <p:anim calcmode="lin" valueType="num">
                                      <p:cBhvr>
                                        <p:cTn id="72" dur="1000" fill="hold"/>
                                        <p:tgtEl>
                                          <p:spTgt spid="28"/>
                                        </p:tgtEl>
                                        <p:attrNameLst>
                                          <p:attrName>ppt_x</p:attrName>
                                        </p:attrNameLst>
                                      </p:cBhvr>
                                      <p:tavLst>
                                        <p:tav tm="0">
                                          <p:val>
                                            <p:strVal val="#ppt_x"/>
                                          </p:val>
                                        </p:tav>
                                        <p:tav tm="100000">
                                          <p:val>
                                            <p:strVal val="#ppt_x"/>
                                          </p:val>
                                        </p:tav>
                                      </p:tavLst>
                                    </p:anim>
                                    <p:anim calcmode="lin" valueType="num">
                                      <p:cBhvr>
                                        <p:cTn id="73"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p:bldP spid="41" grpId="0"/>
      <p:bldP spid="18" grpId="0"/>
      <p:bldP spid="20" grpId="0"/>
      <p:bldP spid="23" grpId="0"/>
      <p:bldP spid="24" grpId="0"/>
      <p:bldP spid="2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赫夫曼树及应用</a:t>
            </a:r>
            <a:endParaRPr lang="zh-CN" alt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TextBox 5"/>
          <p:cNvSpPr txBox="1">
            <a:spLocks noChangeArrowheads="1"/>
          </p:cNvSpPr>
          <p:nvPr/>
        </p:nvSpPr>
        <p:spPr bwMode="auto">
          <a:xfrm>
            <a:off x="989842" y="3897413"/>
            <a:ext cx="7277822" cy="463012"/>
          </a:xfrm>
          <a:prstGeom prst="rect">
            <a:avLst/>
          </a:prstGeom>
          <a:noFill/>
          <a:ln w="9525">
            <a:noFill/>
            <a:miter lim="800000"/>
          </a:ln>
        </p:spPr>
        <p:txBody>
          <a:bodyPr wrap="square">
            <a:spAutoFit/>
          </a:bodyPr>
          <a:lstStyle/>
          <a:p>
            <a:pPr fontAlgn="auto">
              <a:lnSpc>
                <a:spcPct val="150000"/>
              </a:lnSpc>
            </a:pPr>
            <a:r>
              <a:rPr lang="zh-CN" altLang="en-US" dirty="0">
                <a:solidFill>
                  <a:schemeClr val="accent1"/>
                </a:solidFill>
                <a:latin typeface="百度综艺简体" panose="02010601030101010101" charset="-122"/>
                <a:ea typeface="百度综艺简体" panose="02010601030101010101" charset="-122"/>
              </a:rPr>
              <a:t>带权路径长度 </a:t>
            </a:r>
            <a:r>
              <a:rPr lang="en-US" altLang="zh-CN" dirty="0">
                <a:solidFill>
                  <a:schemeClr val="accent1"/>
                </a:solidFill>
                <a:latin typeface="百度综艺简体" panose="02010601030101010101" charset="-122"/>
                <a:ea typeface="百度综艺简体" panose="02010601030101010101" charset="-122"/>
              </a:rPr>
              <a:t>( Weighted Path Length, WPL )</a:t>
            </a:r>
          </a:p>
        </p:txBody>
      </p:sp>
      <p:sp>
        <p:nvSpPr>
          <p:cNvPr id="24" name="TextBox 5"/>
          <p:cNvSpPr txBox="1">
            <a:spLocks noChangeArrowheads="1"/>
          </p:cNvSpPr>
          <p:nvPr/>
        </p:nvSpPr>
        <p:spPr bwMode="auto">
          <a:xfrm>
            <a:off x="999989" y="3032688"/>
            <a:ext cx="5769731" cy="1015663"/>
          </a:xfrm>
          <a:prstGeom prst="rect">
            <a:avLst/>
          </a:prstGeom>
          <a:noFill/>
          <a:ln w="9525">
            <a:noFill/>
            <a:miter lim="800000"/>
          </a:ln>
        </p:spPr>
        <p:txBody>
          <a:bodyPr wrap="square">
            <a:spAutoFit/>
          </a:bodyPr>
          <a:lstStyle/>
          <a:p>
            <a:pPr marL="342900" indent="-342900" fontAlgn="auto">
              <a:buFont typeface="+mj-ea"/>
              <a:buAutoNum type="circleNumDbPlain"/>
            </a:pPr>
            <a:r>
              <a:rPr lang="en-US" altLang="zh-CN" sz="2000" dirty="0" smtClean="0">
                <a:latin typeface="百度综艺简体" panose="02010601030101010101" charset="-122"/>
                <a:ea typeface="百度综艺简体" panose="02010601030101010101" charset="-122"/>
              </a:rPr>
              <a:t>WPL= 7*2+5*2+2*2+4*2=36;</a:t>
            </a:r>
            <a:endParaRPr lang="en-US" altLang="zh-CN" sz="2000" dirty="0">
              <a:latin typeface="百度综艺简体" panose="02010601030101010101" charset="-122"/>
              <a:ea typeface="百度综艺简体" panose="02010601030101010101" charset="-122"/>
            </a:endParaRPr>
          </a:p>
          <a:p>
            <a:pPr marL="342900" indent="-342900" fontAlgn="auto">
              <a:buFont typeface="+mj-ea"/>
              <a:buAutoNum type="circleNumDbPlain"/>
            </a:pPr>
            <a:r>
              <a:rPr lang="en-US" altLang="zh-CN" sz="2000" dirty="0" smtClean="0">
                <a:latin typeface="百度综艺简体" panose="02010601030101010101" charset="-122"/>
                <a:ea typeface="百度综艺简体" panose="02010601030101010101" charset="-122"/>
              </a:rPr>
              <a:t>WPL</a:t>
            </a:r>
            <a:r>
              <a:rPr lang="en-US" altLang="zh-CN" sz="2000" dirty="0">
                <a:latin typeface="百度综艺简体" panose="02010601030101010101" charset="-122"/>
                <a:ea typeface="百度综艺简体" panose="02010601030101010101" charset="-122"/>
              </a:rPr>
              <a:t>= </a:t>
            </a:r>
            <a:r>
              <a:rPr lang="en-US" altLang="zh-CN" sz="2000" dirty="0" smtClean="0">
                <a:latin typeface="百度综艺简体" panose="02010601030101010101" charset="-122"/>
                <a:ea typeface="百度综艺简体" panose="02010601030101010101" charset="-122"/>
              </a:rPr>
              <a:t>7*3+5*3+2*1+4*2=46;</a:t>
            </a:r>
            <a:endParaRPr lang="en-US" altLang="zh-CN" sz="2000" dirty="0">
              <a:latin typeface="百度综艺简体" panose="02010601030101010101" charset="-122"/>
              <a:ea typeface="百度综艺简体" panose="02010601030101010101" charset="-122"/>
            </a:endParaRPr>
          </a:p>
          <a:p>
            <a:pPr marL="342900" indent="-342900" fontAlgn="auto">
              <a:buFont typeface="+mj-ea"/>
              <a:buAutoNum type="circleNumDbPlain"/>
            </a:pPr>
            <a:r>
              <a:rPr lang="en-US" altLang="zh-CN" sz="2000" dirty="0" smtClean="0">
                <a:latin typeface="百度综艺简体" panose="02010601030101010101" charset="-122"/>
                <a:ea typeface="百度综艺简体" panose="02010601030101010101" charset="-122"/>
              </a:rPr>
              <a:t>WPL</a:t>
            </a:r>
            <a:r>
              <a:rPr lang="en-US" altLang="zh-CN" sz="2000" dirty="0">
                <a:latin typeface="百度综艺简体" panose="02010601030101010101" charset="-122"/>
                <a:ea typeface="百度综艺简体" panose="02010601030101010101" charset="-122"/>
              </a:rPr>
              <a:t>= </a:t>
            </a:r>
            <a:r>
              <a:rPr lang="en-US" altLang="zh-CN" sz="2000" dirty="0" smtClean="0">
                <a:latin typeface="百度综艺简体" panose="02010601030101010101" charset="-122"/>
                <a:ea typeface="百度综艺简体" panose="02010601030101010101" charset="-122"/>
              </a:rPr>
              <a:t>7*1+5*2+2*3+4*3=35</a:t>
            </a:r>
            <a:endParaRPr lang="en-US" altLang="zh-CN" sz="2000" dirty="0">
              <a:latin typeface="百度综艺简体" panose="02010601030101010101" charset="-122"/>
              <a:ea typeface="百度综艺简体" panose="02010601030101010101" charset="-122"/>
            </a:endParaRPr>
          </a:p>
        </p:txBody>
      </p:sp>
      <p:grpSp>
        <p:nvGrpSpPr>
          <p:cNvPr id="29" name="组合 28"/>
          <p:cNvGrpSpPr/>
          <p:nvPr/>
        </p:nvGrpSpPr>
        <p:grpSpPr>
          <a:xfrm>
            <a:off x="1750764" y="822954"/>
            <a:ext cx="5344511" cy="2120438"/>
            <a:chOff x="762000" y="685800"/>
            <a:chExt cx="7505700" cy="2977891"/>
          </a:xfrm>
        </p:grpSpPr>
        <p:sp>
          <p:nvSpPr>
            <p:cNvPr id="30" name="Oval 2"/>
            <p:cNvSpPr>
              <a:spLocks noChangeArrowheads="1"/>
            </p:cNvSpPr>
            <p:nvPr/>
          </p:nvSpPr>
          <p:spPr bwMode="auto">
            <a:xfrm>
              <a:off x="1676400" y="6858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32" name="Oval 3"/>
            <p:cNvSpPr>
              <a:spLocks noChangeArrowheads="1"/>
            </p:cNvSpPr>
            <p:nvPr/>
          </p:nvSpPr>
          <p:spPr bwMode="auto">
            <a:xfrm>
              <a:off x="1143000" y="1371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33" name="Oval 4"/>
            <p:cNvSpPr>
              <a:spLocks noChangeArrowheads="1"/>
            </p:cNvSpPr>
            <p:nvPr/>
          </p:nvSpPr>
          <p:spPr bwMode="auto">
            <a:xfrm>
              <a:off x="2133600" y="1371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34" name="Oval 5"/>
            <p:cNvSpPr>
              <a:spLocks noChangeArrowheads="1"/>
            </p:cNvSpPr>
            <p:nvPr/>
          </p:nvSpPr>
          <p:spPr bwMode="auto">
            <a:xfrm>
              <a:off x="762000" y="2133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a</a:t>
              </a:r>
            </a:p>
          </p:txBody>
        </p:sp>
        <p:sp>
          <p:nvSpPr>
            <p:cNvPr id="35" name="Oval 6"/>
            <p:cNvSpPr>
              <a:spLocks noChangeArrowheads="1"/>
            </p:cNvSpPr>
            <p:nvPr/>
          </p:nvSpPr>
          <p:spPr bwMode="auto">
            <a:xfrm>
              <a:off x="1371600" y="2133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dirty="0">
                  <a:latin typeface="百度综艺简体" panose="02010601030101010101" pitchFamily="2" charset="-122"/>
                  <a:ea typeface="百度综艺简体" panose="02010601030101010101" pitchFamily="2" charset="-122"/>
                </a:rPr>
                <a:t>b</a:t>
              </a:r>
            </a:p>
          </p:txBody>
        </p:sp>
        <p:sp>
          <p:nvSpPr>
            <p:cNvPr id="36" name="Oval 7"/>
            <p:cNvSpPr>
              <a:spLocks noChangeArrowheads="1"/>
            </p:cNvSpPr>
            <p:nvPr/>
          </p:nvSpPr>
          <p:spPr bwMode="auto">
            <a:xfrm>
              <a:off x="1962150" y="2133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c</a:t>
              </a:r>
            </a:p>
          </p:txBody>
        </p:sp>
        <p:sp>
          <p:nvSpPr>
            <p:cNvPr id="38" name="Oval 8"/>
            <p:cNvSpPr>
              <a:spLocks noChangeArrowheads="1"/>
            </p:cNvSpPr>
            <p:nvPr/>
          </p:nvSpPr>
          <p:spPr bwMode="auto">
            <a:xfrm>
              <a:off x="2533650" y="2133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d</a:t>
              </a:r>
            </a:p>
          </p:txBody>
        </p:sp>
        <p:sp>
          <p:nvSpPr>
            <p:cNvPr id="39" name="Oval 9"/>
            <p:cNvSpPr>
              <a:spLocks noChangeArrowheads="1"/>
            </p:cNvSpPr>
            <p:nvPr/>
          </p:nvSpPr>
          <p:spPr bwMode="auto">
            <a:xfrm>
              <a:off x="4597400" y="6858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40" name="Oval 10"/>
            <p:cNvSpPr>
              <a:spLocks noChangeArrowheads="1"/>
            </p:cNvSpPr>
            <p:nvPr/>
          </p:nvSpPr>
          <p:spPr bwMode="auto">
            <a:xfrm>
              <a:off x="4064000" y="14478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42" name="Oval 11"/>
            <p:cNvSpPr>
              <a:spLocks noChangeArrowheads="1"/>
            </p:cNvSpPr>
            <p:nvPr/>
          </p:nvSpPr>
          <p:spPr bwMode="auto">
            <a:xfrm>
              <a:off x="4978400" y="14478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c</a:t>
              </a:r>
            </a:p>
          </p:txBody>
        </p:sp>
        <p:sp>
          <p:nvSpPr>
            <p:cNvPr id="43" name="Oval 12"/>
            <p:cNvSpPr>
              <a:spLocks noChangeArrowheads="1"/>
            </p:cNvSpPr>
            <p:nvPr/>
          </p:nvSpPr>
          <p:spPr bwMode="auto">
            <a:xfrm>
              <a:off x="3606800" y="2133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d</a:t>
              </a:r>
            </a:p>
          </p:txBody>
        </p:sp>
        <p:sp>
          <p:nvSpPr>
            <p:cNvPr id="44" name="Oval 13"/>
            <p:cNvSpPr>
              <a:spLocks noChangeArrowheads="1"/>
            </p:cNvSpPr>
            <p:nvPr/>
          </p:nvSpPr>
          <p:spPr bwMode="auto">
            <a:xfrm>
              <a:off x="4400550" y="2133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45" name="Oval 14"/>
            <p:cNvSpPr>
              <a:spLocks noChangeArrowheads="1"/>
            </p:cNvSpPr>
            <p:nvPr/>
          </p:nvSpPr>
          <p:spPr bwMode="auto">
            <a:xfrm>
              <a:off x="4064000" y="28194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a</a:t>
              </a:r>
            </a:p>
          </p:txBody>
        </p:sp>
        <p:sp>
          <p:nvSpPr>
            <p:cNvPr id="46" name="Oval 15"/>
            <p:cNvSpPr>
              <a:spLocks noChangeArrowheads="1"/>
            </p:cNvSpPr>
            <p:nvPr/>
          </p:nvSpPr>
          <p:spPr bwMode="auto">
            <a:xfrm>
              <a:off x="4749800" y="28194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b</a:t>
              </a:r>
            </a:p>
          </p:txBody>
        </p:sp>
        <p:sp>
          <p:nvSpPr>
            <p:cNvPr id="47" name="Oval 16"/>
            <p:cNvSpPr>
              <a:spLocks noChangeArrowheads="1"/>
            </p:cNvSpPr>
            <p:nvPr/>
          </p:nvSpPr>
          <p:spPr bwMode="auto">
            <a:xfrm>
              <a:off x="6629400" y="6858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48" name="Oval 17"/>
            <p:cNvSpPr>
              <a:spLocks noChangeArrowheads="1"/>
            </p:cNvSpPr>
            <p:nvPr/>
          </p:nvSpPr>
          <p:spPr bwMode="auto">
            <a:xfrm>
              <a:off x="6172200" y="14478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a</a:t>
              </a:r>
            </a:p>
          </p:txBody>
        </p:sp>
        <p:sp>
          <p:nvSpPr>
            <p:cNvPr id="49" name="Oval 18"/>
            <p:cNvSpPr>
              <a:spLocks noChangeArrowheads="1"/>
            </p:cNvSpPr>
            <p:nvPr/>
          </p:nvSpPr>
          <p:spPr bwMode="auto">
            <a:xfrm>
              <a:off x="7086600" y="14478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50" name="Oval 19"/>
            <p:cNvSpPr>
              <a:spLocks noChangeArrowheads="1"/>
            </p:cNvSpPr>
            <p:nvPr/>
          </p:nvSpPr>
          <p:spPr bwMode="auto">
            <a:xfrm>
              <a:off x="6781800" y="2133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b</a:t>
              </a:r>
            </a:p>
          </p:txBody>
        </p:sp>
        <p:sp>
          <p:nvSpPr>
            <p:cNvPr id="51" name="Oval 20"/>
            <p:cNvSpPr>
              <a:spLocks noChangeArrowheads="1"/>
            </p:cNvSpPr>
            <p:nvPr/>
          </p:nvSpPr>
          <p:spPr bwMode="auto">
            <a:xfrm>
              <a:off x="7467600" y="2133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52" name="Oval 21"/>
            <p:cNvSpPr>
              <a:spLocks noChangeArrowheads="1"/>
            </p:cNvSpPr>
            <p:nvPr/>
          </p:nvSpPr>
          <p:spPr bwMode="auto">
            <a:xfrm>
              <a:off x="7124700" y="28194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c</a:t>
              </a:r>
            </a:p>
          </p:txBody>
        </p:sp>
        <p:sp>
          <p:nvSpPr>
            <p:cNvPr id="53" name="Oval 22"/>
            <p:cNvSpPr>
              <a:spLocks noChangeArrowheads="1"/>
            </p:cNvSpPr>
            <p:nvPr/>
          </p:nvSpPr>
          <p:spPr bwMode="auto">
            <a:xfrm>
              <a:off x="7810500" y="28194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d</a:t>
              </a:r>
            </a:p>
          </p:txBody>
        </p:sp>
        <p:sp>
          <p:nvSpPr>
            <p:cNvPr id="54" name="Text Box 23"/>
            <p:cNvSpPr txBox="1">
              <a:spLocks noChangeArrowheads="1"/>
            </p:cNvSpPr>
            <p:nvPr/>
          </p:nvSpPr>
          <p:spPr bwMode="auto">
            <a:xfrm>
              <a:off x="762000" y="2514602"/>
              <a:ext cx="2673349" cy="47545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600" b="1" dirty="0">
                  <a:latin typeface="百度综艺简体" panose="02010601030101010101" pitchFamily="2" charset="-122"/>
                  <a:ea typeface="百度综艺简体" panose="02010601030101010101" pitchFamily="2" charset="-122"/>
                </a:rPr>
                <a:t>7     5     2     4</a:t>
              </a:r>
            </a:p>
          </p:txBody>
        </p:sp>
        <p:sp>
          <p:nvSpPr>
            <p:cNvPr id="55" name="Rectangle 24"/>
            <p:cNvSpPr>
              <a:spLocks noChangeArrowheads="1"/>
            </p:cNvSpPr>
            <p:nvPr/>
          </p:nvSpPr>
          <p:spPr bwMode="auto">
            <a:xfrm>
              <a:off x="3625849" y="2528888"/>
              <a:ext cx="410612" cy="42677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4</a:t>
              </a:r>
            </a:p>
          </p:txBody>
        </p:sp>
        <p:sp>
          <p:nvSpPr>
            <p:cNvPr id="56" name="Rectangle 25"/>
            <p:cNvSpPr>
              <a:spLocks noChangeArrowheads="1"/>
            </p:cNvSpPr>
            <p:nvPr/>
          </p:nvSpPr>
          <p:spPr bwMode="auto">
            <a:xfrm>
              <a:off x="4133850" y="3236913"/>
              <a:ext cx="410612" cy="42677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7</a:t>
              </a:r>
            </a:p>
          </p:txBody>
        </p:sp>
        <p:sp>
          <p:nvSpPr>
            <p:cNvPr id="57" name="Rectangle 26"/>
            <p:cNvSpPr>
              <a:spLocks noChangeArrowheads="1"/>
            </p:cNvSpPr>
            <p:nvPr/>
          </p:nvSpPr>
          <p:spPr bwMode="auto">
            <a:xfrm>
              <a:off x="5200652" y="1830388"/>
              <a:ext cx="410612" cy="42677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2</a:t>
              </a:r>
            </a:p>
          </p:txBody>
        </p:sp>
        <p:sp>
          <p:nvSpPr>
            <p:cNvPr id="58" name="Rectangle 27"/>
            <p:cNvSpPr>
              <a:spLocks noChangeArrowheads="1"/>
            </p:cNvSpPr>
            <p:nvPr/>
          </p:nvSpPr>
          <p:spPr bwMode="auto">
            <a:xfrm>
              <a:off x="6324600" y="1865313"/>
              <a:ext cx="410612" cy="42677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7</a:t>
              </a:r>
            </a:p>
          </p:txBody>
        </p:sp>
        <p:sp>
          <p:nvSpPr>
            <p:cNvPr id="59" name="Rectangle 28"/>
            <p:cNvSpPr>
              <a:spLocks noChangeArrowheads="1"/>
            </p:cNvSpPr>
            <p:nvPr/>
          </p:nvSpPr>
          <p:spPr bwMode="auto">
            <a:xfrm>
              <a:off x="6819899" y="2474913"/>
              <a:ext cx="410612" cy="42677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5</a:t>
              </a:r>
            </a:p>
          </p:txBody>
        </p:sp>
        <p:sp>
          <p:nvSpPr>
            <p:cNvPr id="60" name="Rectangle 29"/>
            <p:cNvSpPr>
              <a:spLocks noChangeArrowheads="1"/>
            </p:cNvSpPr>
            <p:nvPr/>
          </p:nvSpPr>
          <p:spPr bwMode="auto">
            <a:xfrm>
              <a:off x="7205664" y="3200400"/>
              <a:ext cx="280987" cy="42677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2</a:t>
              </a:r>
            </a:p>
          </p:txBody>
        </p:sp>
        <p:sp>
          <p:nvSpPr>
            <p:cNvPr id="61" name="Rectangle 30"/>
            <p:cNvSpPr>
              <a:spLocks noChangeArrowheads="1"/>
            </p:cNvSpPr>
            <p:nvPr/>
          </p:nvSpPr>
          <p:spPr bwMode="auto">
            <a:xfrm>
              <a:off x="7848600" y="3230564"/>
              <a:ext cx="410612" cy="42677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4</a:t>
              </a:r>
            </a:p>
          </p:txBody>
        </p:sp>
        <p:sp>
          <p:nvSpPr>
            <p:cNvPr id="62" name="Rectangle 32"/>
            <p:cNvSpPr>
              <a:spLocks noChangeArrowheads="1"/>
            </p:cNvSpPr>
            <p:nvPr/>
          </p:nvSpPr>
          <p:spPr bwMode="auto">
            <a:xfrm>
              <a:off x="4819649" y="3236913"/>
              <a:ext cx="410612" cy="42677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5</a:t>
              </a:r>
            </a:p>
          </p:txBody>
        </p:sp>
        <p:sp>
          <p:nvSpPr>
            <p:cNvPr id="63" name="Line 33"/>
            <p:cNvSpPr>
              <a:spLocks noChangeShapeType="1"/>
            </p:cNvSpPr>
            <p:nvPr/>
          </p:nvSpPr>
          <p:spPr bwMode="auto">
            <a:xfrm flipH="1">
              <a:off x="1504950" y="108585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64" name="Line 34"/>
            <p:cNvSpPr>
              <a:spLocks noChangeShapeType="1"/>
            </p:cNvSpPr>
            <p:nvPr/>
          </p:nvSpPr>
          <p:spPr bwMode="auto">
            <a:xfrm flipH="1">
              <a:off x="1066800" y="18288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65" name="Line 35"/>
            <p:cNvSpPr>
              <a:spLocks noChangeShapeType="1"/>
            </p:cNvSpPr>
            <p:nvPr/>
          </p:nvSpPr>
          <p:spPr bwMode="auto">
            <a:xfrm>
              <a:off x="2057400" y="11049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66" name="Line 36"/>
            <p:cNvSpPr>
              <a:spLocks noChangeShapeType="1"/>
            </p:cNvSpPr>
            <p:nvPr/>
          </p:nvSpPr>
          <p:spPr bwMode="auto">
            <a:xfrm>
              <a:off x="2514600" y="18288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67" name="Line 37"/>
            <p:cNvSpPr>
              <a:spLocks noChangeShapeType="1"/>
            </p:cNvSpPr>
            <p:nvPr/>
          </p:nvSpPr>
          <p:spPr bwMode="auto">
            <a:xfrm>
              <a:off x="1447800" y="18288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68" name="Line 38"/>
            <p:cNvSpPr>
              <a:spLocks noChangeShapeType="1"/>
            </p:cNvSpPr>
            <p:nvPr/>
          </p:nvSpPr>
          <p:spPr bwMode="auto">
            <a:xfrm flipH="1">
              <a:off x="2133600" y="18288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69" name="Line 39"/>
            <p:cNvSpPr>
              <a:spLocks noChangeShapeType="1"/>
            </p:cNvSpPr>
            <p:nvPr/>
          </p:nvSpPr>
          <p:spPr bwMode="auto">
            <a:xfrm flipH="1">
              <a:off x="4368800" y="1123950"/>
              <a:ext cx="323850" cy="32385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0" name="Line 40"/>
            <p:cNvSpPr>
              <a:spLocks noChangeShapeType="1"/>
            </p:cNvSpPr>
            <p:nvPr/>
          </p:nvSpPr>
          <p:spPr bwMode="auto">
            <a:xfrm flipH="1">
              <a:off x="3987800" y="19050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1" name="Line 41"/>
            <p:cNvSpPr>
              <a:spLocks noChangeShapeType="1"/>
            </p:cNvSpPr>
            <p:nvPr/>
          </p:nvSpPr>
          <p:spPr bwMode="auto">
            <a:xfrm flipH="1">
              <a:off x="4292600" y="2590800"/>
              <a:ext cx="2286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2" name="Line 42"/>
            <p:cNvSpPr>
              <a:spLocks noChangeShapeType="1"/>
            </p:cNvSpPr>
            <p:nvPr/>
          </p:nvSpPr>
          <p:spPr bwMode="auto">
            <a:xfrm flipH="1">
              <a:off x="6553200" y="11430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3" name="Line 43"/>
            <p:cNvSpPr>
              <a:spLocks noChangeShapeType="1"/>
            </p:cNvSpPr>
            <p:nvPr/>
          </p:nvSpPr>
          <p:spPr bwMode="auto">
            <a:xfrm flipH="1">
              <a:off x="7010400" y="19050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4" name="Line 44"/>
            <p:cNvSpPr>
              <a:spLocks noChangeShapeType="1"/>
            </p:cNvSpPr>
            <p:nvPr/>
          </p:nvSpPr>
          <p:spPr bwMode="auto">
            <a:xfrm flipH="1">
              <a:off x="7467600" y="2590800"/>
              <a:ext cx="1524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5" name="Line 45"/>
            <p:cNvSpPr>
              <a:spLocks noChangeShapeType="1"/>
            </p:cNvSpPr>
            <p:nvPr/>
          </p:nvSpPr>
          <p:spPr bwMode="auto">
            <a:xfrm>
              <a:off x="4978400" y="11430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6" name="Line 46"/>
            <p:cNvSpPr>
              <a:spLocks noChangeShapeType="1"/>
            </p:cNvSpPr>
            <p:nvPr/>
          </p:nvSpPr>
          <p:spPr bwMode="auto">
            <a:xfrm>
              <a:off x="4368800" y="19050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7" name="Line 47"/>
            <p:cNvSpPr>
              <a:spLocks noChangeShapeType="1"/>
            </p:cNvSpPr>
            <p:nvPr/>
          </p:nvSpPr>
          <p:spPr bwMode="auto">
            <a:xfrm>
              <a:off x="4749800" y="2590800"/>
              <a:ext cx="2286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8" name="Line 48"/>
            <p:cNvSpPr>
              <a:spLocks noChangeShapeType="1"/>
            </p:cNvSpPr>
            <p:nvPr/>
          </p:nvSpPr>
          <p:spPr bwMode="auto">
            <a:xfrm>
              <a:off x="7010400" y="11430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9" name="Line 49"/>
            <p:cNvSpPr>
              <a:spLocks noChangeShapeType="1"/>
            </p:cNvSpPr>
            <p:nvPr/>
          </p:nvSpPr>
          <p:spPr bwMode="auto">
            <a:xfrm>
              <a:off x="7467600" y="18288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80" name="Line 50"/>
            <p:cNvSpPr>
              <a:spLocks noChangeShapeType="1"/>
            </p:cNvSpPr>
            <p:nvPr/>
          </p:nvSpPr>
          <p:spPr bwMode="auto">
            <a:xfrm>
              <a:off x="7848600" y="25908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grpSp>
      <p:sp>
        <p:nvSpPr>
          <p:cNvPr id="81" name="TextBox 5"/>
          <p:cNvSpPr txBox="1">
            <a:spLocks noChangeArrowheads="1"/>
          </p:cNvSpPr>
          <p:nvPr/>
        </p:nvSpPr>
        <p:spPr bwMode="auto">
          <a:xfrm>
            <a:off x="1047199" y="4238299"/>
            <a:ext cx="6751643" cy="923330"/>
          </a:xfrm>
          <a:prstGeom prst="rect">
            <a:avLst/>
          </a:prstGeom>
          <a:noFill/>
          <a:ln w="9525">
            <a:noFill/>
            <a:miter lim="800000"/>
          </a:ln>
        </p:spPr>
        <p:txBody>
          <a:bodyPr wrap="square">
            <a:spAutoFit/>
          </a:bodyPr>
          <a:lstStyle/>
          <a:p>
            <a:pPr fontAlgn="auto">
              <a:lnSpc>
                <a:spcPct val="150000"/>
              </a:lnSpc>
            </a:pPr>
            <a:r>
              <a:rPr lang="zh-CN" altLang="en-US" sz="1600" dirty="0" smtClean="0">
                <a:latin typeface="百度综艺简体" panose="02010601030101010101" charset="-122"/>
                <a:ea typeface="百度综艺简体" panose="02010601030101010101" charset="-122"/>
              </a:rPr>
              <a:t>       </a:t>
            </a:r>
            <a:r>
              <a:rPr lang="zh-CN" altLang="en-US" dirty="0" smtClean="0">
                <a:latin typeface="百度综艺简体" panose="02010601030101010101" charset="-122"/>
                <a:ea typeface="百度综艺简体" panose="02010601030101010101" charset="-122"/>
              </a:rPr>
              <a:t>树</a:t>
            </a:r>
            <a:r>
              <a:rPr lang="zh-CN" altLang="en-US" dirty="0">
                <a:latin typeface="百度综艺简体" panose="02010601030101010101" charset="-122"/>
                <a:ea typeface="百度综艺简体" panose="02010601030101010101" charset="-122"/>
              </a:rPr>
              <a:t>的带权路径长度是树的各叶结点所带</a:t>
            </a:r>
            <a:r>
              <a:rPr lang="zh-CN" altLang="en-US" dirty="0" smtClean="0">
                <a:latin typeface="百度综艺简体" panose="02010601030101010101" charset="-122"/>
                <a:ea typeface="百度综艺简体" panose="02010601030101010101" charset="-122"/>
              </a:rPr>
              <a:t>的权</a:t>
            </a:r>
            <a:r>
              <a:rPr lang="zh-CN" altLang="en-US" dirty="0">
                <a:latin typeface="百度综艺简体" panose="02010601030101010101" charset="-122"/>
                <a:ea typeface="百度综艺简体" panose="02010601030101010101" charset="-122"/>
              </a:rPr>
              <a:t>值与该结点到根的路径长度的乘积的和。</a:t>
            </a:r>
          </a:p>
        </p:txBody>
      </p:sp>
    </p:spTree>
    <p:extLst>
      <p:ext uri="{BB962C8B-B14F-4D97-AF65-F5344CB8AC3E}">
        <p14:creationId xmlns:p14="http://schemas.microsoft.com/office/powerpoint/2010/main" val="1991417923"/>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1000"/>
                                        <p:tgtEl>
                                          <p:spTgt spid="23"/>
                                        </p:tgtEl>
                                      </p:cBhvr>
                                    </p:animEffect>
                                    <p:anim calcmode="lin" valueType="num">
                                      <p:cBhvr>
                                        <p:cTn id="36" dur="1000" fill="hold"/>
                                        <p:tgtEl>
                                          <p:spTgt spid="23"/>
                                        </p:tgtEl>
                                        <p:attrNameLst>
                                          <p:attrName>ppt_x</p:attrName>
                                        </p:attrNameLst>
                                      </p:cBhvr>
                                      <p:tavLst>
                                        <p:tav tm="0">
                                          <p:val>
                                            <p:strVal val="#ppt_x"/>
                                          </p:val>
                                        </p:tav>
                                        <p:tav tm="100000">
                                          <p:val>
                                            <p:strVal val="#ppt_x"/>
                                          </p:val>
                                        </p:tav>
                                      </p:tavLst>
                                    </p:anim>
                                    <p:anim calcmode="lin" valueType="num">
                                      <p:cBhvr>
                                        <p:cTn id="37" dur="1000" fill="hold"/>
                                        <p:tgtEl>
                                          <p:spTgt spid="23"/>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1000"/>
                                        <p:tgtEl>
                                          <p:spTgt spid="24"/>
                                        </p:tgtEl>
                                      </p:cBhvr>
                                    </p:animEffect>
                                    <p:anim calcmode="lin" valueType="num">
                                      <p:cBhvr>
                                        <p:cTn id="42" dur="1000" fill="hold"/>
                                        <p:tgtEl>
                                          <p:spTgt spid="24"/>
                                        </p:tgtEl>
                                        <p:attrNameLst>
                                          <p:attrName>ppt_x</p:attrName>
                                        </p:attrNameLst>
                                      </p:cBhvr>
                                      <p:tavLst>
                                        <p:tav tm="0">
                                          <p:val>
                                            <p:strVal val="#ppt_x"/>
                                          </p:val>
                                        </p:tav>
                                        <p:tav tm="100000">
                                          <p:val>
                                            <p:strVal val="#ppt_x"/>
                                          </p:val>
                                        </p:tav>
                                      </p:tavLst>
                                    </p:anim>
                                    <p:anim calcmode="lin" valueType="num">
                                      <p:cBhvr>
                                        <p:cTn id="43" dur="1000" fill="hold"/>
                                        <p:tgtEl>
                                          <p:spTgt spid="24"/>
                                        </p:tgtEl>
                                        <p:attrNameLst>
                                          <p:attrName>ppt_y</p:attrName>
                                        </p:attrNameLst>
                                      </p:cBhvr>
                                      <p:tavLst>
                                        <p:tav tm="0">
                                          <p:val>
                                            <p:strVal val="#ppt_y+.1"/>
                                          </p:val>
                                        </p:tav>
                                        <p:tav tm="100000">
                                          <p:val>
                                            <p:strVal val="#ppt_y"/>
                                          </p:val>
                                        </p:tav>
                                      </p:tavLst>
                                    </p:anim>
                                  </p:childTnLst>
                                </p:cTn>
                              </p:par>
                            </p:childTnLst>
                          </p:cTn>
                        </p:par>
                        <p:par>
                          <p:cTn id="44" fill="hold">
                            <p:stCondLst>
                              <p:cond delay="5250"/>
                            </p:stCondLst>
                            <p:childTnLst>
                              <p:par>
                                <p:cTn id="45" presetID="42" presetClass="entr" presetSubtype="0" fill="hold" grpId="0" nodeType="afterEffect">
                                  <p:stCondLst>
                                    <p:cond delay="0"/>
                                  </p:stCondLst>
                                  <p:childTnLst>
                                    <p:set>
                                      <p:cBhvr>
                                        <p:cTn id="46" dur="1" fill="hold">
                                          <p:stCondLst>
                                            <p:cond delay="0"/>
                                          </p:stCondLst>
                                        </p:cTn>
                                        <p:tgtEl>
                                          <p:spTgt spid="81"/>
                                        </p:tgtEl>
                                        <p:attrNameLst>
                                          <p:attrName>style.visibility</p:attrName>
                                        </p:attrNameLst>
                                      </p:cBhvr>
                                      <p:to>
                                        <p:strVal val="visible"/>
                                      </p:to>
                                    </p:set>
                                    <p:animEffect transition="in" filter="fade">
                                      <p:cBhvr>
                                        <p:cTn id="47" dur="1000"/>
                                        <p:tgtEl>
                                          <p:spTgt spid="81"/>
                                        </p:tgtEl>
                                      </p:cBhvr>
                                    </p:animEffect>
                                    <p:anim calcmode="lin" valueType="num">
                                      <p:cBhvr>
                                        <p:cTn id="48" dur="1000" fill="hold"/>
                                        <p:tgtEl>
                                          <p:spTgt spid="81"/>
                                        </p:tgtEl>
                                        <p:attrNameLst>
                                          <p:attrName>ppt_x</p:attrName>
                                        </p:attrNameLst>
                                      </p:cBhvr>
                                      <p:tavLst>
                                        <p:tav tm="0">
                                          <p:val>
                                            <p:strVal val="#ppt_x"/>
                                          </p:val>
                                        </p:tav>
                                        <p:tav tm="100000">
                                          <p:val>
                                            <p:strVal val="#ppt_x"/>
                                          </p:val>
                                        </p:tav>
                                      </p:tavLst>
                                    </p:anim>
                                    <p:anim calcmode="lin" valueType="num">
                                      <p:cBhvr>
                                        <p:cTn id="49" dur="1000" fill="hold"/>
                                        <p:tgtEl>
                                          <p:spTgt spid="8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3" grpId="0"/>
      <p:bldP spid="24" grpId="0"/>
      <p:bldP spid="8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赫夫曼树及应用</a:t>
            </a:r>
            <a:endParaRPr lang="zh-CN" alt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753789" y="1356295"/>
            <a:ext cx="2951436" cy="507831"/>
          </a:xfrm>
          <a:prstGeom prst="rect">
            <a:avLst/>
          </a:prstGeom>
          <a:noFill/>
          <a:ln w="9525">
            <a:noFill/>
            <a:miter lim="800000"/>
          </a:ln>
        </p:spPr>
        <p:txBody>
          <a:bodyPr wrap="square">
            <a:spAutoFit/>
          </a:bodyPr>
          <a:lstStyle/>
          <a:p>
            <a:pPr marL="285750" indent="-285750" fontAlgn="auto">
              <a:lnSpc>
                <a:spcPct val="150000"/>
              </a:lnSpc>
              <a:buFont typeface="Wingdings" panose="05000000000000000000" pitchFamily="2" charset="2"/>
              <a:buChar char="u"/>
            </a:pPr>
            <a:r>
              <a:rPr lang="zh-CN" altLang="en-US" dirty="0">
                <a:solidFill>
                  <a:schemeClr val="accent1"/>
                </a:solidFill>
                <a:latin typeface="百度综艺简体" panose="02010601030101010101" charset="-122"/>
                <a:ea typeface="百度综艺简体" panose="02010601030101010101" charset="-122"/>
              </a:rPr>
              <a:t>树的带权路径长度：</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TextBox 5"/>
          <p:cNvSpPr txBox="1">
            <a:spLocks noChangeArrowheads="1"/>
          </p:cNvSpPr>
          <p:nvPr/>
        </p:nvSpPr>
        <p:spPr bwMode="auto">
          <a:xfrm>
            <a:off x="307340" y="1921494"/>
            <a:ext cx="7783112" cy="553998"/>
          </a:xfrm>
          <a:prstGeom prst="rect">
            <a:avLst/>
          </a:prstGeom>
          <a:noFill/>
          <a:ln w="9525">
            <a:noFill/>
            <a:miter lim="800000"/>
          </a:ln>
        </p:spPr>
        <p:txBody>
          <a:bodyPr wrap="square">
            <a:spAutoFit/>
          </a:bodyPr>
          <a:lstStyle/>
          <a:p>
            <a:pPr fontAlgn="auto">
              <a:lnSpc>
                <a:spcPct val="150000"/>
              </a:lnSpc>
            </a:pPr>
            <a:r>
              <a:rPr lang="zh-CN" altLang="en-US" sz="2000" dirty="0">
                <a:latin typeface="百度综艺简体" panose="02010601030101010101" charset="-122"/>
                <a:ea typeface="百度综艺简体" panose="02010601030101010101" charset="-122"/>
              </a:rPr>
              <a:t>树中所有叶子结点的带权路径长度之和</a:t>
            </a:r>
            <a:r>
              <a:rPr lang="en-US" altLang="zh-CN" sz="2000" dirty="0">
                <a:latin typeface="百度综艺简体" panose="02010601030101010101" charset="-122"/>
                <a:ea typeface="百度综艺简体" panose="02010601030101010101" charset="-122"/>
              </a:rPr>
              <a:t>(</a:t>
            </a:r>
            <a:r>
              <a:rPr lang="zh-CN" altLang="en-US" sz="2000" dirty="0">
                <a:latin typeface="百度综艺简体" panose="02010601030101010101" charset="-122"/>
                <a:ea typeface="百度综艺简体" panose="02010601030101010101" charset="-122"/>
              </a:rPr>
              <a:t>对所有叶子结点</a:t>
            </a:r>
            <a:r>
              <a:rPr lang="en-US" altLang="zh-CN" sz="2000" dirty="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a:t>
            </a:r>
          </a:p>
        </p:txBody>
      </p:sp>
      <p:sp>
        <p:nvSpPr>
          <p:cNvPr id="29" name="TextBox 5"/>
          <p:cNvSpPr txBox="1">
            <a:spLocks noChangeArrowheads="1"/>
          </p:cNvSpPr>
          <p:nvPr/>
        </p:nvSpPr>
        <p:spPr bwMode="auto">
          <a:xfrm>
            <a:off x="2754389" y="2625659"/>
            <a:ext cx="3425694" cy="646331"/>
          </a:xfrm>
          <a:prstGeom prst="rect">
            <a:avLst/>
          </a:prstGeom>
          <a:noFill/>
          <a:ln w="9525">
            <a:noFill/>
            <a:miter lim="800000"/>
          </a:ln>
        </p:spPr>
        <p:txBody>
          <a:bodyPr wrap="square">
            <a:spAutoFit/>
          </a:bodyPr>
          <a:lstStyle/>
          <a:p>
            <a:pPr>
              <a:spcBef>
                <a:spcPct val="0"/>
              </a:spcBef>
            </a:pPr>
            <a:r>
              <a:rPr lang="en-US" altLang="zh-CN" sz="3600" dirty="0">
                <a:solidFill>
                  <a:srgbClr val="333399"/>
                </a:solidFill>
                <a:ea typeface="楷体_GB2312" pitchFamily="49" charset="-122"/>
              </a:rPr>
              <a:t>WPL(T) = </a:t>
            </a:r>
            <a:r>
              <a:rPr lang="en-US" altLang="zh-CN" sz="3600" dirty="0">
                <a:solidFill>
                  <a:srgbClr val="333399"/>
                </a:solidFill>
                <a:ea typeface="楷体_GB2312" pitchFamily="49" charset="-122"/>
                <a:sym typeface="Symbol" panose="05050102010706020507" pitchFamily="18" charset="2"/>
              </a:rPr>
              <a:t></a:t>
            </a:r>
            <a:r>
              <a:rPr lang="en-US" altLang="zh-CN" sz="3600" dirty="0" err="1">
                <a:solidFill>
                  <a:srgbClr val="333399"/>
                </a:solidFill>
                <a:ea typeface="楷体_GB2312" pitchFamily="49" charset="-122"/>
              </a:rPr>
              <a:t>w</a:t>
            </a:r>
            <a:r>
              <a:rPr lang="en-US" altLang="zh-CN" sz="3600" baseline="-25000" dirty="0" err="1">
                <a:solidFill>
                  <a:srgbClr val="333399"/>
                </a:solidFill>
                <a:ea typeface="楷体_GB2312" pitchFamily="49" charset="-122"/>
              </a:rPr>
              <a:t>k</a:t>
            </a:r>
            <a:r>
              <a:rPr lang="en-US" altLang="zh-CN" sz="3600" dirty="0" err="1">
                <a:solidFill>
                  <a:srgbClr val="333399"/>
                </a:solidFill>
                <a:ea typeface="楷体_GB2312" pitchFamily="49" charset="-122"/>
              </a:rPr>
              <a:t>l</a:t>
            </a:r>
            <a:r>
              <a:rPr lang="en-US" altLang="zh-CN" sz="3600" baseline="-25000" dirty="0" err="1">
                <a:solidFill>
                  <a:srgbClr val="333399"/>
                </a:solidFill>
                <a:ea typeface="楷体_GB2312" pitchFamily="49" charset="-122"/>
              </a:rPr>
              <a:t>k</a:t>
            </a:r>
            <a:endParaRPr lang="en-US" altLang="zh-CN" sz="3600" baseline="-25000" dirty="0">
              <a:solidFill>
                <a:srgbClr val="333399"/>
              </a:solidFill>
              <a:ea typeface="楷体_GB2312" pitchFamily="49" charset="-122"/>
            </a:endParaRPr>
          </a:p>
        </p:txBody>
      </p:sp>
    </p:spTree>
    <p:extLst>
      <p:ext uri="{BB962C8B-B14F-4D97-AF65-F5344CB8AC3E}">
        <p14:creationId xmlns:p14="http://schemas.microsoft.com/office/powerpoint/2010/main" val="1317365016"/>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1000"/>
                                        <p:tgtEl>
                                          <p:spTgt spid="26"/>
                                        </p:tgtEl>
                                      </p:cBhvr>
                                    </p:animEffect>
                                    <p:anim calcmode="lin" valueType="num">
                                      <p:cBhvr>
                                        <p:cTn id="36" dur="1000" fill="hold"/>
                                        <p:tgtEl>
                                          <p:spTgt spid="26"/>
                                        </p:tgtEl>
                                        <p:attrNameLst>
                                          <p:attrName>ppt_x</p:attrName>
                                        </p:attrNameLst>
                                      </p:cBhvr>
                                      <p:tavLst>
                                        <p:tav tm="0">
                                          <p:val>
                                            <p:strVal val="#ppt_x"/>
                                          </p:val>
                                        </p:tav>
                                        <p:tav tm="100000">
                                          <p:val>
                                            <p:strVal val="#ppt_x"/>
                                          </p:val>
                                        </p:tav>
                                      </p:tavLst>
                                    </p:anim>
                                    <p:anim calcmode="lin" valueType="num">
                                      <p:cBhvr>
                                        <p:cTn id="37" dur="1000" fill="hold"/>
                                        <p:tgtEl>
                                          <p:spTgt spid="26"/>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1000"/>
                                        <p:tgtEl>
                                          <p:spTgt spid="18"/>
                                        </p:tgtEl>
                                      </p:cBhvr>
                                    </p:animEffect>
                                    <p:anim calcmode="lin" valueType="num">
                                      <p:cBhvr>
                                        <p:cTn id="42" dur="1000" fill="hold"/>
                                        <p:tgtEl>
                                          <p:spTgt spid="18"/>
                                        </p:tgtEl>
                                        <p:attrNameLst>
                                          <p:attrName>ppt_x</p:attrName>
                                        </p:attrNameLst>
                                      </p:cBhvr>
                                      <p:tavLst>
                                        <p:tav tm="0">
                                          <p:val>
                                            <p:strVal val="#ppt_x"/>
                                          </p:val>
                                        </p:tav>
                                        <p:tav tm="100000">
                                          <p:val>
                                            <p:strVal val="#ppt_x"/>
                                          </p:val>
                                        </p:tav>
                                      </p:tavLst>
                                    </p:anim>
                                    <p:anim calcmode="lin" valueType="num">
                                      <p:cBhvr>
                                        <p:cTn id="43" dur="1000" fill="hold"/>
                                        <p:tgtEl>
                                          <p:spTgt spid="18"/>
                                        </p:tgtEl>
                                        <p:attrNameLst>
                                          <p:attrName>ppt_y</p:attrName>
                                        </p:attrNameLst>
                                      </p:cBhvr>
                                      <p:tavLst>
                                        <p:tav tm="0">
                                          <p:val>
                                            <p:strVal val="#ppt_y+.1"/>
                                          </p:val>
                                        </p:tav>
                                        <p:tav tm="100000">
                                          <p:val>
                                            <p:strVal val="#ppt_y"/>
                                          </p:val>
                                        </p:tav>
                                      </p:tavLst>
                                    </p:anim>
                                  </p:childTnLst>
                                </p:cTn>
                              </p:par>
                            </p:childTnLst>
                          </p:cTn>
                        </p:par>
                        <p:par>
                          <p:cTn id="44" fill="hold">
                            <p:stCondLst>
                              <p:cond delay="5250"/>
                            </p:stCondLst>
                            <p:childTnLst>
                              <p:par>
                                <p:cTn id="45" presetID="42" presetClass="entr" presetSubtype="0"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1000"/>
                                        <p:tgtEl>
                                          <p:spTgt spid="29"/>
                                        </p:tgtEl>
                                      </p:cBhvr>
                                    </p:animEffect>
                                    <p:anim calcmode="lin" valueType="num">
                                      <p:cBhvr>
                                        <p:cTn id="48" dur="1000" fill="hold"/>
                                        <p:tgtEl>
                                          <p:spTgt spid="29"/>
                                        </p:tgtEl>
                                        <p:attrNameLst>
                                          <p:attrName>ppt_x</p:attrName>
                                        </p:attrNameLst>
                                      </p:cBhvr>
                                      <p:tavLst>
                                        <p:tav tm="0">
                                          <p:val>
                                            <p:strVal val="#ppt_x"/>
                                          </p:val>
                                        </p:tav>
                                        <p:tav tm="100000">
                                          <p:val>
                                            <p:strVal val="#ppt_x"/>
                                          </p:val>
                                        </p:tav>
                                      </p:tavLst>
                                    </p:anim>
                                    <p:anim calcmode="lin" valueType="num">
                                      <p:cBhvr>
                                        <p:cTn id="4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p:bldP spid="18" grpId="0"/>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59409" y="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赫夫曼树及应用</a:t>
            </a:r>
            <a:endParaRPr lang="zh-CN" alt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TextBox 5"/>
          <p:cNvSpPr txBox="1">
            <a:spLocks noChangeArrowheads="1"/>
          </p:cNvSpPr>
          <p:nvPr/>
        </p:nvSpPr>
        <p:spPr bwMode="auto">
          <a:xfrm>
            <a:off x="1011292" y="3550923"/>
            <a:ext cx="5927978" cy="1338828"/>
          </a:xfrm>
          <a:prstGeom prst="rect">
            <a:avLst/>
          </a:prstGeom>
          <a:noFill/>
          <a:ln w="9525">
            <a:noFill/>
            <a:miter lim="800000"/>
          </a:ln>
        </p:spPr>
        <p:txBody>
          <a:bodyPr wrap="square">
            <a:spAutoFit/>
          </a:bodyPr>
          <a:lstStyle/>
          <a:p>
            <a:pPr marL="342900" indent="-342900" fontAlgn="auto">
              <a:lnSpc>
                <a:spcPct val="150000"/>
              </a:lnSpc>
              <a:buFont typeface="+mj-ea"/>
              <a:buAutoNum type="circleNumDbPlain"/>
            </a:pPr>
            <a:r>
              <a:rPr lang="en-US" altLang="zh-CN" dirty="0" smtClean="0">
                <a:latin typeface="百度综艺简体" panose="02010601030101010101" charset="-122"/>
                <a:ea typeface="百度综艺简体" panose="02010601030101010101" charset="-122"/>
              </a:rPr>
              <a:t>WPL= 7*2+5*2+2*2+4*2=36;</a:t>
            </a:r>
            <a:endParaRPr lang="en-US" altLang="zh-CN" dirty="0">
              <a:latin typeface="百度综艺简体" panose="02010601030101010101" charset="-122"/>
              <a:ea typeface="百度综艺简体" panose="02010601030101010101" charset="-122"/>
            </a:endParaRPr>
          </a:p>
          <a:p>
            <a:pPr marL="342900" indent="-342900" fontAlgn="auto">
              <a:lnSpc>
                <a:spcPct val="150000"/>
              </a:lnSpc>
              <a:buFont typeface="+mj-ea"/>
              <a:buAutoNum type="circleNumDbPlain"/>
            </a:pPr>
            <a:r>
              <a:rPr lang="en-US" altLang="zh-CN" dirty="0" smtClean="0">
                <a:latin typeface="百度综艺简体" panose="02010601030101010101" charset="-122"/>
                <a:ea typeface="百度综艺简体" panose="02010601030101010101" charset="-122"/>
              </a:rPr>
              <a:t>WPL</a:t>
            </a:r>
            <a:r>
              <a:rPr lang="en-US" altLang="zh-CN" dirty="0">
                <a:latin typeface="百度综艺简体" panose="02010601030101010101" charset="-122"/>
                <a:ea typeface="百度综艺简体" panose="02010601030101010101" charset="-122"/>
              </a:rPr>
              <a:t>= </a:t>
            </a:r>
            <a:r>
              <a:rPr lang="en-US" altLang="zh-CN" dirty="0" smtClean="0">
                <a:latin typeface="百度综艺简体" panose="02010601030101010101" charset="-122"/>
                <a:ea typeface="百度综艺简体" panose="02010601030101010101" charset="-122"/>
              </a:rPr>
              <a:t>7*3+5*3+2*1+4*2=46;</a:t>
            </a:r>
            <a:endParaRPr lang="en-US" altLang="zh-CN" dirty="0">
              <a:latin typeface="百度综艺简体" panose="02010601030101010101" charset="-122"/>
              <a:ea typeface="百度综艺简体" panose="02010601030101010101" charset="-122"/>
            </a:endParaRPr>
          </a:p>
          <a:p>
            <a:pPr marL="342900" indent="-342900" fontAlgn="auto">
              <a:lnSpc>
                <a:spcPct val="150000"/>
              </a:lnSpc>
              <a:buFont typeface="+mj-ea"/>
              <a:buAutoNum type="circleNumDbPlain"/>
            </a:pPr>
            <a:r>
              <a:rPr lang="en-US" altLang="zh-CN" dirty="0" smtClean="0">
                <a:latin typeface="百度综艺简体" panose="02010601030101010101" charset="-122"/>
                <a:ea typeface="百度综艺简体" panose="02010601030101010101" charset="-122"/>
              </a:rPr>
              <a:t>WPL</a:t>
            </a:r>
            <a:r>
              <a:rPr lang="en-US" altLang="zh-CN">
                <a:latin typeface="百度综艺简体" panose="02010601030101010101" charset="-122"/>
                <a:ea typeface="百度综艺简体" panose="02010601030101010101" charset="-122"/>
              </a:rPr>
              <a:t>= </a:t>
            </a:r>
            <a:r>
              <a:rPr lang="en-US" altLang="zh-CN" smtClean="0">
                <a:latin typeface="百度综艺简体" panose="02010601030101010101" charset="-122"/>
                <a:ea typeface="百度综艺简体" panose="02010601030101010101" charset="-122"/>
              </a:rPr>
              <a:t>7*1+5*2+2*3+4*3=35</a:t>
            </a:r>
            <a:endParaRPr lang="en-US" altLang="zh-CN" dirty="0">
              <a:latin typeface="百度综艺简体" panose="02010601030101010101" charset="-122"/>
              <a:ea typeface="百度综艺简体" panose="02010601030101010101" charset="-122"/>
            </a:endParaRPr>
          </a:p>
        </p:txBody>
      </p:sp>
      <p:grpSp>
        <p:nvGrpSpPr>
          <p:cNvPr id="29" name="组合 28"/>
          <p:cNvGrpSpPr/>
          <p:nvPr/>
        </p:nvGrpSpPr>
        <p:grpSpPr>
          <a:xfrm>
            <a:off x="1838923" y="1141404"/>
            <a:ext cx="5344512" cy="2120438"/>
            <a:chOff x="761999" y="685800"/>
            <a:chExt cx="7505701" cy="2977891"/>
          </a:xfrm>
        </p:grpSpPr>
        <p:sp>
          <p:nvSpPr>
            <p:cNvPr id="30" name="Oval 2"/>
            <p:cNvSpPr>
              <a:spLocks noChangeArrowheads="1"/>
            </p:cNvSpPr>
            <p:nvPr/>
          </p:nvSpPr>
          <p:spPr bwMode="auto">
            <a:xfrm>
              <a:off x="1676400" y="6858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32" name="Oval 3"/>
            <p:cNvSpPr>
              <a:spLocks noChangeArrowheads="1"/>
            </p:cNvSpPr>
            <p:nvPr/>
          </p:nvSpPr>
          <p:spPr bwMode="auto">
            <a:xfrm>
              <a:off x="1143000" y="1371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33" name="Oval 4"/>
            <p:cNvSpPr>
              <a:spLocks noChangeArrowheads="1"/>
            </p:cNvSpPr>
            <p:nvPr/>
          </p:nvSpPr>
          <p:spPr bwMode="auto">
            <a:xfrm>
              <a:off x="2133600" y="1371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34" name="Oval 5"/>
            <p:cNvSpPr>
              <a:spLocks noChangeArrowheads="1"/>
            </p:cNvSpPr>
            <p:nvPr/>
          </p:nvSpPr>
          <p:spPr bwMode="auto">
            <a:xfrm>
              <a:off x="762000" y="2133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a</a:t>
              </a:r>
            </a:p>
          </p:txBody>
        </p:sp>
        <p:sp>
          <p:nvSpPr>
            <p:cNvPr id="35" name="Oval 6"/>
            <p:cNvSpPr>
              <a:spLocks noChangeArrowheads="1"/>
            </p:cNvSpPr>
            <p:nvPr/>
          </p:nvSpPr>
          <p:spPr bwMode="auto">
            <a:xfrm>
              <a:off x="1371600" y="2133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dirty="0">
                  <a:latin typeface="百度综艺简体" panose="02010601030101010101" pitchFamily="2" charset="-122"/>
                  <a:ea typeface="百度综艺简体" panose="02010601030101010101" pitchFamily="2" charset="-122"/>
                </a:rPr>
                <a:t>b</a:t>
              </a:r>
            </a:p>
          </p:txBody>
        </p:sp>
        <p:sp>
          <p:nvSpPr>
            <p:cNvPr id="36" name="Oval 7"/>
            <p:cNvSpPr>
              <a:spLocks noChangeArrowheads="1"/>
            </p:cNvSpPr>
            <p:nvPr/>
          </p:nvSpPr>
          <p:spPr bwMode="auto">
            <a:xfrm>
              <a:off x="1962150" y="2133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c</a:t>
              </a:r>
            </a:p>
          </p:txBody>
        </p:sp>
        <p:sp>
          <p:nvSpPr>
            <p:cNvPr id="38" name="Oval 8"/>
            <p:cNvSpPr>
              <a:spLocks noChangeArrowheads="1"/>
            </p:cNvSpPr>
            <p:nvPr/>
          </p:nvSpPr>
          <p:spPr bwMode="auto">
            <a:xfrm>
              <a:off x="2533650" y="2133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d</a:t>
              </a:r>
            </a:p>
          </p:txBody>
        </p:sp>
        <p:sp>
          <p:nvSpPr>
            <p:cNvPr id="39" name="Oval 9"/>
            <p:cNvSpPr>
              <a:spLocks noChangeArrowheads="1"/>
            </p:cNvSpPr>
            <p:nvPr/>
          </p:nvSpPr>
          <p:spPr bwMode="auto">
            <a:xfrm>
              <a:off x="4597400" y="6858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40" name="Oval 10"/>
            <p:cNvSpPr>
              <a:spLocks noChangeArrowheads="1"/>
            </p:cNvSpPr>
            <p:nvPr/>
          </p:nvSpPr>
          <p:spPr bwMode="auto">
            <a:xfrm>
              <a:off x="4064000" y="14478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42" name="Oval 11"/>
            <p:cNvSpPr>
              <a:spLocks noChangeArrowheads="1"/>
            </p:cNvSpPr>
            <p:nvPr/>
          </p:nvSpPr>
          <p:spPr bwMode="auto">
            <a:xfrm>
              <a:off x="4978400" y="14478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c</a:t>
              </a:r>
            </a:p>
          </p:txBody>
        </p:sp>
        <p:sp>
          <p:nvSpPr>
            <p:cNvPr id="43" name="Oval 12"/>
            <p:cNvSpPr>
              <a:spLocks noChangeArrowheads="1"/>
            </p:cNvSpPr>
            <p:nvPr/>
          </p:nvSpPr>
          <p:spPr bwMode="auto">
            <a:xfrm>
              <a:off x="3606800" y="2133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d</a:t>
              </a:r>
            </a:p>
          </p:txBody>
        </p:sp>
        <p:sp>
          <p:nvSpPr>
            <p:cNvPr id="44" name="Oval 13"/>
            <p:cNvSpPr>
              <a:spLocks noChangeArrowheads="1"/>
            </p:cNvSpPr>
            <p:nvPr/>
          </p:nvSpPr>
          <p:spPr bwMode="auto">
            <a:xfrm>
              <a:off x="4400550" y="2133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45" name="Oval 14"/>
            <p:cNvSpPr>
              <a:spLocks noChangeArrowheads="1"/>
            </p:cNvSpPr>
            <p:nvPr/>
          </p:nvSpPr>
          <p:spPr bwMode="auto">
            <a:xfrm>
              <a:off x="4064000" y="28194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a</a:t>
              </a:r>
            </a:p>
          </p:txBody>
        </p:sp>
        <p:sp>
          <p:nvSpPr>
            <p:cNvPr id="46" name="Oval 15"/>
            <p:cNvSpPr>
              <a:spLocks noChangeArrowheads="1"/>
            </p:cNvSpPr>
            <p:nvPr/>
          </p:nvSpPr>
          <p:spPr bwMode="auto">
            <a:xfrm>
              <a:off x="4749800" y="28194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b</a:t>
              </a:r>
            </a:p>
          </p:txBody>
        </p:sp>
        <p:sp>
          <p:nvSpPr>
            <p:cNvPr id="47" name="Oval 16"/>
            <p:cNvSpPr>
              <a:spLocks noChangeArrowheads="1"/>
            </p:cNvSpPr>
            <p:nvPr/>
          </p:nvSpPr>
          <p:spPr bwMode="auto">
            <a:xfrm>
              <a:off x="6629400" y="6858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48" name="Oval 17"/>
            <p:cNvSpPr>
              <a:spLocks noChangeArrowheads="1"/>
            </p:cNvSpPr>
            <p:nvPr/>
          </p:nvSpPr>
          <p:spPr bwMode="auto">
            <a:xfrm>
              <a:off x="6172200" y="14478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a</a:t>
              </a:r>
            </a:p>
          </p:txBody>
        </p:sp>
        <p:sp>
          <p:nvSpPr>
            <p:cNvPr id="49" name="Oval 18"/>
            <p:cNvSpPr>
              <a:spLocks noChangeArrowheads="1"/>
            </p:cNvSpPr>
            <p:nvPr/>
          </p:nvSpPr>
          <p:spPr bwMode="auto">
            <a:xfrm>
              <a:off x="7086600" y="14478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50" name="Oval 19"/>
            <p:cNvSpPr>
              <a:spLocks noChangeArrowheads="1"/>
            </p:cNvSpPr>
            <p:nvPr/>
          </p:nvSpPr>
          <p:spPr bwMode="auto">
            <a:xfrm>
              <a:off x="6781800" y="2133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b</a:t>
              </a:r>
            </a:p>
          </p:txBody>
        </p:sp>
        <p:sp>
          <p:nvSpPr>
            <p:cNvPr id="51" name="Oval 20"/>
            <p:cNvSpPr>
              <a:spLocks noChangeArrowheads="1"/>
            </p:cNvSpPr>
            <p:nvPr/>
          </p:nvSpPr>
          <p:spPr bwMode="auto">
            <a:xfrm>
              <a:off x="7467600" y="21336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52" name="Oval 21"/>
            <p:cNvSpPr>
              <a:spLocks noChangeArrowheads="1"/>
            </p:cNvSpPr>
            <p:nvPr/>
          </p:nvSpPr>
          <p:spPr bwMode="auto">
            <a:xfrm>
              <a:off x="7124700" y="28194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c</a:t>
              </a:r>
            </a:p>
          </p:txBody>
        </p:sp>
        <p:sp>
          <p:nvSpPr>
            <p:cNvPr id="53" name="Oval 22"/>
            <p:cNvSpPr>
              <a:spLocks noChangeArrowheads="1"/>
            </p:cNvSpPr>
            <p:nvPr/>
          </p:nvSpPr>
          <p:spPr bwMode="auto">
            <a:xfrm>
              <a:off x="7810500" y="2819400"/>
              <a:ext cx="457200" cy="4572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d</a:t>
              </a:r>
            </a:p>
          </p:txBody>
        </p:sp>
        <p:sp>
          <p:nvSpPr>
            <p:cNvPr id="54" name="Text Box 23"/>
            <p:cNvSpPr txBox="1">
              <a:spLocks noChangeArrowheads="1"/>
            </p:cNvSpPr>
            <p:nvPr/>
          </p:nvSpPr>
          <p:spPr bwMode="auto">
            <a:xfrm>
              <a:off x="761999" y="2514602"/>
              <a:ext cx="2540000" cy="47545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600" b="1" dirty="0">
                  <a:latin typeface="百度综艺简体" panose="02010601030101010101" pitchFamily="2" charset="-122"/>
                  <a:ea typeface="百度综艺简体" panose="02010601030101010101" pitchFamily="2" charset="-122"/>
                </a:rPr>
                <a:t>7     5     2     4</a:t>
              </a:r>
            </a:p>
          </p:txBody>
        </p:sp>
        <p:sp>
          <p:nvSpPr>
            <p:cNvPr id="55" name="Rectangle 24"/>
            <p:cNvSpPr>
              <a:spLocks noChangeArrowheads="1"/>
            </p:cNvSpPr>
            <p:nvPr/>
          </p:nvSpPr>
          <p:spPr bwMode="auto">
            <a:xfrm>
              <a:off x="3625849" y="2528888"/>
              <a:ext cx="410612" cy="42677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4</a:t>
              </a:r>
            </a:p>
          </p:txBody>
        </p:sp>
        <p:sp>
          <p:nvSpPr>
            <p:cNvPr id="56" name="Rectangle 25"/>
            <p:cNvSpPr>
              <a:spLocks noChangeArrowheads="1"/>
            </p:cNvSpPr>
            <p:nvPr/>
          </p:nvSpPr>
          <p:spPr bwMode="auto">
            <a:xfrm>
              <a:off x="4133850" y="3236913"/>
              <a:ext cx="410612" cy="42677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7</a:t>
              </a:r>
            </a:p>
          </p:txBody>
        </p:sp>
        <p:sp>
          <p:nvSpPr>
            <p:cNvPr id="57" name="Rectangle 26"/>
            <p:cNvSpPr>
              <a:spLocks noChangeArrowheads="1"/>
            </p:cNvSpPr>
            <p:nvPr/>
          </p:nvSpPr>
          <p:spPr bwMode="auto">
            <a:xfrm>
              <a:off x="5200652" y="1830388"/>
              <a:ext cx="410612" cy="42677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2</a:t>
              </a:r>
            </a:p>
          </p:txBody>
        </p:sp>
        <p:sp>
          <p:nvSpPr>
            <p:cNvPr id="58" name="Rectangle 27"/>
            <p:cNvSpPr>
              <a:spLocks noChangeArrowheads="1"/>
            </p:cNvSpPr>
            <p:nvPr/>
          </p:nvSpPr>
          <p:spPr bwMode="auto">
            <a:xfrm>
              <a:off x="6324600" y="1865313"/>
              <a:ext cx="410612" cy="42677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7</a:t>
              </a:r>
            </a:p>
          </p:txBody>
        </p:sp>
        <p:sp>
          <p:nvSpPr>
            <p:cNvPr id="59" name="Rectangle 28"/>
            <p:cNvSpPr>
              <a:spLocks noChangeArrowheads="1"/>
            </p:cNvSpPr>
            <p:nvPr/>
          </p:nvSpPr>
          <p:spPr bwMode="auto">
            <a:xfrm>
              <a:off x="6819899" y="2474913"/>
              <a:ext cx="410612" cy="42677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5</a:t>
              </a:r>
            </a:p>
          </p:txBody>
        </p:sp>
        <p:sp>
          <p:nvSpPr>
            <p:cNvPr id="60" name="Rectangle 29"/>
            <p:cNvSpPr>
              <a:spLocks noChangeArrowheads="1"/>
            </p:cNvSpPr>
            <p:nvPr/>
          </p:nvSpPr>
          <p:spPr bwMode="auto">
            <a:xfrm>
              <a:off x="7205664" y="3200400"/>
              <a:ext cx="280987" cy="42677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2</a:t>
              </a:r>
            </a:p>
          </p:txBody>
        </p:sp>
        <p:sp>
          <p:nvSpPr>
            <p:cNvPr id="61" name="Rectangle 30"/>
            <p:cNvSpPr>
              <a:spLocks noChangeArrowheads="1"/>
            </p:cNvSpPr>
            <p:nvPr/>
          </p:nvSpPr>
          <p:spPr bwMode="auto">
            <a:xfrm>
              <a:off x="7848600" y="3230564"/>
              <a:ext cx="410612" cy="42677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4</a:t>
              </a:r>
            </a:p>
          </p:txBody>
        </p:sp>
        <p:sp>
          <p:nvSpPr>
            <p:cNvPr id="62" name="Rectangle 32"/>
            <p:cNvSpPr>
              <a:spLocks noChangeArrowheads="1"/>
            </p:cNvSpPr>
            <p:nvPr/>
          </p:nvSpPr>
          <p:spPr bwMode="auto">
            <a:xfrm>
              <a:off x="4819649" y="3236913"/>
              <a:ext cx="410612" cy="42677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5</a:t>
              </a:r>
            </a:p>
          </p:txBody>
        </p:sp>
        <p:sp>
          <p:nvSpPr>
            <p:cNvPr id="63" name="Line 33"/>
            <p:cNvSpPr>
              <a:spLocks noChangeShapeType="1"/>
            </p:cNvSpPr>
            <p:nvPr/>
          </p:nvSpPr>
          <p:spPr bwMode="auto">
            <a:xfrm flipH="1">
              <a:off x="1504950" y="108585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64" name="Line 34"/>
            <p:cNvSpPr>
              <a:spLocks noChangeShapeType="1"/>
            </p:cNvSpPr>
            <p:nvPr/>
          </p:nvSpPr>
          <p:spPr bwMode="auto">
            <a:xfrm flipH="1">
              <a:off x="1066800" y="18288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65" name="Line 35"/>
            <p:cNvSpPr>
              <a:spLocks noChangeShapeType="1"/>
            </p:cNvSpPr>
            <p:nvPr/>
          </p:nvSpPr>
          <p:spPr bwMode="auto">
            <a:xfrm>
              <a:off x="2057400" y="11049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66" name="Line 36"/>
            <p:cNvSpPr>
              <a:spLocks noChangeShapeType="1"/>
            </p:cNvSpPr>
            <p:nvPr/>
          </p:nvSpPr>
          <p:spPr bwMode="auto">
            <a:xfrm>
              <a:off x="2514600" y="18288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67" name="Line 37"/>
            <p:cNvSpPr>
              <a:spLocks noChangeShapeType="1"/>
            </p:cNvSpPr>
            <p:nvPr/>
          </p:nvSpPr>
          <p:spPr bwMode="auto">
            <a:xfrm>
              <a:off x="1447800" y="18288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68" name="Line 38"/>
            <p:cNvSpPr>
              <a:spLocks noChangeShapeType="1"/>
            </p:cNvSpPr>
            <p:nvPr/>
          </p:nvSpPr>
          <p:spPr bwMode="auto">
            <a:xfrm flipH="1">
              <a:off x="2133600" y="18288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69" name="Line 39"/>
            <p:cNvSpPr>
              <a:spLocks noChangeShapeType="1"/>
            </p:cNvSpPr>
            <p:nvPr/>
          </p:nvSpPr>
          <p:spPr bwMode="auto">
            <a:xfrm flipH="1">
              <a:off x="4368800" y="1123950"/>
              <a:ext cx="323850" cy="32385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0" name="Line 40"/>
            <p:cNvSpPr>
              <a:spLocks noChangeShapeType="1"/>
            </p:cNvSpPr>
            <p:nvPr/>
          </p:nvSpPr>
          <p:spPr bwMode="auto">
            <a:xfrm flipH="1">
              <a:off x="3987800" y="19050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1" name="Line 41"/>
            <p:cNvSpPr>
              <a:spLocks noChangeShapeType="1"/>
            </p:cNvSpPr>
            <p:nvPr/>
          </p:nvSpPr>
          <p:spPr bwMode="auto">
            <a:xfrm flipH="1">
              <a:off x="4292600" y="2590800"/>
              <a:ext cx="2286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2" name="Line 42"/>
            <p:cNvSpPr>
              <a:spLocks noChangeShapeType="1"/>
            </p:cNvSpPr>
            <p:nvPr/>
          </p:nvSpPr>
          <p:spPr bwMode="auto">
            <a:xfrm flipH="1">
              <a:off x="6553200" y="11430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3" name="Line 43"/>
            <p:cNvSpPr>
              <a:spLocks noChangeShapeType="1"/>
            </p:cNvSpPr>
            <p:nvPr/>
          </p:nvSpPr>
          <p:spPr bwMode="auto">
            <a:xfrm flipH="1">
              <a:off x="7010400" y="19050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4" name="Line 44"/>
            <p:cNvSpPr>
              <a:spLocks noChangeShapeType="1"/>
            </p:cNvSpPr>
            <p:nvPr/>
          </p:nvSpPr>
          <p:spPr bwMode="auto">
            <a:xfrm flipH="1">
              <a:off x="7467600" y="2590800"/>
              <a:ext cx="1524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5" name="Line 45"/>
            <p:cNvSpPr>
              <a:spLocks noChangeShapeType="1"/>
            </p:cNvSpPr>
            <p:nvPr/>
          </p:nvSpPr>
          <p:spPr bwMode="auto">
            <a:xfrm>
              <a:off x="4978400" y="11430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6" name="Line 46"/>
            <p:cNvSpPr>
              <a:spLocks noChangeShapeType="1"/>
            </p:cNvSpPr>
            <p:nvPr/>
          </p:nvSpPr>
          <p:spPr bwMode="auto">
            <a:xfrm>
              <a:off x="4368800" y="19050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7" name="Line 47"/>
            <p:cNvSpPr>
              <a:spLocks noChangeShapeType="1"/>
            </p:cNvSpPr>
            <p:nvPr/>
          </p:nvSpPr>
          <p:spPr bwMode="auto">
            <a:xfrm>
              <a:off x="4749800" y="2590800"/>
              <a:ext cx="2286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8" name="Line 48"/>
            <p:cNvSpPr>
              <a:spLocks noChangeShapeType="1"/>
            </p:cNvSpPr>
            <p:nvPr/>
          </p:nvSpPr>
          <p:spPr bwMode="auto">
            <a:xfrm>
              <a:off x="7010400" y="11430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9" name="Line 49"/>
            <p:cNvSpPr>
              <a:spLocks noChangeShapeType="1"/>
            </p:cNvSpPr>
            <p:nvPr/>
          </p:nvSpPr>
          <p:spPr bwMode="auto">
            <a:xfrm>
              <a:off x="7467600" y="18288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80" name="Line 50"/>
            <p:cNvSpPr>
              <a:spLocks noChangeShapeType="1"/>
            </p:cNvSpPr>
            <p:nvPr/>
          </p:nvSpPr>
          <p:spPr bwMode="auto">
            <a:xfrm>
              <a:off x="7848600" y="2590800"/>
              <a:ext cx="228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grpSp>
    </p:spTree>
    <p:extLst>
      <p:ext uri="{BB962C8B-B14F-4D97-AF65-F5344CB8AC3E}">
        <p14:creationId xmlns:p14="http://schemas.microsoft.com/office/powerpoint/2010/main" val="659710454"/>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1000"/>
                                        <p:tgtEl>
                                          <p:spTgt spid="24"/>
                                        </p:tgtEl>
                                      </p:cBhvr>
                                    </p:animEffect>
                                    <p:anim calcmode="lin" valueType="num">
                                      <p:cBhvr>
                                        <p:cTn id="36" dur="1000" fill="hold"/>
                                        <p:tgtEl>
                                          <p:spTgt spid="24"/>
                                        </p:tgtEl>
                                        <p:attrNameLst>
                                          <p:attrName>ppt_x</p:attrName>
                                        </p:attrNameLst>
                                      </p:cBhvr>
                                      <p:tavLst>
                                        <p:tav tm="0">
                                          <p:val>
                                            <p:strVal val="#ppt_x"/>
                                          </p:val>
                                        </p:tav>
                                        <p:tav tm="100000">
                                          <p:val>
                                            <p:strVal val="#ppt_x"/>
                                          </p:val>
                                        </p:tav>
                                      </p:tavLst>
                                    </p:anim>
                                    <p:anim calcmode="lin" valueType="num">
                                      <p:cBhvr>
                                        <p:cTn id="37"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赫夫曼树及应用</a:t>
            </a:r>
            <a:endParaRPr lang="zh-CN" alt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753789" y="1065381"/>
            <a:ext cx="2951436" cy="463012"/>
          </a:xfrm>
          <a:prstGeom prst="rect">
            <a:avLst/>
          </a:prstGeom>
          <a:noFill/>
          <a:ln w="9525">
            <a:noFill/>
            <a:miter lim="800000"/>
          </a:ln>
        </p:spPr>
        <p:txBody>
          <a:bodyPr wrap="square">
            <a:spAutoFit/>
          </a:bodyPr>
          <a:lstStyle/>
          <a:p>
            <a:pPr marL="285750" indent="-285750" fontAlgn="auto">
              <a:lnSpc>
                <a:spcPct val="150000"/>
              </a:lnSpc>
              <a:buFont typeface="Wingdings" panose="05000000000000000000" pitchFamily="2" charset="2"/>
              <a:buChar char="u"/>
            </a:pPr>
            <a:r>
              <a:rPr lang="en-US" altLang="zh-CN" dirty="0">
                <a:solidFill>
                  <a:schemeClr val="accent1"/>
                </a:solidFill>
                <a:latin typeface="百度综艺简体" panose="02010601030101010101" charset="-122"/>
                <a:ea typeface="百度综艺简体" panose="02010601030101010101" charset="-122"/>
              </a:rPr>
              <a:t>Huffman</a:t>
            </a:r>
            <a:r>
              <a:rPr lang="zh-CN" altLang="en-US" dirty="0">
                <a:solidFill>
                  <a:schemeClr val="accent1"/>
                </a:solidFill>
                <a:latin typeface="百度综艺简体" panose="02010601030101010101" charset="-122"/>
                <a:ea typeface="百度综艺简体" panose="02010601030101010101" charset="-122"/>
              </a:rPr>
              <a:t>树的定义</a:t>
            </a:r>
            <a:r>
              <a:rPr lang="en-US" altLang="zh-CN" dirty="0">
                <a:solidFill>
                  <a:schemeClr val="accent1"/>
                </a:solidFill>
                <a:latin typeface="百度综艺简体" panose="02010601030101010101" charset="-122"/>
                <a:ea typeface="百度综艺简体" panose="02010601030101010101" charset="-122"/>
              </a:rPr>
              <a:t>:</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TextBox 5"/>
          <p:cNvSpPr txBox="1">
            <a:spLocks noChangeArrowheads="1"/>
          </p:cNvSpPr>
          <p:nvPr/>
        </p:nvSpPr>
        <p:spPr bwMode="auto">
          <a:xfrm>
            <a:off x="557288" y="1533971"/>
            <a:ext cx="7612677" cy="1015663"/>
          </a:xfrm>
          <a:prstGeom prst="rect">
            <a:avLst/>
          </a:prstGeom>
          <a:noFill/>
          <a:ln w="9525">
            <a:noFill/>
            <a:miter lim="800000"/>
          </a:ln>
        </p:spPr>
        <p:txBody>
          <a:bodyPr wrap="square">
            <a:spAutoFit/>
          </a:bodyPr>
          <a:lstStyle/>
          <a:p>
            <a:pPr fontAlgn="auto">
              <a:lnSpc>
                <a:spcPct val="150000"/>
              </a:lnSpc>
            </a:pPr>
            <a:r>
              <a:rPr lang="zh-CN" altLang="en-US" sz="2000" dirty="0" smtClean="0">
                <a:latin typeface="百度综艺简体" panose="02010601030101010101" charset="-122"/>
                <a:ea typeface="百度综艺简体" panose="02010601030101010101" charset="-122"/>
              </a:rPr>
              <a:t>       在</a:t>
            </a:r>
            <a:r>
              <a:rPr lang="zh-CN" altLang="en-US" sz="2000" dirty="0">
                <a:latin typeface="百度综艺简体" panose="02010601030101010101" charset="-122"/>
                <a:ea typeface="百度综艺简体" panose="02010601030101010101" charset="-122"/>
              </a:rPr>
              <a:t>权为</a:t>
            </a:r>
            <a:r>
              <a:rPr lang="en-US" altLang="zh-CN" sz="2000" dirty="0">
                <a:latin typeface="百度综艺简体" panose="02010601030101010101" charset="-122"/>
                <a:ea typeface="百度综艺简体" panose="02010601030101010101" charset="-122"/>
              </a:rPr>
              <a:t>w1,w2,…,</a:t>
            </a:r>
            <a:r>
              <a:rPr lang="en-US" altLang="zh-CN" sz="2000" dirty="0" err="1">
                <a:latin typeface="百度综艺简体" panose="02010601030101010101" charset="-122"/>
                <a:ea typeface="百度综艺简体" panose="02010601030101010101" charset="-122"/>
              </a:rPr>
              <a:t>wn</a:t>
            </a:r>
            <a:r>
              <a:rPr lang="en-US" altLang="zh-CN" sz="2000" dirty="0">
                <a:latin typeface="百度综艺简体" panose="02010601030101010101" charset="-122"/>
                <a:ea typeface="百度综艺简体" panose="02010601030101010101" charset="-122"/>
              </a:rPr>
              <a:t> </a:t>
            </a:r>
            <a:r>
              <a:rPr lang="zh-CN" altLang="en-US" sz="2000" dirty="0">
                <a:latin typeface="百度综艺简体" panose="02010601030101010101" charset="-122"/>
                <a:ea typeface="百度综艺简体" panose="02010601030101010101" charset="-122"/>
              </a:rPr>
              <a:t>的</a:t>
            </a:r>
            <a:r>
              <a:rPr lang="en-US" altLang="zh-CN" sz="2000" dirty="0">
                <a:latin typeface="百度综艺简体" panose="02010601030101010101" charset="-122"/>
                <a:ea typeface="百度综艺简体" panose="02010601030101010101" charset="-122"/>
              </a:rPr>
              <a:t>n</a:t>
            </a:r>
            <a:r>
              <a:rPr lang="zh-CN" altLang="en-US" sz="2000" dirty="0">
                <a:latin typeface="百度综艺简体" panose="02010601030101010101" charset="-122"/>
                <a:ea typeface="百度综艺简体" panose="02010601030101010101" charset="-122"/>
              </a:rPr>
              <a:t>个叶子所构成的所有二叉树中，带权路径长度最小的二叉树称为</a:t>
            </a:r>
            <a:r>
              <a:rPr lang="en-US" altLang="zh-CN" sz="2000" dirty="0">
                <a:latin typeface="百度综艺简体" panose="02010601030101010101" charset="-122"/>
                <a:ea typeface="百度综艺简体" panose="02010601030101010101" charset="-122"/>
              </a:rPr>
              <a:t>Huffman</a:t>
            </a:r>
            <a:r>
              <a:rPr lang="zh-CN" altLang="en-US" sz="2000" dirty="0">
                <a:latin typeface="百度综艺简体" panose="02010601030101010101" charset="-122"/>
                <a:ea typeface="百度综艺简体" panose="02010601030101010101" charset="-122"/>
              </a:rPr>
              <a:t>树或最优二叉树。</a:t>
            </a:r>
          </a:p>
        </p:txBody>
      </p:sp>
      <p:sp>
        <p:nvSpPr>
          <p:cNvPr id="14" name="Oval 16"/>
          <p:cNvSpPr>
            <a:spLocks noChangeArrowheads="1"/>
          </p:cNvSpPr>
          <p:nvPr/>
        </p:nvSpPr>
        <p:spPr bwMode="auto">
          <a:xfrm>
            <a:off x="2188494" y="2774152"/>
            <a:ext cx="325554" cy="325554"/>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17" name="Oval 17"/>
          <p:cNvSpPr>
            <a:spLocks noChangeArrowheads="1"/>
          </p:cNvSpPr>
          <p:nvPr/>
        </p:nvSpPr>
        <p:spPr bwMode="auto">
          <a:xfrm>
            <a:off x="1862940" y="3316742"/>
            <a:ext cx="325554" cy="325554"/>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a</a:t>
            </a:r>
          </a:p>
        </p:txBody>
      </p:sp>
      <p:sp>
        <p:nvSpPr>
          <p:cNvPr id="20" name="Oval 18"/>
          <p:cNvSpPr>
            <a:spLocks noChangeArrowheads="1"/>
          </p:cNvSpPr>
          <p:nvPr/>
        </p:nvSpPr>
        <p:spPr bwMode="auto">
          <a:xfrm>
            <a:off x="2514048" y="3316742"/>
            <a:ext cx="325554" cy="325554"/>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23" name="Oval 19"/>
          <p:cNvSpPr>
            <a:spLocks noChangeArrowheads="1"/>
          </p:cNvSpPr>
          <p:nvPr/>
        </p:nvSpPr>
        <p:spPr bwMode="auto">
          <a:xfrm>
            <a:off x="2297012" y="3805073"/>
            <a:ext cx="325554" cy="325554"/>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b</a:t>
            </a:r>
          </a:p>
        </p:txBody>
      </p:sp>
      <p:sp>
        <p:nvSpPr>
          <p:cNvPr id="24" name="Oval 20"/>
          <p:cNvSpPr>
            <a:spLocks noChangeArrowheads="1"/>
          </p:cNvSpPr>
          <p:nvPr/>
        </p:nvSpPr>
        <p:spPr bwMode="auto">
          <a:xfrm>
            <a:off x="2785343" y="3805073"/>
            <a:ext cx="325554" cy="325554"/>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latin typeface="百度综艺简体" panose="02010601030101010101" pitchFamily="2" charset="-122"/>
              <a:ea typeface="百度综艺简体" panose="02010601030101010101" pitchFamily="2" charset="-122"/>
            </a:endParaRPr>
          </a:p>
        </p:txBody>
      </p:sp>
      <p:sp>
        <p:nvSpPr>
          <p:cNvPr id="28" name="Oval 21"/>
          <p:cNvSpPr>
            <a:spLocks noChangeArrowheads="1"/>
          </p:cNvSpPr>
          <p:nvPr/>
        </p:nvSpPr>
        <p:spPr bwMode="auto">
          <a:xfrm>
            <a:off x="2541177" y="4293404"/>
            <a:ext cx="325554" cy="325554"/>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c</a:t>
            </a:r>
          </a:p>
        </p:txBody>
      </p:sp>
      <p:sp>
        <p:nvSpPr>
          <p:cNvPr id="30" name="Oval 22"/>
          <p:cNvSpPr>
            <a:spLocks noChangeArrowheads="1"/>
          </p:cNvSpPr>
          <p:nvPr/>
        </p:nvSpPr>
        <p:spPr bwMode="auto">
          <a:xfrm>
            <a:off x="3029508" y="4293404"/>
            <a:ext cx="325554" cy="325554"/>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d</a:t>
            </a:r>
          </a:p>
        </p:txBody>
      </p:sp>
      <p:sp>
        <p:nvSpPr>
          <p:cNvPr id="32" name="Rectangle 27"/>
          <p:cNvSpPr>
            <a:spLocks noChangeArrowheads="1"/>
          </p:cNvSpPr>
          <p:nvPr/>
        </p:nvSpPr>
        <p:spPr bwMode="auto">
          <a:xfrm>
            <a:off x="1971458" y="3614036"/>
            <a:ext cx="292381" cy="30389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7</a:t>
            </a:r>
          </a:p>
        </p:txBody>
      </p:sp>
      <p:sp>
        <p:nvSpPr>
          <p:cNvPr id="33" name="Rectangle 28"/>
          <p:cNvSpPr>
            <a:spLocks noChangeArrowheads="1"/>
          </p:cNvSpPr>
          <p:nvPr/>
        </p:nvSpPr>
        <p:spPr bwMode="auto">
          <a:xfrm>
            <a:off x="2324140" y="4048108"/>
            <a:ext cx="292381" cy="30389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5</a:t>
            </a:r>
          </a:p>
        </p:txBody>
      </p:sp>
      <p:sp>
        <p:nvSpPr>
          <p:cNvPr id="34" name="Rectangle 29"/>
          <p:cNvSpPr>
            <a:spLocks noChangeArrowheads="1"/>
          </p:cNvSpPr>
          <p:nvPr/>
        </p:nvSpPr>
        <p:spPr bwMode="auto">
          <a:xfrm>
            <a:off x="2598828" y="4564699"/>
            <a:ext cx="200080" cy="30389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2</a:t>
            </a:r>
          </a:p>
        </p:txBody>
      </p:sp>
      <p:sp>
        <p:nvSpPr>
          <p:cNvPr id="35" name="Rectangle 30"/>
          <p:cNvSpPr>
            <a:spLocks noChangeArrowheads="1"/>
          </p:cNvSpPr>
          <p:nvPr/>
        </p:nvSpPr>
        <p:spPr bwMode="auto">
          <a:xfrm>
            <a:off x="3056638" y="4586177"/>
            <a:ext cx="292381" cy="30389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latin typeface="百度综艺简体" panose="02010601030101010101" pitchFamily="2" charset="-122"/>
                <a:ea typeface="百度综艺简体" panose="02010601030101010101" pitchFamily="2" charset="-122"/>
              </a:rPr>
              <a:t>4</a:t>
            </a:r>
          </a:p>
        </p:txBody>
      </p:sp>
      <p:sp>
        <p:nvSpPr>
          <p:cNvPr id="36" name="Line 42"/>
          <p:cNvSpPr>
            <a:spLocks noChangeShapeType="1"/>
          </p:cNvSpPr>
          <p:nvPr/>
        </p:nvSpPr>
        <p:spPr bwMode="auto">
          <a:xfrm flipH="1">
            <a:off x="2134235" y="3099706"/>
            <a:ext cx="162777" cy="21703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38" name="Line 43"/>
          <p:cNvSpPr>
            <a:spLocks noChangeShapeType="1"/>
          </p:cNvSpPr>
          <p:nvPr/>
        </p:nvSpPr>
        <p:spPr bwMode="auto">
          <a:xfrm flipH="1">
            <a:off x="2459789" y="3642296"/>
            <a:ext cx="162777" cy="21703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39" name="Line 44"/>
          <p:cNvSpPr>
            <a:spLocks noChangeShapeType="1"/>
          </p:cNvSpPr>
          <p:nvPr/>
        </p:nvSpPr>
        <p:spPr bwMode="auto">
          <a:xfrm flipH="1">
            <a:off x="2785343" y="4130627"/>
            <a:ext cx="108518" cy="21703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40" name="Line 48"/>
          <p:cNvSpPr>
            <a:spLocks noChangeShapeType="1"/>
          </p:cNvSpPr>
          <p:nvPr/>
        </p:nvSpPr>
        <p:spPr bwMode="auto">
          <a:xfrm>
            <a:off x="2459789" y="3099706"/>
            <a:ext cx="162777" cy="21703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41" name="Line 50"/>
          <p:cNvSpPr>
            <a:spLocks noChangeShapeType="1"/>
          </p:cNvSpPr>
          <p:nvPr/>
        </p:nvSpPr>
        <p:spPr bwMode="auto">
          <a:xfrm>
            <a:off x="3056638" y="4130627"/>
            <a:ext cx="162777" cy="21703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42" name="TextBox 5"/>
          <p:cNvSpPr txBox="1">
            <a:spLocks noChangeArrowheads="1"/>
          </p:cNvSpPr>
          <p:nvPr/>
        </p:nvSpPr>
        <p:spPr bwMode="auto">
          <a:xfrm>
            <a:off x="3962973" y="3411860"/>
            <a:ext cx="4733766" cy="507831"/>
          </a:xfrm>
          <a:prstGeom prst="rect">
            <a:avLst/>
          </a:prstGeom>
          <a:noFill/>
          <a:ln w="9525">
            <a:noFill/>
            <a:miter lim="800000"/>
          </a:ln>
        </p:spPr>
        <p:txBody>
          <a:bodyPr wrap="square">
            <a:spAutoFit/>
          </a:bodyPr>
          <a:lstStyle/>
          <a:p>
            <a:pPr fontAlgn="auto">
              <a:lnSpc>
                <a:spcPct val="150000"/>
              </a:lnSpc>
            </a:pPr>
            <a:r>
              <a:rPr lang="en-US" altLang="zh-CN" sz="2000" dirty="0" smtClean="0">
                <a:latin typeface="百度综艺简体" panose="02010601030101010101" charset="-122"/>
                <a:ea typeface="百度综艺简体" panose="02010601030101010101" charset="-122"/>
              </a:rPr>
              <a:t>WPL</a:t>
            </a:r>
            <a:r>
              <a:rPr lang="en-US" altLang="zh-CN" sz="2000" dirty="0">
                <a:latin typeface="百度综艺简体" panose="02010601030101010101" charset="-122"/>
                <a:ea typeface="百度综艺简体" panose="02010601030101010101" charset="-122"/>
              </a:rPr>
              <a:t>= </a:t>
            </a:r>
            <a:r>
              <a:rPr lang="en-US" altLang="zh-CN" sz="2000" dirty="0" smtClean="0">
                <a:latin typeface="百度综艺简体" panose="02010601030101010101" charset="-122"/>
                <a:ea typeface="百度综艺简体" panose="02010601030101010101" charset="-122"/>
              </a:rPr>
              <a:t>7*1+5*2+2*3+4*3=35</a:t>
            </a:r>
            <a:endParaRPr lang="en-US" altLang="zh-CN" sz="2000" dirty="0">
              <a:latin typeface="百度综艺简体" panose="02010601030101010101" charset="-122"/>
              <a:ea typeface="百度综艺简体" panose="02010601030101010101" charset="-122"/>
            </a:endParaRPr>
          </a:p>
        </p:txBody>
      </p:sp>
    </p:spTree>
    <p:extLst>
      <p:ext uri="{BB962C8B-B14F-4D97-AF65-F5344CB8AC3E}">
        <p14:creationId xmlns:p14="http://schemas.microsoft.com/office/powerpoint/2010/main" val="2819796374"/>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1000"/>
                                        <p:tgtEl>
                                          <p:spTgt spid="26"/>
                                        </p:tgtEl>
                                      </p:cBhvr>
                                    </p:animEffect>
                                    <p:anim calcmode="lin" valueType="num">
                                      <p:cBhvr>
                                        <p:cTn id="36" dur="1000" fill="hold"/>
                                        <p:tgtEl>
                                          <p:spTgt spid="26"/>
                                        </p:tgtEl>
                                        <p:attrNameLst>
                                          <p:attrName>ppt_x</p:attrName>
                                        </p:attrNameLst>
                                      </p:cBhvr>
                                      <p:tavLst>
                                        <p:tav tm="0">
                                          <p:val>
                                            <p:strVal val="#ppt_x"/>
                                          </p:val>
                                        </p:tav>
                                        <p:tav tm="100000">
                                          <p:val>
                                            <p:strVal val="#ppt_x"/>
                                          </p:val>
                                        </p:tav>
                                      </p:tavLst>
                                    </p:anim>
                                    <p:anim calcmode="lin" valueType="num">
                                      <p:cBhvr>
                                        <p:cTn id="37" dur="1000" fill="hold"/>
                                        <p:tgtEl>
                                          <p:spTgt spid="26"/>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1000"/>
                                        <p:tgtEl>
                                          <p:spTgt spid="18"/>
                                        </p:tgtEl>
                                      </p:cBhvr>
                                    </p:animEffect>
                                    <p:anim calcmode="lin" valueType="num">
                                      <p:cBhvr>
                                        <p:cTn id="42" dur="1000" fill="hold"/>
                                        <p:tgtEl>
                                          <p:spTgt spid="18"/>
                                        </p:tgtEl>
                                        <p:attrNameLst>
                                          <p:attrName>ppt_x</p:attrName>
                                        </p:attrNameLst>
                                      </p:cBhvr>
                                      <p:tavLst>
                                        <p:tav tm="0">
                                          <p:val>
                                            <p:strVal val="#ppt_x"/>
                                          </p:val>
                                        </p:tav>
                                        <p:tav tm="100000">
                                          <p:val>
                                            <p:strVal val="#ppt_x"/>
                                          </p:val>
                                        </p:tav>
                                      </p:tavLst>
                                    </p:anim>
                                    <p:anim calcmode="lin" valueType="num">
                                      <p:cBhvr>
                                        <p:cTn id="43" dur="1000" fill="hold"/>
                                        <p:tgtEl>
                                          <p:spTgt spid="18"/>
                                        </p:tgtEl>
                                        <p:attrNameLst>
                                          <p:attrName>ppt_y</p:attrName>
                                        </p:attrNameLst>
                                      </p:cBhvr>
                                      <p:tavLst>
                                        <p:tav tm="0">
                                          <p:val>
                                            <p:strVal val="#ppt_y+.1"/>
                                          </p:val>
                                        </p:tav>
                                        <p:tav tm="100000">
                                          <p:val>
                                            <p:strVal val="#ppt_y"/>
                                          </p:val>
                                        </p:tav>
                                      </p:tavLst>
                                    </p:anim>
                                  </p:childTnLst>
                                </p:cTn>
                              </p:par>
                            </p:childTnLst>
                          </p:cTn>
                        </p:par>
                        <p:par>
                          <p:cTn id="44" fill="hold">
                            <p:stCondLst>
                              <p:cond delay="5250"/>
                            </p:stCondLst>
                            <p:childTnLst>
                              <p:par>
                                <p:cTn id="45" presetID="42" presetClass="entr" presetSubtype="0" fill="hold" grpId="0" nodeType="after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1000"/>
                                        <p:tgtEl>
                                          <p:spTgt spid="42"/>
                                        </p:tgtEl>
                                      </p:cBhvr>
                                    </p:animEffect>
                                    <p:anim calcmode="lin" valueType="num">
                                      <p:cBhvr>
                                        <p:cTn id="48" dur="1000" fill="hold"/>
                                        <p:tgtEl>
                                          <p:spTgt spid="42"/>
                                        </p:tgtEl>
                                        <p:attrNameLst>
                                          <p:attrName>ppt_x</p:attrName>
                                        </p:attrNameLst>
                                      </p:cBhvr>
                                      <p:tavLst>
                                        <p:tav tm="0">
                                          <p:val>
                                            <p:strVal val="#ppt_x"/>
                                          </p:val>
                                        </p:tav>
                                        <p:tav tm="100000">
                                          <p:val>
                                            <p:strVal val="#ppt_x"/>
                                          </p:val>
                                        </p:tav>
                                      </p:tavLst>
                                    </p:anim>
                                    <p:anim calcmode="lin" valueType="num">
                                      <p:cBhvr>
                                        <p:cTn id="49"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p:bldP spid="18" grpId="0"/>
      <p:bldP spid="4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赫夫曼树及应用</a:t>
            </a:r>
            <a:endParaRPr lang="zh-CN" alt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TextBox 5"/>
          <p:cNvSpPr txBox="1">
            <a:spLocks noChangeArrowheads="1"/>
          </p:cNvSpPr>
          <p:nvPr/>
        </p:nvSpPr>
        <p:spPr bwMode="auto">
          <a:xfrm>
            <a:off x="557288" y="1701085"/>
            <a:ext cx="4280732" cy="1338828"/>
          </a:xfrm>
          <a:prstGeom prst="rect">
            <a:avLst/>
          </a:prstGeom>
          <a:noFill/>
          <a:ln w="9525">
            <a:noFill/>
            <a:miter lim="800000"/>
          </a:ln>
        </p:spPr>
        <p:txBody>
          <a:bodyPr wrap="square">
            <a:spAutoFit/>
          </a:bodyPr>
          <a:lstStyle/>
          <a:p>
            <a:pPr fontAlgn="auto">
              <a:lnSpc>
                <a:spcPct val="150000"/>
              </a:lnSpc>
            </a:pPr>
            <a:r>
              <a:rPr lang="zh-CN" altLang="en-US" dirty="0" smtClean="0">
                <a:latin typeface="百度综艺简体" panose="02010601030101010101" charset="-122"/>
                <a:ea typeface="百度综艺简体" panose="02010601030101010101" charset="-122"/>
              </a:rPr>
              <a:t>       在</a:t>
            </a:r>
            <a:r>
              <a:rPr lang="zh-CN" altLang="en-US" dirty="0">
                <a:latin typeface="百度综艺简体" panose="02010601030101010101" charset="-122"/>
                <a:ea typeface="百度综艺简体" panose="02010601030101010101" charset="-122"/>
              </a:rPr>
              <a:t>解决某些判定问题时，可利用赫夫曼树可以得到最佳判定算法。</a:t>
            </a:r>
          </a:p>
          <a:p>
            <a:pPr fontAlgn="auto">
              <a:lnSpc>
                <a:spcPct val="150000"/>
              </a:lnSpc>
            </a:pPr>
            <a:r>
              <a:rPr lang="zh-CN" altLang="en-US" dirty="0" smtClean="0">
                <a:latin typeface="百度综艺简体" panose="02010601030101010101" charset="-122"/>
                <a:ea typeface="百度综艺简体" panose="02010601030101010101" charset="-122"/>
              </a:rPr>
              <a:t>       </a:t>
            </a:r>
            <a:endParaRPr lang="zh-CN" altLang="en-US" dirty="0">
              <a:latin typeface="百度综艺简体" panose="02010601030101010101" charset="-122"/>
              <a:ea typeface="百度综艺简体" panose="02010601030101010101" charset="-122"/>
            </a:endParaRPr>
          </a:p>
        </p:txBody>
      </p:sp>
      <p:sp>
        <p:nvSpPr>
          <p:cNvPr id="14" name="TextBox 5"/>
          <p:cNvSpPr txBox="1">
            <a:spLocks noChangeArrowheads="1"/>
          </p:cNvSpPr>
          <p:nvPr/>
        </p:nvSpPr>
        <p:spPr bwMode="auto">
          <a:xfrm>
            <a:off x="557288" y="3198278"/>
            <a:ext cx="4280732" cy="878510"/>
          </a:xfrm>
          <a:prstGeom prst="rect">
            <a:avLst/>
          </a:prstGeom>
          <a:noFill/>
          <a:ln w="9525">
            <a:noFill/>
            <a:miter lim="800000"/>
          </a:ln>
        </p:spPr>
        <p:txBody>
          <a:bodyPr wrap="square">
            <a:spAutoFit/>
          </a:bodyPr>
          <a:lstStyle/>
          <a:p>
            <a:pPr fontAlgn="auto">
              <a:lnSpc>
                <a:spcPct val="150000"/>
              </a:lnSpc>
            </a:pPr>
            <a:r>
              <a:rPr lang="zh-CN" altLang="en-US" dirty="0" smtClean="0">
                <a:latin typeface="百度综艺简体" panose="02010601030101010101" charset="-122"/>
                <a:ea typeface="百度综艺简体" panose="02010601030101010101" charset="-122"/>
              </a:rPr>
              <a:t>例</a:t>
            </a:r>
            <a:r>
              <a:rPr lang="zh-CN" altLang="en-US" dirty="0">
                <a:latin typeface="百度综艺简体" panose="02010601030101010101" charset="-122"/>
                <a:ea typeface="百度综艺简体" panose="02010601030101010101" charset="-122"/>
              </a:rPr>
              <a:t>：编程将百分制转换成五级分制。判定过程所用判定树：</a:t>
            </a:r>
          </a:p>
        </p:txBody>
      </p:sp>
      <p:grpSp>
        <p:nvGrpSpPr>
          <p:cNvPr id="2" name="组合 1"/>
          <p:cNvGrpSpPr/>
          <p:nvPr/>
        </p:nvGrpSpPr>
        <p:grpSpPr>
          <a:xfrm>
            <a:off x="5631663" y="834624"/>
            <a:ext cx="2088562" cy="4090594"/>
            <a:chOff x="5367338" y="914400"/>
            <a:chExt cx="2528887" cy="4953000"/>
          </a:xfrm>
          <a:noFill/>
        </p:grpSpPr>
        <p:sp>
          <p:nvSpPr>
            <p:cNvPr id="17" name="AutoShape 2"/>
            <p:cNvSpPr>
              <a:spLocks noChangeArrowheads="1"/>
            </p:cNvSpPr>
            <p:nvPr/>
          </p:nvSpPr>
          <p:spPr bwMode="auto">
            <a:xfrm>
              <a:off x="6296025" y="914400"/>
              <a:ext cx="1600200" cy="533400"/>
            </a:xfrm>
            <a:prstGeom prst="diamond">
              <a:avLst/>
            </a:prstGeom>
            <a:grpFill/>
            <a:ln w="28575">
              <a:solidFill>
                <a:srgbClr val="2A5BA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800">
                  <a:latin typeface="百度综艺简体" panose="02010601030101010101" pitchFamily="2" charset="-122"/>
                  <a:ea typeface="百度综艺简体" panose="02010601030101010101" pitchFamily="2" charset="-122"/>
                </a:rPr>
                <a:t>a&lt;60</a:t>
              </a:r>
            </a:p>
          </p:txBody>
        </p:sp>
        <p:sp>
          <p:nvSpPr>
            <p:cNvPr id="20" name="Line 3"/>
            <p:cNvSpPr>
              <a:spLocks noChangeShapeType="1"/>
            </p:cNvSpPr>
            <p:nvPr/>
          </p:nvSpPr>
          <p:spPr bwMode="auto">
            <a:xfrm flipH="1">
              <a:off x="5838825" y="1185863"/>
              <a:ext cx="457200" cy="0"/>
            </a:xfrm>
            <a:prstGeom prst="line">
              <a:avLst/>
            </a:prstGeom>
            <a:grpFill/>
            <a:ln w="28575">
              <a:solidFill>
                <a:srgbClr val="2A5BA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百度综艺简体" panose="02010601030101010101" pitchFamily="2" charset="-122"/>
                <a:ea typeface="百度综艺简体" panose="02010601030101010101" pitchFamily="2" charset="-122"/>
              </a:endParaRPr>
            </a:p>
          </p:txBody>
        </p:sp>
        <p:sp>
          <p:nvSpPr>
            <p:cNvPr id="23" name="Line 4"/>
            <p:cNvSpPr>
              <a:spLocks noChangeShapeType="1"/>
            </p:cNvSpPr>
            <p:nvPr/>
          </p:nvSpPr>
          <p:spPr bwMode="auto">
            <a:xfrm>
              <a:off x="5838825" y="1219200"/>
              <a:ext cx="0" cy="381000"/>
            </a:xfrm>
            <a:prstGeom prst="line">
              <a:avLst/>
            </a:prstGeom>
            <a:grpFill/>
            <a:ln w="28575">
              <a:solidFill>
                <a:srgbClr val="2A5BA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百度综艺简体" panose="02010601030101010101" pitchFamily="2" charset="-122"/>
                <a:ea typeface="百度综艺简体" panose="02010601030101010101" pitchFamily="2" charset="-122"/>
              </a:endParaRPr>
            </a:p>
          </p:txBody>
        </p:sp>
        <p:sp>
          <p:nvSpPr>
            <p:cNvPr id="24" name="Rectangle 5"/>
            <p:cNvSpPr>
              <a:spLocks noChangeArrowheads="1"/>
            </p:cNvSpPr>
            <p:nvPr/>
          </p:nvSpPr>
          <p:spPr bwMode="auto">
            <a:xfrm>
              <a:off x="5381625" y="1600200"/>
              <a:ext cx="1135063" cy="381000"/>
            </a:xfrm>
            <a:prstGeom prst="rect">
              <a:avLst/>
            </a:prstGeom>
            <a:grpFill/>
            <a:ln w="28575">
              <a:solidFill>
                <a:srgbClr val="2A5BA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a:latin typeface="百度综艺简体" panose="02010601030101010101" pitchFamily="2" charset="-122"/>
                  <a:ea typeface="百度综艺简体" panose="02010601030101010101" pitchFamily="2" charset="-122"/>
                </a:rPr>
                <a:t>不及格</a:t>
              </a:r>
            </a:p>
          </p:txBody>
        </p:sp>
        <p:sp>
          <p:nvSpPr>
            <p:cNvPr id="28" name="Line 6"/>
            <p:cNvSpPr>
              <a:spLocks noChangeShapeType="1"/>
            </p:cNvSpPr>
            <p:nvPr/>
          </p:nvSpPr>
          <p:spPr bwMode="auto">
            <a:xfrm>
              <a:off x="7072313" y="1447800"/>
              <a:ext cx="0" cy="609600"/>
            </a:xfrm>
            <a:prstGeom prst="line">
              <a:avLst/>
            </a:prstGeom>
            <a:grpFill/>
            <a:ln w="28575">
              <a:solidFill>
                <a:srgbClr val="2A5BA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百度综艺简体" panose="02010601030101010101" pitchFamily="2" charset="-122"/>
                <a:ea typeface="百度综艺简体" panose="02010601030101010101" pitchFamily="2" charset="-122"/>
              </a:endParaRPr>
            </a:p>
          </p:txBody>
        </p:sp>
        <p:sp>
          <p:nvSpPr>
            <p:cNvPr id="30" name="AutoShape 7"/>
            <p:cNvSpPr>
              <a:spLocks noChangeArrowheads="1"/>
            </p:cNvSpPr>
            <p:nvPr/>
          </p:nvSpPr>
          <p:spPr bwMode="auto">
            <a:xfrm>
              <a:off x="6296025" y="2057400"/>
              <a:ext cx="1600200" cy="533400"/>
            </a:xfrm>
            <a:prstGeom prst="diamond">
              <a:avLst/>
            </a:prstGeom>
            <a:grpFill/>
            <a:ln w="28575">
              <a:solidFill>
                <a:srgbClr val="2A5BA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800">
                  <a:latin typeface="百度综艺简体" panose="02010601030101010101" pitchFamily="2" charset="-122"/>
                  <a:ea typeface="百度综艺简体" panose="02010601030101010101" pitchFamily="2" charset="-122"/>
                </a:rPr>
                <a:t>a&lt;70</a:t>
              </a:r>
            </a:p>
          </p:txBody>
        </p:sp>
        <p:sp>
          <p:nvSpPr>
            <p:cNvPr id="32" name="Line 8"/>
            <p:cNvSpPr>
              <a:spLocks noChangeShapeType="1"/>
            </p:cNvSpPr>
            <p:nvPr/>
          </p:nvSpPr>
          <p:spPr bwMode="auto">
            <a:xfrm flipH="1">
              <a:off x="5838825" y="2328863"/>
              <a:ext cx="457200" cy="0"/>
            </a:xfrm>
            <a:prstGeom prst="line">
              <a:avLst/>
            </a:prstGeom>
            <a:grpFill/>
            <a:ln w="28575">
              <a:solidFill>
                <a:srgbClr val="2A5BA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百度综艺简体" panose="02010601030101010101" pitchFamily="2" charset="-122"/>
                <a:ea typeface="百度综艺简体" panose="02010601030101010101" pitchFamily="2" charset="-122"/>
              </a:endParaRPr>
            </a:p>
          </p:txBody>
        </p:sp>
        <p:sp>
          <p:nvSpPr>
            <p:cNvPr id="33" name="Line 9"/>
            <p:cNvSpPr>
              <a:spLocks noChangeShapeType="1"/>
            </p:cNvSpPr>
            <p:nvPr/>
          </p:nvSpPr>
          <p:spPr bwMode="auto">
            <a:xfrm>
              <a:off x="5838825" y="2362200"/>
              <a:ext cx="0" cy="381000"/>
            </a:xfrm>
            <a:prstGeom prst="line">
              <a:avLst/>
            </a:prstGeom>
            <a:grpFill/>
            <a:ln w="28575">
              <a:solidFill>
                <a:srgbClr val="2A5BA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百度综艺简体" panose="02010601030101010101" pitchFamily="2" charset="-122"/>
                <a:ea typeface="百度综艺简体" panose="02010601030101010101" pitchFamily="2" charset="-122"/>
              </a:endParaRPr>
            </a:p>
          </p:txBody>
        </p:sp>
        <p:sp>
          <p:nvSpPr>
            <p:cNvPr id="34" name="Rectangle 10"/>
            <p:cNvSpPr>
              <a:spLocks noChangeArrowheads="1"/>
            </p:cNvSpPr>
            <p:nvPr/>
          </p:nvSpPr>
          <p:spPr bwMode="auto">
            <a:xfrm>
              <a:off x="5381625" y="2743200"/>
              <a:ext cx="1062038" cy="381000"/>
            </a:xfrm>
            <a:prstGeom prst="rect">
              <a:avLst/>
            </a:prstGeom>
            <a:grpFill/>
            <a:ln w="28575">
              <a:solidFill>
                <a:srgbClr val="2A5BA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a:latin typeface="百度综艺简体" panose="02010601030101010101" pitchFamily="2" charset="-122"/>
                  <a:ea typeface="百度综艺简体" panose="02010601030101010101" pitchFamily="2" charset="-122"/>
                </a:rPr>
                <a:t>及格</a:t>
              </a:r>
            </a:p>
          </p:txBody>
        </p:sp>
        <p:sp>
          <p:nvSpPr>
            <p:cNvPr id="35" name="Line 11"/>
            <p:cNvSpPr>
              <a:spLocks noChangeShapeType="1"/>
            </p:cNvSpPr>
            <p:nvPr/>
          </p:nvSpPr>
          <p:spPr bwMode="auto">
            <a:xfrm>
              <a:off x="7072313" y="2590800"/>
              <a:ext cx="0" cy="609600"/>
            </a:xfrm>
            <a:prstGeom prst="line">
              <a:avLst/>
            </a:prstGeom>
            <a:grpFill/>
            <a:ln w="28575">
              <a:solidFill>
                <a:srgbClr val="2A5BA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百度综艺简体" panose="02010601030101010101" pitchFamily="2" charset="-122"/>
                <a:ea typeface="百度综艺简体" panose="02010601030101010101" pitchFamily="2" charset="-122"/>
              </a:endParaRPr>
            </a:p>
          </p:txBody>
        </p:sp>
        <p:sp>
          <p:nvSpPr>
            <p:cNvPr id="36" name="AutoShape 12"/>
            <p:cNvSpPr>
              <a:spLocks noChangeArrowheads="1"/>
            </p:cNvSpPr>
            <p:nvPr/>
          </p:nvSpPr>
          <p:spPr bwMode="auto">
            <a:xfrm>
              <a:off x="6296025" y="3200400"/>
              <a:ext cx="1600200" cy="533400"/>
            </a:xfrm>
            <a:prstGeom prst="diamond">
              <a:avLst/>
            </a:prstGeom>
            <a:grpFill/>
            <a:ln w="28575">
              <a:solidFill>
                <a:srgbClr val="2A5BA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800">
                  <a:latin typeface="百度综艺简体" panose="02010601030101010101" pitchFamily="2" charset="-122"/>
                  <a:ea typeface="百度综艺简体" panose="02010601030101010101" pitchFamily="2" charset="-122"/>
                </a:rPr>
                <a:t>a&lt;80</a:t>
              </a:r>
            </a:p>
          </p:txBody>
        </p:sp>
        <p:sp>
          <p:nvSpPr>
            <p:cNvPr id="38" name="Line 13"/>
            <p:cNvSpPr>
              <a:spLocks noChangeShapeType="1"/>
            </p:cNvSpPr>
            <p:nvPr/>
          </p:nvSpPr>
          <p:spPr bwMode="auto">
            <a:xfrm flipH="1">
              <a:off x="5838825" y="3471863"/>
              <a:ext cx="457200" cy="0"/>
            </a:xfrm>
            <a:prstGeom prst="line">
              <a:avLst/>
            </a:prstGeom>
            <a:grpFill/>
            <a:ln w="28575">
              <a:solidFill>
                <a:srgbClr val="2A5BA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百度综艺简体" panose="02010601030101010101" pitchFamily="2" charset="-122"/>
                <a:ea typeface="百度综艺简体" panose="02010601030101010101" pitchFamily="2" charset="-122"/>
              </a:endParaRPr>
            </a:p>
          </p:txBody>
        </p:sp>
        <p:sp>
          <p:nvSpPr>
            <p:cNvPr id="39" name="Line 14"/>
            <p:cNvSpPr>
              <a:spLocks noChangeShapeType="1"/>
            </p:cNvSpPr>
            <p:nvPr/>
          </p:nvSpPr>
          <p:spPr bwMode="auto">
            <a:xfrm>
              <a:off x="5838825" y="3505200"/>
              <a:ext cx="0" cy="381000"/>
            </a:xfrm>
            <a:prstGeom prst="line">
              <a:avLst/>
            </a:prstGeom>
            <a:grpFill/>
            <a:ln w="28575">
              <a:solidFill>
                <a:srgbClr val="2A5BA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百度综艺简体" panose="02010601030101010101" pitchFamily="2" charset="-122"/>
                <a:ea typeface="百度综艺简体" panose="02010601030101010101" pitchFamily="2" charset="-122"/>
              </a:endParaRPr>
            </a:p>
          </p:txBody>
        </p:sp>
        <p:sp>
          <p:nvSpPr>
            <p:cNvPr id="40" name="Rectangle 15"/>
            <p:cNvSpPr>
              <a:spLocks noChangeArrowheads="1"/>
            </p:cNvSpPr>
            <p:nvPr/>
          </p:nvSpPr>
          <p:spPr bwMode="auto">
            <a:xfrm>
              <a:off x="5381625" y="3886200"/>
              <a:ext cx="1062038" cy="381000"/>
            </a:xfrm>
            <a:prstGeom prst="rect">
              <a:avLst/>
            </a:prstGeom>
            <a:grpFill/>
            <a:ln w="28575">
              <a:solidFill>
                <a:srgbClr val="2A5BA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a:latin typeface="百度综艺简体" panose="02010601030101010101" pitchFamily="2" charset="-122"/>
                  <a:ea typeface="百度综艺简体" panose="02010601030101010101" pitchFamily="2" charset="-122"/>
                </a:rPr>
                <a:t>中等</a:t>
              </a:r>
            </a:p>
          </p:txBody>
        </p:sp>
        <p:sp>
          <p:nvSpPr>
            <p:cNvPr id="41" name="Line 16"/>
            <p:cNvSpPr>
              <a:spLocks noChangeShapeType="1"/>
            </p:cNvSpPr>
            <p:nvPr/>
          </p:nvSpPr>
          <p:spPr bwMode="auto">
            <a:xfrm>
              <a:off x="7072313" y="3733800"/>
              <a:ext cx="0" cy="609600"/>
            </a:xfrm>
            <a:prstGeom prst="line">
              <a:avLst/>
            </a:prstGeom>
            <a:grpFill/>
            <a:ln w="28575">
              <a:solidFill>
                <a:srgbClr val="2A5BA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百度综艺简体" panose="02010601030101010101" pitchFamily="2" charset="-122"/>
                <a:ea typeface="百度综艺简体" panose="02010601030101010101" pitchFamily="2" charset="-122"/>
              </a:endParaRPr>
            </a:p>
          </p:txBody>
        </p:sp>
        <p:sp>
          <p:nvSpPr>
            <p:cNvPr id="42" name="AutoShape 17"/>
            <p:cNvSpPr>
              <a:spLocks noChangeArrowheads="1"/>
            </p:cNvSpPr>
            <p:nvPr/>
          </p:nvSpPr>
          <p:spPr bwMode="auto">
            <a:xfrm>
              <a:off x="6281738" y="4343400"/>
              <a:ext cx="1600200" cy="533400"/>
            </a:xfrm>
            <a:prstGeom prst="diamond">
              <a:avLst/>
            </a:prstGeom>
            <a:grpFill/>
            <a:ln w="28575">
              <a:solidFill>
                <a:srgbClr val="2A5BA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800">
                  <a:latin typeface="百度综艺简体" panose="02010601030101010101" pitchFamily="2" charset="-122"/>
                  <a:ea typeface="百度综艺简体" panose="02010601030101010101" pitchFamily="2" charset="-122"/>
                </a:rPr>
                <a:t>a&lt;90</a:t>
              </a:r>
            </a:p>
          </p:txBody>
        </p:sp>
        <p:sp>
          <p:nvSpPr>
            <p:cNvPr id="43" name="Line 18"/>
            <p:cNvSpPr>
              <a:spLocks noChangeShapeType="1"/>
            </p:cNvSpPr>
            <p:nvPr/>
          </p:nvSpPr>
          <p:spPr bwMode="auto">
            <a:xfrm flipH="1">
              <a:off x="5824538" y="4614863"/>
              <a:ext cx="457200" cy="0"/>
            </a:xfrm>
            <a:prstGeom prst="line">
              <a:avLst/>
            </a:prstGeom>
            <a:grpFill/>
            <a:ln w="28575">
              <a:solidFill>
                <a:srgbClr val="2A5BA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百度综艺简体" panose="02010601030101010101" pitchFamily="2" charset="-122"/>
                <a:ea typeface="百度综艺简体" panose="02010601030101010101" pitchFamily="2" charset="-122"/>
              </a:endParaRPr>
            </a:p>
          </p:txBody>
        </p:sp>
        <p:sp>
          <p:nvSpPr>
            <p:cNvPr id="44" name="Line 19"/>
            <p:cNvSpPr>
              <a:spLocks noChangeShapeType="1"/>
            </p:cNvSpPr>
            <p:nvPr/>
          </p:nvSpPr>
          <p:spPr bwMode="auto">
            <a:xfrm>
              <a:off x="5824538" y="4648200"/>
              <a:ext cx="0" cy="381000"/>
            </a:xfrm>
            <a:prstGeom prst="line">
              <a:avLst/>
            </a:prstGeom>
            <a:grpFill/>
            <a:ln w="28575">
              <a:solidFill>
                <a:srgbClr val="2A5BA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百度综艺简体" panose="02010601030101010101" pitchFamily="2" charset="-122"/>
                <a:ea typeface="百度综艺简体" panose="02010601030101010101" pitchFamily="2" charset="-122"/>
              </a:endParaRPr>
            </a:p>
          </p:txBody>
        </p:sp>
        <p:sp>
          <p:nvSpPr>
            <p:cNvPr id="45" name="Rectangle 20"/>
            <p:cNvSpPr>
              <a:spLocks noChangeArrowheads="1"/>
            </p:cNvSpPr>
            <p:nvPr/>
          </p:nvSpPr>
          <p:spPr bwMode="auto">
            <a:xfrm>
              <a:off x="5367338" y="5029200"/>
              <a:ext cx="1076325" cy="381000"/>
            </a:xfrm>
            <a:prstGeom prst="rect">
              <a:avLst/>
            </a:prstGeom>
            <a:grpFill/>
            <a:ln w="28575">
              <a:solidFill>
                <a:srgbClr val="2A5BA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a:latin typeface="百度综艺简体" panose="02010601030101010101" pitchFamily="2" charset="-122"/>
                  <a:ea typeface="百度综艺简体" panose="02010601030101010101" pitchFamily="2" charset="-122"/>
                </a:rPr>
                <a:t>良好</a:t>
              </a:r>
            </a:p>
          </p:txBody>
        </p:sp>
        <p:sp>
          <p:nvSpPr>
            <p:cNvPr id="46" name="Line 21"/>
            <p:cNvSpPr>
              <a:spLocks noChangeShapeType="1"/>
            </p:cNvSpPr>
            <p:nvPr/>
          </p:nvSpPr>
          <p:spPr bwMode="auto">
            <a:xfrm>
              <a:off x="7058025" y="4876800"/>
              <a:ext cx="0" cy="609600"/>
            </a:xfrm>
            <a:prstGeom prst="line">
              <a:avLst/>
            </a:prstGeom>
            <a:grpFill/>
            <a:ln w="28575">
              <a:solidFill>
                <a:srgbClr val="2A5BA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百度综艺简体" panose="02010601030101010101" pitchFamily="2" charset="-122"/>
                <a:ea typeface="百度综艺简体" panose="02010601030101010101" pitchFamily="2" charset="-122"/>
              </a:endParaRPr>
            </a:p>
          </p:txBody>
        </p:sp>
        <p:sp>
          <p:nvSpPr>
            <p:cNvPr id="47" name="Rectangle 22"/>
            <p:cNvSpPr>
              <a:spLocks noChangeArrowheads="1"/>
            </p:cNvSpPr>
            <p:nvPr/>
          </p:nvSpPr>
          <p:spPr bwMode="auto">
            <a:xfrm>
              <a:off x="6600825" y="5486400"/>
              <a:ext cx="1066800" cy="381000"/>
            </a:xfrm>
            <a:prstGeom prst="rect">
              <a:avLst/>
            </a:prstGeom>
            <a:grpFill/>
            <a:ln w="28575">
              <a:solidFill>
                <a:srgbClr val="2A5BA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a:latin typeface="百度综艺简体" panose="02010601030101010101" pitchFamily="2" charset="-122"/>
                  <a:ea typeface="百度综艺简体" panose="02010601030101010101" pitchFamily="2" charset="-122"/>
                </a:rPr>
                <a:t>优秀</a:t>
              </a:r>
            </a:p>
          </p:txBody>
        </p:sp>
      </p:grpSp>
    </p:spTree>
    <p:extLst>
      <p:ext uri="{BB962C8B-B14F-4D97-AF65-F5344CB8AC3E}">
        <p14:creationId xmlns:p14="http://schemas.microsoft.com/office/powerpoint/2010/main" val="3922706835"/>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1000"/>
                                        <p:tgtEl>
                                          <p:spTgt spid="18"/>
                                        </p:tgtEl>
                                      </p:cBhvr>
                                    </p:animEffect>
                                    <p:anim calcmode="lin" valueType="num">
                                      <p:cBhvr>
                                        <p:cTn id="36" dur="1000" fill="hold"/>
                                        <p:tgtEl>
                                          <p:spTgt spid="18"/>
                                        </p:tgtEl>
                                        <p:attrNameLst>
                                          <p:attrName>ppt_x</p:attrName>
                                        </p:attrNameLst>
                                      </p:cBhvr>
                                      <p:tavLst>
                                        <p:tav tm="0">
                                          <p:val>
                                            <p:strVal val="#ppt_x"/>
                                          </p:val>
                                        </p:tav>
                                        <p:tav tm="100000">
                                          <p:val>
                                            <p:strVal val="#ppt_x"/>
                                          </p:val>
                                        </p:tav>
                                      </p:tavLst>
                                    </p:anim>
                                    <p:anim calcmode="lin" valueType="num">
                                      <p:cBhvr>
                                        <p:cTn id="37" dur="1000" fill="hold"/>
                                        <p:tgtEl>
                                          <p:spTgt spid="18"/>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1000"/>
                                        <p:tgtEl>
                                          <p:spTgt spid="14"/>
                                        </p:tgtEl>
                                      </p:cBhvr>
                                    </p:animEffect>
                                    <p:anim calcmode="lin" valueType="num">
                                      <p:cBhvr>
                                        <p:cTn id="42" dur="1000" fill="hold"/>
                                        <p:tgtEl>
                                          <p:spTgt spid="14"/>
                                        </p:tgtEl>
                                        <p:attrNameLst>
                                          <p:attrName>ppt_x</p:attrName>
                                        </p:attrNameLst>
                                      </p:cBhvr>
                                      <p:tavLst>
                                        <p:tav tm="0">
                                          <p:val>
                                            <p:strVal val="#ppt_x"/>
                                          </p:val>
                                        </p:tav>
                                        <p:tav tm="100000">
                                          <p:val>
                                            <p:strVal val="#ppt_x"/>
                                          </p:val>
                                        </p:tav>
                                      </p:tavLst>
                                    </p:anim>
                                    <p:anim calcmode="lin" valueType="num">
                                      <p:cBhvr>
                                        <p:cTn id="4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18"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赫夫曼树及应用</a:t>
            </a:r>
            <a:endParaRPr lang="zh-CN" alt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TextBox 5"/>
          <p:cNvSpPr txBox="1">
            <a:spLocks noChangeArrowheads="1"/>
          </p:cNvSpPr>
          <p:nvPr/>
        </p:nvSpPr>
        <p:spPr bwMode="auto">
          <a:xfrm>
            <a:off x="599209" y="1127367"/>
            <a:ext cx="7945581" cy="1754326"/>
          </a:xfrm>
          <a:prstGeom prst="rect">
            <a:avLst/>
          </a:prstGeom>
          <a:noFill/>
          <a:ln w="9525">
            <a:noFill/>
            <a:miter lim="800000"/>
          </a:ln>
        </p:spPr>
        <p:txBody>
          <a:bodyPr wrap="square">
            <a:spAutoFit/>
          </a:bodyPr>
          <a:lstStyle/>
          <a:p>
            <a:pPr fontAlgn="auto">
              <a:lnSpc>
                <a:spcPct val="150000"/>
              </a:lnSpc>
            </a:pPr>
            <a:r>
              <a:rPr lang="zh-CN" altLang="en-US" dirty="0" smtClean="0">
                <a:latin typeface="百度综艺简体" panose="02010601030101010101" charset="-122"/>
                <a:ea typeface="百度综艺简体" panose="02010601030101010101" charset="-122"/>
              </a:rPr>
              <a:t>        如果</a:t>
            </a:r>
            <a:r>
              <a:rPr lang="zh-CN" altLang="en-US" dirty="0">
                <a:latin typeface="百度综艺简体" panose="02010601030101010101" charset="-122"/>
                <a:ea typeface="百度综艺简体" panose="02010601030101010101" charset="-122"/>
              </a:rPr>
              <a:t>上述程序需反复使用，且每次的输入量很大，则应考虑上述程序的质量问题，即其操作所需的时间。因为在实际生活中，学生的成绩在五个等级上的分布是不均匀的，假设其分布规律如下表所示，则</a:t>
            </a:r>
            <a:r>
              <a:rPr lang="en-US" altLang="zh-CN" dirty="0">
                <a:latin typeface="百度综艺简体" panose="02010601030101010101" charset="-122"/>
                <a:ea typeface="百度综艺简体" panose="02010601030101010101" charset="-122"/>
              </a:rPr>
              <a:t>80%</a:t>
            </a:r>
            <a:r>
              <a:rPr lang="zh-CN" altLang="en-US" dirty="0">
                <a:latin typeface="百度综艺简体" panose="02010601030101010101" charset="-122"/>
                <a:ea typeface="百度综艺简体" panose="02010601030101010101" charset="-122"/>
              </a:rPr>
              <a:t>以上的数据需进行三次或三次以上的比较才能得出结果。</a:t>
            </a:r>
          </a:p>
        </p:txBody>
      </p:sp>
      <p:graphicFrame>
        <p:nvGraphicFramePr>
          <p:cNvPr id="48" name="Group 3"/>
          <p:cNvGraphicFramePr>
            <a:graphicFrameLocks noGrp="1"/>
          </p:cNvGraphicFramePr>
          <p:nvPr>
            <p:extLst>
              <p:ext uri="{D42A27DB-BD31-4B8C-83A1-F6EECF244321}">
                <p14:modId xmlns:p14="http://schemas.microsoft.com/office/powerpoint/2010/main" val="1574756548"/>
              </p:ext>
            </p:extLst>
          </p:nvPr>
        </p:nvGraphicFramePr>
        <p:xfrm>
          <a:off x="685799" y="3235596"/>
          <a:ext cx="7772400" cy="1193800"/>
        </p:xfrm>
        <a:graphic>
          <a:graphicData uri="http://schemas.openxmlformats.org/drawingml/2006/table">
            <a:tbl>
              <a:tblPr/>
              <a:tblGrid>
                <a:gridCol w="1295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292533">
                  <a:extLst>
                    <a:ext uri="{9D8B030D-6E8A-4147-A177-3AD203B41FA5}">
                      <a16:colId xmlns:a16="http://schemas.microsoft.com/office/drawing/2014/main" val="20004"/>
                    </a:ext>
                  </a:extLst>
                </a:gridCol>
                <a:gridCol w="1298267">
                  <a:extLst>
                    <a:ext uri="{9D8B030D-6E8A-4147-A177-3AD203B41FA5}">
                      <a16:colId xmlns:a16="http://schemas.microsoft.com/office/drawing/2014/main" val="20005"/>
                    </a:ext>
                  </a:extLst>
                </a:gridCol>
              </a:tblGrid>
              <a:tr h="5969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dirty="0" smtClean="0">
                          <a:ln>
                            <a:noFill/>
                          </a:ln>
                          <a:solidFill>
                            <a:schemeClr val="tx1"/>
                          </a:solidFill>
                          <a:effectLst/>
                          <a:latin typeface="百度综艺简体" panose="02010601030101010101" pitchFamily="2" charset="-122"/>
                          <a:ea typeface="百度综艺简体" panose="02010601030101010101" pitchFamily="2" charset="-122"/>
                        </a:rPr>
                        <a:t>分数</a:t>
                      </a:r>
                    </a:p>
                  </a:txBody>
                  <a:tcPr anchor="ct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百度综艺简体" panose="02010601030101010101" pitchFamily="2" charset="-122"/>
                          <a:ea typeface="百度综艺简体" panose="02010601030101010101" pitchFamily="2" charset="-122"/>
                        </a:rPr>
                        <a:t>0~59</a:t>
                      </a:r>
                    </a:p>
                  </a:txBody>
                  <a:tcPr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百度综艺简体" panose="02010601030101010101" pitchFamily="2" charset="-122"/>
                          <a:ea typeface="百度综艺简体" panose="02010601030101010101" pitchFamily="2" charset="-122"/>
                        </a:rPr>
                        <a:t>60~69</a:t>
                      </a:r>
                    </a:p>
                  </a:txBody>
                  <a:tcPr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smtClean="0">
                          <a:ln>
                            <a:noFill/>
                          </a:ln>
                          <a:solidFill>
                            <a:schemeClr val="tx1"/>
                          </a:solidFill>
                          <a:effectLst/>
                          <a:latin typeface="百度综艺简体" panose="02010601030101010101" pitchFamily="2" charset="-122"/>
                          <a:ea typeface="百度综艺简体" panose="02010601030101010101" pitchFamily="2" charset="-122"/>
                        </a:rPr>
                        <a:t>70~79</a:t>
                      </a:r>
                    </a:p>
                  </a:txBody>
                  <a:tcPr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smtClean="0">
                          <a:ln>
                            <a:noFill/>
                          </a:ln>
                          <a:solidFill>
                            <a:schemeClr val="tx1"/>
                          </a:solidFill>
                          <a:effectLst/>
                          <a:latin typeface="百度综艺简体" panose="02010601030101010101" pitchFamily="2" charset="-122"/>
                          <a:ea typeface="百度综艺简体" panose="02010601030101010101" pitchFamily="2" charset="-122"/>
                        </a:rPr>
                        <a:t>80~89</a:t>
                      </a:r>
                    </a:p>
                  </a:txBody>
                  <a:tcPr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smtClean="0">
                          <a:ln>
                            <a:noFill/>
                          </a:ln>
                          <a:solidFill>
                            <a:schemeClr val="tx1"/>
                          </a:solidFill>
                          <a:effectLst/>
                          <a:latin typeface="百度综艺简体" panose="02010601030101010101" pitchFamily="2" charset="-122"/>
                          <a:ea typeface="百度综艺简体" panose="02010601030101010101" pitchFamily="2" charset="-122"/>
                        </a:rPr>
                        <a:t>90~100</a:t>
                      </a:r>
                    </a:p>
                  </a:txBody>
                  <a:tcPr anchor="ct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5969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dirty="0" smtClean="0">
                          <a:ln>
                            <a:noFill/>
                          </a:ln>
                          <a:solidFill>
                            <a:schemeClr val="tx1"/>
                          </a:solidFill>
                          <a:effectLst/>
                          <a:latin typeface="百度综艺简体" panose="02010601030101010101" pitchFamily="2" charset="-122"/>
                          <a:ea typeface="百度综艺简体" panose="02010601030101010101" pitchFamily="2" charset="-122"/>
                        </a:rPr>
                        <a:t>比例</a:t>
                      </a:r>
                    </a:p>
                  </a:txBody>
                  <a:tcPr anchor="ct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百度综艺简体" panose="02010601030101010101" pitchFamily="2" charset="-122"/>
                          <a:ea typeface="百度综艺简体" panose="02010601030101010101" pitchFamily="2" charset="-122"/>
                        </a:rPr>
                        <a:t>0.05</a:t>
                      </a:r>
                    </a:p>
                  </a:txBody>
                  <a:tcPr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百度综艺简体" panose="02010601030101010101" pitchFamily="2" charset="-122"/>
                          <a:ea typeface="百度综艺简体" panose="02010601030101010101" pitchFamily="2" charset="-122"/>
                        </a:rPr>
                        <a:t>0.15</a:t>
                      </a:r>
                    </a:p>
                  </a:txBody>
                  <a:tcPr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百度综艺简体" panose="02010601030101010101" pitchFamily="2" charset="-122"/>
                          <a:ea typeface="百度综艺简体" panose="02010601030101010101" pitchFamily="2" charset="-122"/>
                        </a:rPr>
                        <a:t>0.40</a:t>
                      </a:r>
                    </a:p>
                  </a:txBody>
                  <a:tcPr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百度综艺简体" panose="02010601030101010101" pitchFamily="2" charset="-122"/>
                          <a:ea typeface="百度综艺简体" panose="02010601030101010101" pitchFamily="2" charset="-122"/>
                        </a:rPr>
                        <a:t>0.30</a:t>
                      </a:r>
                    </a:p>
                  </a:txBody>
                  <a:tcPr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百度综艺简体" panose="02010601030101010101" pitchFamily="2" charset="-122"/>
                          <a:ea typeface="百度综艺简体" panose="02010601030101010101" pitchFamily="2" charset="-122"/>
                        </a:rPr>
                        <a:t>0.10</a:t>
                      </a:r>
                    </a:p>
                  </a:txBody>
                  <a:tcPr anchor="ct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12259293"/>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1000"/>
                                        <p:tgtEl>
                                          <p:spTgt spid="18"/>
                                        </p:tgtEl>
                                      </p:cBhvr>
                                    </p:animEffect>
                                    <p:anim calcmode="lin" valueType="num">
                                      <p:cBhvr>
                                        <p:cTn id="36" dur="1000" fill="hold"/>
                                        <p:tgtEl>
                                          <p:spTgt spid="18"/>
                                        </p:tgtEl>
                                        <p:attrNameLst>
                                          <p:attrName>ppt_x</p:attrName>
                                        </p:attrNameLst>
                                      </p:cBhvr>
                                      <p:tavLst>
                                        <p:tav tm="0">
                                          <p:val>
                                            <p:strVal val="#ppt_x"/>
                                          </p:val>
                                        </p:tav>
                                        <p:tav tm="100000">
                                          <p:val>
                                            <p:strVal val="#ppt_x"/>
                                          </p:val>
                                        </p:tav>
                                      </p:tavLst>
                                    </p:anim>
                                    <p:anim calcmode="lin" valueType="num">
                                      <p:cBhvr>
                                        <p:cTn id="3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赫夫曼树及应用</a:t>
            </a:r>
            <a:endParaRPr lang="zh-CN" alt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TextBox 5"/>
          <p:cNvSpPr txBox="1">
            <a:spLocks noChangeArrowheads="1"/>
          </p:cNvSpPr>
          <p:nvPr/>
        </p:nvSpPr>
        <p:spPr bwMode="auto">
          <a:xfrm>
            <a:off x="634680" y="1095051"/>
            <a:ext cx="4280732" cy="1709507"/>
          </a:xfrm>
          <a:prstGeom prst="rect">
            <a:avLst/>
          </a:prstGeom>
          <a:noFill/>
          <a:ln w="9525">
            <a:noFill/>
            <a:miter lim="800000"/>
          </a:ln>
        </p:spPr>
        <p:txBody>
          <a:bodyPr wrap="square">
            <a:spAutoFit/>
          </a:bodyPr>
          <a:lstStyle/>
          <a:p>
            <a:pPr fontAlgn="auto">
              <a:lnSpc>
                <a:spcPct val="150000"/>
              </a:lnSpc>
            </a:pPr>
            <a:r>
              <a:rPr lang="zh-CN" altLang="en-US" dirty="0" smtClean="0">
                <a:latin typeface="百度综艺简体" panose="02010601030101010101" charset="-122"/>
                <a:ea typeface="百度综艺简体" panose="02010601030101010101" charset="-122"/>
              </a:rPr>
              <a:t>       以</a:t>
            </a:r>
            <a:r>
              <a:rPr lang="zh-CN" altLang="en-US" dirty="0">
                <a:latin typeface="百度综艺简体" panose="02010601030101010101" charset="-122"/>
                <a:ea typeface="百度综艺简体" panose="02010601030101010101" charset="-122"/>
              </a:rPr>
              <a:t>20在五个等级上的分布概率为权，构造具有五个叶子结点的赫夫曼树，得图示判定过程，可使大部分数据经过较少的比较次数得出结果。</a:t>
            </a:r>
          </a:p>
        </p:txBody>
      </p:sp>
      <p:sp>
        <p:nvSpPr>
          <p:cNvPr id="14" name="TextBox 5"/>
          <p:cNvSpPr txBox="1">
            <a:spLocks noChangeArrowheads="1"/>
          </p:cNvSpPr>
          <p:nvPr/>
        </p:nvSpPr>
        <p:spPr bwMode="auto">
          <a:xfrm>
            <a:off x="557288" y="3781563"/>
            <a:ext cx="4280732" cy="923330"/>
          </a:xfrm>
          <a:prstGeom prst="rect">
            <a:avLst/>
          </a:prstGeom>
          <a:noFill/>
          <a:ln w="9525">
            <a:noFill/>
            <a:miter lim="800000"/>
          </a:ln>
        </p:spPr>
        <p:txBody>
          <a:bodyPr wrap="square">
            <a:spAutoFit/>
          </a:bodyPr>
          <a:lstStyle/>
          <a:p>
            <a:pPr fontAlgn="auto">
              <a:lnSpc>
                <a:spcPct val="150000"/>
              </a:lnSpc>
            </a:pPr>
            <a:r>
              <a:rPr lang="zh-CN" altLang="en-US" dirty="0" smtClean="0">
                <a:latin typeface="百度综艺简体" panose="02010601030101010101" charset="-122"/>
                <a:ea typeface="百度综艺简体" panose="02010601030101010101" charset="-122"/>
              </a:rPr>
              <a:t>       将每个</a:t>
            </a:r>
            <a:r>
              <a:rPr lang="zh-CN" altLang="en-US" dirty="0">
                <a:latin typeface="百度综艺简体" panose="02010601030101010101" charset="-122"/>
                <a:ea typeface="百度综艺简体" panose="02010601030101010101" charset="-122"/>
              </a:rPr>
              <a:t>判定框的两次比较分开，得到左图的判定树。</a:t>
            </a:r>
          </a:p>
        </p:txBody>
      </p:sp>
      <p:grpSp>
        <p:nvGrpSpPr>
          <p:cNvPr id="3" name="组合 2"/>
          <p:cNvGrpSpPr/>
          <p:nvPr/>
        </p:nvGrpSpPr>
        <p:grpSpPr>
          <a:xfrm>
            <a:off x="5316071" y="698838"/>
            <a:ext cx="2648101" cy="2168005"/>
            <a:chOff x="4932363" y="533400"/>
            <a:chExt cx="3887787" cy="3182938"/>
          </a:xfrm>
        </p:grpSpPr>
        <p:sp>
          <p:nvSpPr>
            <p:cNvPr id="48" name="AutoShape 3"/>
            <p:cNvSpPr>
              <a:spLocks noChangeArrowheads="1"/>
            </p:cNvSpPr>
            <p:nvPr/>
          </p:nvSpPr>
          <p:spPr bwMode="auto">
            <a:xfrm>
              <a:off x="5314950" y="533400"/>
              <a:ext cx="2065338" cy="381000"/>
            </a:xfrm>
            <a:prstGeom prst="hexagon">
              <a:avLst>
                <a:gd name="adj" fmla="val 135521"/>
                <a:gd name="vf" fmla="val 115470"/>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70≤a&lt;80</a:t>
              </a:r>
            </a:p>
          </p:txBody>
        </p:sp>
        <p:sp>
          <p:nvSpPr>
            <p:cNvPr id="49" name="Line 4"/>
            <p:cNvSpPr>
              <a:spLocks noChangeShapeType="1"/>
            </p:cNvSpPr>
            <p:nvPr/>
          </p:nvSpPr>
          <p:spPr bwMode="auto">
            <a:xfrm flipH="1">
              <a:off x="5467350" y="914400"/>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50" name="Rectangle 5"/>
            <p:cNvSpPr>
              <a:spLocks noChangeArrowheads="1"/>
            </p:cNvSpPr>
            <p:nvPr/>
          </p:nvSpPr>
          <p:spPr bwMode="auto">
            <a:xfrm>
              <a:off x="4932363" y="1219200"/>
              <a:ext cx="915987" cy="3810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600">
                  <a:latin typeface="百度综艺简体" panose="02010601030101010101" pitchFamily="2" charset="-122"/>
                  <a:ea typeface="百度综艺简体" panose="02010601030101010101" pitchFamily="2" charset="-122"/>
                </a:rPr>
                <a:t>中等</a:t>
              </a:r>
            </a:p>
          </p:txBody>
        </p:sp>
        <p:sp>
          <p:nvSpPr>
            <p:cNvPr id="51" name="Line 6"/>
            <p:cNvSpPr>
              <a:spLocks noChangeShapeType="1"/>
            </p:cNvSpPr>
            <p:nvPr/>
          </p:nvSpPr>
          <p:spPr bwMode="auto">
            <a:xfrm>
              <a:off x="6457950" y="914400"/>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52" name="AutoShape 7"/>
            <p:cNvSpPr>
              <a:spLocks noChangeArrowheads="1"/>
            </p:cNvSpPr>
            <p:nvPr/>
          </p:nvSpPr>
          <p:spPr bwMode="auto">
            <a:xfrm>
              <a:off x="6000750" y="1219200"/>
              <a:ext cx="2027238" cy="381000"/>
            </a:xfrm>
            <a:prstGeom prst="hexagon">
              <a:avLst>
                <a:gd name="adj" fmla="val 133021"/>
                <a:gd name="vf" fmla="val 115470"/>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80≤a&lt;90</a:t>
              </a:r>
            </a:p>
          </p:txBody>
        </p:sp>
        <p:sp>
          <p:nvSpPr>
            <p:cNvPr id="53" name="Line 8"/>
            <p:cNvSpPr>
              <a:spLocks noChangeShapeType="1"/>
            </p:cNvSpPr>
            <p:nvPr/>
          </p:nvSpPr>
          <p:spPr bwMode="auto">
            <a:xfrm flipH="1">
              <a:off x="6229350" y="1600200"/>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54" name="Rectangle 9"/>
            <p:cNvSpPr>
              <a:spLocks noChangeArrowheads="1"/>
            </p:cNvSpPr>
            <p:nvPr/>
          </p:nvSpPr>
          <p:spPr bwMode="auto">
            <a:xfrm>
              <a:off x="5292725" y="1905000"/>
              <a:ext cx="1317625" cy="3810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600">
                  <a:latin typeface="百度综艺简体" panose="02010601030101010101" pitchFamily="2" charset="-122"/>
                  <a:ea typeface="百度综艺简体" panose="02010601030101010101" pitchFamily="2" charset="-122"/>
                </a:rPr>
                <a:t>良好</a:t>
              </a:r>
            </a:p>
          </p:txBody>
        </p:sp>
        <p:sp>
          <p:nvSpPr>
            <p:cNvPr id="55" name="Line 10"/>
            <p:cNvSpPr>
              <a:spLocks noChangeShapeType="1"/>
            </p:cNvSpPr>
            <p:nvPr/>
          </p:nvSpPr>
          <p:spPr bwMode="auto">
            <a:xfrm>
              <a:off x="7219950" y="1600200"/>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56" name="AutoShape 11"/>
            <p:cNvSpPr>
              <a:spLocks noChangeArrowheads="1"/>
            </p:cNvSpPr>
            <p:nvPr/>
          </p:nvSpPr>
          <p:spPr bwMode="auto">
            <a:xfrm>
              <a:off x="6762750" y="1905000"/>
              <a:ext cx="1770063" cy="381000"/>
            </a:xfrm>
            <a:prstGeom prst="hexagon">
              <a:avLst>
                <a:gd name="adj" fmla="val 116146"/>
                <a:gd name="vf" fmla="val 115470"/>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60≤a&lt;70</a:t>
              </a:r>
            </a:p>
          </p:txBody>
        </p:sp>
        <p:sp>
          <p:nvSpPr>
            <p:cNvPr id="57" name="Line 12"/>
            <p:cNvSpPr>
              <a:spLocks noChangeShapeType="1"/>
            </p:cNvSpPr>
            <p:nvPr/>
          </p:nvSpPr>
          <p:spPr bwMode="auto">
            <a:xfrm flipH="1">
              <a:off x="6838950" y="2286000"/>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58" name="Line 13"/>
            <p:cNvSpPr>
              <a:spLocks noChangeShapeType="1"/>
            </p:cNvSpPr>
            <p:nvPr/>
          </p:nvSpPr>
          <p:spPr bwMode="auto">
            <a:xfrm>
              <a:off x="7905750" y="2286000"/>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59" name="Rectangle 14"/>
            <p:cNvSpPr>
              <a:spLocks noChangeArrowheads="1"/>
            </p:cNvSpPr>
            <p:nvPr/>
          </p:nvSpPr>
          <p:spPr bwMode="auto">
            <a:xfrm>
              <a:off x="7829550" y="2590800"/>
              <a:ext cx="990600" cy="3810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600">
                  <a:latin typeface="百度综艺简体" panose="02010601030101010101" pitchFamily="2" charset="-122"/>
                  <a:ea typeface="百度综艺简体" panose="02010601030101010101" pitchFamily="2" charset="-122"/>
                </a:rPr>
                <a:t>及格</a:t>
              </a:r>
            </a:p>
          </p:txBody>
        </p:sp>
        <p:sp>
          <p:nvSpPr>
            <p:cNvPr id="60" name="AutoShape 15"/>
            <p:cNvSpPr>
              <a:spLocks noChangeArrowheads="1"/>
            </p:cNvSpPr>
            <p:nvPr/>
          </p:nvSpPr>
          <p:spPr bwMode="auto">
            <a:xfrm>
              <a:off x="6000750" y="2590800"/>
              <a:ext cx="1600200" cy="381000"/>
            </a:xfrm>
            <a:prstGeom prst="hexagon">
              <a:avLst>
                <a:gd name="adj" fmla="val 105000"/>
                <a:gd name="vf" fmla="val 115470"/>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dirty="0">
                  <a:latin typeface="百度综艺简体" panose="02010601030101010101" pitchFamily="2" charset="-122"/>
                  <a:ea typeface="百度综艺简体" panose="02010601030101010101" pitchFamily="2" charset="-122"/>
                </a:rPr>
                <a:t>a&lt;60</a:t>
              </a:r>
            </a:p>
          </p:txBody>
        </p:sp>
        <p:sp>
          <p:nvSpPr>
            <p:cNvPr id="61" name="Rectangle 16"/>
            <p:cNvSpPr>
              <a:spLocks noChangeArrowheads="1"/>
            </p:cNvSpPr>
            <p:nvPr/>
          </p:nvSpPr>
          <p:spPr bwMode="auto">
            <a:xfrm>
              <a:off x="5772150" y="3324225"/>
              <a:ext cx="1031875" cy="392113"/>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600" dirty="0">
                  <a:latin typeface="百度综艺简体" panose="02010601030101010101" pitchFamily="2" charset="-122"/>
                  <a:ea typeface="百度综艺简体" panose="02010601030101010101" pitchFamily="2" charset="-122"/>
                </a:rPr>
                <a:t>不及格</a:t>
              </a:r>
            </a:p>
          </p:txBody>
        </p:sp>
        <p:sp>
          <p:nvSpPr>
            <p:cNvPr id="62" name="Rectangle 17"/>
            <p:cNvSpPr>
              <a:spLocks noChangeArrowheads="1"/>
            </p:cNvSpPr>
            <p:nvPr/>
          </p:nvSpPr>
          <p:spPr bwMode="auto">
            <a:xfrm>
              <a:off x="6915150" y="3324225"/>
              <a:ext cx="1328738" cy="3810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600">
                  <a:latin typeface="百度综艺简体" panose="02010601030101010101" pitchFamily="2" charset="-122"/>
                  <a:ea typeface="百度综艺简体" panose="02010601030101010101" pitchFamily="2" charset="-122"/>
                </a:rPr>
                <a:t>优秀</a:t>
              </a:r>
            </a:p>
          </p:txBody>
        </p:sp>
        <p:sp>
          <p:nvSpPr>
            <p:cNvPr id="63" name="Line 18"/>
            <p:cNvSpPr>
              <a:spLocks noChangeShapeType="1"/>
            </p:cNvSpPr>
            <p:nvPr/>
          </p:nvSpPr>
          <p:spPr bwMode="auto">
            <a:xfrm flipH="1">
              <a:off x="6076950" y="3000375"/>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64" name="Line 19"/>
            <p:cNvSpPr>
              <a:spLocks noChangeShapeType="1"/>
            </p:cNvSpPr>
            <p:nvPr/>
          </p:nvSpPr>
          <p:spPr bwMode="auto">
            <a:xfrm>
              <a:off x="7143750" y="3000375"/>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grpSp>
      <p:grpSp>
        <p:nvGrpSpPr>
          <p:cNvPr id="4" name="组合 3"/>
          <p:cNvGrpSpPr/>
          <p:nvPr/>
        </p:nvGrpSpPr>
        <p:grpSpPr>
          <a:xfrm>
            <a:off x="4996062" y="3417505"/>
            <a:ext cx="3133492" cy="1589694"/>
            <a:chOff x="3947905" y="3285583"/>
            <a:chExt cx="4768850" cy="2419350"/>
          </a:xfrm>
        </p:grpSpPr>
        <p:sp>
          <p:nvSpPr>
            <p:cNvPr id="65" name="AutoShape 20"/>
            <p:cNvSpPr>
              <a:spLocks noChangeArrowheads="1"/>
            </p:cNvSpPr>
            <p:nvPr/>
          </p:nvSpPr>
          <p:spPr bwMode="auto">
            <a:xfrm>
              <a:off x="5781468" y="3285583"/>
              <a:ext cx="1600200" cy="381000"/>
            </a:xfrm>
            <a:prstGeom prst="hexagon">
              <a:avLst>
                <a:gd name="adj" fmla="val 105000"/>
                <a:gd name="vf" fmla="val 115470"/>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a&lt;80</a:t>
              </a:r>
            </a:p>
          </p:txBody>
        </p:sp>
        <p:sp>
          <p:nvSpPr>
            <p:cNvPr id="66" name="Line 21"/>
            <p:cNvSpPr>
              <a:spLocks noChangeShapeType="1"/>
            </p:cNvSpPr>
            <p:nvPr/>
          </p:nvSpPr>
          <p:spPr bwMode="auto">
            <a:xfrm flipH="1">
              <a:off x="5700505" y="3666583"/>
              <a:ext cx="533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67" name="Line 22"/>
            <p:cNvSpPr>
              <a:spLocks noChangeShapeType="1"/>
            </p:cNvSpPr>
            <p:nvPr/>
          </p:nvSpPr>
          <p:spPr bwMode="auto">
            <a:xfrm>
              <a:off x="6767305" y="3666583"/>
              <a:ext cx="6096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68" name="AutoShape 23"/>
            <p:cNvSpPr>
              <a:spLocks noChangeArrowheads="1"/>
            </p:cNvSpPr>
            <p:nvPr/>
          </p:nvSpPr>
          <p:spPr bwMode="auto">
            <a:xfrm>
              <a:off x="4862305" y="3971383"/>
              <a:ext cx="1600200" cy="381000"/>
            </a:xfrm>
            <a:prstGeom prst="hexagon">
              <a:avLst>
                <a:gd name="adj" fmla="val 105000"/>
                <a:gd name="vf" fmla="val 115470"/>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a&lt;70</a:t>
              </a:r>
            </a:p>
          </p:txBody>
        </p:sp>
        <p:sp>
          <p:nvSpPr>
            <p:cNvPr id="69" name="Line 24"/>
            <p:cNvSpPr>
              <a:spLocks noChangeShapeType="1"/>
            </p:cNvSpPr>
            <p:nvPr/>
          </p:nvSpPr>
          <p:spPr bwMode="auto">
            <a:xfrm flipH="1">
              <a:off x="4938505" y="4352383"/>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0" name="Line 25"/>
            <p:cNvSpPr>
              <a:spLocks noChangeShapeType="1"/>
            </p:cNvSpPr>
            <p:nvPr/>
          </p:nvSpPr>
          <p:spPr bwMode="auto">
            <a:xfrm>
              <a:off x="6005305" y="4352383"/>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1" name="AutoShape 26"/>
            <p:cNvSpPr>
              <a:spLocks noChangeArrowheads="1"/>
            </p:cNvSpPr>
            <p:nvPr/>
          </p:nvSpPr>
          <p:spPr bwMode="auto">
            <a:xfrm>
              <a:off x="4100305" y="4657183"/>
              <a:ext cx="1600200" cy="381000"/>
            </a:xfrm>
            <a:prstGeom prst="hexagon">
              <a:avLst>
                <a:gd name="adj" fmla="val 105000"/>
                <a:gd name="vf" fmla="val 115470"/>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a:latin typeface="百度综艺简体" panose="02010601030101010101" pitchFamily="2" charset="-122"/>
                  <a:ea typeface="百度综艺简体" panose="02010601030101010101" pitchFamily="2" charset="-122"/>
                </a:rPr>
                <a:t>a&lt;60</a:t>
              </a:r>
            </a:p>
          </p:txBody>
        </p:sp>
        <p:sp>
          <p:nvSpPr>
            <p:cNvPr id="72" name="Rectangle 27"/>
            <p:cNvSpPr>
              <a:spLocks noChangeArrowheads="1"/>
            </p:cNvSpPr>
            <p:nvPr/>
          </p:nvSpPr>
          <p:spPr bwMode="auto">
            <a:xfrm>
              <a:off x="3947905" y="5323933"/>
              <a:ext cx="952500" cy="36195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600">
                  <a:latin typeface="百度综艺简体" panose="02010601030101010101" pitchFamily="2" charset="-122"/>
                  <a:ea typeface="百度综艺简体" panose="02010601030101010101" pitchFamily="2" charset="-122"/>
                </a:rPr>
                <a:t>不及格</a:t>
              </a:r>
            </a:p>
          </p:txBody>
        </p:sp>
        <p:sp>
          <p:nvSpPr>
            <p:cNvPr id="73" name="Rectangle 28"/>
            <p:cNvSpPr>
              <a:spLocks noChangeArrowheads="1"/>
            </p:cNvSpPr>
            <p:nvPr/>
          </p:nvSpPr>
          <p:spPr bwMode="auto">
            <a:xfrm>
              <a:off x="4938505" y="5323933"/>
              <a:ext cx="1114425" cy="3810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600">
                  <a:latin typeface="百度综艺简体" panose="02010601030101010101" pitchFamily="2" charset="-122"/>
                  <a:ea typeface="百度综艺简体" panose="02010601030101010101" pitchFamily="2" charset="-122"/>
                </a:rPr>
                <a:t>及格</a:t>
              </a:r>
            </a:p>
          </p:txBody>
        </p:sp>
        <p:sp>
          <p:nvSpPr>
            <p:cNvPr id="74" name="Rectangle 29"/>
            <p:cNvSpPr>
              <a:spLocks noChangeArrowheads="1"/>
            </p:cNvSpPr>
            <p:nvPr/>
          </p:nvSpPr>
          <p:spPr bwMode="auto">
            <a:xfrm>
              <a:off x="5981493" y="4677821"/>
              <a:ext cx="838200" cy="3810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600">
                  <a:latin typeface="百度综艺简体" panose="02010601030101010101" pitchFamily="2" charset="-122"/>
                  <a:ea typeface="百度综艺简体" panose="02010601030101010101" pitchFamily="2" charset="-122"/>
                </a:rPr>
                <a:t>中等</a:t>
              </a:r>
            </a:p>
          </p:txBody>
        </p:sp>
        <p:sp>
          <p:nvSpPr>
            <p:cNvPr id="75" name="Rectangle 30"/>
            <p:cNvSpPr>
              <a:spLocks noChangeArrowheads="1"/>
            </p:cNvSpPr>
            <p:nvPr/>
          </p:nvSpPr>
          <p:spPr bwMode="auto">
            <a:xfrm>
              <a:off x="6843505" y="4657183"/>
              <a:ext cx="865188" cy="3810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600">
                  <a:latin typeface="百度综艺简体" panose="02010601030101010101" pitchFamily="2" charset="-122"/>
                  <a:ea typeface="百度综艺简体" panose="02010601030101010101" pitchFamily="2" charset="-122"/>
                </a:rPr>
                <a:t>良好</a:t>
              </a:r>
            </a:p>
          </p:txBody>
        </p:sp>
        <p:sp>
          <p:nvSpPr>
            <p:cNvPr id="76" name="Rectangle 31"/>
            <p:cNvSpPr>
              <a:spLocks noChangeArrowheads="1"/>
            </p:cNvSpPr>
            <p:nvPr/>
          </p:nvSpPr>
          <p:spPr bwMode="auto">
            <a:xfrm>
              <a:off x="7757905" y="4657183"/>
              <a:ext cx="958850" cy="3810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600">
                  <a:latin typeface="百度综艺简体" panose="02010601030101010101" pitchFamily="2" charset="-122"/>
                  <a:ea typeface="百度综艺简体" panose="02010601030101010101" pitchFamily="2" charset="-122"/>
                </a:rPr>
                <a:t>优秀</a:t>
              </a:r>
            </a:p>
          </p:txBody>
        </p:sp>
        <p:sp>
          <p:nvSpPr>
            <p:cNvPr id="77" name="AutoShape 32"/>
            <p:cNvSpPr>
              <a:spLocks noChangeArrowheads="1"/>
            </p:cNvSpPr>
            <p:nvPr/>
          </p:nvSpPr>
          <p:spPr bwMode="auto">
            <a:xfrm>
              <a:off x="6995905" y="3971383"/>
              <a:ext cx="1600200" cy="381000"/>
            </a:xfrm>
            <a:prstGeom prst="hexagon">
              <a:avLst>
                <a:gd name="adj" fmla="val 105000"/>
                <a:gd name="vf" fmla="val 115470"/>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600" dirty="0">
                  <a:latin typeface="百度综艺简体" panose="02010601030101010101" pitchFamily="2" charset="-122"/>
                  <a:ea typeface="百度综艺简体" panose="02010601030101010101" pitchFamily="2" charset="-122"/>
                </a:rPr>
                <a:t>a&lt;90</a:t>
              </a:r>
            </a:p>
          </p:txBody>
        </p:sp>
        <p:sp>
          <p:nvSpPr>
            <p:cNvPr id="78" name="Line 33"/>
            <p:cNvSpPr>
              <a:spLocks noChangeShapeType="1"/>
            </p:cNvSpPr>
            <p:nvPr/>
          </p:nvSpPr>
          <p:spPr bwMode="auto">
            <a:xfrm flipH="1">
              <a:off x="7300705" y="4352383"/>
              <a:ext cx="2286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79" name="Line 34"/>
            <p:cNvSpPr>
              <a:spLocks noChangeShapeType="1"/>
            </p:cNvSpPr>
            <p:nvPr/>
          </p:nvSpPr>
          <p:spPr bwMode="auto">
            <a:xfrm>
              <a:off x="8062705" y="4352383"/>
              <a:ext cx="152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80" name="Line 35"/>
            <p:cNvSpPr>
              <a:spLocks noChangeShapeType="1"/>
            </p:cNvSpPr>
            <p:nvPr/>
          </p:nvSpPr>
          <p:spPr bwMode="auto">
            <a:xfrm flipH="1">
              <a:off x="4328905" y="5038183"/>
              <a:ext cx="2286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sp>
          <p:nvSpPr>
            <p:cNvPr id="81" name="Line 36"/>
            <p:cNvSpPr>
              <a:spLocks noChangeShapeType="1"/>
            </p:cNvSpPr>
            <p:nvPr/>
          </p:nvSpPr>
          <p:spPr bwMode="auto">
            <a:xfrm>
              <a:off x="5090905" y="5038183"/>
              <a:ext cx="152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百度综艺简体" panose="02010601030101010101" pitchFamily="2" charset="-122"/>
                <a:ea typeface="百度综艺简体" panose="02010601030101010101" pitchFamily="2" charset="-122"/>
              </a:endParaRPr>
            </a:p>
          </p:txBody>
        </p:sp>
      </p:grpSp>
    </p:spTree>
    <p:extLst>
      <p:ext uri="{BB962C8B-B14F-4D97-AF65-F5344CB8AC3E}">
        <p14:creationId xmlns:p14="http://schemas.microsoft.com/office/powerpoint/2010/main" val="3463990609"/>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1000"/>
                                        <p:tgtEl>
                                          <p:spTgt spid="18"/>
                                        </p:tgtEl>
                                      </p:cBhvr>
                                    </p:animEffect>
                                    <p:anim calcmode="lin" valueType="num">
                                      <p:cBhvr>
                                        <p:cTn id="36" dur="1000" fill="hold"/>
                                        <p:tgtEl>
                                          <p:spTgt spid="18"/>
                                        </p:tgtEl>
                                        <p:attrNameLst>
                                          <p:attrName>ppt_x</p:attrName>
                                        </p:attrNameLst>
                                      </p:cBhvr>
                                      <p:tavLst>
                                        <p:tav tm="0">
                                          <p:val>
                                            <p:strVal val="#ppt_x"/>
                                          </p:val>
                                        </p:tav>
                                        <p:tav tm="100000">
                                          <p:val>
                                            <p:strVal val="#ppt_x"/>
                                          </p:val>
                                        </p:tav>
                                      </p:tavLst>
                                    </p:anim>
                                    <p:anim calcmode="lin" valueType="num">
                                      <p:cBhvr>
                                        <p:cTn id="37" dur="1000" fill="hold"/>
                                        <p:tgtEl>
                                          <p:spTgt spid="18"/>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1000"/>
                                        <p:tgtEl>
                                          <p:spTgt spid="14"/>
                                        </p:tgtEl>
                                      </p:cBhvr>
                                    </p:animEffect>
                                    <p:anim calcmode="lin" valueType="num">
                                      <p:cBhvr>
                                        <p:cTn id="42" dur="1000" fill="hold"/>
                                        <p:tgtEl>
                                          <p:spTgt spid="14"/>
                                        </p:tgtEl>
                                        <p:attrNameLst>
                                          <p:attrName>ppt_x</p:attrName>
                                        </p:attrNameLst>
                                      </p:cBhvr>
                                      <p:tavLst>
                                        <p:tav tm="0">
                                          <p:val>
                                            <p:strVal val="#ppt_x"/>
                                          </p:val>
                                        </p:tav>
                                        <p:tav tm="100000">
                                          <p:val>
                                            <p:strVal val="#ppt_x"/>
                                          </p:val>
                                        </p:tav>
                                      </p:tavLst>
                                    </p:anim>
                                    <p:anim calcmode="lin" valueType="num">
                                      <p:cBhvr>
                                        <p:cTn id="4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18"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赫夫曼树及应用</a:t>
            </a:r>
            <a:endParaRPr lang="zh-CN" alt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sp>
        <p:nvSpPr>
          <p:cNvPr id="41" name="Text Placeholder 11"/>
          <p:cNvSpPr txBox="1"/>
          <p:nvPr/>
        </p:nvSpPr>
        <p:spPr>
          <a:xfrm>
            <a:off x="557287" y="986922"/>
            <a:ext cx="393729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2000" dirty="0">
                <a:latin typeface="百度综艺简体" panose="02010601030101010101" charset="-122"/>
                <a:ea typeface="百度综艺简体" panose="02010601030101010101" charset="-122"/>
                <a:sym typeface="Arial" panose="020B0604020202020204" pitchFamily="34" charset="0"/>
              </a:rPr>
              <a:t>二、如何构造</a:t>
            </a:r>
            <a:r>
              <a:rPr lang="en-US" altLang="zh-CN" sz="2000" dirty="0">
                <a:latin typeface="百度综艺简体" panose="02010601030101010101" charset="-122"/>
                <a:ea typeface="百度综艺简体" panose="02010601030101010101" charset="-122"/>
                <a:sym typeface="Arial" panose="020B0604020202020204" pitchFamily="34" charset="0"/>
              </a:rPr>
              <a:t>Huffman</a:t>
            </a:r>
            <a:r>
              <a:rPr lang="zh-CN" altLang="en-US" sz="2000" dirty="0">
                <a:latin typeface="百度综艺简体" panose="02010601030101010101" charset="-122"/>
                <a:ea typeface="百度综艺简体" panose="02010601030101010101" charset="-122"/>
                <a:sym typeface="Arial" panose="020B0604020202020204" pitchFamily="34" charset="0"/>
              </a:rPr>
              <a:t>树</a:t>
            </a: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TextBox 5"/>
          <p:cNvSpPr txBox="1">
            <a:spLocks noChangeArrowheads="1"/>
          </p:cNvSpPr>
          <p:nvPr/>
        </p:nvSpPr>
        <p:spPr bwMode="auto">
          <a:xfrm>
            <a:off x="234950" y="1803456"/>
            <a:ext cx="8789035" cy="3268074"/>
          </a:xfrm>
          <a:prstGeom prst="rect">
            <a:avLst/>
          </a:prstGeom>
          <a:noFill/>
          <a:ln w="9525">
            <a:noFill/>
            <a:miter lim="800000"/>
          </a:ln>
        </p:spPr>
        <p:txBody>
          <a:bodyPr wrap="square">
            <a:spAutoFit/>
          </a:bodyPr>
          <a:lstStyle/>
          <a:p>
            <a:pPr fontAlgn="auto">
              <a:lnSpc>
                <a:spcPct val="150000"/>
              </a:lnSpc>
            </a:pPr>
            <a:r>
              <a:rPr lang="zh-CN" altLang="en-US" sz="2000" dirty="0" smtClean="0">
                <a:latin typeface="百度综艺简体" panose="02010601030101010101" charset="-122"/>
                <a:ea typeface="百度综艺简体" panose="02010601030101010101" charset="-122"/>
              </a:rPr>
              <a:t>（</a:t>
            </a:r>
            <a:r>
              <a:rPr lang="en-US" altLang="zh-CN" sz="2000" dirty="0" smtClean="0">
                <a:latin typeface="百度综艺简体" panose="02010601030101010101" charset="-122"/>
                <a:ea typeface="百度综艺简体" panose="02010601030101010101" charset="-122"/>
              </a:rPr>
              <a:t>1</a:t>
            </a:r>
            <a:r>
              <a:rPr lang="zh-CN" altLang="en-US" sz="2000" dirty="0" smtClean="0">
                <a:latin typeface="百度综艺简体" panose="02010601030101010101" charset="-122"/>
                <a:ea typeface="百度综艺简体" panose="02010601030101010101" charset="-122"/>
              </a:rPr>
              <a:t>） 根据</a:t>
            </a:r>
            <a:r>
              <a:rPr lang="zh-CN" altLang="en-US" sz="2000" dirty="0">
                <a:latin typeface="百度综艺简体" panose="02010601030101010101" charset="-122"/>
                <a:ea typeface="百度综艺简体" panose="02010601030101010101" charset="-122"/>
              </a:rPr>
              <a:t>给定的</a:t>
            </a:r>
            <a:r>
              <a:rPr lang="en-US" altLang="zh-CN" sz="2000" dirty="0">
                <a:latin typeface="百度综艺简体" panose="02010601030101010101" charset="-122"/>
                <a:ea typeface="百度综艺简体" panose="02010601030101010101" charset="-122"/>
              </a:rPr>
              <a:t>n</a:t>
            </a:r>
            <a:r>
              <a:rPr lang="zh-CN" altLang="en-US" sz="2000" dirty="0">
                <a:latin typeface="百度综艺简体" panose="02010601030101010101" charset="-122"/>
                <a:ea typeface="百度综艺简体" panose="02010601030101010101" charset="-122"/>
              </a:rPr>
              <a:t>个权值</a:t>
            </a:r>
            <a:r>
              <a:rPr lang="en-US" altLang="zh-CN" sz="2000" dirty="0">
                <a:latin typeface="百度综艺简体" panose="02010601030101010101" charset="-122"/>
                <a:ea typeface="百度综艺简体" panose="02010601030101010101" charset="-122"/>
              </a:rPr>
              <a:t>{w1,w2,…,</a:t>
            </a:r>
            <a:r>
              <a:rPr lang="en-US" altLang="zh-CN" sz="2000" dirty="0" err="1">
                <a:latin typeface="百度综艺简体" panose="02010601030101010101" charset="-122"/>
                <a:ea typeface="百度综艺简体" panose="02010601030101010101" charset="-122"/>
              </a:rPr>
              <a:t>wn</a:t>
            </a:r>
            <a:r>
              <a:rPr lang="en-US" altLang="zh-CN" sz="2000" dirty="0">
                <a:latin typeface="百度综艺简体" panose="02010601030101010101" charset="-122"/>
                <a:ea typeface="百度综艺简体" panose="02010601030101010101" charset="-122"/>
              </a:rPr>
              <a:t>}</a:t>
            </a:r>
            <a:r>
              <a:rPr lang="zh-CN" altLang="en-US" sz="2000" dirty="0">
                <a:latin typeface="百度综艺简体" panose="02010601030101010101" charset="-122"/>
                <a:ea typeface="百度综艺简体" panose="02010601030101010101" charset="-122"/>
              </a:rPr>
              <a:t>构成</a:t>
            </a:r>
            <a:r>
              <a:rPr lang="en-US" altLang="zh-CN" sz="2000" dirty="0">
                <a:latin typeface="百度综艺简体" panose="02010601030101010101" charset="-122"/>
                <a:ea typeface="百度综艺简体" panose="02010601030101010101" charset="-122"/>
              </a:rPr>
              <a:t>n</a:t>
            </a:r>
            <a:r>
              <a:rPr lang="zh-CN" altLang="en-US" sz="2000" dirty="0">
                <a:latin typeface="百度综艺简体" panose="02010601030101010101" charset="-122"/>
                <a:ea typeface="百度综艺简体" panose="02010601030101010101" charset="-122"/>
              </a:rPr>
              <a:t>棵二叉树的</a:t>
            </a:r>
            <a:r>
              <a:rPr lang="zh-CN" altLang="en-US" sz="2000" dirty="0" smtClean="0">
                <a:latin typeface="百度综艺简体" panose="02010601030101010101" charset="-122"/>
                <a:ea typeface="百度综艺简体" panose="02010601030101010101" charset="-122"/>
              </a:rPr>
              <a:t>集合</a:t>
            </a:r>
            <a:r>
              <a:rPr lang="en-US" altLang="zh-CN" sz="2000" dirty="0" smtClean="0">
                <a:latin typeface="百度综艺简体" panose="02010601030101010101" charset="-122"/>
                <a:ea typeface="百度综艺简体" panose="02010601030101010101" charset="-122"/>
              </a:rPr>
              <a:t>F</a:t>
            </a:r>
            <a:r>
              <a:rPr lang="en-US" altLang="zh-CN" sz="2000" dirty="0">
                <a:latin typeface="百度综艺简体" panose="02010601030101010101" charset="-122"/>
                <a:ea typeface="百度综艺简体" panose="02010601030101010101" charset="-122"/>
              </a:rPr>
              <a:t>={T1,T2,…,Tn}</a:t>
            </a:r>
            <a:r>
              <a:rPr lang="zh-CN" altLang="en-US" sz="2000" dirty="0">
                <a:latin typeface="百度综艺简体" panose="02010601030101010101" charset="-122"/>
                <a:ea typeface="百度综艺简体" panose="02010601030101010101" charset="-122"/>
              </a:rPr>
              <a:t>，其中每棵二叉树</a:t>
            </a:r>
            <a:r>
              <a:rPr lang="en-US" altLang="zh-CN" sz="2000" dirty="0">
                <a:latin typeface="百度综艺简体" panose="02010601030101010101" charset="-122"/>
                <a:ea typeface="百度综艺简体" panose="02010601030101010101" charset="-122"/>
              </a:rPr>
              <a:t>Ti</a:t>
            </a:r>
            <a:r>
              <a:rPr lang="zh-CN" altLang="en-US" sz="2000" dirty="0">
                <a:latin typeface="百度综艺简体" panose="02010601030101010101" charset="-122"/>
                <a:ea typeface="百度综艺简体" panose="02010601030101010101" charset="-122"/>
              </a:rPr>
              <a:t>中只有一个带权为</a:t>
            </a:r>
            <a:r>
              <a:rPr lang="en-US" altLang="zh-CN" sz="2000" dirty="0">
                <a:latin typeface="百度综艺简体" panose="02010601030101010101" charset="-122"/>
                <a:ea typeface="百度综艺简体" panose="02010601030101010101" charset="-122"/>
              </a:rPr>
              <a:t>Wi</a:t>
            </a:r>
            <a:r>
              <a:rPr lang="zh-CN" altLang="en-US" sz="2000" dirty="0">
                <a:latin typeface="百度综艺简体" panose="02010601030101010101" charset="-122"/>
                <a:ea typeface="百度综艺简体" panose="02010601030101010101" charset="-122"/>
              </a:rPr>
              <a:t>的根结点，其左右子树均空；</a:t>
            </a:r>
          </a:p>
          <a:p>
            <a:pPr fontAlgn="auto">
              <a:lnSpc>
                <a:spcPct val="150000"/>
              </a:lnSpc>
            </a:pPr>
            <a:r>
              <a:rPr lang="zh-CN" altLang="en-US" sz="2000" dirty="0" smtClean="0">
                <a:latin typeface="百度综艺简体" panose="02010601030101010101" charset="-122"/>
                <a:ea typeface="百度综艺简体" panose="02010601030101010101" charset="-122"/>
              </a:rPr>
              <a:t>（</a:t>
            </a:r>
            <a:r>
              <a:rPr lang="en-US" altLang="zh-CN" sz="2000" dirty="0" smtClean="0">
                <a:latin typeface="百度综艺简体" panose="02010601030101010101" charset="-122"/>
                <a:ea typeface="百度综艺简体" panose="02010601030101010101" charset="-122"/>
              </a:rPr>
              <a:t>2</a:t>
            </a:r>
            <a:r>
              <a:rPr lang="zh-CN" altLang="en-US" sz="2000" dirty="0" smtClean="0">
                <a:latin typeface="百度综艺简体" panose="02010601030101010101" charset="-122"/>
                <a:ea typeface="百度综艺简体" panose="02010601030101010101" charset="-122"/>
              </a:rPr>
              <a:t>）在</a:t>
            </a:r>
            <a:r>
              <a:rPr lang="en-US" altLang="zh-CN" sz="2000" dirty="0">
                <a:latin typeface="百度综艺简体" panose="02010601030101010101" charset="-122"/>
                <a:ea typeface="百度综艺简体" panose="02010601030101010101" charset="-122"/>
              </a:rPr>
              <a:t>F</a:t>
            </a:r>
            <a:r>
              <a:rPr lang="zh-CN" altLang="en-US" sz="2000" dirty="0">
                <a:latin typeface="百度综艺简体" panose="02010601030101010101" charset="-122"/>
                <a:ea typeface="百度综艺简体" panose="02010601030101010101" charset="-122"/>
              </a:rPr>
              <a:t>中选取两棵根结点的权值最小的树作为左、右子树构造一棵新的二叉树，且置新的二叉树的根结点的权值为其左、右子树上根结点的权值之和；</a:t>
            </a:r>
          </a:p>
          <a:p>
            <a:pPr fontAlgn="auto">
              <a:lnSpc>
                <a:spcPct val="150000"/>
              </a:lnSpc>
            </a:pPr>
            <a:r>
              <a:rPr lang="zh-CN" altLang="en-US" sz="2000" dirty="0" smtClean="0">
                <a:latin typeface="百度综艺简体" panose="02010601030101010101" charset="-122"/>
                <a:ea typeface="百度综艺简体" panose="02010601030101010101" charset="-122"/>
              </a:rPr>
              <a:t>（</a:t>
            </a:r>
            <a:r>
              <a:rPr lang="en-US" altLang="zh-CN" sz="2000" dirty="0" smtClean="0">
                <a:latin typeface="百度综艺简体" panose="02010601030101010101" charset="-122"/>
                <a:ea typeface="百度综艺简体" panose="02010601030101010101" charset="-122"/>
              </a:rPr>
              <a:t>3</a:t>
            </a:r>
            <a:r>
              <a:rPr lang="zh-CN" altLang="en-US" sz="2000" dirty="0" smtClean="0">
                <a:latin typeface="百度综艺简体" panose="02010601030101010101" charset="-122"/>
                <a:ea typeface="百度综艺简体" panose="02010601030101010101" charset="-122"/>
              </a:rPr>
              <a:t>）在</a:t>
            </a:r>
            <a:r>
              <a:rPr lang="en-US" altLang="zh-CN" sz="2000" dirty="0">
                <a:latin typeface="百度综艺简体" panose="02010601030101010101" charset="-122"/>
                <a:ea typeface="百度综艺简体" panose="02010601030101010101" charset="-122"/>
              </a:rPr>
              <a:t>F</a:t>
            </a:r>
            <a:r>
              <a:rPr lang="zh-CN" altLang="en-US" sz="2000" dirty="0">
                <a:latin typeface="百度综艺简体" panose="02010601030101010101" charset="-122"/>
                <a:ea typeface="百度综艺简体" panose="02010601030101010101" charset="-122"/>
              </a:rPr>
              <a:t>中删除这两棵树，同时将新得到的二叉树加入</a:t>
            </a:r>
            <a:r>
              <a:rPr lang="en-US" altLang="zh-CN" sz="2000" dirty="0">
                <a:latin typeface="百度综艺简体" panose="02010601030101010101" charset="-122"/>
                <a:ea typeface="百度综艺简体" panose="02010601030101010101" charset="-122"/>
              </a:rPr>
              <a:t>F</a:t>
            </a:r>
            <a:r>
              <a:rPr lang="zh-CN" altLang="en-US" sz="2000" dirty="0">
                <a:latin typeface="百度综艺简体" panose="02010601030101010101" charset="-122"/>
                <a:ea typeface="百度综艺简体" panose="02010601030101010101" charset="-122"/>
              </a:rPr>
              <a:t>中；</a:t>
            </a:r>
          </a:p>
          <a:p>
            <a:pPr fontAlgn="auto">
              <a:lnSpc>
                <a:spcPct val="150000"/>
              </a:lnSpc>
            </a:pPr>
            <a:r>
              <a:rPr lang="zh-CN" altLang="en-US" sz="2000" dirty="0" smtClean="0">
                <a:latin typeface="百度综艺简体" panose="02010601030101010101" charset="-122"/>
                <a:ea typeface="百度综艺简体" panose="02010601030101010101" charset="-122"/>
              </a:rPr>
              <a:t>（</a:t>
            </a:r>
            <a:r>
              <a:rPr lang="en-US" altLang="zh-CN" sz="2000" dirty="0" smtClean="0">
                <a:latin typeface="百度综艺简体" panose="02010601030101010101" charset="-122"/>
                <a:ea typeface="百度综艺简体" panose="02010601030101010101" charset="-122"/>
              </a:rPr>
              <a:t>4</a:t>
            </a:r>
            <a:r>
              <a:rPr lang="zh-CN" altLang="en-US" sz="2000" dirty="0" smtClean="0">
                <a:latin typeface="百度综艺简体" panose="02010601030101010101" charset="-122"/>
                <a:ea typeface="百度综艺简体" panose="02010601030101010101" charset="-122"/>
              </a:rPr>
              <a:t>）重复</a:t>
            </a:r>
            <a:r>
              <a:rPr lang="zh-CN" altLang="en-US" sz="2000" dirty="0">
                <a:latin typeface="百度综艺简体" panose="02010601030101010101" charset="-122"/>
                <a:ea typeface="百度综艺简体" panose="02010601030101010101" charset="-122"/>
              </a:rPr>
              <a:t>⑵和 ⑶，直到</a:t>
            </a:r>
            <a:r>
              <a:rPr lang="en-US" altLang="zh-CN" sz="2000" dirty="0">
                <a:latin typeface="百度综艺简体" panose="02010601030101010101" charset="-122"/>
                <a:ea typeface="百度综艺简体" panose="02010601030101010101" charset="-122"/>
              </a:rPr>
              <a:t>F</a:t>
            </a:r>
            <a:r>
              <a:rPr lang="zh-CN" altLang="en-US" sz="2000" dirty="0">
                <a:latin typeface="百度综艺简体" panose="02010601030101010101" charset="-122"/>
                <a:ea typeface="百度综艺简体" panose="02010601030101010101" charset="-122"/>
              </a:rPr>
              <a:t>只含一棵树为止。这棵树便是赫夫曼树。</a:t>
            </a:r>
          </a:p>
        </p:txBody>
      </p:sp>
      <p:sp>
        <p:nvSpPr>
          <p:cNvPr id="29" name="Text Placeholder 11"/>
          <p:cNvSpPr txBox="1"/>
          <p:nvPr/>
        </p:nvSpPr>
        <p:spPr>
          <a:xfrm>
            <a:off x="1099953" y="1405958"/>
            <a:ext cx="4779787"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1"/>
                </a:solidFill>
                <a:latin typeface="百度综艺简体" panose="02010601030101010101" charset="-122"/>
                <a:ea typeface="百度综艺简体" panose="02010601030101010101" charset="-122"/>
                <a:sym typeface="Arial" panose="020B0604020202020204" pitchFamily="34" charset="0"/>
              </a:rPr>
              <a:t>赫夫曼树</a:t>
            </a:r>
          </a:p>
        </p:txBody>
      </p:sp>
    </p:spTree>
    <p:extLst>
      <p:ext uri="{BB962C8B-B14F-4D97-AF65-F5344CB8AC3E}">
        <p14:creationId xmlns:p14="http://schemas.microsoft.com/office/powerpoint/2010/main" val="1177572783"/>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1000"/>
                                        <p:tgtEl>
                                          <p:spTgt spid="41"/>
                                        </p:tgtEl>
                                      </p:cBhvr>
                                    </p:animEffect>
                                    <p:anim calcmode="lin" valueType="num">
                                      <p:cBhvr>
                                        <p:cTn id="36" dur="1000" fill="hold"/>
                                        <p:tgtEl>
                                          <p:spTgt spid="41"/>
                                        </p:tgtEl>
                                        <p:attrNameLst>
                                          <p:attrName>ppt_x</p:attrName>
                                        </p:attrNameLst>
                                      </p:cBhvr>
                                      <p:tavLst>
                                        <p:tav tm="0">
                                          <p:val>
                                            <p:strVal val="#ppt_x"/>
                                          </p:val>
                                        </p:tav>
                                        <p:tav tm="100000">
                                          <p:val>
                                            <p:strVal val="#ppt_x"/>
                                          </p:val>
                                        </p:tav>
                                      </p:tavLst>
                                    </p:anim>
                                    <p:anim calcmode="lin" valueType="num">
                                      <p:cBhvr>
                                        <p:cTn id="37" dur="1000" fill="hold"/>
                                        <p:tgtEl>
                                          <p:spTgt spid="41"/>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1000"/>
                                        <p:tgtEl>
                                          <p:spTgt spid="24"/>
                                        </p:tgtEl>
                                      </p:cBhvr>
                                    </p:animEffect>
                                    <p:anim calcmode="lin" valueType="num">
                                      <p:cBhvr>
                                        <p:cTn id="42" dur="1000" fill="hold"/>
                                        <p:tgtEl>
                                          <p:spTgt spid="24"/>
                                        </p:tgtEl>
                                        <p:attrNameLst>
                                          <p:attrName>ppt_x</p:attrName>
                                        </p:attrNameLst>
                                      </p:cBhvr>
                                      <p:tavLst>
                                        <p:tav tm="0">
                                          <p:val>
                                            <p:strVal val="#ppt_x"/>
                                          </p:val>
                                        </p:tav>
                                        <p:tav tm="100000">
                                          <p:val>
                                            <p:strVal val="#ppt_x"/>
                                          </p:val>
                                        </p:tav>
                                      </p:tavLst>
                                    </p:anim>
                                    <p:anim calcmode="lin" valueType="num">
                                      <p:cBhvr>
                                        <p:cTn id="43" dur="1000" fill="hold"/>
                                        <p:tgtEl>
                                          <p:spTgt spid="24"/>
                                        </p:tgtEl>
                                        <p:attrNameLst>
                                          <p:attrName>ppt_y</p:attrName>
                                        </p:attrNameLst>
                                      </p:cBhvr>
                                      <p:tavLst>
                                        <p:tav tm="0">
                                          <p:val>
                                            <p:strVal val="#ppt_y+.1"/>
                                          </p:val>
                                        </p:tav>
                                        <p:tav tm="100000">
                                          <p:val>
                                            <p:strVal val="#ppt_y"/>
                                          </p:val>
                                        </p:tav>
                                      </p:tavLst>
                                    </p:anim>
                                  </p:childTnLst>
                                </p:cTn>
                              </p:par>
                            </p:childTnLst>
                          </p:cTn>
                        </p:par>
                        <p:par>
                          <p:cTn id="44" fill="hold">
                            <p:stCondLst>
                              <p:cond delay="5250"/>
                            </p:stCondLst>
                            <p:childTnLst>
                              <p:par>
                                <p:cTn id="45" presetID="42" presetClass="entr" presetSubtype="0"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1000"/>
                                        <p:tgtEl>
                                          <p:spTgt spid="29"/>
                                        </p:tgtEl>
                                      </p:cBhvr>
                                    </p:animEffect>
                                    <p:anim calcmode="lin" valueType="num">
                                      <p:cBhvr>
                                        <p:cTn id="48" dur="1000" fill="hold"/>
                                        <p:tgtEl>
                                          <p:spTgt spid="29"/>
                                        </p:tgtEl>
                                        <p:attrNameLst>
                                          <p:attrName>ppt_x</p:attrName>
                                        </p:attrNameLst>
                                      </p:cBhvr>
                                      <p:tavLst>
                                        <p:tav tm="0">
                                          <p:val>
                                            <p:strVal val="#ppt_x"/>
                                          </p:val>
                                        </p:tav>
                                        <p:tav tm="100000">
                                          <p:val>
                                            <p:strVal val="#ppt_x"/>
                                          </p:val>
                                        </p:tav>
                                      </p:tavLst>
                                    </p:anim>
                                    <p:anim calcmode="lin" valueType="num">
                                      <p:cBhvr>
                                        <p:cTn id="4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41" grpId="0"/>
      <p:bldP spid="24" grpId="0"/>
      <p:bldP spid="2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赫夫曼树及应用</a:t>
            </a:r>
            <a:endParaRPr lang="zh-CN" alt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sp>
        <p:nvSpPr>
          <p:cNvPr id="41" name="Text Placeholder 11"/>
          <p:cNvSpPr txBox="1"/>
          <p:nvPr/>
        </p:nvSpPr>
        <p:spPr>
          <a:xfrm>
            <a:off x="1053453" y="998339"/>
            <a:ext cx="4779787"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1"/>
                </a:solidFill>
                <a:latin typeface="百度综艺简体" panose="02010601030101010101" charset="-122"/>
                <a:ea typeface="百度综艺简体" panose="02010601030101010101" charset="-122"/>
                <a:sym typeface="Arial" panose="020B0604020202020204" pitchFamily="34" charset="0"/>
              </a:rPr>
              <a:t>赫夫曼树的构造过程</a:t>
            </a: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7" name="Picture 2"/>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0" b="99357" l="0" r="100000"/>
                    </a14:imgEffect>
                  </a14:imgLayer>
                </a14:imgProps>
              </a:ext>
              <a:ext uri="{28A0092B-C50C-407E-A947-70E740481C1C}">
                <a14:useLocalDpi xmlns:a14="http://schemas.microsoft.com/office/drawing/2010/main" val="0"/>
              </a:ext>
            </a:extLst>
          </a:blip>
          <a:srcRect/>
          <a:stretch>
            <a:fillRect/>
          </a:stretch>
        </p:blipFill>
        <p:spPr bwMode="auto">
          <a:xfrm>
            <a:off x="828620" y="1605640"/>
            <a:ext cx="7834672" cy="2116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7288" y="1885568"/>
            <a:ext cx="7913676" cy="2322621"/>
          </a:xfrm>
          <a:prstGeom prst="rect">
            <a:avLst/>
          </a:prstGeom>
          <a:ln w="57150" cap="sq">
            <a:solidFill>
              <a:srgbClr val="2A5BA8"/>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3777135"/>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1000"/>
                                        <p:tgtEl>
                                          <p:spTgt spid="41"/>
                                        </p:tgtEl>
                                      </p:cBhvr>
                                    </p:animEffect>
                                    <p:anim calcmode="lin" valueType="num">
                                      <p:cBhvr>
                                        <p:cTn id="36" dur="1000" fill="hold"/>
                                        <p:tgtEl>
                                          <p:spTgt spid="41"/>
                                        </p:tgtEl>
                                        <p:attrNameLst>
                                          <p:attrName>ppt_x</p:attrName>
                                        </p:attrNameLst>
                                      </p:cBhvr>
                                      <p:tavLst>
                                        <p:tav tm="0">
                                          <p:val>
                                            <p:strVal val="#ppt_x"/>
                                          </p:val>
                                        </p:tav>
                                        <p:tav tm="100000">
                                          <p:val>
                                            <p:strVal val="#ppt_x"/>
                                          </p:val>
                                        </p:tav>
                                      </p:tavLst>
                                    </p:anim>
                                    <p:anim calcmode="lin" valueType="num">
                                      <p:cBhvr>
                                        <p:cTn id="37"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41" grpId="0"/>
    </p:bldLst>
  </p:timing>
</p:sld>
</file>

<file path=ppt/theme/theme1.xml><?xml version="1.0" encoding="utf-8"?>
<a:theme xmlns:a="http://schemas.openxmlformats.org/drawingml/2006/main" name="Office 主题​​">
  <a:themeElements>
    <a:clrScheme name="自定义 647">
      <a:dk1>
        <a:sysClr val="windowText" lastClr="000000"/>
      </a:dk1>
      <a:lt1>
        <a:sysClr val="window" lastClr="FFFFFF"/>
      </a:lt1>
      <a:dk2>
        <a:srgbClr val="44546A"/>
      </a:dk2>
      <a:lt2>
        <a:srgbClr val="E7E6E6"/>
      </a:lt2>
      <a:accent1>
        <a:srgbClr val="2A5BA8"/>
      </a:accent1>
      <a:accent2>
        <a:srgbClr val="48AC92"/>
      </a:accent2>
      <a:accent3>
        <a:srgbClr val="2A5BA8"/>
      </a:accent3>
      <a:accent4>
        <a:srgbClr val="48AC92"/>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701</TotalTime>
  <Words>986</Words>
  <Application>Microsoft Office PowerPoint</Application>
  <PresentationFormat>自定义</PresentationFormat>
  <Paragraphs>170</Paragraphs>
  <Slides>14</Slides>
  <Notes>13</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14</vt:i4>
      </vt:variant>
    </vt:vector>
  </HeadingPairs>
  <TitlesOfParts>
    <vt:vector size="29" baseType="lpstr">
      <vt:lpstr>Lato Light</vt:lpstr>
      <vt:lpstr>百度综艺简体</vt:lpstr>
      <vt:lpstr>等线</vt:lpstr>
      <vt:lpstr>等线 Light</vt:lpstr>
      <vt:lpstr>华文中宋</vt:lpstr>
      <vt:lpstr>楷体_GB2312</vt:lpstr>
      <vt:lpstr>宋体</vt:lpstr>
      <vt:lpstr>微软雅黑</vt:lpstr>
      <vt:lpstr>Arial</vt:lpstr>
      <vt:lpstr>Calibri</vt:lpstr>
      <vt:lpstr>Calibri Light</vt:lpstr>
      <vt:lpstr>Symbol</vt:lpstr>
      <vt:lpstr>Tahoma</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Neusoft</cp:lastModifiedBy>
  <cp:revision>61</cp:revision>
  <dcterms:created xsi:type="dcterms:W3CDTF">2017-06-21T11:46:00Z</dcterms:created>
  <dcterms:modified xsi:type="dcterms:W3CDTF">2023-10-19T23:58:10Z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2052-11.1.0.9098</vt:lpwstr>
  </property>
</Properties>
</file>