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84" r:id="rId2"/>
    <p:sldId id="315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5" r:id="rId11"/>
    <p:sldId id="326" r:id="rId12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5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2" autoAdjust="0"/>
    <p:restoredTop sz="94660"/>
  </p:normalViewPr>
  <p:slideViewPr>
    <p:cSldViewPr snapToGrid="0">
      <p:cViewPr varScale="1">
        <p:scale>
          <a:sx n="96" d="100"/>
          <a:sy n="96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31844-757F-4497-A6B9-29138D45B0D0}" type="datetimeFigureOut">
              <a:rPr lang="zh-CN" altLang="en-US" smtClean="0"/>
              <a:t>2020/7/8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ABFAC-0D77-4680-9C08-FA0DD250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085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012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184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7571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3006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6358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6074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795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2705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57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9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54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032"/>
            <a:ext cx="6858000" cy="179125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2363"/>
            <a:ext cx="6858000" cy="124220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4021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3160"/>
            <a:ext cx="7886700" cy="112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929"/>
            <a:ext cx="7886700" cy="9944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1261"/>
            <a:ext cx="3868340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9386"/>
            <a:ext cx="3868340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1261"/>
            <a:ext cx="3887391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386"/>
            <a:ext cx="3887391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800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800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800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798"/>
            <a:ext cx="4629150" cy="36563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798"/>
            <a:ext cx="4629150" cy="365634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928"/>
            <a:ext cx="1971675" cy="43602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928"/>
            <a:ext cx="5800725" cy="436022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ABEBE-EF13-4983-B182-046B37A0370C}" type="datetime1">
              <a:rPr lang="zh-CN" altLang="en-US"/>
              <a:t>2020/7/8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145E6F-D1B7-49E0-9AB3-789D9698C190}" type="slidenum">
              <a:rPr lang="zh-CN" altLang="en-US"/>
              <a:t>‹#›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143000" y="374188"/>
            <a:ext cx="6858000" cy="523279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143000" y="918257"/>
            <a:ext cx="6858000" cy="280749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28650" y="1503977"/>
            <a:ext cx="3942159" cy="353809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28650" y="1869220"/>
            <a:ext cx="3942159" cy="1320052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629841" y="3288332"/>
            <a:ext cx="3940969" cy="370398"/>
          </a:xfrm>
        </p:spPr>
        <p:txBody>
          <a:bodyPr>
            <a:normAutofit/>
          </a:bodyPr>
          <a:lstStyle>
            <a:lvl1pPr marL="0" indent="0">
              <a:buNone/>
              <a:defRPr sz="1200" b="1" i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6"/>
          </p:nvPr>
        </p:nvSpPr>
        <p:spPr>
          <a:xfrm>
            <a:off x="629841" y="3658730"/>
            <a:ext cx="3940969" cy="370399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629841" y="4029128"/>
            <a:ext cx="3942159" cy="270355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722F6D6F-DD99-46DF-A9EA-728D63EA6A31}" type="datetimeFigureOut">
              <a:rPr lang="en-AU" smtClean="0"/>
              <a:t>8/07/2020</a:t>
            </a:fld>
            <a:endParaRPr lang="en-AU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8735"/>
            <a:ext cx="30861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84AD2E7E-F7BA-4F6B-9D0C-0B2331C2AE06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8"/>
          </p:nvPr>
        </p:nvSpPr>
        <p:spPr>
          <a:xfrm>
            <a:off x="5112544" y="1504225"/>
            <a:ext cx="3251597" cy="3537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endParaRPr lang="en-AU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/>
          </p:nvPr>
        </p:nvSpPr>
        <p:spPr>
          <a:xfrm>
            <a:off x="5112544" y="1868668"/>
            <a:ext cx="3251597" cy="703876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642"/>
            <a:ext cx="7886700" cy="326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0A747-1217-4325-A876-522190C71555}" type="datetimeFigureOut">
              <a:rPr lang="zh-CN" altLang="en-US" smtClean="0"/>
              <a:t>2020/7/8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8735"/>
            <a:ext cx="30861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二叉树的遍历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 Box 2">
            <a:hlinkClick r:id="" action="ppaction://hlinkshowjump?jump=nextslide" highlightClick="1"/>
          </p:cNvPr>
          <p:cNvSpPr txBox="1">
            <a:spLocks noChangeArrowheads="1"/>
          </p:cNvSpPr>
          <p:nvPr/>
        </p:nvSpPr>
        <p:spPr bwMode="auto">
          <a:xfrm>
            <a:off x="2446962" y="1729841"/>
            <a:ext cx="18004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一、问题的提出</a:t>
            </a:r>
          </a:p>
        </p:txBody>
      </p:sp>
      <p:sp>
        <p:nvSpPr>
          <p:cNvPr id="18" name="Text Box 3">
            <a:hlinkClick r:id="" action="ppaction://noaction" highlightClick="1"/>
          </p:cNvPr>
          <p:cNvSpPr txBox="1">
            <a:spLocks noChangeArrowheads="1"/>
          </p:cNvSpPr>
          <p:nvPr/>
        </p:nvSpPr>
        <p:spPr bwMode="auto">
          <a:xfrm>
            <a:off x="2464425" y="2644241"/>
            <a:ext cx="27238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FFFFFF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二、先左后右的遍历算法</a:t>
            </a:r>
          </a:p>
        </p:txBody>
      </p:sp>
      <p:sp>
        <p:nvSpPr>
          <p:cNvPr id="20" name="Text Box 4">
            <a:hlinkClick r:id="" action="ppaction://noaction"/>
          </p:cNvPr>
          <p:cNvSpPr txBox="1">
            <a:spLocks noChangeArrowheads="1"/>
          </p:cNvSpPr>
          <p:nvPr/>
        </p:nvSpPr>
        <p:spPr bwMode="auto">
          <a:xfrm>
            <a:off x="2446962" y="3634841"/>
            <a:ext cx="226215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三、算法的递归描述</a:t>
            </a:r>
          </a:p>
        </p:txBody>
      </p:sp>
      <p:sp>
        <p:nvSpPr>
          <p:cNvPr id="23" name="Text Placeholder 11"/>
          <p:cNvSpPr txBox="1"/>
          <p:nvPr/>
        </p:nvSpPr>
        <p:spPr>
          <a:xfrm>
            <a:off x="1053454" y="998339"/>
            <a:ext cx="39372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二叉树的遍历</a:t>
            </a:r>
          </a:p>
        </p:txBody>
      </p:sp>
    </p:spTree>
    <p:extLst>
      <p:ext uri="{BB962C8B-B14F-4D97-AF65-F5344CB8AC3E}">
        <p14:creationId xmlns:p14="http://schemas.microsoft.com/office/powerpoint/2010/main" val="350231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4" grpId="0" autoUpdateAnimBg="0"/>
      <p:bldP spid="18" grpId="0" autoUpdateAnimBg="0"/>
      <p:bldP spid="20" grpId="0" autoUpdateAnimBg="0"/>
      <p:bldP spid="2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二叉树的遍历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 Box 2">
            <a:hlinkClick r:id="" action="ppaction://hlinkshowjump?jump=nextslide" highlightClick="1"/>
          </p:cNvPr>
          <p:cNvSpPr txBox="1">
            <a:spLocks noChangeArrowheads="1"/>
          </p:cNvSpPr>
          <p:nvPr/>
        </p:nvSpPr>
        <p:spPr bwMode="auto">
          <a:xfrm>
            <a:off x="828620" y="1103604"/>
            <a:ext cx="1980029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一、问题的提出</a:t>
            </a:r>
          </a:p>
        </p:txBody>
      </p:sp>
      <p:sp>
        <p:nvSpPr>
          <p:cNvPr id="17" name="Text Box 2"/>
          <p:cNvSpPr txBox="1">
            <a:spLocks noChangeArrowheads="1"/>
          </p:cNvSpPr>
          <p:nvPr/>
        </p:nvSpPr>
        <p:spPr bwMode="auto">
          <a:xfrm>
            <a:off x="1099952" y="1676400"/>
            <a:ext cx="6533747" cy="878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800" dirty="0">
                <a:ea typeface="楷体_GB2312" pitchFamily="49" charset="-122"/>
              </a:rPr>
              <a:t>        </a:t>
            </a:r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顺着某一条搜索路径巡访</a:t>
            </a:r>
            <a:r>
              <a:rPr lang="zh-CN" altLang="en-US" sz="1800" dirty="0" smtClean="0">
                <a:latin typeface="百度综艺简体" panose="02010601030101010101" charset="-122"/>
                <a:ea typeface="百度综艺简体" panose="02010601030101010101" charset="-122"/>
              </a:rPr>
              <a:t>二叉树中</a:t>
            </a:r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的结点，使得每个结点均被访问</a:t>
            </a:r>
            <a:r>
              <a:rPr lang="zh-CN" altLang="en-US" sz="1800" dirty="0" smtClean="0">
                <a:latin typeface="百度综艺简体" panose="02010601030101010101" charset="-122"/>
                <a:ea typeface="百度综艺简体" panose="02010601030101010101" charset="-122"/>
              </a:rPr>
              <a:t>一次</a:t>
            </a:r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，而且仅被访问一次。</a:t>
            </a:r>
          </a:p>
        </p:txBody>
      </p:sp>
      <p:sp>
        <p:nvSpPr>
          <p:cNvPr id="24" name="Text Box 4"/>
          <p:cNvSpPr txBox="1">
            <a:spLocks noChangeArrowheads="1"/>
          </p:cNvSpPr>
          <p:nvPr/>
        </p:nvSpPr>
        <p:spPr bwMode="auto">
          <a:xfrm>
            <a:off x="1099952" y="2887304"/>
            <a:ext cx="647684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800" dirty="0">
                <a:ea typeface="楷体_GB2312" pitchFamily="49" charset="-122"/>
              </a:rPr>
              <a:t>        </a:t>
            </a:r>
            <a:r>
              <a:rPr lang="en-US" altLang="zh-CN" sz="1800" dirty="0">
                <a:latin typeface="百度综艺简体" panose="02010601030101010101" charset="-122"/>
                <a:ea typeface="百度综艺简体" panose="02010601030101010101" charset="-122"/>
              </a:rPr>
              <a:t>“</a:t>
            </a:r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访问”的含义可以很广，可以对结点作各种处理，如：输出结点的信息等</a:t>
            </a:r>
            <a:r>
              <a:rPr lang="zh-CN" altLang="en-US" sz="1800" dirty="0" smtClean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  <a:endParaRPr lang="zh-CN" altLang="en-US" sz="18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2694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4" grpId="0" autoUpdateAnimBg="0"/>
      <p:bldP spid="17" grpId="0" autoUpdateAnimBg="0"/>
      <p:bldP spid="24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二叉树的遍历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933089" y="1468925"/>
            <a:ext cx="7277822" cy="13388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“遍历”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是任何类型均有的操作，对线性结构而言，只有一条搜索路径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因为每个结点均只有一个后继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，故不需要另加讨论。而二叉树是非线性结构，</a:t>
            </a: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933089" y="2945905"/>
            <a:ext cx="7277822" cy="8785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  每个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结点有两个后继，则存在如何遍历即按什么样的搜索路径遍历的问题。</a:t>
            </a:r>
          </a:p>
        </p:txBody>
      </p:sp>
    </p:spTree>
    <p:extLst>
      <p:ext uri="{BB962C8B-B14F-4D97-AF65-F5344CB8AC3E}">
        <p14:creationId xmlns:p14="http://schemas.microsoft.com/office/powerpoint/2010/main" val="1172522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8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二叉树的遍历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933089" y="1170822"/>
            <a:ext cx="4635504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对“二叉树”而言，可以有三条搜索路径：</a:t>
            </a: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1469029" y="1931498"/>
            <a:ext cx="7277822" cy="16748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fontAlgn="auto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先上后下的按层次遍历；</a:t>
            </a:r>
          </a:p>
          <a:p>
            <a:pPr marL="285750" indent="-285750" fontAlgn="auto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先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左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子树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后右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子树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的遍历；</a:t>
            </a:r>
          </a:p>
          <a:p>
            <a:pPr marL="285750" indent="-285750" fontAlgn="auto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先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右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子树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后左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子树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的遍历。</a:t>
            </a:r>
          </a:p>
        </p:txBody>
      </p:sp>
    </p:spTree>
    <p:extLst>
      <p:ext uri="{BB962C8B-B14F-4D97-AF65-F5344CB8AC3E}">
        <p14:creationId xmlns:p14="http://schemas.microsoft.com/office/powerpoint/2010/main" val="3944418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8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二叉树的遍历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 Box 2">
            <a:hlinkClick r:id="" action="ppaction://hlinkshowjump?jump=nextslide" highlightClick="1"/>
          </p:cNvPr>
          <p:cNvSpPr txBox="1">
            <a:spLocks noChangeArrowheads="1"/>
          </p:cNvSpPr>
          <p:nvPr/>
        </p:nvSpPr>
        <p:spPr bwMode="auto">
          <a:xfrm>
            <a:off x="828620" y="1103604"/>
            <a:ext cx="300595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defTabSz="91440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二、先左后右的遍历算法</a:t>
            </a:r>
          </a:p>
        </p:txBody>
      </p: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5448793" y="2115655"/>
            <a:ext cx="21852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先（根）序的遍历算法</a:t>
            </a:r>
          </a:p>
        </p:txBody>
      </p:sp>
      <p:sp>
        <p:nvSpPr>
          <p:cNvPr id="20" name="Text Box 4"/>
          <p:cNvSpPr txBox="1">
            <a:spLocks noChangeArrowheads="1"/>
          </p:cNvSpPr>
          <p:nvPr/>
        </p:nvSpPr>
        <p:spPr bwMode="auto">
          <a:xfrm>
            <a:off x="5448485" y="2996803"/>
            <a:ext cx="21852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中（根）序的遍历算法</a:t>
            </a:r>
          </a:p>
        </p:txBody>
      </p: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5448485" y="3810634"/>
            <a:ext cx="218521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1800" dirty="0">
                <a:latin typeface="百度综艺简体" panose="02010601030101010101" charset="-122"/>
                <a:ea typeface="百度综艺简体" panose="02010601030101010101" charset="-122"/>
              </a:rPr>
              <a:t>后（根）序的遍历算法</a:t>
            </a:r>
          </a:p>
        </p:txBody>
      </p:sp>
      <p:sp>
        <p:nvSpPr>
          <p:cNvPr id="26" name="Oval 6"/>
          <p:cNvSpPr>
            <a:spLocks noChangeArrowheads="1"/>
          </p:cNvSpPr>
          <p:nvPr/>
        </p:nvSpPr>
        <p:spPr bwMode="auto">
          <a:xfrm>
            <a:off x="2263194" y="2985135"/>
            <a:ext cx="838200" cy="762000"/>
          </a:xfrm>
          <a:prstGeom prst="ellipse">
            <a:avLst/>
          </a:prstGeom>
          <a:solidFill>
            <a:srgbClr val="FBE2DF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28" name="Line 7"/>
          <p:cNvSpPr>
            <a:spLocks noChangeShapeType="1"/>
          </p:cNvSpPr>
          <p:nvPr/>
        </p:nvSpPr>
        <p:spPr bwMode="auto">
          <a:xfrm>
            <a:off x="2720394" y="1994535"/>
            <a:ext cx="0" cy="99060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Line 8"/>
          <p:cNvSpPr>
            <a:spLocks noChangeShapeType="1"/>
          </p:cNvSpPr>
          <p:nvPr/>
        </p:nvSpPr>
        <p:spPr bwMode="auto">
          <a:xfrm flipV="1">
            <a:off x="1272594" y="3594735"/>
            <a:ext cx="990600" cy="76200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Line 9"/>
          <p:cNvSpPr>
            <a:spLocks noChangeShapeType="1"/>
          </p:cNvSpPr>
          <p:nvPr/>
        </p:nvSpPr>
        <p:spPr bwMode="auto">
          <a:xfrm flipH="1" flipV="1">
            <a:off x="3101394" y="3518535"/>
            <a:ext cx="838200" cy="838200"/>
          </a:xfrm>
          <a:prstGeom prst="line">
            <a:avLst/>
          </a:prstGeom>
          <a:noFill/>
          <a:ln w="38100" cap="sq">
            <a:solidFill>
              <a:srgbClr val="FF0000"/>
            </a:solidFill>
            <a:round/>
            <a:headEnd type="none" w="sm" len="sm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702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75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75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75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75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4" grpId="0" autoUpdateAnimBg="0"/>
      <p:bldP spid="18" grpId="0" autoUpdateAnimBg="0"/>
      <p:bldP spid="20" grpId="0" autoUpdateAnimBg="0"/>
      <p:bldP spid="23" grpId="0" autoUpdateAnimBg="0"/>
      <p:bldP spid="26" grpId="0" animBg="1"/>
      <p:bldP spid="28" grpId="0" animBg="1"/>
      <p:bldP spid="29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二叉树的遍历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933089" y="1170822"/>
            <a:ext cx="4635504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先（根）序的遍历算法：</a:t>
            </a: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1469029" y="1699924"/>
            <a:ext cx="7277822" cy="566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若二叉树为空树，则空操作；否则，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469029" y="2266810"/>
            <a:ext cx="3149075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fontAlgn="auto">
              <a:lnSpc>
                <a:spcPct val="200000"/>
              </a:lnSpc>
              <a:buFont typeface="+mj-ea"/>
              <a:buAutoNum type="circleNumDbPlain"/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访问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根结点；</a:t>
            </a:r>
          </a:p>
          <a:p>
            <a:pPr marL="342900" indent="-342900" fontAlgn="auto">
              <a:lnSpc>
                <a:spcPct val="200000"/>
              </a:lnSpc>
              <a:buFont typeface="+mj-ea"/>
              <a:buAutoNum type="circleNumDbPlain"/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先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序遍历左子树；</a:t>
            </a:r>
          </a:p>
          <a:p>
            <a:pPr marL="342900" indent="-342900" fontAlgn="auto">
              <a:lnSpc>
                <a:spcPct val="200000"/>
              </a:lnSpc>
              <a:buFont typeface="+mj-ea"/>
              <a:buAutoNum type="circleNumDbPlain"/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先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序遍历右子树。</a:t>
            </a:r>
          </a:p>
        </p:txBody>
      </p:sp>
      <p:grpSp>
        <p:nvGrpSpPr>
          <p:cNvPr id="14" name="Group 5"/>
          <p:cNvGrpSpPr>
            <a:grpSpLocks/>
          </p:cNvGrpSpPr>
          <p:nvPr/>
        </p:nvGrpSpPr>
        <p:grpSpPr bwMode="auto">
          <a:xfrm>
            <a:off x="6368660" y="1402328"/>
            <a:ext cx="1981200" cy="2438400"/>
            <a:chOff x="3840" y="2016"/>
            <a:chExt cx="1248" cy="1536"/>
          </a:xfrm>
          <a:solidFill>
            <a:schemeClr val="bg1"/>
          </a:solidFill>
        </p:grpSpPr>
        <p:sp>
          <p:nvSpPr>
            <p:cNvPr id="17" name="Oval 6"/>
            <p:cNvSpPr>
              <a:spLocks noChangeArrowheads="1"/>
            </p:cNvSpPr>
            <p:nvPr/>
          </p:nvSpPr>
          <p:spPr bwMode="auto">
            <a:xfrm>
              <a:off x="4368" y="2016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-</a:t>
              </a:r>
            </a:p>
          </p:txBody>
        </p:sp>
        <p:sp>
          <p:nvSpPr>
            <p:cNvPr id="23" name="Oval 7"/>
            <p:cNvSpPr>
              <a:spLocks noChangeArrowheads="1"/>
            </p:cNvSpPr>
            <p:nvPr/>
          </p:nvSpPr>
          <p:spPr bwMode="auto">
            <a:xfrm>
              <a:off x="4032" y="2304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+</a:t>
              </a:r>
            </a:p>
          </p:txBody>
        </p:sp>
        <p:sp>
          <p:nvSpPr>
            <p:cNvPr id="24" name="Oval 8"/>
            <p:cNvSpPr>
              <a:spLocks noChangeArrowheads="1"/>
            </p:cNvSpPr>
            <p:nvPr/>
          </p:nvSpPr>
          <p:spPr bwMode="auto">
            <a:xfrm>
              <a:off x="4656" y="2304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/</a:t>
              </a:r>
            </a:p>
          </p:txBody>
        </p:sp>
        <p:sp>
          <p:nvSpPr>
            <p:cNvPr id="26" name="Oval 9"/>
            <p:cNvSpPr>
              <a:spLocks noChangeArrowheads="1"/>
            </p:cNvSpPr>
            <p:nvPr/>
          </p:nvSpPr>
          <p:spPr bwMode="auto">
            <a:xfrm>
              <a:off x="4560" y="2638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e</a:t>
              </a:r>
            </a:p>
          </p:txBody>
        </p:sp>
        <p:sp>
          <p:nvSpPr>
            <p:cNvPr id="28" name="Oval 10"/>
            <p:cNvSpPr>
              <a:spLocks noChangeArrowheads="1"/>
            </p:cNvSpPr>
            <p:nvPr/>
          </p:nvSpPr>
          <p:spPr bwMode="auto">
            <a:xfrm>
              <a:off x="4176" y="2640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*</a:t>
              </a:r>
            </a:p>
          </p:txBody>
        </p:sp>
        <p:sp>
          <p:nvSpPr>
            <p:cNvPr id="29" name="Oval 11"/>
            <p:cNvSpPr>
              <a:spLocks noChangeArrowheads="1"/>
            </p:cNvSpPr>
            <p:nvPr/>
          </p:nvSpPr>
          <p:spPr bwMode="auto">
            <a:xfrm>
              <a:off x="3840" y="2640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a</a:t>
              </a:r>
            </a:p>
          </p:txBody>
        </p:sp>
        <p:sp>
          <p:nvSpPr>
            <p:cNvPr id="30" name="Oval 12"/>
            <p:cNvSpPr>
              <a:spLocks noChangeArrowheads="1"/>
            </p:cNvSpPr>
            <p:nvPr/>
          </p:nvSpPr>
          <p:spPr bwMode="auto">
            <a:xfrm>
              <a:off x="4896" y="2640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f</a:t>
              </a:r>
            </a:p>
          </p:txBody>
        </p:sp>
        <p:sp>
          <p:nvSpPr>
            <p:cNvPr id="32" name="Oval 13"/>
            <p:cNvSpPr>
              <a:spLocks noChangeArrowheads="1"/>
            </p:cNvSpPr>
            <p:nvPr/>
          </p:nvSpPr>
          <p:spPr bwMode="auto">
            <a:xfrm>
              <a:off x="3984" y="2976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b</a:t>
              </a:r>
            </a:p>
          </p:txBody>
        </p:sp>
        <p:sp>
          <p:nvSpPr>
            <p:cNvPr id="33" name="Oval 14"/>
            <p:cNvSpPr>
              <a:spLocks noChangeArrowheads="1"/>
            </p:cNvSpPr>
            <p:nvPr/>
          </p:nvSpPr>
          <p:spPr bwMode="auto">
            <a:xfrm>
              <a:off x="4320" y="2976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-</a:t>
              </a:r>
            </a:p>
          </p:txBody>
        </p:sp>
        <p:sp>
          <p:nvSpPr>
            <p:cNvPr id="34" name="Oval 15"/>
            <p:cNvSpPr>
              <a:spLocks noChangeArrowheads="1"/>
            </p:cNvSpPr>
            <p:nvPr/>
          </p:nvSpPr>
          <p:spPr bwMode="auto">
            <a:xfrm>
              <a:off x="4128" y="3360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c</a:t>
              </a:r>
            </a:p>
          </p:txBody>
        </p:sp>
        <p:sp>
          <p:nvSpPr>
            <p:cNvPr id="35" name="Oval 16"/>
            <p:cNvSpPr>
              <a:spLocks noChangeArrowheads="1"/>
            </p:cNvSpPr>
            <p:nvPr/>
          </p:nvSpPr>
          <p:spPr bwMode="auto">
            <a:xfrm>
              <a:off x="4464" y="3360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d</a:t>
              </a:r>
            </a:p>
          </p:txBody>
        </p:sp>
        <p:sp>
          <p:nvSpPr>
            <p:cNvPr id="36" name="Line 17"/>
            <p:cNvSpPr>
              <a:spLocks noChangeShapeType="1"/>
            </p:cNvSpPr>
            <p:nvPr/>
          </p:nvSpPr>
          <p:spPr bwMode="auto">
            <a:xfrm flipH="1">
              <a:off x="4176" y="2160"/>
              <a:ext cx="192" cy="192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38" name="Line 18"/>
            <p:cNvSpPr>
              <a:spLocks noChangeShapeType="1"/>
            </p:cNvSpPr>
            <p:nvPr/>
          </p:nvSpPr>
          <p:spPr bwMode="auto">
            <a:xfrm>
              <a:off x="4542" y="2190"/>
              <a:ext cx="144" cy="144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39" name="Line 19"/>
            <p:cNvSpPr>
              <a:spLocks noChangeShapeType="1"/>
            </p:cNvSpPr>
            <p:nvPr/>
          </p:nvSpPr>
          <p:spPr bwMode="auto">
            <a:xfrm flipH="1">
              <a:off x="3984" y="2496"/>
              <a:ext cx="96" cy="144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40" name="Line 20"/>
            <p:cNvSpPr>
              <a:spLocks noChangeShapeType="1"/>
            </p:cNvSpPr>
            <p:nvPr/>
          </p:nvSpPr>
          <p:spPr bwMode="auto">
            <a:xfrm>
              <a:off x="4176" y="2496"/>
              <a:ext cx="96" cy="144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41" name="Line 21"/>
            <p:cNvSpPr>
              <a:spLocks noChangeShapeType="1"/>
            </p:cNvSpPr>
            <p:nvPr/>
          </p:nvSpPr>
          <p:spPr bwMode="auto">
            <a:xfrm flipH="1">
              <a:off x="4128" y="2832"/>
              <a:ext cx="96" cy="144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42" name="Line 22"/>
            <p:cNvSpPr>
              <a:spLocks noChangeShapeType="1"/>
            </p:cNvSpPr>
            <p:nvPr/>
          </p:nvSpPr>
          <p:spPr bwMode="auto">
            <a:xfrm>
              <a:off x="4312" y="2832"/>
              <a:ext cx="96" cy="144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43" name="Line 23"/>
            <p:cNvSpPr>
              <a:spLocks noChangeShapeType="1"/>
            </p:cNvSpPr>
            <p:nvPr/>
          </p:nvSpPr>
          <p:spPr bwMode="auto">
            <a:xfrm flipH="1">
              <a:off x="4656" y="2496"/>
              <a:ext cx="96" cy="144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44" name="Line 24"/>
            <p:cNvSpPr>
              <a:spLocks noChangeShapeType="1"/>
            </p:cNvSpPr>
            <p:nvPr/>
          </p:nvSpPr>
          <p:spPr bwMode="auto">
            <a:xfrm>
              <a:off x="4800" y="2496"/>
              <a:ext cx="144" cy="144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45" name="Line 25"/>
            <p:cNvSpPr>
              <a:spLocks noChangeShapeType="1"/>
            </p:cNvSpPr>
            <p:nvPr/>
          </p:nvSpPr>
          <p:spPr bwMode="auto">
            <a:xfrm flipH="1">
              <a:off x="4224" y="3168"/>
              <a:ext cx="144" cy="192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46" name="Line 26"/>
            <p:cNvSpPr>
              <a:spLocks noChangeShapeType="1"/>
            </p:cNvSpPr>
            <p:nvPr/>
          </p:nvSpPr>
          <p:spPr bwMode="auto">
            <a:xfrm>
              <a:off x="4464" y="3168"/>
              <a:ext cx="96" cy="192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</p:grpSp>
      <p:sp>
        <p:nvSpPr>
          <p:cNvPr id="47" name="TextBox 5"/>
          <p:cNvSpPr txBox="1">
            <a:spLocks noChangeArrowheads="1"/>
          </p:cNvSpPr>
          <p:nvPr/>
        </p:nvSpPr>
        <p:spPr bwMode="auto">
          <a:xfrm>
            <a:off x="3329609" y="4207858"/>
            <a:ext cx="4563051" cy="61350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先序： </a:t>
            </a:r>
            <a:r>
              <a:rPr lang="en-US" altLang="zh-CN" sz="2000" dirty="0">
                <a:latin typeface="百度综艺简体" panose="02010601030101010101" charset="-122"/>
                <a:ea typeface="百度综艺简体" panose="02010601030101010101" charset="-122"/>
              </a:rPr>
              <a:t>-+a*b-cd/</a:t>
            </a:r>
            <a:r>
              <a:rPr lang="en-US" altLang="zh-CN" sz="2000" dirty="0" err="1">
                <a:latin typeface="百度综艺简体" panose="02010601030101010101" charset="-122"/>
                <a:ea typeface="百度综艺简体" panose="02010601030101010101" charset="-122"/>
              </a:rPr>
              <a:t>ef</a:t>
            </a:r>
            <a:endParaRPr lang="en-US" altLang="zh-CN" sz="20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9378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75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8" grpId="0"/>
      <p:bldP spid="20" grpId="0"/>
      <p:bldP spid="13" grpId="0"/>
      <p:bldP spid="4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二叉树的遍历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 Box 2">
            <a:hlinkClick r:id="" action="ppaction://hlinkshowjump?jump=nextslide" highlightClick="1"/>
          </p:cNvPr>
          <p:cNvSpPr txBox="1">
            <a:spLocks noChangeArrowheads="1"/>
          </p:cNvSpPr>
          <p:nvPr/>
        </p:nvSpPr>
        <p:spPr bwMode="auto">
          <a:xfrm>
            <a:off x="828620" y="1103604"/>
            <a:ext cx="249299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0" defTabSz="91440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000" dirty="0">
                <a:latin typeface="百度综艺简体" panose="02010601030101010101" charset="-122"/>
                <a:ea typeface="百度综艺简体" panose="02010601030101010101" charset="-122"/>
              </a:rPr>
              <a:t>三、算法的递归描述</a:t>
            </a:r>
          </a:p>
        </p:txBody>
      </p:sp>
      <p:sp>
        <p:nvSpPr>
          <p:cNvPr id="18" name="Text Box 3"/>
          <p:cNvSpPr txBox="1">
            <a:spLocks noChangeArrowheads="1"/>
          </p:cNvSpPr>
          <p:nvPr/>
        </p:nvSpPr>
        <p:spPr bwMode="auto">
          <a:xfrm>
            <a:off x="2443051" y="1817931"/>
            <a:ext cx="4257897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void </a:t>
            </a: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Preorder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(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BiTree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T)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{                    //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先序遍历二叉树 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  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if (T) {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         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printf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(“%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c”,T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-&gt;data);    //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访问根结点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         </a:t>
            </a: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Preorder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(T-&gt;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lchild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);      //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遍历左子树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         </a:t>
            </a:r>
            <a:r>
              <a:rPr lang="en-US" altLang="zh-CN" sz="1600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Preorder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(T-&gt;</a:t>
            </a:r>
            <a:r>
              <a:rPr lang="en-US" altLang="zh-CN" sz="1600" dirty="0" err="1">
                <a:latin typeface="百度综艺简体" panose="02010601030101010101" charset="-122"/>
                <a:ea typeface="百度综艺简体" panose="02010601030101010101" charset="-122"/>
              </a:rPr>
              <a:t>rchild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);     // </a:t>
            </a: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遍历右子树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zh-CN" altLang="en-US" sz="1600" dirty="0">
                <a:latin typeface="百度综艺简体" panose="02010601030101010101" charset="-122"/>
                <a:ea typeface="百度综艺简体" panose="02010601030101010101" charset="-122"/>
              </a:rPr>
              <a:t>   </a:t>
            </a: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}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600" dirty="0">
                <a:latin typeface="百度综艺简体" panose="02010601030101010101" charset="-122"/>
                <a:ea typeface="百度综艺简体" panose="02010601030101010101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28421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75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4" grpId="0" autoUpdateAnimBg="0"/>
      <p:bldP spid="18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二叉树的遍历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933089" y="1170822"/>
            <a:ext cx="4635504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中（根）序的遍历算法：</a:t>
            </a: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1469029" y="1699924"/>
            <a:ext cx="7277822" cy="566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若二叉树为空树，则空操作；否则，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469029" y="2266810"/>
            <a:ext cx="3149075" cy="16748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fontAlgn="auto">
              <a:lnSpc>
                <a:spcPct val="200000"/>
              </a:lnSpc>
              <a:buFont typeface="+mj-ea"/>
              <a:buAutoNum type="circleNumDbPlain"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中序遍历左子树；</a:t>
            </a:r>
          </a:p>
          <a:p>
            <a:pPr marL="342900" indent="-342900" fontAlgn="auto">
              <a:lnSpc>
                <a:spcPct val="200000"/>
              </a:lnSpc>
              <a:buFont typeface="+mj-ea"/>
              <a:buAutoNum type="circleNumDbPlain"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访问根结点；</a:t>
            </a:r>
          </a:p>
          <a:p>
            <a:pPr marL="342900" indent="-342900" fontAlgn="auto">
              <a:lnSpc>
                <a:spcPct val="200000"/>
              </a:lnSpc>
              <a:buFont typeface="+mj-ea"/>
              <a:buAutoNum type="circleNumDbPlain"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中序遍历右子树。</a:t>
            </a:r>
          </a:p>
        </p:txBody>
      </p:sp>
      <p:grpSp>
        <p:nvGrpSpPr>
          <p:cNvPr id="14" name="Group 5"/>
          <p:cNvGrpSpPr>
            <a:grpSpLocks/>
          </p:cNvGrpSpPr>
          <p:nvPr/>
        </p:nvGrpSpPr>
        <p:grpSpPr bwMode="auto">
          <a:xfrm>
            <a:off x="6368660" y="1402328"/>
            <a:ext cx="1981200" cy="2438400"/>
            <a:chOff x="3840" y="2016"/>
            <a:chExt cx="1248" cy="1536"/>
          </a:xfrm>
          <a:solidFill>
            <a:schemeClr val="bg1"/>
          </a:solidFill>
        </p:grpSpPr>
        <p:sp>
          <p:nvSpPr>
            <p:cNvPr id="17" name="Oval 6"/>
            <p:cNvSpPr>
              <a:spLocks noChangeArrowheads="1"/>
            </p:cNvSpPr>
            <p:nvPr/>
          </p:nvSpPr>
          <p:spPr bwMode="auto">
            <a:xfrm>
              <a:off x="4368" y="2016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-</a:t>
              </a:r>
            </a:p>
          </p:txBody>
        </p:sp>
        <p:sp>
          <p:nvSpPr>
            <p:cNvPr id="23" name="Oval 7"/>
            <p:cNvSpPr>
              <a:spLocks noChangeArrowheads="1"/>
            </p:cNvSpPr>
            <p:nvPr/>
          </p:nvSpPr>
          <p:spPr bwMode="auto">
            <a:xfrm>
              <a:off x="4032" y="2304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+</a:t>
              </a:r>
            </a:p>
          </p:txBody>
        </p:sp>
        <p:sp>
          <p:nvSpPr>
            <p:cNvPr id="24" name="Oval 8"/>
            <p:cNvSpPr>
              <a:spLocks noChangeArrowheads="1"/>
            </p:cNvSpPr>
            <p:nvPr/>
          </p:nvSpPr>
          <p:spPr bwMode="auto">
            <a:xfrm>
              <a:off x="4656" y="2304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/</a:t>
              </a:r>
            </a:p>
          </p:txBody>
        </p:sp>
        <p:sp>
          <p:nvSpPr>
            <p:cNvPr id="26" name="Oval 9"/>
            <p:cNvSpPr>
              <a:spLocks noChangeArrowheads="1"/>
            </p:cNvSpPr>
            <p:nvPr/>
          </p:nvSpPr>
          <p:spPr bwMode="auto">
            <a:xfrm>
              <a:off x="4560" y="2638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e</a:t>
              </a:r>
            </a:p>
          </p:txBody>
        </p:sp>
        <p:sp>
          <p:nvSpPr>
            <p:cNvPr id="28" name="Oval 10"/>
            <p:cNvSpPr>
              <a:spLocks noChangeArrowheads="1"/>
            </p:cNvSpPr>
            <p:nvPr/>
          </p:nvSpPr>
          <p:spPr bwMode="auto">
            <a:xfrm>
              <a:off x="4176" y="2640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*</a:t>
              </a:r>
            </a:p>
          </p:txBody>
        </p:sp>
        <p:sp>
          <p:nvSpPr>
            <p:cNvPr id="29" name="Oval 11"/>
            <p:cNvSpPr>
              <a:spLocks noChangeArrowheads="1"/>
            </p:cNvSpPr>
            <p:nvPr/>
          </p:nvSpPr>
          <p:spPr bwMode="auto">
            <a:xfrm>
              <a:off x="3840" y="2640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a</a:t>
              </a:r>
            </a:p>
          </p:txBody>
        </p:sp>
        <p:sp>
          <p:nvSpPr>
            <p:cNvPr id="30" name="Oval 12"/>
            <p:cNvSpPr>
              <a:spLocks noChangeArrowheads="1"/>
            </p:cNvSpPr>
            <p:nvPr/>
          </p:nvSpPr>
          <p:spPr bwMode="auto">
            <a:xfrm>
              <a:off x="4896" y="2640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f</a:t>
              </a:r>
            </a:p>
          </p:txBody>
        </p:sp>
        <p:sp>
          <p:nvSpPr>
            <p:cNvPr id="32" name="Oval 13"/>
            <p:cNvSpPr>
              <a:spLocks noChangeArrowheads="1"/>
            </p:cNvSpPr>
            <p:nvPr/>
          </p:nvSpPr>
          <p:spPr bwMode="auto">
            <a:xfrm>
              <a:off x="3984" y="2976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b</a:t>
              </a:r>
            </a:p>
          </p:txBody>
        </p:sp>
        <p:sp>
          <p:nvSpPr>
            <p:cNvPr id="33" name="Oval 14"/>
            <p:cNvSpPr>
              <a:spLocks noChangeArrowheads="1"/>
            </p:cNvSpPr>
            <p:nvPr/>
          </p:nvSpPr>
          <p:spPr bwMode="auto">
            <a:xfrm>
              <a:off x="4320" y="2976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-</a:t>
              </a:r>
            </a:p>
          </p:txBody>
        </p:sp>
        <p:sp>
          <p:nvSpPr>
            <p:cNvPr id="34" name="Oval 15"/>
            <p:cNvSpPr>
              <a:spLocks noChangeArrowheads="1"/>
            </p:cNvSpPr>
            <p:nvPr/>
          </p:nvSpPr>
          <p:spPr bwMode="auto">
            <a:xfrm>
              <a:off x="4128" y="3360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c</a:t>
              </a:r>
            </a:p>
          </p:txBody>
        </p:sp>
        <p:sp>
          <p:nvSpPr>
            <p:cNvPr id="35" name="Oval 16"/>
            <p:cNvSpPr>
              <a:spLocks noChangeArrowheads="1"/>
            </p:cNvSpPr>
            <p:nvPr/>
          </p:nvSpPr>
          <p:spPr bwMode="auto">
            <a:xfrm>
              <a:off x="4464" y="3360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d</a:t>
              </a:r>
            </a:p>
          </p:txBody>
        </p:sp>
        <p:sp>
          <p:nvSpPr>
            <p:cNvPr id="36" name="Line 17"/>
            <p:cNvSpPr>
              <a:spLocks noChangeShapeType="1"/>
            </p:cNvSpPr>
            <p:nvPr/>
          </p:nvSpPr>
          <p:spPr bwMode="auto">
            <a:xfrm flipH="1">
              <a:off x="4176" y="2160"/>
              <a:ext cx="192" cy="192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38" name="Line 18"/>
            <p:cNvSpPr>
              <a:spLocks noChangeShapeType="1"/>
            </p:cNvSpPr>
            <p:nvPr/>
          </p:nvSpPr>
          <p:spPr bwMode="auto">
            <a:xfrm>
              <a:off x="4542" y="2190"/>
              <a:ext cx="144" cy="144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39" name="Line 19"/>
            <p:cNvSpPr>
              <a:spLocks noChangeShapeType="1"/>
            </p:cNvSpPr>
            <p:nvPr/>
          </p:nvSpPr>
          <p:spPr bwMode="auto">
            <a:xfrm flipH="1">
              <a:off x="3984" y="2496"/>
              <a:ext cx="96" cy="144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40" name="Line 20"/>
            <p:cNvSpPr>
              <a:spLocks noChangeShapeType="1"/>
            </p:cNvSpPr>
            <p:nvPr/>
          </p:nvSpPr>
          <p:spPr bwMode="auto">
            <a:xfrm>
              <a:off x="4176" y="2496"/>
              <a:ext cx="96" cy="144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41" name="Line 21"/>
            <p:cNvSpPr>
              <a:spLocks noChangeShapeType="1"/>
            </p:cNvSpPr>
            <p:nvPr/>
          </p:nvSpPr>
          <p:spPr bwMode="auto">
            <a:xfrm flipH="1">
              <a:off x="4128" y="2832"/>
              <a:ext cx="96" cy="144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42" name="Line 22"/>
            <p:cNvSpPr>
              <a:spLocks noChangeShapeType="1"/>
            </p:cNvSpPr>
            <p:nvPr/>
          </p:nvSpPr>
          <p:spPr bwMode="auto">
            <a:xfrm>
              <a:off x="4312" y="2832"/>
              <a:ext cx="96" cy="144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43" name="Line 23"/>
            <p:cNvSpPr>
              <a:spLocks noChangeShapeType="1"/>
            </p:cNvSpPr>
            <p:nvPr/>
          </p:nvSpPr>
          <p:spPr bwMode="auto">
            <a:xfrm flipH="1">
              <a:off x="4656" y="2496"/>
              <a:ext cx="96" cy="144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44" name="Line 24"/>
            <p:cNvSpPr>
              <a:spLocks noChangeShapeType="1"/>
            </p:cNvSpPr>
            <p:nvPr/>
          </p:nvSpPr>
          <p:spPr bwMode="auto">
            <a:xfrm>
              <a:off x="4800" y="2496"/>
              <a:ext cx="144" cy="144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45" name="Line 25"/>
            <p:cNvSpPr>
              <a:spLocks noChangeShapeType="1"/>
            </p:cNvSpPr>
            <p:nvPr/>
          </p:nvSpPr>
          <p:spPr bwMode="auto">
            <a:xfrm flipH="1">
              <a:off x="4224" y="3168"/>
              <a:ext cx="144" cy="192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46" name="Line 26"/>
            <p:cNvSpPr>
              <a:spLocks noChangeShapeType="1"/>
            </p:cNvSpPr>
            <p:nvPr/>
          </p:nvSpPr>
          <p:spPr bwMode="auto">
            <a:xfrm>
              <a:off x="4464" y="3168"/>
              <a:ext cx="96" cy="192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</p:grpSp>
      <p:sp>
        <p:nvSpPr>
          <p:cNvPr id="47" name="TextBox 5"/>
          <p:cNvSpPr txBox="1">
            <a:spLocks noChangeArrowheads="1"/>
          </p:cNvSpPr>
          <p:nvPr/>
        </p:nvSpPr>
        <p:spPr bwMode="auto">
          <a:xfrm>
            <a:off x="4502426" y="4195446"/>
            <a:ext cx="3842762" cy="71776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sz="2400" dirty="0">
                <a:latin typeface="百度综艺简体" panose="02010601030101010101" charset="-122"/>
                <a:ea typeface="百度综艺简体" panose="02010601030101010101" charset="-122"/>
              </a:rPr>
              <a:t>中序：</a:t>
            </a:r>
            <a:r>
              <a:rPr lang="en-US" altLang="zh-CN" sz="2400" dirty="0" err="1">
                <a:latin typeface="百度综艺简体" panose="02010601030101010101" charset="-122"/>
                <a:ea typeface="百度综艺简体" panose="02010601030101010101" charset="-122"/>
              </a:rPr>
              <a:t>a+b</a:t>
            </a:r>
            <a:r>
              <a:rPr lang="en-US" altLang="zh-CN" sz="2400" dirty="0">
                <a:latin typeface="百度综艺简体" panose="02010601030101010101" charset="-122"/>
                <a:ea typeface="百度综艺简体" panose="02010601030101010101" charset="-122"/>
              </a:rPr>
              <a:t>*c-d-e/f</a:t>
            </a:r>
          </a:p>
        </p:txBody>
      </p:sp>
    </p:spTree>
    <p:extLst>
      <p:ext uri="{BB962C8B-B14F-4D97-AF65-F5344CB8AC3E}">
        <p14:creationId xmlns:p14="http://schemas.microsoft.com/office/powerpoint/2010/main" val="2204726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75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8" grpId="0"/>
      <p:bldP spid="20" grpId="0"/>
      <p:bldP spid="13" grpId="0"/>
      <p:bldP spid="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二叉树的遍历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933089" y="1170822"/>
            <a:ext cx="4635504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后（根）序的遍历算法：</a:t>
            </a: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1469029" y="1699924"/>
            <a:ext cx="7277822" cy="566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若二叉树为空树，则空操作；否则，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1469029" y="2266810"/>
            <a:ext cx="3149075" cy="167488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fontAlgn="auto">
              <a:lnSpc>
                <a:spcPct val="200000"/>
              </a:lnSpc>
              <a:buFont typeface="+mj-ea"/>
              <a:buAutoNum type="circleNumDbPlain"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后序遍历左子树；</a:t>
            </a:r>
          </a:p>
          <a:p>
            <a:pPr marL="342900" indent="-342900" fontAlgn="auto">
              <a:lnSpc>
                <a:spcPct val="200000"/>
              </a:lnSpc>
              <a:buFont typeface="+mj-ea"/>
              <a:buAutoNum type="circleNumDbPlain"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后序遍历右子树；</a:t>
            </a:r>
          </a:p>
          <a:p>
            <a:pPr marL="342900" indent="-342900" fontAlgn="auto">
              <a:lnSpc>
                <a:spcPct val="200000"/>
              </a:lnSpc>
              <a:buFont typeface="+mj-ea"/>
              <a:buAutoNum type="circleNumDbPlain"/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访问根结点。</a:t>
            </a:r>
          </a:p>
        </p:txBody>
      </p:sp>
      <p:grpSp>
        <p:nvGrpSpPr>
          <p:cNvPr id="14" name="Group 5"/>
          <p:cNvGrpSpPr>
            <a:grpSpLocks/>
          </p:cNvGrpSpPr>
          <p:nvPr/>
        </p:nvGrpSpPr>
        <p:grpSpPr bwMode="auto">
          <a:xfrm>
            <a:off x="6368660" y="1402328"/>
            <a:ext cx="1981200" cy="2438400"/>
            <a:chOff x="3840" y="2016"/>
            <a:chExt cx="1248" cy="1536"/>
          </a:xfrm>
          <a:solidFill>
            <a:schemeClr val="bg1"/>
          </a:solidFill>
        </p:grpSpPr>
        <p:sp>
          <p:nvSpPr>
            <p:cNvPr id="17" name="Oval 6"/>
            <p:cNvSpPr>
              <a:spLocks noChangeArrowheads="1"/>
            </p:cNvSpPr>
            <p:nvPr/>
          </p:nvSpPr>
          <p:spPr bwMode="auto">
            <a:xfrm>
              <a:off x="4368" y="2016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-</a:t>
              </a:r>
            </a:p>
          </p:txBody>
        </p:sp>
        <p:sp>
          <p:nvSpPr>
            <p:cNvPr id="23" name="Oval 7"/>
            <p:cNvSpPr>
              <a:spLocks noChangeArrowheads="1"/>
            </p:cNvSpPr>
            <p:nvPr/>
          </p:nvSpPr>
          <p:spPr bwMode="auto">
            <a:xfrm>
              <a:off x="4032" y="2304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+</a:t>
              </a:r>
            </a:p>
          </p:txBody>
        </p:sp>
        <p:sp>
          <p:nvSpPr>
            <p:cNvPr id="24" name="Oval 8"/>
            <p:cNvSpPr>
              <a:spLocks noChangeArrowheads="1"/>
            </p:cNvSpPr>
            <p:nvPr/>
          </p:nvSpPr>
          <p:spPr bwMode="auto">
            <a:xfrm>
              <a:off x="4656" y="2304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/</a:t>
              </a:r>
            </a:p>
          </p:txBody>
        </p:sp>
        <p:sp>
          <p:nvSpPr>
            <p:cNvPr id="26" name="Oval 9"/>
            <p:cNvSpPr>
              <a:spLocks noChangeArrowheads="1"/>
            </p:cNvSpPr>
            <p:nvPr/>
          </p:nvSpPr>
          <p:spPr bwMode="auto">
            <a:xfrm>
              <a:off x="4560" y="2638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e</a:t>
              </a:r>
            </a:p>
          </p:txBody>
        </p:sp>
        <p:sp>
          <p:nvSpPr>
            <p:cNvPr id="28" name="Oval 10"/>
            <p:cNvSpPr>
              <a:spLocks noChangeArrowheads="1"/>
            </p:cNvSpPr>
            <p:nvPr/>
          </p:nvSpPr>
          <p:spPr bwMode="auto">
            <a:xfrm>
              <a:off x="4176" y="2640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*</a:t>
              </a:r>
            </a:p>
          </p:txBody>
        </p:sp>
        <p:sp>
          <p:nvSpPr>
            <p:cNvPr id="29" name="Oval 11"/>
            <p:cNvSpPr>
              <a:spLocks noChangeArrowheads="1"/>
            </p:cNvSpPr>
            <p:nvPr/>
          </p:nvSpPr>
          <p:spPr bwMode="auto">
            <a:xfrm>
              <a:off x="3840" y="2640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a</a:t>
              </a:r>
            </a:p>
          </p:txBody>
        </p:sp>
        <p:sp>
          <p:nvSpPr>
            <p:cNvPr id="30" name="Oval 12"/>
            <p:cNvSpPr>
              <a:spLocks noChangeArrowheads="1"/>
            </p:cNvSpPr>
            <p:nvPr/>
          </p:nvSpPr>
          <p:spPr bwMode="auto">
            <a:xfrm>
              <a:off x="4896" y="2640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f</a:t>
              </a:r>
            </a:p>
          </p:txBody>
        </p:sp>
        <p:sp>
          <p:nvSpPr>
            <p:cNvPr id="32" name="Oval 13"/>
            <p:cNvSpPr>
              <a:spLocks noChangeArrowheads="1"/>
            </p:cNvSpPr>
            <p:nvPr/>
          </p:nvSpPr>
          <p:spPr bwMode="auto">
            <a:xfrm>
              <a:off x="3984" y="2976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b</a:t>
              </a:r>
            </a:p>
          </p:txBody>
        </p:sp>
        <p:sp>
          <p:nvSpPr>
            <p:cNvPr id="33" name="Oval 14"/>
            <p:cNvSpPr>
              <a:spLocks noChangeArrowheads="1"/>
            </p:cNvSpPr>
            <p:nvPr/>
          </p:nvSpPr>
          <p:spPr bwMode="auto">
            <a:xfrm>
              <a:off x="4320" y="2976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-</a:t>
              </a:r>
            </a:p>
          </p:txBody>
        </p:sp>
        <p:sp>
          <p:nvSpPr>
            <p:cNvPr id="34" name="Oval 15"/>
            <p:cNvSpPr>
              <a:spLocks noChangeArrowheads="1"/>
            </p:cNvSpPr>
            <p:nvPr/>
          </p:nvSpPr>
          <p:spPr bwMode="auto">
            <a:xfrm>
              <a:off x="4128" y="3360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c</a:t>
              </a:r>
            </a:p>
          </p:txBody>
        </p:sp>
        <p:sp>
          <p:nvSpPr>
            <p:cNvPr id="35" name="Oval 16"/>
            <p:cNvSpPr>
              <a:spLocks noChangeArrowheads="1"/>
            </p:cNvSpPr>
            <p:nvPr/>
          </p:nvSpPr>
          <p:spPr bwMode="auto">
            <a:xfrm>
              <a:off x="4464" y="3360"/>
              <a:ext cx="192" cy="192"/>
            </a:xfrm>
            <a:prstGeom prst="ellips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d</a:t>
              </a:r>
            </a:p>
          </p:txBody>
        </p:sp>
        <p:sp>
          <p:nvSpPr>
            <p:cNvPr id="36" name="Line 17"/>
            <p:cNvSpPr>
              <a:spLocks noChangeShapeType="1"/>
            </p:cNvSpPr>
            <p:nvPr/>
          </p:nvSpPr>
          <p:spPr bwMode="auto">
            <a:xfrm flipH="1">
              <a:off x="4176" y="2160"/>
              <a:ext cx="192" cy="192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38" name="Line 18"/>
            <p:cNvSpPr>
              <a:spLocks noChangeShapeType="1"/>
            </p:cNvSpPr>
            <p:nvPr/>
          </p:nvSpPr>
          <p:spPr bwMode="auto">
            <a:xfrm>
              <a:off x="4542" y="2190"/>
              <a:ext cx="144" cy="144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39" name="Line 19"/>
            <p:cNvSpPr>
              <a:spLocks noChangeShapeType="1"/>
            </p:cNvSpPr>
            <p:nvPr/>
          </p:nvSpPr>
          <p:spPr bwMode="auto">
            <a:xfrm flipH="1">
              <a:off x="3984" y="2496"/>
              <a:ext cx="96" cy="144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40" name="Line 20"/>
            <p:cNvSpPr>
              <a:spLocks noChangeShapeType="1"/>
            </p:cNvSpPr>
            <p:nvPr/>
          </p:nvSpPr>
          <p:spPr bwMode="auto">
            <a:xfrm>
              <a:off x="4176" y="2496"/>
              <a:ext cx="96" cy="144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41" name="Line 21"/>
            <p:cNvSpPr>
              <a:spLocks noChangeShapeType="1"/>
            </p:cNvSpPr>
            <p:nvPr/>
          </p:nvSpPr>
          <p:spPr bwMode="auto">
            <a:xfrm flipH="1">
              <a:off x="4128" y="2832"/>
              <a:ext cx="96" cy="144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42" name="Line 22"/>
            <p:cNvSpPr>
              <a:spLocks noChangeShapeType="1"/>
            </p:cNvSpPr>
            <p:nvPr/>
          </p:nvSpPr>
          <p:spPr bwMode="auto">
            <a:xfrm>
              <a:off x="4312" y="2832"/>
              <a:ext cx="96" cy="144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43" name="Line 23"/>
            <p:cNvSpPr>
              <a:spLocks noChangeShapeType="1"/>
            </p:cNvSpPr>
            <p:nvPr/>
          </p:nvSpPr>
          <p:spPr bwMode="auto">
            <a:xfrm flipH="1">
              <a:off x="4656" y="2496"/>
              <a:ext cx="96" cy="144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44" name="Line 24"/>
            <p:cNvSpPr>
              <a:spLocks noChangeShapeType="1"/>
            </p:cNvSpPr>
            <p:nvPr/>
          </p:nvSpPr>
          <p:spPr bwMode="auto">
            <a:xfrm>
              <a:off x="4800" y="2496"/>
              <a:ext cx="144" cy="144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45" name="Line 25"/>
            <p:cNvSpPr>
              <a:spLocks noChangeShapeType="1"/>
            </p:cNvSpPr>
            <p:nvPr/>
          </p:nvSpPr>
          <p:spPr bwMode="auto">
            <a:xfrm flipH="1">
              <a:off x="4224" y="3168"/>
              <a:ext cx="144" cy="192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46" name="Line 26"/>
            <p:cNvSpPr>
              <a:spLocks noChangeShapeType="1"/>
            </p:cNvSpPr>
            <p:nvPr/>
          </p:nvSpPr>
          <p:spPr bwMode="auto">
            <a:xfrm>
              <a:off x="4464" y="3168"/>
              <a:ext cx="96" cy="192"/>
            </a:xfrm>
            <a:prstGeom prst="line">
              <a:avLst/>
            </a:prstGeom>
            <a:grpFill/>
            <a:ln w="28575">
              <a:solidFill>
                <a:srgbClr val="2A5BA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20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</p:grpSp>
      <p:sp>
        <p:nvSpPr>
          <p:cNvPr id="47" name="TextBox 5"/>
          <p:cNvSpPr txBox="1">
            <a:spLocks noChangeArrowheads="1"/>
          </p:cNvSpPr>
          <p:nvPr/>
        </p:nvSpPr>
        <p:spPr bwMode="auto">
          <a:xfrm>
            <a:off x="4422913" y="4195446"/>
            <a:ext cx="3922275" cy="71776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sz="2400" dirty="0">
                <a:latin typeface="百度综艺简体" panose="02010601030101010101" charset="-122"/>
                <a:ea typeface="百度综艺简体" panose="02010601030101010101" charset="-122"/>
              </a:rPr>
              <a:t>后序：</a:t>
            </a:r>
            <a:r>
              <a:rPr lang="en-US" altLang="zh-CN" sz="2400" dirty="0" err="1">
                <a:latin typeface="百度综艺简体" panose="02010601030101010101" charset="-122"/>
                <a:ea typeface="百度综艺简体" panose="02010601030101010101" charset="-122"/>
              </a:rPr>
              <a:t>abcd</a:t>
            </a:r>
            <a:r>
              <a:rPr lang="en-US" altLang="zh-CN" sz="2400" dirty="0">
                <a:latin typeface="百度综艺简体" panose="02010601030101010101" charset="-122"/>
                <a:ea typeface="百度综艺简体" panose="02010601030101010101" charset="-122"/>
              </a:rPr>
              <a:t>-*+</a:t>
            </a:r>
            <a:r>
              <a:rPr lang="en-US" altLang="zh-CN" sz="2400" dirty="0" err="1">
                <a:latin typeface="百度综艺简体" panose="02010601030101010101" charset="-122"/>
                <a:ea typeface="百度综艺简体" panose="02010601030101010101" charset="-122"/>
              </a:rPr>
              <a:t>ef</a:t>
            </a:r>
            <a:r>
              <a:rPr lang="en-US" altLang="zh-CN" sz="2400" dirty="0">
                <a:latin typeface="百度综艺简体" panose="02010601030101010101" charset="-122"/>
                <a:ea typeface="百度综艺简体" panose="02010601030101010101" charset="-122"/>
              </a:rPr>
              <a:t>/-</a:t>
            </a:r>
          </a:p>
        </p:txBody>
      </p:sp>
    </p:spTree>
    <p:extLst>
      <p:ext uri="{BB962C8B-B14F-4D97-AF65-F5344CB8AC3E}">
        <p14:creationId xmlns:p14="http://schemas.microsoft.com/office/powerpoint/2010/main" val="2309338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750"/>
                            </p:stCondLst>
                            <p:childTnLst>
                              <p:par>
                                <p:cTn id="5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8" grpId="0"/>
      <p:bldP spid="20" grpId="0"/>
      <p:bldP spid="13" grpId="0"/>
      <p:bldP spid="4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2821" y="110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二叉树的遍历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7" name="TextBox 5"/>
          <p:cNvSpPr txBox="1">
            <a:spLocks noChangeArrowheads="1"/>
          </p:cNvSpPr>
          <p:nvPr/>
        </p:nvSpPr>
        <p:spPr bwMode="auto">
          <a:xfrm>
            <a:off x="1348063" y="1106928"/>
            <a:ext cx="1484694" cy="4001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defTabSz="911225">
              <a:spcBef>
                <a:spcPct val="20000"/>
              </a:spcBef>
            </a:pPr>
            <a:r>
              <a:rPr lang="zh-CN" altLang="en-US" sz="20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</a:rPr>
              <a:t>例子：</a:t>
            </a:r>
          </a:p>
        </p:txBody>
      </p:sp>
      <p:grpSp>
        <p:nvGrpSpPr>
          <p:cNvPr id="92" name="Group 15"/>
          <p:cNvGrpSpPr/>
          <p:nvPr/>
        </p:nvGrpSpPr>
        <p:grpSpPr>
          <a:xfrm>
            <a:off x="1254186" y="1454372"/>
            <a:ext cx="260331" cy="258820"/>
            <a:chOff x="2306360" y="1306978"/>
            <a:chExt cx="434268" cy="431771"/>
          </a:xfrm>
          <a:solidFill>
            <a:schemeClr val="bg1"/>
          </a:solidFill>
        </p:grpSpPr>
        <p:sp>
          <p:nvSpPr>
            <p:cNvPr id="93" name="Freeform 8"/>
            <p:cNvSpPr/>
            <p:nvPr/>
          </p:nvSpPr>
          <p:spPr bwMode="auto">
            <a:xfrm>
              <a:off x="2306360" y="1623943"/>
              <a:ext cx="114806" cy="114806"/>
            </a:xfrm>
            <a:custGeom>
              <a:avLst/>
              <a:gdLst>
                <a:gd name="T0" fmla="*/ 21 w 46"/>
                <a:gd name="T1" fmla="*/ 0 h 46"/>
                <a:gd name="T2" fmla="*/ 0 w 46"/>
                <a:gd name="T3" fmla="*/ 46 h 46"/>
                <a:gd name="T4" fmla="*/ 46 w 46"/>
                <a:gd name="T5" fmla="*/ 25 h 46"/>
                <a:gd name="T6" fmla="*/ 46 w 46"/>
                <a:gd name="T7" fmla="*/ 26 h 46"/>
                <a:gd name="T8" fmla="*/ 21 w 46"/>
                <a:gd name="T9" fmla="*/ 0 h 46"/>
                <a:gd name="T10" fmla="*/ 21 w 46"/>
                <a:gd name="T11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46">
                  <a:moveTo>
                    <a:pt x="21" y="0"/>
                  </a:moveTo>
                  <a:lnTo>
                    <a:pt x="0" y="46"/>
                  </a:lnTo>
                  <a:lnTo>
                    <a:pt x="46" y="25"/>
                  </a:lnTo>
                  <a:lnTo>
                    <a:pt x="46" y="26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  <p:sp>
          <p:nvSpPr>
            <p:cNvPr id="94" name="Freeform 9"/>
            <p:cNvSpPr/>
            <p:nvPr/>
          </p:nvSpPr>
          <p:spPr bwMode="auto">
            <a:xfrm>
              <a:off x="2371251" y="1344415"/>
              <a:ext cx="289511" cy="292007"/>
            </a:xfrm>
            <a:custGeom>
              <a:avLst/>
              <a:gdLst>
                <a:gd name="T0" fmla="*/ 105 w 116"/>
                <a:gd name="T1" fmla="*/ 0 h 117"/>
                <a:gd name="T2" fmla="*/ 0 w 116"/>
                <a:gd name="T3" fmla="*/ 106 h 117"/>
                <a:gd name="T4" fmla="*/ 11 w 116"/>
                <a:gd name="T5" fmla="*/ 117 h 117"/>
                <a:gd name="T6" fmla="*/ 116 w 116"/>
                <a:gd name="T7" fmla="*/ 10 h 117"/>
                <a:gd name="T8" fmla="*/ 105 w 116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105" y="0"/>
                  </a:moveTo>
                  <a:lnTo>
                    <a:pt x="0" y="106"/>
                  </a:lnTo>
                  <a:lnTo>
                    <a:pt x="11" y="117"/>
                  </a:lnTo>
                  <a:lnTo>
                    <a:pt x="116" y="1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  <p:sp>
          <p:nvSpPr>
            <p:cNvPr id="95" name="Freeform 10"/>
            <p:cNvSpPr/>
            <p:nvPr/>
          </p:nvSpPr>
          <p:spPr bwMode="auto">
            <a:xfrm>
              <a:off x="2411183" y="1384348"/>
              <a:ext cx="289511" cy="292007"/>
            </a:xfrm>
            <a:custGeom>
              <a:avLst/>
              <a:gdLst>
                <a:gd name="T0" fmla="*/ 107 w 116"/>
                <a:gd name="T1" fmla="*/ 0 h 117"/>
                <a:gd name="T2" fmla="*/ 0 w 116"/>
                <a:gd name="T3" fmla="*/ 106 h 117"/>
                <a:gd name="T4" fmla="*/ 11 w 116"/>
                <a:gd name="T5" fmla="*/ 117 h 117"/>
                <a:gd name="T6" fmla="*/ 116 w 116"/>
                <a:gd name="T7" fmla="*/ 10 h 117"/>
                <a:gd name="T8" fmla="*/ 107 w 116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107" y="0"/>
                  </a:moveTo>
                  <a:lnTo>
                    <a:pt x="0" y="106"/>
                  </a:lnTo>
                  <a:lnTo>
                    <a:pt x="11" y="117"/>
                  </a:lnTo>
                  <a:lnTo>
                    <a:pt x="116" y="10"/>
                  </a:lnTo>
                  <a:lnTo>
                    <a:pt x="10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  <p:sp>
          <p:nvSpPr>
            <p:cNvPr id="96" name="Freeform 11"/>
            <p:cNvSpPr/>
            <p:nvPr/>
          </p:nvSpPr>
          <p:spPr bwMode="auto">
            <a:xfrm>
              <a:off x="2653275" y="1306978"/>
              <a:ext cx="87353" cy="87353"/>
            </a:xfrm>
            <a:custGeom>
              <a:avLst/>
              <a:gdLst>
                <a:gd name="T0" fmla="*/ 17 w 26"/>
                <a:gd name="T1" fmla="*/ 8 h 26"/>
                <a:gd name="T2" fmla="*/ 0 w 26"/>
                <a:gd name="T3" fmla="*/ 7 h 26"/>
                <a:gd name="T4" fmla="*/ 19 w 26"/>
                <a:gd name="T5" fmla="*/ 26 h 26"/>
                <a:gd name="T6" fmla="*/ 17 w 26"/>
                <a:gd name="T7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6">
                  <a:moveTo>
                    <a:pt x="17" y="8"/>
                  </a:moveTo>
                  <a:cubicBezTo>
                    <a:pt x="9" y="0"/>
                    <a:pt x="0" y="7"/>
                    <a:pt x="0" y="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26" y="17"/>
                    <a:pt x="1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866798" y="1048828"/>
            <a:ext cx="479188" cy="479188"/>
            <a:chOff x="697853" y="426488"/>
            <a:chExt cx="589535" cy="589535"/>
          </a:xfrm>
        </p:grpSpPr>
        <p:sp>
          <p:nvSpPr>
            <p:cNvPr id="98" name="椭圆 97"/>
            <p:cNvSpPr/>
            <p:nvPr/>
          </p:nvSpPr>
          <p:spPr>
            <a:xfrm>
              <a:off x="697853" y="426488"/>
              <a:ext cx="589535" cy="5895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9" name="椭圆 4"/>
            <p:cNvSpPr/>
            <p:nvPr/>
          </p:nvSpPr>
          <p:spPr>
            <a:xfrm>
              <a:off x="782818" y="520813"/>
              <a:ext cx="410245" cy="41024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lvl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400" kern="12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00" name="Group 15"/>
          <p:cNvGrpSpPr/>
          <p:nvPr/>
        </p:nvGrpSpPr>
        <p:grpSpPr>
          <a:xfrm>
            <a:off x="993824" y="1174317"/>
            <a:ext cx="260331" cy="258820"/>
            <a:chOff x="2306360" y="1306978"/>
            <a:chExt cx="434268" cy="431771"/>
          </a:xfrm>
          <a:solidFill>
            <a:schemeClr val="bg1"/>
          </a:solidFill>
        </p:grpSpPr>
        <p:sp>
          <p:nvSpPr>
            <p:cNvPr id="101" name="Freeform 8"/>
            <p:cNvSpPr/>
            <p:nvPr/>
          </p:nvSpPr>
          <p:spPr bwMode="auto">
            <a:xfrm>
              <a:off x="2306360" y="1623943"/>
              <a:ext cx="114806" cy="114806"/>
            </a:xfrm>
            <a:custGeom>
              <a:avLst/>
              <a:gdLst>
                <a:gd name="T0" fmla="*/ 21 w 46"/>
                <a:gd name="T1" fmla="*/ 0 h 46"/>
                <a:gd name="T2" fmla="*/ 0 w 46"/>
                <a:gd name="T3" fmla="*/ 46 h 46"/>
                <a:gd name="T4" fmla="*/ 46 w 46"/>
                <a:gd name="T5" fmla="*/ 25 h 46"/>
                <a:gd name="T6" fmla="*/ 46 w 46"/>
                <a:gd name="T7" fmla="*/ 26 h 46"/>
                <a:gd name="T8" fmla="*/ 21 w 46"/>
                <a:gd name="T9" fmla="*/ 0 h 46"/>
                <a:gd name="T10" fmla="*/ 21 w 46"/>
                <a:gd name="T11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6" h="46">
                  <a:moveTo>
                    <a:pt x="21" y="0"/>
                  </a:moveTo>
                  <a:lnTo>
                    <a:pt x="0" y="46"/>
                  </a:lnTo>
                  <a:lnTo>
                    <a:pt x="46" y="25"/>
                  </a:lnTo>
                  <a:lnTo>
                    <a:pt x="46" y="26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  <p:sp>
          <p:nvSpPr>
            <p:cNvPr id="102" name="Freeform 9"/>
            <p:cNvSpPr/>
            <p:nvPr/>
          </p:nvSpPr>
          <p:spPr bwMode="auto">
            <a:xfrm>
              <a:off x="2371251" y="1344415"/>
              <a:ext cx="289511" cy="292007"/>
            </a:xfrm>
            <a:custGeom>
              <a:avLst/>
              <a:gdLst>
                <a:gd name="T0" fmla="*/ 105 w 116"/>
                <a:gd name="T1" fmla="*/ 0 h 117"/>
                <a:gd name="T2" fmla="*/ 0 w 116"/>
                <a:gd name="T3" fmla="*/ 106 h 117"/>
                <a:gd name="T4" fmla="*/ 11 w 116"/>
                <a:gd name="T5" fmla="*/ 117 h 117"/>
                <a:gd name="T6" fmla="*/ 116 w 116"/>
                <a:gd name="T7" fmla="*/ 10 h 117"/>
                <a:gd name="T8" fmla="*/ 105 w 116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105" y="0"/>
                  </a:moveTo>
                  <a:lnTo>
                    <a:pt x="0" y="106"/>
                  </a:lnTo>
                  <a:lnTo>
                    <a:pt x="11" y="117"/>
                  </a:lnTo>
                  <a:lnTo>
                    <a:pt x="116" y="10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  <p:sp>
          <p:nvSpPr>
            <p:cNvPr id="103" name="Freeform 10"/>
            <p:cNvSpPr/>
            <p:nvPr/>
          </p:nvSpPr>
          <p:spPr bwMode="auto">
            <a:xfrm>
              <a:off x="2411183" y="1384348"/>
              <a:ext cx="289511" cy="292007"/>
            </a:xfrm>
            <a:custGeom>
              <a:avLst/>
              <a:gdLst>
                <a:gd name="T0" fmla="*/ 107 w 116"/>
                <a:gd name="T1" fmla="*/ 0 h 117"/>
                <a:gd name="T2" fmla="*/ 0 w 116"/>
                <a:gd name="T3" fmla="*/ 106 h 117"/>
                <a:gd name="T4" fmla="*/ 11 w 116"/>
                <a:gd name="T5" fmla="*/ 117 h 117"/>
                <a:gd name="T6" fmla="*/ 116 w 116"/>
                <a:gd name="T7" fmla="*/ 10 h 117"/>
                <a:gd name="T8" fmla="*/ 107 w 116"/>
                <a:gd name="T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6" h="117">
                  <a:moveTo>
                    <a:pt x="107" y="0"/>
                  </a:moveTo>
                  <a:lnTo>
                    <a:pt x="0" y="106"/>
                  </a:lnTo>
                  <a:lnTo>
                    <a:pt x="11" y="117"/>
                  </a:lnTo>
                  <a:lnTo>
                    <a:pt x="116" y="10"/>
                  </a:lnTo>
                  <a:lnTo>
                    <a:pt x="10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  <p:sp>
          <p:nvSpPr>
            <p:cNvPr id="104" name="Freeform 11"/>
            <p:cNvSpPr/>
            <p:nvPr/>
          </p:nvSpPr>
          <p:spPr bwMode="auto">
            <a:xfrm>
              <a:off x="2653275" y="1306978"/>
              <a:ext cx="87353" cy="87353"/>
            </a:xfrm>
            <a:custGeom>
              <a:avLst/>
              <a:gdLst>
                <a:gd name="T0" fmla="*/ 17 w 26"/>
                <a:gd name="T1" fmla="*/ 8 h 26"/>
                <a:gd name="T2" fmla="*/ 0 w 26"/>
                <a:gd name="T3" fmla="*/ 7 h 26"/>
                <a:gd name="T4" fmla="*/ 19 w 26"/>
                <a:gd name="T5" fmla="*/ 26 h 26"/>
                <a:gd name="T6" fmla="*/ 17 w 26"/>
                <a:gd name="T7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26">
                  <a:moveTo>
                    <a:pt x="17" y="8"/>
                  </a:moveTo>
                  <a:cubicBezTo>
                    <a:pt x="9" y="0"/>
                    <a:pt x="0" y="7"/>
                    <a:pt x="0" y="7"/>
                  </a:cubicBezTo>
                  <a:cubicBezTo>
                    <a:pt x="19" y="26"/>
                    <a:pt x="19" y="26"/>
                    <a:pt x="19" y="26"/>
                  </a:cubicBezTo>
                  <a:cubicBezTo>
                    <a:pt x="19" y="26"/>
                    <a:pt x="26" y="17"/>
                    <a:pt x="1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384" tIns="45692" rIns="91384" bIns="45692" numCol="1" anchor="t" anchorCtr="0" compatLnSpc="1"/>
            <a:lstStyle/>
            <a:p>
              <a:endParaRPr lang="en-US" sz="1800"/>
            </a:p>
          </p:txBody>
        </p:sp>
      </p:grpSp>
      <p:sp>
        <p:nvSpPr>
          <p:cNvPr id="47" name="TextBox 5"/>
          <p:cNvSpPr txBox="1">
            <a:spLocks noChangeArrowheads="1"/>
          </p:cNvSpPr>
          <p:nvPr/>
        </p:nvSpPr>
        <p:spPr bwMode="auto">
          <a:xfrm>
            <a:off x="1379862" y="1588271"/>
            <a:ext cx="6794057" cy="9233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已知一棵二叉树的中序序列为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cbedafhgij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，后序序列为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cedbhjigfa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，画出该二叉树。</a:t>
            </a:r>
          </a:p>
        </p:txBody>
      </p:sp>
      <p:sp>
        <p:nvSpPr>
          <p:cNvPr id="48" name="TextBox 5"/>
          <p:cNvSpPr txBox="1">
            <a:spLocks noChangeArrowheads="1"/>
          </p:cNvSpPr>
          <p:nvPr/>
        </p:nvSpPr>
        <p:spPr bwMode="auto">
          <a:xfrm>
            <a:off x="1379862" y="2592834"/>
            <a:ext cx="6794057" cy="216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由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后序序列的最后一个结点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可推出该二叉树的树根为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，由中序序列可推出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的左子树由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cbed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组成，右子树由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fhgij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组成，又由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cbed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在后序序列中的顺序可推出该子树的根结点为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b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，其左子树只有一个结点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c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，右子树由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ed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组成，显然这里的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e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是根结点，其右子树为结点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d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……</a:t>
            </a:r>
            <a:endParaRPr lang="zh-CN" altLang="en-US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8980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50"/>
                            </p:stCondLst>
                            <p:childTnLst>
                              <p:par>
                                <p:cTn id="4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 tmFilter="0,0; .5, 1; 1, 1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85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85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87" grpId="0" autoUpdateAnimBg="0"/>
      <p:bldP spid="47" grpId="0"/>
      <p:bldP spid="4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二叉树的遍历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TextBox 5"/>
          <p:cNvSpPr txBox="1">
            <a:spLocks noChangeArrowheads="1"/>
          </p:cNvSpPr>
          <p:nvPr/>
        </p:nvSpPr>
        <p:spPr bwMode="auto">
          <a:xfrm>
            <a:off x="814851" y="900037"/>
            <a:ext cx="4635504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中序遍历序列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为：</a:t>
            </a:r>
            <a:r>
              <a:rPr lang="en-US" altLang="zh-CN" spc="600" dirty="0" err="1" smtClean="0">
                <a:latin typeface="百度综艺简体" panose="02010601030101010101" charset="-122"/>
                <a:ea typeface="百度综艺简体" panose="02010601030101010101" charset="-122"/>
              </a:rPr>
              <a:t>cbedafhgij</a:t>
            </a:r>
            <a:endParaRPr lang="en-US" altLang="zh-CN" spc="6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814850" y="1104876"/>
            <a:ext cx="7277822" cy="6463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20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后序遍历序列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为：</a:t>
            </a:r>
            <a:r>
              <a:rPr lang="en-US" altLang="zh-CN" spc="600" dirty="0" err="1" smtClean="0">
                <a:latin typeface="百度综艺简体" panose="02010601030101010101" charset="-122"/>
                <a:ea typeface="百度综艺简体" panose="02010601030101010101" charset="-122"/>
              </a:rPr>
              <a:t>cedbhjigfa</a:t>
            </a:r>
            <a:endParaRPr lang="en-US" altLang="zh-CN" spc="600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grpSp>
        <p:nvGrpSpPr>
          <p:cNvPr id="48" name="Group 2"/>
          <p:cNvGrpSpPr>
            <a:grpSpLocks/>
          </p:cNvGrpSpPr>
          <p:nvPr/>
        </p:nvGrpSpPr>
        <p:grpSpPr bwMode="auto">
          <a:xfrm>
            <a:off x="1791669" y="1974948"/>
            <a:ext cx="2221634" cy="874288"/>
            <a:chOff x="-90" y="432"/>
            <a:chExt cx="2165" cy="852"/>
          </a:xfrm>
        </p:grpSpPr>
        <p:cxnSp>
          <p:nvCxnSpPr>
            <p:cNvPr id="49" name="AutoShape 3" descr="花束"/>
            <p:cNvCxnSpPr>
              <a:cxnSpLocks noChangeShapeType="1"/>
              <a:stCxn id="55" idx="3"/>
            </p:cNvCxnSpPr>
            <p:nvPr/>
          </p:nvCxnSpPr>
          <p:spPr bwMode="auto">
            <a:xfrm flipH="1">
              <a:off x="583" y="678"/>
              <a:ext cx="227" cy="27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AutoShape 4" descr="花束"/>
            <p:cNvCxnSpPr>
              <a:cxnSpLocks noChangeShapeType="1"/>
              <a:stCxn id="55" idx="5"/>
            </p:cNvCxnSpPr>
            <p:nvPr/>
          </p:nvCxnSpPr>
          <p:spPr bwMode="auto">
            <a:xfrm>
              <a:off x="1014" y="678"/>
              <a:ext cx="239" cy="30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51" name="Group 5" descr="花束"/>
            <p:cNvGrpSpPr>
              <a:grpSpLocks/>
            </p:cNvGrpSpPr>
            <p:nvPr/>
          </p:nvGrpSpPr>
          <p:grpSpPr bwMode="auto">
            <a:xfrm>
              <a:off x="-90" y="432"/>
              <a:ext cx="2165" cy="852"/>
              <a:chOff x="-90" y="432"/>
              <a:chExt cx="2165" cy="852"/>
            </a:xfrm>
          </p:grpSpPr>
          <p:sp>
            <p:nvSpPr>
              <p:cNvPr id="55" name="Oval 7"/>
              <p:cNvSpPr>
                <a:spLocks noChangeArrowheads="1"/>
              </p:cNvSpPr>
              <p:nvPr/>
            </p:nvSpPr>
            <p:spPr bwMode="auto">
              <a:xfrm>
                <a:off x="768" y="432"/>
                <a:ext cx="288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dirty="0">
                    <a:solidFill>
                      <a:schemeClr val="bg1"/>
                    </a:solidFill>
                    <a:latin typeface="百度综艺简体" panose="02010601030101010101" pitchFamily="2" charset="-122"/>
                    <a:ea typeface="百度综艺简体" panose="02010601030101010101" pitchFamily="2" charset="-122"/>
                  </a:rPr>
                  <a:t>a</a:t>
                </a:r>
              </a:p>
            </p:txBody>
          </p:sp>
          <p:sp>
            <p:nvSpPr>
              <p:cNvPr id="53" name="Text Box 10"/>
              <p:cNvSpPr txBox="1">
                <a:spLocks noChangeArrowheads="1"/>
              </p:cNvSpPr>
              <p:nvPr/>
            </p:nvSpPr>
            <p:spPr bwMode="auto">
              <a:xfrm>
                <a:off x="-90" y="948"/>
                <a:ext cx="963" cy="330"/>
              </a:xfrm>
              <a:prstGeom prst="rect">
                <a:avLst/>
              </a:prstGeom>
              <a:solidFill>
                <a:srgbClr val="2A5B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600" spc="300" dirty="0" smtClean="0">
                    <a:solidFill>
                      <a:schemeClr val="bg1"/>
                    </a:solidFill>
                    <a:latin typeface="百度综艺简体" panose="02010601030101010101" pitchFamily="2" charset="-122"/>
                    <a:ea typeface="百度综艺简体" panose="02010601030101010101" pitchFamily="2" charset="-122"/>
                  </a:rPr>
                  <a:t> </a:t>
                </a:r>
                <a:r>
                  <a:rPr lang="en-US" altLang="zh-CN" sz="1600" spc="300" dirty="0" err="1" smtClean="0">
                    <a:solidFill>
                      <a:schemeClr val="bg1"/>
                    </a:solidFill>
                    <a:latin typeface="百度综艺简体" panose="02010601030101010101" pitchFamily="2" charset="-122"/>
                    <a:ea typeface="百度综艺简体" panose="02010601030101010101" pitchFamily="2" charset="-122"/>
                  </a:rPr>
                  <a:t>cbed</a:t>
                </a:r>
                <a:endParaRPr lang="en-US" altLang="zh-CN" sz="1600" spc="300" dirty="0">
                  <a:solidFill>
                    <a:schemeClr val="bg1"/>
                  </a:solidFill>
                  <a:latin typeface="百度综艺简体" panose="02010601030101010101" pitchFamily="2" charset="-122"/>
                  <a:ea typeface="百度综艺简体" panose="02010601030101010101" pitchFamily="2" charset="-122"/>
                </a:endParaRPr>
              </a:p>
            </p:txBody>
          </p:sp>
          <p:sp>
            <p:nvSpPr>
              <p:cNvPr id="54" name="Text Box 11"/>
              <p:cNvSpPr txBox="1">
                <a:spLocks noChangeArrowheads="1"/>
              </p:cNvSpPr>
              <p:nvPr/>
            </p:nvSpPr>
            <p:spPr bwMode="auto">
              <a:xfrm>
                <a:off x="1169" y="954"/>
                <a:ext cx="906" cy="330"/>
              </a:xfrm>
              <a:prstGeom prst="rect">
                <a:avLst/>
              </a:prstGeom>
              <a:solidFill>
                <a:srgbClr val="2A5B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spc="300" dirty="0" smtClean="0">
                    <a:solidFill>
                      <a:schemeClr val="bg1"/>
                    </a:solidFill>
                    <a:latin typeface="百度综艺简体" panose="02010601030101010101" pitchFamily="2" charset="-122"/>
                    <a:ea typeface="百度综艺简体" panose="02010601030101010101" pitchFamily="2" charset="-122"/>
                  </a:rPr>
                  <a:t> </a:t>
                </a:r>
                <a:r>
                  <a:rPr lang="en-US" altLang="zh-CN" sz="1600" spc="300" dirty="0" err="1" smtClean="0">
                    <a:solidFill>
                      <a:schemeClr val="bg1"/>
                    </a:solidFill>
                    <a:latin typeface="百度综艺简体" panose="02010601030101010101" pitchFamily="2" charset="-122"/>
                    <a:ea typeface="百度综艺简体" panose="02010601030101010101" pitchFamily="2" charset="-122"/>
                  </a:rPr>
                  <a:t>fhgij</a:t>
                </a:r>
                <a:endParaRPr lang="en-US" altLang="zh-CN" sz="1600" spc="300" dirty="0">
                  <a:solidFill>
                    <a:schemeClr val="bg1"/>
                  </a:solidFill>
                  <a:latin typeface="百度综艺简体" panose="02010601030101010101" pitchFamily="2" charset="-122"/>
                  <a:ea typeface="百度综艺简体" panose="02010601030101010101" pitchFamily="2" charset="-122"/>
                </a:endParaRPr>
              </a:p>
            </p:txBody>
          </p:sp>
        </p:grpSp>
      </p:grpSp>
      <p:sp>
        <p:nvSpPr>
          <p:cNvPr id="58" name="AutoShape 12"/>
          <p:cNvSpPr>
            <a:spLocks noChangeArrowheads="1"/>
          </p:cNvSpPr>
          <p:nvPr/>
        </p:nvSpPr>
        <p:spPr bwMode="auto">
          <a:xfrm>
            <a:off x="4697493" y="2361630"/>
            <a:ext cx="799317" cy="609600"/>
          </a:xfrm>
          <a:prstGeom prst="rightArrow">
            <a:avLst>
              <a:gd name="adj1" fmla="val 50000"/>
              <a:gd name="adj2" fmla="val 5777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59" name="Group 13"/>
          <p:cNvGrpSpPr>
            <a:grpSpLocks/>
          </p:cNvGrpSpPr>
          <p:nvPr/>
        </p:nvGrpSpPr>
        <p:grpSpPr bwMode="auto">
          <a:xfrm>
            <a:off x="6047117" y="1801094"/>
            <a:ext cx="2096755" cy="1154108"/>
            <a:chOff x="3292" y="384"/>
            <a:chExt cx="1993" cy="1097"/>
          </a:xfrm>
        </p:grpSpPr>
        <p:grpSp>
          <p:nvGrpSpPr>
            <p:cNvPr id="60" name="Group 14" descr="花束"/>
            <p:cNvGrpSpPr>
              <a:grpSpLocks/>
            </p:cNvGrpSpPr>
            <p:nvPr/>
          </p:nvGrpSpPr>
          <p:grpSpPr bwMode="auto">
            <a:xfrm>
              <a:off x="3601" y="384"/>
              <a:ext cx="1381" cy="796"/>
              <a:chOff x="2563" y="384"/>
              <a:chExt cx="1381" cy="796"/>
            </a:xfrm>
          </p:grpSpPr>
          <p:cxnSp>
            <p:nvCxnSpPr>
              <p:cNvPr id="65" name="AutoShape 15" descr="花束"/>
              <p:cNvCxnSpPr>
                <a:cxnSpLocks noChangeShapeType="1"/>
                <a:stCxn id="70" idx="7"/>
                <a:endCxn id="68" idx="3"/>
              </p:cNvCxnSpPr>
              <p:nvPr/>
            </p:nvCxnSpPr>
            <p:spPr bwMode="auto">
              <a:xfrm flipV="1">
                <a:off x="2886" y="630"/>
                <a:ext cx="180" cy="1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6" name="AutoShape 16" descr="花束"/>
              <p:cNvCxnSpPr>
                <a:cxnSpLocks noChangeShapeType="1"/>
                <a:stCxn id="68" idx="5"/>
                <a:endCxn id="69" idx="1"/>
              </p:cNvCxnSpPr>
              <p:nvPr/>
            </p:nvCxnSpPr>
            <p:spPr bwMode="auto">
              <a:xfrm>
                <a:off x="3270" y="630"/>
                <a:ext cx="132" cy="1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grpSp>
            <p:nvGrpSpPr>
              <p:cNvPr id="67" name="Group 17" descr="花束"/>
              <p:cNvGrpSpPr>
                <a:grpSpLocks/>
              </p:cNvGrpSpPr>
              <p:nvPr/>
            </p:nvGrpSpPr>
            <p:grpSpPr bwMode="auto">
              <a:xfrm>
                <a:off x="2563" y="384"/>
                <a:ext cx="1381" cy="796"/>
                <a:chOff x="2563" y="384"/>
                <a:chExt cx="1381" cy="796"/>
              </a:xfrm>
            </p:grpSpPr>
            <p:sp>
              <p:nvSpPr>
                <p:cNvPr id="68" name="Oval 18"/>
                <p:cNvSpPr>
                  <a:spLocks noChangeArrowheads="1"/>
                </p:cNvSpPr>
                <p:nvPr/>
              </p:nvSpPr>
              <p:spPr bwMode="auto">
                <a:xfrm>
                  <a:off x="3024" y="384"/>
                  <a:ext cx="288" cy="28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600" dirty="0">
                      <a:solidFill>
                        <a:schemeClr val="bg1"/>
                      </a:solidFill>
                      <a:latin typeface="百度综艺简体" panose="02010601030101010101" pitchFamily="2" charset="-122"/>
                      <a:ea typeface="百度综艺简体" panose="02010601030101010101" pitchFamily="2" charset="-122"/>
                    </a:rPr>
                    <a:t>a</a:t>
                  </a:r>
                </a:p>
              </p:txBody>
            </p:sp>
            <p:sp>
              <p:nvSpPr>
                <p:cNvPr id="69" name="Oval 19"/>
                <p:cNvSpPr>
                  <a:spLocks noChangeArrowheads="1"/>
                </p:cNvSpPr>
                <p:nvPr/>
              </p:nvSpPr>
              <p:spPr bwMode="auto">
                <a:xfrm>
                  <a:off x="3360" y="768"/>
                  <a:ext cx="288" cy="28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600">
                      <a:solidFill>
                        <a:schemeClr val="bg1"/>
                      </a:solidFill>
                      <a:latin typeface="百度综艺简体" panose="02010601030101010101" pitchFamily="2" charset="-122"/>
                      <a:ea typeface="百度综艺简体" panose="02010601030101010101" pitchFamily="2" charset="-122"/>
                    </a:rPr>
                    <a:t>f</a:t>
                  </a:r>
                </a:p>
              </p:txBody>
            </p:sp>
            <p:sp>
              <p:nvSpPr>
                <p:cNvPr id="70" name="Oval 20"/>
                <p:cNvSpPr>
                  <a:spLocks noChangeArrowheads="1"/>
                </p:cNvSpPr>
                <p:nvPr/>
              </p:nvSpPr>
              <p:spPr bwMode="auto">
                <a:xfrm>
                  <a:off x="2640" y="768"/>
                  <a:ext cx="288" cy="288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1600">
                      <a:solidFill>
                        <a:schemeClr val="bg1"/>
                      </a:solidFill>
                      <a:latin typeface="百度综艺简体" panose="02010601030101010101" pitchFamily="2" charset="-122"/>
                      <a:ea typeface="百度综艺简体" panose="02010601030101010101" pitchFamily="2" charset="-122"/>
                    </a:rPr>
                    <a:t>b</a:t>
                  </a:r>
                </a:p>
              </p:txBody>
            </p:sp>
            <p:cxnSp>
              <p:nvCxnSpPr>
                <p:cNvPr id="74" name="AutoShape 24" descr="花束"/>
                <p:cNvCxnSpPr>
                  <a:cxnSpLocks noChangeShapeType="1"/>
                  <a:stCxn id="70" idx="3"/>
                </p:cNvCxnSpPr>
                <p:nvPr/>
              </p:nvCxnSpPr>
              <p:spPr bwMode="auto">
                <a:xfrm flipH="1">
                  <a:off x="2563" y="1014"/>
                  <a:ext cx="119" cy="164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75" name="AutoShape 25" descr="花束"/>
                <p:cNvCxnSpPr>
                  <a:cxnSpLocks noChangeShapeType="1"/>
                  <a:stCxn id="70" idx="5"/>
                  <a:endCxn id="63" idx="0"/>
                </p:cNvCxnSpPr>
                <p:nvPr/>
              </p:nvCxnSpPr>
              <p:spPr bwMode="auto">
                <a:xfrm>
                  <a:off x="2886" y="1014"/>
                  <a:ext cx="181" cy="166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76" name="AutoShape 26" descr="花束"/>
                <p:cNvCxnSpPr>
                  <a:cxnSpLocks noChangeShapeType="1"/>
                  <a:stCxn id="69" idx="5"/>
                  <a:endCxn id="64" idx="0"/>
                </p:cNvCxnSpPr>
                <p:nvPr/>
              </p:nvCxnSpPr>
              <p:spPr bwMode="auto">
                <a:xfrm>
                  <a:off x="3606" y="1014"/>
                  <a:ext cx="338" cy="164"/>
                </a:xfrm>
                <a:prstGeom prst="straightConnector1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</p:grpSp>
        <p:grpSp>
          <p:nvGrpSpPr>
            <p:cNvPr id="61" name="Group 27" descr="花束"/>
            <p:cNvGrpSpPr>
              <a:grpSpLocks/>
            </p:cNvGrpSpPr>
            <p:nvPr/>
          </p:nvGrpSpPr>
          <p:grpSpPr bwMode="auto">
            <a:xfrm>
              <a:off x="3292" y="1178"/>
              <a:ext cx="1993" cy="303"/>
              <a:chOff x="3292" y="1178"/>
              <a:chExt cx="1993" cy="303"/>
            </a:xfrm>
          </p:grpSpPr>
          <p:sp>
            <p:nvSpPr>
              <p:cNvPr id="62" name="Text Box 28"/>
              <p:cNvSpPr txBox="1">
                <a:spLocks noChangeArrowheads="1"/>
              </p:cNvSpPr>
              <p:nvPr/>
            </p:nvSpPr>
            <p:spPr bwMode="auto">
              <a:xfrm>
                <a:off x="3292" y="1180"/>
                <a:ext cx="355" cy="301"/>
              </a:xfrm>
              <a:prstGeom prst="rect">
                <a:avLst/>
              </a:prstGeom>
              <a:solidFill>
                <a:srgbClr val="2A5B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600" dirty="0">
                    <a:solidFill>
                      <a:schemeClr val="bg1"/>
                    </a:solidFill>
                    <a:latin typeface="百度综艺简体" panose="02010601030101010101" pitchFamily="2" charset="-122"/>
                    <a:ea typeface="百度综艺简体" panose="02010601030101010101" pitchFamily="2" charset="-122"/>
                  </a:rPr>
                  <a:t>c</a:t>
                </a:r>
              </a:p>
            </p:txBody>
          </p:sp>
          <p:sp>
            <p:nvSpPr>
              <p:cNvPr id="63" name="Text Box 29"/>
              <p:cNvSpPr txBox="1">
                <a:spLocks noChangeArrowheads="1"/>
              </p:cNvSpPr>
              <p:nvPr/>
            </p:nvSpPr>
            <p:spPr bwMode="auto">
              <a:xfrm>
                <a:off x="3889" y="1180"/>
                <a:ext cx="432" cy="301"/>
              </a:xfrm>
              <a:prstGeom prst="rect">
                <a:avLst/>
              </a:prstGeom>
              <a:solidFill>
                <a:srgbClr val="2A5B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600">
                    <a:solidFill>
                      <a:schemeClr val="bg1"/>
                    </a:solidFill>
                    <a:latin typeface="百度综艺简体" panose="02010601030101010101" pitchFamily="2" charset="-122"/>
                    <a:ea typeface="百度综艺简体" panose="02010601030101010101" pitchFamily="2" charset="-122"/>
                  </a:rPr>
                  <a:t>ed</a:t>
                </a:r>
              </a:p>
            </p:txBody>
          </p:sp>
          <p:sp>
            <p:nvSpPr>
              <p:cNvPr id="64" name="Text Box 30"/>
              <p:cNvSpPr txBox="1">
                <a:spLocks noChangeArrowheads="1"/>
              </p:cNvSpPr>
              <p:nvPr/>
            </p:nvSpPr>
            <p:spPr bwMode="auto">
              <a:xfrm>
                <a:off x="4678" y="1178"/>
                <a:ext cx="607" cy="301"/>
              </a:xfrm>
              <a:prstGeom prst="rect">
                <a:avLst/>
              </a:prstGeom>
              <a:solidFill>
                <a:srgbClr val="2A5BA8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sz="1600" dirty="0" err="1">
                    <a:solidFill>
                      <a:schemeClr val="bg1"/>
                    </a:solidFill>
                    <a:latin typeface="百度综艺简体" panose="02010601030101010101" pitchFamily="2" charset="-122"/>
                    <a:ea typeface="百度综艺简体" panose="02010601030101010101" pitchFamily="2" charset="-122"/>
                  </a:rPr>
                  <a:t>h</a:t>
                </a:r>
                <a:r>
                  <a:rPr lang="en-US" altLang="zh-CN" sz="1600" dirty="0" err="1" smtClean="0">
                    <a:solidFill>
                      <a:schemeClr val="bg1"/>
                    </a:solidFill>
                    <a:latin typeface="百度综艺简体" panose="02010601030101010101" pitchFamily="2" charset="-122"/>
                    <a:ea typeface="百度综艺简体" panose="02010601030101010101" pitchFamily="2" charset="-122"/>
                  </a:rPr>
                  <a:t>gij</a:t>
                </a:r>
                <a:endParaRPr lang="en-US" altLang="zh-CN" sz="1600" dirty="0">
                  <a:solidFill>
                    <a:schemeClr val="bg1"/>
                  </a:solidFill>
                  <a:latin typeface="百度综艺简体" panose="02010601030101010101" pitchFamily="2" charset="-122"/>
                  <a:ea typeface="百度综艺简体" panose="02010601030101010101" pitchFamily="2" charset="-122"/>
                </a:endParaRPr>
              </a:p>
            </p:txBody>
          </p:sp>
        </p:grpSp>
      </p:grpSp>
      <p:sp>
        <p:nvSpPr>
          <p:cNvPr id="77" name="AutoShape 31"/>
          <p:cNvSpPr>
            <a:spLocks noChangeArrowheads="1"/>
          </p:cNvSpPr>
          <p:nvPr/>
        </p:nvSpPr>
        <p:spPr bwMode="auto">
          <a:xfrm>
            <a:off x="425337" y="3834926"/>
            <a:ext cx="720481" cy="609600"/>
          </a:xfrm>
          <a:prstGeom prst="rightArrow">
            <a:avLst>
              <a:gd name="adj1" fmla="val 50000"/>
              <a:gd name="adj2" fmla="val 5021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78" name="AutoShape 32"/>
          <p:cNvSpPr>
            <a:spLocks noChangeArrowheads="1"/>
          </p:cNvSpPr>
          <p:nvPr/>
        </p:nvSpPr>
        <p:spPr bwMode="auto">
          <a:xfrm>
            <a:off x="3950243" y="3796241"/>
            <a:ext cx="779922" cy="609600"/>
          </a:xfrm>
          <a:prstGeom prst="rightArrow">
            <a:avLst>
              <a:gd name="adj1" fmla="val 50000"/>
              <a:gd name="adj2" fmla="val 5021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99" name="Group 54"/>
          <p:cNvGrpSpPr>
            <a:grpSpLocks/>
          </p:cNvGrpSpPr>
          <p:nvPr/>
        </p:nvGrpSpPr>
        <p:grpSpPr bwMode="auto">
          <a:xfrm>
            <a:off x="5037753" y="3202163"/>
            <a:ext cx="2091934" cy="1797756"/>
            <a:chOff x="3168" y="2505"/>
            <a:chExt cx="2112" cy="1815"/>
          </a:xfrm>
        </p:grpSpPr>
        <p:cxnSp>
          <p:nvCxnSpPr>
            <p:cNvPr id="100" name="AutoShape 55"/>
            <p:cNvCxnSpPr>
              <a:cxnSpLocks noChangeShapeType="1"/>
              <a:stCxn id="103" idx="5"/>
              <a:endCxn id="105" idx="0"/>
            </p:cNvCxnSpPr>
            <p:nvPr/>
          </p:nvCxnSpPr>
          <p:spPr bwMode="auto">
            <a:xfrm>
              <a:off x="4566" y="3081"/>
              <a:ext cx="13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1" name="Oval 56"/>
            <p:cNvSpPr>
              <a:spLocks noChangeArrowheads="1"/>
            </p:cNvSpPr>
            <p:nvPr/>
          </p:nvSpPr>
          <p:spPr bwMode="auto">
            <a:xfrm>
              <a:off x="3935" y="2505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solidFill>
                    <a:schemeClr val="bg1"/>
                  </a:solidFill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a</a:t>
              </a:r>
            </a:p>
          </p:txBody>
        </p:sp>
        <p:sp>
          <p:nvSpPr>
            <p:cNvPr id="102" name="Oval 57"/>
            <p:cNvSpPr>
              <a:spLocks noChangeArrowheads="1"/>
            </p:cNvSpPr>
            <p:nvPr/>
          </p:nvSpPr>
          <p:spPr bwMode="auto">
            <a:xfrm>
              <a:off x="3504" y="2835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solidFill>
                    <a:schemeClr val="bg1"/>
                  </a:solidFill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b</a:t>
              </a:r>
            </a:p>
          </p:txBody>
        </p:sp>
        <p:sp>
          <p:nvSpPr>
            <p:cNvPr id="103" name="Oval 58"/>
            <p:cNvSpPr>
              <a:spLocks noChangeArrowheads="1"/>
            </p:cNvSpPr>
            <p:nvPr/>
          </p:nvSpPr>
          <p:spPr bwMode="auto">
            <a:xfrm>
              <a:off x="4320" y="2835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chemeClr val="bg1"/>
                  </a:solidFill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f</a:t>
              </a:r>
            </a:p>
          </p:txBody>
        </p:sp>
        <p:sp>
          <p:nvSpPr>
            <p:cNvPr id="104" name="Oval 59"/>
            <p:cNvSpPr>
              <a:spLocks noChangeArrowheads="1"/>
            </p:cNvSpPr>
            <p:nvPr/>
          </p:nvSpPr>
          <p:spPr bwMode="auto">
            <a:xfrm>
              <a:off x="3168" y="3315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chemeClr val="bg1"/>
                  </a:solidFill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c</a:t>
              </a:r>
            </a:p>
          </p:txBody>
        </p:sp>
        <p:sp>
          <p:nvSpPr>
            <p:cNvPr id="105" name="Oval 60"/>
            <p:cNvSpPr>
              <a:spLocks noChangeArrowheads="1"/>
            </p:cNvSpPr>
            <p:nvPr/>
          </p:nvSpPr>
          <p:spPr bwMode="auto">
            <a:xfrm>
              <a:off x="4560" y="3315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chemeClr val="bg1"/>
                  </a:solidFill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g</a:t>
              </a:r>
            </a:p>
          </p:txBody>
        </p:sp>
        <p:sp>
          <p:nvSpPr>
            <p:cNvPr id="106" name="Oval 61"/>
            <p:cNvSpPr>
              <a:spLocks noChangeArrowheads="1"/>
            </p:cNvSpPr>
            <p:nvPr/>
          </p:nvSpPr>
          <p:spPr bwMode="auto">
            <a:xfrm>
              <a:off x="3744" y="3315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chemeClr val="bg1"/>
                  </a:solidFill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d</a:t>
              </a:r>
            </a:p>
          </p:txBody>
        </p:sp>
        <p:cxnSp>
          <p:nvCxnSpPr>
            <p:cNvPr id="107" name="AutoShape 62" descr="花束"/>
            <p:cNvCxnSpPr>
              <a:cxnSpLocks noChangeShapeType="1"/>
              <a:stCxn id="102" idx="3"/>
              <a:endCxn id="104" idx="0"/>
            </p:cNvCxnSpPr>
            <p:nvPr/>
          </p:nvCxnSpPr>
          <p:spPr bwMode="auto">
            <a:xfrm flipH="1">
              <a:off x="3312" y="3081"/>
              <a:ext cx="234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8" name="AutoShape 63" descr="花束"/>
            <p:cNvCxnSpPr>
              <a:cxnSpLocks noChangeShapeType="1"/>
              <a:stCxn id="102" idx="5"/>
              <a:endCxn id="106" idx="0"/>
            </p:cNvCxnSpPr>
            <p:nvPr/>
          </p:nvCxnSpPr>
          <p:spPr bwMode="auto">
            <a:xfrm>
              <a:off x="3750" y="3081"/>
              <a:ext cx="138" cy="23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9" name="AutoShape 64" descr="花束"/>
            <p:cNvCxnSpPr>
              <a:cxnSpLocks noChangeShapeType="1"/>
              <a:stCxn id="101" idx="3"/>
              <a:endCxn id="102" idx="7"/>
            </p:cNvCxnSpPr>
            <p:nvPr/>
          </p:nvCxnSpPr>
          <p:spPr bwMode="auto">
            <a:xfrm flipH="1">
              <a:off x="3750" y="2751"/>
              <a:ext cx="227" cy="1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0" name="AutoShape 65" descr="花束"/>
            <p:cNvCxnSpPr>
              <a:cxnSpLocks noChangeShapeType="1"/>
              <a:stCxn id="101" idx="5"/>
              <a:endCxn id="103" idx="1"/>
            </p:cNvCxnSpPr>
            <p:nvPr/>
          </p:nvCxnSpPr>
          <p:spPr bwMode="auto">
            <a:xfrm>
              <a:off x="4181" y="2751"/>
              <a:ext cx="181" cy="126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1" name="AutoShape 66" descr="花束"/>
            <p:cNvCxnSpPr>
              <a:cxnSpLocks noChangeShapeType="1"/>
              <a:stCxn id="105" idx="3"/>
            </p:cNvCxnSpPr>
            <p:nvPr/>
          </p:nvCxnSpPr>
          <p:spPr bwMode="auto">
            <a:xfrm flipH="1">
              <a:off x="4507" y="3561"/>
              <a:ext cx="95" cy="25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12" name="Line 67"/>
            <p:cNvSpPr>
              <a:spLocks noChangeShapeType="1"/>
            </p:cNvSpPr>
            <p:nvPr/>
          </p:nvSpPr>
          <p:spPr bwMode="auto">
            <a:xfrm flipH="1">
              <a:off x="3696" y="3603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solidFill>
                  <a:schemeClr val="bg1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113" name="Oval 68"/>
            <p:cNvSpPr>
              <a:spLocks noChangeArrowheads="1"/>
            </p:cNvSpPr>
            <p:nvPr/>
          </p:nvSpPr>
          <p:spPr bwMode="auto">
            <a:xfrm>
              <a:off x="3552" y="3795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chemeClr val="bg1"/>
                  </a:solidFill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e</a:t>
              </a:r>
            </a:p>
          </p:txBody>
        </p:sp>
        <p:sp>
          <p:nvSpPr>
            <p:cNvPr id="114" name="Oval 69"/>
            <p:cNvSpPr>
              <a:spLocks noChangeArrowheads="1"/>
            </p:cNvSpPr>
            <p:nvPr/>
          </p:nvSpPr>
          <p:spPr bwMode="auto">
            <a:xfrm>
              <a:off x="4368" y="3744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chemeClr val="bg1"/>
                  </a:solidFill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h</a:t>
              </a:r>
            </a:p>
          </p:txBody>
        </p:sp>
        <p:sp>
          <p:nvSpPr>
            <p:cNvPr id="115" name="Oval 70"/>
            <p:cNvSpPr>
              <a:spLocks noChangeArrowheads="1"/>
            </p:cNvSpPr>
            <p:nvPr/>
          </p:nvSpPr>
          <p:spPr bwMode="auto">
            <a:xfrm>
              <a:off x="4800" y="3696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dirty="0" err="1">
                  <a:solidFill>
                    <a:schemeClr val="bg1"/>
                  </a:solidFill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i</a:t>
              </a:r>
              <a:endParaRPr lang="en-US" altLang="zh-CN" sz="1600" dirty="0">
                <a:solidFill>
                  <a:schemeClr val="bg1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116" name="Oval 71"/>
            <p:cNvSpPr>
              <a:spLocks noChangeArrowheads="1"/>
            </p:cNvSpPr>
            <p:nvPr/>
          </p:nvSpPr>
          <p:spPr bwMode="auto">
            <a:xfrm>
              <a:off x="4992" y="4032"/>
              <a:ext cx="288" cy="28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chemeClr val="bg1"/>
                  </a:solidFill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j</a:t>
              </a:r>
            </a:p>
          </p:txBody>
        </p:sp>
        <p:sp>
          <p:nvSpPr>
            <p:cNvPr id="117" name="Line 72"/>
            <p:cNvSpPr>
              <a:spLocks noChangeShapeType="1"/>
            </p:cNvSpPr>
            <p:nvPr/>
          </p:nvSpPr>
          <p:spPr bwMode="auto">
            <a:xfrm>
              <a:off x="4800" y="3552"/>
              <a:ext cx="96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solidFill>
                  <a:schemeClr val="bg1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118" name="Line 73"/>
            <p:cNvSpPr>
              <a:spLocks noChangeShapeType="1"/>
            </p:cNvSpPr>
            <p:nvPr/>
          </p:nvSpPr>
          <p:spPr bwMode="auto">
            <a:xfrm>
              <a:off x="5040" y="3936"/>
              <a:ext cx="48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solidFill>
                  <a:schemeClr val="bg1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1515557" y="3090221"/>
            <a:ext cx="1958005" cy="1745528"/>
            <a:chOff x="1515557" y="3090221"/>
            <a:chExt cx="1958005" cy="1745528"/>
          </a:xfrm>
        </p:grpSpPr>
        <p:grpSp>
          <p:nvGrpSpPr>
            <p:cNvPr id="79" name="Group 34"/>
            <p:cNvGrpSpPr>
              <a:grpSpLocks/>
            </p:cNvGrpSpPr>
            <p:nvPr/>
          </p:nvGrpSpPr>
          <p:grpSpPr bwMode="auto">
            <a:xfrm>
              <a:off x="1515557" y="3090221"/>
              <a:ext cx="1799253" cy="1716697"/>
              <a:chOff x="816" y="2304"/>
              <a:chExt cx="1747" cy="1680"/>
            </a:xfrm>
          </p:grpSpPr>
          <p:cxnSp>
            <p:nvCxnSpPr>
              <p:cNvPr id="81" name="AutoShape 36"/>
              <p:cNvCxnSpPr>
                <a:cxnSpLocks noChangeShapeType="1"/>
                <a:stCxn id="84" idx="5"/>
                <a:endCxn id="86" idx="0"/>
              </p:cNvCxnSpPr>
              <p:nvPr/>
            </p:nvCxnSpPr>
            <p:spPr bwMode="auto">
              <a:xfrm>
                <a:off x="2214" y="2982"/>
                <a:ext cx="138" cy="23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82" name="Oval 37"/>
              <p:cNvSpPr>
                <a:spLocks noChangeArrowheads="1"/>
              </p:cNvSpPr>
              <p:nvPr/>
            </p:nvSpPr>
            <p:spPr bwMode="auto">
              <a:xfrm>
                <a:off x="1584" y="2304"/>
                <a:ext cx="288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dirty="0">
                    <a:solidFill>
                      <a:schemeClr val="bg1"/>
                    </a:solidFill>
                    <a:latin typeface="百度综艺简体" panose="02010601030101010101" pitchFamily="2" charset="-122"/>
                    <a:ea typeface="百度综艺简体" panose="02010601030101010101" pitchFamily="2" charset="-122"/>
                  </a:rPr>
                  <a:t>a</a:t>
                </a:r>
              </a:p>
            </p:txBody>
          </p:sp>
          <p:sp>
            <p:nvSpPr>
              <p:cNvPr id="83" name="Oval 38"/>
              <p:cNvSpPr>
                <a:spLocks noChangeArrowheads="1"/>
              </p:cNvSpPr>
              <p:nvPr/>
            </p:nvSpPr>
            <p:spPr bwMode="auto">
              <a:xfrm>
                <a:off x="1152" y="2736"/>
                <a:ext cx="288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solidFill>
                      <a:schemeClr val="bg1"/>
                    </a:solidFill>
                    <a:latin typeface="百度综艺简体" panose="02010601030101010101" pitchFamily="2" charset="-122"/>
                    <a:ea typeface="百度综艺简体" panose="02010601030101010101" pitchFamily="2" charset="-122"/>
                  </a:rPr>
                  <a:t>b</a:t>
                </a:r>
              </a:p>
            </p:txBody>
          </p:sp>
          <p:sp>
            <p:nvSpPr>
              <p:cNvPr id="84" name="Oval 39"/>
              <p:cNvSpPr>
                <a:spLocks noChangeArrowheads="1"/>
              </p:cNvSpPr>
              <p:nvPr/>
            </p:nvSpPr>
            <p:spPr bwMode="auto">
              <a:xfrm>
                <a:off x="1968" y="2736"/>
                <a:ext cx="288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solidFill>
                      <a:schemeClr val="bg1"/>
                    </a:solidFill>
                    <a:latin typeface="百度综艺简体" panose="02010601030101010101" pitchFamily="2" charset="-122"/>
                    <a:ea typeface="百度综艺简体" panose="02010601030101010101" pitchFamily="2" charset="-122"/>
                  </a:rPr>
                  <a:t>f</a:t>
                </a:r>
              </a:p>
            </p:txBody>
          </p:sp>
          <p:sp>
            <p:nvSpPr>
              <p:cNvPr id="85" name="Oval 40"/>
              <p:cNvSpPr>
                <a:spLocks noChangeArrowheads="1"/>
              </p:cNvSpPr>
              <p:nvPr/>
            </p:nvSpPr>
            <p:spPr bwMode="auto">
              <a:xfrm>
                <a:off x="816" y="3216"/>
                <a:ext cx="288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solidFill>
                      <a:schemeClr val="bg1"/>
                    </a:solidFill>
                    <a:latin typeface="百度综艺简体" panose="02010601030101010101" pitchFamily="2" charset="-122"/>
                    <a:ea typeface="百度综艺简体" panose="02010601030101010101" pitchFamily="2" charset="-122"/>
                  </a:rPr>
                  <a:t>c</a:t>
                </a:r>
              </a:p>
            </p:txBody>
          </p:sp>
          <p:sp>
            <p:nvSpPr>
              <p:cNvPr id="86" name="Oval 41"/>
              <p:cNvSpPr>
                <a:spLocks noChangeArrowheads="1"/>
              </p:cNvSpPr>
              <p:nvPr/>
            </p:nvSpPr>
            <p:spPr bwMode="auto">
              <a:xfrm>
                <a:off x="2208" y="3216"/>
                <a:ext cx="288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solidFill>
                      <a:schemeClr val="bg1"/>
                    </a:solidFill>
                    <a:latin typeface="百度综艺简体" panose="02010601030101010101" pitchFamily="2" charset="-122"/>
                    <a:ea typeface="百度综艺简体" panose="02010601030101010101" pitchFamily="2" charset="-122"/>
                  </a:rPr>
                  <a:t>g</a:t>
                </a:r>
              </a:p>
            </p:txBody>
          </p:sp>
          <p:sp>
            <p:nvSpPr>
              <p:cNvPr id="87" name="Oval 42"/>
              <p:cNvSpPr>
                <a:spLocks noChangeArrowheads="1"/>
              </p:cNvSpPr>
              <p:nvPr/>
            </p:nvSpPr>
            <p:spPr bwMode="auto">
              <a:xfrm>
                <a:off x="1392" y="3216"/>
                <a:ext cx="288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solidFill>
                      <a:schemeClr val="bg1"/>
                    </a:solidFill>
                    <a:latin typeface="百度综艺简体" panose="02010601030101010101" pitchFamily="2" charset="-122"/>
                    <a:ea typeface="百度综艺简体" panose="02010601030101010101" pitchFamily="2" charset="-122"/>
                  </a:rPr>
                  <a:t>d</a:t>
                </a:r>
              </a:p>
            </p:txBody>
          </p:sp>
          <p:cxnSp>
            <p:nvCxnSpPr>
              <p:cNvPr id="88" name="AutoShape 43" descr="花束"/>
              <p:cNvCxnSpPr>
                <a:cxnSpLocks noChangeShapeType="1"/>
                <a:stCxn id="83" idx="3"/>
                <a:endCxn id="85" idx="0"/>
              </p:cNvCxnSpPr>
              <p:nvPr/>
            </p:nvCxnSpPr>
            <p:spPr bwMode="auto">
              <a:xfrm flipH="1">
                <a:off x="960" y="2982"/>
                <a:ext cx="234" cy="23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9" name="AutoShape 44" descr="花束"/>
              <p:cNvCxnSpPr>
                <a:cxnSpLocks noChangeShapeType="1"/>
                <a:stCxn id="83" idx="5"/>
                <a:endCxn id="87" idx="0"/>
              </p:cNvCxnSpPr>
              <p:nvPr/>
            </p:nvCxnSpPr>
            <p:spPr bwMode="auto">
              <a:xfrm>
                <a:off x="1398" y="2982"/>
                <a:ext cx="138" cy="23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0" name="AutoShape 45" descr="花束"/>
              <p:cNvCxnSpPr>
                <a:cxnSpLocks noChangeShapeType="1"/>
                <a:stCxn id="82" idx="3"/>
                <a:endCxn id="83" idx="7"/>
              </p:cNvCxnSpPr>
              <p:nvPr/>
            </p:nvCxnSpPr>
            <p:spPr bwMode="auto">
              <a:xfrm flipH="1">
                <a:off x="1398" y="2550"/>
                <a:ext cx="228" cy="2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1" name="AutoShape 46" descr="花束"/>
              <p:cNvCxnSpPr>
                <a:cxnSpLocks noChangeShapeType="1"/>
                <a:stCxn id="82" idx="5"/>
                <a:endCxn id="84" idx="1"/>
              </p:cNvCxnSpPr>
              <p:nvPr/>
            </p:nvCxnSpPr>
            <p:spPr bwMode="auto">
              <a:xfrm>
                <a:off x="1830" y="2550"/>
                <a:ext cx="180" cy="2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3" name="AutoShape 48" descr="花束"/>
              <p:cNvCxnSpPr>
                <a:cxnSpLocks noChangeShapeType="1"/>
                <a:stCxn id="86" idx="3"/>
              </p:cNvCxnSpPr>
              <p:nvPr/>
            </p:nvCxnSpPr>
            <p:spPr bwMode="auto">
              <a:xfrm flipH="1">
                <a:off x="2155" y="3462"/>
                <a:ext cx="95" cy="25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4" name="AutoShape 49" descr="花束"/>
              <p:cNvCxnSpPr>
                <a:cxnSpLocks noChangeShapeType="1"/>
                <a:stCxn id="86" idx="5"/>
              </p:cNvCxnSpPr>
              <p:nvPr/>
            </p:nvCxnSpPr>
            <p:spPr bwMode="auto">
              <a:xfrm>
                <a:off x="2454" y="3462"/>
                <a:ext cx="109" cy="25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97" name="Line 52"/>
              <p:cNvSpPr>
                <a:spLocks noChangeShapeType="1"/>
              </p:cNvSpPr>
              <p:nvPr/>
            </p:nvSpPr>
            <p:spPr bwMode="auto">
              <a:xfrm flipH="1">
                <a:off x="1344" y="3504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600">
                  <a:solidFill>
                    <a:schemeClr val="bg1"/>
                  </a:solidFill>
                  <a:latin typeface="百度综艺简体" panose="02010601030101010101" pitchFamily="2" charset="-122"/>
                  <a:ea typeface="百度综艺简体" panose="02010601030101010101" pitchFamily="2" charset="-122"/>
                </a:endParaRPr>
              </a:p>
            </p:txBody>
          </p:sp>
          <p:sp>
            <p:nvSpPr>
              <p:cNvPr id="98" name="Oval 53"/>
              <p:cNvSpPr>
                <a:spLocks noChangeArrowheads="1"/>
              </p:cNvSpPr>
              <p:nvPr/>
            </p:nvSpPr>
            <p:spPr bwMode="auto">
              <a:xfrm>
                <a:off x="1200" y="3696"/>
                <a:ext cx="288" cy="28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>
                    <a:solidFill>
                      <a:schemeClr val="bg1"/>
                    </a:solidFill>
                    <a:latin typeface="百度综艺简体" panose="02010601030101010101" pitchFamily="2" charset="-122"/>
                    <a:ea typeface="百度综艺简体" panose="02010601030101010101" pitchFamily="2" charset="-122"/>
                  </a:rPr>
                  <a:t>e</a:t>
                </a:r>
              </a:p>
            </p:txBody>
          </p:sp>
        </p:grpSp>
        <p:sp>
          <p:nvSpPr>
            <p:cNvPr id="141" name="Oval 53"/>
            <p:cNvSpPr>
              <a:spLocks noChangeArrowheads="1"/>
            </p:cNvSpPr>
            <p:nvPr/>
          </p:nvSpPr>
          <p:spPr bwMode="auto">
            <a:xfrm>
              <a:off x="2737046" y="4541458"/>
              <a:ext cx="296614" cy="2942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dirty="0" smtClean="0">
                  <a:solidFill>
                    <a:schemeClr val="bg1"/>
                  </a:solidFill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h</a:t>
              </a:r>
              <a:endParaRPr lang="en-US" altLang="zh-CN" sz="1600" dirty="0">
                <a:solidFill>
                  <a:schemeClr val="bg1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142" name="Oval 53"/>
            <p:cNvSpPr>
              <a:spLocks noChangeArrowheads="1"/>
            </p:cNvSpPr>
            <p:nvPr/>
          </p:nvSpPr>
          <p:spPr bwMode="auto">
            <a:xfrm>
              <a:off x="3176948" y="4519965"/>
              <a:ext cx="296614" cy="29429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600" dirty="0" err="1" smtClean="0">
                  <a:solidFill>
                    <a:schemeClr val="bg1"/>
                  </a:solidFill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i</a:t>
              </a:r>
              <a:r>
                <a:rPr lang="en-US" altLang="zh-CN" sz="1600" dirty="0" err="1">
                  <a:solidFill>
                    <a:schemeClr val="bg1"/>
                  </a:solidFill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j</a:t>
              </a:r>
              <a:endParaRPr lang="en-US" altLang="zh-CN" sz="1600" dirty="0">
                <a:solidFill>
                  <a:schemeClr val="bg1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1682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18" grpId="0"/>
      <p:bldP spid="20" grpId="0"/>
      <p:bldP spid="58" grpId="0" animBg="1"/>
      <p:bldP spid="77" grpId="0" animBg="1"/>
      <p:bldP spid="78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自定义 64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A5BA8"/>
      </a:accent1>
      <a:accent2>
        <a:srgbClr val="48AC92"/>
      </a:accent2>
      <a:accent3>
        <a:srgbClr val="2A5BA8"/>
      </a:accent3>
      <a:accent4>
        <a:srgbClr val="48AC9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661</TotalTime>
  <Words>662</Words>
  <Application>Microsoft Office PowerPoint</Application>
  <PresentationFormat>自定义</PresentationFormat>
  <Paragraphs>143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Lato Light</vt:lpstr>
      <vt:lpstr>百度综艺简体</vt:lpstr>
      <vt:lpstr>等线</vt:lpstr>
      <vt:lpstr>等线 Light</vt:lpstr>
      <vt:lpstr>楷体_GB2312</vt:lpstr>
      <vt:lpstr>宋体</vt:lpstr>
      <vt:lpstr>微软雅黑</vt:lpstr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Neusoft</cp:lastModifiedBy>
  <cp:revision>62</cp:revision>
  <dcterms:created xsi:type="dcterms:W3CDTF">2017-06-21T11:46:00Z</dcterms:created>
  <dcterms:modified xsi:type="dcterms:W3CDTF">2020-07-08T11:54:12Z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