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83" r:id="rId2"/>
    <p:sldId id="284" r:id="rId3"/>
    <p:sldId id="315" r:id="rId4"/>
    <p:sldId id="316" r:id="rId5"/>
    <p:sldId id="317" r:id="rId6"/>
    <p:sldId id="318" r:id="rId7"/>
    <p:sldId id="319" r:id="rId8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085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4012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382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596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3886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965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2868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2023/10/20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20/10/2023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2023/10/20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742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</a:t>
            </a: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夫曼编码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93660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电文：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ABACCDA 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altLang="zh-CN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Huffman</a:t>
            </a: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编码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Group 4"/>
          <p:cNvGrpSpPr>
            <a:grpSpLocks/>
          </p:cNvGrpSpPr>
          <p:nvPr/>
        </p:nvGrpSpPr>
        <p:grpSpPr bwMode="auto">
          <a:xfrm>
            <a:off x="1371600" y="2209800"/>
            <a:ext cx="4770783" cy="1200150"/>
            <a:chOff x="864" y="1392"/>
            <a:chExt cx="2650" cy="756"/>
          </a:xfrm>
        </p:grpSpPr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1008" y="1392"/>
              <a:ext cx="86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A:00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B:01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C:10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D:11</a:t>
              </a:r>
            </a:p>
          </p:txBody>
        </p:sp>
        <p:sp>
          <p:nvSpPr>
            <p:cNvPr id="20" name="Rectangle 6"/>
            <p:cNvSpPr>
              <a:spLocks noChangeArrowheads="1"/>
            </p:cNvSpPr>
            <p:nvPr/>
          </p:nvSpPr>
          <p:spPr bwMode="auto">
            <a:xfrm>
              <a:off x="1750" y="1513"/>
              <a:ext cx="1764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00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01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00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10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10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11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u="sng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00</a:t>
              </a:r>
            </a:p>
          </p:txBody>
        </p:sp>
        <p:sp>
          <p:nvSpPr>
            <p:cNvPr id="23" name="AutoShape 7"/>
            <p:cNvSpPr>
              <a:spLocks/>
            </p:cNvSpPr>
            <p:nvPr/>
          </p:nvSpPr>
          <p:spPr bwMode="auto">
            <a:xfrm>
              <a:off x="864" y="1407"/>
              <a:ext cx="144" cy="678"/>
            </a:xfrm>
            <a:prstGeom prst="leftBrace">
              <a:avLst>
                <a:gd name="adj1" fmla="val 55556"/>
                <a:gd name="adj2" fmla="val 50000"/>
              </a:avLst>
            </a:prstGeom>
            <a:noFill/>
            <a:ln w="12700" cap="sq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百度综艺简体" panose="02010601030101010101" pitchFamily="2" charset="-122"/>
                <a:ea typeface="百度综艺简体" panose="02010601030101010101" pitchFamily="2" charset="-122"/>
              </a:endParaRPr>
            </a:p>
          </p:txBody>
        </p:sp>
        <p:sp>
          <p:nvSpPr>
            <p:cNvPr id="24" name="Rectangle 8"/>
            <p:cNvSpPr>
              <a:spLocks noChangeArrowheads="1"/>
            </p:cNvSpPr>
            <p:nvPr/>
          </p:nvSpPr>
          <p:spPr bwMode="auto">
            <a:xfrm>
              <a:off x="1804" y="1704"/>
              <a:ext cx="1598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A  B  </a:t>
              </a:r>
              <a:r>
                <a:rPr lang="en-US" altLang="zh-CN" sz="1800" b="1" dirty="0" smtClean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A   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  </a:t>
              </a:r>
              <a:r>
                <a:rPr lang="en-US" altLang="zh-CN" sz="1800" b="1" dirty="0" err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C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</a:t>
              </a:r>
              <a:r>
                <a:rPr lang="en-US" altLang="zh-CN" sz="1800" b="1" dirty="0" smtClean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 </a:t>
              </a:r>
              <a:r>
                <a: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D  A</a:t>
              </a:r>
            </a:p>
          </p:txBody>
        </p:sp>
      </p:grpSp>
      <p:grpSp>
        <p:nvGrpSpPr>
          <p:cNvPr id="28" name="Group 9"/>
          <p:cNvGrpSpPr>
            <a:grpSpLocks/>
          </p:cNvGrpSpPr>
          <p:nvPr/>
        </p:nvGrpSpPr>
        <p:grpSpPr bwMode="auto">
          <a:xfrm>
            <a:off x="1371600" y="3497332"/>
            <a:ext cx="5027613" cy="1268413"/>
            <a:chOff x="864" y="2709"/>
            <a:chExt cx="3167" cy="799"/>
          </a:xfrm>
        </p:grpSpPr>
        <p:sp>
          <p:nvSpPr>
            <p:cNvPr id="29" name="Rectangle 10"/>
            <p:cNvSpPr>
              <a:spLocks noChangeArrowheads="1"/>
            </p:cNvSpPr>
            <p:nvPr/>
          </p:nvSpPr>
          <p:spPr bwMode="auto">
            <a:xfrm>
              <a:off x="1008" y="2736"/>
              <a:ext cx="864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A:0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B:00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C:1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百度综艺简体" panose="02010601030101010101" pitchFamily="2" charset="-122"/>
                  <a:ea typeface="百度综艺简体" panose="02010601030101010101" pitchFamily="2" charset="-122"/>
                </a:rPr>
                <a:t> D:01</a:t>
              </a:r>
            </a:p>
          </p:txBody>
        </p:sp>
        <p:grpSp>
          <p:nvGrpSpPr>
            <p:cNvPr id="30" name="Group 11"/>
            <p:cNvGrpSpPr>
              <a:grpSpLocks/>
            </p:cNvGrpSpPr>
            <p:nvPr/>
          </p:nvGrpSpPr>
          <p:grpSpPr bwMode="auto">
            <a:xfrm>
              <a:off x="864" y="2709"/>
              <a:ext cx="3167" cy="799"/>
              <a:chOff x="864" y="2709"/>
              <a:chExt cx="3167" cy="799"/>
            </a:xfrm>
          </p:grpSpPr>
          <p:sp>
            <p:nvSpPr>
              <p:cNvPr id="32" name="AutoShape 12"/>
              <p:cNvSpPr>
                <a:spLocks/>
              </p:cNvSpPr>
              <p:nvPr/>
            </p:nvSpPr>
            <p:spPr bwMode="auto">
              <a:xfrm>
                <a:off x="864" y="2826"/>
                <a:ext cx="144" cy="619"/>
              </a:xfrm>
              <a:prstGeom prst="leftBrace">
                <a:avLst>
                  <a:gd name="adj1" fmla="val 55556"/>
                  <a:gd name="adj2" fmla="val 50000"/>
                </a:avLst>
              </a:prstGeom>
              <a:noFill/>
              <a:ln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百度综艺简体" panose="02010601030101010101" pitchFamily="2" charset="-122"/>
                  <a:ea typeface="百度综艺简体" panose="02010601030101010101" pitchFamily="2" charset="-122"/>
                </a:endParaRPr>
              </a:p>
            </p:txBody>
          </p:sp>
          <p:sp>
            <p:nvSpPr>
              <p:cNvPr id="33" name="Rectangle 13"/>
              <p:cNvSpPr>
                <a:spLocks noChangeArrowheads="1"/>
              </p:cNvSpPr>
              <p:nvPr/>
            </p:nvSpPr>
            <p:spPr bwMode="auto">
              <a:xfrm>
                <a:off x="1750" y="2709"/>
                <a:ext cx="1347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u="sng" dirty="0"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0 0 0 0 </a:t>
                </a:r>
                <a:r>
                  <a:rPr lang="en-US" altLang="zh-CN" sz="1800" b="1" dirty="0"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1 1 0 1 0</a:t>
                </a:r>
              </a:p>
            </p:txBody>
          </p:sp>
          <p:sp>
            <p:nvSpPr>
              <p:cNvPr id="34" name="Rectangle 14"/>
              <p:cNvSpPr>
                <a:spLocks noChangeArrowheads="1"/>
              </p:cNvSpPr>
              <p:nvPr/>
            </p:nvSpPr>
            <p:spPr bwMode="auto">
              <a:xfrm>
                <a:off x="1727" y="2926"/>
                <a:ext cx="2304" cy="58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AAAA</a:t>
                </a: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 B   </a:t>
                </a:r>
                <a:r>
                  <a:rPr lang="en-US" altLang="zh-CN" sz="1800" b="1" dirty="0" err="1"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B</a:t>
                </a:r>
                <a:endParaRPr lang="en-US" altLang="zh-CN" sz="1800" b="1" dirty="0">
                  <a:latin typeface="百度综艺简体" panose="02010601030101010101" pitchFamily="2" charset="-122"/>
                  <a:ea typeface="百度综艺简体" panose="02010601030101010101" pitchFamily="2" charset="-122"/>
                </a:endParaRPr>
              </a:p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800" b="1" dirty="0">
                    <a:latin typeface="百度综艺简体" panose="02010601030101010101" pitchFamily="2" charset="-122"/>
                    <a:ea typeface="百度综艺简体" panose="02010601030101010101" pitchFamily="2" charset="-122"/>
                  </a:rPr>
                  <a:t>A B A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231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750"/>
                            </p:stCondLst>
                            <p:childTnLst>
                              <p:par>
                                <p:cTn id="5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</a:t>
            </a: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夫曼编码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93660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任何一个字符的编码都不是同一字符集中另一个字符的编码的前缀。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前缀编码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474388" y="2144031"/>
            <a:ext cx="7277822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下列编码中属</a:t>
            </a:r>
            <a:r>
              <a:rPr lang="zh-CN" altLang="en-US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前缀编码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的是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______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</p:txBody>
      </p:sp>
      <p:sp>
        <p:nvSpPr>
          <p:cNvPr id="36" name="TextBox 5"/>
          <p:cNvSpPr txBox="1">
            <a:spLocks noChangeArrowheads="1"/>
          </p:cNvSpPr>
          <p:nvPr/>
        </p:nvSpPr>
        <p:spPr bwMode="auto">
          <a:xfrm>
            <a:off x="1469029" y="2812150"/>
            <a:ext cx="7277822" cy="175432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buFont typeface="+mj-lt"/>
              <a:buAutoNum type="alphaUcPeriod"/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110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11}                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lphaUcPeriod"/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011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010}  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lphaUcPeriod"/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000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001}              </a:t>
            </a:r>
          </a:p>
          <a:p>
            <a:pPr marL="342900" indent="-342900" fontAlgn="auto">
              <a:lnSpc>
                <a:spcPct val="150000"/>
              </a:lnSpc>
              <a:buFont typeface="+mj-lt"/>
              <a:buAutoNum type="alphaUcPeriod"/>
            </a:pPr>
            <a:r>
              <a:rPr lang="en-US" altLang="zh-CN" dirty="0" smtClean="0">
                <a:latin typeface="百度综艺简体" panose="02010601030101010101" charset="-122"/>
                <a:ea typeface="百度综艺简体" panose="02010601030101010101" charset="-122"/>
              </a:rPr>
              <a:t>{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11}</a:t>
            </a:r>
          </a:p>
        </p:txBody>
      </p:sp>
    </p:spTree>
    <p:extLst>
      <p:ext uri="{BB962C8B-B14F-4D97-AF65-F5344CB8AC3E}">
        <p14:creationId xmlns:p14="http://schemas.microsoft.com/office/powerpoint/2010/main" val="2421923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250"/>
                            </p:stCondLst>
                            <p:childTnLst>
                              <p:par>
                                <p:cTn id="5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3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</a:t>
            </a: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夫曼编码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469029" y="1493660"/>
            <a:ext cx="7277822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任何一个字符的编码都不是同一字符集中另一个字符的编码的前缀。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前缀编码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475178" y="2376884"/>
            <a:ext cx="6688305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利用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赫夫曼树可以构造一种不等长的二进制编码，并且构造所得的赫夫曼编码是一种最优前缀编码，即使所传电文的总长度最短。</a:t>
            </a:r>
          </a:p>
        </p:txBody>
      </p:sp>
    </p:spTree>
    <p:extLst>
      <p:ext uri="{BB962C8B-B14F-4D97-AF65-F5344CB8AC3E}">
        <p14:creationId xmlns:p14="http://schemas.microsoft.com/office/powerpoint/2010/main" val="372880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/>
      <p:bldP spid="41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</a:t>
            </a: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夫曼编码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如何构造赫夫曼编码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5" name="TextBox 5"/>
          <p:cNvSpPr txBox="1">
            <a:spLocks noChangeArrowheads="1"/>
          </p:cNvSpPr>
          <p:nvPr/>
        </p:nvSpPr>
        <p:spPr bwMode="auto">
          <a:xfrm>
            <a:off x="1377707" y="1605640"/>
            <a:ext cx="6688305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构造方法：</a:t>
            </a:r>
          </a:p>
        </p:txBody>
      </p: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377707" y="2313911"/>
            <a:ext cx="6688305" cy="21250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设计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电文总长最短的二进制前缀编码即为以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n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种字符出现的频率作权，设计一棵赫夫曼树的问题，约定左分支表示字符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，右分支表示字符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，则从根结点到叶结点的路径上，分支字符组成的字符串作为该叶子结点字符的编码，由此得到的二进制前缀编码称为赫夫曼编码。</a:t>
            </a:r>
          </a:p>
        </p:txBody>
      </p:sp>
    </p:spTree>
    <p:extLst>
      <p:ext uri="{BB962C8B-B14F-4D97-AF65-F5344CB8AC3E}">
        <p14:creationId xmlns:p14="http://schemas.microsoft.com/office/powerpoint/2010/main" val="141952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35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</a:t>
            </a: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夫曼编码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1053454" y="998339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赫夫曼编码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1099953" y="1620083"/>
            <a:ext cx="7453032" cy="21698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主要用途是实现数据压缩。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设给出一段报文： 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CAST  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CAST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SAT  AT  A  TASA</a:t>
            </a:r>
          </a:p>
          <a:p>
            <a:pPr fontAlgn="auto">
              <a:lnSpc>
                <a:spcPct val="150000"/>
              </a:lnSpc>
            </a:pP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字符集合是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 C, A, S, T }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，各个字符出现的 次数是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W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＝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 2, 7, 4, 5 }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045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524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 smtClean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</a:t>
            </a: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夫曼编码</a:t>
            </a:r>
            <a:endParaRPr lang="zh-CN" sz="1800" dirty="0">
              <a:solidFill>
                <a:schemeClr val="accent2"/>
              </a:solidFill>
              <a:latin typeface="百度综艺简体" panose="02010601030101010101" charset="-122"/>
              <a:ea typeface="百度综艺简体" panose="02010601030101010101" charset="-122"/>
              <a:sym typeface="Arial" panose="020B0604020202020204" pitchFamily="34" charset="0"/>
            </a:endParaRP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828621" y="883953"/>
            <a:ext cx="393729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赫夫曼编码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5"/>
          <p:cNvSpPr txBox="1">
            <a:spLocks noChangeArrowheads="1"/>
          </p:cNvSpPr>
          <p:nvPr/>
        </p:nvSpPr>
        <p:spPr bwMode="auto">
          <a:xfrm>
            <a:off x="828620" y="1479218"/>
            <a:ext cx="7724365" cy="3000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建立赫夫曼树。左分支赋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0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，右分支赋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得赫夫曼编码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(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变长编码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)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 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 : 0    T : 10     C : 110    S : 111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它的总编码长度：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7*1+5*2+( 2+4 )*3 = 35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总编码长度正好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等于赫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夫曼树的带权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路径</a:t>
            </a:r>
            <a:endParaRPr lang="en-US" altLang="zh-CN" dirty="0" smtClean="0">
              <a:latin typeface="百度综艺简体" panose="02010601030101010101" charset="-122"/>
              <a:ea typeface="百度综艺简体" panose="02010601030101010101" charset="-122"/>
            </a:endParaRPr>
          </a:p>
          <a:p>
            <a:pPr fontAlgn="auto"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长度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WPL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   赫夫曼编码是一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种前缀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编码。解码时不会</a:t>
            </a:r>
          </a:p>
          <a:p>
            <a:pPr fontAlgn="auto"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混淆。</a:t>
            </a:r>
          </a:p>
        </p:txBody>
      </p:sp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7038" y="2426835"/>
            <a:ext cx="2507930" cy="2028017"/>
          </a:xfrm>
          <a:prstGeom prst="rect">
            <a:avLst/>
          </a:prstGeom>
          <a:noFill/>
          <a:ln w="57150">
            <a:solidFill>
              <a:srgbClr val="2A5BA8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 Placeholder 11"/>
          <p:cNvSpPr txBox="1"/>
          <p:nvPr/>
        </p:nvSpPr>
        <p:spPr>
          <a:xfrm>
            <a:off x="6630952" y="4673303"/>
            <a:ext cx="1922033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哈夫曼编码树</a:t>
            </a:r>
          </a:p>
        </p:txBody>
      </p:sp>
    </p:spTree>
    <p:extLst>
      <p:ext uri="{BB962C8B-B14F-4D97-AF65-F5344CB8AC3E}">
        <p14:creationId xmlns:p14="http://schemas.microsoft.com/office/powerpoint/2010/main" val="4225515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25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41" grpId="0"/>
      <p:bldP spid="14" grpId="0"/>
      <p:bldP spid="17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638</TotalTime>
  <Words>469</Words>
  <Application>Microsoft Office PowerPoint</Application>
  <PresentationFormat>自定义</PresentationFormat>
  <Paragraphs>65</Paragraphs>
  <Slides>7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53</cp:revision>
  <dcterms:created xsi:type="dcterms:W3CDTF">2017-06-21T11:46:00Z</dcterms:created>
  <dcterms:modified xsi:type="dcterms:W3CDTF">2023-10-19T23:58:56Z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