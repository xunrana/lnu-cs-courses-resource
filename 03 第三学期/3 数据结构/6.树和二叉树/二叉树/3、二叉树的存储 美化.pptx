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3" r:id="rId2"/>
    <p:sldId id="284" r:id="rId3"/>
    <p:sldId id="315" r:id="rId4"/>
    <p:sldId id="316" r:id="rId5"/>
    <p:sldId id="317" r:id="rId6"/>
    <p:sldId id="318" r:id="rId7"/>
    <p:sldId id="319" r:id="rId8"/>
    <p:sldId id="320" r:id="rId9"/>
    <p:sldId id="324" r:id="rId10"/>
    <p:sldId id="321" r:id="rId11"/>
    <p:sldId id="322" r:id="rId1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1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000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98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31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658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6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50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191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08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2020/7/13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13/07/2020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42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20072"/>
            <a:ext cx="3407771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一、 二叉树的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顺序存储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表示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594518"/>
              </p:ext>
            </p:extLst>
          </p:nvPr>
        </p:nvGraphicFramePr>
        <p:xfrm>
          <a:off x="6362488" y="2199713"/>
          <a:ext cx="2355850" cy="246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剪辑" r:id="rId4" imgW="2501798" imgH="2616098" progId="MS_ClipArt_Gallery.2">
                  <p:embed/>
                </p:oleObj>
              </mc:Choice>
              <mc:Fallback>
                <p:oleObj name="剪辑" r:id="rId4" imgW="2501798" imgH="261609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488" y="2199713"/>
                        <a:ext cx="2355850" cy="246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78064" y="2064415"/>
            <a:ext cx="34077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二、二叉树的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链式存储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350231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23963" y="962683"/>
            <a:ext cx="3407771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一、 二叉树的顺序存储表示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79911" y="1442221"/>
            <a:ext cx="6760571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一组地址连续的存储单元依次自上而下、自左至右存储完全二叉树上的结点元素。对于一般二叉树，则应将其每个结点与完全二叉树上的结点相对照，存储在一维数组的相应分量中。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521706" y="2771484"/>
            <a:ext cx="6103408" cy="2105977"/>
            <a:chOff x="822325" y="3571875"/>
            <a:chExt cx="7407275" cy="2555875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63" name="Line 39"/>
            <p:cNvSpPr>
              <a:spLocks noChangeShapeType="1"/>
            </p:cNvSpPr>
            <p:nvPr/>
          </p:nvSpPr>
          <p:spPr bwMode="auto">
            <a:xfrm flipH="1">
              <a:off x="2057400" y="3810000"/>
              <a:ext cx="685800" cy="4572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86" name="Line 62"/>
            <p:cNvSpPr>
              <a:spLocks noChangeShapeType="1"/>
            </p:cNvSpPr>
            <p:nvPr/>
          </p:nvSpPr>
          <p:spPr bwMode="auto">
            <a:xfrm>
              <a:off x="6203950" y="4984750"/>
              <a:ext cx="1524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23" name="Rectangle 3"/>
            <p:cNvSpPr>
              <a:spLocks noChangeArrowheads="1"/>
            </p:cNvSpPr>
            <p:nvPr/>
          </p:nvSpPr>
          <p:spPr bwMode="auto">
            <a:xfrm>
              <a:off x="8223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</a:t>
              </a:r>
            </a:p>
          </p:txBody>
        </p:sp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11271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2</a:t>
              </a:r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14319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3</a:t>
              </a:r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17367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4</a:t>
              </a:r>
            </a:p>
          </p:txBody>
        </p:sp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20415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5</a:t>
              </a:r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23463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6</a:t>
              </a:r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26511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7</a:t>
              </a:r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29559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8</a:t>
              </a: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32607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9</a:t>
              </a:r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35655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10</a:t>
              </a:r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>
              <a:off x="38703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11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4175125" y="58070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12</a:t>
              </a:r>
            </a:p>
          </p:txBody>
        </p:sp>
        <p:sp>
          <p:nvSpPr>
            <p:cNvPr id="40" name="Rectangle 15"/>
            <p:cNvSpPr>
              <a:spLocks noChangeArrowheads="1"/>
            </p:cNvSpPr>
            <p:nvPr/>
          </p:nvSpPr>
          <p:spPr bwMode="auto">
            <a:xfrm>
              <a:off x="48768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</a:t>
              </a:r>
            </a:p>
          </p:txBody>
        </p:sp>
        <p:sp>
          <p:nvSpPr>
            <p:cNvPr id="41" name="Rectangle 16"/>
            <p:cNvSpPr>
              <a:spLocks noChangeArrowheads="1"/>
            </p:cNvSpPr>
            <p:nvPr/>
          </p:nvSpPr>
          <p:spPr bwMode="auto">
            <a:xfrm>
              <a:off x="51816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2</a:t>
              </a:r>
            </a:p>
          </p:txBody>
        </p:sp>
        <p:sp>
          <p:nvSpPr>
            <p:cNvPr id="42" name="Rectangle 17"/>
            <p:cNvSpPr>
              <a:spLocks noChangeArrowheads="1"/>
            </p:cNvSpPr>
            <p:nvPr/>
          </p:nvSpPr>
          <p:spPr bwMode="auto">
            <a:xfrm>
              <a:off x="54864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3</a:t>
              </a:r>
            </a:p>
          </p:txBody>
        </p:sp>
        <p:sp>
          <p:nvSpPr>
            <p:cNvPr id="43" name="Rectangle 18"/>
            <p:cNvSpPr>
              <a:spLocks noChangeArrowheads="1"/>
            </p:cNvSpPr>
            <p:nvPr/>
          </p:nvSpPr>
          <p:spPr bwMode="auto">
            <a:xfrm>
              <a:off x="57912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4</a:t>
              </a:r>
            </a:p>
          </p:txBody>
        </p:sp>
        <p:sp>
          <p:nvSpPr>
            <p:cNvPr id="44" name="Rectangle 19"/>
            <p:cNvSpPr>
              <a:spLocks noChangeArrowheads="1"/>
            </p:cNvSpPr>
            <p:nvPr/>
          </p:nvSpPr>
          <p:spPr bwMode="auto">
            <a:xfrm>
              <a:off x="60960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5</a:t>
              </a:r>
            </a:p>
          </p:txBody>
        </p:sp>
        <p:sp>
          <p:nvSpPr>
            <p:cNvPr id="45" name="Rectangle 20"/>
            <p:cNvSpPr>
              <a:spLocks noChangeArrowheads="1"/>
            </p:cNvSpPr>
            <p:nvPr/>
          </p:nvSpPr>
          <p:spPr bwMode="auto">
            <a:xfrm>
              <a:off x="64008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</a:t>
              </a:r>
            </a:p>
          </p:txBody>
        </p:sp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67056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</a:t>
              </a:r>
            </a:p>
          </p:txBody>
        </p:sp>
        <p:sp>
          <p:nvSpPr>
            <p:cNvPr id="47" name="Rectangle 22"/>
            <p:cNvSpPr>
              <a:spLocks noChangeArrowheads="1"/>
            </p:cNvSpPr>
            <p:nvPr/>
          </p:nvSpPr>
          <p:spPr bwMode="auto">
            <a:xfrm>
              <a:off x="70104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</a:t>
              </a:r>
            </a:p>
          </p:txBody>
        </p:sp>
        <p:sp>
          <p:nvSpPr>
            <p:cNvPr id="48" name="Rectangle 23"/>
            <p:cNvSpPr>
              <a:spLocks noChangeArrowheads="1"/>
            </p:cNvSpPr>
            <p:nvPr/>
          </p:nvSpPr>
          <p:spPr bwMode="auto">
            <a:xfrm>
              <a:off x="73152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</a:t>
              </a:r>
            </a:p>
          </p:txBody>
        </p:sp>
        <p:sp>
          <p:nvSpPr>
            <p:cNvPr id="49" name="Rectangle 24"/>
            <p:cNvSpPr>
              <a:spLocks noChangeArrowheads="1"/>
            </p:cNvSpPr>
            <p:nvPr/>
          </p:nvSpPr>
          <p:spPr bwMode="auto">
            <a:xfrm>
              <a:off x="7620000" y="5822950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6</a:t>
              </a:r>
            </a:p>
          </p:txBody>
        </p:sp>
        <p:sp>
          <p:nvSpPr>
            <p:cNvPr id="50" name="Rectangle 25"/>
            <p:cNvSpPr>
              <a:spLocks noChangeArrowheads="1"/>
            </p:cNvSpPr>
            <p:nvPr/>
          </p:nvSpPr>
          <p:spPr bwMode="auto">
            <a:xfrm>
              <a:off x="7924800" y="5819775"/>
              <a:ext cx="3048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7</a:t>
              </a:r>
            </a:p>
          </p:txBody>
        </p:sp>
        <p:sp>
          <p:nvSpPr>
            <p:cNvPr id="51" name="Oval 27"/>
            <p:cNvSpPr>
              <a:spLocks noChangeArrowheads="1"/>
            </p:cNvSpPr>
            <p:nvPr/>
          </p:nvSpPr>
          <p:spPr bwMode="auto">
            <a:xfrm>
              <a:off x="2743200" y="357187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</a:t>
              </a:r>
            </a:p>
          </p:txBody>
        </p:sp>
        <p:sp>
          <p:nvSpPr>
            <p:cNvPr id="52" name="Oval 28"/>
            <p:cNvSpPr>
              <a:spLocks noChangeArrowheads="1"/>
            </p:cNvSpPr>
            <p:nvPr/>
          </p:nvSpPr>
          <p:spPr bwMode="auto">
            <a:xfrm>
              <a:off x="1828800" y="416242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2</a:t>
              </a:r>
            </a:p>
          </p:txBody>
        </p:sp>
        <p:sp>
          <p:nvSpPr>
            <p:cNvPr id="53" name="Oval 29"/>
            <p:cNvSpPr>
              <a:spLocks noChangeArrowheads="1"/>
            </p:cNvSpPr>
            <p:nvPr/>
          </p:nvSpPr>
          <p:spPr bwMode="auto">
            <a:xfrm>
              <a:off x="3581400" y="416242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3</a:t>
              </a:r>
            </a:p>
          </p:txBody>
        </p:sp>
        <p:sp>
          <p:nvSpPr>
            <p:cNvPr id="54" name="Oval 30"/>
            <p:cNvSpPr>
              <a:spLocks noChangeArrowheads="1"/>
            </p:cNvSpPr>
            <p:nvPr/>
          </p:nvSpPr>
          <p:spPr bwMode="auto">
            <a:xfrm>
              <a:off x="1371600" y="470217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4</a:t>
              </a:r>
            </a:p>
          </p:txBody>
        </p:sp>
        <p:sp>
          <p:nvSpPr>
            <p:cNvPr id="55" name="Oval 31"/>
            <p:cNvSpPr>
              <a:spLocks noChangeArrowheads="1"/>
            </p:cNvSpPr>
            <p:nvPr/>
          </p:nvSpPr>
          <p:spPr bwMode="auto">
            <a:xfrm>
              <a:off x="2209800" y="470217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5</a:t>
              </a:r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auto">
            <a:xfrm>
              <a:off x="3962400" y="4702175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7</a:t>
              </a:r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auto">
            <a:xfrm>
              <a:off x="1114425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8</a:t>
              </a:r>
            </a:p>
          </p:txBody>
        </p:sp>
        <p:sp>
          <p:nvSpPr>
            <p:cNvPr id="58" name="Oval 34"/>
            <p:cNvSpPr>
              <a:spLocks noChangeArrowheads="1"/>
            </p:cNvSpPr>
            <p:nvPr/>
          </p:nvSpPr>
          <p:spPr bwMode="auto">
            <a:xfrm>
              <a:off x="1508125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9</a:t>
              </a:r>
            </a:p>
          </p:txBody>
        </p:sp>
        <p:sp>
          <p:nvSpPr>
            <p:cNvPr id="59" name="Oval 35"/>
            <p:cNvSpPr>
              <a:spLocks noChangeArrowheads="1"/>
            </p:cNvSpPr>
            <p:nvPr/>
          </p:nvSpPr>
          <p:spPr bwMode="auto">
            <a:xfrm>
              <a:off x="2012950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10</a:t>
              </a:r>
            </a:p>
          </p:txBody>
        </p:sp>
        <p:sp>
          <p:nvSpPr>
            <p:cNvPr id="60" name="Oval 36"/>
            <p:cNvSpPr>
              <a:spLocks noChangeArrowheads="1"/>
            </p:cNvSpPr>
            <p:nvPr/>
          </p:nvSpPr>
          <p:spPr bwMode="auto">
            <a:xfrm>
              <a:off x="2441575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11</a:t>
              </a:r>
            </a:p>
          </p:txBody>
        </p:sp>
        <p:sp>
          <p:nvSpPr>
            <p:cNvPr id="61" name="Oval 37"/>
            <p:cNvSpPr>
              <a:spLocks noChangeArrowheads="1"/>
            </p:cNvSpPr>
            <p:nvPr/>
          </p:nvSpPr>
          <p:spPr bwMode="auto">
            <a:xfrm>
              <a:off x="2962275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12</a:t>
              </a:r>
            </a:p>
          </p:txBody>
        </p:sp>
        <p:sp>
          <p:nvSpPr>
            <p:cNvPr id="62" name="Oval 38"/>
            <p:cNvSpPr>
              <a:spLocks noChangeArrowheads="1"/>
            </p:cNvSpPr>
            <p:nvPr/>
          </p:nvSpPr>
          <p:spPr bwMode="auto">
            <a:xfrm>
              <a:off x="3200400" y="471805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6</a:t>
              </a:r>
            </a:p>
          </p:txBody>
        </p:sp>
        <p:sp>
          <p:nvSpPr>
            <p:cNvPr id="64" name="Line 40"/>
            <p:cNvSpPr>
              <a:spLocks noChangeShapeType="1"/>
            </p:cNvSpPr>
            <p:nvPr/>
          </p:nvSpPr>
          <p:spPr bwMode="auto">
            <a:xfrm>
              <a:off x="3051175" y="3806825"/>
              <a:ext cx="533400" cy="4572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 flipH="1">
              <a:off x="1600200" y="4419600"/>
              <a:ext cx="2286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66" name="Line 42"/>
            <p:cNvSpPr>
              <a:spLocks noChangeShapeType="1"/>
            </p:cNvSpPr>
            <p:nvPr/>
          </p:nvSpPr>
          <p:spPr bwMode="auto">
            <a:xfrm>
              <a:off x="2057400" y="4419600"/>
              <a:ext cx="2286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67" name="Line 43"/>
            <p:cNvSpPr>
              <a:spLocks noChangeShapeType="1"/>
            </p:cNvSpPr>
            <p:nvPr/>
          </p:nvSpPr>
          <p:spPr bwMode="auto">
            <a:xfrm flipH="1">
              <a:off x="1295400" y="4953000"/>
              <a:ext cx="1524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68" name="Line 44"/>
            <p:cNvSpPr>
              <a:spLocks noChangeShapeType="1"/>
            </p:cNvSpPr>
            <p:nvPr/>
          </p:nvSpPr>
          <p:spPr bwMode="auto">
            <a:xfrm>
              <a:off x="1524000" y="5029200"/>
              <a:ext cx="152400" cy="2286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69" name="Line 45"/>
            <p:cNvSpPr>
              <a:spLocks noChangeShapeType="1"/>
            </p:cNvSpPr>
            <p:nvPr/>
          </p:nvSpPr>
          <p:spPr bwMode="auto">
            <a:xfrm flipH="1">
              <a:off x="2209800" y="5029200"/>
              <a:ext cx="76200" cy="2286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70" name="Line 46"/>
            <p:cNvSpPr>
              <a:spLocks noChangeShapeType="1"/>
            </p:cNvSpPr>
            <p:nvPr/>
          </p:nvSpPr>
          <p:spPr bwMode="auto">
            <a:xfrm>
              <a:off x="2438400" y="5029200"/>
              <a:ext cx="152400" cy="2286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71" name="Line 47"/>
            <p:cNvSpPr>
              <a:spLocks noChangeShapeType="1"/>
            </p:cNvSpPr>
            <p:nvPr/>
          </p:nvSpPr>
          <p:spPr bwMode="auto">
            <a:xfrm flipH="1">
              <a:off x="3429000" y="4419600"/>
              <a:ext cx="2286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72" name="Line 48"/>
            <p:cNvSpPr>
              <a:spLocks noChangeShapeType="1"/>
            </p:cNvSpPr>
            <p:nvPr/>
          </p:nvSpPr>
          <p:spPr bwMode="auto">
            <a:xfrm>
              <a:off x="3810000" y="4419600"/>
              <a:ext cx="2286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73" name="Line 49"/>
            <p:cNvSpPr>
              <a:spLocks noChangeShapeType="1"/>
            </p:cNvSpPr>
            <p:nvPr/>
          </p:nvSpPr>
          <p:spPr bwMode="auto">
            <a:xfrm flipH="1">
              <a:off x="3124200" y="5029200"/>
              <a:ext cx="152400" cy="2286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74" name="Oval 50"/>
            <p:cNvSpPr>
              <a:spLocks noChangeArrowheads="1"/>
            </p:cNvSpPr>
            <p:nvPr/>
          </p:nvSpPr>
          <p:spPr bwMode="auto">
            <a:xfrm>
              <a:off x="6362700" y="360045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</a:t>
              </a:r>
            </a:p>
          </p:txBody>
        </p:sp>
        <p:sp>
          <p:nvSpPr>
            <p:cNvPr id="75" name="Oval 51"/>
            <p:cNvSpPr>
              <a:spLocks noChangeArrowheads="1"/>
            </p:cNvSpPr>
            <p:nvPr/>
          </p:nvSpPr>
          <p:spPr bwMode="auto">
            <a:xfrm>
              <a:off x="5638800" y="4114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2</a:t>
              </a:r>
            </a:p>
          </p:txBody>
        </p:sp>
        <p:sp>
          <p:nvSpPr>
            <p:cNvPr id="76" name="Oval 52"/>
            <p:cNvSpPr>
              <a:spLocks noChangeArrowheads="1"/>
            </p:cNvSpPr>
            <p:nvPr/>
          </p:nvSpPr>
          <p:spPr bwMode="auto">
            <a:xfrm>
              <a:off x="7089775" y="4114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3</a:t>
              </a:r>
            </a:p>
          </p:txBody>
        </p:sp>
        <p:sp>
          <p:nvSpPr>
            <p:cNvPr id="77" name="Oval 53"/>
            <p:cNvSpPr>
              <a:spLocks noChangeArrowheads="1"/>
            </p:cNvSpPr>
            <p:nvPr/>
          </p:nvSpPr>
          <p:spPr bwMode="auto">
            <a:xfrm>
              <a:off x="5181600" y="47117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4</a:t>
              </a:r>
            </a:p>
          </p:txBody>
        </p:sp>
        <p:sp>
          <p:nvSpPr>
            <p:cNvPr id="78" name="Oval 54"/>
            <p:cNvSpPr>
              <a:spLocks noChangeArrowheads="1"/>
            </p:cNvSpPr>
            <p:nvPr/>
          </p:nvSpPr>
          <p:spPr bwMode="auto">
            <a:xfrm>
              <a:off x="5972175" y="46863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5</a:t>
              </a:r>
            </a:p>
          </p:txBody>
        </p:sp>
        <p:sp>
          <p:nvSpPr>
            <p:cNvPr id="79" name="Oval 55"/>
            <p:cNvSpPr>
              <a:spLocks noChangeArrowheads="1"/>
            </p:cNvSpPr>
            <p:nvPr/>
          </p:nvSpPr>
          <p:spPr bwMode="auto">
            <a:xfrm>
              <a:off x="5743575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6</a:t>
              </a:r>
            </a:p>
          </p:txBody>
        </p:sp>
        <p:sp>
          <p:nvSpPr>
            <p:cNvPr id="80" name="Oval 56"/>
            <p:cNvSpPr>
              <a:spLocks noChangeArrowheads="1"/>
            </p:cNvSpPr>
            <p:nvPr/>
          </p:nvSpPr>
          <p:spPr bwMode="auto">
            <a:xfrm>
              <a:off x="6172200" y="5257800"/>
              <a:ext cx="304800" cy="3048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7</a:t>
              </a:r>
            </a:p>
          </p:txBody>
        </p:sp>
        <p:sp>
          <p:nvSpPr>
            <p:cNvPr id="81" name="Line 57"/>
            <p:cNvSpPr>
              <a:spLocks noChangeShapeType="1"/>
            </p:cNvSpPr>
            <p:nvPr/>
          </p:nvSpPr>
          <p:spPr bwMode="auto">
            <a:xfrm flipH="1">
              <a:off x="5943600" y="3886200"/>
              <a:ext cx="4572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82" name="Line 58"/>
            <p:cNvSpPr>
              <a:spLocks noChangeShapeType="1"/>
            </p:cNvSpPr>
            <p:nvPr/>
          </p:nvSpPr>
          <p:spPr bwMode="auto">
            <a:xfrm>
              <a:off x="6616700" y="3854450"/>
              <a:ext cx="5334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83" name="Line 59"/>
            <p:cNvSpPr>
              <a:spLocks noChangeShapeType="1"/>
            </p:cNvSpPr>
            <p:nvPr/>
          </p:nvSpPr>
          <p:spPr bwMode="auto">
            <a:xfrm flipH="1">
              <a:off x="5410200" y="4419600"/>
              <a:ext cx="3048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84" name="Line 60"/>
            <p:cNvSpPr>
              <a:spLocks noChangeShapeType="1"/>
            </p:cNvSpPr>
            <p:nvPr/>
          </p:nvSpPr>
          <p:spPr bwMode="auto">
            <a:xfrm>
              <a:off x="5867400" y="4435475"/>
              <a:ext cx="228600" cy="2286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85" name="Line 61"/>
            <p:cNvSpPr>
              <a:spLocks noChangeShapeType="1"/>
            </p:cNvSpPr>
            <p:nvPr/>
          </p:nvSpPr>
          <p:spPr bwMode="auto">
            <a:xfrm flipH="1">
              <a:off x="5867400" y="4953000"/>
              <a:ext cx="152400" cy="304800"/>
            </a:xfrm>
            <a:prstGeom prst="line">
              <a:avLst/>
            </a:prstGeom>
            <a:grp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9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" name="TextBox 5"/>
          <p:cNvSpPr txBox="1">
            <a:spLocks noChangeArrowheads="1"/>
          </p:cNvSpPr>
          <p:nvPr/>
        </p:nvSpPr>
        <p:spPr bwMode="auto">
          <a:xfrm>
            <a:off x="1348063" y="1106928"/>
            <a:ext cx="562476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例：</a:t>
            </a:r>
            <a:endParaRPr lang="zh-CN" altLang="en-US" sz="20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88" name="Text Placeholder 11"/>
          <p:cNvSpPr txBox="1"/>
          <p:nvPr/>
        </p:nvSpPr>
        <p:spPr>
          <a:xfrm>
            <a:off x="1629301" y="1565138"/>
            <a:ext cx="589661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一棵二叉树采用顺序存储结构存储于数组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t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中，</a:t>
            </a:r>
          </a:p>
        </p:txBody>
      </p:sp>
      <p:grpSp>
        <p:nvGrpSpPr>
          <p:cNvPr id="92" name="Group 15"/>
          <p:cNvGrpSpPr/>
          <p:nvPr/>
        </p:nvGrpSpPr>
        <p:grpSpPr>
          <a:xfrm>
            <a:off x="1254186" y="1454372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93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866798" y="1048828"/>
            <a:ext cx="479188" cy="479188"/>
            <a:chOff x="697853" y="426488"/>
            <a:chExt cx="589535" cy="589535"/>
          </a:xfrm>
        </p:grpSpPr>
        <p:sp>
          <p:nvSpPr>
            <p:cNvPr id="98" name="椭圆 97"/>
            <p:cNvSpPr/>
            <p:nvPr/>
          </p:nvSpPr>
          <p:spPr>
            <a:xfrm>
              <a:off x="697853" y="426488"/>
              <a:ext cx="589535" cy="589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9" name="椭圆 4"/>
            <p:cNvSpPr/>
            <p:nvPr/>
          </p:nvSpPr>
          <p:spPr>
            <a:xfrm>
              <a:off x="782818" y="520813"/>
              <a:ext cx="410245" cy="410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0" name="Group 15"/>
          <p:cNvGrpSpPr/>
          <p:nvPr/>
        </p:nvGrpSpPr>
        <p:grpSpPr>
          <a:xfrm>
            <a:off x="993824" y="1174317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101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graphicFrame>
        <p:nvGraphicFramePr>
          <p:cNvPr id="10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143689"/>
              </p:ext>
            </p:extLst>
          </p:nvPr>
        </p:nvGraphicFramePr>
        <p:xfrm>
          <a:off x="1317024" y="2219788"/>
          <a:ext cx="5349528" cy="349936"/>
        </p:xfrm>
        <a:graphic>
          <a:graphicData uri="http://schemas.openxmlformats.org/drawingml/2006/table">
            <a:tbl>
              <a:tblPr/>
              <a:tblGrid>
                <a:gridCol w="25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54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54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54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54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549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443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3429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60561" marR="60561" marT="30188" marB="301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60561" marR="60561" marT="30188" marB="301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" name="Text Box 49"/>
          <p:cNvSpPr txBox="1">
            <a:spLocks noChangeArrowheads="1"/>
          </p:cNvSpPr>
          <p:nvPr/>
        </p:nvSpPr>
        <p:spPr bwMode="auto">
          <a:xfrm>
            <a:off x="1199296" y="1896699"/>
            <a:ext cx="8382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/>
              <a:t>  </a:t>
            </a:r>
            <a:r>
              <a:rPr lang="en-US" altLang="zh-CN" sz="1600" b="1" dirty="0"/>
              <a:t>1   2   3   4   5   6   7   8   9  10 11 12 13 14 15 16 17 18 19 20 21</a:t>
            </a:r>
          </a:p>
        </p:txBody>
      </p:sp>
      <p:sp>
        <p:nvSpPr>
          <p:cNvPr id="107" name="Text Placeholder 11"/>
          <p:cNvSpPr txBox="1"/>
          <p:nvPr/>
        </p:nvSpPr>
        <p:spPr>
          <a:xfrm>
            <a:off x="1325840" y="2842734"/>
            <a:ext cx="589661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(1) 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画出二叉树；</a:t>
            </a:r>
          </a:p>
        </p:txBody>
      </p:sp>
      <p:grpSp>
        <p:nvGrpSpPr>
          <p:cNvPr id="108" name="Group 50"/>
          <p:cNvGrpSpPr>
            <a:grpSpLocks/>
          </p:cNvGrpSpPr>
          <p:nvPr/>
        </p:nvGrpSpPr>
        <p:grpSpPr bwMode="auto">
          <a:xfrm>
            <a:off x="6749644" y="2769576"/>
            <a:ext cx="1739661" cy="2029604"/>
            <a:chOff x="3552" y="1680"/>
            <a:chExt cx="1728" cy="201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09" name="Oval 51"/>
            <p:cNvSpPr>
              <a:spLocks noChangeArrowheads="1"/>
            </p:cNvSpPr>
            <p:nvPr/>
          </p:nvSpPr>
          <p:spPr bwMode="auto">
            <a:xfrm>
              <a:off x="3936" y="1680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e</a:t>
              </a:r>
            </a:p>
          </p:txBody>
        </p:sp>
        <p:sp>
          <p:nvSpPr>
            <p:cNvPr id="110" name="Oval 52"/>
            <p:cNvSpPr>
              <a:spLocks noChangeArrowheads="1"/>
            </p:cNvSpPr>
            <p:nvPr/>
          </p:nvSpPr>
          <p:spPr bwMode="auto">
            <a:xfrm>
              <a:off x="3552" y="206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</a:t>
              </a:r>
            </a:p>
          </p:txBody>
        </p:sp>
        <p:sp>
          <p:nvSpPr>
            <p:cNvPr id="111" name="Oval 53"/>
            <p:cNvSpPr>
              <a:spLocks noChangeArrowheads="1"/>
            </p:cNvSpPr>
            <p:nvPr/>
          </p:nvSpPr>
          <p:spPr bwMode="auto">
            <a:xfrm>
              <a:off x="4308" y="2076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f</a:t>
              </a:r>
            </a:p>
          </p:txBody>
        </p:sp>
        <p:sp>
          <p:nvSpPr>
            <p:cNvPr id="112" name="Oval 54"/>
            <p:cNvSpPr>
              <a:spLocks noChangeArrowheads="1"/>
            </p:cNvSpPr>
            <p:nvPr/>
          </p:nvSpPr>
          <p:spPr bwMode="auto">
            <a:xfrm>
              <a:off x="3888" y="254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</a:t>
              </a:r>
            </a:p>
          </p:txBody>
        </p:sp>
        <p:sp>
          <p:nvSpPr>
            <p:cNvPr id="113" name="Oval 55"/>
            <p:cNvSpPr>
              <a:spLocks noChangeArrowheads="1"/>
            </p:cNvSpPr>
            <p:nvPr/>
          </p:nvSpPr>
          <p:spPr bwMode="auto">
            <a:xfrm>
              <a:off x="3552" y="302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</a:p>
          </p:txBody>
        </p:sp>
        <p:sp>
          <p:nvSpPr>
            <p:cNvPr id="114" name="Oval 56"/>
            <p:cNvSpPr>
              <a:spLocks noChangeArrowheads="1"/>
            </p:cNvSpPr>
            <p:nvPr/>
          </p:nvSpPr>
          <p:spPr bwMode="auto">
            <a:xfrm>
              <a:off x="4080" y="302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j</a:t>
              </a:r>
            </a:p>
          </p:txBody>
        </p:sp>
        <p:sp>
          <p:nvSpPr>
            <p:cNvPr id="115" name="Oval 57"/>
            <p:cNvSpPr>
              <a:spLocks noChangeArrowheads="1"/>
            </p:cNvSpPr>
            <p:nvPr/>
          </p:nvSpPr>
          <p:spPr bwMode="auto">
            <a:xfrm>
              <a:off x="4752" y="254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g</a:t>
              </a:r>
            </a:p>
          </p:txBody>
        </p:sp>
        <p:sp>
          <p:nvSpPr>
            <p:cNvPr id="116" name="Oval 58"/>
            <p:cNvSpPr>
              <a:spLocks noChangeArrowheads="1"/>
            </p:cNvSpPr>
            <p:nvPr/>
          </p:nvSpPr>
          <p:spPr bwMode="auto">
            <a:xfrm>
              <a:off x="4560" y="302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l</a:t>
              </a:r>
            </a:p>
          </p:txBody>
        </p:sp>
        <p:sp>
          <p:nvSpPr>
            <p:cNvPr id="117" name="Oval 59"/>
            <p:cNvSpPr>
              <a:spLocks noChangeArrowheads="1"/>
            </p:cNvSpPr>
            <p:nvPr/>
          </p:nvSpPr>
          <p:spPr bwMode="auto">
            <a:xfrm>
              <a:off x="5040" y="3024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h</a:t>
              </a:r>
            </a:p>
          </p:txBody>
        </p:sp>
        <p:sp>
          <p:nvSpPr>
            <p:cNvPr id="118" name="Oval 60"/>
            <p:cNvSpPr>
              <a:spLocks noChangeArrowheads="1"/>
            </p:cNvSpPr>
            <p:nvPr/>
          </p:nvSpPr>
          <p:spPr bwMode="auto">
            <a:xfrm>
              <a:off x="3792" y="3456"/>
              <a:ext cx="240" cy="24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b</a:t>
              </a:r>
            </a:p>
          </p:txBody>
        </p:sp>
        <p:sp>
          <p:nvSpPr>
            <p:cNvPr id="119" name="Line 61"/>
            <p:cNvSpPr>
              <a:spLocks noChangeShapeType="1"/>
            </p:cNvSpPr>
            <p:nvPr/>
          </p:nvSpPr>
          <p:spPr bwMode="auto">
            <a:xfrm flipH="1">
              <a:off x="3744" y="1872"/>
              <a:ext cx="24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0" name="Line 62"/>
            <p:cNvSpPr>
              <a:spLocks noChangeShapeType="1"/>
            </p:cNvSpPr>
            <p:nvPr/>
          </p:nvSpPr>
          <p:spPr bwMode="auto">
            <a:xfrm>
              <a:off x="4128" y="1872"/>
              <a:ext cx="240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1" name="Line 63"/>
            <p:cNvSpPr>
              <a:spLocks noChangeShapeType="1"/>
            </p:cNvSpPr>
            <p:nvPr/>
          </p:nvSpPr>
          <p:spPr bwMode="auto">
            <a:xfrm>
              <a:off x="3744" y="2292"/>
              <a:ext cx="192" cy="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2" name="Line 64"/>
            <p:cNvSpPr>
              <a:spLocks noChangeShapeType="1"/>
            </p:cNvSpPr>
            <p:nvPr/>
          </p:nvSpPr>
          <p:spPr bwMode="auto">
            <a:xfrm flipH="1">
              <a:off x="3744" y="2784"/>
              <a:ext cx="192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3" name="Line 65"/>
            <p:cNvSpPr>
              <a:spLocks noChangeShapeType="1"/>
            </p:cNvSpPr>
            <p:nvPr/>
          </p:nvSpPr>
          <p:spPr bwMode="auto">
            <a:xfrm>
              <a:off x="4032" y="2736"/>
              <a:ext cx="144" cy="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4" name="Line 66"/>
            <p:cNvSpPr>
              <a:spLocks noChangeShapeType="1"/>
            </p:cNvSpPr>
            <p:nvPr/>
          </p:nvSpPr>
          <p:spPr bwMode="auto">
            <a:xfrm>
              <a:off x="4524" y="2268"/>
              <a:ext cx="288" cy="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5" name="Line 67"/>
            <p:cNvSpPr>
              <a:spLocks noChangeShapeType="1"/>
            </p:cNvSpPr>
            <p:nvPr/>
          </p:nvSpPr>
          <p:spPr bwMode="auto">
            <a:xfrm flipH="1">
              <a:off x="4704" y="2784"/>
              <a:ext cx="144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6" name="Line 68"/>
            <p:cNvSpPr>
              <a:spLocks noChangeShapeType="1"/>
            </p:cNvSpPr>
            <p:nvPr/>
          </p:nvSpPr>
          <p:spPr bwMode="auto">
            <a:xfrm>
              <a:off x="4944" y="2784"/>
              <a:ext cx="144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27" name="Line 69"/>
            <p:cNvSpPr>
              <a:spLocks noChangeShapeType="1"/>
            </p:cNvSpPr>
            <p:nvPr/>
          </p:nvSpPr>
          <p:spPr bwMode="auto">
            <a:xfrm>
              <a:off x="3744" y="3216"/>
              <a:ext cx="144" cy="24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53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87" grpId="0" autoUpdateAnimBg="0"/>
      <p:bldP spid="88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79911" y="1442221"/>
            <a:ext cx="6760571" cy="25853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#define  MAX_TREE_SIZE  100      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//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二叉树的最大结点数</a:t>
            </a:r>
          </a:p>
          <a:p>
            <a:pPr fontAlgn="auto">
              <a:lnSpc>
                <a:spcPct val="150000"/>
              </a:lnSpc>
            </a:pP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typedef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TElemType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SqBiTree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[MAX_TREE_SIZE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];   </a:t>
            </a:r>
          </a:p>
          <a:p>
            <a:pPr fontAlgn="auto">
              <a:lnSpc>
                <a:spcPct val="150000"/>
              </a:lnSpc>
            </a:pP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SqBiTree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bt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3896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234951" y="1897756"/>
            <a:ext cx="8521424" cy="2031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zh-CN" altLang="en-US" sz="2800" dirty="0" smtClean="0">
                <a:latin typeface="百度综艺简体" panose="02010601030101010101" charset="-122"/>
                <a:ea typeface="百度综艺简体" panose="02010601030101010101" charset="-122"/>
              </a:rPr>
              <a:t>采用</a:t>
            </a:r>
            <a:r>
              <a:rPr lang="zh-CN" altLang="en-US" sz="2800" dirty="0">
                <a:latin typeface="百度综艺简体" panose="02010601030101010101" charset="-122"/>
                <a:ea typeface="百度综艺简体" panose="02010601030101010101" charset="-122"/>
              </a:rPr>
              <a:t>顺序存储结构，在最坏情况下，一个深度为</a:t>
            </a: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k</a:t>
            </a:r>
            <a:r>
              <a:rPr lang="zh-CN" altLang="en-US" sz="2800" dirty="0">
                <a:latin typeface="百度综艺简体" panose="02010601030101010101" charset="-122"/>
                <a:ea typeface="百度综艺简体" panose="02010601030101010101" charset="-122"/>
              </a:rPr>
              <a:t>且只有</a:t>
            </a: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k</a:t>
            </a:r>
            <a:r>
              <a:rPr lang="zh-CN" altLang="en-US" sz="2800" dirty="0">
                <a:latin typeface="百度综艺简体" panose="02010601030101010101" charset="-122"/>
                <a:ea typeface="百度综艺简体" panose="02010601030101010101" charset="-122"/>
              </a:rPr>
              <a:t>个结点的单支树（树中不存在度为</a:t>
            </a: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sz="2800" dirty="0">
                <a:latin typeface="百度综艺简体" panose="02010601030101010101" charset="-122"/>
                <a:ea typeface="百度综艺简体" panose="02010601030101010101" charset="-122"/>
              </a:rPr>
              <a:t>的结点）却需要</a:t>
            </a: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en-US" altLang="zh-CN" sz="2800" baseline="30000" dirty="0">
                <a:latin typeface="百度综艺简体" panose="02010601030101010101" charset="-122"/>
                <a:ea typeface="百度综艺简体" panose="02010601030101010101" charset="-122"/>
              </a:rPr>
              <a:t>k</a:t>
            </a:r>
            <a:r>
              <a:rPr lang="en-US" altLang="zh-CN" sz="2800" dirty="0">
                <a:latin typeface="百度综艺简体" panose="02010601030101010101" charset="-122"/>
                <a:ea typeface="百度综艺简体" panose="02010601030101010101" charset="-122"/>
              </a:rPr>
              <a:t>-1</a:t>
            </a:r>
            <a:r>
              <a:rPr lang="zh-CN" altLang="en-US" sz="2800" dirty="0">
                <a:latin typeface="百度综艺简体" panose="02010601030101010101" charset="-122"/>
                <a:ea typeface="百度综艺简体" panose="02010601030101010101" charset="-122"/>
              </a:rPr>
              <a:t>的一维数组。</a:t>
            </a:r>
            <a:endParaRPr lang="en-US" altLang="zh-CN" sz="28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427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23963" y="962683"/>
            <a:ext cx="34077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二、二叉树的链式存储表示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2208988" y="1635796"/>
            <a:ext cx="23644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1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二叉链表</a:t>
            </a:r>
          </a:p>
        </p:txBody>
      </p:sp>
      <p:sp>
        <p:nvSpPr>
          <p:cNvPr id="87" name="TextBox 5"/>
          <p:cNvSpPr txBox="1">
            <a:spLocks noChangeArrowheads="1"/>
          </p:cNvSpPr>
          <p:nvPr/>
        </p:nvSpPr>
        <p:spPr bwMode="auto">
          <a:xfrm>
            <a:off x="2302510" y="2273313"/>
            <a:ext cx="23644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．三叉链表</a:t>
            </a:r>
          </a:p>
        </p:txBody>
      </p:sp>
    </p:spTree>
    <p:extLst>
      <p:ext uri="{BB962C8B-B14F-4D97-AF65-F5344CB8AC3E}">
        <p14:creationId xmlns:p14="http://schemas.microsoft.com/office/powerpoint/2010/main" val="280489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17" grpId="0"/>
      <p:bldP spid="8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828620" y="1032038"/>
            <a:ext cx="23644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1.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二叉链表</a:t>
            </a:r>
          </a:p>
        </p:txBody>
      </p:sp>
      <p:sp>
        <p:nvSpPr>
          <p:cNvPr id="65" name="Rectangle 2"/>
          <p:cNvSpPr>
            <a:spLocks noChangeArrowheads="1"/>
          </p:cNvSpPr>
          <p:nvPr/>
        </p:nvSpPr>
        <p:spPr bwMode="auto">
          <a:xfrm>
            <a:off x="4004872" y="2347463"/>
            <a:ext cx="1121424" cy="387212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A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66" name="Line 3"/>
          <p:cNvSpPr>
            <a:spLocks noChangeShapeType="1"/>
          </p:cNvSpPr>
          <p:nvPr/>
        </p:nvSpPr>
        <p:spPr bwMode="auto">
          <a:xfrm>
            <a:off x="4360508" y="2374663"/>
            <a:ext cx="0" cy="360012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4"/>
          <p:cNvSpPr>
            <a:spLocks noChangeShapeType="1"/>
          </p:cNvSpPr>
          <p:nvPr/>
        </p:nvSpPr>
        <p:spPr bwMode="auto">
          <a:xfrm flipH="1">
            <a:off x="4825673" y="2346629"/>
            <a:ext cx="0" cy="388046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Rectangle 5"/>
          <p:cNvSpPr>
            <a:spLocks noChangeArrowheads="1"/>
          </p:cNvSpPr>
          <p:nvPr/>
        </p:nvSpPr>
        <p:spPr bwMode="auto">
          <a:xfrm>
            <a:off x="5215385" y="3225179"/>
            <a:ext cx="1121424" cy="376240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D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69" name="Line 6"/>
          <p:cNvSpPr>
            <a:spLocks noChangeShapeType="1"/>
          </p:cNvSpPr>
          <p:nvPr/>
        </p:nvSpPr>
        <p:spPr bwMode="auto">
          <a:xfrm>
            <a:off x="5539513" y="3225179"/>
            <a:ext cx="0" cy="369331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7"/>
          <p:cNvSpPr>
            <a:spLocks noChangeShapeType="1"/>
          </p:cNvSpPr>
          <p:nvPr/>
        </p:nvSpPr>
        <p:spPr bwMode="auto">
          <a:xfrm flipH="1">
            <a:off x="6003293" y="3225178"/>
            <a:ext cx="1" cy="369331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6428863" y="3907354"/>
            <a:ext cx="1123672" cy="381810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E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72" name="Line 9"/>
          <p:cNvSpPr>
            <a:spLocks noChangeShapeType="1"/>
          </p:cNvSpPr>
          <p:nvPr/>
        </p:nvSpPr>
        <p:spPr bwMode="auto">
          <a:xfrm>
            <a:off x="6788287" y="3907354"/>
            <a:ext cx="2248" cy="381810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10"/>
          <p:cNvSpPr>
            <a:spLocks noChangeShapeType="1"/>
          </p:cNvSpPr>
          <p:nvPr/>
        </p:nvSpPr>
        <p:spPr bwMode="auto">
          <a:xfrm>
            <a:off x="7182221" y="3907354"/>
            <a:ext cx="2248" cy="381810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Rectangle 11"/>
          <p:cNvSpPr>
            <a:spLocks noChangeArrowheads="1"/>
          </p:cNvSpPr>
          <p:nvPr/>
        </p:nvSpPr>
        <p:spPr bwMode="auto">
          <a:xfrm>
            <a:off x="2978995" y="3225178"/>
            <a:ext cx="1121424" cy="382325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B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75" name="Line 12"/>
          <p:cNvSpPr>
            <a:spLocks noChangeShapeType="1"/>
          </p:cNvSpPr>
          <p:nvPr/>
        </p:nvSpPr>
        <p:spPr bwMode="auto">
          <a:xfrm>
            <a:off x="3303123" y="3238315"/>
            <a:ext cx="0" cy="363104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Line 13"/>
          <p:cNvSpPr>
            <a:spLocks noChangeShapeType="1"/>
          </p:cNvSpPr>
          <p:nvPr/>
        </p:nvSpPr>
        <p:spPr bwMode="auto">
          <a:xfrm flipH="1">
            <a:off x="3717123" y="3246685"/>
            <a:ext cx="0" cy="347824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14"/>
          <p:cNvSpPr>
            <a:spLocks noChangeArrowheads="1"/>
          </p:cNvSpPr>
          <p:nvPr/>
        </p:nvSpPr>
        <p:spPr bwMode="auto">
          <a:xfrm>
            <a:off x="3313329" y="3912924"/>
            <a:ext cx="1123672" cy="376240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>
            <a:off x="3623817" y="3912924"/>
            <a:ext cx="0" cy="376240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16"/>
          <p:cNvSpPr>
            <a:spLocks noChangeShapeType="1"/>
          </p:cNvSpPr>
          <p:nvPr/>
        </p:nvSpPr>
        <p:spPr bwMode="auto">
          <a:xfrm>
            <a:off x="4092925" y="3912924"/>
            <a:ext cx="4766" cy="376240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Rectangle 17"/>
          <p:cNvSpPr>
            <a:spLocks noChangeArrowheads="1"/>
          </p:cNvSpPr>
          <p:nvPr/>
        </p:nvSpPr>
        <p:spPr bwMode="auto">
          <a:xfrm>
            <a:off x="5909988" y="4617416"/>
            <a:ext cx="1143000" cy="400050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F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81" name="Line 18"/>
          <p:cNvSpPr>
            <a:spLocks noChangeShapeType="1"/>
          </p:cNvSpPr>
          <p:nvPr/>
        </p:nvSpPr>
        <p:spPr bwMode="auto">
          <a:xfrm>
            <a:off x="6252889" y="4637474"/>
            <a:ext cx="0" cy="35603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19"/>
          <p:cNvSpPr>
            <a:spLocks noChangeShapeType="1"/>
          </p:cNvSpPr>
          <p:nvPr/>
        </p:nvSpPr>
        <p:spPr bwMode="auto">
          <a:xfrm>
            <a:off x="6710089" y="4631255"/>
            <a:ext cx="0" cy="356034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Text Box 20"/>
          <p:cNvSpPr txBox="1">
            <a:spLocks noChangeArrowheads="1"/>
          </p:cNvSpPr>
          <p:nvPr/>
        </p:nvSpPr>
        <p:spPr bwMode="auto">
          <a:xfrm>
            <a:off x="5919375" y="4631255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84" name="Text Box 21"/>
          <p:cNvSpPr txBox="1">
            <a:spLocks noChangeArrowheads="1"/>
          </p:cNvSpPr>
          <p:nvPr/>
        </p:nvSpPr>
        <p:spPr bwMode="auto">
          <a:xfrm>
            <a:off x="6710089" y="4632775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85" name="Text Box 22"/>
          <p:cNvSpPr txBox="1">
            <a:spLocks noChangeArrowheads="1"/>
          </p:cNvSpPr>
          <p:nvPr/>
        </p:nvSpPr>
        <p:spPr bwMode="auto">
          <a:xfrm>
            <a:off x="7169287" y="3907354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86" name="Text Box 23"/>
          <p:cNvSpPr txBox="1">
            <a:spLocks noChangeArrowheads="1"/>
          </p:cNvSpPr>
          <p:nvPr/>
        </p:nvSpPr>
        <p:spPr bwMode="auto">
          <a:xfrm>
            <a:off x="5215385" y="3225179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88" name="Text Box 24"/>
          <p:cNvSpPr txBox="1">
            <a:spLocks noChangeArrowheads="1"/>
          </p:cNvSpPr>
          <p:nvPr/>
        </p:nvSpPr>
        <p:spPr bwMode="auto">
          <a:xfrm>
            <a:off x="3299689" y="3912924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89" name="Text Box 25"/>
          <p:cNvSpPr txBox="1">
            <a:spLocks noChangeArrowheads="1"/>
          </p:cNvSpPr>
          <p:nvPr/>
        </p:nvSpPr>
        <p:spPr bwMode="auto">
          <a:xfrm>
            <a:off x="4105282" y="3919832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 dirty="0"/>
          </a:p>
        </p:txBody>
      </p:sp>
      <p:sp>
        <p:nvSpPr>
          <p:cNvPr id="90" name="Text Box 26"/>
          <p:cNvSpPr txBox="1">
            <a:spLocks noChangeArrowheads="1"/>
          </p:cNvSpPr>
          <p:nvPr/>
        </p:nvSpPr>
        <p:spPr bwMode="auto">
          <a:xfrm>
            <a:off x="2978994" y="3225177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/>
          </a:p>
        </p:txBody>
      </p:sp>
      <p:sp>
        <p:nvSpPr>
          <p:cNvPr id="91" name="Line 27"/>
          <p:cNvSpPr>
            <a:spLocks noChangeShapeType="1"/>
          </p:cNvSpPr>
          <p:nvPr/>
        </p:nvSpPr>
        <p:spPr bwMode="auto">
          <a:xfrm flipH="1">
            <a:off x="3540658" y="2564461"/>
            <a:ext cx="584196" cy="647723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28"/>
          <p:cNvSpPr>
            <a:spLocks noChangeShapeType="1"/>
          </p:cNvSpPr>
          <p:nvPr/>
        </p:nvSpPr>
        <p:spPr bwMode="auto">
          <a:xfrm>
            <a:off x="4946586" y="2626281"/>
            <a:ext cx="812398" cy="620404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29"/>
          <p:cNvSpPr>
            <a:spLocks noChangeShapeType="1"/>
          </p:cNvSpPr>
          <p:nvPr/>
        </p:nvSpPr>
        <p:spPr bwMode="auto">
          <a:xfrm>
            <a:off x="3590033" y="3657600"/>
            <a:ext cx="283360" cy="302450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30"/>
          <p:cNvSpPr>
            <a:spLocks noChangeShapeType="1"/>
          </p:cNvSpPr>
          <p:nvPr/>
        </p:nvSpPr>
        <p:spPr bwMode="auto">
          <a:xfrm>
            <a:off x="6204564" y="3631462"/>
            <a:ext cx="763297" cy="270607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1"/>
          <p:cNvSpPr>
            <a:spLocks noChangeShapeType="1"/>
          </p:cNvSpPr>
          <p:nvPr/>
        </p:nvSpPr>
        <p:spPr bwMode="auto">
          <a:xfrm flipH="1">
            <a:off x="6494696" y="4304523"/>
            <a:ext cx="110262" cy="305213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Freeform 32"/>
          <p:cNvSpPr>
            <a:spLocks/>
          </p:cNvSpPr>
          <p:nvPr/>
        </p:nvSpPr>
        <p:spPr bwMode="auto">
          <a:xfrm>
            <a:off x="1984310" y="1977145"/>
            <a:ext cx="2673915" cy="377486"/>
          </a:xfrm>
          <a:custGeom>
            <a:avLst/>
            <a:gdLst>
              <a:gd name="T0" fmla="*/ 0 w 720"/>
              <a:gd name="T1" fmla="*/ 0 h 528"/>
              <a:gd name="T2" fmla="*/ 2147483646 w 720"/>
              <a:gd name="T3" fmla="*/ 2147483646 h 528"/>
              <a:gd name="T4" fmla="*/ 2147483646 w 720"/>
              <a:gd name="T5" fmla="*/ 2147483646 h 528"/>
              <a:gd name="T6" fmla="*/ 2147483646 w 720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0" h="528">
                <a:moveTo>
                  <a:pt x="0" y="0"/>
                </a:moveTo>
                <a:cubicBezTo>
                  <a:pt x="260" y="4"/>
                  <a:pt x="520" y="8"/>
                  <a:pt x="576" y="48"/>
                </a:cubicBezTo>
                <a:cubicBezTo>
                  <a:pt x="632" y="88"/>
                  <a:pt x="312" y="160"/>
                  <a:pt x="336" y="240"/>
                </a:cubicBezTo>
                <a:cubicBezTo>
                  <a:pt x="360" y="320"/>
                  <a:pt x="656" y="480"/>
                  <a:pt x="720" y="528"/>
                </a:cubicBezTo>
              </a:path>
            </a:pathLst>
          </a:custGeom>
          <a:noFill/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Text Box 33"/>
          <p:cNvSpPr txBox="1">
            <a:spLocks noChangeArrowheads="1"/>
          </p:cNvSpPr>
          <p:nvPr/>
        </p:nvSpPr>
        <p:spPr bwMode="auto">
          <a:xfrm>
            <a:off x="1934336" y="1642508"/>
            <a:ext cx="8639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root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98" name="Text Box 34"/>
          <p:cNvSpPr txBox="1">
            <a:spLocks noChangeArrowheads="1"/>
          </p:cNvSpPr>
          <p:nvPr/>
        </p:nvSpPr>
        <p:spPr bwMode="auto">
          <a:xfrm>
            <a:off x="6064384" y="1162196"/>
            <a:ext cx="20185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 err="1" smtClean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</a:t>
            </a:r>
            <a:r>
              <a:rPr lang="en-US" altLang="zh-CN" sz="1800" dirty="0" err="1" smtClean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childdata</a:t>
            </a:r>
            <a:r>
              <a:rPr lang="en-US" altLang="zh-CN" sz="1800" dirty="0" smtClean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  <a:r>
              <a:rPr lang="en-US" altLang="zh-CN" sz="1800" b="1" dirty="0" err="1" smtClean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</a:t>
            </a:r>
            <a:r>
              <a:rPr lang="en-US" altLang="zh-CN" sz="1800" dirty="0" err="1" smtClean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child</a:t>
            </a:r>
            <a:endParaRPr lang="en-US" altLang="zh-CN" sz="1800" dirty="0">
              <a:solidFill>
                <a:srgbClr val="2A5BA8"/>
              </a:solidFill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99" name="Rectangle 35"/>
          <p:cNvSpPr>
            <a:spLocks noChangeArrowheads="1"/>
          </p:cNvSpPr>
          <p:nvPr/>
        </p:nvSpPr>
        <p:spPr bwMode="auto">
          <a:xfrm>
            <a:off x="6031872" y="1137829"/>
            <a:ext cx="1965278" cy="39973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00" name="Line 36"/>
          <p:cNvSpPr>
            <a:spLocks noChangeShapeType="1"/>
          </p:cNvSpPr>
          <p:nvPr/>
        </p:nvSpPr>
        <p:spPr bwMode="auto">
          <a:xfrm>
            <a:off x="6691554" y="1153990"/>
            <a:ext cx="0" cy="38131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Line 37"/>
          <p:cNvSpPr>
            <a:spLocks noChangeShapeType="1"/>
          </p:cNvSpPr>
          <p:nvPr/>
        </p:nvSpPr>
        <p:spPr bwMode="auto">
          <a:xfrm>
            <a:off x="7198519" y="1130236"/>
            <a:ext cx="0" cy="401636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Text Box 38"/>
          <p:cNvSpPr txBox="1">
            <a:spLocks noChangeArrowheads="1"/>
          </p:cNvSpPr>
          <p:nvPr/>
        </p:nvSpPr>
        <p:spPr bwMode="auto">
          <a:xfrm>
            <a:off x="6361183" y="754326"/>
            <a:ext cx="11913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结点结构</a:t>
            </a:r>
            <a:r>
              <a:rPr lang="en-US" altLang="zh-CN" sz="1800" dirty="0">
                <a:solidFill>
                  <a:srgbClr val="2A5BA8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:</a:t>
            </a:r>
          </a:p>
        </p:txBody>
      </p:sp>
      <p:sp>
        <p:nvSpPr>
          <p:cNvPr id="103" name="Rectangle 40"/>
          <p:cNvSpPr>
            <a:spLocks noChangeArrowheads="1"/>
          </p:cNvSpPr>
          <p:nvPr/>
        </p:nvSpPr>
        <p:spPr bwMode="auto">
          <a:xfrm>
            <a:off x="5620392" y="1555173"/>
            <a:ext cx="29738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含有两个指针域的结点结构</a:t>
            </a:r>
          </a:p>
        </p:txBody>
      </p:sp>
    </p:spTree>
    <p:extLst>
      <p:ext uri="{BB962C8B-B14F-4D97-AF65-F5344CB8AC3E}">
        <p14:creationId xmlns:p14="http://schemas.microsoft.com/office/powerpoint/2010/main" val="7751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25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125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250"/>
                            </p:stCondLst>
                            <p:childTnLst>
                              <p:par>
                                <p:cTn id="8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325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4250"/>
                            </p:stCondLst>
                            <p:childTnLst>
                              <p:par>
                                <p:cTn id="9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25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250"/>
                            </p:stCondLst>
                            <p:childTnLst>
                              <p:par>
                                <p:cTn id="1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7250"/>
                            </p:stCondLst>
                            <p:childTnLst>
                              <p:par>
                                <p:cTn id="1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8250"/>
                            </p:stCondLst>
                            <p:childTnLst>
                              <p:par>
                                <p:cTn id="1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9250"/>
                            </p:stCondLst>
                            <p:childTnLst>
                              <p:par>
                                <p:cTn id="1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250"/>
                            </p:stCondLst>
                            <p:childTnLst>
                              <p:par>
                                <p:cTn id="1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1250"/>
                            </p:stCondLst>
                            <p:childTnLst>
                              <p:par>
                                <p:cTn id="1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2250"/>
                            </p:stCondLst>
                            <p:childTnLst>
                              <p:par>
                                <p:cTn id="1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3250"/>
                            </p:stCondLst>
                            <p:childTnLst>
                              <p:par>
                                <p:cTn id="1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4250"/>
                            </p:stCondLst>
                            <p:childTnLst>
                              <p:par>
                                <p:cTn id="1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250"/>
                            </p:stCondLst>
                            <p:childTnLst>
                              <p:par>
                                <p:cTn id="1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6250"/>
                            </p:stCondLst>
                            <p:childTnLst>
                              <p:par>
                                <p:cTn id="1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7250"/>
                            </p:stCondLst>
                            <p:childTnLst>
                              <p:par>
                                <p:cTn id="1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8250"/>
                            </p:stCondLst>
                            <p:childTnLst>
                              <p:par>
                                <p:cTn id="1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9250"/>
                            </p:stCondLst>
                            <p:childTnLst>
                              <p:par>
                                <p:cTn id="1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0250"/>
                            </p:stCondLst>
                            <p:childTnLst>
                              <p:par>
                                <p:cTn id="1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1250"/>
                            </p:stCondLst>
                            <p:childTnLst>
                              <p:par>
                                <p:cTn id="2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32250"/>
                            </p:stCondLst>
                            <p:childTnLst>
                              <p:par>
                                <p:cTn id="20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3250"/>
                            </p:stCondLst>
                            <p:childTnLst>
                              <p:par>
                                <p:cTn id="2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4250"/>
                            </p:stCondLst>
                            <p:childTnLst>
                              <p:par>
                                <p:cTn id="2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5250"/>
                            </p:stCondLst>
                            <p:childTnLst>
                              <p:par>
                                <p:cTn id="2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6250"/>
                            </p:stCondLst>
                            <p:childTnLst>
                              <p:par>
                                <p:cTn id="2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7250"/>
                            </p:stCondLst>
                            <p:childTnLst>
                              <p:par>
                                <p:cTn id="2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8250"/>
                            </p:stCondLst>
                            <p:childTnLst>
                              <p:par>
                                <p:cTn id="2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9250"/>
                            </p:stCondLst>
                            <p:childTnLst>
                              <p:par>
                                <p:cTn id="2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40250"/>
                            </p:stCondLst>
                            <p:childTnLst>
                              <p:par>
                                <p:cTn id="2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41250"/>
                            </p:stCondLst>
                            <p:childTnLst>
                              <p:par>
                                <p:cTn id="2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42250"/>
                            </p:stCondLst>
                            <p:childTnLst>
                              <p:par>
                                <p:cTn id="2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9" grpId="0" autoUpdateAnimBg="0"/>
      <p:bldP spid="22" grpId="0" bldLvl="0" animBg="1" autoUpdateAnimBg="0"/>
      <p:bldP spid="31" grpId="0"/>
      <p:bldP spid="17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/>
      <p:bldP spid="84" grpId="0"/>
      <p:bldP spid="85" grpId="0"/>
      <p:bldP spid="86" grpId="0"/>
      <p:bldP spid="88" grpId="0"/>
      <p:bldP spid="89" grpId="0"/>
      <p:bldP spid="90" grpId="0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/>
      <p:bldP spid="98" grpId="0"/>
      <p:bldP spid="99" grpId="0" animBg="1"/>
      <p:bldP spid="100" grpId="0" animBg="1"/>
      <p:bldP spid="101" grpId="0" animBg="1"/>
      <p:bldP spid="102" grpId="0"/>
      <p:bldP spid="10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47254" y="998220"/>
            <a:ext cx="67605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C </a:t>
            </a: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语言的类型描述如下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1727654" y="1559295"/>
            <a:ext cx="6760571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BiTNode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{ //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结点结构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data;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BiTNode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lchild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rchild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 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     //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左右孩子指针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BiTNode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BiTree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47253" y="4099799"/>
            <a:ext cx="67605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结点结构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2378710" y="4190375"/>
            <a:ext cx="38379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</a:t>
            </a:r>
            <a:r>
              <a:rPr lang="en-US" altLang="zh-CN" sz="3600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childdata</a:t>
            </a:r>
            <a:r>
              <a:rPr lang="en-US" altLang="zh-CN" sz="3600" dirty="0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  <a:r>
              <a:rPr lang="en-US" altLang="zh-CN" sz="3600" b="1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</a:t>
            </a:r>
            <a:r>
              <a:rPr lang="en-US" altLang="zh-CN" sz="3600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child</a:t>
            </a:r>
            <a:endParaRPr lang="en-US" altLang="zh-CN" sz="24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2302510" y="4266575"/>
            <a:ext cx="3581400" cy="5334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597910" y="4266575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0" name="Line 6"/>
          <p:cNvSpPr>
            <a:spLocks noChangeShapeType="1"/>
          </p:cNvSpPr>
          <p:nvPr/>
        </p:nvSpPr>
        <p:spPr bwMode="auto">
          <a:xfrm>
            <a:off x="4588510" y="4266575"/>
            <a:ext cx="0" cy="533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93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75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75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/>
      <p:bldP spid="12" grpId="0"/>
      <p:bldP spid="13" grpId="0"/>
      <p:bldP spid="26" grpId="0" autoUpdateAnimBg="0"/>
      <p:bldP spid="28" grpId="0" animBg="1" autoUpdateAnimBg="0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直接连接符 53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55" name="矩形 54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56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58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3660896" y="2095448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A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>
            <a:off x="3946735" y="2095448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4518411" y="2095448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5090087" y="2952962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D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5375925" y="2952962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5947602" y="2952962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6519278" y="3810477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E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6805116" y="3810477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>
            <a:off x="7376793" y="3810477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1827953" y="2732137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</a:rPr>
              <a:t>B</a:t>
            </a:r>
            <a:endParaRPr lang="en-US" altLang="zh-CN" sz="1800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>
            <a:off x="2113792" y="2732137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3089220" y="2952962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2917717" y="3810477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3203555" y="3810477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3775232" y="3810477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5833266" y="4667991"/>
            <a:ext cx="1143353" cy="400173"/>
          </a:xfrm>
          <a:prstGeom prst="rect">
            <a:avLst/>
          </a:prstGeom>
          <a:solidFill>
            <a:srgbClr val="CAF2CE">
              <a:alpha val="50195"/>
            </a:srgbClr>
          </a:solidFill>
          <a:ln w="254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701" b="1">
                <a:solidFill>
                  <a:srgbClr val="0054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F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6119105" y="4667991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6690781" y="4667991"/>
            <a:ext cx="0" cy="400173"/>
          </a:xfrm>
          <a:prstGeom prst="line">
            <a:avLst/>
          </a:prstGeom>
          <a:noFill/>
          <a:ln w="127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5808256" y="4553656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6665771" y="4553656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7351782" y="3696141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5032920" y="2838627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2860549" y="3684231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3750221" y="3696141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2174538" y="2838627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FF3300"/>
                </a:solidFill>
                <a:sym typeface="Symbol" panose="05050102010706020507" pitchFamily="18" charset="2"/>
              </a:rPr>
              <a:t></a:t>
            </a:r>
            <a:endParaRPr lang="en-US" altLang="zh-CN" sz="1800"/>
          </a:p>
        </p:txBody>
      </p:sp>
      <p:sp>
        <p:nvSpPr>
          <p:cNvPr id="12315" name="Line 27"/>
          <p:cNvSpPr>
            <a:spLocks noChangeShapeType="1"/>
          </p:cNvSpPr>
          <p:nvPr/>
        </p:nvSpPr>
        <p:spPr bwMode="auto">
          <a:xfrm>
            <a:off x="4632746" y="2324118"/>
            <a:ext cx="1029018" cy="628844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6" name="Line 28"/>
          <p:cNvSpPr>
            <a:spLocks noChangeShapeType="1"/>
          </p:cNvSpPr>
          <p:nvPr/>
        </p:nvSpPr>
        <p:spPr bwMode="auto">
          <a:xfrm>
            <a:off x="3203555" y="3124465"/>
            <a:ext cx="285838" cy="686012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7" name="Line 29"/>
          <p:cNvSpPr>
            <a:spLocks noChangeShapeType="1"/>
          </p:cNvSpPr>
          <p:nvPr/>
        </p:nvSpPr>
        <p:spPr bwMode="auto">
          <a:xfrm>
            <a:off x="6061937" y="3124465"/>
            <a:ext cx="1029018" cy="686012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8" name="Line 30"/>
          <p:cNvSpPr>
            <a:spLocks noChangeShapeType="1"/>
          </p:cNvSpPr>
          <p:nvPr/>
        </p:nvSpPr>
        <p:spPr bwMode="auto">
          <a:xfrm flipH="1">
            <a:off x="6404943" y="3981979"/>
            <a:ext cx="228671" cy="686012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19" name="Freeform 31"/>
          <p:cNvSpPr>
            <a:spLocks/>
          </p:cNvSpPr>
          <p:nvPr/>
        </p:nvSpPr>
        <p:spPr bwMode="auto">
          <a:xfrm>
            <a:off x="2480732" y="1586163"/>
            <a:ext cx="1751841" cy="509283"/>
          </a:xfrm>
          <a:custGeom>
            <a:avLst/>
            <a:gdLst>
              <a:gd name="T0" fmla="*/ 0 w 720"/>
              <a:gd name="T1" fmla="*/ 0 h 528"/>
              <a:gd name="T2" fmla="*/ 2147483646 w 720"/>
              <a:gd name="T3" fmla="*/ 2147483646 h 528"/>
              <a:gd name="T4" fmla="*/ 2147483646 w 720"/>
              <a:gd name="T5" fmla="*/ 2147483646 h 528"/>
              <a:gd name="T6" fmla="*/ 2147483646 w 720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0" h="528">
                <a:moveTo>
                  <a:pt x="0" y="0"/>
                </a:moveTo>
                <a:cubicBezTo>
                  <a:pt x="260" y="4"/>
                  <a:pt x="520" y="8"/>
                  <a:pt x="576" y="48"/>
                </a:cubicBezTo>
                <a:cubicBezTo>
                  <a:pt x="632" y="88"/>
                  <a:pt x="312" y="160"/>
                  <a:pt x="336" y="240"/>
                </a:cubicBezTo>
                <a:cubicBezTo>
                  <a:pt x="360" y="320"/>
                  <a:pt x="656" y="480"/>
                  <a:pt x="720" y="528"/>
                </a:cubicBezTo>
              </a:path>
            </a:pathLst>
          </a:custGeom>
          <a:noFill/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2399629" y="1118376"/>
            <a:ext cx="915635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 dirty="0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root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1" name="Rectangle 33"/>
          <p:cNvSpPr>
            <a:spLocks noChangeArrowheads="1"/>
          </p:cNvSpPr>
          <p:nvPr/>
        </p:nvSpPr>
        <p:spPr bwMode="auto">
          <a:xfrm>
            <a:off x="3375058" y="2095448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2" name="Line 34"/>
          <p:cNvSpPr>
            <a:spLocks noChangeShapeType="1"/>
          </p:cNvSpPr>
          <p:nvPr/>
        </p:nvSpPr>
        <p:spPr bwMode="auto">
          <a:xfrm flipH="1">
            <a:off x="2803381" y="2324118"/>
            <a:ext cx="1029018" cy="628844"/>
          </a:xfrm>
          <a:prstGeom prst="line">
            <a:avLst/>
          </a:prstGeom>
          <a:noFill/>
          <a:ln w="38100" cap="sq">
            <a:solidFill>
              <a:srgbClr val="0054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3" name="Rectangle 35"/>
          <p:cNvSpPr>
            <a:spLocks noChangeArrowheads="1"/>
          </p:cNvSpPr>
          <p:nvPr/>
        </p:nvSpPr>
        <p:spPr bwMode="auto">
          <a:xfrm>
            <a:off x="1945867" y="2952962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4804249" y="2952962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2631879" y="3810477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6" name="Rectangle 38"/>
          <p:cNvSpPr>
            <a:spLocks noChangeArrowheads="1"/>
          </p:cNvSpPr>
          <p:nvPr/>
        </p:nvSpPr>
        <p:spPr bwMode="auto">
          <a:xfrm>
            <a:off x="6233440" y="3810477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7" name="Rectangle 39"/>
          <p:cNvSpPr>
            <a:spLocks noChangeArrowheads="1"/>
          </p:cNvSpPr>
          <p:nvPr/>
        </p:nvSpPr>
        <p:spPr bwMode="auto">
          <a:xfrm>
            <a:off x="5547428" y="4667991"/>
            <a:ext cx="285838" cy="400173"/>
          </a:xfrm>
          <a:prstGeom prst="rect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8" name="Text Box 40"/>
          <p:cNvSpPr txBox="1">
            <a:spLocks noChangeArrowheads="1"/>
          </p:cNvSpPr>
          <p:nvPr/>
        </p:nvSpPr>
        <p:spPr bwMode="auto">
          <a:xfrm>
            <a:off x="3317890" y="1981112"/>
            <a:ext cx="417102" cy="554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001" b="1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  <a:sym typeface="Symbol" panose="05050102010706020507" pitchFamily="18" charset="2"/>
              </a:rPr>
              <a:t>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29" name="Freeform 41"/>
          <p:cNvSpPr>
            <a:spLocks/>
          </p:cNvSpPr>
          <p:nvPr/>
        </p:nvSpPr>
        <p:spPr bwMode="auto">
          <a:xfrm>
            <a:off x="2088786" y="2338410"/>
            <a:ext cx="1271980" cy="857515"/>
          </a:xfrm>
          <a:custGeom>
            <a:avLst/>
            <a:gdLst>
              <a:gd name="T0" fmla="*/ 0 w 1068"/>
              <a:gd name="T1" fmla="*/ 2147483646 h 720"/>
              <a:gd name="T2" fmla="*/ 2147483646 w 1068"/>
              <a:gd name="T3" fmla="*/ 2147483646 h 720"/>
              <a:gd name="T4" fmla="*/ 2147483646 w 1068"/>
              <a:gd name="T5" fmla="*/ 2147483646 h 720"/>
              <a:gd name="T6" fmla="*/ 2147483646 w 1068"/>
              <a:gd name="T7" fmla="*/ 2147483646 h 720"/>
              <a:gd name="T8" fmla="*/ 2147483646 w 1068"/>
              <a:gd name="T9" fmla="*/ 2147483646 h 720"/>
              <a:gd name="T10" fmla="*/ 2147483646 w 1068"/>
              <a:gd name="T11" fmla="*/ 2147483646 h 720"/>
              <a:gd name="T12" fmla="*/ 2147483646 w 1068"/>
              <a:gd name="T13" fmla="*/ 2147483646 h 720"/>
              <a:gd name="T14" fmla="*/ 2147483646 w 1068"/>
              <a:gd name="T15" fmla="*/ 2147483646 h 720"/>
              <a:gd name="T16" fmla="*/ 2147483646 w 1068"/>
              <a:gd name="T17" fmla="*/ 2147483646 h 720"/>
              <a:gd name="T18" fmla="*/ 2147483646 w 1068"/>
              <a:gd name="T19" fmla="*/ 2147483646 h 720"/>
              <a:gd name="T20" fmla="*/ 2147483646 w 1068"/>
              <a:gd name="T21" fmla="*/ 0 h 7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068" h="720">
                <a:moveTo>
                  <a:pt x="0" y="720"/>
                </a:moveTo>
                <a:cubicBezTo>
                  <a:pt x="19" y="662"/>
                  <a:pt x="44" y="534"/>
                  <a:pt x="72" y="492"/>
                </a:cubicBezTo>
                <a:cubicBezTo>
                  <a:pt x="80" y="480"/>
                  <a:pt x="90" y="469"/>
                  <a:pt x="96" y="456"/>
                </a:cubicBezTo>
                <a:cubicBezTo>
                  <a:pt x="119" y="410"/>
                  <a:pt x="123" y="390"/>
                  <a:pt x="168" y="360"/>
                </a:cubicBezTo>
                <a:cubicBezTo>
                  <a:pt x="189" y="297"/>
                  <a:pt x="165" y="346"/>
                  <a:pt x="216" y="300"/>
                </a:cubicBezTo>
                <a:cubicBezTo>
                  <a:pt x="303" y="223"/>
                  <a:pt x="271" y="237"/>
                  <a:pt x="360" y="192"/>
                </a:cubicBezTo>
                <a:cubicBezTo>
                  <a:pt x="396" y="174"/>
                  <a:pt x="431" y="148"/>
                  <a:pt x="468" y="132"/>
                </a:cubicBezTo>
                <a:cubicBezTo>
                  <a:pt x="546" y="97"/>
                  <a:pt x="637" y="78"/>
                  <a:pt x="720" y="60"/>
                </a:cubicBezTo>
                <a:cubicBezTo>
                  <a:pt x="761" y="51"/>
                  <a:pt x="798" y="27"/>
                  <a:pt x="840" y="24"/>
                </a:cubicBezTo>
                <a:cubicBezTo>
                  <a:pt x="896" y="20"/>
                  <a:pt x="952" y="16"/>
                  <a:pt x="1008" y="12"/>
                </a:cubicBezTo>
                <a:cubicBezTo>
                  <a:pt x="1028" y="8"/>
                  <a:pt x="1068" y="0"/>
                  <a:pt x="1068" y="0"/>
                </a:cubicBezTo>
              </a:path>
            </a:pathLst>
          </a:custGeom>
          <a:noFill/>
          <a:ln w="38100" cap="sq" cmpd="sng">
            <a:solidFill>
              <a:srgbClr val="333399"/>
            </a:solidFill>
            <a:prstDash val="solid"/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30" name="Line 42"/>
          <p:cNvSpPr>
            <a:spLocks noChangeShapeType="1"/>
          </p:cNvSpPr>
          <p:nvPr/>
        </p:nvSpPr>
        <p:spPr bwMode="auto">
          <a:xfrm flipH="1">
            <a:off x="2746214" y="3353135"/>
            <a:ext cx="57168" cy="628844"/>
          </a:xfrm>
          <a:prstGeom prst="line">
            <a:avLst/>
          </a:prstGeom>
          <a:noFill/>
          <a:ln w="38100" cap="sq">
            <a:solidFill>
              <a:srgbClr val="333399"/>
            </a:solidFill>
            <a:round/>
            <a:headEnd type="triangle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1" name="Freeform 43"/>
          <p:cNvSpPr>
            <a:spLocks/>
          </p:cNvSpPr>
          <p:nvPr/>
        </p:nvSpPr>
        <p:spPr bwMode="auto">
          <a:xfrm>
            <a:off x="4246864" y="2495621"/>
            <a:ext cx="671720" cy="686012"/>
          </a:xfrm>
          <a:custGeom>
            <a:avLst/>
            <a:gdLst>
              <a:gd name="T0" fmla="*/ 0 w 564"/>
              <a:gd name="T1" fmla="*/ 0 h 660"/>
              <a:gd name="T2" fmla="*/ 2147483646 w 564"/>
              <a:gd name="T3" fmla="*/ 2147483646 h 660"/>
              <a:gd name="T4" fmla="*/ 2147483646 w 564"/>
              <a:gd name="T5" fmla="*/ 2147483646 h 660"/>
              <a:gd name="T6" fmla="*/ 2147483646 w 564"/>
              <a:gd name="T7" fmla="*/ 2147483646 h 660"/>
              <a:gd name="T8" fmla="*/ 2147483646 w 564"/>
              <a:gd name="T9" fmla="*/ 2147483646 h 660"/>
              <a:gd name="T10" fmla="*/ 2147483646 w 564"/>
              <a:gd name="T11" fmla="*/ 2147483646 h 660"/>
              <a:gd name="T12" fmla="*/ 2147483646 w 564"/>
              <a:gd name="T13" fmla="*/ 2147483646 h 660"/>
              <a:gd name="T14" fmla="*/ 2147483646 w 564"/>
              <a:gd name="T15" fmla="*/ 2147483646 h 6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64" h="660">
                <a:moveTo>
                  <a:pt x="0" y="0"/>
                </a:moveTo>
                <a:cubicBezTo>
                  <a:pt x="35" y="140"/>
                  <a:pt x="117" y="263"/>
                  <a:pt x="192" y="384"/>
                </a:cubicBezTo>
                <a:cubicBezTo>
                  <a:pt x="201" y="399"/>
                  <a:pt x="206" y="417"/>
                  <a:pt x="216" y="432"/>
                </a:cubicBezTo>
                <a:cubicBezTo>
                  <a:pt x="226" y="446"/>
                  <a:pt x="242" y="455"/>
                  <a:pt x="252" y="468"/>
                </a:cubicBezTo>
                <a:cubicBezTo>
                  <a:pt x="319" y="555"/>
                  <a:pt x="267" y="529"/>
                  <a:pt x="336" y="552"/>
                </a:cubicBezTo>
                <a:cubicBezTo>
                  <a:pt x="368" y="584"/>
                  <a:pt x="403" y="606"/>
                  <a:pt x="444" y="624"/>
                </a:cubicBezTo>
                <a:cubicBezTo>
                  <a:pt x="467" y="634"/>
                  <a:pt x="491" y="642"/>
                  <a:pt x="516" y="648"/>
                </a:cubicBezTo>
                <a:cubicBezTo>
                  <a:pt x="532" y="652"/>
                  <a:pt x="564" y="660"/>
                  <a:pt x="564" y="660"/>
                </a:cubicBezTo>
              </a:path>
            </a:pathLst>
          </a:custGeom>
          <a:noFill/>
          <a:ln w="38100" cap="sq" cmpd="sng">
            <a:solidFill>
              <a:srgbClr val="333399"/>
            </a:solidFill>
            <a:prstDash val="solid"/>
            <a:round/>
            <a:headEnd type="triangle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2" name="Freeform 44"/>
          <p:cNvSpPr>
            <a:spLocks/>
          </p:cNvSpPr>
          <p:nvPr/>
        </p:nvSpPr>
        <p:spPr bwMode="auto">
          <a:xfrm>
            <a:off x="5647472" y="3367427"/>
            <a:ext cx="700304" cy="671720"/>
          </a:xfrm>
          <a:custGeom>
            <a:avLst/>
            <a:gdLst>
              <a:gd name="T0" fmla="*/ 0 w 588"/>
              <a:gd name="T1" fmla="*/ 0 h 494"/>
              <a:gd name="T2" fmla="*/ 2147483646 w 588"/>
              <a:gd name="T3" fmla="*/ 2147483646 h 494"/>
              <a:gd name="T4" fmla="*/ 2147483646 w 588"/>
              <a:gd name="T5" fmla="*/ 2147483646 h 494"/>
              <a:gd name="T6" fmla="*/ 2147483646 w 588"/>
              <a:gd name="T7" fmla="*/ 2147483646 h 494"/>
              <a:gd name="T8" fmla="*/ 2147483646 w 588"/>
              <a:gd name="T9" fmla="*/ 2147483646 h 494"/>
              <a:gd name="T10" fmla="*/ 2147483646 w 588"/>
              <a:gd name="T11" fmla="*/ 2147483646 h 494"/>
              <a:gd name="T12" fmla="*/ 2147483646 w 588"/>
              <a:gd name="T13" fmla="*/ 2147483646 h 494"/>
              <a:gd name="T14" fmla="*/ 2147483646 w 588"/>
              <a:gd name="T15" fmla="*/ 2147483646 h 49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88" h="494">
                <a:moveTo>
                  <a:pt x="0" y="0"/>
                </a:moveTo>
                <a:cubicBezTo>
                  <a:pt x="16" y="48"/>
                  <a:pt x="30" y="68"/>
                  <a:pt x="72" y="96"/>
                </a:cubicBezTo>
                <a:cubicBezTo>
                  <a:pt x="89" y="146"/>
                  <a:pt x="105" y="175"/>
                  <a:pt x="156" y="192"/>
                </a:cubicBezTo>
                <a:cubicBezTo>
                  <a:pt x="179" y="262"/>
                  <a:pt x="150" y="198"/>
                  <a:pt x="204" y="252"/>
                </a:cubicBezTo>
                <a:cubicBezTo>
                  <a:pt x="244" y="292"/>
                  <a:pt x="239" y="316"/>
                  <a:pt x="300" y="336"/>
                </a:cubicBezTo>
                <a:cubicBezTo>
                  <a:pt x="326" y="415"/>
                  <a:pt x="290" y="337"/>
                  <a:pt x="348" y="384"/>
                </a:cubicBezTo>
                <a:cubicBezTo>
                  <a:pt x="426" y="446"/>
                  <a:pt x="318" y="402"/>
                  <a:pt x="408" y="432"/>
                </a:cubicBezTo>
                <a:cubicBezTo>
                  <a:pt x="470" y="494"/>
                  <a:pt x="490" y="480"/>
                  <a:pt x="588" y="480"/>
                </a:cubicBezTo>
              </a:path>
            </a:pathLst>
          </a:custGeom>
          <a:noFill/>
          <a:ln w="38100" cap="sq" cmpd="sng">
            <a:solidFill>
              <a:srgbClr val="333399"/>
            </a:solidFill>
            <a:prstDash val="solid"/>
            <a:round/>
            <a:headEnd type="triangle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3" name="Freeform 45"/>
          <p:cNvSpPr>
            <a:spLocks/>
          </p:cNvSpPr>
          <p:nvPr/>
        </p:nvSpPr>
        <p:spPr bwMode="auto">
          <a:xfrm>
            <a:off x="5661764" y="4153482"/>
            <a:ext cx="714595" cy="686012"/>
          </a:xfrm>
          <a:custGeom>
            <a:avLst/>
            <a:gdLst>
              <a:gd name="T0" fmla="*/ 2147483646 w 600"/>
              <a:gd name="T1" fmla="*/ 0 h 504"/>
              <a:gd name="T2" fmla="*/ 2147483646 w 600"/>
              <a:gd name="T3" fmla="*/ 2147483646 h 504"/>
              <a:gd name="T4" fmla="*/ 2147483646 w 600"/>
              <a:gd name="T5" fmla="*/ 2147483646 h 504"/>
              <a:gd name="T6" fmla="*/ 2147483646 w 600"/>
              <a:gd name="T7" fmla="*/ 2147483646 h 504"/>
              <a:gd name="T8" fmla="*/ 2147483646 w 600"/>
              <a:gd name="T9" fmla="*/ 2147483646 h 504"/>
              <a:gd name="T10" fmla="*/ 2147483646 w 600"/>
              <a:gd name="T11" fmla="*/ 2147483646 h 504"/>
              <a:gd name="T12" fmla="*/ 2147483646 w 600"/>
              <a:gd name="T13" fmla="*/ 2147483646 h 504"/>
              <a:gd name="T14" fmla="*/ 0 w 600"/>
              <a:gd name="T15" fmla="*/ 2147483646 h 5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00" h="504">
                <a:moveTo>
                  <a:pt x="600" y="0"/>
                </a:moveTo>
                <a:cubicBezTo>
                  <a:pt x="545" y="83"/>
                  <a:pt x="579" y="63"/>
                  <a:pt x="516" y="84"/>
                </a:cubicBezTo>
                <a:cubicBezTo>
                  <a:pt x="474" y="209"/>
                  <a:pt x="310" y="285"/>
                  <a:pt x="192" y="324"/>
                </a:cubicBezTo>
                <a:cubicBezTo>
                  <a:pt x="167" y="332"/>
                  <a:pt x="145" y="352"/>
                  <a:pt x="120" y="360"/>
                </a:cubicBezTo>
                <a:cubicBezTo>
                  <a:pt x="108" y="372"/>
                  <a:pt x="97" y="385"/>
                  <a:pt x="84" y="396"/>
                </a:cubicBezTo>
                <a:cubicBezTo>
                  <a:pt x="73" y="405"/>
                  <a:pt x="57" y="409"/>
                  <a:pt x="48" y="420"/>
                </a:cubicBezTo>
                <a:cubicBezTo>
                  <a:pt x="40" y="430"/>
                  <a:pt x="42" y="445"/>
                  <a:pt x="36" y="456"/>
                </a:cubicBezTo>
                <a:cubicBezTo>
                  <a:pt x="22" y="483"/>
                  <a:pt x="17" y="487"/>
                  <a:pt x="0" y="504"/>
                </a:cubicBezTo>
              </a:path>
            </a:pathLst>
          </a:custGeom>
          <a:noFill/>
          <a:ln w="38100" cap="sq" cmpd="sng">
            <a:solidFill>
              <a:srgbClr val="333399"/>
            </a:solidFill>
            <a:prstDash val="solid"/>
            <a:round/>
            <a:headEnd type="triangle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5" name="Text Box 47"/>
          <p:cNvSpPr txBox="1">
            <a:spLocks noChangeArrowheads="1"/>
          </p:cNvSpPr>
          <p:nvPr/>
        </p:nvSpPr>
        <p:spPr bwMode="auto">
          <a:xfrm>
            <a:off x="4805278" y="1406991"/>
            <a:ext cx="3964547" cy="461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1" dirty="0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parent</a:t>
            </a:r>
            <a:r>
              <a:rPr lang="en-US" altLang="zh-CN" sz="2401" dirty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 </a:t>
            </a:r>
            <a:r>
              <a:rPr lang="en-US" altLang="zh-CN" sz="2401" dirty="0" err="1" smtClean="0">
                <a:solidFill>
                  <a:schemeClr val="tx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lchild</a:t>
            </a:r>
            <a:r>
              <a:rPr lang="en-US" altLang="zh-CN" sz="2401" dirty="0" smtClean="0">
                <a:solidFill>
                  <a:schemeClr val="tx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data </a:t>
            </a:r>
            <a:r>
              <a:rPr lang="en-US" altLang="zh-CN" sz="2401" dirty="0" err="1">
                <a:solidFill>
                  <a:schemeClr val="tx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rchild</a:t>
            </a:r>
            <a:endParaRPr lang="en-US" altLang="zh-CN" sz="1800" dirty="0">
              <a:solidFill>
                <a:schemeClr val="tx2"/>
              </a:solidFill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6" name="Rectangle 48"/>
          <p:cNvSpPr>
            <a:spLocks noChangeArrowheads="1"/>
          </p:cNvSpPr>
          <p:nvPr/>
        </p:nvSpPr>
        <p:spPr bwMode="auto">
          <a:xfrm>
            <a:off x="4748110" y="1441530"/>
            <a:ext cx="4001735" cy="40017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7" name="Line 49"/>
          <p:cNvSpPr>
            <a:spLocks noChangeShapeType="1"/>
          </p:cNvSpPr>
          <p:nvPr/>
        </p:nvSpPr>
        <p:spPr bwMode="auto">
          <a:xfrm>
            <a:off x="5834295" y="1441530"/>
            <a:ext cx="1191" cy="40017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8" name="Line 50"/>
          <p:cNvSpPr>
            <a:spLocks noChangeShapeType="1"/>
          </p:cNvSpPr>
          <p:nvPr/>
        </p:nvSpPr>
        <p:spPr bwMode="auto">
          <a:xfrm>
            <a:off x="6806145" y="1441530"/>
            <a:ext cx="0" cy="40017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39" name="Line 51"/>
          <p:cNvSpPr>
            <a:spLocks noChangeShapeType="1"/>
          </p:cNvSpPr>
          <p:nvPr/>
        </p:nvSpPr>
        <p:spPr bwMode="auto">
          <a:xfrm>
            <a:off x="7720827" y="1441530"/>
            <a:ext cx="1191" cy="40017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40" name="Text Box 52"/>
          <p:cNvSpPr txBox="1">
            <a:spLocks noChangeArrowheads="1"/>
          </p:cNvSpPr>
          <p:nvPr/>
        </p:nvSpPr>
        <p:spPr bwMode="auto">
          <a:xfrm>
            <a:off x="6119105" y="1041420"/>
            <a:ext cx="1297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chemeClr val="tx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结点结构</a:t>
            </a:r>
            <a:r>
              <a:rPr lang="en-US" altLang="zh-CN" sz="2000" dirty="0">
                <a:solidFill>
                  <a:schemeClr val="tx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:</a:t>
            </a:r>
            <a:endParaRPr lang="en-US" altLang="zh-CN" sz="14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2341" name="Rectangle 53"/>
          <p:cNvSpPr>
            <a:spLocks noChangeArrowheads="1"/>
          </p:cNvSpPr>
          <p:nvPr/>
        </p:nvSpPr>
        <p:spPr bwMode="auto">
          <a:xfrm>
            <a:off x="5486582" y="1852702"/>
            <a:ext cx="264687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含有三个指针域的结点结构</a:t>
            </a:r>
          </a:p>
        </p:txBody>
      </p:sp>
      <p:sp>
        <p:nvSpPr>
          <p:cNvPr id="62" name="TextBox 5"/>
          <p:cNvSpPr txBox="1">
            <a:spLocks noChangeArrowheads="1"/>
          </p:cNvSpPr>
          <p:nvPr/>
        </p:nvSpPr>
        <p:spPr bwMode="auto">
          <a:xfrm>
            <a:off x="675463" y="788437"/>
            <a:ext cx="23644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．三叉链表</a:t>
            </a:r>
          </a:p>
        </p:txBody>
      </p:sp>
    </p:spTree>
    <p:extLst>
      <p:ext uri="{BB962C8B-B14F-4D97-AF65-F5344CB8AC3E}">
        <p14:creationId xmlns:p14="http://schemas.microsoft.com/office/powerpoint/2010/main" val="4260757267"/>
      </p:ext>
    </p:ext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750"/>
                            </p:stCondLst>
                            <p:childTnLst>
                              <p:par>
                                <p:cTn id="4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250"/>
                            </p:stCondLst>
                            <p:childTnLst>
                              <p:par>
                                <p:cTn id="4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750"/>
                            </p:stCondLst>
                            <p:childTnLst>
                              <p:par>
                                <p:cTn id="5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250"/>
                            </p:stCondLst>
                            <p:childTnLst>
                              <p:par>
                                <p:cTn id="5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750"/>
                            </p:stCondLst>
                            <p:childTnLst>
                              <p:par>
                                <p:cTn id="64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25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750"/>
                            </p:stCondLst>
                            <p:childTnLst>
                              <p:par>
                                <p:cTn id="7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250"/>
                            </p:stCondLst>
                            <p:childTnLst>
                              <p:par>
                                <p:cTn id="7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8750"/>
                            </p:stCondLst>
                            <p:childTnLst>
                              <p:par>
                                <p:cTn id="8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250"/>
                            </p:stCondLst>
                            <p:childTnLst>
                              <p:par>
                                <p:cTn id="8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750"/>
                            </p:stCondLst>
                            <p:childTnLst>
                              <p:par>
                                <p:cTn id="9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250"/>
                            </p:stCondLst>
                            <p:childTnLst>
                              <p:par>
                                <p:cTn id="9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750"/>
                            </p:stCondLst>
                            <p:childTnLst>
                              <p:par>
                                <p:cTn id="9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4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750"/>
                            </p:stCondLst>
                            <p:childTnLst>
                              <p:par>
                                <p:cTn id="10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8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750"/>
                            </p:stCondLst>
                            <p:childTnLst>
                              <p:par>
                                <p:cTn id="1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750"/>
                            </p:stCondLst>
                            <p:childTnLst>
                              <p:par>
                                <p:cTn id="12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4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4250"/>
                            </p:stCondLst>
                            <p:childTnLst>
                              <p:par>
                                <p:cTn id="12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8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4750"/>
                            </p:stCondLst>
                            <p:childTnLst>
                              <p:par>
                                <p:cTn id="1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250"/>
                            </p:stCondLst>
                            <p:childTnLst>
                              <p:par>
                                <p:cTn id="1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6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750"/>
                            </p:stCondLst>
                            <p:childTnLst>
                              <p:par>
                                <p:cTn id="13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0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6250"/>
                            </p:stCondLst>
                            <p:childTnLst>
                              <p:par>
                                <p:cTn id="14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4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750"/>
                            </p:stCondLst>
                            <p:childTnLst>
                              <p:par>
                                <p:cTn id="14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8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250"/>
                            </p:stCondLst>
                            <p:childTnLst>
                              <p:par>
                                <p:cTn id="15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7750"/>
                            </p:stCondLst>
                            <p:childTnLst>
                              <p:par>
                                <p:cTn id="15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6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250"/>
                            </p:stCondLst>
                            <p:childTnLst>
                              <p:par>
                                <p:cTn id="15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8750"/>
                            </p:stCondLst>
                            <p:childTnLst>
                              <p:par>
                                <p:cTn id="16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4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9250"/>
                            </p:stCondLst>
                            <p:childTnLst>
                              <p:par>
                                <p:cTn id="1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8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9750"/>
                            </p:stCondLst>
                            <p:childTnLst>
                              <p:par>
                                <p:cTn id="17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0250"/>
                            </p:stCondLst>
                            <p:childTnLst>
                              <p:par>
                                <p:cTn id="17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2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2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0750"/>
                            </p:stCondLst>
                            <p:childTnLst>
                              <p:par>
                                <p:cTn id="17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1250"/>
                            </p:stCondLst>
                            <p:childTnLst>
                              <p:par>
                                <p:cTn id="18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2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21750"/>
                            </p:stCondLst>
                            <p:childTnLst>
                              <p:par>
                                <p:cTn id="19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2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2250"/>
                            </p:stCondLst>
                            <p:childTnLst>
                              <p:par>
                                <p:cTn id="20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2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2750"/>
                            </p:stCondLst>
                            <p:childTnLst>
                              <p:par>
                                <p:cTn id="20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9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3250"/>
                            </p:stCondLst>
                            <p:childTnLst>
                              <p:par>
                                <p:cTn id="21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3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3750"/>
                            </p:stCondLst>
                            <p:childTnLst>
                              <p:par>
                                <p:cTn id="21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7" dur="5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4250"/>
                            </p:stCondLst>
                            <p:childTnLst>
                              <p:par>
                                <p:cTn id="21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1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24750"/>
                            </p:stCondLst>
                            <p:childTnLst>
                              <p:par>
                                <p:cTn id="22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5" dur="500"/>
                                        <p:tgtEl>
                                          <p:spTgt spid="12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5250"/>
                            </p:stCondLst>
                            <p:childTnLst>
                              <p:par>
                                <p:cTn id="22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9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5750"/>
                            </p:stCondLst>
                            <p:childTnLst>
                              <p:par>
                                <p:cTn id="23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6250"/>
                            </p:stCondLst>
                            <p:childTnLst>
                              <p:par>
                                <p:cTn id="238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2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2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2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2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6750"/>
                            </p:stCondLst>
                            <p:childTnLst>
                              <p:par>
                                <p:cTn id="24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27250"/>
                            </p:stCondLst>
                            <p:childTnLst>
                              <p:par>
                                <p:cTn id="25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2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2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2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2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27750"/>
                            </p:stCondLst>
                            <p:childTnLst>
                              <p:par>
                                <p:cTn id="25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8250"/>
                            </p:stCondLst>
                            <p:childTnLst>
                              <p:par>
                                <p:cTn id="2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8750"/>
                            </p:stCondLst>
                            <p:childTnLst>
                              <p:par>
                                <p:cTn id="2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9250"/>
                            </p:stCondLst>
                            <p:childTnLst>
                              <p:par>
                                <p:cTn id="2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3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utoUpdateAnimBg="0"/>
      <p:bldP spid="57" grpId="0" bldLvl="0" animBg="1" autoUpdateAnimBg="0"/>
      <p:bldP spid="58" grpId="0"/>
      <p:bldP spid="12290" grpId="0" animBg="1" autoUpdateAnimBg="0"/>
      <p:bldP spid="12291" grpId="0" animBg="1"/>
      <p:bldP spid="12292" grpId="0" animBg="1"/>
      <p:bldP spid="12293" grpId="0" animBg="1" autoUpdateAnimBg="0"/>
      <p:bldP spid="12294" grpId="0" animBg="1"/>
      <p:bldP spid="12295" grpId="0" animBg="1"/>
      <p:bldP spid="12296" grpId="0" animBg="1" autoUpdateAnimBg="0"/>
      <p:bldP spid="12297" grpId="0" animBg="1"/>
      <p:bldP spid="12298" grpId="0" animBg="1"/>
      <p:bldP spid="12299" grpId="0" animBg="1" autoUpdateAnimBg="0"/>
      <p:bldP spid="12300" grpId="0" animBg="1"/>
      <p:bldP spid="12301" grpId="0" animBg="1"/>
      <p:bldP spid="12302" grpId="0" animBg="1" autoUpdateAnimBg="0"/>
      <p:bldP spid="12303" grpId="0" animBg="1"/>
      <p:bldP spid="12304" grpId="0" animBg="1"/>
      <p:bldP spid="12305" grpId="0" animBg="1" autoUpdateAnimBg="0"/>
      <p:bldP spid="12306" grpId="0" animBg="1"/>
      <p:bldP spid="12307" grpId="0" animBg="1"/>
      <p:bldP spid="12308" grpId="0" autoUpdateAnimBg="0"/>
      <p:bldP spid="12309" grpId="0" autoUpdateAnimBg="0"/>
      <p:bldP spid="12310" grpId="0" autoUpdateAnimBg="0"/>
      <p:bldP spid="12311" grpId="0" autoUpdateAnimBg="0"/>
      <p:bldP spid="12312" grpId="0" autoUpdateAnimBg="0"/>
      <p:bldP spid="12313" grpId="0" autoUpdateAnimBg="0"/>
      <p:bldP spid="12314" grpId="0" autoUpdateAnimBg="0"/>
      <p:bldP spid="12315" grpId="0" animBg="1"/>
      <p:bldP spid="12316" grpId="0" animBg="1"/>
      <p:bldP spid="12317" grpId="0" animBg="1"/>
      <p:bldP spid="12318" grpId="0" animBg="1"/>
      <p:bldP spid="12319" grpId="0" animBg="1"/>
      <p:bldP spid="12320" grpId="0" autoUpdateAnimBg="0"/>
      <p:bldP spid="12321" grpId="0" animBg="1"/>
      <p:bldP spid="12322" grpId="0" animBg="1"/>
      <p:bldP spid="12323" grpId="0" animBg="1"/>
      <p:bldP spid="12324" grpId="0" animBg="1"/>
      <p:bldP spid="12325" grpId="0" animBg="1"/>
      <p:bldP spid="12326" grpId="0" animBg="1"/>
      <p:bldP spid="12327" grpId="0" animBg="1"/>
      <p:bldP spid="12328" grpId="0" autoUpdateAnimBg="0"/>
      <p:bldP spid="12329" grpId="0" animBg="1"/>
      <p:bldP spid="12330" grpId="0" animBg="1"/>
      <p:bldP spid="12331" grpId="0" animBg="1"/>
      <p:bldP spid="12332" grpId="0" animBg="1"/>
      <p:bldP spid="12333" grpId="0" animBg="1"/>
      <p:bldP spid="12335" grpId="0" autoUpdateAnimBg="0"/>
      <p:bldP spid="12336" grpId="0" animBg="1"/>
      <p:bldP spid="12337" grpId="0" animBg="1"/>
      <p:bldP spid="12338" grpId="0" animBg="1"/>
      <p:bldP spid="12339" grpId="0" animBg="1"/>
      <p:bldP spid="12340" grpId="0" autoUpdateAnimBg="0"/>
      <p:bldP spid="12341" grpId="0" autoUpdateAnimBg="0"/>
      <p:bldP spid="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二叉树的存储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947254" y="998220"/>
            <a:ext cx="67605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C </a:t>
            </a: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语言的类型描述如下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1727654" y="1559295"/>
            <a:ext cx="6760571" cy="25853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TriTNode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//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结点结构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data;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TriTNode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lchild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rchild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 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           //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左右孩子指针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TriTNode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*parent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双亲指针 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TriTNode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 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TriTree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47253" y="4099799"/>
            <a:ext cx="6760571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结点结构</a:t>
            </a:r>
            <a:r>
              <a:rPr lang="en-US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351275" y="4212600"/>
            <a:ext cx="56813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 smtClean="0">
                <a:solidFill>
                  <a:srgbClr val="FF33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Parent</a:t>
            </a:r>
            <a:r>
              <a:rPr lang="en-US" altLang="zh-CN" sz="3600" b="1" dirty="0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  <a:r>
              <a:rPr lang="en-US" altLang="zh-CN" sz="3600" b="1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lchild</a:t>
            </a:r>
            <a:r>
              <a:rPr lang="en-US" altLang="zh-CN" sz="3600" b="1" dirty="0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data </a:t>
            </a:r>
            <a:r>
              <a:rPr lang="en-US" altLang="zh-CN" sz="3600" b="1" dirty="0" err="1" smtClean="0">
                <a:solidFill>
                  <a:srgbClr val="3333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rchild</a:t>
            </a:r>
            <a:endParaRPr lang="en-US" altLang="zh-CN" sz="24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>
            <a:off x="3875275" y="4212600"/>
            <a:ext cx="1588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5246875" y="4212600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6618475" y="4212600"/>
            <a:ext cx="0" cy="609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351275" y="4227801"/>
            <a:ext cx="5791200" cy="6096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85018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75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25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75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25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7" grpId="0"/>
      <p:bldP spid="12" grpId="0"/>
      <p:bldP spid="13" grpId="0"/>
      <p:bldP spid="14" grpId="0" autoUpdateAnimBg="0"/>
      <p:bldP spid="18" grpId="0" animBg="1"/>
      <p:bldP spid="20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</TotalTime>
  <Words>478</Words>
  <Application>Microsoft Office PowerPoint</Application>
  <PresentationFormat>自定义</PresentationFormat>
  <Paragraphs>166</Paragraphs>
  <Slides>11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Symbol</vt:lpstr>
      <vt:lpstr>Tahoma</vt:lpstr>
      <vt:lpstr>Times New Roman</vt:lpstr>
      <vt:lpstr>Office 主题​​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57</cp:revision>
  <dcterms:created xsi:type="dcterms:W3CDTF">2017-06-21T11:46:00Z</dcterms:created>
  <dcterms:modified xsi:type="dcterms:W3CDTF">2020-07-13T10:43:54Z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