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4"/>
  </p:notesMasterIdLst>
  <p:sldIdLst>
    <p:sldId id="416" r:id="rId3"/>
    <p:sldId id="415" r:id="rId4"/>
    <p:sldId id="367" r:id="rId5"/>
    <p:sldId id="368" r:id="rId6"/>
    <p:sldId id="369" r:id="rId7"/>
    <p:sldId id="370" r:id="rId8"/>
    <p:sldId id="371" r:id="rId9"/>
    <p:sldId id="372" r:id="rId10"/>
    <p:sldId id="373" r:id="rId11"/>
    <p:sldId id="374" r:id="rId12"/>
    <p:sldId id="375" r:id="rId13"/>
    <p:sldId id="376" r:id="rId14"/>
    <p:sldId id="377" r:id="rId15"/>
    <p:sldId id="378" r:id="rId16"/>
    <p:sldId id="379" r:id="rId17"/>
    <p:sldId id="380" r:id="rId18"/>
    <p:sldId id="381" r:id="rId19"/>
    <p:sldId id="382" r:id="rId20"/>
    <p:sldId id="383" r:id="rId21"/>
    <p:sldId id="387" r:id="rId22"/>
    <p:sldId id="350" r:id="rId23"/>
    <p:sldId id="344" r:id="rId24"/>
    <p:sldId id="345" r:id="rId25"/>
    <p:sldId id="352" r:id="rId26"/>
    <p:sldId id="353" r:id="rId27"/>
    <p:sldId id="354" r:id="rId28"/>
    <p:sldId id="355" r:id="rId29"/>
    <p:sldId id="356" r:id="rId30"/>
    <p:sldId id="357" r:id="rId31"/>
    <p:sldId id="358" r:id="rId32"/>
    <p:sldId id="359" r:id="rId33"/>
    <p:sldId id="360" r:id="rId34"/>
    <p:sldId id="362" r:id="rId35"/>
    <p:sldId id="363" r:id="rId36"/>
    <p:sldId id="364" r:id="rId37"/>
    <p:sldId id="365" r:id="rId38"/>
    <p:sldId id="366" r:id="rId39"/>
    <p:sldId id="400" r:id="rId40"/>
    <p:sldId id="401" r:id="rId41"/>
    <p:sldId id="411" r:id="rId42"/>
    <p:sldId id="402" r:id="rId43"/>
    <p:sldId id="403" r:id="rId44"/>
    <p:sldId id="412" r:id="rId45"/>
    <p:sldId id="404" r:id="rId46"/>
    <p:sldId id="405" r:id="rId47"/>
    <p:sldId id="406" r:id="rId48"/>
    <p:sldId id="407" r:id="rId49"/>
    <p:sldId id="413" r:id="rId50"/>
    <p:sldId id="408" r:id="rId51"/>
    <p:sldId id="409" r:id="rId52"/>
    <p:sldId id="410" r:id="rId53"/>
  </p:sldIdLst>
  <p:sldSz cx="9144000" cy="6858000" type="screen4x3"/>
  <p:notesSz cx="6858000" cy="9144000"/>
  <p:custDataLst>
    <p:tags r:id="rId58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CC00"/>
    <a:srgbClr val="000000"/>
    <a:srgbClr val="663300"/>
    <a:srgbClr val="FF99FF"/>
    <a:srgbClr val="FF9900"/>
    <a:srgbClr val="969696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029"/>
    <p:restoredTop sz="94660"/>
  </p:normalViewPr>
  <p:slideViewPr>
    <p:cSldViewPr showGuides="1">
      <p:cViewPr varScale="1">
        <p:scale>
          <a:sx n="77" d="100"/>
          <a:sy n="77" d="100"/>
        </p:scale>
        <p:origin x="-32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8" Type="http://schemas.openxmlformats.org/officeDocument/2006/relationships/tags" Target="tags/tag1.xml"/><Relationship Id="rId57" Type="http://schemas.openxmlformats.org/officeDocument/2006/relationships/tableStyles" Target="tableStyles.xml"/><Relationship Id="rId56" Type="http://schemas.openxmlformats.org/officeDocument/2006/relationships/viewProps" Target="viewProps.xml"/><Relationship Id="rId55" Type="http://schemas.openxmlformats.org/officeDocument/2006/relationships/presProps" Target="presProps.xml"/><Relationship Id="rId54" Type="http://schemas.openxmlformats.org/officeDocument/2006/relationships/notesMaster" Target="notesMasters/notesMaster1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4" Type="http://schemas.openxmlformats.org/officeDocument/2006/relationships/image" Target="../media/image20.wmf"/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9.vml.rels><?xml version="1.0" encoding="UTF-8" standalone="yes"?>
<Relationships xmlns="http://schemas.openxmlformats.org/package/2006/relationships"><Relationship Id="rId4" Type="http://schemas.openxmlformats.org/officeDocument/2006/relationships/image" Target="../media/image28.wmf"/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15.vml.rels><?xml version="1.0" encoding="UTF-8" standalone="yes"?>
<Relationships xmlns="http://schemas.openxmlformats.org/package/2006/relationships"><Relationship Id="rId6" Type="http://schemas.openxmlformats.org/officeDocument/2006/relationships/image" Target="../media/image42.wmf"/><Relationship Id="rId5" Type="http://schemas.openxmlformats.org/officeDocument/2006/relationships/image" Target="../media/image41.wmf"/><Relationship Id="rId4" Type="http://schemas.openxmlformats.org/officeDocument/2006/relationships/image" Target="../media/image40.wmf"/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50.wmf"/><Relationship Id="rId1" Type="http://schemas.openxmlformats.org/officeDocument/2006/relationships/image" Target="../media/image49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e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image" Target="../media/image51.w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image" Target="../media/image52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wmf"/></Relationships>
</file>

<file path=ppt/drawings/_rels/vmlDrawing26.vml.rels><?xml version="1.0" encoding="UTF-8" standalone="yes"?>
<Relationships xmlns="http://schemas.openxmlformats.org/package/2006/relationships"><Relationship Id="rId4" Type="http://schemas.openxmlformats.org/officeDocument/2006/relationships/image" Target="../media/image62.wmf"/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3.w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64.emf"/><Relationship Id="rId1" Type="http://schemas.openxmlformats.org/officeDocument/2006/relationships/image" Target="../media/image43.emf"/></Relationships>
</file>

<file path=ppt/drawings/_rels/vmlDrawing29.vml.rels><?xml version="1.0" encoding="UTF-8" standalone="yes"?>
<Relationships xmlns="http://schemas.openxmlformats.org/package/2006/relationships"><Relationship Id="rId4" Type="http://schemas.openxmlformats.org/officeDocument/2006/relationships/image" Target="../media/image71.wmf"/><Relationship Id="rId3" Type="http://schemas.openxmlformats.org/officeDocument/2006/relationships/image" Target="../media/image70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72.wmf"/></Relationships>
</file>

<file path=ppt/drawings/_rels/vmlDrawing31.vml.rels><?xml version="1.0" encoding="UTF-8" standalone="yes"?>
<Relationships xmlns="http://schemas.openxmlformats.org/package/2006/relationships"><Relationship Id="rId5" Type="http://schemas.openxmlformats.org/officeDocument/2006/relationships/image" Target="../media/image77.wmf"/><Relationship Id="rId4" Type="http://schemas.openxmlformats.org/officeDocument/2006/relationships/image" Target="../media/image76.wmf"/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/Relationships>
</file>

<file path=ppt/drawings/_rels/vmlDrawing32.vml.rels><?xml version="1.0" encoding="UTF-8" standalone="yes"?>
<Relationships xmlns="http://schemas.openxmlformats.org/package/2006/relationships"><Relationship Id="rId5" Type="http://schemas.openxmlformats.org/officeDocument/2006/relationships/image" Target="../media/image82.wmf"/><Relationship Id="rId4" Type="http://schemas.openxmlformats.org/officeDocument/2006/relationships/image" Target="../media/image81.wmf"/><Relationship Id="rId3" Type="http://schemas.openxmlformats.org/officeDocument/2006/relationships/image" Target="../media/image80.wmf"/><Relationship Id="rId2" Type="http://schemas.openxmlformats.org/officeDocument/2006/relationships/image" Target="../media/image79.wmf"/><Relationship Id="rId1" Type="http://schemas.openxmlformats.org/officeDocument/2006/relationships/image" Target="../media/image78.wmf"/></Relationships>
</file>

<file path=ppt/drawings/_rels/vmlDrawing33.vml.rels><?xml version="1.0" encoding="UTF-8" standalone="yes"?>
<Relationships xmlns="http://schemas.openxmlformats.org/package/2006/relationships"><Relationship Id="rId5" Type="http://schemas.openxmlformats.org/officeDocument/2006/relationships/image" Target="../media/image85.wmf"/><Relationship Id="rId4" Type="http://schemas.openxmlformats.org/officeDocument/2006/relationships/image" Target="../media/image84.wmf"/><Relationship Id="rId3" Type="http://schemas.openxmlformats.org/officeDocument/2006/relationships/image" Target="../media/image83.wmf"/><Relationship Id="rId2" Type="http://schemas.openxmlformats.org/officeDocument/2006/relationships/image" Target="../media/image79.wmf"/><Relationship Id="rId1" Type="http://schemas.openxmlformats.org/officeDocument/2006/relationships/image" Target="../media/image78.wmf"/></Relationships>
</file>

<file path=ppt/drawings/_rels/vmlDrawing34.vml.rels><?xml version="1.0" encoding="UTF-8" standalone="yes"?>
<Relationships xmlns="http://schemas.openxmlformats.org/package/2006/relationships"><Relationship Id="rId4" Type="http://schemas.openxmlformats.org/officeDocument/2006/relationships/image" Target="../media/image89.wmf"/><Relationship Id="rId3" Type="http://schemas.openxmlformats.org/officeDocument/2006/relationships/image" Target="../media/image88.wmf"/><Relationship Id="rId2" Type="http://schemas.openxmlformats.org/officeDocument/2006/relationships/image" Target="../media/image87.wmf"/><Relationship Id="rId1" Type="http://schemas.openxmlformats.org/officeDocument/2006/relationships/image" Target="../media/image86.wmf"/></Relationships>
</file>

<file path=ppt/drawings/_rels/vmlDrawing35.vml.rels><?xml version="1.0" encoding="UTF-8" standalone="yes"?>
<Relationships xmlns="http://schemas.openxmlformats.org/package/2006/relationships"><Relationship Id="rId2" Type="http://schemas.openxmlformats.org/officeDocument/2006/relationships/image" Target="../media/image91.wmf"/><Relationship Id="rId1" Type="http://schemas.openxmlformats.org/officeDocument/2006/relationships/image" Target="../media/image90.wmf"/></Relationships>
</file>

<file path=ppt/drawings/_rels/vmlDrawing36.vml.rels><?xml version="1.0" encoding="UTF-8" standalone="yes"?>
<Relationships xmlns="http://schemas.openxmlformats.org/package/2006/relationships"><Relationship Id="rId5" Type="http://schemas.openxmlformats.org/officeDocument/2006/relationships/image" Target="../media/image96.wmf"/><Relationship Id="rId4" Type="http://schemas.openxmlformats.org/officeDocument/2006/relationships/image" Target="../media/image95.wmf"/><Relationship Id="rId3" Type="http://schemas.openxmlformats.org/officeDocument/2006/relationships/image" Target="../media/image94.wmf"/><Relationship Id="rId2" Type="http://schemas.openxmlformats.org/officeDocument/2006/relationships/image" Target="../media/image93.wmf"/><Relationship Id="rId1" Type="http://schemas.openxmlformats.org/officeDocument/2006/relationships/image" Target="../media/image92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99.wmf"/><Relationship Id="rId2" Type="http://schemas.openxmlformats.org/officeDocument/2006/relationships/image" Target="../media/image98.wmf"/><Relationship Id="rId1" Type="http://schemas.openxmlformats.org/officeDocument/2006/relationships/image" Target="../media/image97.w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0.w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0098" name="页眉占位符 26009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fontAlgn="base"/>
            <a:endParaRPr lang="zh-CN" altLang="en-US" sz="1200" b="0" strike="noStrike" noProof="1" dirty="0"/>
          </a:p>
        </p:txBody>
      </p:sp>
      <p:sp>
        <p:nvSpPr>
          <p:cNvPr id="260099" name="日期占位符 260098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fontAlgn="base"/>
            <a:endParaRPr lang="zh-CN" altLang="en-US" sz="1200" b="0" strike="noStrike" noProof="1" dirty="0"/>
          </a:p>
        </p:txBody>
      </p:sp>
      <p:sp>
        <p:nvSpPr>
          <p:cNvPr id="9220" name="幻灯片图像占位符 260099"/>
          <p:cNvSpPr>
            <a:spLocks noRo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221" name="文本占位符 260100"/>
          <p:cNvSpPr>
            <a:spLocks noGrp="1"/>
          </p:cNvSpPr>
          <p:nvPr>
            <p:ph type="body" sz="quarter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60102" name="页脚占位符 260101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fontAlgn="base"/>
            <a:endParaRPr lang="zh-CN" altLang="en-US" sz="1200" b="0" strike="noStrike" noProof="1" dirty="0"/>
          </a:p>
        </p:txBody>
      </p:sp>
      <p:sp>
        <p:nvSpPr>
          <p:cNvPr id="260103" name="灯片编号占位符 260102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fontAlgn="base"/>
            <a:fld id="{9A0DB2DC-4C9A-4742-B13C-FB6460FD3503}" type="slidenum">
              <a:rPr lang="zh-CN" altLang="en-US" sz="1200" b="0" strike="noStrike" noProof="1" dirty="0">
                <a:latin typeface="Arial" panose="020B0604020202020204" pitchFamily="34" charset="0"/>
                <a:ea typeface="楷体_GB2312" pitchFamily="49" charset="-122"/>
                <a:cs typeface="+mn-cs"/>
              </a:rPr>
            </a:fld>
            <a:endParaRPr lang="zh-CN" altLang="en-US" sz="1200" b="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gradFill rotWithShape="0">
          <a:gsLst>
            <a:gs pos="0">
              <a:srgbClr val="000058"/>
            </a:gs>
            <a:gs pos="100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5122" name="组合 516097"/>
          <p:cNvGrpSpPr/>
          <p:nvPr/>
        </p:nvGrpSpPr>
        <p:grpSpPr>
          <a:xfrm>
            <a:off x="0" y="0"/>
            <a:ext cx="9144000" cy="6856413"/>
            <a:chOff x="0" y="0"/>
            <a:chExt cx="5760" cy="4319"/>
          </a:xfrm>
        </p:grpSpPr>
        <p:sp>
          <p:nvSpPr>
            <p:cNvPr id="5123" name="任意多边形 516098"/>
            <p:cNvSpPr/>
            <p:nvPr/>
          </p:nvSpPr>
          <p:spPr>
            <a:xfrm>
              <a:off x="0" y="12"/>
              <a:ext cx="5758" cy="3273"/>
            </a:xfrm>
            <a:custGeom>
              <a:avLst/>
              <a:gdLst/>
              <a:ahLst/>
              <a:cxnLst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rgbClr val="000051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24" name="任意多边形 516099"/>
            <p:cNvSpPr/>
            <p:nvPr/>
          </p:nvSpPr>
          <p:spPr>
            <a:xfrm>
              <a:off x="149" y="0"/>
              <a:ext cx="5609" cy="3243"/>
            </a:xfrm>
            <a:custGeom>
              <a:avLst/>
              <a:gdLst/>
              <a:ahLst/>
              <a:cxnLst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rgbClr val="00005D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25" name="任意多边形 516100"/>
            <p:cNvSpPr/>
            <p:nvPr/>
          </p:nvSpPr>
          <p:spPr>
            <a:xfrm>
              <a:off x="0" y="3433"/>
              <a:ext cx="4038" cy="191"/>
            </a:xfrm>
            <a:custGeom>
              <a:avLst/>
              <a:gdLst/>
              <a:ahLst/>
              <a:cxnLst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rgbClr val="000061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26" name="任意多边形 516101"/>
            <p:cNvSpPr/>
            <p:nvPr/>
          </p:nvSpPr>
          <p:spPr>
            <a:xfrm>
              <a:off x="4038" y="3577"/>
              <a:ext cx="1720" cy="65"/>
            </a:xfrm>
            <a:custGeom>
              <a:avLst/>
              <a:gdLst/>
              <a:ahLst/>
              <a:cxnLst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27" name="任意多边形 516102"/>
            <p:cNvSpPr/>
            <p:nvPr/>
          </p:nvSpPr>
          <p:spPr>
            <a:xfrm>
              <a:off x="0" y="3726"/>
              <a:ext cx="4784" cy="329"/>
            </a:xfrm>
            <a:custGeom>
              <a:avLst/>
              <a:gdLst/>
              <a:ahLst/>
              <a:cxnLst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rgbClr val="00007D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28" name="任意多边形 516103"/>
            <p:cNvSpPr/>
            <p:nvPr/>
          </p:nvSpPr>
          <p:spPr>
            <a:xfrm>
              <a:off x="4784" y="3702"/>
              <a:ext cx="974" cy="101"/>
            </a:xfrm>
            <a:custGeom>
              <a:avLst/>
              <a:gdLst/>
              <a:ahLst/>
              <a:cxnLst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29" name="任意多边形 516104"/>
            <p:cNvSpPr/>
            <p:nvPr/>
          </p:nvSpPr>
          <p:spPr>
            <a:xfrm>
              <a:off x="3619" y="3815"/>
              <a:ext cx="2139" cy="198"/>
            </a:xfrm>
            <a:custGeom>
              <a:avLst/>
              <a:gdLst/>
              <a:ahLst/>
              <a:cxnLst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30" name="任意多边形 516105"/>
            <p:cNvSpPr/>
            <p:nvPr/>
          </p:nvSpPr>
          <p:spPr>
            <a:xfrm>
              <a:off x="0" y="3971"/>
              <a:ext cx="3619" cy="348"/>
            </a:xfrm>
            <a:custGeom>
              <a:avLst/>
              <a:gdLst/>
              <a:ahLst/>
              <a:cxnLst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rgbClr val="00006F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31" name="任意多边形 516106"/>
            <p:cNvSpPr/>
            <p:nvPr/>
          </p:nvSpPr>
          <p:spPr>
            <a:xfrm>
              <a:off x="2097" y="4043"/>
              <a:ext cx="2514" cy="276"/>
            </a:xfrm>
            <a:custGeom>
              <a:avLst/>
              <a:gdLst/>
              <a:ahLst/>
              <a:cxnLst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32" name="任意多边形 516107"/>
            <p:cNvSpPr/>
            <p:nvPr/>
          </p:nvSpPr>
          <p:spPr>
            <a:xfrm>
              <a:off x="4354" y="3869"/>
              <a:ext cx="1404" cy="378"/>
            </a:xfrm>
            <a:custGeom>
              <a:avLst/>
              <a:gdLst/>
              <a:ahLst/>
              <a:cxnLst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08089C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33" name="任意多边形 516108"/>
            <p:cNvSpPr/>
            <p:nvPr/>
          </p:nvSpPr>
          <p:spPr>
            <a:xfrm>
              <a:off x="5030" y="3151"/>
              <a:ext cx="728" cy="240"/>
            </a:xfrm>
            <a:custGeom>
              <a:avLst/>
              <a:gdLst/>
              <a:ahLst/>
              <a:cxnLst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34" name="任意多边形 516109"/>
            <p:cNvSpPr/>
            <p:nvPr/>
          </p:nvSpPr>
          <p:spPr>
            <a:xfrm>
              <a:off x="0" y="1486"/>
              <a:ext cx="5030" cy="1671"/>
            </a:xfrm>
            <a:custGeom>
              <a:avLst/>
              <a:gdLst/>
              <a:ahLst/>
              <a:cxnLst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rgbClr val="000053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35" name="任意多边形 516110"/>
            <p:cNvSpPr/>
            <p:nvPr/>
          </p:nvSpPr>
          <p:spPr>
            <a:xfrm>
              <a:off x="5030" y="3049"/>
              <a:ext cx="728" cy="318"/>
            </a:xfrm>
            <a:custGeom>
              <a:avLst/>
              <a:gdLst/>
              <a:ahLst/>
              <a:cxnLst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36" name="任意多边形 516111"/>
            <p:cNvSpPr/>
            <p:nvPr/>
          </p:nvSpPr>
          <p:spPr>
            <a:xfrm>
              <a:off x="0" y="916"/>
              <a:ext cx="5030" cy="2187"/>
            </a:xfrm>
            <a:custGeom>
              <a:avLst/>
              <a:gdLst/>
              <a:ahLst/>
              <a:cxnLst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rgbClr val="000055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37" name="任意多边形 516112"/>
            <p:cNvSpPr/>
            <p:nvPr/>
          </p:nvSpPr>
          <p:spPr>
            <a:xfrm>
              <a:off x="2294" y="0"/>
              <a:ext cx="3159" cy="2725"/>
            </a:xfrm>
            <a:custGeom>
              <a:avLst/>
              <a:gdLst/>
              <a:ahLst/>
              <a:cxnLst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B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38" name="任意多边形 516113"/>
            <p:cNvSpPr/>
            <p:nvPr/>
          </p:nvSpPr>
          <p:spPr>
            <a:xfrm>
              <a:off x="5435" y="2702"/>
              <a:ext cx="323" cy="299"/>
            </a:xfrm>
            <a:custGeom>
              <a:avLst/>
              <a:gdLst/>
              <a:ahLst/>
              <a:cxnLst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0F0F9F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39" name="任意多边形 516114"/>
            <p:cNvSpPr/>
            <p:nvPr/>
          </p:nvSpPr>
          <p:spPr>
            <a:xfrm>
              <a:off x="5477" y="2588"/>
              <a:ext cx="281" cy="335"/>
            </a:xfrm>
            <a:custGeom>
              <a:avLst/>
              <a:gdLst/>
              <a:ahLst/>
              <a:cxnLst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40" name="任意多边形 516115"/>
            <p:cNvSpPr/>
            <p:nvPr/>
          </p:nvSpPr>
          <p:spPr>
            <a:xfrm>
              <a:off x="2454" y="0"/>
              <a:ext cx="3119" cy="2678"/>
            </a:xfrm>
            <a:custGeom>
              <a:avLst/>
              <a:gdLst/>
              <a:ahLst/>
              <a:cxnLst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47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41" name="任意多边形 516116"/>
            <p:cNvSpPr/>
            <p:nvPr/>
          </p:nvSpPr>
          <p:spPr>
            <a:xfrm>
              <a:off x="5626" y="2534"/>
              <a:ext cx="132" cy="132"/>
            </a:xfrm>
            <a:custGeom>
              <a:avLst/>
              <a:gdLst/>
              <a:ahLst/>
              <a:cxnLst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42" name="任意多边形 516117"/>
            <p:cNvSpPr/>
            <p:nvPr/>
          </p:nvSpPr>
          <p:spPr>
            <a:xfrm>
              <a:off x="3112" y="0"/>
              <a:ext cx="2514" cy="2534"/>
            </a:xfrm>
            <a:custGeom>
              <a:avLst/>
              <a:gdLst/>
              <a:ahLst/>
              <a:cxnLst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4F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43" name="任意多边形 516118"/>
            <p:cNvSpPr/>
            <p:nvPr/>
          </p:nvSpPr>
          <p:spPr>
            <a:xfrm>
              <a:off x="3488" y="0"/>
              <a:ext cx="2198" cy="2480"/>
            </a:xfrm>
            <a:custGeom>
              <a:avLst/>
              <a:gdLst/>
              <a:ahLst/>
              <a:cxnLst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5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44" name="任意多边形 516119"/>
            <p:cNvSpPr/>
            <p:nvPr/>
          </p:nvSpPr>
          <p:spPr>
            <a:xfrm>
              <a:off x="5674" y="2474"/>
              <a:ext cx="84" cy="96"/>
            </a:xfrm>
            <a:custGeom>
              <a:avLst/>
              <a:gdLst/>
              <a:ahLst/>
              <a:cxnLst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1717A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45" name="任意多边形 516120"/>
            <p:cNvSpPr/>
            <p:nvPr/>
          </p:nvSpPr>
          <p:spPr>
            <a:xfrm>
              <a:off x="5603" y="850"/>
              <a:ext cx="155" cy="516"/>
            </a:xfrm>
            <a:custGeom>
              <a:avLst/>
              <a:gdLst/>
              <a:ahLst/>
              <a:cxnLst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46" name="任意多边形 516121"/>
            <p:cNvSpPr/>
            <p:nvPr/>
          </p:nvSpPr>
          <p:spPr>
            <a:xfrm>
              <a:off x="5107" y="0"/>
              <a:ext cx="573" cy="1042"/>
            </a:xfrm>
            <a:custGeom>
              <a:avLst/>
              <a:gdLst/>
              <a:ahLst/>
              <a:cxnLst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55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47" name="任意多边形 516122"/>
            <p:cNvSpPr/>
            <p:nvPr/>
          </p:nvSpPr>
          <p:spPr>
            <a:xfrm>
              <a:off x="5411" y="0"/>
              <a:ext cx="341" cy="796"/>
            </a:xfrm>
            <a:custGeom>
              <a:avLst/>
              <a:gdLst/>
              <a:ahLst/>
              <a:cxnLst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59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48" name="任意多边形 516123"/>
            <p:cNvSpPr/>
            <p:nvPr/>
          </p:nvSpPr>
          <p:spPr>
            <a:xfrm>
              <a:off x="5698" y="653"/>
              <a:ext cx="60" cy="311"/>
            </a:xfrm>
            <a:custGeom>
              <a:avLst/>
              <a:gdLst/>
              <a:ahLst/>
              <a:cxnLst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49" name="任意多边形 516124"/>
            <p:cNvSpPr/>
            <p:nvPr/>
          </p:nvSpPr>
          <p:spPr>
            <a:xfrm>
              <a:off x="2" y="1601"/>
              <a:ext cx="5752" cy="1864"/>
            </a:xfrm>
            <a:custGeom>
              <a:avLst/>
              <a:gdLst/>
              <a:ahLst/>
              <a:cxnLst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rgbClr val="000061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50" name="任意多边形 516125"/>
            <p:cNvSpPr/>
            <p:nvPr/>
          </p:nvSpPr>
          <p:spPr>
            <a:xfrm>
              <a:off x="5754" y="3483"/>
              <a:ext cx="6" cy="6"/>
            </a:xfrm>
            <a:custGeom>
              <a:avLst/>
              <a:gdLst/>
              <a:ahLst/>
              <a:cxnLst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51" name="任意多边形 516126"/>
            <p:cNvSpPr/>
            <p:nvPr/>
          </p:nvSpPr>
          <p:spPr>
            <a:xfrm>
              <a:off x="2" y="2152"/>
              <a:ext cx="5752" cy="1337"/>
            </a:xfrm>
            <a:custGeom>
              <a:avLst/>
              <a:gdLst/>
              <a:ahLst/>
              <a:cxnLst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rgbClr val="00005D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52" name="任意多边形 516127"/>
            <p:cNvSpPr/>
            <p:nvPr/>
          </p:nvSpPr>
          <p:spPr>
            <a:xfrm>
              <a:off x="2" y="3177"/>
              <a:ext cx="5752" cy="414"/>
            </a:xfrm>
            <a:custGeom>
              <a:avLst/>
              <a:gdLst/>
              <a:ahLst/>
              <a:cxnLst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rgbClr val="00008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53" name="任意多边形 516128"/>
            <p:cNvSpPr/>
            <p:nvPr/>
          </p:nvSpPr>
          <p:spPr>
            <a:xfrm>
              <a:off x="1297" y="0"/>
              <a:ext cx="4457" cy="3177"/>
            </a:xfrm>
            <a:custGeom>
              <a:avLst/>
              <a:gdLst/>
              <a:ahLst/>
              <a:cxnLst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4A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54" name="任意多边形 516129"/>
            <p:cNvSpPr/>
            <p:nvPr/>
          </p:nvSpPr>
          <p:spPr>
            <a:xfrm>
              <a:off x="3321" y="0"/>
              <a:ext cx="2433" cy="2614"/>
            </a:xfrm>
            <a:custGeom>
              <a:avLst/>
              <a:gdLst/>
              <a:ahLst/>
              <a:cxnLst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82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55" name="任意多边形 516130"/>
            <p:cNvSpPr/>
            <p:nvPr/>
          </p:nvSpPr>
          <p:spPr>
            <a:xfrm>
              <a:off x="3950" y="0"/>
              <a:ext cx="1804" cy="2464"/>
            </a:xfrm>
            <a:custGeom>
              <a:avLst/>
              <a:gdLst/>
              <a:ahLst/>
              <a:cxnLst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5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56" name="任意多边形 516131"/>
            <p:cNvSpPr/>
            <p:nvPr/>
          </p:nvSpPr>
          <p:spPr>
            <a:xfrm>
              <a:off x="4519" y="0"/>
              <a:ext cx="1235" cy="2074"/>
            </a:xfrm>
            <a:custGeom>
              <a:avLst/>
              <a:gdLst/>
              <a:ahLst/>
              <a:cxnLst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58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57" name="任意多边形 516132"/>
            <p:cNvSpPr/>
            <p:nvPr/>
          </p:nvSpPr>
          <p:spPr>
            <a:xfrm>
              <a:off x="4694" y="0"/>
              <a:ext cx="1060" cy="1936"/>
            </a:xfrm>
            <a:custGeom>
              <a:avLst/>
              <a:gdLst/>
              <a:ahLst/>
              <a:cxnLst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F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58" name="任意多边形 516133"/>
            <p:cNvSpPr/>
            <p:nvPr/>
          </p:nvSpPr>
          <p:spPr>
            <a:xfrm>
              <a:off x="4981" y="0"/>
              <a:ext cx="773" cy="1487"/>
            </a:xfrm>
            <a:custGeom>
              <a:avLst/>
              <a:gdLst/>
              <a:ahLst/>
              <a:cxnLst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rgbClr val="000079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5159" name="组合 516134"/>
            <p:cNvGrpSpPr/>
            <p:nvPr userDrawn="1"/>
          </p:nvGrpSpPr>
          <p:grpSpPr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5160" name="任意多边形 516135"/>
              <p:cNvSpPr/>
              <p:nvPr/>
            </p:nvSpPr>
            <p:spPr>
              <a:xfrm>
                <a:off x="0" y="1632"/>
                <a:ext cx="3670" cy="1313"/>
              </a:xfrm>
              <a:custGeom>
                <a:avLst/>
                <a:gdLst/>
                <a:ahLst/>
                <a:cxnLst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6F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161" name="任意多边形 516136"/>
              <p:cNvSpPr/>
              <p:nvPr/>
            </p:nvSpPr>
            <p:spPr>
              <a:xfrm>
                <a:off x="3646" y="2795"/>
                <a:ext cx="2112" cy="695"/>
              </a:xfrm>
              <a:custGeom>
                <a:avLst/>
                <a:gdLst/>
                <a:ahLst/>
                <a:cxnLst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rgbClr val="1717A2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pic>
        <p:nvPicPr>
          <p:cNvPr id="5162" name="20 516142" descr="20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9750" y="188913"/>
            <a:ext cx="8135938" cy="3603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63" name="矩形 516143"/>
          <p:cNvSpPr/>
          <p:nvPr userDrawn="1"/>
        </p:nvSpPr>
        <p:spPr>
          <a:xfrm>
            <a:off x="1331913" y="44450"/>
            <a:ext cx="628650" cy="3143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p>
            <a:pPr algn="ctr"/>
            <a:r>
              <a:rPr lang="zh-CN" altLang="en-US" sz="2400" b="1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  <a:tileRect/>
                </a:gradFill>
                <a:effectLst>
                  <a:outerShdw dist="45791" dir="3378595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电路</a:t>
            </a:r>
            <a:endParaRPr lang="zh-CN" altLang="en-US" sz="2400" b="1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  <a:tileRect/>
              </a:gradFill>
              <a:effectLst>
                <a:outerShdw dist="45791" dir="3378595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516138" name="标题 516137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lvl="0">
              <a:buClrTx/>
              <a:buSzTx/>
              <a:buFontTx/>
              <a:defRPr/>
            </a:lvl1pPr>
          </a:lstStyle>
          <a:p>
            <a:pPr lvl="0" fontAlgn="base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516139" name="副标题 516138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0" lvl="0" indent="0" algn="ctr">
              <a:buClr>
                <a:schemeClr val="hlink"/>
              </a:buClr>
              <a:buSzPct val="90000"/>
              <a:buFont typeface="Wingdings" panose="05000000000000000000" pitchFamily="2" charset="2"/>
              <a:buNone/>
              <a:defRPr/>
            </a:lvl1pPr>
            <a:lvl2pPr marL="457200" lvl="1" indent="0" algn="ctr">
              <a:buClrTx/>
              <a:buSzTx/>
              <a:buFontTx/>
              <a:buNone/>
              <a:defRPr/>
            </a:lvl2pPr>
            <a:lvl3pPr marL="914400" lvl="2" indent="0" algn="ctr">
              <a:buClr>
                <a:schemeClr val="accent2"/>
              </a:buClr>
              <a:buSzPct val="90000"/>
              <a:buFont typeface="Wingdings" panose="05000000000000000000" pitchFamily="2" charset="2"/>
              <a:buNone/>
              <a:defRPr/>
            </a:lvl3pPr>
            <a:lvl4pPr marL="1371600" lvl="3" indent="0" algn="ctr">
              <a:buClrTx/>
              <a:buSzTx/>
              <a:buFontTx/>
              <a:buNone/>
              <a:defRPr/>
            </a:lvl4pPr>
            <a:lvl5pPr marL="1828800" lvl="4" indent="0" algn="ctr">
              <a:buClr>
                <a:schemeClr val="folHlink"/>
              </a:buClr>
              <a:buSzPct val="90000"/>
              <a:buFont typeface="Wingdings" panose="05000000000000000000" pitchFamily="2" charset="2"/>
              <a:buNone/>
              <a:defRPr/>
            </a:lvl5pPr>
          </a:lstStyle>
          <a:p>
            <a:pPr lvl="0" fontAlgn="base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516140" name="日期占位符 516139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>
              <a:defRPr sz="1200" b="0"/>
            </a:lvl1pPr>
          </a:lstStyle>
          <a:p>
            <a:pPr fontAlgn="base"/>
            <a:fld id="{BB962C8B-B14F-4D97-AF65-F5344CB8AC3E}" type="datetime1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6141" name="页脚占位符 516140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algn="ctr">
              <a:defRPr sz="1200" b="0"/>
            </a:lvl1pPr>
          </a:lstStyle>
          <a:p>
            <a:pPr fontAlgn="base"/>
            <a:endParaRPr lang="zh-CN" altLang="en-US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6142" name="灯片编号占位符 516141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algn="r">
              <a:defRPr sz="1200" b="0"/>
            </a:lvl1pPr>
          </a:lstStyle>
          <a:p>
            <a:pPr fontAlgn="base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3072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3072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52930" cy="5853112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4.png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58"/>
            </a:gs>
            <a:gs pos="100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组合 450561"/>
          <p:cNvGrpSpPr/>
          <p:nvPr/>
        </p:nvGrpSpPr>
        <p:grpSpPr>
          <a:xfrm>
            <a:off x="0" y="0"/>
            <a:ext cx="9144000" cy="6856413"/>
            <a:chOff x="0" y="0"/>
            <a:chExt cx="5760" cy="4319"/>
          </a:xfrm>
        </p:grpSpPr>
        <p:sp>
          <p:nvSpPr>
            <p:cNvPr id="1027" name="任意多边形 450562"/>
            <p:cNvSpPr/>
            <p:nvPr/>
          </p:nvSpPr>
          <p:spPr>
            <a:xfrm>
              <a:off x="0" y="12"/>
              <a:ext cx="5758" cy="3273"/>
            </a:xfrm>
            <a:custGeom>
              <a:avLst/>
              <a:gdLst/>
              <a:ahLst/>
              <a:cxnLst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rgbClr val="000051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8" name="任意多边形 450563"/>
            <p:cNvSpPr/>
            <p:nvPr/>
          </p:nvSpPr>
          <p:spPr>
            <a:xfrm>
              <a:off x="149" y="0"/>
              <a:ext cx="5609" cy="3243"/>
            </a:xfrm>
            <a:custGeom>
              <a:avLst/>
              <a:gdLst/>
              <a:ahLst/>
              <a:cxnLst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rgbClr val="00005D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9" name="任意多边形 450564"/>
            <p:cNvSpPr/>
            <p:nvPr/>
          </p:nvSpPr>
          <p:spPr>
            <a:xfrm>
              <a:off x="0" y="3433"/>
              <a:ext cx="4038" cy="191"/>
            </a:xfrm>
            <a:custGeom>
              <a:avLst/>
              <a:gdLst/>
              <a:ahLst/>
              <a:cxnLst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rgbClr val="000061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0" name="任意多边形 450565"/>
            <p:cNvSpPr/>
            <p:nvPr/>
          </p:nvSpPr>
          <p:spPr>
            <a:xfrm>
              <a:off x="4038" y="3577"/>
              <a:ext cx="1720" cy="65"/>
            </a:xfrm>
            <a:custGeom>
              <a:avLst/>
              <a:gdLst/>
              <a:ahLst/>
              <a:cxnLst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1" name="任意多边形 450566"/>
            <p:cNvSpPr/>
            <p:nvPr/>
          </p:nvSpPr>
          <p:spPr>
            <a:xfrm>
              <a:off x="0" y="3726"/>
              <a:ext cx="4784" cy="329"/>
            </a:xfrm>
            <a:custGeom>
              <a:avLst/>
              <a:gdLst/>
              <a:ahLst/>
              <a:cxnLst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rgbClr val="00007D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2" name="任意多边形 450567"/>
            <p:cNvSpPr/>
            <p:nvPr/>
          </p:nvSpPr>
          <p:spPr>
            <a:xfrm>
              <a:off x="4784" y="3702"/>
              <a:ext cx="974" cy="101"/>
            </a:xfrm>
            <a:custGeom>
              <a:avLst/>
              <a:gdLst/>
              <a:ahLst/>
              <a:cxnLst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3" name="任意多边形 450568"/>
            <p:cNvSpPr/>
            <p:nvPr/>
          </p:nvSpPr>
          <p:spPr>
            <a:xfrm>
              <a:off x="3619" y="3815"/>
              <a:ext cx="2139" cy="198"/>
            </a:xfrm>
            <a:custGeom>
              <a:avLst/>
              <a:gdLst/>
              <a:ahLst/>
              <a:cxnLst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4" name="任意多边形 450569"/>
            <p:cNvSpPr/>
            <p:nvPr/>
          </p:nvSpPr>
          <p:spPr>
            <a:xfrm>
              <a:off x="0" y="3971"/>
              <a:ext cx="3619" cy="348"/>
            </a:xfrm>
            <a:custGeom>
              <a:avLst/>
              <a:gdLst/>
              <a:ahLst/>
              <a:cxnLst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rgbClr val="00006F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5" name="任意多边形 450570"/>
            <p:cNvSpPr/>
            <p:nvPr/>
          </p:nvSpPr>
          <p:spPr>
            <a:xfrm>
              <a:off x="2097" y="4043"/>
              <a:ext cx="2514" cy="276"/>
            </a:xfrm>
            <a:custGeom>
              <a:avLst/>
              <a:gdLst/>
              <a:ahLst/>
              <a:cxnLst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6" name="任意多边形 450571"/>
            <p:cNvSpPr/>
            <p:nvPr/>
          </p:nvSpPr>
          <p:spPr>
            <a:xfrm>
              <a:off x="4354" y="3869"/>
              <a:ext cx="1404" cy="378"/>
            </a:xfrm>
            <a:custGeom>
              <a:avLst/>
              <a:gdLst/>
              <a:ahLst/>
              <a:cxnLst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08089C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7" name="任意多边形 450572"/>
            <p:cNvSpPr/>
            <p:nvPr/>
          </p:nvSpPr>
          <p:spPr>
            <a:xfrm>
              <a:off x="5030" y="3151"/>
              <a:ext cx="728" cy="240"/>
            </a:xfrm>
            <a:custGeom>
              <a:avLst/>
              <a:gdLst/>
              <a:ahLst/>
              <a:cxnLst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8" name="任意多边形 450573"/>
            <p:cNvSpPr/>
            <p:nvPr/>
          </p:nvSpPr>
          <p:spPr>
            <a:xfrm>
              <a:off x="0" y="1486"/>
              <a:ext cx="5030" cy="1671"/>
            </a:xfrm>
            <a:custGeom>
              <a:avLst/>
              <a:gdLst/>
              <a:ahLst/>
              <a:cxnLst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rgbClr val="000053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9" name="任意多边形 450574"/>
            <p:cNvSpPr/>
            <p:nvPr/>
          </p:nvSpPr>
          <p:spPr>
            <a:xfrm>
              <a:off x="5030" y="3049"/>
              <a:ext cx="728" cy="318"/>
            </a:xfrm>
            <a:custGeom>
              <a:avLst/>
              <a:gdLst/>
              <a:ahLst/>
              <a:cxnLst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0" name="任意多边形 450575"/>
            <p:cNvSpPr/>
            <p:nvPr/>
          </p:nvSpPr>
          <p:spPr>
            <a:xfrm>
              <a:off x="0" y="916"/>
              <a:ext cx="5030" cy="2187"/>
            </a:xfrm>
            <a:custGeom>
              <a:avLst/>
              <a:gdLst/>
              <a:ahLst/>
              <a:cxnLst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rgbClr val="000055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1" name="任意多边形 450576"/>
            <p:cNvSpPr/>
            <p:nvPr/>
          </p:nvSpPr>
          <p:spPr>
            <a:xfrm>
              <a:off x="2294" y="0"/>
              <a:ext cx="3159" cy="2725"/>
            </a:xfrm>
            <a:custGeom>
              <a:avLst/>
              <a:gdLst/>
              <a:ahLst/>
              <a:cxnLst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B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2" name="任意多边形 450577"/>
            <p:cNvSpPr/>
            <p:nvPr/>
          </p:nvSpPr>
          <p:spPr>
            <a:xfrm>
              <a:off x="5435" y="2702"/>
              <a:ext cx="323" cy="299"/>
            </a:xfrm>
            <a:custGeom>
              <a:avLst/>
              <a:gdLst/>
              <a:ahLst/>
              <a:cxnLst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0F0F9F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3" name="任意多边形 450578"/>
            <p:cNvSpPr/>
            <p:nvPr/>
          </p:nvSpPr>
          <p:spPr>
            <a:xfrm>
              <a:off x="5477" y="2588"/>
              <a:ext cx="281" cy="335"/>
            </a:xfrm>
            <a:custGeom>
              <a:avLst/>
              <a:gdLst/>
              <a:ahLst/>
              <a:cxnLst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4" name="任意多边形 450579"/>
            <p:cNvSpPr/>
            <p:nvPr/>
          </p:nvSpPr>
          <p:spPr>
            <a:xfrm>
              <a:off x="2454" y="0"/>
              <a:ext cx="3119" cy="2678"/>
            </a:xfrm>
            <a:custGeom>
              <a:avLst/>
              <a:gdLst/>
              <a:ahLst/>
              <a:cxnLst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47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5" name="任意多边形 450580"/>
            <p:cNvSpPr/>
            <p:nvPr/>
          </p:nvSpPr>
          <p:spPr>
            <a:xfrm>
              <a:off x="5626" y="2534"/>
              <a:ext cx="132" cy="132"/>
            </a:xfrm>
            <a:custGeom>
              <a:avLst/>
              <a:gdLst/>
              <a:ahLst/>
              <a:cxnLst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6" name="任意多边形 450581"/>
            <p:cNvSpPr/>
            <p:nvPr/>
          </p:nvSpPr>
          <p:spPr>
            <a:xfrm>
              <a:off x="3112" y="0"/>
              <a:ext cx="2514" cy="2534"/>
            </a:xfrm>
            <a:custGeom>
              <a:avLst/>
              <a:gdLst/>
              <a:ahLst/>
              <a:cxnLst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4F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7" name="任意多边形 450582"/>
            <p:cNvSpPr/>
            <p:nvPr/>
          </p:nvSpPr>
          <p:spPr>
            <a:xfrm>
              <a:off x="3488" y="0"/>
              <a:ext cx="2198" cy="2480"/>
            </a:xfrm>
            <a:custGeom>
              <a:avLst/>
              <a:gdLst/>
              <a:ahLst/>
              <a:cxnLst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5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8" name="任意多边形 450583"/>
            <p:cNvSpPr/>
            <p:nvPr/>
          </p:nvSpPr>
          <p:spPr>
            <a:xfrm>
              <a:off x="5674" y="2474"/>
              <a:ext cx="84" cy="96"/>
            </a:xfrm>
            <a:custGeom>
              <a:avLst/>
              <a:gdLst/>
              <a:ahLst/>
              <a:cxnLst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1717A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" name="任意多边形 450584"/>
            <p:cNvSpPr/>
            <p:nvPr/>
          </p:nvSpPr>
          <p:spPr>
            <a:xfrm>
              <a:off x="5603" y="850"/>
              <a:ext cx="155" cy="516"/>
            </a:xfrm>
            <a:custGeom>
              <a:avLst/>
              <a:gdLst/>
              <a:ahLst/>
              <a:cxnLst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0" name="任意多边形 450585"/>
            <p:cNvSpPr/>
            <p:nvPr/>
          </p:nvSpPr>
          <p:spPr>
            <a:xfrm>
              <a:off x="5107" y="0"/>
              <a:ext cx="573" cy="1042"/>
            </a:xfrm>
            <a:custGeom>
              <a:avLst/>
              <a:gdLst/>
              <a:ahLst/>
              <a:cxnLst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55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1" name="任意多边形 450586"/>
            <p:cNvSpPr/>
            <p:nvPr/>
          </p:nvSpPr>
          <p:spPr>
            <a:xfrm>
              <a:off x="5411" y="0"/>
              <a:ext cx="341" cy="796"/>
            </a:xfrm>
            <a:custGeom>
              <a:avLst/>
              <a:gdLst/>
              <a:ahLst/>
              <a:cxnLst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59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2" name="任意多边形 450587"/>
            <p:cNvSpPr/>
            <p:nvPr/>
          </p:nvSpPr>
          <p:spPr>
            <a:xfrm>
              <a:off x="5698" y="653"/>
              <a:ext cx="60" cy="311"/>
            </a:xfrm>
            <a:custGeom>
              <a:avLst/>
              <a:gdLst/>
              <a:ahLst/>
              <a:cxnLst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3" name="任意多边形 450588"/>
            <p:cNvSpPr/>
            <p:nvPr/>
          </p:nvSpPr>
          <p:spPr>
            <a:xfrm>
              <a:off x="2" y="1601"/>
              <a:ext cx="5752" cy="1864"/>
            </a:xfrm>
            <a:custGeom>
              <a:avLst/>
              <a:gdLst/>
              <a:ahLst/>
              <a:cxnLst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rgbClr val="000061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4" name="任意多边形 450589"/>
            <p:cNvSpPr/>
            <p:nvPr/>
          </p:nvSpPr>
          <p:spPr>
            <a:xfrm>
              <a:off x="5754" y="3483"/>
              <a:ext cx="6" cy="6"/>
            </a:xfrm>
            <a:custGeom>
              <a:avLst/>
              <a:gdLst/>
              <a:ahLst/>
              <a:cxnLst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5" name="任意多边形 450590"/>
            <p:cNvSpPr/>
            <p:nvPr/>
          </p:nvSpPr>
          <p:spPr>
            <a:xfrm>
              <a:off x="2" y="2152"/>
              <a:ext cx="5752" cy="1337"/>
            </a:xfrm>
            <a:custGeom>
              <a:avLst/>
              <a:gdLst/>
              <a:ahLst/>
              <a:cxnLst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rgbClr val="00005D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6" name="任意多边形 450591"/>
            <p:cNvSpPr/>
            <p:nvPr/>
          </p:nvSpPr>
          <p:spPr>
            <a:xfrm>
              <a:off x="2" y="3177"/>
              <a:ext cx="5752" cy="414"/>
            </a:xfrm>
            <a:custGeom>
              <a:avLst/>
              <a:gdLst/>
              <a:ahLst/>
              <a:cxnLst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rgbClr val="00008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7" name="任意多边形 450592"/>
            <p:cNvSpPr/>
            <p:nvPr/>
          </p:nvSpPr>
          <p:spPr>
            <a:xfrm>
              <a:off x="1297" y="0"/>
              <a:ext cx="4457" cy="3177"/>
            </a:xfrm>
            <a:custGeom>
              <a:avLst/>
              <a:gdLst/>
              <a:ahLst/>
              <a:cxnLst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4A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8" name="任意多边形 450593"/>
            <p:cNvSpPr/>
            <p:nvPr/>
          </p:nvSpPr>
          <p:spPr>
            <a:xfrm>
              <a:off x="3321" y="0"/>
              <a:ext cx="2433" cy="2614"/>
            </a:xfrm>
            <a:custGeom>
              <a:avLst/>
              <a:gdLst/>
              <a:ahLst/>
              <a:cxnLst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82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9" name="任意多边形 450594"/>
            <p:cNvSpPr/>
            <p:nvPr/>
          </p:nvSpPr>
          <p:spPr>
            <a:xfrm>
              <a:off x="3950" y="0"/>
              <a:ext cx="1804" cy="2464"/>
            </a:xfrm>
            <a:custGeom>
              <a:avLst/>
              <a:gdLst/>
              <a:ahLst/>
              <a:cxnLst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5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60" name="任意多边形 450595"/>
            <p:cNvSpPr/>
            <p:nvPr/>
          </p:nvSpPr>
          <p:spPr>
            <a:xfrm>
              <a:off x="4519" y="0"/>
              <a:ext cx="1235" cy="2074"/>
            </a:xfrm>
            <a:custGeom>
              <a:avLst/>
              <a:gdLst/>
              <a:ahLst/>
              <a:cxnLst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58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61" name="任意多边形 450596"/>
            <p:cNvSpPr/>
            <p:nvPr/>
          </p:nvSpPr>
          <p:spPr>
            <a:xfrm>
              <a:off x="4694" y="0"/>
              <a:ext cx="1060" cy="1936"/>
            </a:xfrm>
            <a:custGeom>
              <a:avLst/>
              <a:gdLst/>
              <a:ahLst/>
              <a:cxnLst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F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62" name="任意多边形 450597"/>
            <p:cNvSpPr/>
            <p:nvPr/>
          </p:nvSpPr>
          <p:spPr>
            <a:xfrm>
              <a:off x="4981" y="0"/>
              <a:ext cx="773" cy="1487"/>
            </a:xfrm>
            <a:custGeom>
              <a:avLst/>
              <a:gdLst/>
              <a:ahLst/>
              <a:cxnLst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rgbClr val="000079"/>
                </a:gs>
                <a:gs pos="100000">
                  <a:schemeClr val="bg1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063" name="组合 450598"/>
            <p:cNvGrpSpPr/>
            <p:nvPr userDrawn="1"/>
          </p:nvGrpSpPr>
          <p:grpSpPr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064" name="任意多边形 450599"/>
              <p:cNvSpPr/>
              <p:nvPr/>
            </p:nvSpPr>
            <p:spPr>
              <a:xfrm>
                <a:off x="0" y="1632"/>
                <a:ext cx="3670" cy="1313"/>
              </a:xfrm>
              <a:custGeom>
                <a:avLst/>
                <a:gdLst/>
                <a:ahLst/>
                <a:cxnLst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6F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5" name="任意多边形 450600"/>
              <p:cNvSpPr/>
              <p:nvPr/>
            </p:nvSpPr>
            <p:spPr>
              <a:xfrm>
                <a:off x="3646" y="2795"/>
                <a:ext cx="2112" cy="695"/>
              </a:xfrm>
              <a:custGeom>
                <a:avLst/>
                <a:gdLst/>
                <a:ahLst/>
                <a:cxnLst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rgbClr val="1717A2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sp>
        <p:nvSpPr>
          <p:cNvPr id="450602" name="标题 45060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 fontAlgn="base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450603" name="文本占位符 45060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fontAlgn="base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base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base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base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base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450604" name="日期占位符 450603"/>
          <p:cNvSpPr>
            <a:spLocks noGrp="1"/>
          </p:cNvSpPr>
          <p:nvPr>
            <p:ph type="dt" sz="half" idx="2"/>
          </p:nvPr>
        </p:nvSpPr>
        <p:spPr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>
              <a:defRPr sz="1200" b="0"/>
            </a:lvl1pPr>
          </a:lstStyle>
          <a:p>
            <a:pPr lvl="0" fontAlgn="base"/>
            <a:endParaRPr lang="zh-CN" altLang="en-US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0605" name="页脚占位符 45060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algn="ctr">
              <a:defRPr sz="1200" b="0"/>
            </a:lvl1pPr>
          </a:lstStyle>
          <a:p>
            <a:pPr lvl="0" fontAlgn="base"/>
            <a:endParaRPr lang="zh-CN" altLang="en-US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0606" name="灯片编号占位符 450605"/>
          <p:cNvSpPr>
            <a:spLocks noGrp="1"/>
          </p:cNvSpPr>
          <p:nvPr>
            <p:ph type="sldNum" sz="quarter" idx="4"/>
          </p:nvPr>
        </p:nvSpPr>
        <p:spPr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algn="r">
              <a:defRPr sz="1200" b="0"/>
            </a:lvl1pPr>
          </a:lstStyle>
          <a:p>
            <a:pPr lvl="0" fontAlgn="base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71" name="20 450606" descr="205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539750" y="188913"/>
            <a:ext cx="8135938" cy="3603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72" name="矩形 450607"/>
          <p:cNvSpPr/>
          <p:nvPr userDrawn="1"/>
        </p:nvSpPr>
        <p:spPr>
          <a:xfrm>
            <a:off x="1331913" y="44450"/>
            <a:ext cx="628650" cy="3143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p>
            <a:pPr algn="ctr"/>
            <a:r>
              <a:rPr lang="zh-CN" altLang="en-US" sz="2400" b="1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  <a:tileRect/>
                </a:gradFill>
                <a:effectLst>
                  <a:outerShdw dist="45791" dir="3378595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电路</a:t>
            </a:r>
            <a:endParaRPr lang="zh-CN" altLang="en-US" sz="2400" b="1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  <a:tileRect/>
              </a:gradFill>
              <a:effectLst>
                <a:outerShdw dist="45791" dir="3378595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073" name="矩形 450608"/>
          <p:cNvSpPr/>
          <p:nvPr userDrawn="1"/>
        </p:nvSpPr>
        <p:spPr>
          <a:xfrm>
            <a:off x="6084888" y="90488"/>
            <a:ext cx="1582737" cy="3143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p>
            <a:pPr algn="ctr"/>
            <a:r>
              <a:rPr lang="zh-CN" altLang="en-US" sz="2400" b="1" spc="480">
                <a:gradFill rotWithShape="0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  <a:tileRect/>
                </a:gradFill>
                <a:effectLst>
                  <a:outerShdw dist="45791" dir="3378595" algn="ctr" rotWithShape="0">
                    <a:srgbClr val="4D4D4D">
                      <a:alpha val="80000"/>
                    </a:srgb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储能元件</a:t>
            </a:r>
            <a:endParaRPr lang="zh-CN" altLang="en-US" sz="2400" b="1" spc="480">
              <a:gradFill rotWithShape="0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  <a:tileRect/>
              </a:gradFill>
              <a:effectLst>
                <a:outerShdw dist="45791" dir="3378595" algn="ctr" rotWithShape="0">
                  <a:srgbClr val="4D4D4D">
                    <a:alpha val="80000"/>
                  </a:srgbClr>
                </a:outerShdw>
              </a:effectLst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450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450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3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450603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450603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3">
                                            <p:txEl>
                                              <p:charRg st="13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450603">
                                            <p:txEl>
                                              <p:charRg st="13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450603">
                                            <p:txEl>
                                              <p:charRg st="13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3">
                                            <p:txEl>
                                              <p:charRg st="17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450603">
                                            <p:txEl>
                                              <p:charRg st="17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450603">
                                            <p:txEl>
                                              <p:charRg st="17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3">
                                            <p:txEl>
                                              <p:charRg st="21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0" fill="hold"/>
                                        <p:tgtEl>
                                          <p:spTgt spid="450603">
                                            <p:txEl>
                                              <p:charRg st="21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0" fill="hold"/>
                                        <p:tgtEl>
                                          <p:spTgt spid="450603">
                                            <p:txEl>
                                              <p:charRg st="21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3">
                                            <p:txEl>
                                              <p:charRg st="25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5000" fill="hold"/>
                                        <p:tgtEl>
                                          <p:spTgt spid="450603">
                                            <p:txEl>
                                              <p:charRg st="25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000" fill="hold"/>
                                        <p:tgtEl>
                                          <p:spTgt spid="450603">
                                            <p:txEl>
                                              <p:charRg st="25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02" grpId="0"/>
      <p:bldP spid="450603" grpId="0" build="allAtOnce"/>
    </p:bldLst>
  </p:timing>
  <p:hf sldNum="0" hdr="0" ftr="0" dt="0"/>
  <p:txStyles>
    <p:titleStyle>
      <a:lvl1pPr marL="0" lvl="0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effectLst>
            <a:outerShdw blurRad="38100" dist="38100" dir="2700000">
              <a:srgbClr val="C0C0C0"/>
            </a:outerShdw>
          </a:effectLst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3"/>
        </a:buBlip>
        <a:defRPr sz="3200" b="0" i="0" u="none" kern="1200" baseline="0">
          <a:solidFill>
            <a:schemeClr val="tx1"/>
          </a:solidFill>
          <a:effectLst>
            <a:outerShdw blurRad="38100" dist="38100" dir="2700000">
              <a:srgbClr val="C0C0C0"/>
            </a:outerShdw>
          </a:effectLst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Tx/>
        <a:buFontTx/>
        <a:buChar char="–"/>
        <a:defRPr sz="2800" b="0" i="0" u="none" kern="1200" baseline="0">
          <a:solidFill>
            <a:schemeClr val="tx1"/>
          </a:solidFill>
          <a:effectLst>
            <a:outerShdw blurRad="38100" dist="38100" dir="2700000">
              <a:srgbClr val="C0C0C0"/>
            </a:outerShdw>
          </a:effectLst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4"/>
        </a:buBlip>
        <a:defRPr sz="2400" b="0" i="0" u="none" kern="1200" baseline="0">
          <a:solidFill>
            <a:schemeClr val="tx1"/>
          </a:solidFill>
          <a:effectLst>
            <a:outerShdw blurRad="38100" dist="38100" dir="2700000">
              <a:srgbClr val="C0C0C0"/>
            </a:outerShdw>
          </a:effectLst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Tx/>
        <a:buFontTx/>
        <a:buChar char="–"/>
        <a:defRPr sz="2000" b="0" i="0" u="none" kern="1200" baseline="0">
          <a:solidFill>
            <a:schemeClr val="tx1"/>
          </a:solidFill>
          <a:effectLst>
            <a:outerShdw blurRad="38100" dist="38100" dir="2700000">
              <a:srgbClr val="C0C0C0"/>
            </a:outerShdw>
          </a:effectLst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5"/>
        </a:buBlip>
        <a:defRPr sz="2000" b="0" i="0" u="none" kern="1200" baseline="0">
          <a:solidFill>
            <a:schemeClr val="tx1"/>
          </a:solidFill>
          <a:effectLst>
            <a:outerShdw blurRad="38100" dist="38100" dir="2700000">
              <a:srgbClr val="C0C0C0"/>
            </a:outerShdw>
          </a:effectLst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5"/>
        </a:buBlip>
        <a:defRPr sz="2000" b="0" i="0" u="none" kern="1200" baseline="0">
          <a:solidFill>
            <a:schemeClr val="tx1"/>
          </a:solidFill>
          <a:effectLst>
            <a:outerShdw blurRad="38100" dist="38100" dir="2700000">
              <a:srgbClr val="C0C0C0"/>
            </a:outerShdw>
          </a:effectLst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5"/>
        </a:buBlip>
        <a:defRPr sz="2000" b="0" i="0" u="none" kern="1200" baseline="0">
          <a:solidFill>
            <a:schemeClr val="tx1"/>
          </a:solidFill>
          <a:effectLst>
            <a:outerShdw blurRad="38100" dist="38100" dir="2700000">
              <a:srgbClr val="C0C0C0"/>
            </a:outerShdw>
          </a:effectLst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5"/>
        </a:buBlip>
        <a:defRPr sz="2000" b="0" i="0" u="none" kern="1200" baseline="0">
          <a:solidFill>
            <a:schemeClr val="tx1"/>
          </a:solidFill>
          <a:effectLst>
            <a:outerShdw blurRad="38100" dist="38100" dir="2700000">
              <a:srgbClr val="C0C0C0"/>
            </a:outerShdw>
          </a:effectLst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5"/>
        </a:buBlip>
        <a:defRPr sz="2000" b="0" i="0" u="none" kern="1200" baseline="0">
          <a:solidFill>
            <a:schemeClr val="tx1"/>
          </a:solidFill>
          <a:effectLst>
            <a:outerShdw blurRad="38100" dist="38100" dir="2700000">
              <a:srgbClr val="C0C0C0"/>
            </a:outerShdw>
          </a:effectLst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rgbClr val="FFFF00"/>
          </a:solidFill>
          <a:latin typeface="Arial" panose="020B0604020202020204" pitchFamily="34" charset="0"/>
          <a:ea typeface="楷体_GB2312" pitchFamily="49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rgbClr val="FFFF00"/>
          </a:solidFill>
          <a:latin typeface="Arial" panose="020B0604020202020204" pitchFamily="34" charset="0"/>
          <a:ea typeface="楷体_GB2312" pitchFamily="49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rgbClr val="FFFF00"/>
          </a:solidFill>
          <a:latin typeface="Arial" panose="020B0604020202020204" pitchFamily="34" charset="0"/>
          <a:ea typeface="楷体_GB2312" pitchFamily="49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rgbClr val="FFFF00"/>
          </a:solidFill>
          <a:latin typeface="Arial" panose="020B0604020202020204" pitchFamily="34" charset="0"/>
          <a:ea typeface="楷体_GB2312" pitchFamily="49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rgbClr val="FFFF00"/>
          </a:solidFill>
          <a:latin typeface="Arial" panose="020B0604020202020204" pitchFamily="34" charset="0"/>
          <a:ea typeface="楷体_GB2312" pitchFamily="49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rgbClr val="FFFF00"/>
          </a:solidFill>
          <a:latin typeface="Arial" panose="020B0604020202020204" pitchFamily="34" charset="0"/>
          <a:ea typeface="楷体_GB2312" pitchFamily="49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rgbClr val="FFFF00"/>
          </a:solidFill>
          <a:latin typeface="Arial" panose="020B0604020202020204" pitchFamily="34" charset="0"/>
          <a:ea typeface="楷体_GB2312" pitchFamily="49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rgbClr val="FFFF00"/>
          </a:solidFill>
          <a:latin typeface="Arial" panose="020B0604020202020204" pitchFamily="34" charset="0"/>
          <a:ea typeface="楷体_GB2312" pitchFamily="49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slide" Target="slide39.xml"/><Relationship Id="rId6" Type="http://schemas.openxmlformats.org/officeDocument/2006/relationships/slide" Target="slide24.xml"/><Relationship Id="rId5" Type="http://schemas.openxmlformats.org/officeDocument/2006/relationships/image" Target="../media/image7.png"/><Relationship Id="rId4" Type="http://schemas.openxmlformats.org/officeDocument/2006/relationships/slide" Target="slide3.xml"/><Relationship Id="rId3" Type="http://schemas.openxmlformats.org/officeDocument/2006/relationships/image" Target="../media/image6.png"/><Relationship Id="rId2" Type="http://schemas.openxmlformats.org/officeDocument/2006/relationships/slide" Target="slide2.xml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2.jpeg"/><Relationship Id="rId3" Type="http://schemas.openxmlformats.org/officeDocument/2006/relationships/image" Target="../media/image8.png"/><Relationship Id="rId2" Type="http://schemas.openxmlformats.org/officeDocument/2006/relationships/image" Target="../media/image11.w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2.jpeg"/><Relationship Id="rId5" Type="http://schemas.openxmlformats.org/officeDocument/2006/relationships/image" Target="../media/image14.wmf"/><Relationship Id="rId4" Type="http://schemas.openxmlformats.org/officeDocument/2006/relationships/oleObject" Target="../embeddings/oleObject3.bin"/><Relationship Id="rId3" Type="http://schemas.openxmlformats.org/officeDocument/2006/relationships/image" Target="../media/image8.png"/><Relationship Id="rId2" Type="http://schemas.openxmlformats.org/officeDocument/2006/relationships/image" Target="../media/image13.wmf"/><Relationship Id="rId1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15.wmf"/><Relationship Id="rId1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0.png"/><Relationship Id="rId3" Type="http://schemas.openxmlformats.org/officeDocument/2006/relationships/image" Target="../media/image8.png"/><Relationship Id="rId2" Type="http://schemas.openxmlformats.org/officeDocument/2006/relationships/image" Target="../media/image16.wmf"/><Relationship Id="rId1" Type="http://schemas.openxmlformats.org/officeDocument/2006/relationships/oleObject" Target="../embeddings/oleObject5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20.wmf"/><Relationship Id="rId7" Type="http://schemas.openxmlformats.org/officeDocument/2006/relationships/oleObject" Target="../embeddings/oleObject9.bin"/><Relationship Id="rId6" Type="http://schemas.openxmlformats.org/officeDocument/2006/relationships/image" Target="../media/image19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8.w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17.wmf"/><Relationship Id="rId11" Type="http://schemas.openxmlformats.org/officeDocument/2006/relationships/vmlDrawing" Target="../drawings/vmlDrawing5.vml"/><Relationship Id="rId10" Type="http://schemas.openxmlformats.org/officeDocument/2006/relationships/slideLayout" Target="../slideLayouts/slideLayout7.xml"/><Relationship Id="rId1" Type="http://schemas.openxmlformats.org/officeDocument/2006/relationships/oleObject" Target="../embeddings/oleObject6.bin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png"/><Relationship Id="rId3" Type="http://schemas.openxmlformats.org/officeDocument/2006/relationships/image" Target="../media/image10.png"/><Relationship Id="rId2" Type="http://schemas.openxmlformats.org/officeDocument/2006/relationships/image" Target="../media/image21.wmf"/><Relationship Id="rId1" Type="http://schemas.openxmlformats.org/officeDocument/2006/relationships/oleObject" Target="../embeddings/oleObject10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7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2.w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10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8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0.png"/><Relationship Id="rId3" Type="http://schemas.openxmlformats.org/officeDocument/2006/relationships/image" Target="../media/image8.png"/><Relationship Id="rId2" Type="http://schemas.openxmlformats.org/officeDocument/2006/relationships/image" Target="../media/image24.wmf"/><Relationship Id="rId1" Type="http://schemas.openxmlformats.org/officeDocument/2006/relationships/oleObject" Target="../embeddings/oleObject13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wmf"/><Relationship Id="rId8" Type="http://schemas.openxmlformats.org/officeDocument/2006/relationships/oleObject" Target="../embeddings/oleObject17.bin"/><Relationship Id="rId7" Type="http://schemas.openxmlformats.org/officeDocument/2006/relationships/image" Target="../media/image27.wmf"/><Relationship Id="rId6" Type="http://schemas.openxmlformats.org/officeDocument/2006/relationships/oleObject" Target="../embeddings/oleObject16.bin"/><Relationship Id="rId5" Type="http://schemas.openxmlformats.org/officeDocument/2006/relationships/image" Target="../media/image8.png"/><Relationship Id="rId4" Type="http://schemas.openxmlformats.org/officeDocument/2006/relationships/image" Target="../media/image26.wmf"/><Relationship Id="rId3" Type="http://schemas.openxmlformats.org/officeDocument/2006/relationships/oleObject" Target="../embeddings/oleObject15.bin"/><Relationship Id="rId2" Type="http://schemas.openxmlformats.org/officeDocument/2006/relationships/image" Target="../media/image25.wmf"/><Relationship Id="rId11" Type="http://schemas.openxmlformats.org/officeDocument/2006/relationships/vmlDrawing" Target="../drawings/vmlDrawing9.vml"/><Relationship Id="rId10" Type="http://schemas.openxmlformats.org/officeDocument/2006/relationships/slideLayout" Target="../slideLayouts/slideLayout7.xml"/><Relationship Id="rId1" Type="http://schemas.openxmlformats.org/officeDocument/2006/relationships/oleObject" Target="../embeddings/oleObject14.bin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0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9.wmf"/><Relationship Id="rId3" Type="http://schemas.openxmlformats.org/officeDocument/2006/relationships/oleObject" Target="../embeddings/oleObject18.bin"/><Relationship Id="rId2" Type="http://schemas.openxmlformats.org/officeDocument/2006/relationships/image" Target="../media/image10.png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1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31.wmf"/><Relationship Id="rId3" Type="http://schemas.openxmlformats.org/officeDocument/2006/relationships/oleObject" Target="../embeddings/oleObject20.bin"/><Relationship Id="rId2" Type="http://schemas.openxmlformats.org/officeDocument/2006/relationships/image" Target="../media/image30.wmf"/><Relationship Id="rId1" Type="http://schemas.openxmlformats.org/officeDocument/2006/relationships/oleObject" Target="../embeddings/oleObject19.bin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2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33.wmf"/><Relationship Id="rId3" Type="http://schemas.openxmlformats.org/officeDocument/2006/relationships/oleObject" Target="../embeddings/oleObject22.bin"/><Relationship Id="rId2" Type="http://schemas.openxmlformats.org/officeDocument/2006/relationships/image" Target="../media/image32.wmf"/><Relationship Id="rId1" Type="http://schemas.openxmlformats.org/officeDocument/2006/relationships/oleObject" Target="../embeddings/oleObject21.bin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3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png"/><Relationship Id="rId3" Type="http://schemas.openxmlformats.org/officeDocument/2006/relationships/image" Target="../media/image35.jpeg"/><Relationship Id="rId2" Type="http://schemas.openxmlformats.org/officeDocument/2006/relationships/image" Target="../media/image34.wmf"/><Relationship Id="rId1" Type="http://schemas.openxmlformats.org/officeDocument/2006/relationships/oleObject" Target="../embeddings/oleObject23.bin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4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36.wmf"/><Relationship Id="rId1" Type="http://schemas.openxmlformats.org/officeDocument/2006/relationships/oleObject" Target="../embeddings/oleObject24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9.bin"/><Relationship Id="rId8" Type="http://schemas.openxmlformats.org/officeDocument/2006/relationships/image" Target="../media/image40.wmf"/><Relationship Id="rId7" Type="http://schemas.openxmlformats.org/officeDocument/2006/relationships/oleObject" Target="../embeddings/oleObject28.bin"/><Relationship Id="rId6" Type="http://schemas.openxmlformats.org/officeDocument/2006/relationships/image" Target="../media/image39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38.wmf"/><Relationship Id="rId3" Type="http://schemas.openxmlformats.org/officeDocument/2006/relationships/oleObject" Target="../embeddings/oleObject26.bin"/><Relationship Id="rId2" Type="http://schemas.openxmlformats.org/officeDocument/2006/relationships/image" Target="../media/image37.wmf"/><Relationship Id="rId15" Type="http://schemas.openxmlformats.org/officeDocument/2006/relationships/vmlDrawing" Target="../drawings/vmlDrawing15.v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8.png"/><Relationship Id="rId12" Type="http://schemas.openxmlformats.org/officeDocument/2006/relationships/image" Target="../media/image42.wmf"/><Relationship Id="rId11" Type="http://schemas.openxmlformats.org/officeDocument/2006/relationships/oleObject" Target="../embeddings/oleObject30.bin"/><Relationship Id="rId10" Type="http://schemas.openxmlformats.org/officeDocument/2006/relationships/image" Target="../media/image41.wmf"/><Relationship Id="rId1" Type="http://schemas.openxmlformats.org/officeDocument/2006/relationships/oleObject" Target="../embeddings/oleObject25.bin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6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3.emf"/><Relationship Id="rId3" Type="http://schemas.openxmlformats.org/officeDocument/2006/relationships/oleObject" Target="../embeddings/oleObject31.bin"/><Relationship Id="rId2" Type="http://schemas.openxmlformats.org/officeDocument/2006/relationships/image" Target="../media/image9.jpeg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4.jpeg"/><Relationship Id="rId1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5.jpeg"/><Relationship Id="rId1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6.jpeg"/><Relationship Id="rId1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7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47.emf"/><Relationship Id="rId1" Type="http://schemas.openxmlformats.org/officeDocument/2006/relationships/oleObject" Target="../embeddings/oleObject32.bin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8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2.jpeg"/><Relationship Id="rId3" Type="http://schemas.openxmlformats.org/officeDocument/2006/relationships/image" Target="../media/image8.png"/><Relationship Id="rId2" Type="http://schemas.openxmlformats.org/officeDocument/2006/relationships/image" Target="../media/image48.wmf"/><Relationship Id="rId1" Type="http://schemas.openxmlformats.org/officeDocument/2006/relationships/oleObject" Target="../embeddings/oleObject33.bin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9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0.wmf"/><Relationship Id="rId4" Type="http://schemas.openxmlformats.org/officeDocument/2006/relationships/oleObject" Target="../embeddings/oleObject35.bin"/><Relationship Id="rId3" Type="http://schemas.openxmlformats.org/officeDocument/2006/relationships/image" Target="../media/image8.png"/><Relationship Id="rId2" Type="http://schemas.openxmlformats.org/officeDocument/2006/relationships/image" Target="../media/image49.wmf"/><Relationship Id="rId1" Type="http://schemas.openxmlformats.org/officeDocument/2006/relationships/oleObject" Target="../embeddings/oleObject34.bin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0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2.jpeg"/><Relationship Id="rId3" Type="http://schemas.openxmlformats.org/officeDocument/2006/relationships/image" Target="../media/image8.png"/><Relationship Id="rId2" Type="http://schemas.openxmlformats.org/officeDocument/2006/relationships/image" Target="../media/image43.emf"/><Relationship Id="rId1" Type="http://schemas.openxmlformats.org/officeDocument/2006/relationships/oleObject" Target="../embeddings/oleObject36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1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43.emf"/><Relationship Id="rId4" Type="http://schemas.openxmlformats.org/officeDocument/2006/relationships/oleObject" Target="../embeddings/oleObject38.bin"/><Relationship Id="rId3" Type="http://schemas.openxmlformats.org/officeDocument/2006/relationships/image" Target="../media/image12.jpeg"/><Relationship Id="rId2" Type="http://schemas.openxmlformats.org/officeDocument/2006/relationships/image" Target="../media/image51.wmf"/><Relationship Id="rId1" Type="http://schemas.openxmlformats.org/officeDocument/2006/relationships/oleObject" Target="../embeddings/oleObject37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2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43.emf"/><Relationship Id="rId3" Type="http://schemas.openxmlformats.org/officeDocument/2006/relationships/oleObject" Target="../embeddings/oleObject40.bin"/><Relationship Id="rId2" Type="http://schemas.openxmlformats.org/officeDocument/2006/relationships/image" Target="../media/image52.wmf"/><Relationship Id="rId1" Type="http://schemas.openxmlformats.org/officeDocument/2006/relationships/oleObject" Target="../embeddings/oleObject39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0.png"/><Relationship Id="rId7" Type="http://schemas.openxmlformats.org/officeDocument/2006/relationships/image" Target="../media/image55.wmf"/><Relationship Id="rId6" Type="http://schemas.openxmlformats.org/officeDocument/2006/relationships/oleObject" Target="../embeddings/oleObject43.bin"/><Relationship Id="rId5" Type="http://schemas.openxmlformats.org/officeDocument/2006/relationships/image" Target="../media/image54.wmf"/><Relationship Id="rId4" Type="http://schemas.openxmlformats.org/officeDocument/2006/relationships/oleObject" Target="../embeddings/oleObject42.bin"/><Relationship Id="rId3" Type="http://schemas.openxmlformats.org/officeDocument/2006/relationships/image" Target="../media/image8.png"/><Relationship Id="rId2" Type="http://schemas.openxmlformats.org/officeDocument/2006/relationships/image" Target="../media/image53.wmf"/><Relationship Id="rId10" Type="http://schemas.openxmlformats.org/officeDocument/2006/relationships/vmlDrawing" Target="../drawings/vmlDrawing23.vml"/><Relationship Id="rId1" Type="http://schemas.openxmlformats.org/officeDocument/2006/relationships/oleObject" Target="../embeddings/oleObject41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4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57.w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56.wmf"/><Relationship Id="rId3" Type="http://schemas.openxmlformats.org/officeDocument/2006/relationships/oleObject" Target="../embeddings/oleObject44.bin"/><Relationship Id="rId2" Type="http://schemas.openxmlformats.org/officeDocument/2006/relationships/image" Target="../media/image10.png"/><Relationship Id="rId1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5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0.png"/><Relationship Id="rId3" Type="http://schemas.openxmlformats.org/officeDocument/2006/relationships/image" Target="../media/image58.wmf"/><Relationship Id="rId2" Type="http://schemas.openxmlformats.org/officeDocument/2006/relationships/oleObject" Target="../embeddings/oleObject46.bin"/><Relationship Id="rId1" Type="http://schemas.openxmlformats.org/officeDocument/2006/relationships/image" Target="../media/image8.png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image" Target="../media/image62.wmf"/><Relationship Id="rId8" Type="http://schemas.openxmlformats.org/officeDocument/2006/relationships/oleObject" Target="../embeddings/oleObject50.bin"/><Relationship Id="rId7" Type="http://schemas.openxmlformats.org/officeDocument/2006/relationships/image" Target="../media/image61.wmf"/><Relationship Id="rId6" Type="http://schemas.openxmlformats.org/officeDocument/2006/relationships/oleObject" Target="../embeddings/oleObject49.bin"/><Relationship Id="rId5" Type="http://schemas.openxmlformats.org/officeDocument/2006/relationships/image" Target="../media/image8.png"/><Relationship Id="rId4" Type="http://schemas.openxmlformats.org/officeDocument/2006/relationships/image" Target="../media/image60.wmf"/><Relationship Id="rId3" Type="http://schemas.openxmlformats.org/officeDocument/2006/relationships/oleObject" Target="../embeddings/oleObject48.bin"/><Relationship Id="rId2" Type="http://schemas.openxmlformats.org/officeDocument/2006/relationships/image" Target="../media/image59.wmf"/><Relationship Id="rId11" Type="http://schemas.openxmlformats.org/officeDocument/2006/relationships/vmlDrawing" Target="../drawings/vmlDrawing26.vml"/><Relationship Id="rId10" Type="http://schemas.openxmlformats.org/officeDocument/2006/relationships/slideLayout" Target="../slideLayouts/slideLayout7.xml"/><Relationship Id="rId1" Type="http://schemas.openxmlformats.org/officeDocument/2006/relationships/oleObject" Target="../embeddings/oleObject47.bin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7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0.png"/><Relationship Id="rId3" Type="http://schemas.openxmlformats.org/officeDocument/2006/relationships/image" Target="../media/image8.png"/><Relationship Id="rId2" Type="http://schemas.openxmlformats.org/officeDocument/2006/relationships/image" Target="../media/image63.wmf"/><Relationship Id="rId1" Type="http://schemas.openxmlformats.org/officeDocument/2006/relationships/oleObject" Target="../embeddings/oleObject51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8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4.emf"/><Relationship Id="rId5" Type="http://schemas.openxmlformats.org/officeDocument/2006/relationships/oleObject" Target="../embeddings/oleObject54.bin"/><Relationship Id="rId4" Type="http://schemas.openxmlformats.org/officeDocument/2006/relationships/oleObject" Target="../embeddings/oleObject53.bin"/><Relationship Id="rId3" Type="http://schemas.openxmlformats.org/officeDocument/2006/relationships/image" Target="../media/image43.emf"/><Relationship Id="rId2" Type="http://schemas.openxmlformats.org/officeDocument/2006/relationships/oleObject" Target="../embeddings/oleObject52.bin"/><Relationship Id="rId1" Type="http://schemas.openxmlformats.org/officeDocument/2006/relationships/image" Target="../media/image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5.jpeg"/><Relationship Id="rId1" Type="http://schemas.openxmlformats.org/officeDocument/2006/relationships/image" Target="../media/image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5.jpeg"/><Relationship Id="rId1" Type="http://schemas.openxmlformats.org/officeDocument/2006/relationships/image" Target="../media/image8.png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67.jpeg"/><Relationship Id="rId4" Type="http://schemas.openxmlformats.org/officeDocument/2006/relationships/hyperlink" Target="http://image.baidu.com/i?ct=503316480&amp;z=50632201&amp;tn=baiduimagedetail&amp;word=&#30005;&#25239;&#22120;&amp;in=14" TargetMode="External"/><Relationship Id="rId3" Type="http://schemas.openxmlformats.org/officeDocument/2006/relationships/image" Target="../media/image66.jpeg"/><Relationship Id="rId2" Type="http://schemas.openxmlformats.org/officeDocument/2006/relationships/hyperlink" Target="http://www.cxon.com/offer/offer3.asp?type=&#20379;&#24212;&amp;id=20&amp;Pagno=35" TargetMode="External"/><Relationship Id="rId1" Type="http://schemas.openxmlformats.org/officeDocument/2006/relationships/image" Target="../media/image8.png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image" Target="../media/image71.wmf"/><Relationship Id="rId8" Type="http://schemas.openxmlformats.org/officeDocument/2006/relationships/oleObject" Target="../embeddings/oleObject58.bin"/><Relationship Id="rId7" Type="http://schemas.openxmlformats.org/officeDocument/2006/relationships/image" Target="../media/image70.wmf"/><Relationship Id="rId6" Type="http://schemas.openxmlformats.org/officeDocument/2006/relationships/oleObject" Target="../embeddings/oleObject57.bin"/><Relationship Id="rId5" Type="http://schemas.openxmlformats.org/officeDocument/2006/relationships/image" Target="../media/image69.wmf"/><Relationship Id="rId4" Type="http://schemas.openxmlformats.org/officeDocument/2006/relationships/oleObject" Target="../embeddings/oleObject56.bin"/><Relationship Id="rId3" Type="http://schemas.openxmlformats.org/officeDocument/2006/relationships/image" Target="../media/image68.wmf"/><Relationship Id="rId2" Type="http://schemas.openxmlformats.org/officeDocument/2006/relationships/oleObject" Target="../embeddings/oleObject55.bin"/><Relationship Id="rId11" Type="http://schemas.openxmlformats.org/officeDocument/2006/relationships/vmlDrawing" Target="../drawings/vmlDrawing29.v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0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2.wmf"/><Relationship Id="rId2" Type="http://schemas.openxmlformats.org/officeDocument/2006/relationships/oleObject" Target="../embeddings/oleObject59.bin"/><Relationship Id="rId1" Type="http://schemas.openxmlformats.org/officeDocument/2006/relationships/image" Target="../media/image8.png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image" Target="../media/image76.wmf"/><Relationship Id="rId8" Type="http://schemas.openxmlformats.org/officeDocument/2006/relationships/oleObject" Target="../embeddings/oleObject63.bin"/><Relationship Id="rId7" Type="http://schemas.openxmlformats.org/officeDocument/2006/relationships/image" Target="../media/image75.wmf"/><Relationship Id="rId6" Type="http://schemas.openxmlformats.org/officeDocument/2006/relationships/oleObject" Target="../embeddings/oleObject62.bin"/><Relationship Id="rId5" Type="http://schemas.openxmlformats.org/officeDocument/2006/relationships/image" Target="../media/image74.wmf"/><Relationship Id="rId4" Type="http://schemas.openxmlformats.org/officeDocument/2006/relationships/oleObject" Target="../embeddings/oleObject61.bin"/><Relationship Id="rId3" Type="http://schemas.openxmlformats.org/officeDocument/2006/relationships/image" Target="../media/image8.png"/><Relationship Id="rId2" Type="http://schemas.openxmlformats.org/officeDocument/2006/relationships/image" Target="../media/image73.wmf"/><Relationship Id="rId13" Type="http://schemas.openxmlformats.org/officeDocument/2006/relationships/vmlDrawing" Target="../drawings/vmlDrawing31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77.wmf"/><Relationship Id="rId10" Type="http://schemas.openxmlformats.org/officeDocument/2006/relationships/oleObject" Target="../embeddings/oleObject64.bin"/><Relationship Id="rId1" Type="http://schemas.openxmlformats.org/officeDocument/2006/relationships/oleObject" Target="../embeddings/oleObject60.bin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image" Target="../media/image81.wmf"/><Relationship Id="rId8" Type="http://schemas.openxmlformats.org/officeDocument/2006/relationships/oleObject" Target="../embeddings/oleObject68.bin"/><Relationship Id="rId7" Type="http://schemas.openxmlformats.org/officeDocument/2006/relationships/image" Target="../media/image80.wmf"/><Relationship Id="rId6" Type="http://schemas.openxmlformats.org/officeDocument/2006/relationships/oleObject" Target="../embeddings/oleObject67.bin"/><Relationship Id="rId5" Type="http://schemas.openxmlformats.org/officeDocument/2006/relationships/image" Target="../media/image79.wmf"/><Relationship Id="rId4" Type="http://schemas.openxmlformats.org/officeDocument/2006/relationships/oleObject" Target="../embeddings/oleObject66.bin"/><Relationship Id="rId3" Type="http://schemas.openxmlformats.org/officeDocument/2006/relationships/image" Target="../media/image78.wmf"/><Relationship Id="rId2" Type="http://schemas.openxmlformats.org/officeDocument/2006/relationships/oleObject" Target="../embeddings/oleObject65.bin"/><Relationship Id="rId13" Type="http://schemas.openxmlformats.org/officeDocument/2006/relationships/vmlDrawing" Target="../drawings/vmlDrawing32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82.wmf"/><Relationship Id="rId10" Type="http://schemas.openxmlformats.org/officeDocument/2006/relationships/oleObject" Target="../embeddings/oleObject69.bin"/><Relationship Id="rId1" Type="http://schemas.openxmlformats.org/officeDocument/2006/relationships/image" Target="../media/image8.png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image" Target="../media/image84.wmf"/><Relationship Id="rId8" Type="http://schemas.openxmlformats.org/officeDocument/2006/relationships/oleObject" Target="../embeddings/oleObject73.bin"/><Relationship Id="rId7" Type="http://schemas.openxmlformats.org/officeDocument/2006/relationships/image" Target="../media/image83.wmf"/><Relationship Id="rId6" Type="http://schemas.openxmlformats.org/officeDocument/2006/relationships/oleObject" Target="../embeddings/oleObject72.bin"/><Relationship Id="rId5" Type="http://schemas.openxmlformats.org/officeDocument/2006/relationships/image" Target="../media/image79.wmf"/><Relationship Id="rId4" Type="http://schemas.openxmlformats.org/officeDocument/2006/relationships/oleObject" Target="../embeddings/oleObject71.bin"/><Relationship Id="rId3" Type="http://schemas.openxmlformats.org/officeDocument/2006/relationships/image" Target="../media/image78.wmf"/><Relationship Id="rId2" Type="http://schemas.openxmlformats.org/officeDocument/2006/relationships/oleObject" Target="../embeddings/oleObject70.bin"/><Relationship Id="rId13" Type="http://schemas.openxmlformats.org/officeDocument/2006/relationships/vmlDrawing" Target="../drawings/vmlDrawing33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85.wmf"/><Relationship Id="rId10" Type="http://schemas.openxmlformats.org/officeDocument/2006/relationships/oleObject" Target="../embeddings/oleObject74.bin"/><Relationship Id="rId1" Type="http://schemas.openxmlformats.org/officeDocument/2006/relationships/image" Target="../media/image8.png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image" Target="../media/image89.wmf"/><Relationship Id="rId8" Type="http://schemas.openxmlformats.org/officeDocument/2006/relationships/oleObject" Target="../embeddings/oleObject78.bin"/><Relationship Id="rId7" Type="http://schemas.openxmlformats.org/officeDocument/2006/relationships/image" Target="../media/image88.wmf"/><Relationship Id="rId6" Type="http://schemas.openxmlformats.org/officeDocument/2006/relationships/oleObject" Target="../embeddings/oleObject77.bin"/><Relationship Id="rId5" Type="http://schemas.openxmlformats.org/officeDocument/2006/relationships/image" Target="../media/image87.wmf"/><Relationship Id="rId4" Type="http://schemas.openxmlformats.org/officeDocument/2006/relationships/oleObject" Target="../embeddings/oleObject76.bin"/><Relationship Id="rId3" Type="http://schemas.openxmlformats.org/officeDocument/2006/relationships/image" Target="../media/image8.png"/><Relationship Id="rId2" Type="http://schemas.openxmlformats.org/officeDocument/2006/relationships/image" Target="../media/image86.wmf"/><Relationship Id="rId11" Type="http://schemas.openxmlformats.org/officeDocument/2006/relationships/vmlDrawing" Target="../drawings/vmlDrawing34.vml"/><Relationship Id="rId10" Type="http://schemas.openxmlformats.org/officeDocument/2006/relationships/slideLayout" Target="../slideLayouts/slideLayout7.xml"/><Relationship Id="rId1" Type="http://schemas.openxmlformats.org/officeDocument/2006/relationships/oleObject" Target="../embeddings/oleObject75.bin"/></Relationships>
</file>

<file path=ppt/slides/_rels/slide45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35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1.wmf"/><Relationship Id="rId4" Type="http://schemas.openxmlformats.org/officeDocument/2006/relationships/oleObject" Target="../embeddings/oleObject80.bin"/><Relationship Id="rId3" Type="http://schemas.openxmlformats.org/officeDocument/2006/relationships/image" Target="../media/image8.png"/><Relationship Id="rId2" Type="http://schemas.openxmlformats.org/officeDocument/2006/relationships/image" Target="../media/image90.wmf"/><Relationship Id="rId1" Type="http://schemas.openxmlformats.org/officeDocument/2006/relationships/oleObject" Target="../embeddings/oleObject79.bin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image" Target="../media/image95.wmf"/><Relationship Id="rId8" Type="http://schemas.openxmlformats.org/officeDocument/2006/relationships/oleObject" Target="../embeddings/oleObject84.bin"/><Relationship Id="rId7" Type="http://schemas.openxmlformats.org/officeDocument/2006/relationships/image" Target="../media/image94.wmf"/><Relationship Id="rId6" Type="http://schemas.openxmlformats.org/officeDocument/2006/relationships/oleObject" Target="../embeddings/oleObject83.bin"/><Relationship Id="rId5" Type="http://schemas.openxmlformats.org/officeDocument/2006/relationships/image" Target="../media/image93.wmf"/><Relationship Id="rId4" Type="http://schemas.openxmlformats.org/officeDocument/2006/relationships/oleObject" Target="../embeddings/oleObject82.bin"/><Relationship Id="rId3" Type="http://schemas.openxmlformats.org/officeDocument/2006/relationships/image" Target="../media/image8.png"/><Relationship Id="rId2" Type="http://schemas.openxmlformats.org/officeDocument/2006/relationships/image" Target="../media/image92.wmf"/><Relationship Id="rId13" Type="http://schemas.openxmlformats.org/officeDocument/2006/relationships/vmlDrawing" Target="../drawings/vmlDrawing36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96.wmf"/><Relationship Id="rId10" Type="http://schemas.openxmlformats.org/officeDocument/2006/relationships/oleObject" Target="../embeddings/oleObject85.bin"/><Relationship Id="rId1" Type="http://schemas.openxmlformats.org/officeDocument/2006/relationships/oleObject" Target="../embeddings/oleObject81.bin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37.v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99.wmf"/><Relationship Id="rId6" Type="http://schemas.openxmlformats.org/officeDocument/2006/relationships/oleObject" Target="../embeddings/oleObject88.bin"/><Relationship Id="rId5" Type="http://schemas.openxmlformats.org/officeDocument/2006/relationships/image" Target="../media/image98.wmf"/><Relationship Id="rId4" Type="http://schemas.openxmlformats.org/officeDocument/2006/relationships/oleObject" Target="../embeddings/oleObject87.bin"/><Relationship Id="rId3" Type="http://schemas.openxmlformats.org/officeDocument/2006/relationships/image" Target="../media/image8.png"/><Relationship Id="rId2" Type="http://schemas.openxmlformats.org/officeDocument/2006/relationships/image" Target="../media/image97.wmf"/><Relationship Id="rId1" Type="http://schemas.openxmlformats.org/officeDocument/2006/relationships/oleObject" Target="../embeddings/oleObject86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8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5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8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100.wmf"/><Relationship Id="rId1" Type="http://schemas.openxmlformats.org/officeDocument/2006/relationships/oleObject" Target="../embeddings/oleObject89.bin"/></Relationships>
</file>

<file path=ppt/slides/_rels/slide5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9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101.wmf"/><Relationship Id="rId1" Type="http://schemas.openxmlformats.org/officeDocument/2006/relationships/oleObject" Target="../embeddings/oleObject9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7124" name="文本框 517123"/>
          <p:cNvSpPr txBox="1"/>
          <p:nvPr/>
        </p:nvSpPr>
        <p:spPr>
          <a:xfrm>
            <a:off x="1331913" y="517525"/>
            <a:ext cx="6769100" cy="823913"/>
          </a:xfrm>
          <a:prstGeom prst="rect">
            <a:avLst/>
          </a:prstGeom>
          <a:noFill/>
          <a:ln w="12700">
            <a:noFill/>
          </a:ln>
          <a:effectLst>
            <a:prstShdw prst="shdw17" dist="17961" dir="2699999">
              <a:srgbClr val="000099"/>
            </a:prstShdw>
          </a:effectLst>
        </p:spPr>
        <p:txBody>
          <a:bodyPr anchor="ctr" anchorCtr="0">
            <a:spAutoFit/>
          </a:bodyPr>
          <a:p>
            <a:pPr algn="ctr" eaLnBrk="0" hangingPunct="0"/>
            <a:r>
              <a:rPr lang="zh-CN" altLang="en-US" sz="480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</a:t>
            </a:r>
            <a:r>
              <a:rPr lang="en-US" altLang="zh-CN" sz="480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6</a:t>
            </a:r>
            <a:r>
              <a:rPr lang="zh-CN" altLang="en-US" sz="480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章  储能元件</a:t>
            </a:r>
            <a:endParaRPr lang="zh-CN" altLang="en-US" sz="4800">
              <a:solidFill>
                <a:schemeClr val="tx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517125" name="组合 517124"/>
          <p:cNvGrpSpPr/>
          <p:nvPr/>
        </p:nvGrpSpPr>
        <p:grpSpPr>
          <a:xfrm>
            <a:off x="7596188" y="6021388"/>
            <a:ext cx="1368425" cy="647700"/>
            <a:chOff x="2971" y="3113"/>
            <a:chExt cx="1043" cy="499"/>
          </a:xfrm>
        </p:grpSpPr>
        <p:sp>
          <p:nvSpPr>
            <p:cNvPr id="10243" name="椭圆 517125"/>
            <p:cNvSpPr/>
            <p:nvPr/>
          </p:nvSpPr>
          <p:spPr>
            <a:xfrm>
              <a:off x="2971" y="3113"/>
              <a:ext cx="1043" cy="499"/>
            </a:xfrm>
            <a:prstGeom prst="ellipse">
              <a:avLst/>
            </a:prstGeom>
            <a:gradFill rotWithShape="0">
              <a:gsLst>
                <a:gs pos="0">
                  <a:srgbClr val="3366FF"/>
                </a:gs>
                <a:gs pos="50000">
                  <a:srgbClr val="7799FF"/>
                </a:gs>
                <a:gs pos="100000">
                  <a:srgbClr val="3366FF"/>
                </a:gs>
              </a:gsLst>
              <a:lin ang="5400000" scaled="1"/>
              <a:tileRect/>
            </a:gradFill>
            <a:ln w="28575" cap="sq" cmpd="sng">
              <a:solidFill>
                <a:srgbClr val="0033CC"/>
              </a:solidFill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2699999">
                <a:schemeClr val="bg2"/>
              </a:prstShdw>
            </a:effectLst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10244" name="椭圆 517126">
              <a:hlinkClick r:id="" action="ppaction://hlinkshowjump?jump=endshow"/>
            </p:cNvPr>
            <p:cNvSpPr/>
            <p:nvPr/>
          </p:nvSpPr>
          <p:spPr>
            <a:xfrm>
              <a:off x="3016" y="3158"/>
              <a:ext cx="953" cy="408"/>
            </a:xfrm>
            <a:prstGeom prst="ellipse">
              <a:avLst/>
            </a:prstGeom>
            <a:gradFill rotWithShape="0">
              <a:gsLst>
                <a:gs pos="0">
                  <a:srgbClr val="0033CC"/>
                </a:gs>
                <a:gs pos="50000">
                  <a:srgbClr val="87DAED"/>
                </a:gs>
                <a:gs pos="100000">
                  <a:srgbClr val="0033CC"/>
                </a:gs>
              </a:gsLst>
              <a:lin ang="5400000" scaled="1"/>
              <a:tileRect/>
            </a:gradFill>
            <a:ln w="28575" cap="sq" cmpd="sng">
              <a:solidFill>
                <a:srgbClr val="0033CC"/>
              </a:solidFill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2699999">
                <a:schemeClr val="bg2"/>
              </a:prstShdw>
            </a:effectLst>
          </p:spPr>
          <p:txBody>
            <a:bodyPr wrap="none" anchor="ctr" anchorCtr="0"/>
            <a:p>
              <a:pPr algn="ctr"/>
              <a:r>
                <a:rPr lang="zh-CN" altLang="en-US" dirty="0">
                  <a:solidFill>
                    <a:srgbClr val="CC0000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首 页</a:t>
              </a:r>
              <a:endParaRPr lang="zh-CN" altLang="en-US" dirty="0">
                <a:solidFill>
                  <a:srgbClr val="CC0000"/>
                </a:solidFill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</p:grpSp>
      <p:grpSp>
        <p:nvGrpSpPr>
          <p:cNvPr id="517128" name="组合 517127"/>
          <p:cNvGrpSpPr/>
          <p:nvPr/>
        </p:nvGrpSpPr>
        <p:grpSpPr>
          <a:xfrm>
            <a:off x="3203575" y="1844675"/>
            <a:ext cx="3024188" cy="1079500"/>
            <a:chOff x="1928" y="890"/>
            <a:chExt cx="1905" cy="680"/>
          </a:xfrm>
        </p:grpSpPr>
        <p:pic>
          <p:nvPicPr>
            <p:cNvPr id="10246" name="20 517128" descr="GEL Oval MS-blue"/>
            <p:cNvPicPr preferRelativeResize="0"/>
            <p:nvPr/>
          </p:nvPicPr>
          <p:blipFill>
            <a:blip r:embed="rId1"/>
            <a:stretch>
              <a:fillRect/>
            </a:stretch>
          </p:blipFill>
          <p:spPr>
            <a:xfrm>
              <a:off x="1928" y="890"/>
              <a:ext cx="1905" cy="68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47" name="20 517129" descr="GEL Oval MS-yellow">
              <a:hlinkClick r:id="rId2" action="ppaction://hlinksldjump"/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2018" y="981"/>
              <a:ext cx="1715" cy="49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248" name="文本框 517130">
              <a:hlinkClick r:id="rId2" action="ppaction://hlinksldjump"/>
            </p:cNvPr>
            <p:cNvSpPr txBox="1"/>
            <p:nvPr/>
          </p:nvSpPr>
          <p:spPr>
            <a:xfrm>
              <a:off x="2291" y="1062"/>
              <a:ext cx="1238" cy="365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chemeClr val="bg2"/>
              </a:prstShdw>
            </a:effectLst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3200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本章重点</a:t>
              </a:r>
              <a:endParaRPr lang="zh-CN" altLang="en-US" sz="3200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517132" name="组合 517131"/>
          <p:cNvGrpSpPr/>
          <p:nvPr/>
        </p:nvGrpSpPr>
        <p:grpSpPr>
          <a:xfrm>
            <a:off x="1331913" y="3286125"/>
            <a:ext cx="6624637" cy="577850"/>
            <a:chOff x="567" y="1752"/>
            <a:chExt cx="4173" cy="364"/>
          </a:xfrm>
        </p:grpSpPr>
        <p:pic>
          <p:nvPicPr>
            <p:cNvPr id="10250" name="20 517132" descr="GEL Rounded Rectangle aquamarine">
              <a:hlinkClick r:id="rId4" action="ppaction://hlinksldjump"/>
            </p:cNvPr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1338" y="1762"/>
              <a:ext cx="3402" cy="35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251" name="文本框 517133">
              <a:hlinkClick r:id="rId4" action="ppaction://hlinksldjump"/>
            </p:cNvPr>
            <p:cNvSpPr txBox="1"/>
            <p:nvPr/>
          </p:nvSpPr>
          <p:spPr>
            <a:xfrm>
              <a:off x="1520" y="1752"/>
              <a:ext cx="312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电容元件</a:t>
              </a:r>
              <a:endParaRPr lang="zh-CN" altLang="en-US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pic>
          <p:nvPicPr>
            <p:cNvPr id="10252" name="20 517134" descr="GEL Rounded Rectangle aquamarine">
              <a:hlinkClick r:id="rId4" action="ppaction://hlinksldjump"/>
            </p:cNvPr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567" y="1762"/>
              <a:ext cx="862" cy="35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253" name="文本框 517135">
              <a:hlinkClick r:id="rId4" action="ppaction://hlinksldjump"/>
            </p:cNvPr>
            <p:cNvSpPr txBox="1"/>
            <p:nvPr/>
          </p:nvSpPr>
          <p:spPr>
            <a:xfrm>
              <a:off x="794" y="1788"/>
              <a:ext cx="6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rgbClr val="CC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6.1</a:t>
              </a:r>
              <a:endParaRPr lang="en-US" altLang="zh-CN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517137" name="组合 517136"/>
          <p:cNvGrpSpPr/>
          <p:nvPr/>
        </p:nvGrpSpPr>
        <p:grpSpPr>
          <a:xfrm>
            <a:off x="1331913" y="4002088"/>
            <a:ext cx="6624637" cy="577850"/>
            <a:chOff x="567" y="1752"/>
            <a:chExt cx="4173" cy="364"/>
          </a:xfrm>
        </p:grpSpPr>
        <p:pic>
          <p:nvPicPr>
            <p:cNvPr id="10255" name="20 517137" descr="GEL Rounded Rectangle aquamarine">
              <a:hlinkClick r:id="rId6" action="ppaction://hlinksldjump"/>
            </p:cNvPr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1338" y="1762"/>
              <a:ext cx="3402" cy="35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256" name="文本框 517138">
              <a:hlinkClick r:id="rId6" action="ppaction://hlinksldjump"/>
            </p:cNvPr>
            <p:cNvSpPr txBox="1"/>
            <p:nvPr/>
          </p:nvSpPr>
          <p:spPr>
            <a:xfrm>
              <a:off x="1520" y="1752"/>
              <a:ext cx="312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电感元件</a:t>
              </a:r>
              <a:endParaRPr lang="zh-CN" altLang="en-US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pic>
          <p:nvPicPr>
            <p:cNvPr id="10257" name="20 517139" descr="GEL Rounded Rectangle aquamarine">
              <a:hlinkClick r:id="rId6" action="ppaction://hlinksldjump"/>
            </p:cNvPr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567" y="1762"/>
              <a:ext cx="862" cy="35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258" name="文本框 517140">
              <a:hlinkClick r:id="rId6" action="ppaction://hlinksldjump"/>
            </p:cNvPr>
            <p:cNvSpPr txBox="1"/>
            <p:nvPr/>
          </p:nvSpPr>
          <p:spPr>
            <a:xfrm>
              <a:off x="794" y="1788"/>
              <a:ext cx="6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rgbClr val="CC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6.2</a:t>
              </a:r>
              <a:endParaRPr lang="en-US" altLang="zh-CN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517142" name="组合 517141"/>
          <p:cNvGrpSpPr/>
          <p:nvPr/>
        </p:nvGrpSpPr>
        <p:grpSpPr>
          <a:xfrm>
            <a:off x="1331913" y="4722813"/>
            <a:ext cx="6624637" cy="577850"/>
            <a:chOff x="567" y="1752"/>
            <a:chExt cx="4173" cy="364"/>
          </a:xfrm>
        </p:grpSpPr>
        <p:pic>
          <p:nvPicPr>
            <p:cNvPr id="10260" name="20 517142" descr="GEL Rounded Rectangle aquamarine">
              <a:hlinkClick r:id="rId7" action="ppaction://hlinksldjump"/>
            </p:cNvPr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1338" y="1762"/>
              <a:ext cx="3402" cy="35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261" name="文本框 517143">
              <a:hlinkClick r:id="rId7" action="ppaction://hlinksldjump"/>
            </p:cNvPr>
            <p:cNvSpPr txBox="1"/>
            <p:nvPr/>
          </p:nvSpPr>
          <p:spPr>
            <a:xfrm>
              <a:off x="1520" y="1752"/>
              <a:ext cx="312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电容、电感元件的串联与并联</a:t>
              </a:r>
              <a:endParaRPr lang="zh-CN" altLang="en-US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pic>
          <p:nvPicPr>
            <p:cNvPr id="10262" name="20 517144" descr="GEL Rounded Rectangle aquamarine">
              <a:hlinkClick r:id="rId7" action="ppaction://hlinksldjump"/>
            </p:cNvPr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567" y="1762"/>
              <a:ext cx="862" cy="35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263" name="文本框 517145">
              <a:hlinkClick r:id="rId7" action="ppaction://hlinksldjump"/>
            </p:cNvPr>
            <p:cNvSpPr txBox="1"/>
            <p:nvPr/>
          </p:nvSpPr>
          <p:spPr>
            <a:xfrm>
              <a:off x="794" y="1788"/>
              <a:ext cx="6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rgbClr val="CC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6.3</a:t>
              </a:r>
              <a:endParaRPr lang="en-US" altLang="zh-CN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75"/>
                                        <p:tgtEl>
                                          <p:spTgt spid="517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517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517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517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9" presetClass="entr" presetSubtype="0" decel="10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17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17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171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17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17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17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17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712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5074" name="文本框 515073"/>
          <p:cNvSpPr txBox="1"/>
          <p:nvPr/>
        </p:nvSpPr>
        <p:spPr>
          <a:xfrm>
            <a:off x="1042988" y="2278063"/>
            <a:ext cx="6321425" cy="641350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en-US" altLang="zh-CN" sz="3600">
                <a:latin typeface="楷体_GB2312" pitchFamily="49" charset="-122"/>
                <a:ea typeface="楷体_GB2312" pitchFamily="49" charset="-122"/>
              </a:rPr>
              <a:t>1. </a:t>
            </a:r>
            <a:r>
              <a:rPr lang="zh-CN" altLang="en-US" sz="3600" dirty="0">
                <a:latin typeface="楷体_GB2312" pitchFamily="49" charset="-122"/>
                <a:ea typeface="楷体_GB2312" pitchFamily="49" charset="-122"/>
              </a:rPr>
              <a:t>电容元件的特性</a:t>
            </a:r>
            <a:endParaRPr lang="zh-CN" altLang="en-US" sz="240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15075" name="文本框 515074"/>
          <p:cNvSpPr txBox="1"/>
          <p:nvPr/>
        </p:nvSpPr>
        <p:spPr>
          <a:xfrm>
            <a:off x="1042988" y="3789363"/>
            <a:ext cx="6769100" cy="641350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en-US" altLang="zh-CN" sz="3600">
                <a:latin typeface="楷体_GB2312" pitchFamily="49" charset="-122"/>
                <a:ea typeface="楷体_GB2312" pitchFamily="49" charset="-122"/>
              </a:rPr>
              <a:t>3. </a:t>
            </a:r>
            <a:r>
              <a:rPr lang="zh-CN" altLang="en-US" sz="3600" dirty="0">
                <a:latin typeface="楷体_GB2312" pitchFamily="49" charset="-122"/>
                <a:ea typeface="楷体_GB2312" pitchFamily="49" charset="-122"/>
              </a:rPr>
              <a:t>电容、电感的串并联等效</a:t>
            </a:r>
            <a:endParaRPr lang="zh-CN" altLang="en-US" sz="24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15076" name="矩形 515075"/>
          <p:cNvSpPr/>
          <p:nvPr/>
        </p:nvSpPr>
        <p:spPr>
          <a:xfrm>
            <a:off x="855663" y="1052513"/>
            <a:ext cx="2132012" cy="641350"/>
          </a:xfrm>
          <a:prstGeom prst="rect">
            <a:avLst/>
          </a:prstGeom>
          <a:solidFill>
            <a:srgbClr val="FF3300"/>
          </a:solidFill>
          <a:ln w="12700">
            <a:noFill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anchor="t" anchorCtr="0">
            <a:spAutoFit/>
          </a:bodyPr>
          <a:p>
            <a:pPr eaLnBrk="0" hangingPunct="0"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CN" sz="3600" dirty="0">
                <a:latin typeface="楷体_GB2312" pitchFamily="49" charset="-122"/>
                <a:ea typeface="楷体_GB2312" pitchFamily="49" charset="-122"/>
                <a:sym typeface="Monotype Sorts" pitchFamily="2" charset="2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重点</a:t>
            </a:r>
            <a:r>
              <a:rPr lang="zh-CN" altLang="en-US" sz="3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  <a:endParaRPr lang="zh-CN" altLang="en-US" sz="32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15078" name="文本框 515077"/>
          <p:cNvSpPr txBox="1"/>
          <p:nvPr/>
        </p:nvSpPr>
        <p:spPr>
          <a:xfrm>
            <a:off x="1042988" y="3068638"/>
            <a:ext cx="4132262" cy="641350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en-US" altLang="zh-CN" sz="3600">
                <a:latin typeface="楷体_GB2312" pitchFamily="49" charset="-122"/>
                <a:ea typeface="楷体_GB2312" pitchFamily="49" charset="-122"/>
              </a:rPr>
              <a:t>2. </a:t>
            </a:r>
            <a:r>
              <a:rPr lang="zh-CN" altLang="en-US" sz="3600" dirty="0">
                <a:latin typeface="楷体_GB2312" pitchFamily="49" charset="-122"/>
                <a:ea typeface="楷体_GB2312" pitchFamily="49" charset="-122"/>
              </a:rPr>
              <a:t>电感元件的特性</a:t>
            </a:r>
            <a:endParaRPr lang="zh-CN" altLang="en-US" sz="240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11269" name="组合 515081"/>
          <p:cNvGrpSpPr/>
          <p:nvPr/>
        </p:nvGrpSpPr>
        <p:grpSpPr>
          <a:xfrm>
            <a:off x="8316913" y="6445250"/>
            <a:ext cx="792162" cy="366713"/>
            <a:chOff x="4649" y="4020"/>
            <a:chExt cx="499" cy="231"/>
          </a:xfrm>
        </p:grpSpPr>
        <p:pic>
          <p:nvPicPr>
            <p:cNvPr id="11270" name="20 515082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271" name="文本框 515083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300"/>
                                        <p:tgtEl>
                                          <p:spTgt spid="515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5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5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1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15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15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" presetClass="entr" presetSubtype="1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15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15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5074" grpId="0"/>
      <p:bldP spid="515075" grpId="0"/>
      <p:bldP spid="515076" grpId="0" animBg="1"/>
      <p:bldP spid="51507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5874" name="文本框 335873"/>
          <p:cNvSpPr txBox="1"/>
          <p:nvPr/>
        </p:nvSpPr>
        <p:spPr>
          <a:xfrm>
            <a:off x="1042988" y="549275"/>
            <a:ext cx="6624637" cy="701675"/>
          </a:xfrm>
          <a:prstGeom prst="rect">
            <a:avLst/>
          </a:prstGeom>
          <a:noFill/>
          <a:ln w="12700">
            <a:noFill/>
          </a:ln>
          <a:effectLst>
            <a:prstShdw prst="shdw17" dist="17961" dir="2699999">
              <a:srgbClr val="009900"/>
            </a:prstShdw>
          </a:effectLst>
        </p:spPr>
        <p:txBody>
          <a:bodyPr anchor="ctr" anchorCtr="0">
            <a:spAutoFit/>
          </a:bodyPr>
          <a:p>
            <a:pPr algn="ctr" eaLnBrk="0" hangingPunct="0">
              <a:spcBef>
                <a:spcPct val="50000"/>
              </a:spcBef>
            </a:pPr>
            <a:r>
              <a:rPr lang="en-US" altLang="zh-CN" sz="40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6.1 </a:t>
            </a:r>
            <a:r>
              <a:rPr lang="en-US" altLang="zh-CN" sz="4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lang="zh-CN" altLang="en-US" sz="4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电容元件</a:t>
            </a:r>
            <a:endParaRPr lang="zh-CN" altLang="en-US" sz="4000">
              <a:solidFill>
                <a:schemeClr val="tx1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335875" name="文本框 335874"/>
          <p:cNvSpPr txBox="1"/>
          <p:nvPr/>
        </p:nvSpPr>
        <p:spPr>
          <a:xfrm>
            <a:off x="900113" y="1196975"/>
            <a:ext cx="1479550" cy="557213"/>
          </a:xfrm>
          <a:prstGeom prst="rect">
            <a:avLst/>
          </a:prstGeom>
          <a:noFill/>
          <a:ln w="3810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algn="ctr" eaLnBrk="0" hangingPunct="0"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电容器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35876" name="文本框 335875"/>
          <p:cNvSpPr txBox="1"/>
          <p:nvPr/>
        </p:nvSpPr>
        <p:spPr>
          <a:xfrm>
            <a:off x="1187450" y="1196975"/>
            <a:ext cx="7127875" cy="21431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ct val="120000"/>
              </a:lnSpc>
              <a:spcBef>
                <a:spcPct val="50000"/>
              </a:spcBef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      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在外电源作用下，正负电极上分别带上等量异号电荷，撤去电源，电极上的电荷仍可长久地聚集下去，是一种储存电能的部件。</a:t>
            </a:r>
            <a:endParaRPr lang="zh-CN" altLang="en-US" dirty="0"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12292" name="组合 335876"/>
          <p:cNvGrpSpPr/>
          <p:nvPr/>
        </p:nvGrpSpPr>
        <p:grpSpPr>
          <a:xfrm>
            <a:off x="8316913" y="6445250"/>
            <a:ext cx="792162" cy="366713"/>
            <a:chOff x="5193" y="4020"/>
            <a:chExt cx="499" cy="231"/>
          </a:xfrm>
        </p:grpSpPr>
        <p:pic>
          <p:nvPicPr>
            <p:cNvPr id="12293" name="20 335877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294" name="文本框 335878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2295" name="组合 335879"/>
          <p:cNvGrpSpPr/>
          <p:nvPr/>
        </p:nvGrpSpPr>
        <p:grpSpPr>
          <a:xfrm>
            <a:off x="7453313" y="6445250"/>
            <a:ext cx="792162" cy="366713"/>
            <a:chOff x="4649" y="4020"/>
            <a:chExt cx="499" cy="231"/>
          </a:xfrm>
        </p:grpSpPr>
        <p:pic>
          <p:nvPicPr>
            <p:cNvPr id="12296" name="20 335880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297" name="文本框 335881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35883" name="组合 335882"/>
          <p:cNvGrpSpPr/>
          <p:nvPr/>
        </p:nvGrpSpPr>
        <p:grpSpPr>
          <a:xfrm>
            <a:off x="2700338" y="2781300"/>
            <a:ext cx="3341687" cy="2678113"/>
            <a:chOff x="1247" y="2341"/>
            <a:chExt cx="2105" cy="1687"/>
          </a:xfrm>
        </p:grpSpPr>
        <p:sp>
          <p:nvSpPr>
            <p:cNvPr id="12299" name="直接连接符 335883"/>
            <p:cNvSpPr/>
            <p:nvPr/>
          </p:nvSpPr>
          <p:spPr>
            <a:xfrm>
              <a:off x="1937" y="2496"/>
              <a:ext cx="0" cy="951"/>
            </a:xfrm>
            <a:prstGeom prst="line">
              <a:avLst/>
            </a:prstGeom>
            <a:ln w="5715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00" name="直接连接符 335884"/>
            <p:cNvSpPr/>
            <p:nvPr/>
          </p:nvSpPr>
          <p:spPr>
            <a:xfrm>
              <a:off x="2763" y="2496"/>
              <a:ext cx="0" cy="951"/>
            </a:xfrm>
            <a:prstGeom prst="line">
              <a:avLst/>
            </a:prstGeom>
            <a:ln w="5715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01" name="直接连接符 335885"/>
            <p:cNvSpPr/>
            <p:nvPr/>
          </p:nvSpPr>
          <p:spPr>
            <a:xfrm>
              <a:off x="1429" y="2999"/>
              <a:ext cx="508" cy="0"/>
            </a:xfrm>
            <a:prstGeom prst="line">
              <a:avLst/>
            </a:prstGeom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02" name="直接连接符 335886"/>
            <p:cNvSpPr/>
            <p:nvPr/>
          </p:nvSpPr>
          <p:spPr>
            <a:xfrm>
              <a:off x="1429" y="2999"/>
              <a:ext cx="0" cy="671"/>
            </a:xfrm>
            <a:prstGeom prst="line">
              <a:avLst/>
            </a:prstGeom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03" name="直接连接符 335887"/>
            <p:cNvSpPr/>
            <p:nvPr/>
          </p:nvSpPr>
          <p:spPr>
            <a:xfrm>
              <a:off x="1429" y="3670"/>
              <a:ext cx="889" cy="0"/>
            </a:xfrm>
            <a:prstGeom prst="line">
              <a:avLst/>
            </a:prstGeom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04" name="直接连接符 335888"/>
            <p:cNvSpPr/>
            <p:nvPr/>
          </p:nvSpPr>
          <p:spPr>
            <a:xfrm>
              <a:off x="2318" y="3447"/>
              <a:ext cx="0" cy="392"/>
            </a:xfrm>
            <a:prstGeom prst="line">
              <a:avLst/>
            </a:prstGeom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05" name="直接连接符 335889"/>
            <p:cNvSpPr/>
            <p:nvPr/>
          </p:nvSpPr>
          <p:spPr>
            <a:xfrm>
              <a:off x="2445" y="3559"/>
              <a:ext cx="0" cy="168"/>
            </a:xfrm>
            <a:prstGeom prst="line">
              <a:avLst/>
            </a:prstGeom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06" name="直接连接符 335890"/>
            <p:cNvSpPr/>
            <p:nvPr/>
          </p:nvSpPr>
          <p:spPr>
            <a:xfrm>
              <a:off x="2763" y="2999"/>
              <a:ext cx="571" cy="0"/>
            </a:xfrm>
            <a:prstGeom prst="line">
              <a:avLst/>
            </a:prstGeom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07" name="直接连接符 335891"/>
            <p:cNvSpPr/>
            <p:nvPr/>
          </p:nvSpPr>
          <p:spPr>
            <a:xfrm>
              <a:off x="3334" y="2999"/>
              <a:ext cx="0" cy="671"/>
            </a:xfrm>
            <a:prstGeom prst="line">
              <a:avLst/>
            </a:prstGeom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08" name="直接连接符 335892"/>
            <p:cNvSpPr/>
            <p:nvPr/>
          </p:nvSpPr>
          <p:spPr>
            <a:xfrm>
              <a:off x="2445" y="3670"/>
              <a:ext cx="889" cy="0"/>
            </a:xfrm>
            <a:prstGeom prst="line">
              <a:avLst/>
            </a:prstGeom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09" name="文本框 335893"/>
            <p:cNvSpPr txBox="1"/>
            <p:nvPr/>
          </p:nvSpPr>
          <p:spPr>
            <a:xfrm>
              <a:off x="2789" y="2341"/>
              <a:ext cx="381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600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_</a:t>
              </a:r>
              <a:endParaRPr lang="en-US" altLang="zh-CN" sz="3600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12310" name="文本框 335894"/>
            <p:cNvSpPr txBox="1"/>
            <p:nvPr/>
          </p:nvSpPr>
          <p:spPr>
            <a:xfrm>
              <a:off x="1247" y="2478"/>
              <a:ext cx="763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600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+</a:t>
              </a: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 q</a:t>
              </a:r>
              <a:endParaRPr lang="en-US" altLang="zh-CN" sz="3600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12311" name="文本框 335895"/>
            <p:cNvSpPr txBox="1"/>
            <p:nvPr/>
          </p:nvSpPr>
          <p:spPr>
            <a:xfrm>
              <a:off x="2971" y="2478"/>
              <a:ext cx="381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q</a:t>
              </a:r>
              <a:endParaRPr lang="en-US" altLang="zh-CN" b="0" i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12312" name="矩形 335896" descr="信纸"/>
            <p:cNvSpPr/>
            <p:nvPr/>
          </p:nvSpPr>
          <p:spPr>
            <a:xfrm>
              <a:off x="2000" y="2551"/>
              <a:ext cx="699" cy="840"/>
            </a:xfrm>
            <a:prstGeom prst="rect">
              <a:avLst/>
            </a:prstGeom>
            <a:blipFill rotWithShape="1">
              <a:blip r:embed="rId2"/>
            </a:blip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0" hangingPunct="0"/>
              <a:r>
                <a:rPr lang="en-US" altLang="zh-CN" sz="3600" b="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</a:t>
              </a:r>
              <a:endParaRPr lang="en-US" altLang="zh-CN" sz="3600" b="0" dirty="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12313" name="文本框 335897"/>
            <p:cNvSpPr txBox="1"/>
            <p:nvPr/>
          </p:nvSpPr>
          <p:spPr>
            <a:xfrm>
              <a:off x="2426" y="3702"/>
              <a:ext cx="381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endParaRPr lang="en-US" altLang="zh-CN" b="0" i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335899" name="文本框 335898"/>
          <p:cNvSpPr txBox="1"/>
          <p:nvPr/>
        </p:nvSpPr>
        <p:spPr>
          <a:xfrm>
            <a:off x="2171700" y="5445125"/>
            <a:ext cx="6584950" cy="519113"/>
          </a:xfrm>
          <a:prstGeom prst="rect">
            <a:avLst/>
          </a:prstGeom>
          <a:noFill/>
          <a:ln w="28575">
            <a:noFill/>
          </a:ln>
        </p:spPr>
        <p:txBody>
          <a:bodyPr wrap="none" anchor="ctr" anchorCtr="0">
            <a:spAutoFit/>
          </a:bodyPr>
          <a:p>
            <a:pPr algn="ctr" eaLnBrk="0" hangingPunct="0"/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Monotype Sorts" pitchFamily="2" charset="2"/>
              </a:rPr>
              <a:t>电导体由绝缘材料分开就可以产生电容。</a:t>
            </a:r>
            <a:endParaRPr lang="zh-CN" altLang="en-US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335900" name="组合 335899"/>
          <p:cNvGrpSpPr/>
          <p:nvPr/>
        </p:nvGrpSpPr>
        <p:grpSpPr>
          <a:xfrm>
            <a:off x="395288" y="5229225"/>
            <a:ext cx="1644650" cy="850900"/>
            <a:chOff x="385" y="3022"/>
            <a:chExt cx="1036" cy="536"/>
          </a:xfrm>
        </p:grpSpPr>
        <p:pic>
          <p:nvPicPr>
            <p:cNvPr id="12316" name="20 335900" descr="1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317" name="文本框 335901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3200" b="0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注意</a:t>
              </a:r>
              <a:endParaRPr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12318" name="组合 335902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12319" name="20 335903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320" name="文本框 335904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58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58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5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5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1000"/>
                                        <p:tgtEl>
                                          <p:spTgt spid="335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90" fill="hold"/>
                                        <p:tgtEl>
                                          <p:spTgt spid="3358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" fill="hold"/>
                                        <p:tgtEl>
                                          <p:spTgt spid="3358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90"/>
                                        <p:tgtEl>
                                          <p:spTgt spid="335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35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335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5874" grpId="0"/>
      <p:bldP spid="335875" grpId="0" animBg="1"/>
      <p:bldP spid="335876" grpId="1"/>
      <p:bldP spid="33589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6898" name="文本框 336897"/>
          <p:cNvSpPr txBox="1"/>
          <p:nvPr/>
        </p:nvSpPr>
        <p:spPr>
          <a:xfrm>
            <a:off x="684213" y="620713"/>
            <a:ext cx="19431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1. </a:t>
            </a:r>
            <a:r>
              <a:rPr lang="zh-CN" altLang="en-US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定义</a:t>
            </a:r>
            <a:endParaRPr lang="zh-CN" altLang="en-US" sz="32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336899" name="文本框 336898"/>
          <p:cNvSpPr txBox="1"/>
          <p:nvPr/>
        </p:nvSpPr>
        <p:spPr>
          <a:xfrm>
            <a:off x="755650" y="1484313"/>
            <a:ext cx="2087563" cy="557212"/>
          </a:xfrm>
          <a:prstGeom prst="rect">
            <a:avLst/>
          </a:prstGeom>
          <a:noFill/>
          <a:ln w="38100" cap="sq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algn="ctr" eaLnBrk="0" hangingPunct="0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电容元件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336900" name="右箭头 336899"/>
          <p:cNvSpPr/>
          <p:nvPr/>
        </p:nvSpPr>
        <p:spPr>
          <a:xfrm>
            <a:off x="2987675" y="1700213"/>
            <a:ext cx="647700" cy="144462"/>
          </a:xfrm>
          <a:prstGeom prst="rightArrow">
            <a:avLst>
              <a:gd name="adj1" fmla="val 50000"/>
              <a:gd name="adj2" fmla="val 112046"/>
            </a:avLst>
          </a:prstGeom>
          <a:solidFill>
            <a:schemeClr val="hlink"/>
          </a:solidFill>
          <a:ln w="38100" cap="sq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36901" name="矩形 336900"/>
          <p:cNvSpPr/>
          <p:nvPr/>
        </p:nvSpPr>
        <p:spPr>
          <a:xfrm>
            <a:off x="3708400" y="620713"/>
            <a:ext cx="4967288" cy="21431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0" hangingPunct="0">
              <a:lnSpc>
                <a:spcPct val="120000"/>
              </a:lnSpc>
              <a:spcBef>
                <a:spcPct val="50000"/>
              </a:spcBef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储存电能的两端元件。任何时刻其储存的电荷 </a:t>
            </a:r>
            <a:r>
              <a:rPr lang="en-US" altLang="zh-CN" b="0" i="1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en-US" altLang="zh-CN" i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与其两端的电压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b="0" i="1"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能用</a:t>
            </a:r>
            <a:r>
              <a:rPr lang="en-US" altLang="zh-CN" b="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q</a:t>
            </a:r>
            <a:r>
              <a:rPr lang="zh-CN" altLang="en-US" b="0" dirty="0">
                <a:latin typeface="Times New Roman" panose="02020603050405020304" pitchFamily="18" charset="0"/>
                <a:ea typeface="楷体_GB2312" pitchFamily="49" charset="-122"/>
              </a:rPr>
              <a:t>～</a:t>
            </a:r>
            <a:r>
              <a:rPr lang="en-US" altLang="zh-CN" b="0" i="1"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i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平面上的一条曲线来描述。</a:t>
            </a:r>
            <a:endParaRPr lang="zh-CN" altLang="en-US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36902" name="对象 336901"/>
          <p:cNvGraphicFramePr/>
          <p:nvPr/>
        </p:nvGraphicFramePr>
        <p:xfrm>
          <a:off x="1258888" y="2852738"/>
          <a:ext cx="2305050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799465" imgH="228600" progId="Equation.3">
                  <p:embed/>
                </p:oleObj>
              </mc:Choice>
              <mc:Fallback>
                <p:oleObj name="" r:id="rId1" imgW="799465" imgH="228600" progId="Equation.3">
                  <p:embed/>
                  <p:pic>
                    <p:nvPicPr>
                      <p:cNvPr id="0" name="20 307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58888" y="2852738"/>
                        <a:ext cx="2305050" cy="658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6903" name="组合 336902"/>
          <p:cNvGrpSpPr/>
          <p:nvPr/>
        </p:nvGrpSpPr>
        <p:grpSpPr>
          <a:xfrm>
            <a:off x="4643438" y="2852738"/>
            <a:ext cx="3168650" cy="3024187"/>
            <a:chOff x="3696" y="2296"/>
            <a:chExt cx="1542" cy="1542"/>
          </a:xfrm>
        </p:grpSpPr>
        <p:sp>
          <p:nvSpPr>
            <p:cNvPr id="13319" name="文本框 336903"/>
            <p:cNvSpPr txBox="1"/>
            <p:nvPr/>
          </p:nvSpPr>
          <p:spPr>
            <a:xfrm>
              <a:off x="4921" y="2886"/>
              <a:ext cx="317" cy="265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endParaRPr lang="en-US" altLang="zh-CN" sz="2400" b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13320" name="直接连接符 336904"/>
            <p:cNvSpPr/>
            <p:nvPr/>
          </p:nvSpPr>
          <p:spPr>
            <a:xfrm>
              <a:off x="3787" y="3067"/>
              <a:ext cx="1134" cy="0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3321" name="直接连接符 336905"/>
            <p:cNvSpPr/>
            <p:nvPr/>
          </p:nvSpPr>
          <p:spPr>
            <a:xfrm>
              <a:off x="4286" y="2432"/>
              <a:ext cx="46" cy="1406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13322" name="文本框 336906"/>
            <p:cNvSpPr txBox="1"/>
            <p:nvPr/>
          </p:nvSpPr>
          <p:spPr>
            <a:xfrm>
              <a:off x="4286" y="2296"/>
              <a:ext cx="317" cy="265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q</a:t>
              </a:r>
              <a:endParaRPr lang="en-US" altLang="zh-CN" sz="2400" b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13323" name="任意多边形 336907"/>
            <p:cNvSpPr/>
            <p:nvPr/>
          </p:nvSpPr>
          <p:spPr>
            <a:xfrm>
              <a:off x="3696" y="2477"/>
              <a:ext cx="1179" cy="862"/>
            </a:xfrm>
            <a:custGeom>
              <a:avLst/>
              <a:gdLst/>
              <a:ahLst/>
              <a:cxnLst/>
              <a:pathLst>
                <a:path w="1043" h="726">
                  <a:moveTo>
                    <a:pt x="0" y="726"/>
                  </a:moveTo>
                  <a:cubicBezTo>
                    <a:pt x="140" y="718"/>
                    <a:pt x="280" y="711"/>
                    <a:pt x="454" y="590"/>
                  </a:cubicBezTo>
                  <a:cubicBezTo>
                    <a:pt x="628" y="469"/>
                    <a:pt x="945" y="98"/>
                    <a:pt x="1043" y="0"/>
                  </a:cubicBezTo>
                </a:path>
              </a:pathLst>
            </a:custGeom>
            <a:noFill/>
            <a:ln w="38100" cap="sq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3324" name="组合 336908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3325" name="20 336909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326" name="文本框 336910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3327" name="组合 336911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3328" name="20 336912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329" name="文本框 336913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336915" name="下弧形箭头 336914" descr="羊皮纸"/>
          <p:cNvSpPr/>
          <p:nvPr/>
        </p:nvSpPr>
        <p:spPr>
          <a:xfrm rot="1635320">
            <a:off x="1908175" y="4221163"/>
            <a:ext cx="2206625" cy="1258887"/>
          </a:xfrm>
          <a:prstGeom prst="curvedUpArrow">
            <a:avLst>
              <a:gd name="adj1" fmla="val 18226"/>
              <a:gd name="adj2" fmla="val 70113"/>
              <a:gd name="adj3" fmla="val 33324"/>
            </a:avLst>
          </a:prstGeom>
          <a:blipFill rotWithShape="1">
            <a:blip r:embed="rId4"/>
          </a:blipFill>
          <a:ln w="28575">
            <a:noFill/>
          </a:ln>
          <a:effectLst>
            <a:prstShdw prst="shdw17" dist="17961" dir="2699999">
              <a:schemeClr val="bg2"/>
            </a:prstShdw>
          </a:effectLst>
        </p:spPr>
        <p:txBody>
          <a:bodyPr anchor="t" anchorCtr="0">
            <a:spAutoFit/>
          </a:bodyPr>
          <a:p>
            <a:pPr algn="ctr" eaLnBrk="0" hangingPunct="0"/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库伏</a:t>
            </a:r>
            <a:endParaRPr lang="zh-CN" altLang="en-US" dirty="0">
              <a:solidFill>
                <a:srgbClr val="FF9900"/>
              </a:solidFill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  <a:p>
            <a:pPr algn="ctr" eaLnBrk="0" hangingPunct="0"/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特性</a:t>
            </a:r>
            <a:endParaRPr lang="zh-CN" altLang="en-US">
              <a:solidFill>
                <a:srgbClr val="FF9900"/>
              </a:solidFill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</p:txBody>
      </p:sp>
      <p:sp>
        <p:nvSpPr>
          <p:cNvPr id="336916" name="文本框 336915"/>
          <p:cNvSpPr txBox="1"/>
          <p:nvPr/>
        </p:nvSpPr>
        <p:spPr>
          <a:xfrm>
            <a:off x="5867400" y="4365625"/>
            <a:ext cx="360363" cy="1160463"/>
          </a:xfrm>
          <a:prstGeom prst="rect">
            <a:avLst/>
          </a:prstGeom>
          <a:noFill/>
          <a:ln w="28575">
            <a:noFill/>
          </a:ln>
          <a:effectLst>
            <a:prstShdw prst="shdw17" dist="17961" dir="2699999">
              <a:schemeClr val="bg2"/>
            </a:prstShdw>
          </a:effectLst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o</a:t>
            </a:r>
            <a:endParaRPr lang="en-US" altLang="zh-CN" b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spcBef>
                <a:spcPct val="50000"/>
              </a:spcBef>
            </a:pPr>
            <a:endParaRPr lang="en-US" altLang="zh-CN" b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13332" name="组合 336919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13333" name="20 336920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334" name="文本框 336921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6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6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6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336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5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90" fill="hold"/>
                                        <p:tgtEl>
                                          <p:spTgt spid="3369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90" fill="hold"/>
                                        <p:tgtEl>
                                          <p:spTgt spid="3369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90"/>
                                        <p:tgtEl>
                                          <p:spTgt spid="336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36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36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7" dur="2000"/>
                                        <p:tgtEl>
                                          <p:spTgt spid="336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36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6898" grpId="0"/>
      <p:bldP spid="336899" grpId="0" animBg="1"/>
      <p:bldP spid="336901" grpId="1"/>
      <p:bldP spid="336915" grpId="0" animBg="1"/>
      <p:bldP spid="3369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22" name="文本框 337921"/>
          <p:cNvSpPr txBox="1"/>
          <p:nvPr/>
        </p:nvSpPr>
        <p:spPr>
          <a:xfrm>
            <a:off x="827088" y="1341438"/>
            <a:ext cx="7632700" cy="1203325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just" eaLnBrk="0" hangingPunct="0">
              <a:lnSpc>
                <a:spcPct val="130000"/>
              </a:lnSpc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任何时刻，电容元件极板上的电荷</a:t>
            </a:r>
            <a:r>
              <a:rPr lang="en-US" altLang="zh-CN" b="0" 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与电压 </a:t>
            </a:r>
            <a:r>
              <a:rPr lang="en-US" altLang="zh-CN" b="0" 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u</a:t>
            </a:r>
            <a:r>
              <a:rPr lang="en-US" altLang="zh-CN" b="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成正比。</a:t>
            </a:r>
            <a:r>
              <a:rPr lang="en-US" altLang="zh-CN" b="0" i="1" err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en-US" altLang="zh-CN" b="0" i="1" err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</a:t>
            </a:r>
            <a:r>
              <a:rPr lang="en-US" altLang="zh-CN" b="0" i="1" err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i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特性曲线是过原点的直线。</a:t>
            </a:r>
            <a:endParaRPr lang="zh-CN" altLang="en-US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37923" name="对象 337922"/>
          <p:cNvGraphicFramePr/>
          <p:nvPr/>
        </p:nvGraphicFramePr>
        <p:xfrm>
          <a:off x="1692275" y="2852738"/>
          <a:ext cx="1871663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660400" imgH="228600" progId="Equation.3">
                  <p:embed/>
                </p:oleObj>
              </mc:Choice>
              <mc:Fallback>
                <p:oleObj name="" r:id="rId1" imgW="660400" imgH="228600" progId="Equation.3">
                  <p:embed/>
                  <p:pic>
                    <p:nvPicPr>
                      <p:cNvPr id="0" name="20 307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92275" y="2852738"/>
                        <a:ext cx="1871663" cy="647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7924" name="组合 337923"/>
          <p:cNvGrpSpPr/>
          <p:nvPr/>
        </p:nvGrpSpPr>
        <p:grpSpPr>
          <a:xfrm>
            <a:off x="5580063" y="3141663"/>
            <a:ext cx="2520950" cy="2708275"/>
            <a:chOff x="3795" y="1360"/>
            <a:chExt cx="1406" cy="1538"/>
          </a:xfrm>
        </p:grpSpPr>
        <p:grpSp>
          <p:nvGrpSpPr>
            <p:cNvPr id="14340" name="组合 337924"/>
            <p:cNvGrpSpPr/>
            <p:nvPr/>
          </p:nvGrpSpPr>
          <p:grpSpPr>
            <a:xfrm>
              <a:off x="3795" y="1391"/>
              <a:ext cx="1406" cy="1507"/>
              <a:chOff x="336" y="1872"/>
              <a:chExt cx="1056" cy="1104"/>
            </a:xfrm>
          </p:grpSpPr>
          <p:sp>
            <p:nvSpPr>
              <p:cNvPr id="14341" name="直接连接符 337925"/>
              <p:cNvSpPr/>
              <p:nvPr/>
            </p:nvSpPr>
            <p:spPr>
              <a:xfrm>
                <a:off x="336" y="2544"/>
                <a:ext cx="105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4342" name="直接连接符 337926"/>
              <p:cNvSpPr/>
              <p:nvPr/>
            </p:nvSpPr>
            <p:spPr>
              <a:xfrm flipV="1">
                <a:off x="720" y="1872"/>
                <a:ext cx="0" cy="110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sp>
          <p:nvSpPr>
            <p:cNvPr id="14343" name="文本框 337927"/>
            <p:cNvSpPr txBox="1"/>
            <p:nvPr/>
          </p:nvSpPr>
          <p:spPr>
            <a:xfrm>
              <a:off x="4434" y="1360"/>
              <a:ext cx="202" cy="29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q</a:t>
              </a:r>
              <a:endParaRPr lang="en-US" altLang="zh-CN" b="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44" name="文本框 337928"/>
            <p:cNvSpPr txBox="1"/>
            <p:nvPr/>
          </p:nvSpPr>
          <p:spPr>
            <a:xfrm>
              <a:off x="4939" y="2324"/>
              <a:ext cx="202" cy="29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b="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45" name="文本框 337929"/>
            <p:cNvSpPr txBox="1"/>
            <p:nvPr/>
          </p:nvSpPr>
          <p:spPr>
            <a:xfrm>
              <a:off x="4333" y="2325"/>
              <a:ext cx="202" cy="29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46" name="任意多边形 337930"/>
            <p:cNvSpPr/>
            <p:nvPr/>
          </p:nvSpPr>
          <p:spPr>
            <a:xfrm>
              <a:off x="4513" y="2160"/>
              <a:ext cx="55" cy="117"/>
            </a:xfrm>
            <a:custGeom>
              <a:avLst/>
              <a:gdLst/>
              <a:ahLst/>
              <a:cxnLst/>
              <a:pathLst>
                <a:path w="55" h="117">
                  <a:moveTo>
                    <a:pt x="0" y="0"/>
                  </a:moveTo>
                  <a:cubicBezTo>
                    <a:pt x="8" y="7"/>
                    <a:pt x="41" y="25"/>
                    <a:pt x="48" y="45"/>
                  </a:cubicBezTo>
                  <a:cubicBezTo>
                    <a:pt x="55" y="65"/>
                    <a:pt x="46" y="102"/>
                    <a:pt x="45" y="117"/>
                  </a:cubicBezTo>
                </a:path>
              </a:pathLst>
            </a:custGeom>
            <a:noFill/>
            <a:ln w="28575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347" name="文本框 337931"/>
            <p:cNvSpPr txBox="1"/>
            <p:nvPr/>
          </p:nvSpPr>
          <p:spPr>
            <a:xfrm>
              <a:off x="4558" y="1949"/>
              <a:ext cx="432" cy="295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  <a:endParaRPr lang="en-US" altLang="zh-CN" b="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48" name="直接连接符 337932"/>
            <p:cNvSpPr/>
            <p:nvPr/>
          </p:nvSpPr>
          <p:spPr>
            <a:xfrm flipV="1">
              <a:off x="3878" y="1797"/>
              <a:ext cx="998" cy="862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4349" name="组合 337933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4350" name="20 337934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4351" name="文本框 337935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4352" name="组合 337936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4353" name="20 337937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4354" name="文本框 337938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337940" name="文本框 337939"/>
          <p:cNvSpPr txBox="1"/>
          <p:nvPr/>
        </p:nvSpPr>
        <p:spPr>
          <a:xfrm>
            <a:off x="827088" y="765175"/>
            <a:ext cx="5473700" cy="579438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en-US" altLang="zh-CN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2.</a:t>
            </a:r>
            <a:r>
              <a:rPr lang="zh-CN" altLang="en-US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线性时不变电容元件</a:t>
            </a:r>
            <a:endParaRPr lang="zh-CN" altLang="en-US" sz="3200" dirty="0"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337941" name="对象 337940"/>
          <p:cNvGraphicFramePr/>
          <p:nvPr/>
        </p:nvGraphicFramePr>
        <p:xfrm>
          <a:off x="971550" y="4076700"/>
          <a:ext cx="3384550" cy="1335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4" imgW="1155700" imgH="457200" progId="Equation.3">
                  <p:embed/>
                </p:oleObj>
              </mc:Choice>
              <mc:Fallback>
                <p:oleObj name="" r:id="rId4" imgW="1155700" imgH="457200" progId="Equation.3">
                  <p:embed/>
                  <p:pic>
                    <p:nvPicPr>
                      <p:cNvPr id="0" name="20 3077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990033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71550" y="4076700"/>
                        <a:ext cx="3384550" cy="1335088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99CCFF"/>
                          </a:gs>
                          <a:gs pos="100000">
                            <a:schemeClr val="tx1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42" name="圆角矩形标注 337941" descr="羊皮纸"/>
          <p:cNvSpPr/>
          <p:nvPr/>
        </p:nvSpPr>
        <p:spPr>
          <a:xfrm>
            <a:off x="4500563" y="2924175"/>
            <a:ext cx="1079500" cy="1439863"/>
          </a:xfrm>
          <a:prstGeom prst="wedgeRoundRectCallout">
            <a:avLst>
              <a:gd name="adj1" fmla="val -196324"/>
              <a:gd name="adj2" fmla="val -24421"/>
              <a:gd name="adj3" fmla="val 16667"/>
            </a:avLst>
          </a:prstGeom>
          <a:blipFill rotWithShape="1">
            <a:blip r:embed="rId6"/>
          </a:blipFill>
          <a:ln w="28575">
            <a:noFill/>
          </a:ln>
        </p:spPr>
        <p:txBody>
          <a:bodyPr anchor="ctr" anchorCtr="0"/>
          <a:p>
            <a:pPr algn="ctr" eaLnBrk="0" hangingPunct="0"/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电容器的电容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14358" name="组合 337945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14359" name="20 337946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4360" name="文本框 337947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90" fill="hold"/>
                                        <p:tgtEl>
                                          <p:spTgt spid="3379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90" fill="hold"/>
                                        <p:tgtEl>
                                          <p:spTgt spid="3379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90"/>
                                        <p:tgtEl>
                                          <p:spTgt spid="337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050"/>
                            </p:stCondLst>
                            <p:childTnLst>
                              <p:par>
                                <p:cTn id="16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2000"/>
                                        <p:tgtEl>
                                          <p:spTgt spid="337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1000"/>
                                        <p:tgtEl>
                                          <p:spTgt spid="337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1000"/>
                                        <p:tgtEl>
                                          <p:spTgt spid="337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1000"/>
                                        <p:tgtEl>
                                          <p:spTgt spid="337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22" grpId="0"/>
      <p:bldP spid="337940" grpId="0"/>
      <p:bldP spid="33794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8946" name="文本框 338945"/>
          <p:cNvSpPr txBox="1"/>
          <p:nvPr/>
        </p:nvSpPr>
        <p:spPr>
          <a:xfrm>
            <a:off x="684213" y="1057275"/>
            <a:ext cx="2049462" cy="547688"/>
          </a:xfrm>
          <a:prstGeom prst="rect">
            <a:avLst/>
          </a:prstGeom>
          <a:noFill/>
          <a:ln w="2857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eaLnBrk="0" hangingPunct="0">
              <a:spcBef>
                <a:spcPct val="5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电路符号</a:t>
            </a:r>
            <a:endParaRPr lang="zh-CN" altLang="en-US">
              <a:solidFill>
                <a:srgbClr val="FF99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338947" name="组合 338946"/>
          <p:cNvGrpSpPr/>
          <p:nvPr/>
        </p:nvGrpSpPr>
        <p:grpSpPr>
          <a:xfrm>
            <a:off x="3059113" y="620713"/>
            <a:ext cx="3190875" cy="1990725"/>
            <a:chOff x="2517" y="1052"/>
            <a:chExt cx="2010" cy="1254"/>
          </a:xfrm>
        </p:grpSpPr>
        <p:grpSp>
          <p:nvGrpSpPr>
            <p:cNvPr id="15363" name="组合 338947"/>
            <p:cNvGrpSpPr/>
            <p:nvPr/>
          </p:nvGrpSpPr>
          <p:grpSpPr>
            <a:xfrm>
              <a:off x="2608" y="1052"/>
              <a:ext cx="1919" cy="905"/>
              <a:chOff x="2256" y="2717"/>
              <a:chExt cx="1919" cy="905"/>
            </a:xfrm>
          </p:grpSpPr>
          <p:sp>
            <p:nvSpPr>
              <p:cNvPr id="15364" name="文本框 338948"/>
              <p:cNvSpPr txBox="1"/>
              <p:nvPr/>
            </p:nvSpPr>
            <p:spPr>
              <a:xfrm>
                <a:off x="3053" y="2717"/>
                <a:ext cx="293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anchor="ctr" anchorCtr="0">
                <a:spAutoFit/>
              </a:bodyPr>
              <a:p>
                <a:pPr algn="ctr" eaLnBrk="0" hangingPunct="0"/>
                <a:r>
                  <a:rPr lang="en-US" altLang="zh-CN" b="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365" name="直接连接符 338949"/>
              <p:cNvSpPr/>
              <p:nvPr/>
            </p:nvSpPr>
            <p:spPr>
              <a:xfrm flipH="1" flipV="1">
                <a:off x="2347" y="3360"/>
                <a:ext cx="773" cy="0"/>
              </a:xfrm>
              <a:prstGeom prst="line">
                <a:avLst/>
              </a:prstGeom>
              <a:ln w="44450" cap="sq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5366" name="直接连接符 338950"/>
              <p:cNvSpPr/>
              <p:nvPr/>
            </p:nvSpPr>
            <p:spPr>
              <a:xfrm>
                <a:off x="3264" y="3360"/>
                <a:ext cx="820" cy="0"/>
              </a:xfrm>
              <a:prstGeom prst="line">
                <a:avLst/>
              </a:prstGeom>
              <a:ln w="44450" cap="sq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5367" name="椭圆 338951"/>
              <p:cNvSpPr/>
              <p:nvPr/>
            </p:nvSpPr>
            <p:spPr>
              <a:xfrm>
                <a:off x="2256" y="3319"/>
                <a:ext cx="91" cy="91"/>
              </a:xfrm>
              <a:prstGeom prst="ellipse">
                <a:avLst/>
              </a:prstGeom>
              <a:solidFill>
                <a:srgbClr val="FFCC00"/>
              </a:solidFill>
              <a:ln w="12700">
                <a:noFill/>
              </a:ln>
            </p:spPr>
            <p:txBody>
              <a:bodyPr anchor="t" anchorCtr="0"/>
              <a:p>
                <a:endParaRPr lang="zh-CN" altLang="en-US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15368" name="椭圆 338952"/>
              <p:cNvSpPr/>
              <p:nvPr/>
            </p:nvSpPr>
            <p:spPr>
              <a:xfrm>
                <a:off x="4084" y="3319"/>
                <a:ext cx="91" cy="91"/>
              </a:xfrm>
              <a:prstGeom prst="ellipse">
                <a:avLst/>
              </a:prstGeom>
              <a:solidFill>
                <a:srgbClr val="FFCC00"/>
              </a:solidFill>
              <a:ln w="12700">
                <a:noFill/>
              </a:ln>
            </p:spPr>
            <p:txBody>
              <a:bodyPr anchor="t" anchorCtr="0"/>
              <a:p>
                <a:endParaRPr lang="zh-CN" altLang="en-US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grpSp>
            <p:nvGrpSpPr>
              <p:cNvPr id="15369" name="组合 338953"/>
              <p:cNvGrpSpPr/>
              <p:nvPr/>
            </p:nvGrpSpPr>
            <p:grpSpPr>
              <a:xfrm>
                <a:off x="3120" y="3083"/>
                <a:ext cx="144" cy="539"/>
                <a:chOff x="3053" y="3083"/>
                <a:chExt cx="211" cy="576"/>
              </a:xfrm>
            </p:grpSpPr>
            <p:sp>
              <p:nvSpPr>
                <p:cNvPr id="15370" name="直接连接符 338954"/>
                <p:cNvSpPr/>
                <p:nvPr/>
              </p:nvSpPr>
              <p:spPr>
                <a:xfrm>
                  <a:off x="3053" y="3083"/>
                  <a:ext cx="0" cy="576"/>
                </a:xfrm>
                <a:prstGeom prst="line">
                  <a:avLst/>
                </a:prstGeom>
                <a:ln w="50800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5371" name="直接连接符 338955"/>
                <p:cNvSpPr/>
                <p:nvPr/>
              </p:nvSpPr>
              <p:spPr>
                <a:xfrm>
                  <a:off x="3264" y="3083"/>
                  <a:ext cx="0" cy="576"/>
                </a:xfrm>
                <a:prstGeom prst="line">
                  <a:avLst/>
                </a:prstGeom>
                <a:ln w="50800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15372" name="文本框 338956"/>
            <p:cNvSpPr txBox="1"/>
            <p:nvPr/>
          </p:nvSpPr>
          <p:spPr>
            <a:xfrm>
              <a:off x="2517" y="1706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＋</a:t>
              </a:r>
              <a:endPara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15373" name="文本框 338957"/>
            <p:cNvSpPr txBox="1"/>
            <p:nvPr/>
          </p:nvSpPr>
          <p:spPr>
            <a:xfrm>
              <a:off x="4150" y="1706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－</a:t>
              </a:r>
              <a:endPara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15374" name="文本框 338958"/>
            <p:cNvSpPr txBox="1"/>
            <p:nvPr/>
          </p:nvSpPr>
          <p:spPr>
            <a:xfrm>
              <a:off x="3379" y="1979"/>
              <a:ext cx="36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endParaRPr lang="en-US" altLang="zh-CN" b="0" i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15375" name="文本框 338959"/>
            <p:cNvSpPr txBox="1"/>
            <p:nvPr/>
          </p:nvSpPr>
          <p:spPr>
            <a:xfrm>
              <a:off x="2971" y="1298"/>
              <a:ext cx="4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+</a:t>
              </a: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q</a:t>
              </a:r>
              <a:endParaRPr lang="en-US" altLang="zh-CN" b="0" i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15376" name="文本框 338960"/>
            <p:cNvSpPr txBox="1"/>
            <p:nvPr/>
          </p:nvSpPr>
          <p:spPr>
            <a:xfrm>
              <a:off x="3651" y="1298"/>
              <a:ext cx="4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-</a:t>
              </a: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q</a:t>
              </a:r>
              <a:endParaRPr lang="en-US" altLang="zh-CN" b="0" i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338962" name="文本框 338961"/>
          <p:cNvSpPr txBox="1"/>
          <p:nvPr/>
        </p:nvSpPr>
        <p:spPr>
          <a:xfrm>
            <a:off x="2484438" y="2765425"/>
            <a:ext cx="5761037" cy="519113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ctr" eaLnBrk="0" hangingPunct="0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</a:pPr>
            <a:r>
              <a:rPr lang="en-US" altLang="zh-CN" b="0">
                <a:latin typeface="Times New Roman" panose="02020603050405020304" pitchFamily="18" charset="0"/>
                <a:ea typeface="华文中宋" panose="02010600040101010101" pitchFamily="2" charset="-122"/>
              </a:rPr>
              <a:t>F</a:t>
            </a:r>
            <a:r>
              <a:rPr lang="en-US" altLang="zh-CN" b="0">
                <a:latin typeface="华文中宋" panose="02010600040101010101" pitchFamily="2" charset="-122"/>
                <a:ea typeface="华文中宋" panose="02010600040101010101" pitchFamily="2" charset="-122"/>
              </a:rPr>
              <a:t> (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法拉</a:t>
            </a:r>
            <a:r>
              <a:rPr lang="en-US" altLang="zh-CN" b="0">
                <a:latin typeface="华文中宋" panose="02010600040101010101" pitchFamily="2" charset="-122"/>
                <a:ea typeface="华文中宋" panose="02010600040101010101" pitchFamily="2" charset="-122"/>
              </a:rPr>
              <a:t>), 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常用</a:t>
            </a:r>
            <a:r>
              <a:rPr lang="en-US" altLang="zh-CN" b="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</a:t>
            </a:r>
            <a:r>
              <a:rPr lang="en-US" altLang="zh-CN" b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F</a:t>
            </a:r>
            <a:r>
              <a:rPr lang="zh-CN" altLang="en-US" b="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b="0" err="1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pF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等表示</a:t>
            </a:r>
            <a:r>
              <a:rPr lang="zh-CN" altLang="en-US" b="0" dirty="0"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。</a:t>
            </a:r>
            <a:endParaRPr lang="zh-CN" altLang="en-US" b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38963" name="文本框 338962"/>
          <p:cNvSpPr txBox="1"/>
          <p:nvPr/>
        </p:nvSpPr>
        <p:spPr>
          <a:xfrm>
            <a:off x="682625" y="2636838"/>
            <a:ext cx="1512888" cy="547687"/>
          </a:xfrm>
          <a:prstGeom prst="rect">
            <a:avLst/>
          </a:prstGeom>
          <a:noFill/>
          <a:ln w="2857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单位</a:t>
            </a:r>
            <a:endParaRPr lang="zh-CN" altLang="en-US" dirty="0">
              <a:solidFill>
                <a:srgbClr val="FF9900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15379" name="组合 338963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5380" name="20 338964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5381" name="文本框 338965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5382" name="组合 338966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5383" name="20 338967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5384" name="文本框 338968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338970" name="文本框 338969"/>
          <p:cNvSpPr txBox="1"/>
          <p:nvPr/>
        </p:nvSpPr>
        <p:spPr>
          <a:xfrm>
            <a:off x="2700338" y="3644900"/>
            <a:ext cx="3384550" cy="1311275"/>
          </a:xfrm>
          <a:prstGeom prst="rect">
            <a:avLst/>
          </a:prstGeom>
          <a:solidFill>
            <a:srgbClr val="99CCFF"/>
          </a:solidFill>
          <a:ln w="12700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</a:pPr>
            <a:r>
              <a:rPr lang="en-US" altLang="zh-CN" sz="320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1F=10</a:t>
            </a:r>
            <a:r>
              <a:rPr lang="en-US" altLang="zh-CN" sz="3200" baseline="3000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6</a:t>
            </a:r>
            <a:r>
              <a:rPr lang="en-US" altLang="zh-CN" sz="320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lang="en-US" altLang="zh-CN" sz="320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</a:t>
            </a:r>
            <a:r>
              <a:rPr lang="en-US" altLang="zh-CN" sz="320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F</a:t>
            </a:r>
            <a:endParaRPr lang="en-US" altLang="zh-CN" sz="3200">
              <a:solidFill>
                <a:srgbClr val="000000"/>
              </a:solidFill>
              <a:latin typeface="Times New Roman" panose="02020603050405020304" pitchFamily="18" charset="0"/>
              <a:ea typeface="仿宋_GB2312" pitchFamily="49" charset="-122"/>
            </a:endParaRPr>
          </a:p>
          <a:p>
            <a:pPr algn="ctr" eaLnBrk="0" hangingPunct="0">
              <a:spcBef>
                <a:spcPct val="50000"/>
              </a:spcBef>
            </a:pPr>
            <a:r>
              <a:rPr lang="en-US" altLang="zh-CN" sz="320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1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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F</a:t>
            </a:r>
            <a:r>
              <a:rPr lang="en-US" altLang="zh-CN" sz="2400"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lang="en-US" altLang="zh-CN" sz="320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=10</a:t>
            </a:r>
            <a:r>
              <a:rPr lang="en-US" altLang="zh-CN" sz="3200" baseline="3000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6</a:t>
            </a:r>
            <a:r>
              <a:rPr lang="en-US" altLang="zh-CN" sz="320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pF</a:t>
            </a:r>
            <a:endParaRPr lang="en-US" altLang="zh-CN" sz="3200">
              <a:solidFill>
                <a:srgbClr val="0000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pSp>
        <p:nvGrpSpPr>
          <p:cNvPr id="15386" name="组合 338974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15387" name="20 338975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5388" name="文本框 338976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38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89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389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90" fill="hold"/>
                                        <p:tgtEl>
                                          <p:spTgt spid="3389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" fill="hold"/>
                                        <p:tgtEl>
                                          <p:spTgt spid="3389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389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389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38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946" grpId="0" animBg="1"/>
      <p:bldP spid="338962" grpId="0"/>
      <p:bldP spid="338963" grpId="0" animBg="1"/>
      <p:bldP spid="33897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39970" name="对象 339969"/>
          <p:cNvGraphicFramePr/>
          <p:nvPr/>
        </p:nvGraphicFramePr>
        <p:xfrm>
          <a:off x="3779838" y="3357563"/>
          <a:ext cx="4308475" cy="1309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1498600" imgH="457200" progId="Equation.3">
                  <p:embed/>
                </p:oleObj>
              </mc:Choice>
              <mc:Fallback>
                <p:oleObj name="" r:id="rId1" imgW="1498600" imgH="457200" progId="Equation.3">
                  <p:embed/>
                  <p:pic>
                    <p:nvPicPr>
                      <p:cNvPr id="0" name="20 307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990033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779838" y="3357563"/>
                        <a:ext cx="4308475" cy="1309687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FFCC99"/>
                          </a:gs>
                          <a:gs pos="100000">
                            <a:srgbClr val="FFFFFF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9971" name="矩形 339970"/>
          <p:cNvSpPr/>
          <p:nvPr/>
        </p:nvSpPr>
        <p:spPr>
          <a:xfrm>
            <a:off x="900113" y="692150"/>
            <a:ext cx="4895850" cy="579438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</a:pPr>
            <a:r>
              <a:rPr lang="en-US" altLang="zh-CN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3. </a:t>
            </a:r>
            <a:r>
              <a:rPr lang="zh-CN" altLang="en-US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电容的电压</a:t>
            </a:r>
            <a:r>
              <a:rPr lang="en-US" altLang="zh-CN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</a:t>
            </a:r>
            <a:r>
              <a:rPr lang="zh-CN" altLang="en-US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电流关系</a:t>
            </a:r>
            <a:endParaRPr lang="zh-CN" altLang="en-US" sz="32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39972" name="圆角矩形标注 339971"/>
          <p:cNvSpPr/>
          <p:nvPr/>
        </p:nvSpPr>
        <p:spPr>
          <a:xfrm>
            <a:off x="5580063" y="1268413"/>
            <a:ext cx="2736850" cy="1008062"/>
          </a:xfrm>
          <a:prstGeom prst="wedgeRoundRectCallout">
            <a:avLst>
              <a:gd name="adj1" fmla="val -48954"/>
              <a:gd name="adj2" fmla="val 153306"/>
              <a:gd name="adj3" fmla="val 16667"/>
            </a:avLst>
          </a:prstGeom>
          <a:solidFill>
            <a:srgbClr val="99CCFF"/>
          </a:solidFill>
          <a:ln w="9525">
            <a:noFill/>
          </a:ln>
        </p:spPr>
        <p:txBody>
          <a:bodyPr anchor="ctr" anchorCtr="0"/>
          <a:p>
            <a:pPr algn="ctr" eaLnBrk="0" hangingPunct="0"/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电容元件</a:t>
            </a:r>
            <a:r>
              <a:rPr lang="en-US" altLang="zh-CN" b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VCR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的微分形式</a:t>
            </a:r>
            <a:endParaRPr lang="zh-CN" altLang="en-US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16388" name="组合 339972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6389" name="20 339973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390" name="文本框 339974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6391" name="组合 339975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6392" name="20 339976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393" name="文本框 339977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339979" name="圆角矩形标注 339978"/>
          <p:cNvSpPr/>
          <p:nvPr/>
        </p:nvSpPr>
        <p:spPr>
          <a:xfrm>
            <a:off x="827088" y="3357563"/>
            <a:ext cx="2374900" cy="936625"/>
          </a:xfrm>
          <a:prstGeom prst="wedgeRoundRectCallout">
            <a:avLst>
              <a:gd name="adj1" fmla="val 7352"/>
              <a:gd name="adj2" fmla="val -159153"/>
              <a:gd name="adj3" fmla="val 16667"/>
            </a:avLst>
          </a:prstGeom>
          <a:solidFill>
            <a:srgbClr val="99CCFF"/>
          </a:solidFill>
          <a:ln w="9525">
            <a:noFill/>
          </a:ln>
        </p:spPr>
        <p:txBody>
          <a:bodyPr anchor="ctr" anchorCtr="0"/>
          <a:p>
            <a:pPr algn="ctr" eaLnBrk="0" hangingPunct="0"/>
            <a:r>
              <a:rPr lang="en-US" altLang="zh-CN" b="0" i="1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u</a:t>
            </a:r>
            <a:r>
              <a:rPr lang="zh-CN" altLang="en-US" b="0" i="1" dirty="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、</a:t>
            </a:r>
            <a:r>
              <a:rPr lang="en-US" altLang="zh-CN" b="0" i="1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i</a:t>
            </a:r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取关联参考方向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339980" name="组合 339979"/>
          <p:cNvGrpSpPr/>
          <p:nvPr/>
        </p:nvGrpSpPr>
        <p:grpSpPr>
          <a:xfrm>
            <a:off x="1331913" y="1268413"/>
            <a:ext cx="3189287" cy="1757362"/>
            <a:chOff x="657" y="1007"/>
            <a:chExt cx="2009" cy="1107"/>
          </a:xfrm>
        </p:grpSpPr>
        <p:grpSp>
          <p:nvGrpSpPr>
            <p:cNvPr id="16396" name="组合 339980"/>
            <p:cNvGrpSpPr/>
            <p:nvPr/>
          </p:nvGrpSpPr>
          <p:grpSpPr>
            <a:xfrm>
              <a:off x="747" y="1007"/>
              <a:ext cx="1919" cy="762"/>
              <a:chOff x="2256" y="2679"/>
              <a:chExt cx="1919" cy="943"/>
            </a:xfrm>
          </p:grpSpPr>
          <p:sp>
            <p:nvSpPr>
              <p:cNvPr id="16397" name="文本框 339981"/>
              <p:cNvSpPr txBox="1"/>
              <p:nvPr/>
            </p:nvSpPr>
            <p:spPr>
              <a:xfrm>
                <a:off x="3053" y="2679"/>
                <a:ext cx="293" cy="40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anchor="ctr" anchorCtr="0">
                <a:spAutoFit/>
              </a:bodyPr>
              <a:p>
                <a:pPr algn="ctr" eaLnBrk="0" hangingPunct="0"/>
                <a:r>
                  <a:rPr lang="en-US" altLang="zh-CN" b="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C</a:t>
                </a:r>
                <a:endParaRPr lang="en-US" altLang="zh-CN" b="0"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16398" name="直接连接符 339982"/>
              <p:cNvSpPr/>
              <p:nvPr/>
            </p:nvSpPr>
            <p:spPr>
              <a:xfrm flipH="1" flipV="1">
                <a:off x="2347" y="3360"/>
                <a:ext cx="773" cy="0"/>
              </a:xfrm>
              <a:prstGeom prst="line">
                <a:avLst/>
              </a:prstGeom>
              <a:ln w="28575" cap="sq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399" name="直接连接符 339983"/>
              <p:cNvSpPr/>
              <p:nvPr/>
            </p:nvSpPr>
            <p:spPr>
              <a:xfrm>
                <a:off x="3264" y="3360"/>
                <a:ext cx="820" cy="0"/>
              </a:xfrm>
              <a:prstGeom prst="line">
                <a:avLst/>
              </a:prstGeom>
              <a:ln w="28575" cap="sq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400" name="椭圆 339984"/>
              <p:cNvSpPr/>
              <p:nvPr/>
            </p:nvSpPr>
            <p:spPr>
              <a:xfrm>
                <a:off x="2256" y="3319"/>
                <a:ext cx="91" cy="91"/>
              </a:xfrm>
              <a:prstGeom prst="ellipse">
                <a:avLst/>
              </a:prstGeom>
              <a:solidFill>
                <a:srgbClr val="FFCC00"/>
              </a:solidFill>
              <a:ln w="12700">
                <a:noFill/>
              </a:ln>
            </p:spPr>
            <p:txBody>
              <a:bodyPr anchor="t" anchorCtr="0"/>
              <a:p>
                <a:endParaRPr lang="zh-CN" altLang="en-US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16401" name="椭圆 339985"/>
              <p:cNvSpPr/>
              <p:nvPr/>
            </p:nvSpPr>
            <p:spPr>
              <a:xfrm>
                <a:off x="4084" y="3319"/>
                <a:ext cx="91" cy="91"/>
              </a:xfrm>
              <a:prstGeom prst="ellipse">
                <a:avLst/>
              </a:prstGeom>
              <a:solidFill>
                <a:srgbClr val="FFCC00"/>
              </a:solidFill>
              <a:ln w="12700">
                <a:noFill/>
              </a:ln>
            </p:spPr>
            <p:txBody>
              <a:bodyPr anchor="t" anchorCtr="0"/>
              <a:p>
                <a:endParaRPr lang="zh-CN" altLang="en-US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grpSp>
            <p:nvGrpSpPr>
              <p:cNvPr id="16402" name="组合 339986"/>
              <p:cNvGrpSpPr/>
              <p:nvPr/>
            </p:nvGrpSpPr>
            <p:grpSpPr>
              <a:xfrm>
                <a:off x="3120" y="3083"/>
                <a:ext cx="144" cy="539"/>
                <a:chOff x="3053" y="3083"/>
                <a:chExt cx="211" cy="576"/>
              </a:xfrm>
            </p:grpSpPr>
            <p:sp>
              <p:nvSpPr>
                <p:cNvPr id="16403" name="直接连接符 339987"/>
                <p:cNvSpPr/>
                <p:nvPr/>
              </p:nvSpPr>
              <p:spPr>
                <a:xfrm>
                  <a:off x="3053" y="3083"/>
                  <a:ext cx="0" cy="576"/>
                </a:xfrm>
                <a:prstGeom prst="line">
                  <a:avLst/>
                </a:prstGeom>
                <a:ln w="50800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404" name="直接连接符 339988"/>
                <p:cNvSpPr/>
                <p:nvPr/>
              </p:nvSpPr>
              <p:spPr>
                <a:xfrm>
                  <a:off x="3264" y="3083"/>
                  <a:ext cx="0" cy="576"/>
                </a:xfrm>
                <a:prstGeom prst="line">
                  <a:avLst/>
                </a:prstGeom>
                <a:ln w="50800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16405" name="文本框 339989"/>
            <p:cNvSpPr txBox="1"/>
            <p:nvPr/>
          </p:nvSpPr>
          <p:spPr>
            <a:xfrm>
              <a:off x="657" y="1640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zh-CN" altLang="en-US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＋</a:t>
              </a:r>
              <a:endPara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16406" name="文本框 339990"/>
            <p:cNvSpPr txBox="1"/>
            <p:nvPr/>
          </p:nvSpPr>
          <p:spPr>
            <a:xfrm>
              <a:off x="2290" y="1640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zh-CN" altLang="en-US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－</a:t>
              </a:r>
              <a:endPara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16407" name="文本框 339991"/>
            <p:cNvSpPr txBox="1"/>
            <p:nvPr/>
          </p:nvSpPr>
          <p:spPr>
            <a:xfrm>
              <a:off x="1473" y="1787"/>
              <a:ext cx="36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endParaRPr lang="en-US" altLang="zh-CN" b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16408" name="文本框 339992"/>
            <p:cNvSpPr txBox="1"/>
            <p:nvPr/>
          </p:nvSpPr>
          <p:spPr>
            <a:xfrm>
              <a:off x="1111" y="1207"/>
              <a:ext cx="36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endParaRPr lang="en-US" altLang="zh-CN" b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16409" name="直接连接符 339993"/>
            <p:cNvSpPr/>
            <p:nvPr/>
          </p:nvSpPr>
          <p:spPr>
            <a:xfrm>
              <a:off x="748" y="1434"/>
              <a:ext cx="408" cy="0"/>
            </a:xfrm>
            <a:prstGeom prst="line">
              <a:avLst/>
            </a:prstGeom>
            <a:ln w="38100" cap="sq" cmpd="sng">
              <a:solidFill>
                <a:schemeClr val="hlink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16410" name="组合 339997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16411" name="20 339998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412" name="文本框 339999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9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9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39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2000"/>
                                        <p:tgtEl>
                                          <p:spTgt spid="339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3000"/>
                                        <p:tgtEl>
                                          <p:spTgt spid="339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6" dur="2000"/>
                                        <p:tgtEl>
                                          <p:spTgt spid="339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9971" grpId="0"/>
      <p:bldP spid="339972" grpId="0" animBg="1"/>
      <p:bldP spid="33997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7409" name="对象 340993"/>
          <p:cNvGraphicFramePr/>
          <p:nvPr/>
        </p:nvGraphicFramePr>
        <p:xfrm>
          <a:off x="4932363" y="836613"/>
          <a:ext cx="1727200" cy="1265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622300" imgH="457200" progId="Equation.3">
                  <p:embed/>
                </p:oleObj>
              </mc:Choice>
              <mc:Fallback>
                <p:oleObj name="" r:id="rId1" imgW="622300" imgH="457200" progId="Equation.3">
                  <p:embed/>
                  <p:pic>
                    <p:nvPicPr>
                      <p:cNvPr id="0" name="20 307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932363" y="836613"/>
                        <a:ext cx="1727200" cy="1265237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FFCC99"/>
                          </a:gs>
                          <a:gs pos="100000">
                            <a:srgbClr val="FFFFFF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0996" name="矩形 340995"/>
          <p:cNvSpPr/>
          <p:nvPr/>
        </p:nvSpPr>
        <p:spPr>
          <a:xfrm>
            <a:off x="755650" y="4437063"/>
            <a:ext cx="8137525" cy="12033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marL="342900" indent="-342900" eaLnBrk="0" hangingPunct="0">
              <a:lnSpc>
                <a:spcPct val="130000"/>
              </a:lnSpc>
              <a:buAutoNum type="circleNumDbPlain" startAt="2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当 </a:t>
            </a:r>
            <a:r>
              <a:rPr lang="en-US" altLang="zh-CN" b="0" i="1"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i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为常数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直流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时，</a:t>
            </a:r>
            <a:r>
              <a:rPr lang="en-US" altLang="zh-CN" b="0" i="1">
                <a:latin typeface="Times New Roman" panose="02020603050405020304" pitchFamily="18" charset="0"/>
                <a:ea typeface="楷体_GB2312" pitchFamily="49" charset="-122"/>
              </a:rPr>
              <a:t>i </a:t>
            </a:r>
            <a:r>
              <a:rPr lang="en-US" altLang="zh-CN" b="0">
                <a:latin typeface="Times New Roman" panose="02020603050405020304" pitchFamily="18" charset="0"/>
                <a:ea typeface="楷体_GB2312" pitchFamily="49" charset="-122"/>
              </a:rPr>
              <a:t>=0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。电容相当于开路，电容有隔断直流作用；</a:t>
            </a:r>
            <a:endParaRPr lang="zh-CN" altLang="en-US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17411" name="组合 340996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7412" name="20 340997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413" name="文本框 340998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7414" name="组合 340999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7415" name="20 341000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416" name="文本框 341001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41003" name="组合 341002"/>
          <p:cNvGrpSpPr/>
          <p:nvPr/>
        </p:nvGrpSpPr>
        <p:grpSpPr>
          <a:xfrm>
            <a:off x="827088" y="2060575"/>
            <a:ext cx="1663700" cy="850900"/>
            <a:chOff x="385" y="3022"/>
            <a:chExt cx="1019" cy="536"/>
          </a:xfrm>
        </p:grpSpPr>
        <p:pic>
          <p:nvPicPr>
            <p:cNvPr id="17418" name="20 341003" descr="12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419" name="文本框 341004"/>
            <p:cNvSpPr txBox="1"/>
            <p:nvPr/>
          </p:nvSpPr>
          <p:spPr>
            <a:xfrm>
              <a:off x="793" y="3125"/>
              <a:ext cx="611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3200" b="0" dirty="0">
                  <a:solidFill>
                    <a:srgbClr val="FF9933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表明</a:t>
              </a:r>
              <a:endParaRPr lang="zh-CN" altLang="en-US" sz="3200" b="0" dirty="0">
                <a:solidFill>
                  <a:srgbClr val="FF9933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17420" name="组合 341020"/>
          <p:cNvGrpSpPr/>
          <p:nvPr/>
        </p:nvGrpSpPr>
        <p:grpSpPr>
          <a:xfrm>
            <a:off x="1403350" y="549275"/>
            <a:ext cx="3190875" cy="1990725"/>
            <a:chOff x="2517" y="1052"/>
            <a:chExt cx="2010" cy="1254"/>
          </a:xfrm>
        </p:grpSpPr>
        <p:grpSp>
          <p:nvGrpSpPr>
            <p:cNvPr id="17421" name="组合 341021"/>
            <p:cNvGrpSpPr/>
            <p:nvPr/>
          </p:nvGrpSpPr>
          <p:grpSpPr>
            <a:xfrm>
              <a:off x="2608" y="1052"/>
              <a:ext cx="1919" cy="905"/>
              <a:chOff x="2256" y="2717"/>
              <a:chExt cx="1919" cy="905"/>
            </a:xfrm>
          </p:grpSpPr>
          <p:sp>
            <p:nvSpPr>
              <p:cNvPr id="17422" name="文本框 341022"/>
              <p:cNvSpPr txBox="1"/>
              <p:nvPr/>
            </p:nvSpPr>
            <p:spPr>
              <a:xfrm>
                <a:off x="3053" y="2717"/>
                <a:ext cx="293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anchor="ctr" anchorCtr="0">
                <a:spAutoFit/>
              </a:bodyPr>
              <a:p>
                <a:pPr algn="ctr" eaLnBrk="0" hangingPunct="0"/>
                <a:r>
                  <a:rPr lang="en-US" altLang="zh-CN" b="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423" name="直接连接符 341023"/>
              <p:cNvSpPr/>
              <p:nvPr/>
            </p:nvSpPr>
            <p:spPr>
              <a:xfrm flipH="1" flipV="1">
                <a:off x="2347" y="3360"/>
                <a:ext cx="773" cy="0"/>
              </a:xfrm>
              <a:prstGeom prst="line">
                <a:avLst/>
              </a:prstGeom>
              <a:ln w="44450" cap="sq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7424" name="直接连接符 341024"/>
              <p:cNvSpPr/>
              <p:nvPr/>
            </p:nvSpPr>
            <p:spPr>
              <a:xfrm>
                <a:off x="3264" y="3360"/>
                <a:ext cx="820" cy="0"/>
              </a:xfrm>
              <a:prstGeom prst="line">
                <a:avLst/>
              </a:prstGeom>
              <a:ln w="44450" cap="sq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7425" name="椭圆 341025"/>
              <p:cNvSpPr/>
              <p:nvPr/>
            </p:nvSpPr>
            <p:spPr>
              <a:xfrm>
                <a:off x="2256" y="3319"/>
                <a:ext cx="91" cy="91"/>
              </a:xfrm>
              <a:prstGeom prst="ellipse">
                <a:avLst/>
              </a:prstGeom>
              <a:solidFill>
                <a:srgbClr val="FFCC00"/>
              </a:solidFill>
              <a:ln w="12700">
                <a:noFill/>
              </a:ln>
            </p:spPr>
            <p:txBody>
              <a:bodyPr anchor="t" anchorCtr="0"/>
              <a:p>
                <a:endParaRPr lang="zh-CN" altLang="en-US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17426" name="椭圆 341026"/>
              <p:cNvSpPr/>
              <p:nvPr/>
            </p:nvSpPr>
            <p:spPr>
              <a:xfrm>
                <a:off x="4084" y="3319"/>
                <a:ext cx="91" cy="91"/>
              </a:xfrm>
              <a:prstGeom prst="ellipse">
                <a:avLst/>
              </a:prstGeom>
              <a:solidFill>
                <a:srgbClr val="FFCC00"/>
              </a:solidFill>
              <a:ln w="12700">
                <a:noFill/>
              </a:ln>
            </p:spPr>
            <p:txBody>
              <a:bodyPr anchor="t" anchorCtr="0"/>
              <a:p>
                <a:endParaRPr lang="zh-CN" altLang="en-US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grpSp>
            <p:nvGrpSpPr>
              <p:cNvPr id="17427" name="组合 341027"/>
              <p:cNvGrpSpPr/>
              <p:nvPr/>
            </p:nvGrpSpPr>
            <p:grpSpPr>
              <a:xfrm>
                <a:off x="3120" y="3083"/>
                <a:ext cx="144" cy="539"/>
                <a:chOff x="3053" y="3083"/>
                <a:chExt cx="211" cy="576"/>
              </a:xfrm>
            </p:grpSpPr>
            <p:sp>
              <p:nvSpPr>
                <p:cNvPr id="17428" name="直接连接符 341028"/>
                <p:cNvSpPr/>
                <p:nvPr/>
              </p:nvSpPr>
              <p:spPr>
                <a:xfrm>
                  <a:off x="3053" y="3083"/>
                  <a:ext cx="0" cy="576"/>
                </a:xfrm>
                <a:prstGeom prst="line">
                  <a:avLst/>
                </a:prstGeom>
                <a:ln w="50800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7429" name="直接连接符 341029"/>
                <p:cNvSpPr/>
                <p:nvPr/>
              </p:nvSpPr>
              <p:spPr>
                <a:xfrm>
                  <a:off x="3264" y="3083"/>
                  <a:ext cx="0" cy="576"/>
                </a:xfrm>
                <a:prstGeom prst="line">
                  <a:avLst/>
                </a:prstGeom>
                <a:ln w="50800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17430" name="文本框 341030"/>
            <p:cNvSpPr txBox="1"/>
            <p:nvPr/>
          </p:nvSpPr>
          <p:spPr>
            <a:xfrm>
              <a:off x="2517" y="1706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＋</a:t>
              </a:r>
              <a:endPara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17431" name="文本框 341031"/>
            <p:cNvSpPr txBox="1"/>
            <p:nvPr/>
          </p:nvSpPr>
          <p:spPr>
            <a:xfrm>
              <a:off x="4150" y="1706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－</a:t>
              </a:r>
              <a:endPara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17432" name="文本框 341032"/>
            <p:cNvSpPr txBox="1"/>
            <p:nvPr/>
          </p:nvSpPr>
          <p:spPr>
            <a:xfrm>
              <a:off x="3379" y="1979"/>
              <a:ext cx="36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endParaRPr lang="en-US" altLang="zh-CN" b="0" i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17433" name="文本框 341033"/>
            <p:cNvSpPr txBox="1"/>
            <p:nvPr/>
          </p:nvSpPr>
          <p:spPr>
            <a:xfrm>
              <a:off x="2971" y="1298"/>
              <a:ext cx="4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+</a:t>
              </a: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q</a:t>
              </a:r>
              <a:endParaRPr lang="en-US" altLang="zh-CN" b="0" i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17434" name="文本框 341034"/>
            <p:cNvSpPr txBox="1"/>
            <p:nvPr/>
          </p:nvSpPr>
          <p:spPr>
            <a:xfrm>
              <a:off x="3651" y="1298"/>
              <a:ext cx="4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-</a:t>
              </a: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q</a:t>
              </a:r>
              <a:endParaRPr lang="en-US" altLang="zh-CN" b="0" i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341036" name="矩形 341035"/>
          <p:cNvSpPr/>
          <p:nvPr/>
        </p:nvSpPr>
        <p:spPr>
          <a:xfrm>
            <a:off x="755650" y="2781300"/>
            <a:ext cx="7994650" cy="1692275"/>
          </a:xfrm>
          <a:prstGeom prst="rect">
            <a:avLst/>
          </a:prstGeom>
          <a:noFill/>
          <a:ln w="28575">
            <a:noFill/>
          </a:ln>
          <a:effectLst>
            <a:prstShdw prst="shdw17" dist="17961" dir="2699999">
              <a:schemeClr val="bg2"/>
            </a:prstShdw>
          </a:effectLst>
        </p:spPr>
        <p:txBody>
          <a:bodyPr anchor="t" anchorCtr="0">
            <a:spAutoFit/>
          </a:bodyPr>
          <a:p>
            <a:pPr marL="342900" indent="-342900" eaLnBrk="0" hangingPunct="0">
              <a:lnSpc>
                <a:spcPct val="125000"/>
              </a:lnSpc>
              <a:buAutoNum type="circleNumDbPlain"/>
            </a:pPr>
            <a:r>
              <a:rPr lang="zh-CN" altLang="en-US" dirty="0">
                <a:latin typeface="Arial" panose="020B0604020202020204" pitchFamily="34" charset="0"/>
                <a:ea typeface="楷体_GB2312" pitchFamily="49" charset="-122"/>
              </a:rPr>
              <a:t>某一时刻电容电流 </a:t>
            </a:r>
            <a:r>
              <a:rPr lang="en-US" altLang="zh-CN" b="0" i="1">
                <a:latin typeface="Times New Roman" panose="02020603050405020304" pitchFamily="18" charset="0"/>
                <a:ea typeface="楷体_GB2312" pitchFamily="49" charset="-122"/>
              </a:rPr>
              <a:t>i </a:t>
            </a:r>
            <a:r>
              <a:rPr lang="zh-CN" altLang="en-US" dirty="0">
                <a:latin typeface="Arial" panose="020B0604020202020204" pitchFamily="34" charset="0"/>
                <a:ea typeface="楷体_GB2312" pitchFamily="49" charset="-122"/>
              </a:rPr>
              <a:t>的大小取决于电容电压</a:t>
            </a:r>
            <a:r>
              <a:rPr lang="zh-CN" altLang="en-US" b="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b="0" i="1"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b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楷体_GB2312" pitchFamily="49" charset="-122"/>
              </a:rPr>
              <a:t>的变化率</a:t>
            </a:r>
            <a:r>
              <a:rPr lang="en-US" altLang="zh-CN">
                <a:latin typeface="Arial" panose="020B0604020202020204" pitchFamily="34" charset="0"/>
                <a:ea typeface="楷体_GB2312" pitchFamily="49" charset="-122"/>
              </a:rPr>
              <a:t>,</a:t>
            </a:r>
            <a:r>
              <a:rPr lang="zh-CN" altLang="en-US" dirty="0">
                <a:latin typeface="Arial" panose="020B0604020202020204" pitchFamily="34" charset="0"/>
                <a:ea typeface="楷体_GB2312" pitchFamily="49" charset="-122"/>
              </a:rPr>
              <a:t>而与该时刻电压</a:t>
            </a:r>
            <a:r>
              <a:rPr lang="zh-CN" altLang="en-US" b="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b="0" i="1"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i="1"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楷体_GB2312" pitchFamily="49" charset="-122"/>
              </a:rPr>
              <a:t>的大小无关。电容是动态元件；</a:t>
            </a: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17436" name="组合 341039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17437" name="20 341040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438" name="文本框 341041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1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90" fill="hold"/>
                                        <p:tgtEl>
                                          <p:spTgt spid="3409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90" fill="hold"/>
                                        <p:tgtEl>
                                          <p:spTgt spid="3409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90"/>
                                        <p:tgtEl>
                                          <p:spTgt spid="340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0996" grpId="0"/>
      <p:bldP spid="34103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2018" name="文本框 342017"/>
          <p:cNvSpPr txBox="1"/>
          <p:nvPr/>
        </p:nvSpPr>
        <p:spPr>
          <a:xfrm>
            <a:off x="971550" y="620713"/>
            <a:ext cx="7129463" cy="1117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eaLnBrk="0" hangingPunct="0">
              <a:lnSpc>
                <a:spcPct val="120000"/>
              </a:lnSpc>
              <a:spcBef>
                <a:spcPct val="50000"/>
              </a:spcBef>
              <a:buAutoNum type="circleNumDbPlain" startAt="3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实际电路中通过电容的电流</a:t>
            </a:r>
            <a:r>
              <a:rPr lang="zh-CN" altLang="en-US" i="1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b="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i</a:t>
            </a:r>
            <a:r>
              <a:rPr lang="en-US" altLang="zh-CN" i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为有限值，则电容电压 </a:t>
            </a:r>
            <a:r>
              <a:rPr lang="en-US" altLang="zh-CN" b="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u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必定是时间的连续函数。</a:t>
            </a:r>
            <a:endParaRPr lang="zh-CN" altLang="en-US" dirty="0"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342027" name="对象 342026"/>
          <p:cNvGraphicFramePr/>
          <p:nvPr/>
        </p:nvGraphicFramePr>
        <p:xfrm>
          <a:off x="4427538" y="1844675"/>
          <a:ext cx="2944812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1180465" imgH="457200" progId="Equation.3">
                  <p:embed/>
                </p:oleObj>
              </mc:Choice>
              <mc:Fallback>
                <p:oleObj name="" r:id="rId1" imgW="1180465" imgH="457200" progId="Equation.3">
                  <p:embed/>
                  <p:pic>
                    <p:nvPicPr>
                      <p:cNvPr id="0" name="20 308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427538" y="1844675"/>
                        <a:ext cx="2944812" cy="1136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2028" name="对象 342027"/>
          <p:cNvGraphicFramePr/>
          <p:nvPr/>
        </p:nvGraphicFramePr>
        <p:xfrm>
          <a:off x="539750" y="3716338"/>
          <a:ext cx="3429000" cy="773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3" imgW="2691130" imgH="673100" progId="Equation.3">
                  <p:embed/>
                </p:oleObj>
              </mc:Choice>
              <mc:Fallback>
                <p:oleObj name="" r:id="rId3" imgW="2691130" imgH="673100" progId="Equation.3">
                  <p:embed/>
                  <p:pic>
                    <p:nvPicPr>
                      <p:cNvPr id="0" name="20 308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9750" y="3716338"/>
                        <a:ext cx="3429000" cy="773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2029" name="对象 342028"/>
          <p:cNvGraphicFramePr/>
          <p:nvPr/>
        </p:nvGraphicFramePr>
        <p:xfrm>
          <a:off x="3708400" y="3644900"/>
          <a:ext cx="5018088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5" imgW="3835400" imgH="977900" progId="Equation.3">
                  <p:embed/>
                </p:oleObj>
              </mc:Choice>
              <mc:Fallback>
                <p:oleObj name="" r:id="rId5" imgW="3835400" imgH="977900" progId="Equation.3">
                  <p:embed/>
                  <p:pic>
                    <p:nvPicPr>
                      <p:cNvPr id="0" name="20 3080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708400" y="3644900"/>
                        <a:ext cx="5018088" cy="1154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2030" name="对象 342029"/>
          <p:cNvGraphicFramePr/>
          <p:nvPr/>
        </p:nvGraphicFramePr>
        <p:xfrm>
          <a:off x="1258888" y="4652963"/>
          <a:ext cx="2808287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7" imgW="2221230" imgH="799465" progId="Equation.3">
                  <p:embed/>
                </p:oleObj>
              </mc:Choice>
              <mc:Fallback>
                <p:oleObj name="" r:id="rId7" imgW="2221230" imgH="799465" progId="Equation.3">
                  <p:embed/>
                  <p:pic>
                    <p:nvPicPr>
                      <p:cNvPr id="0" name="20 3084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58888" y="4652963"/>
                        <a:ext cx="2808287" cy="911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438" name="组合 342030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8439" name="20 342031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8440" name="文本框 342032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8441" name="组合 342033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8442" name="20 342034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8443" name="文本框 342035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42038" name="组合 342037"/>
          <p:cNvGrpSpPr/>
          <p:nvPr/>
        </p:nvGrpSpPr>
        <p:grpSpPr>
          <a:xfrm>
            <a:off x="1258888" y="1700213"/>
            <a:ext cx="2519362" cy="1814512"/>
            <a:chOff x="793" y="1071"/>
            <a:chExt cx="1587" cy="1143"/>
          </a:xfrm>
        </p:grpSpPr>
        <p:grpSp>
          <p:nvGrpSpPr>
            <p:cNvPr id="18445" name="组合 342018"/>
            <p:cNvGrpSpPr/>
            <p:nvPr/>
          </p:nvGrpSpPr>
          <p:grpSpPr>
            <a:xfrm>
              <a:off x="884" y="1071"/>
              <a:ext cx="1496" cy="1143"/>
              <a:chOff x="839" y="845"/>
              <a:chExt cx="1496" cy="1143"/>
            </a:xfrm>
          </p:grpSpPr>
          <p:sp>
            <p:nvSpPr>
              <p:cNvPr id="18446" name="直接连接符 342019"/>
              <p:cNvSpPr/>
              <p:nvPr/>
            </p:nvSpPr>
            <p:spPr>
              <a:xfrm>
                <a:off x="839" y="1661"/>
                <a:ext cx="1406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8447" name="直接连接符 342020"/>
              <p:cNvSpPr/>
              <p:nvPr/>
            </p:nvSpPr>
            <p:spPr>
              <a:xfrm flipV="1">
                <a:off x="975" y="935"/>
                <a:ext cx="0" cy="953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8448" name="文本框 342021"/>
              <p:cNvSpPr txBox="1"/>
              <p:nvPr/>
            </p:nvSpPr>
            <p:spPr>
              <a:xfrm>
                <a:off x="2018" y="1661"/>
                <a:ext cx="317" cy="327"/>
              </a:xfrm>
              <a:prstGeom prst="rect">
                <a:avLst/>
              </a:prstGeom>
              <a:noFill/>
              <a:ln w="28575">
                <a:noFill/>
              </a:ln>
              <a:effectLst>
                <a:prstShdw prst="shdw17" dist="17961" dir="2699999">
                  <a:schemeClr val="bg2"/>
                </a:prstShdw>
              </a:effectLst>
            </p:spPr>
            <p:txBody>
              <a:bodyPr anchor="t" anchorCtr="0">
                <a:spAutoFit/>
              </a:bodyPr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b="0" i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  <a:sym typeface="Symbol" panose="05050102010706020507" pitchFamily="18" charset="2"/>
                  </a:rPr>
                  <a:t>t</a:t>
                </a:r>
                <a:endPara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18449" name="文本框 342022"/>
              <p:cNvSpPr txBox="1"/>
              <p:nvPr/>
            </p:nvSpPr>
            <p:spPr>
              <a:xfrm>
                <a:off x="1020" y="845"/>
                <a:ext cx="317" cy="327"/>
              </a:xfrm>
              <a:prstGeom prst="rect">
                <a:avLst/>
              </a:prstGeom>
              <a:noFill/>
              <a:ln w="28575">
                <a:noFill/>
              </a:ln>
              <a:effectLst>
                <a:prstShdw prst="shdw17" dist="17961" dir="2699999">
                  <a:schemeClr val="bg2"/>
                </a:prstShdw>
              </a:effectLst>
            </p:spPr>
            <p:txBody>
              <a:bodyPr anchor="t" anchorCtr="0">
                <a:spAutoFit/>
              </a:bodyPr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b="0" i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  <a:sym typeface="Symbol" panose="05050102010706020507" pitchFamily="18" charset="2"/>
                  </a:rPr>
                  <a:t>u</a:t>
                </a:r>
                <a:endPara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18450" name="直接连接符 342023"/>
              <p:cNvSpPr/>
              <p:nvPr/>
            </p:nvSpPr>
            <p:spPr>
              <a:xfrm>
                <a:off x="975" y="1389"/>
                <a:ext cx="408" cy="0"/>
              </a:xfrm>
              <a:prstGeom prst="line">
                <a:avLst/>
              </a:prstGeom>
              <a:ln w="28575" cap="sq" cmpd="sng">
                <a:solidFill>
                  <a:srgbClr val="FF33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8451" name="直接连接符 342024"/>
              <p:cNvSpPr/>
              <p:nvPr/>
            </p:nvSpPr>
            <p:spPr>
              <a:xfrm>
                <a:off x="1383" y="1071"/>
                <a:ext cx="681" cy="0"/>
              </a:xfrm>
              <a:prstGeom prst="line">
                <a:avLst/>
              </a:prstGeom>
              <a:ln w="28575" cap="sq" cmpd="sng">
                <a:solidFill>
                  <a:srgbClr val="FF33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8452" name="直接连接符 342025"/>
              <p:cNvSpPr/>
              <p:nvPr/>
            </p:nvSpPr>
            <p:spPr>
              <a:xfrm>
                <a:off x="1383" y="1071"/>
                <a:ext cx="0" cy="31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8453" name="文本框 342036"/>
            <p:cNvSpPr txBox="1"/>
            <p:nvPr/>
          </p:nvSpPr>
          <p:spPr>
            <a:xfrm>
              <a:off x="793" y="1842"/>
              <a:ext cx="272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chemeClr val="bg2"/>
              </a:prstShdw>
            </a:effectLst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18454" name="组合 342041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18455" name="20 342042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8456" name="文本框 342043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42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2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1000"/>
                                        <p:tgtEl>
                                          <p:spTgt spid="342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42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42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42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20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43042" name="对象 343041"/>
          <p:cNvGraphicFramePr/>
          <p:nvPr/>
        </p:nvGraphicFramePr>
        <p:xfrm>
          <a:off x="1187450" y="692150"/>
          <a:ext cx="4751388" cy="1262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" imgW="2716530" imgH="799465" progId="Equation.3">
                  <p:embed/>
                </p:oleObj>
              </mc:Choice>
              <mc:Fallback>
                <p:oleObj name="" r:id="rId1" imgW="2716530" imgH="799465" progId="Equation.3">
                  <p:embed/>
                  <p:pic>
                    <p:nvPicPr>
                      <p:cNvPr id="0" name="20 3082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990033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87450" y="692150"/>
                        <a:ext cx="4751388" cy="1262063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99CCFF"/>
                          </a:gs>
                          <a:gs pos="100000">
                            <a:schemeClr val="tx1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3043" name="文本框 343042"/>
          <p:cNvSpPr txBox="1"/>
          <p:nvPr/>
        </p:nvSpPr>
        <p:spPr>
          <a:xfrm>
            <a:off x="1042988" y="2636838"/>
            <a:ext cx="7200900" cy="175895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marL="342900" indent="-342900" eaLnBrk="0" hangingPunct="0">
              <a:lnSpc>
                <a:spcPct val="130000"/>
              </a:lnSpc>
              <a:buAutoNum type="circleNumDbPlain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某一时刻的电容电压值与</a:t>
            </a:r>
            <a:r>
              <a:rPr lang="en-US" altLang="zh-CN" b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-</a:t>
            </a:r>
            <a:r>
              <a:rPr lang="en-US" altLang="zh-CN" b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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到该时刻的所有电流值有关，即电容元件有记忆电流的作用，故称电容元件为记忆元件。</a:t>
            </a:r>
            <a:endParaRPr lang="zh-CN" altLang="en-US"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343044" name="组合 343043"/>
          <p:cNvGrpSpPr/>
          <p:nvPr/>
        </p:nvGrpSpPr>
        <p:grpSpPr>
          <a:xfrm>
            <a:off x="827088" y="1989138"/>
            <a:ext cx="1663700" cy="850900"/>
            <a:chOff x="385" y="3022"/>
            <a:chExt cx="1019" cy="536"/>
          </a:xfrm>
        </p:grpSpPr>
        <p:pic>
          <p:nvPicPr>
            <p:cNvPr id="19460" name="20 343044" descr="1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9461" name="文本框 343045"/>
            <p:cNvSpPr txBox="1"/>
            <p:nvPr/>
          </p:nvSpPr>
          <p:spPr>
            <a:xfrm>
              <a:off x="793" y="3125"/>
              <a:ext cx="611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3200" b="0" dirty="0">
                  <a:solidFill>
                    <a:srgbClr val="FF9933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表明</a:t>
              </a:r>
              <a:endParaRPr lang="zh-CN" altLang="en-US" sz="3200" b="0" dirty="0">
                <a:solidFill>
                  <a:srgbClr val="FF9933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19462" name="组合 343046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9463" name="20 343047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9464" name="文本框 343048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9465" name="组合 343049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9466" name="20 343050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9467" name="文本框 343051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343053" name="文本框 343052"/>
          <p:cNvSpPr txBox="1"/>
          <p:nvPr/>
        </p:nvSpPr>
        <p:spPr>
          <a:xfrm>
            <a:off x="1042988" y="4508500"/>
            <a:ext cx="7273925" cy="1630363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marL="342900" indent="-342900" eaLnBrk="0" hangingPunct="0">
              <a:lnSpc>
                <a:spcPct val="120000"/>
              </a:lnSpc>
              <a:buAutoNum type="circleNumDbPlain" startAt="2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研究某一初始时刻</a:t>
            </a:r>
            <a:r>
              <a:rPr lang="en-US" altLang="zh-CN" b="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t</a:t>
            </a:r>
            <a:r>
              <a:rPr lang="en-US" altLang="zh-CN" b="0" baseline="-250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0</a:t>
            </a:r>
            <a:r>
              <a:rPr lang="en-US" altLang="zh-CN" baseline="-2500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以后的电容电压，需要知道</a:t>
            </a:r>
            <a:r>
              <a:rPr lang="en-US" altLang="zh-CN" b="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t</a:t>
            </a:r>
            <a:r>
              <a:rPr lang="en-US" altLang="zh-CN" b="0" baseline="-250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0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时刻开始作用的电流 </a:t>
            </a:r>
            <a:r>
              <a:rPr lang="en-US" altLang="zh-CN" b="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i</a:t>
            </a:r>
            <a:r>
              <a:rPr lang="en-US" altLang="zh-CN" i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和</a:t>
            </a:r>
            <a:r>
              <a:rPr lang="en-US" altLang="zh-CN" b="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t</a:t>
            </a:r>
            <a:r>
              <a:rPr lang="en-US" altLang="zh-CN" b="0" baseline="-250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0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时刻的电压 </a:t>
            </a:r>
            <a:r>
              <a:rPr lang="en-US" altLang="zh-CN" b="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u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（</a:t>
            </a:r>
            <a:r>
              <a:rPr lang="en-US" altLang="zh-CN" b="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t</a:t>
            </a:r>
            <a:r>
              <a:rPr lang="en-US" altLang="zh-CN" b="0" baseline="-250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0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）。</a:t>
            </a:r>
            <a:endParaRPr lang="zh-CN" altLang="en-US"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343054" name="圆角矩形标注 343053"/>
          <p:cNvSpPr/>
          <p:nvPr/>
        </p:nvSpPr>
        <p:spPr>
          <a:xfrm>
            <a:off x="6732588" y="404813"/>
            <a:ext cx="1979612" cy="1728787"/>
          </a:xfrm>
          <a:prstGeom prst="wedgeRoundRectCallout">
            <a:avLst>
              <a:gd name="adj1" fmla="val -103329"/>
              <a:gd name="adj2" fmla="val 13083"/>
              <a:gd name="adj3" fmla="val 16667"/>
            </a:avLst>
          </a:prstGeom>
          <a:solidFill>
            <a:srgbClr val="99CCFF"/>
          </a:solidFill>
          <a:ln w="9525">
            <a:noFill/>
          </a:ln>
        </p:spPr>
        <p:txBody>
          <a:bodyPr anchor="ctr" anchorCtr="0"/>
          <a:p>
            <a:pPr algn="ctr" eaLnBrk="0" hangingPunct="0"/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电容元件</a:t>
            </a:r>
            <a:r>
              <a:rPr lang="en-US" altLang="zh-CN" b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VCR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的积分形式</a:t>
            </a:r>
            <a:endParaRPr lang="zh-CN" altLang="en-US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19470" name="组合 343057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19471" name="20 343058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9472" name="文本框 343059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3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2000"/>
                                        <p:tgtEl>
                                          <p:spTgt spid="343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43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90" fill="hold"/>
                                        <p:tgtEl>
                                          <p:spTgt spid="3430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90" fill="hold"/>
                                        <p:tgtEl>
                                          <p:spTgt spid="3430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90"/>
                                        <p:tgtEl>
                                          <p:spTgt spid="343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90" fill="hold"/>
                                        <p:tgtEl>
                                          <p:spTgt spid="3430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90" fill="hold"/>
                                        <p:tgtEl>
                                          <p:spTgt spid="3430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90"/>
                                        <p:tgtEl>
                                          <p:spTgt spid="343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3043" grpId="0"/>
      <p:bldP spid="343053" grpId="0"/>
      <p:bldP spid="34305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4066" name="文本框 344065"/>
          <p:cNvSpPr txBox="1"/>
          <p:nvPr/>
        </p:nvSpPr>
        <p:spPr>
          <a:xfrm>
            <a:off x="971550" y="1196975"/>
            <a:ext cx="7162800" cy="1203325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marL="342900" indent="-342900" algn="just" eaLnBrk="0" hangingPunct="0">
              <a:lnSpc>
                <a:spcPct val="130000"/>
              </a:lnSpc>
              <a:spcBef>
                <a:spcPct val="20000"/>
              </a:spcBef>
              <a:buAutoNum type="circleNumDbPlain"/>
            </a:pP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当电容的</a:t>
            </a:r>
            <a:r>
              <a:rPr lang="zh-CN" altLang="en-US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b="0" 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u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，</a:t>
            </a:r>
            <a:r>
              <a:rPr lang="en-US" altLang="zh-CN" b="0" 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i</a:t>
            </a:r>
            <a:r>
              <a:rPr lang="en-US" altLang="zh-CN" i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为非关联方向时，上述微分和积分表达式前要冠以负号</a:t>
            </a:r>
            <a:r>
              <a:rPr lang="zh-CN" altLang="en-US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;</a:t>
            </a:r>
            <a:endParaRPr lang="en-US" altLang="zh-CN">
              <a:solidFill>
                <a:schemeClr val="tx2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20482" name="组合 344066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0483" name="20 344067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484" name="文本框 344068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0485" name="组合 344069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0486" name="20 344070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487" name="文本框 344071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44073" name="组合 344072"/>
          <p:cNvGrpSpPr/>
          <p:nvPr/>
        </p:nvGrpSpPr>
        <p:grpSpPr>
          <a:xfrm>
            <a:off x="900113" y="549275"/>
            <a:ext cx="1663700" cy="850900"/>
            <a:chOff x="385" y="3022"/>
            <a:chExt cx="1020" cy="536"/>
          </a:xfrm>
        </p:grpSpPr>
        <p:pic>
          <p:nvPicPr>
            <p:cNvPr id="20489" name="20 344073" descr="1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490" name="文本框 344074"/>
            <p:cNvSpPr txBox="1"/>
            <p:nvPr/>
          </p:nvSpPr>
          <p:spPr>
            <a:xfrm>
              <a:off x="794" y="3125"/>
              <a:ext cx="611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3200" b="0" dirty="0">
                  <a:solidFill>
                    <a:srgbClr val="FF9933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注意</a:t>
              </a:r>
              <a:endParaRPr lang="zh-CN" altLang="en-US" sz="3200" b="0" dirty="0">
                <a:solidFill>
                  <a:srgbClr val="FF9933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sp>
        <p:nvSpPr>
          <p:cNvPr id="344076" name="文本框 344075"/>
          <p:cNvSpPr txBox="1"/>
          <p:nvPr/>
        </p:nvSpPr>
        <p:spPr>
          <a:xfrm>
            <a:off x="1042988" y="4149725"/>
            <a:ext cx="7162800" cy="175895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marL="342900" indent="-342900" algn="just" eaLnBrk="0" hangingPunct="0">
              <a:lnSpc>
                <a:spcPct val="130000"/>
              </a:lnSpc>
              <a:spcBef>
                <a:spcPct val="20000"/>
              </a:spcBef>
              <a:buAutoNum type="circleNumDbPlain" startAt="2"/>
            </a:pP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上式中</a:t>
            </a:r>
            <a:r>
              <a:rPr lang="en-US" altLang="zh-CN" 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u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(t</a:t>
            </a:r>
            <a:r>
              <a:rPr lang="en-US" altLang="zh-CN" baseline="-25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0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)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称为电容电压的初始值，它反映电容初始时刻的储能状况，也称为初始状态。</a:t>
            </a:r>
            <a:r>
              <a:rPr lang="zh-CN" altLang="en-US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      </a:t>
            </a:r>
            <a:endParaRPr lang="zh-CN" altLang="en-US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344077" name="对象 344076"/>
          <p:cNvGraphicFramePr/>
          <p:nvPr/>
        </p:nvGraphicFramePr>
        <p:xfrm>
          <a:off x="1116013" y="2708275"/>
          <a:ext cx="1944687" cy="122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3" imgW="723900" imgH="457200" progId="Equation.3">
                  <p:embed/>
                </p:oleObj>
              </mc:Choice>
              <mc:Fallback>
                <p:oleObj name="" r:id="rId3" imgW="723900" imgH="457200" progId="Equation.3">
                  <p:embed/>
                  <p:pic>
                    <p:nvPicPr>
                      <p:cNvPr id="0" name="20 307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990033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16013" y="2708275"/>
                        <a:ext cx="1944687" cy="1223963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FFCC99"/>
                          </a:gs>
                          <a:gs pos="100000">
                            <a:srgbClr val="FFFFFF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4078" name="对象 344077"/>
          <p:cNvGraphicFramePr/>
          <p:nvPr/>
        </p:nvGraphicFramePr>
        <p:xfrm>
          <a:off x="3348038" y="2708275"/>
          <a:ext cx="5129212" cy="117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5" imgW="3148330" imgH="799465" progId="Equation.3">
                  <p:embed/>
                </p:oleObj>
              </mc:Choice>
              <mc:Fallback>
                <p:oleObj name="" r:id="rId5" imgW="3148330" imgH="799465" progId="Equation.3">
                  <p:embed/>
                  <p:pic>
                    <p:nvPicPr>
                      <p:cNvPr id="0" name="20 3080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990033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348038" y="2708275"/>
                        <a:ext cx="5129212" cy="1176338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FFCC99"/>
                          </a:gs>
                          <a:gs pos="100000">
                            <a:schemeClr val="tx1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494" name="组合 344081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20495" name="20 344082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496" name="文本框 344083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4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4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344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44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44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066" grpId="0"/>
      <p:bldP spid="34407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5090" name="文本框 345089"/>
          <p:cNvSpPr txBox="1"/>
          <p:nvPr/>
        </p:nvSpPr>
        <p:spPr>
          <a:xfrm>
            <a:off x="611188" y="549275"/>
            <a:ext cx="4032250" cy="579438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ctr" eaLnBrk="0" hangingPunct="0">
              <a:spcBef>
                <a:spcPct val="50000"/>
              </a:spcBef>
            </a:pPr>
            <a:r>
              <a:rPr lang="en-US" altLang="zh-CN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4.</a:t>
            </a:r>
            <a:r>
              <a:rPr lang="zh-CN" altLang="en-US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电容的功率和储能</a:t>
            </a:r>
            <a:endParaRPr lang="zh-CN" altLang="en-US" sz="320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45091" name="对象 345090"/>
          <p:cNvGraphicFramePr/>
          <p:nvPr/>
        </p:nvGraphicFramePr>
        <p:xfrm>
          <a:off x="2700338" y="1052513"/>
          <a:ext cx="3097212" cy="1195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1180465" imgH="457200" progId="Equation.3">
                  <p:embed/>
                </p:oleObj>
              </mc:Choice>
              <mc:Fallback>
                <p:oleObj name="" r:id="rId1" imgW="1180465" imgH="457200" progId="Equation.3">
                  <p:embed/>
                  <p:pic>
                    <p:nvPicPr>
                      <p:cNvPr id="0" name="20 308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700338" y="1052513"/>
                        <a:ext cx="3097212" cy="1195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5092" name="文本框 345091"/>
          <p:cNvSpPr txBox="1"/>
          <p:nvPr/>
        </p:nvSpPr>
        <p:spPr>
          <a:xfrm>
            <a:off x="1116013" y="2276475"/>
            <a:ext cx="7272337" cy="604838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marL="342900" indent="-342900" eaLnBrk="0" hangingPunct="0">
              <a:lnSpc>
                <a:spcPct val="120000"/>
              </a:lnSpc>
              <a:spcBef>
                <a:spcPct val="50000"/>
              </a:spcBef>
              <a:buAutoNum type="circleNumDbPlain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当电容充电， </a:t>
            </a:r>
            <a:r>
              <a:rPr lang="en-US" altLang="zh-CN" b="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p &gt;</a:t>
            </a:r>
            <a:r>
              <a:rPr lang="en-US" altLang="zh-CN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0</a:t>
            </a: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,</a:t>
            </a:r>
            <a:r>
              <a:rPr lang="en-US" altLang="zh-CN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电容吸收功率。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45093" name="文本框 345092"/>
          <p:cNvSpPr txBox="1"/>
          <p:nvPr/>
        </p:nvSpPr>
        <p:spPr>
          <a:xfrm>
            <a:off x="1116013" y="3068638"/>
            <a:ext cx="6983412" cy="604837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marL="342900" indent="-342900" eaLnBrk="0" hangingPunct="0">
              <a:lnSpc>
                <a:spcPct val="120000"/>
              </a:lnSpc>
              <a:spcBef>
                <a:spcPct val="50000"/>
              </a:spcBef>
              <a:buAutoNum type="circleNumDbPlain" startAt="2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当电容放电，</a:t>
            </a:r>
            <a:r>
              <a:rPr lang="en-US" altLang="zh-CN" b="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p </a:t>
            </a:r>
            <a:r>
              <a:rPr lang="en-US" altLang="zh-CN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&lt;0</a:t>
            </a:r>
            <a:r>
              <a:rPr lang="en-US" altLang="zh-CN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,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电容发出功率。</a:t>
            </a:r>
            <a:endParaRPr lang="zh-CN" altLang="en-US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45094" name="文本框 345093"/>
          <p:cNvSpPr txBox="1"/>
          <p:nvPr/>
        </p:nvSpPr>
        <p:spPr>
          <a:xfrm>
            <a:off x="1042988" y="1341438"/>
            <a:ext cx="1512887" cy="547687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b="0" dirty="0">
                <a:solidFill>
                  <a:srgbClr val="FF99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b="0" dirty="0">
                <a:solidFill>
                  <a:srgbClr val="FF99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功率</a:t>
            </a:r>
            <a:endParaRPr lang="zh-CN" altLang="en-US" b="0" dirty="0">
              <a:solidFill>
                <a:srgbClr val="FF9900"/>
              </a:solidFill>
              <a:latin typeface="华文中宋" panose="02010600040101010101" pitchFamily="2" charset="-122"/>
              <a:ea typeface="华文中宋" panose="020106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45095" name="文本框 345094"/>
          <p:cNvSpPr txBox="1"/>
          <p:nvPr/>
        </p:nvSpPr>
        <p:spPr>
          <a:xfrm>
            <a:off x="900113" y="3789363"/>
            <a:ext cx="7345362" cy="23145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ct val="130000"/>
              </a:lnSpc>
              <a:spcBef>
                <a:spcPct val="50000"/>
              </a:spcBef>
            </a:pPr>
            <a:r>
              <a:rPr lang="en-US" altLang="zh-CN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       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电容能在一段时间内吸收外部供给的能量转化为电场能量储存起来，在另一段时间内又把能量释放回电路，因此电容元件是储能元件，它本身不消耗能量。</a:t>
            </a:r>
            <a:endParaRPr lang="zh-CN" altLang="en-US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345096" name="矩形标注 345095"/>
          <p:cNvSpPr/>
          <p:nvPr/>
        </p:nvSpPr>
        <p:spPr>
          <a:xfrm>
            <a:off x="6372225" y="1125538"/>
            <a:ext cx="2016125" cy="865187"/>
          </a:xfrm>
          <a:prstGeom prst="wedgeRectCallout">
            <a:avLst>
              <a:gd name="adj1" fmla="val -70315"/>
              <a:gd name="adj2" fmla="val 26148"/>
            </a:avLst>
          </a:prstGeom>
          <a:solidFill>
            <a:srgbClr val="99CCFF"/>
          </a:solidFill>
          <a:ln w="9525">
            <a:noFill/>
          </a:ln>
        </p:spPr>
        <p:txBody>
          <a:bodyPr anchor="ctr" anchorCtr="0"/>
          <a:p>
            <a:pPr algn="ctr" eaLnBrk="0" hangingPunct="0"/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u</a:t>
            </a:r>
            <a:r>
              <a:rPr lang="zh-CN" altLang="en-US" i="1" dirty="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、 </a:t>
            </a:r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i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取关联参考方向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21512" name="组合 345096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1513" name="20 345097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1514" name="文本框 345098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1515" name="组合 345099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1516" name="20 345100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1517" name="文本框 345101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45103" name="组合 345102"/>
          <p:cNvGrpSpPr/>
          <p:nvPr/>
        </p:nvGrpSpPr>
        <p:grpSpPr>
          <a:xfrm>
            <a:off x="684213" y="3716338"/>
            <a:ext cx="1663700" cy="850900"/>
            <a:chOff x="385" y="3022"/>
            <a:chExt cx="1019" cy="536"/>
          </a:xfrm>
        </p:grpSpPr>
        <p:pic>
          <p:nvPicPr>
            <p:cNvPr id="21519" name="20 345103" descr="12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1520" name="文本框 345104"/>
            <p:cNvSpPr txBox="1"/>
            <p:nvPr/>
          </p:nvSpPr>
          <p:spPr>
            <a:xfrm>
              <a:off x="793" y="3125"/>
              <a:ext cx="611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3200" b="0" dirty="0">
                  <a:solidFill>
                    <a:srgbClr val="FF9933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表明</a:t>
              </a:r>
              <a:endParaRPr lang="zh-CN" altLang="en-US" sz="3200" b="0" dirty="0">
                <a:solidFill>
                  <a:srgbClr val="FF9933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21521" name="组合 345108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21522" name="20 345109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1523" name="文本框 345110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3450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3450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50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50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500"/>
                                        <p:tgtEl>
                                          <p:spTgt spid="345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3" dur="2000"/>
                                        <p:tgtEl>
                                          <p:spTgt spid="345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90" fill="hold"/>
                                        <p:tgtEl>
                                          <p:spTgt spid="3450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90" fill="hold"/>
                                        <p:tgtEl>
                                          <p:spTgt spid="3450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90"/>
                                        <p:tgtEl>
                                          <p:spTgt spid="345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90" fill="hold"/>
                                        <p:tgtEl>
                                          <p:spTgt spid="3450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90" fill="hold"/>
                                        <p:tgtEl>
                                          <p:spTgt spid="3450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45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90" fill="hold"/>
                                        <p:tgtEl>
                                          <p:spTgt spid="3450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90" fill="hold"/>
                                        <p:tgtEl>
                                          <p:spTgt spid="3450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90"/>
                                        <p:tgtEl>
                                          <p:spTgt spid="345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5090" grpId="0"/>
      <p:bldP spid="345092" grpId="0"/>
      <p:bldP spid="345093" grpId="0"/>
      <p:bldP spid="345094" grpId="0" animBg="1"/>
      <p:bldP spid="345095" grpId="0"/>
      <p:bldP spid="34509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6114" name="文本框 346113"/>
          <p:cNvSpPr txBox="1"/>
          <p:nvPr/>
        </p:nvSpPr>
        <p:spPr>
          <a:xfrm>
            <a:off x="755650" y="3933825"/>
            <a:ext cx="5472113" cy="519113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ctr" eaLnBrk="0" hangingPunct="0">
              <a:spcBef>
                <a:spcPct val="50000"/>
              </a:spcBef>
            </a:pPr>
            <a:r>
              <a:rPr lang="zh-CN" altLang="en-US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从</a:t>
            </a:r>
            <a:r>
              <a:rPr lang="en-US" altLang="zh-CN" b="0" 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到 </a:t>
            </a:r>
            <a:r>
              <a:rPr lang="en-US" altLang="zh-CN" b="0" 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电容储能的变化量：</a:t>
            </a:r>
            <a:endParaRPr lang="zh-CN" altLang="en-US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46115" name="对象 346114"/>
          <p:cNvGraphicFramePr/>
          <p:nvPr/>
        </p:nvGraphicFramePr>
        <p:xfrm>
          <a:off x="1547813" y="4652963"/>
          <a:ext cx="4010025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1828165" imgH="444500" progId="Equation.3">
                  <p:embed/>
                </p:oleObj>
              </mc:Choice>
              <mc:Fallback>
                <p:oleObj name="" r:id="rId1" imgW="1828165" imgH="444500" progId="Equation.3">
                  <p:embed/>
                  <p:pic>
                    <p:nvPicPr>
                      <p:cNvPr id="0" name="20 308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547813" y="4652963"/>
                        <a:ext cx="4010025" cy="969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6116" name="对象 346115"/>
          <p:cNvGraphicFramePr/>
          <p:nvPr/>
        </p:nvGraphicFramePr>
        <p:xfrm>
          <a:off x="1204913" y="1412875"/>
          <a:ext cx="5581650" cy="1236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3" imgW="2120265" imgH="520700" progId="Equation.3">
                  <p:embed/>
                </p:oleObj>
              </mc:Choice>
              <mc:Fallback>
                <p:oleObj name="" r:id="rId3" imgW="2120265" imgH="520700" progId="Equation.3">
                  <p:embed/>
                  <p:pic>
                    <p:nvPicPr>
                      <p:cNvPr id="0" name="20 308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04913" y="1412875"/>
                        <a:ext cx="5581650" cy="1236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6117" name="文本框 346116"/>
          <p:cNvSpPr txBox="1"/>
          <p:nvPr/>
        </p:nvSpPr>
        <p:spPr>
          <a:xfrm>
            <a:off x="1042988" y="765175"/>
            <a:ext cx="2736850" cy="547688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电容的储能</a:t>
            </a:r>
            <a:endParaRPr lang="zh-CN" altLang="en-US">
              <a:solidFill>
                <a:srgbClr val="FF9900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22533" name="组合 346117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2534" name="20 346118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2535" name="文本框 346119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2536" name="组合 346120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2537" name="20 346121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2538" name="文本框 346122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aphicFrame>
        <p:nvGraphicFramePr>
          <p:cNvPr id="346124" name="对象 346123"/>
          <p:cNvGraphicFramePr/>
          <p:nvPr/>
        </p:nvGraphicFramePr>
        <p:xfrm>
          <a:off x="1258888" y="2708275"/>
          <a:ext cx="3517900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6" imgW="1701165" imgH="444500" progId="Equation.3">
                  <p:embed/>
                </p:oleObj>
              </mc:Choice>
              <mc:Fallback>
                <p:oleObj name="" r:id="rId6" imgW="1701165" imgH="444500" progId="Equation.3">
                  <p:embed/>
                  <p:pic>
                    <p:nvPicPr>
                      <p:cNvPr id="0" name="20 3084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58888" y="2708275"/>
                        <a:ext cx="3517900" cy="979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6125" name="直接连接符 346124"/>
          <p:cNvSpPr/>
          <p:nvPr/>
        </p:nvSpPr>
        <p:spPr>
          <a:xfrm flipV="1">
            <a:off x="3492500" y="2708275"/>
            <a:ext cx="1368425" cy="1152525"/>
          </a:xfrm>
          <a:prstGeom prst="line">
            <a:avLst/>
          </a:prstGeom>
          <a:ln w="28575" cap="sq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</p:spPr>
      </p:sp>
      <p:graphicFrame>
        <p:nvGraphicFramePr>
          <p:cNvPr id="346126" name="对象 346125"/>
          <p:cNvGraphicFramePr/>
          <p:nvPr/>
        </p:nvGraphicFramePr>
        <p:xfrm>
          <a:off x="4859338" y="2636838"/>
          <a:ext cx="1657350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8" imgW="774065" imgH="444500" progId="Equation.3">
                  <p:embed/>
                </p:oleObj>
              </mc:Choice>
              <mc:Fallback>
                <p:oleObj name="" r:id="rId8" imgW="774065" imgH="444500" progId="Equation.3">
                  <p:embed/>
                  <p:pic>
                    <p:nvPicPr>
                      <p:cNvPr id="0" name="20 3083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859338" y="2636838"/>
                        <a:ext cx="1657350" cy="1012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542" name="组合 346129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22543" name="20 346130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2544" name="文本框 346131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6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6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46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46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46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46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46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46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2000"/>
                                        <p:tgtEl>
                                          <p:spTgt spid="346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6114" grpId="0"/>
      <p:bldP spid="34611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7138" name="文本框 347137"/>
          <p:cNvSpPr txBox="1"/>
          <p:nvPr/>
        </p:nvSpPr>
        <p:spPr>
          <a:xfrm>
            <a:off x="1116013" y="2997200"/>
            <a:ext cx="7559675" cy="1973263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marL="342900" indent="-342900" eaLnBrk="0" hangingPunct="0">
              <a:lnSpc>
                <a:spcPct val="130000"/>
              </a:lnSpc>
              <a:spcBef>
                <a:spcPct val="50000"/>
              </a:spcBef>
              <a:buAutoNum type="circleNumDbPlain"/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电容的储能只与当时的电压值有关，电容电压不能跃变，反映了储能不能跃变；</a:t>
            </a:r>
            <a:endParaRPr lang="zh-CN" altLang="en-US" dirty="0"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  <a:p>
            <a:pPr marL="342900" indent="-342900" eaLnBrk="0" hangingPunct="0">
              <a:lnSpc>
                <a:spcPct val="130000"/>
              </a:lnSpc>
              <a:spcBef>
                <a:spcPct val="50000"/>
              </a:spcBef>
              <a:buAutoNum type="circleNumDbPlain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电容储存的能量一定大于或等于零。</a:t>
            </a:r>
            <a:endParaRPr lang="zh-CN" altLang="en-US"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23554" name="组合 347138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3555" name="20 347139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3556" name="文本框 347140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3557" name="组合 347141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3558" name="20 347142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3559" name="文本框 347143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47145" name="组合 347144"/>
          <p:cNvGrpSpPr/>
          <p:nvPr/>
        </p:nvGrpSpPr>
        <p:grpSpPr>
          <a:xfrm>
            <a:off x="971550" y="2133600"/>
            <a:ext cx="1663700" cy="850900"/>
            <a:chOff x="385" y="3022"/>
            <a:chExt cx="1019" cy="536"/>
          </a:xfrm>
        </p:grpSpPr>
        <p:pic>
          <p:nvPicPr>
            <p:cNvPr id="23561" name="20 347145" descr="1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3562" name="文本框 347146"/>
            <p:cNvSpPr txBox="1"/>
            <p:nvPr/>
          </p:nvSpPr>
          <p:spPr>
            <a:xfrm>
              <a:off x="793" y="3125"/>
              <a:ext cx="611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3200" b="0" dirty="0">
                  <a:solidFill>
                    <a:srgbClr val="FF9933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表明</a:t>
              </a:r>
              <a:endParaRPr lang="zh-CN" altLang="en-US" sz="3200" b="0" dirty="0">
                <a:solidFill>
                  <a:srgbClr val="FF9933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graphicFrame>
        <p:nvGraphicFramePr>
          <p:cNvPr id="23563" name="对象 347147"/>
          <p:cNvGraphicFramePr/>
          <p:nvPr/>
        </p:nvGraphicFramePr>
        <p:xfrm>
          <a:off x="1928813" y="692150"/>
          <a:ext cx="3990975" cy="127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3" imgW="1485265" imgH="444500" progId="Equation.3">
                  <p:embed/>
                </p:oleObj>
              </mc:Choice>
              <mc:Fallback>
                <p:oleObj name="" r:id="rId3" imgW="1485265" imgH="444500" progId="Equation.3">
                  <p:embed/>
                  <p:pic>
                    <p:nvPicPr>
                      <p:cNvPr id="0" name="20 308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928813" y="692150"/>
                        <a:ext cx="3990975" cy="1271588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FFCC99"/>
                          </a:gs>
                          <a:gs pos="100000">
                            <a:schemeClr val="tx1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564" name="组合 347151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23565" name="20 347152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3566" name="文本框 347153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7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47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713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62" name="文本框 348161"/>
          <p:cNvSpPr txBox="1"/>
          <p:nvPr/>
        </p:nvSpPr>
        <p:spPr>
          <a:xfrm>
            <a:off x="611188" y="549275"/>
            <a:ext cx="576262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</a:pP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例</a:t>
            </a:r>
            <a:endParaRPr lang="zh-CN" altLang="en-US" sz="3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348163" name="组合 348162"/>
          <p:cNvGrpSpPr/>
          <p:nvPr/>
        </p:nvGrpSpPr>
        <p:grpSpPr>
          <a:xfrm>
            <a:off x="1042988" y="1412875"/>
            <a:ext cx="3563937" cy="1873250"/>
            <a:chOff x="3288" y="164"/>
            <a:chExt cx="2245" cy="1180"/>
          </a:xfrm>
        </p:grpSpPr>
        <p:grpSp>
          <p:nvGrpSpPr>
            <p:cNvPr id="24579" name="组合 348163"/>
            <p:cNvGrpSpPr/>
            <p:nvPr/>
          </p:nvGrpSpPr>
          <p:grpSpPr>
            <a:xfrm>
              <a:off x="3288" y="210"/>
              <a:ext cx="2245" cy="1134"/>
              <a:chOff x="3515" y="210"/>
              <a:chExt cx="2245" cy="1134"/>
            </a:xfrm>
          </p:grpSpPr>
          <p:sp>
            <p:nvSpPr>
              <p:cNvPr id="24580" name="椭圆 348164"/>
              <p:cNvSpPr/>
              <p:nvPr/>
            </p:nvSpPr>
            <p:spPr>
              <a:xfrm>
                <a:off x="3515" y="527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chemeClr val="accent1"/>
                  </a:gs>
                  <a:gs pos="100000">
                    <a:srgbClr val="182F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p>
                <a:endParaRPr lang="zh-CN" altLang="en-US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grpSp>
            <p:nvGrpSpPr>
              <p:cNvPr id="24581" name="组合 348165"/>
              <p:cNvGrpSpPr/>
              <p:nvPr/>
            </p:nvGrpSpPr>
            <p:grpSpPr>
              <a:xfrm>
                <a:off x="4876" y="663"/>
                <a:ext cx="408" cy="136"/>
                <a:chOff x="1837" y="2160"/>
                <a:chExt cx="589" cy="181"/>
              </a:xfrm>
            </p:grpSpPr>
            <p:sp>
              <p:nvSpPr>
                <p:cNvPr id="24582" name="直接连接符 348166"/>
                <p:cNvSpPr/>
                <p:nvPr/>
              </p:nvSpPr>
              <p:spPr>
                <a:xfrm>
                  <a:off x="1837" y="2160"/>
                  <a:ext cx="589" cy="0"/>
                </a:xfrm>
                <a:prstGeom prst="line">
                  <a:avLst/>
                </a:prstGeom>
                <a:ln w="57150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4583" name="直接连接符 348167"/>
                <p:cNvSpPr/>
                <p:nvPr/>
              </p:nvSpPr>
              <p:spPr>
                <a:xfrm>
                  <a:off x="1837" y="2341"/>
                  <a:ext cx="589" cy="0"/>
                </a:xfrm>
                <a:prstGeom prst="line">
                  <a:avLst/>
                </a:prstGeom>
                <a:ln w="57150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4584" name="直接连接符 348168"/>
              <p:cNvSpPr/>
              <p:nvPr/>
            </p:nvSpPr>
            <p:spPr>
              <a:xfrm>
                <a:off x="3696" y="210"/>
                <a:ext cx="0" cy="1134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4585" name="直接连接符 348169"/>
              <p:cNvSpPr/>
              <p:nvPr/>
            </p:nvSpPr>
            <p:spPr>
              <a:xfrm>
                <a:off x="3696" y="210"/>
                <a:ext cx="1407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4586" name="直接连接符 348170"/>
              <p:cNvSpPr/>
              <p:nvPr/>
            </p:nvSpPr>
            <p:spPr>
              <a:xfrm>
                <a:off x="3696" y="1344"/>
                <a:ext cx="1407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4587" name="直接连接符 348171"/>
              <p:cNvSpPr/>
              <p:nvPr/>
            </p:nvSpPr>
            <p:spPr>
              <a:xfrm>
                <a:off x="5103" y="210"/>
                <a:ext cx="0" cy="453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4588" name="直接连接符 348172"/>
              <p:cNvSpPr/>
              <p:nvPr/>
            </p:nvSpPr>
            <p:spPr>
              <a:xfrm>
                <a:off x="5103" y="799"/>
                <a:ext cx="0" cy="545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4589" name="文本框 348173"/>
              <p:cNvSpPr txBox="1"/>
              <p:nvPr/>
            </p:nvSpPr>
            <p:spPr>
              <a:xfrm>
                <a:off x="3696" y="255"/>
                <a:ext cx="272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 algn="ctr" eaLnBrk="0" hangingPunct="0">
                  <a:spcBef>
                    <a:spcPct val="50000"/>
                  </a:spcBef>
                </a:pPr>
                <a:r>
                  <a:rPr lang="zh-CN" altLang="en-US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  <a:sym typeface="Symbol" panose="05050102010706020507" pitchFamily="18" charset="2"/>
                  </a:rPr>
                  <a:t>＋</a:t>
                </a:r>
                <a:endParaRPr lang="zh-CN" altLang="en-US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24590" name="文本框 348174"/>
              <p:cNvSpPr txBox="1"/>
              <p:nvPr/>
            </p:nvSpPr>
            <p:spPr>
              <a:xfrm>
                <a:off x="3696" y="890"/>
                <a:ext cx="272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 algn="ctr" eaLnBrk="0" hangingPunct="0">
                  <a:spcBef>
                    <a:spcPct val="50000"/>
                  </a:spcBef>
                </a:pPr>
                <a:r>
                  <a:rPr lang="zh-CN" altLang="en-US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  <a:sym typeface="Symbol" panose="05050102010706020507" pitchFamily="18" charset="2"/>
                  </a:rPr>
                  <a:t>－</a:t>
                </a:r>
                <a:endParaRPr lang="zh-CN" altLang="en-US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  <p:graphicFrame>
            <p:nvGraphicFramePr>
              <p:cNvPr id="24591" name="对象 348175"/>
              <p:cNvGraphicFramePr/>
              <p:nvPr/>
            </p:nvGraphicFramePr>
            <p:xfrm>
              <a:off x="3913" y="562"/>
              <a:ext cx="586" cy="3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7" name="" r:id="rId1" imgW="368300" imgH="241300" progId="Equation.3">
                      <p:embed/>
                    </p:oleObj>
                  </mc:Choice>
                  <mc:Fallback>
                    <p:oleObj name="" r:id="rId1" imgW="368300" imgH="241300" progId="Equation.3">
                      <p:embed/>
                      <p:pic>
                        <p:nvPicPr>
                          <p:cNvPr id="0" name="20 3086"/>
                          <p:cNvPicPr/>
                          <p:nvPr/>
                        </p:nvPicPr>
                        <p:blipFill>
                          <a:blip r:embed="rId2">
                            <a:clrChange>
                              <a:clrFrom>
                                <a:srgbClr val="000000"/>
                              </a:clrFrom>
                              <a:clrTo>
                                <a:srgbClr val="FFFFFF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3913" y="562"/>
                            <a:ext cx="586" cy="38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4592" name="文本框 348176"/>
              <p:cNvSpPr txBox="1"/>
              <p:nvPr/>
            </p:nvSpPr>
            <p:spPr>
              <a:xfrm>
                <a:off x="4558" y="527"/>
                <a:ext cx="317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b="0" i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  <a:sym typeface="Symbol" panose="05050102010706020507" pitchFamily="18" charset="2"/>
                  </a:rPr>
                  <a:t>C</a:t>
                </a:r>
                <a:endPara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24593" name="文本框 348177"/>
              <p:cNvSpPr txBox="1"/>
              <p:nvPr/>
            </p:nvSpPr>
            <p:spPr>
              <a:xfrm>
                <a:off x="5215" y="572"/>
                <a:ext cx="545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b="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  <a:sym typeface="Symbol" panose="05050102010706020507" pitchFamily="18" charset="2"/>
                  </a:rPr>
                  <a:t>0.5F</a:t>
                </a:r>
                <a:endPara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</p:grpSp>
        <p:sp>
          <p:nvSpPr>
            <p:cNvPr id="24594" name="右箭头 348178"/>
            <p:cNvSpPr/>
            <p:nvPr/>
          </p:nvSpPr>
          <p:spPr>
            <a:xfrm>
              <a:off x="3923" y="255"/>
              <a:ext cx="409" cy="91"/>
            </a:xfrm>
            <a:prstGeom prst="rightArrow">
              <a:avLst>
                <a:gd name="adj1" fmla="val 50000"/>
                <a:gd name="adj2" fmla="val 112321"/>
              </a:avLst>
            </a:prstGeom>
            <a:solidFill>
              <a:srgbClr val="00CCFF"/>
            </a:solidFill>
            <a:ln w="9525">
              <a:noFill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4595" name="文本框 348179"/>
            <p:cNvSpPr txBox="1"/>
            <p:nvPr/>
          </p:nvSpPr>
          <p:spPr>
            <a:xfrm>
              <a:off x="4377" y="164"/>
              <a:ext cx="22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endParaRPr lang="en-US" altLang="zh-CN" b="0" i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348181" name="文本框 348180"/>
          <p:cNvSpPr txBox="1"/>
          <p:nvPr/>
        </p:nvSpPr>
        <p:spPr>
          <a:xfrm>
            <a:off x="1547813" y="549275"/>
            <a:ext cx="6551612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求电容电流</a:t>
            </a:r>
            <a:r>
              <a:rPr lang="en-US" altLang="zh-CN" b="0" 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i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、功率</a:t>
            </a:r>
            <a:r>
              <a:rPr lang="en-US" altLang="zh-CN" b="0" 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P </a:t>
            </a:r>
            <a:r>
              <a: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b="0" 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t</a:t>
            </a:r>
            <a:r>
              <a: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)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和储能</a:t>
            </a:r>
            <a:r>
              <a:rPr lang="en-US" altLang="zh-CN" b="0" 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W </a:t>
            </a:r>
            <a:r>
              <a: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b="0" 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t</a:t>
            </a:r>
            <a:r>
              <a: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)</a:t>
            </a:r>
            <a:endParaRPr lang="en-US" altLang="zh-CN" b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348210" name="组合 348209"/>
          <p:cNvGrpSpPr/>
          <p:nvPr/>
        </p:nvGrpSpPr>
        <p:grpSpPr>
          <a:xfrm>
            <a:off x="4859338" y="1341438"/>
            <a:ext cx="3673475" cy="2103437"/>
            <a:chOff x="3061" y="845"/>
            <a:chExt cx="2314" cy="1325"/>
          </a:xfrm>
        </p:grpSpPr>
        <p:sp>
          <p:nvSpPr>
            <p:cNvPr id="24598" name="直接连接符 348182"/>
            <p:cNvSpPr/>
            <p:nvPr/>
          </p:nvSpPr>
          <p:spPr>
            <a:xfrm>
              <a:off x="3277" y="935"/>
              <a:ext cx="0" cy="10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24599" name="直接连接符 348183"/>
            <p:cNvSpPr/>
            <p:nvPr/>
          </p:nvSpPr>
          <p:spPr>
            <a:xfrm>
              <a:off x="3147" y="1843"/>
              <a:ext cx="2033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4600" name="直接连接符 348184"/>
            <p:cNvSpPr/>
            <p:nvPr/>
          </p:nvSpPr>
          <p:spPr>
            <a:xfrm flipV="1">
              <a:off x="3277" y="1162"/>
              <a:ext cx="822" cy="681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01" name="直接连接符 348185"/>
            <p:cNvSpPr/>
            <p:nvPr/>
          </p:nvSpPr>
          <p:spPr>
            <a:xfrm>
              <a:off x="4099" y="1162"/>
              <a:ext cx="779" cy="681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02" name="文本框 348186"/>
            <p:cNvSpPr txBox="1"/>
            <p:nvPr/>
          </p:nvSpPr>
          <p:spPr>
            <a:xfrm>
              <a:off x="4704" y="1797"/>
              <a:ext cx="26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2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4603" name="文本框 348187"/>
            <p:cNvSpPr txBox="1"/>
            <p:nvPr/>
          </p:nvSpPr>
          <p:spPr>
            <a:xfrm>
              <a:off x="3969" y="1843"/>
              <a:ext cx="25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4604" name="文本框 348188"/>
            <p:cNvSpPr txBox="1"/>
            <p:nvPr/>
          </p:nvSpPr>
          <p:spPr>
            <a:xfrm>
              <a:off x="4899" y="1797"/>
              <a:ext cx="4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t </a:t>
              </a:r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/s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4605" name="文本框 348189"/>
            <p:cNvSpPr txBox="1"/>
            <p:nvPr/>
          </p:nvSpPr>
          <p:spPr>
            <a:xfrm>
              <a:off x="3061" y="1026"/>
              <a:ext cx="25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2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4606" name="文本框 348190"/>
            <p:cNvSpPr txBox="1"/>
            <p:nvPr/>
          </p:nvSpPr>
          <p:spPr>
            <a:xfrm>
              <a:off x="3061" y="1843"/>
              <a:ext cx="25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0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4607" name="直接连接符 348191"/>
            <p:cNvSpPr/>
            <p:nvPr/>
          </p:nvSpPr>
          <p:spPr>
            <a:xfrm>
              <a:off x="3277" y="1162"/>
              <a:ext cx="82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Dot"/>
              <a:round/>
              <a:headEnd type="none" w="med" len="med"/>
              <a:tailEnd type="none" w="med" len="med"/>
            </a:ln>
          </p:spPr>
        </p:sp>
        <p:sp>
          <p:nvSpPr>
            <p:cNvPr id="24608" name="文本框 348192"/>
            <p:cNvSpPr txBox="1"/>
            <p:nvPr/>
          </p:nvSpPr>
          <p:spPr>
            <a:xfrm>
              <a:off x="3320" y="845"/>
              <a:ext cx="64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 err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r>
                <a:rPr lang="en-US" altLang="zh-CN" b="0" baseline="-25000" err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S</a:t>
              </a: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/</a:t>
              </a:r>
              <a:r>
                <a:rPr lang="en-US" altLang="zh-CN" sz="2400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V</a:t>
              </a:r>
              <a:endPara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348194" name="圆角矩形标注 348193"/>
          <p:cNvSpPr/>
          <p:nvPr/>
        </p:nvSpPr>
        <p:spPr>
          <a:xfrm>
            <a:off x="6516688" y="1125538"/>
            <a:ext cx="1728787" cy="504825"/>
          </a:xfrm>
          <a:prstGeom prst="wedgeRoundRectCallout">
            <a:avLst>
              <a:gd name="adj1" fmla="val -47889"/>
              <a:gd name="adj2" fmla="val 155977"/>
              <a:gd name="adj3" fmla="val 16667"/>
            </a:avLst>
          </a:prstGeom>
          <a:solidFill>
            <a:srgbClr val="99CCFF"/>
          </a:solidFill>
          <a:ln w="9525">
            <a:noFill/>
          </a:ln>
        </p:spPr>
        <p:txBody>
          <a:bodyPr anchor="ctr" anchorCtr="0"/>
          <a:p>
            <a:pPr algn="ctr" eaLnBrk="0" hangingPunct="0"/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电源波形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348195" name="文本框 348194"/>
          <p:cNvSpPr txBox="1"/>
          <p:nvPr/>
        </p:nvSpPr>
        <p:spPr>
          <a:xfrm>
            <a:off x="611188" y="3644900"/>
            <a:ext cx="576262" cy="579438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</a:pP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解</a:t>
            </a:r>
            <a:endParaRPr lang="zh-CN" altLang="en-US" sz="3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48196" name="文本框 348195"/>
          <p:cNvSpPr txBox="1"/>
          <p:nvPr/>
        </p:nvSpPr>
        <p:spPr>
          <a:xfrm>
            <a:off x="1476375" y="3644900"/>
            <a:ext cx="3960813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</a:pPr>
            <a:r>
              <a:rPr lang="en-US" altLang="zh-CN" b="0" i="1" err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u</a:t>
            </a:r>
            <a:r>
              <a:rPr lang="en-US" altLang="zh-CN" b="0" baseline="-25000" err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S</a:t>
            </a:r>
            <a:r>
              <a:rPr lang="en-US" altLang="zh-CN" b="0" baseline="-250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b="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t</a:t>
            </a:r>
            <a:r>
              <a:rPr lang="en-US" altLang="zh-CN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)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的函数表示式为</a:t>
            </a:r>
            <a:r>
              <a:rPr lang="en-US" altLang="zh-CN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:</a:t>
            </a:r>
            <a:endParaRPr lang="en-US" altLang="zh-CN"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348197" name="对象 348196"/>
          <p:cNvGraphicFramePr/>
          <p:nvPr/>
        </p:nvGraphicFramePr>
        <p:xfrm>
          <a:off x="1547813" y="4076700"/>
          <a:ext cx="4752975" cy="2389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3" imgW="2006600" imgH="1054100" progId="Equation.3">
                  <p:embed/>
                </p:oleObj>
              </mc:Choice>
              <mc:Fallback>
                <p:oleObj name="" r:id="rId3" imgW="2006600" imgH="1054100" progId="Equation.3">
                  <p:embed/>
                  <p:pic>
                    <p:nvPicPr>
                      <p:cNvPr id="0" name="20 308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547813" y="4076700"/>
                        <a:ext cx="4752975" cy="2389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613" name="组合 348197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4614" name="20 348198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4615" name="文本框 348199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4616" name="组合 348200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4617" name="20 348201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4618" name="文本框 348202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4619" name="组合 348206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24620" name="20 348207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4621" name="文本框 348208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48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8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48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48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48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48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2000"/>
                                        <p:tgtEl>
                                          <p:spTgt spid="34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0"/>
                            </p:stCondLst>
                            <p:childTnLst>
                              <p:par>
                                <p:cTn id="2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" fill="hold"/>
                                        <p:tgtEl>
                                          <p:spTgt spid="348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" fill="hold"/>
                                        <p:tgtEl>
                                          <p:spTgt spid="348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"/>
                                        <p:tgtEl>
                                          <p:spTgt spid="348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481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481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4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4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34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2000"/>
                                        <p:tgtEl>
                                          <p:spTgt spid="34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62" grpId="0"/>
      <p:bldP spid="348181" grpId="0"/>
      <p:bldP spid="348194" grpId="0" animBg="1"/>
      <p:bldP spid="348195" grpId="0" animBg="1"/>
      <p:bldP spid="34819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5601" name="对象 349185"/>
          <p:cNvGraphicFramePr/>
          <p:nvPr/>
        </p:nvGraphicFramePr>
        <p:xfrm>
          <a:off x="684213" y="392113"/>
          <a:ext cx="4321175" cy="217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" imgW="2006600" imgH="1054100" progId="Equation.3">
                  <p:embed/>
                </p:oleObj>
              </mc:Choice>
              <mc:Fallback>
                <p:oleObj name="" r:id="rId1" imgW="2006600" imgH="1054100" progId="Equation.3">
                  <p:embed/>
                  <p:pic>
                    <p:nvPicPr>
                      <p:cNvPr id="0" name="20 309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4213" y="392113"/>
                        <a:ext cx="4321175" cy="21732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187" name="对象 349186"/>
          <p:cNvGraphicFramePr/>
          <p:nvPr/>
        </p:nvGraphicFramePr>
        <p:xfrm>
          <a:off x="698500" y="3109913"/>
          <a:ext cx="4867275" cy="241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3" imgW="2120900" imgH="1054100" progId="Equation.3">
                  <p:embed/>
                </p:oleObj>
              </mc:Choice>
              <mc:Fallback>
                <p:oleObj name="" r:id="rId3" imgW="2120900" imgH="1054100" progId="Equation.3">
                  <p:embed/>
                  <p:pic>
                    <p:nvPicPr>
                      <p:cNvPr id="0" name="20 308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98500" y="3109913"/>
                        <a:ext cx="4867275" cy="2416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9188" name="文本框 349187"/>
          <p:cNvSpPr txBox="1"/>
          <p:nvPr/>
        </p:nvSpPr>
        <p:spPr>
          <a:xfrm>
            <a:off x="684213" y="2492375"/>
            <a:ext cx="1800225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解得电流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349189" name="组合 349188"/>
          <p:cNvGrpSpPr/>
          <p:nvPr/>
        </p:nvGrpSpPr>
        <p:grpSpPr>
          <a:xfrm>
            <a:off x="5435600" y="1125538"/>
            <a:ext cx="3311525" cy="2419350"/>
            <a:chOff x="3334" y="2795"/>
            <a:chExt cx="2086" cy="1134"/>
          </a:xfrm>
        </p:grpSpPr>
        <p:sp>
          <p:nvSpPr>
            <p:cNvPr id="25605" name="直接连接符 349189"/>
            <p:cNvSpPr/>
            <p:nvPr/>
          </p:nvSpPr>
          <p:spPr>
            <a:xfrm>
              <a:off x="3629" y="2885"/>
              <a:ext cx="0" cy="10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25606" name="直接连接符 349190"/>
            <p:cNvSpPr/>
            <p:nvPr/>
          </p:nvSpPr>
          <p:spPr>
            <a:xfrm>
              <a:off x="3518" y="3430"/>
              <a:ext cx="17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5607" name="文本框 349191"/>
            <p:cNvSpPr txBox="1"/>
            <p:nvPr/>
          </p:nvSpPr>
          <p:spPr>
            <a:xfrm>
              <a:off x="4811" y="3385"/>
              <a:ext cx="221" cy="24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2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5608" name="文本框 349192"/>
            <p:cNvSpPr txBox="1"/>
            <p:nvPr/>
          </p:nvSpPr>
          <p:spPr>
            <a:xfrm>
              <a:off x="4109" y="3430"/>
              <a:ext cx="222" cy="24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5609" name="文本框 349193"/>
            <p:cNvSpPr txBox="1"/>
            <p:nvPr/>
          </p:nvSpPr>
          <p:spPr>
            <a:xfrm>
              <a:off x="5014" y="3430"/>
              <a:ext cx="406" cy="24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t </a:t>
              </a:r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/s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5610" name="文本框 349194"/>
            <p:cNvSpPr txBox="1"/>
            <p:nvPr/>
          </p:nvSpPr>
          <p:spPr>
            <a:xfrm>
              <a:off x="3445" y="2976"/>
              <a:ext cx="221" cy="24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5611" name="直接连接符 349195"/>
            <p:cNvSpPr/>
            <p:nvPr/>
          </p:nvSpPr>
          <p:spPr>
            <a:xfrm>
              <a:off x="3629" y="3112"/>
              <a:ext cx="702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12" name="文本框 349196"/>
            <p:cNvSpPr txBox="1"/>
            <p:nvPr/>
          </p:nvSpPr>
          <p:spPr>
            <a:xfrm>
              <a:off x="3666" y="2795"/>
              <a:ext cx="406" cy="24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i/</a:t>
              </a:r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A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5613" name="文本框 349197"/>
            <p:cNvSpPr txBox="1"/>
            <p:nvPr/>
          </p:nvSpPr>
          <p:spPr>
            <a:xfrm>
              <a:off x="3334" y="3521"/>
              <a:ext cx="332" cy="24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-1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5614" name="直接连接符 349198"/>
            <p:cNvSpPr/>
            <p:nvPr/>
          </p:nvSpPr>
          <p:spPr>
            <a:xfrm>
              <a:off x="4331" y="3748"/>
              <a:ext cx="701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15" name="直接连接符 349199"/>
            <p:cNvSpPr/>
            <p:nvPr/>
          </p:nvSpPr>
          <p:spPr>
            <a:xfrm>
              <a:off x="4331" y="3113"/>
              <a:ext cx="0" cy="635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16" name="直接连接符 349200"/>
            <p:cNvSpPr/>
            <p:nvPr/>
          </p:nvSpPr>
          <p:spPr>
            <a:xfrm>
              <a:off x="4996" y="3430"/>
              <a:ext cx="0" cy="318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5617" name="组合 349201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5618" name="20 349202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5619" name="文本框 349203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5620" name="组合 349204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5621" name="20 349205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5622" name="文本框 349206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349208" name="文本框 349207"/>
          <p:cNvSpPr txBox="1"/>
          <p:nvPr/>
        </p:nvSpPr>
        <p:spPr>
          <a:xfrm>
            <a:off x="5867400" y="2420938"/>
            <a:ext cx="576263" cy="519112"/>
          </a:xfrm>
          <a:prstGeom prst="rect">
            <a:avLst/>
          </a:prstGeom>
          <a:noFill/>
          <a:ln w="28575">
            <a:noFill/>
          </a:ln>
          <a:effectLst>
            <a:prstShdw prst="shdw17" dist="17961" dir="2699999">
              <a:schemeClr val="bg2"/>
            </a:prstShdw>
          </a:effectLst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lang="en-US" altLang="zh-CN" b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25624" name="组合 349211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25625" name="20 349212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5626" name="文本框 349213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9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9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49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2000"/>
                                        <p:tgtEl>
                                          <p:spTgt spid="349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49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9188" grpId="0"/>
      <p:bldP spid="34920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50210" name="对象 350209"/>
          <p:cNvGraphicFramePr/>
          <p:nvPr/>
        </p:nvGraphicFramePr>
        <p:xfrm>
          <a:off x="1057275" y="501650"/>
          <a:ext cx="5459413" cy="228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" imgW="2514600" imgH="1054100" progId="Equation.3">
                  <p:embed/>
                </p:oleObj>
              </mc:Choice>
              <mc:Fallback>
                <p:oleObj name="" r:id="rId1" imgW="2514600" imgH="1054100" progId="Equation.3">
                  <p:embed/>
                  <p:pic>
                    <p:nvPicPr>
                      <p:cNvPr id="0" name="20 309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57275" y="501650"/>
                        <a:ext cx="5459413" cy="2289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0211" name="组合 350210"/>
          <p:cNvGrpSpPr/>
          <p:nvPr/>
        </p:nvGrpSpPr>
        <p:grpSpPr>
          <a:xfrm>
            <a:off x="2051050" y="2997200"/>
            <a:ext cx="4103688" cy="2679700"/>
            <a:chOff x="2880" y="255"/>
            <a:chExt cx="2585" cy="1688"/>
          </a:xfrm>
        </p:grpSpPr>
        <p:sp>
          <p:nvSpPr>
            <p:cNvPr id="26627" name="直接连接符 350211"/>
            <p:cNvSpPr/>
            <p:nvPr/>
          </p:nvSpPr>
          <p:spPr>
            <a:xfrm>
              <a:off x="3242" y="340"/>
              <a:ext cx="27" cy="154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26628" name="直接连接符 350212"/>
            <p:cNvSpPr/>
            <p:nvPr/>
          </p:nvSpPr>
          <p:spPr>
            <a:xfrm>
              <a:off x="3104" y="1198"/>
              <a:ext cx="215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629" name="直接连接符 350213"/>
            <p:cNvSpPr/>
            <p:nvPr/>
          </p:nvSpPr>
          <p:spPr>
            <a:xfrm flipV="1">
              <a:off x="3242" y="554"/>
              <a:ext cx="871" cy="644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30" name="直接连接符 350214"/>
            <p:cNvSpPr/>
            <p:nvPr/>
          </p:nvSpPr>
          <p:spPr>
            <a:xfrm flipV="1">
              <a:off x="4123" y="1198"/>
              <a:ext cx="734" cy="598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31" name="文本框 350215"/>
            <p:cNvSpPr txBox="1"/>
            <p:nvPr/>
          </p:nvSpPr>
          <p:spPr>
            <a:xfrm>
              <a:off x="4720" y="1198"/>
              <a:ext cx="27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2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6632" name="文本框 350216"/>
            <p:cNvSpPr txBox="1"/>
            <p:nvPr/>
          </p:nvSpPr>
          <p:spPr>
            <a:xfrm>
              <a:off x="3866" y="1198"/>
              <a:ext cx="27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6633" name="文本框 350217"/>
            <p:cNvSpPr txBox="1"/>
            <p:nvPr/>
          </p:nvSpPr>
          <p:spPr>
            <a:xfrm>
              <a:off x="4961" y="1154"/>
              <a:ext cx="50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t </a:t>
              </a:r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/s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6634" name="文本框 350218"/>
            <p:cNvSpPr txBox="1"/>
            <p:nvPr/>
          </p:nvSpPr>
          <p:spPr>
            <a:xfrm>
              <a:off x="3013" y="426"/>
              <a:ext cx="2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2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6635" name="文本框 350219"/>
            <p:cNvSpPr txBox="1"/>
            <p:nvPr/>
          </p:nvSpPr>
          <p:spPr>
            <a:xfrm>
              <a:off x="3013" y="1198"/>
              <a:ext cx="2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0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6636" name="直接连接符 350220"/>
            <p:cNvSpPr/>
            <p:nvPr/>
          </p:nvSpPr>
          <p:spPr>
            <a:xfrm>
              <a:off x="3242" y="554"/>
              <a:ext cx="87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Dot"/>
              <a:round/>
              <a:headEnd type="none" w="med" len="med"/>
              <a:tailEnd type="none" w="med" len="med"/>
            </a:ln>
          </p:spPr>
        </p:sp>
        <p:sp>
          <p:nvSpPr>
            <p:cNvPr id="26637" name="文本框 350221"/>
            <p:cNvSpPr txBox="1"/>
            <p:nvPr/>
          </p:nvSpPr>
          <p:spPr>
            <a:xfrm>
              <a:off x="3289" y="255"/>
              <a:ext cx="50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p/</a:t>
              </a:r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W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6638" name="直接连接符 350222"/>
            <p:cNvSpPr/>
            <p:nvPr/>
          </p:nvSpPr>
          <p:spPr>
            <a:xfrm>
              <a:off x="4123" y="554"/>
              <a:ext cx="0" cy="1243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39" name="直接连接符 350223"/>
            <p:cNvSpPr/>
            <p:nvPr/>
          </p:nvSpPr>
          <p:spPr>
            <a:xfrm>
              <a:off x="3269" y="1797"/>
              <a:ext cx="87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Dot"/>
              <a:round/>
              <a:headEnd type="none" w="med" len="med"/>
              <a:tailEnd type="none" w="med" len="med"/>
            </a:ln>
          </p:spPr>
        </p:sp>
        <p:sp>
          <p:nvSpPr>
            <p:cNvPr id="26640" name="文本框 350224"/>
            <p:cNvSpPr txBox="1"/>
            <p:nvPr/>
          </p:nvSpPr>
          <p:spPr>
            <a:xfrm>
              <a:off x="2880" y="1616"/>
              <a:ext cx="4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-2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350226" name="椭圆形标注 350225" descr="蓝色面巾纸"/>
          <p:cNvSpPr/>
          <p:nvPr/>
        </p:nvSpPr>
        <p:spPr>
          <a:xfrm>
            <a:off x="5076825" y="3068638"/>
            <a:ext cx="2595563" cy="649287"/>
          </a:xfrm>
          <a:prstGeom prst="wedgeEllipseCallout">
            <a:avLst>
              <a:gd name="adj1" fmla="val -119699"/>
              <a:gd name="adj2" fmla="val 112347"/>
            </a:avLst>
          </a:prstGeom>
          <a:blipFill rotWithShape="1">
            <a:blip r:embed="rId3"/>
          </a:blipFill>
          <a:ln w="9525" cap="flat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 eaLnBrk="0" hangingPunct="0"/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吸收功率</a:t>
            </a:r>
            <a:endParaRPr lang="zh-CN" altLang="en-US" dirty="0">
              <a:solidFill>
                <a:schemeClr val="bg2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350227" name="椭圆形标注 350226" descr="蓝色面巾纸"/>
          <p:cNvSpPr/>
          <p:nvPr/>
        </p:nvSpPr>
        <p:spPr>
          <a:xfrm>
            <a:off x="4859338" y="5229225"/>
            <a:ext cx="2376487" cy="647700"/>
          </a:xfrm>
          <a:prstGeom prst="wedgeEllipseCallout">
            <a:avLst>
              <a:gd name="adj1" fmla="val -56144"/>
              <a:gd name="adj2" fmla="val -118870"/>
            </a:avLst>
          </a:prstGeom>
          <a:blipFill rotWithShape="1">
            <a:blip r:embed="rId3"/>
          </a:blipFill>
          <a:ln w="9525" cap="flat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 eaLnBrk="0" hangingPunct="0"/>
            <a:r>
              <a:rPr lang="zh-CN" altLang="en-US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发出功率</a:t>
            </a:r>
            <a:endParaRPr lang="zh-CN" altLang="en-US" dirty="0">
              <a:solidFill>
                <a:schemeClr val="bg2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26643" name="组合 350227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6644" name="20 350228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6645" name="文本框 350229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6646" name="组合 350230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6647" name="20 350231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6648" name="文本框 350232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6649" name="组合 350236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26650" name="20 350237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6651" name="文本框 350238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0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350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6" dur="2000"/>
                                        <p:tgtEl>
                                          <p:spTgt spid="350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000"/>
                            </p:stCondLst>
                            <p:childTnLst>
                              <p:par>
                                <p:cTn id="18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0" dur="2000"/>
                                        <p:tgtEl>
                                          <p:spTgt spid="350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0226" grpId="0" bldLvl="0" animBg="1"/>
      <p:bldP spid="35022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51234" name="对象 351233"/>
          <p:cNvGraphicFramePr/>
          <p:nvPr/>
        </p:nvGraphicFramePr>
        <p:xfrm>
          <a:off x="1489075" y="660400"/>
          <a:ext cx="5562600" cy="225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" imgW="2667000" imgH="1079500" progId="Equation.3">
                  <p:embed/>
                </p:oleObj>
              </mc:Choice>
              <mc:Fallback>
                <p:oleObj name="" r:id="rId1" imgW="2667000" imgH="1079500" progId="Equation.3">
                  <p:embed/>
                  <p:pic>
                    <p:nvPicPr>
                      <p:cNvPr id="0" name="20 3092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89075" y="660400"/>
                        <a:ext cx="5562600" cy="2252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1253" name="组合 351252"/>
          <p:cNvGrpSpPr/>
          <p:nvPr/>
        </p:nvGrpSpPr>
        <p:grpSpPr>
          <a:xfrm>
            <a:off x="2700338" y="3068638"/>
            <a:ext cx="3743325" cy="2419350"/>
            <a:chOff x="1701" y="1933"/>
            <a:chExt cx="2358" cy="1524"/>
          </a:xfrm>
        </p:grpSpPr>
        <p:sp>
          <p:nvSpPr>
            <p:cNvPr id="27651" name="直接连接符 351235"/>
            <p:cNvSpPr/>
            <p:nvPr/>
          </p:nvSpPr>
          <p:spPr>
            <a:xfrm>
              <a:off x="1921" y="2085"/>
              <a:ext cx="0" cy="120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27652" name="直接连接符 351236"/>
            <p:cNvSpPr/>
            <p:nvPr/>
          </p:nvSpPr>
          <p:spPr>
            <a:xfrm>
              <a:off x="1788" y="3130"/>
              <a:ext cx="2073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7653" name="文本框 351237"/>
            <p:cNvSpPr txBox="1"/>
            <p:nvPr/>
          </p:nvSpPr>
          <p:spPr>
            <a:xfrm>
              <a:off x="3375" y="3078"/>
              <a:ext cx="26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2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7654" name="文本框 351238"/>
            <p:cNvSpPr txBox="1"/>
            <p:nvPr/>
          </p:nvSpPr>
          <p:spPr>
            <a:xfrm>
              <a:off x="2627" y="3130"/>
              <a:ext cx="26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7655" name="文本框 351239"/>
            <p:cNvSpPr txBox="1"/>
            <p:nvPr/>
          </p:nvSpPr>
          <p:spPr>
            <a:xfrm>
              <a:off x="3573" y="3078"/>
              <a:ext cx="48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t </a:t>
              </a:r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/s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7656" name="文本框 351240"/>
            <p:cNvSpPr txBox="1"/>
            <p:nvPr/>
          </p:nvSpPr>
          <p:spPr>
            <a:xfrm>
              <a:off x="1701" y="2189"/>
              <a:ext cx="26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7657" name="文本框 351241"/>
            <p:cNvSpPr txBox="1"/>
            <p:nvPr/>
          </p:nvSpPr>
          <p:spPr>
            <a:xfrm>
              <a:off x="1701" y="3130"/>
              <a:ext cx="26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0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7658" name="直接连接符 351242"/>
            <p:cNvSpPr/>
            <p:nvPr/>
          </p:nvSpPr>
          <p:spPr>
            <a:xfrm>
              <a:off x="1921" y="2346"/>
              <a:ext cx="83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Dot"/>
              <a:round/>
              <a:headEnd type="none" w="med" len="med"/>
              <a:tailEnd type="none" w="med" len="med"/>
            </a:ln>
          </p:spPr>
        </p:sp>
        <p:sp>
          <p:nvSpPr>
            <p:cNvPr id="27659" name="文本框 351243"/>
            <p:cNvSpPr txBox="1"/>
            <p:nvPr/>
          </p:nvSpPr>
          <p:spPr>
            <a:xfrm>
              <a:off x="1902" y="1933"/>
              <a:ext cx="73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W</a:t>
              </a:r>
              <a:r>
                <a:rPr lang="en-US" altLang="zh-CN" b="0" i="1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C</a:t>
              </a: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/J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7660" name="任意多边形 351244"/>
            <p:cNvSpPr/>
            <p:nvPr/>
          </p:nvSpPr>
          <p:spPr>
            <a:xfrm flipV="1">
              <a:off x="1902" y="2336"/>
              <a:ext cx="853" cy="779"/>
            </a:xfrm>
            <a:custGeom>
              <a:avLst/>
              <a:gdLst/>
              <a:ahLst/>
              <a:cxnLst>
                <a:cxn ang="270">
                  <a:pos x="0" y="0"/>
                </a:cxn>
                <a:cxn ang="90">
                  <a:pos x="21589" y="22285"/>
                </a:cxn>
                <a:cxn ang="90">
                  <a:pos x="0" y="21600"/>
                </a:cxn>
              </a:cxnLst>
              <a:pathLst>
                <a:path w="21600" h="22286" fill="none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  <a:cubicBezTo>
                    <a:pt x="21600" y="21830"/>
                    <a:pt x="21596" y="22060"/>
                    <a:pt x="21589" y="22285"/>
                  </a:cubicBezTo>
                </a:path>
                <a:path w="21600" h="22286" stroke="0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  <a:cubicBezTo>
                    <a:pt x="21600" y="21830"/>
                    <a:pt x="21596" y="22060"/>
                    <a:pt x="21589" y="22285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61" name="任意多边形 351245"/>
            <p:cNvSpPr/>
            <p:nvPr/>
          </p:nvSpPr>
          <p:spPr>
            <a:xfrm rot="5238797" flipV="1">
              <a:off x="2766" y="2319"/>
              <a:ext cx="848" cy="802"/>
            </a:xfrm>
            <a:custGeom>
              <a:avLst/>
              <a:gdLst/>
              <a:ahLst/>
              <a:cxnLst>
                <a:cxn ang="180">
                  <a:pos x="0" y="33"/>
                </a:cxn>
                <a:cxn ang="0">
                  <a:pos x="22793" y="21573"/>
                </a:cxn>
                <a:cxn ang="90">
                  <a:pos x="1194" y="21600"/>
                </a:cxn>
              </a:cxnLst>
              <a:pathLst>
                <a:path w="22794" h="21600" fill="none">
                  <a:moveTo>
                    <a:pt x="0" y="33"/>
                  </a:moveTo>
                  <a:cubicBezTo>
                    <a:pt x="395" y="11"/>
                    <a:pt x="793" y="0"/>
                    <a:pt x="1194" y="0"/>
                  </a:cubicBezTo>
                  <a:cubicBezTo>
                    <a:pt x="13114" y="0"/>
                    <a:pt x="22779" y="9656"/>
                    <a:pt x="22794" y="21573"/>
                  </a:cubicBezTo>
                </a:path>
                <a:path w="22794" h="21600" stroke="0">
                  <a:moveTo>
                    <a:pt x="0" y="33"/>
                  </a:moveTo>
                  <a:cubicBezTo>
                    <a:pt x="395" y="11"/>
                    <a:pt x="793" y="0"/>
                    <a:pt x="1194" y="0"/>
                  </a:cubicBezTo>
                  <a:cubicBezTo>
                    <a:pt x="13114" y="0"/>
                    <a:pt x="22779" y="9656"/>
                    <a:pt x="22794" y="21573"/>
                  </a:cubicBezTo>
                  <a:lnTo>
                    <a:pt x="1194" y="21600"/>
                  </a:lnTo>
                  <a:close/>
                </a:path>
              </a:pathLst>
            </a:custGeom>
            <a:noFill/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7662" name="组合 351246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7663" name="20 351247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7664" name="文本框 351248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7665" name="组合 351249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7666" name="20 351250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7667" name="文本框 351251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7668" name="组合 351256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27669" name="20 351257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7670" name="文本框 351258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1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1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52258" name="对象 352257"/>
          <p:cNvGraphicFramePr/>
          <p:nvPr/>
        </p:nvGraphicFramePr>
        <p:xfrm>
          <a:off x="1128713" y="1196975"/>
          <a:ext cx="3284537" cy="223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1" imgW="1549400" imgH="1054100" progId="Equation.3">
                  <p:embed/>
                </p:oleObj>
              </mc:Choice>
              <mc:Fallback>
                <p:oleObj name="" r:id="rId1" imgW="1549400" imgH="1054100" progId="Equation.3">
                  <p:embed/>
                  <p:pic>
                    <p:nvPicPr>
                      <p:cNvPr id="0" name="20 309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28713" y="1196975"/>
                        <a:ext cx="3284537" cy="2233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2259" name="组合 352258"/>
          <p:cNvGrpSpPr/>
          <p:nvPr/>
        </p:nvGrpSpPr>
        <p:grpSpPr>
          <a:xfrm>
            <a:off x="5219700" y="404813"/>
            <a:ext cx="3311525" cy="2420937"/>
            <a:chOff x="3334" y="2795"/>
            <a:chExt cx="2086" cy="1134"/>
          </a:xfrm>
        </p:grpSpPr>
        <p:sp>
          <p:nvSpPr>
            <p:cNvPr id="28675" name="直接连接符 352259"/>
            <p:cNvSpPr/>
            <p:nvPr/>
          </p:nvSpPr>
          <p:spPr>
            <a:xfrm>
              <a:off x="3629" y="2885"/>
              <a:ext cx="0" cy="10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28676" name="直接连接符 352260"/>
            <p:cNvSpPr/>
            <p:nvPr/>
          </p:nvSpPr>
          <p:spPr>
            <a:xfrm>
              <a:off x="3518" y="3430"/>
              <a:ext cx="17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8677" name="文本框 352261"/>
            <p:cNvSpPr txBox="1"/>
            <p:nvPr/>
          </p:nvSpPr>
          <p:spPr>
            <a:xfrm>
              <a:off x="4811" y="3385"/>
              <a:ext cx="221" cy="24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2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8678" name="文本框 352262"/>
            <p:cNvSpPr txBox="1"/>
            <p:nvPr/>
          </p:nvSpPr>
          <p:spPr>
            <a:xfrm>
              <a:off x="4109" y="3430"/>
              <a:ext cx="222" cy="24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8679" name="文本框 352263"/>
            <p:cNvSpPr txBox="1"/>
            <p:nvPr/>
          </p:nvSpPr>
          <p:spPr>
            <a:xfrm>
              <a:off x="5014" y="3430"/>
              <a:ext cx="406" cy="24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t </a:t>
              </a:r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/s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8680" name="文本框 352264"/>
            <p:cNvSpPr txBox="1"/>
            <p:nvPr/>
          </p:nvSpPr>
          <p:spPr>
            <a:xfrm>
              <a:off x="3445" y="2976"/>
              <a:ext cx="221" cy="24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8681" name="直接连接符 352265"/>
            <p:cNvSpPr/>
            <p:nvPr/>
          </p:nvSpPr>
          <p:spPr>
            <a:xfrm>
              <a:off x="3629" y="3112"/>
              <a:ext cx="702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682" name="文本框 352266"/>
            <p:cNvSpPr txBox="1"/>
            <p:nvPr/>
          </p:nvSpPr>
          <p:spPr>
            <a:xfrm>
              <a:off x="3666" y="2795"/>
              <a:ext cx="406" cy="24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i/</a:t>
              </a:r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A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8683" name="文本框 352267"/>
            <p:cNvSpPr txBox="1"/>
            <p:nvPr/>
          </p:nvSpPr>
          <p:spPr>
            <a:xfrm>
              <a:off x="3334" y="3521"/>
              <a:ext cx="332" cy="24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-1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8684" name="直接连接符 352268"/>
            <p:cNvSpPr/>
            <p:nvPr/>
          </p:nvSpPr>
          <p:spPr>
            <a:xfrm>
              <a:off x="4331" y="3748"/>
              <a:ext cx="701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685" name="直接连接符 352269"/>
            <p:cNvSpPr/>
            <p:nvPr/>
          </p:nvSpPr>
          <p:spPr>
            <a:xfrm>
              <a:off x="4331" y="3113"/>
              <a:ext cx="0" cy="635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686" name="直接连接符 352270"/>
            <p:cNvSpPr/>
            <p:nvPr/>
          </p:nvSpPr>
          <p:spPr>
            <a:xfrm>
              <a:off x="4996" y="3430"/>
              <a:ext cx="0" cy="318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352272" name="文本框 352271"/>
          <p:cNvSpPr txBox="1"/>
          <p:nvPr/>
        </p:nvSpPr>
        <p:spPr>
          <a:xfrm>
            <a:off x="611188" y="549275"/>
            <a:ext cx="4824412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若已知电流求电容电压，有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352273" name="对象 352272"/>
          <p:cNvGraphicFramePr/>
          <p:nvPr/>
        </p:nvGraphicFramePr>
        <p:xfrm>
          <a:off x="696913" y="3500438"/>
          <a:ext cx="793115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3" imgW="7045325" imgH="673100" progId="Equation.3">
                  <p:embed/>
                </p:oleObj>
              </mc:Choice>
              <mc:Fallback>
                <p:oleObj name="" r:id="rId3" imgW="7045325" imgH="673100" progId="Equation.3">
                  <p:embed/>
                  <p:pic>
                    <p:nvPicPr>
                      <p:cNvPr id="0" name="20 309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96913" y="3500438"/>
                        <a:ext cx="7931150" cy="701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2274" name="对象 352273"/>
          <p:cNvGraphicFramePr/>
          <p:nvPr/>
        </p:nvGraphicFramePr>
        <p:xfrm>
          <a:off x="2555875" y="4149725"/>
          <a:ext cx="5761038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5" imgW="2451100" imgH="457200" progId="Equation.3">
                  <p:embed/>
                </p:oleObj>
              </mc:Choice>
              <mc:Fallback>
                <p:oleObj name="" r:id="rId5" imgW="2451100" imgH="457200" progId="Equation.3">
                  <p:embed/>
                  <p:pic>
                    <p:nvPicPr>
                      <p:cNvPr id="0" name="20 3098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55875" y="4149725"/>
                        <a:ext cx="5761038" cy="1074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2275" name="对象 352274"/>
          <p:cNvGraphicFramePr/>
          <p:nvPr/>
        </p:nvGraphicFramePr>
        <p:xfrm>
          <a:off x="698500" y="4437063"/>
          <a:ext cx="1509713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7" imgW="660400" imgH="190500" progId="Equation.3">
                  <p:embed/>
                </p:oleObj>
              </mc:Choice>
              <mc:Fallback>
                <p:oleObj name="" r:id="rId7" imgW="660400" imgH="190500" progId="Equation.3">
                  <p:embed/>
                  <p:pic>
                    <p:nvPicPr>
                      <p:cNvPr id="0" name="20 3095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98500" y="4437063"/>
                        <a:ext cx="1509713" cy="436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2276" name="对象 352275"/>
          <p:cNvGraphicFramePr/>
          <p:nvPr/>
        </p:nvGraphicFramePr>
        <p:xfrm>
          <a:off x="684213" y="5373688"/>
          <a:ext cx="860425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9" imgW="405765" imgH="190500" progId="Equation.3">
                  <p:embed/>
                </p:oleObj>
              </mc:Choice>
              <mc:Fallback>
                <p:oleObj name="" r:id="rId9" imgW="405765" imgH="190500" progId="Equation.3">
                  <p:embed/>
                  <p:pic>
                    <p:nvPicPr>
                      <p:cNvPr id="0" name="20 3096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4213" y="5373688"/>
                        <a:ext cx="860425" cy="404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2277" name="对象 352276"/>
          <p:cNvGraphicFramePr/>
          <p:nvPr/>
        </p:nvGraphicFramePr>
        <p:xfrm>
          <a:off x="2555875" y="5229225"/>
          <a:ext cx="4967288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11" imgW="1968500" imgH="457200" progId="Equation.3">
                  <p:embed/>
                </p:oleObj>
              </mc:Choice>
              <mc:Fallback>
                <p:oleObj name="" r:id="rId11" imgW="1968500" imgH="457200" progId="Equation.3">
                  <p:embed/>
                  <p:pic>
                    <p:nvPicPr>
                      <p:cNvPr id="0" name="20 3099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55875" y="5229225"/>
                        <a:ext cx="4967288" cy="979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693" name="组合 352277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8694" name="20 352278" descr="78900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8695" name="文本框 352279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8696" name="组合 352280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8697" name="20 352281" descr="78900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8698" name="文本框 352282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352284" name="文本框 352283"/>
          <p:cNvSpPr txBox="1"/>
          <p:nvPr/>
        </p:nvSpPr>
        <p:spPr>
          <a:xfrm>
            <a:off x="5724525" y="1700213"/>
            <a:ext cx="576263" cy="519112"/>
          </a:xfrm>
          <a:prstGeom prst="rect">
            <a:avLst/>
          </a:prstGeom>
          <a:noFill/>
          <a:ln w="28575">
            <a:noFill/>
          </a:ln>
          <a:effectLst>
            <a:prstShdw prst="shdw17" dist="17961" dir="2699999">
              <a:schemeClr val="bg2"/>
            </a:prstShdw>
          </a:effectLst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lang="en-US" altLang="zh-CN" b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28700" name="组合 352287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28701" name="20 352288" descr="78900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8702" name="文本框 352289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52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52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500"/>
                                        <p:tgtEl>
                                          <p:spTgt spid="352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52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" dur="2000"/>
                                        <p:tgtEl>
                                          <p:spTgt spid="352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9" dur="1000"/>
                                        <p:tgtEl>
                                          <p:spTgt spid="352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2000"/>
                                        <p:tgtEl>
                                          <p:spTgt spid="352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500"/>
                                        <p:tgtEl>
                                          <p:spTgt spid="352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4" dur="2000"/>
                                        <p:tgtEl>
                                          <p:spTgt spid="352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2272" grpId="0"/>
      <p:bldP spid="35228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6354" name="文本框 356353"/>
          <p:cNvSpPr txBox="1"/>
          <p:nvPr/>
        </p:nvSpPr>
        <p:spPr>
          <a:xfrm>
            <a:off x="827088" y="620713"/>
            <a:ext cx="403225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实际电容器的模型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29698" name="组合 356354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9699" name="20 356355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9700" name="文本框 356356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9701" name="组合 356357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9702" name="20 356358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9703" name="文本框 356359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56361" name="组合 356360"/>
          <p:cNvGrpSpPr/>
          <p:nvPr/>
        </p:nvGrpSpPr>
        <p:grpSpPr>
          <a:xfrm>
            <a:off x="5292725" y="908050"/>
            <a:ext cx="2160588" cy="2160588"/>
            <a:chOff x="1519" y="482"/>
            <a:chExt cx="1361" cy="1361"/>
          </a:xfrm>
        </p:grpSpPr>
        <p:sp>
          <p:nvSpPr>
            <p:cNvPr id="29705" name="直接连接符 356361"/>
            <p:cNvSpPr/>
            <p:nvPr/>
          </p:nvSpPr>
          <p:spPr>
            <a:xfrm>
              <a:off x="1882" y="754"/>
              <a:ext cx="0" cy="771"/>
            </a:xfrm>
            <a:prstGeom prst="line">
              <a:avLst/>
            </a:prstGeom>
            <a:ln w="5715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706" name="直接连接符 356362"/>
            <p:cNvSpPr/>
            <p:nvPr/>
          </p:nvSpPr>
          <p:spPr>
            <a:xfrm>
              <a:off x="2472" y="754"/>
              <a:ext cx="0" cy="771"/>
            </a:xfrm>
            <a:prstGeom prst="line">
              <a:avLst/>
            </a:prstGeom>
            <a:ln w="5715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707" name="直接连接符 356363"/>
            <p:cNvSpPr/>
            <p:nvPr/>
          </p:nvSpPr>
          <p:spPr>
            <a:xfrm>
              <a:off x="1519" y="1162"/>
              <a:ext cx="363" cy="0"/>
            </a:xfrm>
            <a:prstGeom prst="line">
              <a:avLst/>
            </a:prstGeom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708" name="直接连接符 356364"/>
            <p:cNvSpPr/>
            <p:nvPr/>
          </p:nvSpPr>
          <p:spPr>
            <a:xfrm>
              <a:off x="1519" y="1162"/>
              <a:ext cx="0" cy="544"/>
            </a:xfrm>
            <a:prstGeom prst="line">
              <a:avLst/>
            </a:prstGeom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709" name="直接连接符 356365"/>
            <p:cNvSpPr/>
            <p:nvPr/>
          </p:nvSpPr>
          <p:spPr>
            <a:xfrm>
              <a:off x="1519" y="1706"/>
              <a:ext cx="635" cy="0"/>
            </a:xfrm>
            <a:prstGeom prst="line">
              <a:avLst/>
            </a:prstGeom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710" name="直接连接符 356366"/>
            <p:cNvSpPr/>
            <p:nvPr/>
          </p:nvSpPr>
          <p:spPr>
            <a:xfrm>
              <a:off x="2154" y="1525"/>
              <a:ext cx="0" cy="318"/>
            </a:xfrm>
            <a:prstGeom prst="line">
              <a:avLst/>
            </a:prstGeom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711" name="直接连接符 356367"/>
            <p:cNvSpPr/>
            <p:nvPr/>
          </p:nvSpPr>
          <p:spPr>
            <a:xfrm>
              <a:off x="2245" y="1616"/>
              <a:ext cx="0" cy="136"/>
            </a:xfrm>
            <a:prstGeom prst="line">
              <a:avLst/>
            </a:prstGeom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712" name="直接连接符 356368"/>
            <p:cNvSpPr/>
            <p:nvPr/>
          </p:nvSpPr>
          <p:spPr>
            <a:xfrm>
              <a:off x="2472" y="1162"/>
              <a:ext cx="408" cy="0"/>
            </a:xfrm>
            <a:prstGeom prst="line">
              <a:avLst/>
            </a:prstGeom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713" name="直接连接符 356369"/>
            <p:cNvSpPr/>
            <p:nvPr/>
          </p:nvSpPr>
          <p:spPr>
            <a:xfrm>
              <a:off x="2880" y="1162"/>
              <a:ext cx="0" cy="544"/>
            </a:xfrm>
            <a:prstGeom prst="line">
              <a:avLst/>
            </a:prstGeom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714" name="直接连接符 356370"/>
            <p:cNvSpPr/>
            <p:nvPr/>
          </p:nvSpPr>
          <p:spPr>
            <a:xfrm>
              <a:off x="2245" y="1706"/>
              <a:ext cx="635" cy="0"/>
            </a:xfrm>
            <a:prstGeom prst="line">
              <a:avLst/>
            </a:prstGeom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715" name="文本框 356371"/>
            <p:cNvSpPr txBox="1"/>
            <p:nvPr/>
          </p:nvSpPr>
          <p:spPr>
            <a:xfrm>
              <a:off x="2562" y="618"/>
              <a:ext cx="2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_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9716" name="文本框 356372"/>
            <p:cNvSpPr txBox="1"/>
            <p:nvPr/>
          </p:nvSpPr>
          <p:spPr>
            <a:xfrm>
              <a:off x="1519" y="482"/>
              <a:ext cx="318" cy="59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q</a:t>
              </a:r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+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9717" name="文本框 356373"/>
            <p:cNvSpPr txBox="1"/>
            <p:nvPr/>
          </p:nvSpPr>
          <p:spPr>
            <a:xfrm>
              <a:off x="2562" y="527"/>
              <a:ext cx="2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q</a:t>
              </a:r>
              <a:endParaRPr lang="en-US" altLang="zh-CN" b="0" i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9718" name="矩形 356374" descr="信纸"/>
            <p:cNvSpPr/>
            <p:nvPr/>
          </p:nvSpPr>
          <p:spPr>
            <a:xfrm>
              <a:off x="1927" y="799"/>
              <a:ext cx="499" cy="681"/>
            </a:xfrm>
            <a:prstGeom prst="rect">
              <a:avLst/>
            </a:prstGeom>
            <a:blipFill rotWithShape="1">
              <a:blip r:embed="rId2"/>
            </a:blip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0" hangingPunct="0"/>
              <a:r>
                <a:rPr lang="en-US" altLang="zh-CN" b="0" dirty="0">
                  <a:solidFill>
                    <a:schemeClr val="bg2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</a:t>
              </a:r>
              <a:endParaRPr lang="en-US" altLang="zh-CN" b="0" dirty="0">
                <a:solidFill>
                  <a:schemeClr val="bg2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356376" name="组合 356375"/>
          <p:cNvGrpSpPr/>
          <p:nvPr/>
        </p:nvGrpSpPr>
        <p:grpSpPr>
          <a:xfrm>
            <a:off x="6011863" y="908050"/>
            <a:ext cx="576262" cy="576263"/>
            <a:chOff x="4377" y="346"/>
            <a:chExt cx="363" cy="363"/>
          </a:xfrm>
        </p:grpSpPr>
        <p:sp>
          <p:nvSpPr>
            <p:cNvPr id="29720" name="直接连接符 356376"/>
            <p:cNvSpPr/>
            <p:nvPr/>
          </p:nvSpPr>
          <p:spPr>
            <a:xfrm>
              <a:off x="4422" y="709"/>
              <a:ext cx="318" cy="0"/>
            </a:xfrm>
            <a:prstGeom prst="line">
              <a:avLst/>
            </a:prstGeom>
            <a:ln w="28575" cap="sq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9721" name="文本框 356377"/>
            <p:cNvSpPr txBox="1"/>
            <p:nvPr/>
          </p:nvSpPr>
          <p:spPr>
            <a:xfrm>
              <a:off x="4377" y="346"/>
              <a:ext cx="363" cy="288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chemeClr val="bg2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endParaRPr lang="en-US" altLang="zh-CN" sz="2400" i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356379" name="组合 356378"/>
          <p:cNvGrpSpPr/>
          <p:nvPr/>
        </p:nvGrpSpPr>
        <p:grpSpPr>
          <a:xfrm>
            <a:off x="900113" y="3254375"/>
            <a:ext cx="3384550" cy="2349500"/>
            <a:chOff x="703" y="1687"/>
            <a:chExt cx="2132" cy="1480"/>
          </a:xfrm>
        </p:grpSpPr>
        <p:grpSp>
          <p:nvGrpSpPr>
            <p:cNvPr id="29723" name="组合 356379"/>
            <p:cNvGrpSpPr/>
            <p:nvPr/>
          </p:nvGrpSpPr>
          <p:grpSpPr>
            <a:xfrm>
              <a:off x="838" y="1687"/>
              <a:ext cx="1919" cy="762"/>
              <a:chOff x="2256" y="2679"/>
              <a:chExt cx="1919" cy="943"/>
            </a:xfrm>
          </p:grpSpPr>
          <p:sp>
            <p:nvSpPr>
              <p:cNvPr id="29724" name="文本框 356380"/>
              <p:cNvSpPr txBox="1"/>
              <p:nvPr/>
            </p:nvSpPr>
            <p:spPr>
              <a:xfrm>
                <a:off x="3053" y="2679"/>
                <a:ext cx="293" cy="40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anchor="ctr" anchorCtr="0">
                <a:spAutoFit/>
              </a:bodyPr>
              <a:p>
                <a:pPr algn="ctr" eaLnBrk="0" hangingPunct="0"/>
                <a:r>
                  <a:rPr lang="en-US" altLang="zh-CN" b="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C</a:t>
                </a:r>
                <a:endParaRPr lang="en-US" altLang="zh-CN" b="0"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29725" name="直接连接符 356381"/>
              <p:cNvSpPr/>
              <p:nvPr/>
            </p:nvSpPr>
            <p:spPr>
              <a:xfrm flipH="1" flipV="1">
                <a:off x="2347" y="3360"/>
                <a:ext cx="773" cy="0"/>
              </a:xfrm>
              <a:prstGeom prst="line">
                <a:avLst/>
              </a:prstGeom>
              <a:ln w="44450" cap="sq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9726" name="直接连接符 356382"/>
              <p:cNvSpPr/>
              <p:nvPr/>
            </p:nvSpPr>
            <p:spPr>
              <a:xfrm>
                <a:off x="3264" y="3360"/>
                <a:ext cx="820" cy="0"/>
              </a:xfrm>
              <a:prstGeom prst="line">
                <a:avLst/>
              </a:prstGeom>
              <a:ln w="44450" cap="sq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9727" name="椭圆 356383"/>
              <p:cNvSpPr/>
              <p:nvPr/>
            </p:nvSpPr>
            <p:spPr>
              <a:xfrm>
                <a:off x="2256" y="3319"/>
                <a:ext cx="91" cy="91"/>
              </a:xfrm>
              <a:prstGeom prst="ellipse">
                <a:avLst/>
              </a:prstGeom>
              <a:solidFill>
                <a:srgbClr val="FF9900"/>
              </a:solidFill>
              <a:ln w="12700">
                <a:noFill/>
              </a:ln>
            </p:spPr>
            <p:txBody>
              <a:bodyPr anchor="t" anchorCtr="0"/>
              <a:p>
                <a:endParaRPr lang="zh-CN" altLang="en-US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29728" name="椭圆 356384"/>
              <p:cNvSpPr/>
              <p:nvPr/>
            </p:nvSpPr>
            <p:spPr>
              <a:xfrm>
                <a:off x="4084" y="3319"/>
                <a:ext cx="91" cy="91"/>
              </a:xfrm>
              <a:prstGeom prst="ellipse">
                <a:avLst/>
              </a:prstGeom>
              <a:solidFill>
                <a:srgbClr val="FF9900"/>
              </a:solidFill>
              <a:ln w="12700">
                <a:noFill/>
              </a:ln>
            </p:spPr>
            <p:txBody>
              <a:bodyPr anchor="t" anchorCtr="0"/>
              <a:p>
                <a:endParaRPr lang="zh-CN" altLang="en-US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grpSp>
            <p:nvGrpSpPr>
              <p:cNvPr id="29729" name="组合 356385"/>
              <p:cNvGrpSpPr/>
              <p:nvPr/>
            </p:nvGrpSpPr>
            <p:grpSpPr>
              <a:xfrm>
                <a:off x="3120" y="3083"/>
                <a:ext cx="144" cy="539"/>
                <a:chOff x="3053" y="3083"/>
                <a:chExt cx="211" cy="576"/>
              </a:xfrm>
            </p:grpSpPr>
            <p:sp>
              <p:nvSpPr>
                <p:cNvPr id="29730" name="直接连接符 356386"/>
                <p:cNvSpPr/>
                <p:nvPr/>
              </p:nvSpPr>
              <p:spPr>
                <a:xfrm>
                  <a:off x="3053" y="3083"/>
                  <a:ext cx="0" cy="576"/>
                </a:xfrm>
                <a:prstGeom prst="line">
                  <a:avLst/>
                </a:prstGeom>
                <a:ln w="50800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9731" name="直接连接符 356387"/>
                <p:cNvSpPr/>
                <p:nvPr/>
              </p:nvSpPr>
              <p:spPr>
                <a:xfrm>
                  <a:off x="3264" y="3083"/>
                  <a:ext cx="0" cy="576"/>
                </a:xfrm>
                <a:prstGeom prst="line">
                  <a:avLst/>
                </a:prstGeom>
                <a:ln w="50800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29732" name="文本框 356388"/>
            <p:cNvSpPr txBox="1"/>
            <p:nvPr/>
          </p:nvSpPr>
          <p:spPr>
            <a:xfrm>
              <a:off x="703" y="2432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zh-CN" altLang="en-US" b="0" dirty="0">
                  <a:solidFill>
                    <a:schemeClr val="hlink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＋</a:t>
              </a:r>
              <a:endParaRPr lang="zh-CN" altLang="en-US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9733" name="文本框 356389"/>
            <p:cNvSpPr txBox="1"/>
            <p:nvPr/>
          </p:nvSpPr>
          <p:spPr>
            <a:xfrm>
              <a:off x="2472" y="2478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zh-CN" altLang="en-US" b="0" dirty="0">
                  <a:solidFill>
                    <a:schemeClr val="hlink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－</a:t>
              </a:r>
              <a:endParaRPr lang="zh-CN" altLang="en-US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9734" name="文本框 356390"/>
            <p:cNvSpPr txBox="1"/>
            <p:nvPr/>
          </p:nvSpPr>
          <p:spPr>
            <a:xfrm>
              <a:off x="1610" y="2840"/>
              <a:ext cx="36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endParaRPr lang="en-US" altLang="zh-CN" b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9735" name="文本框 356391"/>
            <p:cNvSpPr txBox="1"/>
            <p:nvPr/>
          </p:nvSpPr>
          <p:spPr>
            <a:xfrm>
              <a:off x="1565" y="2432"/>
              <a:ext cx="36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G</a:t>
              </a:r>
              <a:endParaRPr lang="en-US" altLang="zh-CN" b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9736" name="直接连接符 356392"/>
            <p:cNvSpPr/>
            <p:nvPr/>
          </p:nvSpPr>
          <p:spPr>
            <a:xfrm>
              <a:off x="793" y="2160"/>
              <a:ext cx="318" cy="0"/>
            </a:xfrm>
            <a:prstGeom prst="line">
              <a:avLst/>
            </a:prstGeom>
            <a:ln w="28575" cap="sq" cmpd="sng">
              <a:solidFill>
                <a:schemeClr val="hlink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9737" name="直接连接符 356393"/>
            <p:cNvSpPr/>
            <p:nvPr/>
          </p:nvSpPr>
          <p:spPr>
            <a:xfrm>
              <a:off x="1156" y="2251"/>
              <a:ext cx="0" cy="499"/>
            </a:xfrm>
            <a:prstGeom prst="line">
              <a:avLst/>
            </a:prstGeom>
            <a:ln w="28575" cap="sq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2699999">
                <a:schemeClr val="bg2"/>
              </a:prstShdw>
            </a:effectLst>
          </p:spPr>
        </p:sp>
        <p:sp>
          <p:nvSpPr>
            <p:cNvPr id="29738" name="直接连接符 356394"/>
            <p:cNvSpPr/>
            <p:nvPr/>
          </p:nvSpPr>
          <p:spPr>
            <a:xfrm>
              <a:off x="2336" y="2251"/>
              <a:ext cx="0" cy="499"/>
            </a:xfrm>
            <a:prstGeom prst="line">
              <a:avLst/>
            </a:prstGeom>
            <a:ln w="28575" cap="sq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2699999">
                <a:schemeClr val="bg2"/>
              </a:prstShdw>
            </a:effectLst>
          </p:spPr>
        </p:sp>
        <p:sp>
          <p:nvSpPr>
            <p:cNvPr id="29739" name="直接连接符 356395"/>
            <p:cNvSpPr/>
            <p:nvPr/>
          </p:nvSpPr>
          <p:spPr>
            <a:xfrm>
              <a:off x="1156" y="2750"/>
              <a:ext cx="1180" cy="0"/>
            </a:xfrm>
            <a:prstGeom prst="line">
              <a:avLst/>
            </a:prstGeom>
            <a:ln w="28575" cap="sq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2699999">
                <a:schemeClr val="bg2"/>
              </a:prstShdw>
            </a:effectLst>
          </p:spPr>
        </p:sp>
        <p:sp>
          <p:nvSpPr>
            <p:cNvPr id="29740" name="矩形 356396"/>
            <p:cNvSpPr/>
            <p:nvPr/>
          </p:nvSpPr>
          <p:spPr>
            <a:xfrm>
              <a:off x="1565" y="2704"/>
              <a:ext cx="362" cy="136"/>
            </a:xfrm>
            <a:prstGeom prst="rect">
              <a:avLst/>
            </a:prstGeom>
            <a:solidFill>
              <a:srgbClr val="FF9900"/>
            </a:solidFill>
            <a:ln w="28575" cap="sq" cmpd="sng">
              <a:solidFill>
                <a:srgbClr val="008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356398" name="组合 356397"/>
          <p:cNvGrpSpPr/>
          <p:nvPr/>
        </p:nvGrpSpPr>
        <p:grpSpPr>
          <a:xfrm>
            <a:off x="4427538" y="3240088"/>
            <a:ext cx="4248150" cy="2349500"/>
            <a:chOff x="2608" y="1778"/>
            <a:chExt cx="2676" cy="1480"/>
          </a:xfrm>
        </p:grpSpPr>
        <p:sp>
          <p:nvSpPr>
            <p:cNvPr id="29742" name="文本框 356398"/>
            <p:cNvSpPr txBox="1"/>
            <p:nvPr/>
          </p:nvSpPr>
          <p:spPr>
            <a:xfrm>
              <a:off x="4039" y="1778"/>
              <a:ext cx="29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0" hangingPunct="0"/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C</a:t>
              </a:r>
              <a:endParaRPr lang="en-US" altLang="zh-CN" b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9743" name="直接连接符 356399"/>
            <p:cNvSpPr/>
            <p:nvPr/>
          </p:nvSpPr>
          <p:spPr>
            <a:xfrm>
              <a:off x="4250" y="2328"/>
              <a:ext cx="820" cy="0"/>
            </a:xfrm>
            <a:prstGeom prst="line">
              <a:avLst/>
            </a:prstGeom>
            <a:ln w="44450" cap="sq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744" name="椭圆 356400"/>
            <p:cNvSpPr/>
            <p:nvPr/>
          </p:nvSpPr>
          <p:spPr>
            <a:xfrm>
              <a:off x="5070" y="2295"/>
              <a:ext cx="91" cy="74"/>
            </a:xfrm>
            <a:prstGeom prst="ellipse">
              <a:avLst/>
            </a:prstGeom>
            <a:solidFill>
              <a:srgbClr val="FF9900"/>
            </a:solidFill>
            <a:ln w="12700">
              <a:noFill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pSp>
          <p:nvGrpSpPr>
            <p:cNvPr id="29745" name="组合 356401"/>
            <p:cNvGrpSpPr/>
            <p:nvPr/>
          </p:nvGrpSpPr>
          <p:grpSpPr>
            <a:xfrm>
              <a:off x="4105" y="2205"/>
              <a:ext cx="135" cy="283"/>
              <a:chOff x="3053" y="3083"/>
              <a:chExt cx="211" cy="576"/>
            </a:xfrm>
          </p:grpSpPr>
          <p:sp>
            <p:nvSpPr>
              <p:cNvPr id="29746" name="直接连接符 356402"/>
              <p:cNvSpPr/>
              <p:nvPr/>
            </p:nvSpPr>
            <p:spPr>
              <a:xfrm>
                <a:off x="3053" y="3083"/>
                <a:ext cx="0" cy="576"/>
              </a:xfrm>
              <a:prstGeom prst="line">
                <a:avLst/>
              </a:prstGeom>
              <a:ln w="508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9747" name="直接连接符 356403"/>
              <p:cNvSpPr/>
              <p:nvPr/>
            </p:nvSpPr>
            <p:spPr>
              <a:xfrm>
                <a:off x="3264" y="3083"/>
                <a:ext cx="0" cy="576"/>
              </a:xfrm>
              <a:prstGeom prst="line">
                <a:avLst/>
              </a:prstGeom>
              <a:ln w="508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9748" name="文本框 356404"/>
            <p:cNvSpPr txBox="1"/>
            <p:nvPr/>
          </p:nvSpPr>
          <p:spPr>
            <a:xfrm>
              <a:off x="2653" y="2432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zh-CN" altLang="en-US" b="0" dirty="0">
                  <a:solidFill>
                    <a:schemeClr val="hlink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＋</a:t>
              </a:r>
              <a:endParaRPr lang="zh-CN" altLang="en-US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9749" name="文本框 356405"/>
            <p:cNvSpPr txBox="1"/>
            <p:nvPr/>
          </p:nvSpPr>
          <p:spPr>
            <a:xfrm>
              <a:off x="4921" y="2478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zh-CN" altLang="en-US" b="0" dirty="0">
                  <a:solidFill>
                    <a:schemeClr val="hlink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－</a:t>
              </a:r>
              <a:endParaRPr lang="zh-CN" altLang="en-US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9750" name="文本框 356406"/>
            <p:cNvSpPr txBox="1"/>
            <p:nvPr/>
          </p:nvSpPr>
          <p:spPr>
            <a:xfrm>
              <a:off x="4014" y="2931"/>
              <a:ext cx="36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endParaRPr lang="en-US" altLang="zh-CN" b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9751" name="文本框 356407"/>
            <p:cNvSpPr txBox="1"/>
            <p:nvPr/>
          </p:nvSpPr>
          <p:spPr>
            <a:xfrm>
              <a:off x="3969" y="2523"/>
              <a:ext cx="36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G</a:t>
              </a:r>
              <a:endParaRPr lang="en-US" altLang="zh-CN" b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9752" name="直接连接符 356408"/>
            <p:cNvSpPr/>
            <p:nvPr/>
          </p:nvSpPr>
          <p:spPr>
            <a:xfrm>
              <a:off x="2699" y="2205"/>
              <a:ext cx="318" cy="0"/>
            </a:xfrm>
            <a:prstGeom prst="line">
              <a:avLst/>
            </a:prstGeom>
            <a:ln w="28575" cap="sq" cmpd="sng">
              <a:solidFill>
                <a:schemeClr val="hlink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9753" name="直接连接符 356409"/>
            <p:cNvSpPr/>
            <p:nvPr/>
          </p:nvSpPr>
          <p:spPr>
            <a:xfrm>
              <a:off x="3742" y="2341"/>
              <a:ext cx="0" cy="499"/>
            </a:xfrm>
            <a:prstGeom prst="line">
              <a:avLst/>
            </a:prstGeom>
            <a:ln w="28575" cap="sq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2699999">
                <a:schemeClr val="bg2"/>
              </a:prstShdw>
            </a:effectLst>
          </p:spPr>
        </p:sp>
        <p:sp>
          <p:nvSpPr>
            <p:cNvPr id="29754" name="直接连接符 356410"/>
            <p:cNvSpPr/>
            <p:nvPr/>
          </p:nvSpPr>
          <p:spPr>
            <a:xfrm>
              <a:off x="4649" y="2341"/>
              <a:ext cx="0" cy="499"/>
            </a:xfrm>
            <a:prstGeom prst="line">
              <a:avLst/>
            </a:prstGeom>
            <a:ln w="28575" cap="sq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2699999">
                <a:schemeClr val="bg2"/>
              </a:prstShdw>
            </a:effectLst>
          </p:spPr>
        </p:sp>
        <p:sp>
          <p:nvSpPr>
            <p:cNvPr id="29755" name="直接连接符 356411"/>
            <p:cNvSpPr/>
            <p:nvPr/>
          </p:nvSpPr>
          <p:spPr>
            <a:xfrm>
              <a:off x="3742" y="2840"/>
              <a:ext cx="907" cy="0"/>
            </a:xfrm>
            <a:prstGeom prst="line">
              <a:avLst/>
            </a:prstGeom>
            <a:ln w="28575" cap="sq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2699999">
                <a:schemeClr val="bg2"/>
              </a:prstShdw>
            </a:effectLst>
          </p:spPr>
        </p:sp>
        <p:sp>
          <p:nvSpPr>
            <p:cNvPr id="29756" name="矩形 356412"/>
            <p:cNvSpPr/>
            <p:nvPr/>
          </p:nvSpPr>
          <p:spPr>
            <a:xfrm>
              <a:off x="4059" y="2795"/>
              <a:ext cx="362" cy="136"/>
            </a:xfrm>
            <a:prstGeom prst="rect">
              <a:avLst/>
            </a:prstGeom>
            <a:solidFill>
              <a:srgbClr val="FF9900"/>
            </a:solidFill>
            <a:ln w="28575" cap="sq" cmpd="sng">
              <a:solidFill>
                <a:srgbClr val="008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aphicFrame>
          <p:nvGraphicFramePr>
            <p:cNvPr id="29757" name="对象 356413"/>
            <p:cNvGraphicFramePr/>
            <p:nvPr/>
          </p:nvGraphicFramePr>
          <p:xfrm>
            <a:off x="2608" y="2205"/>
            <a:ext cx="1180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1" name="" r:id="rId3" imgW="895350" imgH="123825" progId="Visio.Drawing.6">
                    <p:embed/>
                  </p:oleObj>
                </mc:Choice>
                <mc:Fallback>
                  <p:oleObj name="" r:id="rId3" imgW="895350" imgH="123825" progId="Visio.Drawing.6">
                    <p:embed/>
                    <p:pic>
                      <p:nvPicPr>
                        <p:cNvPr id="0" name="20 3100"/>
                        <p:cNvPicPr/>
                        <p:nvPr/>
                      </p:nvPicPr>
                      <p:blipFill>
                        <a:blip r:embed="rId4"/>
                        <a:srcRect r="23584" b="-12411"/>
                        <a:stretch>
                          <a:fillRect/>
                        </a:stretch>
                      </p:blipFill>
                      <p:spPr>
                        <a:xfrm>
                          <a:off x="2608" y="2205"/>
                          <a:ext cx="1180" cy="22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58" name="直接连接符 356414"/>
            <p:cNvSpPr/>
            <p:nvPr/>
          </p:nvSpPr>
          <p:spPr>
            <a:xfrm>
              <a:off x="3787" y="2341"/>
              <a:ext cx="318" cy="0"/>
            </a:xfrm>
            <a:prstGeom prst="line">
              <a:avLst/>
            </a:prstGeom>
            <a:ln w="28575" cap="sq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2699999">
                <a:schemeClr val="bg2"/>
              </a:prstShdw>
            </a:effectLst>
          </p:spPr>
        </p:sp>
      </p:grpSp>
      <p:grpSp>
        <p:nvGrpSpPr>
          <p:cNvPr id="356416" name="组合 356415"/>
          <p:cNvGrpSpPr/>
          <p:nvPr/>
        </p:nvGrpSpPr>
        <p:grpSpPr>
          <a:xfrm>
            <a:off x="1042988" y="1311275"/>
            <a:ext cx="3189287" cy="1757363"/>
            <a:chOff x="612" y="417"/>
            <a:chExt cx="2009" cy="1107"/>
          </a:xfrm>
        </p:grpSpPr>
        <p:grpSp>
          <p:nvGrpSpPr>
            <p:cNvPr id="29760" name="组合 356416"/>
            <p:cNvGrpSpPr/>
            <p:nvPr/>
          </p:nvGrpSpPr>
          <p:grpSpPr>
            <a:xfrm>
              <a:off x="702" y="417"/>
              <a:ext cx="1919" cy="762"/>
              <a:chOff x="2256" y="2679"/>
              <a:chExt cx="1919" cy="943"/>
            </a:xfrm>
          </p:grpSpPr>
          <p:sp>
            <p:nvSpPr>
              <p:cNvPr id="29761" name="文本框 356417"/>
              <p:cNvSpPr txBox="1"/>
              <p:nvPr/>
            </p:nvSpPr>
            <p:spPr>
              <a:xfrm>
                <a:off x="3053" y="2679"/>
                <a:ext cx="293" cy="40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anchor="ctr" anchorCtr="0">
                <a:spAutoFit/>
              </a:bodyPr>
              <a:p>
                <a:pPr algn="ctr" eaLnBrk="0" hangingPunct="0"/>
                <a:r>
                  <a:rPr lang="en-US" altLang="zh-CN" b="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C</a:t>
                </a:r>
                <a:endPara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29762" name="直接连接符 356418"/>
              <p:cNvSpPr/>
              <p:nvPr/>
            </p:nvSpPr>
            <p:spPr>
              <a:xfrm flipH="1" flipV="1">
                <a:off x="2347" y="3360"/>
                <a:ext cx="773" cy="0"/>
              </a:xfrm>
              <a:prstGeom prst="line">
                <a:avLst/>
              </a:prstGeom>
              <a:ln w="44450" cap="sq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9763" name="直接连接符 356419"/>
              <p:cNvSpPr/>
              <p:nvPr/>
            </p:nvSpPr>
            <p:spPr>
              <a:xfrm>
                <a:off x="3264" y="3360"/>
                <a:ext cx="820" cy="0"/>
              </a:xfrm>
              <a:prstGeom prst="line">
                <a:avLst/>
              </a:prstGeom>
              <a:ln w="44450" cap="sq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9764" name="椭圆 356420"/>
              <p:cNvSpPr/>
              <p:nvPr/>
            </p:nvSpPr>
            <p:spPr>
              <a:xfrm>
                <a:off x="2256" y="3319"/>
                <a:ext cx="91" cy="91"/>
              </a:xfrm>
              <a:prstGeom prst="ellipse">
                <a:avLst/>
              </a:prstGeom>
              <a:solidFill>
                <a:srgbClr val="FF9900"/>
              </a:solidFill>
              <a:ln w="12700">
                <a:noFill/>
              </a:ln>
            </p:spPr>
            <p:txBody>
              <a:bodyPr anchor="t" anchorCtr="0"/>
              <a:p>
                <a:endParaRPr lang="zh-CN" altLang="en-US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29765" name="椭圆 356421"/>
              <p:cNvSpPr/>
              <p:nvPr/>
            </p:nvSpPr>
            <p:spPr>
              <a:xfrm>
                <a:off x="4084" y="3319"/>
                <a:ext cx="91" cy="91"/>
              </a:xfrm>
              <a:prstGeom prst="ellipse">
                <a:avLst/>
              </a:prstGeom>
              <a:solidFill>
                <a:srgbClr val="FF9900"/>
              </a:solidFill>
              <a:ln w="12700">
                <a:noFill/>
              </a:ln>
            </p:spPr>
            <p:txBody>
              <a:bodyPr anchor="t" anchorCtr="0"/>
              <a:p>
                <a:endParaRPr lang="zh-CN" altLang="en-US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grpSp>
            <p:nvGrpSpPr>
              <p:cNvPr id="29766" name="组合 356422"/>
              <p:cNvGrpSpPr/>
              <p:nvPr/>
            </p:nvGrpSpPr>
            <p:grpSpPr>
              <a:xfrm>
                <a:off x="3120" y="3083"/>
                <a:ext cx="144" cy="539"/>
                <a:chOff x="3053" y="3083"/>
                <a:chExt cx="211" cy="576"/>
              </a:xfrm>
            </p:grpSpPr>
            <p:sp>
              <p:nvSpPr>
                <p:cNvPr id="29767" name="直接连接符 356423"/>
                <p:cNvSpPr/>
                <p:nvPr/>
              </p:nvSpPr>
              <p:spPr>
                <a:xfrm>
                  <a:off x="3053" y="3083"/>
                  <a:ext cx="0" cy="576"/>
                </a:xfrm>
                <a:prstGeom prst="line">
                  <a:avLst/>
                </a:prstGeom>
                <a:ln w="50800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9768" name="直接连接符 356424"/>
                <p:cNvSpPr/>
                <p:nvPr/>
              </p:nvSpPr>
              <p:spPr>
                <a:xfrm>
                  <a:off x="3264" y="3083"/>
                  <a:ext cx="0" cy="576"/>
                </a:xfrm>
                <a:prstGeom prst="line">
                  <a:avLst/>
                </a:prstGeom>
                <a:ln w="50800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29769" name="文本框 356425"/>
            <p:cNvSpPr txBox="1"/>
            <p:nvPr/>
          </p:nvSpPr>
          <p:spPr>
            <a:xfrm>
              <a:off x="612" y="1050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zh-CN" altLang="en-US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＋</a:t>
              </a:r>
              <a:endPara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9770" name="文本框 356426"/>
            <p:cNvSpPr txBox="1"/>
            <p:nvPr/>
          </p:nvSpPr>
          <p:spPr>
            <a:xfrm>
              <a:off x="2245" y="1050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zh-CN" altLang="en-US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－</a:t>
              </a:r>
              <a:endPara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9771" name="文本框 356427"/>
            <p:cNvSpPr txBox="1"/>
            <p:nvPr/>
          </p:nvSpPr>
          <p:spPr>
            <a:xfrm>
              <a:off x="1428" y="1197"/>
              <a:ext cx="36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9772" name="文本框 356428"/>
            <p:cNvSpPr txBox="1"/>
            <p:nvPr/>
          </p:nvSpPr>
          <p:spPr>
            <a:xfrm>
              <a:off x="1156" y="663"/>
              <a:ext cx="36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29773" name="直接连接符 356429"/>
            <p:cNvSpPr/>
            <p:nvPr/>
          </p:nvSpPr>
          <p:spPr>
            <a:xfrm>
              <a:off x="793" y="845"/>
              <a:ext cx="409" cy="0"/>
            </a:xfrm>
            <a:prstGeom prst="line">
              <a:avLst/>
            </a:prstGeom>
            <a:ln w="28575" cap="sq" cmpd="sng">
              <a:solidFill>
                <a:schemeClr val="hlink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29774" name="组合 356433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29775" name="20 356434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9776" name="文本框 356435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6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56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56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563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563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56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56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635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0721" name="组合 318465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0722" name="20 318466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0723" name="文本框 318467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0724" name="组合 318468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0725" name="20 318469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0726" name="文本框 318470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30727" name="文本框 318472"/>
          <p:cNvSpPr txBox="1"/>
          <p:nvPr/>
        </p:nvSpPr>
        <p:spPr>
          <a:xfrm>
            <a:off x="3203575" y="5445125"/>
            <a:ext cx="2232025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实际电容器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30728" name="组合 318479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30729" name="20 318480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0730" name="文本框 318481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pic>
        <p:nvPicPr>
          <p:cNvPr id="30731" name="20 318482" descr="2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163" y="836613"/>
            <a:ext cx="7559675" cy="46085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1745" name="组合 307203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1746" name="20 307204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1747" name="文本框 307205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1748" name="组合 307206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1749" name="20 307207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1750" name="文本框 307208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pic>
        <p:nvPicPr>
          <p:cNvPr id="31751" name="20 307282" descr="PIC00016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088" y="549275"/>
            <a:ext cx="7561262" cy="5578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752" name="文本框 307283"/>
          <p:cNvSpPr txBox="1"/>
          <p:nvPr/>
        </p:nvSpPr>
        <p:spPr>
          <a:xfrm>
            <a:off x="3563938" y="6092825"/>
            <a:ext cx="14033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电力电容</a:t>
            </a:r>
            <a:endParaRPr lang="zh-CN" altLang="en-US" sz="240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31753" name="组合 307287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31754" name="20 307288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1755" name="文本框 307289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2769" name="组合 308227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2770" name="20 308228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2771" name="文本框 308229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2772" name="组合 308230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2773" name="20 308231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2774" name="文本框 308232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pic>
        <p:nvPicPr>
          <p:cNvPr id="32775" name="20 308306" descr="PIC00015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113" y="549275"/>
            <a:ext cx="7416800" cy="5562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776" name="文本框 308307"/>
          <p:cNvSpPr txBox="1"/>
          <p:nvPr/>
        </p:nvSpPr>
        <p:spPr>
          <a:xfrm>
            <a:off x="3779838" y="6165850"/>
            <a:ext cx="2317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冲击电压发生器</a:t>
            </a:r>
            <a:endParaRPr lang="zh-CN" altLang="en-US" sz="240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32777" name="组合 308311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32778" name="20 308312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2779" name="文本框 308313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0514" name="文本框 320513"/>
          <p:cNvSpPr txBox="1"/>
          <p:nvPr/>
        </p:nvSpPr>
        <p:spPr>
          <a:xfrm>
            <a:off x="2627313" y="620713"/>
            <a:ext cx="3244850" cy="701675"/>
          </a:xfrm>
          <a:prstGeom prst="rect">
            <a:avLst/>
          </a:prstGeom>
          <a:noFill/>
          <a:ln w="12700">
            <a:noFill/>
          </a:ln>
          <a:effectLst>
            <a:prstShdw prst="shdw17" dist="17961" dir="2699999">
              <a:srgbClr val="009900"/>
            </a:prstShdw>
          </a:effectLst>
        </p:spPr>
        <p:txBody>
          <a:bodyPr wrap="none" anchor="ctr" anchorCtr="0">
            <a:spAutoFit/>
          </a:bodyPr>
          <a:p>
            <a:pPr algn="ctr" eaLnBrk="0" hangingPunct="0"/>
            <a:r>
              <a:rPr lang="en-US" altLang="zh-CN" sz="40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6.2 </a:t>
            </a:r>
            <a:r>
              <a:rPr lang="zh-CN" altLang="en-US" sz="40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电感元件</a:t>
            </a:r>
            <a:endParaRPr lang="zh-CN" altLang="en-US" sz="4000" b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320515" name="组合 320514"/>
          <p:cNvGrpSpPr/>
          <p:nvPr/>
        </p:nvGrpSpPr>
        <p:grpSpPr>
          <a:xfrm>
            <a:off x="1836738" y="5011738"/>
            <a:ext cx="1079500" cy="519112"/>
            <a:chOff x="1565" y="1525"/>
            <a:chExt cx="680" cy="327"/>
          </a:xfrm>
        </p:grpSpPr>
        <p:sp>
          <p:nvSpPr>
            <p:cNvPr id="33795" name="上箭头 320515"/>
            <p:cNvSpPr/>
            <p:nvPr/>
          </p:nvSpPr>
          <p:spPr>
            <a:xfrm>
              <a:off x="1565" y="1616"/>
              <a:ext cx="91" cy="227"/>
            </a:xfrm>
            <a:prstGeom prst="upArrow">
              <a:avLst>
                <a:gd name="adj1" fmla="val 50000"/>
                <a:gd name="adj2" fmla="val 62339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3796" name="文本框 320516"/>
            <p:cNvSpPr txBox="1"/>
            <p:nvPr/>
          </p:nvSpPr>
          <p:spPr>
            <a:xfrm>
              <a:off x="1746" y="1525"/>
              <a:ext cx="4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 (t)</a:t>
              </a:r>
              <a:endParaRPr lang="en-US" altLang="zh-CN" b="0" i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320518" name="组合 320517"/>
          <p:cNvGrpSpPr/>
          <p:nvPr/>
        </p:nvGrpSpPr>
        <p:grpSpPr>
          <a:xfrm>
            <a:off x="2052638" y="5372100"/>
            <a:ext cx="2736850" cy="712788"/>
            <a:chOff x="2789" y="1661"/>
            <a:chExt cx="1724" cy="449"/>
          </a:xfrm>
        </p:grpSpPr>
        <p:sp>
          <p:nvSpPr>
            <p:cNvPr id="33798" name="文本框 320518"/>
            <p:cNvSpPr txBox="1"/>
            <p:nvPr/>
          </p:nvSpPr>
          <p:spPr>
            <a:xfrm>
              <a:off x="2789" y="1706"/>
              <a:ext cx="363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60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360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3799" name="文本框 320519"/>
            <p:cNvSpPr txBox="1"/>
            <p:nvPr/>
          </p:nvSpPr>
          <p:spPr>
            <a:xfrm>
              <a:off x="4150" y="1661"/>
              <a:ext cx="363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60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sz="360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3800" name="文本框 320520"/>
            <p:cNvSpPr txBox="1"/>
            <p:nvPr/>
          </p:nvSpPr>
          <p:spPr>
            <a:xfrm>
              <a:off x="3334" y="1661"/>
              <a:ext cx="6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 </a:t>
              </a:r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(</a:t>
              </a: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t</a:t>
              </a:r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)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</p:grpSp>
      <p:graphicFrame>
        <p:nvGraphicFramePr>
          <p:cNvPr id="320522" name="对象 320521"/>
          <p:cNvGraphicFramePr/>
          <p:nvPr/>
        </p:nvGraphicFramePr>
        <p:xfrm>
          <a:off x="1763713" y="3644900"/>
          <a:ext cx="3240087" cy="191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1" imgW="2393315" imgH="1422400" progId="Visio.Drawing.6">
                  <p:embed/>
                </p:oleObj>
              </mc:Choice>
              <mc:Fallback>
                <p:oleObj name="" r:id="rId1" imgW="2393315" imgH="1422400" progId="Visio.Drawing.6">
                  <p:embed/>
                  <p:pic>
                    <p:nvPicPr>
                      <p:cNvPr id="0" name="20 310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63713" y="3644900"/>
                        <a:ext cx="3240087" cy="1917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0523" name="组合 320522"/>
          <p:cNvGrpSpPr/>
          <p:nvPr/>
        </p:nvGrpSpPr>
        <p:grpSpPr>
          <a:xfrm>
            <a:off x="1331913" y="3860800"/>
            <a:ext cx="4175125" cy="1079500"/>
            <a:chOff x="2245" y="709"/>
            <a:chExt cx="2630" cy="680"/>
          </a:xfrm>
        </p:grpSpPr>
        <p:sp>
          <p:nvSpPr>
            <p:cNvPr id="33803" name="直接连接符 320523"/>
            <p:cNvSpPr/>
            <p:nvPr/>
          </p:nvSpPr>
          <p:spPr>
            <a:xfrm>
              <a:off x="2245" y="1026"/>
              <a:ext cx="258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dashDot"/>
              <a:round/>
              <a:headEnd type="triangle" w="med" len="med"/>
              <a:tailEnd type="none" w="med" len="med"/>
            </a:ln>
          </p:spPr>
        </p:sp>
        <p:sp>
          <p:nvSpPr>
            <p:cNvPr id="33804" name="任意多边形 320524"/>
            <p:cNvSpPr/>
            <p:nvPr/>
          </p:nvSpPr>
          <p:spPr>
            <a:xfrm>
              <a:off x="2290" y="709"/>
              <a:ext cx="2540" cy="196"/>
            </a:xfrm>
            <a:custGeom>
              <a:avLst/>
              <a:gdLst/>
              <a:ahLst/>
              <a:cxnLst/>
              <a:pathLst>
                <a:path w="2540" h="196">
                  <a:moveTo>
                    <a:pt x="0" y="0"/>
                  </a:moveTo>
                  <a:cubicBezTo>
                    <a:pt x="174" y="83"/>
                    <a:pt x="348" y="166"/>
                    <a:pt x="771" y="181"/>
                  </a:cubicBezTo>
                  <a:cubicBezTo>
                    <a:pt x="1194" y="196"/>
                    <a:pt x="2238" y="106"/>
                    <a:pt x="2540" y="91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dashDot"/>
              <a:round/>
              <a:headEnd type="triangl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3805" name="任意多边形 320525"/>
            <p:cNvSpPr/>
            <p:nvPr/>
          </p:nvSpPr>
          <p:spPr>
            <a:xfrm>
              <a:off x="2290" y="1094"/>
              <a:ext cx="2585" cy="295"/>
            </a:xfrm>
            <a:custGeom>
              <a:avLst/>
              <a:gdLst/>
              <a:ahLst/>
              <a:cxnLst/>
              <a:pathLst>
                <a:path w="2585" h="295">
                  <a:moveTo>
                    <a:pt x="0" y="295"/>
                  </a:moveTo>
                  <a:cubicBezTo>
                    <a:pt x="351" y="170"/>
                    <a:pt x="703" y="46"/>
                    <a:pt x="1134" y="23"/>
                  </a:cubicBezTo>
                  <a:cubicBezTo>
                    <a:pt x="1565" y="0"/>
                    <a:pt x="2351" y="136"/>
                    <a:pt x="2585" y="159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dashDot"/>
              <a:round/>
              <a:headEnd type="triangl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320527" name="文本框 320526"/>
          <p:cNvSpPr txBox="1"/>
          <p:nvPr/>
        </p:nvSpPr>
        <p:spPr>
          <a:xfrm>
            <a:off x="611188" y="1576388"/>
            <a:ext cx="1871662" cy="557212"/>
          </a:xfrm>
          <a:prstGeom prst="rect">
            <a:avLst/>
          </a:prstGeom>
          <a:noFill/>
          <a:ln w="3810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algn="ctr" eaLnBrk="0" hangingPunct="0"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电感线圈</a:t>
            </a:r>
            <a:endParaRPr lang="zh-CN" altLang="en-US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20528" name="文本框 320527"/>
          <p:cNvSpPr txBox="1"/>
          <p:nvPr/>
        </p:nvSpPr>
        <p:spPr>
          <a:xfrm>
            <a:off x="827088" y="1525588"/>
            <a:ext cx="7777162" cy="17589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ct val="130000"/>
              </a:lnSpc>
              <a:spcBef>
                <a:spcPct val="50000"/>
              </a:spcBef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        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把金属导线绕在一骨架上构成一实际电感线圈，当电流通过线圈时，将产生磁通，是一种抵抗电流变化、储存磁能的部件。</a:t>
            </a:r>
            <a:endParaRPr lang="zh-CN" altLang="en-US" dirty="0"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320529" name="文本框 320528"/>
          <p:cNvSpPr txBox="1"/>
          <p:nvPr/>
        </p:nvSpPr>
        <p:spPr>
          <a:xfrm>
            <a:off x="5508625" y="4076700"/>
            <a:ext cx="2808288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</a:pPr>
            <a:r>
              <a: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 </a:t>
            </a:r>
            <a:r>
              <a:rPr lang="en-US" altLang="zh-CN" sz="3200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3200" b="0" i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t</a:t>
            </a:r>
            <a:r>
              <a:rPr lang="en-US" altLang="zh-CN" sz="3200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)</a:t>
            </a:r>
            <a:r>
              <a:rPr lang="zh-CN" altLang="en-US" sz="32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＝</a:t>
            </a:r>
            <a:r>
              <a:rPr lang="en-US" altLang="zh-CN" sz="3200" b="0" i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N  </a:t>
            </a:r>
            <a:r>
              <a:rPr lang="en-US" altLang="zh-CN" sz="3200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3200" b="0" i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t</a:t>
            </a:r>
            <a:r>
              <a:rPr lang="en-US" altLang="zh-CN" sz="3200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)</a:t>
            </a:r>
            <a:endParaRPr lang="en-US" altLang="zh-CN" sz="3200" b="0">
              <a:solidFill>
                <a:schemeClr val="tx1"/>
              </a:solidFill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33809" name="组合 320529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3810" name="20 320530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3811" name="文本框 320531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3812" name="组合 320532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3813" name="20 320533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3814" name="文本框 320534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3815" name="组合 320538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33816" name="20 320539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3817" name="文本框 320540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3205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3205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0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0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20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205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05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0" dur="2000"/>
                                        <p:tgtEl>
                                          <p:spTgt spid="320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20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20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20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90"/>
                                        <p:tgtEl>
                                          <p:spTgt spid="320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514" grpId="0"/>
      <p:bldP spid="320527" grpId="0" animBg="1"/>
      <p:bldP spid="320528" grpId="0"/>
      <p:bldP spid="32052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1538" name="文本框 321537"/>
          <p:cNvSpPr txBox="1"/>
          <p:nvPr/>
        </p:nvSpPr>
        <p:spPr>
          <a:xfrm>
            <a:off x="900113" y="620713"/>
            <a:ext cx="1692275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1. </a:t>
            </a:r>
            <a:r>
              <a:rPr lang="zh-CN" altLang="en-US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定义</a:t>
            </a:r>
            <a:endParaRPr lang="zh-CN" altLang="en-US" sz="32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321539" name="文本框 321538"/>
          <p:cNvSpPr txBox="1"/>
          <p:nvPr/>
        </p:nvSpPr>
        <p:spPr>
          <a:xfrm>
            <a:off x="971550" y="1412875"/>
            <a:ext cx="1800225" cy="557213"/>
          </a:xfrm>
          <a:prstGeom prst="rect">
            <a:avLst/>
          </a:prstGeom>
          <a:noFill/>
          <a:ln w="38100" cap="sq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algn="ctr" eaLnBrk="0" hangingPunct="0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电感元件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321540" name="右箭头 321539"/>
          <p:cNvSpPr/>
          <p:nvPr/>
        </p:nvSpPr>
        <p:spPr>
          <a:xfrm>
            <a:off x="2916238" y="1628775"/>
            <a:ext cx="647700" cy="144463"/>
          </a:xfrm>
          <a:prstGeom prst="rightArrow">
            <a:avLst>
              <a:gd name="adj1" fmla="val 50000"/>
              <a:gd name="adj2" fmla="val 112046"/>
            </a:avLst>
          </a:prstGeom>
          <a:solidFill>
            <a:srgbClr val="33CCFF"/>
          </a:solidFill>
          <a:ln w="38100" cap="sq" cmpd="sng">
            <a:solidFill>
              <a:srgbClr val="33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21541" name="矩形 321540"/>
          <p:cNvSpPr/>
          <p:nvPr/>
        </p:nvSpPr>
        <p:spPr>
          <a:xfrm>
            <a:off x="3779838" y="981075"/>
            <a:ext cx="4608512" cy="1630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0" hangingPunct="0">
              <a:lnSpc>
                <a:spcPct val="120000"/>
              </a:lnSpc>
              <a:spcBef>
                <a:spcPct val="50000"/>
              </a:spcBef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储存磁能的两端元件。任何时刻，其特性可用</a:t>
            </a:r>
            <a:r>
              <a:rPr lang="en-US" altLang="zh-CN" b="0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</a:t>
            </a:r>
            <a:r>
              <a:rPr lang="zh-CN" altLang="en-US" b="0" dirty="0">
                <a:latin typeface="Times New Roman" panose="02020603050405020304" pitchFamily="18" charset="0"/>
                <a:ea typeface="楷体_GB2312" pitchFamily="49" charset="-122"/>
              </a:rPr>
              <a:t>～</a:t>
            </a:r>
            <a:r>
              <a:rPr lang="en-US" altLang="zh-CN" b="0" i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i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平面上的一条曲线来描述。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21542" name="对象 321541"/>
          <p:cNvGraphicFramePr/>
          <p:nvPr/>
        </p:nvGraphicFramePr>
        <p:xfrm>
          <a:off x="1187450" y="2852738"/>
          <a:ext cx="2449513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1" imgW="787400" imgH="228600" progId="Equation.3">
                  <p:embed/>
                </p:oleObj>
              </mc:Choice>
              <mc:Fallback>
                <p:oleObj name="" r:id="rId1" imgW="787400" imgH="228600" progId="Equation.3">
                  <p:embed/>
                  <p:pic>
                    <p:nvPicPr>
                      <p:cNvPr id="0" name="20 3102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87450" y="2852738"/>
                        <a:ext cx="2449513" cy="7096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1543" name="组合 321542"/>
          <p:cNvGrpSpPr/>
          <p:nvPr/>
        </p:nvGrpSpPr>
        <p:grpSpPr>
          <a:xfrm>
            <a:off x="4572000" y="2708275"/>
            <a:ext cx="2808288" cy="2592388"/>
            <a:chOff x="3833" y="2341"/>
            <a:chExt cx="1542" cy="1542"/>
          </a:xfrm>
        </p:grpSpPr>
        <p:sp>
          <p:nvSpPr>
            <p:cNvPr id="34823" name="文本框 321543"/>
            <p:cNvSpPr txBox="1"/>
            <p:nvPr/>
          </p:nvSpPr>
          <p:spPr>
            <a:xfrm>
              <a:off x="5058" y="2931"/>
              <a:ext cx="317" cy="309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endParaRPr lang="en-US" altLang="zh-CN" b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4824" name="直接连接符 321544"/>
            <p:cNvSpPr/>
            <p:nvPr/>
          </p:nvSpPr>
          <p:spPr>
            <a:xfrm>
              <a:off x="3924" y="3112"/>
              <a:ext cx="1134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4825" name="直接连接符 321545"/>
            <p:cNvSpPr/>
            <p:nvPr/>
          </p:nvSpPr>
          <p:spPr>
            <a:xfrm>
              <a:off x="4423" y="2477"/>
              <a:ext cx="46" cy="140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34826" name="文本框 321546"/>
            <p:cNvSpPr txBox="1"/>
            <p:nvPr/>
          </p:nvSpPr>
          <p:spPr>
            <a:xfrm>
              <a:off x="4423" y="2341"/>
              <a:ext cx="317" cy="309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</a:t>
              </a:r>
              <a:endParaRPr lang="en-US" altLang="zh-CN" b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4827" name="任意多边形 321547"/>
            <p:cNvSpPr/>
            <p:nvPr/>
          </p:nvSpPr>
          <p:spPr>
            <a:xfrm>
              <a:off x="3833" y="2522"/>
              <a:ext cx="1179" cy="862"/>
            </a:xfrm>
            <a:custGeom>
              <a:avLst/>
              <a:gdLst/>
              <a:ahLst/>
              <a:cxnLst/>
              <a:pathLst>
                <a:path w="1043" h="726">
                  <a:moveTo>
                    <a:pt x="0" y="726"/>
                  </a:moveTo>
                  <a:cubicBezTo>
                    <a:pt x="140" y="718"/>
                    <a:pt x="280" y="711"/>
                    <a:pt x="454" y="590"/>
                  </a:cubicBezTo>
                  <a:cubicBezTo>
                    <a:pt x="628" y="469"/>
                    <a:pt x="945" y="98"/>
                    <a:pt x="1043" y="0"/>
                  </a:cubicBezTo>
                </a:path>
              </a:pathLst>
            </a:custGeom>
            <a:noFill/>
            <a:ln w="38100" cap="sq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34828" name="组合 321548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4829" name="20 321549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4830" name="文本框 321550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4831" name="组合 321551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4832" name="20 321552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4833" name="文本框 321553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321555" name="下弧形箭头 321554" descr="羊皮纸"/>
          <p:cNvSpPr/>
          <p:nvPr/>
        </p:nvSpPr>
        <p:spPr>
          <a:xfrm rot="1635320">
            <a:off x="2005013" y="4221163"/>
            <a:ext cx="2206625" cy="1258887"/>
          </a:xfrm>
          <a:prstGeom prst="curvedUpArrow">
            <a:avLst>
              <a:gd name="adj1" fmla="val 18226"/>
              <a:gd name="adj2" fmla="val 70113"/>
              <a:gd name="adj3" fmla="val 33324"/>
            </a:avLst>
          </a:prstGeom>
          <a:blipFill rotWithShape="1">
            <a:blip r:embed="rId4"/>
          </a:blipFill>
          <a:ln w="28575">
            <a:noFill/>
          </a:ln>
          <a:effectLst>
            <a:prstShdw prst="shdw17" dist="17961" dir="2699999">
              <a:schemeClr val="bg2"/>
            </a:prstShdw>
          </a:effectLst>
        </p:spPr>
        <p:txBody>
          <a:bodyPr anchor="t" anchorCtr="0">
            <a:spAutoFit/>
          </a:bodyPr>
          <a:p>
            <a:pPr algn="ctr" eaLnBrk="0" hangingPunct="0"/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韦安</a:t>
            </a:r>
            <a:endParaRPr lang="zh-CN" altLang="en-US">
              <a:solidFill>
                <a:srgbClr val="FF9900"/>
              </a:solidFill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  <a:p>
            <a:pPr algn="ctr" eaLnBrk="0" hangingPunct="0"/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特性</a:t>
            </a:r>
            <a:endParaRPr lang="zh-CN" altLang="en-US">
              <a:solidFill>
                <a:srgbClr val="FF9900"/>
              </a:solidFill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</p:txBody>
      </p:sp>
      <p:sp>
        <p:nvSpPr>
          <p:cNvPr id="321556" name="文本框 321555"/>
          <p:cNvSpPr txBox="1"/>
          <p:nvPr/>
        </p:nvSpPr>
        <p:spPr>
          <a:xfrm>
            <a:off x="5724525" y="4003675"/>
            <a:ext cx="576263" cy="519113"/>
          </a:xfrm>
          <a:prstGeom prst="rect">
            <a:avLst/>
          </a:prstGeom>
          <a:noFill/>
          <a:ln w="28575">
            <a:noFill/>
          </a:ln>
          <a:effectLst>
            <a:prstShdw prst="shdw17" dist="17961" dir="2699999">
              <a:schemeClr val="bg2"/>
            </a:prstShdw>
          </a:effectLst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o</a:t>
            </a:r>
            <a:endParaRPr lang="en-US" altLang="zh-CN" b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34836" name="组合 321559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34837" name="20 321560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4838" name="文本框 321561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15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15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21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321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90"/>
                                        <p:tgtEl>
                                          <p:spTgt spid="32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21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21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5" dur="2000"/>
                                        <p:tgtEl>
                                          <p:spTgt spid="321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21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38" grpId="0"/>
      <p:bldP spid="321539" grpId="0" animBg="1"/>
      <p:bldP spid="321541" grpId="0"/>
      <p:bldP spid="321555" grpId="0" animBg="1"/>
      <p:bldP spid="32155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2562" name="文本框 322561"/>
          <p:cNvSpPr txBox="1"/>
          <p:nvPr/>
        </p:nvSpPr>
        <p:spPr>
          <a:xfrm>
            <a:off x="827088" y="1341438"/>
            <a:ext cx="7632700" cy="1203325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just" eaLnBrk="0" hangingPunct="0">
              <a:lnSpc>
                <a:spcPct val="130000"/>
              </a:lnSpc>
              <a:spcBef>
                <a:spcPct val="50000"/>
              </a:spcBef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任何时刻，通过电感元件的电流 </a:t>
            </a:r>
            <a:r>
              <a:rPr lang="en-US" altLang="zh-CN" b="0" i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i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与其磁链</a:t>
            </a:r>
            <a:r>
              <a:rPr lang="en-US" altLang="zh-CN" b="0" i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</a:t>
            </a:r>
            <a:r>
              <a:rPr lang="en-US" altLang="zh-CN" i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成正比。 </a:t>
            </a:r>
            <a:r>
              <a:rPr lang="en-US" altLang="zh-CN" b="0" i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 </a:t>
            </a:r>
            <a:r>
              <a:rPr lang="en-US" altLang="zh-CN" b="0" i="1">
                <a:latin typeface="Times New Roman" panose="02020603050405020304" pitchFamily="18" charset="0"/>
                <a:ea typeface="楷体_GB2312" pitchFamily="49" charset="-122"/>
              </a:rPr>
              <a:t>~ i</a:t>
            </a:r>
            <a:r>
              <a:rPr lang="en-US" altLang="zh-CN" i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特性为过原点的直线。</a:t>
            </a:r>
            <a:endParaRPr lang="zh-CN" altLang="en-US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22563" name="文本框 322562"/>
          <p:cNvSpPr txBox="1"/>
          <p:nvPr/>
        </p:nvSpPr>
        <p:spPr>
          <a:xfrm>
            <a:off x="539750" y="549275"/>
            <a:ext cx="5903913" cy="579438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2. </a:t>
            </a:r>
            <a:r>
              <a:rPr lang="zh-CN" altLang="en-US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线性时不变电感元件</a:t>
            </a:r>
            <a:endParaRPr lang="zh-CN" altLang="en-US" sz="32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22564" name="对象 322563"/>
          <p:cNvGraphicFramePr/>
          <p:nvPr/>
        </p:nvGraphicFramePr>
        <p:xfrm>
          <a:off x="1403350" y="2852738"/>
          <a:ext cx="2663825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1" imgW="951865" imgH="228600" progId="Equation.3">
                  <p:embed/>
                </p:oleObj>
              </mc:Choice>
              <mc:Fallback>
                <p:oleObj name="" r:id="rId1" imgW="951865" imgH="228600" progId="Equation.3">
                  <p:embed/>
                  <p:pic>
                    <p:nvPicPr>
                      <p:cNvPr id="0" name="20 310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03350" y="2852738"/>
                        <a:ext cx="2663825" cy="638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2565" name="组合 322564"/>
          <p:cNvGrpSpPr/>
          <p:nvPr/>
        </p:nvGrpSpPr>
        <p:grpSpPr>
          <a:xfrm>
            <a:off x="4787900" y="2800350"/>
            <a:ext cx="2447925" cy="2860675"/>
            <a:chOff x="3878" y="1037"/>
            <a:chExt cx="1406" cy="1679"/>
          </a:xfrm>
        </p:grpSpPr>
        <p:grpSp>
          <p:nvGrpSpPr>
            <p:cNvPr id="35845" name="组合 322565"/>
            <p:cNvGrpSpPr/>
            <p:nvPr/>
          </p:nvGrpSpPr>
          <p:grpSpPr>
            <a:xfrm>
              <a:off x="3878" y="1209"/>
              <a:ext cx="1406" cy="1507"/>
              <a:chOff x="336" y="1872"/>
              <a:chExt cx="1056" cy="1104"/>
            </a:xfrm>
          </p:grpSpPr>
          <p:sp>
            <p:nvSpPr>
              <p:cNvPr id="35846" name="直接连接符 322566"/>
              <p:cNvSpPr/>
              <p:nvPr/>
            </p:nvSpPr>
            <p:spPr>
              <a:xfrm>
                <a:off x="336" y="2544"/>
                <a:ext cx="105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35847" name="直接连接符 322567"/>
              <p:cNvSpPr/>
              <p:nvPr/>
            </p:nvSpPr>
            <p:spPr>
              <a:xfrm flipV="1">
                <a:off x="720" y="1872"/>
                <a:ext cx="0" cy="110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sp>
          <p:nvSpPr>
            <p:cNvPr id="35848" name="文本框 322568"/>
            <p:cNvSpPr txBox="1"/>
            <p:nvPr/>
          </p:nvSpPr>
          <p:spPr>
            <a:xfrm>
              <a:off x="4389" y="1037"/>
              <a:ext cx="246" cy="30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</a:t>
              </a:r>
              <a:endParaRPr lang="en-US" altLang="zh-CN" b="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49" name="文本框 322569"/>
            <p:cNvSpPr txBox="1"/>
            <p:nvPr/>
          </p:nvSpPr>
          <p:spPr>
            <a:xfrm>
              <a:off x="5042" y="2137"/>
              <a:ext cx="163" cy="30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50" name="文本框 322570"/>
            <p:cNvSpPr txBox="1"/>
            <p:nvPr/>
          </p:nvSpPr>
          <p:spPr>
            <a:xfrm>
              <a:off x="4414" y="2137"/>
              <a:ext cx="208" cy="30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51" name="任意多边形 322571"/>
            <p:cNvSpPr/>
            <p:nvPr/>
          </p:nvSpPr>
          <p:spPr>
            <a:xfrm>
              <a:off x="4596" y="1978"/>
              <a:ext cx="55" cy="117"/>
            </a:xfrm>
            <a:custGeom>
              <a:avLst/>
              <a:gdLst/>
              <a:ahLst/>
              <a:cxnLst/>
              <a:pathLst>
                <a:path w="55" h="117">
                  <a:moveTo>
                    <a:pt x="0" y="0"/>
                  </a:moveTo>
                  <a:cubicBezTo>
                    <a:pt x="8" y="7"/>
                    <a:pt x="41" y="25"/>
                    <a:pt x="48" y="45"/>
                  </a:cubicBezTo>
                  <a:cubicBezTo>
                    <a:pt x="55" y="65"/>
                    <a:pt x="46" y="102"/>
                    <a:pt x="45" y="117"/>
                  </a:cubicBezTo>
                </a:path>
              </a:pathLst>
            </a:custGeom>
            <a:noFill/>
            <a:ln w="28575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5852" name="文本框 322572"/>
            <p:cNvSpPr txBox="1"/>
            <p:nvPr/>
          </p:nvSpPr>
          <p:spPr>
            <a:xfrm>
              <a:off x="4641" y="1762"/>
              <a:ext cx="432" cy="305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  <a:endParaRPr lang="en-US" altLang="zh-CN" b="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53" name="直接连接符 322573"/>
            <p:cNvSpPr/>
            <p:nvPr/>
          </p:nvSpPr>
          <p:spPr>
            <a:xfrm flipV="1">
              <a:off x="3969" y="1616"/>
              <a:ext cx="998" cy="862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35854" name="组合 322574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5855" name="20 322575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5856" name="文本框 322576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5857" name="组合 322577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5858" name="20 322578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5859" name="文本框 322579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aphicFrame>
        <p:nvGraphicFramePr>
          <p:cNvPr id="322581" name="对象 322580"/>
          <p:cNvGraphicFramePr/>
          <p:nvPr/>
        </p:nvGraphicFramePr>
        <p:xfrm>
          <a:off x="1042988" y="3933825"/>
          <a:ext cx="3455987" cy="139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4" imgW="1129665" imgH="457200" progId="Equation.3">
                  <p:embed/>
                </p:oleObj>
              </mc:Choice>
              <mc:Fallback>
                <p:oleObj name="" r:id="rId4" imgW="1129665" imgH="457200" progId="Equation.3">
                  <p:embed/>
                  <p:pic>
                    <p:nvPicPr>
                      <p:cNvPr id="0" name="20 3105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990033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42988" y="3933825"/>
                        <a:ext cx="3455987" cy="13938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99CCFF"/>
                          </a:gs>
                          <a:gs pos="100000">
                            <a:schemeClr val="tx1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861" name="组合 322584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35862" name="20 322585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5863" name="文本框 322586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2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2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90"/>
                                        <p:tgtEl>
                                          <p:spTgt spid="322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2000"/>
                                        <p:tgtEl>
                                          <p:spTgt spid="322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2000"/>
                                        <p:tgtEl>
                                          <p:spTgt spid="322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2000"/>
                                        <p:tgtEl>
                                          <p:spTgt spid="32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62" grpId="0"/>
      <p:bldP spid="32256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3586" name="文本框 323585"/>
          <p:cNvSpPr txBox="1"/>
          <p:nvPr/>
        </p:nvSpPr>
        <p:spPr>
          <a:xfrm>
            <a:off x="900113" y="696913"/>
            <a:ext cx="2232025" cy="547687"/>
          </a:xfrm>
          <a:prstGeom prst="rect">
            <a:avLst/>
          </a:prstGeom>
          <a:noFill/>
          <a:ln w="2857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eaLnBrk="0" hangingPunct="0">
              <a:spcBef>
                <a:spcPct val="5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电路符号</a:t>
            </a:r>
            <a:endParaRPr lang="zh-CN" altLang="en-US">
              <a:solidFill>
                <a:srgbClr val="FF99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3587" name="文本框 323586"/>
          <p:cNvSpPr txBox="1"/>
          <p:nvPr/>
        </p:nvSpPr>
        <p:spPr>
          <a:xfrm>
            <a:off x="2555875" y="3357563"/>
            <a:ext cx="6048375" cy="519112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eaLnBrk="0" hangingPunct="0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</a:pPr>
            <a:r>
              <a:rPr lang="en-US" altLang="zh-CN" b="0">
                <a:latin typeface="华文中宋" panose="02010600040101010101" pitchFamily="2" charset="-122"/>
                <a:ea typeface="华文中宋" panose="02010600040101010101" pitchFamily="2" charset="-122"/>
              </a:rPr>
              <a:t>H (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亨利</a:t>
            </a:r>
            <a:r>
              <a:rPr lang="en-US" altLang="zh-CN" b="0">
                <a:latin typeface="华文中宋" panose="02010600040101010101" pitchFamily="2" charset="-122"/>
                <a:ea typeface="华文中宋" panose="02010600040101010101" pitchFamily="2" charset="-122"/>
              </a:rPr>
              <a:t>)</a:t>
            </a:r>
            <a:r>
              <a:rPr lang="zh-CN" altLang="en-US" b="0" dirty="0"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常用</a:t>
            </a:r>
            <a:r>
              <a:rPr lang="en-US" altLang="zh-CN" b="0" dirty="0"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</a:t>
            </a:r>
            <a:r>
              <a:rPr lang="en-US" altLang="zh-CN" b="0"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H</a:t>
            </a:r>
            <a:r>
              <a:rPr lang="zh-CN" altLang="en-US" b="0" dirty="0"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b="0" err="1"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mH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表示</a:t>
            </a:r>
            <a:r>
              <a:rPr lang="zh-CN" altLang="en-US" b="0" dirty="0"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。</a:t>
            </a:r>
            <a:endParaRPr lang="zh-CN" altLang="en-US" b="0">
              <a:latin typeface="华文中宋" panose="02010600040101010101" pitchFamily="2" charset="-122"/>
              <a:ea typeface="华文中宋" panose="0201060004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323588" name="组合 323587"/>
          <p:cNvGrpSpPr/>
          <p:nvPr/>
        </p:nvGrpSpPr>
        <p:grpSpPr>
          <a:xfrm>
            <a:off x="2339975" y="1484313"/>
            <a:ext cx="3960813" cy="1455737"/>
            <a:chOff x="1655" y="2432"/>
            <a:chExt cx="2495" cy="917"/>
          </a:xfrm>
        </p:grpSpPr>
        <p:graphicFrame>
          <p:nvGraphicFramePr>
            <p:cNvPr id="36868" name="对象 323588"/>
            <p:cNvGraphicFramePr/>
            <p:nvPr/>
          </p:nvGraphicFramePr>
          <p:xfrm>
            <a:off x="1701" y="2750"/>
            <a:ext cx="2449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5" name="" r:id="rId1" imgW="895350" imgH="123825" progId="Visio.Drawing.6">
                    <p:embed/>
                  </p:oleObj>
                </mc:Choice>
                <mc:Fallback>
                  <p:oleObj name="" r:id="rId1" imgW="895350" imgH="123825" progId="Visio.Drawing.6">
                    <p:embed/>
                    <p:pic>
                      <p:nvPicPr>
                        <p:cNvPr id="0" name="20 310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701" y="2750"/>
                          <a:ext cx="2449" cy="32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69" name="右箭头 323589"/>
            <p:cNvSpPr/>
            <p:nvPr/>
          </p:nvSpPr>
          <p:spPr>
            <a:xfrm>
              <a:off x="1973" y="2795"/>
              <a:ext cx="409" cy="91"/>
            </a:xfrm>
            <a:prstGeom prst="rightArrow">
              <a:avLst>
                <a:gd name="adj1" fmla="val 50000"/>
                <a:gd name="adj2" fmla="val 112321"/>
              </a:avLst>
            </a:prstGeom>
            <a:solidFill>
              <a:schemeClr val="hlink"/>
            </a:solidFill>
            <a:ln w="9525">
              <a:noFill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6870" name="文本框 323590"/>
            <p:cNvSpPr txBox="1"/>
            <p:nvPr/>
          </p:nvSpPr>
          <p:spPr>
            <a:xfrm>
              <a:off x="1655" y="3022"/>
              <a:ext cx="38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b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6871" name="文本框 323591"/>
            <p:cNvSpPr txBox="1"/>
            <p:nvPr/>
          </p:nvSpPr>
          <p:spPr>
            <a:xfrm>
              <a:off x="3651" y="3022"/>
              <a:ext cx="38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b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6872" name="文本框 323592"/>
            <p:cNvSpPr txBox="1"/>
            <p:nvPr/>
          </p:nvSpPr>
          <p:spPr>
            <a:xfrm>
              <a:off x="2501" y="3022"/>
              <a:ext cx="66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 </a:t>
              </a:r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(</a:t>
              </a: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t</a:t>
              </a:r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)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6873" name="文本框 323593"/>
            <p:cNvSpPr txBox="1"/>
            <p:nvPr/>
          </p:nvSpPr>
          <p:spPr>
            <a:xfrm>
              <a:off x="1973" y="2478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endParaRPr lang="en-US" altLang="zh-CN" b="0" i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6874" name="文本框 323594"/>
            <p:cNvSpPr txBox="1"/>
            <p:nvPr/>
          </p:nvSpPr>
          <p:spPr>
            <a:xfrm>
              <a:off x="2608" y="2432"/>
              <a:ext cx="4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L</a:t>
              </a:r>
              <a:endParaRPr lang="en-US" altLang="zh-CN" b="0" i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323596" name="文本框 323595"/>
          <p:cNvSpPr txBox="1"/>
          <p:nvPr/>
        </p:nvSpPr>
        <p:spPr>
          <a:xfrm>
            <a:off x="900113" y="3357563"/>
            <a:ext cx="1439862" cy="547687"/>
          </a:xfrm>
          <a:prstGeom prst="rect">
            <a:avLst/>
          </a:prstGeom>
          <a:noFill/>
          <a:ln w="2857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单位</a:t>
            </a:r>
            <a:endParaRPr lang="zh-CN" altLang="en-US" dirty="0">
              <a:solidFill>
                <a:srgbClr val="FF9900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36876" name="组合 323596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6877" name="20 323597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6878" name="文本框 323598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6879" name="组合 323599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6880" name="20 323600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6881" name="文本框 323601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323603" name="圆角矩形标注 323602" descr="羊皮纸"/>
          <p:cNvSpPr/>
          <p:nvPr/>
        </p:nvSpPr>
        <p:spPr>
          <a:xfrm>
            <a:off x="6732588" y="1052513"/>
            <a:ext cx="1079500" cy="1439862"/>
          </a:xfrm>
          <a:prstGeom prst="wedgeRoundRectCallout">
            <a:avLst>
              <a:gd name="adj1" fmla="val -256616"/>
              <a:gd name="adj2" fmla="val 718"/>
              <a:gd name="adj3" fmla="val 16667"/>
            </a:avLst>
          </a:prstGeom>
          <a:blipFill rotWithShape="1">
            <a:blip r:embed="rId4"/>
          </a:blipFill>
          <a:ln w="28575">
            <a:noFill/>
          </a:ln>
        </p:spPr>
        <p:txBody>
          <a:bodyPr anchor="ctr" anchorCtr="0"/>
          <a:p>
            <a:pPr algn="ctr" eaLnBrk="0" hangingPunct="0"/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电感器的自感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3604" name="文本框 323603"/>
          <p:cNvSpPr txBox="1"/>
          <p:nvPr/>
        </p:nvSpPr>
        <p:spPr>
          <a:xfrm>
            <a:off x="2195513" y="4365625"/>
            <a:ext cx="3384550" cy="1311275"/>
          </a:xfrm>
          <a:prstGeom prst="rect">
            <a:avLst/>
          </a:prstGeom>
          <a:solidFill>
            <a:srgbClr val="99CCFF"/>
          </a:solidFill>
          <a:ln w="12700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</a:pPr>
            <a:r>
              <a:rPr lang="en-US" altLang="zh-CN" sz="320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1H=10</a:t>
            </a:r>
            <a:r>
              <a:rPr lang="en-US" altLang="zh-CN" sz="3200" baseline="3000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3</a:t>
            </a:r>
            <a:r>
              <a:rPr lang="en-US" altLang="zh-CN" sz="320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lang="en-US" altLang="zh-CN" sz="3200" err="1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m</a:t>
            </a:r>
            <a:r>
              <a:rPr lang="en-US" altLang="zh-CN" sz="3200" err="1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H</a:t>
            </a:r>
            <a:endParaRPr lang="en-US" altLang="zh-CN" sz="3200">
              <a:solidFill>
                <a:srgbClr val="000000"/>
              </a:solidFill>
              <a:latin typeface="Times New Roman" panose="02020603050405020304" pitchFamily="18" charset="0"/>
              <a:ea typeface="仿宋_GB2312" pitchFamily="49" charset="-122"/>
            </a:endParaRPr>
          </a:p>
          <a:p>
            <a:pPr algn="ctr" eaLnBrk="0" hangingPunct="0">
              <a:spcBef>
                <a:spcPct val="50000"/>
              </a:spcBef>
            </a:pPr>
            <a:r>
              <a:rPr lang="en-US" altLang="zh-CN" sz="320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1 </a:t>
            </a:r>
            <a:r>
              <a:rPr lang="en-US" altLang="zh-CN" sz="3200" err="1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m</a:t>
            </a:r>
            <a:r>
              <a:rPr lang="en-US" altLang="zh-CN" sz="3200" err="1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H</a:t>
            </a:r>
            <a:r>
              <a:rPr lang="en-US" altLang="zh-CN" sz="3200"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lang="en-US" altLang="zh-CN" sz="320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=10</a:t>
            </a:r>
            <a:r>
              <a:rPr lang="en-US" altLang="zh-CN" sz="3200" baseline="3000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3 </a:t>
            </a:r>
            <a:r>
              <a:rPr lang="en-US" altLang="zh-CN" sz="320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</a:t>
            </a:r>
            <a:r>
              <a:rPr lang="en-US" altLang="zh-CN" sz="3200"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lang="en-US" altLang="zh-CN" sz="320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H</a:t>
            </a:r>
            <a:endParaRPr lang="en-US" altLang="zh-CN" sz="3200">
              <a:solidFill>
                <a:srgbClr val="0000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pSp>
        <p:nvGrpSpPr>
          <p:cNvPr id="36884" name="组合 323607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36885" name="20 323608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6886" name="文本框 323609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3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3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2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6" dur="2000"/>
                                        <p:tgtEl>
                                          <p:spTgt spid="323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23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23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90" fill="hold"/>
                                        <p:tgtEl>
                                          <p:spTgt spid="323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90" fill="hold"/>
                                        <p:tgtEl>
                                          <p:spTgt spid="323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236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236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23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586" grpId="0" animBg="1"/>
      <p:bldP spid="323587" grpId="0"/>
      <p:bldP spid="323596" grpId="0" animBg="1"/>
      <p:bldP spid="323603" grpId="0" animBg="1"/>
      <p:bldP spid="32360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24610" name="对象 324609"/>
          <p:cNvGraphicFramePr/>
          <p:nvPr/>
        </p:nvGraphicFramePr>
        <p:xfrm>
          <a:off x="971550" y="3860800"/>
          <a:ext cx="4105275" cy="150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1" imgW="1409700" imgH="457200" progId="Equation.3">
                  <p:embed/>
                </p:oleObj>
              </mc:Choice>
              <mc:Fallback>
                <p:oleObj name="" r:id="rId1" imgW="1409700" imgH="457200" progId="Equation.3">
                  <p:embed/>
                  <p:pic>
                    <p:nvPicPr>
                      <p:cNvPr id="0" name="20 310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990033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71550" y="3860800"/>
                        <a:ext cx="4105275" cy="1506538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99CCFF"/>
                          </a:gs>
                          <a:gs pos="100000">
                            <a:srgbClr val="FFFFFF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4611" name="矩形 324610"/>
          <p:cNvSpPr/>
          <p:nvPr/>
        </p:nvSpPr>
        <p:spPr>
          <a:xfrm>
            <a:off x="539750" y="692150"/>
            <a:ext cx="5489575" cy="579438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ctr" eaLnBrk="0" hangingPunct="0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</a:pPr>
            <a:r>
              <a:rPr lang="en-US" altLang="zh-CN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3.</a:t>
            </a:r>
            <a:r>
              <a:rPr lang="zh-CN" altLang="en-US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线性电感的电压、电流关系</a:t>
            </a:r>
            <a:endParaRPr lang="zh-CN" altLang="en-US" sz="32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24612" name="矩形标注 324611"/>
          <p:cNvSpPr/>
          <p:nvPr/>
        </p:nvSpPr>
        <p:spPr>
          <a:xfrm>
            <a:off x="5795963" y="1412875"/>
            <a:ext cx="2305050" cy="935038"/>
          </a:xfrm>
          <a:prstGeom prst="wedgeRectCallout">
            <a:avLst>
              <a:gd name="adj1" fmla="val -131750"/>
              <a:gd name="adj2" fmla="val 39134"/>
            </a:avLst>
          </a:prstGeom>
          <a:solidFill>
            <a:srgbClr val="99CCFF"/>
          </a:solidFill>
          <a:ln w="9525">
            <a:noFill/>
          </a:ln>
        </p:spPr>
        <p:txBody>
          <a:bodyPr anchor="ctr" anchorCtr="0"/>
          <a:p>
            <a:pPr algn="ctr" eaLnBrk="0" hangingPunct="0"/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u</a:t>
            </a:r>
            <a:r>
              <a:rPr lang="zh-CN" altLang="en-US" i="1" dirty="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、</a:t>
            </a:r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i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取关联参考方向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324613" name="圆角矩形标注 324612" descr="羊皮纸"/>
          <p:cNvSpPr/>
          <p:nvPr/>
        </p:nvSpPr>
        <p:spPr>
          <a:xfrm>
            <a:off x="5651500" y="4221163"/>
            <a:ext cx="2735263" cy="936625"/>
          </a:xfrm>
          <a:prstGeom prst="wedgeRoundRectCallout">
            <a:avLst>
              <a:gd name="adj1" fmla="val -72926"/>
              <a:gd name="adj2" fmla="val 27796"/>
              <a:gd name="adj3" fmla="val 16667"/>
            </a:avLst>
          </a:prstGeom>
          <a:blipFill rotWithShape="1">
            <a:blip r:embed="rId3"/>
          </a:blipFill>
          <a:ln w="9525">
            <a:noFill/>
          </a:ln>
        </p:spPr>
        <p:txBody>
          <a:bodyPr anchor="ctr" anchorCtr="0"/>
          <a:p>
            <a:pPr algn="ctr" eaLnBrk="0" hangingPunct="0"/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电感元件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VCR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的微分关系</a:t>
            </a:r>
            <a:endParaRPr lang="zh-CN" altLang="en-US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324614" name="组合 324613"/>
          <p:cNvGrpSpPr/>
          <p:nvPr/>
        </p:nvGrpSpPr>
        <p:grpSpPr>
          <a:xfrm>
            <a:off x="900113" y="1412875"/>
            <a:ext cx="3455987" cy="1331913"/>
            <a:chOff x="1655" y="2432"/>
            <a:chExt cx="2495" cy="967"/>
          </a:xfrm>
        </p:grpSpPr>
        <p:graphicFrame>
          <p:nvGraphicFramePr>
            <p:cNvPr id="37894" name="对象 324614"/>
            <p:cNvGraphicFramePr/>
            <p:nvPr/>
          </p:nvGraphicFramePr>
          <p:xfrm>
            <a:off x="1701" y="2750"/>
            <a:ext cx="2449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7" name="" r:id="rId4" imgW="895350" imgH="123825" progId="Visio.Drawing.6">
                    <p:embed/>
                  </p:oleObj>
                </mc:Choice>
                <mc:Fallback>
                  <p:oleObj name="" r:id="rId4" imgW="895350" imgH="123825" progId="Visio.Drawing.6">
                    <p:embed/>
                    <p:pic>
                      <p:nvPicPr>
                        <p:cNvPr id="0" name="20 3106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701" y="2750"/>
                          <a:ext cx="2449" cy="32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895" name="右箭头 324615"/>
            <p:cNvSpPr/>
            <p:nvPr/>
          </p:nvSpPr>
          <p:spPr>
            <a:xfrm>
              <a:off x="1973" y="2795"/>
              <a:ext cx="409" cy="91"/>
            </a:xfrm>
            <a:prstGeom prst="rightArrow">
              <a:avLst>
                <a:gd name="adj1" fmla="val 50000"/>
                <a:gd name="adj2" fmla="val 112321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7896" name="文本框 324616"/>
            <p:cNvSpPr txBox="1"/>
            <p:nvPr/>
          </p:nvSpPr>
          <p:spPr>
            <a:xfrm>
              <a:off x="1655" y="3022"/>
              <a:ext cx="382" cy="37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b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7897" name="文本框 324617"/>
            <p:cNvSpPr txBox="1"/>
            <p:nvPr/>
          </p:nvSpPr>
          <p:spPr>
            <a:xfrm>
              <a:off x="3651" y="3022"/>
              <a:ext cx="382" cy="37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b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7898" name="文本框 324618"/>
            <p:cNvSpPr txBox="1"/>
            <p:nvPr/>
          </p:nvSpPr>
          <p:spPr>
            <a:xfrm>
              <a:off x="2501" y="3022"/>
              <a:ext cx="668" cy="37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 </a:t>
              </a:r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(</a:t>
              </a: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t</a:t>
              </a:r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)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7899" name="文本框 324619"/>
            <p:cNvSpPr txBox="1"/>
            <p:nvPr/>
          </p:nvSpPr>
          <p:spPr>
            <a:xfrm>
              <a:off x="1972" y="2478"/>
              <a:ext cx="364" cy="37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endParaRPr lang="en-US" altLang="zh-CN" b="0" i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7900" name="文本框 324620"/>
            <p:cNvSpPr txBox="1"/>
            <p:nvPr/>
          </p:nvSpPr>
          <p:spPr>
            <a:xfrm>
              <a:off x="2609" y="2432"/>
              <a:ext cx="498" cy="37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L</a:t>
              </a:r>
              <a:endParaRPr lang="en-US" altLang="zh-CN" b="0" i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324622" name="文本框 324621"/>
          <p:cNvSpPr txBox="1"/>
          <p:nvPr/>
        </p:nvSpPr>
        <p:spPr>
          <a:xfrm>
            <a:off x="971550" y="2997200"/>
            <a:ext cx="5184775" cy="519113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ctr" eaLnBrk="0" hangingPunct="0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根据电磁感应定律与楞次定律</a:t>
            </a:r>
            <a:endParaRPr lang="zh-CN" altLang="en-US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37902" name="组合 324622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7903" name="20 324623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7904" name="文本框 324624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7905" name="组合 324625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7906" name="20 324626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7907" name="文本框 324627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7908" name="组合 324631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37909" name="20 324632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7910" name="文本框 324633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46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46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3" dur="2000"/>
                                        <p:tgtEl>
                                          <p:spTgt spid="324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2000"/>
                                        <p:tgtEl>
                                          <p:spTgt spid="324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4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0"/>
                                        <p:tgtEl>
                                          <p:spTgt spid="324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0"/>
                            </p:stCondLst>
                            <p:childTnLst>
                              <p:par>
                                <p:cTn id="29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1" dur="2000"/>
                                        <p:tgtEl>
                                          <p:spTgt spid="324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611" grpId="0"/>
      <p:bldP spid="324612" grpId="0" animBg="1"/>
      <p:bldP spid="324613" grpId="0" animBg="1"/>
      <p:bldP spid="32462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8913" name="对象 325633"/>
          <p:cNvGraphicFramePr/>
          <p:nvPr/>
        </p:nvGraphicFramePr>
        <p:xfrm>
          <a:off x="4787900" y="765175"/>
          <a:ext cx="2736850" cy="129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1" imgW="965200" imgH="457200" progId="Equation.3">
                  <p:embed/>
                </p:oleObj>
              </mc:Choice>
              <mc:Fallback>
                <p:oleObj name="" r:id="rId1" imgW="965200" imgH="457200" progId="Equation.3">
                  <p:embed/>
                  <p:pic>
                    <p:nvPicPr>
                      <p:cNvPr id="0" name="20 3094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990033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787900" y="765175"/>
                        <a:ext cx="2736850" cy="12922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99CCFF"/>
                          </a:gs>
                          <a:gs pos="100000">
                            <a:srgbClr val="FFFFFF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5635" name="矩形 325634"/>
          <p:cNvSpPr/>
          <p:nvPr/>
        </p:nvSpPr>
        <p:spPr>
          <a:xfrm>
            <a:off x="684213" y="2852738"/>
            <a:ext cx="7848600" cy="1117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marL="342900" indent="-342900" eaLnBrk="0" hangingPunct="0">
              <a:lnSpc>
                <a:spcPct val="120000"/>
              </a:lnSpc>
              <a:buAutoNum type="circleNumDbPlain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电感电压</a:t>
            </a:r>
            <a:r>
              <a:rPr lang="en-US" altLang="zh-CN" b="0" i="1"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i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的大小取决于</a:t>
            </a:r>
            <a:r>
              <a:rPr lang="en-US" altLang="zh-CN" b="0" i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的变化率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与 </a:t>
            </a:r>
            <a:r>
              <a:rPr lang="en-US" altLang="zh-CN" b="0" i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i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的大小无关，电感是动态元件；</a:t>
            </a:r>
            <a:endParaRPr lang="zh-CN" altLang="en-US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25636" name="矩形 325635"/>
          <p:cNvSpPr/>
          <p:nvPr/>
        </p:nvSpPr>
        <p:spPr>
          <a:xfrm>
            <a:off x="684213" y="4149725"/>
            <a:ext cx="7848600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marL="342900" indent="-342900" eaLnBrk="0" hangingPunct="0">
              <a:buAutoNum type="circleNumDbPlain" startAt="2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当</a:t>
            </a:r>
            <a:r>
              <a:rPr lang="en-US" altLang="zh-CN" b="0" i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为常数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直流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时，</a:t>
            </a:r>
            <a:r>
              <a:rPr lang="en-US" altLang="zh-CN" b="0" i="1">
                <a:latin typeface="Times New Roman" panose="02020603050405020304" pitchFamily="18" charset="0"/>
                <a:ea typeface="楷体_GB2312" pitchFamily="49" charset="-122"/>
              </a:rPr>
              <a:t>u </a:t>
            </a:r>
            <a:r>
              <a:rPr lang="en-US" altLang="zh-CN" b="0">
                <a:latin typeface="Times New Roman" panose="02020603050405020304" pitchFamily="18" charset="0"/>
                <a:ea typeface="楷体_GB2312" pitchFamily="49" charset="-122"/>
              </a:rPr>
              <a:t>=0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。电感相当于短路；</a:t>
            </a:r>
            <a:endParaRPr lang="zh-CN" altLang="en-US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325637" name="文本框 325636"/>
          <p:cNvSpPr txBox="1"/>
          <p:nvPr/>
        </p:nvSpPr>
        <p:spPr>
          <a:xfrm>
            <a:off x="755650" y="4797425"/>
            <a:ext cx="7559675" cy="1117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eaLnBrk="0" hangingPunct="0">
              <a:lnSpc>
                <a:spcPct val="120000"/>
              </a:lnSpc>
              <a:spcBef>
                <a:spcPct val="50000"/>
              </a:spcBef>
              <a:buAutoNum type="circleNumDbPlain" startAt="3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实际电路中电感的电压</a:t>
            </a:r>
            <a:r>
              <a:rPr lang="zh-CN" altLang="en-US" i="1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b="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u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为有限值，则电感电流 </a:t>
            </a:r>
            <a:r>
              <a:rPr lang="en-US" altLang="zh-CN" b="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i</a:t>
            </a:r>
            <a:r>
              <a:rPr lang="en-US" altLang="zh-CN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不能跃变，必定是时间的连续函数</a:t>
            </a:r>
            <a:r>
              <a:rPr lang="en-US" altLang="zh-CN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.</a:t>
            </a:r>
            <a:endParaRPr lang="en-US" altLang="zh-CN"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38917" name="组合 325656"/>
          <p:cNvGrpSpPr/>
          <p:nvPr/>
        </p:nvGrpSpPr>
        <p:grpSpPr>
          <a:xfrm>
            <a:off x="971550" y="620713"/>
            <a:ext cx="3529013" cy="1331912"/>
            <a:chOff x="612" y="391"/>
            <a:chExt cx="2223" cy="839"/>
          </a:xfrm>
        </p:grpSpPr>
        <p:graphicFrame>
          <p:nvGraphicFramePr>
            <p:cNvPr id="38918" name="对象 325638"/>
            <p:cNvGraphicFramePr/>
            <p:nvPr/>
          </p:nvGraphicFramePr>
          <p:xfrm>
            <a:off x="652" y="667"/>
            <a:ext cx="2137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9" name="" r:id="rId3" imgW="895350" imgH="123825" progId="Visio.Drawing.6">
                    <p:embed/>
                  </p:oleObj>
                </mc:Choice>
                <mc:Fallback>
                  <p:oleObj name="" r:id="rId3" imgW="895350" imgH="123825" progId="Visio.Drawing.6">
                    <p:embed/>
                    <p:pic>
                      <p:nvPicPr>
                        <p:cNvPr id="0" name="20 310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52" y="667"/>
                          <a:ext cx="2137" cy="2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19" name="右箭头 325639"/>
            <p:cNvSpPr/>
            <p:nvPr/>
          </p:nvSpPr>
          <p:spPr>
            <a:xfrm>
              <a:off x="889" y="706"/>
              <a:ext cx="357" cy="79"/>
            </a:xfrm>
            <a:prstGeom prst="rightArrow">
              <a:avLst>
                <a:gd name="adj1" fmla="val 50000"/>
                <a:gd name="adj2" fmla="val 112932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8920" name="文本框 325640"/>
            <p:cNvSpPr txBox="1"/>
            <p:nvPr/>
          </p:nvSpPr>
          <p:spPr>
            <a:xfrm>
              <a:off x="612" y="903"/>
              <a:ext cx="33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b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8921" name="文本框 325641"/>
            <p:cNvSpPr txBox="1"/>
            <p:nvPr/>
          </p:nvSpPr>
          <p:spPr>
            <a:xfrm>
              <a:off x="2502" y="880"/>
              <a:ext cx="33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b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8922" name="文本框 325642"/>
            <p:cNvSpPr txBox="1"/>
            <p:nvPr/>
          </p:nvSpPr>
          <p:spPr>
            <a:xfrm>
              <a:off x="1350" y="903"/>
              <a:ext cx="58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 </a:t>
              </a:r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(</a:t>
              </a: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t</a:t>
              </a:r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)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8923" name="文本框 325643"/>
            <p:cNvSpPr txBox="1"/>
            <p:nvPr/>
          </p:nvSpPr>
          <p:spPr>
            <a:xfrm>
              <a:off x="889" y="431"/>
              <a:ext cx="31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endParaRPr lang="en-US" altLang="zh-CN" b="0" i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8924" name="文本框 325644"/>
            <p:cNvSpPr txBox="1"/>
            <p:nvPr/>
          </p:nvSpPr>
          <p:spPr>
            <a:xfrm>
              <a:off x="1444" y="391"/>
              <a:ext cx="4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L</a:t>
              </a:r>
              <a:endParaRPr lang="en-US" altLang="zh-CN" b="0" i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325646" name="直接连接符 325645"/>
          <p:cNvSpPr/>
          <p:nvPr/>
        </p:nvSpPr>
        <p:spPr>
          <a:xfrm>
            <a:off x="4211638" y="2420938"/>
            <a:ext cx="1728787" cy="0"/>
          </a:xfrm>
          <a:prstGeom prst="line">
            <a:avLst/>
          </a:prstGeom>
          <a:ln w="57150" cap="flat" cmpd="sng">
            <a:solidFill>
              <a:srgbClr val="FF9900"/>
            </a:solidFill>
            <a:prstDash val="solid"/>
            <a:round/>
            <a:headEnd type="oval" w="med" len="med"/>
            <a:tailEnd type="oval" w="med" len="med"/>
          </a:ln>
        </p:spPr>
      </p:sp>
      <p:sp>
        <p:nvSpPr>
          <p:cNvPr id="325647" name="右箭头 325646"/>
          <p:cNvSpPr/>
          <p:nvPr/>
        </p:nvSpPr>
        <p:spPr>
          <a:xfrm rot="1891188">
            <a:off x="3203575" y="2133600"/>
            <a:ext cx="792163" cy="215900"/>
          </a:xfrm>
          <a:prstGeom prst="rightArrow">
            <a:avLst>
              <a:gd name="adj1" fmla="val 50000"/>
              <a:gd name="adj2" fmla="val 91694"/>
            </a:avLst>
          </a:prstGeom>
          <a:solidFill>
            <a:srgbClr val="FF3300"/>
          </a:solidFill>
          <a:ln w="9525">
            <a:noFill/>
          </a:ln>
        </p:spPr>
        <p:txBody>
          <a:bodyPr anchor="t" anchorCtr="0"/>
          <a:p>
            <a:endParaRPr lang="zh-CN" altLang="en-US"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38927" name="组合 325647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8928" name="20 325648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8929" name="文本框 325649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8930" name="组合 325650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8931" name="20 325651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8932" name="文本框 325652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25654" name="组合 325653"/>
          <p:cNvGrpSpPr/>
          <p:nvPr/>
        </p:nvGrpSpPr>
        <p:grpSpPr>
          <a:xfrm>
            <a:off x="827088" y="2060575"/>
            <a:ext cx="1663700" cy="850900"/>
            <a:chOff x="385" y="3022"/>
            <a:chExt cx="1019" cy="536"/>
          </a:xfrm>
        </p:grpSpPr>
        <p:pic>
          <p:nvPicPr>
            <p:cNvPr id="38934" name="20 325654" descr="12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8935" name="文本框 325655"/>
            <p:cNvSpPr txBox="1"/>
            <p:nvPr/>
          </p:nvSpPr>
          <p:spPr>
            <a:xfrm>
              <a:off x="793" y="3125"/>
              <a:ext cx="611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3200" b="0" dirty="0">
                  <a:solidFill>
                    <a:srgbClr val="FF9933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表明</a:t>
              </a:r>
              <a:endParaRPr lang="zh-CN" altLang="en-US" sz="3200" b="0" dirty="0">
                <a:solidFill>
                  <a:srgbClr val="FF9933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38936" name="组合 325663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38937" name="20 325664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8938" name="文本框 325665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5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90" fill="hold"/>
                                        <p:tgtEl>
                                          <p:spTgt spid="3256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90" fill="hold"/>
                                        <p:tgtEl>
                                          <p:spTgt spid="3256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90"/>
                                        <p:tgtEl>
                                          <p:spTgt spid="325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90" fill="hold"/>
                                        <p:tgtEl>
                                          <p:spTgt spid="3256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90" fill="hold"/>
                                        <p:tgtEl>
                                          <p:spTgt spid="3256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90"/>
                                        <p:tgtEl>
                                          <p:spTgt spid="325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25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25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25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5635" grpId="0"/>
      <p:bldP spid="325636" grpId="0"/>
      <p:bldP spid="32563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26658" name="对象 326657"/>
          <p:cNvGraphicFramePr/>
          <p:nvPr/>
        </p:nvGraphicFramePr>
        <p:xfrm>
          <a:off x="1116013" y="604838"/>
          <a:ext cx="2808287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1" imgW="2197100" imgH="876300" progId="Equation.3">
                  <p:embed/>
                </p:oleObj>
              </mc:Choice>
              <mc:Fallback>
                <p:oleObj name="" r:id="rId1" imgW="2197100" imgH="876300" progId="Equation.3">
                  <p:embed/>
                  <p:pic>
                    <p:nvPicPr>
                      <p:cNvPr id="0" name="20 311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16013" y="604838"/>
                        <a:ext cx="2808287" cy="1117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6659" name="圆角矩形标注 326658"/>
          <p:cNvSpPr/>
          <p:nvPr/>
        </p:nvSpPr>
        <p:spPr>
          <a:xfrm>
            <a:off x="5795963" y="1484313"/>
            <a:ext cx="2592387" cy="1081087"/>
          </a:xfrm>
          <a:prstGeom prst="wedgeRoundRectCallout">
            <a:avLst>
              <a:gd name="adj1" fmla="val -93477"/>
              <a:gd name="adj2" fmla="val -20926"/>
              <a:gd name="adj3" fmla="val 16667"/>
            </a:avLst>
          </a:prstGeom>
          <a:solidFill>
            <a:srgbClr val="99CCFF"/>
          </a:solidFill>
          <a:ln w="9525">
            <a:noFill/>
          </a:ln>
        </p:spPr>
        <p:txBody>
          <a:bodyPr anchor="ctr" anchorCtr="0"/>
          <a:p>
            <a:pPr algn="ctr" eaLnBrk="0" hangingPunct="0"/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电感元件</a:t>
            </a:r>
            <a:r>
              <a:rPr lang="en-US" altLang="zh-CN" b="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VCR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的积分关系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39939" name="组合 326659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9940" name="20 326660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9941" name="文本框 326661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9942" name="组合 326662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9943" name="20 326663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9944" name="文本框 326664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aphicFrame>
        <p:nvGraphicFramePr>
          <p:cNvPr id="326666" name="对象 326665"/>
          <p:cNvGraphicFramePr/>
          <p:nvPr/>
        </p:nvGraphicFramePr>
        <p:xfrm>
          <a:off x="3924300" y="596900"/>
          <a:ext cx="3671888" cy="1296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4" imgW="3073400" imgH="1117600" progId="Equation.3">
                  <p:embed/>
                </p:oleObj>
              </mc:Choice>
              <mc:Fallback>
                <p:oleObj name="" r:id="rId4" imgW="3073400" imgH="1117600" progId="Equation.3">
                  <p:embed/>
                  <p:pic>
                    <p:nvPicPr>
                      <p:cNvPr id="0" name="20 3109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24300" y="596900"/>
                        <a:ext cx="3671888" cy="1296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67" name="对象 326666"/>
          <p:cNvGraphicFramePr/>
          <p:nvPr/>
        </p:nvGraphicFramePr>
        <p:xfrm>
          <a:off x="1619250" y="1484313"/>
          <a:ext cx="2881313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6" imgW="2171700" imgH="876300" progId="Equation.3">
                  <p:embed/>
                </p:oleObj>
              </mc:Choice>
              <mc:Fallback>
                <p:oleObj name="" r:id="rId6" imgW="2171700" imgH="876300" progId="Equation.3">
                  <p:embed/>
                  <p:pic>
                    <p:nvPicPr>
                      <p:cNvPr id="0" name="20 3110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19250" y="1484313"/>
                        <a:ext cx="2881313" cy="1162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6668" name="组合 326667"/>
          <p:cNvGrpSpPr/>
          <p:nvPr/>
        </p:nvGrpSpPr>
        <p:grpSpPr>
          <a:xfrm>
            <a:off x="684213" y="2133600"/>
            <a:ext cx="1663700" cy="850900"/>
            <a:chOff x="385" y="3022"/>
            <a:chExt cx="1019" cy="536"/>
          </a:xfrm>
        </p:grpSpPr>
        <p:pic>
          <p:nvPicPr>
            <p:cNvPr id="39948" name="20 326668" descr="12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9949" name="文本框 326669"/>
            <p:cNvSpPr txBox="1"/>
            <p:nvPr/>
          </p:nvSpPr>
          <p:spPr>
            <a:xfrm>
              <a:off x="793" y="3125"/>
              <a:ext cx="611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3200" b="0" dirty="0">
                  <a:solidFill>
                    <a:srgbClr val="FF9933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表明</a:t>
              </a:r>
              <a:endParaRPr lang="zh-CN" altLang="en-US" sz="3200" b="0" dirty="0">
                <a:solidFill>
                  <a:srgbClr val="FF9933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sp>
        <p:nvSpPr>
          <p:cNvPr id="326671" name="文本框 326670"/>
          <p:cNvSpPr txBox="1"/>
          <p:nvPr/>
        </p:nvSpPr>
        <p:spPr>
          <a:xfrm>
            <a:off x="1042988" y="2852738"/>
            <a:ext cx="7200900" cy="1630362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marL="342900" indent="-342900" eaLnBrk="0" hangingPunct="0">
              <a:lnSpc>
                <a:spcPct val="120000"/>
              </a:lnSpc>
              <a:buAutoNum type="circleNumDbPlain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某一时刻的电感电流值与</a:t>
            </a:r>
            <a:r>
              <a:rPr lang="en-US" altLang="zh-CN" b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-</a:t>
            </a:r>
            <a:r>
              <a:rPr lang="en-US" altLang="zh-CN" b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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到该时刻的所有电流值有关，即电感元件有记忆电压的作用，电感元件也是记忆元件。</a:t>
            </a:r>
            <a:endParaRPr lang="zh-CN" altLang="en-US"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326672" name="文本框 326671"/>
          <p:cNvSpPr txBox="1"/>
          <p:nvPr/>
        </p:nvSpPr>
        <p:spPr>
          <a:xfrm>
            <a:off x="971550" y="4508500"/>
            <a:ext cx="7920038" cy="1630363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marL="342900" indent="-342900" eaLnBrk="0" hangingPunct="0">
              <a:lnSpc>
                <a:spcPct val="120000"/>
              </a:lnSpc>
              <a:buAutoNum type="circleNumDbPlain" startAt="2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研究某一初始时刻</a:t>
            </a:r>
            <a:r>
              <a:rPr lang="en-US" altLang="zh-CN" b="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t</a:t>
            </a:r>
            <a:r>
              <a:rPr lang="en-US" altLang="zh-CN" b="0" baseline="-250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0</a:t>
            </a:r>
            <a:r>
              <a:rPr lang="en-US" altLang="zh-CN" baseline="-2500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以后的电感电流，不需要了解</a:t>
            </a:r>
            <a:r>
              <a:rPr lang="en-US" altLang="zh-CN" b="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t</a:t>
            </a:r>
            <a:r>
              <a:rPr lang="en-US" altLang="zh-CN" b="0" baseline="-250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0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以前的电流，只需知道</a:t>
            </a:r>
            <a:r>
              <a:rPr lang="en-US" altLang="zh-CN" b="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t</a:t>
            </a:r>
            <a:r>
              <a:rPr lang="en-US" altLang="zh-CN" b="0" baseline="-250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0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时刻开始作用的电压 </a:t>
            </a:r>
            <a:r>
              <a:rPr lang="en-US" altLang="zh-CN" b="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u</a:t>
            </a:r>
            <a:r>
              <a:rPr lang="en-US" altLang="zh-CN" i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和</a:t>
            </a:r>
            <a:r>
              <a:rPr lang="en-US" altLang="zh-CN" b="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t</a:t>
            </a:r>
            <a:r>
              <a:rPr lang="en-US" altLang="zh-CN" b="0" baseline="-250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0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时刻的电流 </a:t>
            </a:r>
            <a:r>
              <a:rPr lang="en-US" altLang="zh-CN" b="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i</a:t>
            </a:r>
            <a:r>
              <a:rPr lang="zh-CN" altLang="en-US" b="0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（</a:t>
            </a:r>
            <a:r>
              <a:rPr lang="en-US" altLang="zh-CN" b="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t</a:t>
            </a:r>
            <a:r>
              <a:rPr lang="en-US" altLang="zh-CN" b="0" baseline="-250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0</a:t>
            </a:r>
            <a:r>
              <a:rPr lang="zh-CN" altLang="en-US" b="0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）。</a:t>
            </a:r>
            <a:endParaRPr lang="zh-CN" altLang="en-US" b="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39952" name="组合 326675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39953" name="20 326676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9954" name="文本框 326677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2000"/>
                                        <p:tgtEl>
                                          <p:spTgt spid="326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2000"/>
                                        <p:tgtEl>
                                          <p:spTgt spid="326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2000"/>
                                        <p:tgtEl>
                                          <p:spTgt spid="326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2000"/>
                                        <p:tgtEl>
                                          <p:spTgt spid="326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26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90" fill="hold"/>
                                        <p:tgtEl>
                                          <p:spTgt spid="3266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90" fill="hold"/>
                                        <p:tgtEl>
                                          <p:spTgt spid="3266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90"/>
                                        <p:tgtEl>
                                          <p:spTgt spid="326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90"/>
                            </p:stCondLst>
                            <p:childTnLst>
                              <p:par>
                                <p:cTn id="3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90" fill="hold"/>
                                        <p:tgtEl>
                                          <p:spTgt spid="3266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90" fill="hold"/>
                                        <p:tgtEl>
                                          <p:spTgt spid="3266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90"/>
                                        <p:tgtEl>
                                          <p:spTgt spid="326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6659" grpId="0" animBg="1"/>
      <p:bldP spid="326671" grpId="0"/>
      <p:bldP spid="32667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961" name="组合 327681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0962" name="20 327682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0963" name="文本框 327683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0964" name="组合 327684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0965" name="20 327685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0966" name="文本框 327686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27689" name="组合 327688"/>
          <p:cNvGrpSpPr/>
          <p:nvPr/>
        </p:nvGrpSpPr>
        <p:grpSpPr>
          <a:xfrm>
            <a:off x="755650" y="692150"/>
            <a:ext cx="1663700" cy="850900"/>
            <a:chOff x="385" y="3022"/>
            <a:chExt cx="1020" cy="536"/>
          </a:xfrm>
        </p:grpSpPr>
        <p:pic>
          <p:nvPicPr>
            <p:cNvPr id="40968" name="20 327689" descr="1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0969" name="文本框 327690"/>
            <p:cNvSpPr txBox="1"/>
            <p:nvPr/>
          </p:nvSpPr>
          <p:spPr>
            <a:xfrm>
              <a:off x="794" y="3125"/>
              <a:ext cx="611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3200" b="0" dirty="0">
                  <a:solidFill>
                    <a:srgbClr val="FF9933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注意</a:t>
              </a:r>
              <a:endParaRPr lang="zh-CN" altLang="en-US" sz="3200" b="0" dirty="0">
                <a:solidFill>
                  <a:srgbClr val="FF9933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sp>
        <p:nvSpPr>
          <p:cNvPr id="327692" name="文本框 327691"/>
          <p:cNvSpPr txBox="1"/>
          <p:nvPr/>
        </p:nvSpPr>
        <p:spPr>
          <a:xfrm>
            <a:off x="900113" y="1384300"/>
            <a:ext cx="7162800" cy="111760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marL="342900" indent="-342900" algn="just" eaLnBrk="0" hangingPunct="0">
              <a:lnSpc>
                <a:spcPct val="120000"/>
              </a:lnSpc>
              <a:spcBef>
                <a:spcPct val="20000"/>
              </a:spcBef>
              <a:buAutoNum type="circleNumDbPlain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当电感的</a:t>
            </a:r>
            <a:r>
              <a:rPr lang="zh-CN" altLang="en-US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b="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u</a:t>
            </a:r>
            <a:r>
              <a:rPr lang="zh-CN" altLang="en-US" b="0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，</a:t>
            </a:r>
            <a:r>
              <a:rPr lang="en-US" altLang="zh-CN" b="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i</a:t>
            </a:r>
            <a:r>
              <a:rPr lang="en-US" altLang="zh-CN" i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为非关联方向时，上述微分和积分表达式前要冠以负号 </a:t>
            </a:r>
            <a:r>
              <a:rPr lang="en-US" altLang="zh-CN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;</a:t>
            </a:r>
            <a:endParaRPr lang="en-US" altLang="zh-CN"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327693" name="对象 327692"/>
          <p:cNvGraphicFramePr/>
          <p:nvPr/>
        </p:nvGraphicFramePr>
        <p:xfrm>
          <a:off x="971550" y="2708275"/>
          <a:ext cx="1911350" cy="122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3" imgW="711200" imgH="457200" progId="Equation.3">
                  <p:embed/>
                </p:oleObj>
              </mc:Choice>
              <mc:Fallback>
                <p:oleObj name="" r:id="rId3" imgW="711200" imgH="457200" progId="Equation.3">
                  <p:embed/>
                  <p:pic>
                    <p:nvPicPr>
                      <p:cNvPr id="0" name="20 311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990033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71550" y="2708275"/>
                        <a:ext cx="1911350" cy="1223963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FFCC99"/>
                          </a:gs>
                          <a:gs pos="100000">
                            <a:srgbClr val="FFFFFF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694" name="对象 327693"/>
          <p:cNvGraphicFramePr/>
          <p:nvPr/>
        </p:nvGraphicFramePr>
        <p:xfrm>
          <a:off x="3276600" y="2690813"/>
          <a:ext cx="4881563" cy="1287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5" imgW="2997200" imgH="876300" progId="Equation.3">
                  <p:embed/>
                </p:oleObj>
              </mc:Choice>
              <mc:Fallback>
                <p:oleObj name="" r:id="rId5" imgW="2997200" imgH="876300" progId="Equation.3">
                  <p:embed/>
                  <p:pic>
                    <p:nvPicPr>
                      <p:cNvPr id="0" name="20 3113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990033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276600" y="2690813"/>
                        <a:ext cx="4881563" cy="1287462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FFCC99"/>
                          </a:gs>
                          <a:gs pos="100000">
                            <a:schemeClr val="tx1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695" name="文本框 327694"/>
          <p:cNvSpPr txBox="1"/>
          <p:nvPr/>
        </p:nvSpPr>
        <p:spPr>
          <a:xfrm>
            <a:off x="827088" y="4221163"/>
            <a:ext cx="7848600" cy="111760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marL="342900" indent="-342900" algn="just" eaLnBrk="0" hangingPunct="0">
              <a:lnSpc>
                <a:spcPct val="120000"/>
              </a:lnSpc>
              <a:spcBef>
                <a:spcPct val="20000"/>
              </a:spcBef>
              <a:buAutoNum type="circleNumDbPlain" startAt="2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上式中 </a:t>
            </a:r>
            <a:r>
              <a:rPr lang="en-US" altLang="zh-CN" b="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i</a:t>
            </a:r>
            <a:r>
              <a:rPr lang="en-US" altLang="zh-CN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(t</a:t>
            </a:r>
            <a:r>
              <a:rPr lang="en-US" altLang="zh-CN" b="0" baseline="-250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0</a:t>
            </a:r>
            <a:r>
              <a:rPr lang="en-US" altLang="zh-CN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)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称为电感电压的初始值，它反映电感初始时刻的储能状况，也称为初始状态。       </a:t>
            </a:r>
            <a:endParaRPr lang="zh-CN" altLang="en-US" dirty="0"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40974" name="组合 327698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40975" name="20 327699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0976" name="文本框 327700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7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90"/>
                                        <p:tgtEl>
                                          <p:spTgt spid="327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3000"/>
                                        <p:tgtEl>
                                          <p:spTgt spid="327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27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90" fill="hold"/>
                                        <p:tgtEl>
                                          <p:spTgt spid="3276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90" fill="hold"/>
                                        <p:tgtEl>
                                          <p:spTgt spid="3276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692" grpId="0"/>
      <p:bldP spid="32769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1985" name="组合 328705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1986" name="20 328706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1987" name="文本框 328707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1988" name="组合 328708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1989" name="20 328709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1990" name="文本框 328710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328713" name="文本框 328712"/>
          <p:cNvSpPr txBox="1"/>
          <p:nvPr/>
        </p:nvSpPr>
        <p:spPr>
          <a:xfrm>
            <a:off x="611188" y="692150"/>
            <a:ext cx="4392612" cy="579438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ctr" eaLnBrk="0" hangingPunct="0">
              <a:spcBef>
                <a:spcPct val="50000"/>
              </a:spcBef>
            </a:pPr>
            <a:r>
              <a:rPr lang="en-US" altLang="zh-CN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4.</a:t>
            </a:r>
            <a:r>
              <a:rPr lang="zh-CN" altLang="en-US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电感的功率和储能</a:t>
            </a:r>
            <a:endParaRPr lang="zh-CN" altLang="en-US" sz="320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28714" name="文本框 328713"/>
          <p:cNvSpPr txBox="1"/>
          <p:nvPr/>
        </p:nvSpPr>
        <p:spPr>
          <a:xfrm>
            <a:off x="971550" y="1628775"/>
            <a:ext cx="1512888" cy="547688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b="0" dirty="0">
                <a:solidFill>
                  <a:srgbClr val="FF9900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b="0" dirty="0">
                <a:solidFill>
                  <a:srgbClr val="FF9900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功率</a:t>
            </a:r>
            <a:endParaRPr lang="zh-CN" altLang="en-US" b="0" dirty="0">
              <a:solidFill>
                <a:srgbClr val="FF9900"/>
              </a:solidFill>
              <a:latin typeface="Times New Roman" panose="02020603050405020304" pitchFamily="18" charset="0"/>
              <a:ea typeface="华文中宋" panose="0201060004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328715" name="对象 328714"/>
          <p:cNvGraphicFramePr/>
          <p:nvPr/>
        </p:nvGraphicFramePr>
        <p:xfrm>
          <a:off x="2843213" y="1341438"/>
          <a:ext cx="2959100" cy="123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2" imgW="1091565" imgH="457200" progId="Equation.3">
                  <p:embed/>
                </p:oleObj>
              </mc:Choice>
              <mc:Fallback>
                <p:oleObj name="" r:id="rId2" imgW="1091565" imgH="457200" progId="Equation.3">
                  <p:embed/>
                  <p:pic>
                    <p:nvPicPr>
                      <p:cNvPr id="0" name="20 3116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43213" y="1341438"/>
                        <a:ext cx="2959100" cy="1235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8716" name="矩形标注 328715"/>
          <p:cNvSpPr/>
          <p:nvPr/>
        </p:nvSpPr>
        <p:spPr>
          <a:xfrm>
            <a:off x="6227763" y="836613"/>
            <a:ext cx="2159000" cy="1079500"/>
          </a:xfrm>
          <a:prstGeom prst="wedgeRectCallout">
            <a:avLst>
              <a:gd name="adj1" fmla="val -68384"/>
              <a:gd name="adj2" fmla="val 80000"/>
            </a:avLst>
          </a:prstGeom>
          <a:solidFill>
            <a:srgbClr val="99CCFF"/>
          </a:solidFill>
          <a:ln w="9525">
            <a:noFill/>
          </a:ln>
        </p:spPr>
        <p:txBody>
          <a:bodyPr anchor="ctr" anchorCtr="0"/>
          <a:p>
            <a:pPr algn="ctr" eaLnBrk="0" hangingPunct="0"/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u</a:t>
            </a:r>
            <a:r>
              <a:rPr lang="zh-CN" altLang="en-US" i="1" dirty="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、 </a:t>
            </a:r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i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取关联参考方向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328717" name="文本框 328716"/>
          <p:cNvSpPr txBox="1"/>
          <p:nvPr/>
        </p:nvSpPr>
        <p:spPr>
          <a:xfrm>
            <a:off x="1042988" y="2565400"/>
            <a:ext cx="6983412" cy="519113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marL="342900" indent="-342900" eaLnBrk="0" hangingPunct="0">
              <a:spcBef>
                <a:spcPct val="50000"/>
              </a:spcBef>
              <a:buAutoNum type="circleNumDbPlain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当电流增大</a:t>
            </a:r>
            <a:r>
              <a:rPr lang="zh-CN" altLang="en-US" i="1" dirty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b="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p&gt;0</a:t>
            </a:r>
            <a:r>
              <a:rPr lang="en-US" altLang="zh-CN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,</a:t>
            </a:r>
            <a:r>
              <a:rPr lang="en-US" altLang="zh-CN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电感吸收功率。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28718" name="文本框 328717"/>
          <p:cNvSpPr txBox="1"/>
          <p:nvPr/>
        </p:nvSpPr>
        <p:spPr>
          <a:xfrm>
            <a:off x="1042988" y="3141663"/>
            <a:ext cx="7127875" cy="519112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marL="342900" indent="-342900" eaLnBrk="0" hangingPunct="0">
              <a:spcBef>
                <a:spcPct val="50000"/>
              </a:spcBef>
              <a:buAutoNum type="circleNumDbPlain" startAt="2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当电流减小，</a:t>
            </a:r>
            <a:r>
              <a:rPr lang="en-US" altLang="zh-CN" b="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p</a:t>
            </a:r>
            <a:r>
              <a:rPr lang="en-US" altLang="zh-CN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&lt;0</a:t>
            </a:r>
            <a:r>
              <a:rPr lang="en-US" altLang="zh-CN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,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电感发出功率。</a:t>
            </a:r>
            <a:endParaRPr lang="zh-CN" altLang="en-US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28719" name="文本框 328718"/>
          <p:cNvSpPr txBox="1"/>
          <p:nvPr/>
        </p:nvSpPr>
        <p:spPr>
          <a:xfrm>
            <a:off x="755650" y="3933825"/>
            <a:ext cx="7559675" cy="22256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ct val="125000"/>
              </a:lnSpc>
              <a:spcBef>
                <a:spcPct val="50000"/>
              </a:spcBef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       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电感能在一段时间内吸收外部供给的能量转化为磁场能量储存起来，在另一段时间内又把能量释放回电路，因此电感元件是无源元件、是储能元件，它本身不消耗能量。</a:t>
            </a:r>
            <a:endParaRPr lang="zh-CN" altLang="en-US" dirty="0"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328720" name="组合 328719"/>
          <p:cNvGrpSpPr/>
          <p:nvPr/>
        </p:nvGrpSpPr>
        <p:grpSpPr>
          <a:xfrm>
            <a:off x="539750" y="3789363"/>
            <a:ext cx="1663700" cy="850900"/>
            <a:chOff x="385" y="3022"/>
            <a:chExt cx="1019" cy="536"/>
          </a:xfrm>
        </p:grpSpPr>
        <p:pic>
          <p:nvPicPr>
            <p:cNvPr id="41999" name="20 328720" descr="12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2000" name="文本框 328721"/>
            <p:cNvSpPr txBox="1"/>
            <p:nvPr/>
          </p:nvSpPr>
          <p:spPr>
            <a:xfrm>
              <a:off x="793" y="3125"/>
              <a:ext cx="611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3200" b="0" dirty="0">
                  <a:solidFill>
                    <a:srgbClr val="FF9933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表明</a:t>
              </a:r>
              <a:endParaRPr lang="zh-CN" altLang="en-US" sz="3200" b="0" dirty="0">
                <a:solidFill>
                  <a:srgbClr val="FF9933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42001" name="组合 328725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42002" name="20 328726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2003" name="文本框 328727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3287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3287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87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87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2000"/>
                                        <p:tgtEl>
                                          <p:spTgt spid="328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3" dur="1000"/>
                                        <p:tgtEl>
                                          <p:spTgt spid="328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90" fill="hold"/>
                                        <p:tgtEl>
                                          <p:spTgt spid="3287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90" fill="hold"/>
                                        <p:tgtEl>
                                          <p:spTgt spid="3287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90"/>
                                        <p:tgtEl>
                                          <p:spTgt spid="328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90" fill="hold"/>
                                        <p:tgtEl>
                                          <p:spTgt spid="3287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90" fill="hold"/>
                                        <p:tgtEl>
                                          <p:spTgt spid="3287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28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90" fill="hold"/>
                                        <p:tgtEl>
                                          <p:spTgt spid="3287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90" fill="hold"/>
                                        <p:tgtEl>
                                          <p:spTgt spid="3287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90"/>
                                        <p:tgtEl>
                                          <p:spTgt spid="328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713" grpId="0"/>
      <p:bldP spid="328714" grpId="0" animBg="1"/>
      <p:bldP spid="328716" grpId="0" animBg="1"/>
      <p:bldP spid="328717" grpId="0"/>
      <p:bldP spid="328718" grpId="0"/>
      <p:bldP spid="32871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0754" name="文本框 330753"/>
          <p:cNvSpPr txBox="1"/>
          <p:nvPr/>
        </p:nvSpPr>
        <p:spPr>
          <a:xfrm>
            <a:off x="1116013" y="3933825"/>
            <a:ext cx="5256212" cy="519113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ctr" eaLnBrk="0" hangingPunct="0">
              <a:spcBef>
                <a:spcPct val="50000"/>
              </a:spcBef>
            </a:pPr>
            <a:r>
              <a:rPr lang="zh-CN" altLang="en-US">
                <a:latin typeface="楷体_GB2312" pitchFamily="49" charset="-122"/>
                <a:ea typeface="楷体_GB2312" pitchFamily="49" charset="-122"/>
              </a:rPr>
              <a:t>从</a:t>
            </a:r>
            <a:r>
              <a:rPr lang="en-US" altLang="zh-CN" b="0" i="1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b="0" baseline="-25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到 </a:t>
            </a:r>
            <a:r>
              <a:rPr lang="en-US" altLang="zh-CN" b="0" i="1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b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电感储能的变化量：</a:t>
            </a:r>
            <a:endParaRPr lang="zh-CN" altLang="en-US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30755" name="对象 330754"/>
          <p:cNvGraphicFramePr/>
          <p:nvPr/>
        </p:nvGraphicFramePr>
        <p:xfrm>
          <a:off x="1403350" y="4365625"/>
          <a:ext cx="4392613" cy="1135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1" imgW="1713865" imgH="444500" progId="Equation.3">
                  <p:embed/>
                </p:oleObj>
              </mc:Choice>
              <mc:Fallback>
                <p:oleObj name="" r:id="rId1" imgW="1713865" imgH="444500" progId="Equation.3">
                  <p:embed/>
                  <p:pic>
                    <p:nvPicPr>
                      <p:cNvPr id="0" name="20 3114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03350" y="4365625"/>
                        <a:ext cx="4392613" cy="1135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0756" name="对象 330755"/>
          <p:cNvGraphicFramePr/>
          <p:nvPr/>
        </p:nvGraphicFramePr>
        <p:xfrm>
          <a:off x="1058863" y="1412875"/>
          <a:ext cx="5010150" cy="129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3" imgW="2005965" imgH="520700" progId="Equation.3">
                  <p:embed/>
                </p:oleObj>
              </mc:Choice>
              <mc:Fallback>
                <p:oleObj name="" r:id="rId3" imgW="2005965" imgH="520700" progId="Equation.3">
                  <p:embed/>
                  <p:pic>
                    <p:nvPicPr>
                      <p:cNvPr id="0" name="20 311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58863" y="1412875"/>
                        <a:ext cx="5010150" cy="1298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0757" name="文本框 330756"/>
          <p:cNvSpPr txBox="1"/>
          <p:nvPr/>
        </p:nvSpPr>
        <p:spPr>
          <a:xfrm>
            <a:off x="827088" y="765175"/>
            <a:ext cx="3024187" cy="547688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电感的储能</a:t>
            </a:r>
            <a:endParaRPr lang="zh-CN" altLang="en-US">
              <a:solidFill>
                <a:srgbClr val="FF9900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43013" name="组合 330757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3014" name="20 330758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3015" name="文本框 330759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3016" name="组合 330760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3017" name="20 330761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3018" name="文本框 330762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aphicFrame>
        <p:nvGraphicFramePr>
          <p:cNvPr id="330764" name="对象 330763"/>
          <p:cNvGraphicFramePr/>
          <p:nvPr/>
        </p:nvGraphicFramePr>
        <p:xfrm>
          <a:off x="5292725" y="2708275"/>
          <a:ext cx="1657350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6" imgW="723900" imgH="444500" progId="Equation.3">
                  <p:embed/>
                </p:oleObj>
              </mc:Choice>
              <mc:Fallback>
                <p:oleObj name="" r:id="rId6" imgW="723900" imgH="444500" progId="Equation.3">
                  <p:embed/>
                  <p:pic>
                    <p:nvPicPr>
                      <p:cNvPr id="0" name="20 3118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292725" y="2708275"/>
                        <a:ext cx="1657350" cy="1017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0765" name="对象 330764"/>
          <p:cNvGraphicFramePr/>
          <p:nvPr/>
        </p:nvGraphicFramePr>
        <p:xfrm>
          <a:off x="1619250" y="2708275"/>
          <a:ext cx="3667125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8" imgW="1599565" imgH="444500" progId="Equation.3">
                  <p:embed/>
                </p:oleObj>
              </mc:Choice>
              <mc:Fallback>
                <p:oleObj name="" r:id="rId8" imgW="1599565" imgH="444500" progId="Equation.3">
                  <p:embed/>
                  <p:pic>
                    <p:nvPicPr>
                      <p:cNvPr id="0" name="20 3119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19250" y="2708275"/>
                        <a:ext cx="3667125" cy="101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0766" name="直接连接符 330765"/>
          <p:cNvSpPr/>
          <p:nvPr/>
        </p:nvSpPr>
        <p:spPr>
          <a:xfrm flipV="1">
            <a:off x="3563938" y="2636838"/>
            <a:ext cx="935037" cy="1223962"/>
          </a:xfrm>
          <a:prstGeom prst="line">
            <a:avLst/>
          </a:prstGeom>
          <a:ln w="38100" cap="sq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grpSp>
        <p:nvGrpSpPr>
          <p:cNvPr id="43022" name="组合 330769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43023" name="20 330770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3024" name="文本框 330771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0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0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1000"/>
                                        <p:tgtEl>
                                          <p:spTgt spid="330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1000"/>
                                        <p:tgtEl>
                                          <p:spTgt spid="330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30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1000"/>
                                        <p:tgtEl>
                                          <p:spTgt spid="330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307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307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1000"/>
                                        <p:tgtEl>
                                          <p:spTgt spid="330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754" grpId="0"/>
      <p:bldP spid="33075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1778" name="文本框 331777"/>
          <p:cNvSpPr txBox="1"/>
          <p:nvPr/>
        </p:nvSpPr>
        <p:spPr>
          <a:xfrm>
            <a:off x="827088" y="2535238"/>
            <a:ext cx="7561262" cy="175895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marL="342900" indent="-342900" eaLnBrk="0" hangingPunct="0">
              <a:lnSpc>
                <a:spcPct val="120000"/>
              </a:lnSpc>
              <a:spcBef>
                <a:spcPct val="30000"/>
              </a:spcBef>
              <a:buAutoNum type="circleNumDbPlain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电感的储能只与当时的电流值有关，电感电流不能跃变，反映了储能不能跃变。</a:t>
            </a:r>
            <a:endParaRPr lang="zh-CN" altLang="en-US" dirty="0"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  <a:p>
            <a:pPr marL="342900" indent="-342900" eaLnBrk="0" hangingPunct="0">
              <a:lnSpc>
                <a:spcPct val="120000"/>
              </a:lnSpc>
              <a:spcBef>
                <a:spcPct val="30000"/>
              </a:spcBef>
              <a:buAutoNum type="circleNumDbPlain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电感储存的能量一定大于或等于零。</a:t>
            </a:r>
            <a:endParaRPr lang="zh-CN" altLang="en-US"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44034" name="对象 331778"/>
          <p:cNvGraphicFramePr/>
          <p:nvPr/>
        </p:nvGraphicFramePr>
        <p:xfrm>
          <a:off x="2411413" y="620713"/>
          <a:ext cx="3167062" cy="1154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1" imgW="1218565" imgH="444500" progId="Equation.3">
                  <p:embed/>
                </p:oleObj>
              </mc:Choice>
              <mc:Fallback>
                <p:oleObj name="" r:id="rId1" imgW="1218565" imgH="444500" progId="Equation.3">
                  <p:embed/>
                  <p:pic>
                    <p:nvPicPr>
                      <p:cNvPr id="0" name="20 311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990033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11413" y="620713"/>
                        <a:ext cx="3167062" cy="1154112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99CCFF"/>
                          </a:gs>
                          <a:gs pos="100000">
                            <a:schemeClr val="tx1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4035" name="组合 331779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4036" name="20 331780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4037" name="文本框 331781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4038" name="组合 331782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4039" name="20 331783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4040" name="文本框 331784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31786" name="组合 331785"/>
          <p:cNvGrpSpPr/>
          <p:nvPr/>
        </p:nvGrpSpPr>
        <p:grpSpPr>
          <a:xfrm>
            <a:off x="755650" y="1773238"/>
            <a:ext cx="1663700" cy="850900"/>
            <a:chOff x="385" y="3022"/>
            <a:chExt cx="1019" cy="536"/>
          </a:xfrm>
        </p:grpSpPr>
        <p:pic>
          <p:nvPicPr>
            <p:cNvPr id="44042" name="20 331786" descr="12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4043" name="文本框 331787"/>
            <p:cNvSpPr txBox="1"/>
            <p:nvPr/>
          </p:nvSpPr>
          <p:spPr>
            <a:xfrm>
              <a:off x="793" y="3125"/>
              <a:ext cx="611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3200" b="0" dirty="0">
                  <a:solidFill>
                    <a:srgbClr val="FF9933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表明</a:t>
              </a:r>
              <a:endParaRPr lang="zh-CN" altLang="en-US" sz="3200" b="0" dirty="0">
                <a:solidFill>
                  <a:srgbClr val="FF9933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44044" name="组合 331791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44045" name="20 331792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4046" name="文本框 331793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1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1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778" grpId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2802" name="文本框 332801"/>
          <p:cNvSpPr txBox="1"/>
          <p:nvPr/>
        </p:nvSpPr>
        <p:spPr>
          <a:xfrm>
            <a:off x="827088" y="620713"/>
            <a:ext cx="4032250" cy="547687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实际电感线圈的模型</a:t>
            </a:r>
            <a:endParaRPr lang="zh-CN" altLang="en-US" dirty="0">
              <a:solidFill>
                <a:srgbClr val="FF9900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45058" name="组合 332802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5059" name="20 332803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5060" name="文本框 332804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5061" name="组合 332805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5062" name="20 332806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5063" name="文本框 332807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32848" name="组合 332847"/>
          <p:cNvGrpSpPr/>
          <p:nvPr/>
        </p:nvGrpSpPr>
        <p:grpSpPr>
          <a:xfrm>
            <a:off x="827088" y="3254375"/>
            <a:ext cx="3457575" cy="1630363"/>
            <a:chOff x="521" y="2050"/>
            <a:chExt cx="2178" cy="1027"/>
          </a:xfrm>
        </p:grpSpPr>
        <p:sp>
          <p:nvSpPr>
            <p:cNvPr id="45065" name="文本框 332808"/>
            <p:cNvSpPr txBox="1"/>
            <p:nvPr/>
          </p:nvSpPr>
          <p:spPr>
            <a:xfrm>
              <a:off x="1499" y="2050"/>
              <a:ext cx="29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0" hangingPunct="0"/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L</a:t>
              </a:r>
              <a:endParaRPr lang="en-US" altLang="zh-CN" b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5066" name="直接连接符 332809"/>
            <p:cNvSpPr/>
            <p:nvPr/>
          </p:nvSpPr>
          <p:spPr>
            <a:xfrm flipH="1" flipV="1">
              <a:off x="793" y="2600"/>
              <a:ext cx="545" cy="14"/>
            </a:xfrm>
            <a:prstGeom prst="line">
              <a:avLst/>
            </a:prstGeom>
            <a:ln w="44450" cap="sq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067" name="直接连接符 332810"/>
            <p:cNvSpPr/>
            <p:nvPr/>
          </p:nvSpPr>
          <p:spPr>
            <a:xfrm>
              <a:off x="2109" y="2614"/>
              <a:ext cx="408" cy="0"/>
            </a:xfrm>
            <a:prstGeom prst="line">
              <a:avLst/>
            </a:prstGeom>
            <a:ln w="44450" cap="sq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068" name="椭圆 332811"/>
            <p:cNvSpPr/>
            <p:nvPr/>
          </p:nvSpPr>
          <p:spPr>
            <a:xfrm>
              <a:off x="702" y="2567"/>
              <a:ext cx="91" cy="74"/>
            </a:xfrm>
            <a:prstGeom prst="ellipse">
              <a:avLst/>
            </a:prstGeom>
            <a:solidFill>
              <a:srgbClr val="FF9900"/>
            </a:solidFill>
            <a:ln w="12700">
              <a:noFill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45069" name="椭圆 332812"/>
            <p:cNvSpPr/>
            <p:nvPr/>
          </p:nvSpPr>
          <p:spPr>
            <a:xfrm>
              <a:off x="2517" y="2568"/>
              <a:ext cx="91" cy="74"/>
            </a:xfrm>
            <a:prstGeom prst="ellipse">
              <a:avLst/>
            </a:prstGeom>
            <a:solidFill>
              <a:srgbClr val="FF9900"/>
            </a:solidFill>
            <a:ln w="12700">
              <a:noFill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45070" name="文本框 332813"/>
            <p:cNvSpPr txBox="1"/>
            <p:nvPr/>
          </p:nvSpPr>
          <p:spPr>
            <a:xfrm>
              <a:off x="521" y="2614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zh-CN" altLang="en-US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＋</a:t>
              </a:r>
              <a:endPara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5071" name="文本框 332814"/>
            <p:cNvSpPr txBox="1"/>
            <p:nvPr/>
          </p:nvSpPr>
          <p:spPr>
            <a:xfrm>
              <a:off x="2336" y="2659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zh-CN" altLang="en-US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－</a:t>
              </a:r>
              <a:endPara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5072" name="文本框 332815"/>
            <p:cNvSpPr txBox="1"/>
            <p:nvPr/>
          </p:nvSpPr>
          <p:spPr>
            <a:xfrm>
              <a:off x="1383" y="2750"/>
              <a:ext cx="36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endParaRPr lang="en-US" altLang="zh-CN" b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5073" name="文本框 332816"/>
            <p:cNvSpPr txBox="1"/>
            <p:nvPr/>
          </p:nvSpPr>
          <p:spPr>
            <a:xfrm>
              <a:off x="1066" y="2205"/>
              <a:ext cx="36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G</a:t>
              </a:r>
              <a:endParaRPr lang="en-US" altLang="zh-CN" b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5074" name="直接连接符 332817"/>
            <p:cNvSpPr/>
            <p:nvPr/>
          </p:nvSpPr>
          <p:spPr>
            <a:xfrm>
              <a:off x="612" y="2478"/>
              <a:ext cx="318" cy="0"/>
            </a:xfrm>
            <a:prstGeom prst="line">
              <a:avLst/>
            </a:prstGeom>
            <a:ln w="28575" cap="sq" cmpd="sng">
              <a:solidFill>
                <a:schemeClr val="hlink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5075" name="矩形 332821"/>
            <p:cNvSpPr/>
            <p:nvPr/>
          </p:nvSpPr>
          <p:spPr>
            <a:xfrm>
              <a:off x="975" y="2523"/>
              <a:ext cx="362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aphicFrame>
          <p:nvGraphicFramePr>
            <p:cNvPr id="45076" name="对象 332837"/>
            <p:cNvGraphicFramePr/>
            <p:nvPr/>
          </p:nvGraphicFramePr>
          <p:xfrm>
            <a:off x="1338" y="2478"/>
            <a:ext cx="817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1" name="" r:id="rId2" imgW="895350" imgH="123825" progId="Visio.Drawing.6">
                    <p:embed/>
                  </p:oleObj>
                </mc:Choice>
                <mc:Fallback>
                  <p:oleObj name="" r:id="rId2" imgW="895350" imgH="123825" progId="Visio.Drawing.6">
                    <p:embed/>
                    <p:pic>
                      <p:nvPicPr>
                        <p:cNvPr id="0" name="20 3120"/>
                        <p:cNvPicPr/>
                        <p:nvPr/>
                      </p:nvPicPr>
                      <p:blipFill>
                        <a:blip r:embed="rId3"/>
                        <a:srcRect l="23508" r="23584" b="-12411"/>
                        <a:stretch>
                          <a:fillRect/>
                        </a:stretch>
                      </p:blipFill>
                      <p:spPr>
                        <a:xfrm>
                          <a:off x="1338" y="2478"/>
                          <a:ext cx="817" cy="22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2878" name="组合 332877"/>
          <p:cNvGrpSpPr/>
          <p:nvPr/>
        </p:nvGrpSpPr>
        <p:grpSpPr>
          <a:xfrm>
            <a:off x="1116013" y="1443038"/>
            <a:ext cx="2952750" cy="1338262"/>
            <a:chOff x="703" y="754"/>
            <a:chExt cx="1860" cy="843"/>
          </a:xfrm>
        </p:grpSpPr>
        <p:graphicFrame>
          <p:nvGraphicFramePr>
            <p:cNvPr id="45078" name="对象 332840"/>
            <p:cNvGraphicFramePr/>
            <p:nvPr/>
          </p:nvGraphicFramePr>
          <p:xfrm>
            <a:off x="737" y="991"/>
            <a:ext cx="1826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2" name="" r:id="rId4" imgW="895350" imgH="123825" progId="Visio.Drawing.6">
                    <p:embed/>
                  </p:oleObj>
                </mc:Choice>
                <mc:Fallback>
                  <p:oleObj name="" r:id="rId4" imgW="895350" imgH="123825" progId="Visio.Drawing.6">
                    <p:embed/>
                    <p:pic>
                      <p:nvPicPr>
                        <p:cNvPr id="0" name="20 3121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737" y="991"/>
                          <a:ext cx="1826" cy="2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79" name="右箭头 332841"/>
            <p:cNvSpPr/>
            <p:nvPr/>
          </p:nvSpPr>
          <p:spPr>
            <a:xfrm>
              <a:off x="940" y="1024"/>
              <a:ext cx="305" cy="68"/>
            </a:xfrm>
            <a:prstGeom prst="rightArrow">
              <a:avLst>
                <a:gd name="adj1" fmla="val 50000"/>
                <a:gd name="adj2" fmla="val 112090"/>
              </a:avLst>
            </a:prstGeom>
            <a:solidFill>
              <a:schemeClr val="hlink"/>
            </a:solidFill>
            <a:ln w="9525">
              <a:noFill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45080" name="文本框 332842"/>
            <p:cNvSpPr txBox="1"/>
            <p:nvPr/>
          </p:nvSpPr>
          <p:spPr>
            <a:xfrm>
              <a:off x="703" y="1193"/>
              <a:ext cx="284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600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36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5081" name="文本框 332843"/>
            <p:cNvSpPr txBox="1"/>
            <p:nvPr/>
          </p:nvSpPr>
          <p:spPr>
            <a:xfrm>
              <a:off x="2277" y="1193"/>
              <a:ext cx="28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－</a:t>
              </a:r>
              <a:endParaRPr lang="zh-CN" altLang="en-US" b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5082" name="文本框 332844"/>
            <p:cNvSpPr txBox="1"/>
            <p:nvPr/>
          </p:nvSpPr>
          <p:spPr>
            <a:xfrm>
              <a:off x="1335" y="1193"/>
              <a:ext cx="49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 </a:t>
              </a:r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(</a:t>
              </a: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t</a:t>
              </a:r>
              <a:r>
                <a: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)</a:t>
              </a:r>
              <a:endPara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5083" name="文本框 332845"/>
            <p:cNvSpPr txBox="1"/>
            <p:nvPr/>
          </p:nvSpPr>
          <p:spPr>
            <a:xfrm>
              <a:off x="940" y="788"/>
              <a:ext cx="27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endParaRPr lang="en-US" altLang="zh-CN" b="0" i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5084" name="文本框 332846"/>
            <p:cNvSpPr txBox="1"/>
            <p:nvPr/>
          </p:nvSpPr>
          <p:spPr>
            <a:xfrm>
              <a:off x="1413" y="754"/>
              <a:ext cx="37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L</a:t>
              </a:r>
              <a:endParaRPr lang="en-US" altLang="zh-CN" b="0" i="1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332879" name="组合 332878"/>
          <p:cNvGrpSpPr/>
          <p:nvPr/>
        </p:nvGrpSpPr>
        <p:grpSpPr>
          <a:xfrm>
            <a:off x="5003800" y="1454150"/>
            <a:ext cx="3313113" cy="2349500"/>
            <a:chOff x="3152" y="916"/>
            <a:chExt cx="2087" cy="1480"/>
          </a:xfrm>
        </p:grpSpPr>
        <p:sp>
          <p:nvSpPr>
            <p:cNvPr id="45086" name="直接连接符 332832"/>
            <p:cNvSpPr/>
            <p:nvPr/>
          </p:nvSpPr>
          <p:spPr>
            <a:xfrm flipV="1">
              <a:off x="3198" y="1797"/>
              <a:ext cx="0" cy="227"/>
            </a:xfrm>
            <a:prstGeom prst="line">
              <a:avLst/>
            </a:prstGeom>
            <a:ln w="28575" cap="sq" cmpd="sng">
              <a:solidFill>
                <a:schemeClr val="hlink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5087" name="文本框 332854"/>
            <p:cNvSpPr txBox="1"/>
            <p:nvPr/>
          </p:nvSpPr>
          <p:spPr>
            <a:xfrm>
              <a:off x="3152" y="2024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zh-CN" altLang="en-US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＋</a:t>
              </a:r>
              <a:endPara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45088" name="对象 332861"/>
            <p:cNvGraphicFramePr/>
            <p:nvPr/>
          </p:nvGraphicFramePr>
          <p:xfrm>
            <a:off x="3243" y="1253"/>
            <a:ext cx="1905" cy="8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3" name="" r:id="rId5" imgW="993140" imgH="451485" progId="Visio.Drawing.6">
                    <p:embed/>
                  </p:oleObj>
                </mc:Choice>
                <mc:Fallback>
                  <p:oleObj name="" r:id="rId5" imgW="993140" imgH="451485" progId="Visio.Drawing.6">
                    <p:embed/>
                    <p:pic>
                      <p:nvPicPr>
                        <p:cNvPr id="0" name="20 3122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243" y="1253"/>
                          <a:ext cx="1905" cy="8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89" name="文本框 332863"/>
            <p:cNvSpPr txBox="1"/>
            <p:nvPr/>
          </p:nvSpPr>
          <p:spPr>
            <a:xfrm>
              <a:off x="3651" y="916"/>
              <a:ext cx="29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0" hangingPunct="0"/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L</a:t>
              </a:r>
              <a:endParaRPr lang="en-US" altLang="zh-CN" b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5090" name="文本框 332869"/>
            <p:cNvSpPr txBox="1"/>
            <p:nvPr/>
          </p:nvSpPr>
          <p:spPr>
            <a:xfrm>
              <a:off x="4876" y="2024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zh-CN" altLang="en-US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－</a:t>
              </a:r>
              <a:endPara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5091" name="文本框 332870"/>
            <p:cNvSpPr txBox="1"/>
            <p:nvPr/>
          </p:nvSpPr>
          <p:spPr>
            <a:xfrm>
              <a:off x="4014" y="2069"/>
              <a:ext cx="36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endParaRPr lang="en-US" altLang="zh-CN" b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5092" name="文本框 332871"/>
            <p:cNvSpPr txBox="1"/>
            <p:nvPr/>
          </p:nvSpPr>
          <p:spPr>
            <a:xfrm>
              <a:off x="4422" y="981"/>
              <a:ext cx="36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/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G</a:t>
              </a:r>
              <a:endParaRPr lang="en-US" altLang="zh-CN" b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5093" name="文本框 332875"/>
            <p:cNvSpPr txBox="1"/>
            <p:nvPr/>
          </p:nvSpPr>
          <p:spPr>
            <a:xfrm>
              <a:off x="3787" y="1823"/>
              <a:ext cx="29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0" hangingPunct="0"/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C</a:t>
              </a:r>
              <a:endParaRPr lang="en-US" altLang="zh-CN" b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45094" name="组合 332882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45095" name="20 332883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5096" name="文本框 332884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90" fill="hold"/>
                                        <p:tgtEl>
                                          <p:spTgt spid="3328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90" fill="hold"/>
                                        <p:tgtEl>
                                          <p:spTgt spid="3328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90"/>
                                        <p:tgtEl>
                                          <p:spTgt spid="332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32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32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32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280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6081" name="组合 333825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6082" name="20 333826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6083" name="文本框 333827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6084" name="组合 333828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6085" name="20 333829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6086" name="文本框 333830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pic>
        <p:nvPicPr>
          <p:cNvPr id="46087" name="20 333831" descr="second"/>
          <p:cNvPicPr>
            <a:picLocks noChangeAspect="1"/>
          </p:cNvPicPr>
          <p:nvPr/>
        </p:nvPicPr>
        <p:blipFill>
          <a:blip r:embed="rId2"/>
          <a:srcRect l="4720" t="64671" r="50403" b="2490"/>
          <a:stretch>
            <a:fillRect/>
          </a:stretch>
        </p:blipFill>
        <p:spPr>
          <a:xfrm>
            <a:off x="1547813" y="3429000"/>
            <a:ext cx="6048375" cy="21002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6088" name="20 333832" descr="second"/>
          <p:cNvPicPr>
            <a:picLocks noChangeAspect="1"/>
          </p:cNvPicPr>
          <p:nvPr/>
        </p:nvPicPr>
        <p:blipFill>
          <a:blip r:embed="rId2"/>
          <a:srcRect l="4581" t="10455" r="52705" b="54901"/>
          <a:stretch>
            <a:fillRect/>
          </a:stretch>
        </p:blipFill>
        <p:spPr>
          <a:xfrm>
            <a:off x="1690688" y="549275"/>
            <a:ext cx="5761037" cy="2257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6089" name="文本框 333833"/>
          <p:cNvSpPr txBox="1"/>
          <p:nvPr/>
        </p:nvSpPr>
        <p:spPr>
          <a:xfrm>
            <a:off x="3059113" y="2852738"/>
            <a:ext cx="2951162" cy="519112"/>
          </a:xfrm>
          <a:prstGeom prst="rect">
            <a:avLst/>
          </a:prstGeom>
          <a:noFill/>
          <a:ln w="28575">
            <a:noFill/>
          </a:ln>
          <a:effectLst>
            <a:prstShdw prst="shdw17" dist="17961" dir="2699999">
              <a:schemeClr val="bg2"/>
            </a:prstShdw>
          </a:effectLst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贴片型功率电感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46090" name="文本框 333834"/>
          <p:cNvSpPr txBox="1"/>
          <p:nvPr/>
        </p:nvSpPr>
        <p:spPr>
          <a:xfrm>
            <a:off x="3132138" y="5516563"/>
            <a:ext cx="2951162" cy="519112"/>
          </a:xfrm>
          <a:prstGeom prst="rect">
            <a:avLst/>
          </a:prstGeom>
          <a:noFill/>
          <a:ln w="28575">
            <a:noFill/>
          </a:ln>
          <a:effectLst>
            <a:prstShdw prst="shdw17" dist="17961" dir="2699999">
              <a:schemeClr val="bg2"/>
            </a:prstShdw>
          </a:effectLst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贴片电感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46091" name="组合 333838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46092" name="20 333839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6093" name="文本框 333840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7105" name="组合 334849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7106" name="20 334850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7107" name="文本框 334851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7108" name="组合 334852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7109" name="20 334853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7110" name="文本框 334854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pic>
        <p:nvPicPr>
          <p:cNvPr id="47111" name="20 334855" descr="second"/>
          <p:cNvPicPr>
            <a:picLocks noChangeAspect="1"/>
          </p:cNvPicPr>
          <p:nvPr/>
        </p:nvPicPr>
        <p:blipFill>
          <a:blip r:embed="rId2"/>
          <a:srcRect l="76448" t="63368" r="2419" b="4079"/>
          <a:stretch>
            <a:fillRect/>
          </a:stretch>
        </p:blipFill>
        <p:spPr>
          <a:xfrm>
            <a:off x="4787900" y="3500438"/>
            <a:ext cx="3238500" cy="22336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7112" name="文本框 334856"/>
          <p:cNvSpPr txBox="1"/>
          <p:nvPr/>
        </p:nvSpPr>
        <p:spPr>
          <a:xfrm>
            <a:off x="1404938" y="2924175"/>
            <a:ext cx="2951162" cy="519113"/>
          </a:xfrm>
          <a:prstGeom prst="rect">
            <a:avLst/>
          </a:prstGeom>
          <a:noFill/>
          <a:ln w="28575">
            <a:noFill/>
          </a:ln>
          <a:effectLst>
            <a:prstShdw prst="shdw17" dist="17961" dir="2699999">
              <a:schemeClr val="bg2"/>
            </a:prstShdw>
          </a:effectLst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贴片型空心线圈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47113" name="文本框 334857"/>
          <p:cNvSpPr txBox="1"/>
          <p:nvPr/>
        </p:nvSpPr>
        <p:spPr>
          <a:xfrm>
            <a:off x="4859338" y="2924175"/>
            <a:ext cx="2951162" cy="519113"/>
          </a:xfrm>
          <a:prstGeom prst="rect">
            <a:avLst/>
          </a:prstGeom>
          <a:noFill/>
          <a:ln w="28575">
            <a:noFill/>
          </a:ln>
          <a:effectLst>
            <a:prstShdw prst="shdw17" dist="17961" dir="2699999">
              <a:schemeClr val="bg2"/>
            </a:prstShdw>
          </a:effectLst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可调式电感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pic>
        <p:nvPicPr>
          <p:cNvPr id="47114" name="20 334858" descr="second"/>
          <p:cNvPicPr>
            <a:picLocks noChangeAspect="1"/>
          </p:cNvPicPr>
          <p:nvPr/>
        </p:nvPicPr>
        <p:blipFill>
          <a:blip r:embed="rId2"/>
          <a:srcRect l="51228" t="63406" r="26009" b="4041"/>
          <a:stretch>
            <a:fillRect/>
          </a:stretch>
        </p:blipFill>
        <p:spPr>
          <a:xfrm>
            <a:off x="1258888" y="3500438"/>
            <a:ext cx="3168650" cy="22336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7115" name="20 334859" descr="second"/>
          <p:cNvPicPr>
            <a:picLocks noChangeAspect="1"/>
          </p:cNvPicPr>
          <p:nvPr/>
        </p:nvPicPr>
        <p:blipFill>
          <a:blip r:embed="rId2"/>
          <a:srcRect l="74010" t="10271" r="2419" b="55438"/>
          <a:stretch>
            <a:fillRect/>
          </a:stretch>
        </p:blipFill>
        <p:spPr>
          <a:xfrm>
            <a:off x="4716463" y="549275"/>
            <a:ext cx="3311525" cy="2374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7116" name="20 334860" descr="second"/>
          <p:cNvPicPr>
            <a:picLocks noChangeAspect="1"/>
          </p:cNvPicPr>
          <p:nvPr/>
        </p:nvPicPr>
        <p:blipFill>
          <a:blip r:embed="rId2"/>
          <a:srcRect l="50421" t="10309" r="28445" b="55438"/>
          <a:stretch>
            <a:fillRect/>
          </a:stretch>
        </p:blipFill>
        <p:spPr>
          <a:xfrm>
            <a:off x="1258888" y="549275"/>
            <a:ext cx="3167062" cy="2374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7117" name="文本框 334861"/>
          <p:cNvSpPr txBox="1"/>
          <p:nvPr/>
        </p:nvSpPr>
        <p:spPr>
          <a:xfrm>
            <a:off x="1331913" y="5734050"/>
            <a:ext cx="2951162" cy="519113"/>
          </a:xfrm>
          <a:prstGeom prst="rect">
            <a:avLst/>
          </a:prstGeom>
          <a:noFill/>
          <a:ln w="28575">
            <a:noFill/>
          </a:ln>
          <a:effectLst>
            <a:prstShdw prst="shdw17" dist="17961" dir="2699999">
              <a:schemeClr val="bg2"/>
            </a:prstShdw>
          </a:effectLst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环形线圈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47118" name="文本框 334862"/>
          <p:cNvSpPr txBox="1"/>
          <p:nvPr/>
        </p:nvSpPr>
        <p:spPr>
          <a:xfrm>
            <a:off x="4932363" y="5734050"/>
            <a:ext cx="2951162" cy="519113"/>
          </a:xfrm>
          <a:prstGeom prst="rect">
            <a:avLst/>
          </a:prstGeom>
          <a:noFill/>
          <a:ln w="28575">
            <a:noFill/>
          </a:ln>
          <a:effectLst>
            <a:prstShdw prst="shdw17" dist="17961" dir="2699999">
              <a:schemeClr val="bg2"/>
            </a:prstShdw>
          </a:effectLst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立式功率型电感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47119" name="组合 334866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47120" name="20 334867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7121" name="文本框 334868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8129" name="组合 478209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8130" name="20 478210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8131" name="文本框 478211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8132" name="组合 478212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8133" name="20 478213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8134" name="文本框 478214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pic>
        <p:nvPicPr>
          <p:cNvPr id="48135" name="20 478218" descr="2005051914051373499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549275"/>
            <a:ext cx="3206750" cy="48958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8136" name="20 478219" descr="u=2959381237,508979978&amp;gp=1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6463" y="549275"/>
            <a:ext cx="3816350" cy="48244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8137" name="文本框 478220"/>
          <p:cNvSpPr txBox="1"/>
          <p:nvPr/>
        </p:nvSpPr>
        <p:spPr>
          <a:xfrm>
            <a:off x="2700338" y="5661025"/>
            <a:ext cx="2951162" cy="519113"/>
          </a:xfrm>
          <a:prstGeom prst="rect">
            <a:avLst/>
          </a:prstGeom>
          <a:noFill/>
          <a:ln w="28575">
            <a:noFill/>
          </a:ln>
          <a:effectLst>
            <a:prstShdw prst="shdw17" dist="17961" dir="2699999">
              <a:schemeClr val="bg2"/>
            </a:prstShdw>
          </a:effectLst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电抗器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48138" name="组合 478224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48139" name="20 478225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8140" name="文本框 478226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9153" name="组合 494595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9154" name="20 494596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9155" name="文本框 494597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9156" name="组合 494598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9157" name="20 494599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9158" name="文本框 494600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494654" name="文本框 494653"/>
          <p:cNvSpPr txBox="1"/>
          <p:nvPr/>
        </p:nvSpPr>
        <p:spPr>
          <a:xfrm>
            <a:off x="684213" y="476250"/>
            <a:ext cx="8064500" cy="701675"/>
          </a:xfrm>
          <a:prstGeom prst="rect">
            <a:avLst/>
          </a:prstGeom>
          <a:noFill/>
          <a:ln w="12700">
            <a:noFill/>
          </a:ln>
          <a:effectLst>
            <a:prstShdw prst="shdw17" dist="17961" dir="2699999">
              <a:srgbClr val="009900"/>
            </a:prstShdw>
          </a:effectLst>
        </p:spPr>
        <p:txBody>
          <a:bodyPr anchor="ctr" anchorCtr="0">
            <a:spAutoFit/>
          </a:bodyPr>
          <a:p>
            <a:pPr eaLnBrk="0" hangingPunct="0"/>
            <a:r>
              <a:rPr lang="en-US" altLang="zh-CN" sz="40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6.3 </a:t>
            </a:r>
            <a:r>
              <a:rPr lang="zh-CN" altLang="en-US" sz="4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电容、</a:t>
            </a:r>
            <a:r>
              <a:rPr lang="zh-CN" altLang="en-US" sz="40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电感元件</a:t>
            </a:r>
            <a:r>
              <a:rPr lang="zh-CN" altLang="en-US" sz="40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的串联与并联</a:t>
            </a:r>
            <a:endParaRPr lang="zh-CN" altLang="en-US" sz="400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494655" name="文本框 494654"/>
          <p:cNvSpPr txBox="1"/>
          <p:nvPr/>
        </p:nvSpPr>
        <p:spPr>
          <a:xfrm>
            <a:off x="755650" y="1341438"/>
            <a:ext cx="3311525" cy="579437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zh-CN" altLang="en-US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电容的串联</a:t>
            </a:r>
            <a:endParaRPr lang="zh-CN" altLang="en-US" sz="320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494656" name="组合 494655"/>
          <p:cNvGrpSpPr/>
          <p:nvPr/>
        </p:nvGrpSpPr>
        <p:grpSpPr>
          <a:xfrm>
            <a:off x="5580063" y="1341438"/>
            <a:ext cx="2520950" cy="2740025"/>
            <a:chOff x="3379" y="164"/>
            <a:chExt cx="1588" cy="1726"/>
          </a:xfrm>
        </p:grpSpPr>
        <p:sp>
          <p:nvSpPr>
            <p:cNvPr id="49162" name="直接连接符 494656"/>
            <p:cNvSpPr/>
            <p:nvPr/>
          </p:nvSpPr>
          <p:spPr>
            <a:xfrm>
              <a:off x="3651" y="527"/>
              <a:ext cx="726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163" name="直接连接符 494657"/>
            <p:cNvSpPr/>
            <p:nvPr/>
          </p:nvSpPr>
          <p:spPr>
            <a:xfrm>
              <a:off x="3651" y="1752"/>
              <a:ext cx="726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164" name="直接连接符 494658"/>
            <p:cNvSpPr/>
            <p:nvPr/>
          </p:nvSpPr>
          <p:spPr>
            <a:xfrm>
              <a:off x="4377" y="527"/>
              <a:ext cx="0" cy="272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165" name="直接连接符 494659"/>
            <p:cNvSpPr/>
            <p:nvPr/>
          </p:nvSpPr>
          <p:spPr>
            <a:xfrm>
              <a:off x="4377" y="890"/>
              <a:ext cx="0" cy="499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166" name="直接连接符 494660"/>
            <p:cNvSpPr/>
            <p:nvPr/>
          </p:nvSpPr>
          <p:spPr>
            <a:xfrm flipV="1">
              <a:off x="4377" y="1480"/>
              <a:ext cx="0" cy="272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49167" name="组合 494661"/>
            <p:cNvGrpSpPr/>
            <p:nvPr/>
          </p:nvGrpSpPr>
          <p:grpSpPr>
            <a:xfrm>
              <a:off x="4241" y="799"/>
              <a:ext cx="318" cy="90"/>
              <a:chOff x="4059" y="1117"/>
              <a:chExt cx="318" cy="90"/>
            </a:xfrm>
          </p:grpSpPr>
          <p:sp>
            <p:nvSpPr>
              <p:cNvPr id="49168" name="直接连接符 494662"/>
              <p:cNvSpPr/>
              <p:nvPr/>
            </p:nvSpPr>
            <p:spPr>
              <a:xfrm>
                <a:off x="4059" y="1117"/>
                <a:ext cx="318" cy="0"/>
              </a:xfrm>
              <a:prstGeom prst="line">
                <a:avLst/>
              </a:prstGeom>
              <a:ln w="38100" cap="sq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9169" name="直接连接符 494663"/>
              <p:cNvSpPr/>
              <p:nvPr/>
            </p:nvSpPr>
            <p:spPr>
              <a:xfrm>
                <a:off x="4059" y="1207"/>
                <a:ext cx="318" cy="0"/>
              </a:xfrm>
              <a:prstGeom prst="line">
                <a:avLst/>
              </a:prstGeom>
              <a:ln w="38100" cap="sq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9170" name="组合 494664"/>
            <p:cNvGrpSpPr/>
            <p:nvPr/>
          </p:nvGrpSpPr>
          <p:grpSpPr>
            <a:xfrm>
              <a:off x="4241" y="1389"/>
              <a:ext cx="318" cy="90"/>
              <a:chOff x="4059" y="1117"/>
              <a:chExt cx="318" cy="90"/>
            </a:xfrm>
          </p:grpSpPr>
          <p:sp>
            <p:nvSpPr>
              <p:cNvPr id="49171" name="直接连接符 494665"/>
              <p:cNvSpPr/>
              <p:nvPr/>
            </p:nvSpPr>
            <p:spPr>
              <a:xfrm>
                <a:off x="4059" y="1117"/>
                <a:ext cx="318" cy="0"/>
              </a:xfrm>
              <a:prstGeom prst="line">
                <a:avLst/>
              </a:prstGeom>
              <a:ln w="38100" cap="sq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9172" name="直接连接符 494666"/>
              <p:cNvSpPr/>
              <p:nvPr/>
            </p:nvSpPr>
            <p:spPr>
              <a:xfrm>
                <a:off x="4059" y="1207"/>
                <a:ext cx="318" cy="0"/>
              </a:xfrm>
              <a:prstGeom prst="line">
                <a:avLst/>
              </a:prstGeom>
              <a:ln w="38100" cap="sq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9173" name="椭圆 494667"/>
            <p:cNvSpPr/>
            <p:nvPr/>
          </p:nvSpPr>
          <p:spPr>
            <a:xfrm>
              <a:off x="3560" y="482"/>
              <a:ext cx="90" cy="91"/>
            </a:xfrm>
            <a:prstGeom prst="ellipse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49174" name="椭圆 494668"/>
            <p:cNvSpPr/>
            <p:nvPr/>
          </p:nvSpPr>
          <p:spPr>
            <a:xfrm>
              <a:off x="3560" y="1706"/>
              <a:ext cx="90" cy="91"/>
            </a:xfrm>
            <a:prstGeom prst="ellipse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49175" name="文本框 494669"/>
            <p:cNvSpPr txBox="1"/>
            <p:nvPr/>
          </p:nvSpPr>
          <p:spPr>
            <a:xfrm>
              <a:off x="4513" y="663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u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1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9176" name="文本框 494670"/>
            <p:cNvSpPr txBox="1"/>
            <p:nvPr/>
          </p:nvSpPr>
          <p:spPr>
            <a:xfrm>
              <a:off x="3379" y="935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u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9177" name="文本框 494671"/>
            <p:cNvSpPr txBox="1"/>
            <p:nvPr/>
          </p:nvSpPr>
          <p:spPr>
            <a:xfrm>
              <a:off x="3878" y="1253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C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2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9178" name="文本框 494672"/>
            <p:cNvSpPr txBox="1"/>
            <p:nvPr/>
          </p:nvSpPr>
          <p:spPr>
            <a:xfrm>
              <a:off x="3833" y="663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C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1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9179" name="文本框 494673"/>
            <p:cNvSpPr txBox="1"/>
            <p:nvPr/>
          </p:nvSpPr>
          <p:spPr>
            <a:xfrm>
              <a:off x="4513" y="1253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u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2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9180" name="直接连接符 494674"/>
            <p:cNvSpPr/>
            <p:nvPr/>
          </p:nvSpPr>
          <p:spPr>
            <a:xfrm>
              <a:off x="3742" y="482"/>
              <a:ext cx="317" cy="0"/>
            </a:xfrm>
            <a:prstGeom prst="line">
              <a:avLst/>
            </a:prstGeom>
            <a:ln w="28575" cap="sq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9181" name="文本框 494675"/>
            <p:cNvSpPr txBox="1"/>
            <p:nvPr/>
          </p:nvSpPr>
          <p:spPr>
            <a:xfrm>
              <a:off x="4558" y="1026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+</a:t>
              </a:r>
              <a:endParaRPr lang="en-US" altLang="zh-CN" sz="3200" b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9182" name="文本框 494676"/>
            <p:cNvSpPr txBox="1"/>
            <p:nvPr/>
          </p:nvSpPr>
          <p:spPr>
            <a:xfrm>
              <a:off x="4558" y="436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+</a:t>
              </a:r>
              <a:endParaRPr lang="en-US" altLang="zh-CN" sz="3200" b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9183" name="文本框 494677"/>
            <p:cNvSpPr txBox="1"/>
            <p:nvPr/>
          </p:nvSpPr>
          <p:spPr>
            <a:xfrm>
              <a:off x="3515" y="482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+</a:t>
              </a:r>
              <a:endParaRPr lang="en-US" altLang="zh-CN" sz="3200" b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9184" name="文本框 494678"/>
            <p:cNvSpPr txBox="1"/>
            <p:nvPr/>
          </p:nvSpPr>
          <p:spPr>
            <a:xfrm>
              <a:off x="4558" y="888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sz="32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9185" name="文本框 494679"/>
            <p:cNvSpPr txBox="1"/>
            <p:nvPr/>
          </p:nvSpPr>
          <p:spPr>
            <a:xfrm>
              <a:off x="4558" y="1525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sz="32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9186" name="文本框 494680"/>
            <p:cNvSpPr txBox="1"/>
            <p:nvPr/>
          </p:nvSpPr>
          <p:spPr>
            <a:xfrm>
              <a:off x="3651" y="164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i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endParaRPr>
            </a:p>
          </p:txBody>
        </p:sp>
      </p:grpSp>
      <p:graphicFrame>
        <p:nvGraphicFramePr>
          <p:cNvPr id="494682" name="对象 494681"/>
          <p:cNvGraphicFramePr/>
          <p:nvPr/>
        </p:nvGraphicFramePr>
        <p:xfrm>
          <a:off x="1187450" y="2492375"/>
          <a:ext cx="2735263" cy="104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2" imgW="1193165" imgH="495300" progId="Equation.3">
                  <p:embed/>
                </p:oleObj>
              </mc:Choice>
              <mc:Fallback>
                <p:oleObj name="" r:id="rId2" imgW="1193165" imgH="495300" progId="Equation.3">
                  <p:embed/>
                  <p:pic>
                    <p:nvPicPr>
                      <p:cNvPr id="0" name="20 3123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87450" y="2492375"/>
                        <a:ext cx="2735263" cy="1049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4683" name="对象 494682"/>
          <p:cNvGraphicFramePr/>
          <p:nvPr/>
        </p:nvGraphicFramePr>
        <p:xfrm>
          <a:off x="1116013" y="3500438"/>
          <a:ext cx="3024187" cy="1125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4" imgW="1231265" imgH="495300" progId="Equation.3">
                  <p:embed/>
                </p:oleObj>
              </mc:Choice>
              <mc:Fallback>
                <p:oleObj name="" r:id="rId4" imgW="1231265" imgH="495300" progId="Equation.3">
                  <p:embed/>
                  <p:pic>
                    <p:nvPicPr>
                      <p:cNvPr id="0" name="20 3078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16013" y="3500438"/>
                        <a:ext cx="3024187" cy="1125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4684" name="对象 494683"/>
          <p:cNvGraphicFramePr/>
          <p:nvPr/>
        </p:nvGraphicFramePr>
        <p:xfrm>
          <a:off x="1042988" y="4437063"/>
          <a:ext cx="5689600" cy="1160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6" imgW="2246630" imgH="495300" progId="Equation.3">
                  <p:embed/>
                </p:oleObj>
              </mc:Choice>
              <mc:Fallback>
                <p:oleObj name="" r:id="rId6" imgW="2246630" imgH="495300" progId="Equation.3">
                  <p:embed/>
                  <p:pic>
                    <p:nvPicPr>
                      <p:cNvPr id="0" name="20 3077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42988" y="4437063"/>
                        <a:ext cx="5689600" cy="11604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4685" name="对象 494684"/>
          <p:cNvGraphicFramePr/>
          <p:nvPr/>
        </p:nvGraphicFramePr>
        <p:xfrm>
          <a:off x="1187450" y="5445125"/>
          <a:ext cx="2305050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8" imgW="989965" imgH="457200" progId="Equation.3">
                  <p:embed/>
                </p:oleObj>
              </mc:Choice>
              <mc:Fallback>
                <p:oleObj name="" r:id="rId8" imgW="989965" imgH="457200" progId="Equation.3">
                  <p:embed/>
                  <p:pic>
                    <p:nvPicPr>
                      <p:cNvPr id="0" name="20 3076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87450" y="5445125"/>
                        <a:ext cx="2305050" cy="985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4686" name="文本框 494685"/>
          <p:cNvSpPr txBox="1"/>
          <p:nvPr/>
        </p:nvSpPr>
        <p:spPr>
          <a:xfrm>
            <a:off x="827088" y="1974850"/>
            <a:ext cx="2520950" cy="547688"/>
          </a:xfrm>
          <a:prstGeom prst="rect">
            <a:avLst/>
          </a:prstGeom>
          <a:noFill/>
          <a:ln w="2857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eaLnBrk="0" hangingPunct="0">
              <a:spcBef>
                <a:spcPct val="5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等效电容</a:t>
            </a:r>
            <a:endParaRPr lang="zh-CN" altLang="en-US">
              <a:solidFill>
                <a:srgbClr val="FF99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49192" name="组合 494689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49193" name="20 494690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9194" name="文本框 494691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494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494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" fill="hold"/>
                                        <p:tgtEl>
                                          <p:spTgt spid="494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300" fill="hold"/>
                                        <p:tgtEl>
                                          <p:spTgt spid="494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94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00" fill="hold"/>
                                        <p:tgtEl>
                                          <p:spTgt spid="4946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300" fill="hold"/>
                                        <p:tgtEl>
                                          <p:spTgt spid="4946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2000"/>
                                        <p:tgtEl>
                                          <p:spTgt spid="494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2000"/>
                                        <p:tgtEl>
                                          <p:spTgt spid="494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2000"/>
                                        <p:tgtEl>
                                          <p:spTgt spid="494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2000"/>
                                        <p:tgtEl>
                                          <p:spTgt spid="494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4654" grpId="0"/>
      <p:bldP spid="494655" grpId="0"/>
      <p:bldP spid="49468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0177" name="组合 507906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0178" name="20 507907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0179" name="文本框 507908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0180" name="组合 507909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0181" name="20 507910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0182" name="文本框 507911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aphicFrame>
        <p:nvGraphicFramePr>
          <p:cNvPr id="507942" name="对象 507941"/>
          <p:cNvGraphicFramePr/>
          <p:nvPr/>
        </p:nvGraphicFramePr>
        <p:xfrm>
          <a:off x="2411413" y="3338513"/>
          <a:ext cx="2581275" cy="1243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2" imgW="951865" imgH="495300" progId="Equation.3">
                  <p:embed/>
                </p:oleObj>
              </mc:Choice>
              <mc:Fallback>
                <p:oleObj name="" r:id="rId2" imgW="951865" imgH="495300" progId="Equation.3">
                  <p:embed/>
                  <p:pic>
                    <p:nvPicPr>
                      <p:cNvPr id="0" name="20 3075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990033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11413" y="3338513"/>
                        <a:ext cx="2581275" cy="1243012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99CCFF"/>
                          </a:gs>
                          <a:gs pos="50000">
                            <a:schemeClr val="tx2"/>
                          </a:gs>
                          <a:gs pos="100000">
                            <a:srgbClr val="99CCFF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7943" name="组合 507942"/>
          <p:cNvGrpSpPr/>
          <p:nvPr/>
        </p:nvGrpSpPr>
        <p:grpSpPr>
          <a:xfrm>
            <a:off x="5003800" y="1033463"/>
            <a:ext cx="2016125" cy="2089150"/>
            <a:chOff x="4195" y="2523"/>
            <a:chExt cx="1270" cy="1316"/>
          </a:xfrm>
        </p:grpSpPr>
        <p:sp>
          <p:nvSpPr>
            <p:cNvPr id="50185" name="直接连接符 507943"/>
            <p:cNvSpPr/>
            <p:nvPr/>
          </p:nvSpPr>
          <p:spPr>
            <a:xfrm>
              <a:off x="4376" y="2569"/>
              <a:ext cx="681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0186" name="直接连接符 507944"/>
            <p:cNvSpPr/>
            <p:nvPr/>
          </p:nvSpPr>
          <p:spPr>
            <a:xfrm>
              <a:off x="4376" y="3793"/>
              <a:ext cx="681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0187" name="直接连接符 507945"/>
            <p:cNvSpPr/>
            <p:nvPr/>
          </p:nvSpPr>
          <p:spPr>
            <a:xfrm>
              <a:off x="5057" y="2568"/>
              <a:ext cx="0" cy="50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0188" name="直接连接符 507946"/>
            <p:cNvSpPr/>
            <p:nvPr/>
          </p:nvSpPr>
          <p:spPr>
            <a:xfrm flipV="1">
              <a:off x="5057" y="3158"/>
              <a:ext cx="0" cy="635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50189" name="组合 507947"/>
            <p:cNvGrpSpPr/>
            <p:nvPr/>
          </p:nvGrpSpPr>
          <p:grpSpPr>
            <a:xfrm>
              <a:off x="4921" y="3068"/>
              <a:ext cx="318" cy="90"/>
              <a:chOff x="4059" y="1117"/>
              <a:chExt cx="318" cy="90"/>
            </a:xfrm>
          </p:grpSpPr>
          <p:sp>
            <p:nvSpPr>
              <p:cNvPr id="50190" name="直接连接符 507948"/>
              <p:cNvSpPr/>
              <p:nvPr/>
            </p:nvSpPr>
            <p:spPr>
              <a:xfrm>
                <a:off x="4059" y="1117"/>
                <a:ext cx="318" cy="0"/>
              </a:xfrm>
              <a:prstGeom prst="line">
                <a:avLst/>
              </a:prstGeom>
              <a:ln w="38100" cap="sq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0191" name="直接连接符 507949"/>
              <p:cNvSpPr/>
              <p:nvPr/>
            </p:nvSpPr>
            <p:spPr>
              <a:xfrm>
                <a:off x="4059" y="1207"/>
                <a:ext cx="318" cy="0"/>
              </a:xfrm>
              <a:prstGeom prst="line">
                <a:avLst/>
              </a:prstGeom>
              <a:ln w="38100" cap="sq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50192" name="椭圆 507950"/>
            <p:cNvSpPr/>
            <p:nvPr/>
          </p:nvSpPr>
          <p:spPr>
            <a:xfrm>
              <a:off x="4286" y="2523"/>
              <a:ext cx="90" cy="91"/>
            </a:xfrm>
            <a:prstGeom prst="ellipse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0193" name="文本框 507951"/>
            <p:cNvSpPr txBox="1"/>
            <p:nvPr/>
          </p:nvSpPr>
          <p:spPr>
            <a:xfrm>
              <a:off x="5011" y="2614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i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0194" name="文本框 507952"/>
            <p:cNvSpPr txBox="1"/>
            <p:nvPr/>
          </p:nvSpPr>
          <p:spPr>
            <a:xfrm>
              <a:off x="4195" y="2977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u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0195" name="文本框 507953"/>
            <p:cNvSpPr txBox="1"/>
            <p:nvPr/>
          </p:nvSpPr>
          <p:spPr>
            <a:xfrm>
              <a:off x="4286" y="2523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+</a:t>
              </a:r>
              <a:endParaRPr lang="en-US" altLang="zh-CN" sz="3200" b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0196" name="文本框 507954"/>
            <p:cNvSpPr txBox="1"/>
            <p:nvPr/>
          </p:nvSpPr>
          <p:spPr>
            <a:xfrm>
              <a:off x="4286" y="3474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-</a:t>
              </a:r>
              <a:endParaRPr lang="en-US" altLang="zh-CN" sz="3200" b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0197" name="直接连接符 507955"/>
            <p:cNvSpPr/>
            <p:nvPr/>
          </p:nvSpPr>
          <p:spPr>
            <a:xfrm>
              <a:off x="5103" y="2705"/>
              <a:ext cx="0" cy="226"/>
            </a:xfrm>
            <a:prstGeom prst="line">
              <a:avLst/>
            </a:prstGeom>
            <a:ln w="28575" cap="sq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0198" name="文本框 507956"/>
            <p:cNvSpPr txBox="1"/>
            <p:nvPr/>
          </p:nvSpPr>
          <p:spPr>
            <a:xfrm>
              <a:off x="4966" y="3158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C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0199" name="椭圆 507957"/>
            <p:cNvSpPr/>
            <p:nvPr/>
          </p:nvSpPr>
          <p:spPr>
            <a:xfrm>
              <a:off x="4286" y="3747"/>
              <a:ext cx="90" cy="91"/>
            </a:xfrm>
            <a:prstGeom prst="ellipse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507959" name="组合 507958"/>
          <p:cNvGrpSpPr/>
          <p:nvPr/>
        </p:nvGrpSpPr>
        <p:grpSpPr>
          <a:xfrm>
            <a:off x="3887788" y="1681163"/>
            <a:ext cx="1223962" cy="576262"/>
            <a:chOff x="3787" y="2886"/>
            <a:chExt cx="771" cy="363"/>
          </a:xfrm>
        </p:grpSpPr>
        <p:sp>
          <p:nvSpPr>
            <p:cNvPr id="50201" name="直接连接符 507959"/>
            <p:cNvSpPr/>
            <p:nvPr/>
          </p:nvSpPr>
          <p:spPr>
            <a:xfrm>
              <a:off x="3877" y="3249"/>
              <a:ext cx="545" cy="0"/>
            </a:xfrm>
            <a:prstGeom prst="line">
              <a:avLst/>
            </a:prstGeom>
            <a:ln w="76200" cap="sq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0202" name="文本框 507960"/>
            <p:cNvSpPr txBox="1"/>
            <p:nvPr/>
          </p:nvSpPr>
          <p:spPr>
            <a:xfrm>
              <a:off x="3787" y="2886"/>
              <a:ext cx="771" cy="288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chemeClr val="bg2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等效</a:t>
              </a:r>
              <a:endParaRPr lang="zh-CN" altLang="en-US" sz="240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507963" name="组合 507962"/>
          <p:cNvGrpSpPr/>
          <p:nvPr/>
        </p:nvGrpSpPr>
        <p:grpSpPr>
          <a:xfrm>
            <a:off x="935038" y="457200"/>
            <a:ext cx="2520950" cy="2740025"/>
            <a:chOff x="3379" y="164"/>
            <a:chExt cx="1588" cy="1726"/>
          </a:xfrm>
        </p:grpSpPr>
        <p:sp>
          <p:nvSpPr>
            <p:cNvPr id="50204" name="直接连接符 507963"/>
            <p:cNvSpPr/>
            <p:nvPr/>
          </p:nvSpPr>
          <p:spPr>
            <a:xfrm>
              <a:off x="3651" y="527"/>
              <a:ext cx="726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0205" name="直接连接符 507964"/>
            <p:cNvSpPr/>
            <p:nvPr/>
          </p:nvSpPr>
          <p:spPr>
            <a:xfrm>
              <a:off x="3651" y="1752"/>
              <a:ext cx="726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0206" name="直接连接符 507965"/>
            <p:cNvSpPr/>
            <p:nvPr/>
          </p:nvSpPr>
          <p:spPr>
            <a:xfrm>
              <a:off x="4377" y="527"/>
              <a:ext cx="0" cy="272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0207" name="直接连接符 507966"/>
            <p:cNvSpPr/>
            <p:nvPr/>
          </p:nvSpPr>
          <p:spPr>
            <a:xfrm>
              <a:off x="4377" y="890"/>
              <a:ext cx="0" cy="499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0208" name="直接连接符 507967"/>
            <p:cNvSpPr/>
            <p:nvPr/>
          </p:nvSpPr>
          <p:spPr>
            <a:xfrm flipV="1">
              <a:off x="4377" y="1480"/>
              <a:ext cx="0" cy="272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50209" name="组合 507968"/>
            <p:cNvGrpSpPr/>
            <p:nvPr/>
          </p:nvGrpSpPr>
          <p:grpSpPr>
            <a:xfrm>
              <a:off x="4241" y="799"/>
              <a:ext cx="318" cy="90"/>
              <a:chOff x="4059" y="1117"/>
              <a:chExt cx="318" cy="90"/>
            </a:xfrm>
          </p:grpSpPr>
          <p:sp>
            <p:nvSpPr>
              <p:cNvPr id="50210" name="直接连接符 507969"/>
              <p:cNvSpPr/>
              <p:nvPr/>
            </p:nvSpPr>
            <p:spPr>
              <a:xfrm>
                <a:off x="4059" y="1117"/>
                <a:ext cx="318" cy="0"/>
              </a:xfrm>
              <a:prstGeom prst="line">
                <a:avLst/>
              </a:prstGeom>
              <a:ln w="38100" cap="sq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0211" name="直接连接符 507970"/>
              <p:cNvSpPr/>
              <p:nvPr/>
            </p:nvSpPr>
            <p:spPr>
              <a:xfrm>
                <a:off x="4059" y="1207"/>
                <a:ext cx="318" cy="0"/>
              </a:xfrm>
              <a:prstGeom prst="line">
                <a:avLst/>
              </a:prstGeom>
              <a:ln w="38100" cap="sq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50212" name="组合 507971"/>
            <p:cNvGrpSpPr/>
            <p:nvPr/>
          </p:nvGrpSpPr>
          <p:grpSpPr>
            <a:xfrm>
              <a:off x="4241" y="1389"/>
              <a:ext cx="318" cy="90"/>
              <a:chOff x="4059" y="1117"/>
              <a:chExt cx="318" cy="90"/>
            </a:xfrm>
          </p:grpSpPr>
          <p:sp>
            <p:nvSpPr>
              <p:cNvPr id="50213" name="直接连接符 507972"/>
              <p:cNvSpPr/>
              <p:nvPr/>
            </p:nvSpPr>
            <p:spPr>
              <a:xfrm>
                <a:off x="4059" y="1117"/>
                <a:ext cx="318" cy="0"/>
              </a:xfrm>
              <a:prstGeom prst="line">
                <a:avLst/>
              </a:prstGeom>
              <a:ln w="38100" cap="sq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0214" name="直接连接符 507973"/>
              <p:cNvSpPr/>
              <p:nvPr/>
            </p:nvSpPr>
            <p:spPr>
              <a:xfrm>
                <a:off x="4059" y="1207"/>
                <a:ext cx="318" cy="0"/>
              </a:xfrm>
              <a:prstGeom prst="line">
                <a:avLst/>
              </a:prstGeom>
              <a:ln w="38100" cap="sq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50215" name="椭圆 507974"/>
            <p:cNvSpPr/>
            <p:nvPr/>
          </p:nvSpPr>
          <p:spPr>
            <a:xfrm>
              <a:off x="3560" y="482"/>
              <a:ext cx="90" cy="91"/>
            </a:xfrm>
            <a:prstGeom prst="ellipse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0216" name="椭圆 507975"/>
            <p:cNvSpPr/>
            <p:nvPr/>
          </p:nvSpPr>
          <p:spPr>
            <a:xfrm>
              <a:off x="3560" y="1706"/>
              <a:ext cx="90" cy="91"/>
            </a:xfrm>
            <a:prstGeom prst="ellipse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0217" name="文本框 507976"/>
            <p:cNvSpPr txBox="1"/>
            <p:nvPr/>
          </p:nvSpPr>
          <p:spPr>
            <a:xfrm>
              <a:off x="4513" y="663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u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1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0218" name="文本框 507977"/>
            <p:cNvSpPr txBox="1"/>
            <p:nvPr/>
          </p:nvSpPr>
          <p:spPr>
            <a:xfrm>
              <a:off x="3379" y="935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u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0219" name="文本框 507978"/>
            <p:cNvSpPr txBox="1"/>
            <p:nvPr/>
          </p:nvSpPr>
          <p:spPr>
            <a:xfrm>
              <a:off x="3878" y="1253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C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2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0220" name="文本框 507979"/>
            <p:cNvSpPr txBox="1"/>
            <p:nvPr/>
          </p:nvSpPr>
          <p:spPr>
            <a:xfrm>
              <a:off x="3833" y="663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C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1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0221" name="文本框 507980"/>
            <p:cNvSpPr txBox="1"/>
            <p:nvPr/>
          </p:nvSpPr>
          <p:spPr>
            <a:xfrm>
              <a:off x="4513" y="1253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u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2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0222" name="直接连接符 507981"/>
            <p:cNvSpPr/>
            <p:nvPr/>
          </p:nvSpPr>
          <p:spPr>
            <a:xfrm>
              <a:off x="3742" y="482"/>
              <a:ext cx="317" cy="0"/>
            </a:xfrm>
            <a:prstGeom prst="line">
              <a:avLst/>
            </a:prstGeom>
            <a:ln w="28575" cap="sq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0223" name="文本框 507982"/>
            <p:cNvSpPr txBox="1"/>
            <p:nvPr/>
          </p:nvSpPr>
          <p:spPr>
            <a:xfrm>
              <a:off x="4558" y="1026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+</a:t>
              </a:r>
              <a:endParaRPr lang="en-US" altLang="zh-CN" sz="3200" b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0224" name="文本框 507983"/>
            <p:cNvSpPr txBox="1"/>
            <p:nvPr/>
          </p:nvSpPr>
          <p:spPr>
            <a:xfrm>
              <a:off x="4558" y="436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+</a:t>
              </a:r>
              <a:endParaRPr lang="en-US" altLang="zh-CN" sz="3200" b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0225" name="文本框 507984"/>
            <p:cNvSpPr txBox="1"/>
            <p:nvPr/>
          </p:nvSpPr>
          <p:spPr>
            <a:xfrm>
              <a:off x="3515" y="482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+</a:t>
              </a:r>
              <a:endParaRPr lang="en-US" altLang="zh-CN" sz="3200" b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0226" name="文本框 507985"/>
            <p:cNvSpPr txBox="1"/>
            <p:nvPr/>
          </p:nvSpPr>
          <p:spPr>
            <a:xfrm>
              <a:off x="4558" y="888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sz="32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0227" name="文本框 507986"/>
            <p:cNvSpPr txBox="1"/>
            <p:nvPr/>
          </p:nvSpPr>
          <p:spPr>
            <a:xfrm>
              <a:off x="4558" y="1525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sz="32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0228" name="文本框 507987"/>
            <p:cNvSpPr txBox="1"/>
            <p:nvPr/>
          </p:nvSpPr>
          <p:spPr>
            <a:xfrm>
              <a:off x="3651" y="164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i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50229" name="组合 507995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50230" name="20 507996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0231" name="文本框 507997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7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2000"/>
                                        <p:tgtEl>
                                          <p:spTgt spid="507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507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079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079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95618" name="对象 495617"/>
          <p:cNvGraphicFramePr/>
          <p:nvPr/>
        </p:nvGraphicFramePr>
        <p:xfrm>
          <a:off x="827088" y="1196975"/>
          <a:ext cx="2879725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" r:id="rId1" imgW="1193165" imgH="495300" progId="Equation.3">
                  <p:embed/>
                </p:oleObj>
              </mc:Choice>
              <mc:Fallback>
                <p:oleObj name="" r:id="rId1" imgW="1193165" imgH="495300" progId="Equation.3">
                  <p:embed/>
                  <p:pic>
                    <p:nvPicPr>
                      <p:cNvPr id="0" name="20 313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27088" y="1196975"/>
                        <a:ext cx="2879725" cy="1104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202" name="组合 495618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1203" name="20 495619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1204" name="文本框 495620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1205" name="组合 495621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1206" name="20 495622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1207" name="文本框 495623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aphicFrame>
        <p:nvGraphicFramePr>
          <p:cNvPr id="495625" name="对象 495624"/>
          <p:cNvGraphicFramePr/>
          <p:nvPr/>
        </p:nvGraphicFramePr>
        <p:xfrm>
          <a:off x="827088" y="2349500"/>
          <a:ext cx="3095625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" r:id="rId4" imgW="1231265" imgH="495300" progId="Equation.3">
                  <p:embed/>
                </p:oleObj>
              </mc:Choice>
              <mc:Fallback>
                <p:oleObj name="" r:id="rId4" imgW="1231265" imgH="495300" progId="Equation.3">
                  <p:embed/>
                  <p:pic>
                    <p:nvPicPr>
                      <p:cNvPr id="0" name="20 3129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FFFFFF"/>
                          </a:clrFrom>
                          <a:clrTo>
                            <a:srgbClr val="FFFFFF"/>
                          </a:clrTo>
                        </a:clrChange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27088" y="2349500"/>
                        <a:ext cx="3095625" cy="1152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5626" name="对象 495625"/>
          <p:cNvGraphicFramePr/>
          <p:nvPr/>
        </p:nvGraphicFramePr>
        <p:xfrm>
          <a:off x="900113" y="3644900"/>
          <a:ext cx="2881312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6" imgW="1117600" imgH="457200" progId="Equation.3">
                  <p:embed/>
                </p:oleObj>
              </mc:Choice>
              <mc:Fallback>
                <p:oleObj name="" r:id="rId6" imgW="1117600" imgH="457200" progId="Equation.3">
                  <p:embed/>
                  <p:pic>
                    <p:nvPicPr>
                      <p:cNvPr id="0" name="20 3132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00113" y="3644900"/>
                        <a:ext cx="2881312" cy="1092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5627" name="对象 495626"/>
          <p:cNvGraphicFramePr/>
          <p:nvPr/>
        </p:nvGraphicFramePr>
        <p:xfrm>
          <a:off x="684213" y="4868863"/>
          <a:ext cx="3455987" cy="1084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" r:id="rId8" imgW="1459865" imgH="495300" progId="Equation.3">
                  <p:embed/>
                </p:oleObj>
              </mc:Choice>
              <mc:Fallback>
                <p:oleObj name="" r:id="rId8" imgW="1459865" imgH="495300" progId="Equation.3">
                  <p:embed/>
                  <p:pic>
                    <p:nvPicPr>
                      <p:cNvPr id="0" name="20 3133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4213" y="4868863"/>
                        <a:ext cx="3455987" cy="1084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5628" name="对象 495627"/>
          <p:cNvGraphicFramePr/>
          <p:nvPr/>
        </p:nvGraphicFramePr>
        <p:xfrm>
          <a:off x="4716463" y="4797425"/>
          <a:ext cx="3743325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" r:id="rId10" imgW="1485265" imgH="495300" progId="Equation.3">
                  <p:embed/>
                </p:oleObj>
              </mc:Choice>
              <mc:Fallback>
                <p:oleObj name="" r:id="rId10" imgW="1485265" imgH="495300" progId="Equation.3">
                  <p:embed/>
                  <p:pic>
                    <p:nvPicPr>
                      <p:cNvPr id="0" name="20 3130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716463" y="4797425"/>
                        <a:ext cx="3743325" cy="1154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212" name="组合 495628"/>
          <p:cNvGrpSpPr/>
          <p:nvPr/>
        </p:nvGrpSpPr>
        <p:grpSpPr>
          <a:xfrm>
            <a:off x="6732588" y="1557338"/>
            <a:ext cx="2016125" cy="2089150"/>
            <a:chOff x="4059" y="2160"/>
            <a:chExt cx="1270" cy="1316"/>
          </a:xfrm>
        </p:grpSpPr>
        <p:sp>
          <p:nvSpPr>
            <p:cNvPr id="51213" name="直接连接符 495629"/>
            <p:cNvSpPr/>
            <p:nvPr/>
          </p:nvSpPr>
          <p:spPr>
            <a:xfrm>
              <a:off x="4240" y="2206"/>
              <a:ext cx="681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14" name="直接连接符 495630"/>
            <p:cNvSpPr/>
            <p:nvPr/>
          </p:nvSpPr>
          <p:spPr>
            <a:xfrm>
              <a:off x="4240" y="3430"/>
              <a:ext cx="681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15" name="直接连接符 495631"/>
            <p:cNvSpPr/>
            <p:nvPr/>
          </p:nvSpPr>
          <p:spPr>
            <a:xfrm>
              <a:off x="4921" y="2205"/>
              <a:ext cx="0" cy="50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16" name="直接连接符 495632"/>
            <p:cNvSpPr/>
            <p:nvPr/>
          </p:nvSpPr>
          <p:spPr>
            <a:xfrm flipV="1">
              <a:off x="4921" y="2795"/>
              <a:ext cx="0" cy="635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51217" name="组合 495633"/>
            <p:cNvGrpSpPr/>
            <p:nvPr/>
          </p:nvGrpSpPr>
          <p:grpSpPr>
            <a:xfrm>
              <a:off x="4785" y="2705"/>
              <a:ext cx="318" cy="90"/>
              <a:chOff x="4059" y="1117"/>
              <a:chExt cx="318" cy="90"/>
            </a:xfrm>
          </p:grpSpPr>
          <p:sp>
            <p:nvSpPr>
              <p:cNvPr id="51218" name="直接连接符 495634"/>
              <p:cNvSpPr/>
              <p:nvPr/>
            </p:nvSpPr>
            <p:spPr>
              <a:xfrm>
                <a:off x="4059" y="1117"/>
                <a:ext cx="318" cy="0"/>
              </a:xfrm>
              <a:prstGeom prst="line">
                <a:avLst/>
              </a:prstGeom>
              <a:ln w="38100" cap="sq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1219" name="直接连接符 495635"/>
              <p:cNvSpPr/>
              <p:nvPr/>
            </p:nvSpPr>
            <p:spPr>
              <a:xfrm>
                <a:off x="4059" y="1207"/>
                <a:ext cx="318" cy="0"/>
              </a:xfrm>
              <a:prstGeom prst="line">
                <a:avLst/>
              </a:prstGeom>
              <a:ln w="38100" cap="sq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51220" name="椭圆 495636"/>
            <p:cNvSpPr/>
            <p:nvPr/>
          </p:nvSpPr>
          <p:spPr>
            <a:xfrm>
              <a:off x="4150" y="2160"/>
              <a:ext cx="90" cy="91"/>
            </a:xfrm>
            <a:prstGeom prst="ellipse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1221" name="文本框 495637"/>
            <p:cNvSpPr txBox="1"/>
            <p:nvPr/>
          </p:nvSpPr>
          <p:spPr>
            <a:xfrm>
              <a:off x="4875" y="2251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1222" name="文本框 495638"/>
            <p:cNvSpPr txBox="1"/>
            <p:nvPr/>
          </p:nvSpPr>
          <p:spPr>
            <a:xfrm>
              <a:off x="4059" y="2614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1223" name="文本框 495639"/>
            <p:cNvSpPr txBox="1"/>
            <p:nvPr/>
          </p:nvSpPr>
          <p:spPr>
            <a:xfrm>
              <a:off x="4104" y="2160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32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1224" name="文本框 495640"/>
            <p:cNvSpPr txBox="1"/>
            <p:nvPr/>
          </p:nvSpPr>
          <p:spPr>
            <a:xfrm>
              <a:off x="4150" y="3111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sz="32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1225" name="直接连接符 495641"/>
            <p:cNvSpPr/>
            <p:nvPr/>
          </p:nvSpPr>
          <p:spPr>
            <a:xfrm>
              <a:off x="4967" y="2342"/>
              <a:ext cx="0" cy="226"/>
            </a:xfrm>
            <a:prstGeom prst="line">
              <a:avLst/>
            </a:prstGeom>
            <a:ln w="28575" cap="sq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1226" name="文本框 495642"/>
            <p:cNvSpPr txBox="1"/>
            <p:nvPr/>
          </p:nvSpPr>
          <p:spPr>
            <a:xfrm>
              <a:off x="4830" y="2795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C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1227" name="椭圆 495643"/>
            <p:cNvSpPr/>
            <p:nvPr/>
          </p:nvSpPr>
          <p:spPr>
            <a:xfrm>
              <a:off x="4150" y="3385"/>
              <a:ext cx="90" cy="91"/>
            </a:xfrm>
            <a:prstGeom prst="ellipse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51228" name="组合 495644"/>
          <p:cNvGrpSpPr/>
          <p:nvPr/>
        </p:nvGrpSpPr>
        <p:grpSpPr>
          <a:xfrm>
            <a:off x="4140200" y="1052513"/>
            <a:ext cx="2520950" cy="2740025"/>
            <a:chOff x="3379" y="164"/>
            <a:chExt cx="1588" cy="1726"/>
          </a:xfrm>
        </p:grpSpPr>
        <p:sp>
          <p:nvSpPr>
            <p:cNvPr id="51229" name="直接连接符 495645"/>
            <p:cNvSpPr/>
            <p:nvPr/>
          </p:nvSpPr>
          <p:spPr>
            <a:xfrm>
              <a:off x="3651" y="527"/>
              <a:ext cx="726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30" name="直接连接符 495646"/>
            <p:cNvSpPr/>
            <p:nvPr/>
          </p:nvSpPr>
          <p:spPr>
            <a:xfrm>
              <a:off x="3651" y="1752"/>
              <a:ext cx="726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31" name="直接连接符 495647"/>
            <p:cNvSpPr/>
            <p:nvPr/>
          </p:nvSpPr>
          <p:spPr>
            <a:xfrm>
              <a:off x="4377" y="527"/>
              <a:ext cx="0" cy="272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32" name="直接连接符 495648"/>
            <p:cNvSpPr/>
            <p:nvPr/>
          </p:nvSpPr>
          <p:spPr>
            <a:xfrm>
              <a:off x="4377" y="890"/>
              <a:ext cx="0" cy="499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33" name="直接连接符 495649"/>
            <p:cNvSpPr/>
            <p:nvPr/>
          </p:nvSpPr>
          <p:spPr>
            <a:xfrm flipV="1">
              <a:off x="4377" y="1480"/>
              <a:ext cx="0" cy="272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51234" name="组合 495650"/>
            <p:cNvGrpSpPr/>
            <p:nvPr/>
          </p:nvGrpSpPr>
          <p:grpSpPr>
            <a:xfrm>
              <a:off x="4241" y="799"/>
              <a:ext cx="318" cy="90"/>
              <a:chOff x="4059" y="1117"/>
              <a:chExt cx="318" cy="90"/>
            </a:xfrm>
          </p:grpSpPr>
          <p:sp>
            <p:nvSpPr>
              <p:cNvPr id="51235" name="直接连接符 495651"/>
              <p:cNvSpPr/>
              <p:nvPr/>
            </p:nvSpPr>
            <p:spPr>
              <a:xfrm>
                <a:off x="4059" y="1117"/>
                <a:ext cx="318" cy="0"/>
              </a:xfrm>
              <a:prstGeom prst="line">
                <a:avLst/>
              </a:prstGeom>
              <a:ln w="38100" cap="sq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1236" name="直接连接符 495652"/>
              <p:cNvSpPr/>
              <p:nvPr/>
            </p:nvSpPr>
            <p:spPr>
              <a:xfrm>
                <a:off x="4059" y="1207"/>
                <a:ext cx="318" cy="0"/>
              </a:xfrm>
              <a:prstGeom prst="line">
                <a:avLst/>
              </a:prstGeom>
              <a:ln w="38100" cap="sq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51237" name="组合 495653"/>
            <p:cNvGrpSpPr/>
            <p:nvPr/>
          </p:nvGrpSpPr>
          <p:grpSpPr>
            <a:xfrm>
              <a:off x="4241" y="1389"/>
              <a:ext cx="318" cy="90"/>
              <a:chOff x="4059" y="1117"/>
              <a:chExt cx="318" cy="90"/>
            </a:xfrm>
          </p:grpSpPr>
          <p:sp>
            <p:nvSpPr>
              <p:cNvPr id="51238" name="直接连接符 495654"/>
              <p:cNvSpPr/>
              <p:nvPr/>
            </p:nvSpPr>
            <p:spPr>
              <a:xfrm>
                <a:off x="4059" y="1117"/>
                <a:ext cx="318" cy="0"/>
              </a:xfrm>
              <a:prstGeom prst="line">
                <a:avLst/>
              </a:prstGeom>
              <a:ln w="38100" cap="sq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1239" name="直接连接符 495655"/>
              <p:cNvSpPr/>
              <p:nvPr/>
            </p:nvSpPr>
            <p:spPr>
              <a:xfrm>
                <a:off x="4059" y="1207"/>
                <a:ext cx="318" cy="0"/>
              </a:xfrm>
              <a:prstGeom prst="line">
                <a:avLst/>
              </a:prstGeom>
              <a:ln w="38100" cap="sq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51240" name="椭圆 495656"/>
            <p:cNvSpPr/>
            <p:nvPr/>
          </p:nvSpPr>
          <p:spPr>
            <a:xfrm>
              <a:off x="3560" y="482"/>
              <a:ext cx="90" cy="91"/>
            </a:xfrm>
            <a:prstGeom prst="ellipse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1241" name="椭圆 495657"/>
            <p:cNvSpPr/>
            <p:nvPr/>
          </p:nvSpPr>
          <p:spPr>
            <a:xfrm>
              <a:off x="3560" y="1706"/>
              <a:ext cx="90" cy="91"/>
            </a:xfrm>
            <a:prstGeom prst="ellipse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1242" name="文本框 495658"/>
            <p:cNvSpPr txBox="1"/>
            <p:nvPr/>
          </p:nvSpPr>
          <p:spPr>
            <a:xfrm>
              <a:off x="4513" y="663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u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1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1243" name="文本框 495659"/>
            <p:cNvSpPr txBox="1"/>
            <p:nvPr/>
          </p:nvSpPr>
          <p:spPr>
            <a:xfrm>
              <a:off x="3379" y="935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u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1244" name="文本框 495660"/>
            <p:cNvSpPr txBox="1"/>
            <p:nvPr/>
          </p:nvSpPr>
          <p:spPr>
            <a:xfrm>
              <a:off x="3878" y="1253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C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2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1245" name="文本框 495661"/>
            <p:cNvSpPr txBox="1"/>
            <p:nvPr/>
          </p:nvSpPr>
          <p:spPr>
            <a:xfrm>
              <a:off x="3833" y="663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C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1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1246" name="文本框 495662"/>
            <p:cNvSpPr txBox="1"/>
            <p:nvPr/>
          </p:nvSpPr>
          <p:spPr>
            <a:xfrm>
              <a:off x="4513" y="1253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u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2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1247" name="直接连接符 495663"/>
            <p:cNvSpPr/>
            <p:nvPr/>
          </p:nvSpPr>
          <p:spPr>
            <a:xfrm>
              <a:off x="3742" y="482"/>
              <a:ext cx="317" cy="0"/>
            </a:xfrm>
            <a:prstGeom prst="line">
              <a:avLst/>
            </a:prstGeom>
            <a:ln w="28575" cap="sq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1248" name="文本框 495664"/>
            <p:cNvSpPr txBox="1"/>
            <p:nvPr/>
          </p:nvSpPr>
          <p:spPr>
            <a:xfrm>
              <a:off x="4558" y="1026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+</a:t>
              </a:r>
              <a:endParaRPr lang="en-US" altLang="zh-CN" sz="3200" b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1249" name="文本框 495665"/>
            <p:cNvSpPr txBox="1"/>
            <p:nvPr/>
          </p:nvSpPr>
          <p:spPr>
            <a:xfrm>
              <a:off x="4558" y="436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+</a:t>
              </a:r>
              <a:endParaRPr lang="en-US" altLang="zh-CN" sz="3200" b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1250" name="文本框 495666"/>
            <p:cNvSpPr txBox="1"/>
            <p:nvPr/>
          </p:nvSpPr>
          <p:spPr>
            <a:xfrm>
              <a:off x="3515" y="482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+</a:t>
              </a:r>
              <a:endParaRPr lang="en-US" altLang="zh-CN" sz="3200" b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1251" name="文本框 495667"/>
            <p:cNvSpPr txBox="1"/>
            <p:nvPr/>
          </p:nvSpPr>
          <p:spPr>
            <a:xfrm>
              <a:off x="4558" y="888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sz="32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1252" name="文本框 495668"/>
            <p:cNvSpPr txBox="1"/>
            <p:nvPr/>
          </p:nvSpPr>
          <p:spPr>
            <a:xfrm>
              <a:off x="4558" y="1525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sz="32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1253" name="文本框 495669"/>
            <p:cNvSpPr txBox="1"/>
            <p:nvPr/>
          </p:nvSpPr>
          <p:spPr>
            <a:xfrm>
              <a:off x="3651" y="164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i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495671" name="文本框 495670"/>
          <p:cNvSpPr txBox="1"/>
          <p:nvPr/>
        </p:nvSpPr>
        <p:spPr>
          <a:xfrm>
            <a:off x="684213" y="606425"/>
            <a:ext cx="3311525" cy="547688"/>
          </a:xfrm>
          <a:prstGeom prst="rect">
            <a:avLst/>
          </a:prstGeom>
          <a:noFill/>
          <a:ln w="2857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eaLnBrk="0" hangingPunct="0">
              <a:spcBef>
                <a:spcPct val="5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串联电容的分压</a:t>
            </a:r>
            <a:endParaRPr lang="zh-CN" altLang="en-US">
              <a:solidFill>
                <a:srgbClr val="FF99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51255" name="组合 495674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51256" name="20 495675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1257" name="文本框 495676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4956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4956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95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95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2000"/>
                                        <p:tgtEl>
                                          <p:spTgt spid="495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2000"/>
                                        <p:tgtEl>
                                          <p:spTgt spid="495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2000"/>
                                        <p:tgtEl>
                                          <p:spTgt spid="495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567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2225" name="组合 496641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2226" name="20 496642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2227" name="文本框 496643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2228" name="组合 496644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2229" name="20 496645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2230" name="文本框 496646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96648" name="组合 496647"/>
          <p:cNvGrpSpPr/>
          <p:nvPr/>
        </p:nvGrpSpPr>
        <p:grpSpPr>
          <a:xfrm>
            <a:off x="5940425" y="333375"/>
            <a:ext cx="2520950" cy="2520950"/>
            <a:chOff x="1474" y="527"/>
            <a:chExt cx="1588" cy="1588"/>
          </a:xfrm>
        </p:grpSpPr>
        <p:sp>
          <p:nvSpPr>
            <p:cNvPr id="52232" name="直接连接符 496648"/>
            <p:cNvSpPr/>
            <p:nvPr/>
          </p:nvSpPr>
          <p:spPr>
            <a:xfrm>
              <a:off x="1655" y="845"/>
              <a:ext cx="998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33" name="直接连接符 496649"/>
            <p:cNvSpPr/>
            <p:nvPr/>
          </p:nvSpPr>
          <p:spPr>
            <a:xfrm>
              <a:off x="1655" y="2069"/>
              <a:ext cx="998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34" name="直接连接符 496650"/>
            <p:cNvSpPr/>
            <p:nvPr/>
          </p:nvSpPr>
          <p:spPr>
            <a:xfrm>
              <a:off x="2653" y="844"/>
              <a:ext cx="0" cy="50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35" name="直接连接符 496651"/>
            <p:cNvSpPr/>
            <p:nvPr/>
          </p:nvSpPr>
          <p:spPr>
            <a:xfrm>
              <a:off x="2109" y="845"/>
              <a:ext cx="0" cy="499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oval" w="med" len="med"/>
              <a:tailEnd type="none" w="med" len="med"/>
            </a:ln>
          </p:spPr>
        </p:sp>
        <p:sp>
          <p:nvSpPr>
            <p:cNvPr id="52236" name="直接连接符 496652"/>
            <p:cNvSpPr/>
            <p:nvPr/>
          </p:nvSpPr>
          <p:spPr>
            <a:xfrm flipV="1">
              <a:off x="2653" y="1434"/>
              <a:ext cx="0" cy="635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52237" name="组合 496653"/>
            <p:cNvGrpSpPr/>
            <p:nvPr/>
          </p:nvGrpSpPr>
          <p:grpSpPr>
            <a:xfrm>
              <a:off x="2517" y="1344"/>
              <a:ext cx="318" cy="90"/>
              <a:chOff x="4059" y="1117"/>
              <a:chExt cx="318" cy="90"/>
            </a:xfrm>
          </p:grpSpPr>
          <p:sp>
            <p:nvSpPr>
              <p:cNvPr id="52238" name="直接连接符 496654"/>
              <p:cNvSpPr/>
              <p:nvPr/>
            </p:nvSpPr>
            <p:spPr>
              <a:xfrm>
                <a:off x="4059" y="1117"/>
                <a:ext cx="318" cy="0"/>
              </a:xfrm>
              <a:prstGeom prst="line">
                <a:avLst/>
              </a:prstGeom>
              <a:ln w="38100" cap="sq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2239" name="直接连接符 496655"/>
              <p:cNvSpPr/>
              <p:nvPr/>
            </p:nvSpPr>
            <p:spPr>
              <a:xfrm>
                <a:off x="4059" y="1207"/>
                <a:ext cx="318" cy="0"/>
              </a:xfrm>
              <a:prstGeom prst="line">
                <a:avLst/>
              </a:prstGeom>
              <a:ln w="38100" cap="sq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52240" name="组合 496656"/>
            <p:cNvGrpSpPr/>
            <p:nvPr/>
          </p:nvGrpSpPr>
          <p:grpSpPr>
            <a:xfrm>
              <a:off x="1972" y="1344"/>
              <a:ext cx="318" cy="90"/>
              <a:chOff x="4059" y="1117"/>
              <a:chExt cx="318" cy="90"/>
            </a:xfrm>
          </p:grpSpPr>
          <p:sp>
            <p:nvSpPr>
              <p:cNvPr id="52241" name="直接连接符 496657"/>
              <p:cNvSpPr/>
              <p:nvPr/>
            </p:nvSpPr>
            <p:spPr>
              <a:xfrm>
                <a:off x="4059" y="1117"/>
                <a:ext cx="318" cy="0"/>
              </a:xfrm>
              <a:prstGeom prst="line">
                <a:avLst/>
              </a:prstGeom>
              <a:ln w="38100" cap="sq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2242" name="直接连接符 496658"/>
              <p:cNvSpPr/>
              <p:nvPr/>
            </p:nvSpPr>
            <p:spPr>
              <a:xfrm>
                <a:off x="4059" y="1207"/>
                <a:ext cx="318" cy="0"/>
              </a:xfrm>
              <a:prstGeom prst="line">
                <a:avLst/>
              </a:prstGeom>
              <a:ln w="38100" cap="sq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52243" name="椭圆 496659"/>
            <p:cNvSpPr/>
            <p:nvPr/>
          </p:nvSpPr>
          <p:spPr>
            <a:xfrm>
              <a:off x="1565" y="799"/>
              <a:ext cx="90" cy="91"/>
            </a:xfrm>
            <a:prstGeom prst="ellipse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2244" name="椭圆 496660"/>
            <p:cNvSpPr/>
            <p:nvPr/>
          </p:nvSpPr>
          <p:spPr>
            <a:xfrm>
              <a:off x="1565" y="2024"/>
              <a:ext cx="90" cy="91"/>
            </a:xfrm>
            <a:prstGeom prst="ellipse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2245" name="直接连接符 496661"/>
            <p:cNvSpPr/>
            <p:nvPr/>
          </p:nvSpPr>
          <p:spPr>
            <a:xfrm>
              <a:off x="2109" y="1434"/>
              <a:ext cx="0" cy="635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52246" name="文本框 496662"/>
            <p:cNvSpPr txBox="1"/>
            <p:nvPr/>
          </p:nvSpPr>
          <p:spPr>
            <a:xfrm>
              <a:off x="2608" y="935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2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2247" name="文本框 496663"/>
            <p:cNvSpPr txBox="1"/>
            <p:nvPr/>
          </p:nvSpPr>
          <p:spPr>
            <a:xfrm>
              <a:off x="2064" y="935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2248" name="文本框 496664"/>
            <p:cNvSpPr txBox="1"/>
            <p:nvPr/>
          </p:nvSpPr>
          <p:spPr>
            <a:xfrm>
              <a:off x="1474" y="1253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2249" name="文本框 496665"/>
            <p:cNvSpPr txBox="1"/>
            <p:nvPr/>
          </p:nvSpPr>
          <p:spPr>
            <a:xfrm>
              <a:off x="1519" y="799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32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2250" name="文本框 496666"/>
            <p:cNvSpPr txBox="1"/>
            <p:nvPr/>
          </p:nvSpPr>
          <p:spPr>
            <a:xfrm>
              <a:off x="1565" y="1750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sz="32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2251" name="直接连接符 496667"/>
            <p:cNvSpPr/>
            <p:nvPr/>
          </p:nvSpPr>
          <p:spPr>
            <a:xfrm>
              <a:off x="2154" y="981"/>
              <a:ext cx="0" cy="226"/>
            </a:xfrm>
            <a:prstGeom prst="line">
              <a:avLst/>
            </a:prstGeom>
            <a:ln w="28575" cap="sq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2252" name="直接连接符 496668"/>
            <p:cNvSpPr/>
            <p:nvPr/>
          </p:nvSpPr>
          <p:spPr>
            <a:xfrm>
              <a:off x="2699" y="981"/>
              <a:ext cx="0" cy="226"/>
            </a:xfrm>
            <a:prstGeom prst="line">
              <a:avLst/>
            </a:prstGeom>
            <a:ln w="28575" cap="sq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2253" name="文本框 496669"/>
            <p:cNvSpPr txBox="1"/>
            <p:nvPr/>
          </p:nvSpPr>
          <p:spPr>
            <a:xfrm>
              <a:off x="2064" y="1434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C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2254" name="文本框 496670"/>
            <p:cNvSpPr txBox="1"/>
            <p:nvPr/>
          </p:nvSpPr>
          <p:spPr>
            <a:xfrm>
              <a:off x="2608" y="1434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C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2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2255" name="文本框 496671"/>
            <p:cNvSpPr txBox="1"/>
            <p:nvPr/>
          </p:nvSpPr>
          <p:spPr>
            <a:xfrm>
              <a:off x="1701" y="527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2256" name="直接连接符 496672"/>
            <p:cNvSpPr/>
            <p:nvPr/>
          </p:nvSpPr>
          <p:spPr>
            <a:xfrm>
              <a:off x="1791" y="890"/>
              <a:ext cx="182" cy="0"/>
            </a:xfrm>
            <a:prstGeom prst="line">
              <a:avLst/>
            </a:prstGeom>
            <a:ln w="28575" cap="sq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aphicFrame>
        <p:nvGraphicFramePr>
          <p:cNvPr id="496674" name="对象 496673"/>
          <p:cNvGraphicFramePr/>
          <p:nvPr/>
        </p:nvGraphicFramePr>
        <p:xfrm>
          <a:off x="827088" y="1700213"/>
          <a:ext cx="1655762" cy="108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7" name="" r:id="rId2" imgW="698500" imgH="457200" progId="Equation.3">
                  <p:embed/>
                </p:oleObj>
              </mc:Choice>
              <mc:Fallback>
                <p:oleObj name="" r:id="rId2" imgW="698500" imgH="457200" progId="Equation.3">
                  <p:embed/>
                  <p:pic>
                    <p:nvPicPr>
                      <p:cNvPr id="0" name="20 3136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27088" y="1700213"/>
                        <a:ext cx="1655762" cy="1081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6675" name="对象 496674"/>
          <p:cNvGraphicFramePr/>
          <p:nvPr/>
        </p:nvGraphicFramePr>
        <p:xfrm>
          <a:off x="3203575" y="1628775"/>
          <a:ext cx="1800225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" r:id="rId4" imgW="723900" imgH="457200" progId="Equation.3">
                  <p:embed/>
                </p:oleObj>
              </mc:Choice>
              <mc:Fallback>
                <p:oleObj name="" r:id="rId4" imgW="723900" imgH="457200" progId="Equation.3">
                  <p:embed/>
                  <p:pic>
                    <p:nvPicPr>
                      <p:cNvPr id="0" name="20 3135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203575" y="1628775"/>
                        <a:ext cx="1800225" cy="1133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6676" name="对象 496675"/>
          <p:cNvGraphicFramePr/>
          <p:nvPr/>
        </p:nvGraphicFramePr>
        <p:xfrm>
          <a:off x="900113" y="2781300"/>
          <a:ext cx="4105275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" r:id="rId6" imgW="1651000" imgH="457200" progId="Equation.3">
                  <p:embed/>
                </p:oleObj>
              </mc:Choice>
              <mc:Fallback>
                <p:oleObj name="" r:id="rId6" imgW="1651000" imgH="457200" progId="Equation.3">
                  <p:embed/>
                  <p:pic>
                    <p:nvPicPr>
                      <p:cNvPr id="0" name="20 3137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00113" y="2781300"/>
                        <a:ext cx="4105275" cy="1133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6677" name="对象 496676"/>
          <p:cNvGraphicFramePr/>
          <p:nvPr/>
        </p:nvGraphicFramePr>
        <p:xfrm>
          <a:off x="1042988" y="3789363"/>
          <a:ext cx="1400175" cy="1195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" r:id="rId8" imgW="533400" imgH="457200" progId="Equation.3">
                  <p:embed/>
                </p:oleObj>
              </mc:Choice>
              <mc:Fallback>
                <p:oleObj name="" r:id="rId8" imgW="533400" imgH="457200" progId="Equation.3">
                  <p:embed/>
                  <p:pic>
                    <p:nvPicPr>
                      <p:cNvPr id="0" name="20 3134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42988" y="3789363"/>
                        <a:ext cx="1400175" cy="1195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6678" name="对象 496677"/>
          <p:cNvGraphicFramePr/>
          <p:nvPr/>
        </p:nvGraphicFramePr>
        <p:xfrm>
          <a:off x="2916238" y="4652963"/>
          <a:ext cx="2565400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" r:id="rId10" imgW="977265" imgH="241300" progId="Equation.3">
                  <p:embed/>
                </p:oleObj>
              </mc:Choice>
              <mc:Fallback>
                <p:oleObj name="" r:id="rId10" imgW="977265" imgH="241300" progId="Equation.3">
                  <p:embed/>
                  <p:pic>
                    <p:nvPicPr>
                      <p:cNvPr id="0" name="20 3138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990033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16238" y="4652963"/>
                        <a:ext cx="2565400" cy="630237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99CCFF"/>
                          </a:gs>
                          <a:gs pos="50000">
                            <a:schemeClr val="tx2"/>
                          </a:gs>
                          <a:gs pos="100000">
                            <a:srgbClr val="99CCFF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96681" name="组合 496680"/>
          <p:cNvGrpSpPr/>
          <p:nvPr/>
        </p:nvGrpSpPr>
        <p:grpSpPr>
          <a:xfrm>
            <a:off x="6300788" y="4005263"/>
            <a:ext cx="2016125" cy="2089150"/>
            <a:chOff x="4059" y="2160"/>
            <a:chExt cx="1270" cy="1316"/>
          </a:xfrm>
        </p:grpSpPr>
        <p:sp>
          <p:nvSpPr>
            <p:cNvPr id="52263" name="直接连接符 496681"/>
            <p:cNvSpPr/>
            <p:nvPr/>
          </p:nvSpPr>
          <p:spPr>
            <a:xfrm>
              <a:off x="4240" y="2206"/>
              <a:ext cx="681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64" name="直接连接符 496682"/>
            <p:cNvSpPr/>
            <p:nvPr/>
          </p:nvSpPr>
          <p:spPr>
            <a:xfrm>
              <a:off x="4240" y="3430"/>
              <a:ext cx="681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65" name="直接连接符 496683"/>
            <p:cNvSpPr/>
            <p:nvPr/>
          </p:nvSpPr>
          <p:spPr>
            <a:xfrm>
              <a:off x="4921" y="2205"/>
              <a:ext cx="0" cy="50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66" name="直接连接符 496684"/>
            <p:cNvSpPr/>
            <p:nvPr/>
          </p:nvSpPr>
          <p:spPr>
            <a:xfrm flipV="1">
              <a:off x="4921" y="2795"/>
              <a:ext cx="0" cy="635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52267" name="组合 496685"/>
            <p:cNvGrpSpPr/>
            <p:nvPr/>
          </p:nvGrpSpPr>
          <p:grpSpPr>
            <a:xfrm>
              <a:off x="4785" y="2705"/>
              <a:ext cx="318" cy="90"/>
              <a:chOff x="4059" y="1117"/>
              <a:chExt cx="318" cy="90"/>
            </a:xfrm>
          </p:grpSpPr>
          <p:sp>
            <p:nvSpPr>
              <p:cNvPr id="52268" name="直接连接符 496686"/>
              <p:cNvSpPr/>
              <p:nvPr/>
            </p:nvSpPr>
            <p:spPr>
              <a:xfrm>
                <a:off x="4059" y="1117"/>
                <a:ext cx="318" cy="0"/>
              </a:xfrm>
              <a:prstGeom prst="line">
                <a:avLst/>
              </a:prstGeom>
              <a:ln w="38100" cap="sq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2269" name="直接连接符 496687"/>
              <p:cNvSpPr/>
              <p:nvPr/>
            </p:nvSpPr>
            <p:spPr>
              <a:xfrm>
                <a:off x="4059" y="1207"/>
                <a:ext cx="318" cy="0"/>
              </a:xfrm>
              <a:prstGeom prst="line">
                <a:avLst/>
              </a:prstGeom>
              <a:ln w="38100" cap="sq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52270" name="椭圆 496688"/>
            <p:cNvSpPr/>
            <p:nvPr/>
          </p:nvSpPr>
          <p:spPr>
            <a:xfrm>
              <a:off x="4150" y="2160"/>
              <a:ext cx="90" cy="91"/>
            </a:xfrm>
            <a:prstGeom prst="ellipse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2271" name="文本框 496689"/>
            <p:cNvSpPr txBox="1"/>
            <p:nvPr/>
          </p:nvSpPr>
          <p:spPr>
            <a:xfrm>
              <a:off x="4875" y="2251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2272" name="文本框 496690"/>
            <p:cNvSpPr txBox="1"/>
            <p:nvPr/>
          </p:nvSpPr>
          <p:spPr>
            <a:xfrm>
              <a:off x="4059" y="2614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2273" name="文本框 496691"/>
            <p:cNvSpPr txBox="1"/>
            <p:nvPr/>
          </p:nvSpPr>
          <p:spPr>
            <a:xfrm>
              <a:off x="4104" y="2160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32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2274" name="文本框 496692"/>
            <p:cNvSpPr txBox="1"/>
            <p:nvPr/>
          </p:nvSpPr>
          <p:spPr>
            <a:xfrm>
              <a:off x="4150" y="3111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sz="32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2275" name="直接连接符 496693"/>
            <p:cNvSpPr/>
            <p:nvPr/>
          </p:nvSpPr>
          <p:spPr>
            <a:xfrm>
              <a:off x="4967" y="2342"/>
              <a:ext cx="0" cy="226"/>
            </a:xfrm>
            <a:prstGeom prst="line">
              <a:avLst/>
            </a:prstGeom>
            <a:ln w="28575" cap="sq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2276" name="文本框 496694"/>
            <p:cNvSpPr txBox="1"/>
            <p:nvPr/>
          </p:nvSpPr>
          <p:spPr>
            <a:xfrm>
              <a:off x="4830" y="2795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C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2277" name="椭圆 496695"/>
            <p:cNvSpPr/>
            <p:nvPr/>
          </p:nvSpPr>
          <p:spPr>
            <a:xfrm>
              <a:off x="4150" y="3385"/>
              <a:ext cx="90" cy="91"/>
            </a:xfrm>
            <a:prstGeom prst="ellipse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496697" name="组合 496696"/>
          <p:cNvGrpSpPr/>
          <p:nvPr/>
        </p:nvGrpSpPr>
        <p:grpSpPr>
          <a:xfrm>
            <a:off x="6659563" y="3068638"/>
            <a:ext cx="1223962" cy="720725"/>
            <a:chOff x="4014" y="1933"/>
            <a:chExt cx="771" cy="454"/>
          </a:xfrm>
        </p:grpSpPr>
        <p:sp>
          <p:nvSpPr>
            <p:cNvPr id="52279" name="直接连接符 496697"/>
            <p:cNvSpPr/>
            <p:nvPr/>
          </p:nvSpPr>
          <p:spPr>
            <a:xfrm>
              <a:off x="4059" y="1933"/>
              <a:ext cx="0" cy="454"/>
            </a:xfrm>
            <a:prstGeom prst="line">
              <a:avLst/>
            </a:prstGeom>
            <a:ln w="76200" cap="sq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2280" name="文本框 496698"/>
            <p:cNvSpPr txBox="1"/>
            <p:nvPr/>
          </p:nvSpPr>
          <p:spPr>
            <a:xfrm>
              <a:off x="4014" y="1979"/>
              <a:ext cx="771" cy="288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chemeClr val="bg2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等效</a:t>
              </a:r>
              <a:endParaRPr lang="zh-CN" altLang="en-US" sz="240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496700" name="文本框 496699"/>
          <p:cNvSpPr txBox="1"/>
          <p:nvPr/>
        </p:nvSpPr>
        <p:spPr>
          <a:xfrm>
            <a:off x="684213" y="549275"/>
            <a:ext cx="3311525" cy="579438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2.</a:t>
            </a:r>
            <a:r>
              <a:rPr lang="zh-CN" altLang="en-US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电容的并联</a:t>
            </a:r>
            <a:endParaRPr lang="zh-CN" altLang="en-US" sz="320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96701" name="文本框 496700"/>
          <p:cNvSpPr txBox="1"/>
          <p:nvPr/>
        </p:nvSpPr>
        <p:spPr>
          <a:xfrm>
            <a:off x="827088" y="1182688"/>
            <a:ext cx="2376487" cy="547687"/>
          </a:xfrm>
          <a:prstGeom prst="rect">
            <a:avLst/>
          </a:prstGeom>
          <a:noFill/>
          <a:ln w="2857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eaLnBrk="0" hangingPunct="0">
              <a:spcBef>
                <a:spcPct val="5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等效电容</a:t>
            </a:r>
            <a:endParaRPr lang="zh-CN" altLang="en-US">
              <a:solidFill>
                <a:srgbClr val="FF99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52283" name="组合 496704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52284" name="20 496705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2285" name="文本框 496706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496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496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96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300" fill="hold"/>
                                        <p:tgtEl>
                                          <p:spTgt spid="496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300" fill="hold"/>
                                        <p:tgtEl>
                                          <p:spTgt spid="496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" dur="500"/>
                                        <p:tgtEl>
                                          <p:spTgt spid="496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9" dur="500"/>
                                        <p:tgtEl>
                                          <p:spTgt spid="496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500"/>
                                        <p:tgtEl>
                                          <p:spTgt spid="496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500"/>
                                        <p:tgtEl>
                                          <p:spTgt spid="496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4" dur="500"/>
                                        <p:tgtEl>
                                          <p:spTgt spid="496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9" dur="500"/>
                                        <p:tgtEl>
                                          <p:spTgt spid="496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96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6700" grpId="0"/>
      <p:bldP spid="49670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3249" name="组合 508929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3250" name="20 508930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3251" name="文本框 508931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3252" name="组合 508932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3253" name="20 508933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3254" name="文本框 508934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3255" name="组合 508935"/>
          <p:cNvGrpSpPr/>
          <p:nvPr/>
        </p:nvGrpSpPr>
        <p:grpSpPr>
          <a:xfrm>
            <a:off x="5940425" y="620713"/>
            <a:ext cx="2520950" cy="2520950"/>
            <a:chOff x="1474" y="527"/>
            <a:chExt cx="1588" cy="1588"/>
          </a:xfrm>
        </p:grpSpPr>
        <p:sp>
          <p:nvSpPr>
            <p:cNvPr id="53256" name="直接连接符 508936"/>
            <p:cNvSpPr/>
            <p:nvPr/>
          </p:nvSpPr>
          <p:spPr>
            <a:xfrm>
              <a:off x="1655" y="845"/>
              <a:ext cx="998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257" name="直接连接符 508937"/>
            <p:cNvSpPr/>
            <p:nvPr/>
          </p:nvSpPr>
          <p:spPr>
            <a:xfrm>
              <a:off x="1655" y="2069"/>
              <a:ext cx="998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258" name="直接连接符 508938"/>
            <p:cNvSpPr/>
            <p:nvPr/>
          </p:nvSpPr>
          <p:spPr>
            <a:xfrm>
              <a:off x="2653" y="844"/>
              <a:ext cx="0" cy="50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259" name="直接连接符 508939"/>
            <p:cNvSpPr/>
            <p:nvPr/>
          </p:nvSpPr>
          <p:spPr>
            <a:xfrm>
              <a:off x="2109" y="845"/>
              <a:ext cx="0" cy="499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oval" w="med" len="med"/>
              <a:tailEnd type="none" w="med" len="med"/>
            </a:ln>
          </p:spPr>
        </p:sp>
        <p:sp>
          <p:nvSpPr>
            <p:cNvPr id="53260" name="直接连接符 508940"/>
            <p:cNvSpPr/>
            <p:nvPr/>
          </p:nvSpPr>
          <p:spPr>
            <a:xfrm flipV="1">
              <a:off x="2653" y="1434"/>
              <a:ext cx="0" cy="635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53261" name="组合 508941"/>
            <p:cNvGrpSpPr/>
            <p:nvPr/>
          </p:nvGrpSpPr>
          <p:grpSpPr>
            <a:xfrm>
              <a:off x="2517" y="1344"/>
              <a:ext cx="318" cy="90"/>
              <a:chOff x="4059" y="1117"/>
              <a:chExt cx="318" cy="90"/>
            </a:xfrm>
          </p:grpSpPr>
          <p:sp>
            <p:nvSpPr>
              <p:cNvPr id="53262" name="直接连接符 508942"/>
              <p:cNvSpPr/>
              <p:nvPr/>
            </p:nvSpPr>
            <p:spPr>
              <a:xfrm>
                <a:off x="4059" y="1117"/>
                <a:ext cx="318" cy="0"/>
              </a:xfrm>
              <a:prstGeom prst="line">
                <a:avLst/>
              </a:prstGeom>
              <a:ln w="38100" cap="sq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3263" name="直接连接符 508943"/>
              <p:cNvSpPr/>
              <p:nvPr/>
            </p:nvSpPr>
            <p:spPr>
              <a:xfrm>
                <a:off x="4059" y="1207"/>
                <a:ext cx="318" cy="0"/>
              </a:xfrm>
              <a:prstGeom prst="line">
                <a:avLst/>
              </a:prstGeom>
              <a:ln w="38100" cap="sq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53264" name="组合 508944"/>
            <p:cNvGrpSpPr/>
            <p:nvPr/>
          </p:nvGrpSpPr>
          <p:grpSpPr>
            <a:xfrm>
              <a:off x="1972" y="1344"/>
              <a:ext cx="318" cy="90"/>
              <a:chOff x="4059" y="1117"/>
              <a:chExt cx="318" cy="90"/>
            </a:xfrm>
          </p:grpSpPr>
          <p:sp>
            <p:nvSpPr>
              <p:cNvPr id="53265" name="直接连接符 508945"/>
              <p:cNvSpPr/>
              <p:nvPr/>
            </p:nvSpPr>
            <p:spPr>
              <a:xfrm>
                <a:off x="4059" y="1117"/>
                <a:ext cx="318" cy="0"/>
              </a:xfrm>
              <a:prstGeom prst="line">
                <a:avLst/>
              </a:prstGeom>
              <a:ln w="38100" cap="sq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3266" name="直接连接符 508946"/>
              <p:cNvSpPr/>
              <p:nvPr/>
            </p:nvSpPr>
            <p:spPr>
              <a:xfrm>
                <a:off x="4059" y="1207"/>
                <a:ext cx="318" cy="0"/>
              </a:xfrm>
              <a:prstGeom prst="line">
                <a:avLst/>
              </a:prstGeom>
              <a:ln w="38100" cap="sq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53267" name="椭圆 508947"/>
            <p:cNvSpPr/>
            <p:nvPr/>
          </p:nvSpPr>
          <p:spPr>
            <a:xfrm>
              <a:off x="1565" y="799"/>
              <a:ext cx="90" cy="91"/>
            </a:xfrm>
            <a:prstGeom prst="ellipse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3268" name="椭圆 508948"/>
            <p:cNvSpPr/>
            <p:nvPr/>
          </p:nvSpPr>
          <p:spPr>
            <a:xfrm>
              <a:off x="1565" y="2024"/>
              <a:ext cx="90" cy="91"/>
            </a:xfrm>
            <a:prstGeom prst="ellipse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3269" name="直接连接符 508949"/>
            <p:cNvSpPr/>
            <p:nvPr/>
          </p:nvSpPr>
          <p:spPr>
            <a:xfrm>
              <a:off x="2109" y="1434"/>
              <a:ext cx="0" cy="635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53270" name="文本框 508950"/>
            <p:cNvSpPr txBox="1"/>
            <p:nvPr/>
          </p:nvSpPr>
          <p:spPr>
            <a:xfrm>
              <a:off x="2608" y="935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2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3271" name="文本框 508951"/>
            <p:cNvSpPr txBox="1"/>
            <p:nvPr/>
          </p:nvSpPr>
          <p:spPr>
            <a:xfrm>
              <a:off x="2064" y="935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3272" name="文本框 508952"/>
            <p:cNvSpPr txBox="1"/>
            <p:nvPr/>
          </p:nvSpPr>
          <p:spPr>
            <a:xfrm>
              <a:off x="1474" y="1253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3273" name="文本框 508953"/>
            <p:cNvSpPr txBox="1"/>
            <p:nvPr/>
          </p:nvSpPr>
          <p:spPr>
            <a:xfrm>
              <a:off x="1519" y="799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32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3274" name="文本框 508954"/>
            <p:cNvSpPr txBox="1"/>
            <p:nvPr/>
          </p:nvSpPr>
          <p:spPr>
            <a:xfrm>
              <a:off x="1565" y="1750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sz="32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3275" name="直接连接符 508955"/>
            <p:cNvSpPr/>
            <p:nvPr/>
          </p:nvSpPr>
          <p:spPr>
            <a:xfrm>
              <a:off x="2154" y="981"/>
              <a:ext cx="0" cy="226"/>
            </a:xfrm>
            <a:prstGeom prst="line">
              <a:avLst/>
            </a:prstGeom>
            <a:ln w="28575" cap="sq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3276" name="直接连接符 508956"/>
            <p:cNvSpPr/>
            <p:nvPr/>
          </p:nvSpPr>
          <p:spPr>
            <a:xfrm>
              <a:off x="2699" y="981"/>
              <a:ext cx="0" cy="226"/>
            </a:xfrm>
            <a:prstGeom prst="line">
              <a:avLst/>
            </a:prstGeom>
            <a:ln w="28575" cap="sq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3277" name="文本框 508957"/>
            <p:cNvSpPr txBox="1"/>
            <p:nvPr/>
          </p:nvSpPr>
          <p:spPr>
            <a:xfrm>
              <a:off x="2064" y="1434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C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3278" name="文本框 508958"/>
            <p:cNvSpPr txBox="1"/>
            <p:nvPr/>
          </p:nvSpPr>
          <p:spPr>
            <a:xfrm>
              <a:off x="2608" y="1434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C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2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3279" name="文本框 508959"/>
            <p:cNvSpPr txBox="1"/>
            <p:nvPr/>
          </p:nvSpPr>
          <p:spPr>
            <a:xfrm>
              <a:off x="1701" y="527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3280" name="直接连接符 508960"/>
            <p:cNvSpPr/>
            <p:nvPr/>
          </p:nvSpPr>
          <p:spPr>
            <a:xfrm>
              <a:off x="1791" y="890"/>
              <a:ext cx="182" cy="0"/>
            </a:xfrm>
            <a:prstGeom prst="line">
              <a:avLst/>
            </a:prstGeom>
            <a:ln w="28575" cap="sq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aphicFrame>
        <p:nvGraphicFramePr>
          <p:cNvPr id="508962" name="对象 508961"/>
          <p:cNvGraphicFramePr/>
          <p:nvPr/>
        </p:nvGraphicFramePr>
        <p:xfrm>
          <a:off x="1116013" y="1341438"/>
          <a:ext cx="1655762" cy="108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" r:id="rId2" imgW="698500" imgH="457200" progId="Equation.3">
                  <p:embed/>
                </p:oleObj>
              </mc:Choice>
              <mc:Fallback>
                <p:oleObj name="" r:id="rId2" imgW="698500" imgH="457200" progId="Equation.3">
                  <p:embed/>
                  <p:pic>
                    <p:nvPicPr>
                      <p:cNvPr id="0" name="20 3139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16013" y="1341438"/>
                        <a:ext cx="1655762" cy="1081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8963" name="对象 508962"/>
          <p:cNvGraphicFramePr/>
          <p:nvPr/>
        </p:nvGraphicFramePr>
        <p:xfrm>
          <a:off x="3203575" y="1268413"/>
          <a:ext cx="1800225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" name="" r:id="rId4" imgW="723900" imgH="457200" progId="Equation.3">
                  <p:embed/>
                </p:oleObj>
              </mc:Choice>
              <mc:Fallback>
                <p:oleObj name="" r:id="rId4" imgW="723900" imgH="457200" progId="Equation.3">
                  <p:embed/>
                  <p:pic>
                    <p:nvPicPr>
                      <p:cNvPr id="0" name="20 3142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203575" y="1268413"/>
                        <a:ext cx="1800225" cy="1133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8964" name="对象 508963"/>
          <p:cNvGraphicFramePr/>
          <p:nvPr/>
        </p:nvGraphicFramePr>
        <p:xfrm>
          <a:off x="1116013" y="2492375"/>
          <a:ext cx="1546225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" name="" r:id="rId6" imgW="622300" imgH="457200" progId="Equation.3">
                  <p:embed/>
                </p:oleObj>
              </mc:Choice>
              <mc:Fallback>
                <p:oleObj name="" r:id="rId6" imgW="622300" imgH="457200" progId="Equation.3">
                  <p:embed/>
                  <p:pic>
                    <p:nvPicPr>
                      <p:cNvPr id="0" name="20 3140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16013" y="2492375"/>
                        <a:ext cx="1546225" cy="1133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8967" name="对象 508966"/>
          <p:cNvGraphicFramePr/>
          <p:nvPr/>
        </p:nvGraphicFramePr>
        <p:xfrm>
          <a:off x="1116013" y="3789363"/>
          <a:ext cx="1296987" cy="1058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" name="" r:id="rId8" imgW="558800" imgH="457200" progId="Equation.3">
                  <p:embed/>
                </p:oleObj>
              </mc:Choice>
              <mc:Fallback>
                <p:oleObj name="" r:id="rId8" imgW="558800" imgH="457200" progId="Equation.3">
                  <p:embed/>
                  <p:pic>
                    <p:nvPicPr>
                      <p:cNvPr id="0" name="20 3143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16013" y="3789363"/>
                        <a:ext cx="1296987" cy="1058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8968" name="对象 508967"/>
          <p:cNvGraphicFramePr/>
          <p:nvPr/>
        </p:nvGraphicFramePr>
        <p:xfrm>
          <a:off x="3059113" y="3716338"/>
          <a:ext cx="1565275" cy="1195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2" name="" r:id="rId10" imgW="596900" imgH="457200" progId="Equation.3">
                  <p:embed/>
                </p:oleObj>
              </mc:Choice>
              <mc:Fallback>
                <p:oleObj name="" r:id="rId10" imgW="596900" imgH="457200" progId="Equation.3">
                  <p:embed/>
                  <p:pic>
                    <p:nvPicPr>
                      <p:cNvPr id="0" name="20 3141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59113" y="3716338"/>
                        <a:ext cx="1565275" cy="1195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286" name="组合 508968"/>
          <p:cNvGrpSpPr/>
          <p:nvPr/>
        </p:nvGrpSpPr>
        <p:grpSpPr>
          <a:xfrm>
            <a:off x="6227763" y="3644900"/>
            <a:ext cx="2016125" cy="2089150"/>
            <a:chOff x="4059" y="2160"/>
            <a:chExt cx="1270" cy="1316"/>
          </a:xfrm>
        </p:grpSpPr>
        <p:sp>
          <p:nvSpPr>
            <p:cNvPr id="53287" name="直接连接符 508969"/>
            <p:cNvSpPr/>
            <p:nvPr/>
          </p:nvSpPr>
          <p:spPr>
            <a:xfrm>
              <a:off x="4240" y="2206"/>
              <a:ext cx="681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288" name="直接连接符 508970"/>
            <p:cNvSpPr/>
            <p:nvPr/>
          </p:nvSpPr>
          <p:spPr>
            <a:xfrm>
              <a:off x="4240" y="3430"/>
              <a:ext cx="681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289" name="直接连接符 508971"/>
            <p:cNvSpPr/>
            <p:nvPr/>
          </p:nvSpPr>
          <p:spPr>
            <a:xfrm>
              <a:off x="4921" y="2205"/>
              <a:ext cx="0" cy="50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290" name="直接连接符 508972"/>
            <p:cNvSpPr/>
            <p:nvPr/>
          </p:nvSpPr>
          <p:spPr>
            <a:xfrm flipV="1">
              <a:off x="4921" y="2795"/>
              <a:ext cx="0" cy="635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53291" name="组合 508973"/>
            <p:cNvGrpSpPr/>
            <p:nvPr/>
          </p:nvGrpSpPr>
          <p:grpSpPr>
            <a:xfrm>
              <a:off x="4785" y="2705"/>
              <a:ext cx="318" cy="90"/>
              <a:chOff x="4059" y="1117"/>
              <a:chExt cx="318" cy="90"/>
            </a:xfrm>
          </p:grpSpPr>
          <p:sp>
            <p:nvSpPr>
              <p:cNvPr id="53292" name="直接连接符 508974"/>
              <p:cNvSpPr/>
              <p:nvPr/>
            </p:nvSpPr>
            <p:spPr>
              <a:xfrm>
                <a:off x="4059" y="1117"/>
                <a:ext cx="318" cy="0"/>
              </a:xfrm>
              <a:prstGeom prst="line">
                <a:avLst/>
              </a:prstGeom>
              <a:ln w="38100" cap="sq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3293" name="直接连接符 508975"/>
              <p:cNvSpPr/>
              <p:nvPr/>
            </p:nvSpPr>
            <p:spPr>
              <a:xfrm>
                <a:off x="4059" y="1207"/>
                <a:ext cx="318" cy="0"/>
              </a:xfrm>
              <a:prstGeom prst="line">
                <a:avLst/>
              </a:prstGeom>
              <a:ln w="38100" cap="sq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53294" name="椭圆 508976"/>
            <p:cNvSpPr/>
            <p:nvPr/>
          </p:nvSpPr>
          <p:spPr>
            <a:xfrm>
              <a:off x="4150" y="2160"/>
              <a:ext cx="90" cy="91"/>
            </a:xfrm>
            <a:prstGeom prst="ellipse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3295" name="文本框 508977"/>
            <p:cNvSpPr txBox="1"/>
            <p:nvPr/>
          </p:nvSpPr>
          <p:spPr>
            <a:xfrm>
              <a:off x="4875" y="2251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3296" name="文本框 508978"/>
            <p:cNvSpPr txBox="1"/>
            <p:nvPr/>
          </p:nvSpPr>
          <p:spPr>
            <a:xfrm>
              <a:off x="4059" y="2614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3297" name="文本框 508979"/>
            <p:cNvSpPr txBox="1"/>
            <p:nvPr/>
          </p:nvSpPr>
          <p:spPr>
            <a:xfrm>
              <a:off x="4104" y="2160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32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3298" name="文本框 508980"/>
            <p:cNvSpPr txBox="1"/>
            <p:nvPr/>
          </p:nvSpPr>
          <p:spPr>
            <a:xfrm>
              <a:off x="4150" y="3111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sz="32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3299" name="直接连接符 508981"/>
            <p:cNvSpPr/>
            <p:nvPr/>
          </p:nvSpPr>
          <p:spPr>
            <a:xfrm>
              <a:off x="4967" y="2342"/>
              <a:ext cx="0" cy="226"/>
            </a:xfrm>
            <a:prstGeom prst="line">
              <a:avLst/>
            </a:prstGeom>
            <a:ln w="28575" cap="sq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3300" name="文本框 508982"/>
            <p:cNvSpPr txBox="1"/>
            <p:nvPr/>
          </p:nvSpPr>
          <p:spPr>
            <a:xfrm>
              <a:off x="4830" y="2795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C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3301" name="椭圆 508983"/>
            <p:cNvSpPr/>
            <p:nvPr/>
          </p:nvSpPr>
          <p:spPr>
            <a:xfrm>
              <a:off x="4150" y="3385"/>
              <a:ext cx="90" cy="91"/>
            </a:xfrm>
            <a:prstGeom prst="ellipse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sp>
        <p:nvSpPr>
          <p:cNvPr id="508989" name="文本框 508988"/>
          <p:cNvSpPr txBox="1"/>
          <p:nvPr/>
        </p:nvSpPr>
        <p:spPr>
          <a:xfrm>
            <a:off x="755650" y="606425"/>
            <a:ext cx="3311525" cy="547688"/>
          </a:xfrm>
          <a:prstGeom prst="rect">
            <a:avLst/>
          </a:prstGeom>
          <a:noFill/>
          <a:ln w="2857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eaLnBrk="0" hangingPunct="0">
              <a:spcBef>
                <a:spcPct val="5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并联电容的分流</a:t>
            </a:r>
            <a:endParaRPr lang="zh-CN" altLang="en-US">
              <a:solidFill>
                <a:srgbClr val="FF99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53303" name="组合 508992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53304" name="20 508993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3305" name="文本框 508994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5089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5089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508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508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508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508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508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898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7666" name="文本框 497665"/>
          <p:cNvSpPr txBox="1"/>
          <p:nvPr/>
        </p:nvSpPr>
        <p:spPr>
          <a:xfrm>
            <a:off x="611188" y="620713"/>
            <a:ext cx="403225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3. </a:t>
            </a:r>
            <a:r>
              <a:rPr lang="zh-CN" altLang="en-US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电感的串联</a:t>
            </a:r>
            <a:endParaRPr lang="zh-CN" altLang="en-US" sz="32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497667" name="对象 497666"/>
          <p:cNvGraphicFramePr/>
          <p:nvPr/>
        </p:nvGraphicFramePr>
        <p:xfrm>
          <a:off x="1116013" y="1989138"/>
          <a:ext cx="1736725" cy="107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" name="" r:id="rId1" imgW="685800" imgH="457200" progId="Equation.3">
                  <p:embed/>
                </p:oleObj>
              </mc:Choice>
              <mc:Fallback>
                <p:oleObj name="" r:id="rId1" imgW="685800" imgH="457200" progId="Equation.3">
                  <p:embed/>
                  <p:pic>
                    <p:nvPicPr>
                      <p:cNvPr id="0" name="20 3144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16013" y="1989138"/>
                        <a:ext cx="1736725" cy="1071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275" name="组合 497667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4276" name="20 497668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4277" name="文本框 497669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4278" name="组合 497670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4279" name="20 497671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4280" name="文本框 497672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aphicFrame>
        <p:nvGraphicFramePr>
          <p:cNvPr id="497674" name="对象 497673"/>
          <p:cNvGraphicFramePr/>
          <p:nvPr/>
        </p:nvGraphicFramePr>
        <p:xfrm>
          <a:off x="827088" y="3933825"/>
          <a:ext cx="6018212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" name="" r:id="rId4" imgW="2184400" imgH="457200" progId="Equation.3">
                  <p:embed/>
                </p:oleObj>
              </mc:Choice>
              <mc:Fallback>
                <p:oleObj name="" r:id="rId4" imgW="2184400" imgH="457200" progId="Equation.3">
                  <p:embed/>
                  <p:pic>
                    <p:nvPicPr>
                      <p:cNvPr id="0" name="20 3146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27088" y="3933825"/>
                        <a:ext cx="6018212" cy="1165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7675" name="对象 497674"/>
          <p:cNvGraphicFramePr/>
          <p:nvPr/>
        </p:nvGraphicFramePr>
        <p:xfrm>
          <a:off x="2195513" y="5300663"/>
          <a:ext cx="2808287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" name="" r:id="rId6" imgW="824865" imgH="241300" progId="Equation.3">
                  <p:embed/>
                </p:oleObj>
              </mc:Choice>
              <mc:Fallback>
                <p:oleObj name="" r:id="rId6" imgW="824865" imgH="241300" progId="Equation.3">
                  <p:embed/>
                  <p:pic>
                    <p:nvPicPr>
                      <p:cNvPr id="0" name="20 3145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990033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95513" y="5300663"/>
                        <a:ext cx="2808287" cy="7588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99CCFF"/>
                          </a:gs>
                          <a:gs pos="50000">
                            <a:schemeClr val="tx1"/>
                          </a:gs>
                          <a:gs pos="100000">
                            <a:srgbClr val="99CCFF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97676" name="组合 497675"/>
          <p:cNvGrpSpPr/>
          <p:nvPr/>
        </p:nvGrpSpPr>
        <p:grpSpPr>
          <a:xfrm>
            <a:off x="3492500" y="692150"/>
            <a:ext cx="2520950" cy="2813050"/>
            <a:chOff x="2290" y="2069"/>
            <a:chExt cx="1588" cy="1772"/>
          </a:xfrm>
        </p:grpSpPr>
        <p:sp>
          <p:nvSpPr>
            <p:cNvPr id="54284" name="直接连接符 497676"/>
            <p:cNvSpPr/>
            <p:nvPr/>
          </p:nvSpPr>
          <p:spPr>
            <a:xfrm>
              <a:off x="2562" y="2478"/>
              <a:ext cx="726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4285" name="直接连接符 497677"/>
            <p:cNvSpPr/>
            <p:nvPr/>
          </p:nvSpPr>
          <p:spPr>
            <a:xfrm>
              <a:off x="2562" y="3703"/>
              <a:ext cx="726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4286" name="直接连接符 497678"/>
            <p:cNvSpPr/>
            <p:nvPr/>
          </p:nvSpPr>
          <p:spPr>
            <a:xfrm>
              <a:off x="3288" y="2478"/>
              <a:ext cx="0" cy="136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4287" name="直接连接符 497679"/>
            <p:cNvSpPr/>
            <p:nvPr/>
          </p:nvSpPr>
          <p:spPr>
            <a:xfrm>
              <a:off x="3288" y="2977"/>
              <a:ext cx="0" cy="182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4288" name="直接连接符 497680"/>
            <p:cNvSpPr/>
            <p:nvPr/>
          </p:nvSpPr>
          <p:spPr>
            <a:xfrm flipV="1">
              <a:off x="3288" y="3521"/>
              <a:ext cx="0" cy="182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4289" name="椭圆 497681"/>
            <p:cNvSpPr/>
            <p:nvPr/>
          </p:nvSpPr>
          <p:spPr>
            <a:xfrm>
              <a:off x="2471" y="2433"/>
              <a:ext cx="90" cy="91"/>
            </a:xfrm>
            <a:prstGeom prst="ellipse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4290" name="椭圆 497682"/>
            <p:cNvSpPr/>
            <p:nvPr/>
          </p:nvSpPr>
          <p:spPr>
            <a:xfrm>
              <a:off x="2471" y="3657"/>
              <a:ext cx="90" cy="91"/>
            </a:xfrm>
            <a:prstGeom prst="ellipse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4291" name="文本框 497683"/>
            <p:cNvSpPr txBox="1"/>
            <p:nvPr/>
          </p:nvSpPr>
          <p:spPr>
            <a:xfrm>
              <a:off x="3424" y="2614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4292" name="文本框 497684"/>
            <p:cNvSpPr txBox="1"/>
            <p:nvPr/>
          </p:nvSpPr>
          <p:spPr>
            <a:xfrm>
              <a:off x="2290" y="2886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4293" name="文本框 497685"/>
            <p:cNvSpPr txBox="1"/>
            <p:nvPr/>
          </p:nvSpPr>
          <p:spPr>
            <a:xfrm>
              <a:off x="2789" y="3204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L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2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4294" name="文本框 497686"/>
            <p:cNvSpPr txBox="1"/>
            <p:nvPr/>
          </p:nvSpPr>
          <p:spPr>
            <a:xfrm>
              <a:off x="2744" y="2614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L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4295" name="文本框 497687"/>
            <p:cNvSpPr txBox="1"/>
            <p:nvPr/>
          </p:nvSpPr>
          <p:spPr>
            <a:xfrm>
              <a:off x="3424" y="3204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2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4296" name="直接连接符 497688"/>
            <p:cNvSpPr/>
            <p:nvPr/>
          </p:nvSpPr>
          <p:spPr>
            <a:xfrm>
              <a:off x="2653" y="2433"/>
              <a:ext cx="317" cy="0"/>
            </a:xfrm>
            <a:prstGeom prst="line">
              <a:avLst/>
            </a:prstGeom>
            <a:ln w="28575" cap="sq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4297" name="文本框 497689"/>
            <p:cNvSpPr txBox="1"/>
            <p:nvPr/>
          </p:nvSpPr>
          <p:spPr>
            <a:xfrm>
              <a:off x="3469" y="2977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32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4298" name="文本框 497690"/>
            <p:cNvSpPr txBox="1"/>
            <p:nvPr/>
          </p:nvSpPr>
          <p:spPr>
            <a:xfrm>
              <a:off x="3469" y="2387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32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4299" name="文本框 497691"/>
            <p:cNvSpPr txBox="1"/>
            <p:nvPr/>
          </p:nvSpPr>
          <p:spPr>
            <a:xfrm>
              <a:off x="2426" y="2433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32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4300" name="文本框 497692"/>
            <p:cNvSpPr txBox="1"/>
            <p:nvPr/>
          </p:nvSpPr>
          <p:spPr>
            <a:xfrm>
              <a:off x="3469" y="2839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sz="32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4301" name="文本框 497693"/>
            <p:cNvSpPr txBox="1"/>
            <p:nvPr/>
          </p:nvSpPr>
          <p:spPr>
            <a:xfrm>
              <a:off x="3469" y="3476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sz="32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4302" name="文本框 497694"/>
            <p:cNvSpPr txBox="1"/>
            <p:nvPr/>
          </p:nvSpPr>
          <p:spPr>
            <a:xfrm>
              <a:off x="2562" y="2069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grpSp>
          <p:nvGrpSpPr>
            <p:cNvPr id="54303" name="组合 497695"/>
            <p:cNvGrpSpPr/>
            <p:nvPr/>
          </p:nvGrpSpPr>
          <p:grpSpPr>
            <a:xfrm>
              <a:off x="3288" y="3158"/>
              <a:ext cx="91" cy="363"/>
              <a:chOff x="2744" y="2931"/>
              <a:chExt cx="57" cy="283"/>
            </a:xfrm>
          </p:grpSpPr>
          <p:sp>
            <p:nvSpPr>
              <p:cNvPr id="54304" name="任意多边形 497696"/>
              <p:cNvSpPr/>
              <p:nvPr/>
            </p:nvSpPr>
            <p:spPr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270">
                    <a:pos x="1123" y="0"/>
                  </a:cxn>
                  <a:cxn ang="90">
                    <a:pos x="0" y="43170"/>
                  </a:cxn>
                  <a:cxn ang="90">
                    <a:pos x="1123" y="21600"/>
                  </a:cxn>
                </a:cxnLst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4305" name="任意多边形 497697"/>
              <p:cNvSpPr/>
              <p:nvPr/>
            </p:nvSpPr>
            <p:spPr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270">
                    <a:pos x="1123" y="0"/>
                  </a:cxn>
                  <a:cxn ang="90">
                    <a:pos x="0" y="43170"/>
                  </a:cxn>
                  <a:cxn ang="90">
                    <a:pos x="1123" y="21600"/>
                  </a:cxn>
                </a:cxnLst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4306" name="任意多边形 497698"/>
              <p:cNvSpPr/>
              <p:nvPr/>
            </p:nvSpPr>
            <p:spPr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270">
                    <a:pos x="1123" y="0"/>
                  </a:cxn>
                  <a:cxn ang="90">
                    <a:pos x="0" y="43170"/>
                  </a:cxn>
                  <a:cxn ang="90">
                    <a:pos x="1123" y="21600"/>
                  </a:cxn>
                </a:cxnLst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54307" name="组合 497699"/>
            <p:cNvGrpSpPr/>
            <p:nvPr/>
          </p:nvGrpSpPr>
          <p:grpSpPr>
            <a:xfrm>
              <a:off x="3288" y="2614"/>
              <a:ext cx="91" cy="363"/>
              <a:chOff x="2744" y="2931"/>
              <a:chExt cx="57" cy="283"/>
            </a:xfrm>
          </p:grpSpPr>
          <p:sp>
            <p:nvSpPr>
              <p:cNvPr id="54308" name="任意多边形 497700"/>
              <p:cNvSpPr/>
              <p:nvPr/>
            </p:nvSpPr>
            <p:spPr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270">
                    <a:pos x="1123" y="0"/>
                  </a:cxn>
                  <a:cxn ang="90">
                    <a:pos x="0" y="43170"/>
                  </a:cxn>
                  <a:cxn ang="90">
                    <a:pos x="1123" y="21600"/>
                  </a:cxn>
                </a:cxnLst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4309" name="任意多边形 497701"/>
              <p:cNvSpPr/>
              <p:nvPr/>
            </p:nvSpPr>
            <p:spPr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270">
                    <a:pos x="1123" y="0"/>
                  </a:cxn>
                  <a:cxn ang="90">
                    <a:pos x="0" y="43170"/>
                  </a:cxn>
                  <a:cxn ang="90">
                    <a:pos x="1123" y="21600"/>
                  </a:cxn>
                </a:cxnLst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4310" name="任意多边形 497702"/>
              <p:cNvSpPr/>
              <p:nvPr/>
            </p:nvSpPr>
            <p:spPr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270">
                    <a:pos x="1123" y="0"/>
                  </a:cxn>
                  <a:cxn ang="90">
                    <a:pos x="0" y="43170"/>
                  </a:cxn>
                  <a:cxn ang="90">
                    <a:pos x="1123" y="21600"/>
                  </a:cxn>
                </a:cxnLst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grpSp>
        <p:nvGrpSpPr>
          <p:cNvPr id="497704" name="组合 497703"/>
          <p:cNvGrpSpPr/>
          <p:nvPr/>
        </p:nvGrpSpPr>
        <p:grpSpPr>
          <a:xfrm>
            <a:off x="6948488" y="1196975"/>
            <a:ext cx="1512887" cy="2089150"/>
            <a:chOff x="1701" y="1706"/>
            <a:chExt cx="953" cy="1316"/>
          </a:xfrm>
        </p:grpSpPr>
        <p:sp>
          <p:nvSpPr>
            <p:cNvPr id="54312" name="直接连接符 497704"/>
            <p:cNvSpPr/>
            <p:nvPr/>
          </p:nvSpPr>
          <p:spPr>
            <a:xfrm>
              <a:off x="1882" y="1752"/>
              <a:ext cx="681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4313" name="直接连接符 497705"/>
            <p:cNvSpPr/>
            <p:nvPr/>
          </p:nvSpPr>
          <p:spPr>
            <a:xfrm>
              <a:off x="1882" y="2976"/>
              <a:ext cx="681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4314" name="直接连接符 497706"/>
            <p:cNvSpPr/>
            <p:nvPr/>
          </p:nvSpPr>
          <p:spPr>
            <a:xfrm flipH="1">
              <a:off x="2562" y="1751"/>
              <a:ext cx="1" cy="409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4315" name="直接连接符 497707"/>
            <p:cNvSpPr/>
            <p:nvPr/>
          </p:nvSpPr>
          <p:spPr>
            <a:xfrm flipH="1" flipV="1">
              <a:off x="2562" y="2523"/>
              <a:ext cx="1" cy="453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4316" name="椭圆 497708"/>
            <p:cNvSpPr/>
            <p:nvPr/>
          </p:nvSpPr>
          <p:spPr>
            <a:xfrm>
              <a:off x="1792" y="1706"/>
              <a:ext cx="90" cy="91"/>
            </a:xfrm>
            <a:prstGeom prst="ellipse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4317" name="文本框 497709"/>
            <p:cNvSpPr txBox="1"/>
            <p:nvPr/>
          </p:nvSpPr>
          <p:spPr>
            <a:xfrm>
              <a:off x="2154" y="1797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4318" name="文本框 497710"/>
            <p:cNvSpPr txBox="1"/>
            <p:nvPr/>
          </p:nvSpPr>
          <p:spPr>
            <a:xfrm>
              <a:off x="1701" y="2160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4319" name="文本框 497711"/>
            <p:cNvSpPr txBox="1"/>
            <p:nvPr/>
          </p:nvSpPr>
          <p:spPr>
            <a:xfrm>
              <a:off x="1792" y="1706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32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4320" name="文本框 497712"/>
            <p:cNvSpPr txBox="1"/>
            <p:nvPr/>
          </p:nvSpPr>
          <p:spPr>
            <a:xfrm>
              <a:off x="1792" y="2657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sz="32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4321" name="直接连接符 497713"/>
            <p:cNvSpPr/>
            <p:nvPr/>
          </p:nvSpPr>
          <p:spPr>
            <a:xfrm>
              <a:off x="2472" y="1842"/>
              <a:ext cx="0" cy="226"/>
            </a:xfrm>
            <a:prstGeom prst="line">
              <a:avLst/>
            </a:prstGeom>
            <a:ln w="28575" cap="sq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4322" name="文本框 497714"/>
            <p:cNvSpPr txBox="1"/>
            <p:nvPr/>
          </p:nvSpPr>
          <p:spPr>
            <a:xfrm>
              <a:off x="2200" y="2205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L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4323" name="椭圆 497715"/>
            <p:cNvSpPr/>
            <p:nvPr/>
          </p:nvSpPr>
          <p:spPr>
            <a:xfrm>
              <a:off x="1792" y="2930"/>
              <a:ext cx="90" cy="91"/>
            </a:xfrm>
            <a:prstGeom prst="ellipse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pSp>
          <p:nvGrpSpPr>
            <p:cNvPr id="54324" name="组合 497716"/>
            <p:cNvGrpSpPr/>
            <p:nvPr/>
          </p:nvGrpSpPr>
          <p:grpSpPr>
            <a:xfrm>
              <a:off x="2562" y="2160"/>
              <a:ext cx="91" cy="363"/>
              <a:chOff x="2744" y="2931"/>
              <a:chExt cx="57" cy="283"/>
            </a:xfrm>
          </p:grpSpPr>
          <p:sp>
            <p:nvSpPr>
              <p:cNvPr id="54325" name="任意多边形 497717"/>
              <p:cNvSpPr/>
              <p:nvPr/>
            </p:nvSpPr>
            <p:spPr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270">
                    <a:pos x="1123" y="0"/>
                  </a:cxn>
                  <a:cxn ang="90">
                    <a:pos x="0" y="43170"/>
                  </a:cxn>
                  <a:cxn ang="90">
                    <a:pos x="1123" y="21600"/>
                  </a:cxn>
                </a:cxnLst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4326" name="任意多边形 497718"/>
              <p:cNvSpPr/>
              <p:nvPr/>
            </p:nvSpPr>
            <p:spPr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270">
                    <a:pos x="1123" y="0"/>
                  </a:cxn>
                  <a:cxn ang="90">
                    <a:pos x="0" y="43170"/>
                  </a:cxn>
                  <a:cxn ang="90">
                    <a:pos x="1123" y="21600"/>
                  </a:cxn>
                </a:cxnLst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4327" name="任意多边形 497719"/>
              <p:cNvSpPr/>
              <p:nvPr/>
            </p:nvSpPr>
            <p:spPr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270">
                    <a:pos x="1123" y="0"/>
                  </a:cxn>
                  <a:cxn ang="90">
                    <a:pos x="0" y="43170"/>
                  </a:cxn>
                  <a:cxn ang="90">
                    <a:pos x="1123" y="21600"/>
                  </a:cxn>
                </a:cxnLst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graphicFrame>
        <p:nvGraphicFramePr>
          <p:cNvPr id="497721" name="对象 497720"/>
          <p:cNvGraphicFramePr/>
          <p:nvPr/>
        </p:nvGraphicFramePr>
        <p:xfrm>
          <a:off x="1116013" y="3068638"/>
          <a:ext cx="1833562" cy="107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name="" r:id="rId8" imgW="723900" imgH="457200" progId="Equation.3">
                  <p:embed/>
                </p:oleObj>
              </mc:Choice>
              <mc:Fallback>
                <p:oleObj name="" r:id="rId8" imgW="723900" imgH="457200" progId="Equation.3">
                  <p:embed/>
                  <p:pic>
                    <p:nvPicPr>
                      <p:cNvPr id="0" name="20 3148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16013" y="3068638"/>
                        <a:ext cx="1833562" cy="1071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97722" name="组合 497721"/>
          <p:cNvGrpSpPr/>
          <p:nvPr/>
        </p:nvGrpSpPr>
        <p:grpSpPr>
          <a:xfrm>
            <a:off x="5940425" y="1844675"/>
            <a:ext cx="1223963" cy="576263"/>
            <a:chOff x="2381" y="1298"/>
            <a:chExt cx="771" cy="363"/>
          </a:xfrm>
        </p:grpSpPr>
        <p:sp>
          <p:nvSpPr>
            <p:cNvPr id="54330" name="直接连接符 497722"/>
            <p:cNvSpPr/>
            <p:nvPr/>
          </p:nvSpPr>
          <p:spPr>
            <a:xfrm>
              <a:off x="2517" y="1661"/>
              <a:ext cx="545" cy="0"/>
            </a:xfrm>
            <a:prstGeom prst="line">
              <a:avLst/>
            </a:prstGeom>
            <a:ln w="76200" cap="sq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4331" name="文本框 497723"/>
            <p:cNvSpPr txBox="1"/>
            <p:nvPr/>
          </p:nvSpPr>
          <p:spPr>
            <a:xfrm>
              <a:off x="2381" y="1298"/>
              <a:ext cx="771" cy="288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chemeClr val="bg2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等效</a:t>
              </a:r>
              <a:endParaRPr lang="zh-CN" altLang="en-US" sz="240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497728" name="文本框 497727"/>
          <p:cNvSpPr txBox="1"/>
          <p:nvPr/>
        </p:nvSpPr>
        <p:spPr>
          <a:xfrm>
            <a:off x="827088" y="1327150"/>
            <a:ext cx="2520950" cy="547688"/>
          </a:xfrm>
          <a:prstGeom prst="rect">
            <a:avLst/>
          </a:prstGeom>
          <a:noFill/>
          <a:ln w="2857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eaLnBrk="0" hangingPunct="0">
              <a:spcBef>
                <a:spcPct val="5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等效电感</a:t>
            </a:r>
            <a:endParaRPr lang="zh-CN" altLang="en-US" dirty="0">
              <a:solidFill>
                <a:srgbClr val="FF99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54333" name="组合 497731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54334" name="20 497732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4335" name="文本框 497733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76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76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97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300" fill="hold"/>
                                        <p:tgtEl>
                                          <p:spTgt spid="497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300" fill="hold"/>
                                        <p:tgtEl>
                                          <p:spTgt spid="497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" dur="2000"/>
                                        <p:tgtEl>
                                          <p:spTgt spid="497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2000"/>
                                        <p:tgtEl>
                                          <p:spTgt spid="497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2000"/>
                                        <p:tgtEl>
                                          <p:spTgt spid="497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2000"/>
                                        <p:tgtEl>
                                          <p:spTgt spid="497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3" dur="500"/>
                                        <p:tgtEl>
                                          <p:spTgt spid="497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97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7666" grpId="0"/>
      <p:bldP spid="49772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98690" name="对象 498689"/>
          <p:cNvGraphicFramePr/>
          <p:nvPr/>
        </p:nvGraphicFramePr>
        <p:xfrm>
          <a:off x="1403350" y="1196975"/>
          <a:ext cx="4856163" cy="1160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name="" r:id="rId1" imgW="1917065" imgH="495300" progId="Equation.3">
                  <p:embed/>
                </p:oleObj>
              </mc:Choice>
              <mc:Fallback>
                <p:oleObj name="" r:id="rId1" imgW="1917065" imgH="495300" progId="Equation.3">
                  <p:embed/>
                  <p:pic>
                    <p:nvPicPr>
                      <p:cNvPr id="0" name="20 314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03350" y="1196975"/>
                        <a:ext cx="4856163" cy="1160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5298" name="组合 498690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5299" name="20 498691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5300" name="文本框 498692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5301" name="组合 498693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5302" name="20 498694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5303" name="文本框 498695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aphicFrame>
        <p:nvGraphicFramePr>
          <p:cNvPr id="498697" name="对象 498696"/>
          <p:cNvGraphicFramePr/>
          <p:nvPr/>
        </p:nvGraphicFramePr>
        <p:xfrm>
          <a:off x="1387475" y="2420938"/>
          <a:ext cx="4984750" cy="1160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" r:id="rId4" imgW="1967865" imgH="495300" progId="Equation.3">
                  <p:embed/>
                </p:oleObj>
              </mc:Choice>
              <mc:Fallback>
                <p:oleObj name="" r:id="rId4" imgW="1967865" imgH="495300" progId="Equation.3">
                  <p:embed/>
                  <p:pic>
                    <p:nvPicPr>
                      <p:cNvPr id="0" name="20 3149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87475" y="2420938"/>
                        <a:ext cx="4984750" cy="11604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5305" name="组合 498697"/>
          <p:cNvGrpSpPr/>
          <p:nvPr/>
        </p:nvGrpSpPr>
        <p:grpSpPr>
          <a:xfrm>
            <a:off x="1476375" y="3500438"/>
            <a:ext cx="2520950" cy="2813050"/>
            <a:chOff x="2290" y="2069"/>
            <a:chExt cx="1588" cy="1772"/>
          </a:xfrm>
        </p:grpSpPr>
        <p:sp>
          <p:nvSpPr>
            <p:cNvPr id="55306" name="直接连接符 498698"/>
            <p:cNvSpPr/>
            <p:nvPr/>
          </p:nvSpPr>
          <p:spPr>
            <a:xfrm>
              <a:off x="2562" y="2478"/>
              <a:ext cx="726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5307" name="直接连接符 498699"/>
            <p:cNvSpPr/>
            <p:nvPr/>
          </p:nvSpPr>
          <p:spPr>
            <a:xfrm>
              <a:off x="2562" y="3703"/>
              <a:ext cx="726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5308" name="直接连接符 498700"/>
            <p:cNvSpPr/>
            <p:nvPr/>
          </p:nvSpPr>
          <p:spPr>
            <a:xfrm>
              <a:off x="3288" y="2478"/>
              <a:ext cx="0" cy="136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5309" name="直接连接符 498701"/>
            <p:cNvSpPr/>
            <p:nvPr/>
          </p:nvSpPr>
          <p:spPr>
            <a:xfrm>
              <a:off x="3288" y="2977"/>
              <a:ext cx="0" cy="182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5310" name="直接连接符 498702"/>
            <p:cNvSpPr/>
            <p:nvPr/>
          </p:nvSpPr>
          <p:spPr>
            <a:xfrm flipV="1">
              <a:off x="3288" y="3521"/>
              <a:ext cx="0" cy="182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5311" name="椭圆 498703"/>
            <p:cNvSpPr/>
            <p:nvPr/>
          </p:nvSpPr>
          <p:spPr>
            <a:xfrm>
              <a:off x="2471" y="2433"/>
              <a:ext cx="90" cy="91"/>
            </a:xfrm>
            <a:prstGeom prst="ellipse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5312" name="椭圆 498704"/>
            <p:cNvSpPr/>
            <p:nvPr/>
          </p:nvSpPr>
          <p:spPr>
            <a:xfrm>
              <a:off x="2471" y="3657"/>
              <a:ext cx="90" cy="91"/>
            </a:xfrm>
            <a:prstGeom prst="ellipse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5313" name="文本框 498705"/>
            <p:cNvSpPr txBox="1"/>
            <p:nvPr/>
          </p:nvSpPr>
          <p:spPr>
            <a:xfrm>
              <a:off x="3424" y="2614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5314" name="文本框 498706"/>
            <p:cNvSpPr txBox="1"/>
            <p:nvPr/>
          </p:nvSpPr>
          <p:spPr>
            <a:xfrm>
              <a:off x="2290" y="2886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5315" name="文本框 498707"/>
            <p:cNvSpPr txBox="1"/>
            <p:nvPr/>
          </p:nvSpPr>
          <p:spPr>
            <a:xfrm>
              <a:off x="2789" y="3204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L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2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5316" name="文本框 498708"/>
            <p:cNvSpPr txBox="1"/>
            <p:nvPr/>
          </p:nvSpPr>
          <p:spPr>
            <a:xfrm>
              <a:off x="2744" y="2614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L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5317" name="文本框 498709"/>
            <p:cNvSpPr txBox="1"/>
            <p:nvPr/>
          </p:nvSpPr>
          <p:spPr>
            <a:xfrm>
              <a:off x="3424" y="3204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2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5318" name="直接连接符 498710"/>
            <p:cNvSpPr/>
            <p:nvPr/>
          </p:nvSpPr>
          <p:spPr>
            <a:xfrm>
              <a:off x="2653" y="2433"/>
              <a:ext cx="317" cy="0"/>
            </a:xfrm>
            <a:prstGeom prst="line">
              <a:avLst/>
            </a:prstGeom>
            <a:ln w="28575" cap="sq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5319" name="文本框 498711"/>
            <p:cNvSpPr txBox="1"/>
            <p:nvPr/>
          </p:nvSpPr>
          <p:spPr>
            <a:xfrm>
              <a:off x="3469" y="2977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32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5320" name="文本框 498712"/>
            <p:cNvSpPr txBox="1"/>
            <p:nvPr/>
          </p:nvSpPr>
          <p:spPr>
            <a:xfrm>
              <a:off x="3469" y="2387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32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5321" name="文本框 498713"/>
            <p:cNvSpPr txBox="1"/>
            <p:nvPr/>
          </p:nvSpPr>
          <p:spPr>
            <a:xfrm>
              <a:off x="2426" y="2433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32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5322" name="文本框 498714"/>
            <p:cNvSpPr txBox="1"/>
            <p:nvPr/>
          </p:nvSpPr>
          <p:spPr>
            <a:xfrm>
              <a:off x="3469" y="2839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sz="32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5323" name="文本框 498715"/>
            <p:cNvSpPr txBox="1"/>
            <p:nvPr/>
          </p:nvSpPr>
          <p:spPr>
            <a:xfrm>
              <a:off x="3469" y="3476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sz="32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5324" name="文本框 498716"/>
            <p:cNvSpPr txBox="1"/>
            <p:nvPr/>
          </p:nvSpPr>
          <p:spPr>
            <a:xfrm>
              <a:off x="2562" y="2069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grpSp>
          <p:nvGrpSpPr>
            <p:cNvPr id="55325" name="组合 498717"/>
            <p:cNvGrpSpPr/>
            <p:nvPr/>
          </p:nvGrpSpPr>
          <p:grpSpPr>
            <a:xfrm>
              <a:off x="3288" y="3158"/>
              <a:ext cx="91" cy="363"/>
              <a:chOff x="2744" y="2931"/>
              <a:chExt cx="57" cy="283"/>
            </a:xfrm>
          </p:grpSpPr>
          <p:sp>
            <p:nvSpPr>
              <p:cNvPr id="55326" name="任意多边形 498718"/>
              <p:cNvSpPr/>
              <p:nvPr/>
            </p:nvSpPr>
            <p:spPr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270">
                    <a:pos x="1123" y="0"/>
                  </a:cxn>
                  <a:cxn ang="90">
                    <a:pos x="0" y="43170"/>
                  </a:cxn>
                  <a:cxn ang="90">
                    <a:pos x="1123" y="21600"/>
                  </a:cxn>
                </a:cxnLst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5327" name="任意多边形 498719"/>
              <p:cNvSpPr/>
              <p:nvPr/>
            </p:nvSpPr>
            <p:spPr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270">
                    <a:pos x="1123" y="0"/>
                  </a:cxn>
                  <a:cxn ang="90">
                    <a:pos x="0" y="43170"/>
                  </a:cxn>
                  <a:cxn ang="90">
                    <a:pos x="1123" y="21600"/>
                  </a:cxn>
                </a:cxnLst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5328" name="任意多边形 498720"/>
              <p:cNvSpPr/>
              <p:nvPr/>
            </p:nvSpPr>
            <p:spPr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270">
                    <a:pos x="1123" y="0"/>
                  </a:cxn>
                  <a:cxn ang="90">
                    <a:pos x="0" y="43170"/>
                  </a:cxn>
                  <a:cxn ang="90">
                    <a:pos x="1123" y="21600"/>
                  </a:cxn>
                </a:cxnLst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55329" name="组合 498721"/>
            <p:cNvGrpSpPr/>
            <p:nvPr/>
          </p:nvGrpSpPr>
          <p:grpSpPr>
            <a:xfrm>
              <a:off x="3288" y="2614"/>
              <a:ext cx="91" cy="363"/>
              <a:chOff x="2744" y="2931"/>
              <a:chExt cx="57" cy="283"/>
            </a:xfrm>
          </p:grpSpPr>
          <p:sp>
            <p:nvSpPr>
              <p:cNvPr id="55330" name="任意多边形 498722"/>
              <p:cNvSpPr/>
              <p:nvPr/>
            </p:nvSpPr>
            <p:spPr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270">
                    <a:pos x="1123" y="0"/>
                  </a:cxn>
                  <a:cxn ang="90">
                    <a:pos x="0" y="43170"/>
                  </a:cxn>
                  <a:cxn ang="90">
                    <a:pos x="1123" y="21600"/>
                  </a:cxn>
                </a:cxnLst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5331" name="任意多边形 498723"/>
              <p:cNvSpPr/>
              <p:nvPr/>
            </p:nvSpPr>
            <p:spPr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270">
                    <a:pos x="1123" y="0"/>
                  </a:cxn>
                  <a:cxn ang="90">
                    <a:pos x="0" y="43170"/>
                  </a:cxn>
                  <a:cxn ang="90">
                    <a:pos x="1123" y="21600"/>
                  </a:cxn>
                </a:cxnLst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5332" name="任意多边形 498724"/>
              <p:cNvSpPr/>
              <p:nvPr/>
            </p:nvSpPr>
            <p:spPr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270">
                    <a:pos x="1123" y="0"/>
                  </a:cxn>
                  <a:cxn ang="90">
                    <a:pos x="0" y="43170"/>
                  </a:cxn>
                  <a:cxn ang="90">
                    <a:pos x="1123" y="21600"/>
                  </a:cxn>
                </a:cxnLst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grpSp>
        <p:nvGrpSpPr>
          <p:cNvPr id="55333" name="组合 498725"/>
          <p:cNvGrpSpPr/>
          <p:nvPr/>
        </p:nvGrpSpPr>
        <p:grpSpPr>
          <a:xfrm>
            <a:off x="5435600" y="4076700"/>
            <a:ext cx="1512888" cy="2089150"/>
            <a:chOff x="1701" y="1706"/>
            <a:chExt cx="953" cy="1316"/>
          </a:xfrm>
        </p:grpSpPr>
        <p:sp>
          <p:nvSpPr>
            <p:cNvPr id="55334" name="直接连接符 498726"/>
            <p:cNvSpPr/>
            <p:nvPr/>
          </p:nvSpPr>
          <p:spPr>
            <a:xfrm>
              <a:off x="1882" y="1752"/>
              <a:ext cx="681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5335" name="直接连接符 498727"/>
            <p:cNvSpPr/>
            <p:nvPr/>
          </p:nvSpPr>
          <p:spPr>
            <a:xfrm>
              <a:off x="1882" y="2976"/>
              <a:ext cx="681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5336" name="直接连接符 498728"/>
            <p:cNvSpPr/>
            <p:nvPr/>
          </p:nvSpPr>
          <p:spPr>
            <a:xfrm flipH="1">
              <a:off x="2562" y="1751"/>
              <a:ext cx="1" cy="409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5337" name="直接连接符 498729"/>
            <p:cNvSpPr/>
            <p:nvPr/>
          </p:nvSpPr>
          <p:spPr>
            <a:xfrm flipH="1" flipV="1">
              <a:off x="2562" y="2523"/>
              <a:ext cx="1" cy="453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5338" name="椭圆 498730"/>
            <p:cNvSpPr/>
            <p:nvPr/>
          </p:nvSpPr>
          <p:spPr>
            <a:xfrm>
              <a:off x="1792" y="1706"/>
              <a:ext cx="90" cy="91"/>
            </a:xfrm>
            <a:prstGeom prst="ellipse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5339" name="文本框 498731"/>
            <p:cNvSpPr txBox="1"/>
            <p:nvPr/>
          </p:nvSpPr>
          <p:spPr>
            <a:xfrm>
              <a:off x="2154" y="1797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5340" name="文本框 498732"/>
            <p:cNvSpPr txBox="1"/>
            <p:nvPr/>
          </p:nvSpPr>
          <p:spPr>
            <a:xfrm>
              <a:off x="1701" y="2160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5341" name="文本框 498733"/>
            <p:cNvSpPr txBox="1"/>
            <p:nvPr/>
          </p:nvSpPr>
          <p:spPr>
            <a:xfrm>
              <a:off x="1792" y="1706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32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5342" name="文本框 498734"/>
            <p:cNvSpPr txBox="1"/>
            <p:nvPr/>
          </p:nvSpPr>
          <p:spPr>
            <a:xfrm>
              <a:off x="1792" y="2657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sz="32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5343" name="直接连接符 498735"/>
            <p:cNvSpPr/>
            <p:nvPr/>
          </p:nvSpPr>
          <p:spPr>
            <a:xfrm>
              <a:off x="2472" y="1842"/>
              <a:ext cx="0" cy="226"/>
            </a:xfrm>
            <a:prstGeom prst="line">
              <a:avLst/>
            </a:prstGeom>
            <a:ln w="28575" cap="sq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5344" name="文本框 498736"/>
            <p:cNvSpPr txBox="1"/>
            <p:nvPr/>
          </p:nvSpPr>
          <p:spPr>
            <a:xfrm>
              <a:off x="2200" y="2205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L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5345" name="椭圆 498737"/>
            <p:cNvSpPr/>
            <p:nvPr/>
          </p:nvSpPr>
          <p:spPr>
            <a:xfrm>
              <a:off x="1792" y="2930"/>
              <a:ext cx="90" cy="91"/>
            </a:xfrm>
            <a:prstGeom prst="ellipse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pSp>
          <p:nvGrpSpPr>
            <p:cNvPr id="55346" name="组合 498738"/>
            <p:cNvGrpSpPr/>
            <p:nvPr/>
          </p:nvGrpSpPr>
          <p:grpSpPr>
            <a:xfrm>
              <a:off x="2562" y="2160"/>
              <a:ext cx="91" cy="363"/>
              <a:chOff x="2744" y="2931"/>
              <a:chExt cx="57" cy="283"/>
            </a:xfrm>
          </p:grpSpPr>
          <p:sp>
            <p:nvSpPr>
              <p:cNvPr id="55347" name="任意多边形 498739"/>
              <p:cNvSpPr/>
              <p:nvPr/>
            </p:nvSpPr>
            <p:spPr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270">
                    <a:pos x="1123" y="0"/>
                  </a:cxn>
                  <a:cxn ang="90">
                    <a:pos x="0" y="43170"/>
                  </a:cxn>
                  <a:cxn ang="90">
                    <a:pos x="1123" y="21600"/>
                  </a:cxn>
                </a:cxnLst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5348" name="任意多边形 498740"/>
              <p:cNvSpPr/>
              <p:nvPr/>
            </p:nvSpPr>
            <p:spPr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270">
                    <a:pos x="1123" y="0"/>
                  </a:cxn>
                  <a:cxn ang="90">
                    <a:pos x="0" y="43170"/>
                  </a:cxn>
                  <a:cxn ang="90">
                    <a:pos x="1123" y="21600"/>
                  </a:cxn>
                </a:cxnLst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5349" name="任意多边形 498741"/>
              <p:cNvSpPr/>
              <p:nvPr/>
            </p:nvSpPr>
            <p:spPr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270">
                    <a:pos x="1123" y="0"/>
                  </a:cxn>
                  <a:cxn ang="90">
                    <a:pos x="0" y="43170"/>
                  </a:cxn>
                  <a:cxn ang="90">
                    <a:pos x="1123" y="21600"/>
                  </a:cxn>
                </a:cxnLst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grpSp>
        <p:nvGrpSpPr>
          <p:cNvPr id="55350" name="组合 498742"/>
          <p:cNvGrpSpPr/>
          <p:nvPr/>
        </p:nvGrpSpPr>
        <p:grpSpPr>
          <a:xfrm>
            <a:off x="3995738" y="4652963"/>
            <a:ext cx="1223962" cy="576262"/>
            <a:chOff x="2381" y="1298"/>
            <a:chExt cx="771" cy="363"/>
          </a:xfrm>
        </p:grpSpPr>
        <p:sp>
          <p:nvSpPr>
            <p:cNvPr id="55351" name="直接连接符 498743"/>
            <p:cNvSpPr/>
            <p:nvPr/>
          </p:nvSpPr>
          <p:spPr>
            <a:xfrm>
              <a:off x="2517" y="1661"/>
              <a:ext cx="545" cy="0"/>
            </a:xfrm>
            <a:prstGeom prst="line">
              <a:avLst/>
            </a:prstGeom>
            <a:ln w="76200" cap="sq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5352" name="文本框 498744"/>
            <p:cNvSpPr txBox="1"/>
            <p:nvPr/>
          </p:nvSpPr>
          <p:spPr>
            <a:xfrm>
              <a:off x="2381" y="1298"/>
              <a:ext cx="771" cy="288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chemeClr val="bg2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等效</a:t>
              </a:r>
              <a:endParaRPr lang="zh-CN" altLang="en-US" sz="240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498746" name="文本框 498745"/>
          <p:cNvSpPr txBox="1"/>
          <p:nvPr/>
        </p:nvSpPr>
        <p:spPr>
          <a:xfrm>
            <a:off x="755650" y="606425"/>
            <a:ext cx="3311525" cy="547688"/>
          </a:xfrm>
          <a:prstGeom prst="rect">
            <a:avLst/>
          </a:prstGeom>
          <a:noFill/>
          <a:ln w="2857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eaLnBrk="0" hangingPunct="0">
              <a:spcBef>
                <a:spcPct val="5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串联电感的分压</a:t>
            </a:r>
            <a:endParaRPr lang="zh-CN" altLang="en-US" dirty="0">
              <a:solidFill>
                <a:srgbClr val="FF99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55354" name="组合 498749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55355" name="20 498750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5356" name="文本框 498751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498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498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2000"/>
                                        <p:tgtEl>
                                          <p:spTgt spid="498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2000"/>
                                        <p:tgtEl>
                                          <p:spTgt spid="498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874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99714" name="对象 499713"/>
          <p:cNvGraphicFramePr/>
          <p:nvPr/>
        </p:nvGraphicFramePr>
        <p:xfrm>
          <a:off x="827088" y="1916113"/>
          <a:ext cx="2663825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1" name="" r:id="rId1" imgW="1167765" imgH="495300" progId="Equation.3">
                  <p:embed/>
                </p:oleObj>
              </mc:Choice>
              <mc:Fallback>
                <p:oleObj name="" r:id="rId1" imgW="1167765" imgH="495300" progId="Equation.3">
                  <p:embed/>
                  <p:pic>
                    <p:nvPicPr>
                      <p:cNvPr id="0" name="20 315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27088" y="1916113"/>
                        <a:ext cx="2663825" cy="1044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6322" name="组合 499714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6323" name="20 499715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6324" name="文本框 499716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6325" name="组合 499717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6326" name="20 499718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6327" name="文本框 499719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99721" name="组合 499720"/>
          <p:cNvGrpSpPr/>
          <p:nvPr/>
        </p:nvGrpSpPr>
        <p:grpSpPr>
          <a:xfrm>
            <a:off x="3851275" y="1125538"/>
            <a:ext cx="2449513" cy="2089150"/>
            <a:chOff x="3923" y="981"/>
            <a:chExt cx="1543" cy="1316"/>
          </a:xfrm>
        </p:grpSpPr>
        <p:sp>
          <p:nvSpPr>
            <p:cNvPr id="56329" name="直接连接符 499721"/>
            <p:cNvSpPr/>
            <p:nvPr/>
          </p:nvSpPr>
          <p:spPr>
            <a:xfrm>
              <a:off x="4104" y="1027"/>
              <a:ext cx="1271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6330" name="直接连接符 499722"/>
            <p:cNvSpPr/>
            <p:nvPr/>
          </p:nvSpPr>
          <p:spPr>
            <a:xfrm>
              <a:off x="4104" y="2251"/>
              <a:ext cx="1271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6331" name="直接连接符 499723"/>
            <p:cNvSpPr/>
            <p:nvPr/>
          </p:nvSpPr>
          <p:spPr>
            <a:xfrm flipH="1">
              <a:off x="4784" y="1026"/>
              <a:ext cx="1" cy="409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6332" name="直接连接符 499724"/>
            <p:cNvSpPr/>
            <p:nvPr/>
          </p:nvSpPr>
          <p:spPr>
            <a:xfrm flipH="1" flipV="1">
              <a:off x="4784" y="1798"/>
              <a:ext cx="1" cy="453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6333" name="椭圆 499725"/>
            <p:cNvSpPr/>
            <p:nvPr/>
          </p:nvSpPr>
          <p:spPr>
            <a:xfrm>
              <a:off x="4014" y="981"/>
              <a:ext cx="90" cy="91"/>
            </a:xfrm>
            <a:prstGeom prst="ellipse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6334" name="文本框 499726"/>
            <p:cNvSpPr txBox="1"/>
            <p:nvPr/>
          </p:nvSpPr>
          <p:spPr>
            <a:xfrm>
              <a:off x="3923" y="1435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6335" name="文本框 499727"/>
            <p:cNvSpPr txBox="1"/>
            <p:nvPr/>
          </p:nvSpPr>
          <p:spPr>
            <a:xfrm>
              <a:off x="4014" y="981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32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6336" name="文本框 499728"/>
            <p:cNvSpPr txBox="1"/>
            <p:nvPr/>
          </p:nvSpPr>
          <p:spPr>
            <a:xfrm>
              <a:off x="4014" y="1932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sz="32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6337" name="直接连接符 499729"/>
            <p:cNvSpPr/>
            <p:nvPr/>
          </p:nvSpPr>
          <p:spPr>
            <a:xfrm>
              <a:off x="4694" y="1117"/>
              <a:ext cx="0" cy="226"/>
            </a:xfrm>
            <a:prstGeom prst="line">
              <a:avLst/>
            </a:prstGeom>
            <a:ln w="28575" cap="sq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6338" name="文本框 499730"/>
            <p:cNvSpPr txBox="1"/>
            <p:nvPr/>
          </p:nvSpPr>
          <p:spPr>
            <a:xfrm>
              <a:off x="4422" y="1480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L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6339" name="椭圆 499731"/>
            <p:cNvSpPr/>
            <p:nvPr/>
          </p:nvSpPr>
          <p:spPr>
            <a:xfrm>
              <a:off x="4014" y="2205"/>
              <a:ext cx="90" cy="91"/>
            </a:xfrm>
            <a:prstGeom prst="ellipse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pSp>
          <p:nvGrpSpPr>
            <p:cNvPr id="56340" name="组合 499732"/>
            <p:cNvGrpSpPr/>
            <p:nvPr/>
          </p:nvGrpSpPr>
          <p:grpSpPr>
            <a:xfrm>
              <a:off x="4784" y="1435"/>
              <a:ext cx="91" cy="363"/>
              <a:chOff x="2744" y="2931"/>
              <a:chExt cx="57" cy="283"/>
            </a:xfrm>
          </p:grpSpPr>
          <p:sp>
            <p:nvSpPr>
              <p:cNvPr id="56341" name="任意多边形 499733"/>
              <p:cNvSpPr/>
              <p:nvPr/>
            </p:nvSpPr>
            <p:spPr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270">
                    <a:pos x="1123" y="0"/>
                  </a:cxn>
                  <a:cxn ang="90">
                    <a:pos x="0" y="43170"/>
                  </a:cxn>
                  <a:cxn ang="90">
                    <a:pos x="1123" y="21600"/>
                  </a:cxn>
                </a:cxnLst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6342" name="任意多边形 499734"/>
              <p:cNvSpPr/>
              <p:nvPr/>
            </p:nvSpPr>
            <p:spPr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270">
                    <a:pos x="1123" y="0"/>
                  </a:cxn>
                  <a:cxn ang="90">
                    <a:pos x="0" y="43170"/>
                  </a:cxn>
                  <a:cxn ang="90">
                    <a:pos x="1123" y="21600"/>
                  </a:cxn>
                </a:cxnLst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6343" name="任意多边形 499735"/>
              <p:cNvSpPr/>
              <p:nvPr/>
            </p:nvSpPr>
            <p:spPr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270">
                    <a:pos x="1123" y="0"/>
                  </a:cxn>
                  <a:cxn ang="90">
                    <a:pos x="0" y="43170"/>
                  </a:cxn>
                  <a:cxn ang="90">
                    <a:pos x="1123" y="21600"/>
                  </a:cxn>
                </a:cxnLst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56344" name="直接连接符 499736"/>
            <p:cNvSpPr/>
            <p:nvPr/>
          </p:nvSpPr>
          <p:spPr>
            <a:xfrm flipH="1">
              <a:off x="5374" y="1026"/>
              <a:ext cx="1" cy="409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6345" name="直接连接符 499737"/>
            <p:cNvSpPr/>
            <p:nvPr/>
          </p:nvSpPr>
          <p:spPr>
            <a:xfrm flipH="1" flipV="1">
              <a:off x="5374" y="1798"/>
              <a:ext cx="1" cy="453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6346" name="直接连接符 499738"/>
            <p:cNvSpPr/>
            <p:nvPr/>
          </p:nvSpPr>
          <p:spPr>
            <a:xfrm>
              <a:off x="5284" y="1117"/>
              <a:ext cx="0" cy="226"/>
            </a:xfrm>
            <a:prstGeom prst="line">
              <a:avLst/>
            </a:prstGeom>
            <a:ln w="28575" cap="sq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pSp>
          <p:nvGrpSpPr>
            <p:cNvPr id="56347" name="组合 499739"/>
            <p:cNvGrpSpPr/>
            <p:nvPr/>
          </p:nvGrpSpPr>
          <p:grpSpPr>
            <a:xfrm>
              <a:off x="5374" y="1435"/>
              <a:ext cx="91" cy="363"/>
              <a:chOff x="2744" y="2931"/>
              <a:chExt cx="57" cy="283"/>
            </a:xfrm>
          </p:grpSpPr>
          <p:sp>
            <p:nvSpPr>
              <p:cNvPr id="56348" name="任意多边形 499740"/>
              <p:cNvSpPr/>
              <p:nvPr/>
            </p:nvSpPr>
            <p:spPr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270">
                    <a:pos x="1123" y="0"/>
                  </a:cxn>
                  <a:cxn ang="90">
                    <a:pos x="0" y="43170"/>
                  </a:cxn>
                  <a:cxn ang="90">
                    <a:pos x="1123" y="21600"/>
                  </a:cxn>
                </a:cxnLst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6349" name="任意多边形 499741"/>
              <p:cNvSpPr/>
              <p:nvPr/>
            </p:nvSpPr>
            <p:spPr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270">
                    <a:pos x="1123" y="0"/>
                  </a:cxn>
                  <a:cxn ang="90">
                    <a:pos x="0" y="43170"/>
                  </a:cxn>
                  <a:cxn ang="90">
                    <a:pos x="1123" y="21600"/>
                  </a:cxn>
                </a:cxnLst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6350" name="任意多边形 499742"/>
              <p:cNvSpPr/>
              <p:nvPr/>
            </p:nvSpPr>
            <p:spPr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270">
                    <a:pos x="1123" y="0"/>
                  </a:cxn>
                  <a:cxn ang="90">
                    <a:pos x="0" y="43170"/>
                  </a:cxn>
                  <a:cxn ang="90">
                    <a:pos x="1123" y="21600"/>
                  </a:cxn>
                </a:cxnLst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56351" name="文本框 499743"/>
            <p:cNvSpPr txBox="1"/>
            <p:nvPr/>
          </p:nvSpPr>
          <p:spPr>
            <a:xfrm>
              <a:off x="5012" y="1480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L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2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6352" name="文本框 499744"/>
            <p:cNvSpPr txBox="1"/>
            <p:nvPr/>
          </p:nvSpPr>
          <p:spPr>
            <a:xfrm>
              <a:off x="4921" y="1026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2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6353" name="文本框 499745"/>
            <p:cNvSpPr txBox="1"/>
            <p:nvPr/>
          </p:nvSpPr>
          <p:spPr>
            <a:xfrm>
              <a:off x="4332" y="1026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499747" name="组合 499746"/>
          <p:cNvGrpSpPr/>
          <p:nvPr/>
        </p:nvGrpSpPr>
        <p:grpSpPr>
          <a:xfrm>
            <a:off x="7308850" y="981075"/>
            <a:ext cx="1512888" cy="2089150"/>
            <a:chOff x="1701" y="1706"/>
            <a:chExt cx="953" cy="1316"/>
          </a:xfrm>
        </p:grpSpPr>
        <p:sp>
          <p:nvSpPr>
            <p:cNvPr id="56355" name="直接连接符 499747"/>
            <p:cNvSpPr/>
            <p:nvPr/>
          </p:nvSpPr>
          <p:spPr>
            <a:xfrm>
              <a:off x="1882" y="1752"/>
              <a:ext cx="681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6356" name="直接连接符 499748"/>
            <p:cNvSpPr/>
            <p:nvPr/>
          </p:nvSpPr>
          <p:spPr>
            <a:xfrm>
              <a:off x="1882" y="2976"/>
              <a:ext cx="681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6357" name="直接连接符 499749"/>
            <p:cNvSpPr/>
            <p:nvPr/>
          </p:nvSpPr>
          <p:spPr>
            <a:xfrm flipH="1">
              <a:off x="2562" y="1751"/>
              <a:ext cx="1" cy="409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6358" name="直接连接符 499750"/>
            <p:cNvSpPr/>
            <p:nvPr/>
          </p:nvSpPr>
          <p:spPr>
            <a:xfrm flipH="1" flipV="1">
              <a:off x="2562" y="2523"/>
              <a:ext cx="1" cy="453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6359" name="椭圆 499751"/>
            <p:cNvSpPr/>
            <p:nvPr/>
          </p:nvSpPr>
          <p:spPr>
            <a:xfrm>
              <a:off x="1792" y="1706"/>
              <a:ext cx="90" cy="91"/>
            </a:xfrm>
            <a:prstGeom prst="ellipse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6360" name="文本框 499752"/>
            <p:cNvSpPr txBox="1"/>
            <p:nvPr/>
          </p:nvSpPr>
          <p:spPr>
            <a:xfrm>
              <a:off x="2154" y="1797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6361" name="文本框 499753"/>
            <p:cNvSpPr txBox="1"/>
            <p:nvPr/>
          </p:nvSpPr>
          <p:spPr>
            <a:xfrm>
              <a:off x="1701" y="2160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6362" name="文本框 499754"/>
            <p:cNvSpPr txBox="1"/>
            <p:nvPr/>
          </p:nvSpPr>
          <p:spPr>
            <a:xfrm>
              <a:off x="1792" y="1706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32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6363" name="文本框 499755"/>
            <p:cNvSpPr txBox="1"/>
            <p:nvPr/>
          </p:nvSpPr>
          <p:spPr>
            <a:xfrm>
              <a:off x="1792" y="2657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sz="32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6364" name="直接连接符 499756"/>
            <p:cNvSpPr/>
            <p:nvPr/>
          </p:nvSpPr>
          <p:spPr>
            <a:xfrm>
              <a:off x="2472" y="1842"/>
              <a:ext cx="0" cy="226"/>
            </a:xfrm>
            <a:prstGeom prst="line">
              <a:avLst/>
            </a:prstGeom>
            <a:ln w="28575" cap="sq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6365" name="文本框 499757"/>
            <p:cNvSpPr txBox="1"/>
            <p:nvPr/>
          </p:nvSpPr>
          <p:spPr>
            <a:xfrm>
              <a:off x="2200" y="2205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L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6366" name="椭圆 499758"/>
            <p:cNvSpPr/>
            <p:nvPr/>
          </p:nvSpPr>
          <p:spPr>
            <a:xfrm>
              <a:off x="1792" y="2930"/>
              <a:ext cx="90" cy="91"/>
            </a:xfrm>
            <a:prstGeom prst="ellipse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pSp>
          <p:nvGrpSpPr>
            <p:cNvPr id="56367" name="组合 499759"/>
            <p:cNvGrpSpPr/>
            <p:nvPr/>
          </p:nvGrpSpPr>
          <p:grpSpPr>
            <a:xfrm>
              <a:off x="2562" y="2160"/>
              <a:ext cx="91" cy="363"/>
              <a:chOff x="2744" y="2931"/>
              <a:chExt cx="57" cy="283"/>
            </a:xfrm>
          </p:grpSpPr>
          <p:sp>
            <p:nvSpPr>
              <p:cNvPr id="56368" name="任意多边形 499760"/>
              <p:cNvSpPr/>
              <p:nvPr/>
            </p:nvSpPr>
            <p:spPr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270">
                    <a:pos x="1123" y="0"/>
                  </a:cxn>
                  <a:cxn ang="90">
                    <a:pos x="0" y="43170"/>
                  </a:cxn>
                  <a:cxn ang="90">
                    <a:pos x="1123" y="21600"/>
                  </a:cxn>
                </a:cxnLst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6369" name="任意多边形 499761"/>
              <p:cNvSpPr/>
              <p:nvPr/>
            </p:nvSpPr>
            <p:spPr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270">
                    <a:pos x="1123" y="0"/>
                  </a:cxn>
                  <a:cxn ang="90">
                    <a:pos x="0" y="43170"/>
                  </a:cxn>
                  <a:cxn ang="90">
                    <a:pos x="1123" y="21600"/>
                  </a:cxn>
                </a:cxnLst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6370" name="任意多边形 499762"/>
              <p:cNvSpPr/>
              <p:nvPr/>
            </p:nvSpPr>
            <p:spPr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270">
                    <a:pos x="1123" y="0"/>
                  </a:cxn>
                  <a:cxn ang="90">
                    <a:pos x="0" y="43170"/>
                  </a:cxn>
                  <a:cxn ang="90">
                    <a:pos x="1123" y="21600"/>
                  </a:cxn>
                </a:cxnLst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grpSp>
        <p:nvGrpSpPr>
          <p:cNvPr id="499764" name="组合 499763"/>
          <p:cNvGrpSpPr/>
          <p:nvPr/>
        </p:nvGrpSpPr>
        <p:grpSpPr>
          <a:xfrm>
            <a:off x="6227763" y="1700213"/>
            <a:ext cx="1223962" cy="647700"/>
            <a:chOff x="3470" y="2840"/>
            <a:chExt cx="771" cy="408"/>
          </a:xfrm>
        </p:grpSpPr>
        <p:sp>
          <p:nvSpPr>
            <p:cNvPr id="56372" name="直接连接符 499764"/>
            <p:cNvSpPr/>
            <p:nvPr/>
          </p:nvSpPr>
          <p:spPr>
            <a:xfrm>
              <a:off x="3605" y="3248"/>
              <a:ext cx="545" cy="0"/>
            </a:xfrm>
            <a:prstGeom prst="line">
              <a:avLst/>
            </a:prstGeom>
            <a:ln w="76200" cap="sq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6373" name="文本框 499765"/>
            <p:cNvSpPr txBox="1"/>
            <p:nvPr/>
          </p:nvSpPr>
          <p:spPr>
            <a:xfrm>
              <a:off x="3470" y="2840"/>
              <a:ext cx="771" cy="288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chemeClr val="bg2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等效</a:t>
              </a:r>
              <a:endParaRPr lang="zh-CN" altLang="en-US" sz="240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</p:grpSp>
      <p:graphicFrame>
        <p:nvGraphicFramePr>
          <p:cNvPr id="499767" name="对象 499766"/>
          <p:cNvGraphicFramePr/>
          <p:nvPr/>
        </p:nvGraphicFramePr>
        <p:xfrm>
          <a:off x="827088" y="2997200"/>
          <a:ext cx="2951162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2" name="" r:id="rId4" imgW="1205865" imgH="495300" progId="Equation.3">
                  <p:embed/>
                </p:oleObj>
              </mc:Choice>
              <mc:Fallback>
                <p:oleObj name="" r:id="rId4" imgW="1205865" imgH="495300" progId="Equation.3">
                  <p:embed/>
                  <p:pic>
                    <p:nvPicPr>
                      <p:cNvPr id="0" name="20 3151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27088" y="2997200"/>
                        <a:ext cx="2951162" cy="1120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9768" name="对象 499767"/>
          <p:cNvGraphicFramePr/>
          <p:nvPr/>
        </p:nvGraphicFramePr>
        <p:xfrm>
          <a:off x="539750" y="3860800"/>
          <a:ext cx="5467350" cy="127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3" name="" r:id="rId6" imgW="2158365" imgH="546100" progId="Equation.3">
                  <p:embed/>
                </p:oleObj>
              </mc:Choice>
              <mc:Fallback>
                <p:oleObj name="" r:id="rId6" imgW="2158365" imgH="546100" progId="Equation.3">
                  <p:embed/>
                  <p:pic>
                    <p:nvPicPr>
                      <p:cNvPr id="0" name="20 3152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9750" y="3860800"/>
                        <a:ext cx="5467350" cy="1279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9769" name="对象 499768"/>
          <p:cNvGraphicFramePr/>
          <p:nvPr/>
        </p:nvGraphicFramePr>
        <p:xfrm>
          <a:off x="6084888" y="4005263"/>
          <a:ext cx="2573337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" r:id="rId8" imgW="1015365" imgH="444500" progId="Equation.3">
                  <p:embed/>
                </p:oleObj>
              </mc:Choice>
              <mc:Fallback>
                <p:oleObj name="" r:id="rId8" imgW="1015365" imgH="444500" progId="Equation.3">
                  <p:embed/>
                  <p:pic>
                    <p:nvPicPr>
                      <p:cNvPr id="0" name="20 3127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84888" y="4005263"/>
                        <a:ext cx="2573337" cy="1041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9770" name="对象 499769"/>
          <p:cNvGraphicFramePr/>
          <p:nvPr/>
        </p:nvGraphicFramePr>
        <p:xfrm>
          <a:off x="1476375" y="5229225"/>
          <a:ext cx="4662488" cy="127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10" imgW="1840865" imgH="546100" progId="Equation.3">
                  <p:embed/>
                </p:oleObj>
              </mc:Choice>
              <mc:Fallback>
                <p:oleObj name="" r:id="rId10" imgW="1840865" imgH="546100" progId="Equation.3">
                  <p:embed/>
                  <p:pic>
                    <p:nvPicPr>
                      <p:cNvPr id="0" name="20 3126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990033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76375" y="5229225"/>
                        <a:ext cx="4662488" cy="12795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0099FF"/>
                          </a:gs>
                          <a:gs pos="50000">
                            <a:schemeClr val="tx2"/>
                          </a:gs>
                          <a:gs pos="100000">
                            <a:srgbClr val="0099FF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9771" name="文本框 499770"/>
          <p:cNvSpPr txBox="1"/>
          <p:nvPr/>
        </p:nvSpPr>
        <p:spPr>
          <a:xfrm>
            <a:off x="611188" y="620713"/>
            <a:ext cx="403225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4.</a:t>
            </a:r>
            <a:r>
              <a:rPr lang="zh-CN" altLang="en-US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电感的并联</a:t>
            </a:r>
            <a:endParaRPr lang="zh-CN" altLang="en-US" sz="32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499772" name="文本框 499771"/>
          <p:cNvSpPr txBox="1"/>
          <p:nvPr/>
        </p:nvSpPr>
        <p:spPr>
          <a:xfrm>
            <a:off x="684213" y="1327150"/>
            <a:ext cx="2663825" cy="547688"/>
          </a:xfrm>
          <a:prstGeom prst="rect">
            <a:avLst/>
          </a:prstGeom>
          <a:noFill/>
          <a:ln w="2857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eaLnBrk="0" hangingPunct="0">
              <a:spcBef>
                <a:spcPct val="5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等效电感</a:t>
            </a:r>
            <a:endParaRPr lang="zh-CN" altLang="en-US" dirty="0">
              <a:solidFill>
                <a:srgbClr val="FF99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56380" name="组合 499775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56381" name="20 499776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6382" name="文本框 499777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97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97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99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300" fill="hold"/>
                                        <p:tgtEl>
                                          <p:spTgt spid="499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300" fill="hold"/>
                                        <p:tgtEl>
                                          <p:spTgt spid="499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99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99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99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99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99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9" dur="500"/>
                                        <p:tgtEl>
                                          <p:spTgt spid="499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99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9771" grpId="0"/>
      <p:bldP spid="49977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00738" name="对象 500737"/>
          <p:cNvGraphicFramePr/>
          <p:nvPr/>
        </p:nvGraphicFramePr>
        <p:xfrm>
          <a:off x="1476375" y="3284538"/>
          <a:ext cx="2638425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1" imgW="1040765" imgH="317500" progId="Equation.3">
                  <p:embed/>
                </p:oleObj>
              </mc:Choice>
              <mc:Fallback>
                <p:oleObj name="" r:id="rId1" imgW="1040765" imgH="317500" progId="Equation.3">
                  <p:embed/>
                  <p:pic>
                    <p:nvPicPr>
                      <p:cNvPr id="0" name="20 3124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76375" y="3284538"/>
                        <a:ext cx="2638425" cy="744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7346" name="组合 500738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7347" name="20 500739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7348" name="文本框 500740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7349" name="组合 500741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7350" name="20 500742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7351" name="文本框 500743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aphicFrame>
        <p:nvGraphicFramePr>
          <p:cNvPr id="500745" name="对象 500744"/>
          <p:cNvGraphicFramePr/>
          <p:nvPr/>
        </p:nvGraphicFramePr>
        <p:xfrm>
          <a:off x="1403350" y="4076700"/>
          <a:ext cx="5694363" cy="1160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4" imgW="2246630" imgH="495300" progId="Equation.3">
                  <p:embed/>
                </p:oleObj>
              </mc:Choice>
              <mc:Fallback>
                <p:oleObj name="" r:id="rId4" imgW="2246630" imgH="495300" progId="Equation.3">
                  <p:embed/>
                  <p:pic>
                    <p:nvPicPr>
                      <p:cNvPr id="0" name="20 3125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03350" y="4076700"/>
                        <a:ext cx="5694363" cy="1160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0746" name="对象 500745"/>
          <p:cNvGraphicFramePr/>
          <p:nvPr/>
        </p:nvGraphicFramePr>
        <p:xfrm>
          <a:off x="1403350" y="5229225"/>
          <a:ext cx="5822950" cy="1160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" r:id="rId6" imgW="2297430" imgH="495300" progId="Equation.3">
                  <p:embed/>
                </p:oleObj>
              </mc:Choice>
              <mc:Fallback>
                <p:oleObj name="" r:id="rId6" imgW="2297430" imgH="495300" progId="Equation.3">
                  <p:embed/>
                  <p:pic>
                    <p:nvPicPr>
                      <p:cNvPr id="0" name="20 3128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03350" y="5229225"/>
                        <a:ext cx="5822950" cy="1160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7354" name="组合 500746"/>
          <p:cNvGrpSpPr/>
          <p:nvPr/>
        </p:nvGrpSpPr>
        <p:grpSpPr>
          <a:xfrm>
            <a:off x="1476375" y="1196975"/>
            <a:ext cx="2449513" cy="2089150"/>
            <a:chOff x="3923" y="981"/>
            <a:chExt cx="1543" cy="1316"/>
          </a:xfrm>
        </p:grpSpPr>
        <p:sp>
          <p:nvSpPr>
            <p:cNvPr id="57355" name="直接连接符 500747"/>
            <p:cNvSpPr/>
            <p:nvPr/>
          </p:nvSpPr>
          <p:spPr>
            <a:xfrm>
              <a:off x="4104" y="1027"/>
              <a:ext cx="1271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7356" name="直接连接符 500748"/>
            <p:cNvSpPr/>
            <p:nvPr/>
          </p:nvSpPr>
          <p:spPr>
            <a:xfrm>
              <a:off x="4104" y="2251"/>
              <a:ext cx="1271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7357" name="直接连接符 500749"/>
            <p:cNvSpPr/>
            <p:nvPr/>
          </p:nvSpPr>
          <p:spPr>
            <a:xfrm flipH="1">
              <a:off x="4784" y="1026"/>
              <a:ext cx="1" cy="409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7358" name="直接连接符 500750"/>
            <p:cNvSpPr/>
            <p:nvPr/>
          </p:nvSpPr>
          <p:spPr>
            <a:xfrm flipH="1" flipV="1">
              <a:off x="4784" y="1798"/>
              <a:ext cx="1" cy="453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7359" name="椭圆 500751"/>
            <p:cNvSpPr/>
            <p:nvPr/>
          </p:nvSpPr>
          <p:spPr>
            <a:xfrm>
              <a:off x="4014" y="981"/>
              <a:ext cx="90" cy="91"/>
            </a:xfrm>
            <a:prstGeom prst="ellipse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7360" name="文本框 500752"/>
            <p:cNvSpPr txBox="1"/>
            <p:nvPr/>
          </p:nvSpPr>
          <p:spPr>
            <a:xfrm>
              <a:off x="3923" y="1435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7361" name="文本框 500753"/>
            <p:cNvSpPr txBox="1"/>
            <p:nvPr/>
          </p:nvSpPr>
          <p:spPr>
            <a:xfrm>
              <a:off x="4014" y="981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32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7362" name="文本框 500754"/>
            <p:cNvSpPr txBox="1"/>
            <p:nvPr/>
          </p:nvSpPr>
          <p:spPr>
            <a:xfrm>
              <a:off x="4014" y="1932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sz="32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7363" name="直接连接符 500755"/>
            <p:cNvSpPr/>
            <p:nvPr/>
          </p:nvSpPr>
          <p:spPr>
            <a:xfrm>
              <a:off x="4694" y="1117"/>
              <a:ext cx="0" cy="226"/>
            </a:xfrm>
            <a:prstGeom prst="line">
              <a:avLst/>
            </a:prstGeom>
            <a:ln w="28575" cap="sq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7364" name="文本框 500756"/>
            <p:cNvSpPr txBox="1"/>
            <p:nvPr/>
          </p:nvSpPr>
          <p:spPr>
            <a:xfrm>
              <a:off x="4422" y="1480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L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7365" name="椭圆 500757"/>
            <p:cNvSpPr/>
            <p:nvPr/>
          </p:nvSpPr>
          <p:spPr>
            <a:xfrm>
              <a:off x="4014" y="2205"/>
              <a:ext cx="90" cy="91"/>
            </a:xfrm>
            <a:prstGeom prst="ellipse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pSp>
          <p:nvGrpSpPr>
            <p:cNvPr id="57366" name="组合 500758"/>
            <p:cNvGrpSpPr/>
            <p:nvPr/>
          </p:nvGrpSpPr>
          <p:grpSpPr>
            <a:xfrm>
              <a:off x="4784" y="1435"/>
              <a:ext cx="91" cy="363"/>
              <a:chOff x="2744" y="2931"/>
              <a:chExt cx="57" cy="283"/>
            </a:xfrm>
          </p:grpSpPr>
          <p:sp>
            <p:nvSpPr>
              <p:cNvPr id="57367" name="任意多边形 500759"/>
              <p:cNvSpPr/>
              <p:nvPr/>
            </p:nvSpPr>
            <p:spPr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270">
                    <a:pos x="1123" y="0"/>
                  </a:cxn>
                  <a:cxn ang="90">
                    <a:pos x="0" y="43170"/>
                  </a:cxn>
                  <a:cxn ang="90">
                    <a:pos x="1123" y="21600"/>
                  </a:cxn>
                </a:cxnLst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7368" name="任意多边形 500760"/>
              <p:cNvSpPr/>
              <p:nvPr/>
            </p:nvSpPr>
            <p:spPr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270">
                    <a:pos x="1123" y="0"/>
                  </a:cxn>
                  <a:cxn ang="90">
                    <a:pos x="0" y="43170"/>
                  </a:cxn>
                  <a:cxn ang="90">
                    <a:pos x="1123" y="21600"/>
                  </a:cxn>
                </a:cxnLst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7369" name="任意多边形 500761"/>
              <p:cNvSpPr/>
              <p:nvPr/>
            </p:nvSpPr>
            <p:spPr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270">
                    <a:pos x="1123" y="0"/>
                  </a:cxn>
                  <a:cxn ang="90">
                    <a:pos x="0" y="43170"/>
                  </a:cxn>
                  <a:cxn ang="90">
                    <a:pos x="1123" y="21600"/>
                  </a:cxn>
                </a:cxnLst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57370" name="直接连接符 500762"/>
            <p:cNvSpPr/>
            <p:nvPr/>
          </p:nvSpPr>
          <p:spPr>
            <a:xfrm flipH="1">
              <a:off x="5374" y="1026"/>
              <a:ext cx="1" cy="409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7371" name="直接连接符 500763"/>
            <p:cNvSpPr/>
            <p:nvPr/>
          </p:nvSpPr>
          <p:spPr>
            <a:xfrm flipH="1" flipV="1">
              <a:off x="5374" y="1798"/>
              <a:ext cx="1" cy="453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7372" name="直接连接符 500764"/>
            <p:cNvSpPr/>
            <p:nvPr/>
          </p:nvSpPr>
          <p:spPr>
            <a:xfrm>
              <a:off x="5284" y="1117"/>
              <a:ext cx="0" cy="226"/>
            </a:xfrm>
            <a:prstGeom prst="line">
              <a:avLst/>
            </a:prstGeom>
            <a:ln w="28575" cap="sq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pSp>
          <p:nvGrpSpPr>
            <p:cNvPr id="57373" name="组合 500765"/>
            <p:cNvGrpSpPr/>
            <p:nvPr/>
          </p:nvGrpSpPr>
          <p:grpSpPr>
            <a:xfrm>
              <a:off x="5374" y="1435"/>
              <a:ext cx="91" cy="363"/>
              <a:chOff x="2744" y="2931"/>
              <a:chExt cx="57" cy="283"/>
            </a:xfrm>
          </p:grpSpPr>
          <p:sp>
            <p:nvSpPr>
              <p:cNvPr id="57374" name="任意多边形 500766"/>
              <p:cNvSpPr/>
              <p:nvPr/>
            </p:nvSpPr>
            <p:spPr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270">
                    <a:pos x="1123" y="0"/>
                  </a:cxn>
                  <a:cxn ang="90">
                    <a:pos x="0" y="43170"/>
                  </a:cxn>
                  <a:cxn ang="90">
                    <a:pos x="1123" y="21600"/>
                  </a:cxn>
                </a:cxnLst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7375" name="任意多边形 500767"/>
              <p:cNvSpPr/>
              <p:nvPr/>
            </p:nvSpPr>
            <p:spPr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270">
                    <a:pos x="1123" y="0"/>
                  </a:cxn>
                  <a:cxn ang="90">
                    <a:pos x="0" y="43170"/>
                  </a:cxn>
                  <a:cxn ang="90">
                    <a:pos x="1123" y="21600"/>
                  </a:cxn>
                </a:cxnLst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7376" name="任意多边形 500768"/>
              <p:cNvSpPr/>
              <p:nvPr/>
            </p:nvSpPr>
            <p:spPr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270">
                    <a:pos x="1123" y="0"/>
                  </a:cxn>
                  <a:cxn ang="90">
                    <a:pos x="0" y="43170"/>
                  </a:cxn>
                  <a:cxn ang="90">
                    <a:pos x="1123" y="21600"/>
                  </a:cxn>
                </a:cxnLst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57377" name="文本框 500769"/>
            <p:cNvSpPr txBox="1"/>
            <p:nvPr/>
          </p:nvSpPr>
          <p:spPr>
            <a:xfrm>
              <a:off x="5012" y="1480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L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2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7378" name="文本框 500770"/>
            <p:cNvSpPr txBox="1"/>
            <p:nvPr/>
          </p:nvSpPr>
          <p:spPr>
            <a:xfrm>
              <a:off x="4921" y="1026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2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7379" name="文本框 500771"/>
            <p:cNvSpPr txBox="1"/>
            <p:nvPr/>
          </p:nvSpPr>
          <p:spPr>
            <a:xfrm>
              <a:off x="4332" y="1026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57380" name="组合 500772"/>
          <p:cNvGrpSpPr/>
          <p:nvPr/>
        </p:nvGrpSpPr>
        <p:grpSpPr>
          <a:xfrm>
            <a:off x="5219700" y="1196975"/>
            <a:ext cx="1512888" cy="2089150"/>
            <a:chOff x="1701" y="1706"/>
            <a:chExt cx="953" cy="1316"/>
          </a:xfrm>
        </p:grpSpPr>
        <p:sp>
          <p:nvSpPr>
            <p:cNvPr id="57381" name="直接连接符 500773"/>
            <p:cNvSpPr/>
            <p:nvPr/>
          </p:nvSpPr>
          <p:spPr>
            <a:xfrm>
              <a:off x="1882" y="1752"/>
              <a:ext cx="681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7382" name="直接连接符 500774"/>
            <p:cNvSpPr/>
            <p:nvPr/>
          </p:nvSpPr>
          <p:spPr>
            <a:xfrm>
              <a:off x="1882" y="2976"/>
              <a:ext cx="681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7383" name="直接连接符 500775"/>
            <p:cNvSpPr/>
            <p:nvPr/>
          </p:nvSpPr>
          <p:spPr>
            <a:xfrm flipH="1">
              <a:off x="2562" y="1751"/>
              <a:ext cx="1" cy="409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7384" name="直接连接符 500776"/>
            <p:cNvSpPr/>
            <p:nvPr/>
          </p:nvSpPr>
          <p:spPr>
            <a:xfrm flipH="1" flipV="1">
              <a:off x="2562" y="2523"/>
              <a:ext cx="1" cy="453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7385" name="椭圆 500777"/>
            <p:cNvSpPr/>
            <p:nvPr/>
          </p:nvSpPr>
          <p:spPr>
            <a:xfrm>
              <a:off x="1792" y="1706"/>
              <a:ext cx="90" cy="91"/>
            </a:xfrm>
            <a:prstGeom prst="ellipse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7386" name="文本框 500778"/>
            <p:cNvSpPr txBox="1"/>
            <p:nvPr/>
          </p:nvSpPr>
          <p:spPr>
            <a:xfrm>
              <a:off x="2154" y="1797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7387" name="文本框 500779"/>
            <p:cNvSpPr txBox="1"/>
            <p:nvPr/>
          </p:nvSpPr>
          <p:spPr>
            <a:xfrm>
              <a:off x="1701" y="2160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7388" name="文本框 500780"/>
            <p:cNvSpPr txBox="1"/>
            <p:nvPr/>
          </p:nvSpPr>
          <p:spPr>
            <a:xfrm>
              <a:off x="1792" y="1706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32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7389" name="文本框 500781"/>
            <p:cNvSpPr txBox="1"/>
            <p:nvPr/>
          </p:nvSpPr>
          <p:spPr>
            <a:xfrm>
              <a:off x="1792" y="2657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sz="32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7390" name="直接连接符 500782"/>
            <p:cNvSpPr/>
            <p:nvPr/>
          </p:nvSpPr>
          <p:spPr>
            <a:xfrm>
              <a:off x="2472" y="1842"/>
              <a:ext cx="0" cy="226"/>
            </a:xfrm>
            <a:prstGeom prst="line">
              <a:avLst/>
            </a:prstGeom>
            <a:ln w="28575" cap="sq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7391" name="文本框 500783"/>
            <p:cNvSpPr txBox="1"/>
            <p:nvPr/>
          </p:nvSpPr>
          <p:spPr>
            <a:xfrm>
              <a:off x="2200" y="2205"/>
              <a:ext cx="4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L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7392" name="椭圆 500784"/>
            <p:cNvSpPr/>
            <p:nvPr/>
          </p:nvSpPr>
          <p:spPr>
            <a:xfrm>
              <a:off x="1792" y="2930"/>
              <a:ext cx="90" cy="91"/>
            </a:xfrm>
            <a:prstGeom prst="ellipse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pSp>
          <p:nvGrpSpPr>
            <p:cNvPr id="57393" name="组合 500785"/>
            <p:cNvGrpSpPr/>
            <p:nvPr/>
          </p:nvGrpSpPr>
          <p:grpSpPr>
            <a:xfrm>
              <a:off x="2562" y="2160"/>
              <a:ext cx="91" cy="363"/>
              <a:chOff x="2744" y="2931"/>
              <a:chExt cx="57" cy="283"/>
            </a:xfrm>
          </p:grpSpPr>
          <p:sp>
            <p:nvSpPr>
              <p:cNvPr id="57394" name="任意多边形 500786"/>
              <p:cNvSpPr/>
              <p:nvPr/>
            </p:nvSpPr>
            <p:spPr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270">
                    <a:pos x="1123" y="0"/>
                  </a:cxn>
                  <a:cxn ang="90">
                    <a:pos x="0" y="43170"/>
                  </a:cxn>
                  <a:cxn ang="90">
                    <a:pos x="1123" y="21600"/>
                  </a:cxn>
                </a:cxnLst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7395" name="任意多边形 500787"/>
              <p:cNvSpPr/>
              <p:nvPr/>
            </p:nvSpPr>
            <p:spPr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270">
                    <a:pos x="1123" y="0"/>
                  </a:cxn>
                  <a:cxn ang="90">
                    <a:pos x="0" y="43170"/>
                  </a:cxn>
                  <a:cxn ang="90">
                    <a:pos x="1123" y="21600"/>
                  </a:cxn>
                </a:cxnLst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7396" name="任意多边形 500788"/>
              <p:cNvSpPr/>
              <p:nvPr/>
            </p:nvSpPr>
            <p:spPr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270">
                    <a:pos x="1123" y="0"/>
                  </a:cxn>
                  <a:cxn ang="90">
                    <a:pos x="0" y="43170"/>
                  </a:cxn>
                  <a:cxn ang="90">
                    <a:pos x="1123" y="21600"/>
                  </a:cxn>
                </a:cxnLst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1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5" y="43200"/>
                      <a:pt x="368" y="43190"/>
                      <a:pt x="-1" y="43171"/>
                    </a:cubicBezTo>
                    <a:lnTo>
                      <a:pt x="1123" y="2160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grpSp>
        <p:nvGrpSpPr>
          <p:cNvPr id="57397" name="组合 500789"/>
          <p:cNvGrpSpPr/>
          <p:nvPr/>
        </p:nvGrpSpPr>
        <p:grpSpPr>
          <a:xfrm>
            <a:off x="3995738" y="1773238"/>
            <a:ext cx="1223962" cy="647700"/>
            <a:chOff x="3470" y="2840"/>
            <a:chExt cx="771" cy="408"/>
          </a:xfrm>
        </p:grpSpPr>
        <p:sp>
          <p:nvSpPr>
            <p:cNvPr id="57398" name="直接连接符 500790"/>
            <p:cNvSpPr/>
            <p:nvPr/>
          </p:nvSpPr>
          <p:spPr>
            <a:xfrm>
              <a:off x="3605" y="3248"/>
              <a:ext cx="545" cy="0"/>
            </a:xfrm>
            <a:prstGeom prst="line">
              <a:avLst/>
            </a:prstGeom>
            <a:ln w="76200" cap="sq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7399" name="文本框 500791"/>
            <p:cNvSpPr txBox="1"/>
            <p:nvPr/>
          </p:nvSpPr>
          <p:spPr>
            <a:xfrm>
              <a:off x="3470" y="2840"/>
              <a:ext cx="771" cy="288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chemeClr val="bg2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等效</a:t>
              </a:r>
              <a:endParaRPr lang="zh-CN" altLang="en-US" sz="240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500793" name="文本框 500792"/>
          <p:cNvSpPr txBox="1"/>
          <p:nvPr/>
        </p:nvSpPr>
        <p:spPr>
          <a:xfrm>
            <a:off x="755650" y="534988"/>
            <a:ext cx="3311525" cy="547687"/>
          </a:xfrm>
          <a:prstGeom prst="rect">
            <a:avLst/>
          </a:prstGeom>
          <a:noFill/>
          <a:ln w="2857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eaLnBrk="0" hangingPunct="0">
              <a:spcBef>
                <a:spcPct val="5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并联电感的分流</a:t>
            </a:r>
            <a:endParaRPr lang="zh-CN" altLang="en-US" dirty="0">
              <a:solidFill>
                <a:srgbClr val="FF99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57401" name="组合 500796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57402" name="20 500797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7403" name="文本框 500798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5007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5007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00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00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00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079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8369" name="组合 512002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8370" name="20 512003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8371" name="文本框 512004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8372" name="组合 512005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8373" name="20 512006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8374" name="文本框 512007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12058" name="组合 512057"/>
          <p:cNvGrpSpPr/>
          <p:nvPr/>
        </p:nvGrpSpPr>
        <p:grpSpPr>
          <a:xfrm>
            <a:off x="684213" y="549275"/>
            <a:ext cx="1663700" cy="850900"/>
            <a:chOff x="385" y="3022"/>
            <a:chExt cx="1018" cy="536"/>
          </a:xfrm>
        </p:grpSpPr>
        <p:pic>
          <p:nvPicPr>
            <p:cNvPr id="58376" name="20 512058" descr="1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8377" name="文本框 512059"/>
            <p:cNvSpPr txBox="1"/>
            <p:nvPr/>
          </p:nvSpPr>
          <p:spPr>
            <a:xfrm>
              <a:off x="793" y="3125"/>
              <a:ext cx="61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3200" b="0" dirty="0">
                  <a:solidFill>
                    <a:srgbClr val="FF9933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注意</a:t>
              </a:r>
              <a:endParaRPr lang="zh-CN" altLang="en-US" sz="3200" b="0" dirty="0">
                <a:solidFill>
                  <a:srgbClr val="FF9933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sp>
        <p:nvSpPr>
          <p:cNvPr id="512061" name="文本框 512060"/>
          <p:cNvSpPr txBox="1"/>
          <p:nvPr/>
        </p:nvSpPr>
        <p:spPr>
          <a:xfrm>
            <a:off x="827088" y="1125538"/>
            <a:ext cx="7272337" cy="1630362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marL="342900" indent="-342900" eaLnBrk="0" hangingPunct="0">
              <a:lnSpc>
                <a:spcPct val="120000"/>
              </a:lnSpc>
              <a:spcBef>
                <a:spcPct val="30000"/>
              </a:spcBef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    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以上虽然是关于两个电容或两个电感的串联和并联等效，但其结论可以推广到 </a:t>
            </a:r>
            <a:r>
              <a: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n</a:t>
            </a:r>
            <a:r>
              <a:rPr lang="en-US" altLang="zh-CN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个电容或 </a:t>
            </a:r>
            <a:r>
              <a:rPr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n</a:t>
            </a:r>
            <a:r>
              <a:rPr lang="en-US" altLang="zh-CN" b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个电感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的串联</a:t>
            </a:r>
            <a:r>
              <a:rPr lang="zh-CN" altLang="en-US" dirty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和并联等效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。</a:t>
            </a:r>
            <a:endParaRPr lang="zh-CN" altLang="en-US"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58379" name="组合 512064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58380" name="20 512065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8381" name="文本框 512066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2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6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62" name="文本框 501761"/>
          <p:cNvSpPr txBox="1"/>
          <p:nvPr/>
        </p:nvSpPr>
        <p:spPr>
          <a:xfrm>
            <a:off x="2339975" y="620713"/>
            <a:ext cx="2376488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457200" indent="-457200">
              <a:spcBef>
                <a:spcPct val="50000"/>
              </a:spcBef>
            </a:pPr>
            <a:r>
              <a:rPr lang="zh-CN" altLang="en-US" sz="3600" dirty="0">
                <a:latin typeface="楷体_GB2312" pitchFamily="49" charset="-122"/>
                <a:ea typeface="楷体_GB2312" pitchFamily="49" charset="-122"/>
              </a:rPr>
              <a:t>电梯按钮</a:t>
            </a:r>
            <a:endParaRPr lang="zh-CN" altLang="en-US" sz="360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501763" name="组合 501762"/>
          <p:cNvGrpSpPr/>
          <p:nvPr/>
        </p:nvGrpSpPr>
        <p:grpSpPr>
          <a:xfrm>
            <a:off x="1403350" y="1773238"/>
            <a:ext cx="1511300" cy="3024187"/>
            <a:chOff x="930" y="1162"/>
            <a:chExt cx="952" cy="1905"/>
          </a:xfrm>
        </p:grpSpPr>
        <p:sp>
          <p:nvSpPr>
            <p:cNvPr id="59395" name="矩形 501763"/>
            <p:cNvSpPr/>
            <p:nvPr/>
          </p:nvSpPr>
          <p:spPr>
            <a:xfrm>
              <a:off x="930" y="1162"/>
              <a:ext cx="952" cy="1905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9396" name="椭圆 501764"/>
            <p:cNvSpPr/>
            <p:nvPr/>
          </p:nvSpPr>
          <p:spPr>
            <a:xfrm>
              <a:off x="1156" y="1389"/>
              <a:ext cx="544" cy="544"/>
            </a:xfrm>
            <a:prstGeom prst="ellipse">
              <a:avLst/>
            </a:prstGeom>
            <a:solidFill>
              <a:srgbClr val="00CC00"/>
            </a:solidFill>
            <a:ln w="9525">
              <a:noFill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9397" name="等腰三角形 501765"/>
            <p:cNvSpPr/>
            <p:nvPr/>
          </p:nvSpPr>
          <p:spPr>
            <a:xfrm>
              <a:off x="1292" y="1480"/>
              <a:ext cx="273" cy="317"/>
            </a:xfrm>
            <a:prstGeom prst="triangle">
              <a:avLst>
                <a:gd name="adj" fmla="val 50000"/>
              </a:avLst>
            </a:prstGeom>
            <a:solidFill>
              <a:srgbClr val="FF33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9398" name="椭圆 501766"/>
            <p:cNvSpPr/>
            <p:nvPr/>
          </p:nvSpPr>
          <p:spPr>
            <a:xfrm>
              <a:off x="1156" y="2160"/>
              <a:ext cx="544" cy="544"/>
            </a:xfrm>
            <a:prstGeom prst="ellipse">
              <a:avLst/>
            </a:prstGeom>
            <a:solidFill>
              <a:srgbClr val="00CC00"/>
            </a:solidFill>
            <a:ln w="9525">
              <a:noFill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9399" name="等腰三角形 501767"/>
            <p:cNvSpPr/>
            <p:nvPr/>
          </p:nvSpPr>
          <p:spPr>
            <a:xfrm rot="10800000">
              <a:off x="1292" y="2297"/>
              <a:ext cx="273" cy="317"/>
            </a:xfrm>
            <a:prstGeom prst="triangle">
              <a:avLst>
                <a:gd name="adj" fmla="val 50000"/>
              </a:avLst>
            </a:prstGeom>
            <a:solidFill>
              <a:srgbClr val="FF33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sp>
        <p:nvSpPr>
          <p:cNvPr id="501769" name="文本框 501768"/>
          <p:cNvSpPr txBox="1"/>
          <p:nvPr/>
        </p:nvSpPr>
        <p:spPr>
          <a:xfrm>
            <a:off x="1476375" y="4868863"/>
            <a:ext cx="1368425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前视图</a:t>
            </a:r>
            <a:endParaRPr lang="zh-CN" altLang="en-US" sz="24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501770" name="组合 501769"/>
          <p:cNvGrpSpPr/>
          <p:nvPr/>
        </p:nvGrpSpPr>
        <p:grpSpPr>
          <a:xfrm>
            <a:off x="6588125" y="981075"/>
            <a:ext cx="1944688" cy="4103688"/>
            <a:chOff x="3379" y="1298"/>
            <a:chExt cx="1225" cy="2585"/>
          </a:xfrm>
        </p:grpSpPr>
        <p:grpSp>
          <p:nvGrpSpPr>
            <p:cNvPr id="59402" name="组合 501770"/>
            <p:cNvGrpSpPr/>
            <p:nvPr/>
          </p:nvGrpSpPr>
          <p:grpSpPr>
            <a:xfrm>
              <a:off x="3379" y="1298"/>
              <a:ext cx="1225" cy="1724"/>
              <a:chOff x="3379" y="1298"/>
              <a:chExt cx="1225" cy="1724"/>
            </a:xfrm>
          </p:grpSpPr>
          <p:sp>
            <p:nvSpPr>
              <p:cNvPr id="59403" name="椭圆 501771"/>
              <p:cNvSpPr/>
              <p:nvPr/>
            </p:nvSpPr>
            <p:spPr>
              <a:xfrm>
                <a:off x="3379" y="1298"/>
                <a:ext cx="1225" cy="1724"/>
              </a:xfrm>
              <a:prstGeom prst="ellipse">
                <a:avLst/>
              </a:prstGeom>
              <a:solidFill>
                <a:srgbClr val="660033"/>
              </a:solidFill>
              <a:ln w="9525">
                <a:noFill/>
              </a:ln>
            </p:spPr>
            <p:txBody>
              <a:bodyPr anchor="t" anchorCtr="0"/>
              <a:p>
                <a:endParaRPr lang="zh-CN" altLang="en-US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59404" name="任意多边形 501772"/>
              <p:cNvSpPr/>
              <p:nvPr/>
            </p:nvSpPr>
            <p:spPr>
              <a:xfrm>
                <a:off x="3606" y="1752"/>
                <a:ext cx="635" cy="907"/>
              </a:xfrm>
              <a:custGeom>
                <a:avLst/>
                <a:gdLst/>
                <a:ahLst/>
                <a:cxnLst>
                  <a:cxn ang="270">
                    <a:pos x="10800" y="0"/>
                  </a:cxn>
                  <a:cxn ang="270">
                    <a:pos x="3163" y="3163"/>
                  </a:cxn>
                  <a:cxn ang="180">
                    <a:pos x="0" y="10800"/>
                  </a:cxn>
                  <a:cxn ang="90">
                    <a:pos x="3163" y="18437"/>
                  </a:cxn>
                  <a:cxn ang="90">
                    <a:pos x="10800" y="21600"/>
                  </a:cxn>
                  <a:cxn ang="90">
                    <a:pos x="18437" y="18437"/>
                  </a:cxn>
                  <a:cxn ang="0">
                    <a:pos x="21600" y="10800"/>
                  </a:cxn>
                  <a:cxn ang="270">
                    <a:pos x="18437" y="3163"/>
                  </a:cxn>
                </a:cxnLst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041" y="10800"/>
                    </a:moveTo>
                    <a:cubicBezTo>
                      <a:pt x="2041" y="15637"/>
                      <a:pt x="5963" y="19559"/>
                      <a:pt x="10800" y="19559"/>
                    </a:cubicBezTo>
                    <a:cubicBezTo>
                      <a:pt x="15637" y="19559"/>
                      <a:pt x="19559" y="15637"/>
                      <a:pt x="19559" y="10800"/>
                    </a:cubicBezTo>
                    <a:cubicBezTo>
                      <a:pt x="19559" y="5963"/>
                      <a:pt x="15637" y="2041"/>
                      <a:pt x="10800" y="2041"/>
                    </a:cubicBezTo>
                    <a:cubicBezTo>
                      <a:pt x="5963" y="2041"/>
                      <a:pt x="2041" y="5963"/>
                      <a:pt x="2041" y="10800"/>
                    </a:cubicBezTo>
                    <a:close/>
                  </a:path>
                </a:pathLst>
              </a:custGeom>
              <a:solidFill>
                <a:srgbClr val="00CC00"/>
              </a:solidFill>
              <a:ln w="9525"/>
              <a:scene3d>
                <a:camera prst="legacyObliqueTopRight">
                  <a:rot lat="0" lon="0" rev="0"/>
                </a:camera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00CC00"/>
                </a:extrusionClr>
              </a:sp3d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59405" name="直接连接符 501773"/>
            <p:cNvSpPr/>
            <p:nvPr/>
          </p:nvSpPr>
          <p:spPr>
            <a:xfrm>
              <a:off x="3878" y="2614"/>
              <a:ext cx="0" cy="907"/>
            </a:xfrm>
            <a:prstGeom prst="line">
              <a:avLst/>
            </a:prstGeom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59406" name="直接连接符 501774"/>
            <p:cNvSpPr/>
            <p:nvPr/>
          </p:nvSpPr>
          <p:spPr>
            <a:xfrm>
              <a:off x="4150" y="2976"/>
              <a:ext cx="0" cy="907"/>
            </a:xfrm>
            <a:prstGeom prst="line">
              <a:avLst/>
            </a:prstGeom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oval" w="med" len="med"/>
            </a:ln>
          </p:spPr>
        </p:sp>
      </p:grpSp>
      <p:grpSp>
        <p:nvGrpSpPr>
          <p:cNvPr id="501776" name="组合 501775"/>
          <p:cNvGrpSpPr/>
          <p:nvPr/>
        </p:nvGrpSpPr>
        <p:grpSpPr>
          <a:xfrm>
            <a:off x="3635375" y="1557338"/>
            <a:ext cx="2087563" cy="2349500"/>
            <a:chOff x="2472" y="1026"/>
            <a:chExt cx="1315" cy="1480"/>
          </a:xfrm>
        </p:grpSpPr>
        <p:sp>
          <p:nvSpPr>
            <p:cNvPr id="59408" name="直接连接符 501776"/>
            <p:cNvSpPr/>
            <p:nvPr/>
          </p:nvSpPr>
          <p:spPr>
            <a:xfrm>
              <a:off x="2941" y="2200"/>
              <a:ext cx="0" cy="306"/>
            </a:xfrm>
            <a:prstGeom prst="line">
              <a:avLst/>
            </a:prstGeom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9409" name="直接连接符 501777"/>
            <p:cNvSpPr/>
            <p:nvPr/>
          </p:nvSpPr>
          <p:spPr>
            <a:xfrm>
              <a:off x="3081" y="2200"/>
              <a:ext cx="0" cy="306"/>
            </a:xfrm>
            <a:prstGeom prst="line">
              <a:avLst/>
            </a:prstGeom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9410" name="直接连接符 501778"/>
            <p:cNvSpPr/>
            <p:nvPr/>
          </p:nvSpPr>
          <p:spPr>
            <a:xfrm flipH="1">
              <a:off x="2472" y="2353"/>
              <a:ext cx="469" cy="0"/>
            </a:xfrm>
            <a:prstGeom prst="line">
              <a:avLst/>
            </a:prstGeom>
            <a:ln w="38100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59411" name="直接连接符 501779"/>
            <p:cNvSpPr/>
            <p:nvPr/>
          </p:nvSpPr>
          <p:spPr>
            <a:xfrm>
              <a:off x="3081" y="2353"/>
              <a:ext cx="515" cy="0"/>
            </a:xfrm>
            <a:prstGeom prst="line">
              <a:avLst/>
            </a:prstGeom>
            <a:ln w="38100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59412" name="文本框 501780"/>
            <p:cNvSpPr txBox="1"/>
            <p:nvPr/>
          </p:nvSpPr>
          <p:spPr>
            <a:xfrm>
              <a:off x="2847" y="1842"/>
              <a:ext cx="42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13" name="任意多边形 501781"/>
            <p:cNvSpPr/>
            <p:nvPr/>
          </p:nvSpPr>
          <p:spPr>
            <a:xfrm rot="10800000">
              <a:off x="2851" y="1026"/>
              <a:ext cx="936" cy="511"/>
            </a:xfrm>
            <a:custGeom>
              <a:avLst/>
              <a:gdLst/>
              <a:ahLst/>
              <a:cxnLst>
                <a:cxn ang="270">
                  <a:pos x="15420" y="0"/>
                </a:cxn>
                <a:cxn ang="180">
                  <a:pos x="9240" y="4234"/>
                </a:cxn>
                <a:cxn ang="180">
                  <a:pos x="0" y="19924"/>
                </a:cxn>
                <a:cxn ang="90">
                  <a:pos x="8358" y="21600"/>
                </a:cxn>
                <a:cxn ang="0">
                  <a:pos x="16717" y="13535"/>
                </a:cxn>
                <a:cxn ang="0">
                  <a:pos x="21600" y="4234"/>
                </a:cxn>
              </a:cxnLst>
              <a:pathLst>
                <a:path w="21600" h="21600">
                  <a:moveTo>
                    <a:pt x="15420" y="0"/>
                  </a:moveTo>
                  <a:lnTo>
                    <a:pt x="9240" y="4234"/>
                  </a:lnTo>
                  <a:lnTo>
                    <a:pt x="14123" y="4234"/>
                  </a:lnTo>
                  <a:lnTo>
                    <a:pt x="14123" y="18248"/>
                  </a:lnTo>
                  <a:lnTo>
                    <a:pt x="0" y="18248"/>
                  </a:lnTo>
                  <a:lnTo>
                    <a:pt x="0" y="21600"/>
                  </a:lnTo>
                  <a:lnTo>
                    <a:pt x="16717" y="21600"/>
                  </a:lnTo>
                  <a:lnTo>
                    <a:pt x="16717" y="4234"/>
                  </a:lnTo>
                  <a:lnTo>
                    <a:pt x="21600" y="4234"/>
                  </a:lnTo>
                  <a:close/>
                </a:path>
              </a:pathLst>
            </a:custGeom>
            <a:solidFill>
              <a:srgbClr val="0099FF"/>
            </a:solidFill>
            <a:ln w="9525" cap="flat" cmpd="sng">
              <a:solidFill>
                <a:srgbClr val="00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9414" name="文本框 501782"/>
            <p:cNvSpPr txBox="1"/>
            <p:nvPr/>
          </p:nvSpPr>
          <p:spPr>
            <a:xfrm>
              <a:off x="2617" y="1586"/>
              <a:ext cx="112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电容模型</a:t>
              </a:r>
              <a:endParaRPr lang="zh-CN" altLang="en-US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01784" name="文本框 501783"/>
          <p:cNvSpPr txBox="1"/>
          <p:nvPr/>
        </p:nvSpPr>
        <p:spPr>
          <a:xfrm>
            <a:off x="7019925" y="5300663"/>
            <a:ext cx="1368425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侧视图</a:t>
            </a:r>
            <a:endParaRPr lang="zh-CN" altLang="en-US" sz="240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01785" name="文本框 501784"/>
          <p:cNvSpPr txBox="1"/>
          <p:nvPr/>
        </p:nvSpPr>
        <p:spPr>
          <a:xfrm>
            <a:off x="611188" y="620713"/>
            <a:ext cx="1368425" cy="608012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sz="32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实例</a:t>
            </a:r>
            <a:endParaRPr lang="zh-CN" altLang="en-US" sz="3200" b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59417" name="组合 501785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9418" name="20 501786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9419" name="文本框 501787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9420" name="组合 501788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9421" name="20 501789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9422" name="文本框 501790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01792" name="组合 501791"/>
          <p:cNvGrpSpPr/>
          <p:nvPr/>
        </p:nvGrpSpPr>
        <p:grpSpPr>
          <a:xfrm>
            <a:off x="3203575" y="4076700"/>
            <a:ext cx="2808288" cy="2247900"/>
            <a:chOff x="2018" y="2568"/>
            <a:chExt cx="1769" cy="1416"/>
          </a:xfrm>
        </p:grpSpPr>
        <p:grpSp>
          <p:nvGrpSpPr>
            <p:cNvPr id="59424" name="组合 501792"/>
            <p:cNvGrpSpPr/>
            <p:nvPr/>
          </p:nvGrpSpPr>
          <p:grpSpPr>
            <a:xfrm>
              <a:off x="2018" y="2568"/>
              <a:ext cx="1769" cy="1416"/>
              <a:chOff x="1746" y="2341"/>
              <a:chExt cx="1769" cy="1416"/>
            </a:xfrm>
          </p:grpSpPr>
          <p:sp>
            <p:nvSpPr>
              <p:cNvPr id="59425" name="直接连接符 501793"/>
              <p:cNvSpPr/>
              <p:nvPr/>
            </p:nvSpPr>
            <p:spPr>
              <a:xfrm>
                <a:off x="2563" y="2659"/>
                <a:ext cx="0" cy="272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9426" name="直接连接符 501794"/>
              <p:cNvSpPr/>
              <p:nvPr/>
            </p:nvSpPr>
            <p:spPr>
              <a:xfrm>
                <a:off x="2653" y="2659"/>
                <a:ext cx="0" cy="272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9427" name="直接连接符 501795"/>
              <p:cNvSpPr/>
              <p:nvPr/>
            </p:nvSpPr>
            <p:spPr>
              <a:xfrm>
                <a:off x="2653" y="2795"/>
                <a:ext cx="499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9428" name="直接连接符 501796"/>
              <p:cNvSpPr/>
              <p:nvPr/>
            </p:nvSpPr>
            <p:spPr>
              <a:xfrm>
                <a:off x="2064" y="2795"/>
                <a:ext cx="499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9429" name="直接连接符 501797"/>
              <p:cNvSpPr/>
              <p:nvPr/>
            </p:nvSpPr>
            <p:spPr>
              <a:xfrm>
                <a:off x="3152" y="2795"/>
                <a:ext cx="0" cy="499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59430" name="直接连接符 501798"/>
              <p:cNvSpPr/>
              <p:nvPr/>
            </p:nvSpPr>
            <p:spPr>
              <a:xfrm>
                <a:off x="2064" y="2795"/>
                <a:ext cx="0" cy="499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59431" name="直接连接符 501799"/>
              <p:cNvSpPr/>
              <p:nvPr/>
            </p:nvSpPr>
            <p:spPr>
              <a:xfrm>
                <a:off x="2745" y="3158"/>
                <a:ext cx="0" cy="272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9432" name="直接连接符 501800"/>
              <p:cNvSpPr/>
              <p:nvPr/>
            </p:nvSpPr>
            <p:spPr>
              <a:xfrm>
                <a:off x="2835" y="3158"/>
                <a:ext cx="0" cy="272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9433" name="直接连接符 501801"/>
              <p:cNvSpPr/>
              <p:nvPr/>
            </p:nvSpPr>
            <p:spPr>
              <a:xfrm>
                <a:off x="2336" y="3158"/>
                <a:ext cx="0" cy="272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9434" name="直接连接符 501802"/>
              <p:cNvSpPr/>
              <p:nvPr/>
            </p:nvSpPr>
            <p:spPr>
              <a:xfrm>
                <a:off x="2426" y="3158"/>
                <a:ext cx="0" cy="272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9435" name="直接连接符 501803"/>
              <p:cNvSpPr/>
              <p:nvPr/>
            </p:nvSpPr>
            <p:spPr>
              <a:xfrm>
                <a:off x="2835" y="3294"/>
                <a:ext cx="680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59436" name="直接连接符 501804"/>
              <p:cNvSpPr/>
              <p:nvPr/>
            </p:nvSpPr>
            <p:spPr>
              <a:xfrm>
                <a:off x="2426" y="3294"/>
                <a:ext cx="318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9437" name="直接连接符 501805"/>
              <p:cNvSpPr/>
              <p:nvPr/>
            </p:nvSpPr>
            <p:spPr>
              <a:xfrm flipH="1">
                <a:off x="1746" y="3294"/>
                <a:ext cx="590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59438" name="文本框 501806"/>
              <p:cNvSpPr txBox="1"/>
              <p:nvPr/>
            </p:nvSpPr>
            <p:spPr>
              <a:xfrm>
                <a:off x="2472" y="2341"/>
                <a:ext cx="42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r>
                  <a:rPr lang="en-US" altLang="zh-CN" b="0" baseline="-25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9439" name="文本框 501807"/>
              <p:cNvSpPr txBox="1"/>
              <p:nvPr/>
            </p:nvSpPr>
            <p:spPr>
              <a:xfrm>
                <a:off x="2653" y="3430"/>
                <a:ext cx="42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r>
                  <a:rPr lang="en-US" altLang="zh-CN" b="0" baseline="-25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  <a:endPara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9440" name="文本框 501808"/>
              <p:cNvSpPr txBox="1"/>
              <p:nvPr/>
            </p:nvSpPr>
            <p:spPr>
              <a:xfrm>
                <a:off x="2109" y="3430"/>
                <a:ext cx="42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r>
                  <a:rPr lang="en-US" altLang="zh-CN" b="0" baseline="-25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endPara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9441" name="直接连接符 501809"/>
            <p:cNvSpPr/>
            <p:nvPr/>
          </p:nvSpPr>
          <p:spPr>
            <a:xfrm>
              <a:off x="2835" y="3521"/>
              <a:ext cx="0" cy="408"/>
            </a:xfrm>
            <a:prstGeom prst="line">
              <a:avLst/>
            </a:prstGeom>
            <a:ln w="28575" cap="flat" cmpd="sng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59442" name="组合 501813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59443" name="20 501814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9444" name="文本框 501815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017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17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17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017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501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01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01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01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01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7" dur="500"/>
                                        <p:tgtEl>
                                          <p:spTgt spid="501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01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62" grpId="0"/>
      <p:bldP spid="501769" grpId="0"/>
      <p:bldP spid="501784" grpId="0"/>
      <p:bldP spid="50178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02786" name="组合 502785"/>
          <p:cNvGrpSpPr/>
          <p:nvPr/>
        </p:nvGrpSpPr>
        <p:grpSpPr>
          <a:xfrm>
            <a:off x="755650" y="836613"/>
            <a:ext cx="3816350" cy="3241675"/>
            <a:chOff x="3016" y="1026"/>
            <a:chExt cx="2404" cy="2042"/>
          </a:xfrm>
        </p:grpSpPr>
        <p:grpSp>
          <p:nvGrpSpPr>
            <p:cNvPr id="60418" name="组合 502786"/>
            <p:cNvGrpSpPr/>
            <p:nvPr/>
          </p:nvGrpSpPr>
          <p:grpSpPr>
            <a:xfrm>
              <a:off x="3016" y="1026"/>
              <a:ext cx="2404" cy="1542"/>
              <a:chOff x="3016" y="1026"/>
              <a:chExt cx="2404" cy="1542"/>
            </a:xfrm>
          </p:grpSpPr>
          <p:sp>
            <p:nvSpPr>
              <p:cNvPr id="60419" name="椭圆 502787"/>
              <p:cNvSpPr/>
              <p:nvPr/>
            </p:nvSpPr>
            <p:spPr>
              <a:xfrm>
                <a:off x="3470" y="1570"/>
                <a:ext cx="453" cy="454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p>
                <a:endParaRPr lang="zh-CN" altLang="en-US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60420" name="直接连接符 502788"/>
              <p:cNvSpPr/>
              <p:nvPr/>
            </p:nvSpPr>
            <p:spPr>
              <a:xfrm>
                <a:off x="4468" y="1026"/>
                <a:ext cx="0" cy="862"/>
              </a:xfrm>
              <a:prstGeom prst="line">
                <a:avLst/>
              </a:prstGeom>
              <a:ln w="28575" cap="flat" cmpd="sng">
                <a:solidFill>
                  <a:srgbClr val="FFCC6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60421" name="组合 502789"/>
              <p:cNvGrpSpPr/>
              <p:nvPr/>
            </p:nvGrpSpPr>
            <p:grpSpPr>
              <a:xfrm>
                <a:off x="4241" y="1162"/>
                <a:ext cx="455" cy="453"/>
                <a:chOff x="1110" y="1344"/>
                <a:chExt cx="544" cy="544"/>
              </a:xfrm>
            </p:grpSpPr>
            <p:sp>
              <p:nvSpPr>
                <p:cNvPr id="60422" name="椭圆 502790"/>
                <p:cNvSpPr/>
                <p:nvPr/>
              </p:nvSpPr>
              <p:spPr>
                <a:xfrm>
                  <a:off x="1110" y="1344"/>
                  <a:ext cx="544" cy="544"/>
                </a:xfrm>
                <a:prstGeom prst="ellipse">
                  <a:avLst/>
                </a:prstGeom>
                <a:solidFill>
                  <a:srgbClr val="00CC00"/>
                </a:solidFill>
                <a:ln w="9525" cap="flat" cmpd="sng">
                  <a:solidFill>
                    <a:srgbClr val="FFCC6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t" anchorCtr="0"/>
                <a:p>
                  <a:endParaRPr lang="zh-CN" altLang="en-US">
                    <a:latin typeface="Arial" panose="020B060402020202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60423" name="等腰三角形 502791"/>
                <p:cNvSpPr/>
                <p:nvPr/>
              </p:nvSpPr>
              <p:spPr>
                <a:xfrm>
                  <a:off x="1246" y="1435"/>
                  <a:ext cx="273" cy="317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FF3300"/>
                </a:solidFill>
                <a:ln w="9525" cap="flat" cmpd="sng">
                  <a:solidFill>
                    <a:srgbClr val="FFCC66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 anchorCtr="0"/>
                <a:p>
                  <a:endParaRPr lang="zh-CN" altLang="en-US">
                    <a:latin typeface="Arial" panose="020B0604020202020204" pitchFamily="34" charset="0"/>
                    <a:ea typeface="楷体_GB2312" pitchFamily="49" charset="-122"/>
                  </a:endParaRPr>
                </a:p>
              </p:txBody>
            </p:sp>
          </p:grpSp>
          <p:grpSp>
            <p:nvGrpSpPr>
              <p:cNvPr id="60424" name="组合 502792"/>
              <p:cNvGrpSpPr/>
              <p:nvPr/>
            </p:nvGrpSpPr>
            <p:grpSpPr>
              <a:xfrm rot="5400000">
                <a:off x="4420" y="1795"/>
                <a:ext cx="91" cy="272"/>
                <a:chOff x="2835" y="2795"/>
                <a:chExt cx="90" cy="273"/>
              </a:xfrm>
            </p:grpSpPr>
            <p:sp>
              <p:nvSpPr>
                <p:cNvPr id="60425" name="直接连接符 502793"/>
                <p:cNvSpPr/>
                <p:nvPr/>
              </p:nvSpPr>
              <p:spPr>
                <a:xfrm>
                  <a:off x="2835" y="2796"/>
                  <a:ext cx="0" cy="272"/>
                </a:xfrm>
                <a:prstGeom prst="line">
                  <a:avLst/>
                </a:prstGeom>
                <a:ln w="38100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0426" name="直接连接符 502794"/>
                <p:cNvSpPr/>
                <p:nvPr/>
              </p:nvSpPr>
              <p:spPr>
                <a:xfrm>
                  <a:off x="2925" y="2795"/>
                  <a:ext cx="0" cy="272"/>
                </a:xfrm>
                <a:prstGeom prst="line">
                  <a:avLst/>
                </a:prstGeom>
                <a:ln w="38100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60427" name="直接连接符 502795"/>
              <p:cNvSpPr/>
              <p:nvPr/>
            </p:nvSpPr>
            <p:spPr>
              <a:xfrm>
                <a:off x="4468" y="1979"/>
                <a:ext cx="0" cy="589"/>
              </a:xfrm>
              <a:prstGeom prst="line">
                <a:avLst/>
              </a:prstGeom>
              <a:ln w="28575" cap="flat" cmpd="sng">
                <a:solidFill>
                  <a:srgbClr val="FFCC66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60428" name="直接连接符 502796"/>
              <p:cNvSpPr/>
              <p:nvPr/>
            </p:nvSpPr>
            <p:spPr>
              <a:xfrm>
                <a:off x="3696" y="1026"/>
                <a:ext cx="772" cy="0"/>
              </a:xfrm>
              <a:prstGeom prst="line">
                <a:avLst/>
              </a:prstGeom>
              <a:ln w="28575" cap="flat" cmpd="sng">
                <a:solidFill>
                  <a:srgbClr val="FFCC6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0429" name="直接连接符 502797"/>
              <p:cNvSpPr/>
              <p:nvPr/>
            </p:nvSpPr>
            <p:spPr>
              <a:xfrm flipH="1">
                <a:off x="4468" y="1752"/>
                <a:ext cx="771" cy="0"/>
              </a:xfrm>
              <a:prstGeom prst="line">
                <a:avLst/>
              </a:prstGeom>
              <a:ln w="28575" cap="flat" cmpd="sng">
                <a:solidFill>
                  <a:srgbClr val="FFCC66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60430" name="直接连接符 502798"/>
              <p:cNvSpPr/>
              <p:nvPr/>
            </p:nvSpPr>
            <p:spPr>
              <a:xfrm>
                <a:off x="3696" y="1026"/>
                <a:ext cx="0" cy="1542"/>
              </a:xfrm>
              <a:prstGeom prst="line">
                <a:avLst/>
              </a:prstGeom>
              <a:ln w="28575" cap="flat" cmpd="sng">
                <a:solidFill>
                  <a:srgbClr val="FFCC66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60431" name="文本框 502799"/>
              <p:cNvSpPr txBox="1"/>
              <p:nvPr/>
            </p:nvSpPr>
            <p:spPr>
              <a:xfrm>
                <a:off x="4921" y="1797"/>
                <a:ext cx="499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0" i="1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r>
                  <a:rPr lang="en-US" altLang="zh-CN" b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(</a:t>
                </a:r>
                <a:r>
                  <a:rPr lang="en-US" altLang="zh-CN" b="0" i="1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t</a:t>
                </a:r>
                <a:r>
                  <a:rPr lang="en-US" altLang="zh-CN" b="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)</a:t>
                </a:r>
                <a:endPara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432" name="直接连接符 502800"/>
              <p:cNvSpPr/>
              <p:nvPr/>
            </p:nvSpPr>
            <p:spPr>
              <a:xfrm flipH="1">
                <a:off x="4468" y="2205"/>
                <a:ext cx="771" cy="0"/>
              </a:xfrm>
              <a:prstGeom prst="line">
                <a:avLst/>
              </a:prstGeom>
              <a:ln w="28575" cap="flat" cmpd="sng">
                <a:solidFill>
                  <a:srgbClr val="FFCC66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60433" name="文本框 502801"/>
              <p:cNvSpPr txBox="1"/>
              <p:nvPr/>
            </p:nvSpPr>
            <p:spPr>
              <a:xfrm>
                <a:off x="5057" y="1480"/>
                <a:ext cx="27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434" name="文本框 502802"/>
              <p:cNvSpPr txBox="1"/>
              <p:nvPr/>
            </p:nvSpPr>
            <p:spPr>
              <a:xfrm>
                <a:off x="5057" y="2205"/>
                <a:ext cx="27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-</a:t>
                </a:r>
                <a:endParaRPr lang="en-US" altLang="zh-CN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60435" name="文本框 502803"/>
              <p:cNvSpPr txBox="1"/>
              <p:nvPr/>
            </p:nvSpPr>
            <p:spPr>
              <a:xfrm>
                <a:off x="3016" y="1616"/>
                <a:ext cx="1089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0" i="1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r>
                  <a:rPr lang="en-US" altLang="zh-CN" b="0" i="1" baseline="-2500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s</a:t>
                </a:r>
                <a:r>
                  <a:rPr lang="en-US" altLang="zh-CN" b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(</a:t>
                </a:r>
                <a:r>
                  <a:rPr lang="en-US" altLang="zh-CN" b="0" i="1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t</a:t>
                </a:r>
                <a:r>
                  <a:rPr lang="en-US" altLang="zh-CN" b="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)</a:t>
                </a:r>
                <a:endPara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436" name="文本框 502804"/>
              <p:cNvSpPr txBox="1"/>
              <p:nvPr/>
            </p:nvSpPr>
            <p:spPr>
              <a:xfrm>
                <a:off x="3334" y="1299"/>
                <a:ext cx="27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437" name="文本框 502805"/>
              <p:cNvSpPr txBox="1"/>
              <p:nvPr/>
            </p:nvSpPr>
            <p:spPr>
              <a:xfrm>
                <a:off x="3334" y="2024"/>
                <a:ext cx="27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-</a:t>
                </a:r>
                <a:endParaRPr lang="en-US" altLang="zh-CN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60438" name="圆角矩形标注 502806"/>
            <p:cNvSpPr/>
            <p:nvPr/>
          </p:nvSpPr>
          <p:spPr>
            <a:xfrm>
              <a:off x="3833" y="2523"/>
              <a:ext cx="590" cy="545"/>
            </a:xfrm>
            <a:prstGeom prst="wedgeRoundRectCallout">
              <a:avLst>
                <a:gd name="adj1" fmla="val 44917"/>
                <a:gd name="adj2" fmla="val -136421"/>
                <a:gd name="adj3" fmla="val 16667"/>
              </a:avLst>
            </a:prstGeom>
            <a:solidFill>
              <a:srgbClr val="FF99FF"/>
            </a:solidFill>
            <a:ln w="9525">
              <a:noFill/>
            </a:ln>
          </p:spPr>
          <p:txBody>
            <a:bodyPr anchor="t" anchorCtr="0"/>
            <a:p>
              <a:pPr algn="ctr"/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固定电容</a:t>
              </a:r>
              <a:endParaRPr lang="zh-CN" altLang="en-US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02808" name="组合 502807"/>
          <p:cNvGrpSpPr/>
          <p:nvPr/>
        </p:nvGrpSpPr>
        <p:grpSpPr>
          <a:xfrm>
            <a:off x="4859338" y="1125538"/>
            <a:ext cx="3816350" cy="2447925"/>
            <a:chOff x="3061" y="799"/>
            <a:chExt cx="2404" cy="1542"/>
          </a:xfrm>
        </p:grpSpPr>
        <p:sp>
          <p:nvSpPr>
            <p:cNvPr id="60440" name="直接连接符 502808"/>
            <p:cNvSpPr/>
            <p:nvPr/>
          </p:nvSpPr>
          <p:spPr>
            <a:xfrm>
              <a:off x="4513" y="799"/>
              <a:ext cx="0" cy="227"/>
            </a:xfrm>
            <a:prstGeom prst="line">
              <a:avLst/>
            </a:prstGeom>
            <a:ln w="28575" cap="flat" cmpd="sng">
              <a:solidFill>
                <a:srgbClr val="FFCC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0441" name="文本框 502809"/>
            <p:cNvSpPr txBox="1"/>
            <p:nvPr/>
          </p:nvSpPr>
          <p:spPr>
            <a:xfrm>
              <a:off x="4649" y="890"/>
              <a:ext cx="42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42" name="文本框 502810"/>
            <p:cNvSpPr txBox="1"/>
            <p:nvPr/>
          </p:nvSpPr>
          <p:spPr>
            <a:xfrm>
              <a:off x="4059" y="1661"/>
              <a:ext cx="42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43" name="椭圆 502811"/>
            <p:cNvSpPr/>
            <p:nvPr/>
          </p:nvSpPr>
          <p:spPr>
            <a:xfrm>
              <a:off x="3515" y="1343"/>
              <a:ext cx="453" cy="454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0444" name="直接连接符 502812"/>
            <p:cNvSpPr/>
            <p:nvPr/>
          </p:nvSpPr>
          <p:spPr>
            <a:xfrm>
              <a:off x="4513" y="1117"/>
              <a:ext cx="0" cy="544"/>
            </a:xfrm>
            <a:prstGeom prst="line">
              <a:avLst/>
            </a:prstGeom>
            <a:ln w="28575" cap="flat" cmpd="sng">
              <a:solidFill>
                <a:srgbClr val="FFCC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0445" name="组合 502813"/>
            <p:cNvGrpSpPr/>
            <p:nvPr/>
          </p:nvGrpSpPr>
          <p:grpSpPr>
            <a:xfrm rot="5400000">
              <a:off x="4465" y="1568"/>
              <a:ext cx="91" cy="272"/>
              <a:chOff x="2835" y="2795"/>
              <a:chExt cx="90" cy="273"/>
            </a:xfrm>
          </p:grpSpPr>
          <p:sp>
            <p:nvSpPr>
              <p:cNvPr id="60446" name="直接连接符 502814"/>
              <p:cNvSpPr/>
              <p:nvPr/>
            </p:nvSpPr>
            <p:spPr>
              <a:xfrm>
                <a:off x="2835" y="2796"/>
                <a:ext cx="0" cy="272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0447" name="直接连接符 502815"/>
              <p:cNvSpPr/>
              <p:nvPr/>
            </p:nvSpPr>
            <p:spPr>
              <a:xfrm>
                <a:off x="2925" y="2795"/>
                <a:ext cx="0" cy="272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60448" name="直接连接符 502816"/>
            <p:cNvSpPr/>
            <p:nvPr/>
          </p:nvSpPr>
          <p:spPr>
            <a:xfrm>
              <a:off x="4513" y="1752"/>
              <a:ext cx="0" cy="589"/>
            </a:xfrm>
            <a:prstGeom prst="line">
              <a:avLst/>
            </a:prstGeom>
            <a:ln w="28575" cap="flat" cmpd="sng">
              <a:solidFill>
                <a:srgbClr val="FFCC66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0449" name="直接连接符 502817"/>
            <p:cNvSpPr/>
            <p:nvPr/>
          </p:nvSpPr>
          <p:spPr>
            <a:xfrm>
              <a:off x="3741" y="799"/>
              <a:ext cx="772" cy="0"/>
            </a:xfrm>
            <a:prstGeom prst="line">
              <a:avLst/>
            </a:prstGeom>
            <a:ln w="28575" cap="flat" cmpd="sng">
              <a:solidFill>
                <a:srgbClr val="FFCC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0450" name="直接连接符 502818"/>
            <p:cNvSpPr/>
            <p:nvPr/>
          </p:nvSpPr>
          <p:spPr>
            <a:xfrm flipH="1">
              <a:off x="4513" y="1525"/>
              <a:ext cx="771" cy="0"/>
            </a:xfrm>
            <a:prstGeom prst="line">
              <a:avLst/>
            </a:prstGeom>
            <a:ln w="28575" cap="flat" cmpd="sng">
              <a:solidFill>
                <a:srgbClr val="FFCC66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60451" name="直接连接符 502819"/>
            <p:cNvSpPr/>
            <p:nvPr/>
          </p:nvSpPr>
          <p:spPr>
            <a:xfrm>
              <a:off x="3741" y="799"/>
              <a:ext cx="0" cy="1542"/>
            </a:xfrm>
            <a:prstGeom prst="line">
              <a:avLst/>
            </a:prstGeom>
            <a:ln w="28575" cap="flat" cmpd="sng">
              <a:solidFill>
                <a:srgbClr val="FFCC66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0452" name="文本框 502820"/>
            <p:cNvSpPr txBox="1"/>
            <p:nvPr/>
          </p:nvSpPr>
          <p:spPr>
            <a:xfrm>
              <a:off x="4966" y="1570"/>
              <a:ext cx="4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err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err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b="0" i="1" err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53" name="直接连接符 502821"/>
            <p:cNvSpPr/>
            <p:nvPr/>
          </p:nvSpPr>
          <p:spPr>
            <a:xfrm flipH="1">
              <a:off x="4513" y="1978"/>
              <a:ext cx="771" cy="0"/>
            </a:xfrm>
            <a:prstGeom prst="line">
              <a:avLst/>
            </a:prstGeom>
            <a:ln w="28575" cap="flat" cmpd="sng">
              <a:solidFill>
                <a:srgbClr val="FFCC66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60454" name="文本框 502822"/>
            <p:cNvSpPr txBox="1"/>
            <p:nvPr/>
          </p:nvSpPr>
          <p:spPr>
            <a:xfrm>
              <a:off x="5102" y="1253"/>
              <a:ext cx="2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55" name="文本框 502823"/>
            <p:cNvSpPr txBox="1"/>
            <p:nvPr/>
          </p:nvSpPr>
          <p:spPr>
            <a:xfrm>
              <a:off x="5102" y="1978"/>
              <a:ext cx="2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0456" name="文本框 502824"/>
            <p:cNvSpPr txBox="1"/>
            <p:nvPr/>
          </p:nvSpPr>
          <p:spPr>
            <a:xfrm>
              <a:off x="3061" y="1389"/>
              <a:ext cx="108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err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i="1" baseline="-25000" err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  <a:r>
                <a:rPr lang="en-US" altLang="zh-CN" b="0" err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b="0" i="1" err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57" name="文本框 502825"/>
            <p:cNvSpPr txBox="1"/>
            <p:nvPr/>
          </p:nvSpPr>
          <p:spPr>
            <a:xfrm>
              <a:off x="3379" y="1072"/>
              <a:ext cx="2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58" name="文本框 502826"/>
            <p:cNvSpPr txBox="1"/>
            <p:nvPr/>
          </p:nvSpPr>
          <p:spPr>
            <a:xfrm>
              <a:off x="3379" y="1797"/>
              <a:ext cx="2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60459" name="组合 502827"/>
            <p:cNvGrpSpPr/>
            <p:nvPr/>
          </p:nvGrpSpPr>
          <p:grpSpPr>
            <a:xfrm rot="5400000">
              <a:off x="4465" y="933"/>
              <a:ext cx="91" cy="272"/>
              <a:chOff x="2835" y="2795"/>
              <a:chExt cx="90" cy="273"/>
            </a:xfrm>
          </p:grpSpPr>
          <p:sp>
            <p:nvSpPr>
              <p:cNvPr id="60460" name="直接连接符 502828"/>
              <p:cNvSpPr/>
              <p:nvPr/>
            </p:nvSpPr>
            <p:spPr>
              <a:xfrm>
                <a:off x="2835" y="2796"/>
                <a:ext cx="0" cy="272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0461" name="直接连接符 502829"/>
              <p:cNvSpPr/>
              <p:nvPr/>
            </p:nvSpPr>
            <p:spPr>
              <a:xfrm>
                <a:off x="2925" y="2795"/>
                <a:ext cx="0" cy="272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sp>
        <p:nvSpPr>
          <p:cNvPr id="502831" name="文本框 502830"/>
          <p:cNvSpPr txBox="1"/>
          <p:nvPr/>
        </p:nvSpPr>
        <p:spPr>
          <a:xfrm>
            <a:off x="1403350" y="4508500"/>
            <a:ext cx="2233613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457200" indent="-457200"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输出电压：</a:t>
            </a:r>
            <a:endParaRPr lang="zh-CN" altLang="en-US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502832" name="对象 502831"/>
          <p:cNvGraphicFramePr/>
          <p:nvPr/>
        </p:nvGraphicFramePr>
        <p:xfrm>
          <a:off x="3276600" y="4149725"/>
          <a:ext cx="5037138" cy="156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4" name="" r:id="rId1" imgW="1612265" imgH="495300" progId="Equation.3">
                  <p:embed/>
                </p:oleObj>
              </mc:Choice>
              <mc:Fallback>
                <p:oleObj name="" r:id="rId1" imgW="1612265" imgH="495300" progId="Equation.3">
                  <p:embed/>
                  <p:pic>
                    <p:nvPicPr>
                      <p:cNvPr id="0" name="20 315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76600" y="4149725"/>
                        <a:ext cx="5037138" cy="1565275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0464" name="组合 502832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60465" name="20 502833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0466" name="文本框 502834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0467" name="组合 502835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60468" name="20 502836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0469" name="文本框 502837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502839" name="直接连接符 502838"/>
          <p:cNvSpPr/>
          <p:nvPr/>
        </p:nvSpPr>
        <p:spPr>
          <a:xfrm flipV="1">
            <a:off x="6948488" y="4365625"/>
            <a:ext cx="792162" cy="1008063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grpSp>
        <p:nvGrpSpPr>
          <p:cNvPr id="60471" name="组合 502842"/>
          <p:cNvGrpSpPr/>
          <p:nvPr/>
        </p:nvGrpSpPr>
        <p:grpSpPr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60472" name="20 502843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0473" name="文本框 502844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2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02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02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02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502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283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03810" name="组合 503809"/>
          <p:cNvGrpSpPr/>
          <p:nvPr/>
        </p:nvGrpSpPr>
        <p:grpSpPr>
          <a:xfrm>
            <a:off x="1763713" y="836613"/>
            <a:ext cx="5184775" cy="2447925"/>
            <a:chOff x="1156" y="1253"/>
            <a:chExt cx="3266" cy="1542"/>
          </a:xfrm>
        </p:grpSpPr>
        <p:sp>
          <p:nvSpPr>
            <p:cNvPr id="61442" name="直接连接符 503810"/>
            <p:cNvSpPr/>
            <p:nvPr/>
          </p:nvSpPr>
          <p:spPr>
            <a:xfrm>
              <a:off x="3470" y="1253"/>
              <a:ext cx="0" cy="227"/>
            </a:xfrm>
            <a:prstGeom prst="line">
              <a:avLst/>
            </a:prstGeom>
            <a:ln w="28575" cap="flat" cmpd="sng">
              <a:solidFill>
                <a:srgbClr val="FFCC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1443" name="文本框 503811"/>
            <p:cNvSpPr txBox="1"/>
            <p:nvPr/>
          </p:nvSpPr>
          <p:spPr>
            <a:xfrm>
              <a:off x="3606" y="1344"/>
              <a:ext cx="42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444" name="文本框 503812"/>
            <p:cNvSpPr txBox="1"/>
            <p:nvPr/>
          </p:nvSpPr>
          <p:spPr>
            <a:xfrm>
              <a:off x="3016" y="2115"/>
              <a:ext cx="42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445" name="椭圆 503813"/>
            <p:cNvSpPr/>
            <p:nvPr/>
          </p:nvSpPr>
          <p:spPr>
            <a:xfrm>
              <a:off x="1610" y="1797"/>
              <a:ext cx="453" cy="454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1446" name="直接连接符 503814"/>
            <p:cNvSpPr/>
            <p:nvPr/>
          </p:nvSpPr>
          <p:spPr>
            <a:xfrm>
              <a:off x="3470" y="1571"/>
              <a:ext cx="0" cy="544"/>
            </a:xfrm>
            <a:prstGeom prst="line">
              <a:avLst/>
            </a:prstGeom>
            <a:ln w="28575" cap="flat" cmpd="sng">
              <a:solidFill>
                <a:srgbClr val="FFCC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447" name="组合 503815"/>
            <p:cNvGrpSpPr/>
            <p:nvPr/>
          </p:nvGrpSpPr>
          <p:grpSpPr>
            <a:xfrm rot="5400000">
              <a:off x="3422" y="2022"/>
              <a:ext cx="91" cy="272"/>
              <a:chOff x="2835" y="2795"/>
              <a:chExt cx="90" cy="273"/>
            </a:xfrm>
          </p:grpSpPr>
          <p:sp>
            <p:nvSpPr>
              <p:cNvPr id="61448" name="直接连接符 503816"/>
              <p:cNvSpPr/>
              <p:nvPr/>
            </p:nvSpPr>
            <p:spPr>
              <a:xfrm>
                <a:off x="2835" y="2796"/>
                <a:ext cx="0" cy="272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449" name="直接连接符 503817"/>
              <p:cNvSpPr/>
              <p:nvPr/>
            </p:nvSpPr>
            <p:spPr>
              <a:xfrm>
                <a:off x="2925" y="2795"/>
                <a:ext cx="0" cy="272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61450" name="直接连接符 503818"/>
            <p:cNvSpPr/>
            <p:nvPr/>
          </p:nvSpPr>
          <p:spPr>
            <a:xfrm>
              <a:off x="3470" y="2206"/>
              <a:ext cx="0" cy="589"/>
            </a:xfrm>
            <a:prstGeom prst="line">
              <a:avLst/>
            </a:prstGeom>
            <a:ln w="28575" cap="flat" cmpd="sng">
              <a:solidFill>
                <a:srgbClr val="FFCC66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1451" name="直接连接符 503819"/>
            <p:cNvSpPr/>
            <p:nvPr/>
          </p:nvSpPr>
          <p:spPr>
            <a:xfrm>
              <a:off x="1836" y="1253"/>
              <a:ext cx="1634" cy="0"/>
            </a:xfrm>
            <a:prstGeom prst="line">
              <a:avLst/>
            </a:prstGeom>
            <a:ln w="28575" cap="flat" cmpd="sng">
              <a:solidFill>
                <a:srgbClr val="FFCC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1452" name="直接连接符 503820"/>
            <p:cNvSpPr/>
            <p:nvPr/>
          </p:nvSpPr>
          <p:spPr>
            <a:xfrm flipH="1">
              <a:off x="3470" y="1842"/>
              <a:ext cx="771" cy="0"/>
            </a:xfrm>
            <a:prstGeom prst="line">
              <a:avLst/>
            </a:prstGeom>
            <a:ln w="28575" cap="flat" cmpd="sng">
              <a:solidFill>
                <a:srgbClr val="FFCC66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61453" name="直接连接符 503821"/>
            <p:cNvSpPr/>
            <p:nvPr/>
          </p:nvSpPr>
          <p:spPr>
            <a:xfrm>
              <a:off x="1836" y="1253"/>
              <a:ext cx="0" cy="1542"/>
            </a:xfrm>
            <a:prstGeom prst="line">
              <a:avLst/>
            </a:prstGeom>
            <a:ln w="28575" cap="flat" cmpd="sng">
              <a:solidFill>
                <a:srgbClr val="FFCC66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1454" name="文本框 503822"/>
            <p:cNvSpPr txBox="1"/>
            <p:nvPr/>
          </p:nvSpPr>
          <p:spPr>
            <a:xfrm>
              <a:off x="3923" y="2024"/>
              <a:ext cx="4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err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err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b="0" i="1" err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455" name="直接连接符 503823"/>
            <p:cNvSpPr/>
            <p:nvPr/>
          </p:nvSpPr>
          <p:spPr>
            <a:xfrm flipH="1">
              <a:off x="3470" y="2432"/>
              <a:ext cx="771" cy="0"/>
            </a:xfrm>
            <a:prstGeom prst="line">
              <a:avLst/>
            </a:prstGeom>
            <a:ln w="28575" cap="flat" cmpd="sng">
              <a:solidFill>
                <a:srgbClr val="FFCC66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61456" name="文本框 503824"/>
            <p:cNvSpPr txBox="1"/>
            <p:nvPr/>
          </p:nvSpPr>
          <p:spPr>
            <a:xfrm>
              <a:off x="4059" y="1570"/>
              <a:ext cx="2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457" name="文本框 503825"/>
            <p:cNvSpPr txBox="1"/>
            <p:nvPr/>
          </p:nvSpPr>
          <p:spPr>
            <a:xfrm>
              <a:off x="4059" y="2432"/>
              <a:ext cx="2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1458" name="文本框 503826"/>
            <p:cNvSpPr txBox="1"/>
            <p:nvPr/>
          </p:nvSpPr>
          <p:spPr>
            <a:xfrm>
              <a:off x="1156" y="1843"/>
              <a:ext cx="108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 err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i="1" baseline="-25000" err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  <a:r>
                <a:rPr lang="en-US" altLang="zh-CN" b="0" err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b="0" i="1" err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459" name="文本框 503827"/>
            <p:cNvSpPr txBox="1"/>
            <p:nvPr/>
          </p:nvSpPr>
          <p:spPr>
            <a:xfrm>
              <a:off x="1474" y="1526"/>
              <a:ext cx="2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460" name="文本框 503828"/>
            <p:cNvSpPr txBox="1"/>
            <p:nvPr/>
          </p:nvSpPr>
          <p:spPr>
            <a:xfrm>
              <a:off x="1474" y="2251"/>
              <a:ext cx="2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61461" name="组合 503829"/>
            <p:cNvGrpSpPr/>
            <p:nvPr/>
          </p:nvGrpSpPr>
          <p:grpSpPr>
            <a:xfrm rot="5400000">
              <a:off x="3422" y="1387"/>
              <a:ext cx="91" cy="272"/>
              <a:chOff x="2835" y="2795"/>
              <a:chExt cx="90" cy="273"/>
            </a:xfrm>
          </p:grpSpPr>
          <p:sp>
            <p:nvSpPr>
              <p:cNvPr id="61462" name="直接连接符 503830"/>
              <p:cNvSpPr/>
              <p:nvPr/>
            </p:nvSpPr>
            <p:spPr>
              <a:xfrm>
                <a:off x="2835" y="2796"/>
                <a:ext cx="0" cy="272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463" name="直接连接符 503831"/>
              <p:cNvSpPr/>
              <p:nvPr/>
            </p:nvSpPr>
            <p:spPr>
              <a:xfrm>
                <a:off x="2925" y="2795"/>
                <a:ext cx="0" cy="272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61464" name="直接连接符 503832"/>
            <p:cNvSpPr/>
            <p:nvPr/>
          </p:nvSpPr>
          <p:spPr>
            <a:xfrm>
              <a:off x="3061" y="1706"/>
              <a:ext cx="0" cy="272"/>
            </a:xfrm>
            <a:prstGeom prst="line">
              <a:avLst/>
            </a:prstGeom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1465" name="直接连接符 503833"/>
            <p:cNvSpPr/>
            <p:nvPr/>
          </p:nvSpPr>
          <p:spPr>
            <a:xfrm>
              <a:off x="3151" y="1706"/>
              <a:ext cx="0" cy="272"/>
            </a:xfrm>
            <a:prstGeom prst="line">
              <a:avLst/>
            </a:prstGeom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1466" name="直接连接符 503834"/>
            <p:cNvSpPr/>
            <p:nvPr/>
          </p:nvSpPr>
          <p:spPr>
            <a:xfrm>
              <a:off x="2652" y="1706"/>
              <a:ext cx="0" cy="272"/>
            </a:xfrm>
            <a:prstGeom prst="line">
              <a:avLst/>
            </a:prstGeom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1467" name="直接连接符 503835"/>
            <p:cNvSpPr/>
            <p:nvPr/>
          </p:nvSpPr>
          <p:spPr>
            <a:xfrm>
              <a:off x="2743" y="1705"/>
              <a:ext cx="0" cy="272"/>
            </a:xfrm>
            <a:prstGeom prst="line">
              <a:avLst/>
            </a:prstGeom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1468" name="直接连接符 503836"/>
            <p:cNvSpPr/>
            <p:nvPr/>
          </p:nvSpPr>
          <p:spPr>
            <a:xfrm>
              <a:off x="2744" y="1842"/>
              <a:ext cx="317" cy="0"/>
            </a:xfrm>
            <a:prstGeom prst="line">
              <a:avLst/>
            </a:prstGeom>
            <a:ln w="28575" cap="flat" cmpd="sng">
              <a:solidFill>
                <a:srgbClr val="FFCC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1469" name="直接连接符 503837"/>
            <p:cNvSpPr/>
            <p:nvPr/>
          </p:nvSpPr>
          <p:spPr>
            <a:xfrm flipH="1">
              <a:off x="3152" y="1842"/>
              <a:ext cx="318" cy="0"/>
            </a:xfrm>
            <a:prstGeom prst="line">
              <a:avLst/>
            </a:prstGeom>
            <a:ln w="28575" cap="flat" cmpd="sng">
              <a:solidFill>
                <a:srgbClr val="FFCC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1470" name="直接连接符 503838"/>
            <p:cNvSpPr/>
            <p:nvPr/>
          </p:nvSpPr>
          <p:spPr>
            <a:xfrm flipH="1" flipV="1">
              <a:off x="2290" y="1253"/>
              <a:ext cx="0" cy="589"/>
            </a:xfrm>
            <a:prstGeom prst="line">
              <a:avLst/>
            </a:prstGeom>
            <a:ln w="28575" cap="flat" cmpd="sng">
              <a:solidFill>
                <a:srgbClr val="FFCC66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61471" name="直接连接符 503839"/>
            <p:cNvSpPr/>
            <p:nvPr/>
          </p:nvSpPr>
          <p:spPr>
            <a:xfrm flipH="1">
              <a:off x="2290" y="1842"/>
              <a:ext cx="363" cy="0"/>
            </a:xfrm>
            <a:prstGeom prst="line">
              <a:avLst/>
            </a:prstGeom>
            <a:ln w="28575" cap="flat" cmpd="sng">
              <a:solidFill>
                <a:srgbClr val="FFCC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1472" name="文本框 503840"/>
            <p:cNvSpPr txBox="1"/>
            <p:nvPr/>
          </p:nvSpPr>
          <p:spPr>
            <a:xfrm>
              <a:off x="2971" y="1389"/>
              <a:ext cx="42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473" name="文本框 503841"/>
            <p:cNvSpPr txBox="1"/>
            <p:nvPr/>
          </p:nvSpPr>
          <p:spPr>
            <a:xfrm>
              <a:off x="2472" y="1389"/>
              <a:ext cx="42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b="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b="0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474" name="直接连接符 503842"/>
            <p:cNvSpPr/>
            <p:nvPr/>
          </p:nvSpPr>
          <p:spPr>
            <a:xfrm>
              <a:off x="2880" y="1842"/>
              <a:ext cx="0" cy="363"/>
            </a:xfrm>
            <a:prstGeom prst="line">
              <a:avLst/>
            </a:prstGeom>
            <a:ln w="28575" cap="flat" cmpd="sng">
              <a:solidFill>
                <a:srgbClr val="FFCC66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aphicFrame>
        <p:nvGraphicFramePr>
          <p:cNvPr id="503844" name="对象 503843"/>
          <p:cNvGraphicFramePr/>
          <p:nvPr/>
        </p:nvGraphicFramePr>
        <p:xfrm>
          <a:off x="2627313" y="3500438"/>
          <a:ext cx="4645025" cy="1220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5" name="" r:id="rId1" imgW="1955800" imgH="508000" progId="Equation.3">
                  <p:embed/>
                </p:oleObj>
              </mc:Choice>
              <mc:Fallback>
                <p:oleObj name="" r:id="rId1" imgW="1955800" imgH="508000" progId="Equation.3">
                  <p:embed/>
                  <p:pic>
                    <p:nvPicPr>
                      <p:cNvPr id="0" name="20 315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27313" y="3500438"/>
                        <a:ext cx="4645025" cy="1220787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3845" name="文本框 503844"/>
          <p:cNvSpPr txBox="1"/>
          <p:nvPr/>
        </p:nvSpPr>
        <p:spPr>
          <a:xfrm>
            <a:off x="900113" y="3789363"/>
            <a:ext cx="2233612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457200" indent="-457200"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输出电压：</a:t>
            </a:r>
            <a:endParaRPr lang="zh-CN" altLang="en-US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03846" name="文本框 503845"/>
          <p:cNvSpPr txBox="1"/>
          <p:nvPr/>
        </p:nvSpPr>
        <p:spPr>
          <a:xfrm>
            <a:off x="827088" y="5013325"/>
            <a:ext cx="7345362" cy="1117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457200" indent="-457200">
              <a:lnSpc>
                <a:spcPct val="120000"/>
              </a:lnSpc>
              <a:spcBef>
                <a:spcPct val="50000"/>
              </a:spcBef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     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控制计算机检测到输出电压的下降，导致电梯到达相应楼层。</a:t>
            </a:r>
            <a:endParaRPr lang="zh-CN" altLang="en-US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61478" name="组合 503849"/>
          <p:cNvGrpSpPr/>
          <p:nvPr/>
        </p:nvGrpSpPr>
        <p:grpSpPr>
          <a:xfrm>
            <a:off x="8316913" y="6446838"/>
            <a:ext cx="792162" cy="366712"/>
            <a:chOff x="4649" y="4020"/>
            <a:chExt cx="499" cy="231"/>
          </a:xfrm>
        </p:grpSpPr>
        <p:pic>
          <p:nvPicPr>
            <p:cNvPr id="61479" name="20 503850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1480" name="文本框 503851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503853" name="直接连接符 503852"/>
          <p:cNvSpPr/>
          <p:nvPr/>
        </p:nvSpPr>
        <p:spPr>
          <a:xfrm flipV="1">
            <a:off x="6300788" y="3500438"/>
            <a:ext cx="792162" cy="1008062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grpSp>
        <p:nvGrpSpPr>
          <p:cNvPr id="61482" name="组合 503856"/>
          <p:cNvGrpSpPr/>
          <p:nvPr/>
        </p:nvGrpSpPr>
        <p:grpSpPr>
          <a:xfrm>
            <a:off x="7451725" y="6445250"/>
            <a:ext cx="792163" cy="366713"/>
            <a:chOff x="4649" y="4020"/>
            <a:chExt cx="499" cy="231"/>
          </a:xfrm>
        </p:grpSpPr>
        <p:pic>
          <p:nvPicPr>
            <p:cNvPr id="61483" name="20 503857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1484" name="文本框 503858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3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03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03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03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03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3845" grpId="0"/>
      <p:bldP spid="503846" grpId="0"/>
    </p:bldLst>
  </p:timing>
</p:sld>
</file>

<file path=ppt/tags/tag1.xml><?xml version="1.0" encoding="utf-8"?>
<p:tagLst xmlns:p="http://schemas.openxmlformats.org/presentationml/2006/main">
  <p:tag name="KSO_WPP_MARK_KEY" val="9b595722-e8ee-49e5-8fd7-65a618e47646"/>
  <p:tag name="COMMONDATA" val="eyJoZGlkIjoiOGU3NWY5ODU4NzI2NzNlZjYxODI4YjhmYmVlMDhlNGMifQ=="/>
</p:tagLst>
</file>

<file path=ppt/theme/theme1.xml><?xml version="1.0" encoding="utf-8"?>
<a:theme xmlns:a="http://schemas.openxmlformats.org/drawingml/2006/main" name="Beam">
  <a:themeElements>
    <a:clrScheme name="">
      <a:dk1>
        <a:srgbClr val="FFFFFF"/>
      </a:dk1>
      <a:lt1>
        <a:srgbClr val="000099"/>
      </a:lt1>
      <a:dk2>
        <a:srgbClr val="FFFFFF"/>
      </a:dk2>
      <a:lt2>
        <a:srgbClr val="000080"/>
      </a:lt2>
      <a:accent1>
        <a:srgbClr val="3366FF"/>
      </a:accent1>
      <a:accent2>
        <a:srgbClr val="7B46D0"/>
      </a:accent2>
      <a:accent3>
        <a:srgbClr val="AAAACA"/>
      </a:accent3>
      <a:accent4>
        <a:srgbClr val="DCDCDC"/>
      </a:accent4>
      <a:accent5>
        <a:srgbClr val="ADB9FF"/>
      </a:accent5>
      <a:accent6>
        <a:srgbClr val="6E3EBA"/>
      </a:accent6>
      <a:hlink>
        <a:srgbClr val="86D1EC"/>
      </a:hlink>
      <a:folHlink>
        <a:srgbClr val="45C984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FFFFFF"/>
        </a:dk1>
        <a:lt1>
          <a:srgbClr val="000066"/>
        </a:lt1>
        <a:dk2>
          <a:srgbClr val="CCCCFF"/>
        </a:dk2>
        <a:lt2>
          <a:srgbClr val="1A006C"/>
        </a:lt2>
        <a:accent1>
          <a:srgbClr val="0099CC"/>
        </a:accent1>
        <a:accent2>
          <a:srgbClr val="6600CC"/>
        </a:accent2>
        <a:accent3>
          <a:srgbClr val="AAAAB9"/>
        </a:accent3>
        <a:accent4>
          <a:srgbClr val="DCDCDC"/>
        </a:accent4>
        <a:accent5>
          <a:srgbClr val="AACAE2"/>
        </a:accent5>
        <a:accent6>
          <a:srgbClr val="5B00B7"/>
        </a:accent6>
        <a:hlink>
          <a:srgbClr val="9999FF"/>
        </a:hlink>
        <a:folHlink>
          <a:srgbClr val="33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FFFFFF"/>
        </a:dk2>
        <a:lt2>
          <a:srgbClr val="000080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CDCDC"/>
        </a:accent4>
        <a:accent5>
          <a:srgbClr val="ADB9FF"/>
        </a:accent5>
        <a:accent6>
          <a:srgbClr val="6E3EBA"/>
        </a:accent6>
        <a:hlink>
          <a:srgbClr val="86D1EC"/>
        </a:hlink>
        <a:folHlink>
          <a:srgbClr val="45C98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F598D"/>
        </a:lt1>
        <a:dk2>
          <a:srgbClr val="CCECFF"/>
        </a:dk2>
        <a:lt2>
          <a:srgbClr val="3F4873"/>
        </a:lt2>
        <a:accent1>
          <a:srgbClr val="0099CC"/>
        </a:accent1>
        <a:accent2>
          <a:srgbClr val="4C8470"/>
        </a:accent2>
        <a:accent3>
          <a:srgbClr val="B3B5C5"/>
        </a:accent3>
        <a:accent4>
          <a:srgbClr val="DCDCDC"/>
        </a:accent4>
        <a:accent5>
          <a:srgbClr val="AACAE2"/>
        </a:accent5>
        <a:accent6>
          <a:srgbClr val="437664"/>
        </a:accent6>
        <a:hlink>
          <a:srgbClr val="99CC00"/>
        </a:hlink>
        <a:folHlink>
          <a:srgbClr val="96A4C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E2EFCD"/>
        </a:dk2>
        <a:lt2>
          <a:srgbClr val="006E6B"/>
        </a:lt2>
        <a:accent1>
          <a:srgbClr val="33CCCC"/>
        </a:accent1>
        <a:accent2>
          <a:srgbClr val="6352B8"/>
        </a:accent2>
        <a:accent3>
          <a:srgbClr val="AAC1C1"/>
        </a:accent3>
        <a:accent4>
          <a:srgbClr val="DCDCDC"/>
        </a:accent4>
        <a:accent5>
          <a:srgbClr val="ADE2E2"/>
        </a:accent5>
        <a:accent6>
          <a:srgbClr val="5849A5"/>
        </a:accent6>
        <a:hlink>
          <a:srgbClr val="CCF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46434"/>
        </a:lt1>
        <a:dk2>
          <a:srgbClr val="FFFFCC"/>
        </a:dk2>
        <a:lt2>
          <a:srgbClr val="48562C"/>
        </a:lt2>
        <a:accent1>
          <a:srgbClr val="7B8A6E"/>
        </a:accent1>
        <a:accent2>
          <a:srgbClr val="527C3A"/>
        </a:accent2>
        <a:accent3>
          <a:srgbClr val="B4B8AD"/>
        </a:accent3>
        <a:accent4>
          <a:srgbClr val="DCDCDC"/>
        </a:accent4>
        <a:accent5>
          <a:srgbClr val="BFC4BB"/>
        </a:accent5>
        <a:accent6>
          <a:srgbClr val="496F33"/>
        </a:accent6>
        <a:hlink>
          <a:srgbClr val="55B55E"/>
        </a:hlink>
        <a:folHlink>
          <a:srgbClr val="85B3B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A5BDAC"/>
        </a:lt1>
        <a:dk2>
          <a:srgbClr val="FFFFCC"/>
        </a:dk2>
        <a:lt2>
          <a:srgbClr val="96B29E"/>
        </a:lt2>
        <a:accent1>
          <a:srgbClr val="4E8880"/>
        </a:accent1>
        <a:accent2>
          <a:srgbClr val="2F71B9"/>
        </a:accent2>
        <a:accent3>
          <a:srgbClr val="CFDAD2"/>
        </a:accent3>
        <a:accent4>
          <a:srgbClr val="DCDCDC"/>
        </a:accent4>
        <a:accent5>
          <a:srgbClr val="B3C4C1"/>
        </a:accent5>
        <a:accent6>
          <a:srgbClr val="2965A6"/>
        </a:accent6>
        <a:hlink>
          <a:srgbClr val="9DC0E7"/>
        </a:hlink>
        <a:folHlink>
          <a:srgbClr val="54CA8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CC9900"/>
        </a:lt1>
        <a:dk2>
          <a:srgbClr val="CEBD40"/>
        </a:dk2>
        <a:lt2>
          <a:srgbClr val="D49C0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CDCDC"/>
        </a:accent4>
        <a:accent5>
          <a:srgbClr val="E2B9AA"/>
        </a:accent5>
        <a:accent6>
          <a:srgbClr val="727200"/>
        </a:accent6>
        <a:hlink>
          <a:srgbClr val="FF9900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AF9E6"/>
        </a:dk1>
        <a:lt1>
          <a:srgbClr val="990000"/>
        </a:lt1>
        <a:dk2>
          <a:srgbClr val="EADC78"/>
        </a:dk2>
        <a:lt2>
          <a:srgbClr val="881700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8D7C6"/>
        </a:accent4>
        <a:accent5>
          <a:srgbClr val="FFB9AA"/>
        </a:accent5>
        <a:accent6>
          <a:srgbClr val="A56149"/>
        </a:accent6>
        <a:hlink>
          <a:srgbClr val="D78D15"/>
        </a:hlink>
        <a:folHlink>
          <a:srgbClr val="C6B37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4CA96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Beam</Template>
  <TotalTime>0</TotalTime>
  <Words>3015</Words>
  <Application>WPS 演示</Application>
  <PresentationFormat>在屏幕上显示</PresentationFormat>
  <Paragraphs>1163</Paragraphs>
  <Slides>51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90</vt:i4>
      </vt:variant>
      <vt:variant>
        <vt:lpstr>幻灯片标题</vt:lpstr>
      </vt:variant>
      <vt:variant>
        <vt:i4>51</vt:i4>
      </vt:variant>
    </vt:vector>
  </HeadingPairs>
  <TitlesOfParts>
    <vt:vector size="158" baseType="lpstr">
      <vt:lpstr>Arial</vt:lpstr>
      <vt:lpstr>宋体</vt:lpstr>
      <vt:lpstr>Wingdings</vt:lpstr>
      <vt:lpstr>楷体_GB2312</vt:lpstr>
      <vt:lpstr>新宋体</vt:lpstr>
      <vt:lpstr>华文行楷</vt:lpstr>
      <vt:lpstr>隶书</vt:lpstr>
      <vt:lpstr>Times New Roman</vt:lpstr>
      <vt:lpstr>Monotype Sorts</vt:lpstr>
      <vt:lpstr>仿宋_GB2312</vt:lpstr>
      <vt:lpstr>Symbol</vt:lpstr>
      <vt:lpstr>华文中宋</vt:lpstr>
      <vt:lpstr>微软雅黑</vt:lpstr>
      <vt:lpstr>Arial Unicode MS</vt:lpstr>
      <vt:lpstr>仿宋</vt:lpstr>
      <vt:lpstr>Wingdings</vt:lpstr>
      <vt:lpstr>Beam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Visio.Drawing.6</vt:lpstr>
      <vt:lpstr>Visio.Drawing.6</vt:lpstr>
      <vt:lpstr>Equation.3</vt:lpstr>
      <vt:lpstr>Equation.3</vt:lpstr>
      <vt:lpstr>Equation.3</vt:lpstr>
      <vt:lpstr>Visio.Drawing.6</vt:lpstr>
      <vt:lpstr>Equation.3</vt:lpstr>
      <vt:lpstr>Visio.Drawing.6</vt:lpstr>
      <vt:lpstr>Equation.3</vt:lpstr>
      <vt:lpstr>Equation.3</vt:lpstr>
      <vt:lpstr>Visio.Drawing.6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Visio.Drawing.6</vt:lpstr>
      <vt:lpstr>Visio.Drawing.6</vt:lpstr>
      <vt:lpstr>Visio.Drawing.6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xjtu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zyz</dc:creator>
  <cp:lastModifiedBy>Brina徐</cp:lastModifiedBy>
  <cp:revision>629</cp:revision>
  <dcterms:created xsi:type="dcterms:W3CDTF">2002-05-27T07:30:00Z</dcterms:created>
  <dcterms:modified xsi:type="dcterms:W3CDTF">2023-04-02T02:11:04Z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149BA09E98F24063AF3D9F242E381BCA</vt:lpwstr>
  </property>
  <property fmtid="{D5CDD505-2E9C-101B-9397-08002B2CF9AE}" pid="3" name="KSOProductBuildVer">
    <vt:lpwstr>2052-11.1.0.13703</vt:lpwstr>
  </property>
</Properties>
</file>