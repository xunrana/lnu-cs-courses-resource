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emf" ContentType="image/x-emf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9"/>
  </p:notesMasterIdLst>
  <p:sldIdLst>
    <p:sldId id="424" r:id="rId3"/>
    <p:sldId id="423" r:id="rId4"/>
    <p:sldId id="260" r:id="rId5"/>
    <p:sldId id="261" r:id="rId6"/>
    <p:sldId id="262" r:id="rId7"/>
    <p:sldId id="396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8" r:id="rId19"/>
    <p:sldId id="274" r:id="rId20"/>
    <p:sldId id="279" r:id="rId21"/>
    <p:sldId id="277" r:id="rId22"/>
    <p:sldId id="390" r:id="rId23"/>
    <p:sldId id="417" r:id="rId24"/>
    <p:sldId id="419" r:id="rId25"/>
    <p:sldId id="420" r:id="rId26"/>
    <p:sldId id="421" r:id="rId27"/>
    <p:sldId id="280" r:id="rId28"/>
    <p:sldId id="281" r:id="rId29"/>
    <p:sldId id="283" r:id="rId30"/>
    <p:sldId id="282" r:id="rId31"/>
    <p:sldId id="286" r:id="rId32"/>
    <p:sldId id="351" r:id="rId33"/>
    <p:sldId id="302" r:id="rId34"/>
    <p:sldId id="303" r:id="rId35"/>
    <p:sldId id="304" r:id="rId36"/>
    <p:sldId id="305" r:id="rId37"/>
    <p:sldId id="307" r:id="rId38"/>
    <p:sldId id="391" r:id="rId39"/>
    <p:sldId id="308" r:id="rId40"/>
    <p:sldId id="310" r:id="rId41"/>
    <p:sldId id="403" r:id="rId42"/>
    <p:sldId id="404" r:id="rId43"/>
    <p:sldId id="405" r:id="rId44"/>
    <p:sldId id="406" r:id="rId45"/>
    <p:sldId id="415" r:id="rId46"/>
    <p:sldId id="401" r:id="rId47"/>
    <p:sldId id="402" r:id="rId48"/>
    <p:sldId id="312" r:id="rId49"/>
    <p:sldId id="313" r:id="rId50"/>
    <p:sldId id="314" r:id="rId51"/>
    <p:sldId id="315" r:id="rId52"/>
    <p:sldId id="316" r:id="rId53"/>
    <p:sldId id="393" r:id="rId54"/>
    <p:sldId id="317" r:id="rId55"/>
    <p:sldId id="318" r:id="rId56"/>
    <p:sldId id="319" r:id="rId57"/>
    <p:sldId id="320" r:id="rId58"/>
    <p:sldId id="321" r:id="rId59"/>
    <p:sldId id="394" r:id="rId60"/>
    <p:sldId id="322" r:id="rId61"/>
    <p:sldId id="395" r:id="rId62"/>
    <p:sldId id="323" r:id="rId63"/>
    <p:sldId id="324" r:id="rId64"/>
    <p:sldId id="325" r:id="rId65"/>
    <p:sldId id="326" r:id="rId66"/>
    <p:sldId id="422" r:id="rId67"/>
    <p:sldId id="340" r:id="rId68"/>
    <p:sldId id="341" r:id="rId70"/>
    <p:sldId id="329" r:id="rId71"/>
  </p:sldIdLst>
  <p:sldSz cx="9144000" cy="6858000" type="screen4x3"/>
  <p:notesSz cx="6858000" cy="9144000"/>
  <p:custDataLst>
    <p:tags r:id="rId75"/>
  </p:custDataLst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rgbClr val="FFFF00"/>
        </a:solidFill>
        <a:latin typeface="Arial" panose="020B0604020202020204" pitchFamily="34" charset="0"/>
        <a:ea typeface="楷体_GB2312" pitchFamily="49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rgbClr val="FFFF00"/>
        </a:solidFill>
        <a:latin typeface="Arial" panose="020B0604020202020204" pitchFamily="34" charset="0"/>
        <a:ea typeface="楷体_GB2312" pitchFamily="49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rgbClr val="FFFF00"/>
        </a:solidFill>
        <a:latin typeface="Arial" panose="020B0604020202020204" pitchFamily="34" charset="0"/>
        <a:ea typeface="楷体_GB2312" pitchFamily="49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rgbClr val="FFFF00"/>
        </a:solidFill>
        <a:latin typeface="Arial" panose="020B0604020202020204" pitchFamily="34" charset="0"/>
        <a:ea typeface="楷体_GB2312" pitchFamily="49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rgbClr val="FFFF00"/>
        </a:solidFill>
        <a:latin typeface="Arial" panose="020B0604020202020204" pitchFamily="34" charset="0"/>
        <a:ea typeface="楷体_GB2312" pitchFamily="49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rgbClr val="FFFF00"/>
        </a:solidFill>
        <a:latin typeface="Arial" panose="020B0604020202020204" pitchFamily="34" charset="0"/>
        <a:ea typeface="楷体_GB2312" pitchFamily="49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rgbClr val="FFFF00"/>
        </a:solidFill>
        <a:latin typeface="Arial" panose="020B0604020202020204" pitchFamily="34" charset="0"/>
        <a:ea typeface="楷体_GB2312" pitchFamily="49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rgbClr val="FFFF00"/>
        </a:solidFill>
        <a:latin typeface="Arial" panose="020B0604020202020204" pitchFamily="34" charset="0"/>
        <a:ea typeface="楷体_GB2312" pitchFamily="49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rgbClr val="FFFF00"/>
        </a:solidFill>
        <a:latin typeface="Arial" panose="020B0604020202020204" pitchFamily="34" charset="0"/>
        <a:ea typeface="楷体_GB2312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5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clrMru>
    <a:srgbClr val="FFFF00"/>
    <a:srgbClr val="FFCC00"/>
    <a:srgbClr val="000000"/>
    <a:srgbClr val="663300"/>
    <a:srgbClr val="FF99FF"/>
    <a:srgbClr val="3366FF"/>
    <a:srgbClr val="000066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778"/>
    <p:restoredTop sz="94718"/>
  </p:normalViewPr>
  <p:slideViewPr>
    <p:cSldViewPr showGuides="1">
      <p:cViewPr varScale="1">
        <p:scale>
          <a:sx n="58" d="100"/>
          <a:sy n="58" d="100"/>
        </p:scale>
        <p:origin x="952" y="40"/>
      </p:cViewPr>
      <p:guideLst>
        <p:guide orient="horz" pos="2115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5" Type="http://schemas.openxmlformats.org/officeDocument/2006/relationships/tags" Target="tags/tag1.xml"/><Relationship Id="rId74" Type="http://schemas.openxmlformats.org/officeDocument/2006/relationships/tableStyles" Target="tableStyles.xml"/><Relationship Id="rId73" Type="http://schemas.openxmlformats.org/officeDocument/2006/relationships/viewProps" Target="viewProps.xml"/><Relationship Id="rId72" Type="http://schemas.openxmlformats.org/officeDocument/2006/relationships/presProps" Target="presProps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slide" Target="slides/slide5.xml"/><Relationship Id="rId69" Type="http://schemas.openxmlformats.org/officeDocument/2006/relationships/notesMaster" Target="notesMasters/notesMaster1.xml"/><Relationship Id="rId68" Type="http://schemas.openxmlformats.org/officeDocument/2006/relationships/slide" Target="slides/slide66.xml"/><Relationship Id="rId67" Type="http://schemas.openxmlformats.org/officeDocument/2006/relationships/slide" Target="slides/slide65.xml"/><Relationship Id="rId66" Type="http://schemas.openxmlformats.org/officeDocument/2006/relationships/slide" Target="slides/slide64.xml"/><Relationship Id="rId65" Type="http://schemas.openxmlformats.org/officeDocument/2006/relationships/slide" Target="slides/slide63.xml"/><Relationship Id="rId64" Type="http://schemas.openxmlformats.org/officeDocument/2006/relationships/slide" Target="slides/slide62.xml"/><Relationship Id="rId63" Type="http://schemas.openxmlformats.org/officeDocument/2006/relationships/slide" Target="slides/slide61.xml"/><Relationship Id="rId62" Type="http://schemas.openxmlformats.org/officeDocument/2006/relationships/slide" Target="slides/slide60.xml"/><Relationship Id="rId61" Type="http://schemas.openxmlformats.org/officeDocument/2006/relationships/slide" Target="slides/slide59.xml"/><Relationship Id="rId60" Type="http://schemas.openxmlformats.org/officeDocument/2006/relationships/slide" Target="slides/slide58.xml"/><Relationship Id="rId6" Type="http://schemas.openxmlformats.org/officeDocument/2006/relationships/slide" Target="slides/slide4.xml"/><Relationship Id="rId59" Type="http://schemas.openxmlformats.org/officeDocument/2006/relationships/slide" Target="slides/slide57.xml"/><Relationship Id="rId58" Type="http://schemas.openxmlformats.org/officeDocument/2006/relationships/slide" Target="slides/slide56.xml"/><Relationship Id="rId57" Type="http://schemas.openxmlformats.org/officeDocument/2006/relationships/slide" Target="slides/slide55.xml"/><Relationship Id="rId56" Type="http://schemas.openxmlformats.org/officeDocument/2006/relationships/slide" Target="slides/slide54.xml"/><Relationship Id="rId55" Type="http://schemas.openxmlformats.org/officeDocument/2006/relationships/slide" Target="slides/slide53.xml"/><Relationship Id="rId54" Type="http://schemas.openxmlformats.org/officeDocument/2006/relationships/slide" Target="slides/slide52.xml"/><Relationship Id="rId53" Type="http://schemas.openxmlformats.org/officeDocument/2006/relationships/slide" Target="slides/slide51.xml"/><Relationship Id="rId52" Type="http://schemas.openxmlformats.org/officeDocument/2006/relationships/slide" Target="slides/slide50.xml"/><Relationship Id="rId51" Type="http://schemas.openxmlformats.org/officeDocument/2006/relationships/slide" Target="slides/slide49.xml"/><Relationship Id="rId50" Type="http://schemas.openxmlformats.org/officeDocument/2006/relationships/slide" Target="slides/slide48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4" Type="http://schemas.openxmlformats.org/officeDocument/2006/relationships/image" Target="../media/image13.wmf"/><Relationship Id="rId3" Type="http://schemas.openxmlformats.org/officeDocument/2006/relationships/image" Target="../media/image12.emf"/><Relationship Id="rId2" Type="http://schemas.openxmlformats.org/officeDocument/2006/relationships/image" Target="../media/image11.emf"/><Relationship Id="rId1" Type="http://schemas.openxmlformats.org/officeDocument/2006/relationships/image" Target="../media/image10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emf"/></Relationships>
</file>

<file path=ppt/drawings/_rels/vmlDrawing5.vml.rels><?xml version="1.0" encoding="UTF-8" standalone="yes"?>
<Relationships xmlns="http://schemas.openxmlformats.org/package/2006/relationships"><Relationship Id="rId5" Type="http://schemas.openxmlformats.org/officeDocument/2006/relationships/image" Target="../media/image23.emf"/><Relationship Id="rId4" Type="http://schemas.openxmlformats.org/officeDocument/2006/relationships/image" Target="../media/image22.emf"/><Relationship Id="rId3" Type="http://schemas.openxmlformats.org/officeDocument/2006/relationships/image" Target="../media/image21.emf"/><Relationship Id="rId2" Type="http://schemas.openxmlformats.org/officeDocument/2006/relationships/image" Target="../media/image20.emf"/><Relationship Id="rId1" Type="http://schemas.openxmlformats.org/officeDocument/2006/relationships/image" Target="../media/image19.emf"/></Relationships>
</file>

<file path=ppt/drawings/_rels/vmlDrawing6.vml.rels><?xml version="1.0" encoding="UTF-8" standalone="yes"?>
<Relationships xmlns="http://schemas.openxmlformats.org/package/2006/relationships"><Relationship Id="rId5" Type="http://schemas.openxmlformats.org/officeDocument/2006/relationships/image" Target="../media/image28.emf"/><Relationship Id="rId4" Type="http://schemas.openxmlformats.org/officeDocument/2006/relationships/image" Target="../media/image27.emf"/><Relationship Id="rId3" Type="http://schemas.openxmlformats.org/officeDocument/2006/relationships/image" Target="../media/image26.emf"/><Relationship Id="rId2" Type="http://schemas.openxmlformats.org/officeDocument/2006/relationships/image" Target="../media/image25.emf"/><Relationship Id="rId1" Type="http://schemas.openxmlformats.org/officeDocument/2006/relationships/image" Target="../media/image24.emf"/></Relationships>
</file>

<file path=ppt/drawings/_rels/vmlDrawing7.vml.rels><?xml version="1.0" encoding="UTF-8" standalone="yes"?>
<Relationships xmlns="http://schemas.openxmlformats.org/package/2006/relationships"><Relationship Id="rId4" Type="http://schemas.openxmlformats.org/officeDocument/2006/relationships/image" Target="../media/image32.emf"/><Relationship Id="rId3" Type="http://schemas.openxmlformats.org/officeDocument/2006/relationships/image" Target="../media/image31.emf"/><Relationship Id="rId2" Type="http://schemas.openxmlformats.org/officeDocument/2006/relationships/image" Target="../media/image30.wmf"/><Relationship Id="rId1" Type="http://schemas.openxmlformats.org/officeDocument/2006/relationships/image" Target="../media/image29.emf"/></Relationships>
</file>

<file path=ppt/drawings/_rels/vmlDrawing8.vml.rels><?xml version="1.0" encoding="UTF-8" standalone="yes"?>
<Relationships xmlns="http://schemas.openxmlformats.org/package/2006/relationships"><Relationship Id="rId6" Type="http://schemas.openxmlformats.org/officeDocument/2006/relationships/image" Target="../media/image38.emf"/><Relationship Id="rId5" Type="http://schemas.openxmlformats.org/officeDocument/2006/relationships/image" Target="../media/image37.emf"/><Relationship Id="rId4" Type="http://schemas.openxmlformats.org/officeDocument/2006/relationships/image" Target="../media/image36.emf"/><Relationship Id="rId3" Type="http://schemas.openxmlformats.org/officeDocument/2006/relationships/image" Target="../media/image35.emf"/><Relationship Id="rId2" Type="http://schemas.openxmlformats.org/officeDocument/2006/relationships/image" Target="../media/image34.emf"/><Relationship Id="rId1" Type="http://schemas.openxmlformats.org/officeDocument/2006/relationships/image" Target="../media/image33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39.emf"/></Relationships>
</file>

<file path=ppt/drawings/_rels/vmlDrawing10.vml.rels><?xml version="1.0" encoding="UTF-8" standalone="yes"?>
<Relationships xmlns="http://schemas.openxmlformats.org/package/2006/relationships"><Relationship Id="rId6" Type="http://schemas.openxmlformats.org/officeDocument/2006/relationships/image" Target="../media/image46.emf"/><Relationship Id="rId5" Type="http://schemas.openxmlformats.org/officeDocument/2006/relationships/image" Target="../media/image45.emf"/><Relationship Id="rId4" Type="http://schemas.openxmlformats.org/officeDocument/2006/relationships/image" Target="../media/image44.emf"/><Relationship Id="rId3" Type="http://schemas.openxmlformats.org/officeDocument/2006/relationships/image" Target="../media/image43.emf"/><Relationship Id="rId2" Type="http://schemas.openxmlformats.org/officeDocument/2006/relationships/image" Target="../media/image42.emf"/><Relationship Id="rId1" Type="http://schemas.openxmlformats.org/officeDocument/2006/relationships/image" Target="../media/image41.emf"/></Relationships>
</file>

<file path=ppt/drawings/_rels/vmlDrawing11.vml.rels><?xml version="1.0" encoding="UTF-8" standalone="yes"?>
<Relationships xmlns="http://schemas.openxmlformats.org/package/2006/relationships"><Relationship Id="rId9" Type="http://schemas.openxmlformats.org/officeDocument/2006/relationships/image" Target="../media/image55.emf"/><Relationship Id="rId8" Type="http://schemas.openxmlformats.org/officeDocument/2006/relationships/image" Target="../media/image54.emf"/><Relationship Id="rId7" Type="http://schemas.openxmlformats.org/officeDocument/2006/relationships/image" Target="../media/image53.emf"/><Relationship Id="rId6" Type="http://schemas.openxmlformats.org/officeDocument/2006/relationships/image" Target="../media/image52.emf"/><Relationship Id="rId5" Type="http://schemas.openxmlformats.org/officeDocument/2006/relationships/image" Target="../media/image51.emf"/><Relationship Id="rId4" Type="http://schemas.openxmlformats.org/officeDocument/2006/relationships/image" Target="../media/image50.emf"/><Relationship Id="rId3" Type="http://schemas.openxmlformats.org/officeDocument/2006/relationships/image" Target="../media/image49.emf"/><Relationship Id="rId2" Type="http://schemas.openxmlformats.org/officeDocument/2006/relationships/image" Target="../media/image48.emf"/><Relationship Id="rId11" Type="http://schemas.openxmlformats.org/officeDocument/2006/relationships/image" Target="../media/image57.emf"/><Relationship Id="rId10" Type="http://schemas.openxmlformats.org/officeDocument/2006/relationships/image" Target="../media/image56.emf"/><Relationship Id="rId1" Type="http://schemas.openxmlformats.org/officeDocument/2006/relationships/image" Target="../media/image47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8.e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61.emf"/><Relationship Id="rId2" Type="http://schemas.openxmlformats.org/officeDocument/2006/relationships/image" Target="../media/image60.emf"/><Relationship Id="rId1" Type="http://schemas.openxmlformats.org/officeDocument/2006/relationships/image" Target="../media/image59.emf"/></Relationships>
</file>

<file path=ppt/drawings/_rels/vmlDrawing14.vml.rels><?xml version="1.0" encoding="UTF-8" standalone="yes"?>
<Relationships xmlns="http://schemas.openxmlformats.org/package/2006/relationships"><Relationship Id="rId5" Type="http://schemas.openxmlformats.org/officeDocument/2006/relationships/image" Target="../media/image66.emf"/><Relationship Id="rId4" Type="http://schemas.openxmlformats.org/officeDocument/2006/relationships/image" Target="../media/image65.emf"/><Relationship Id="rId3" Type="http://schemas.openxmlformats.org/officeDocument/2006/relationships/image" Target="../media/image64.emf"/><Relationship Id="rId2" Type="http://schemas.openxmlformats.org/officeDocument/2006/relationships/image" Target="../media/image63.emf"/><Relationship Id="rId1" Type="http://schemas.openxmlformats.org/officeDocument/2006/relationships/image" Target="../media/image62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68.emf"/></Relationships>
</file>

<file path=ppt/drawings/_rels/vmlDrawing16.vml.rels><?xml version="1.0" encoding="UTF-8" standalone="yes"?>
<Relationships xmlns="http://schemas.openxmlformats.org/package/2006/relationships"><Relationship Id="rId5" Type="http://schemas.openxmlformats.org/officeDocument/2006/relationships/image" Target="../media/image73.emf"/><Relationship Id="rId4" Type="http://schemas.openxmlformats.org/officeDocument/2006/relationships/image" Target="../media/image72.emf"/><Relationship Id="rId3" Type="http://schemas.openxmlformats.org/officeDocument/2006/relationships/image" Target="../media/image71.emf"/><Relationship Id="rId2" Type="http://schemas.openxmlformats.org/officeDocument/2006/relationships/image" Target="../media/image70.emf"/><Relationship Id="rId1" Type="http://schemas.openxmlformats.org/officeDocument/2006/relationships/image" Target="../media/image69.emf"/></Relationships>
</file>

<file path=ppt/drawings/_rels/vmlDrawing17.vml.rels><?xml version="1.0" encoding="UTF-8" standalone="yes"?>
<Relationships xmlns="http://schemas.openxmlformats.org/package/2006/relationships"><Relationship Id="rId5" Type="http://schemas.openxmlformats.org/officeDocument/2006/relationships/image" Target="../media/image78.emf"/><Relationship Id="rId4" Type="http://schemas.openxmlformats.org/officeDocument/2006/relationships/image" Target="../media/image77.emf"/><Relationship Id="rId3" Type="http://schemas.openxmlformats.org/officeDocument/2006/relationships/image" Target="../media/image76.emf"/><Relationship Id="rId2" Type="http://schemas.openxmlformats.org/officeDocument/2006/relationships/image" Target="../media/image75.emf"/><Relationship Id="rId1" Type="http://schemas.openxmlformats.org/officeDocument/2006/relationships/image" Target="../media/image74.emf"/></Relationships>
</file>

<file path=ppt/drawings/_rels/vmlDrawing18.vml.rels><?xml version="1.0" encoding="UTF-8" standalone="yes"?>
<Relationships xmlns="http://schemas.openxmlformats.org/package/2006/relationships"><Relationship Id="rId7" Type="http://schemas.openxmlformats.org/officeDocument/2006/relationships/image" Target="../media/image85.emf"/><Relationship Id="rId6" Type="http://schemas.openxmlformats.org/officeDocument/2006/relationships/image" Target="../media/image84.emf"/><Relationship Id="rId5" Type="http://schemas.openxmlformats.org/officeDocument/2006/relationships/image" Target="../media/image83.emf"/><Relationship Id="rId4" Type="http://schemas.openxmlformats.org/officeDocument/2006/relationships/image" Target="../media/image82.emf"/><Relationship Id="rId3" Type="http://schemas.openxmlformats.org/officeDocument/2006/relationships/image" Target="../media/image81.emf"/><Relationship Id="rId2" Type="http://schemas.openxmlformats.org/officeDocument/2006/relationships/image" Target="../media/image80.emf"/><Relationship Id="rId1" Type="http://schemas.openxmlformats.org/officeDocument/2006/relationships/image" Target="../media/image79.e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86.emf"/></Relationships>
</file>

<file path=ppt/drawings/_rels/vmlDrawing20.vml.rels><?xml version="1.0" encoding="UTF-8" standalone="yes"?>
<Relationships xmlns="http://schemas.openxmlformats.org/package/2006/relationships"><Relationship Id="rId5" Type="http://schemas.openxmlformats.org/officeDocument/2006/relationships/image" Target="../media/image91.emf"/><Relationship Id="rId4" Type="http://schemas.openxmlformats.org/officeDocument/2006/relationships/image" Target="../media/image90.emf"/><Relationship Id="rId3" Type="http://schemas.openxmlformats.org/officeDocument/2006/relationships/image" Target="../media/image89.emf"/><Relationship Id="rId2" Type="http://schemas.openxmlformats.org/officeDocument/2006/relationships/image" Target="../media/image88.emf"/><Relationship Id="rId1" Type="http://schemas.openxmlformats.org/officeDocument/2006/relationships/image" Target="../media/image87.emf"/></Relationships>
</file>

<file path=ppt/drawings/_rels/vmlDrawing21.vml.rels><?xml version="1.0" encoding="UTF-8" standalone="yes"?>
<Relationships xmlns="http://schemas.openxmlformats.org/package/2006/relationships"><Relationship Id="rId5" Type="http://schemas.openxmlformats.org/officeDocument/2006/relationships/image" Target="../media/image96.emf"/><Relationship Id="rId4" Type="http://schemas.openxmlformats.org/officeDocument/2006/relationships/image" Target="../media/image95.emf"/><Relationship Id="rId3" Type="http://schemas.openxmlformats.org/officeDocument/2006/relationships/image" Target="../media/image94.emf"/><Relationship Id="rId2" Type="http://schemas.openxmlformats.org/officeDocument/2006/relationships/image" Target="../media/image93.emf"/><Relationship Id="rId1" Type="http://schemas.openxmlformats.org/officeDocument/2006/relationships/image" Target="../media/image92.emf"/></Relationships>
</file>

<file path=ppt/drawings/_rels/vmlDrawing22.vml.rels><?xml version="1.0" encoding="UTF-8" standalone="yes"?>
<Relationships xmlns="http://schemas.openxmlformats.org/package/2006/relationships"><Relationship Id="rId4" Type="http://schemas.openxmlformats.org/officeDocument/2006/relationships/image" Target="../media/image100.emf"/><Relationship Id="rId3" Type="http://schemas.openxmlformats.org/officeDocument/2006/relationships/image" Target="../media/image99.emf"/><Relationship Id="rId2" Type="http://schemas.openxmlformats.org/officeDocument/2006/relationships/image" Target="../media/image98.emf"/><Relationship Id="rId1" Type="http://schemas.openxmlformats.org/officeDocument/2006/relationships/image" Target="../media/image97.emf"/></Relationships>
</file>

<file path=ppt/drawings/_rels/vmlDrawing2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4.emf"/></Relationships>
</file>

<file path=ppt/drawings/_rels/vmlDrawing2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6.emf"/><Relationship Id="rId1" Type="http://schemas.openxmlformats.org/officeDocument/2006/relationships/image" Target="../media/image115.emf"/></Relationships>
</file>

<file path=ppt/drawings/_rels/vmlDrawing25.vml.rels><?xml version="1.0" encoding="UTF-8" standalone="yes"?>
<Relationships xmlns="http://schemas.openxmlformats.org/package/2006/relationships"><Relationship Id="rId4" Type="http://schemas.openxmlformats.org/officeDocument/2006/relationships/image" Target="../media/image120.emf"/><Relationship Id="rId3" Type="http://schemas.openxmlformats.org/officeDocument/2006/relationships/image" Target="../media/image119.emf"/><Relationship Id="rId2" Type="http://schemas.openxmlformats.org/officeDocument/2006/relationships/image" Target="../media/image118.emf"/><Relationship Id="rId1" Type="http://schemas.openxmlformats.org/officeDocument/2006/relationships/image" Target="../media/image117.emf"/></Relationships>
</file>

<file path=ppt/drawings/_rels/vmlDrawing2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2.emf"/><Relationship Id="rId1" Type="http://schemas.openxmlformats.org/officeDocument/2006/relationships/image" Target="../media/image121.emf"/></Relationships>
</file>

<file path=ppt/drawings/_rels/vmlDrawing27.vml.rels><?xml version="1.0" encoding="UTF-8" standalone="yes"?>
<Relationships xmlns="http://schemas.openxmlformats.org/package/2006/relationships"><Relationship Id="rId9" Type="http://schemas.openxmlformats.org/officeDocument/2006/relationships/image" Target="../media/image131.emf"/><Relationship Id="rId8" Type="http://schemas.openxmlformats.org/officeDocument/2006/relationships/image" Target="../media/image130.emf"/><Relationship Id="rId7" Type="http://schemas.openxmlformats.org/officeDocument/2006/relationships/image" Target="../media/image129.emf"/><Relationship Id="rId6" Type="http://schemas.openxmlformats.org/officeDocument/2006/relationships/image" Target="../media/image128.emf"/><Relationship Id="rId5" Type="http://schemas.openxmlformats.org/officeDocument/2006/relationships/image" Target="../media/image127.emf"/><Relationship Id="rId4" Type="http://schemas.openxmlformats.org/officeDocument/2006/relationships/image" Target="../media/image126.emf"/><Relationship Id="rId3" Type="http://schemas.openxmlformats.org/officeDocument/2006/relationships/image" Target="../media/image125.emf"/><Relationship Id="rId2" Type="http://schemas.openxmlformats.org/officeDocument/2006/relationships/image" Target="../media/image124.emf"/><Relationship Id="rId1" Type="http://schemas.openxmlformats.org/officeDocument/2006/relationships/image" Target="../media/image123.emf"/></Relationships>
</file>

<file path=ppt/drawings/_rels/vmlDrawing28.vml.rels><?xml version="1.0" encoding="UTF-8" standalone="yes"?>
<Relationships xmlns="http://schemas.openxmlformats.org/package/2006/relationships"><Relationship Id="rId9" Type="http://schemas.openxmlformats.org/officeDocument/2006/relationships/image" Target="../media/image140.emf"/><Relationship Id="rId8" Type="http://schemas.openxmlformats.org/officeDocument/2006/relationships/image" Target="../media/image139.emf"/><Relationship Id="rId7" Type="http://schemas.openxmlformats.org/officeDocument/2006/relationships/image" Target="../media/image138.emf"/><Relationship Id="rId6" Type="http://schemas.openxmlformats.org/officeDocument/2006/relationships/image" Target="../media/image137.emf"/><Relationship Id="rId5" Type="http://schemas.openxmlformats.org/officeDocument/2006/relationships/image" Target="../media/image136.emf"/><Relationship Id="rId4" Type="http://schemas.openxmlformats.org/officeDocument/2006/relationships/image" Target="../media/image135.emf"/><Relationship Id="rId3" Type="http://schemas.openxmlformats.org/officeDocument/2006/relationships/image" Target="../media/image134.emf"/><Relationship Id="rId2" Type="http://schemas.openxmlformats.org/officeDocument/2006/relationships/image" Target="../media/image133.emf"/><Relationship Id="rId10" Type="http://schemas.openxmlformats.org/officeDocument/2006/relationships/image" Target="../media/image141.emf"/><Relationship Id="rId1" Type="http://schemas.openxmlformats.org/officeDocument/2006/relationships/image" Target="../media/image132.emf"/></Relationships>
</file>

<file path=ppt/drawings/_rels/vmlDrawing29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3.emf"/><Relationship Id="rId1" Type="http://schemas.openxmlformats.org/officeDocument/2006/relationships/image" Target="../media/image142.emf"/></Relationships>
</file>

<file path=ppt/drawings/_rels/vmlDrawing3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4.emf"/></Relationships>
</file>

<file path=ppt/drawings/_rels/vmlDrawing31.vml.rels><?xml version="1.0" encoding="UTF-8" standalone="yes"?>
<Relationships xmlns="http://schemas.openxmlformats.org/package/2006/relationships"><Relationship Id="rId9" Type="http://schemas.openxmlformats.org/officeDocument/2006/relationships/image" Target="../media/image153.emf"/><Relationship Id="rId8" Type="http://schemas.openxmlformats.org/officeDocument/2006/relationships/image" Target="../media/image152.emf"/><Relationship Id="rId7" Type="http://schemas.openxmlformats.org/officeDocument/2006/relationships/image" Target="../media/image151.emf"/><Relationship Id="rId6" Type="http://schemas.openxmlformats.org/officeDocument/2006/relationships/image" Target="../media/image150.emf"/><Relationship Id="rId5" Type="http://schemas.openxmlformats.org/officeDocument/2006/relationships/image" Target="../media/image149.emf"/><Relationship Id="rId4" Type="http://schemas.openxmlformats.org/officeDocument/2006/relationships/image" Target="../media/image148.emf"/><Relationship Id="rId3" Type="http://schemas.openxmlformats.org/officeDocument/2006/relationships/image" Target="../media/image147.emf"/><Relationship Id="rId2" Type="http://schemas.openxmlformats.org/officeDocument/2006/relationships/image" Target="../media/image146.emf"/><Relationship Id="rId15" Type="http://schemas.openxmlformats.org/officeDocument/2006/relationships/image" Target="../media/image159.emf"/><Relationship Id="rId14" Type="http://schemas.openxmlformats.org/officeDocument/2006/relationships/image" Target="../media/image158.emf"/><Relationship Id="rId13" Type="http://schemas.openxmlformats.org/officeDocument/2006/relationships/image" Target="../media/image157.emf"/><Relationship Id="rId12" Type="http://schemas.openxmlformats.org/officeDocument/2006/relationships/image" Target="../media/image156.emf"/><Relationship Id="rId11" Type="http://schemas.openxmlformats.org/officeDocument/2006/relationships/image" Target="../media/image155.emf"/><Relationship Id="rId10" Type="http://schemas.openxmlformats.org/officeDocument/2006/relationships/image" Target="../media/image154.emf"/><Relationship Id="rId1" Type="http://schemas.openxmlformats.org/officeDocument/2006/relationships/image" Target="../media/image145.emf"/></Relationships>
</file>

<file path=ppt/drawings/_rels/vmlDrawing3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61.emf"/><Relationship Id="rId1" Type="http://schemas.openxmlformats.org/officeDocument/2006/relationships/image" Target="../media/image160.emf"/></Relationships>
</file>

<file path=ppt/drawings/_rels/vmlDrawing33.vml.rels><?xml version="1.0" encoding="UTF-8" standalone="yes"?>
<Relationships xmlns="http://schemas.openxmlformats.org/package/2006/relationships"><Relationship Id="rId6" Type="http://schemas.openxmlformats.org/officeDocument/2006/relationships/image" Target="../media/image167.emf"/><Relationship Id="rId5" Type="http://schemas.openxmlformats.org/officeDocument/2006/relationships/image" Target="../media/image166.emf"/><Relationship Id="rId4" Type="http://schemas.openxmlformats.org/officeDocument/2006/relationships/image" Target="../media/image165.emf"/><Relationship Id="rId3" Type="http://schemas.openxmlformats.org/officeDocument/2006/relationships/image" Target="../media/image164.emf"/><Relationship Id="rId2" Type="http://schemas.openxmlformats.org/officeDocument/2006/relationships/image" Target="../media/image163.emf"/><Relationship Id="rId1" Type="http://schemas.openxmlformats.org/officeDocument/2006/relationships/image" Target="../media/image162.emf"/></Relationships>
</file>

<file path=ppt/drawings/_rels/vmlDrawing3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69.emf"/><Relationship Id="rId1" Type="http://schemas.openxmlformats.org/officeDocument/2006/relationships/image" Target="../media/image168.emf"/></Relationships>
</file>

<file path=ppt/drawings/_rels/vmlDrawing35.vml.rels><?xml version="1.0" encoding="UTF-8" standalone="yes"?>
<Relationships xmlns="http://schemas.openxmlformats.org/package/2006/relationships"><Relationship Id="rId7" Type="http://schemas.openxmlformats.org/officeDocument/2006/relationships/image" Target="../media/image176.emf"/><Relationship Id="rId6" Type="http://schemas.openxmlformats.org/officeDocument/2006/relationships/image" Target="../media/image175.emf"/><Relationship Id="rId5" Type="http://schemas.openxmlformats.org/officeDocument/2006/relationships/image" Target="../media/image174.emf"/><Relationship Id="rId4" Type="http://schemas.openxmlformats.org/officeDocument/2006/relationships/image" Target="../media/image173.emf"/><Relationship Id="rId3" Type="http://schemas.openxmlformats.org/officeDocument/2006/relationships/image" Target="../media/image172.emf"/><Relationship Id="rId2" Type="http://schemas.openxmlformats.org/officeDocument/2006/relationships/image" Target="../media/image171.emf"/><Relationship Id="rId1" Type="http://schemas.openxmlformats.org/officeDocument/2006/relationships/image" Target="../media/image170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60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 b="0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0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b="0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3556" name="Rectangle 4"/>
          <p:cNvSpPr>
            <a:spLocks noRo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260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0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 b="0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0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b="0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E0BA81F-3A4C-463A-AADA-E56F87F619FC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61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 eaLnBrk="1" hangingPunct="1"/>
            <a:fld id="{9A0DB2DC-4C9A-4742-B13C-FB6460FD3503}" type="slidenum">
              <a:rPr lang="en-US" altLang="zh-CN" sz="1200" b="0" dirty="0">
                <a:solidFill>
                  <a:schemeClr val="tx1"/>
                </a:solidFill>
                <a:ea typeface="宋体" panose="02010600030101010101" pitchFamily="2" charset="-122"/>
              </a:rPr>
            </a:fld>
            <a:endParaRPr lang="en-US" altLang="zh-CN" sz="12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92162" name="Rectangle 2"/>
          <p:cNvSpPr>
            <a:spLocks noRot="1" noTextEdit="1"/>
          </p:cNvSpPr>
          <p:nvPr>
            <p:ph type="sldImg"/>
          </p:nvPr>
        </p:nvSpPr>
        <p:spPr>
          <a:ln/>
        </p:spPr>
      </p:sp>
      <p:sp>
        <p:nvSpPr>
          <p:cNvPr id="92163" name="Rectangle 3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PhAnim="0" showMasterSp="0">
  <p:cSld name="标题幻灯片">
    <p:bg>
      <p:bgPr>
        <a:gradFill rotWithShape="0">
          <a:gsLst>
            <a:gs pos="0">
              <a:srgbClr val="000058"/>
            </a:gs>
            <a:gs pos="100000">
              <a:schemeClr val="bg1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90" name="Group 2"/>
          <p:cNvGrpSpPr/>
          <p:nvPr/>
        </p:nvGrpSpPr>
        <p:grpSpPr>
          <a:xfrm>
            <a:off x="0" y="0"/>
            <a:ext cx="9144000" cy="6856413"/>
            <a:chOff x="0" y="0"/>
            <a:chExt cx="5760" cy="4319"/>
          </a:xfrm>
        </p:grpSpPr>
        <p:sp>
          <p:nvSpPr>
            <p:cNvPr id="51" name="Freeform 3"/>
            <p:cNvSpPr/>
            <p:nvPr/>
          </p:nvSpPr>
          <p:spPr bwMode="hidden">
            <a:xfrm>
              <a:off x="0" y="12"/>
              <a:ext cx="5758" cy="3273"/>
            </a:xfrm>
            <a:custGeom>
              <a:avLst/>
              <a:gdLst>
                <a:gd name="T0" fmla="*/ 3193 w 5740"/>
                <a:gd name="T1" fmla="*/ 1816 h 3273"/>
                <a:gd name="T2" fmla="*/ 0 w 5740"/>
                <a:gd name="T3" fmla="*/ 0 h 3273"/>
                <a:gd name="T4" fmla="*/ 0 w 5740"/>
                <a:gd name="T5" fmla="*/ 522 h 3273"/>
                <a:gd name="T6" fmla="*/ 3037 w 5740"/>
                <a:gd name="T7" fmla="*/ 1978 h 3273"/>
                <a:gd name="T8" fmla="*/ 5740 w 5740"/>
                <a:gd name="T9" fmla="*/ 3273 h 3273"/>
                <a:gd name="T10" fmla="*/ 5740 w 5740"/>
                <a:gd name="T11" fmla="*/ 3267 h 3273"/>
                <a:gd name="T12" fmla="*/ 3193 w 5740"/>
                <a:gd name="T13" fmla="*/ 1816 h 3273"/>
                <a:gd name="T14" fmla="*/ 3193 w 5740"/>
                <a:gd name="T15" fmla="*/ 1816 h 3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740" h="3273">
                  <a:moveTo>
                    <a:pt x="3193" y="1816"/>
                  </a:moveTo>
                  <a:lnTo>
                    <a:pt x="0" y="0"/>
                  </a:lnTo>
                  <a:lnTo>
                    <a:pt x="0" y="522"/>
                  </a:lnTo>
                  <a:lnTo>
                    <a:pt x="3037" y="1978"/>
                  </a:lnTo>
                  <a:lnTo>
                    <a:pt x="5740" y="3273"/>
                  </a:lnTo>
                  <a:lnTo>
                    <a:pt x="5740" y="3267"/>
                  </a:lnTo>
                  <a:lnTo>
                    <a:pt x="3193" y="1816"/>
                  </a:lnTo>
                  <a:lnTo>
                    <a:pt x="3193" y="181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3529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endParaRPr>
            </a:p>
          </p:txBody>
        </p:sp>
        <p:sp>
          <p:nvSpPr>
            <p:cNvPr id="52" name="Freeform 4"/>
            <p:cNvSpPr/>
            <p:nvPr/>
          </p:nvSpPr>
          <p:spPr bwMode="hidden">
            <a:xfrm>
              <a:off x="149" y="0"/>
              <a:ext cx="5609" cy="3243"/>
            </a:xfrm>
            <a:custGeom>
              <a:avLst/>
              <a:gdLst>
                <a:gd name="T0" fmla="*/ 3163 w 5591"/>
                <a:gd name="T1" fmla="*/ 1714 h 3243"/>
                <a:gd name="T2" fmla="*/ 431 w 5591"/>
                <a:gd name="T3" fmla="*/ 0 h 3243"/>
                <a:gd name="T4" fmla="*/ 0 w 5591"/>
                <a:gd name="T5" fmla="*/ 0 h 3243"/>
                <a:gd name="T6" fmla="*/ 3086 w 5591"/>
                <a:gd name="T7" fmla="*/ 1786 h 3243"/>
                <a:gd name="T8" fmla="*/ 5591 w 5591"/>
                <a:gd name="T9" fmla="*/ 3243 h 3243"/>
                <a:gd name="T10" fmla="*/ 5591 w 5591"/>
                <a:gd name="T11" fmla="*/ 3237 h 3243"/>
                <a:gd name="T12" fmla="*/ 3163 w 5591"/>
                <a:gd name="T13" fmla="*/ 1714 h 3243"/>
                <a:gd name="T14" fmla="*/ 3163 w 5591"/>
                <a:gd name="T15" fmla="*/ 1714 h 3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591" h="3243">
                  <a:moveTo>
                    <a:pt x="3163" y="1714"/>
                  </a:moveTo>
                  <a:lnTo>
                    <a:pt x="431" y="0"/>
                  </a:lnTo>
                  <a:lnTo>
                    <a:pt x="0" y="0"/>
                  </a:lnTo>
                  <a:lnTo>
                    <a:pt x="3086" y="1786"/>
                  </a:lnTo>
                  <a:lnTo>
                    <a:pt x="5591" y="3243"/>
                  </a:lnTo>
                  <a:lnTo>
                    <a:pt x="5591" y="3237"/>
                  </a:lnTo>
                  <a:lnTo>
                    <a:pt x="3163" y="1714"/>
                  </a:lnTo>
                  <a:lnTo>
                    <a:pt x="3163" y="1714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endParaRPr>
            </a:p>
          </p:txBody>
        </p:sp>
        <p:sp>
          <p:nvSpPr>
            <p:cNvPr id="53" name="Freeform 5"/>
            <p:cNvSpPr/>
            <p:nvPr/>
          </p:nvSpPr>
          <p:spPr bwMode="hidden">
            <a:xfrm>
              <a:off x="0" y="3433"/>
              <a:ext cx="4038" cy="191"/>
            </a:xfrm>
            <a:custGeom>
              <a:avLst/>
              <a:gdLst>
                <a:gd name="T0" fmla="*/ 0 w 4042"/>
                <a:gd name="T1" fmla="*/ 156 h 192"/>
                <a:gd name="T2" fmla="*/ 4042 w 4042"/>
                <a:gd name="T3" fmla="*/ 192 h 192"/>
                <a:gd name="T4" fmla="*/ 4042 w 4042"/>
                <a:gd name="T5" fmla="*/ 144 h 192"/>
                <a:gd name="T6" fmla="*/ 0 w 4042"/>
                <a:gd name="T7" fmla="*/ 0 h 192"/>
                <a:gd name="T8" fmla="*/ 0 w 4042"/>
                <a:gd name="T9" fmla="*/ 156 h 192"/>
                <a:gd name="T10" fmla="*/ 0 w 4042"/>
                <a:gd name="T11" fmla="*/ 156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42" h="192">
                  <a:moveTo>
                    <a:pt x="0" y="156"/>
                  </a:moveTo>
                  <a:lnTo>
                    <a:pt x="4042" y="192"/>
                  </a:lnTo>
                  <a:lnTo>
                    <a:pt x="4042" y="144"/>
                  </a:lnTo>
                  <a:lnTo>
                    <a:pt x="0" y="0"/>
                  </a:lnTo>
                  <a:lnTo>
                    <a:pt x="0" y="156"/>
                  </a:lnTo>
                  <a:lnTo>
                    <a:pt x="0" y="15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5686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endParaRPr>
            </a:p>
          </p:txBody>
        </p:sp>
        <p:sp>
          <p:nvSpPr>
            <p:cNvPr id="12294" name="Freeform 6"/>
            <p:cNvSpPr/>
            <p:nvPr/>
          </p:nvSpPr>
          <p:spPr>
            <a:xfrm>
              <a:off x="4038" y="3577"/>
              <a:ext cx="1720" cy="65"/>
            </a:xfrm>
            <a:custGeom>
              <a:avLst/>
              <a:gdLst/>
              <a:ahLst/>
              <a:cxnLst>
                <a:cxn ang="0">
                  <a:pos x="1714" y="62"/>
                </a:cxn>
                <a:cxn ang="0">
                  <a:pos x="1714" y="56"/>
                </a:cxn>
                <a:cxn ang="0">
                  <a:pos x="0" y="0"/>
                </a:cxn>
                <a:cxn ang="0">
                  <a:pos x="0" y="44"/>
                </a:cxn>
                <a:cxn ang="0">
                  <a:pos x="1714" y="62"/>
                </a:cxn>
                <a:cxn ang="0">
                  <a:pos x="1714" y="62"/>
                </a:cxn>
              </a:cxnLst>
              <a:pathLst>
                <a:path w="1722" h="66">
                  <a:moveTo>
                    <a:pt x="1722" y="66"/>
                  </a:moveTo>
                  <a:lnTo>
                    <a:pt x="1722" y="60"/>
                  </a:lnTo>
                  <a:lnTo>
                    <a:pt x="0" y="0"/>
                  </a:lnTo>
                  <a:lnTo>
                    <a:pt x="0" y="48"/>
                  </a:lnTo>
                  <a:lnTo>
                    <a:pt x="1722" y="66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5" name="Freeform 7"/>
            <p:cNvSpPr/>
            <p:nvPr/>
          </p:nvSpPr>
          <p:spPr bwMode="hidden">
            <a:xfrm>
              <a:off x="0" y="3726"/>
              <a:ext cx="4784" cy="329"/>
            </a:xfrm>
            <a:custGeom>
              <a:avLst/>
              <a:gdLst>
                <a:gd name="T0" fmla="*/ 0 w 4789"/>
                <a:gd name="T1" fmla="*/ 329 h 329"/>
                <a:gd name="T2" fmla="*/ 4789 w 4789"/>
                <a:gd name="T3" fmla="*/ 77 h 329"/>
                <a:gd name="T4" fmla="*/ 4789 w 4789"/>
                <a:gd name="T5" fmla="*/ 0 h 329"/>
                <a:gd name="T6" fmla="*/ 0 w 4789"/>
                <a:gd name="T7" fmla="*/ 107 h 329"/>
                <a:gd name="T8" fmla="*/ 0 w 4789"/>
                <a:gd name="T9" fmla="*/ 329 h 329"/>
                <a:gd name="T10" fmla="*/ 0 w 4789"/>
                <a:gd name="T11" fmla="*/ 329 h 3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89" h="329">
                  <a:moveTo>
                    <a:pt x="0" y="329"/>
                  </a:moveTo>
                  <a:lnTo>
                    <a:pt x="4789" y="77"/>
                  </a:lnTo>
                  <a:lnTo>
                    <a:pt x="4789" y="0"/>
                  </a:lnTo>
                  <a:lnTo>
                    <a:pt x="0" y="107"/>
                  </a:lnTo>
                  <a:lnTo>
                    <a:pt x="0" y="329"/>
                  </a:lnTo>
                  <a:lnTo>
                    <a:pt x="0" y="329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1961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endParaRPr>
            </a:p>
          </p:txBody>
        </p:sp>
        <p:sp>
          <p:nvSpPr>
            <p:cNvPr id="12296" name="Freeform 8"/>
            <p:cNvSpPr/>
            <p:nvPr/>
          </p:nvSpPr>
          <p:spPr>
            <a:xfrm>
              <a:off x="4784" y="3702"/>
              <a:ext cx="974" cy="101"/>
            </a:xfrm>
            <a:custGeom>
              <a:avLst/>
              <a:gdLst/>
              <a:ahLst/>
              <a:cxnLst>
                <a:cxn ang="0">
                  <a:pos x="971" y="48"/>
                </a:cxn>
                <a:cxn ang="0">
                  <a:pos x="971" y="0"/>
                </a:cxn>
                <a:cxn ang="0">
                  <a:pos x="0" y="24"/>
                </a:cxn>
                <a:cxn ang="0">
                  <a:pos x="0" y="101"/>
                </a:cxn>
                <a:cxn ang="0">
                  <a:pos x="971" y="48"/>
                </a:cxn>
                <a:cxn ang="0">
                  <a:pos x="971" y="48"/>
                </a:cxn>
              </a:cxnLst>
              <a:pathLst>
                <a:path w="975" h="101">
                  <a:moveTo>
                    <a:pt x="975" y="48"/>
                  </a:moveTo>
                  <a:lnTo>
                    <a:pt x="975" y="0"/>
                  </a:lnTo>
                  <a:lnTo>
                    <a:pt x="0" y="24"/>
                  </a:lnTo>
                  <a:lnTo>
                    <a:pt x="0" y="101"/>
                  </a:lnTo>
                  <a:lnTo>
                    <a:pt x="975" y="48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2297" name="Freeform 9"/>
            <p:cNvSpPr/>
            <p:nvPr/>
          </p:nvSpPr>
          <p:spPr>
            <a:xfrm>
              <a:off x="3619" y="3815"/>
              <a:ext cx="2139" cy="198"/>
            </a:xfrm>
            <a:custGeom>
              <a:avLst/>
              <a:gdLst/>
              <a:ahLst/>
              <a:cxnLst>
                <a:cxn ang="0">
                  <a:pos x="2133" y="0"/>
                </a:cxn>
                <a:cxn ang="0">
                  <a:pos x="0" y="156"/>
                </a:cxn>
                <a:cxn ang="0">
                  <a:pos x="0" y="198"/>
                </a:cxn>
                <a:cxn ang="0">
                  <a:pos x="2133" y="0"/>
                </a:cxn>
                <a:cxn ang="0">
                  <a:pos x="2133" y="0"/>
                </a:cxn>
              </a:cxnLst>
              <a:pathLst>
                <a:path w="2141" h="198">
                  <a:moveTo>
                    <a:pt x="2141" y="0"/>
                  </a:moveTo>
                  <a:lnTo>
                    <a:pt x="0" y="156"/>
                  </a:lnTo>
                  <a:lnTo>
                    <a:pt x="0" y="198"/>
                  </a:lnTo>
                  <a:lnTo>
                    <a:pt x="2141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8" name="Freeform 10"/>
            <p:cNvSpPr/>
            <p:nvPr/>
          </p:nvSpPr>
          <p:spPr bwMode="hidden">
            <a:xfrm>
              <a:off x="0" y="3971"/>
              <a:ext cx="3619" cy="348"/>
            </a:xfrm>
            <a:custGeom>
              <a:avLst/>
              <a:gdLst>
                <a:gd name="T0" fmla="*/ 0 w 3623"/>
                <a:gd name="T1" fmla="*/ 348 h 348"/>
                <a:gd name="T2" fmla="*/ 311 w 3623"/>
                <a:gd name="T3" fmla="*/ 348 h 348"/>
                <a:gd name="T4" fmla="*/ 3623 w 3623"/>
                <a:gd name="T5" fmla="*/ 42 h 348"/>
                <a:gd name="T6" fmla="*/ 3623 w 3623"/>
                <a:gd name="T7" fmla="*/ 0 h 348"/>
                <a:gd name="T8" fmla="*/ 0 w 3623"/>
                <a:gd name="T9" fmla="*/ 264 h 348"/>
                <a:gd name="T10" fmla="*/ 0 w 3623"/>
                <a:gd name="T11" fmla="*/ 348 h 348"/>
                <a:gd name="T12" fmla="*/ 0 w 3623"/>
                <a:gd name="T13" fmla="*/ 348 h 3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23" h="348">
                  <a:moveTo>
                    <a:pt x="0" y="348"/>
                  </a:moveTo>
                  <a:lnTo>
                    <a:pt x="311" y="348"/>
                  </a:lnTo>
                  <a:lnTo>
                    <a:pt x="3623" y="42"/>
                  </a:lnTo>
                  <a:lnTo>
                    <a:pt x="3623" y="0"/>
                  </a:lnTo>
                  <a:lnTo>
                    <a:pt x="0" y="264"/>
                  </a:lnTo>
                  <a:lnTo>
                    <a:pt x="0" y="348"/>
                  </a:lnTo>
                  <a:lnTo>
                    <a:pt x="0" y="3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endParaRPr>
            </a:p>
          </p:txBody>
        </p:sp>
        <p:sp>
          <p:nvSpPr>
            <p:cNvPr id="12299" name="Freeform 11"/>
            <p:cNvSpPr/>
            <p:nvPr/>
          </p:nvSpPr>
          <p:spPr>
            <a:xfrm>
              <a:off x="2097" y="4043"/>
              <a:ext cx="2514" cy="276"/>
            </a:xfrm>
            <a:custGeom>
              <a:avLst/>
              <a:gdLst/>
              <a:ahLst/>
              <a:cxnLst>
                <a:cxn ang="0">
                  <a:pos x="2170" y="276"/>
                </a:cxn>
                <a:cxn ang="0">
                  <a:pos x="2505" y="204"/>
                </a:cxn>
                <a:cxn ang="0">
                  <a:pos x="2248" y="0"/>
                </a:cxn>
                <a:cxn ang="0">
                  <a:pos x="0" y="276"/>
                </a:cxn>
                <a:cxn ang="0">
                  <a:pos x="2170" y="276"/>
                </a:cxn>
                <a:cxn ang="0">
                  <a:pos x="2170" y="276"/>
                </a:cxn>
              </a:cxnLst>
              <a:pathLst>
                <a:path w="2517" h="276">
                  <a:moveTo>
                    <a:pt x="2182" y="276"/>
                  </a:moveTo>
                  <a:lnTo>
                    <a:pt x="2517" y="204"/>
                  </a:lnTo>
                  <a:lnTo>
                    <a:pt x="2260" y="0"/>
                  </a:lnTo>
                  <a:lnTo>
                    <a:pt x="0" y="276"/>
                  </a:lnTo>
                  <a:lnTo>
                    <a:pt x="2182" y="276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60" name="Freeform 12"/>
            <p:cNvSpPr/>
            <p:nvPr/>
          </p:nvSpPr>
          <p:spPr bwMode="hidden">
            <a:xfrm>
              <a:off x="4354" y="3869"/>
              <a:ext cx="1404" cy="378"/>
            </a:xfrm>
            <a:custGeom>
              <a:avLst/>
              <a:gdLst>
                <a:gd name="T0" fmla="*/ 1405 w 1405"/>
                <a:gd name="T1" fmla="*/ 126 h 378"/>
                <a:gd name="T2" fmla="*/ 1405 w 1405"/>
                <a:gd name="T3" fmla="*/ 0 h 378"/>
                <a:gd name="T4" fmla="*/ 0 w 1405"/>
                <a:gd name="T5" fmla="*/ 174 h 378"/>
                <a:gd name="T6" fmla="*/ 257 w 1405"/>
                <a:gd name="T7" fmla="*/ 378 h 378"/>
                <a:gd name="T8" fmla="*/ 1405 w 1405"/>
                <a:gd name="T9" fmla="*/ 126 h 378"/>
                <a:gd name="T10" fmla="*/ 1405 w 1405"/>
                <a:gd name="T11" fmla="*/ 126 h 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05" h="378">
                  <a:moveTo>
                    <a:pt x="1405" y="126"/>
                  </a:moveTo>
                  <a:lnTo>
                    <a:pt x="1405" y="0"/>
                  </a:lnTo>
                  <a:lnTo>
                    <a:pt x="0" y="174"/>
                  </a:lnTo>
                  <a:lnTo>
                    <a:pt x="257" y="378"/>
                  </a:lnTo>
                  <a:lnTo>
                    <a:pt x="1405" y="126"/>
                  </a:lnTo>
                  <a:lnTo>
                    <a:pt x="1405" y="12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6863"/>
                    <a:invGamma/>
                  </a:schemeClr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endParaRPr>
            </a:p>
          </p:txBody>
        </p:sp>
        <p:sp>
          <p:nvSpPr>
            <p:cNvPr id="12301" name="Freeform 13"/>
            <p:cNvSpPr/>
            <p:nvPr/>
          </p:nvSpPr>
          <p:spPr>
            <a:xfrm>
              <a:off x="5030" y="3151"/>
              <a:ext cx="728" cy="240"/>
            </a:xfrm>
            <a:custGeom>
              <a:avLst/>
              <a:gdLst/>
              <a:ahLst/>
              <a:cxnLst>
                <a:cxn ang="0">
                  <a:pos x="725" y="240"/>
                </a:cxn>
                <a:cxn ang="0">
                  <a:pos x="0" y="0"/>
                </a:cxn>
                <a:cxn ang="0">
                  <a:pos x="0" y="6"/>
                </a:cxn>
                <a:cxn ang="0">
                  <a:pos x="725" y="240"/>
                </a:cxn>
                <a:cxn ang="0">
                  <a:pos x="725" y="240"/>
                </a:cxn>
              </a:cxnLst>
              <a:pathLst>
                <a:path w="729" h="240">
                  <a:moveTo>
                    <a:pt x="729" y="24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729" y="24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62" name="Freeform 14"/>
            <p:cNvSpPr/>
            <p:nvPr/>
          </p:nvSpPr>
          <p:spPr bwMode="hidden">
            <a:xfrm>
              <a:off x="0" y="1486"/>
              <a:ext cx="5030" cy="1671"/>
            </a:xfrm>
            <a:custGeom>
              <a:avLst/>
              <a:gdLst>
                <a:gd name="T0" fmla="*/ 0 w 5035"/>
                <a:gd name="T1" fmla="*/ 72 h 1672"/>
                <a:gd name="T2" fmla="*/ 5035 w 5035"/>
                <a:gd name="T3" fmla="*/ 1672 h 1672"/>
                <a:gd name="T4" fmla="*/ 5035 w 5035"/>
                <a:gd name="T5" fmla="*/ 1666 h 1672"/>
                <a:gd name="T6" fmla="*/ 0 w 5035"/>
                <a:gd name="T7" fmla="*/ 0 h 1672"/>
                <a:gd name="T8" fmla="*/ 0 w 5035"/>
                <a:gd name="T9" fmla="*/ 72 h 1672"/>
                <a:gd name="T10" fmla="*/ 0 w 5035"/>
                <a:gd name="T11" fmla="*/ 72 h 16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35" h="1672">
                  <a:moveTo>
                    <a:pt x="0" y="72"/>
                  </a:moveTo>
                  <a:lnTo>
                    <a:pt x="5035" y="1672"/>
                  </a:lnTo>
                  <a:lnTo>
                    <a:pt x="5035" y="1666"/>
                  </a:lnTo>
                  <a:lnTo>
                    <a:pt x="0" y="0"/>
                  </a:lnTo>
                  <a:lnTo>
                    <a:pt x="0" y="72"/>
                  </a:lnTo>
                  <a:lnTo>
                    <a:pt x="0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4510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endParaRPr>
            </a:p>
          </p:txBody>
        </p:sp>
        <p:sp>
          <p:nvSpPr>
            <p:cNvPr id="12303" name="Freeform 15"/>
            <p:cNvSpPr/>
            <p:nvPr/>
          </p:nvSpPr>
          <p:spPr>
            <a:xfrm>
              <a:off x="5030" y="3049"/>
              <a:ext cx="728" cy="318"/>
            </a:xfrm>
            <a:custGeom>
              <a:avLst/>
              <a:gdLst/>
              <a:ahLst/>
              <a:cxnLst>
                <a:cxn ang="0">
                  <a:pos x="725" y="318"/>
                </a:cxn>
                <a:cxn ang="0">
                  <a:pos x="725" y="312"/>
                </a:cxn>
                <a:cxn ang="0">
                  <a:pos x="0" y="0"/>
                </a:cxn>
                <a:cxn ang="0">
                  <a:pos x="0" y="54"/>
                </a:cxn>
                <a:cxn ang="0">
                  <a:pos x="725" y="318"/>
                </a:cxn>
                <a:cxn ang="0">
                  <a:pos x="725" y="318"/>
                </a:cxn>
              </a:cxnLst>
              <a:pathLst>
                <a:path w="729" h="318">
                  <a:moveTo>
                    <a:pt x="729" y="318"/>
                  </a:moveTo>
                  <a:lnTo>
                    <a:pt x="729" y="312"/>
                  </a:lnTo>
                  <a:lnTo>
                    <a:pt x="0" y="0"/>
                  </a:lnTo>
                  <a:lnTo>
                    <a:pt x="0" y="54"/>
                  </a:lnTo>
                  <a:lnTo>
                    <a:pt x="729" y="318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64" name="Freeform 16"/>
            <p:cNvSpPr/>
            <p:nvPr/>
          </p:nvSpPr>
          <p:spPr bwMode="hidden">
            <a:xfrm>
              <a:off x="0" y="916"/>
              <a:ext cx="5030" cy="2187"/>
            </a:xfrm>
            <a:custGeom>
              <a:avLst/>
              <a:gdLst>
                <a:gd name="T0" fmla="*/ 0 w 5035"/>
                <a:gd name="T1" fmla="*/ 396 h 2188"/>
                <a:gd name="T2" fmla="*/ 5035 w 5035"/>
                <a:gd name="T3" fmla="*/ 2188 h 2188"/>
                <a:gd name="T4" fmla="*/ 5035 w 5035"/>
                <a:gd name="T5" fmla="*/ 2134 h 2188"/>
                <a:gd name="T6" fmla="*/ 0 w 5035"/>
                <a:gd name="T7" fmla="*/ 0 h 2188"/>
                <a:gd name="T8" fmla="*/ 0 w 5035"/>
                <a:gd name="T9" fmla="*/ 396 h 2188"/>
                <a:gd name="T10" fmla="*/ 0 w 5035"/>
                <a:gd name="T11" fmla="*/ 396 h 2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35" h="2188">
                  <a:moveTo>
                    <a:pt x="0" y="396"/>
                  </a:moveTo>
                  <a:lnTo>
                    <a:pt x="5035" y="2188"/>
                  </a:lnTo>
                  <a:lnTo>
                    <a:pt x="5035" y="2134"/>
                  </a:lnTo>
                  <a:lnTo>
                    <a:pt x="0" y="0"/>
                  </a:lnTo>
                  <a:lnTo>
                    <a:pt x="0" y="396"/>
                  </a:lnTo>
                  <a:lnTo>
                    <a:pt x="0" y="39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endParaRPr>
            </a:p>
          </p:txBody>
        </p:sp>
        <p:sp>
          <p:nvSpPr>
            <p:cNvPr id="65" name="Freeform 17"/>
            <p:cNvSpPr/>
            <p:nvPr/>
          </p:nvSpPr>
          <p:spPr bwMode="hidden">
            <a:xfrm>
              <a:off x="2294" y="0"/>
              <a:ext cx="3159" cy="2725"/>
            </a:xfrm>
            <a:custGeom>
              <a:avLst/>
              <a:gdLst>
                <a:gd name="T0" fmla="*/ 0 w 3163"/>
                <a:gd name="T1" fmla="*/ 0 h 2727"/>
                <a:gd name="T2" fmla="*/ 3145 w 3163"/>
                <a:gd name="T3" fmla="*/ 2727 h 2727"/>
                <a:gd name="T4" fmla="*/ 3163 w 3163"/>
                <a:gd name="T5" fmla="*/ 2704 h 2727"/>
                <a:gd name="T6" fmla="*/ 102 w 3163"/>
                <a:gd name="T7" fmla="*/ 0 h 2727"/>
                <a:gd name="T8" fmla="*/ 0 w 3163"/>
                <a:gd name="T9" fmla="*/ 0 h 2727"/>
                <a:gd name="T10" fmla="*/ 0 w 3163"/>
                <a:gd name="T11" fmla="*/ 0 h 27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63" h="2727">
                  <a:moveTo>
                    <a:pt x="0" y="0"/>
                  </a:moveTo>
                  <a:lnTo>
                    <a:pt x="3145" y="2727"/>
                  </a:lnTo>
                  <a:lnTo>
                    <a:pt x="3163" y="2704"/>
                  </a:lnTo>
                  <a:lnTo>
                    <a:pt x="10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980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endParaRPr>
            </a:p>
          </p:txBody>
        </p:sp>
        <p:sp>
          <p:nvSpPr>
            <p:cNvPr id="66" name="Freeform 18"/>
            <p:cNvSpPr/>
            <p:nvPr/>
          </p:nvSpPr>
          <p:spPr bwMode="hidden">
            <a:xfrm>
              <a:off x="5435" y="2702"/>
              <a:ext cx="323" cy="299"/>
            </a:xfrm>
            <a:custGeom>
              <a:avLst/>
              <a:gdLst>
                <a:gd name="T0" fmla="*/ 323 w 323"/>
                <a:gd name="T1" fmla="*/ 299 h 299"/>
                <a:gd name="T2" fmla="*/ 323 w 323"/>
                <a:gd name="T3" fmla="*/ 263 h 299"/>
                <a:gd name="T4" fmla="*/ 18 w 323"/>
                <a:gd name="T5" fmla="*/ 0 h 299"/>
                <a:gd name="T6" fmla="*/ 0 w 323"/>
                <a:gd name="T7" fmla="*/ 23 h 299"/>
                <a:gd name="T8" fmla="*/ 323 w 323"/>
                <a:gd name="T9" fmla="*/ 299 h 299"/>
                <a:gd name="T10" fmla="*/ 323 w 323"/>
                <a:gd name="T11" fmla="*/ 299 h 2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23" h="299">
                  <a:moveTo>
                    <a:pt x="323" y="299"/>
                  </a:moveTo>
                  <a:lnTo>
                    <a:pt x="323" y="263"/>
                  </a:lnTo>
                  <a:lnTo>
                    <a:pt x="18" y="0"/>
                  </a:lnTo>
                  <a:lnTo>
                    <a:pt x="0" y="23"/>
                  </a:lnTo>
                  <a:lnTo>
                    <a:pt x="323" y="299"/>
                  </a:lnTo>
                  <a:lnTo>
                    <a:pt x="323" y="29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4118"/>
                    <a:invGamma/>
                  </a:schemeClr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endParaRPr>
            </a:p>
          </p:txBody>
        </p:sp>
        <p:sp>
          <p:nvSpPr>
            <p:cNvPr id="12307" name="Freeform 19"/>
            <p:cNvSpPr/>
            <p:nvPr/>
          </p:nvSpPr>
          <p:spPr>
            <a:xfrm>
              <a:off x="5477" y="2588"/>
              <a:ext cx="281" cy="335"/>
            </a:xfrm>
            <a:custGeom>
              <a:avLst/>
              <a:gdLst/>
              <a:ahLst/>
              <a:cxnLst>
                <a:cxn ang="0">
                  <a:pos x="281" y="335"/>
                </a:cxn>
                <a:cxn ang="0">
                  <a:pos x="281" y="173"/>
                </a:cxn>
                <a:cxn ang="0">
                  <a:pos x="96" y="0"/>
                </a:cxn>
                <a:cxn ang="0">
                  <a:pos x="0" y="90"/>
                </a:cxn>
                <a:cxn ang="0">
                  <a:pos x="281" y="335"/>
                </a:cxn>
                <a:cxn ang="0">
                  <a:pos x="281" y="335"/>
                </a:cxn>
              </a:cxnLst>
              <a:pathLst>
                <a:path w="281" h="335">
                  <a:moveTo>
                    <a:pt x="281" y="335"/>
                  </a:moveTo>
                  <a:lnTo>
                    <a:pt x="281" y="173"/>
                  </a:lnTo>
                  <a:lnTo>
                    <a:pt x="96" y="0"/>
                  </a:lnTo>
                  <a:lnTo>
                    <a:pt x="0" y="90"/>
                  </a:lnTo>
                  <a:lnTo>
                    <a:pt x="281" y="335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68" name="Freeform 20"/>
            <p:cNvSpPr/>
            <p:nvPr/>
          </p:nvSpPr>
          <p:spPr bwMode="hidden">
            <a:xfrm>
              <a:off x="2454" y="0"/>
              <a:ext cx="3119" cy="2678"/>
            </a:xfrm>
            <a:custGeom>
              <a:avLst/>
              <a:gdLst>
                <a:gd name="T0" fmla="*/ 0 w 3122"/>
                <a:gd name="T1" fmla="*/ 0 h 2680"/>
                <a:gd name="T2" fmla="*/ 3026 w 3122"/>
                <a:gd name="T3" fmla="*/ 2680 h 2680"/>
                <a:gd name="T4" fmla="*/ 3122 w 3122"/>
                <a:gd name="T5" fmla="*/ 2590 h 2680"/>
                <a:gd name="T6" fmla="*/ 383 w 3122"/>
                <a:gd name="T7" fmla="*/ 0 h 2680"/>
                <a:gd name="T8" fmla="*/ 0 w 3122"/>
                <a:gd name="T9" fmla="*/ 0 h 2680"/>
                <a:gd name="T10" fmla="*/ 0 w 3122"/>
                <a:gd name="T11" fmla="*/ 0 h 26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22" h="2680">
                  <a:moveTo>
                    <a:pt x="0" y="0"/>
                  </a:moveTo>
                  <a:lnTo>
                    <a:pt x="3026" y="2680"/>
                  </a:lnTo>
                  <a:lnTo>
                    <a:pt x="3122" y="2590"/>
                  </a:lnTo>
                  <a:lnTo>
                    <a:pt x="383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endParaRPr>
            </a:p>
          </p:txBody>
        </p:sp>
        <p:sp>
          <p:nvSpPr>
            <p:cNvPr id="12309" name="Freeform 21"/>
            <p:cNvSpPr/>
            <p:nvPr/>
          </p:nvSpPr>
          <p:spPr>
            <a:xfrm>
              <a:off x="5626" y="2534"/>
              <a:ext cx="132" cy="132"/>
            </a:xfrm>
            <a:custGeom>
              <a:avLst/>
              <a:gdLst/>
              <a:ahLst/>
              <a:cxnLst>
                <a:cxn ang="0">
                  <a:pos x="132" y="132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132" y="132"/>
                </a:cxn>
                <a:cxn ang="0">
                  <a:pos x="132" y="132"/>
                </a:cxn>
              </a:cxnLst>
              <a:pathLst>
                <a:path w="132" h="132">
                  <a:moveTo>
                    <a:pt x="132" y="132"/>
                  </a:moveTo>
                  <a:lnTo>
                    <a:pt x="0" y="0"/>
                  </a:lnTo>
                  <a:lnTo>
                    <a:pt x="132" y="132"/>
                  </a:lnTo>
                  <a:close/>
                </a:path>
              </a:pathLst>
            </a:custGeom>
            <a:solidFill>
              <a:srgbClr val="FF9999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70" name="Freeform 22"/>
            <p:cNvSpPr/>
            <p:nvPr/>
          </p:nvSpPr>
          <p:spPr bwMode="hidden">
            <a:xfrm>
              <a:off x="3112" y="0"/>
              <a:ext cx="2514" cy="2534"/>
            </a:xfrm>
            <a:custGeom>
              <a:avLst/>
              <a:gdLst>
                <a:gd name="T0" fmla="*/ 0 w 2517"/>
                <a:gd name="T1" fmla="*/ 0 h 2536"/>
                <a:gd name="T2" fmla="*/ 2517 w 2517"/>
                <a:gd name="T3" fmla="*/ 2536 h 2536"/>
                <a:gd name="T4" fmla="*/ 2517 w 2517"/>
                <a:gd name="T5" fmla="*/ 2536 h 2536"/>
                <a:gd name="T6" fmla="*/ 66 w 2517"/>
                <a:gd name="T7" fmla="*/ 0 h 2536"/>
                <a:gd name="T8" fmla="*/ 0 w 2517"/>
                <a:gd name="T9" fmla="*/ 0 h 2536"/>
                <a:gd name="T10" fmla="*/ 0 w 2517"/>
                <a:gd name="T11" fmla="*/ 0 h 2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17" h="2536">
                  <a:moveTo>
                    <a:pt x="0" y="0"/>
                  </a:moveTo>
                  <a:lnTo>
                    <a:pt x="2517" y="2536"/>
                  </a:lnTo>
                  <a:lnTo>
                    <a:pt x="2517" y="2536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1373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endParaRPr>
            </a:p>
          </p:txBody>
        </p:sp>
        <p:sp>
          <p:nvSpPr>
            <p:cNvPr id="71" name="Freeform 23"/>
            <p:cNvSpPr/>
            <p:nvPr/>
          </p:nvSpPr>
          <p:spPr bwMode="hidden">
            <a:xfrm>
              <a:off x="3488" y="0"/>
              <a:ext cx="2198" cy="2480"/>
            </a:xfrm>
            <a:custGeom>
              <a:avLst/>
              <a:gdLst>
                <a:gd name="T0" fmla="*/ 0 w 2200"/>
                <a:gd name="T1" fmla="*/ 0 h 2482"/>
                <a:gd name="T2" fmla="*/ 2188 w 2200"/>
                <a:gd name="T3" fmla="*/ 2482 h 2482"/>
                <a:gd name="T4" fmla="*/ 2200 w 2200"/>
                <a:gd name="T5" fmla="*/ 2476 h 2482"/>
                <a:gd name="T6" fmla="*/ 317 w 2200"/>
                <a:gd name="T7" fmla="*/ 0 h 2482"/>
                <a:gd name="T8" fmla="*/ 0 w 2200"/>
                <a:gd name="T9" fmla="*/ 0 h 2482"/>
                <a:gd name="T10" fmla="*/ 0 w 2200"/>
                <a:gd name="T11" fmla="*/ 0 h 24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200" h="2482">
                  <a:moveTo>
                    <a:pt x="0" y="0"/>
                  </a:moveTo>
                  <a:lnTo>
                    <a:pt x="2188" y="2482"/>
                  </a:lnTo>
                  <a:lnTo>
                    <a:pt x="2200" y="2476"/>
                  </a:lnTo>
                  <a:lnTo>
                    <a:pt x="31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endParaRPr>
            </a:p>
          </p:txBody>
        </p:sp>
        <p:sp>
          <p:nvSpPr>
            <p:cNvPr id="72" name="Freeform 24"/>
            <p:cNvSpPr/>
            <p:nvPr/>
          </p:nvSpPr>
          <p:spPr bwMode="hidden">
            <a:xfrm>
              <a:off x="5674" y="2474"/>
              <a:ext cx="84" cy="96"/>
            </a:xfrm>
            <a:custGeom>
              <a:avLst/>
              <a:gdLst>
                <a:gd name="T0" fmla="*/ 84 w 84"/>
                <a:gd name="T1" fmla="*/ 96 h 96"/>
                <a:gd name="T2" fmla="*/ 84 w 84"/>
                <a:gd name="T3" fmla="*/ 90 h 96"/>
                <a:gd name="T4" fmla="*/ 12 w 84"/>
                <a:gd name="T5" fmla="*/ 0 h 96"/>
                <a:gd name="T6" fmla="*/ 0 w 84"/>
                <a:gd name="T7" fmla="*/ 6 h 96"/>
                <a:gd name="T8" fmla="*/ 84 w 84"/>
                <a:gd name="T9" fmla="*/ 96 h 96"/>
                <a:gd name="T10" fmla="*/ 84 w 84"/>
                <a:gd name="T11" fmla="*/ 9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4" h="96">
                  <a:moveTo>
                    <a:pt x="84" y="96"/>
                  </a:moveTo>
                  <a:lnTo>
                    <a:pt x="84" y="90"/>
                  </a:lnTo>
                  <a:lnTo>
                    <a:pt x="12" y="0"/>
                  </a:lnTo>
                  <a:lnTo>
                    <a:pt x="0" y="6"/>
                  </a:lnTo>
                  <a:lnTo>
                    <a:pt x="84" y="96"/>
                  </a:lnTo>
                  <a:lnTo>
                    <a:pt x="84" y="9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0980"/>
                    <a:invGamma/>
                  </a:schemeClr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endParaRPr>
            </a:p>
          </p:txBody>
        </p:sp>
        <p:sp>
          <p:nvSpPr>
            <p:cNvPr id="12313" name="Freeform 25"/>
            <p:cNvSpPr/>
            <p:nvPr/>
          </p:nvSpPr>
          <p:spPr>
            <a:xfrm>
              <a:off x="5603" y="850"/>
              <a:ext cx="155" cy="516"/>
            </a:xfrm>
            <a:custGeom>
              <a:avLst/>
              <a:gdLst/>
              <a:ahLst/>
              <a:cxnLst>
                <a:cxn ang="0">
                  <a:pos x="155" y="516"/>
                </a:cxn>
                <a:cxn ang="0">
                  <a:pos x="155" y="204"/>
                </a:cxn>
                <a:cxn ang="0">
                  <a:pos x="77" y="0"/>
                </a:cxn>
                <a:cxn ang="0">
                  <a:pos x="0" y="192"/>
                </a:cxn>
                <a:cxn ang="0">
                  <a:pos x="155" y="516"/>
                </a:cxn>
                <a:cxn ang="0">
                  <a:pos x="155" y="516"/>
                </a:cxn>
              </a:cxnLst>
              <a:pathLst>
                <a:path w="155" h="516">
                  <a:moveTo>
                    <a:pt x="155" y="516"/>
                  </a:moveTo>
                  <a:lnTo>
                    <a:pt x="155" y="204"/>
                  </a:lnTo>
                  <a:lnTo>
                    <a:pt x="77" y="0"/>
                  </a:lnTo>
                  <a:lnTo>
                    <a:pt x="0" y="192"/>
                  </a:lnTo>
                  <a:lnTo>
                    <a:pt x="155" y="516"/>
                  </a:lnTo>
                  <a:close/>
                </a:path>
              </a:pathLst>
            </a:custGeom>
            <a:solidFill>
              <a:schemeClr val="bg2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74" name="Freeform 26"/>
            <p:cNvSpPr/>
            <p:nvPr/>
          </p:nvSpPr>
          <p:spPr bwMode="hidden">
            <a:xfrm>
              <a:off x="5107" y="0"/>
              <a:ext cx="573" cy="1042"/>
            </a:xfrm>
            <a:custGeom>
              <a:avLst/>
              <a:gdLst>
                <a:gd name="T0" fmla="*/ 0 w 574"/>
                <a:gd name="T1" fmla="*/ 0 h 1043"/>
                <a:gd name="T2" fmla="*/ 497 w 574"/>
                <a:gd name="T3" fmla="*/ 1043 h 1043"/>
                <a:gd name="T4" fmla="*/ 574 w 574"/>
                <a:gd name="T5" fmla="*/ 851 h 1043"/>
                <a:gd name="T6" fmla="*/ 251 w 574"/>
                <a:gd name="T7" fmla="*/ 0 h 1043"/>
                <a:gd name="T8" fmla="*/ 0 w 574"/>
                <a:gd name="T9" fmla="*/ 0 h 1043"/>
                <a:gd name="T10" fmla="*/ 0 w 574"/>
                <a:gd name="T11" fmla="*/ 0 h 10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" h="1043">
                  <a:moveTo>
                    <a:pt x="0" y="0"/>
                  </a:moveTo>
                  <a:lnTo>
                    <a:pt x="497" y="1043"/>
                  </a:lnTo>
                  <a:lnTo>
                    <a:pt x="574" y="851"/>
                  </a:lnTo>
                  <a:lnTo>
                    <a:pt x="25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endParaRPr>
            </a:p>
          </p:txBody>
        </p:sp>
        <p:sp>
          <p:nvSpPr>
            <p:cNvPr id="75" name="Freeform 27"/>
            <p:cNvSpPr/>
            <p:nvPr/>
          </p:nvSpPr>
          <p:spPr bwMode="hidden">
            <a:xfrm>
              <a:off x="5411" y="0"/>
              <a:ext cx="341" cy="796"/>
            </a:xfrm>
            <a:custGeom>
              <a:avLst/>
              <a:gdLst>
                <a:gd name="T0" fmla="*/ 144 w 341"/>
                <a:gd name="T1" fmla="*/ 0 h 797"/>
                <a:gd name="T2" fmla="*/ 0 w 341"/>
                <a:gd name="T3" fmla="*/ 0 h 797"/>
                <a:gd name="T4" fmla="*/ 287 w 341"/>
                <a:gd name="T5" fmla="*/ 797 h 797"/>
                <a:gd name="T6" fmla="*/ 341 w 341"/>
                <a:gd name="T7" fmla="*/ 653 h 797"/>
                <a:gd name="T8" fmla="*/ 144 w 341"/>
                <a:gd name="T9" fmla="*/ 0 h 797"/>
                <a:gd name="T10" fmla="*/ 144 w 341"/>
                <a:gd name="T11" fmla="*/ 0 h 7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41" h="797">
                  <a:moveTo>
                    <a:pt x="144" y="0"/>
                  </a:moveTo>
                  <a:lnTo>
                    <a:pt x="0" y="0"/>
                  </a:lnTo>
                  <a:lnTo>
                    <a:pt x="287" y="797"/>
                  </a:lnTo>
                  <a:lnTo>
                    <a:pt x="341" y="653"/>
                  </a:lnTo>
                  <a:lnTo>
                    <a:pt x="144" y="0"/>
                  </a:lnTo>
                  <a:lnTo>
                    <a:pt x="144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980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endParaRPr>
            </a:p>
          </p:txBody>
        </p:sp>
        <p:sp>
          <p:nvSpPr>
            <p:cNvPr id="12316" name="Freeform 28"/>
            <p:cNvSpPr/>
            <p:nvPr/>
          </p:nvSpPr>
          <p:spPr>
            <a:xfrm>
              <a:off x="5698" y="653"/>
              <a:ext cx="60" cy="311"/>
            </a:xfrm>
            <a:custGeom>
              <a:avLst/>
              <a:gdLst/>
              <a:ahLst/>
              <a:cxnLst>
                <a:cxn ang="0">
                  <a:pos x="0" y="144"/>
                </a:cxn>
                <a:cxn ang="0">
                  <a:pos x="60" y="308"/>
                </a:cxn>
                <a:cxn ang="0">
                  <a:pos x="60" y="6"/>
                </a:cxn>
                <a:cxn ang="0">
                  <a:pos x="54" y="0"/>
                </a:cxn>
                <a:cxn ang="0">
                  <a:pos x="0" y="144"/>
                </a:cxn>
                <a:cxn ang="0">
                  <a:pos x="0" y="144"/>
                </a:cxn>
              </a:cxnLst>
              <a:pathLst>
                <a:path w="60" h="312">
                  <a:moveTo>
                    <a:pt x="0" y="144"/>
                  </a:moveTo>
                  <a:lnTo>
                    <a:pt x="60" y="312"/>
                  </a:lnTo>
                  <a:lnTo>
                    <a:pt x="60" y="6"/>
                  </a:lnTo>
                  <a:lnTo>
                    <a:pt x="54" y="0"/>
                  </a:lnTo>
                  <a:lnTo>
                    <a:pt x="0" y="144"/>
                  </a:lnTo>
                  <a:close/>
                </a:path>
              </a:pathLst>
            </a:custGeom>
            <a:solidFill>
              <a:schemeClr val="bg2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77" name="Freeform 29"/>
            <p:cNvSpPr/>
            <p:nvPr/>
          </p:nvSpPr>
          <p:spPr bwMode="hidden">
            <a:xfrm>
              <a:off x="2" y="1601"/>
              <a:ext cx="5752" cy="1864"/>
            </a:xfrm>
            <a:custGeom>
              <a:avLst/>
              <a:gdLst>
                <a:gd name="T0" fmla="*/ 0 w 5740"/>
                <a:gd name="T1" fmla="*/ 371 h 1864"/>
                <a:gd name="T2" fmla="*/ 5740 w 5740"/>
                <a:gd name="T3" fmla="*/ 1864 h 1864"/>
                <a:gd name="T4" fmla="*/ 5740 w 5740"/>
                <a:gd name="T5" fmla="*/ 1834 h 1864"/>
                <a:gd name="T6" fmla="*/ 0 w 5740"/>
                <a:gd name="T7" fmla="*/ 0 h 1864"/>
                <a:gd name="T8" fmla="*/ 0 w 5740"/>
                <a:gd name="T9" fmla="*/ 371 h 1864"/>
                <a:gd name="T10" fmla="*/ 0 w 5740"/>
                <a:gd name="T11" fmla="*/ 371 h 18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864">
                  <a:moveTo>
                    <a:pt x="0" y="371"/>
                  </a:moveTo>
                  <a:lnTo>
                    <a:pt x="5740" y="1864"/>
                  </a:lnTo>
                  <a:lnTo>
                    <a:pt x="5740" y="1834"/>
                  </a:lnTo>
                  <a:lnTo>
                    <a:pt x="0" y="0"/>
                  </a:lnTo>
                  <a:lnTo>
                    <a:pt x="0" y="371"/>
                  </a:lnTo>
                  <a:lnTo>
                    <a:pt x="0" y="371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352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endParaRPr>
            </a:p>
          </p:txBody>
        </p:sp>
        <p:sp>
          <p:nvSpPr>
            <p:cNvPr id="12318" name="Freeform 30"/>
            <p:cNvSpPr/>
            <p:nvPr/>
          </p:nvSpPr>
          <p:spPr>
            <a:xfrm>
              <a:off x="5754" y="3483"/>
              <a:ext cx="6" cy="6"/>
            </a:xfrm>
            <a:custGeom>
              <a:avLst/>
              <a:gdLst/>
              <a:ahLst/>
              <a:cxnLst>
                <a:cxn ang="0">
                  <a:pos x="6" y="6"/>
                </a:cxn>
                <a:cxn ang="0">
                  <a:pos x="0" y="0"/>
                </a:cxn>
                <a:cxn ang="0">
                  <a:pos x="0" y="6"/>
                </a:cxn>
                <a:cxn ang="0">
                  <a:pos x="6" y="6"/>
                </a:cxn>
                <a:cxn ang="0">
                  <a:pos x="6" y="6"/>
                </a:cxn>
              </a:cxnLst>
              <a:pathLst>
                <a:path w="6" h="6">
                  <a:moveTo>
                    <a:pt x="6" y="6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6" y="6"/>
                  </a:lnTo>
                  <a:close/>
                </a:path>
              </a:pathLst>
            </a:custGeom>
            <a:solidFill>
              <a:srgbClr val="18FF00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79" name="Freeform 31"/>
            <p:cNvSpPr/>
            <p:nvPr/>
          </p:nvSpPr>
          <p:spPr bwMode="hidden">
            <a:xfrm>
              <a:off x="2" y="2152"/>
              <a:ext cx="5752" cy="1337"/>
            </a:xfrm>
            <a:custGeom>
              <a:avLst/>
              <a:gdLst>
                <a:gd name="T0" fmla="*/ 0 w 5740"/>
                <a:gd name="T1" fmla="*/ 366 h 1337"/>
                <a:gd name="T2" fmla="*/ 5740 w 5740"/>
                <a:gd name="T3" fmla="*/ 1337 h 1337"/>
                <a:gd name="T4" fmla="*/ 5740 w 5740"/>
                <a:gd name="T5" fmla="*/ 1331 h 1337"/>
                <a:gd name="T6" fmla="*/ 0 w 5740"/>
                <a:gd name="T7" fmla="*/ 0 h 1337"/>
                <a:gd name="T8" fmla="*/ 0 w 5740"/>
                <a:gd name="T9" fmla="*/ 366 h 1337"/>
                <a:gd name="T10" fmla="*/ 0 w 5740"/>
                <a:gd name="T11" fmla="*/ 366 h 1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337">
                  <a:moveTo>
                    <a:pt x="0" y="366"/>
                  </a:moveTo>
                  <a:lnTo>
                    <a:pt x="5740" y="1337"/>
                  </a:lnTo>
                  <a:lnTo>
                    <a:pt x="5740" y="1331"/>
                  </a:lnTo>
                  <a:lnTo>
                    <a:pt x="0" y="0"/>
                  </a:lnTo>
                  <a:lnTo>
                    <a:pt x="0" y="366"/>
                  </a:lnTo>
                  <a:lnTo>
                    <a:pt x="0" y="366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endParaRPr>
            </a:p>
          </p:txBody>
        </p:sp>
        <p:sp>
          <p:nvSpPr>
            <p:cNvPr id="80" name="Freeform 32"/>
            <p:cNvSpPr/>
            <p:nvPr/>
          </p:nvSpPr>
          <p:spPr bwMode="hidden">
            <a:xfrm>
              <a:off x="2" y="3177"/>
              <a:ext cx="5752" cy="414"/>
            </a:xfrm>
            <a:custGeom>
              <a:avLst/>
              <a:gdLst>
                <a:gd name="T0" fmla="*/ 0 w 5740"/>
                <a:gd name="T1" fmla="*/ 48 h 414"/>
                <a:gd name="T2" fmla="*/ 5740 w 5740"/>
                <a:gd name="T3" fmla="*/ 414 h 414"/>
                <a:gd name="T4" fmla="*/ 5740 w 5740"/>
                <a:gd name="T5" fmla="*/ 402 h 414"/>
                <a:gd name="T6" fmla="*/ 0 w 5740"/>
                <a:gd name="T7" fmla="*/ 0 h 414"/>
                <a:gd name="T8" fmla="*/ 0 w 5740"/>
                <a:gd name="T9" fmla="*/ 48 h 414"/>
                <a:gd name="T10" fmla="*/ 0 w 5740"/>
                <a:gd name="T11" fmla="*/ 48 h 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414">
                  <a:moveTo>
                    <a:pt x="0" y="48"/>
                  </a:moveTo>
                  <a:lnTo>
                    <a:pt x="5740" y="414"/>
                  </a:lnTo>
                  <a:lnTo>
                    <a:pt x="5740" y="402"/>
                  </a:lnTo>
                  <a:lnTo>
                    <a:pt x="0" y="0"/>
                  </a:lnTo>
                  <a:lnTo>
                    <a:pt x="0" y="48"/>
                  </a:lnTo>
                  <a:lnTo>
                    <a:pt x="0" y="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endParaRPr>
            </a:p>
          </p:txBody>
        </p:sp>
        <p:sp>
          <p:nvSpPr>
            <p:cNvPr id="81" name="Freeform 33"/>
            <p:cNvSpPr/>
            <p:nvPr/>
          </p:nvSpPr>
          <p:spPr bwMode="hidden">
            <a:xfrm>
              <a:off x="1297" y="0"/>
              <a:ext cx="4457" cy="3177"/>
            </a:xfrm>
            <a:custGeom>
              <a:avLst/>
              <a:gdLst>
                <a:gd name="T0" fmla="*/ 0 w 4448"/>
                <a:gd name="T1" fmla="*/ 0 h 3177"/>
                <a:gd name="T2" fmla="*/ 4448 w 4448"/>
                <a:gd name="T3" fmla="*/ 3177 h 3177"/>
                <a:gd name="T4" fmla="*/ 4448 w 4448"/>
                <a:gd name="T5" fmla="*/ 3153 h 3177"/>
                <a:gd name="T6" fmla="*/ 125 w 4448"/>
                <a:gd name="T7" fmla="*/ 0 h 3177"/>
                <a:gd name="T8" fmla="*/ 0 w 4448"/>
                <a:gd name="T9" fmla="*/ 0 h 3177"/>
                <a:gd name="T10" fmla="*/ 0 w 4448"/>
                <a:gd name="T11" fmla="*/ 0 h 3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448" h="3177">
                  <a:moveTo>
                    <a:pt x="0" y="0"/>
                  </a:moveTo>
                  <a:lnTo>
                    <a:pt x="4448" y="3177"/>
                  </a:lnTo>
                  <a:lnTo>
                    <a:pt x="4448" y="3153"/>
                  </a:lnTo>
                  <a:lnTo>
                    <a:pt x="12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862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endParaRPr>
            </a:p>
          </p:txBody>
        </p:sp>
        <p:sp>
          <p:nvSpPr>
            <p:cNvPr id="82" name="Freeform 34"/>
            <p:cNvSpPr/>
            <p:nvPr/>
          </p:nvSpPr>
          <p:spPr bwMode="hidden">
            <a:xfrm>
              <a:off x="3321" y="0"/>
              <a:ext cx="2433" cy="2614"/>
            </a:xfrm>
            <a:custGeom>
              <a:avLst/>
              <a:gdLst>
                <a:gd name="T0" fmla="*/ 0 w 2428"/>
                <a:gd name="T1" fmla="*/ 0 h 2614"/>
                <a:gd name="T2" fmla="*/ 2428 w 2428"/>
                <a:gd name="T3" fmla="*/ 2614 h 2614"/>
                <a:gd name="T4" fmla="*/ 2428 w 2428"/>
                <a:gd name="T5" fmla="*/ 2608 h 2614"/>
                <a:gd name="T6" fmla="*/ 66 w 2428"/>
                <a:gd name="T7" fmla="*/ 0 h 2614"/>
                <a:gd name="T8" fmla="*/ 0 w 2428"/>
                <a:gd name="T9" fmla="*/ 0 h 2614"/>
                <a:gd name="T10" fmla="*/ 0 w 2428"/>
                <a:gd name="T11" fmla="*/ 0 h 26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28" h="2614">
                  <a:moveTo>
                    <a:pt x="0" y="0"/>
                  </a:moveTo>
                  <a:lnTo>
                    <a:pt x="2428" y="2614"/>
                  </a:lnTo>
                  <a:lnTo>
                    <a:pt x="2428" y="2608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endParaRPr>
            </a:p>
          </p:txBody>
        </p:sp>
        <p:sp>
          <p:nvSpPr>
            <p:cNvPr id="83" name="Freeform 35"/>
            <p:cNvSpPr/>
            <p:nvPr/>
          </p:nvSpPr>
          <p:spPr bwMode="hidden">
            <a:xfrm>
              <a:off x="3950" y="0"/>
              <a:ext cx="1804" cy="2464"/>
            </a:xfrm>
            <a:custGeom>
              <a:avLst/>
              <a:gdLst>
                <a:gd name="T0" fmla="*/ 485 w 1800"/>
                <a:gd name="T1" fmla="*/ 0 h 2464"/>
                <a:gd name="T2" fmla="*/ 0 w 1800"/>
                <a:gd name="T3" fmla="*/ 0 h 2464"/>
                <a:gd name="T4" fmla="*/ 1800 w 1800"/>
                <a:gd name="T5" fmla="*/ 2464 h 2464"/>
                <a:gd name="T6" fmla="*/ 1800 w 1800"/>
                <a:gd name="T7" fmla="*/ 2248 h 2464"/>
                <a:gd name="T8" fmla="*/ 1794 w 1800"/>
                <a:gd name="T9" fmla="*/ 2248 h 2464"/>
                <a:gd name="T10" fmla="*/ 485 w 1800"/>
                <a:gd name="T11" fmla="*/ 0 h 2464"/>
                <a:gd name="T12" fmla="*/ 485 w 1800"/>
                <a:gd name="T13" fmla="*/ 0 h 24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00" h="2464">
                  <a:moveTo>
                    <a:pt x="485" y="0"/>
                  </a:moveTo>
                  <a:lnTo>
                    <a:pt x="0" y="0"/>
                  </a:lnTo>
                  <a:lnTo>
                    <a:pt x="1800" y="2464"/>
                  </a:lnTo>
                  <a:lnTo>
                    <a:pt x="1800" y="2248"/>
                  </a:lnTo>
                  <a:lnTo>
                    <a:pt x="1794" y="2248"/>
                  </a:lnTo>
                  <a:lnTo>
                    <a:pt x="485" y="0"/>
                  </a:lnTo>
                  <a:lnTo>
                    <a:pt x="485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endParaRPr>
            </a:p>
          </p:txBody>
        </p:sp>
        <p:sp>
          <p:nvSpPr>
            <p:cNvPr id="84" name="Freeform 36"/>
            <p:cNvSpPr/>
            <p:nvPr/>
          </p:nvSpPr>
          <p:spPr bwMode="hidden">
            <a:xfrm>
              <a:off x="4519" y="0"/>
              <a:ext cx="1235" cy="2074"/>
            </a:xfrm>
            <a:custGeom>
              <a:avLst/>
              <a:gdLst>
                <a:gd name="T0" fmla="*/ 0 w 1232"/>
                <a:gd name="T1" fmla="*/ 0 h 2074"/>
                <a:gd name="T2" fmla="*/ 1232 w 1232"/>
                <a:gd name="T3" fmla="*/ 2074 h 2074"/>
                <a:gd name="T4" fmla="*/ 1232 w 1232"/>
                <a:gd name="T5" fmla="*/ 2038 h 2074"/>
                <a:gd name="T6" fmla="*/ 42 w 1232"/>
                <a:gd name="T7" fmla="*/ 0 h 2074"/>
                <a:gd name="T8" fmla="*/ 0 w 1232"/>
                <a:gd name="T9" fmla="*/ 0 h 2074"/>
                <a:gd name="T10" fmla="*/ 0 w 1232"/>
                <a:gd name="T11" fmla="*/ 0 h 20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32" h="2074">
                  <a:moveTo>
                    <a:pt x="0" y="0"/>
                  </a:moveTo>
                  <a:lnTo>
                    <a:pt x="1232" y="2074"/>
                  </a:lnTo>
                  <a:lnTo>
                    <a:pt x="1232" y="2038"/>
                  </a:lnTo>
                  <a:lnTo>
                    <a:pt x="4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764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endParaRPr>
            </a:p>
          </p:txBody>
        </p:sp>
        <p:sp>
          <p:nvSpPr>
            <p:cNvPr id="85" name="Freeform 37"/>
            <p:cNvSpPr/>
            <p:nvPr/>
          </p:nvSpPr>
          <p:spPr bwMode="hidden">
            <a:xfrm>
              <a:off x="4694" y="0"/>
              <a:ext cx="1060" cy="1936"/>
            </a:xfrm>
            <a:custGeom>
              <a:avLst/>
              <a:gdLst>
                <a:gd name="T0" fmla="*/ 0 w 1058"/>
                <a:gd name="T1" fmla="*/ 0 h 1936"/>
                <a:gd name="T2" fmla="*/ 1058 w 1058"/>
                <a:gd name="T3" fmla="*/ 1936 h 1936"/>
                <a:gd name="T4" fmla="*/ 1058 w 1058"/>
                <a:gd name="T5" fmla="*/ 1930 h 1936"/>
                <a:gd name="T6" fmla="*/ 54 w 1058"/>
                <a:gd name="T7" fmla="*/ 0 h 1936"/>
                <a:gd name="T8" fmla="*/ 0 w 1058"/>
                <a:gd name="T9" fmla="*/ 0 h 1936"/>
                <a:gd name="T10" fmla="*/ 0 w 1058"/>
                <a:gd name="T11" fmla="*/ 0 h 1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58" h="1936">
                  <a:moveTo>
                    <a:pt x="0" y="0"/>
                  </a:moveTo>
                  <a:lnTo>
                    <a:pt x="1058" y="1936"/>
                  </a:lnTo>
                  <a:lnTo>
                    <a:pt x="1058" y="1930"/>
                  </a:lnTo>
                  <a:lnTo>
                    <a:pt x="54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endParaRPr>
            </a:p>
          </p:txBody>
        </p:sp>
        <p:sp>
          <p:nvSpPr>
            <p:cNvPr id="86" name="Freeform 38"/>
            <p:cNvSpPr/>
            <p:nvPr/>
          </p:nvSpPr>
          <p:spPr bwMode="hidden">
            <a:xfrm>
              <a:off x="4981" y="0"/>
              <a:ext cx="773" cy="1487"/>
            </a:xfrm>
            <a:custGeom>
              <a:avLst/>
              <a:gdLst>
                <a:gd name="T0" fmla="*/ 771 w 771"/>
                <a:gd name="T1" fmla="*/ 1433 h 1487"/>
                <a:gd name="T2" fmla="*/ 42 w 771"/>
                <a:gd name="T3" fmla="*/ 0 h 1487"/>
                <a:gd name="T4" fmla="*/ 0 w 771"/>
                <a:gd name="T5" fmla="*/ 0 h 1487"/>
                <a:gd name="T6" fmla="*/ 771 w 771"/>
                <a:gd name="T7" fmla="*/ 1487 h 1487"/>
                <a:gd name="T8" fmla="*/ 771 w 771"/>
                <a:gd name="T9" fmla="*/ 1433 h 1487"/>
                <a:gd name="T10" fmla="*/ 771 w 771"/>
                <a:gd name="T11" fmla="*/ 1433 h 14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71" h="1487">
                  <a:moveTo>
                    <a:pt x="771" y="1433"/>
                  </a:moveTo>
                  <a:lnTo>
                    <a:pt x="42" y="0"/>
                  </a:lnTo>
                  <a:lnTo>
                    <a:pt x="0" y="0"/>
                  </a:lnTo>
                  <a:lnTo>
                    <a:pt x="771" y="1487"/>
                  </a:lnTo>
                  <a:lnTo>
                    <a:pt x="771" y="1433"/>
                  </a:lnTo>
                  <a:lnTo>
                    <a:pt x="771" y="1433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882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endParaRPr>
            </a:p>
          </p:txBody>
        </p:sp>
        <p:grpSp>
          <p:nvGrpSpPr>
            <p:cNvPr id="12327" name="Group 39"/>
            <p:cNvGrpSpPr/>
            <p:nvPr userDrawn="1"/>
          </p:nvGrpSpPr>
          <p:grpSpPr>
            <a:xfrm>
              <a:off x="0" y="1632"/>
              <a:ext cx="5758" cy="1858"/>
              <a:chOff x="0" y="1632"/>
              <a:chExt cx="5758" cy="1858"/>
            </a:xfrm>
          </p:grpSpPr>
          <p:sp>
            <p:nvSpPr>
              <p:cNvPr id="88" name="Freeform 40"/>
              <p:cNvSpPr/>
              <p:nvPr/>
            </p:nvSpPr>
            <p:spPr bwMode="hidden">
              <a:xfrm>
                <a:off x="0" y="1632"/>
                <a:ext cx="3670" cy="1313"/>
              </a:xfrm>
              <a:custGeom>
                <a:avLst/>
                <a:gdLst>
                  <a:gd name="T0" fmla="*/ 0 w 3659"/>
                  <a:gd name="T1" fmla="*/ 0 h 1313"/>
                  <a:gd name="T2" fmla="*/ 0 w 3659"/>
                  <a:gd name="T3" fmla="*/ 366 h 1313"/>
                  <a:gd name="T4" fmla="*/ 3635 w 3659"/>
                  <a:gd name="T5" fmla="*/ 1313 h 1313"/>
                  <a:gd name="T6" fmla="*/ 3647 w 3659"/>
                  <a:gd name="T7" fmla="*/ 1235 h 1313"/>
                  <a:gd name="T8" fmla="*/ 3659 w 3659"/>
                  <a:gd name="T9" fmla="*/ 1163 h 1313"/>
                  <a:gd name="T10" fmla="*/ 0 w 3659"/>
                  <a:gd name="T11" fmla="*/ 0 h 1313"/>
                  <a:gd name="T12" fmla="*/ 0 w 3659"/>
                  <a:gd name="T13" fmla="*/ 0 h 1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59" h="1313">
                    <a:moveTo>
                      <a:pt x="0" y="0"/>
                    </a:moveTo>
                    <a:lnTo>
                      <a:pt x="0" y="366"/>
                    </a:lnTo>
                    <a:lnTo>
                      <a:pt x="3635" y="1313"/>
                    </a:lnTo>
                    <a:lnTo>
                      <a:pt x="3647" y="1235"/>
                    </a:lnTo>
                    <a:lnTo>
                      <a:pt x="3659" y="1163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72549"/>
                      <a:invGamma/>
                    </a:schemeClr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Arial" panose="020B0604020202020204" pitchFamily="34" charset="0"/>
                  <a:ea typeface="楷体_GB2312" pitchFamily="49" charset="-122"/>
                  <a:cs typeface="+mn-cs"/>
                </a:endParaRPr>
              </a:p>
            </p:txBody>
          </p:sp>
          <p:sp>
            <p:nvSpPr>
              <p:cNvPr id="89" name="Freeform 41"/>
              <p:cNvSpPr/>
              <p:nvPr/>
            </p:nvSpPr>
            <p:spPr bwMode="hidden">
              <a:xfrm>
                <a:off x="3646" y="2795"/>
                <a:ext cx="2112" cy="695"/>
              </a:xfrm>
              <a:custGeom>
                <a:avLst/>
                <a:gdLst>
                  <a:gd name="T0" fmla="*/ 2105 w 2105"/>
                  <a:gd name="T1" fmla="*/ 665 h 695"/>
                  <a:gd name="T2" fmla="*/ 24 w 2105"/>
                  <a:gd name="T3" fmla="*/ 0 h 695"/>
                  <a:gd name="T4" fmla="*/ 12 w 2105"/>
                  <a:gd name="T5" fmla="*/ 72 h 695"/>
                  <a:gd name="T6" fmla="*/ 0 w 2105"/>
                  <a:gd name="T7" fmla="*/ 150 h 695"/>
                  <a:gd name="T8" fmla="*/ 2105 w 2105"/>
                  <a:gd name="T9" fmla="*/ 695 h 695"/>
                  <a:gd name="T10" fmla="*/ 2105 w 2105"/>
                  <a:gd name="T11" fmla="*/ 665 h 695"/>
                  <a:gd name="T12" fmla="*/ 2105 w 2105"/>
                  <a:gd name="T13" fmla="*/ 665 h 6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105" h="695">
                    <a:moveTo>
                      <a:pt x="2105" y="665"/>
                    </a:moveTo>
                    <a:lnTo>
                      <a:pt x="24" y="0"/>
                    </a:lnTo>
                    <a:lnTo>
                      <a:pt x="12" y="72"/>
                    </a:lnTo>
                    <a:lnTo>
                      <a:pt x="0" y="150"/>
                    </a:lnTo>
                    <a:lnTo>
                      <a:pt x="2105" y="695"/>
                    </a:lnTo>
                    <a:lnTo>
                      <a:pt x="2105" y="665"/>
                    </a:lnTo>
                    <a:lnTo>
                      <a:pt x="2105" y="66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tint val="90980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Arial" panose="020B0604020202020204" pitchFamily="34" charset="0"/>
                  <a:ea typeface="楷体_GB2312" pitchFamily="49" charset="-122"/>
                  <a:cs typeface="+mn-cs"/>
                </a:endParaRPr>
              </a:p>
            </p:txBody>
          </p:sp>
        </p:grpSp>
      </p:grpSp>
      <p:pic>
        <p:nvPicPr>
          <p:cNvPr id="12330" name="Picture 47" descr="图片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750" y="188913"/>
            <a:ext cx="8135938" cy="36036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2331" name="WordArt 48"/>
          <p:cNvSpPr>
            <a:spLocks noTextEdit="1"/>
          </p:cNvSpPr>
          <p:nvPr/>
        </p:nvSpPr>
        <p:spPr>
          <a:xfrm>
            <a:off x="1331913" y="44450"/>
            <a:ext cx="628650" cy="31432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normAutofit/>
          </a:bodyPr>
          <a:p>
            <a:pPr algn="ctr"/>
            <a:r>
              <a:rPr lang="zh-CN" altLang="en-US" sz="2400" b="1" spc="480">
                <a:gradFill rotWithShape="1">
                  <a:gsLst>
                    <a:gs pos="0">
                      <a:srgbClr val="AAAAAA"/>
                    </a:gs>
                    <a:gs pos="100000">
                      <a:srgbClr val="FFFFFF"/>
                    </a:gs>
                  </a:gsLst>
                  <a:lin ang="5400000" scaled="1"/>
                  <a:tileRect/>
                </a:gradFill>
                <a:effectLst>
                  <a:outerShdw dist="45791" dir="3378595" algn="ctr" rotWithShape="0">
                    <a:srgbClr val="4D4D4D">
                      <a:alpha val="79999"/>
                    </a:srgbClr>
                  </a:outerShdw>
                </a:effectLst>
                <a:latin typeface="华文行楷" panose="02010800040101010101" pitchFamily="2" charset="-122"/>
                <a:ea typeface="华文行楷" panose="02010800040101010101" pitchFamily="2" charset="-122"/>
              </a:rPr>
              <a:t>电路</a:t>
            </a:r>
            <a:endParaRPr lang="zh-CN" altLang="en-US" sz="2400" b="1" spc="480">
              <a:gradFill rotWithShape="1">
                <a:gsLst>
                  <a:gs pos="0">
                    <a:srgbClr val="AAAAAA"/>
                  </a:gs>
                  <a:gs pos="100000">
                    <a:srgbClr val="FFFFFF"/>
                  </a:gs>
                </a:gsLst>
                <a:lin ang="5400000" scaled="1"/>
                <a:tileRect/>
              </a:gradFill>
              <a:effectLst>
                <a:outerShdw dist="45791" dir="3378595" algn="ctr" rotWithShape="0">
                  <a:srgbClr val="4D4D4D">
                    <a:alpha val="79999"/>
                  </a:srgbClr>
                </a:outerShdw>
              </a:effectLst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451626" name="Rectangle 42"/>
          <p:cNvSpPr>
            <a:spLocks noGrp="1" noChangeArrowheads="1"/>
          </p:cNvSpPr>
          <p:nvPr>
            <p:ph type="ctrTitle" sz="quarter"/>
          </p:nvPr>
        </p:nvSpPr>
        <p:spPr>
          <a:xfrm>
            <a:off x="457200" y="1600200"/>
            <a:ext cx="8229600" cy="1828800"/>
          </a:xfrm>
        </p:spPr>
        <p:txBody>
          <a:bodyPr/>
          <a:lstStyle>
            <a:lvl1pPr>
              <a:defRPr sz="4800"/>
            </a:lvl1pPr>
          </a:lstStyle>
          <a:p>
            <a:pPr lvl="0" fontAlgn="base"/>
            <a:r>
              <a:rPr lang="zh-CN" altLang="en-US" strike="noStrike" noProof="0" smtClean="0"/>
              <a:t>单击此处编辑母版标题样式</a:t>
            </a:r>
            <a:endParaRPr lang="zh-CN" altLang="en-US" strike="noStrike" noProof="0" smtClean="0"/>
          </a:p>
        </p:txBody>
      </p:sp>
      <p:sp>
        <p:nvSpPr>
          <p:cNvPr id="451627" name="Rectangle 43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3600"/>
            </a:lvl1pPr>
          </a:lstStyle>
          <a:p>
            <a:pPr lvl="0" fontAlgn="base"/>
            <a:r>
              <a:rPr lang="zh-CN" altLang="en-US" strike="noStrike" noProof="0" smtClean="0"/>
              <a:t>单击此处编辑母版副标题样式</a:t>
            </a:r>
            <a:endParaRPr lang="zh-CN" altLang="en-US" strike="noStrike" noProof="0" smtClean="0"/>
          </a:p>
        </p:txBody>
      </p:sp>
      <p:sp>
        <p:nvSpPr>
          <p:cNvPr id="92" name="Rectangle 44"/>
          <p:cNvSpPr>
            <a:spLocks noGrp="1" noChangeArrowheads="1"/>
          </p:cNvSpPr>
          <p:nvPr>
            <p:ph type="dt" sz="quarter" idx="2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93" name="Rectangle 4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94" name="Rectangle 4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89C300-E2FC-4D78-9B1C-9C4AEAA78026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0384F7D-110C-4381-8A61-6CA9EBC6AAFA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0384F7D-110C-4381-8A61-6CA9EBC6AAFA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0384F7D-110C-4381-8A61-6CA9EBC6AAFA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0384F7D-110C-4381-8A61-6CA9EBC6AAFA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0384F7D-110C-4381-8A61-6CA9EBC6AAFA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0384F7D-110C-4381-8A61-6CA9EBC6AAFA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0384F7D-110C-4381-8A61-6CA9EBC6AAFA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9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0384F7D-110C-4381-8A61-6CA9EBC6AAFA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0384F7D-110C-4381-8A61-6CA9EBC6AAFA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53112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53112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0384F7D-110C-4381-8A61-6CA9EBC6AAFA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457200" y="277813"/>
            <a:ext cx="8229600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91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91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57200" y="3941763"/>
            <a:ext cx="4038600" cy="2189162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8200" y="3941763"/>
            <a:ext cx="4038600" cy="2189162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0384F7D-110C-4381-8A61-6CA9EBC6AAFA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7" Type="http://schemas.openxmlformats.org/officeDocument/2006/relationships/theme" Target="../theme/theme1.xml"/><Relationship Id="rId16" Type="http://schemas.openxmlformats.org/officeDocument/2006/relationships/image" Target="../media/image4.png"/><Relationship Id="rId15" Type="http://schemas.openxmlformats.org/officeDocument/2006/relationships/image" Target="../media/image3.png"/><Relationship Id="rId14" Type="http://schemas.openxmlformats.org/officeDocument/2006/relationships/image" Target="../media/image2.png"/><Relationship Id="rId13" Type="http://schemas.openxmlformats.org/officeDocument/2006/relationships/image" Target="../media/image1.pn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0058"/>
            </a:gs>
            <a:gs pos="100000">
              <a:schemeClr val="bg1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/>
      <p:grpSp>
        <p:nvGrpSpPr>
          <p:cNvPr id="1026" name="Group 2"/>
          <p:cNvGrpSpPr/>
          <p:nvPr/>
        </p:nvGrpSpPr>
        <p:grpSpPr>
          <a:xfrm>
            <a:off x="0" y="0"/>
            <a:ext cx="9144000" cy="6856413"/>
            <a:chOff x="0" y="0"/>
            <a:chExt cx="5760" cy="4319"/>
          </a:xfrm>
        </p:grpSpPr>
        <p:sp>
          <p:nvSpPr>
            <p:cNvPr id="450563" name="Freeform 3"/>
            <p:cNvSpPr/>
            <p:nvPr/>
          </p:nvSpPr>
          <p:spPr bwMode="hidden">
            <a:xfrm>
              <a:off x="0" y="12"/>
              <a:ext cx="5758" cy="3273"/>
            </a:xfrm>
            <a:custGeom>
              <a:avLst/>
              <a:gdLst>
                <a:gd name="T0" fmla="*/ 3193 w 5740"/>
                <a:gd name="T1" fmla="*/ 1816 h 3273"/>
                <a:gd name="T2" fmla="*/ 0 w 5740"/>
                <a:gd name="T3" fmla="*/ 0 h 3273"/>
                <a:gd name="T4" fmla="*/ 0 w 5740"/>
                <a:gd name="T5" fmla="*/ 522 h 3273"/>
                <a:gd name="T6" fmla="*/ 3037 w 5740"/>
                <a:gd name="T7" fmla="*/ 1978 h 3273"/>
                <a:gd name="T8" fmla="*/ 5740 w 5740"/>
                <a:gd name="T9" fmla="*/ 3273 h 3273"/>
                <a:gd name="T10" fmla="*/ 5740 w 5740"/>
                <a:gd name="T11" fmla="*/ 3267 h 3273"/>
                <a:gd name="T12" fmla="*/ 3193 w 5740"/>
                <a:gd name="T13" fmla="*/ 1816 h 3273"/>
                <a:gd name="T14" fmla="*/ 3193 w 5740"/>
                <a:gd name="T15" fmla="*/ 1816 h 3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740" h="3273">
                  <a:moveTo>
                    <a:pt x="3193" y="1816"/>
                  </a:moveTo>
                  <a:lnTo>
                    <a:pt x="0" y="0"/>
                  </a:lnTo>
                  <a:lnTo>
                    <a:pt x="0" y="522"/>
                  </a:lnTo>
                  <a:lnTo>
                    <a:pt x="3037" y="1978"/>
                  </a:lnTo>
                  <a:lnTo>
                    <a:pt x="5740" y="3273"/>
                  </a:lnTo>
                  <a:lnTo>
                    <a:pt x="5740" y="3267"/>
                  </a:lnTo>
                  <a:lnTo>
                    <a:pt x="3193" y="1816"/>
                  </a:lnTo>
                  <a:lnTo>
                    <a:pt x="3193" y="181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3529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endParaRPr>
            </a:p>
          </p:txBody>
        </p:sp>
        <p:sp>
          <p:nvSpPr>
            <p:cNvPr id="450564" name="Freeform 4"/>
            <p:cNvSpPr/>
            <p:nvPr/>
          </p:nvSpPr>
          <p:spPr bwMode="hidden">
            <a:xfrm>
              <a:off x="149" y="0"/>
              <a:ext cx="5609" cy="3243"/>
            </a:xfrm>
            <a:custGeom>
              <a:avLst/>
              <a:gdLst>
                <a:gd name="T0" fmla="*/ 3163 w 5591"/>
                <a:gd name="T1" fmla="*/ 1714 h 3243"/>
                <a:gd name="T2" fmla="*/ 431 w 5591"/>
                <a:gd name="T3" fmla="*/ 0 h 3243"/>
                <a:gd name="T4" fmla="*/ 0 w 5591"/>
                <a:gd name="T5" fmla="*/ 0 h 3243"/>
                <a:gd name="T6" fmla="*/ 3086 w 5591"/>
                <a:gd name="T7" fmla="*/ 1786 h 3243"/>
                <a:gd name="T8" fmla="*/ 5591 w 5591"/>
                <a:gd name="T9" fmla="*/ 3243 h 3243"/>
                <a:gd name="T10" fmla="*/ 5591 w 5591"/>
                <a:gd name="T11" fmla="*/ 3237 h 3243"/>
                <a:gd name="T12" fmla="*/ 3163 w 5591"/>
                <a:gd name="T13" fmla="*/ 1714 h 3243"/>
                <a:gd name="T14" fmla="*/ 3163 w 5591"/>
                <a:gd name="T15" fmla="*/ 1714 h 3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591" h="3243">
                  <a:moveTo>
                    <a:pt x="3163" y="1714"/>
                  </a:moveTo>
                  <a:lnTo>
                    <a:pt x="431" y="0"/>
                  </a:lnTo>
                  <a:lnTo>
                    <a:pt x="0" y="0"/>
                  </a:lnTo>
                  <a:lnTo>
                    <a:pt x="3086" y="1786"/>
                  </a:lnTo>
                  <a:lnTo>
                    <a:pt x="5591" y="3243"/>
                  </a:lnTo>
                  <a:lnTo>
                    <a:pt x="5591" y="3237"/>
                  </a:lnTo>
                  <a:lnTo>
                    <a:pt x="3163" y="1714"/>
                  </a:lnTo>
                  <a:lnTo>
                    <a:pt x="3163" y="1714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endParaRPr>
            </a:p>
          </p:txBody>
        </p:sp>
        <p:sp>
          <p:nvSpPr>
            <p:cNvPr id="450565" name="Freeform 5"/>
            <p:cNvSpPr/>
            <p:nvPr/>
          </p:nvSpPr>
          <p:spPr bwMode="hidden">
            <a:xfrm>
              <a:off x="0" y="3433"/>
              <a:ext cx="4038" cy="191"/>
            </a:xfrm>
            <a:custGeom>
              <a:avLst/>
              <a:gdLst>
                <a:gd name="T0" fmla="*/ 0 w 4042"/>
                <a:gd name="T1" fmla="*/ 156 h 192"/>
                <a:gd name="T2" fmla="*/ 4042 w 4042"/>
                <a:gd name="T3" fmla="*/ 192 h 192"/>
                <a:gd name="T4" fmla="*/ 4042 w 4042"/>
                <a:gd name="T5" fmla="*/ 144 h 192"/>
                <a:gd name="T6" fmla="*/ 0 w 4042"/>
                <a:gd name="T7" fmla="*/ 0 h 192"/>
                <a:gd name="T8" fmla="*/ 0 w 4042"/>
                <a:gd name="T9" fmla="*/ 156 h 192"/>
                <a:gd name="T10" fmla="*/ 0 w 4042"/>
                <a:gd name="T11" fmla="*/ 156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42" h="192">
                  <a:moveTo>
                    <a:pt x="0" y="156"/>
                  </a:moveTo>
                  <a:lnTo>
                    <a:pt x="4042" y="192"/>
                  </a:lnTo>
                  <a:lnTo>
                    <a:pt x="4042" y="144"/>
                  </a:lnTo>
                  <a:lnTo>
                    <a:pt x="0" y="0"/>
                  </a:lnTo>
                  <a:lnTo>
                    <a:pt x="0" y="156"/>
                  </a:lnTo>
                  <a:lnTo>
                    <a:pt x="0" y="15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5686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endParaRPr>
            </a:p>
          </p:txBody>
        </p:sp>
        <p:sp>
          <p:nvSpPr>
            <p:cNvPr id="1030" name="Freeform 6"/>
            <p:cNvSpPr/>
            <p:nvPr/>
          </p:nvSpPr>
          <p:spPr>
            <a:xfrm>
              <a:off x="4038" y="3577"/>
              <a:ext cx="1720" cy="65"/>
            </a:xfrm>
            <a:custGeom>
              <a:avLst/>
              <a:gdLst/>
              <a:ahLst/>
              <a:cxnLst>
                <a:cxn ang="0">
                  <a:pos x="1714" y="62"/>
                </a:cxn>
                <a:cxn ang="0">
                  <a:pos x="1714" y="56"/>
                </a:cxn>
                <a:cxn ang="0">
                  <a:pos x="0" y="0"/>
                </a:cxn>
                <a:cxn ang="0">
                  <a:pos x="0" y="44"/>
                </a:cxn>
                <a:cxn ang="0">
                  <a:pos x="1714" y="62"/>
                </a:cxn>
                <a:cxn ang="0">
                  <a:pos x="1714" y="62"/>
                </a:cxn>
              </a:cxnLst>
              <a:pathLst>
                <a:path w="1722" h="66">
                  <a:moveTo>
                    <a:pt x="1722" y="66"/>
                  </a:moveTo>
                  <a:lnTo>
                    <a:pt x="1722" y="60"/>
                  </a:lnTo>
                  <a:lnTo>
                    <a:pt x="0" y="0"/>
                  </a:lnTo>
                  <a:lnTo>
                    <a:pt x="0" y="48"/>
                  </a:lnTo>
                  <a:lnTo>
                    <a:pt x="1722" y="66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50567" name="Freeform 7"/>
            <p:cNvSpPr/>
            <p:nvPr/>
          </p:nvSpPr>
          <p:spPr bwMode="hidden">
            <a:xfrm>
              <a:off x="0" y="3726"/>
              <a:ext cx="4784" cy="329"/>
            </a:xfrm>
            <a:custGeom>
              <a:avLst/>
              <a:gdLst>
                <a:gd name="T0" fmla="*/ 0 w 4789"/>
                <a:gd name="T1" fmla="*/ 329 h 329"/>
                <a:gd name="T2" fmla="*/ 4789 w 4789"/>
                <a:gd name="T3" fmla="*/ 77 h 329"/>
                <a:gd name="T4" fmla="*/ 4789 w 4789"/>
                <a:gd name="T5" fmla="*/ 0 h 329"/>
                <a:gd name="T6" fmla="*/ 0 w 4789"/>
                <a:gd name="T7" fmla="*/ 107 h 329"/>
                <a:gd name="T8" fmla="*/ 0 w 4789"/>
                <a:gd name="T9" fmla="*/ 329 h 329"/>
                <a:gd name="T10" fmla="*/ 0 w 4789"/>
                <a:gd name="T11" fmla="*/ 329 h 3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89" h="329">
                  <a:moveTo>
                    <a:pt x="0" y="329"/>
                  </a:moveTo>
                  <a:lnTo>
                    <a:pt x="4789" y="77"/>
                  </a:lnTo>
                  <a:lnTo>
                    <a:pt x="4789" y="0"/>
                  </a:lnTo>
                  <a:lnTo>
                    <a:pt x="0" y="107"/>
                  </a:lnTo>
                  <a:lnTo>
                    <a:pt x="0" y="329"/>
                  </a:lnTo>
                  <a:lnTo>
                    <a:pt x="0" y="329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1961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endParaRPr>
            </a:p>
          </p:txBody>
        </p:sp>
        <p:sp>
          <p:nvSpPr>
            <p:cNvPr id="1032" name="Freeform 8"/>
            <p:cNvSpPr/>
            <p:nvPr/>
          </p:nvSpPr>
          <p:spPr>
            <a:xfrm>
              <a:off x="4784" y="3702"/>
              <a:ext cx="974" cy="101"/>
            </a:xfrm>
            <a:custGeom>
              <a:avLst/>
              <a:gdLst/>
              <a:ahLst/>
              <a:cxnLst>
                <a:cxn ang="0">
                  <a:pos x="971" y="48"/>
                </a:cxn>
                <a:cxn ang="0">
                  <a:pos x="971" y="0"/>
                </a:cxn>
                <a:cxn ang="0">
                  <a:pos x="0" y="24"/>
                </a:cxn>
                <a:cxn ang="0">
                  <a:pos x="0" y="101"/>
                </a:cxn>
                <a:cxn ang="0">
                  <a:pos x="971" y="48"/>
                </a:cxn>
                <a:cxn ang="0">
                  <a:pos x="971" y="48"/>
                </a:cxn>
              </a:cxnLst>
              <a:pathLst>
                <a:path w="975" h="101">
                  <a:moveTo>
                    <a:pt x="975" y="48"/>
                  </a:moveTo>
                  <a:lnTo>
                    <a:pt x="975" y="0"/>
                  </a:lnTo>
                  <a:lnTo>
                    <a:pt x="0" y="24"/>
                  </a:lnTo>
                  <a:lnTo>
                    <a:pt x="0" y="101"/>
                  </a:lnTo>
                  <a:lnTo>
                    <a:pt x="975" y="48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3" name="Freeform 9"/>
            <p:cNvSpPr/>
            <p:nvPr/>
          </p:nvSpPr>
          <p:spPr>
            <a:xfrm>
              <a:off x="3619" y="3815"/>
              <a:ext cx="2139" cy="198"/>
            </a:xfrm>
            <a:custGeom>
              <a:avLst/>
              <a:gdLst/>
              <a:ahLst/>
              <a:cxnLst>
                <a:cxn ang="0">
                  <a:pos x="2133" y="0"/>
                </a:cxn>
                <a:cxn ang="0">
                  <a:pos x="0" y="156"/>
                </a:cxn>
                <a:cxn ang="0">
                  <a:pos x="0" y="198"/>
                </a:cxn>
                <a:cxn ang="0">
                  <a:pos x="2133" y="0"/>
                </a:cxn>
                <a:cxn ang="0">
                  <a:pos x="2133" y="0"/>
                </a:cxn>
              </a:cxnLst>
              <a:pathLst>
                <a:path w="2141" h="198">
                  <a:moveTo>
                    <a:pt x="2141" y="0"/>
                  </a:moveTo>
                  <a:lnTo>
                    <a:pt x="0" y="156"/>
                  </a:lnTo>
                  <a:lnTo>
                    <a:pt x="0" y="198"/>
                  </a:lnTo>
                  <a:lnTo>
                    <a:pt x="2141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50570" name="Freeform 10"/>
            <p:cNvSpPr/>
            <p:nvPr/>
          </p:nvSpPr>
          <p:spPr bwMode="hidden">
            <a:xfrm>
              <a:off x="0" y="3971"/>
              <a:ext cx="3619" cy="348"/>
            </a:xfrm>
            <a:custGeom>
              <a:avLst/>
              <a:gdLst>
                <a:gd name="T0" fmla="*/ 0 w 3623"/>
                <a:gd name="T1" fmla="*/ 348 h 348"/>
                <a:gd name="T2" fmla="*/ 311 w 3623"/>
                <a:gd name="T3" fmla="*/ 348 h 348"/>
                <a:gd name="T4" fmla="*/ 3623 w 3623"/>
                <a:gd name="T5" fmla="*/ 42 h 348"/>
                <a:gd name="T6" fmla="*/ 3623 w 3623"/>
                <a:gd name="T7" fmla="*/ 0 h 348"/>
                <a:gd name="T8" fmla="*/ 0 w 3623"/>
                <a:gd name="T9" fmla="*/ 264 h 348"/>
                <a:gd name="T10" fmla="*/ 0 w 3623"/>
                <a:gd name="T11" fmla="*/ 348 h 348"/>
                <a:gd name="T12" fmla="*/ 0 w 3623"/>
                <a:gd name="T13" fmla="*/ 348 h 3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23" h="348">
                  <a:moveTo>
                    <a:pt x="0" y="348"/>
                  </a:moveTo>
                  <a:lnTo>
                    <a:pt x="311" y="348"/>
                  </a:lnTo>
                  <a:lnTo>
                    <a:pt x="3623" y="42"/>
                  </a:lnTo>
                  <a:lnTo>
                    <a:pt x="3623" y="0"/>
                  </a:lnTo>
                  <a:lnTo>
                    <a:pt x="0" y="264"/>
                  </a:lnTo>
                  <a:lnTo>
                    <a:pt x="0" y="348"/>
                  </a:lnTo>
                  <a:lnTo>
                    <a:pt x="0" y="3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endParaRPr>
            </a:p>
          </p:txBody>
        </p:sp>
        <p:sp>
          <p:nvSpPr>
            <p:cNvPr id="1035" name="Freeform 11"/>
            <p:cNvSpPr/>
            <p:nvPr/>
          </p:nvSpPr>
          <p:spPr>
            <a:xfrm>
              <a:off x="2097" y="4043"/>
              <a:ext cx="2514" cy="276"/>
            </a:xfrm>
            <a:custGeom>
              <a:avLst/>
              <a:gdLst/>
              <a:ahLst/>
              <a:cxnLst>
                <a:cxn ang="0">
                  <a:pos x="2170" y="276"/>
                </a:cxn>
                <a:cxn ang="0">
                  <a:pos x="2505" y="204"/>
                </a:cxn>
                <a:cxn ang="0">
                  <a:pos x="2248" y="0"/>
                </a:cxn>
                <a:cxn ang="0">
                  <a:pos x="0" y="276"/>
                </a:cxn>
                <a:cxn ang="0">
                  <a:pos x="2170" y="276"/>
                </a:cxn>
                <a:cxn ang="0">
                  <a:pos x="2170" y="276"/>
                </a:cxn>
              </a:cxnLst>
              <a:pathLst>
                <a:path w="2517" h="276">
                  <a:moveTo>
                    <a:pt x="2182" y="276"/>
                  </a:moveTo>
                  <a:lnTo>
                    <a:pt x="2517" y="204"/>
                  </a:lnTo>
                  <a:lnTo>
                    <a:pt x="2260" y="0"/>
                  </a:lnTo>
                  <a:lnTo>
                    <a:pt x="0" y="276"/>
                  </a:lnTo>
                  <a:lnTo>
                    <a:pt x="2182" y="276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50572" name="Freeform 12"/>
            <p:cNvSpPr/>
            <p:nvPr/>
          </p:nvSpPr>
          <p:spPr bwMode="hidden">
            <a:xfrm>
              <a:off x="4354" y="3869"/>
              <a:ext cx="1404" cy="378"/>
            </a:xfrm>
            <a:custGeom>
              <a:avLst/>
              <a:gdLst>
                <a:gd name="T0" fmla="*/ 1405 w 1405"/>
                <a:gd name="T1" fmla="*/ 126 h 378"/>
                <a:gd name="T2" fmla="*/ 1405 w 1405"/>
                <a:gd name="T3" fmla="*/ 0 h 378"/>
                <a:gd name="T4" fmla="*/ 0 w 1405"/>
                <a:gd name="T5" fmla="*/ 174 h 378"/>
                <a:gd name="T6" fmla="*/ 257 w 1405"/>
                <a:gd name="T7" fmla="*/ 378 h 378"/>
                <a:gd name="T8" fmla="*/ 1405 w 1405"/>
                <a:gd name="T9" fmla="*/ 126 h 378"/>
                <a:gd name="T10" fmla="*/ 1405 w 1405"/>
                <a:gd name="T11" fmla="*/ 126 h 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05" h="378">
                  <a:moveTo>
                    <a:pt x="1405" y="126"/>
                  </a:moveTo>
                  <a:lnTo>
                    <a:pt x="1405" y="0"/>
                  </a:lnTo>
                  <a:lnTo>
                    <a:pt x="0" y="174"/>
                  </a:lnTo>
                  <a:lnTo>
                    <a:pt x="257" y="378"/>
                  </a:lnTo>
                  <a:lnTo>
                    <a:pt x="1405" y="126"/>
                  </a:lnTo>
                  <a:lnTo>
                    <a:pt x="1405" y="12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6863"/>
                    <a:invGamma/>
                  </a:schemeClr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endParaRPr>
            </a:p>
          </p:txBody>
        </p:sp>
        <p:sp>
          <p:nvSpPr>
            <p:cNvPr id="1037" name="Freeform 13"/>
            <p:cNvSpPr/>
            <p:nvPr/>
          </p:nvSpPr>
          <p:spPr>
            <a:xfrm>
              <a:off x="5030" y="3151"/>
              <a:ext cx="728" cy="240"/>
            </a:xfrm>
            <a:custGeom>
              <a:avLst/>
              <a:gdLst/>
              <a:ahLst/>
              <a:cxnLst>
                <a:cxn ang="0">
                  <a:pos x="725" y="240"/>
                </a:cxn>
                <a:cxn ang="0">
                  <a:pos x="0" y="0"/>
                </a:cxn>
                <a:cxn ang="0">
                  <a:pos x="0" y="6"/>
                </a:cxn>
                <a:cxn ang="0">
                  <a:pos x="725" y="240"/>
                </a:cxn>
                <a:cxn ang="0">
                  <a:pos x="725" y="240"/>
                </a:cxn>
              </a:cxnLst>
              <a:pathLst>
                <a:path w="729" h="240">
                  <a:moveTo>
                    <a:pt x="729" y="24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729" y="24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50574" name="Freeform 14"/>
            <p:cNvSpPr/>
            <p:nvPr/>
          </p:nvSpPr>
          <p:spPr bwMode="hidden">
            <a:xfrm>
              <a:off x="0" y="1486"/>
              <a:ext cx="5030" cy="1671"/>
            </a:xfrm>
            <a:custGeom>
              <a:avLst/>
              <a:gdLst>
                <a:gd name="T0" fmla="*/ 0 w 5035"/>
                <a:gd name="T1" fmla="*/ 72 h 1672"/>
                <a:gd name="T2" fmla="*/ 5035 w 5035"/>
                <a:gd name="T3" fmla="*/ 1672 h 1672"/>
                <a:gd name="T4" fmla="*/ 5035 w 5035"/>
                <a:gd name="T5" fmla="*/ 1666 h 1672"/>
                <a:gd name="T6" fmla="*/ 0 w 5035"/>
                <a:gd name="T7" fmla="*/ 0 h 1672"/>
                <a:gd name="T8" fmla="*/ 0 w 5035"/>
                <a:gd name="T9" fmla="*/ 72 h 1672"/>
                <a:gd name="T10" fmla="*/ 0 w 5035"/>
                <a:gd name="T11" fmla="*/ 72 h 16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35" h="1672">
                  <a:moveTo>
                    <a:pt x="0" y="72"/>
                  </a:moveTo>
                  <a:lnTo>
                    <a:pt x="5035" y="1672"/>
                  </a:lnTo>
                  <a:lnTo>
                    <a:pt x="5035" y="1666"/>
                  </a:lnTo>
                  <a:lnTo>
                    <a:pt x="0" y="0"/>
                  </a:lnTo>
                  <a:lnTo>
                    <a:pt x="0" y="72"/>
                  </a:lnTo>
                  <a:lnTo>
                    <a:pt x="0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4510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endParaRPr>
            </a:p>
          </p:txBody>
        </p:sp>
        <p:sp>
          <p:nvSpPr>
            <p:cNvPr id="1039" name="Freeform 15"/>
            <p:cNvSpPr/>
            <p:nvPr/>
          </p:nvSpPr>
          <p:spPr>
            <a:xfrm>
              <a:off x="5030" y="3049"/>
              <a:ext cx="728" cy="318"/>
            </a:xfrm>
            <a:custGeom>
              <a:avLst/>
              <a:gdLst/>
              <a:ahLst/>
              <a:cxnLst>
                <a:cxn ang="0">
                  <a:pos x="725" y="318"/>
                </a:cxn>
                <a:cxn ang="0">
                  <a:pos x="725" y="312"/>
                </a:cxn>
                <a:cxn ang="0">
                  <a:pos x="0" y="0"/>
                </a:cxn>
                <a:cxn ang="0">
                  <a:pos x="0" y="54"/>
                </a:cxn>
                <a:cxn ang="0">
                  <a:pos x="725" y="318"/>
                </a:cxn>
                <a:cxn ang="0">
                  <a:pos x="725" y="318"/>
                </a:cxn>
              </a:cxnLst>
              <a:pathLst>
                <a:path w="729" h="318">
                  <a:moveTo>
                    <a:pt x="729" y="318"/>
                  </a:moveTo>
                  <a:lnTo>
                    <a:pt x="729" y="312"/>
                  </a:lnTo>
                  <a:lnTo>
                    <a:pt x="0" y="0"/>
                  </a:lnTo>
                  <a:lnTo>
                    <a:pt x="0" y="54"/>
                  </a:lnTo>
                  <a:lnTo>
                    <a:pt x="729" y="318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50576" name="Freeform 16"/>
            <p:cNvSpPr/>
            <p:nvPr/>
          </p:nvSpPr>
          <p:spPr bwMode="hidden">
            <a:xfrm>
              <a:off x="0" y="916"/>
              <a:ext cx="5030" cy="2187"/>
            </a:xfrm>
            <a:custGeom>
              <a:avLst/>
              <a:gdLst>
                <a:gd name="T0" fmla="*/ 0 w 5035"/>
                <a:gd name="T1" fmla="*/ 396 h 2188"/>
                <a:gd name="T2" fmla="*/ 5035 w 5035"/>
                <a:gd name="T3" fmla="*/ 2188 h 2188"/>
                <a:gd name="T4" fmla="*/ 5035 w 5035"/>
                <a:gd name="T5" fmla="*/ 2134 h 2188"/>
                <a:gd name="T6" fmla="*/ 0 w 5035"/>
                <a:gd name="T7" fmla="*/ 0 h 2188"/>
                <a:gd name="T8" fmla="*/ 0 w 5035"/>
                <a:gd name="T9" fmla="*/ 396 h 2188"/>
                <a:gd name="T10" fmla="*/ 0 w 5035"/>
                <a:gd name="T11" fmla="*/ 396 h 2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35" h="2188">
                  <a:moveTo>
                    <a:pt x="0" y="396"/>
                  </a:moveTo>
                  <a:lnTo>
                    <a:pt x="5035" y="2188"/>
                  </a:lnTo>
                  <a:lnTo>
                    <a:pt x="5035" y="2134"/>
                  </a:lnTo>
                  <a:lnTo>
                    <a:pt x="0" y="0"/>
                  </a:lnTo>
                  <a:lnTo>
                    <a:pt x="0" y="396"/>
                  </a:lnTo>
                  <a:lnTo>
                    <a:pt x="0" y="39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endParaRPr>
            </a:p>
          </p:txBody>
        </p:sp>
        <p:sp>
          <p:nvSpPr>
            <p:cNvPr id="450577" name="Freeform 17"/>
            <p:cNvSpPr/>
            <p:nvPr/>
          </p:nvSpPr>
          <p:spPr bwMode="hidden">
            <a:xfrm>
              <a:off x="2294" y="0"/>
              <a:ext cx="3159" cy="2725"/>
            </a:xfrm>
            <a:custGeom>
              <a:avLst/>
              <a:gdLst>
                <a:gd name="T0" fmla="*/ 0 w 3163"/>
                <a:gd name="T1" fmla="*/ 0 h 2727"/>
                <a:gd name="T2" fmla="*/ 3145 w 3163"/>
                <a:gd name="T3" fmla="*/ 2727 h 2727"/>
                <a:gd name="T4" fmla="*/ 3163 w 3163"/>
                <a:gd name="T5" fmla="*/ 2704 h 2727"/>
                <a:gd name="T6" fmla="*/ 102 w 3163"/>
                <a:gd name="T7" fmla="*/ 0 h 2727"/>
                <a:gd name="T8" fmla="*/ 0 w 3163"/>
                <a:gd name="T9" fmla="*/ 0 h 2727"/>
                <a:gd name="T10" fmla="*/ 0 w 3163"/>
                <a:gd name="T11" fmla="*/ 0 h 27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63" h="2727">
                  <a:moveTo>
                    <a:pt x="0" y="0"/>
                  </a:moveTo>
                  <a:lnTo>
                    <a:pt x="3145" y="2727"/>
                  </a:lnTo>
                  <a:lnTo>
                    <a:pt x="3163" y="2704"/>
                  </a:lnTo>
                  <a:lnTo>
                    <a:pt x="10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980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endParaRPr>
            </a:p>
          </p:txBody>
        </p:sp>
        <p:sp>
          <p:nvSpPr>
            <p:cNvPr id="450578" name="Freeform 18"/>
            <p:cNvSpPr/>
            <p:nvPr/>
          </p:nvSpPr>
          <p:spPr bwMode="hidden">
            <a:xfrm>
              <a:off x="5435" y="2702"/>
              <a:ext cx="323" cy="299"/>
            </a:xfrm>
            <a:custGeom>
              <a:avLst/>
              <a:gdLst>
                <a:gd name="T0" fmla="*/ 323 w 323"/>
                <a:gd name="T1" fmla="*/ 299 h 299"/>
                <a:gd name="T2" fmla="*/ 323 w 323"/>
                <a:gd name="T3" fmla="*/ 263 h 299"/>
                <a:gd name="T4" fmla="*/ 18 w 323"/>
                <a:gd name="T5" fmla="*/ 0 h 299"/>
                <a:gd name="T6" fmla="*/ 0 w 323"/>
                <a:gd name="T7" fmla="*/ 23 h 299"/>
                <a:gd name="T8" fmla="*/ 323 w 323"/>
                <a:gd name="T9" fmla="*/ 299 h 299"/>
                <a:gd name="T10" fmla="*/ 323 w 323"/>
                <a:gd name="T11" fmla="*/ 299 h 2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23" h="299">
                  <a:moveTo>
                    <a:pt x="323" y="299"/>
                  </a:moveTo>
                  <a:lnTo>
                    <a:pt x="323" y="263"/>
                  </a:lnTo>
                  <a:lnTo>
                    <a:pt x="18" y="0"/>
                  </a:lnTo>
                  <a:lnTo>
                    <a:pt x="0" y="23"/>
                  </a:lnTo>
                  <a:lnTo>
                    <a:pt x="323" y="299"/>
                  </a:lnTo>
                  <a:lnTo>
                    <a:pt x="323" y="29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4118"/>
                    <a:invGamma/>
                  </a:schemeClr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endParaRPr>
            </a:p>
          </p:txBody>
        </p:sp>
        <p:sp>
          <p:nvSpPr>
            <p:cNvPr id="1043" name="Freeform 19"/>
            <p:cNvSpPr/>
            <p:nvPr/>
          </p:nvSpPr>
          <p:spPr>
            <a:xfrm>
              <a:off x="5477" y="2588"/>
              <a:ext cx="281" cy="335"/>
            </a:xfrm>
            <a:custGeom>
              <a:avLst/>
              <a:gdLst/>
              <a:ahLst/>
              <a:cxnLst>
                <a:cxn ang="0">
                  <a:pos x="281" y="335"/>
                </a:cxn>
                <a:cxn ang="0">
                  <a:pos x="281" y="173"/>
                </a:cxn>
                <a:cxn ang="0">
                  <a:pos x="96" y="0"/>
                </a:cxn>
                <a:cxn ang="0">
                  <a:pos x="0" y="90"/>
                </a:cxn>
                <a:cxn ang="0">
                  <a:pos x="281" y="335"/>
                </a:cxn>
                <a:cxn ang="0">
                  <a:pos x="281" y="335"/>
                </a:cxn>
              </a:cxnLst>
              <a:pathLst>
                <a:path w="281" h="335">
                  <a:moveTo>
                    <a:pt x="281" y="335"/>
                  </a:moveTo>
                  <a:lnTo>
                    <a:pt x="281" y="173"/>
                  </a:lnTo>
                  <a:lnTo>
                    <a:pt x="96" y="0"/>
                  </a:lnTo>
                  <a:lnTo>
                    <a:pt x="0" y="90"/>
                  </a:lnTo>
                  <a:lnTo>
                    <a:pt x="281" y="335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50580" name="Freeform 20"/>
            <p:cNvSpPr/>
            <p:nvPr/>
          </p:nvSpPr>
          <p:spPr bwMode="hidden">
            <a:xfrm>
              <a:off x="2454" y="0"/>
              <a:ext cx="3119" cy="2678"/>
            </a:xfrm>
            <a:custGeom>
              <a:avLst/>
              <a:gdLst>
                <a:gd name="T0" fmla="*/ 0 w 3122"/>
                <a:gd name="T1" fmla="*/ 0 h 2680"/>
                <a:gd name="T2" fmla="*/ 3026 w 3122"/>
                <a:gd name="T3" fmla="*/ 2680 h 2680"/>
                <a:gd name="T4" fmla="*/ 3122 w 3122"/>
                <a:gd name="T5" fmla="*/ 2590 h 2680"/>
                <a:gd name="T6" fmla="*/ 383 w 3122"/>
                <a:gd name="T7" fmla="*/ 0 h 2680"/>
                <a:gd name="T8" fmla="*/ 0 w 3122"/>
                <a:gd name="T9" fmla="*/ 0 h 2680"/>
                <a:gd name="T10" fmla="*/ 0 w 3122"/>
                <a:gd name="T11" fmla="*/ 0 h 26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22" h="2680">
                  <a:moveTo>
                    <a:pt x="0" y="0"/>
                  </a:moveTo>
                  <a:lnTo>
                    <a:pt x="3026" y="2680"/>
                  </a:lnTo>
                  <a:lnTo>
                    <a:pt x="3122" y="2590"/>
                  </a:lnTo>
                  <a:lnTo>
                    <a:pt x="383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endParaRPr>
            </a:p>
          </p:txBody>
        </p:sp>
        <p:sp>
          <p:nvSpPr>
            <p:cNvPr id="1045" name="Freeform 21"/>
            <p:cNvSpPr/>
            <p:nvPr/>
          </p:nvSpPr>
          <p:spPr>
            <a:xfrm>
              <a:off x="5626" y="2534"/>
              <a:ext cx="132" cy="132"/>
            </a:xfrm>
            <a:custGeom>
              <a:avLst/>
              <a:gdLst/>
              <a:ahLst/>
              <a:cxnLst>
                <a:cxn ang="0">
                  <a:pos x="132" y="132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132" y="132"/>
                </a:cxn>
                <a:cxn ang="0">
                  <a:pos x="132" y="132"/>
                </a:cxn>
              </a:cxnLst>
              <a:pathLst>
                <a:path w="132" h="132">
                  <a:moveTo>
                    <a:pt x="132" y="132"/>
                  </a:moveTo>
                  <a:lnTo>
                    <a:pt x="0" y="0"/>
                  </a:lnTo>
                  <a:lnTo>
                    <a:pt x="132" y="132"/>
                  </a:lnTo>
                  <a:close/>
                </a:path>
              </a:pathLst>
            </a:custGeom>
            <a:solidFill>
              <a:srgbClr val="FF9999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50582" name="Freeform 22"/>
            <p:cNvSpPr/>
            <p:nvPr/>
          </p:nvSpPr>
          <p:spPr bwMode="hidden">
            <a:xfrm>
              <a:off x="3112" y="0"/>
              <a:ext cx="2514" cy="2534"/>
            </a:xfrm>
            <a:custGeom>
              <a:avLst/>
              <a:gdLst>
                <a:gd name="T0" fmla="*/ 0 w 2517"/>
                <a:gd name="T1" fmla="*/ 0 h 2536"/>
                <a:gd name="T2" fmla="*/ 2517 w 2517"/>
                <a:gd name="T3" fmla="*/ 2536 h 2536"/>
                <a:gd name="T4" fmla="*/ 2517 w 2517"/>
                <a:gd name="T5" fmla="*/ 2536 h 2536"/>
                <a:gd name="T6" fmla="*/ 66 w 2517"/>
                <a:gd name="T7" fmla="*/ 0 h 2536"/>
                <a:gd name="T8" fmla="*/ 0 w 2517"/>
                <a:gd name="T9" fmla="*/ 0 h 2536"/>
                <a:gd name="T10" fmla="*/ 0 w 2517"/>
                <a:gd name="T11" fmla="*/ 0 h 2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17" h="2536">
                  <a:moveTo>
                    <a:pt x="0" y="0"/>
                  </a:moveTo>
                  <a:lnTo>
                    <a:pt x="2517" y="2536"/>
                  </a:lnTo>
                  <a:lnTo>
                    <a:pt x="2517" y="2536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1373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endParaRPr>
            </a:p>
          </p:txBody>
        </p:sp>
        <p:sp>
          <p:nvSpPr>
            <p:cNvPr id="450583" name="Freeform 23"/>
            <p:cNvSpPr/>
            <p:nvPr/>
          </p:nvSpPr>
          <p:spPr bwMode="hidden">
            <a:xfrm>
              <a:off x="3488" y="0"/>
              <a:ext cx="2198" cy="2480"/>
            </a:xfrm>
            <a:custGeom>
              <a:avLst/>
              <a:gdLst>
                <a:gd name="T0" fmla="*/ 0 w 2200"/>
                <a:gd name="T1" fmla="*/ 0 h 2482"/>
                <a:gd name="T2" fmla="*/ 2188 w 2200"/>
                <a:gd name="T3" fmla="*/ 2482 h 2482"/>
                <a:gd name="T4" fmla="*/ 2200 w 2200"/>
                <a:gd name="T5" fmla="*/ 2476 h 2482"/>
                <a:gd name="T6" fmla="*/ 317 w 2200"/>
                <a:gd name="T7" fmla="*/ 0 h 2482"/>
                <a:gd name="T8" fmla="*/ 0 w 2200"/>
                <a:gd name="T9" fmla="*/ 0 h 2482"/>
                <a:gd name="T10" fmla="*/ 0 w 2200"/>
                <a:gd name="T11" fmla="*/ 0 h 24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200" h="2482">
                  <a:moveTo>
                    <a:pt x="0" y="0"/>
                  </a:moveTo>
                  <a:lnTo>
                    <a:pt x="2188" y="2482"/>
                  </a:lnTo>
                  <a:lnTo>
                    <a:pt x="2200" y="2476"/>
                  </a:lnTo>
                  <a:lnTo>
                    <a:pt x="31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endParaRPr>
            </a:p>
          </p:txBody>
        </p:sp>
        <p:sp>
          <p:nvSpPr>
            <p:cNvPr id="450584" name="Freeform 24"/>
            <p:cNvSpPr/>
            <p:nvPr/>
          </p:nvSpPr>
          <p:spPr bwMode="hidden">
            <a:xfrm>
              <a:off x="5674" y="2474"/>
              <a:ext cx="84" cy="96"/>
            </a:xfrm>
            <a:custGeom>
              <a:avLst/>
              <a:gdLst>
                <a:gd name="T0" fmla="*/ 84 w 84"/>
                <a:gd name="T1" fmla="*/ 96 h 96"/>
                <a:gd name="T2" fmla="*/ 84 w 84"/>
                <a:gd name="T3" fmla="*/ 90 h 96"/>
                <a:gd name="T4" fmla="*/ 12 w 84"/>
                <a:gd name="T5" fmla="*/ 0 h 96"/>
                <a:gd name="T6" fmla="*/ 0 w 84"/>
                <a:gd name="T7" fmla="*/ 6 h 96"/>
                <a:gd name="T8" fmla="*/ 84 w 84"/>
                <a:gd name="T9" fmla="*/ 96 h 96"/>
                <a:gd name="T10" fmla="*/ 84 w 84"/>
                <a:gd name="T11" fmla="*/ 9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4" h="96">
                  <a:moveTo>
                    <a:pt x="84" y="96"/>
                  </a:moveTo>
                  <a:lnTo>
                    <a:pt x="84" y="90"/>
                  </a:lnTo>
                  <a:lnTo>
                    <a:pt x="12" y="0"/>
                  </a:lnTo>
                  <a:lnTo>
                    <a:pt x="0" y="6"/>
                  </a:lnTo>
                  <a:lnTo>
                    <a:pt x="84" y="96"/>
                  </a:lnTo>
                  <a:lnTo>
                    <a:pt x="84" y="9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0980"/>
                    <a:invGamma/>
                  </a:schemeClr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endParaRPr>
            </a:p>
          </p:txBody>
        </p:sp>
        <p:sp>
          <p:nvSpPr>
            <p:cNvPr id="1049" name="Freeform 25"/>
            <p:cNvSpPr/>
            <p:nvPr/>
          </p:nvSpPr>
          <p:spPr>
            <a:xfrm>
              <a:off x="5603" y="850"/>
              <a:ext cx="155" cy="516"/>
            </a:xfrm>
            <a:custGeom>
              <a:avLst/>
              <a:gdLst/>
              <a:ahLst/>
              <a:cxnLst>
                <a:cxn ang="0">
                  <a:pos x="155" y="516"/>
                </a:cxn>
                <a:cxn ang="0">
                  <a:pos x="155" y="204"/>
                </a:cxn>
                <a:cxn ang="0">
                  <a:pos x="77" y="0"/>
                </a:cxn>
                <a:cxn ang="0">
                  <a:pos x="0" y="192"/>
                </a:cxn>
                <a:cxn ang="0">
                  <a:pos x="155" y="516"/>
                </a:cxn>
                <a:cxn ang="0">
                  <a:pos x="155" y="516"/>
                </a:cxn>
              </a:cxnLst>
              <a:pathLst>
                <a:path w="155" h="516">
                  <a:moveTo>
                    <a:pt x="155" y="516"/>
                  </a:moveTo>
                  <a:lnTo>
                    <a:pt x="155" y="204"/>
                  </a:lnTo>
                  <a:lnTo>
                    <a:pt x="77" y="0"/>
                  </a:lnTo>
                  <a:lnTo>
                    <a:pt x="0" y="192"/>
                  </a:lnTo>
                  <a:lnTo>
                    <a:pt x="155" y="516"/>
                  </a:lnTo>
                  <a:close/>
                </a:path>
              </a:pathLst>
            </a:custGeom>
            <a:solidFill>
              <a:schemeClr val="bg2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50586" name="Freeform 26"/>
            <p:cNvSpPr/>
            <p:nvPr/>
          </p:nvSpPr>
          <p:spPr bwMode="hidden">
            <a:xfrm>
              <a:off x="5107" y="0"/>
              <a:ext cx="573" cy="1042"/>
            </a:xfrm>
            <a:custGeom>
              <a:avLst/>
              <a:gdLst>
                <a:gd name="T0" fmla="*/ 0 w 574"/>
                <a:gd name="T1" fmla="*/ 0 h 1043"/>
                <a:gd name="T2" fmla="*/ 497 w 574"/>
                <a:gd name="T3" fmla="*/ 1043 h 1043"/>
                <a:gd name="T4" fmla="*/ 574 w 574"/>
                <a:gd name="T5" fmla="*/ 851 h 1043"/>
                <a:gd name="T6" fmla="*/ 251 w 574"/>
                <a:gd name="T7" fmla="*/ 0 h 1043"/>
                <a:gd name="T8" fmla="*/ 0 w 574"/>
                <a:gd name="T9" fmla="*/ 0 h 1043"/>
                <a:gd name="T10" fmla="*/ 0 w 574"/>
                <a:gd name="T11" fmla="*/ 0 h 10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" h="1043">
                  <a:moveTo>
                    <a:pt x="0" y="0"/>
                  </a:moveTo>
                  <a:lnTo>
                    <a:pt x="497" y="1043"/>
                  </a:lnTo>
                  <a:lnTo>
                    <a:pt x="574" y="851"/>
                  </a:lnTo>
                  <a:lnTo>
                    <a:pt x="25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endParaRPr>
            </a:p>
          </p:txBody>
        </p:sp>
        <p:sp>
          <p:nvSpPr>
            <p:cNvPr id="450587" name="Freeform 27"/>
            <p:cNvSpPr/>
            <p:nvPr/>
          </p:nvSpPr>
          <p:spPr bwMode="hidden">
            <a:xfrm>
              <a:off x="5411" y="0"/>
              <a:ext cx="341" cy="796"/>
            </a:xfrm>
            <a:custGeom>
              <a:avLst/>
              <a:gdLst>
                <a:gd name="T0" fmla="*/ 144 w 341"/>
                <a:gd name="T1" fmla="*/ 0 h 797"/>
                <a:gd name="T2" fmla="*/ 0 w 341"/>
                <a:gd name="T3" fmla="*/ 0 h 797"/>
                <a:gd name="T4" fmla="*/ 287 w 341"/>
                <a:gd name="T5" fmla="*/ 797 h 797"/>
                <a:gd name="T6" fmla="*/ 341 w 341"/>
                <a:gd name="T7" fmla="*/ 653 h 797"/>
                <a:gd name="T8" fmla="*/ 144 w 341"/>
                <a:gd name="T9" fmla="*/ 0 h 797"/>
                <a:gd name="T10" fmla="*/ 144 w 341"/>
                <a:gd name="T11" fmla="*/ 0 h 7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41" h="797">
                  <a:moveTo>
                    <a:pt x="144" y="0"/>
                  </a:moveTo>
                  <a:lnTo>
                    <a:pt x="0" y="0"/>
                  </a:lnTo>
                  <a:lnTo>
                    <a:pt x="287" y="797"/>
                  </a:lnTo>
                  <a:lnTo>
                    <a:pt x="341" y="653"/>
                  </a:lnTo>
                  <a:lnTo>
                    <a:pt x="144" y="0"/>
                  </a:lnTo>
                  <a:lnTo>
                    <a:pt x="144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980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endParaRPr>
            </a:p>
          </p:txBody>
        </p:sp>
        <p:sp>
          <p:nvSpPr>
            <p:cNvPr id="1052" name="Freeform 28"/>
            <p:cNvSpPr/>
            <p:nvPr/>
          </p:nvSpPr>
          <p:spPr>
            <a:xfrm>
              <a:off x="5698" y="653"/>
              <a:ext cx="60" cy="311"/>
            </a:xfrm>
            <a:custGeom>
              <a:avLst/>
              <a:gdLst/>
              <a:ahLst/>
              <a:cxnLst>
                <a:cxn ang="0">
                  <a:pos x="0" y="144"/>
                </a:cxn>
                <a:cxn ang="0">
                  <a:pos x="60" y="308"/>
                </a:cxn>
                <a:cxn ang="0">
                  <a:pos x="60" y="6"/>
                </a:cxn>
                <a:cxn ang="0">
                  <a:pos x="54" y="0"/>
                </a:cxn>
                <a:cxn ang="0">
                  <a:pos x="0" y="144"/>
                </a:cxn>
                <a:cxn ang="0">
                  <a:pos x="0" y="144"/>
                </a:cxn>
              </a:cxnLst>
              <a:pathLst>
                <a:path w="60" h="312">
                  <a:moveTo>
                    <a:pt x="0" y="144"/>
                  </a:moveTo>
                  <a:lnTo>
                    <a:pt x="60" y="312"/>
                  </a:lnTo>
                  <a:lnTo>
                    <a:pt x="60" y="6"/>
                  </a:lnTo>
                  <a:lnTo>
                    <a:pt x="54" y="0"/>
                  </a:lnTo>
                  <a:lnTo>
                    <a:pt x="0" y="144"/>
                  </a:lnTo>
                  <a:close/>
                </a:path>
              </a:pathLst>
            </a:custGeom>
            <a:solidFill>
              <a:schemeClr val="bg2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50589" name="Freeform 29"/>
            <p:cNvSpPr/>
            <p:nvPr/>
          </p:nvSpPr>
          <p:spPr bwMode="hidden">
            <a:xfrm>
              <a:off x="2" y="1601"/>
              <a:ext cx="5752" cy="1864"/>
            </a:xfrm>
            <a:custGeom>
              <a:avLst/>
              <a:gdLst>
                <a:gd name="T0" fmla="*/ 0 w 5740"/>
                <a:gd name="T1" fmla="*/ 371 h 1864"/>
                <a:gd name="T2" fmla="*/ 5740 w 5740"/>
                <a:gd name="T3" fmla="*/ 1864 h 1864"/>
                <a:gd name="T4" fmla="*/ 5740 w 5740"/>
                <a:gd name="T5" fmla="*/ 1834 h 1864"/>
                <a:gd name="T6" fmla="*/ 0 w 5740"/>
                <a:gd name="T7" fmla="*/ 0 h 1864"/>
                <a:gd name="T8" fmla="*/ 0 w 5740"/>
                <a:gd name="T9" fmla="*/ 371 h 1864"/>
                <a:gd name="T10" fmla="*/ 0 w 5740"/>
                <a:gd name="T11" fmla="*/ 371 h 18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864">
                  <a:moveTo>
                    <a:pt x="0" y="371"/>
                  </a:moveTo>
                  <a:lnTo>
                    <a:pt x="5740" y="1864"/>
                  </a:lnTo>
                  <a:lnTo>
                    <a:pt x="5740" y="1834"/>
                  </a:lnTo>
                  <a:lnTo>
                    <a:pt x="0" y="0"/>
                  </a:lnTo>
                  <a:lnTo>
                    <a:pt x="0" y="371"/>
                  </a:lnTo>
                  <a:lnTo>
                    <a:pt x="0" y="371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352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endParaRPr>
            </a:p>
          </p:txBody>
        </p:sp>
        <p:sp>
          <p:nvSpPr>
            <p:cNvPr id="1054" name="Freeform 30"/>
            <p:cNvSpPr/>
            <p:nvPr/>
          </p:nvSpPr>
          <p:spPr>
            <a:xfrm>
              <a:off x="5754" y="3483"/>
              <a:ext cx="6" cy="6"/>
            </a:xfrm>
            <a:custGeom>
              <a:avLst/>
              <a:gdLst/>
              <a:ahLst/>
              <a:cxnLst>
                <a:cxn ang="0">
                  <a:pos x="6" y="6"/>
                </a:cxn>
                <a:cxn ang="0">
                  <a:pos x="0" y="0"/>
                </a:cxn>
                <a:cxn ang="0">
                  <a:pos x="0" y="6"/>
                </a:cxn>
                <a:cxn ang="0">
                  <a:pos x="6" y="6"/>
                </a:cxn>
                <a:cxn ang="0">
                  <a:pos x="6" y="6"/>
                </a:cxn>
              </a:cxnLst>
              <a:pathLst>
                <a:path w="6" h="6">
                  <a:moveTo>
                    <a:pt x="6" y="6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6" y="6"/>
                  </a:lnTo>
                  <a:close/>
                </a:path>
              </a:pathLst>
            </a:custGeom>
            <a:solidFill>
              <a:srgbClr val="18FF00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50591" name="Freeform 31"/>
            <p:cNvSpPr/>
            <p:nvPr/>
          </p:nvSpPr>
          <p:spPr bwMode="hidden">
            <a:xfrm>
              <a:off x="2" y="2152"/>
              <a:ext cx="5752" cy="1337"/>
            </a:xfrm>
            <a:custGeom>
              <a:avLst/>
              <a:gdLst>
                <a:gd name="T0" fmla="*/ 0 w 5740"/>
                <a:gd name="T1" fmla="*/ 366 h 1337"/>
                <a:gd name="T2" fmla="*/ 5740 w 5740"/>
                <a:gd name="T3" fmla="*/ 1337 h 1337"/>
                <a:gd name="T4" fmla="*/ 5740 w 5740"/>
                <a:gd name="T5" fmla="*/ 1331 h 1337"/>
                <a:gd name="T6" fmla="*/ 0 w 5740"/>
                <a:gd name="T7" fmla="*/ 0 h 1337"/>
                <a:gd name="T8" fmla="*/ 0 w 5740"/>
                <a:gd name="T9" fmla="*/ 366 h 1337"/>
                <a:gd name="T10" fmla="*/ 0 w 5740"/>
                <a:gd name="T11" fmla="*/ 366 h 1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337">
                  <a:moveTo>
                    <a:pt x="0" y="366"/>
                  </a:moveTo>
                  <a:lnTo>
                    <a:pt x="5740" y="1337"/>
                  </a:lnTo>
                  <a:lnTo>
                    <a:pt x="5740" y="1331"/>
                  </a:lnTo>
                  <a:lnTo>
                    <a:pt x="0" y="0"/>
                  </a:lnTo>
                  <a:lnTo>
                    <a:pt x="0" y="366"/>
                  </a:lnTo>
                  <a:lnTo>
                    <a:pt x="0" y="366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endParaRPr>
            </a:p>
          </p:txBody>
        </p:sp>
        <p:sp>
          <p:nvSpPr>
            <p:cNvPr id="450592" name="Freeform 32"/>
            <p:cNvSpPr/>
            <p:nvPr/>
          </p:nvSpPr>
          <p:spPr bwMode="hidden">
            <a:xfrm>
              <a:off x="2" y="3177"/>
              <a:ext cx="5752" cy="414"/>
            </a:xfrm>
            <a:custGeom>
              <a:avLst/>
              <a:gdLst>
                <a:gd name="T0" fmla="*/ 0 w 5740"/>
                <a:gd name="T1" fmla="*/ 48 h 414"/>
                <a:gd name="T2" fmla="*/ 5740 w 5740"/>
                <a:gd name="T3" fmla="*/ 414 h 414"/>
                <a:gd name="T4" fmla="*/ 5740 w 5740"/>
                <a:gd name="T5" fmla="*/ 402 h 414"/>
                <a:gd name="T6" fmla="*/ 0 w 5740"/>
                <a:gd name="T7" fmla="*/ 0 h 414"/>
                <a:gd name="T8" fmla="*/ 0 w 5740"/>
                <a:gd name="T9" fmla="*/ 48 h 414"/>
                <a:gd name="T10" fmla="*/ 0 w 5740"/>
                <a:gd name="T11" fmla="*/ 48 h 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414">
                  <a:moveTo>
                    <a:pt x="0" y="48"/>
                  </a:moveTo>
                  <a:lnTo>
                    <a:pt x="5740" y="414"/>
                  </a:lnTo>
                  <a:lnTo>
                    <a:pt x="5740" y="402"/>
                  </a:lnTo>
                  <a:lnTo>
                    <a:pt x="0" y="0"/>
                  </a:lnTo>
                  <a:lnTo>
                    <a:pt x="0" y="48"/>
                  </a:lnTo>
                  <a:lnTo>
                    <a:pt x="0" y="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endParaRPr>
            </a:p>
          </p:txBody>
        </p:sp>
        <p:sp>
          <p:nvSpPr>
            <p:cNvPr id="450593" name="Freeform 33"/>
            <p:cNvSpPr/>
            <p:nvPr/>
          </p:nvSpPr>
          <p:spPr bwMode="hidden">
            <a:xfrm>
              <a:off x="1297" y="0"/>
              <a:ext cx="4457" cy="3177"/>
            </a:xfrm>
            <a:custGeom>
              <a:avLst/>
              <a:gdLst>
                <a:gd name="T0" fmla="*/ 0 w 4448"/>
                <a:gd name="T1" fmla="*/ 0 h 3177"/>
                <a:gd name="T2" fmla="*/ 4448 w 4448"/>
                <a:gd name="T3" fmla="*/ 3177 h 3177"/>
                <a:gd name="T4" fmla="*/ 4448 w 4448"/>
                <a:gd name="T5" fmla="*/ 3153 h 3177"/>
                <a:gd name="T6" fmla="*/ 125 w 4448"/>
                <a:gd name="T7" fmla="*/ 0 h 3177"/>
                <a:gd name="T8" fmla="*/ 0 w 4448"/>
                <a:gd name="T9" fmla="*/ 0 h 3177"/>
                <a:gd name="T10" fmla="*/ 0 w 4448"/>
                <a:gd name="T11" fmla="*/ 0 h 3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448" h="3177">
                  <a:moveTo>
                    <a:pt x="0" y="0"/>
                  </a:moveTo>
                  <a:lnTo>
                    <a:pt x="4448" y="3177"/>
                  </a:lnTo>
                  <a:lnTo>
                    <a:pt x="4448" y="3153"/>
                  </a:lnTo>
                  <a:lnTo>
                    <a:pt x="12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862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endParaRPr>
            </a:p>
          </p:txBody>
        </p:sp>
        <p:sp>
          <p:nvSpPr>
            <p:cNvPr id="450594" name="Freeform 34"/>
            <p:cNvSpPr/>
            <p:nvPr/>
          </p:nvSpPr>
          <p:spPr bwMode="hidden">
            <a:xfrm>
              <a:off x="3321" y="0"/>
              <a:ext cx="2433" cy="2614"/>
            </a:xfrm>
            <a:custGeom>
              <a:avLst/>
              <a:gdLst>
                <a:gd name="T0" fmla="*/ 0 w 2428"/>
                <a:gd name="T1" fmla="*/ 0 h 2614"/>
                <a:gd name="T2" fmla="*/ 2428 w 2428"/>
                <a:gd name="T3" fmla="*/ 2614 h 2614"/>
                <a:gd name="T4" fmla="*/ 2428 w 2428"/>
                <a:gd name="T5" fmla="*/ 2608 h 2614"/>
                <a:gd name="T6" fmla="*/ 66 w 2428"/>
                <a:gd name="T7" fmla="*/ 0 h 2614"/>
                <a:gd name="T8" fmla="*/ 0 w 2428"/>
                <a:gd name="T9" fmla="*/ 0 h 2614"/>
                <a:gd name="T10" fmla="*/ 0 w 2428"/>
                <a:gd name="T11" fmla="*/ 0 h 26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28" h="2614">
                  <a:moveTo>
                    <a:pt x="0" y="0"/>
                  </a:moveTo>
                  <a:lnTo>
                    <a:pt x="2428" y="2614"/>
                  </a:lnTo>
                  <a:lnTo>
                    <a:pt x="2428" y="2608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endParaRPr>
            </a:p>
          </p:txBody>
        </p:sp>
        <p:sp>
          <p:nvSpPr>
            <p:cNvPr id="450595" name="Freeform 35"/>
            <p:cNvSpPr/>
            <p:nvPr/>
          </p:nvSpPr>
          <p:spPr bwMode="hidden">
            <a:xfrm>
              <a:off x="3950" y="0"/>
              <a:ext cx="1804" cy="2464"/>
            </a:xfrm>
            <a:custGeom>
              <a:avLst/>
              <a:gdLst>
                <a:gd name="T0" fmla="*/ 485 w 1800"/>
                <a:gd name="T1" fmla="*/ 0 h 2464"/>
                <a:gd name="T2" fmla="*/ 0 w 1800"/>
                <a:gd name="T3" fmla="*/ 0 h 2464"/>
                <a:gd name="T4" fmla="*/ 1800 w 1800"/>
                <a:gd name="T5" fmla="*/ 2464 h 2464"/>
                <a:gd name="T6" fmla="*/ 1800 w 1800"/>
                <a:gd name="T7" fmla="*/ 2248 h 2464"/>
                <a:gd name="T8" fmla="*/ 1794 w 1800"/>
                <a:gd name="T9" fmla="*/ 2248 h 2464"/>
                <a:gd name="T10" fmla="*/ 485 w 1800"/>
                <a:gd name="T11" fmla="*/ 0 h 2464"/>
                <a:gd name="T12" fmla="*/ 485 w 1800"/>
                <a:gd name="T13" fmla="*/ 0 h 24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00" h="2464">
                  <a:moveTo>
                    <a:pt x="485" y="0"/>
                  </a:moveTo>
                  <a:lnTo>
                    <a:pt x="0" y="0"/>
                  </a:lnTo>
                  <a:lnTo>
                    <a:pt x="1800" y="2464"/>
                  </a:lnTo>
                  <a:lnTo>
                    <a:pt x="1800" y="2248"/>
                  </a:lnTo>
                  <a:lnTo>
                    <a:pt x="1794" y="2248"/>
                  </a:lnTo>
                  <a:lnTo>
                    <a:pt x="485" y="0"/>
                  </a:lnTo>
                  <a:lnTo>
                    <a:pt x="485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endParaRPr>
            </a:p>
          </p:txBody>
        </p:sp>
        <p:sp>
          <p:nvSpPr>
            <p:cNvPr id="450596" name="Freeform 36"/>
            <p:cNvSpPr/>
            <p:nvPr/>
          </p:nvSpPr>
          <p:spPr bwMode="hidden">
            <a:xfrm>
              <a:off x="4519" y="0"/>
              <a:ext cx="1235" cy="2074"/>
            </a:xfrm>
            <a:custGeom>
              <a:avLst/>
              <a:gdLst>
                <a:gd name="T0" fmla="*/ 0 w 1232"/>
                <a:gd name="T1" fmla="*/ 0 h 2074"/>
                <a:gd name="T2" fmla="*/ 1232 w 1232"/>
                <a:gd name="T3" fmla="*/ 2074 h 2074"/>
                <a:gd name="T4" fmla="*/ 1232 w 1232"/>
                <a:gd name="T5" fmla="*/ 2038 h 2074"/>
                <a:gd name="T6" fmla="*/ 42 w 1232"/>
                <a:gd name="T7" fmla="*/ 0 h 2074"/>
                <a:gd name="T8" fmla="*/ 0 w 1232"/>
                <a:gd name="T9" fmla="*/ 0 h 2074"/>
                <a:gd name="T10" fmla="*/ 0 w 1232"/>
                <a:gd name="T11" fmla="*/ 0 h 20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32" h="2074">
                  <a:moveTo>
                    <a:pt x="0" y="0"/>
                  </a:moveTo>
                  <a:lnTo>
                    <a:pt x="1232" y="2074"/>
                  </a:lnTo>
                  <a:lnTo>
                    <a:pt x="1232" y="2038"/>
                  </a:lnTo>
                  <a:lnTo>
                    <a:pt x="4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764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endParaRPr>
            </a:p>
          </p:txBody>
        </p:sp>
        <p:sp>
          <p:nvSpPr>
            <p:cNvPr id="450597" name="Freeform 37"/>
            <p:cNvSpPr/>
            <p:nvPr/>
          </p:nvSpPr>
          <p:spPr bwMode="hidden">
            <a:xfrm>
              <a:off x="4694" y="0"/>
              <a:ext cx="1060" cy="1936"/>
            </a:xfrm>
            <a:custGeom>
              <a:avLst/>
              <a:gdLst>
                <a:gd name="T0" fmla="*/ 0 w 1058"/>
                <a:gd name="T1" fmla="*/ 0 h 1936"/>
                <a:gd name="T2" fmla="*/ 1058 w 1058"/>
                <a:gd name="T3" fmla="*/ 1936 h 1936"/>
                <a:gd name="T4" fmla="*/ 1058 w 1058"/>
                <a:gd name="T5" fmla="*/ 1930 h 1936"/>
                <a:gd name="T6" fmla="*/ 54 w 1058"/>
                <a:gd name="T7" fmla="*/ 0 h 1936"/>
                <a:gd name="T8" fmla="*/ 0 w 1058"/>
                <a:gd name="T9" fmla="*/ 0 h 1936"/>
                <a:gd name="T10" fmla="*/ 0 w 1058"/>
                <a:gd name="T11" fmla="*/ 0 h 1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58" h="1936">
                  <a:moveTo>
                    <a:pt x="0" y="0"/>
                  </a:moveTo>
                  <a:lnTo>
                    <a:pt x="1058" y="1936"/>
                  </a:lnTo>
                  <a:lnTo>
                    <a:pt x="1058" y="1930"/>
                  </a:lnTo>
                  <a:lnTo>
                    <a:pt x="54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endParaRPr>
            </a:p>
          </p:txBody>
        </p:sp>
        <p:sp>
          <p:nvSpPr>
            <p:cNvPr id="450598" name="Freeform 38"/>
            <p:cNvSpPr/>
            <p:nvPr/>
          </p:nvSpPr>
          <p:spPr bwMode="hidden">
            <a:xfrm>
              <a:off x="4981" y="0"/>
              <a:ext cx="773" cy="1487"/>
            </a:xfrm>
            <a:custGeom>
              <a:avLst/>
              <a:gdLst>
                <a:gd name="T0" fmla="*/ 771 w 771"/>
                <a:gd name="T1" fmla="*/ 1433 h 1487"/>
                <a:gd name="T2" fmla="*/ 42 w 771"/>
                <a:gd name="T3" fmla="*/ 0 h 1487"/>
                <a:gd name="T4" fmla="*/ 0 w 771"/>
                <a:gd name="T5" fmla="*/ 0 h 1487"/>
                <a:gd name="T6" fmla="*/ 771 w 771"/>
                <a:gd name="T7" fmla="*/ 1487 h 1487"/>
                <a:gd name="T8" fmla="*/ 771 w 771"/>
                <a:gd name="T9" fmla="*/ 1433 h 1487"/>
                <a:gd name="T10" fmla="*/ 771 w 771"/>
                <a:gd name="T11" fmla="*/ 1433 h 14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71" h="1487">
                  <a:moveTo>
                    <a:pt x="771" y="1433"/>
                  </a:moveTo>
                  <a:lnTo>
                    <a:pt x="42" y="0"/>
                  </a:lnTo>
                  <a:lnTo>
                    <a:pt x="0" y="0"/>
                  </a:lnTo>
                  <a:lnTo>
                    <a:pt x="771" y="1487"/>
                  </a:lnTo>
                  <a:lnTo>
                    <a:pt x="771" y="1433"/>
                  </a:lnTo>
                  <a:lnTo>
                    <a:pt x="771" y="1433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882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endParaRPr>
            </a:p>
          </p:txBody>
        </p:sp>
        <p:grpSp>
          <p:nvGrpSpPr>
            <p:cNvPr id="1063" name="Group 39"/>
            <p:cNvGrpSpPr/>
            <p:nvPr userDrawn="1"/>
          </p:nvGrpSpPr>
          <p:grpSpPr>
            <a:xfrm>
              <a:off x="0" y="1632"/>
              <a:ext cx="5758" cy="1858"/>
              <a:chOff x="0" y="1632"/>
              <a:chExt cx="5758" cy="1858"/>
            </a:xfrm>
          </p:grpSpPr>
          <p:sp>
            <p:nvSpPr>
              <p:cNvPr id="450600" name="Freeform 40"/>
              <p:cNvSpPr/>
              <p:nvPr/>
            </p:nvSpPr>
            <p:spPr bwMode="hidden">
              <a:xfrm>
                <a:off x="0" y="1632"/>
                <a:ext cx="3670" cy="1313"/>
              </a:xfrm>
              <a:custGeom>
                <a:avLst/>
                <a:gdLst>
                  <a:gd name="T0" fmla="*/ 0 w 3659"/>
                  <a:gd name="T1" fmla="*/ 0 h 1313"/>
                  <a:gd name="T2" fmla="*/ 0 w 3659"/>
                  <a:gd name="T3" fmla="*/ 366 h 1313"/>
                  <a:gd name="T4" fmla="*/ 3635 w 3659"/>
                  <a:gd name="T5" fmla="*/ 1313 h 1313"/>
                  <a:gd name="T6" fmla="*/ 3647 w 3659"/>
                  <a:gd name="T7" fmla="*/ 1235 h 1313"/>
                  <a:gd name="T8" fmla="*/ 3659 w 3659"/>
                  <a:gd name="T9" fmla="*/ 1163 h 1313"/>
                  <a:gd name="T10" fmla="*/ 0 w 3659"/>
                  <a:gd name="T11" fmla="*/ 0 h 1313"/>
                  <a:gd name="T12" fmla="*/ 0 w 3659"/>
                  <a:gd name="T13" fmla="*/ 0 h 1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59" h="1313">
                    <a:moveTo>
                      <a:pt x="0" y="0"/>
                    </a:moveTo>
                    <a:lnTo>
                      <a:pt x="0" y="366"/>
                    </a:lnTo>
                    <a:lnTo>
                      <a:pt x="3635" y="1313"/>
                    </a:lnTo>
                    <a:lnTo>
                      <a:pt x="3647" y="1235"/>
                    </a:lnTo>
                    <a:lnTo>
                      <a:pt x="3659" y="1163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72549"/>
                      <a:invGamma/>
                    </a:schemeClr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Arial" panose="020B0604020202020204" pitchFamily="34" charset="0"/>
                  <a:ea typeface="楷体_GB2312" pitchFamily="49" charset="-122"/>
                  <a:cs typeface="+mn-cs"/>
                </a:endParaRPr>
              </a:p>
            </p:txBody>
          </p:sp>
          <p:sp>
            <p:nvSpPr>
              <p:cNvPr id="450601" name="Freeform 41"/>
              <p:cNvSpPr/>
              <p:nvPr/>
            </p:nvSpPr>
            <p:spPr bwMode="hidden">
              <a:xfrm>
                <a:off x="3646" y="2795"/>
                <a:ext cx="2112" cy="695"/>
              </a:xfrm>
              <a:custGeom>
                <a:avLst/>
                <a:gdLst>
                  <a:gd name="T0" fmla="*/ 2105 w 2105"/>
                  <a:gd name="T1" fmla="*/ 665 h 695"/>
                  <a:gd name="T2" fmla="*/ 24 w 2105"/>
                  <a:gd name="T3" fmla="*/ 0 h 695"/>
                  <a:gd name="T4" fmla="*/ 12 w 2105"/>
                  <a:gd name="T5" fmla="*/ 72 h 695"/>
                  <a:gd name="T6" fmla="*/ 0 w 2105"/>
                  <a:gd name="T7" fmla="*/ 150 h 695"/>
                  <a:gd name="T8" fmla="*/ 2105 w 2105"/>
                  <a:gd name="T9" fmla="*/ 695 h 695"/>
                  <a:gd name="T10" fmla="*/ 2105 w 2105"/>
                  <a:gd name="T11" fmla="*/ 665 h 695"/>
                  <a:gd name="T12" fmla="*/ 2105 w 2105"/>
                  <a:gd name="T13" fmla="*/ 665 h 6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105" h="695">
                    <a:moveTo>
                      <a:pt x="2105" y="665"/>
                    </a:moveTo>
                    <a:lnTo>
                      <a:pt x="24" y="0"/>
                    </a:lnTo>
                    <a:lnTo>
                      <a:pt x="12" y="72"/>
                    </a:lnTo>
                    <a:lnTo>
                      <a:pt x="0" y="150"/>
                    </a:lnTo>
                    <a:lnTo>
                      <a:pt x="2105" y="695"/>
                    </a:lnTo>
                    <a:lnTo>
                      <a:pt x="2105" y="665"/>
                    </a:lnTo>
                    <a:lnTo>
                      <a:pt x="2105" y="66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tint val="90980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Arial" panose="020B0604020202020204" pitchFamily="34" charset="0"/>
                  <a:ea typeface="楷体_GB2312" pitchFamily="49" charset="-122"/>
                  <a:cs typeface="+mn-cs"/>
                </a:endParaRPr>
              </a:p>
            </p:txBody>
          </p:sp>
        </p:grpSp>
      </p:grpSp>
      <p:sp>
        <p:nvSpPr>
          <p:cNvPr id="450602" name="Rectangle 4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 smtClean="0"/>
          </a:p>
        </p:txBody>
      </p:sp>
      <p:sp>
        <p:nvSpPr>
          <p:cNvPr id="450603" name="Rectangle 4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 smtClean="0"/>
          </a:p>
        </p:txBody>
      </p:sp>
      <p:sp>
        <p:nvSpPr>
          <p:cNvPr id="450604" name="Rectangle 4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 b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+mn-ea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450605" name="Rectangle 4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ctr" eaLnBrk="1" hangingPunct="1">
              <a:defRPr sz="1200" b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+mn-ea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450606" name="Rectangle 4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b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+mn-ea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0384F7D-110C-4381-8A61-6CA9EBC6AAFA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pic>
        <p:nvPicPr>
          <p:cNvPr id="1071" name="Picture 47" descr="图片5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39750" y="188913"/>
            <a:ext cx="8135938" cy="36036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72" name="WordArt 48"/>
          <p:cNvSpPr>
            <a:spLocks noTextEdit="1"/>
          </p:cNvSpPr>
          <p:nvPr/>
        </p:nvSpPr>
        <p:spPr>
          <a:xfrm>
            <a:off x="1331913" y="44450"/>
            <a:ext cx="628650" cy="31432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normAutofit/>
          </a:bodyPr>
          <a:p>
            <a:pPr algn="ctr" eaLnBrk="0" hangingPunct="0"/>
            <a:r>
              <a:rPr lang="zh-CN" altLang="en-US" sz="2400" b="1" spc="480">
                <a:gradFill rotWithShape="1">
                  <a:gsLst>
                    <a:gs pos="0">
                      <a:srgbClr val="AAAAAA"/>
                    </a:gs>
                    <a:gs pos="100000">
                      <a:srgbClr val="FFFFFF"/>
                    </a:gs>
                  </a:gsLst>
                  <a:lin ang="5400000" scaled="1"/>
                  <a:tileRect/>
                </a:gradFill>
                <a:effectLst>
                  <a:outerShdw dist="45791" dir="3378595" algn="ctr" rotWithShape="0">
                    <a:srgbClr val="4D4D4D">
                      <a:alpha val="79999"/>
                    </a:srgbClr>
                  </a:outerShdw>
                </a:effectLst>
                <a:latin typeface="华文行楷" panose="02010800040101010101" pitchFamily="2" charset="-122"/>
                <a:ea typeface="华文行楷" panose="02010800040101010101" pitchFamily="2" charset="-122"/>
              </a:rPr>
              <a:t>电路</a:t>
            </a:r>
            <a:endParaRPr lang="zh-CN" altLang="en-US" sz="2400" b="1" spc="480">
              <a:gradFill rotWithShape="1">
                <a:gsLst>
                  <a:gs pos="0">
                    <a:srgbClr val="AAAAAA"/>
                  </a:gs>
                  <a:gs pos="100000">
                    <a:srgbClr val="FFFFFF"/>
                  </a:gs>
                </a:gsLst>
                <a:lin ang="5400000" scaled="1"/>
                <a:tileRect/>
              </a:gradFill>
              <a:effectLst>
                <a:outerShdw dist="45791" dir="3378595" algn="ctr" rotWithShape="0">
                  <a:srgbClr val="4D4D4D">
                    <a:alpha val="79999"/>
                  </a:srgbClr>
                </a:outerShdw>
              </a:effectLst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1073" name="WordArt 51"/>
          <p:cNvSpPr>
            <a:spLocks noTextEdit="1"/>
          </p:cNvSpPr>
          <p:nvPr userDrawn="1"/>
        </p:nvSpPr>
        <p:spPr>
          <a:xfrm>
            <a:off x="5435600" y="90488"/>
            <a:ext cx="2305050" cy="31432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normAutofit/>
          </a:bodyPr>
          <a:p>
            <a:pPr algn="ctr" eaLnBrk="0" hangingPunct="0"/>
            <a:r>
              <a:rPr lang="zh-CN" altLang="en-US" sz="2400" b="1" spc="480">
                <a:gradFill rotWithShape="1">
                  <a:gsLst>
                    <a:gs pos="0">
                      <a:srgbClr val="AAAAAA"/>
                    </a:gs>
                    <a:gs pos="100000">
                      <a:srgbClr val="FFFFFF"/>
                    </a:gs>
                  </a:gsLst>
                  <a:lin ang="5400000" scaled="1"/>
                  <a:tileRect/>
                </a:gradFill>
                <a:effectLst>
                  <a:outerShdw dist="45791" dir="3378595" algn="ctr" rotWithShape="0">
                    <a:srgbClr val="4D4D4D">
                      <a:alpha val="79999"/>
                    </a:srgbClr>
                  </a:outerShdw>
                </a:effectLst>
                <a:latin typeface="华文行楷" panose="02010800040101010101" pitchFamily="2" charset="-122"/>
                <a:ea typeface="华文行楷" panose="02010800040101010101" pitchFamily="2" charset="-122"/>
              </a:rPr>
              <a:t>电路模型和电路定律</a:t>
            </a:r>
            <a:endParaRPr lang="zh-CN" altLang="en-US" sz="2400" b="1" spc="480">
              <a:gradFill rotWithShape="1">
                <a:gsLst>
                  <a:gs pos="0">
                    <a:srgbClr val="AAAAAA"/>
                  </a:gs>
                  <a:gs pos="100000">
                    <a:srgbClr val="FFFFFF"/>
                  </a:gs>
                </a:gsLst>
                <a:lin ang="5400000" scaled="1"/>
                <a:tileRect/>
              </a:gradFill>
              <a:effectLst>
                <a:outerShdw dist="45791" dir="3378595" algn="ctr" rotWithShape="0">
                  <a:srgbClr val="4D4D4D">
                    <a:alpha val="79999"/>
                  </a:srgbClr>
                </a:outerShdw>
              </a:effectLst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5000" fill="hold"/>
                                        <p:tgtEl>
                                          <p:spTgt spid="4506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5000" fill="hold"/>
                                        <p:tgtEl>
                                          <p:spTgt spid="4506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3">
                                            <p:txEl>
                                              <p:charRg st="0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5000" fill="hold"/>
                                        <p:tgtEl>
                                          <p:spTgt spid="450603">
                                            <p:txEl>
                                              <p:charRg st="0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5000" fill="hold"/>
                                        <p:tgtEl>
                                          <p:spTgt spid="450603">
                                            <p:txEl>
                                              <p:charRg st="0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3">
                                            <p:txEl>
                                              <p:charRg st="13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5000" fill="hold"/>
                                        <p:tgtEl>
                                          <p:spTgt spid="450603">
                                            <p:txEl>
                                              <p:charRg st="13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5000" fill="hold"/>
                                        <p:tgtEl>
                                          <p:spTgt spid="450603">
                                            <p:txEl>
                                              <p:charRg st="13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3">
                                            <p:txEl>
                                              <p:charRg st="17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5000" fill="hold"/>
                                        <p:tgtEl>
                                          <p:spTgt spid="450603">
                                            <p:txEl>
                                              <p:charRg st="17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5000" fill="hold"/>
                                        <p:tgtEl>
                                          <p:spTgt spid="450603">
                                            <p:txEl>
                                              <p:charRg st="17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3">
                                            <p:txEl>
                                              <p:charRg st="21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5000" fill="hold"/>
                                        <p:tgtEl>
                                          <p:spTgt spid="450603">
                                            <p:txEl>
                                              <p:charRg st="21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5000" fill="hold"/>
                                        <p:tgtEl>
                                          <p:spTgt spid="450603">
                                            <p:txEl>
                                              <p:charRg st="21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3">
                                            <p:txEl>
                                              <p:charRg st="25" end="2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5000" fill="hold"/>
                                        <p:tgtEl>
                                          <p:spTgt spid="450603">
                                            <p:txEl>
                                              <p:charRg st="25" end="2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5000" fill="hold"/>
                                        <p:tgtEl>
                                          <p:spTgt spid="450603">
                                            <p:txEl>
                                              <p:charRg st="25" end="2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602" grpId="0"/>
      <p:bldP spid="450603" grpId="0" build="allAtOnce">
        <p:tmplLst>
          <p:tmpl lvl="1">
            <p:tnLst>
              <p:par>
                <p:cTn presetID="28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fill="hold">
                          <p:stCondLst>
                            <p:cond delay="0"/>
                          </p:stCondLst>
                        </p:cTn>
                        <p:tgtEl>
                          <p:spTgt spid="45060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5000" fill="hold"/>
                        <p:tgtEl>
                          <p:spTgt spid="45060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5000" fill="hold"/>
                        <p:tgtEl>
                          <p:spTgt spid="45060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1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2">
            <p:tnLst>
              <p:par>
                <p:cTn presetID="28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fill="hold">
                          <p:stCondLst>
                            <p:cond delay="0"/>
                          </p:stCondLst>
                        </p:cTn>
                        <p:tgtEl>
                          <p:spTgt spid="45060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5000" fill="hold"/>
                        <p:tgtEl>
                          <p:spTgt spid="45060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5000" fill="hold"/>
                        <p:tgtEl>
                          <p:spTgt spid="45060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1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3">
            <p:tnLst>
              <p:par>
                <p:cTn presetID="28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fill="hold">
                          <p:stCondLst>
                            <p:cond delay="0"/>
                          </p:stCondLst>
                        </p:cTn>
                        <p:tgtEl>
                          <p:spTgt spid="45060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5000" fill="hold"/>
                        <p:tgtEl>
                          <p:spTgt spid="45060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5000" fill="hold"/>
                        <p:tgtEl>
                          <p:spTgt spid="45060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1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4">
            <p:tnLst>
              <p:par>
                <p:cTn presetID="28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fill="hold">
                          <p:stCondLst>
                            <p:cond delay="0"/>
                          </p:stCondLst>
                        </p:cTn>
                        <p:tgtEl>
                          <p:spTgt spid="45060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5000" fill="hold"/>
                        <p:tgtEl>
                          <p:spTgt spid="45060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5000" fill="hold"/>
                        <p:tgtEl>
                          <p:spTgt spid="45060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1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5">
            <p:tnLst>
              <p:par>
                <p:cTn presetID="28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fill="hold">
                          <p:stCondLst>
                            <p:cond delay="0"/>
                          </p:stCondLst>
                        </p:cTn>
                        <p:tgtEl>
                          <p:spTgt spid="45060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15000" fill="hold"/>
                        <p:tgtEl>
                          <p:spTgt spid="45060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5000" fill="hold"/>
                        <p:tgtEl>
                          <p:spTgt spid="45060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1"/>
                          </p:val>
                        </p:tav>
                        <p:tav tm="100000">
                          <p:val>
                            <p:strVal val="#ppt_y-1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0000"/>
        <a:buFont typeface="Wingdings" panose="05000000000000000000" pitchFamily="2" charset="2"/>
        <a:buBlip>
          <a:blip r:embed="rId14"/>
        </a:buBlip>
        <a:defRPr sz="32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90000"/>
        <a:buFont typeface="Wingdings" panose="05000000000000000000" pitchFamily="2" charset="2"/>
        <a:buBlip>
          <a:blip r:embed="rId15"/>
        </a:buBlip>
        <a:defRPr sz="24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6"/>
        </a:buBlip>
        <a:defRPr sz="20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slide" Target="slide22.xml"/><Relationship Id="rId8" Type="http://schemas.openxmlformats.org/officeDocument/2006/relationships/slide" Target="slide47.xml"/><Relationship Id="rId7" Type="http://schemas.openxmlformats.org/officeDocument/2006/relationships/slide" Target="slide18.xml"/><Relationship Id="rId6" Type="http://schemas.openxmlformats.org/officeDocument/2006/relationships/slide" Target="slide32.xml"/><Relationship Id="rId5" Type="http://schemas.openxmlformats.org/officeDocument/2006/relationships/slide" Target="slide7.xml"/><Relationship Id="rId4" Type="http://schemas.openxmlformats.org/officeDocument/2006/relationships/slide" Target="slide26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4" Type="http://schemas.openxmlformats.org/officeDocument/2006/relationships/slideLayout" Target="../slideLayouts/slideLayout1.xml"/><Relationship Id="rId13" Type="http://schemas.openxmlformats.org/officeDocument/2006/relationships/image" Target="../media/image8.png"/><Relationship Id="rId12" Type="http://schemas.openxmlformats.org/officeDocument/2006/relationships/slide" Target="slide2.xml"/><Relationship Id="rId11" Type="http://schemas.openxmlformats.org/officeDocument/2006/relationships/image" Target="../media/image7.png"/><Relationship Id="rId10" Type="http://schemas.openxmlformats.org/officeDocument/2006/relationships/slide" Target="slide53.xml"/><Relationship Id="rId1" Type="http://schemas.openxmlformats.org/officeDocument/2006/relationships/slide" Target="slide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4.jpeg"/><Relationship Id="rId8" Type="http://schemas.openxmlformats.org/officeDocument/2006/relationships/image" Target="../media/image13.wmf"/><Relationship Id="rId7" Type="http://schemas.openxmlformats.org/officeDocument/2006/relationships/oleObject" Target="../embeddings/oleObject4.bin"/><Relationship Id="rId6" Type="http://schemas.openxmlformats.org/officeDocument/2006/relationships/image" Target="../media/image12.e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11.emf"/><Relationship Id="rId3" Type="http://schemas.openxmlformats.org/officeDocument/2006/relationships/oleObject" Target="../embeddings/oleObject2.bin"/><Relationship Id="rId2" Type="http://schemas.openxmlformats.org/officeDocument/2006/relationships/image" Target="../media/image10.emf"/><Relationship Id="rId12" Type="http://schemas.openxmlformats.org/officeDocument/2006/relationships/vmlDrawing" Target="../drawings/vmlDrawing1.vml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9.png"/><Relationship Id="rId1" Type="http://schemas.openxmlformats.org/officeDocument/2006/relationships/oleObject" Target="../embeddings/oleObject1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1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2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5.png"/><Relationship Id="rId3" Type="http://schemas.openxmlformats.org/officeDocument/2006/relationships/image" Target="../media/image16.emf"/><Relationship Id="rId2" Type="http://schemas.openxmlformats.org/officeDocument/2006/relationships/oleObject" Target="../embeddings/oleObject5.bin"/><Relationship Id="rId1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3.v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9.png"/><Relationship Id="rId2" Type="http://schemas.openxmlformats.org/officeDocument/2006/relationships/image" Target="../media/image17.wmf"/><Relationship Id="rId1" Type="http://schemas.openxmlformats.org/officeDocument/2006/relationships/oleObject" Target="../embeddings/oleObject6.bin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5.png"/><Relationship Id="rId2" Type="http://schemas.openxmlformats.org/officeDocument/2006/relationships/image" Target="../media/image9.png"/><Relationship Id="rId1" Type="http://schemas.openxmlformats.org/officeDocument/2006/relationships/image" Target="../media/image14.jpe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5.png"/><Relationship Id="rId2" Type="http://schemas.openxmlformats.org/officeDocument/2006/relationships/image" Target="../media/image9.png"/><Relationship Id="rId1" Type="http://schemas.openxmlformats.org/officeDocument/2006/relationships/image" Target="../media/image14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4.v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9.png"/><Relationship Id="rId2" Type="http://schemas.openxmlformats.org/officeDocument/2006/relationships/image" Target="../media/image18.emf"/><Relationship Id="rId1" Type="http://schemas.openxmlformats.org/officeDocument/2006/relationships/oleObject" Target="../embeddings/oleObject7.bin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2.bin"/><Relationship Id="rId8" Type="http://schemas.openxmlformats.org/officeDocument/2006/relationships/image" Target="../media/image22.emf"/><Relationship Id="rId7" Type="http://schemas.openxmlformats.org/officeDocument/2006/relationships/oleObject" Target="../embeddings/oleObject11.bin"/><Relationship Id="rId6" Type="http://schemas.openxmlformats.org/officeDocument/2006/relationships/image" Target="../media/image21.emf"/><Relationship Id="rId5" Type="http://schemas.openxmlformats.org/officeDocument/2006/relationships/oleObject" Target="../embeddings/oleObject10.bin"/><Relationship Id="rId4" Type="http://schemas.openxmlformats.org/officeDocument/2006/relationships/image" Target="../media/image20.emf"/><Relationship Id="rId3" Type="http://schemas.openxmlformats.org/officeDocument/2006/relationships/oleObject" Target="../embeddings/oleObject9.bin"/><Relationship Id="rId2" Type="http://schemas.openxmlformats.org/officeDocument/2006/relationships/image" Target="../media/image19.emf"/><Relationship Id="rId13" Type="http://schemas.openxmlformats.org/officeDocument/2006/relationships/vmlDrawing" Target="../drawings/vmlDrawing5.vml"/><Relationship Id="rId12" Type="http://schemas.openxmlformats.org/officeDocument/2006/relationships/slideLayout" Target="../slideLayouts/slideLayout7.xml"/><Relationship Id="rId11" Type="http://schemas.openxmlformats.org/officeDocument/2006/relationships/image" Target="../media/image9.png"/><Relationship Id="rId10" Type="http://schemas.openxmlformats.org/officeDocument/2006/relationships/image" Target="../media/image23.emf"/><Relationship Id="rId1" Type="http://schemas.openxmlformats.org/officeDocument/2006/relationships/oleObject" Target="../embeddings/oleObject8.bin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7.bin"/><Relationship Id="rId8" Type="http://schemas.openxmlformats.org/officeDocument/2006/relationships/image" Target="../media/image27.emf"/><Relationship Id="rId7" Type="http://schemas.openxmlformats.org/officeDocument/2006/relationships/oleObject" Target="../embeddings/oleObject16.bin"/><Relationship Id="rId6" Type="http://schemas.openxmlformats.org/officeDocument/2006/relationships/image" Target="../media/image26.emf"/><Relationship Id="rId5" Type="http://schemas.openxmlformats.org/officeDocument/2006/relationships/oleObject" Target="../embeddings/oleObject15.bin"/><Relationship Id="rId4" Type="http://schemas.openxmlformats.org/officeDocument/2006/relationships/image" Target="../media/image25.emf"/><Relationship Id="rId3" Type="http://schemas.openxmlformats.org/officeDocument/2006/relationships/oleObject" Target="../embeddings/oleObject14.bin"/><Relationship Id="rId2" Type="http://schemas.openxmlformats.org/officeDocument/2006/relationships/image" Target="../media/image24.emf"/><Relationship Id="rId14" Type="http://schemas.openxmlformats.org/officeDocument/2006/relationships/vmlDrawing" Target="../drawings/vmlDrawing6.vml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15.png"/><Relationship Id="rId11" Type="http://schemas.openxmlformats.org/officeDocument/2006/relationships/image" Target="../media/image9.png"/><Relationship Id="rId10" Type="http://schemas.openxmlformats.org/officeDocument/2006/relationships/image" Target="../media/image28.emf"/><Relationship Id="rId1" Type="http://schemas.openxmlformats.org/officeDocument/2006/relationships/oleObject" Target="../embeddings/oleObject13.bin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5.png"/><Relationship Id="rId2" Type="http://schemas.openxmlformats.org/officeDocument/2006/relationships/image" Target="../media/image9.png"/><Relationship Id="rId1" Type="http://schemas.openxmlformats.org/officeDocument/2006/relationships/image" Target="../media/image14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1" Type="http://schemas.openxmlformats.org/officeDocument/2006/relationships/image" Target="../media/image14.jpe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5.png"/><Relationship Id="rId2" Type="http://schemas.openxmlformats.org/officeDocument/2006/relationships/slide" Target="slide18.xml"/><Relationship Id="rId1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image" Target="../media/image32.emf"/><Relationship Id="rId8" Type="http://schemas.openxmlformats.org/officeDocument/2006/relationships/oleObject" Target="../embeddings/oleObject21.bin"/><Relationship Id="rId7" Type="http://schemas.openxmlformats.org/officeDocument/2006/relationships/image" Target="../media/image31.emf"/><Relationship Id="rId6" Type="http://schemas.openxmlformats.org/officeDocument/2006/relationships/oleObject" Target="../embeddings/oleObject20.bin"/><Relationship Id="rId5" Type="http://schemas.openxmlformats.org/officeDocument/2006/relationships/image" Target="../media/image9.png"/><Relationship Id="rId4" Type="http://schemas.openxmlformats.org/officeDocument/2006/relationships/image" Target="../media/image30.wmf"/><Relationship Id="rId3" Type="http://schemas.openxmlformats.org/officeDocument/2006/relationships/oleObject" Target="../embeddings/oleObject19.bin"/><Relationship Id="rId2" Type="http://schemas.openxmlformats.org/officeDocument/2006/relationships/image" Target="../media/image29.emf"/><Relationship Id="rId11" Type="http://schemas.openxmlformats.org/officeDocument/2006/relationships/vmlDrawing" Target="../drawings/vmlDrawing7.vml"/><Relationship Id="rId10" Type="http://schemas.openxmlformats.org/officeDocument/2006/relationships/slideLayout" Target="../slideLayouts/slideLayout7.xml"/><Relationship Id="rId1" Type="http://schemas.openxmlformats.org/officeDocument/2006/relationships/oleObject" Target="../embeddings/oleObject18.bin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6.bin"/><Relationship Id="rId8" Type="http://schemas.openxmlformats.org/officeDocument/2006/relationships/image" Target="../media/image36.emf"/><Relationship Id="rId7" Type="http://schemas.openxmlformats.org/officeDocument/2006/relationships/oleObject" Target="../embeddings/oleObject25.bin"/><Relationship Id="rId6" Type="http://schemas.openxmlformats.org/officeDocument/2006/relationships/image" Target="../media/image35.emf"/><Relationship Id="rId5" Type="http://schemas.openxmlformats.org/officeDocument/2006/relationships/oleObject" Target="../embeddings/oleObject24.bin"/><Relationship Id="rId4" Type="http://schemas.openxmlformats.org/officeDocument/2006/relationships/image" Target="../media/image34.emf"/><Relationship Id="rId3" Type="http://schemas.openxmlformats.org/officeDocument/2006/relationships/oleObject" Target="../embeddings/oleObject23.bin"/><Relationship Id="rId2" Type="http://schemas.openxmlformats.org/officeDocument/2006/relationships/image" Target="../media/image33.emf"/><Relationship Id="rId16" Type="http://schemas.openxmlformats.org/officeDocument/2006/relationships/vmlDrawing" Target="../drawings/vmlDrawing8.vml"/><Relationship Id="rId15" Type="http://schemas.openxmlformats.org/officeDocument/2006/relationships/slideLayout" Target="../slideLayouts/slideLayout7.xml"/><Relationship Id="rId14" Type="http://schemas.openxmlformats.org/officeDocument/2006/relationships/image" Target="../media/image15.png"/><Relationship Id="rId13" Type="http://schemas.openxmlformats.org/officeDocument/2006/relationships/image" Target="../media/image9.png"/><Relationship Id="rId12" Type="http://schemas.openxmlformats.org/officeDocument/2006/relationships/image" Target="../media/image38.emf"/><Relationship Id="rId11" Type="http://schemas.openxmlformats.org/officeDocument/2006/relationships/oleObject" Target="../embeddings/oleObject27.bin"/><Relationship Id="rId10" Type="http://schemas.openxmlformats.org/officeDocument/2006/relationships/image" Target="../media/image37.emf"/><Relationship Id="rId1" Type="http://schemas.openxmlformats.org/officeDocument/2006/relationships/oleObject" Target="../embeddings/oleObject22.bin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1" Type="http://schemas.openxmlformats.org/officeDocument/2006/relationships/image" Target="../media/image9.png"/></Relationships>
</file>

<file path=ppt/slides/_rels/slide23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9.v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15.png"/><Relationship Id="rId3" Type="http://schemas.openxmlformats.org/officeDocument/2006/relationships/image" Target="../media/image9.png"/><Relationship Id="rId2" Type="http://schemas.openxmlformats.org/officeDocument/2006/relationships/image" Target="../media/image39.emf"/><Relationship Id="rId1" Type="http://schemas.openxmlformats.org/officeDocument/2006/relationships/oleObject" Target="../embeddings/oleObject28.bin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image" Target="../media/image43.emf"/><Relationship Id="rId8" Type="http://schemas.openxmlformats.org/officeDocument/2006/relationships/oleObject" Target="../embeddings/oleObject31.bin"/><Relationship Id="rId7" Type="http://schemas.openxmlformats.org/officeDocument/2006/relationships/image" Target="../media/image42.emf"/><Relationship Id="rId6" Type="http://schemas.openxmlformats.org/officeDocument/2006/relationships/oleObject" Target="../embeddings/oleObject30.bin"/><Relationship Id="rId5" Type="http://schemas.openxmlformats.org/officeDocument/2006/relationships/image" Target="../media/image41.emf"/><Relationship Id="rId4" Type="http://schemas.openxmlformats.org/officeDocument/2006/relationships/oleObject" Target="../embeddings/oleObject29.bin"/><Relationship Id="rId3" Type="http://schemas.openxmlformats.org/officeDocument/2006/relationships/image" Target="../media/image14.jpeg"/><Relationship Id="rId2" Type="http://schemas.openxmlformats.org/officeDocument/2006/relationships/image" Target="../media/image40.png"/><Relationship Id="rId17" Type="http://schemas.openxmlformats.org/officeDocument/2006/relationships/vmlDrawing" Target="../drawings/vmlDrawing10.vml"/><Relationship Id="rId16" Type="http://schemas.openxmlformats.org/officeDocument/2006/relationships/slideLayout" Target="../slideLayouts/slideLayout12.xml"/><Relationship Id="rId15" Type="http://schemas.openxmlformats.org/officeDocument/2006/relationships/image" Target="../media/image46.emf"/><Relationship Id="rId14" Type="http://schemas.openxmlformats.org/officeDocument/2006/relationships/oleObject" Target="../embeddings/oleObject34.bin"/><Relationship Id="rId13" Type="http://schemas.openxmlformats.org/officeDocument/2006/relationships/image" Target="../media/image45.emf"/><Relationship Id="rId12" Type="http://schemas.openxmlformats.org/officeDocument/2006/relationships/oleObject" Target="../embeddings/oleObject33.bin"/><Relationship Id="rId11" Type="http://schemas.openxmlformats.org/officeDocument/2006/relationships/image" Target="../media/image44.emf"/><Relationship Id="rId10" Type="http://schemas.openxmlformats.org/officeDocument/2006/relationships/oleObject" Target="../embeddings/oleObject32.bin"/><Relationship Id="rId1" Type="http://schemas.openxmlformats.org/officeDocument/2006/relationships/image" Target="../media/image9.png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8.bin"/><Relationship Id="rId8" Type="http://schemas.openxmlformats.org/officeDocument/2006/relationships/image" Target="../media/image49.emf"/><Relationship Id="rId7" Type="http://schemas.openxmlformats.org/officeDocument/2006/relationships/oleObject" Target="../embeddings/oleObject37.bin"/><Relationship Id="rId6" Type="http://schemas.openxmlformats.org/officeDocument/2006/relationships/image" Target="../media/image48.emf"/><Relationship Id="rId5" Type="http://schemas.openxmlformats.org/officeDocument/2006/relationships/oleObject" Target="../embeddings/oleObject36.bin"/><Relationship Id="rId4" Type="http://schemas.openxmlformats.org/officeDocument/2006/relationships/image" Target="../media/image47.emf"/><Relationship Id="rId3" Type="http://schemas.openxmlformats.org/officeDocument/2006/relationships/oleObject" Target="../embeddings/oleObject35.bin"/><Relationship Id="rId27" Type="http://schemas.openxmlformats.org/officeDocument/2006/relationships/vmlDrawing" Target="../drawings/vmlDrawing11.vml"/><Relationship Id="rId26" Type="http://schemas.openxmlformats.org/officeDocument/2006/relationships/slideLayout" Target="../slideLayouts/slideLayout12.xml"/><Relationship Id="rId25" Type="http://schemas.openxmlformats.org/officeDocument/2006/relationships/image" Target="../media/image57.emf"/><Relationship Id="rId24" Type="http://schemas.openxmlformats.org/officeDocument/2006/relationships/oleObject" Target="../embeddings/oleObject45.bin"/><Relationship Id="rId23" Type="http://schemas.openxmlformats.org/officeDocument/2006/relationships/image" Target="../media/image14.jpeg"/><Relationship Id="rId22" Type="http://schemas.openxmlformats.org/officeDocument/2006/relationships/image" Target="../media/image56.emf"/><Relationship Id="rId21" Type="http://schemas.openxmlformats.org/officeDocument/2006/relationships/oleObject" Target="../embeddings/oleObject44.bin"/><Relationship Id="rId20" Type="http://schemas.openxmlformats.org/officeDocument/2006/relationships/image" Target="../media/image55.emf"/><Relationship Id="rId2" Type="http://schemas.openxmlformats.org/officeDocument/2006/relationships/image" Target="../media/image40.png"/><Relationship Id="rId19" Type="http://schemas.openxmlformats.org/officeDocument/2006/relationships/oleObject" Target="../embeddings/oleObject43.bin"/><Relationship Id="rId18" Type="http://schemas.openxmlformats.org/officeDocument/2006/relationships/image" Target="../media/image54.emf"/><Relationship Id="rId17" Type="http://schemas.openxmlformats.org/officeDocument/2006/relationships/oleObject" Target="../embeddings/oleObject42.bin"/><Relationship Id="rId16" Type="http://schemas.openxmlformats.org/officeDocument/2006/relationships/image" Target="../media/image53.emf"/><Relationship Id="rId15" Type="http://schemas.openxmlformats.org/officeDocument/2006/relationships/oleObject" Target="../embeddings/oleObject41.bin"/><Relationship Id="rId14" Type="http://schemas.openxmlformats.org/officeDocument/2006/relationships/image" Target="../media/image52.emf"/><Relationship Id="rId13" Type="http://schemas.openxmlformats.org/officeDocument/2006/relationships/oleObject" Target="../embeddings/oleObject40.bin"/><Relationship Id="rId12" Type="http://schemas.openxmlformats.org/officeDocument/2006/relationships/image" Target="../media/image51.emf"/><Relationship Id="rId11" Type="http://schemas.openxmlformats.org/officeDocument/2006/relationships/oleObject" Target="../embeddings/oleObject39.bin"/><Relationship Id="rId10" Type="http://schemas.openxmlformats.org/officeDocument/2006/relationships/image" Target="../media/image50.emf"/><Relationship Id="rId1" Type="http://schemas.openxmlformats.org/officeDocument/2006/relationships/image" Target="../media/image9.png"/></Relationships>
</file>

<file path=ppt/slides/_rels/slide26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2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9.png"/><Relationship Id="rId3" Type="http://schemas.openxmlformats.org/officeDocument/2006/relationships/image" Target="../media/image14.jpeg"/><Relationship Id="rId2" Type="http://schemas.openxmlformats.org/officeDocument/2006/relationships/image" Target="../media/image58.emf"/><Relationship Id="rId1" Type="http://schemas.openxmlformats.org/officeDocument/2006/relationships/oleObject" Target="../embeddings/oleObject46.bin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9.png"/><Relationship Id="rId7" Type="http://schemas.openxmlformats.org/officeDocument/2006/relationships/image" Target="../media/image61.emf"/><Relationship Id="rId6" Type="http://schemas.openxmlformats.org/officeDocument/2006/relationships/oleObject" Target="../embeddings/oleObject49.bin"/><Relationship Id="rId5" Type="http://schemas.openxmlformats.org/officeDocument/2006/relationships/image" Target="../media/image14.jpeg"/><Relationship Id="rId4" Type="http://schemas.openxmlformats.org/officeDocument/2006/relationships/image" Target="../media/image60.emf"/><Relationship Id="rId3" Type="http://schemas.openxmlformats.org/officeDocument/2006/relationships/oleObject" Target="../embeddings/oleObject48.bin"/><Relationship Id="rId2" Type="http://schemas.openxmlformats.org/officeDocument/2006/relationships/image" Target="../media/image59.emf"/><Relationship Id="rId10" Type="http://schemas.openxmlformats.org/officeDocument/2006/relationships/vmlDrawing" Target="../drawings/vmlDrawing13.vml"/><Relationship Id="rId1" Type="http://schemas.openxmlformats.org/officeDocument/2006/relationships/oleObject" Target="../embeddings/oleObject47.bin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1" Type="http://schemas.openxmlformats.org/officeDocument/2006/relationships/image" Target="../media/image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1" Type="http://schemas.openxmlformats.org/officeDocument/2006/relationships/image" Target="../media/image9.png"/></Relationships>
</file>

<file path=ppt/slides/_rels/slide3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4.bin"/><Relationship Id="rId8" Type="http://schemas.openxmlformats.org/officeDocument/2006/relationships/image" Target="../media/image65.emf"/><Relationship Id="rId7" Type="http://schemas.openxmlformats.org/officeDocument/2006/relationships/oleObject" Target="../embeddings/oleObject53.bin"/><Relationship Id="rId6" Type="http://schemas.openxmlformats.org/officeDocument/2006/relationships/image" Target="../media/image64.emf"/><Relationship Id="rId5" Type="http://schemas.openxmlformats.org/officeDocument/2006/relationships/oleObject" Target="../embeddings/oleObject52.bin"/><Relationship Id="rId4" Type="http://schemas.openxmlformats.org/officeDocument/2006/relationships/image" Target="../media/image63.emf"/><Relationship Id="rId3" Type="http://schemas.openxmlformats.org/officeDocument/2006/relationships/oleObject" Target="../embeddings/oleObject51.bin"/><Relationship Id="rId2" Type="http://schemas.openxmlformats.org/officeDocument/2006/relationships/image" Target="../media/image62.emf"/><Relationship Id="rId13" Type="http://schemas.openxmlformats.org/officeDocument/2006/relationships/vmlDrawing" Target="../drawings/vmlDrawing14.vml"/><Relationship Id="rId12" Type="http://schemas.openxmlformats.org/officeDocument/2006/relationships/slideLayout" Target="../slideLayouts/slideLayout7.xml"/><Relationship Id="rId11" Type="http://schemas.openxmlformats.org/officeDocument/2006/relationships/image" Target="../media/image9.png"/><Relationship Id="rId10" Type="http://schemas.openxmlformats.org/officeDocument/2006/relationships/image" Target="../media/image66.emf"/><Relationship Id="rId1" Type="http://schemas.openxmlformats.org/officeDocument/2006/relationships/oleObject" Target="../embeddings/oleObject50.bin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7.jpeg"/><Relationship Id="rId1" Type="http://schemas.openxmlformats.org/officeDocument/2006/relationships/image" Target="../media/image9.png"/></Relationships>
</file>

<file path=ppt/slides/_rels/slide32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5.v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9.png"/><Relationship Id="rId2" Type="http://schemas.openxmlformats.org/officeDocument/2006/relationships/image" Target="../media/image68.emf"/><Relationship Id="rId1" Type="http://schemas.openxmlformats.org/officeDocument/2006/relationships/oleObject" Target="../embeddings/oleObject55.bin"/></Relationships>
</file>

<file path=ppt/slides/_rels/slide3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9.bin"/><Relationship Id="rId8" Type="http://schemas.openxmlformats.org/officeDocument/2006/relationships/image" Target="../media/image71.emf"/><Relationship Id="rId7" Type="http://schemas.openxmlformats.org/officeDocument/2006/relationships/oleObject" Target="../embeddings/oleObject58.bin"/><Relationship Id="rId6" Type="http://schemas.openxmlformats.org/officeDocument/2006/relationships/image" Target="../media/image70.emf"/><Relationship Id="rId5" Type="http://schemas.openxmlformats.org/officeDocument/2006/relationships/oleObject" Target="../embeddings/oleObject57.bin"/><Relationship Id="rId4" Type="http://schemas.openxmlformats.org/officeDocument/2006/relationships/image" Target="../media/image9.png"/><Relationship Id="rId3" Type="http://schemas.openxmlformats.org/officeDocument/2006/relationships/image" Target="../media/image14.jpeg"/><Relationship Id="rId2" Type="http://schemas.openxmlformats.org/officeDocument/2006/relationships/image" Target="../media/image69.emf"/><Relationship Id="rId14" Type="http://schemas.openxmlformats.org/officeDocument/2006/relationships/vmlDrawing" Target="../drawings/vmlDrawing16.vml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73.emf"/><Relationship Id="rId11" Type="http://schemas.openxmlformats.org/officeDocument/2006/relationships/oleObject" Target="../embeddings/oleObject60.bin"/><Relationship Id="rId10" Type="http://schemas.openxmlformats.org/officeDocument/2006/relationships/image" Target="../media/image72.emf"/><Relationship Id="rId1" Type="http://schemas.openxmlformats.org/officeDocument/2006/relationships/oleObject" Target="../embeddings/oleObject56.bin"/></Relationships>
</file>

<file path=ppt/slides/_rels/slide34.xml.rels><?xml version="1.0" encoding="UTF-8" standalone="yes"?>
<Relationships xmlns="http://schemas.openxmlformats.org/package/2006/relationships"><Relationship Id="rId9" Type="http://schemas.openxmlformats.org/officeDocument/2006/relationships/image" Target="../media/image77.emf"/><Relationship Id="rId8" Type="http://schemas.openxmlformats.org/officeDocument/2006/relationships/oleObject" Target="../embeddings/oleObject64.bin"/><Relationship Id="rId7" Type="http://schemas.openxmlformats.org/officeDocument/2006/relationships/image" Target="../media/image9.png"/><Relationship Id="rId6" Type="http://schemas.openxmlformats.org/officeDocument/2006/relationships/image" Target="../media/image76.emf"/><Relationship Id="rId5" Type="http://schemas.openxmlformats.org/officeDocument/2006/relationships/oleObject" Target="../embeddings/oleObject63.bin"/><Relationship Id="rId4" Type="http://schemas.openxmlformats.org/officeDocument/2006/relationships/image" Target="../media/image75.emf"/><Relationship Id="rId3" Type="http://schemas.openxmlformats.org/officeDocument/2006/relationships/oleObject" Target="../embeddings/oleObject62.bin"/><Relationship Id="rId2" Type="http://schemas.openxmlformats.org/officeDocument/2006/relationships/image" Target="../media/image74.emf"/><Relationship Id="rId13" Type="http://schemas.openxmlformats.org/officeDocument/2006/relationships/vmlDrawing" Target="../drawings/vmlDrawing17.vml"/><Relationship Id="rId12" Type="http://schemas.openxmlformats.org/officeDocument/2006/relationships/slideLayout" Target="../slideLayouts/slideLayout7.xml"/><Relationship Id="rId11" Type="http://schemas.openxmlformats.org/officeDocument/2006/relationships/image" Target="../media/image78.emf"/><Relationship Id="rId10" Type="http://schemas.openxmlformats.org/officeDocument/2006/relationships/oleObject" Target="../embeddings/oleObject65.bin"/><Relationship Id="rId1" Type="http://schemas.openxmlformats.org/officeDocument/2006/relationships/oleObject" Target="../embeddings/oleObject61.bin"/></Relationships>
</file>

<file path=ppt/slides/_rels/slide3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70.bin"/><Relationship Id="rId8" Type="http://schemas.openxmlformats.org/officeDocument/2006/relationships/image" Target="../media/image82.emf"/><Relationship Id="rId7" Type="http://schemas.openxmlformats.org/officeDocument/2006/relationships/oleObject" Target="../embeddings/oleObject69.bin"/><Relationship Id="rId6" Type="http://schemas.openxmlformats.org/officeDocument/2006/relationships/image" Target="../media/image81.emf"/><Relationship Id="rId5" Type="http://schemas.openxmlformats.org/officeDocument/2006/relationships/oleObject" Target="../embeddings/oleObject68.bin"/><Relationship Id="rId4" Type="http://schemas.openxmlformats.org/officeDocument/2006/relationships/image" Target="../media/image80.emf"/><Relationship Id="rId3" Type="http://schemas.openxmlformats.org/officeDocument/2006/relationships/oleObject" Target="../embeddings/oleObject67.bin"/><Relationship Id="rId2" Type="http://schemas.openxmlformats.org/officeDocument/2006/relationships/image" Target="../media/image79.emf"/><Relationship Id="rId17" Type="http://schemas.openxmlformats.org/officeDocument/2006/relationships/vmlDrawing" Target="../drawings/vmlDrawing18.vml"/><Relationship Id="rId16" Type="http://schemas.openxmlformats.org/officeDocument/2006/relationships/slideLayout" Target="../slideLayouts/slideLayout7.xml"/><Relationship Id="rId15" Type="http://schemas.openxmlformats.org/officeDocument/2006/relationships/image" Target="../media/image85.emf"/><Relationship Id="rId14" Type="http://schemas.openxmlformats.org/officeDocument/2006/relationships/oleObject" Target="../embeddings/oleObject72.bin"/><Relationship Id="rId13" Type="http://schemas.openxmlformats.org/officeDocument/2006/relationships/image" Target="../media/image84.emf"/><Relationship Id="rId12" Type="http://schemas.openxmlformats.org/officeDocument/2006/relationships/oleObject" Target="../embeddings/oleObject71.bin"/><Relationship Id="rId11" Type="http://schemas.openxmlformats.org/officeDocument/2006/relationships/image" Target="../media/image9.png"/><Relationship Id="rId10" Type="http://schemas.openxmlformats.org/officeDocument/2006/relationships/image" Target="../media/image83.emf"/><Relationship Id="rId1" Type="http://schemas.openxmlformats.org/officeDocument/2006/relationships/oleObject" Target="../embeddings/oleObject66.bin"/></Relationships>
</file>

<file path=ppt/slides/_rels/slide36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9.v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9.png"/><Relationship Id="rId2" Type="http://schemas.openxmlformats.org/officeDocument/2006/relationships/image" Target="../media/image86.emf"/><Relationship Id="rId1" Type="http://schemas.openxmlformats.org/officeDocument/2006/relationships/oleObject" Target="../embeddings/oleObject73.bin"/></Relationships>
</file>

<file path=ppt/slides/_rels/slide3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77.bin"/><Relationship Id="rId8" Type="http://schemas.openxmlformats.org/officeDocument/2006/relationships/image" Target="../media/image89.emf"/><Relationship Id="rId7" Type="http://schemas.openxmlformats.org/officeDocument/2006/relationships/oleObject" Target="../embeddings/oleObject76.bin"/><Relationship Id="rId6" Type="http://schemas.openxmlformats.org/officeDocument/2006/relationships/image" Target="../media/image88.emf"/><Relationship Id="rId5" Type="http://schemas.openxmlformats.org/officeDocument/2006/relationships/oleObject" Target="../embeddings/oleObject75.bin"/><Relationship Id="rId4" Type="http://schemas.openxmlformats.org/officeDocument/2006/relationships/image" Target="../media/image9.png"/><Relationship Id="rId3" Type="http://schemas.openxmlformats.org/officeDocument/2006/relationships/image" Target="../media/image14.jpeg"/><Relationship Id="rId2" Type="http://schemas.openxmlformats.org/officeDocument/2006/relationships/image" Target="../media/image87.emf"/><Relationship Id="rId14" Type="http://schemas.openxmlformats.org/officeDocument/2006/relationships/vmlDrawing" Target="../drawings/vmlDrawing20.vml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91.emf"/><Relationship Id="rId11" Type="http://schemas.openxmlformats.org/officeDocument/2006/relationships/oleObject" Target="../embeddings/oleObject78.bin"/><Relationship Id="rId10" Type="http://schemas.openxmlformats.org/officeDocument/2006/relationships/image" Target="../media/image90.emf"/><Relationship Id="rId1" Type="http://schemas.openxmlformats.org/officeDocument/2006/relationships/oleObject" Target="../embeddings/oleObject74.bin"/></Relationships>
</file>

<file path=ppt/slides/_rels/slide38.xml.rels><?xml version="1.0" encoding="UTF-8" standalone="yes"?>
<Relationships xmlns="http://schemas.openxmlformats.org/package/2006/relationships"><Relationship Id="rId9" Type="http://schemas.openxmlformats.org/officeDocument/2006/relationships/image" Target="../media/image95.emf"/><Relationship Id="rId8" Type="http://schemas.openxmlformats.org/officeDocument/2006/relationships/oleObject" Target="../embeddings/oleObject82.bin"/><Relationship Id="rId7" Type="http://schemas.openxmlformats.org/officeDocument/2006/relationships/image" Target="../media/image94.emf"/><Relationship Id="rId6" Type="http://schemas.openxmlformats.org/officeDocument/2006/relationships/oleObject" Target="../embeddings/oleObject81.bin"/><Relationship Id="rId5" Type="http://schemas.openxmlformats.org/officeDocument/2006/relationships/image" Target="../media/image93.emf"/><Relationship Id="rId4" Type="http://schemas.openxmlformats.org/officeDocument/2006/relationships/oleObject" Target="../embeddings/oleObject80.bin"/><Relationship Id="rId3" Type="http://schemas.openxmlformats.org/officeDocument/2006/relationships/image" Target="../media/image92.emf"/><Relationship Id="rId2" Type="http://schemas.openxmlformats.org/officeDocument/2006/relationships/oleObject" Target="../embeddings/oleObject79.bin"/><Relationship Id="rId13" Type="http://schemas.openxmlformats.org/officeDocument/2006/relationships/vmlDrawing" Target="../drawings/vmlDrawing21.vml"/><Relationship Id="rId12" Type="http://schemas.openxmlformats.org/officeDocument/2006/relationships/slideLayout" Target="../slideLayouts/slideLayout7.xml"/><Relationship Id="rId11" Type="http://schemas.openxmlformats.org/officeDocument/2006/relationships/image" Target="../media/image96.emf"/><Relationship Id="rId10" Type="http://schemas.openxmlformats.org/officeDocument/2006/relationships/oleObject" Target="../embeddings/oleObject83.bin"/><Relationship Id="rId1" Type="http://schemas.openxmlformats.org/officeDocument/2006/relationships/image" Target="../media/image9.png"/></Relationships>
</file>

<file path=ppt/slides/_rels/slide39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100.emf"/><Relationship Id="rId7" Type="http://schemas.openxmlformats.org/officeDocument/2006/relationships/oleObject" Target="../embeddings/oleObject87.bin"/><Relationship Id="rId6" Type="http://schemas.openxmlformats.org/officeDocument/2006/relationships/image" Target="../media/image99.emf"/><Relationship Id="rId5" Type="http://schemas.openxmlformats.org/officeDocument/2006/relationships/oleObject" Target="../embeddings/oleObject86.bin"/><Relationship Id="rId4" Type="http://schemas.openxmlformats.org/officeDocument/2006/relationships/image" Target="../media/image98.emf"/><Relationship Id="rId3" Type="http://schemas.openxmlformats.org/officeDocument/2006/relationships/oleObject" Target="../embeddings/oleObject85.bin"/><Relationship Id="rId2" Type="http://schemas.openxmlformats.org/officeDocument/2006/relationships/image" Target="../media/image97.emf"/><Relationship Id="rId11" Type="http://schemas.openxmlformats.org/officeDocument/2006/relationships/vmlDrawing" Target="../drawings/vmlDrawing22.vml"/><Relationship Id="rId10" Type="http://schemas.openxmlformats.org/officeDocument/2006/relationships/slideLayout" Target="../slideLayouts/slideLayout7.xml"/><Relationship Id="rId1" Type="http://schemas.openxmlformats.org/officeDocument/2006/relationships/oleObject" Target="../embeddings/oleObject84.bin"/></Relationships>
</file>

<file path=ppt/slides/_rels/slide4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9.png"/><Relationship Id="rId2" Type="http://schemas.openxmlformats.org/officeDocument/2006/relationships/image" Target="../media/image102.jpeg"/><Relationship Id="rId1" Type="http://schemas.openxmlformats.org/officeDocument/2006/relationships/image" Target="../media/image101.jpe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1" Type="http://schemas.openxmlformats.org/officeDocument/2006/relationships/image" Target="../media/image103.jpeg"/></Relationships>
</file>

<file path=ppt/slides/_rels/slide4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9.png"/><Relationship Id="rId2" Type="http://schemas.openxmlformats.org/officeDocument/2006/relationships/image" Target="../media/image105.jpeg"/><Relationship Id="rId1" Type="http://schemas.openxmlformats.org/officeDocument/2006/relationships/image" Target="../media/image104.jpeg"/></Relationships>
</file>

<file path=ppt/slides/_rels/slide4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9.png"/><Relationship Id="rId2" Type="http://schemas.openxmlformats.org/officeDocument/2006/relationships/image" Target="../media/image107.jpeg"/><Relationship Id="rId1" Type="http://schemas.openxmlformats.org/officeDocument/2006/relationships/image" Target="../media/image106.jpeg"/></Relationships>
</file>

<file path=ppt/slides/_rels/slide4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111.jpeg"/><Relationship Id="rId3" Type="http://schemas.openxmlformats.org/officeDocument/2006/relationships/image" Target="../media/image110.jpeg"/><Relationship Id="rId2" Type="http://schemas.openxmlformats.org/officeDocument/2006/relationships/image" Target="../media/image109.jpeg"/><Relationship Id="rId1" Type="http://schemas.openxmlformats.org/officeDocument/2006/relationships/image" Target="../media/image108.jpeg"/></Relationships>
</file>

<file path=ppt/slides/_rels/slide4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9.png"/><Relationship Id="rId2" Type="http://schemas.openxmlformats.org/officeDocument/2006/relationships/image" Target="../media/image112.jpeg"/><Relationship Id="rId1" Type="http://schemas.openxmlformats.org/officeDocument/2006/relationships/hyperlink" Target="http://www.86trade.net/productshow.asp?id=8272" TargetMode="External"/></Relationships>
</file>

<file path=ppt/slides/_rels/slide4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9.png"/><Relationship Id="rId2" Type="http://schemas.openxmlformats.org/officeDocument/2006/relationships/image" Target="../media/image113.jpeg"/><Relationship Id="rId1" Type="http://schemas.openxmlformats.org/officeDocument/2006/relationships/hyperlink" Target="http://www.nmg.xinhuanet.com/2005-08/05/content_4807215.htm" TargetMode="Externa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1" Type="http://schemas.openxmlformats.org/officeDocument/2006/relationships/image" Target="../media/image14.jpeg"/></Relationships>
</file>

<file path=ppt/slides/_rels/slide48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23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9.png"/><Relationship Id="rId3" Type="http://schemas.openxmlformats.org/officeDocument/2006/relationships/image" Target="../media/image114.emf"/><Relationship Id="rId2" Type="http://schemas.openxmlformats.org/officeDocument/2006/relationships/oleObject" Target="../embeddings/oleObject88.bin"/><Relationship Id="rId1" Type="http://schemas.openxmlformats.org/officeDocument/2006/relationships/image" Target="../media/image14.jpeg"/></Relationships>
</file>

<file path=ppt/slides/_rels/slide49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24.v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116.emf"/><Relationship Id="rId3" Type="http://schemas.openxmlformats.org/officeDocument/2006/relationships/oleObject" Target="../embeddings/oleObject90.bin"/><Relationship Id="rId2" Type="http://schemas.openxmlformats.org/officeDocument/2006/relationships/image" Target="../media/image115.emf"/><Relationship Id="rId1" Type="http://schemas.openxmlformats.org/officeDocument/2006/relationships/oleObject" Target="../embeddings/oleObject89.bin"/></Relationships>
</file>

<file path=ppt/slides/_rels/slide50.xml.rels><?xml version="1.0" encoding="UTF-8" standalone="yes"?>
<Relationships xmlns="http://schemas.openxmlformats.org/package/2006/relationships"><Relationship Id="rId9" Type="http://schemas.openxmlformats.org/officeDocument/2006/relationships/image" Target="../media/image14.jpeg"/><Relationship Id="rId8" Type="http://schemas.openxmlformats.org/officeDocument/2006/relationships/image" Target="../media/image120.emf"/><Relationship Id="rId7" Type="http://schemas.openxmlformats.org/officeDocument/2006/relationships/oleObject" Target="../embeddings/oleObject94.bin"/><Relationship Id="rId6" Type="http://schemas.openxmlformats.org/officeDocument/2006/relationships/image" Target="../media/image119.emf"/><Relationship Id="rId5" Type="http://schemas.openxmlformats.org/officeDocument/2006/relationships/oleObject" Target="../embeddings/oleObject93.bin"/><Relationship Id="rId4" Type="http://schemas.openxmlformats.org/officeDocument/2006/relationships/image" Target="../media/image118.emf"/><Relationship Id="rId3" Type="http://schemas.openxmlformats.org/officeDocument/2006/relationships/oleObject" Target="../embeddings/oleObject92.bin"/><Relationship Id="rId2" Type="http://schemas.openxmlformats.org/officeDocument/2006/relationships/image" Target="../media/image117.emf"/><Relationship Id="rId12" Type="http://schemas.openxmlformats.org/officeDocument/2006/relationships/vmlDrawing" Target="../drawings/vmlDrawing25.vml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9.png"/><Relationship Id="rId1" Type="http://schemas.openxmlformats.org/officeDocument/2006/relationships/oleObject" Target="../embeddings/oleObject91.bin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52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26.v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122.emf"/><Relationship Id="rId3" Type="http://schemas.openxmlformats.org/officeDocument/2006/relationships/oleObject" Target="../embeddings/oleObject96.bin"/><Relationship Id="rId2" Type="http://schemas.openxmlformats.org/officeDocument/2006/relationships/image" Target="../media/image121.emf"/><Relationship Id="rId1" Type="http://schemas.openxmlformats.org/officeDocument/2006/relationships/oleObject" Target="../embeddings/oleObject95.bin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1" Type="http://schemas.openxmlformats.org/officeDocument/2006/relationships/image" Target="../media/image9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1" Type="http://schemas.openxmlformats.org/officeDocument/2006/relationships/image" Target="../media/image9.png"/></Relationships>
</file>

<file path=ppt/slides/_rels/slide5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6.emf"/><Relationship Id="rId8" Type="http://schemas.openxmlformats.org/officeDocument/2006/relationships/oleObject" Target="../embeddings/oleObject100.bin"/><Relationship Id="rId7" Type="http://schemas.openxmlformats.org/officeDocument/2006/relationships/image" Target="../media/image125.emf"/><Relationship Id="rId6" Type="http://schemas.openxmlformats.org/officeDocument/2006/relationships/oleObject" Target="../embeddings/oleObject99.bin"/><Relationship Id="rId5" Type="http://schemas.openxmlformats.org/officeDocument/2006/relationships/image" Target="../media/image14.jpeg"/><Relationship Id="rId4" Type="http://schemas.openxmlformats.org/officeDocument/2006/relationships/image" Target="../media/image124.emf"/><Relationship Id="rId3" Type="http://schemas.openxmlformats.org/officeDocument/2006/relationships/oleObject" Target="../embeddings/oleObject98.bin"/><Relationship Id="rId22" Type="http://schemas.openxmlformats.org/officeDocument/2006/relationships/vmlDrawing" Target="../drawings/vmlDrawing27.vml"/><Relationship Id="rId21" Type="http://schemas.openxmlformats.org/officeDocument/2006/relationships/slideLayout" Target="../slideLayouts/slideLayout7.xml"/><Relationship Id="rId20" Type="http://schemas.openxmlformats.org/officeDocument/2006/relationships/image" Target="../media/image9.png"/><Relationship Id="rId2" Type="http://schemas.openxmlformats.org/officeDocument/2006/relationships/image" Target="../media/image123.emf"/><Relationship Id="rId19" Type="http://schemas.openxmlformats.org/officeDocument/2006/relationships/image" Target="../media/image131.emf"/><Relationship Id="rId18" Type="http://schemas.openxmlformats.org/officeDocument/2006/relationships/oleObject" Target="../embeddings/oleObject105.bin"/><Relationship Id="rId17" Type="http://schemas.openxmlformats.org/officeDocument/2006/relationships/image" Target="../media/image130.emf"/><Relationship Id="rId16" Type="http://schemas.openxmlformats.org/officeDocument/2006/relationships/oleObject" Target="../embeddings/oleObject104.bin"/><Relationship Id="rId15" Type="http://schemas.openxmlformats.org/officeDocument/2006/relationships/image" Target="../media/image129.emf"/><Relationship Id="rId14" Type="http://schemas.openxmlformats.org/officeDocument/2006/relationships/oleObject" Target="../embeddings/oleObject103.bin"/><Relationship Id="rId13" Type="http://schemas.openxmlformats.org/officeDocument/2006/relationships/image" Target="../media/image128.emf"/><Relationship Id="rId12" Type="http://schemas.openxmlformats.org/officeDocument/2006/relationships/oleObject" Target="../embeddings/oleObject102.bin"/><Relationship Id="rId11" Type="http://schemas.openxmlformats.org/officeDocument/2006/relationships/image" Target="../media/image127.emf"/><Relationship Id="rId10" Type="http://schemas.openxmlformats.org/officeDocument/2006/relationships/oleObject" Target="../embeddings/oleObject101.bin"/><Relationship Id="rId1" Type="http://schemas.openxmlformats.org/officeDocument/2006/relationships/oleObject" Target="../embeddings/oleObject97.bin"/></Relationships>
</file>

<file path=ppt/slides/_rels/slide57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135.emf"/><Relationship Id="rId7" Type="http://schemas.openxmlformats.org/officeDocument/2006/relationships/oleObject" Target="../embeddings/oleObject109.bin"/><Relationship Id="rId6" Type="http://schemas.openxmlformats.org/officeDocument/2006/relationships/image" Target="../media/image134.emf"/><Relationship Id="rId5" Type="http://schemas.openxmlformats.org/officeDocument/2006/relationships/oleObject" Target="../embeddings/oleObject108.bin"/><Relationship Id="rId4" Type="http://schemas.openxmlformats.org/officeDocument/2006/relationships/image" Target="../media/image133.emf"/><Relationship Id="rId3" Type="http://schemas.openxmlformats.org/officeDocument/2006/relationships/oleObject" Target="../embeddings/oleObject107.bin"/><Relationship Id="rId24" Type="http://schemas.openxmlformats.org/officeDocument/2006/relationships/vmlDrawing" Target="../drawings/vmlDrawing28.vml"/><Relationship Id="rId23" Type="http://schemas.openxmlformats.org/officeDocument/2006/relationships/slideLayout" Target="../slideLayouts/slideLayout7.xml"/><Relationship Id="rId22" Type="http://schemas.openxmlformats.org/officeDocument/2006/relationships/image" Target="../media/image15.png"/><Relationship Id="rId21" Type="http://schemas.openxmlformats.org/officeDocument/2006/relationships/image" Target="../media/image141.emf"/><Relationship Id="rId20" Type="http://schemas.openxmlformats.org/officeDocument/2006/relationships/oleObject" Target="../embeddings/oleObject115.bin"/><Relationship Id="rId2" Type="http://schemas.openxmlformats.org/officeDocument/2006/relationships/image" Target="../media/image132.emf"/><Relationship Id="rId19" Type="http://schemas.openxmlformats.org/officeDocument/2006/relationships/image" Target="../media/image140.emf"/><Relationship Id="rId18" Type="http://schemas.openxmlformats.org/officeDocument/2006/relationships/oleObject" Target="../embeddings/oleObject114.bin"/><Relationship Id="rId17" Type="http://schemas.openxmlformats.org/officeDocument/2006/relationships/image" Target="../media/image139.emf"/><Relationship Id="rId16" Type="http://schemas.openxmlformats.org/officeDocument/2006/relationships/oleObject" Target="../embeddings/oleObject113.bin"/><Relationship Id="rId15" Type="http://schemas.openxmlformats.org/officeDocument/2006/relationships/image" Target="../media/image138.emf"/><Relationship Id="rId14" Type="http://schemas.openxmlformats.org/officeDocument/2006/relationships/oleObject" Target="../embeddings/oleObject112.bin"/><Relationship Id="rId13" Type="http://schemas.openxmlformats.org/officeDocument/2006/relationships/image" Target="../media/image137.emf"/><Relationship Id="rId12" Type="http://schemas.openxmlformats.org/officeDocument/2006/relationships/oleObject" Target="../embeddings/oleObject111.bin"/><Relationship Id="rId11" Type="http://schemas.openxmlformats.org/officeDocument/2006/relationships/image" Target="../media/image136.emf"/><Relationship Id="rId10" Type="http://schemas.openxmlformats.org/officeDocument/2006/relationships/oleObject" Target="../embeddings/oleObject110.bin"/><Relationship Id="rId1" Type="http://schemas.openxmlformats.org/officeDocument/2006/relationships/oleObject" Target="../embeddings/oleObject106.bin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1" Type="http://schemas.openxmlformats.org/officeDocument/2006/relationships/image" Target="../media/image9.png"/></Relationships>
</file>

<file path=ppt/slides/_rels/slide59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29.v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143.emf"/><Relationship Id="rId3" Type="http://schemas.openxmlformats.org/officeDocument/2006/relationships/oleObject" Target="../embeddings/oleObject117.bin"/><Relationship Id="rId2" Type="http://schemas.openxmlformats.org/officeDocument/2006/relationships/image" Target="../media/image142.emf"/><Relationship Id="rId1" Type="http://schemas.openxmlformats.org/officeDocument/2006/relationships/oleObject" Target="../embeddings/oleObject116.bin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1" Type="http://schemas.openxmlformats.org/officeDocument/2006/relationships/image" Target="../media/image9.png"/></Relationships>
</file>

<file path=ppt/slides/_rels/slide61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30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5.png"/><Relationship Id="rId3" Type="http://schemas.openxmlformats.org/officeDocument/2006/relationships/image" Target="../media/image9.png"/><Relationship Id="rId2" Type="http://schemas.openxmlformats.org/officeDocument/2006/relationships/image" Target="../media/image144.emf"/><Relationship Id="rId1" Type="http://schemas.openxmlformats.org/officeDocument/2006/relationships/oleObject" Target="../embeddings/oleObject118.bin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1" Type="http://schemas.openxmlformats.org/officeDocument/2006/relationships/image" Target="../media/image9.png"/></Relationships>
</file>

<file path=ppt/slides/_rels/slide6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48.emf"/><Relationship Id="rId8" Type="http://schemas.openxmlformats.org/officeDocument/2006/relationships/oleObject" Target="../embeddings/oleObject122.bin"/><Relationship Id="rId7" Type="http://schemas.openxmlformats.org/officeDocument/2006/relationships/image" Target="../media/image147.emf"/><Relationship Id="rId6" Type="http://schemas.openxmlformats.org/officeDocument/2006/relationships/oleObject" Target="../embeddings/oleObject121.bin"/><Relationship Id="rId5" Type="http://schemas.openxmlformats.org/officeDocument/2006/relationships/image" Target="../media/image9.png"/><Relationship Id="rId4" Type="http://schemas.openxmlformats.org/officeDocument/2006/relationships/image" Target="../media/image146.emf"/><Relationship Id="rId33" Type="http://schemas.openxmlformats.org/officeDocument/2006/relationships/vmlDrawing" Target="../drawings/vmlDrawing31.vml"/><Relationship Id="rId32" Type="http://schemas.openxmlformats.org/officeDocument/2006/relationships/slideLayout" Target="../slideLayouts/slideLayout7.xml"/><Relationship Id="rId31" Type="http://schemas.openxmlformats.org/officeDocument/2006/relationships/image" Target="../media/image159.emf"/><Relationship Id="rId30" Type="http://schemas.openxmlformats.org/officeDocument/2006/relationships/oleObject" Target="../embeddings/oleObject133.bin"/><Relationship Id="rId3" Type="http://schemas.openxmlformats.org/officeDocument/2006/relationships/oleObject" Target="../embeddings/oleObject120.bin"/><Relationship Id="rId29" Type="http://schemas.openxmlformats.org/officeDocument/2006/relationships/image" Target="../media/image158.emf"/><Relationship Id="rId28" Type="http://schemas.openxmlformats.org/officeDocument/2006/relationships/oleObject" Target="../embeddings/oleObject132.bin"/><Relationship Id="rId27" Type="http://schemas.openxmlformats.org/officeDocument/2006/relationships/image" Target="../media/image157.emf"/><Relationship Id="rId26" Type="http://schemas.openxmlformats.org/officeDocument/2006/relationships/oleObject" Target="../embeddings/oleObject131.bin"/><Relationship Id="rId25" Type="http://schemas.openxmlformats.org/officeDocument/2006/relationships/image" Target="../media/image156.emf"/><Relationship Id="rId24" Type="http://schemas.openxmlformats.org/officeDocument/2006/relationships/oleObject" Target="../embeddings/oleObject130.bin"/><Relationship Id="rId23" Type="http://schemas.openxmlformats.org/officeDocument/2006/relationships/image" Target="../media/image155.emf"/><Relationship Id="rId22" Type="http://schemas.openxmlformats.org/officeDocument/2006/relationships/oleObject" Target="../embeddings/oleObject129.bin"/><Relationship Id="rId21" Type="http://schemas.openxmlformats.org/officeDocument/2006/relationships/image" Target="../media/image154.emf"/><Relationship Id="rId20" Type="http://schemas.openxmlformats.org/officeDocument/2006/relationships/oleObject" Target="../embeddings/oleObject128.bin"/><Relationship Id="rId2" Type="http://schemas.openxmlformats.org/officeDocument/2006/relationships/image" Target="../media/image145.emf"/><Relationship Id="rId19" Type="http://schemas.openxmlformats.org/officeDocument/2006/relationships/image" Target="../media/image153.emf"/><Relationship Id="rId18" Type="http://schemas.openxmlformats.org/officeDocument/2006/relationships/oleObject" Target="../embeddings/oleObject127.bin"/><Relationship Id="rId17" Type="http://schemas.openxmlformats.org/officeDocument/2006/relationships/image" Target="../media/image152.emf"/><Relationship Id="rId16" Type="http://schemas.openxmlformats.org/officeDocument/2006/relationships/oleObject" Target="../embeddings/oleObject126.bin"/><Relationship Id="rId15" Type="http://schemas.openxmlformats.org/officeDocument/2006/relationships/image" Target="../media/image151.emf"/><Relationship Id="rId14" Type="http://schemas.openxmlformats.org/officeDocument/2006/relationships/oleObject" Target="../embeddings/oleObject125.bin"/><Relationship Id="rId13" Type="http://schemas.openxmlformats.org/officeDocument/2006/relationships/image" Target="../media/image150.emf"/><Relationship Id="rId12" Type="http://schemas.openxmlformats.org/officeDocument/2006/relationships/oleObject" Target="../embeddings/oleObject124.bin"/><Relationship Id="rId11" Type="http://schemas.openxmlformats.org/officeDocument/2006/relationships/image" Target="../media/image149.emf"/><Relationship Id="rId10" Type="http://schemas.openxmlformats.org/officeDocument/2006/relationships/oleObject" Target="../embeddings/oleObject123.bin"/><Relationship Id="rId1" Type="http://schemas.openxmlformats.org/officeDocument/2006/relationships/oleObject" Target="../embeddings/oleObject119.bin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32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9.png"/><Relationship Id="rId4" Type="http://schemas.openxmlformats.org/officeDocument/2006/relationships/image" Target="../media/image161.emf"/><Relationship Id="rId3" Type="http://schemas.openxmlformats.org/officeDocument/2006/relationships/oleObject" Target="../embeddings/oleObject135.bin"/><Relationship Id="rId2" Type="http://schemas.openxmlformats.org/officeDocument/2006/relationships/image" Target="../media/image160.emf"/><Relationship Id="rId1" Type="http://schemas.openxmlformats.org/officeDocument/2006/relationships/oleObject" Target="../embeddings/oleObject134.bin"/></Relationships>
</file>

<file path=ppt/slides/_rels/slide6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65.emf"/><Relationship Id="rId8" Type="http://schemas.openxmlformats.org/officeDocument/2006/relationships/oleObject" Target="../embeddings/oleObject139.bin"/><Relationship Id="rId7" Type="http://schemas.openxmlformats.org/officeDocument/2006/relationships/image" Target="../media/image9.png"/><Relationship Id="rId6" Type="http://schemas.openxmlformats.org/officeDocument/2006/relationships/image" Target="../media/image164.emf"/><Relationship Id="rId5" Type="http://schemas.openxmlformats.org/officeDocument/2006/relationships/oleObject" Target="../embeddings/oleObject138.bin"/><Relationship Id="rId4" Type="http://schemas.openxmlformats.org/officeDocument/2006/relationships/image" Target="../media/image163.emf"/><Relationship Id="rId3" Type="http://schemas.openxmlformats.org/officeDocument/2006/relationships/oleObject" Target="../embeddings/oleObject137.bin"/><Relationship Id="rId2" Type="http://schemas.openxmlformats.org/officeDocument/2006/relationships/image" Target="../media/image162.emf"/><Relationship Id="rId16" Type="http://schemas.openxmlformats.org/officeDocument/2006/relationships/notesSlide" Target="../notesSlides/notesSlide1.xml"/><Relationship Id="rId15" Type="http://schemas.openxmlformats.org/officeDocument/2006/relationships/vmlDrawing" Target="../drawings/vmlDrawing33.vml"/><Relationship Id="rId14" Type="http://schemas.openxmlformats.org/officeDocument/2006/relationships/slideLayout" Target="../slideLayouts/slideLayout7.xml"/><Relationship Id="rId13" Type="http://schemas.openxmlformats.org/officeDocument/2006/relationships/image" Target="../media/image167.emf"/><Relationship Id="rId12" Type="http://schemas.openxmlformats.org/officeDocument/2006/relationships/oleObject" Target="../embeddings/oleObject141.bin"/><Relationship Id="rId11" Type="http://schemas.openxmlformats.org/officeDocument/2006/relationships/image" Target="../media/image166.emf"/><Relationship Id="rId10" Type="http://schemas.openxmlformats.org/officeDocument/2006/relationships/oleObject" Target="../embeddings/oleObject140.bin"/><Relationship Id="rId1" Type="http://schemas.openxmlformats.org/officeDocument/2006/relationships/oleObject" Target="../embeddings/oleObject136.bin"/></Relationships>
</file>

<file path=ppt/slides/_rels/slide67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34.v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169.emf"/><Relationship Id="rId3" Type="http://schemas.openxmlformats.org/officeDocument/2006/relationships/oleObject" Target="../embeddings/oleObject143.bin"/><Relationship Id="rId2" Type="http://schemas.openxmlformats.org/officeDocument/2006/relationships/image" Target="../media/image168.emf"/><Relationship Id="rId1" Type="http://schemas.openxmlformats.org/officeDocument/2006/relationships/oleObject" Target="../embeddings/oleObject142.bin"/></Relationships>
</file>

<file path=ppt/slides/_rels/slide6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48.bin"/><Relationship Id="rId8" Type="http://schemas.openxmlformats.org/officeDocument/2006/relationships/image" Target="../media/image173.emf"/><Relationship Id="rId7" Type="http://schemas.openxmlformats.org/officeDocument/2006/relationships/oleObject" Target="../embeddings/oleObject147.bin"/><Relationship Id="rId6" Type="http://schemas.openxmlformats.org/officeDocument/2006/relationships/image" Target="../media/image172.emf"/><Relationship Id="rId5" Type="http://schemas.openxmlformats.org/officeDocument/2006/relationships/oleObject" Target="../embeddings/oleObject146.bin"/><Relationship Id="rId4" Type="http://schemas.openxmlformats.org/officeDocument/2006/relationships/image" Target="../media/image171.emf"/><Relationship Id="rId3" Type="http://schemas.openxmlformats.org/officeDocument/2006/relationships/oleObject" Target="../embeddings/oleObject145.bin"/><Relationship Id="rId2" Type="http://schemas.openxmlformats.org/officeDocument/2006/relationships/image" Target="../media/image170.emf"/><Relationship Id="rId18" Type="http://schemas.openxmlformats.org/officeDocument/2006/relationships/vmlDrawing" Target="../drawings/vmlDrawing35.vml"/><Relationship Id="rId17" Type="http://schemas.openxmlformats.org/officeDocument/2006/relationships/slideLayout" Target="../slideLayouts/slideLayout7.xml"/><Relationship Id="rId16" Type="http://schemas.openxmlformats.org/officeDocument/2006/relationships/image" Target="../media/image9.png"/><Relationship Id="rId15" Type="http://schemas.openxmlformats.org/officeDocument/2006/relationships/image" Target="../media/image176.emf"/><Relationship Id="rId14" Type="http://schemas.openxmlformats.org/officeDocument/2006/relationships/oleObject" Target="../embeddings/oleObject151.bin"/><Relationship Id="rId13" Type="http://schemas.openxmlformats.org/officeDocument/2006/relationships/oleObject" Target="../embeddings/oleObject150.bin"/><Relationship Id="rId12" Type="http://schemas.openxmlformats.org/officeDocument/2006/relationships/image" Target="../media/image175.emf"/><Relationship Id="rId11" Type="http://schemas.openxmlformats.org/officeDocument/2006/relationships/oleObject" Target="../embeddings/oleObject149.bin"/><Relationship Id="rId10" Type="http://schemas.openxmlformats.org/officeDocument/2006/relationships/image" Target="../media/image174.emf"/><Relationship Id="rId1" Type="http://schemas.openxmlformats.org/officeDocument/2006/relationships/oleObject" Target="../embeddings/oleObject144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09956" name="Text Box 4"/>
          <p:cNvSpPr txBox="1"/>
          <p:nvPr/>
        </p:nvSpPr>
        <p:spPr>
          <a:xfrm>
            <a:off x="468313" y="517525"/>
            <a:ext cx="8496300" cy="823913"/>
          </a:xfrm>
          <a:prstGeom prst="rect">
            <a:avLst/>
          </a:prstGeom>
          <a:noFill/>
          <a:ln w="12700">
            <a:noFill/>
          </a:ln>
          <a:effectLst>
            <a:prstShdw prst="shdw17" dist="17961" dir="2699999">
              <a:srgbClr val="000099"/>
            </a:prstShdw>
          </a:effectLst>
        </p:spPr>
        <p:txBody>
          <a:bodyPr anchor="ctr" anchorCtr="0">
            <a:spAutoFit/>
          </a:bodyPr>
          <a:p>
            <a:pPr algn="ctr" eaLnBrk="0" hangingPunct="0">
              <a:buClrTx/>
              <a:buFontTx/>
              <a:buNone/>
            </a:pPr>
            <a:r>
              <a:rPr lang="zh-CN" altLang="en-US" sz="480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第</a:t>
            </a:r>
            <a:r>
              <a:rPr lang="en-US" altLang="zh-CN" sz="480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1</a:t>
            </a:r>
            <a:r>
              <a:rPr lang="zh-CN" altLang="en-US" sz="480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章  电路模型和电路定律</a:t>
            </a:r>
            <a:endParaRPr lang="zh-CN" altLang="en-US" sz="4800" dirty="0">
              <a:solidFill>
                <a:schemeClr val="tx1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grpSp>
        <p:nvGrpSpPr>
          <p:cNvPr id="509957" name="Group 5"/>
          <p:cNvGrpSpPr/>
          <p:nvPr/>
        </p:nvGrpSpPr>
        <p:grpSpPr>
          <a:xfrm>
            <a:off x="250825" y="2889250"/>
            <a:ext cx="4608513" cy="611188"/>
            <a:chOff x="158" y="1820"/>
            <a:chExt cx="2903" cy="385"/>
          </a:xfrm>
        </p:grpSpPr>
        <p:pic>
          <p:nvPicPr>
            <p:cNvPr id="24579" name="Picture 6" descr="GEL Rounded Rectangle aquamarine">
              <a:hlinkClick r:id="rId1" action="ppaction://hlinksldjump"/>
            </p:cNvPr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657" y="1820"/>
              <a:ext cx="2404" cy="385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4580" name="Text Box 7">
              <a:hlinkClick r:id="rId1" action="ppaction://hlinksldjump"/>
            </p:cNvPr>
            <p:cNvSpPr txBox="1"/>
            <p:nvPr/>
          </p:nvSpPr>
          <p:spPr>
            <a:xfrm>
              <a:off x="749" y="1842"/>
              <a:ext cx="2222" cy="30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600" dirty="0">
                  <a:solidFill>
                    <a:srgbClr val="CC00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电路和电路模型</a:t>
              </a:r>
              <a:endParaRPr lang="zh-CN" altLang="en-US" sz="2600" dirty="0">
                <a:solidFill>
                  <a:srgbClr val="CC0000"/>
                </a:solidFill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  <p:pic>
          <p:nvPicPr>
            <p:cNvPr id="24581" name="Picture 8" descr="GEL Rounded Rectangle aquamarine">
              <a:hlinkClick r:id="rId1" action="ppaction://hlinksldjump"/>
            </p:cNvPr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158" y="1820"/>
              <a:ext cx="572" cy="385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4582" name="Text Box 9">
              <a:hlinkClick r:id="rId1" action="ppaction://hlinksldjump"/>
            </p:cNvPr>
            <p:cNvSpPr txBox="1"/>
            <p:nvPr/>
          </p:nvSpPr>
          <p:spPr>
            <a:xfrm>
              <a:off x="242" y="1865"/>
              <a:ext cx="415" cy="30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600" dirty="0">
                  <a:solidFill>
                    <a:srgbClr val="CC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1.1</a:t>
              </a:r>
              <a:endParaRPr lang="en-US" altLang="zh-CN" sz="2600" dirty="0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grpSp>
        <p:nvGrpSpPr>
          <p:cNvPr id="509962" name="Group 10"/>
          <p:cNvGrpSpPr/>
          <p:nvPr/>
        </p:nvGrpSpPr>
        <p:grpSpPr>
          <a:xfrm>
            <a:off x="5148263" y="2889250"/>
            <a:ext cx="3817937" cy="611188"/>
            <a:chOff x="3243" y="1820"/>
            <a:chExt cx="2405" cy="385"/>
          </a:xfrm>
        </p:grpSpPr>
        <p:pic>
          <p:nvPicPr>
            <p:cNvPr id="24584" name="Picture 11" descr="GEL Rounded Rectangle aquamarine">
              <a:hlinkClick r:id="rId4" action="ppaction://hlinksldjump"/>
            </p:cNvPr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3742" y="1820"/>
              <a:ext cx="1906" cy="385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4585" name="Text Box 12">
              <a:hlinkClick r:id="rId4" action="ppaction://hlinksldjump"/>
            </p:cNvPr>
            <p:cNvSpPr txBox="1"/>
            <p:nvPr/>
          </p:nvSpPr>
          <p:spPr>
            <a:xfrm>
              <a:off x="3879" y="1865"/>
              <a:ext cx="1723" cy="30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600" dirty="0">
                  <a:solidFill>
                    <a:srgbClr val="CC00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电阻元件</a:t>
              </a:r>
              <a:endParaRPr lang="zh-CN" altLang="en-US" sz="2600" dirty="0">
                <a:solidFill>
                  <a:srgbClr val="CC0000"/>
                </a:solidFill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  <p:pic>
          <p:nvPicPr>
            <p:cNvPr id="24586" name="Picture 13" descr="GEL Rounded Rectangle aquamarine">
              <a:hlinkClick r:id="rId4" action="ppaction://hlinksldjump"/>
            </p:cNvPr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3243" y="1820"/>
              <a:ext cx="572" cy="385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4587" name="Text Box 14">
              <a:hlinkClick r:id="rId4" action="ppaction://hlinksldjump"/>
            </p:cNvPr>
            <p:cNvSpPr txBox="1"/>
            <p:nvPr/>
          </p:nvSpPr>
          <p:spPr>
            <a:xfrm>
              <a:off x="3327" y="1865"/>
              <a:ext cx="415" cy="30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600" dirty="0">
                  <a:solidFill>
                    <a:srgbClr val="CC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1.5</a:t>
              </a:r>
              <a:endParaRPr lang="en-US" altLang="zh-CN" sz="2600" dirty="0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grpSp>
        <p:nvGrpSpPr>
          <p:cNvPr id="509967" name="Group 15"/>
          <p:cNvGrpSpPr/>
          <p:nvPr/>
        </p:nvGrpSpPr>
        <p:grpSpPr>
          <a:xfrm>
            <a:off x="250825" y="3681413"/>
            <a:ext cx="4608513" cy="611187"/>
            <a:chOff x="158" y="2319"/>
            <a:chExt cx="2903" cy="385"/>
          </a:xfrm>
        </p:grpSpPr>
        <p:pic>
          <p:nvPicPr>
            <p:cNvPr id="24589" name="Picture 16" descr="GEL Rounded Rectangle aquamarine">
              <a:hlinkClick r:id="rId5" action="ppaction://hlinksldjump"/>
            </p:cNvPr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657" y="2319"/>
              <a:ext cx="2404" cy="385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4590" name="Text Box 17">
              <a:hlinkClick r:id="rId5" action="ppaction://hlinksldjump"/>
            </p:cNvPr>
            <p:cNvSpPr txBox="1"/>
            <p:nvPr/>
          </p:nvSpPr>
          <p:spPr>
            <a:xfrm>
              <a:off x="749" y="2341"/>
              <a:ext cx="2222" cy="30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600" dirty="0">
                  <a:solidFill>
                    <a:srgbClr val="CC00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电流和电压的参考方向</a:t>
              </a:r>
              <a:endParaRPr lang="zh-CN" altLang="en-US" sz="2600" dirty="0">
                <a:solidFill>
                  <a:srgbClr val="CC0000"/>
                </a:solidFill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  <p:pic>
          <p:nvPicPr>
            <p:cNvPr id="24591" name="Picture 18" descr="GEL Rounded Rectangle aquamarine">
              <a:hlinkClick r:id="rId5" action="ppaction://hlinksldjump"/>
            </p:cNvPr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158" y="2319"/>
              <a:ext cx="572" cy="385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4592" name="Text Box 19">
              <a:hlinkClick r:id="rId5" action="ppaction://hlinksldjump"/>
            </p:cNvPr>
            <p:cNvSpPr txBox="1"/>
            <p:nvPr/>
          </p:nvSpPr>
          <p:spPr>
            <a:xfrm>
              <a:off x="242" y="2364"/>
              <a:ext cx="415" cy="30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600" dirty="0">
                  <a:solidFill>
                    <a:srgbClr val="CC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1.2</a:t>
              </a:r>
              <a:endParaRPr lang="en-US" altLang="zh-CN" sz="2600" dirty="0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grpSp>
        <p:nvGrpSpPr>
          <p:cNvPr id="509972" name="Group 20"/>
          <p:cNvGrpSpPr/>
          <p:nvPr/>
        </p:nvGrpSpPr>
        <p:grpSpPr>
          <a:xfrm>
            <a:off x="5148263" y="3681413"/>
            <a:ext cx="3817937" cy="611187"/>
            <a:chOff x="3243" y="2319"/>
            <a:chExt cx="2405" cy="385"/>
          </a:xfrm>
        </p:grpSpPr>
        <p:pic>
          <p:nvPicPr>
            <p:cNvPr id="24594" name="Picture 21" descr="GEL Rounded Rectangle aquamarine">
              <a:hlinkClick r:id="rId6" action="ppaction://hlinksldjump"/>
            </p:cNvPr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3742" y="2319"/>
              <a:ext cx="1906" cy="385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4595" name="Text Box 22">
              <a:hlinkClick r:id="rId6" action="ppaction://hlinksldjump"/>
            </p:cNvPr>
            <p:cNvSpPr txBox="1"/>
            <p:nvPr/>
          </p:nvSpPr>
          <p:spPr>
            <a:xfrm>
              <a:off x="3879" y="2364"/>
              <a:ext cx="1723" cy="30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600" dirty="0">
                  <a:solidFill>
                    <a:srgbClr val="CC00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电压源和电流源</a:t>
              </a:r>
              <a:endParaRPr lang="zh-CN" altLang="en-US" sz="2600" dirty="0">
                <a:solidFill>
                  <a:srgbClr val="CC0000"/>
                </a:solidFill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  <p:pic>
          <p:nvPicPr>
            <p:cNvPr id="24596" name="Picture 23" descr="GEL Rounded Rectangle aquamarine">
              <a:hlinkClick r:id="rId6" action="ppaction://hlinksldjump"/>
            </p:cNvPr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3243" y="2319"/>
              <a:ext cx="572" cy="385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4597" name="Text Box 24">
              <a:hlinkClick r:id="rId6" action="ppaction://hlinksldjump"/>
            </p:cNvPr>
            <p:cNvSpPr txBox="1"/>
            <p:nvPr/>
          </p:nvSpPr>
          <p:spPr>
            <a:xfrm>
              <a:off x="3327" y="2364"/>
              <a:ext cx="415" cy="30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600" dirty="0">
                  <a:solidFill>
                    <a:srgbClr val="CC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1.6</a:t>
              </a:r>
              <a:endParaRPr lang="en-US" altLang="zh-CN" sz="2600" dirty="0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grpSp>
        <p:nvGrpSpPr>
          <p:cNvPr id="509977" name="Group 25"/>
          <p:cNvGrpSpPr/>
          <p:nvPr/>
        </p:nvGrpSpPr>
        <p:grpSpPr>
          <a:xfrm>
            <a:off x="250825" y="4473575"/>
            <a:ext cx="4608513" cy="611188"/>
            <a:chOff x="158" y="2818"/>
            <a:chExt cx="2903" cy="385"/>
          </a:xfrm>
        </p:grpSpPr>
        <p:pic>
          <p:nvPicPr>
            <p:cNvPr id="24599" name="Picture 26" descr="GEL Rounded Rectangle aquamarine">
              <a:hlinkClick r:id="rId7" action="ppaction://hlinksldjump"/>
            </p:cNvPr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657" y="2818"/>
              <a:ext cx="2404" cy="385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4600" name="Text Box 27">
              <a:hlinkClick r:id="rId7" action="ppaction://hlinksldjump"/>
            </p:cNvPr>
            <p:cNvSpPr txBox="1"/>
            <p:nvPr/>
          </p:nvSpPr>
          <p:spPr>
            <a:xfrm>
              <a:off x="749" y="2840"/>
              <a:ext cx="2222" cy="30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600" dirty="0">
                  <a:solidFill>
                    <a:srgbClr val="CC00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电功率和能量</a:t>
              </a:r>
              <a:endParaRPr lang="zh-CN" altLang="en-US" sz="2600" dirty="0">
                <a:solidFill>
                  <a:srgbClr val="CC0000"/>
                </a:solidFill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  <p:pic>
          <p:nvPicPr>
            <p:cNvPr id="24601" name="Picture 28" descr="GEL Rounded Rectangle aquamarine">
              <a:hlinkClick r:id="rId7" action="ppaction://hlinksldjump"/>
            </p:cNvPr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158" y="2818"/>
              <a:ext cx="572" cy="385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4602" name="Text Box 29">
              <a:hlinkClick r:id="rId7" action="ppaction://hlinksldjump"/>
            </p:cNvPr>
            <p:cNvSpPr txBox="1"/>
            <p:nvPr/>
          </p:nvSpPr>
          <p:spPr>
            <a:xfrm>
              <a:off x="242" y="2863"/>
              <a:ext cx="415" cy="30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600" dirty="0">
                  <a:solidFill>
                    <a:srgbClr val="CC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1.3</a:t>
              </a:r>
              <a:endParaRPr lang="en-US" altLang="zh-CN" sz="2600" dirty="0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grpSp>
        <p:nvGrpSpPr>
          <p:cNvPr id="509982" name="Group 30"/>
          <p:cNvGrpSpPr/>
          <p:nvPr/>
        </p:nvGrpSpPr>
        <p:grpSpPr>
          <a:xfrm>
            <a:off x="5148263" y="4473575"/>
            <a:ext cx="3817937" cy="611188"/>
            <a:chOff x="3243" y="2818"/>
            <a:chExt cx="2405" cy="385"/>
          </a:xfrm>
        </p:grpSpPr>
        <p:pic>
          <p:nvPicPr>
            <p:cNvPr id="24604" name="Picture 31" descr="GEL Rounded Rectangle aquamarine">
              <a:hlinkClick r:id="rId8" action="ppaction://hlinksldjump"/>
            </p:cNvPr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3742" y="2818"/>
              <a:ext cx="1906" cy="385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4605" name="Text Box 32">
              <a:hlinkClick r:id="rId8" action="ppaction://hlinksldjump"/>
            </p:cNvPr>
            <p:cNvSpPr txBox="1"/>
            <p:nvPr/>
          </p:nvSpPr>
          <p:spPr>
            <a:xfrm>
              <a:off x="3879" y="2863"/>
              <a:ext cx="1723" cy="30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600" dirty="0">
                  <a:solidFill>
                    <a:srgbClr val="CC00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受控电源</a:t>
              </a:r>
              <a:endParaRPr lang="zh-CN" altLang="en-US" sz="2600" dirty="0">
                <a:solidFill>
                  <a:srgbClr val="CC0000"/>
                </a:solidFill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  <p:pic>
          <p:nvPicPr>
            <p:cNvPr id="24606" name="Picture 33" descr="GEL Rounded Rectangle aquamarine">
              <a:hlinkClick r:id="rId8" action="ppaction://hlinksldjump"/>
            </p:cNvPr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3243" y="2818"/>
              <a:ext cx="572" cy="385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4607" name="Text Box 34">
              <a:hlinkClick r:id="rId8" action="ppaction://hlinksldjump"/>
            </p:cNvPr>
            <p:cNvSpPr txBox="1"/>
            <p:nvPr/>
          </p:nvSpPr>
          <p:spPr>
            <a:xfrm>
              <a:off x="3327" y="2863"/>
              <a:ext cx="415" cy="30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600" dirty="0">
                  <a:solidFill>
                    <a:srgbClr val="CC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1.7</a:t>
              </a:r>
              <a:endParaRPr lang="en-US" altLang="zh-CN" sz="2600" dirty="0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grpSp>
        <p:nvGrpSpPr>
          <p:cNvPr id="509987" name="Group 35"/>
          <p:cNvGrpSpPr/>
          <p:nvPr/>
        </p:nvGrpSpPr>
        <p:grpSpPr>
          <a:xfrm>
            <a:off x="250825" y="5265738"/>
            <a:ext cx="4608513" cy="611187"/>
            <a:chOff x="158" y="3317"/>
            <a:chExt cx="2903" cy="385"/>
          </a:xfrm>
        </p:grpSpPr>
        <p:pic>
          <p:nvPicPr>
            <p:cNvPr id="24609" name="Picture 36" descr="GEL Rounded Rectangle aquamarine">
              <a:hlinkClick r:id="rId9" action="ppaction://hlinksldjump"/>
            </p:cNvPr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657" y="3317"/>
              <a:ext cx="2404" cy="385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4610" name="Text Box 37">
              <a:hlinkClick r:id="rId9" action="ppaction://hlinksldjump"/>
            </p:cNvPr>
            <p:cNvSpPr txBox="1"/>
            <p:nvPr/>
          </p:nvSpPr>
          <p:spPr>
            <a:xfrm>
              <a:off x="749" y="3339"/>
              <a:ext cx="2222" cy="30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600" dirty="0">
                  <a:solidFill>
                    <a:srgbClr val="CC00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电路元件</a:t>
              </a:r>
              <a:endParaRPr lang="zh-CN" altLang="en-US" sz="2600" dirty="0">
                <a:solidFill>
                  <a:srgbClr val="CC0000"/>
                </a:solidFill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  <p:pic>
          <p:nvPicPr>
            <p:cNvPr id="24611" name="Picture 38" descr="GEL Rounded Rectangle aquamarine">
              <a:hlinkClick r:id="rId9" action="ppaction://hlinksldjump"/>
            </p:cNvPr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158" y="3317"/>
              <a:ext cx="572" cy="385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4612" name="Text Box 39">
              <a:hlinkClick r:id="rId9" action="ppaction://hlinksldjump"/>
            </p:cNvPr>
            <p:cNvSpPr txBox="1"/>
            <p:nvPr/>
          </p:nvSpPr>
          <p:spPr>
            <a:xfrm>
              <a:off x="242" y="3362"/>
              <a:ext cx="415" cy="30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600" dirty="0">
                  <a:solidFill>
                    <a:srgbClr val="CC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1.4</a:t>
              </a:r>
              <a:endParaRPr lang="en-US" altLang="zh-CN" sz="2600" dirty="0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grpSp>
        <p:nvGrpSpPr>
          <p:cNvPr id="509992" name="Group 40"/>
          <p:cNvGrpSpPr/>
          <p:nvPr/>
        </p:nvGrpSpPr>
        <p:grpSpPr>
          <a:xfrm>
            <a:off x="5148263" y="5265738"/>
            <a:ext cx="3817937" cy="611187"/>
            <a:chOff x="3243" y="3317"/>
            <a:chExt cx="2405" cy="385"/>
          </a:xfrm>
        </p:grpSpPr>
        <p:pic>
          <p:nvPicPr>
            <p:cNvPr id="24614" name="Picture 41" descr="GEL Rounded Rectangle aquamarine">
              <a:hlinkClick r:id="rId10" action="ppaction://hlinksldjump"/>
            </p:cNvPr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3742" y="3317"/>
              <a:ext cx="1906" cy="385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4615" name="Text Box 42">
              <a:hlinkClick r:id="rId10" action="ppaction://hlinksldjump"/>
            </p:cNvPr>
            <p:cNvSpPr txBox="1"/>
            <p:nvPr/>
          </p:nvSpPr>
          <p:spPr>
            <a:xfrm>
              <a:off x="3879" y="3362"/>
              <a:ext cx="1723" cy="30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600" dirty="0">
                  <a:solidFill>
                    <a:srgbClr val="CC00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基尔霍夫定律</a:t>
              </a:r>
              <a:endParaRPr lang="zh-CN" altLang="en-US" sz="2600" dirty="0">
                <a:solidFill>
                  <a:srgbClr val="CC0000"/>
                </a:solidFill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  <p:pic>
          <p:nvPicPr>
            <p:cNvPr id="24616" name="Picture 43" descr="GEL Rounded Rectangle aquamarine">
              <a:hlinkClick r:id="rId10" action="ppaction://hlinksldjump"/>
            </p:cNvPr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3243" y="3317"/>
              <a:ext cx="572" cy="385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4617" name="Text Box 44">
              <a:hlinkClick r:id="rId10" action="ppaction://hlinksldjump"/>
            </p:cNvPr>
            <p:cNvSpPr txBox="1"/>
            <p:nvPr/>
          </p:nvSpPr>
          <p:spPr>
            <a:xfrm>
              <a:off x="3327" y="3362"/>
              <a:ext cx="415" cy="30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600" dirty="0">
                  <a:solidFill>
                    <a:srgbClr val="CC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1.8</a:t>
              </a:r>
              <a:endParaRPr lang="en-US" altLang="zh-CN" sz="2600" dirty="0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grpSp>
        <p:nvGrpSpPr>
          <p:cNvPr id="509997" name="Group 45"/>
          <p:cNvGrpSpPr/>
          <p:nvPr/>
        </p:nvGrpSpPr>
        <p:grpSpPr>
          <a:xfrm>
            <a:off x="7596188" y="6021388"/>
            <a:ext cx="1368425" cy="647700"/>
            <a:chOff x="2971" y="3113"/>
            <a:chExt cx="1043" cy="499"/>
          </a:xfrm>
        </p:grpSpPr>
        <p:sp>
          <p:nvSpPr>
            <p:cNvPr id="24619" name="Oval 46"/>
            <p:cNvSpPr/>
            <p:nvPr/>
          </p:nvSpPr>
          <p:spPr>
            <a:xfrm>
              <a:off x="2971" y="3113"/>
              <a:ext cx="1043" cy="499"/>
            </a:xfrm>
            <a:prstGeom prst="ellipse">
              <a:avLst/>
            </a:prstGeom>
            <a:gradFill rotWithShape="0">
              <a:gsLst>
                <a:gs pos="0">
                  <a:srgbClr val="3366FF"/>
                </a:gs>
                <a:gs pos="50000">
                  <a:srgbClr val="7799FF"/>
                </a:gs>
                <a:gs pos="100000">
                  <a:srgbClr val="3366FF"/>
                </a:gs>
              </a:gsLst>
              <a:lin ang="5400000" scaled="1"/>
              <a:tileRect/>
            </a:gradFill>
            <a:ln w="28575" cap="sq" cmpd="sng">
              <a:solidFill>
                <a:srgbClr val="0033CC"/>
              </a:solidFill>
              <a:prstDash val="solid"/>
              <a:round/>
              <a:headEnd type="none" w="med" len="med"/>
              <a:tailEnd type="none" w="med" len="med"/>
            </a:ln>
            <a:effectLst>
              <a:prstShdw prst="shdw17" dist="17961" dir="2699999">
                <a:schemeClr val="bg2"/>
              </a:prstShdw>
            </a:effectLst>
          </p:spPr>
          <p:txBody>
            <a:bodyPr wrap="none" anchor="ctr" anchorCtr="0"/>
            <a:p>
              <a:pPr>
                <a:buClrTx/>
                <a:buFontTx/>
                <a:buNone/>
              </a:pPr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24620" name="Oval 47">
              <a:hlinkClick r:id="" action="ppaction://hlinkshowjump?jump=endshow"/>
            </p:cNvPr>
            <p:cNvSpPr/>
            <p:nvPr/>
          </p:nvSpPr>
          <p:spPr>
            <a:xfrm>
              <a:off x="3016" y="3158"/>
              <a:ext cx="953" cy="408"/>
            </a:xfrm>
            <a:prstGeom prst="ellipse">
              <a:avLst/>
            </a:prstGeom>
            <a:gradFill rotWithShape="0">
              <a:gsLst>
                <a:gs pos="0">
                  <a:srgbClr val="0033CC"/>
                </a:gs>
                <a:gs pos="50000">
                  <a:srgbClr val="87DAED"/>
                </a:gs>
                <a:gs pos="100000">
                  <a:srgbClr val="0033CC"/>
                </a:gs>
              </a:gsLst>
              <a:lin ang="5400000" scaled="1"/>
              <a:tileRect/>
            </a:gradFill>
            <a:ln w="28575" cap="sq" cmpd="sng">
              <a:solidFill>
                <a:srgbClr val="0033CC"/>
              </a:solidFill>
              <a:prstDash val="solid"/>
              <a:round/>
              <a:headEnd type="none" w="med" len="med"/>
              <a:tailEnd type="none" w="med" len="med"/>
            </a:ln>
            <a:effectLst>
              <a:prstShdw prst="shdw17" dist="17961" dir="2699999">
                <a:schemeClr val="bg2"/>
              </a:prstShdw>
            </a:effectLst>
          </p:spPr>
          <p:txBody>
            <a:bodyPr wrap="none" anchor="ctr" anchorCtr="0"/>
            <a:p>
              <a:pPr algn="ctr">
                <a:buClrTx/>
                <a:buFontTx/>
                <a:buNone/>
              </a:pPr>
              <a:r>
                <a:rPr lang="zh-CN" altLang="en-US" dirty="0">
                  <a:solidFill>
                    <a:srgbClr val="CC0000"/>
                  </a:solidFill>
                  <a:latin typeface="Arial" panose="020B0604020202020204" pitchFamily="34" charset="0"/>
                  <a:ea typeface="隶书" panose="02010509060101010101" pitchFamily="49" charset="-122"/>
                </a:rPr>
                <a:t>首 页</a:t>
              </a:r>
              <a:endParaRPr lang="zh-CN" altLang="en-US" dirty="0">
                <a:solidFill>
                  <a:srgbClr val="CC0000"/>
                </a:solidFill>
                <a:latin typeface="Arial" panose="020B0604020202020204" pitchFamily="34" charset="0"/>
                <a:ea typeface="隶书" panose="02010509060101010101" pitchFamily="49" charset="-122"/>
              </a:endParaRPr>
            </a:p>
          </p:txBody>
        </p:sp>
      </p:grpSp>
      <p:grpSp>
        <p:nvGrpSpPr>
          <p:cNvPr id="510000" name="Group 48"/>
          <p:cNvGrpSpPr/>
          <p:nvPr/>
        </p:nvGrpSpPr>
        <p:grpSpPr>
          <a:xfrm>
            <a:off x="3059113" y="1701800"/>
            <a:ext cx="3024187" cy="1079500"/>
            <a:chOff x="1928" y="890"/>
            <a:chExt cx="1905" cy="680"/>
          </a:xfrm>
        </p:grpSpPr>
        <p:pic>
          <p:nvPicPr>
            <p:cNvPr id="24622" name="Picture 49" descr="GEL Oval MS-blue"/>
            <p:cNvPicPr preferRelativeResize="0"/>
            <p:nvPr/>
          </p:nvPicPr>
          <p:blipFill>
            <a:blip r:embed="rId11"/>
            <a:stretch>
              <a:fillRect/>
            </a:stretch>
          </p:blipFill>
          <p:spPr>
            <a:xfrm>
              <a:off x="1928" y="890"/>
              <a:ext cx="1905" cy="680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24623" name="Picture 50" descr="GEL Oval MS-yellow">
              <a:hlinkClick r:id="rId12" action="ppaction://hlinksldjump"/>
            </p:cNvPr>
            <p:cNvPicPr/>
            <p:nvPr/>
          </p:nvPicPr>
          <p:blipFill>
            <a:blip r:embed="rId13"/>
            <a:stretch>
              <a:fillRect/>
            </a:stretch>
          </p:blipFill>
          <p:spPr>
            <a:xfrm>
              <a:off x="2018" y="981"/>
              <a:ext cx="1715" cy="499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4624" name="Text Box 51" descr="斜纹布">
              <a:hlinkClick r:id="rId12" action="ppaction://hlinksldjump"/>
            </p:cNvPr>
            <p:cNvSpPr txBox="1"/>
            <p:nvPr/>
          </p:nvSpPr>
          <p:spPr>
            <a:xfrm>
              <a:off x="2291" y="1062"/>
              <a:ext cx="1238" cy="365"/>
            </a:xfrm>
            <a:prstGeom prst="rect">
              <a:avLst/>
            </a:prstGeom>
            <a:noFill/>
            <a:ln w="28575">
              <a:noFill/>
            </a:ln>
            <a:effectLst>
              <a:prstShdw prst="shdw17" dist="17961" dir="2699999">
                <a:schemeClr val="bg2"/>
              </a:prstShdw>
            </a:effectLst>
          </p:spPr>
          <p:txBody>
            <a:bodyPr anchor="t" anchorCtr="0">
              <a:spAutoFit/>
            </a:bodyPr>
            <a:p>
              <a:pPr algn="ctr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3200" dirty="0">
                  <a:solidFill>
                    <a:srgbClr val="CC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本章重点</a:t>
              </a:r>
              <a:endParaRPr lang="zh-CN" altLang="en-US" sz="3200" dirty="0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75"/>
                                        <p:tgtEl>
                                          <p:spTgt spid="5099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5099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509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099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509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2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509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2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509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2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5099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2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5099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9" presetClass="entr" presetSubtype="0" decel="10000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5100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5100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51000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0.00000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100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5099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5099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099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995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07906" name="Text Box 2"/>
          <p:cNvSpPr txBox="1"/>
          <p:nvPr/>
        </p:nvSpPr>
        <p:spPr>
          <a:xfrm>
            <a:off x="1041400" y="1774825"/>
            <a:ext cx="6321425" cy="641350"/>
          </a:xfrm>
          <a:prstGeom prst="rect">
            <a:avLst/>
          </a:prstGeom>
          <a:noFill/>
          <a:ln w="12700">
            <a:noFill/>
          </a:ln>
        </p:spPr>
        <p:txBody>
          <a:bodyPr anchor="t" anchorCtr="0">
            <a:spAutoFit/>
          </a:bodyPr>
          <a:p>
            <a:pPr eaLnBrk="0" hangingPunct="0">
              <a:buClrTx/>
              <a:buFontTx/>
              <a:buNone/>
            </a:pPr>
            <a:r>
              <a:rPr lang="en-US" altLang="zh-CN" sz="3600" dirty="0">
                <a:latin typeface="楷体_GB2312" pitchFamily="49" charset="-122"/>
                <a:ea typeface="楷体_GB2312" pitchFamily="49" charset="-122"/>
              </a:rPr>
              <a:t>1. </a:t>
            </a:r>
            <a:r>
              <a:rPr lang="zh-CN" altLang="en-US" sz="3600" dirty="0">
                <a:latin typeface="楷体_GB2312" pitchFamily="49" charset="-122"/>
                <a:ea typeface="楷体_GB2312" pitchFamily="49" charset="-122"/>
              </a:rPr>
              <a:t>电压、电流的参考方向</a:t>
            </a:r>
            <a:endParaRPr lang="zh-CN" altLang="en-US" sz="2400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507907" name="Text Box 3"/>
          <p:cNvSpPr txBox="1"/>
          <p:nvPr/>
        </p:nvSpPr>
        <p:spPr>
          <a:xfrm>
            <a:off x="1042988" y="3508375"/>
            <a:ext cx="4132262" cy="641350"/>
          </a:xfrm>
          <a:prstGeom prst="rect">
            <a:avLst/>
          </a:prstGeom>
          <a:noFill/>
          <a:ln w="12700">
            <a:noFill/>
          </a:ln>
        </p:spPr>
        <p:txBody>
          <a:bodyPr anchor="t" anchorCtr="0">
            <a:spAutoFit/>
          </a:bodyPr>
          <a:p>
            <a:pPr eaLnBrk="0" hangingPunct="0">
              <a:buClrTx/>
              <a:buFontTx/>
              <a:buNone/>
            </a:pPr>
            <a:r>
              <a:rPr lang="en-US" altLang="zh-CN" sz="3600" dirty="0">
                <a:latin typeface="楷体_GB2312" pitchFamily="49" charset="-122"/>
                <a:ea typeface="楷体_GB2312" pitchFamily="49" charset="-122"/>
              </a:rPr>
              <a:t>3. </a:t>
            </a:r>
            <a:r>
              <a:rPr lang="zh-CN" altLang="en-US" sz="3600" dirty="0">
                <a:latin typeface="楷体_GB2312" pitchFamily="49" charset="-122"/>
                <a:ea typeface="楷体_GB2312" pitchFamily="49" charset="-122"/>
              </a:rPr>
              <a:t>基尔霍夫定律</a:t>
            </a:r>
            <a:endParaRPr lang="zh-CN" altLang="en-US" sz="2400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507908" name="Rectangle 4"/>
          <p:cNvSpPr/>
          <p:nvPr/>
        </p:nvSpPr>
        <p:spPr>
          <a:xfrm>
            <a:off x="1042988" y="692150"/>
            <a:ext cx="2125662" cy="641350"/>
          </a:xfrm>
          <a:prstGeom prst="rect">
            <a:avLst/>
          </a:prstGeom>
          <a:solidFill>
            <a:srgbClr val="FF3300"/>
          </a:solidFill>
          <a:ln w="12700">
            <a:noFill/>
          </a:ln>
          <a:effectLst>
            <a:outerShdw dist="107763" dir="18900000" algn="ctr" rotWithShape="0">
              <a:schemeClr val="bg2">
                <a:alpha val="50000"/>
              </a:schemeClr>
            </a:outerShdw>
          </a:effectLst>
        </p:spPr>
        <p:txBody>
          <a:bodyPr wrap="none" anchor="t" anchorCtr="0">
            <a:spAutoFit/>
          </a:bodyPr>
          <a:p>
            <a:pPr eaLnBrk="0" hangingPunct="0">
              <a:buClr>
                <a:schemeClr val="tx1"/>
              </a:buClr>
              <a:buFont typeface="Wingdings" panose="05000000000000000000" pitchFamily="2" charset="2"/>
              <a:buChar char="l"/>
            </a:pPr>
            <a:r>
              <a:rPr lang="en-US" altLang="zh-CN" sz="3600" dirty="0">
                <a:latin typeface="楷体_GB2312" pitchFamily="49" charset="-122"/>
                <a:ea typeface="楷体_GB2312" pitchFamily="49" charset="-122"/>
                <a:sym typeface="Monotype Sorts" pitchFamily="2" charset="2"/>
              </a:rPr>
              <a:t> </a:t>
            </a:r>
            <a:r>
              <a:rPr lang="zh-CN" altLang="en-US" sz="36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重点</a:t>
            </a:r>
            <a:r>
              <a:rPr lang="zh-CN" altLang="en-US" sz="36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：</a:t>
            </a:r>
            <a:endParaRPr lang="zh-CN" altLang="en-US" sz="3200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507910" name="Text Box 6"/>
          <p:cNvSpPr txBox="1"/>
          <p:nvPr/>
        </p:nvSpPr>
        <p:spPr>
          <a:xfrm>
            <a:off x="1041400" y="2638425"/>
            <a:ext cx="7202488" cy="641350"/>
          </a:xfrm>
          <a:prstGeom prst="rect">
            <a:avLst/>
          </a:prstGeom>
          <a:noFill/>
          <a:ln w="12700">
            <a:noFill/>
          </a:ln>
        </p:spPr>
        <p:txBody>
          <a:bodyPr anchor="t" anchorCtr="0">
            <a:spAutoFit/>
          </a:bodyPr>
          <a:p>
            <a:pPr eaLnBrk="0" hangingPunct="0">
              <a:buClrTx/>
              <a:buFontTx/>
              <a:buNone/>
            </a:pPr>
            <a:r>
              <a:rPr lang="en-US" altLang="zh-CN" sz="3600" dirty="0">
                <a:latin typeface="楷体_GB2312" pitchFamily="49" charset="-122"/>
                <a:ea typeface="楷体_GB2312" pitchFamily="49" charset="-122"/>
              </a:rPr>
              <a:t>2. </a:t>
            </a:r>
            <a:r>
              <a:rPr lang="zh-CN" altLang="en-US" sz="3600" dirty="0">
                <a:latin typeface="楷体_GB2312" pitchFamily="49" charset="-122"/>
                <a:ea typeface="楷体_GB2312" pitchFamily="49" charset="-122"/>
              </a:rPr>
              <a:t>电阻元件和电源元件的特性</a:t>
            </a:r>
            <a:endParaRPr lang="zh-CN" altLang="en-US" sz="2400" dirty="0"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25605" name="Group 10"/>
          <p:cNvGrpSpPr/>
          <p:nvPr/>
        </p:nvGrpSpPr>
        <p:grpSpPr>
          <a:xfrm>
            <a:off x="8316913" y="6445250"/>
            <a:ext cx="792162" cy="366713"/>
            <a:chOff x="5193" y="4020"/>
            <a:chExt cx="499" cy="231"/>
          </a:xfrm>
        </p:grpSpPr>
        <p:pic>
          <p:nvPicPr>
            <p:cNvPr id="25606" name="Picture 11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5607" name="Text Box 12">
              <a:hlinkClick r:id="" action="ppaction://hlinkshowjump?jump=firs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300"/>
                                        <p:tgtEl>
                                          <p:spTgt spid="507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079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079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" presetClass="entr" presetSubtype="12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079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079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2" presetClass="entr" presetSubtype="12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079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079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7906" grpId="0"/>
      <p:bldP spid="507907" grpId="0"/>
      <p:bldP spid="507908" grpId="0" animBg="1"/>
      <p:bldP spid="5079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5" name="Text Box 4"/>
          <p:cNvSpPr txBox="1"/>
          <p:nvPr/>
        </p:nvSpPr>
        <p:spPr>
          <a:xfrm>
            <a:off x="755650" y="620713"/>
            <a:ext cx="7561263" cy="762000"/>
          </a:xfrm>
          <a:prstGeom prst="rect">
            <a:avLst/>
          </a:prstGeom>
          <a:noFill/>
          <a:ln w="12700">
            <a:noFill/>
          </a:ln>
          <a:effectLst>
            <a:prstShdw prst="shdw17" dist="17961" dir="2699999">
              <a:srgbClr val="009900"/>
            </a:prstShdw>
          </a:effectLst>
        </p:spPr>
        <p:txBody>
          <a:bodyPr anchor="ctr" anchorCtr="0">
            <a:spAutoFit/>
          </a:bodyPr>
          <a:p>
            <a:pPr algn="ctr" eaLnBrk="0" hangingPunct="0">
              <a:spcBef>
                <a:spcPct val="50000"/>
              </a:spcBef>
              <a:buClrTx/>
              <a:buFontTx/>
              <a:buNone/>
            </a:pPr>
            <a:r>
              <a:rPr lang="en-US" altLang="zh-CN" sz="44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1.1 </a:t>
            </a:r>
            <a:r>
              <a:rPr lang="zh-CN" altLang="en-US" sz="44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电路和电路模型</a:t>
            </a:r>
            <a:endParaRPr lang="zh-CN" altLang="en-US" sz="4400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6626" name="Text Box 5"/>
          <p:cNvSpPr txBox="1"/>
          <p:nvPr/>
        </p:nvSpPr>
        <p:spPr>
          <a:xfrm>
            <a:off x="539750" y="1885950"/>
            <a:ext cx="2243138" cy="579438"/>
          </a:xfrm>
          <a:prstGeom prst="rect">
            <a:avLst/>
          </a:prstGeom>
          <a:noFill/>
          <a:ln w="12700">
            <a:noFill/>
          </a:ln>
          <a:effectLst>
            <a:outerShdw dist="107763" dir="18900000" algn="ctr" rotWithShape="0">
              <a:schemeClr val="bg2">
                <a:alpha val="50000"/>
              </a:schemeClr>
            </a:outerShdw>
          </a:effectLst>
        </p:spPr>
        <p:txBody>
          <a:bodyPr anchor="ctr" anchorCtr="0">
            <a:spAutoFit/>
          </a:bodyPr>
          <a:p>
            <a:pPr algn="ctr" eaLnBrk="0" hangingPunct="0">
              <a:spcBef>
                <a:spcPct val="50000"/>
              </a:spcBef>
              <a:buClrTx/>
              <a:buFontTx/>
              <a:buNone/>
            </a:pPr>
            <a:r>
              <a:rPr lang="en-US" altLang="zh-CN" sz="32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1.</a:t>
            </a:r>
            <a:r>
              <a:rPr lang="zh-CN" altLang="en-US" sz="32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实际电路</a:t>
            </a:r>
            <a:endParaRPr lang="zh-CN" altLang="en-US" sz="3200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6627" name="Text Box 6"/>
          <p:cNvSpPr txBox="1"/>
          <p:nvPr/>
        </p:nvSpPr>
        <p:spPr>
          <a:xfrm>
            <a:off x="755650" y="3141663"/>
            <a:ext cx="1152525" cy="544512"/>
          </a:xfrm>
          <a:prstGeom prst="rect">
            <a:avLst/>
          </a:prstGeom>
          <a:noFill/>
          <a:ln w="25400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>
            <a:spAutoFit/>
          </a:bodyPr>
          <a:p>
            <a:pPr algn="ctr" eaLnBrk="0" hangingPunct="0">
              <a:spcBef>
                <a:spcPct val="50000"/>
              </a:spcBef>
              <a:buClrTx/>
              <a:buFontTx/>
              <a:buNone/>
            </a:pPr>
            <a:r>
              <a:rPr lang="zh-CN" altLang="en-US" dirty="0">
                <a:solidFill>
                  <a:srgbClr val="FF9900"/>
                </a:solidFill>
                <a:latin typeface="Times New Roman" panose="02020603050405020304" pitchFamily="18" charset="0"/>
                <a:ea typeface="楷体_GB2312" pitchFamily="49" charset="-122"/>
              </a:rPr>
              <a:t>功能</a:t>
            </a:r>
            <a:endParaRPr lang="zh-CN" altLang="en-US" dirty="0">
              <a:solidFill>
                <a:srgbClr val="FF99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6628" name="Line 10"/>
          <p:cNvSpPr/>
          <p:nvPr/>
        </p:nvSpPr>
        <p:spPr>
          <a:xfrm>
            <a:off x="2916238" y="2205038"/>
            <a:ext cx="576262" cy="0"/>
          </a:xfrm>
          <a:prstGeom prst="line">
            <a:avLst/>
          </a:prstGeom>
          <a:ln w="76200" cap="flat" cmpd="sng">
            <a:solidFill>
              <a:srgbClr val="66CCFF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26629" name="Line 11"/>
          <p:cNvSpPr/>
          <p:nvPr/>
        </p:nvSpPr>
        <p:spPr>
          <a:xfrm flipV="1">
            <a:off x="2051050" y="3429000"/>
            <a:ext cx="647700" cy="0"/>
          </a:xfrm>
          <a:prstGeom prst="line">
            <a:avLst/>
          </a:prstGeom>
          <a:ln w="76200" cap="flat" cmpd="sng">
            <a:solidFill>
              <a:srgbClr val="66CCFF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26630" name="Text Box 12"/>
          <p:cNvSpPr txBox="1"/>
          <p:nvPr/>
        </p:nvSpPr>
        <p:spPr>
          <a:xfrm>
            <a:off x="2843213" y="3141663"/>
            <a:ext cx="5329237" cy="116046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marL="342900" indent="-342900" eaLnBrk="0" hangingPunct="0">
              <a:spcBef>
                <a:spcPct val="50000"/>
              </a:spcBef>
            </a:pPr>
            <a:r>
              <a:rPr lang="en-US" altLang="zh-CN" dirty="0">
                <a:latin typeface="楷体_GB2312" pitchFamily="49" charset="-122"/>
                <a:ea typeface="楷体_GB2312" pitchFamily="49" charset="-122"/>
              </a:rPr>
              <a:t>a 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能量的传输、分配与转换；</a:t>
            </a:r>
            <a:endParaRPr lang="zh-CN" altLang="en-US" dirty="0">
              <a:latin typeface="楷体_GB2312" pitchFamily="49" charset="-122"/>
              <a:ea typeface="楷体_GB2312" pitchFamily="49" charset="-122"/>
            </a:endParaRPr>
          </a:p>
          <a:p>
            <a:pPr marL="342900" indent="-342900" eaLnBrk="0" hangingPunct="0">
              <a:spcBef>
                <a:spcPct val="50000"/>
              </a:spcBef>
            </a:pPr>
            <a:r>
              <a:rPr lang="en-US" altLang="zh-CN" dirty="0">
                <a:latin typeface="楷体_GB2312" pitchFamily="49" charset="-122"/>
                <a:ea typeface="楷体_GB2312" pitchFamily="49" charset="-122"/>
              </a:rPr>
              <a:t>b 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信息的传递、控制与处理。</a:t>
            </a:r>
            <a:endParaRPr lang="zh-CN" altLang="en-US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6631" name="Text Box 16"/>
          <p:cNvSpPr txBox="1"/>
          <p:nvPr/>
        </p:nvSpPr>
        <p:spPr>
          <a:xfrm>
            <a:off x="2844800" y="4581525"/>
            <a:ext cx="5040313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>
              <a:spcBef>
                <a:spcPct val="50000"/>
              </a:spcBef>
              <a:buClrTx/>
              <a:buFontTx/>
              <a:buNone/>
            </a:pPr>
            <a:r>
              <a:rPr lang="zh-CN" altLang="en-US" dirty="0">
                <a:latin typeface="Arial" panose="020B0604020202020204" pitchFamily="34" charset="0"/>
                <a:ea typeface="楷体_GB2312" pitchFamily="49" charset="-122"/>
              </a:rPr>
              <a:t>建立在同一电路理论基础上。</a:t>
            </a:r>
            <a:endParaRPr lang="zh-CN" altLang="en-US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26632" name="Rectangle 17"/>
          <p:cNvSpPr/>
          <p:nvPr/>
        </p:nvSpPr>
        <p:spPr>
          <a:xfrm>
            <a:off x="3492500" y="1733550"/>
            <a:ext cx="5111750" cy="120332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>
              <a:lnSpc>
                <a:spcPct val="130000"/>
              </a:lnSpc>
              <a:buClrTx/>
              <a:buFontTx/>
              <a:buNone/>
            </a:pPr>
            <a:r>
              <a:rPr lang="zh-CN" altLang="en-US" dirty="0">
                <a:latin typeface="Arial" panose="020B0604020202020204" pitchFamily="34" charset="0"/>
                <a:ea typeface="楷体_GB2312" pitchFamily="49" charset="-122"/>
              </a:rPr>
              <a:t>由电工设备和电气器件按预期目的连接构成的电流的通路。</a:t>
            </a:r>
            <a:endParaRPr lang="zh-CN" altLang="en-US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grpSp>
        <p:nvGrpSpPr>
          <p:cNvPr id="26633" name="Group 20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26634" name="Picture 21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6635" name="Text Box 22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26636" name="Group 23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26637" name="Picture 24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6638" name="Text Box 25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sp>
        <p:nvSpPr>
          <p:cNvPr id="26639" name="Text Box 34"/>
          <p:cNvSpPr txBox="1"/>
          <p:nvPr/>
        </p:nvSpPr>
        <p:spPr>
          <a:xfrm>
            <a:off x="755650" y="4581525"/>
            <a:ext cx="1152525" cy="544513"/>
          </a:xfrm>
          <a:prstGeom prst="rect">
            <a:avLst/>
          </a:prstGeom>
          <a:noFill/>
          <a:ln w="25400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>
            <a:spAutoFit/>
          </a:bodyPr>
          <a:p>
            <a:pPr algn="ctr" eaLnBrk="0" hangingPunct="0">
              <a:spcBef>
                <a:spcPct val="50000"/>
              </a:spcBef>
              <a:buClrTx/>
              <a:buFontTx/>
              <a:buNone/>
            </a:pPr>
            <a:r>
              <a:rPr lang="zh-CN" altLang="en-US" dirty="0">
                <a:solidFill>
                  <a:srgbClr val="FF9900"/>
                </a:solidFill>
                <a:latin typeface="Times New Roman" panose="02020603050405020304" pitchFamily="18" charset="0"/>
                <a:ea typeface="楷体_GB2312" pitchFamily="49" charset="-122"/>
              </a:rPr>
              <a:t>共性</a:t>
            </a:r>
            <a:endParaRPr lang="zh-CN" altLang="en-US" dirty="0">
              <a:solidFill>
                <a:srgbClr val="FF99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6640" name="Line 35"/>
          <p:cNvSpPr/>
          <p:nvPr/>
        </p:nvSpPr>
        <p:spPr>
          <a:xfrm flipV="1">
            <a:off x="2051050" y="4868863"/>
            <a:ext cx="647700" cy="0"/>
          </a:xfrm>
          <a:prstGeom prst="line">
            <a:avLst/>
          </a:prstGeom>
          <a:ln w="76200" cap="flat" cmpd="sng">
            <a:solidFill>
              <a:srgbClr val="66CCFF"/>
            </a:solidFill>
            <a:prstDash val="solid"/>
            <a:round/>
            <a:headEnd type="none" w="med" len="med"/>
            <a:tailEnd type="triangle" w="med" len="med"/>
          </a:ln>
        </p:spPr>
      </p:sp>
      <p:grpSp>
        <p:nvGrpSpPr>
          <p:cNvPr id="26641" name="Group 36"/>
          <p:cNvGrpSpPr/>
          <p:nvPr/>
        </p:nvGrpSpPr>
        <p:grpSpPr>
          <a:xfrm>
            <a:off x="6588125" y="6445250"/>
            <a:ext cx="792163" cy="366713"/>
            <a:chOff x="5193" y="4020"/>
            <a:chExt cx="499" cy="231"/>
          </a:xfrm>
        </p:grpSpPr>
        <p:pic>
          <p:nvPicPr>
            <p:cNvPr id="26642" name="Picture 37" descr="78900">
              <a:hlinkClick r:id="" action="ppaction://hlinkshowjump?jump=firstslide"/>
            </p:cNvPr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6643" name="Text Box 38">
              <a:hlinkClick r:id="" action="ppaction://hlinkshowjump?jump=firs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45" name="Text Box 5"/>
          <p:cNvSpPr txBox="1"/>
          <p:nvPr/>
        </p:nvSpPr>
        <p:spPr>
          <a:xfrm>
            <a:off x="2411413" y="4052888"/>
            <a:ext cx="6300787" cy="1031875"/>
          </a:xfrm>
          <a:prstGeom prst="rect">
            <a:avLst/>
          </a:prstGeom>
          <a:noFill/>
          <a:ln w="12700">
            <a:noFill/>
          </a:ln>
        </p:spPr>
        <p:txBody>
          <a:bodyPr anchor="ctr" anchorCtr="0">
            <a:spAutoFit/>
          </a:bodyPr>
          <a:p>
            <a:pPr algn="ctr" eaLnBrk="0" hangingPunct="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None/>
            </a:pPr>
            <a:r>
              <a:rPr lang="en-US" altLang="zh-CN" dirty="0">
                <a:latin typeface="楷体_GB2312" pitchFamily="49" charset="-122"/>
                <a:ea typeface="楷体_GB2312" pitchFamily="49" charset="-122"/>
              </a:rPr>
              <a:t>   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反映实际电路部件的主要电磁</a:t>
            </a:r>
            <a:endParaRPr lang="zh-CN" altLang="en-US" dirty="0">
              <a:latin typeface="楷体_GB2312" pitchFamily="49" charset="-122"/>
              <a:ea typeface="楷体_GB2312" pitchFamily="49" charset="-122"/>
            </a:endParaRPr>
          </a:p>
          <a:p>
            <a:pPr algn="ctr" eaLnBrk="0" hangingPunct="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None/>
            </a:pP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     性质的理想电路元件及其组合。</a:t>
            </a:r>
            <a:endParaRPr lang="zh-CN" altLang="en-US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63856" name="AutoShape 16"/>
          <p:cNvSpPr/>
          <p:nvPr/>
        </p:nvSpPr>
        <p:spPr>
          <a:xfrm>
            <a:off x="4067175" y="2420938"/>
            <a:ext cx="533400" cy="144462"/>
          </a:xfrm>
          <a:prstGeom prst="rightArrow">
            <a:avLst>
              <a:gd name="adj1" fmla="val 50000"/>
              <a:gd name="adj2" fmla="val 92290"/>
            </a:avLst>
          </a:prstGeom>
          <a:solidFill>
            <a:schemeClr val="accent1"/>
          </a:solidFill>
          <a:ln w="12700" cap="flat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>
              <a:buClrTx/>
              <a:buFontTx/>
              <a:buNone/>
            </a:pPr>
            <a:endParaRPr lang="zh-CN" altLang="en-US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163895" name="Text Box 55"/>
          <p:cNvSpPr txBox="1"/>
          <p:nvPr/>
        </p:nvSpPr>
        <p:spPr>
          <a:xfrm>
            <a:off x="539750" y="549275"/>
            <a:ext cx="5256213" cy="5794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>
              <a:spcBef>
                <a:spcPct val="50000"/>
              </a:spcBef>
              <a:buClrTx/>
              <a:buFontTx/>
              <a:buNone/>
            </a:pPr>
            <a:r>
              <a:rPr lang="en-US" altLang="zh-CN" sz="32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2. </a:t>
            </a:r>
            <a:r>
              <a:rPr lang="zh-CN" altLang="en-US" sz="32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电路模型</a:t>
            </a:r>
            <a:endParaRPr lang="zh-CN" altLang="en-US" sz="3200" b="0" dirty="0">
              <a:solidFill>
                <a:schemeClr val="tx1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63904" name="Line 64"/>
          <p:cNvSpPr/>
          <p:nvPr/>
        </p:nvSpPr>
        <p:spPr>
          <a:xfrm>
            <a:off x="5508625" y="1628775"/>
            <a:ext cx="0" cy="1223963"/>
          </a:xfrm>
          <a:prstGeom prst="line">
            <a:avLst/>
          </a:prstGeom>
          <a:ln w="28575" cap="flat" cmpd="sng">
            <a:solidFill>
              <a:srgbClr val="FFCC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63907" name="Line 67"/>
          <p:cNvSpPr/>
          <p:nvPr/>
        </p:nvSpPr>
        <p:spPr>
          <a:xfrm>
            <a:off x="7524750" y="1628775"/>
            <a:ext cx="0" cy="504825"/>
          </a:xfrm>
          <a:prstGeom prst="line">
            <a:avLst/>
          </a:prstGeom>
          <a:ln w="28575" cap="flat" cmpd="sng">
            <a:solidFill>
              <a:srgbClr val="FFCC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63908" name="Line 68"/>
          <p:cNvSpPr/>
          <p:nvPr/>
        </p:nvSpPr>
        <p:spPr>
          <a:xfrm>
            <a:off x="7524750" y="2708275"/>
            <a:ext cx="0" cy="720725"/>
          </a:xfrm>
          <a:prstGeom prst="line">
            <a:avLst/>
          </a:prstGeom>
          <a:ln w="28575" cap="flat" cmpd="sng">
            <a:solidFill>
              <a:srgbClr val="FFCC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63909" name="Line 69"/>
          <p:cNvSpPr/>
          <p:nvPr/>
        </p:nvSpPr>
        <p:spPr>
          <a:xfrm>
            <a:off x="5508625" y="2997200"/>
            <a:ext cx="0" cy="431800"/>
          </a:xfrm>
          <a:prstGeom prst="line">
            <a:avLst/>
          </a:prstGeom>
          <a:ln w="28575" cap="flat" cmpd="sng">
            <a:solidFill>
              <a:srgbClr val="FFCC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63910" name="Line 70"/>
          <p:cNvSpPr/>
          <p:nvPr/>
        </p:nvSpPr>
        <p:spPr>
          <a:xfrm>
            <a:off x="5508625" y="3429000"/>
            <a:ext cx="2016125" cy="0"/>
          </a:xfrm>
          <a:prstGeom prst="line">
            <a:avLst/>
          </a:prstGeom>
          <a:ln w="28575" cap="flat" cmpd="sng">
            <a:solidFill>
              <a:srgbClr val="FFCC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63912" name="Line 72"/>
          <p:cNvSpPr/>
          <p:nvPr/>
        </p:nvSpPr>
        <p:spPr>
          <a:xfrm>
            <a:off x="5508625" y="2708275"/>
            <a:ext cx="0" cy="144463"/>
          </a:xfrm>
          <a:prstGeom prst="line">
            <a:avLst/>
          </a:prstGeom>
          <a:ln w="28575" cap="flat" cmpd="sng">
            <a:solidFill>
              <a:srgbClr val="FFCC00"/>
            </a:solidFill>
            <a:prstDash val="solid"/>
            <a:round/>
            <a:headEnd type="none" w="med" len="med"/>
            <a:tailEnd type="none" w="med" len="med"/>
          </a:ln>
        </p:spPr>
      </p:sp>
      <p:grpSp>
        <p:nvGrpSpPr>
          <p:cNvPr id="163939" name="Group 99"/>
          <p:cNvGrpSpPr/>
          <p:nvPr/>
        </p:nvGrpSpPr>
        <p:grpSpPr>
          <a:xfrm>
            <a:off x="5402263" y="1989138"/>
            <a:ext cx="682625" cy="574675"/>
            <a:chOff x="3379" y="1344"/>
            <a:chExt cx="430" cy="362"/>
          </a:xfrm>
        </p:grpSpPr>
        <p:sp>
          <p:nvSpPr>
            <p:cNvPr id="27659" name="Rectangle 59"/>
            <p:cNvSpPr/>
            <p:nvPr/>
          </p:nvSpPr>
          <p:spPr>
            <a:xfrm>
              <a:off x="3379" y="1344"/>
              <a:ext cx="136" cy="362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 wrap="none" anchor="ctr" anchorCtr="0"/>
            <a:p>
              <a:pPr>
                <a:buClrTx/>
                <a:buFontTx/>
                <a:buNone/>
              </a:pPr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graphicFrame>
          <p:nvGraphicFramePr>
            <p:cNvPr id="27660" name="Object 76"/>
            <p:cNvGraphicFramePr>
              <a:graphicFrameLocks noChangeAspect="1"/>
            </p:cNvGraphicFramePr>
            <p:nvPr/>
          </p:nvGraphicFramePr>
          <p:xfrm>
            <a:off x="3560" y="1344"/>
            <a:ext cx="249" cy="2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8" name="" r:id="rId1" imgW="133350" imgH="156210" progId="Equation.3">
                    <p:embed/>
                  </p:oleObj>
                </mc:Choice>
                <mc:Fallback>
                  <p:oleObj name="" r:id="rId1" imgW="133350" imgH="156210" progId="Equation.3">
                    <p:embed/>
                    <p:pic>
                      <p:nvPicPr>
                        <p:cNvPr id="0" name="图片 3077"/>
                        <p:cNvPicPr/>
                        <p:nvPr/>
                      </p:nvPicPr>
                      <p:blipFill>
                        <a:blip r:embed="rId2">
                          <a:clrChange>
                            <a:clrFrom>
                              <a:srgbClr val="000000"/>
                            </a:clrFrom>
                            <a:clrTo>
                              <a:srgbClr val="00008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560" y="1344"/>
                          <a:ext cx="249" cy="28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63940" name="Group 100"/>
          <p:cNvGrpSpPr/>
          <p:nvPr/>
        </p:nvGrpSpPr>
        <p:grpSpPr>
          <a:xfrm>
            <a:off x="7451725" y="2133600"/>
            <a:ext cx="700088" cy="574675"/>
            <a:chOff x="4694" y="1344"/>
            <a:chExt cx="441" cy="362"/>
          </a:xfrm>
        </p:grpSpPr>
        <p:sp>
          <p:nvSpPr>
            <p:cNvPr id="27662" name="Rectangle 61"/>
            <p:cNvSpPr/>
            <p:nvPr/>
          </p:nvSpPr>
          <p:spPr>
            <a:xfrm>
              <a:off x="4694" y="1344"/>
              <a:ext cx="136" cy="362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 wrap="none" anchor="ctr" anchorCtr="0"/>
            <a:p>
              <a:pPr>
                <a:buClrTx/>
                <a:buFontTx/>
                <a:buNone/>
              </a:pPr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graphicFrame>
          <p:nvGraphicFramePr>
            <p:cNvPr id="27663" name="Object 78"/>
            <p:cNvGraphicFramePr>
              <a:graphicFrameLocks noChangeAspect="1"/>
            </p:cNvGraphicFramePr>
            <p:nvPr/>
          </p:nvGraphicFramePr>
          <p:xfrm>
            <a:off x="4867" y="1344"/>
            <a:ext cx="268" cy="2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6" name="" r:id="rId3" imgW="144780" imgH="156210" progId="Equation.3">
                    <p:embed/>
                  </p:oleObj>
                </mc:Choice>
                <mc:Fallback>
                  <p:oleObj name="" r:id="rId3" imgW="144780" imgH="156210" progId="Equation.3">
                    <p:embed/>
                    <p:pic>
                      <p:nvPicPr>
                        <p:cNvPr id="0" name="图片 3075"/>
                        <p:cNvPicPr/>
                        <p:nvPr/>
                      </p:nvPicPr>
                      <p:blipFill>
                        <a:blip r:embed="rId4">
                          <a:clrChange>
                            <a:clrFrom>
                              <a:srgbClr val="000000"/>
                            </a:clrFrom>
                            <a:clrTo>
                              <a:srgbClr val="00008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867" y="1344"/>
                          <a:ext cx="268" cy="28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63938" name="Group 98"/>
          <p:cNvGrpSpPr/>
          <p:nvPr/>
        </p:nvGrpSpPr>
        <p:grpSpPr>
          <a:xfrm>
            <a:off x="5148263" y="2781300"/>
            <a:ext cx="1130300" cy="455613"/>
            <a:chOff x="3243" y="1752"/>
            <a:chExt cx="712" cy="287"/>
          </a:xfrm>
        </p:grpSpPr>
        <p:sp>
          <p:nvSpPr>
            <p:cNvPr id="27665" name="Line 62"/>
            <p:cNvSpPr/>
            <p:nvPr/>
          </p:nvSpPr>
          <p:spPr>
            <a:xfrm>
              <a:off x="3334" y="1888"/>
              <a:ext cx="226" cy="0"/>
            </a:xfrm>
            <a:prstGeom prst="line">
              <a:avLst/>
            </a:prstGeom>
            <a:ln w="38100" cap="flat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7666" name="Line 63"/>
            <p:cNvSpPr/>
            <p:nvPr/>
          </p:nvSpPr>
          <p:spPr>
            <a:xfrm>
              <a:off x="3243" y="1797"/>
              <a:ext cx="408" cy="0"/>
            </a:xfrm>
            <a:prstGeom prst="line">
              <a:avLst/>
            </a:prstGeom>
            <a:ln w="38100" cap="flat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aphicFrame>
          <p:nvGraphicFramePr>
            <p:cNvPr id="27667" name="Object 79"/>
            <p:cNvGraphicFramePr>
              <a:graphicFrameLocks noChangeAspect="1"/>
            </p:cNvGraphicFramePr>
            <p:nvPr/>
          </p:nvGraphicFramePr>
          <p:xfrm>
            <a:off x="3687" y="1752"/>
            <a:ext cx="268" cy="2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7" name="" r:id="rId5" imgW="144780" imgH="156210" progId="Equation.3">
                    <p:embed/>
                  </p:oleObj>
                </mc:Choice>
                <mc:Fallback>
                  <p:oleObj name="" r:id="rId5" imgW="144780" imgH="156210" progId="Equation.3">
                    <p:embed/>
                    <p:pic>
                      <p:nvPicPr>
                        <p:cNvPr id="0" name="图片 3076"/>
                        <p:cNvPicPr/>
                        <p:nvPr/>
                      </p:nvPicPr>
                      <p:blipFill>
                        <a:blip r:embed="rId6">
                          <a:clrChange>
                            <a:clrFrom>
                              <a:srgbClr val="000000"/>
                            </a:clrFrom>
                            <a:clrTo>
                              <a:srgbClr val="00008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687" y="1752"/>
                          <a:ext cx="268" cy="28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63941" name="Group 101"/>
          <p:cNvGrpSpPr/>
          <p:nvPr/>
        </p:nvGrpSpPr>
        <p:grpSpPr>
          <a:xfrm>
            <a:off x="539750" y="1196975"/>
            <a:ext cx="3438525" cy="2544763"/>
            <a:chOff x="249" y="754"/>
            <a:chExt cx="2166" cy="1603"/>
          </a:xfrm>
        </p:grpSpPr>
        <p:grpSp>
          <p:nvGrpSpPr>
            <p:cNvPr id="27669" name="Group 7"/>
            <p:cNvGrpSpPr/>
            <p:nvPr/>
          </p:nvGrpSpPr>
          <p:grpSpPr>
            <a:xfrm>
              <a:off x="1215" y="1042"/>
              <a:ext cx="336" cy="239"/>
              <a:chOff x="1344" y="1884"/>
              <a:chExt cx="336" cy="239"/>
            </a:xfrm>
          </p:grpSpPr>
          <p:graphicFrame>
            <p:nvGraphicFramePr>
              <p:cNvPr id="27670" name="Object 8"/>
              <p:cNvGraphicFramePr>
                <a:graphicFrameLocks noChangeAspect="1"/>
              </p:cNvGraphicFramePr>
              <p:nvPr/>
            </p:nvGraphicFramePr>
            <p:xfrm>
              <a:off x="1344" y="1884"/>
              <a:ext cx="336" cy="23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79" name="" r:id="rId7" imgW="6126480" imgH="4434840" progId="Visio.Drawing.4">
                      <p:embed/>
                    </p:oleObj>
                  </mc:Choice>
                  <mc:Fallback>
                    <p:oleObj name="" r:id="rId7" imgW="6126480" imgH="4434840" progId="Visio.Drawing.4">
                      <p:embed/>
                      <p:pic>
                        <p:nvPicPr>
                          <p:cNvPr id="0" name="图片 3078"/>
                          <p:cNvPicPr/>
                          <p:nvPr/>
                        </p:nvPicPr>
                        <p:blipFill>
                          <a:blip r:embed="rId8"/>
                          <a:stretch>
                            <a:fillRect/>
                          </a:stretch>
                        </p:blipFill>
                        <p:spPr>
                          <a:xfrm>
                            <a:off x="1344" y="1884"/>
                            <a:ext cx="336" cy="239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7671" name="Line 9"/>
              <p:cNvSpPr/>
              <p:nvPr/>
            </p:nvSpPr>
            <p:spPr>
              <a:xfrm flipV="1">
                <a:off x="1440" y="2016"/>
                <a:ext cx="144" cy="0"/>
              </a:xfrm>
              <a:prstGeom prst="line">
                <a:avLst/>
              </a:prstGeom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27672" name="Group 10"/>
            <p:cNvGrpSpPr/>
            <p:nvPr/>
          </p:nvGrpSpPr>
          <p:grpSpPr>
            <a:xfrm>
              <a:off x="687" y="1425"/>
              <a:ext cx="288" cy="480"/>
              <a:chOff x="864" y="2555"/>
              <a:chExt cx="288" cy="480"/>
            </a:xfrm>
          </p:grpSpPr>
          <p:sp>
            <p:nvSpPr>
              <p:cNvPr id="27673" name="AutoShape 11"/>
              <p:cNvSpPr/>
              <p:nvPr/>
            </p:nvSpPr>
            <p:spPr>
              <a:xfrm>
                <a:off x="864" y="2555"/>
                <a:ext cx="288" cy="480"/>
              </a:xfrm>
              <a:prstGeom prst="can">
                <a:avLst>
                  <a:gd name="adj" fmla="val 41667"/>
                </a:avLst>
              </a:prstGeom>
              <a:solidFill>
                <a:srgbClr val="00FFFF"/>
              </a:solidFill>
              <a:ln w="127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ClrTx/>
                  <a:buFontTx/>
                  <a:buNone/>
                </a:pPr>
                <a:endParaRPr lang="zh-CN" altLang="en-US" dirty="0">
                  <a:latin typeface="Arial" panose="020B0604020202020204" pitchFamily="34" charset="0"/>
                  <a:ea typeface="楷体_GB2312" pitchFamily="49" charset="-122"/>
                </a:endParaRPr>
              </a:p>
            </p:txBody>
          </p:sp>
          <p:sp>
            <p:nvSpPr>
              <p:cNvPr id="27674" name="AutoShape 12"/>
              <p:cNvSpPr/>
              <p:nvPr/>
            </p:nvSpPr>
            <p:spPr>
              <a:xfrm>
                <a:off x="960" y="2555"/>
                <a:ext cx="96" cy="85"/>
              </a:xfrm>
              <a:prstGeom prst="can">
                <a:avLst>
                  <a:gd name="adj" fmla="val 45690"/>
                </a:avLst>
              </a:prstGeom>
              <a:solidFill>
                <a:srgbClr val="00FFFF"/>
              </a:solidFill>
              <a:ln w="127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ClrTx/>
                  <a:buFontTx/>
                  <a:buNone/>
                </a:pPr>
                <a:endParaRPr lang="zh-CN" altLang="en-US" dirty="0">
                  <a:latin typeface="Arial" panose="020B0604020202020204" pitchFamily="34" charset="0"/>
                  <a:ea typeface="楷体_GB2312" pitchFamily="49" charset="-122"/>
                </a:endParaRPr>
              </a:p>
            </p:txBody>
          </p:sp>
        </p:grpSp>
        <p:sp>
          <p:nvSpPr>
            <p:cNvPr id="27675" name="Freeform 13"/>
            <p:cNvSpPr/>
            <p:nvPr/>
          </p:nvSpPr>
          <p:spPr>
            <a:xfrm>
              <a:off x="831" y="1174"/>
              <a:ext cx="432" cy="240"/>
            </a:xfrm>
            <a:custGeom>
              <a:avLst/>
              <a:gdLst/>
              <a:ahLst/>
              <a:cxnLst>
                <a:cxn ang="0">
                  <a:pos x="0" y="240"/>
                </a:cxn>
                <a:cxn ang="0">
                  <a:pos x="0" y="0"/>
                </a:cxn>
                <a:cxn ang="0">
                  <a:pos x="432" y="0"/>
                </a:cxn>
              </a:cxnLst>
              <a:pathLst>
                <a:path w="432" h="240">
                  <a:moveTo>
                    <a:pt x="0" y="240"/>
                  </a:moveTo>
                  <a:lnTo>
                    <a:pt x="0" y="0"/>
                  </a:lnTo>
                  <a:lnTo>
                    <a:pt x="432" y="0"/>
                  </a:lnTo>
                </a:path>
              </a:pathLst>
            </a:custGeom>
            <a:noFill/>
            <a:ln w="38100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7676" name="Freeform 14"/>
            <p:cNvSpPr/>
            <p:nvPr/>
          </p:nvSpPr>
          <p:spPr>
            <a:xfrm>
              <a:off x="1503" y="1174"/>
              <a:ext cx="576" cy="62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72" y="0"/>
                </a:cxn>
                <a:cxn ang="0">
                  <a:pos x="272" y="624"/>
                </a:cxn>
                <a:cxn ang="0">
                  <a:pos x="747" y="624"/>
                </a:cxn>
              </a:cxnLst>
              <a:pathLst>
                <a:path w="528" h="624">
                  <a:moveTo>
                    <a:pt x="0" y="0"/>
                  </a:moveTo>
                  <a:lnTo>
                    <a:pt x="192" y="0"/>
                  </a:lnTo>
                  <a:lnTo>
                    <a:pt x="192" y="624"/>
                  </a:lnTo>
                  <a:lnTo>
                    <a:pt x="528" y="624"/>
                  </a:lnTo>
                </a:path>
              </a:pathLst>
            </a:custGeom>
            <a:noFill/>
            <a:ln w="38100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7677" name="Freeform 15"/>
            <p:cNvSpPr/>
            <p:nvPr/>
          </p:nvSpPr>
          <p:spPr>
            <a:xfrm>
              <a:off x="839" y="1842"/>
              <a:ext cx="1248" cy="240"/>
            </a:xfrm>
            <a:custGeom>
              <a:avLst/>
              <a:gdLst/>
              <a:ahLst/>
              <a:cxnLst>
                <a:cxn ang="0">
                  <a:pos x="1248" y="0"/>
                </a:cxn>
                <a:cxn ang="0">
                  <a:pos x="1248" y="240"/>
                </a:cxn>
                <a:cxn ang="0">
                  <a:pos x="0" y="240"/>
                </a:cxn>
                <a:cxn ang="0">
                  <a:pos x="0" y="48"/>
                </a:cxn>
              </a:cxnLst>
              <a:pathLst>
                <a:path w="1248" h="240">
                  <a:moveTo>
                    <a:pt x="1248" y="0"/>
                  </a:moveTo>
                  <a:lnTo>
                    <a:pt x="1248" y="240"/>
                  </a:lnTo>
                  <a:lnTo>
                    <a:pt x="0" y="240"/>
                  </a:lnTo>
                  <a:lnTo>
                    <a:pt x="0" y="48"/>
                  </a:lnTo>
                </a:path>
              </a:pathLst>
            </a:custGeom>
            <a:noFill/>
            <a:ln w="38100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grpSp>
          <p:nvGrpSpPr>
            <p:cNvPr id="27678" name="Group 17"/>
            <p:cNvGrpSpPr/>
            <p:nvPr/>
          </p:nvGrpSpPr>
          <p:grpSpPr>
            <a:xfrm>
              <a:off x="1854" y="1335"/>
              <a:ext cx="471" cy="256"/>
              <a:chOff x="2031" y="2465"/>
              <a:chExt cx="471" cy="256"/>
            </a:xfrm>
          </p:grpSpPr>
          <p:sp>
            <p:nvSpPr>
              <p:cNvPr id="27679" name="Freeform 18"/>
              <p:cNvSpPr/>
              <p:nvPr/>
            </p:nvSpPr>
            <p:spPr>
              <a:xfrm>
                <a:off x="2031" y="2708"/>
                <a:ext cx="86" cy="9"/>
              </a:xfrm>
              <a:custGeom>
                <a:avLst/>
                <a:gdLst/>
                <a:ahLst/>
                <a:cxnLst>
                  <a:cxn ang="0">
                    <a:pos x="86" y="9"/>
                  </a:cxn>
                  <a:cxn ang="0">
                    <a:pos x="0" y="0"/>
                  </a:cxn>
                </a:cxnLst>
                <a:pathLst>
                  <a:path w="86" h="9">
                    <a:moveTo>
                      <a:pt x="86" y="9"/>
                    </a:moveTo>
                    <a:lnTo>
                      <a:pt x="0" y="0"/>
                    </a:lnTo>
                  </a:path>
                </a:pathLst>
              </a:custGeom>
              <a:noFill/>
              <a:ln w="1270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7680" name="Freeform 19"/>
              <p:cNvSpPr/>
              <p:nvPr/>
            </p:nvSpPr>
            <p:spPr>
              <a:xfrm>
                <a:off x="2258" y="2465"/>
                <a:ext cx="1" cy="66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66"/>
                  </a:cxn>
                </a:cxnLst>
                <a:pathLst>
                  <a:path w="1" h="66">
                    <a:moveTo>
                      <a:pt x="0" y="0"/>
                    </a:moveTo>
                    <a:lnTo>
                      <a:pt x="0" y="66"/>
                    </a:lnTo>
                  </a:path>
                </a:pathLst>
              </a:custGeom>
              <a:noFill/>
              <a:ln w="1270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7681" name="Line 20"/>
              <p:cNvSpPr/>
              <p:nvPr/>
            </p:nvSpPr>
            <p:spPr>
              <a:xfrm rot="-68746">
                <a:off x="2112" y="2496"/>
                <a:ext cx="48" cy="59"/>
              </a:xfrm>
              <a:prstGeom prst="line">
                <a:avLst/>
              </a:prstGeom>
              <a:ln w="1270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7682" name="Line 21"/>
              <p:cNvSpPr/>
              <p:nvPr/>
            </p:nvSpPr>
            <p:spPr>
              <a:xfrm rot="-708147">
                <a:off x="2064" y="2592"/>
                <a:ext cx="48" cy="37"/>
              </a:xfrm>
              <a:prstGeom prst="line">
                <a:avLst/>
              </a:prstGeom>
              <a:ln w="1270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7683" name="Line 22"/>
              <p:cNvSpPr/>
              <p:nvPr/>
            </p:nvSpPr>
            <p:spPr>
              <a:xfrm flipH="1">
                <a:off x="2352" y="2496"/>
                <a:ext cx="29" cy="48"/>
              </a:xfrm>
              <a:prstGeom prst="line">
                <a:avLst/>
              </a:prstGeom>
              <a:ln w="1270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7684" name="Line 23"/>
              <p:cNvSpPr/>
              <p:nvPr/>
            </p:nvSpPr>
            <p:spPr>
              <a:xfrm rot="823120" flipH="1">
                <a:off x="2400" y="2581"/>
                <a:ext cx="48" cy="48"/>
              </a:xfrm>
              <a:prstGeom prst="line">
                <a:avLst/>
              </a:prstGeom>
              <a:ln w="1270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7685" name="Freeform 24"/>
              <p:cNvSpPr/>
              <p:nvPr/>
            </p:nvSpPr>
            <p:spPr>
              <a:xfrm>
                <a:off x="2439" y="2703"/>
                <a:ext cx="63" cy="18"/>
              </a:xfrm>
              <a:custGeom>
                <a:avLst/>
                <a:gdLst/>
                <a:ahLst/>
                <a:cxnLst>
                  <a:cxn ang="0">
                    <a:pos x="63" y="0"/>
                  </a:cxn>
                  <a:cxn ang="0">
                    <a:pos x="0" y="18"/>
                  </a:cxn>
                </a:cxnLst>
                <a:pathLst>
                  <a:path w="63" h="18">
                    <a:moveTo>
                      <a:pt x="63" y="0"/>
                    </a:moveTo>
                    <a:lnTo>
                      <a:pt x="0" y="18"/>
                    </a:lnTo>
                  </a:path>
                </a:pathLst>
              </a:custGeom>
              <a:noFill/>
              <a:ln w="1270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  <p:sp>
          <p:nvSpPr>
            <p:cNvPr id="27686" name="Text Box 25"/>
            <p:cNvSpPr txBox="1"/>
            <p:nvPr/>
          </p:nvSpPr>
          <p:spPr>
            <a:xfrm>
              <a:off x="1202" y="2069"/>
              <a:ext cx="639" cy="288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ctr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400" dirty="0">
                  <a:solidFill>
                    <a:srgbClr val="FFCC99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导线</a:t>
              </a:r>
              <a:endParaRPr lang="zh-CN" altLang="en-US" sz="2400" dirty="0">
                <a:solidFill>
                  <a:srgbClr val="FFCC99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7687" name="Text Box 26"/>
            <p:cNvSpPr txBox="1"/>
            <p:nvPr/>
          </p:nvSpPr>
          <p:spPr>
            <a:xfrm>
              <a:off x="249" y="1344"/>
              <a:ext cx="346" cy="635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eaVert" anchor="ctr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400" dirty="0">
                  <a:solidFill>
                    <a:srgbClr val="FFCC99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电池</a:t>
              </a:r>
              <a:endParaRPr lang="zh-CN" altLang="en-US" sz="2400" dirty="0">
                <a:solidFill>
                  <a:srgbClr val="FFCC99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7688" name="Text Box 27"/>
            <p:cNvSpPr txBox="1"/>
            <p:nvPr/>
          </p:nvSpPr>
          <p:spPr>
            <a:xfrm>
              <a:off x="975" y="754"/>
              <a:ext cx="720" cy="288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ctr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400" dirty="0">
                  <a:solidFill>
                    <a:srgbClr val="FFCC99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开关</a:t>
              </a:r>
              <a:endParaRPr lang="zh-CN" altLang="en-US" sz="2400" dirty="0">
                <a:solidFill>
                  <a:srgbClr val="FFCC99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7689" name="Text Box 28"/>
            <p:cNvSpPr txBox="1"/>
            <p:nvPr/>
          </p:nvSpPr>
          <p:spPr>
            <a:xfrm>
              <a:off x="1710" y="1047"/>
              <a:ext cx="705" cy="288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ctr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400" dirty="0">
                  <a:solidFill>
                    <a:srgbClr val="FFCC99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灯泡</a:t>
              </a:r>
              <a:endParaRPr lang="zh-CN" altLang="en-US" sz="2400" dirty="0">
                <a:solidFill>
                  <a:srgbClr val="FFCC99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7690" name="Litebulb"/>
            <p:cNvSpPr>
              <a:spLocks noEditPoints="1"/>
            </p:cNvSpPr>
            <p:nvPr/>
          </p:nvSpPr>
          <p:spPr>
            <a:xfrm>
              <a:off x="1927" y="1434"/>
              <a:ext cx="272" cy="40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pathLst>
                <a:path w="21600" h="21600">
                  <a:moveTo>
                    <a:pt x="10825" y="21723"/>
                  </a:moveTo>
                  <a:lnTo>
                    <a:pt x="11215" y="21723"/>
                  </a:lnTo>
                  <a:lnTo>
                    <a:pt x="11552" y="21688"/>
                  </a:lnTo>
                  <a:lnTo>
                    <a:pt x="11916" y="21617"/>
                  </a:lnTo>
                  <a:lnTo>
                    <a:pt x="12253" y="21547"/>
                  </a:lnTo>
                  <a:lnTo>
                    <a:pt x="12617" y="21441"/>
                  </a:lnTo>
                  <a:lnTo>
                    <a:pt x="12902" y="21317"/>
                  </a:lnTo>
                  <a:lnTo>
                    <a:pt x="13162" y="21176"/>
                  </a:lnTo>
                  <a:lnTo>
                    <a:pt x="13396" y="21000"/>
                  </a:lnTo>
                  <a:lnTo>
                    <a:pt x="13655" y="20841"/>
                  </a:lnTo>
                  <a:lnTo>
                    <a:pt x="13863" y="20629"/>
                  </a:lnTo>
                  <a:lnTo>
                    <a:pt x="14045" y="20435"/>
                  </a:lnTo>
                  <a:lnTo>
                    <a:pt x="14200" y="20223"/>
                  </a:lnTo>
                  <a:lnTo>
                    <a:pt x="14356" y="19994"/>
                  </a:lnTo>
                  <a:lnTo>
                    <a:pt x="14460" y="19747"/>
                  </a:lnTo>
                  <a:lnTo>
                    <a:pt x="14512" y="19482"/>
                  </a:lnTo>
                  <a:lnTo>
                    <a:pt x="14512" y="19235"/>
                  </a:lnTo>
                  <a:lnTo>
                    <a:pt x="14512" y="19147"/>
                  </a:lnTo>
                  <a:lnTo>
                    <a:pt x="14512" y="18900"/>
                  </a:lnTo>
                  <a:lnTo>
                    <a:pt x="14512" y="18529"/>
                  </a:lnTo>
                  <a:lnTo>
                    <a:pt x="14512" y="18052"/>
                  </a:lnTo>
                  <a:lnTo>
                    <a:pt x="14512" y="17505"/>
                  </a:lnTo>
                  <a:lnTo>
                    <a:pt x="14512" y="16976"/>
                  </a:lnTo>
                  <a:lnTo>
                    <a:pt x="14512" y="16464"/>
                  </a:lnTo>
                  <a:lnTo>
                    <a:pt x="14512" y="15952"/>
                  </a:lnTo>
                  <a:lnTo>
                    <a:pt x="14512" y="15758"/>
                  </a:lnTo>
                  <a:lnTo>
                    <a:pt x="14616" y="15547"/>
                  </a:lnTo>
                  <a:lnTo>
                    <a:pt x="14694" y="15352"/>
                  </a:lnTo>
                  <a:lnTo>
                    <a:pt x="14798" y="15141"/>
                  </a:lnTo>
                  <a:lnTo>
                    <a:pt x="15161" y="14735"/>
                  </a:lnTo>
                  <a:lnTo>
                    <a:pt x="15602" y="14329"/>
                  </a:lnTo>
                  <a:lnTo>
                    <a:pt x="16745" y="13552"/>
                  </a:lnTo>
                  <a:lnTo>
                    <a:pt x="18043" y="12670"/>
                  </a:lnTo>
                  <a:lnTo>
                    <a:pt x="18744" y="12194"/>
                  </a:lnTo>
                  <a:lnTo>
                    <a:pt x="19341" y="11647"/>
                  </a:lnTo>
                  <a:lnTo>
                    <a:pt x="19938" y="11099"/>
                  </a:lnTo>
                  <a:lnTo>
                    <a:pt x="20483" y="10464"/>
                  </a:lnTo>
                  <a:lnTo>
                    <a:pt x="20743" y="10164"/>
                  </a:lnTo>
                  <a:lnTo>
                    <a:pt x="20950" y="9794"/>
                  </a:lnTo>
                  <a:lnTo>
                    <a:pt x="21132" y="9441"/>
                  </a:lnTo>
                  <a:lnTo>
                    <a:pt x="21288" y="9035"/>
                  </a:lnTo>
                  <a:lnTo>
                    <a:pt x="21444" y="8664"/>
                  </a:lnTo>
                  <a:lnTo>
                    <a:pt x="21548" y="8223"/>
                  </a:lnTo>
                  <a:lnTo>
                    <a:pt x="21600" y="7782"/>
                  </a:lnTo>
                  <a:lnTo>
                    <a:pt x="21600" y="7341"/>
                  </a:lnTo>
                  <a:lnTo>
                    <a:pt x="21600" y="6935"/>
                  </a:lnTo>
                  <a:lnTo>
                    <a:pt x="21548" y="6564"/>
                  </a:lnTo>
                  <a:lnTo>
                    <a:pt x="21496" y="6229"/>
                  </a:lnTo>
                  <a:lnTo>
                    <a:pt x="21392" y="5858"/>
                  </a:lnTo>
                  <a:lnTo>
                    <a:pt x="21288" y="5523"/>
                  </a:lnTo>
                  <a:lnTo>
                    <a:pt x="21132" y="5135"/>
                  </a:lnTo>
                  <a:lnTo>
                    <a:pt x="20950" y="4800"/>
                  </a:lnTo>
                  <a:lnTo>
                    <a:pt x="20743" y="4464"/>
                  </a:lnTo>
                  <a:lnTo>
                    <a:pt x="20535" y="4164"/>
                  </a:lnTo>
                  <a:lnTo>
                    <a:pt x="20301" y="3847"/>
                  </a:lnTo>
                  <a:lnTo>
                    <a:pt x="20042" y="3547"/>
                  </a:lnTo>
                  <a:lnTo>
                    <a:pt x="19782" y="3247"/>
                  </a:lnTo>
                  <a:lnTo>
                    <a:pt x="19133" y="2664"/>
                  </a:lnTo>
                  <a:lnTo>
                    <a:pt x="18458" y="2152"/>
                  </a:lnTo>
                  <a:lnTo>
                    <a:pt x="17705" y="1694"/>
                  </a:lnTo>
                  <a:lnTo>
                    <a:pt x="16849" y="1252"/>
                  </a:lnTo>
                  <a:lnTo>
                    <a:pt x="16407" y="1076"/>
                  </a:lnTo>
                  <a:lnTo>
                    <a:pt x="15940" y="900"/>
                  </a:lnTo>
                  <a:lnTo>
                    <a:pt x="15499" y="741"/>
                  </a:lnTo>
                  <a:lnTo>
                    <a:pt x="15057" y="600"/>
                  </a:lnTo>
                  <a:lnTo>
                    <a:pt x="14564" y="458"/>
                  </a:lnTo>
                  <a:lnTo>
                    <a:pt x="14045" y="335"/>
                  </a:lnTo>
                  <a:lnTo>
                    <a:pt x="13500" y="229"/>
                  </a:lnTo>
                  <a:lnTo>
                    <a:pt x="13006" y="158"/>
                  </a:lnTo>
                  <a:lnTo>
                    <a:pt x="12461" y="88"/>
                  </a:lnTo>
                  <a:lnTo>
                    <a:pt x="11968" y="52"/>
                  </a:lnTo>
                  <a:lnTo>
                    <a:pt x="11423" y="17"/>
                  </a:lnTo>
                  <a:lnTo>
                    <a:pt x="10825" y="17"/>
                  </a:lnTo>
                  <a:lnTo>
                    <a:pt x="10254" y="17"/>
                  </a:lnTo>
                  <a:lnTo>
                    <a:pt x="9709" y="52"/>
                  </a:lnTo>
                  <a:lnTo>
                    <a:pt x="9216" y="88"/>
                  </a:lnTo>
                  <a:lnTo>
                    <a:pt x="8671" y="158"/>
                  </a:lnTo>
                  <a:lnTo>
                    <a:pt x="8177" y="229"/>
                  </a:lnTo>
                  <a:lnTo>
                    <a:pt x="7632" y="335"/>
                  </a:lnTo>
                  <a:lnTo>
                    <a:pt x="7113" y="458"/>
                  </a:lnTo>
                  <a:lnTo>
                    <a:pt x="6620" y="600"/>
                  </a:lnTo>
                  <a:lnTo>
                    <a:pt x="6178" y="741"/>
                  </a:lnTo>
                  <a:lnTo>
                    <a:pt x="5737" y="900"/>
                  </a:lnTo>
                  <a:lnTo>
                    <a:pt x="5270" y="1076"/>
                  </a:lnTo>
                  <a:lnTo>
                    <a:pt x="4828" y="1252"/>
                  </a:lnTo>
                  <a:lnTo>
                    <a:pt x="3972" y="1694"/>
                  </a:lnTo>
                  <a:lnTo>
                    <a:pt x="3219" y="2152"/>
                  </a:lnTo>
                  <a:lnTo>
                    <a:pt x="2544" y="2664"/>
                  </a:lnTo>
                  <a:lnTo>
                    <a:pt x="1895" y="3247"/>
                  </a:lnTo>
                  <a:lnTo>
                    <a:pt x="1635" y="3547"/>
                  </a:lnTo>
                  <a:lnTo>
                    <a:pt x="1375" y="3847"/>
                  </a:lnTo>
                  <a:lnTo>
                    <a:pt x="1142" y="4164"/>
                  </a:lnTo>
                  <a:lnTo>
                    <a:pt x="934" y="4464"/>
                  </a:lnTo>
                  <a:lnTo>
                    <a:pt x="726" y="4800"/>
                  </a:lnTo>
                  <a:lnTo>
                    <a:pt x="545" y="5135"/>
                  </a:lnTo>
                  <a:lnTo>
                    <a:pt x="389" y="5523"/>
                  </a:lnTo>
                  <a:lnTo>
                    <a:pt x="285" y="5858"/>
                  </a:lnTo>
                  <a:lnTo>
                    <a:pt x="181" y="6229"/>
                  </a:lnTo>
                  <a:lnTo>
                    <a:pt x="129" y="6564"/>
                  </a:lnTo>
                  <a:lnTo>
                    <a:pt x="77" y="6935"/>
                  </a:lnTo>
                  <a:lnTo>
                    <a:pt x="77" y="7341"/>
                  </a:lnTo>
                  <a:lnTo>
                    <a:pt x="77" y="7782"/>
                  </a:lnTo>
                  <a:lnTo>
                    <a:pt x="129" y="8223"/>
                  </a:lnTo>
                  <a:lnTo>
                    <a:pt x="233" y="8664"/>
                  </a:lnTo>
                  <a:lnTo>
                    <a:pt x="389" y="9035"/>
                  </a:lnTo>
                  <a:lnTo>
                    <a:pt x="545" y="9441"/>
                  </a:lnTo>
                  <a:lnTo>
                    <a:pt x="726" y="9794"/>
                  </a:lnTo>
                  <a:lnTo>
                    <a:pt x="934" y="10164"/>
                  </a:lnTo>
                  <a:lnTo>
                    <a:pt x="1194" y="10464"/>
                  </a:lnTo>
                  <a:lnTo>
                    <a:pt x="1739" y="11099"/>
                  </a:lnTo>
                  <a:lnTo>
                    <a:pt x="2336" y="11647"/>
                  </a:lnTo>
                  <a:lnTo>
                    <a:pt x="2933" y="12194"/>
                  </a:lnTo>
                  <a:lnTo>
                    <a:pt x="3634" y="12670"/>
                  </a:lnTo>
                  <a:lnTo>
                    <a:pt x="4932" y="13552"/>
                  </a:lnTo>
                  <a:lnTo>
                    <a:pt x="6075" y="14329"/>
                  </a:lnTo>
                  <a:lnTo>
                    <a:pt x="6516" y="14735"/>
                  </a:lnTo>
                  <a:lnTo>
                    <a:pt x="6879" y="15141"/>
                  </a:lnTo>
                  <a:lnTo>
                    <a:pt x="6983" y="15352"/>
                  </a:lnTo>
                  <a:lnTo>
                    <a:pt x="7061" y="15547"/>
                  </a:lnTo>
                  <a:lnTo>
                    <a:pt x="7165" y="15758"/>
                  </a:lnTo>
                  <a:lnTo>
                    <a:pt x="7165" y="15952"/>
                  </a:lnTo>
                  <a:lnTo>
                    <a:pt x="7165" y="16464"/>
                  </a:lnTo>
                  <a:lnTo>
                    <a:pt x="7165" y="16976"/>
                  </a:lnTo>
                  <a:lnTo>
                    <a:pt x="7165" y="17505"/>
                  </a:lnTo>
                  <a:lnTo>
                    <a:pt x="7165" y="18052"/>
                  </a:lnTo>
                  <a:lnTo>
                    <a:pt x="7165" y="18529"/>
                  </a:lnTo>
                  <a:lnTo>
                    <a:pt x="7165" y="18900"/>
                  </a:lnTo>
                  <a:lnTo>
                    <a:pt x="7165" y="19147"/>
                  </a:lnTo>
                  <a:lnTo>
                    <a:pt x="7165" y="19235"/>
                  </a:lnTo>
                  <a:lnTo>
                    <a:pt x="7165" y="19482"/>
                  </a:lnTo>
                  <a:lnTo>
                    <a:pt x="7217" y="19747"/>
                  </a:lnTo>
                  <a:lnTo>
                    <a:pt x="7321" y="19994"/>
                  </a:lnTo>
                  <a:lnTo>
                    <a:pt x="7476" y="20223"/>
                  </a:lnTo>
                  <a:lnTo>
                    <a:pt x="7632" y="20435"/>
                  </a:lnTo>
                  <a:lnTo>
                    <a:pt x="7814" y="20629"/>
                  </a:lnTo>
                  <a:lnTo>
                    <a:pt x="8022" y="20841"/>
                  </a:lnTo>
                  <a:lnTo>
                    <a:pt x="8281" y="21000"/>
                  </a:lnTo>
                  <a:lnTo>
                    <a:pt x="8515" y="21176"/>
                  </a:lnTo>
                  <a:lnTo>
                    <a:pt x="8775" y="21317"/>
                  </a:lnTo>
                  <a:lnTo>
                    <a:pt x="9060" y="21441"/>
                  </a:lnTo>
                  <a:lnTo>
                    <a:pt x="9424" y="21547"/>
                  </a:lnTo>
                  <a:lnTo>
                    <a:pt x="9761" y="21617"/>
                  </a:lnTo>
                  <a:lnTo>
                    <a:pt x="10125" y="21688"/>
                  </a:lnTo>
                  <a:lnTo>
                    <a:pt x="10462" y="21723"/>
                  </a:lnTo>
                  <a:lnTo>
                    <a:pt x="10825" y="21723"/>
                  </a:lnTo>
                  <a:close/>
                </a:path>
                <a:path w="21600" h="21600">
                  <a:moveTo>
                    <a:pt x="9242" y="14417"/>
                  </a:moveTo>
                  <a:lnTo>
                    <a:pt x="8541" y="12035"/>
                  </a:lnTo>
                  <a:lnTo>
                    <a:pt x="7295" y="10129"/>
                  </a:lnTo>
                  <a:lnTo>
                    <a:pt x="6905" y="9652"/>
                  </a:lnTo>
                  <a:lnTo>
                    <a:pt x="8541" y="10182"/>
                  </a:lnTo>
                  <a:lnTo>
                    <a:pt x="9787" y="9547"/>
                  </a:lnTo>
                  <a:lnTo>
                    <a:pt x="11189" y="10129"/>
                  </a:lnTo>
                  <a:lnTo>
                    <a:pt x="12279" y="9547"/>
                  </a:lnTo>
                  <a:lnTo>
                    <a:pt x="13370" y="10076"/>
                  </a:lnTo>
                  <a:lnTo>
                    <a:pt x="14850" y="9652"/>
                  </a:lnTo>
                  <a:lnTo>
                    <a:pt x="12902" y="12247"/>
                  </a:lnTo>
                  <a:lnTo>
                    <a:pt x="12357" y="14417"/>
                  </a:lnTo>
                  <a:moveTo>
                    <a:pt x="7191" y="15952"/>
                  </a:moveTo>
                  <a:lnTo>
                    <a:pt x="14512" y="15952"/>
                  </a:lnTo>
                  <a:lnTo>
                    <a:pt x="14512" y="17064"/>
                  </a:lnTo>
                  <a:lnTo>
                    <a:pt x="7191" y="17047"/>
                  </a:lnTo>
                  <a:lnTo>
                    <a:pt x="7191" y="18123"/>
                  </a:lnTo>
                  <a:lnTo>
                    <a:pt x="14512" y="18158"/>
                  </a:lnTo>
                  <a:lnTo>
                    <a:pt x="14538" y="19182"/>
                  </a:lnTo>
                  <a:lnTo>
                    <a:pt x="7217" y="19182"/>
                  </a:lnTo>
                </a:path>
              </a:pathLst>
            </a:custGeom>
            <a:solidFill>
              <a:srgbClr val="FFFFCC"/>
            </a:solidFill>
            <a:ln w="57150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163927" name="AutoShape 87" descr="羊皮纸"/>
          <p:cNvSpPr/>
          <p:nvPr/>
        </p:nvSpPr>
        <p:spPr>
          <a:xfrm>
            <a:off x="7092950" y="692150"/>
            <a:ext cx="1439863" cy="576263"/>
          </a:xfrm>
          <a:prstGeom prst="wedgeRectCallout">
            <a:avLst>
              <a:gd name="adj1" fmla="val -49009"/>
              <a:gd name="adj2" fmla="val 111708"/>
            </a:avLst>
          </a:prstGeom>
          <a:blipFill rotWithShape="1">
            <a:blip r:embed="rId9"/>
          </a:blipFill>
          <a:ln w="9525">
            <a:noFill/>
          </a:ln>
        </p:spPr>
        <p:txBody>
          <a:bodyPr anchor="ctr" anchorCtr="0"/>
          <a:p>
            <a:pPr algn="ctr" eaLnBrk="0" hangingPunct="0">
              <a:buClrTx/>
              <a:buFontTx/>
              <a:buNone/>
            </a:pP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电路图</a:t>
            </a:r>
            <a:endParaRPr lang="zh-CN" altLang="en-US" dirty="0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  <a:sym typeface="Symbol" panose="05050102010706020507" pitchFamily="18" charset="2"/>
            </a:endParaRPr>
          </a:p>
        </p:txBody>
      </p:sp>
      <p:sp>
        <p:nvSpPr>
          <p:cNvPr id="27692" name="AutoShape 88"/>
          <p:cNvSpPr/>
          <p:nvPr/>
        </p:nvSpPr>
        <p:spPr>
          <a:xfrm>
            <a:off x="2771775" y="4365625"/>
            <a:ext cx="576263" cy="142875"/>
          </a:xfrm>
          <a:prstGeom prst="rightArrow">
            <a:avLst>
              <a:gd name="adj1" fmla="val 50000"/>
              <a:gd name="adj2" fmla="val 100814"/>
            </a:avLst>
          </a:prstGeom>
          <a:noFill/>
          <a:ln w="12700">
            <a:noFill/>
          </a:ln>
        </p:spPr>
        <p:txBody>
          <a:bodyPr anchor="ctr" anchorCtr="0">
            <a:spAutoFit/>
          </a:bodyPr>
          <a:p>
            <a:pPr>
              <a:buClrTx/>
              <a:buFontTx/>
              <a:buNone/>
            </a:pPr>
            <a:endParaRPr lang="zh-CN" altLang="en-US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163929" name="AutoShape 89"/>
          <p:cNvSpPr/>
          <p:nvPr/>
        </p:nvSpPr>
        <p:spPr>
          <a:xfrm>
            <a:off x="2771775" y="4292600"/>
            <a:ext cx="533400" cy="144463"/>
          </a:xfrm>
          <a:prstGeom prst="rightArrow">
            <a:avLst>
              <a:gd name="adj1" fmla="val 50000"/>
              <a:gd name="adj2" fmla="val 92290"/>
            </a:avLst>
          </a:prstGeom>
          <a:solidFill>
            <a:schemeClr val="accent1"/>
          </a:solidFill>
          <a:ln w="12700" cap="flat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>
              <a:buClrTx/>
              <a:buFontTx/>
              <a:buNone/>
            </a:pPr>
            <a:endParaRPr lang="zh-CN" altLang="en-US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163930" name="Text Box 90"/>
          <p:cNvSpPr txBox="1"/>
          <p:nvPr/>
        </p:nvSpPr>
        <p:spPr>
          <a:xfrm>
            <a:off x="539750" y="5229225"/>
            <a:ext cx="2808288" cy="519113"/>
          </a:xfrm>
          <a:prstGeom prst="rect">
            <a:avLst/>
          </a:prstGeom>
          <a:noFill/>
          <a:ln w="12700">
            <a:noFill/>
          </a:ln>
        </p:spPr>
        <p:txBody>
          <a:bodyPr anchor="t" anchorCtr="0">
            <a:spAutoFit/>
          </a:bodyPr>
          <a:p>
            <a:pPr algn="ctr" eaLnBrk="0" hangingPunct="0">
              <a:spcBef>
                <a:spcPct val="50000"/>
              </a:spcBef>
              <a:buClr>
                <a:srgbClr val="FFFF00"/>
              </a:buClr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FF9900"/>
                </a:solidFill>
                <a:latin typeface="楷体_GB2312" pitchFamily="49" charset="-122"/>
                <a:ea typeface="楷体_GB2312" pitchFamily="49" charset="-122"/>
              </a:rPr>
              <a:t>理想电路元件</a:t>
            </a:r>
            <a:endParaRPr lang="zh-CN" altLang="en-US" dirty="0">
              <a:solidFill>
                <a:srgbClr val="FF99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63931" name="AutoShape 91"/>
          <p:cNvSpPr/>
          <p:nvPr/>
        </p:nvSpPr>
        <p:spPr>
          <a:xfrm>
            <a:off x="3203575" y="5375275"/>
            <a:ext cx="533400" cy="141288"/>
          </a:xfrm>
          <a:prstGeom prst="rightArrow">
            <a:avLst>
              <a:gd name="adj1" fmla="val 50000"/>
              <a:gd name="adj2" fmla="val 94364"/>
            </a:avLst>
          </a:prstGeom>
          <a:solidFill>
            <a:schemeClr val="accent1"/>
          </a:solidFill>
          <a:ln w="12700" cap="flat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>
              <a:buClrTx/>
              <a:buFontTx/>
              <a:buNone/>
            </a:pPr>
            <a:endParaRPr lang="zh-CN" altLang="en-US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163933" name="Text Box 93"/>
          <p:cNvSpPr txBox="1"/>
          <p:nvPr/>
        </p:nvSpPr>
        <p:spPr>
          <a:xfrm>
            <a:off x="3779838" y="5157788"/>
            <a:ext cx="4968875" cy="946150"/>
          </a:xfrm>
          <a:prstGeom prst="rect">
            <a:avLst/>
          </a:prstGeom>
          <a:noFill/>
          <a:ln w="12700">
            <a:noFill/>
          </a:ln>
        </p:spPr>
        <p:txBody>
          <a:bodyPr anchor="t" anchorCtr="0">
            <a:spAutoFit/>
          </a:bodyPr>
          <a:p>
            <a:pPr eaLnBrk="0" hangingPunct="0">
              <a:spcBef>
                <a:spcPct val="50000"/>
              </a:spcBef>
              <a:buClrTx/>
              <a:buFontTx/>
              <a:buNone/>
            </a:pP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有某种确定的电磁性能的理想元件。</a:t>
            </a:r>
            <a:endParaRPr lang="zh-CN" altLang="en-US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63934" name="Text Box 94"/>
          <p:cNvSpPr txBox="1"/>
          <p:nvPr/>
        </p:nvSpPr>
        <p:spPr>
          <a:xfrm>
            <a:off x="539750" y="4076700"/>
            <a:ext cx="2159000" cy="519113"/>
          </a:xfrm>
          <a:prstGeom prst="rect">
            <a:avLst/>
          </a:prstGeom>
          <a:noFill/>
          <a:ln w="12700">
            <a:noFill/>
          </a:ln>
        </p:spPr>
        <p:txBody>
          <a:bodyPr anchor="t" anchorCtr="0">
            <a:spAutoFit/>
          </a:bodyPr>
          <a:p>
            <a:pPr algn="ctr" eaLnBrk="0" hangingPunct="0">
              <a:spcBef>
                <a:spcPct val="50000"/>
              </a:spcBef>
              <a:buClr>
                <a:srgbClr val="FFFF00"/>
              </a:buClr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FF9900"/>
                </a:solidFill>
                <a:latin typeface="楷体_GB2312" pitchFamily="49" charset="-122"/>
                <a:ea typeface="楷体_GB2312" pitchFamily="49" charset="-122"/>
              </a:rPr>
              <a:t>电路模型</a:t>
            </a:r>
            <a:endParaRPr lang="zh-CN" altLang="en-US" dirty="0">
              <a:solidFill>
                <a:srgbClr val="FF99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163937" name="Group 97"/>
          <p:cNvGrpSpPr/>
          <p:nvPr/>
        </p:nvGrpSpPr>
        <p:grpSpPr>
          <a:xfrm>
            <a:off x="5508625" y="1268413"/>
            <a:ext cx="2016125" cy="576262"/>
            <a:chOff x="3470" y="799"/>
            <a:chExt cx="1270" cy="363"/>
          </a:xfrm>
        </p:grpSpPr>
        <p:sp>
          <p:nvSpPr>
            <p:cNvPr id="27699" name="Line 65"/>
            <p:cNvSpPr/>
            <p:nvPr/>
          </p:nvSpPr>
          <p:spPr>
            <a:xfrm>
              <a:off x="3470" y="1026"/>
              <a:ext cx="589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oval" w="med" len="med"/>
            </a:ln>
          </p:spPr>
        </p:sp>
        <p:sp>
          <p:nvSpPr>
            <p:cNvPr id="27700" name="Line 66"/>
            <p:cNvSpPr/>
            <p:nvPr/>
          </p:nvSpPr>
          <p:spPr>
            <a:xfrm>
              <a:off x="4286" y="1026"/>
              <a:ext cx="454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oval" w="med" len="med"/>
            </a:ln>
          </p:spPr>
        </p:sp>
        <p:sp>
          <p:nvSpPr>
            <p:cNvPr id="27701" name="Line 71"/>
            <p:cNvSpPr/>
            <p:nvPr/>
          </p:nvSpPr>
          <p:spPr>
            <a:xfrm>
              <a:off x="4105" y="845"/>
              <a:ext cx="181" cy="181"/>
            </a:xfrm>
            <a:prstGeom prst="line">
              <a:avLst/>
            </a:prstGeom>
            <a:ln w="38100" cap="flat" cmpd="sng">
              <a:solidFill>
                <a:srgbClr val="FFCC99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7702" name="Line 96"/>
            <p:cNvSpPr/>
            <p:nvPr/>
          </p:nvSpPr>
          <p:spPr>
            <a:xfrm flipH="1">
              <a:off x="4150" y="799"/>
              <a:ext cx="91" cy="363"/>
            </a:xfrm>
            <a:prstGeom prst="line">
              <a:avLst/>
            </a:prstGeom>
            <a:ln w="38100" cap="sq" cmpd="sng">
              <a:solidFill>
                <a:srgbClr val="FF3300"/>
              </a:solidFill>
              <a:prstDash val="solid"/>
              <a:round/>
              <a:headEnd type="none" w="med" len="med"/>
              <a:tailEnd type="triangle" w="med" len="med"/>
            </a:ln>
            <a:effectLst>
              <a:prstShdw prst="shdw17" dist="17961" dir="2699999">
                <a:srgbClr val="991F00"/>
              </a:prstShdw>
            </a:effectLst>
          </p:spPr>
        </p:sp>
      </p:grpSp>
      <p:grpSp>
        <p:nvGrpSpPr>
          <p:cNvPr id="27703" name="Group 120"/>
          <p:cNvGrpSpPr/>
          <p:nvPr/>
        </p:nvGrpSpPr>
        <p:grpSpPr>
          <a:xfrm>
            <a:off x="8316913" y="6453188"/>
            <a:ext cx="792162" cy="366712"/>
            <a:chOff x="5193" y="4020"/>
            <a:chExt cx="499" cy="231"/>
          </a:xfrm>
        </p:grpSpPr>
        <p:pic>
          <p:nvPicPr>
            <p:cNvPr id="27704" name="Picture 121" descr="78900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7705" name="Text Box 122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27706" name="Group 123"/>
          <p:cNvGrpSpPr/>
          <p:nvPr/>
        </p:nvGrpSpPr>
        <p:grpSpPr>
          <a:xfrm>
            <a:off x="7453313" y="6453188"/>
            <a:ext cx="792162" cy="366712"/>
            <a:chOff x="4649" y="4020"/>
            <a:chExt cx="499" cy="231"/>
          </a:xfrm>
        </p:grpSpPr>
        <p:pic>
          <p:nvPicPr>
            <p:cNvPr id="27707" name="Picture 124" descr="78900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7708" name="Text Box 125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27709" name="Group 136"/>
          <p:cNvGrpSpPr/>
          <p:nvPr/>
        </p:nvGrpSpPr>
        <p:grpSpPr>
          <a:xfrm>
            <a:off x="6588125" y="6445250"/>
            <a:ext cx="792163" cy="366713"/>
            <a:chOff x="5193" y="4020"/>
            <a:chExt cx="499" cy="231"/>
          </a:xfrm>
        </p:grpSpPr>
        <p:pic>
          <p:nvPicPr>
            <p:cNvPr id="27710" name="Picture 137" descr="78900">
              <a:hlinkClick r:id="" action="ppaction://hlinkshowjump?jump=firstslide"/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7711" name="Text Box 138">
              <a:hlinkClick r:id="" action="ppaction://hlinkshowjump?jump=firs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38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38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3" dur="2000"/>
                                        <p:tgtEl>
                                          <p:spTgt spid="163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8" dur="500"/>
                                        <p:tgtEl>
                                          <p:spTgt spid="1638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7" dur="2000"/>
                                        <p:tgtEl>
                                          <p:spTgt spid="163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1639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639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1639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163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1639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1639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639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2000"/>
                                        <p:tgtEl>
                                          <p:spTgt spid="1639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2000"/>
                            </p:stCondLst>
                            <p:childTnLst>
                              <p:par>
                                <p:cTn id="59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639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639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639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639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3" dur="500"/>
                                        <p:tgtEl>
                                          <p:spTgt spid="1639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500"/>
                            </p:stCondLst>
                            <p:childTnLst>
                              <p:par>
                                <p:cTn id="7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2000"/>
                                        <p:tgtEl>
                                          <p:spTgt spid="163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1639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1639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88" dur="500"/>
                                        <p:tgtEl>
                                          <p:spTgt spid="1639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500"/>
                            </p:stCondLst>
                            <p:childTnLst>
                              <p:par>
                                <p:cTn id="9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2000"/>
                                        <p:tgtEl>
                                          <p:spTgt spid="1639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45" grpId="0"/>
      <p:bldP spid="163856" grpId="0" animBg="1"/>
      <p:bldP spid="163895" grpId="0"/>
      <p:bldP spid="163927" grpId="0" animBg="1"/>
      <p:bldP spid="163929" grpId="0" animBg="1"/>
      <p:bldP spid="163930" grpId="0"/>
      <p:bldP spid="163931" grpId="0" animBg="1"/>
      <p:bldP spid="163933" grpId="0"/>
      <p:bldP spid="16393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3" name="Text Box 6"/>
          <p:cNvSpPr txBox="1"/>
          <p:nvPr/>
        </p:nvSpPr>
        <p:spPr>
          <a:xfrm>
            <a:off x="395288" y="549275"/>
            <a:ext cx="4608512" cy="519113"/>
          </a:xfrm>
          <a:prstGeom prst="rect">
            <a:avLst/>
          </a:prstGeom>
          <a:noFill/>
          <a:ln w="12700">
            <a:noFill/>
          </a:ln>
        </p:spPr>
        <p:txBody>
          <a:bodyPr anchor="ctr" anchorCtr="0">
            <a:spAutoFit/>
          </a:bodyPr>
          <a:p>
            <a:pPr algn="ctr" eaLnBrk="0" hangingPunct="0">
              <a:spcBef>
                <a:spcPct val="50000"/>
              </a:spcBef>
              <a:buClrTx/>
              <a:buFontTx/>
              <a:buNone/>
            </a:pPr>
            <a:r>
              <a:rPr lang="en-US" altLang="zh-CN" dirty="0">
                <a:solidFill>
                  <a:srgbClr val="FF6600"/>
                </a:solidFill>
                <a:latin typeface="Times New Roman" panose="02020603050405020304" pitchFamily="18" charset="0"/>
                <a:ea typeface="楷体_GB2312" pitchFamily="49" charset="-122"/>
              </a:rPr>
              <a:t>5</a:t>
            </a:r>
            <a:r>
              <a:rPr lang="zh-CN" altLang="en-US" dirty="0">
                <a:solidFill>
                  <a:srgbClr val="FF6600"/>
                </a:solidFill>
                <a:latin typeface="Times New Roman" panose="02020603050405020304" pitchFamily="18" charset="0"/>
                <a:ea typeface="楷体_GB2312" pitchFamily="49" charset="-122"/>
              </a:rPr>
              <a:t>种基本的理想电路元件：</a:t>
            </a:r>
            <a:endParaRPr lang="zh-CN" altLang="en-US" dirty="0">
              <a:solidFill>
                <a:srgbClr val="FF66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8674" name="Text Box 7"/>
          <p:cNvSpPr txBox="1"/>
          <p:nvPr/>
        </p:nvSpPr>
        <p:spPr>
          <a:xfrm>
            <a:off x="539750" y="1052513"/>
            <a:ext cx="5616575" cy="519112"/>
          </a:xfrm>
          <a:prstGeom prst="rect">
            <a:avLst/>
          </a:prstGeom>
          <a:noFill/>
          <a:ln w="12700">
            <a:noFill/>
          </a:ln>
        </p:spPr>
        <p:txBody>
          <a:bodyPr anchor="ctr" anchorCtr="0">
            <a:spAutoFit/>
          </a:bodyPr>
          <a:p>
            <a:pPr eaLnBrk="0" hangingPunct="0">
              <a:spcBef>
                <a:spcPct val="50000"/>
              </a:spcBef>
              <a:buClrTx/>
              <a:buFontTx/>
              <a:buNone/>
            </a:pPr>
            <a:r>
              <a:rPr lang="zh-CN" altLang="en-US" dirty="0">
                <a:solidFill>
                  <a:srgbClr val="FFFFFF"/>
                </a:solidFill>
                <a:latin typeface="Times New Roman" panose="02020603050405020304" pitchFamily="18" charset="0"/>
                <a:ea typeface="楷体_GB2312" pitchFamily="49" charset="-122"/>
              </a:rPr>
              <a:t>电阻元件：</a:t>
            </a:r>
            <a:r>
              <a:rPr lang="zh-CN" altLang="en-US" dirty="0">
                <a:latin typeface="Times New Roman" panose="02020603050405020304" pitchFamily="18" charset="0"/>
                <a:ea typeface="楷体_GB2312" pitchFamily="49" charset="-122"/>
              </a:rPr>
              <a:t>表示消耗电能的元件</a:t>
            </a:r>
            <a:endParaRPr lang="zh-CN" altLang="en-US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8675" name="Text Box 8"/>
          <p:cNvSpPr txBox="1"/>
          <p:nvPr/>
        </p:nvSpPr>
        <p:spPr>
          <a:xfrm>
            <a:off x="538163" y="1557338"/>
            <a:ext cx="7705725" cy="519112"/>
          </a:xfrm>
          <a:prstGeom prst="rect">
            <a:avLst/>
          </a:prstGeom>
          <a:noFill/>
          <a:ln w="12700">
            <a:noFill/>
          </a:ln>
        </p:spPr>
        <p:txBody>
          <a:bodyPr anchor="ctr" anchorCtr="0">
            <a:spAutoFit/>
          </a:bodyPr>
          <a:p>
            <a:pPr algn="ctr" eaLnBrk="0" hangingPunct="0">
              <a:spcBef>
                <a:spcPct val="50000"/>
              </a:spcBef>
              <a:buClrTx/>
              <a:buFontTx/>
              <a:buNone/>
            </a:pPr>
            <a:r>
              <a:rPr lang="zh-CN" altLang="en-US" dirty="0">
                <a:solidFill>
                  <a:srgbClr val="FFFFFF"/>
                </a:solidFill>
                <a:latin typeface="Times New Roman" panose="02020603050405020304" pitchFamily="18" charset="0"/>
                <a:ea typeface="楷体_GB2312" pitchFamily="49" charset="-122"/>
              </a:rPr>
              <a:t>电感元件：</a:t>
            </a:r>
            <a:r>
              <a:rPr lang="zh-CN" altLang="en-US" dirty="0">
                <a:latin typeface="Times New Roman" panose="02020603050405020304" pitchFamily="18" charset="0"/>
                <a:ea typeface="楷体_GB2312" pitchFamily="49" charset="-122"/>
              </a:rPr>
              <a:t>表示产生磁场，储存磁场能量的元件</a:t>
            </a:r>
            <a:endParaRPr lang="zh-CN" altLang="en-US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8676" name="Text Box 9"/>
          <p:cNvSpPr txBox="1"/>
          <p:nvPr/>
        </p:nvSpPr>
        <p:spPr>
          <a:xfrm>
            <a:off x="538163" y="2060575"/>
            <a:ext cx="7704137" cy="519113"/>
          </a:xfrm>
          <a:prstGeom prst="rect">
            <a:avLst/>
          </a:prstGeom>
          <a:noFill/>
          <a:ln w="12700">
            <a:noFill/>
          </a:ln>
        </p:spPr>
        <p:txBody>
          <a:bodyPr anchor="ctr" anchorCtr="0">
            <a:spAutoFit/>
          </a:bodyPr>
          <a:p>
            <a:pPr algn="ctr" eaLnBrk="0" hangingPunct="0">
              <a:spcBef>
                <a:spcPct val="50000"/>
              </a:spcBef>
              <a:buClrTx/>
              <a:buFontTx/>
              <a:buNone/>
            </a:pPr>
            <a:r>
              <a:rPr lang="zh-CN" altLang="en-US" dirty="0">
                <a:solidFill>
                  <a:srgbClr val="FFFFFF"/>
                </a:solidFill>
                <a:latin typeface="Times New Roman" panose="02020603050405020304" pitchFamily="18" charset="0"/>
                <a:ea typeface="楷体_GB2312" pitchFamily="49" charset="-122"/>
              </a:rPr>
              <a:t>电容元件：</a:t>
            </a:r>
            <a:r>
              <a:rPr lang="zh-CN" altLang="en-US" dirty="0">
                <a:latin typeface="Times New Roman" panose="02020603050405020304" pitchFamily="18" charset="0"/>
                <a:ea typeface="楷体_GB2312" pitchFamily="49" charset="-122"/>
              </a:rPr>
              <a:t>表示产生电场，储存电场能量的元件</a:t>
            </a:r>
            <a:endParaRPr lang="zh-CN" altLang="en-US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8677" name="Text Box 10"/>
          <p:cNvSpPr txBox="1"/>
          <p:nvPr/>
        </p:nvSpPr>
        <p:spPr>
          <a:xfrm>
            <a:off x="539750" y="2565400"/>
            <a:ext cx="8351838" cy="1031875"/>
          </a:xfrm>
          <a:prstGeom prst="rect">
            <a:avLst/>
          </a:prstGeom>
          <a:noFill/>
          <a:ln w="12700">
            <a:noFill/>
          </a:ln>
        </p:spPr>
        <p:txBody>
          <a:bodyPr anchor="ctr" anchorCtr="0">
            <a:spAutoFit/>
          </a:bodyPr>
          <a:p>
            <a:pPr eaLnBrk="0" hangingPunct="0">
              <a:spcBef>
                <a:spcPct val="20000"/>
              </a:spcBef>
              <a:buClrTx/>
              <a:buFontTx/>
              <a:buNone/>
            </a:pPr>
            <a:r>
              <a:rPr lang="zh-CN" altLang="en-US" dirty="0">
                <a:solidFill>
                  <a:srgbClr val="FFFFFF"/>
                </a:solidFill>
                <a:latin typeface="Times New Roman" panose="02020603050405020304" pitchFamily="18" charset="0"/>
                <a:ea typeface="楷体_GB2312" pitchFamily="49" charset="-122"/>
              </a:rPr>
              <a:t>电压源和电流源：</a:t>
            </a:r>
            <a:r>
              <a:rPr lang="zh-CN" altLang="en-US" dirty="0">
                <a:latin typeface="Times New Roman" panose="02020603050405020304" pitchFamily="18" charset="0"/>
                <a:ea typeface="楷体_GB2312" pitchFamily="49" charset="-122"/>
              </a:rPr>
              <a:t>表示将其它形式的能量转变成</a:t>
            </a:r>
            <a:endParaRPr lang="zh-CN" altLang="en-US" dirty="0">
              <a:latin typeface="Times New Roman" panose="02020603050405020304" pitchFamily="18" charset="0"/>
              <a:ea typeface="楷体_GB2312" pitchFamily="49" charset="-122"/>
            </a:endParaRPr>
          </a:p>
          <a:p>
            <a:pPr eaLnBrk="0" hangingPunct="0">
              <a:spcBef>
                <a:spcPct val="20000"/>
              </a:spcBef>
              <a:buClrTx/>
              <a:buFontTx/>
              <a:buNone/>
            </a:pPr>
            <a:r>
              <a:rPr lang="zh-CN" altLang="en-US" dirty="0">
                <a:latin typeface="Times New Roman" panose="02020603050405020304" pitchFamily="18" charset="0"/>
                <a:ea typeface="楷体_GB2312" pitchFamily="49" charset="-122"/>
              </a:rPr>
              <a:t>                                电能的元件。</a:t>
            </a:r>
            <a:endParaRPr lang="zh-CN" altLang="en-US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8678" name="Text Box 14"/>
          <p:cNvSpPr txBox="1"/>
          <p:nvPr/>
        </p:nvSpPr>
        <p:spPr>
          <a:xfrm>
            <a:off x="900113" y="4076700"/>
            <a:ext cx="7058025" cy="2185988"/>
          </a:xfrm>
          <a:prstGeom prst="rect">
            <a:avLst/>
          </a:prstGeom>
          <a:noFill/>
          <a:ln w="12700">
            <a:noFill/>
          </a:ln>
        </p:spPr>
        <p:txBody>
          <a:bodyPr anchor="t" anchorCtr="0">
            <a:spAutoFit/>
          </a:bodyPr>
          <a:p>
            <a:pPr marL="342900" indent="-342900" eaLnBrk="0" fontAlgn="t" hangingPunct="0">
              <a:spcBef>
                <a:spcPct val="30000"/>
              </a:spcBef>
              <a:buFont typeface="Wingdings" panose="05000000000000000000" pitchFamily="2" charset="2"/>
              <a:buAutoNum type="circleNumDbPlain"/>
            </a:pPr>
            <a:r>
              <a:rPr lang="en-US" altLang="zh-CN" b="0" dirty="0">
                <a:latin typeface="楷体_GB2312" pitchFamily="49" charset="-122"/>
                <a:ea typeface="楷体_GB2312" pitchFamily="49" charset="-122"/>
              </a:rPr>
              <a:t>5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种基本理想电路元件有三个特征：</a:t>
            </a:r>
            <a:endParaRPr lang="zh-CN" altLang="en-US" dirty="0">
              <a:latin typeface="楷体_GB2312" pitchFamily="49" charset="-122"/>
              <a:ea typeface="楷体_GB2312" pitchFamily="49" charset="-122"/>
            </a:endParaRPr>
          </a:p>
          <a:p>
            <a:pPr marL="342900" indent="-342900" eaLnBrk="0" fontAlgn="t" hangingPunct="0">
              <a:spcBef>
                <a:spcPct val="30000"/>
              </a:spcBef>
              <a:buFont typeface="Wingdings" panose="05000000000000000000" pitchFamily="2" charset="2"/>
              <a:buNone/>
            </a:pP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400" dirty="0"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400" dirty="0">
                <a:latin typeface="楷体_GB2312" pitchFamily="49" charset="-122"/>
                <a:ea typeface="楷体_GB2312" pitchFamily="49" charset="-122"/>
              </a:rPr>
              <a:t>a</a:t>
            </a:r>
            <a:r>
              <a:rPr lang="zh-CN" altLang="en-US" sz="2400" dirty="0">
                <a:latin typeface="楷体_GB2312" pitchFamily="49" charset="-122"/>
                <a:ea typeface="楷体_GB2312" pitchFamily="49" charset="-122"/>
              </a:rPr>
              <a:t>）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只有两个端子；</a:t>
            </a:r>
            <a:endParaRPr lang="zh-CN" altLang="en-US" dirty="0">
              <a:latin typeface="楷体_GB2312" pitchFamily="49" charset="-122"/>
              <a:ea typeface="楷体_GB2312" pitchFamily="49" charset="-122"/>
            </a:endParaRPr>
          </a:p>
          <a:p>
            <a:pPr marL="342900" indent="-342900" eaLnBrk="0" fontAlgn="t" hangingPunct="0">
              <a:spcBef>
                <a:spcPct val="30000"/>
              </a:spcBef>
              <a:buFont typeface="Wingdings" panose="05000000000000000000" pitchFamily="2" charset="2"/>
              <a:buNone/>
            </a:pP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400" dirty="0"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400" dirty="0">
                <a:latin typeface="楷体_GB2312" pitchFamily="49" charset="-122"/>
                <a:ea typeface="楷体_GB2312" pitchFamily="49" charset="-122"/>
              </a:rPr>
              <a:t>b</a:t>
            </a:r>
            <a:r>
              <a:rPr lang="zh-CN" altLang="en-US" sz="2400" dirty="0">
                <a:latin typeface="楷体_GB2312" pitchFamily="49" charset="-122"/>
                <a:ea typeface="楷体_GB2312" pitchFamily="49" charset="-122"/>
              </a:rPr>
              <a:t>）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可以用电压或电流按数学方式描述；</a:t>
            </a:r>
            <a:endParaRPr lang="zh-CN" altLang="en-US" dirty="0">
              <a:latin typeface="楷体_GB2312" pitchFamily="49" charset="-122"/>
              <a:ea typeface="楷体_GB2312" pitchFamily="49" charset="-122"/>
            </a:endParaRPr>
          </a:p>
          <a:p>
            <a:pPr marL="342900" indent="-342900" eaLnBrk="0" fontAlgn="t" hangingPunct="0">
              <a:spcBef>
                <a:spcPct val="30000"/>
              </a:spcBef>
              <a:buFont typeface="Wingdings" panose="05000000000000000000" pitchFamily="2" charset="2"/>
              <a:buNone/>
            </a:pPr>
            <a:r>
              <a:rPr lang="zh-CN" altLang="en-US" sz="2400" dirty="0">
                <a:latin typeface="楷体_GB2312" pitchFamily="49" charset="-122"/>
                <a:ea typeface="楷体_GB2312" pitchFamily="49" charset="-122"/>
              </a:rPr>
              <a:t> （</a:t>
            </a:r>
            <a:r>
              <a:rPr lang="en-US" altLang="zh-CN" sz="2400" dirty="0">
                <a:latin typeface="楷体_GB2312" pitchFamily="49" charset="-122"/>
                <a:ea typeface="楷体_GB2312" pitchFamily="49" charset="-122"/>
              </a:rPr>
              <a:t>c</a:t>
            </a:r>
            <a:r>
              <a:rPr lang="zh-CN" altLang="en-US" sz="2400" dirty="0">
                <a:latin typeface="楷体_GB2312" pitchFamily="49" charset="-122"/>
                <a:ea typeface="楷体_GB2312" pitchFamily="49" charset="-122"/>
              </a:rPr>
              <a:t>）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不能被分解为其他元件。</a:t>
            </a:r>
            <a:endParaRPr lang="zh-CN" altLang="en-US" dirty="0"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28679" name="Group 36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28680" name="Picture 37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8681" name="Text Box 38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28682" name="Group 39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28683" name="Picture 40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8684" name="Text Box 41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28685" name="Group 45"/>
          <p:cNvGrpSpPr/>
          <p:nvPr/>
        </p:nvGrpSpPr>
        <p:grpSpPr>
          <a:xfrm>
            <a:off x="323850" y="3357563"/>
            <a:ext cx="1644650" cy="850900"/>
            <a:chOff x="385" y="3022"/>
            <a:chExt cx="1036" cy="536"/>
          </a:xfrm>
        </p:grpSpPr>
        <p:pic>
          <p:nvPicPr>
            <p:cNvPr id="28686" name="Picture 46" descr="12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85" y="3022"/>
              <a:ext cx="590" cy="536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8687" name="Text Box 47"/>
            <p:cNvSpPr txBox="1"/>
            <p:nvPr/>
          </p:nvSpPr>
          <p:spPr>
            <a:xfrm>
              <a:off x="793" y="3125"/>
              <a:ext cx="628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ClrTx/>
                <a:buFontTx/>
                <a:buNone/>
              </a:pPr>
              <a:r>
                <a:rPr lang="zh-CN" altLang="en-US" sz="3200" b="0" dirty="0">
                  <a:solidFill>
                    <a:srgbClr val="FA7748"/>
                  </a:solidFill>
                  <a:latin typeface="Times New Roman" panose="02020603050405020304" pitchFamily="18" charset="0"/>
                  <a:ea typeface="华文行楷" panose="02010800040101010101" pitchFamily="2" charset="-122"/>
                </a:rPr>
                <a:t>注意</a:t>
              </a:r>
              <a:endParaRPr lang="zh-CN" altLang="en-US" sz="3200" b="0" dirty="0">
                <a:solidFill>
                  <a:srgbClr val="FA7748"/>
                </a:solidFill>
                <a:latin typeface="Times New Roman" panose="02020603050405020304" pitchFamily="18" charset="0"/>
                <a:ea typeface="华文行楷" panose="02010800040101010101" pitchFamily="2" charset="-122"/>
              </a:endParaRPr>
            </a:p>
          </p:txBody>
        </p:sp>
      </p:grpSp>
      <p:grpSp>
        <p:nvGrpSpPr>
          <p:cNvPr id="28688" name="Group 54"/>
          <p:cNvGrpSpPr/>
          <p:nvPr/>
        </p:nvGrpSpPr>
        <p:grpSpPr>
          <a:xfrm>
            <a:off x="6588125" y="6445250"/>
            <a:ext cx="792163" cy="366713"/>
            <a:chOff x="5193" y="4020"/>
            <a:chExt cx="499" cy="231"/>
          </a:xfrm>
        </p:grpSpPr>
        <p:pic>
          <p:nvPicPr>
            <p:cNvPr id="28689" name="Picture 55" descr="78900">
              <a:hlinkClick r:id="" action="ppaction://hlinkshowjump?jump=firstslide"/>
            </p:cNvPr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8690" name="Text Box 56">
              <a:hlinkClick r:id="" action="ppaction://hlinkshowjump?jump=firs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697" name="Text Box 7"/>
          <p:cNvSpPr txBox="1"/>
          <p:nvPr/>
        </p:nvSpPr>
        <p:spPr>
          <a:xfrm>
            <a:off x="539750" y="1052513"/>
            <a:ext cx="8064500" cy="1928812"/>
          </a:xfrm>
          <a:prstGeom prst="rect">
            <a:avLst/>
          </a:prstGeom>
          <a:noFill/>
          <a:ln w="12700">
            <a:noFill/>
          </a:ln>
        </p:spPr>
        <p:txBody>
          <a:bodyPr anchor="t" anchorCtr="0">
            <a:spAutoFit/>
          </a:bodyPr>
          <a:p>
            <a:pPr marL="342900" indent="-342900" eaLnBrk="0" fontAlgn="t" hangingPunct="0">
              <a:spcBef>
                <a:spcPct val="30000"/>
              </a:spcBef>
              <a:buFont typeface="Wingdings" panose="05000000000000000000" pitchFamily="2" charset="2"/>
              <a:buAutoNum type="circleNumDbPlain"/>
            </a:pP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具有相同的主要电磁性能的实际电路部件， 在一定条件下可用同一电路模型表示；</a:t>
            </a:r>
            <a:endParaRPr lang="zh-CN" altLang="en-US" dirty="0">
              <a:latin typeface="楷体_GB2312" pitchFamily="49" charset="-122"/>
              <a:ea typeface="楷体_GB2312" pitchFamily="49" charset="-122"/>
            </a:endParaRPr>
          </a:p>
          <a:p>
            <a:pPr marL="342900" indent="-342900" eaLnBrk="0" fontAlgn="t" hangingPunct="0">
              <a:spcBef>
                <a:spcPct val="30000"/>
              </a:spcBef>
              <a:buFont typeface="Wingdings" panose="05000000000000000000" pitchFamily="2" charset="2"/>
              <a:buAutoNum type="circleNumDbPlain"/>
            </a:pP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同一实际电路部件在不同的应用条件下，其电路模型可以有不同的形式。</a:t>
            </a:r>
            <a:endParaRPr lang="zh-CN" altLang="en-US" dirty="0"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29698" name="Group 8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29699" name="Picture 9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9700" name="Text Box 10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29701" name="Group 11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29702" name="Picture 12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9703" name="Text Box 13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aphicFrame>
        <p:nvGraphicFramePr>
          <p:cNvPr id="29704" name="Object 18"/>
          <p:cNvGraphicFramePr>
            <a:graphicFrameLocks noChangeAspect="1"/>
          </p:cNvGraphicFramePr>
          <p:nvPr/>
        </p:nvGraphicFramePr>
        <p:xfrm>
          <a:off x="1042988" y="3933825"/>
          <a:ext cx="2808287" cy="166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" r:id="rId2" imgW="2393315" imgH="1422400" progId="Visio.Drawing.6">
                  <p:embed/>
                </p:oleObj>
              </mc:Choice>
              <mc:Fallback>
                <p:oleObj name="" r:id="rId2" imgW="2393315" imgH="1422400" progId="Visio.Drawing.6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042988" y="3933825"/>
                        <a:ext cx="2808287" cy="16621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05" name="Line 19"/>
          <p:cNvSpPr/>
          <p:nvPr/>
        </p:nvSpPr>
        <p:spPr>
          <a:xfrm>
            <a:off x="4284663" y="4652963"/>
            <a:ext cx="863600" cy="0"/>
          </a:xfrm>
          <a:prstGeom prst="line">
            <a:avLst/>
          </a:prstGeom>
          <a:ln w="5715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29706" name="Line 20"/>
          <p:cNvSpPr/>
          <p:nvPr/>
        </p:nvSpPr>
        <p:spPr>
          <a:xfrm>
            <a:off x="4284663" y="5013325"/>
            <a:ext cx="792162" cy="360363"/>
          </a:xfrm>
          <a:prstGeom prst="line">
            <a:avLst/>
          </a:prstGeom>
          <a:ln w="5715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29707" name="Line 21"/>
          <p:cNvSpPr/>
          <p:nvPr/>
        </p:nvSpPr>
        <p:spPr>
          <a:xfrm flipV="1">
            <a:off x="4284663" y="4076700"/>
            <a:ext cx="863600" cy="71438"/>
          </a:xfrm>
          <a:prstGeom prst="line">
            <a:avLst/>
          </a:prstGeom>
          <a:ln w="5715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29708" name="Text Box 22"/>
          <p:cNvSpPr txBox="1"/>
          <p:nvPr/>
        </p:nvSpPr>
        <p:spPr>
          <a:xfrm>
            <a:off x="539750" y="3068638"/>
            <a:ext cx="647700" cy="579437"/>
          </a:xfrm>
          <a:prstGeom prst="rect">
            <a:avLst/>
          </a:prstGeom>
          <a:noFill/>
          <a:ln w="38100">
            <a:noFill/>
          </a:ln>
        </p:spPr>
        <p:txBody>
          <a:bodyPr anchor="t" anchorCtr="0">
            <a:spAutoFit/>
          </a:bodyPr>
          <a:p>
            <a:pPr algn="ctr" eaLnBrk="0" hangingPunct="0">
              <a:spcBef>
                <a:spcPct val="50000"/>
              </a:spcBef>
              <a:buClrTx/>
              <a:buFontTx/>
              <a:buNone/>
            </a:pPr>
            <a:r>
              <a:rPr lang="zh-CN" altLang="en-US" sz="3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例</a:t>
            </a:r>
            <a:endParaRPr lang="zh-CN" altLang="en-US" sz="3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9709" name="Line 26"/>
          <p:cNvSpPr/>
          <p:nvPr/>
        </p:nvSpPr>
        <p:spPr>
          <a:xfrm flipV="1">
            <a:off x="4284663" y="3429000"/>
            <a:ext cx="719137" cy="430213"/>
          </a:xfrm>
          <a:prstGeom prst="line">
            <a:avLst/>
          </a:prstGeom>
          <a:ln w="5715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sp>
      <p:grpSp>
        <p:nvGrpSpPr>
          <p:cNvPr id="29710" name="Group 67"/>
          <p:cNvGrpSpPr/>
          <p:nvPr/>
        </p:nvGrpSpPr>
        <p:grpSpPr>
          <a:xfrm>
            <a:off x="5364163" y="3213100"/>
            <a:ext cx="2952750" cy="287338"/>
            <a:chOff x="3379" y="2024"/>
            <a:chExt cx="1860" cy="181"/>
          </a:xfrm>
        </p:grpSpPr>
        <p:sp>
          <p:nvSpPr>
            <p:cNvPr id="29711" name="Line 28"/>
            <p:cNvSpPr/>
            <p:nvPr/>
          </p:nvSpPr>
          <p:spPr>
            <a:xfrm>
              <a:off x="3379" y="2114"/>
              <a:ext cx="1860" cy="1"/>
            </a:xfrm>
            <a:prstGeom prst="line">
              <a:avLst/>
            </a:prstGeom>
            <a:ln w="28575" cap="sq" cmpd="sng">
              <a:solidFill>
                <a:srgbClr val="FFCC00"/>
              </a:solidFill>
              <a:prstDash val="solid"/>
              <a:round/>
              <a:headEnd type="oval" w="med" len="med"/>
              <a:tailEnd type="oval" w="med" len="med"/>
            </a:ln>
          </p:spPr>
        </p:sp>
        <p:sp>
          <p:nvSpPr>
            <p:cNvPr id="29712" name="Rectangle 29"/>
            <p:cNvSpPr/>
            <p:nvPr/>
          </p:nvSpPr>
          <p:spPr>
            <a:xfrm>
              <a:off x="4014" y="2024"/>
              <a:ext cx="499" cy="181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>
                <a:buClrTx/>
                <a:buFontTx/>
                <a:buNone/>
              </a:pPr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</p:grpSp>
      <p:grpSp>
        <p:nvGrpSpPr>
          <p:cNvPr id="29713" name="Group 30"/>
          <p:cNvGrpSpPr/>
          <p:nvPr/>
        </p:nvGrpSpPr>
        <p:grpSpPr>
          <a:xfrm>
            <a:off x="5364163" y="3860800"/>
            <a:ext cx="2952750" cy="215900"/>
            <a:chOff x="1927" y="1253"/>
            <a:chExt cx="1769" cy="136"/>
          </a:xfrm>
        </p:grpSpPr>
        <p:grpSp>
          <p:nvGrpSpPr>
            <p:cNvPr id="29714" name="Group 31"/>
            <p:cNvGrpSpPr/>
            <p:nvPr/>
          </p:nvGrpSpPr>
          <p:grpSpPr>
            <a:xfrm rot="-5400000">
              <a:off x="2697" y="979"/>
              <a:ext cx="136" cy="681"/>
              <a:chOff x="2744" y="2931"/>
              <a:chExt cx="57" cy="283"/>
            </a:xfrm>
          </p:grpSpPr>
          <p:sp>
            <p:nvSpPr>
              <p:cNvPr id="29715" name="Arc 32"/>
              <p:cNvSpPr/>
              <p:nvPr/>
            </p:nvSpPr>
            <p:spPr>
              <a:xfrm rot="10800000" flipH="1" flipV="1">
                <a:off x="2744" y="2931"/>
                <a:ext cx="57" cy="9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pathLst>
                  <a:path w="22723" h="43200" fill="none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3" y="0"/>
                    </a:lnTo>
                    <a:close/>
                  </a:path>
                </a:pathLst>
              </a:custGeom>
              <a:noFill/>
              <a:ln w="38100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9716" name="Arc 33"/>
              <p:cNvSpPr/>
              <p:nvPr/>
            </p:nvSpPr>
            <p:spPr>
              <a:xfrm rot="10800000" flipH="1" flipV="1">
                <a:off x="2744" y="3027"/>
                <a:ext cx="57" cy="9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pathLst>
                  <a:path w="22723" h="43200" fill="none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3" y="0"/>
                    </a:lnTo>
                    <a:close/>
                  </a:path>
                </a:pathLst>
              </a:custGeom>
              <a:noFill/>
              <a:ln w="38100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9717" name="Arc 34"/>
              <p:cNvSpPr/>
              <p:nvPr/>
            </p:nvSpPr>
            <p:spPr>
              <a:xfrm rot="10800000" flipH="1" flipV="1">
                <a:off x="2744" y="3123"/>
                <a:ext cx="57" cy="9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pathLst>
                  <a:path w="22723" h="43200" fill="none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3" y="0"/>
                    </a:lnTo>
                    <a:close/>
                  </a:path>
                </a:pathLst>
              </a:custGeom>
              <a:noFill/>
              <a:ln w="38100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  <p:sp>
          <p:nvSpPr>
            <p:cNvPr id="29718" name="Line 35"/>
            <p:cNvSpPr/>
            <p:nvPr/>
          </p:nvSpPr>
          <p:spPr>
            <a:xfrm>
              <a:off x="1927" y="1389"/>
              <a:ext cx="499" cy="0"/>
            </a:xfrm>
            <a:prstGeom prst="line">
              <a:avLst/>
            </a:prstGeom>
            <a:ln w="28575" cap="sq" cmpd="sng">
              <a:solidFill>
                <a:srgbClr val="FFCC00"/>
              </a:solidFill>
              <a:prstDash val="solid"/>
              <a:round/>
              <a:headEnd type="oval" w="med" len="med"/>
              <a:tailEnd type="none" w="med" len="med"/>
            </a:ln>
          </p:spPr>
        </p:sp>
        <p:sp>
          <p:nvSpPr>
            <p:cNvPr id="29719" name="Line 36"/>
            <p:cNvSpPr/>
            <p:nvPr/>
          </p:nvSpPr>
          <p:spPr>
            <a:xfrm flipH="1">
              <a:off x="3107" y="1389"/>
              <a:ext cx="589" cy="0"/>
            </a:xfrm>
            <a:prstGeom prst="line">
              <a:avLst/>
            </a:prstGeom>
            <a:ln w="28575" cap="sq" cmpd="sng">
              <a:solidFill>
                <a:srgbClr val="FFCC00"/>
              </a:solidFill>
              <a:prstDash val="solid"/>
              <a:round/>
              <a:headEnd type="oval" w="med" len="med"/>
              <a:tailEnd type="none" w="med" len="med"/>
            </a:ln>
          </p:spPr>
        </p:sp>
      </p:grpSp>
      <p:grpSp>
        <p:nvGrpSpPr>
          <p:cNvPr id="29720" name="Group 37"/>
          <p:cNvGrpSpPr/>
          <p:nvPr/>
        </p:nvGrpSpPr>
        <p:grpSpPr>
          <a:xfrm>
            <a:off x="5364163" y="4437063"/>
            <a:ext cx="2952750" cy="360362"/>
            <a:chOff x="1927" y="1253"/>
            <a:chExt cx="1860" cy="227"/>
          </a:xfrm>
        </p:grpSpPr>
        <p:grpSp>
          <p:nvGrpSpPr>
            <p:cNvPr id="29721" name="Group 38"/>
            <p:cNvGrpSpPr/>
            <p:nvPr/>
          </p:nvGrpSpPr>
          <p:grpSpPr>
            <a:xfrm rot="-5400000">
              <a:off x="2470" y="979"/>
              <a:ext cx="136" cy="681"/>
              <a:chOff x="2744" y="2931"/>
              <a:chExt cx="57" cy="283"/>
            </a:xfrm>
          </p:grpSpPr>
          <p:sp>
            <p:nvSpPr>
              <p:cNvPr id="29722" name="Arc 39"/>
              <p:cNvSpPr/>
              <p:nvPr/>
            </p:nvSpPr>
            <p:spPr>
              <a:xfrm rot="10800000" flipH="1" flipV="1">
                <a:off x="2744" y="2931"/>
                <a:ext cx="57" cy="9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pathLst>
                  <a:path w="22723" h="43200" fill="none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3" y="0"/>
                    </a:lnTo>
                    <a:close/>
                  </a:path>
                </a:pathLst>
              </a:custGeom>
              <a:noFill/>
              <a:ln w="38100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9723" name="Arc 40"/>
              <p:cNvSpPr/>
              <p:nvPr/>
            </p:nvSpPr>
            <p:spPr>
              <a:xfrm rot="10800000" flipH="1" flipV="1">
                <a:off x="2744" y="3027"/>
                <a:ext cx="57" cy="9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pathLst>
                  <a:path w="22723" h="43200" fill="none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3" y="0"/>
                    </a:lnTo>
                    <a:close/>
                  </a:path>
                </a:pathLst>
              </a:custGeom>
              <a:noFill/>
              <a:ln w="38100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9724" name="Arc 41"/>
              <p:cNvSpPr/>
              <p:nvPr/>
            </p:nvSpPr>
            <p:spPr>
              <a:xfrm rot="10800000" flipH="1" flipV="1">
                <a:off x="2744" y="3123"/>
                <a:ext cx="57" cy="9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pathLst>
                  <a:path w="22723" h="43200" fill="none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3" y="0"/>
                    </a:lnTo>
                    <a:close/>
                  </a:path>
                </a:pathLst>
              </a:custGeom>
              <a:noFill/>
              <a:ln w="38100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  <p:sp>
          <p:nvSpPr>
            <p:cNvPr id="29725" name="Line 42"/>
            <p:cNvSpPr/>
            <p:nvPr/>
          </p:nvSpPr>
          <p:spPr>
            <a:xfrm>
              <a:off x="1927" y="1389"/>
              <a:ext cx="273" cy="0"/>
            </a:xfrm>
            <a:prstGeom prst="line">
              <a:avLst/>
            </a:prstGeom>
            <a:ln w="28575" cap="sq" cmpd="sng">
              <a:solidFill>
                <a:srgbClr val="FFCC00"/>
              </a:solidFill>
              <a:prstDash val="solid"/>
              <a:round/>
              <a:headEnd type="oval" w="med" len="med"/>
              <a:tailEnd type="none" w="med" len="med"/>
            </a:ln>
          </p:spPr>
        </p:sp>
        <p:sp>
          <p:nvSpPr>
            <p:cNvPr id="29726" name="Line 43"/>
            <p:cNvSpPr/>
            <p:nvPr/>
          </p:nvSpPr>
          <p:spPr>
            <a:xfrm flipH="1">
              <a:off x="2880" y="1389"/>
              <a:ext cx="907" cy="0"/>
            </a:xfrm>
            <a:prstGeom prst="line">
              <a:avLst/>
            </a:prstGeom>
            <a:ln w="28575" cap="sq" cmpd="sng">
              <a:solidFill>
                <a:srgbClr val="FFCC00"/>
              </a:solidFill>
              <a:prstDash val="solid"/>
              <a:round/>
              <a:headEnd type="oval" w="med" len="med"/>
              <a:tailEnd type="none" w="med" len="med"/>
            </a:ln>
          </p:spPr>
        </p:sp>
        <p:sp>
          <p:nvSpPr>
            <p:cNvPr id="29727" name="Rectangle 44"/>
            <p:cNvSpPr/>
            <p:nvPr/>
          </p:nvSpPr>
          <p:spPr>
            <a:xfrm>
              <a:off x="3061" y="1298"/>
              <a:ext cx="454" cy="182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>
                <a:buClrTx/>
                <a:buFontTx/>
                <a:buNone/>
              </a:pPr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</p:grpSp>
      <p:grpSp>
        <p:nvGrpSpPr>
          <p:cNvPr id="29728" name="Group 45"/>
          <p:cNvGrpSpPr/>
          <p:nvPr/>
        </p:nvGrpSpPr>
        <p:grpSpPr>
          <a:xfrm>
            <a:off x="5292725" y="5013325"/>
            <a:ext cx="2952750" cy="1223963"/>
            <a:chOff x="1837" y="1570"/>
            <a:chExt cx="1860" cy="771"/>
          </a:xfrm>
        </p:grpSpPr>
        <p:grpSp>
          <p:nvGrpSpPr>
            <p:cNvPr id="29729" name="Group 46"/>
            <p:cNvGrpSpPr/>
            <p:nvPr/>
          </p:nvGrpSpPr>
          <p:grpSpPr>
            <a:xfrm rot="-5400000">
              <a:off x="2380" y="1296"/>
              <a:ext cx="136" cy="681"/>
              <a:chOff x="2744" y="2931"/>
              <a:chExt cx="57" cy="283"/>
            </a:xfrm>
          </p:grpSpPr>
          <p:sp>
            <p:nvSpPr>
              <p:cNvPr id="29730" name="Arc 47"/>
              <p:cNvSpPr/>
              <p:nvPr/>
            </p:nvSpPr>
            <p:spPr>
              <a:xfrm rot="10800000" flipH="1" flipV="1">
                <a:off x="2744" y="2931"/>
                <a:ext cx="57" cy="9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pathLst>
                  <a:path w="22723" h="43200" fill="none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3" y="0"/>
                    </a:lnTo>
                    <a:close/>
                  </a:path>
                </a:pathLst>
              </a:custGeom>
              <a:noFill/>
              <a:ln w="38100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9731" name="Arc 48"/>
              <p:cNvSpPr/>
              <p:nvPr/>
            </p:nvSpPr>
            <p:spPr>
              <a:xfrm rot="10800000" flipH="1" flipV="1">
                <a:off x="2744" y="3027"/>
                <a:ext cx="57" cy="9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pathLst>
                  <a:path w="22723" h="43200" fill="none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3" y="0"/>
                    </a:lnTo>
                    <a:close/>
                  </a:path>
                </a:pathLst>
              </a:custGeom>
              <a:noFill/>
              <a:ln w="38100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9732" name="Arc 49"/>
              <p:cNvSpPr/>
              <p:nvPr/>
            </p:nvSpPr>
            <p:spPr>
              <a:xfrm rot="10800000" flipH="1" flipV="1">
                <a:off x="2744" y="3123"/>
                <a:ext cx="57" cy="9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pathLst>
                  <a:path w="22723" h="43200" fill="none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3" y="0"/>
                    </a:lnTo>
                    <a:close/>
                  </a:path>
                </a:pathLst>
              </a:custGeom>
              <a:noFill/>
              <a:ln w="38100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  <p:sp>
          <p:nvSpPr>
            <p:cNvPr id="29733" name="Line 50"/>
            <p:cNvSpPr/>
            <p:nvPr/>
          </p:nvSpPr>
          <p:spPr>
            <a:xfrm>
              <a:off x="1837" y="1706"/>
              <a:ext cx="273" cy="0"/>
            </a:xfrm>
            <a:prstGeom prst="line">
              <a:avLst/>
            </a:prstGeom>
            <a:ln w="28575" cap="sq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9734" name="Line 51"/>
            <p:cNvSpPr/>
            <p:nvPr/>
          </p:nvSpPr>
          <p:spPr>
            <a:xfrm flipH="1">
              <a:off x="2790" y="1706"/>
              <a:ext cx="907" cy="0"/>
            </a:xfrm>
            <a:prstGeom prst="line">
              <a:avLst/>
            </a:prstGeom>
            <a:ln w="28575" cap="sq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9735" name="Rectangle 52"/>
            <p:cNvSpPr/>
            <p:nvPr/>
          </p:nvSpPr>
          <p:spPr>
            <a:xfrm>
              <a:off x="2971" y="1615"/>
              <a:ext cx="454" cy="182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>
                <a:buClrTx/>
                <a:buFontTx/>
                <a:buNone/>
              </a:pPr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29736" name="Line 53"/>
            <p:cNvSpPr/>
            <p:nvPr/>
          </p:nvSpPr>
          <p:spPr>
            <a:xfrm>
              <a:off x="1837" y="1706"/>
              <a:ext cx="0" cy="635"/>
            </a:xfrm>
            <a:prstGeom prst="line">
              <a:avLst/>
            </a:prstGeom>
            <a:ln w="28575" cap="sq" cmpd="sng">
              <a:solidFill>
                <a:srgbClr val="FFCC00"/>
              </a:solidFill>
              <a:prstDash val="solid"/>
              <a:round/>
              <a:headEnd type="none" w="med" len="med"/>
              <a:tailEnd type="oval" w="med" len="med"/>
            </a:ln>
          </p:spPr>
        </p:sp>
        <p:sp>
          <p:nvSpPr>
            <p:cNvPr id="29737" name="Line 54"/>
            <p:cNvSpPr/>
            <p:nvPr/>
          </p:nvSpPr>
          <p:spPr>
            <a:xfrm>
              <a:off x="3696" y="1706"/>
              <a:ext cx="0" cy="635"/>
            </a:xfrm>
            <a:prstGeom prst="line">
              <a:avLst/>
            </a:prstGeom>
            <a:ln w="28575" cap="sq" cmpd="sng">
              <a:solidFill>
                <a:srgbClr val="FFCC00"/>
              </a:solidFill>
              <a:prstDash val="solid"/>
              <a:round/>
              <a:headEnd type="none" w="med" len="med"/>
              <a:tailEnd type="oval" w="med" len="med"/>
            </a:ln>
          </p:spPr>
        </p:sp>
        <p:sp>
          <p:nvSpPr>
            <p:cNvPr id="29738" name="Line 55"/>
            <p:cNvSpPr/>
            <p:nvPr/>
          </p:nvSpPr>
          <p:spPr>
            <a:xfrm>
              <a:off x="1837" y="2160"/>
              <a:ext cx="771" cy="0"/>
            </a:xfrm>
            <a:prstGeom prst="line">
              <a:avLst/>
            </a:prstGeom>
            <a:ln w="28575" cap="sq" cmpd="sng">
              <a:solidFill>
                <a:srgbClr val="FFCC00"/>
              </a:solidFill>
              <a:prstDash val="solid"/>
              <a:round/>
              <a:headEnd type="oval" w="med" len="med"/>
              <a:tailEnd type="none" w="med" len="med"/>
            </a:ln>
          </p:spPr>
        </p:sp>
        <p:sp>
          <p:nvSpPr>
            <p:cNvPr id="29739" name="Line 56"/>
            <p:cNvSpPr/>
            <p:nvPr/>
          </p:nvSpPr>
          <p:spPr>
            <a:xfrm flipH="1">
              <a:off x="2699" y="2160"/>
              <a:ext cx="997" cy="0"/>
            </a:xfrm>
            <a:prstGeom prst="line">
              <a:avLst/>
            </a:prstGeom>
            <a:ln w="28575" cap="sq" cmpd="sng">
              <a:solidFill>
                <a:srgbClr val="FFCC00"/>
              </a:solidFill>
              <a:prstDash val="solid"/>
              <a:round/>
              <a:headEnd type="oval" w="med" len="med"/>
              <a:tailEnd type="none" w="med" len="med"/>
            </a:ln>
          </p:spPr>
        </p:sp>
        <p:grpSp>
          <p:nvGrpSpPr>
            <p:cNvPr id="29740" name="Group 57"/>
            <p:cNvGrpSpPr/>
            <p:nvPr/>
          </p:nvGrpSpPr>
          <p:grpSpPr>
            <a:xfrm rot="5400000">
              <a:off x="2471" y="2113"/>
              <a:ext cx="363" cy="91"/>
              <a:chOff x="3787" y="2478"/>
              <a:chExt cx="240" cy="93"/>
            </a:xfrm>
          </p:grpSpPr>
          <p:sp>
            <p:nvSpPr>
              <p:cNvPr id="29741" name="Line 58"/>
              <p:cNvSpPr/>
              <p:nvPr/>
            </p:nvSpPr>
            <p:spPr>
              <a:xfrm flipV="1">
                <a:off x="3787" y="2568"/>
                <a:ext cx="240" cy="3"/>
              </a:xfrm>
              <a:prstGeom prst="line">
                <a:avLst/>
              </a:prstGeom>
              <a:ln w="57150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9742" name="Line 59"/>
              <p:cNvSpPr/>
              <p:nvPr/>
            </p:nvSpPr>
            <p:spPr>
              <a:xfrm>
                <a:off x="3787" y="2478"/>
                <a:ext cx="240" cy="1"/>
              </a:xfrm>
              <a:prstGeom prst="line">
                <a:avLst/>
              </a:prstGeom>
              <a:ln w="57150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</p:grpSp>
      <p:sp>
        <p:nvSpPr>
          <p:cNvPr id="29743" name="Text Box 60"/>
          <p:cNvSpPr txBox="1"/>
          <p:nvPr/>
        </p:nvSpPr>
        <p:spPr>
          <a:xfrm>
            <a:off x="1114425" y="3125788"/>
            <a:ext cx="4105275" cy="519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>
              <a:spcBef>
                <a:spcPct val="50000"/>
              </a:spcBef>
              <a:buClrTx/>
              <a:buFontTx/>
              <a:buNone/>
            </a:pPr>
            <a:r>
              <a:rPr lang="zh-CN" altLang="en-US" dirty="0">
                <a:latin typeface="Arial" panose="020B0604020202020204" pitchFamily="34" charset="0"/>
                <a:ea typeface="楷体_GB2312" pitchFamily="49" charset="-122"/>
              </a:rPr>
              <a:t>电感线圈的电路模型</a:t>
            </a:r>
            <a:endParaRPr lang="zh-CN" altLang="en-US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grpSp>
        <p:nvGrpSpPr>
          <p:cNvPr id="29744" name="Group 61"/>
          <p:cNvGrpSpPr/>
          <p:nvPr/>
        </p:nvGrpSpPr>
        <p:grpSpPr>
          <a:xfrm>
            <a:off x="323850" y="404813"/>
            <a:ext cx="1644650" cy="850900"/>
            <a:chOff x="385" y="3022"/>
            <a:chExt cx="1036" cy="536"/>
          </a:xfrm>
        </p:grpSpPr>
        <p:pic>
          <p:nvPicPr>
            <p:cNvPr id="29745" name="Picture 62" descr="12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85" y="3022"/>
              <a:ext cx="590" cy="536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9746" name="Text Box 63"/>
            <p:cNvSpPr txBox="1"/>
            <p:nvPr/>
          </p:nvSpPr>
          <p:spPr>
            <a:xfrm>
              <a:off x="793" y="3125"/>
              <a:ext cx="628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ClrTx/>
                <a:buFontTx/>
                <a:buNone/>
              </a:pPr>
              <a:r>
                <a:rPr lang="zh-CN" altLang="en-US" sz="3200" b="0" dirty="0">
                  <a:solidFill>
                    <a:srgbClr val="FA7748"/>
                  </a:solidFill>
                  <a:latin typeface="Times New Roman" panose="02020603050405020304" pitchFamily="18" charset="0"/>
                  <a:ea typeface="华文行楷" panose="02010800040101010101" pitchFamily="2" charset="-122"/>
                </a:rPr>
                <a:t>注意</a:t>
              </a:r>
              <a:endParaRPr lang="zh-CN" altLang="en-US" sz="3200" b="0" dirty="0">
                <a:solidFill>
                  <a:srgbClr val="FA7748"/>
                </a:solidFill>
                <a:latin typeface="Times New Roman" panose="02020603050405020304" pitchFamily="18" charset="0"/>
                <a:ea typeface="华文行楷" panose="02010800040101010101" pitchFamily="2" charset="-122"/>
              </a:endParaRPr>
            </a:p>
          </p:txBody>
        </p:sp>
      </p:grpSp>
      <p:grpSp>
        <p:nvGrpSpPr>
          <p:cNvPr id="29747" name="Group 71"/>
          <p:cNvGrpSpPr/>
          <p:nvPr/>
        </p:nvGrpSpPr>
        <p:grpSpPr>
          <a:xfrm>
            <a:off x="6588125" y="6445250"/>
            <a:ext cx="792163" cy="366713"/>
            <a:chOff x="5193" y="4020"/>
            <a:chExt cx="499" cy="231"/>
          </a:xfrm>
        </p:grpSpPr>
        <p:pic>
          <p:nvPicPr>
            <p:cNvPr id="29748" name="Picture 72" descr="78900">
              <a:hlinkClick r:id="" action="ppaction://hlinkshowjump?jump=firstslide"/>
            </p:cNvPr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9749" name="Text Box 73">
              <a:hlinkClick r:id="" action="ppaction://hlinkshowjump?jump=firs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21" name="Rectangle 4"/>
          <p:cNvSpPr/>
          <p:nvPr/>
        </p:nvSpPr>
        <p:spPr>
          <a:xfrm>
            <a:off x="971550" y="620713"/>
            <a:ext cx="7056438" cy="701675"/>
          </a:xfrm>
          <a:prstGeom prst="rect">
            <a:avLst/>
          </a:prstGeom>
          <a:noFill/>
          <a:ln w="12700">
            <a:noFill/>
          </a:ln>
        </p:spPr>
        <p:txBody>
          <a:bodyPr anchor="ctr" anchorCtr="0">
            <a:spAutoFit/>
          </a:bodyPr>
          <a:p>
            <a:pPr algn="ctr" eaLnBrk="0" hangingPunct="0">
              <a:buClrTx/>
              <a:buFontTx/>
              <a:buNone/>
            </a:pPr>
            <a:r>
              <a:rPr lang="en-US" altLang="zh-CN" sz="40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1.2 </a:t>
            </a:r>
            <a:r>
              <a:rPr lang="zh-CN" altLang="en-US" sz="40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电流和电压的参考方向</a:t>
            </a:r>
            <a:endParaRPr lang="zh-CN" altLang="en-US" sz="3200" b="0" dirty="0">
              <a:solidFill>
                <a:schemeClr val="tx1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0722" name="Text Box 5"/>
          <p:cNvSpPr txBox="1"/>
          <p:nvPr/>
        </p:nvSpPr>
        <p:spPr>
          <a:xfrm>
            <a:off x="468313" y="1341438"/>
            <a:ext cx="8208962" cy="1630362"/>
          </a:xfrm>
          <a:prstGeom prst="rect">
            <a:avLst/>
          </a:prstGeom>
          <a:noFill/>
          <a:ln w="12700">
            <a:noFill/>
          </a:ln>
        </p:spPr>
        <p:txBody>
          <a:bodyPr anchor="ctr" anchorCtr="0">
            <a:spAutoFit/>
          </a:bodyPr>
          <a:p>
            <a:pPr algn="just" eaLnBrk="0" hangingPunct="0">
              <a:lnSpc>
                <a:spcPct val="120000"/>
              </a:lnSpc>
              <a:spcBef>
                <a:spcPct val="50000"/>
              </a:spcBef>
              <a:buClrTx/>
              <a:buFontTx/>
              <a:buNone/>
            </a:pPr>
            <a:r>
              <a:rPr lang="en-US" altLang="zh-CN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    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电路中的主要物理量有电压、电流、电荷、磁链、能量、电功率等。在线性电路分析中人们主要关心的物理量是电流、电压和功率。</a:t>
            </a:r>
            <a:endParaRPr lang="zh-CN" altLang="en-US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0723" name="Text Box 6"/>
          <p:cNvSpPr txBox="1"/>
          <p:nvPr/>
        </p:nvSpPr>
        <p:spPr>
          <a:xfrm>
            <a:off x="395288" y="3068638"/>
            <a:ext cx="3671887" cy="579437"/>
          </a:xfrm>
          <a:prstGeom prst="rect">
            <a:avLst/>
          </a:prstGeom>
          <a:noFill/>
          <a:ln w="12700">
            <a:noFill/>
          </a:ln>
          <a:effectLst>
            <a:outerShdw dist="107763" dir="18900000" algn="ctr" rotWithShape="0">
              <a:schemeClr val="bg2">
                <a:alpha val="50000"/>
              </a:schemeClr>
            </a:outerShdw>
          </a:effectLst>
        </p:spPr>
        <p:txBody>
          <a:bodyPr anchor="ctr" anchorCtr="0">
            <a:spAutoFit/>
          </a:bodyPr>
          <a:p>
            <a:pPr eaLnBrk="0" hangingPunct="0">
              <a:spcBef>
                <a:spcPct val="50000"/>
              </a:spcBef>
              <a:buClrTx/>
              <a:buFontTx/>
              <a:buNone/>
            </a:pPr>
            <a:r>
              <a:rPr lang="en-US" altLang="zh-CN" sz="32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1.</a:t>
            </a:r>
            <a:r>
              <a:rPr lang="zh-CN" altLang="en-US" sz="32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电流的参考方向</a:t>
            </a:r>
            <a:endParaRPr lang="zh-CN" altLang="en-US" sz="3200" b="0" dirty="0">
              <a:solidFill>
                <a:schemeClr val="tx1"/>
              </a:solidFill>
              <a:latin typeface="Times New Roman" panose="02020603050405020304" pitchFamily="18" charset="0"/>
              <a:ea typeface="仿宋_GB2312" pitchFamily="49" charset="-122"/>
            </a:endParaRPr>
          </a:p>
        </p:txBody>
      </p:sp>
      <p:graphicFrame>
        <p:nvGraphicFramePr>
          <p:cNvPr id="30724" name="Object 8"/>
          <p:cNvGraphicFramePr>
            <a:graphicFrameLocks noChangeAspect="1"/>
          </p:cNvGraphicFramePr>
          <p:nvPr/>
        </p:nvGraphicFramePr>
        <p:xfrm>
          <a:off x="2771775" y="5373688"/>
          <a:ext cx="3241675" cy="1127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" name="" r:id="rId1" imgW="1308100" imgH="457200" progId="Equation.3">
                  <p:embed/>
                </p:oleObj>
              </mc:Choice>
              <mc:Fallback>
                <p:oleObj name="" r:id="rId1" imgW="1308100" imgH="457200" progId="Equation.3">
                  <p:embed/>
                  <p:pic>
                    <p:nvPicPr>
                      <p:cNvPr id="0" name="图片 308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771775" y="5373688"/>
                        <a:ext cx="3241675" cy="1127125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FFCC99"/>
                          </a:gs>
                          <a:gs pos="100000">
                            <a:srgbClr val="FFFFFF"/>
                          </a:gs>
                        </a:gsLst>
                        <a:lin ang="5400000" scaled="1"/>
                        <a:tileRect/>
                      </a:gradFill>
                      <a:ln w="38100">
                        <a:noFill/>
                        <a:miter/>
                      </a:ln>
                      <a:effectLst>
                        <a:prstShdw prst="shdw17" dist="17961" dir="2699999">
                          <a:srgbClr val="997A5C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25" name="AutoShape 12"/>
          <p:cNvSpPr/>
          <p:nvPr/>
        </p:nvSpPr>
        <p:spPr>
          <a:xfrm>
            <a:off x="6011863" y="5084763"/>
            <a:ext cx="576262" cy="215900"/>
          </a:xfrm>
          <a:prstGeom prst="rightArrow">
            <a:avLst>
              <a:gd name="adj1" fmla="val 50000"/>
              <a:gd name="adj2" fmla="val 66715"/>
            </a:avLst>
          </a:prstGeom>
          <a:noFill/>
          <a:ln w="12700">
            <a:noFill/>
          </a:ln>
        </p:spPr>
        <p:txBody>
          <a:bodyPr wrap="none" anchor="ctr" anchorCtr="0">
            <a:spAutoFit/>
          </a:bodyPr>
          <a:p>
            <a:pPr>
              <a:buClrTx/>
              <a:buFontTx/>
              <a:buNone/>
            </a:pPr>
            <a:endParaRPr lang="zh-CN" altLang="en-US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30726" name="AutoShape 13"/>
          <p:cNvSpPr/>
          <p:nvPr/>
        </p:nvSpPr>
        <p:spPr>
          <a:xfrm>
            <a:off x="2555875" y="4941888"/>
            <a:ext cx="503238" cy="142875"/>
          </a:xfrm>
          <a:prstGeom prst="rightArrow">
            <a:avLst>
              <a:gd name="adj1" fmla="val 50000"/>
              <a:gd name="adj2" fmla="val 88039"/>
            </a:avLst>
          </a:prstGeom>
          <a:solidFill>
            <a:srgbClr val="66CCFF"/>
          </a:solidFill>
          <a:ln w="12700">
            <a:noFill/>
          </a:ln>
        </p:spPr>
        <p:txBody>
          <a:bodyPr anchor="ctr" anchorCtr="0">
            <a:spAutoFit/>
          </a:bodyPr>
          <a:p>
            <a:pPr>
              <a:buClrTx/>
              <a:buFontTx/>
              <a:buNone/>
            </a:pPr>
            <a:endParaRPr lang="zh-CN" altLang="en-US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30727" name="Text Box 14"/>
          <p:cNvSpPr txBox="1"/>
          <p:nvPr/>
        </p:nvSpPr>
        <p:spPr>
          <a:xfrm>
            <a:off x="539750" y="3789363"/>
            <a:ext cx="1368425" cy="557212"/>
          </a:xfrm>
          <a:prstGeom prst="rect">
            <a:avLst/>
          </a:prstGeom>
          <a:noFill/>
          <a:ln w="38100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>
            <a:spAutoFit/>
          </a:bodyPr>
          <a:p>
            <a:pPr eaLnBrk="0" hangingPunct="0">
              <a:spcBef>
                <a:spcPct val="50000"/>
              </a:spcBef>
              <a:buClr>
                <a:schemeClr val="tx1"/>
              </a:buClr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FF9900"/>
                </a:solidFill>
                <a:latin typeface="Times New Roman" panose="02020603050405020304" pitchFamily="18" charset="0"/>
                <a:ea typeface="楷体_GB2312" pitchFamily="49" charset="-122"/>
              </a:rPr>
              <a:t>电流</a:t>
            </a:r>
            <a:endParaRPr lang="zh-CN" altLang="en-US" dirty="0">
              <a:solidFill>
                <a:srgbClr val="FF99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0728" name="AutoShape 15"/>
          <p:cNvSpPr/>
          <p:nvPr/>
        </p:nvSpPr>
        <p:spPr>
          <a:xfrm>
            <a:off x="2195513" y="4005263"/>
            <a:ext cx="576262" cy="144462"/>
          </a:xfrm>
          <a:prstGeom prst="rightArrow">
            <a:avLst>
              <a:gd name="adj1" fmla="val 50000"/>
              <a:gd name="adj2" fmla="val 99707"/>
            </a:avLst>
          </a:prstGeom>
          <a:solidFill>
            <a:srgbClr val="66CCFF"/>
          </a:solidFill>
          <a:ln w="12700">
            <a:noFill/>
          </a:ln>
        </p:spPr>
        <p:txBody>
          <a:bodyPr anchor="ctr" anchorCtr="0">
            <a:spAutoFit/>
          </a:bodyPr>
          <a:p>
            <a:pPr>
              <a:buClrTx/>
              <a:buFontTx/>
              <a:buNone/>
            </a:pPr>
            <a:endParaRPr lang="zh-CN" altLang="en-US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30729" name="Text Box 16"/>
          <p:cNvSpPr txBox="1"/>
          <p:nvPr/>
        </p:nvSpPr>
        <p:spPr>
          <a:xfrm>
            <a:off x="539750" y="4724400"/>
            <a:ext cx="1944688" cy="557213"/>
          </a:xfrm>
          <a:prstGeom prst="rect">
            <a:avLst/>
          </a:prstGeom>
          <a:noFill/>
          <a:ln w="38100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>
            <a:spAutoFit/>
          </a:bodyPr>
          <a:p>
            <a:pPr eaLnBrk="0" hangingPunct="0">
              <a:spcBef>
                <a:spcPct val="50000"/>
              </a:spcBef>
              <a:buClr>
                <a:schemeClr val="tx1"/>
              </a:buClr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FF9900"/>
                </a:solidFill>
                <a:latin typeface="Times New Roman" panose="02020603050405020304" pitchFamily="18" charset="0"/>
                <a:ea typeface="楷体_GB2312" pitchFamily="49" charset="-122"/>
              </a:rPr>
              <a:t>电流强度</a:t>
            </a:r>
            <a:endParaRPr lang="zh-CN" altLang="en-US" dirty="0">
              <a:solidFill>
                <a:srgbClr val="FF99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0730" name="Text Box 17"/>
          <p:cNvSpPr txBox="1"/>
          <p:nvPr/>
        </p:nvSpPr>
        <p:spPr>
          <a:xfrm>
            <a:off x="2700338" y="3789363"/>
            <a:ext cx="4826000" cy="519112"/>
          </a:xfrm>
          <a:prstGeom prst="rect">
            <a:avLst/>
          </a:prstGeom>
          <a:noFill/>
          <a:ln w="12700">
            <a:noFill/>
          </a:ln>
        </p:spPr>
        <p:txBody>
          <a:bodyPr anchor="t" anchorCtr="0">
            <a:spAutoFit/>
          </a:bodyPr>
          <a:p>
            <a:pPr algn="ctr" eaLnBrk="0" hangingPunct="0">
              <a:spcBef>
                <a:spcPct val="50000"/>
              </a:spcBef>
              <a:buClrTx/>
              <a:buFontTx/>
              <a:buNone/>
            </a:pPr>
            <a:r>
              <a:rPr lang="zh-CN" altLang="en-US" dirty="0">
                <a:latin typeface="Times New Roman" panose="02020603050405020304" pitchFamily="18" charset="0"/>
                <a:ea typeface="楷体_GB2312" pitchFamily="49" charset="-122"/>
              </a:rPr>
              <a:t>带电粒子有规则的定向运动</a:t>
            </a:r>
            <a:endParaRPr lang="zh-CN" altLang="en-US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0731" name="Text Box 18"/>
          <p:cNvSpPr txBox="1"/>
          <p:nvPr/>
        </p:nvSpPr>
        <p:spPr>
          <a:xfrm>
            <a:off x="3024188" y="4724400"/>
            <a:ext cx="5940425" cy="519113"/>
          </a:xfrm>
          <a:prstGeom prst="rect">
            <a:avLst/>
          </a:prstGeom>
          <a:noFill/>
          <a:ln w="12700">
            <a:noFill/>
          </a:ln>
        </p:spPr>
        <p:txBody>
          <a:bodyPr anchor="t" anchorCtr="0">
            <a:spAutoFit/>
          </a:bodyPr>
          <a:p>
            <a:pPr algn="ctr" eaLnBrk="0" hangingPunct="0">
              <a:spcBef>
                <a:spcPct val="50000"/>
              </a:spcBef>
              <a:buClr>
                <a:srgbClr val="FFFF00"/>
              </a:buClr>
              <a:buFont typeface="Wingdings" panose="05000000000000000000" pitchFamily="2" charset="2"/>
              <a:buNone/>
            </a:pPr>
            <a:r>
              <a:rPr lang="zh-CN" altLang="en-US" dirty="0">
                <a:latin typeface="Times New Roman" panose="02020603050405020304" pitchFamily="18" charset="0"/>
                <a:ea typeface="楷体_GB2312" pitchFamily="49" charset="-122"/>
              </a:rPr>
              <a:t>单位时间内通过导体横截面的电荷量</a:t>
            </a:r>
            <a:endParaRPr lang="zh-CN" altLang="en-US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pSp>
        <p:nvGrpSpPr>
          <p:cNvPr id="30732" name="Group 20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30733" name="Picture 21" descr="7890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0734" name="Text Box 22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30735" name="Group 23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30736" name="Picture 24" descr="7890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0737" name="Text Box 25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30738" name="Group 35"/>
          <p:cNvGrpSpPr/>
          <p:nvPr/>
        </p:nvGrpSpPr>
        <p:grpSpPr>
          <a:xfrm>
            <a:off x="6588125" y="6445250"/>
            <a:ext cx="792163" cy="366713"/>
            <a:chOff x="5193" y="4020"/>
            <a:chExt cx="499" cy="231"/>
          </a:xfrm>
        </p:grpSpPr>
        <p:pic>
          <p:nvPicPr>
            <p:cNvPr id="30739" name="Picture 36" descr="78900">
              <a:hlinkClick r:id="" action="ppaction://hlinkshowjump?jump=firstslide"/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0740" name="Text Box 37">
              <a:hlinkClick r:id="" action="ppaction://hlinkshowjump?jump=firs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45" name="Text Box 4"/>
          <p:cNvSpPr txBox="1"/>
          <p:nvPr/>
        </p:nvSpPr>
        <p:spPr>
          <a:xfrm>
            <a:off x="684213" y="1557338"/>
            <a:ext cx="1366837" cy="557212"/>
          </a:xfrm>
          <a:prstGeom prst="rect">
            <a:avLst/>
          </a:prstGeom>
          <a:noFill/>
          <a:ln w="38100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>
            <a:spAutoFit/>
          </a:bodyPr>
          <a:p>
            <a:pPr eaLnBrk="0" hangingPunct="0">
              <a:spcBef>
                <a:spcPct val="50000"/>
              </a:spcBef>
              <a:buClr>
                <a:schemeClr val="tx1"/>
              </a:buClr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FF9900"/>
                </a:solidFill>
                <a:latin typeface="楷体_GB2312" pitchFamily="49" charset="-122"/>
                <a:ea typeface="楷体_GB2312" pitchFamily="49" charset="-122"/>
              </a:rPr>
              <a:t>方向</a:t>
            </a:r>
            <a:endParaRPr lang="zh-CN" altLang="en-US" dirty="0">
              <a:solidFill>
                <a:srgbClr val="FF99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1746" name="AutoShape 5"/>
          <p:cNvSpPr/>
          <p:nvPr/>
        </p:nvSpPr>
        <p:spPr>
          <a:xfrm>
            <a:off x="2268538" y="908050"/>
            <a:ext cx="647700" cy="144463"/>
          </a:xfrm>
          <a:prstGeom prst="rightArrow">
            <a:avLst>
              <a:gd name="adj1" fmla="val 50000"/>
              <a:gd name="adj2" fmla="val 112066"/>
            </a:avLst>
          </a:prstGeom>
          <a:solidFill>
            <a:schemeClr val="hlink"/>
          </a:solidFill>
          <a:ln w="12700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>
            <a:spAutoFit/>
          </a:bodyPr>
          <a:p>
            <a:pPr>
              <a:buClrTx/>
              <a:buFontTx/>
              <a:buNone/>
            </a:pPr>
            <a:endParaRPr lang="zh-CN" altLang="en-US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31747" name="Text Box 6"/>
          <p:cNvSpPr txBox="1"/>
          <p:nvPr/>
        </p:nvSpPr>
        <p:spPr>
          <a:xfrm>
            <a:off x="755650" y="2276475"/>
            <a:ext cx="6913563" cy="519113"/>
          </a:xfrm>
          <a:prstGeom prst="rect">
            <a:avLst/>
          </a:prstGeom>
          <a:noFill/>
          <a:ln w="12700">
            <a:noFill/>
          </a:ln>
        </p:spPr>
        <p:txBody>
          <a:bodyPr anchor="t" anchorCtr="0">
            <a:spAutoFit/>
          </a:bodyPr>
          <a:p>
            <a:pPr algn="ctr" eaLnBrk="0" hangingPunct="0">
              <a:spcBef>
                <a:spcPct val="50000"/>
              </a:spcBef>
              <a:buClrTx/>
              <a:buFontTx/>
              <a:buNone/>
            </a:pPr>
            <a:r>
              <a:rPr lang="en-US" altLang="zh-CN" dirty="0">
                <a:latin typeface="Times New Roman" panose="02020603050405020304" pitchFamily="18" charset="0"/>
                <a:ea typeface="楷体_GB2312" pitchFamily="49" charset="-122"/>
              </a:rPr>
              <a:t>   </a:t>
            </a:r>
            <a:r>
              <a:rPr lang="zh-CN" altLang="en-US" dirty="0">
                <a:latin typeface="Times New Roman" panose="02020603050405020304" pitchFamily="18" charset="0"/>
                <a:ea typeface="楷体_GB2312" pitchFamily="49" charset="-122"/>
              </a:rPr>
              <a:t>规定正电荷的运动方向为电流的实际方向</a:t>
            </a:r>
            <a:endParaRPr lang="zh-CN" altLang="en-US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1748" name="Text Box 7"/>
          <p:cNvSpPr txBox="1"/>
          <p:nvPr/>
        </p:nvSpPr>
        <p:spPr>
          <a:xfrm>
            <a:off x="684213" y="692150"/>
            <a:ext cx="1295400" cy="557213"/>
          </a:xfrm>
          <a:prstGeom prst="rect">
            <a:avLst/>
          </a:prstGeom>
          <a:noFill/>
          <a:ln w="38100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>
            <a:spAutoFit/>
          </a:bodyPr>
          <a:p>
            <a:pPr eaLnBrk="0" hangingPunct="0">
              <a:spcBef>
                <a:spcPct val="50000"/>
              </a:spcBef>
              <a:buClr>
                <a:schemeClr val="tx1"/>
              </a:buClr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FF9900"/>
                </a:solidFill>
                <a:latin typeface="楷体_GB2312" pitchFamily="49" charset="-122"/>
                <a:ea typeface="楷体_GB2312" pitchFamily="49" charset="-122"/>
              </a:rPr>
              <a:t>单位</a:t>
            </a:r>
            <a:endParaRPr lang="zh-CN" altLang="en-US" dirty="0">
              <a:solidFill>
                <a:srgbClr val="FF99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1749" name="Text Box 8" descr="羊皮纸"/>
          <p:cNvSpPr txBox="1"/>
          <p:nvPr/>
        </p:nvSpPr>
        <p:spPr>
          <a:xfrm>
            <a:off x="5508625" y="549275"/>
            <a:ext cx="2305050" cy="1708150"/>
          </a:xfrm>
          <a:prstGeom prst="rect">
            <a:avLst/>
          </a:prstGeom>
          <a:blipFill rotWithShape="1">
            <a:blip r:embed="rId1"/>
          </a:blipFill>
          <a:ln w="12700">
            <a:noFill/>
          </a:ln>
        </p:spPr>
        <p:txBody>
          <a:bodyPr anchor="t" anchorCtr="0">
            <a:spAutoFit/>
          </a:bodyPr>
          <a:p>
            <a:pPr algn="ctr" eaLnBrk="0" hangingPunct="0">
              <a:spcBef>
                <a:spcPct val="50000"/>
              </a:spcBef>
              <a:buClrTx/>
              <a:buFontTx/>
              <a:buNone/>
            </a:pPr>
            <a:r>
              <a:rPr lang="en-US" altLang="zh-CN" b="0" dirty="0">
                <a:solidFill>
                  <a:srgbClr val="000000"/>
                </a:solidFill>
                <a:latin typeface="Times New Roman" panose="02020603050405020304" pitchFamily="18" charset="0"/>
                <a:ea typeface="仿宋_GB2312" pitchFamily="49" charset="-122"/>
              </a:rPr>
              <a:t>1kA=10</a:t>
            </a:r>
            <a:r>
              <a:rPr lang="en-US" altLang="zh-CN" b="0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仿宋_GB2312" pitchFamily="49" charset="-122"/>
              </a:rPr>
              <a:t>3</a:t>
            </a:r>
            <a:r>
              <a:rPr lang="en-US" altLang="zh-CN" b="0" dirty="0">
                <a:solidFill>
                  <a:srgbClr val="000000"/>
                </a:solidFill>
                <a:latin typeface="Times New Roman" panose="02020603050405020304" pitchFamily="18" charset="0"/>
                <a:ea typeface="仿宋_GB2312" pitchFamily="49" charset="-122"/>
              </a:rPr>
              <a:t>A</a:t>
            </a:r>
            <a:endParaRPr lang="en-US" altLang="zh-CN" b="0" dirty="0">
              <a:solidFill>
                <a:srgbClr val="000000"/>
              </a:solidFill>
              <a:latin typeface="Times New Roman" panose="02020603050405020304" pitchFamily="18" charset="0"/>
              <a:ea typeface="仿宋_GB2312" pitchFamily="49" charset="-122"/>
            </a:endParaRPr>
          </a:p>
          <a:p>
            <a:pPr algn="ctr" eaLnBrk="0" hangingPunct="0">
              <a:spcBef>
                <a:spcPct val="50000"/>
              </a:spcBef>
              <a:buClrTx/>
              <a:buFontTx/>
              <a:buNone/>
            </a:pPr>
            <a:r>
              <a:rPr lang="en-US" altLang="zh-CN" b="0" dirty="0">
                <a:solidFill>
                  <a:srgbClr val="000000"/>
                </a:solidFill>
                <a:latin typeface="Times New Roman" panose="02020603050405020304" pitchFamily="18" charset="0"/>
                <a:ea typeface="仿宋_GB2312" pitchFamily="49" charset="-122"/>
              </a:rPr>
              <a:t>1mA=</a:t>
            </a:r>
            <a:r>
              <a:rPr lang="en-US" altLang="zh-CN" sz="2400" b="0" dirty="0">
                <a:solidFill>
                  <a:srgbClr val="000000"/>
                </a:solidFill>
                <a:latin typeface="Times New Roman" panose="02020603050405020304" pitchFamily="18" charset="0"/>
                <a:ea typeface="仿宋_GB2312" pitchFamily="49" charset="-122"/>
              </a:rPr>
              <a:t>10</a:t>
            </a:r>
            <a:r>
              <a:rPr lang="en-US" altLang="zh-CN" sz="2400" b="0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仿宋_GB2312" pitchFamily="49" charset="-122"/>
              </a:rPr>
              <a:t>-3</a:t>
            </a:r>
            <a:r>
              <a:rPr lang="en-US" altLang="zh-CN" sz="2400" b="0" dirty="0">
                <a:solidFill>
                  <a:srgbClr val="000000"/>
                </a:solidFill>
                <a:latin typeface="Times New Roman" panose="02020603050405020304" pitchFamily="18" charset="0"/>
                <a:ea typeface="仿宋_GB2312" pitchFamily="49" charset="-122"/>
              </a:rPr>
              <a:t>A</a:t>
            </a:r>
            <a:endParaRPr lang="en-US" altLang="zh-CN" sz="2400" b="0" dirty="0">
              <a:solidFill>
                <a:srgbClr val="000000"/>
              </a:solidFill>
              <a:latin typeface="Times New Roman" panose="02020603050405020304" pitchFamily="18" charset="0"/>
              <a:ea typeface="仿宋_GB2312" pitchFamily="49" charset="-122"/>
            </a:endParaRPr>
          </a:p>
          <a:p>
            <a:pPr algn="ctr" eaLnBrk="0" hangingPunct="0">
              <a:spcBef>
                <a:spcPct val="50000"/>
              </a:spcBef>
              <a:buClrTx/>
              <a:buFontTx/>
              <a:buNone/>
            </a:pPr>
            <a:r>
              <a:rPr lang="en-US" altLang="zh-CN" sz="2400" b="0" dirty="0">
                <a:solidFill>
                  <a:srgbClr val="000000"/>
                </a:solidFill>
                <a:latin typeface="Times New Roman" panose="02020603050405020304" pitchFamily="18" charset="0"/>
                <a:ea typeface="仿宋_GB2312" pitchFamily="49" charset="-122"/>
              </a:rPr>
              <a:t>1 </a:t>
            </a:r>
            <a:r>
              <a:rPr lang="en-US" altLang="zh-CN" sz="2400" b="0" dirty="0">
                <a:solidFill>
                  <a:srgbClr val="000000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</a:t>
            </a:r>
            <a:r>
              <a:rPr lang="en-US" altLang="zh-CN" sz="2400" b="0" dirty="0">
                <a:solidFill>
                  <a:srgbClr val="000000"/>
                </a:solidFill>
                <a:latin typeface="Times New Roman" panose="02020603050405020304" pitchFamily="18" charset="0"/>
                <a:ea typeface="仿宋_GB2312" pitchFamily="49" charset="-122"/>
              </a:rPr>
              <a:t> A=10</a:t>
            </a:r>
            <a:r>
              <a:rPr lang="en-US" altLang="zh-CN" sz="2400" b="0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仿宋_GB2312" pitchFamily="49" charset="-122"/>
              </a:rPr>
              <a:t>-6</a:t>
            </a:r>
            <a:r>
              <a:rPr lang="en-US" altLang="zh-CN" sz="2400" b="0" dirty="0">
                <a:solidFill>
                  <a:srgbClr val="000000"/>
                </a:solidFill>
                <a:latin typeface="Times New Roman" panose="02020603050405020304" pitchFamily="18" charset="0"/>
                <a:ea typeface="仿宋_GB2312" pitchFamily="49" charset="-122"/>
              </a:rPr>
              <a:t>A</a:t>
            </a:r>
            <a:endParaRPr lang="en-US" altLang="zh-CN" sz="2400" b="0" dirty="0">
              <a:solidFill>
                <a:srgbClr val="000000"/>
              </a:solidFill>
              <a:latin typeface="Times New Roman" panose="02020603050405020304" pitchFamily="18" charset="0"/>
              <a:ea typeface="仿宋_GB2312" pitchFamily="49" charset="-122"/>
            </a:endParaRPr>
          </a:p>
        </p:txBody>
      </p:sp>
      <p:sp>
        <p:nvSpPr>
          <p:cNvPr id="31750" name="Text Box 9"/>
          <p:cNvSpPr txBox="1"/>
          <p:nvPr/>
        </p:nvSpPr>
        <p:spPr>
          <a:xfrm>
            <a:off x="2916238" y="692150"/>
            <a:ext cx="2592387" cy="946150"/>
          </a:xfrm>
          <a:prstGeom prst="rect">
            <a:avLst/>
          </a:prstGeom>
          <a:noFill/>
          <a:ln w="12700">
            <a:noFill/>
          </a:ln>
        </p:spPr>
        <p:txBody>
          <a:bodyPr anchor="t" anchorCtr="0">
            <a:spAutoFit/>
          </a:bodyPr>
          <a:p>
            <a:pPr algn="ctr" eaLnBrk="0" hangingPunct="0">
              <a:spcBef>
                <a:spcPct val="50000"/>
              </a:spcBef>
              <a:buClrTx/>
              <a:buFontTx/>
              <a:buNone/>
            </a:pPr>
            <a:r>
              <a:rPr lang="en-US" altLang="zh-CN" b="0" dirty="0">
                <a:latin typeface="Times New Roman" panose="02020603050405020304" pitchFamily="18" charset="0"/>
                <a:ea typeface="仿宋_GB2312" pitchFamily="49" charset="-122"/>
              </a:rPr>
              <a:t>A</a:t>
            </a:r>
            <a:r>
              <a:rPr lang="zh-CN" altLang="en-US" dirty="0">
                <a:latin typeface="Times New Roman" panose="02020603050405020304" pitchFamily="18" charset="0"/>
                <a:ea typeface="仿宋_GB2312" pitchFamily="49" charset="-122"/>
              </a:rPr>
              <a:t>（安培）、</a:t>
            </a:r>
            <a:r>
              <a:rPr lang="en-US" altLang="zh-CN" b="0" dirty="0">
                <a:latin typeface="Times New Roman" panose="02020603050405020304" pitchFamily="18" charset="0"/>
                <a:ea typeface="仿宋_GB2312" pitchFamily="49" charset="-122"/>
              </a:rPr>
              <a:t>kA</a:t>
            </a:r>
            <a:r>
              <a:rPr lang="zh-CN" altLang="en-US" b="0" dirty="0">
                <a:latin typeface="Times New Roman" panose="02020603050405020304" pitchFamily="18" charset="0"/>
                <a:ea typeface="仿宋_GB2312" pitchFamily="49" charset="-122"/>
              </a:rPr>
              <a:t>、</a:t>
            </a:r>
            <a:r>
              <a:rPr lang="en-US" altLang="zh-CN" b="0" dirty="0">
                <a:latin typeface="Times New Roman" panose="02020603050405020304" pitchFamily="18" charset="0"/>
                <a:ea typeface="仿宋_GB2312" pitchFamily="49" charset="-122"/>
              </a:rPr>
              <a:t>mA</a:t>
            </a:r>
            <a:r>
              <a:rPr lang="zh-CN" altLang="en-US" b="0" dirty="0">
                <a:latin typeface="Times New Roman" panose="02020603050405020304" pitchFamily="18" charset="0"/>
                <a:ea typeface="仿宋_GB2312" pitchFamily="49" charset="-122"/>
              </a:rPr>
              <a:t>、</a:t>
            </a:r>
            <a:r>
              <a:rPr lang="zh-CN" altLang="en-US" b="0" dirty="0"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</a:t>
            </a:r>
            <a:r>
              <a:rPr lang="en-US" altLang="zh-CN" b="0" dirty="0"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A</a:t>
            </a:r>
            <a:endParaRPr lang="en-US" altLang="zh-CN" b="0" dirty="0">
              <a:latin typeface="Times New Roman" panose="02020603050405020304" pitchFamily="18" charset="0"/>
              <a:ea typeface="仿宋_GB2312" pitchFamily="49" charset="-122"/>
            </a:endParaRPr>
          </a:p>
        </p:txBody>
      </p:sp>
      <p:sp>
        <p:nvSpPr>
          <p:cNvPr id="31751" name="AutoShape 10"/>
          <p:cNvSpPr/>
          <p:nvPr/>
        </p:nvSpPr>
        <p:spPr>
          <a:xfrm>
            <a:off x="2339975" y="1844675"/>
            <a:ext cx="647700" cy="144463"/>
          </a:xfrm>
          <a:prstGeom prst="rightArrow">
            <a:avLst>
              <a:gd name="adj1" fmla="val 50000"/>
              <a:gd name="adj2" fmla="val 112066"/>
            </a:avLst>
          </a:prstGeom>
          <a:solidFill>
            <a:schemeClr val="hlink"/>
          </a:solidFill>
          <a:ln w="12700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>
            <a:spAutoFit/>
          </a:bodyPr>
          <a:p>
            <a:pPr>
              <a:buClrTx/>
              <a:buFontTx/>
              <a:buNone/>
            </a:pPr>
            <a:endParaRPr lang="zh-CN" altLang="en-US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31752" name="Text Box 11"/>
          <p:cNvSpPr txBox="1"/>
          <p:nvPr/>
        </p:nvSpPr>
        <p:spPr>
          <a:xfrm>
            <a:off x="539750" y="2565400"/>
            <a:ext cx="8007350" cy="733425"/>
          </a:xfrm>
          <a:prstGeom prst="rect">
            <a:avLst/>
          </a:prstGeom>
          <a:noFill/>
          <a:ln w="12700">
            <a:noFill/>
          </a:ln>
        </p:spPr>
        <p:txBody>
          <a:bodyPr wrap="none" anchor="t" anchorCtr="0">
            <a:spAutoFit/>
          </a:bodyPr>
          <a:p>
            <a:pPr eaLnBrk="0" hangingPunct="0">
              <a:lnSpc>
                <a:spcPct val="150000"/>
              </a:lnSpc>
              <a:buClrTx/>
              <a:buFontTx/>
              <a:buNone/>
            </a:pP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元件</a:t>
            </a:r>
            <a:r>
              <a:rPr lang="en-US" altLang="zh-CN" dirty="0">
                <a:latin typeface="楷体_GB2312" pitchFamily="49" charset="-122"/>
                <a:ea typeface="楷体_GB2312" pitchFamily="49" charset="-122"/>
              </a:rPr>
              <a:t>(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导线</a:t>
            </a:r>
            <a:r>
              <a:rPr lang="en-US" altLang="zh-CN" dirty="0">
                <a:latin typeface="楷体_GB2312" pitchFamily="49" charset="-122"/>
                <a:ea typeface="楷体_GB2312" pitchFamily="49" charset="-122"/>
              </a:rPr>
              <a:t>)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中电流流动的实际方向只有两种可能</a:t>
            </a:r>
            <a:r>
              <a:rPr lang="en-US" altLang="zh-CN" dirty="0">
                <a:latin typeface="楷体_GB2312" pitchFamily="49" charset="-122"/>
                <a:ea typeface="楷体_GB2312" pitchFamily="49" charset="-122"/>
              </a:rPr>
              <a:t>:</a:t>
            </a:r>
            <a:r>
              <a:rPr lang="en-US" altLang="zh-CN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endParaRPr lang="en-US" altLang="zh-CN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1753" name="Text Box 14"/>
          <p:cNvSpPr txBox="1"/>
          <p:nvPr/>
        </p:nvSpPr>
        <p:spPr>
          <a:xfrm>
            <a:off x="6516688" y="3284538"/>
            <a:ext cx="428625" cy="512762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/>
          <a:p>
            <a:pPr algn="ctr" eaLnBrk="0" hangingPunct="0">
              <a:buClrTx/>
              <a:buFontTx/>
              <a:buNone/>
            </a:pPr>
            <a:r>
              <a:rPr lang="en-US" altLang="zh-CN" sz="3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</a:t>
            </a:r>
            <a:endParaRPr lang="en-US" altLang="zh-CN" sz="3600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31754" name="Text Box 19"/>
          <p:cNvSpPr txBox="1"/>
          <p:nvPr/>
        </p:nvSpPr>
        <p:spPr>
          <a:xfrm>
            <a:off x="2268538" y="4292600"/>
            <a:ext cx="569912" cy="565150"/>
          </a:xfrm>
          <a:prstGeom prst="rect">
            <a:avLst/>
          </a:prstGeom>
          <a:noFill/>
          <a:ln w="12700">
            <a:noFill/>
          </a:ln>
        </p:spPr>
        <p:txBody>
          <a:bodyPr anchor="ctr" anchorCtr="0"/>
          <a:p>
            <a:pPr algn="ctr" eaLnBrk="0" hangingPunct="0">
              <a:buClrTx/>
              <a:buFontTx/>
              <a:buNone/>
            </a:pPr>
            <a:r>
              <a:rPr lang="en-US" altLang="zh-CN" sz="3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</a:t>
            </a:r>
            <a:endParaRPr lang="en-US" altLang="zh-CN" sz="3600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grpSp>
        <p:nvGrpSpPr>
          <p:cNvPr id="31755" name="Group 46"/>
          <p:cNvGrpSpPr/>
          <p:nvPr/>
        </p:nvGrpSpPr>
        <p:grpSpPr>
          <a:xfrm>
            <a:off x="1547813" y="4364038"/>
            <a:ext cx="5832475" cy="952500"/>
            <a:chOff x="1066" y="2749"/>
            <a:chExt cx="3674" cy="600"/>
          </a:xfrm>
        </p:grpSpPr>
        <p:sp>
          <p:nvSpPr>
            <p:cNvPr id="31756" name="Line 16"/>
            <p:cNvSpPr/>
            <p:nvPr/>
          </p:nvSpPr>
          <p:spPr>
            <a:xfrm flipH="1">
              <a:off x="1565" y="3158"/>
              <a:ext cx="2767" cy="0"/>
            </a:xfrm>
            <a:prstGeom prst="line">
              <a:avLst/>
            </a:prstGeom>
            <a:ln w="38100" cap="sq" cmpd="sng">
              <a:solidFill>
                <a:srgbClr val="FFCC00"/>
              </a:solidFill>
              <a:prstDash val="solid"/>
              <a:round/>
              <a:headEnd type="oval" w="med" len="med"/>
              <a:tailEnd type="oval" w="med" len="med"/>
            </a:ln>
          </p:spPr>
        </p:sp>
        <p:sp>
          <p:nvSpPr>
            <p:cNvPr id="31757" name="AutoShape 17"/>
            <p:cNvSpPr/>
            <p:nvPr/>
          </p:nvSpPr>
          <p:spPr>
            <a:xfrm flipH="1">
              <a:off x="3560" y="2976"/>
              <a:ext cx="492" cy="79"/>
            </a:xfrm>
            <a:prstGeom prst="rightArrow">
              <a:avLst>
                <a:gd name="adj1" fmla="val 50000"/>
                <a:gd name="adj2" fmla="val 155667"/>
              </a:avLst>
            </a:prstGeom>
            <a:solidFill>
              <a:srgbClr val="00FFFF"/>
            </a:solidFill>
            <a:ln w="12700">
              <a:noFill/>
            </a:ln>
          </p:spPr>
          <p:txBody>
            <a:bodyPr wrap="none" anchor="ctr" anchorCtr="0"/>
            <a:p>
              <a:pPr>
                <a:buClrTx/>
                <a:buFontTx/>
                <a:buNone/>
              </a:pPr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31758" name="Text Box 18"/>
            <p:cNvSpPr txBox="1"/>
            <p:nvPr/>
          </p:nvSpPr>
          <p:spPr>
            <a:xfrm>
              <a:off x="2291" y="2749"/>
              <a:ext cx="998" cy="23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anchor="ctr" anchorCtr="0"/>
            <a:p>
              <a:pPr algn="ctr" eaLnBrk="0" hangingPunct="0">
                <a:buClrTx/>
                <a:buFontTx/>
                <a:buNone/>
              </a:pPr>
              <a:r>
                <a:rPr lang="zh-CN" alt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实际方向</a:t>
              </a:r>
              <a:endPara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31759" name="Rectangle 23"/>
            <p:cNvSpPr/>
            <p:nvPr/>
          </p:nvSpPr>
          <p:spPr>
            <a:xfrm>
              <a:off x="2472" y="3067"/>
              <a:ext cx="544" cy="22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12700">
              <a:noFill/>
            </a:ln>
          </p:spPr>
          <p:txBody>
            <a:bodyPr wrap="none" anchor="ctr" anchorCtr="0">
              <a:spAutoFit/>
            </a:bodyPr>
            <a:p>
              <a:pPr>
                <a:buClrTx/>
                <a:buFontTx/>
                <a:buNone/>
              </a:pPr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31760" name="Text Box 25"/>
            <p:cNvSpPr txBox="1"/>
            <p:nvPr/>
          </p:nvSpPr>
          <p:spPr>
            <a:xfrm>
              <a:off x="1066" y="2976"/>
              <a:ext cx="408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b="0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A</a:t>
              </a:r>
              <a:endParaRPr lang="en-US" altLang="zh-CN" sz="2400" b="0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31761" name="Text Box 26"/>
            <p:cNvSpPr txBox="1"/>
            <p:nvPr/>
          </p:nvSpPr>
          <p:spPr>
            <a:xfrm>
              <a:off x="4332" y="3022"/>
              <a:ext cx="408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b="0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B</a:t>
              </a:r>
              <a:endPara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</p:grpSp>
      <p:grpSp>
        <p:nvGrpSpPr>
          <p:cNvPr id="31762" name="Group 45"/>
          <p:cNvGrpSpPr/>
          <p:nvPr/>
        </p:nvGrpSpPr>
        <p:grpSpPr>
          <a:xfrm>
            <a:off x="1619250" y="3357563"/>
            <a:ext cx="5761038" cy="877887"/>
            <a:chOff x="1020" y="2115"/>
            <a:chExt cx="3629" cy="553"/>
          </a:xfrm>
        </p:grpSpPr>
        <p:sp>
          <p:nvSpPr>
            <p:cNvPr id="31763" name="Line 12"/>
            <p:cNvSpPr/>
            <p:nvPr/>
          </p:nvSpPr>
          <p:spPr>
            <a:xfrm>
              <a:off x="1474" y="2478"/>
              <a:ext cx="2765" cy="1"/>
            </a:xfrm>
            <a:prstGeom prst="line">
              <a:avLst/>
            </a:prstGeom>
            <a:ln w="38100" cap="sq" cmpd="sng">
              <a:solidFill>
                <a:srgbClr val="FFCC00"/>
              </a:solidFill>
              <a:prstDash val="solid"/>
              <a:round/>
              <a:headEnd type="oval" w="med" len="med"/>
              <a:tailEnd type="oval" w="med" len="med"/>
            </a:ln>
          </p:spPr>
        </p:sp>
        <p:sp>
          <p:nvSpPr>
            <p:cNvPr id="31764" name="AutoShape 13"/>
            <p:cNvSpPr/>
            <p:nvPr/>
          </p:nvSpPr>
          <p:spPr>
            <a:xfrm>
              <a:off x="1519" y="2296"/>
              <a:ext cx="492" cy="91"/>
            </a:xfrm>
            <a:prstGeom prst="rightArrow">
              <a:avLst>
                <a:gd name="adj1" fmla="val 50000"/>
                <a:gd name="adj2" fmla="val 135139"/>
              </a:avLst>
            </a:prstGeom>
            <a:solidFill>
              <a:srgbClr val="00FFFF"/>
            </a:solidFill>
            <a:ln w="12700">
              <a:noFill/>
            </a:ln>
          </p:spPr>
          <p:txBody>
            <a:bodyPr wrap="none" anchor="ctr" anchorCtr="0"/>
            <a:p>
              <a:pPr>
                <a:buClrTx/>
                <a:buFontTx/>
                <a:buNone/>
              </a:pPr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31765" name="Text Box 15"/>
            <p:cNvSpPr txBox="1"/>
            <p:nvPr/>
          </p:nvSpPr>
          <p:spPr>
            <a:xfrm>
              <a:off x="2200" y="2115"/>
              <a:ext cx="997" cy="230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ctr" anchorCtr="0"/>
            <a:p>
              <a:pPr algn="ctr" eaLnBrk="0" hangingPunct="0">
                <a:buClrTx/>
                <a:buFontTx/>
                <a:buNone/>
              </a:pPr>
              <a:r>
                <a:rPr lang="zh-CN" alt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实际方向</a:t>
              </a:r>
              <a:endPara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31766" name="Rectangle 20"/>
            <p:cNvSpPr/>
            <p:nvPr/>
          </p:nvSpPr>
          <p:spPr>
            <a:xfrm>
              <a:off x="2426" y="2387"/>
              <a:ext cx="590" cy="181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anchor="ctr" anchorCtr="0">
              <a:spAutoFit/>
            </a:bodyPr>
            <a:p>
              <a:pPr>
                <a:buClrTx/>
                <a:buFontTx/>
                <a:buNone/>
              </a:pPr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31767" name="Rectangle 21"/>
            <p:cNvSpPr/>
            <p:nvPr/>
          </p:nvSpPr>
          <p:spPr>
            <a:xfrm>
              <a:off x="2290" y="2387"/>
              <a:ext cx="680" cy="181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anchor="ctr" anchorCtr="0">
              <a:spAutoFit/>
            </a:bodyPr>
            <a:p>
              <a:pPr>
                <a:buClrTx/>
                <a:buFontTx/>
                <a:buNone/>
              </a:pPr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31768" name="Rectangle 22"/>
            <p:cNvSpPr/>
            <p:nvPr/>
          </p:nvSpPr>
          <p:spPr>
            <a:xfrm>
              <a:off x="2426" y="2387"/>
              <a:ext cx="544" cy="22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12700">
              <a:noFill/>
            </a:ln>
          </p:spPr>
          <p:txBody>
            <a:bodyPr wrap="none" anchor="ctr" anchorCtr="0">
              <a:spAutoFit/>
            </a:bodyPr>
            <a:p>
              <a:pPr>
                <a:buClrTx/>
                <a:buFontTx/>
                <a:buNone/>
              </a:pPr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31769" name="Text Box 24"/>
            <p:cNvSpPr txBox="1"/>
            <p:nvPr/>
          </p:nvSpPr>
          <p:spPr>
            <a:xfrm>
              <a:off x="1020" y="2296"/>
              <a:ext cx="408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b="0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A</a:t>
              </a:r>
              <a:endPara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31770" name="Text Box 27"/>
            <p:cNvSpPr txBox="1"/>
            <p:nvPr/>
          </p:nvSpPr>
          <p:spPr>
            <a:xfrm>
              <a:off x="4241" y="2341"/>
              <a:ext cx="408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b="0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B</a:t>
              </a:r>
              <a:endPara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</p:grpSp>
      <p:sp>
        <p:nvSpPr>
          <p:cNvPr id="31771" name="Text Box 29"/>
          <p:cNvSpPr txBox="1"/>
          <p:nvPr/>
        </p:nvSpPr>
        <p:spPr>
          <a:xfrm>
            <a:off x="1403350" y="5229225"/>
            <a:ext cx="7056438" cy="1073150"/>
          </a:xfrm>
          <a:prstGeom prst="rect">
            <a:avLst/>
          </a:prstGeom>
          <a:noFill/>
          <a:ln w="12700">
            <a:noFill/>
          </a:ln>
        </p:spPr>
        <p:txBody>
          <a:bodyPr anchor="t" anchorCtr="0">
            <a:spAutoFit/>
          </a:bodyPr>
          <a:p>
            <a:pPr eaLnBrk="0" hangingPunct="0">
              <a:lnSpc>
                <a:spcPct val="115000"/>
              </a:lnSpc>
              <a:spcBef>
                <a:spcPct val="50000"/>
              </a:spcBef>
              <a:buClrTx/>
              <a:buFontTx/>
              <a:buNone/>
            </a:pPr>
            <a:r>
              <a:rPr lang="en-US" altLang="zh-CN" dirty="0">
                <a:latin typeface="Times New Roman" panose="02020603050405020304" pitchFamily="18" charset="0"/>
                <a:ea typeface="楷体_GB2312" pitchFamily="49" charset="-122"/>
              </a:rPr>
              <a:t>     </a:t>
            </a:r>
            <a:r>
              <a:rPr lang="zh-CN" altLang="en-US" dirty="0">
                <a:latin typeface="Times New Roman" panose="02020603050405020304" pitchFamily="18" charset="0"/>
                <a:ea typeface="楷体_GB2312" pitchFamily="49" charset="-122"/>
              </a:rPr>
              <a:t>对于复杂电路或电路中的电流随时间变化时，电流的实际方向往往很难事先判断。</a:t>
            </a:r>
            <a:endParaRPr lang="zh-CN" altLang="en-US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pSp>
        <p:nvGrpSpPr>
          <p:cNvPr id="31772" name="Group 33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31773" name="Picture 34" descr="7890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1774" name="Text Box 35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31775" name="Group 36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31776" name="Picture 37" descr="7890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1777" name="Text Box 38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31778" name="Group 42"/>
          <p:cNvGrpSpPr/>
          <p:nvPr/>
        </p:nvGrpSpPr>
        <p:grpSpPr>
          <a:xfrm>
            <a:off x="250825" y="5084763"/>
            <a:ext cx="1644650" cy="850900"/>
            <a:chOff x="385" y="3022"/>
            <a:chExt cx="1036" cy="536"/>
          </a:xfrm>
        </p:grpSpPr>
        <p:pic>
          <p:nvPicPr>
            <p:cNvPr id="31779" name="Picture 43" descr="12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85" y="3022"/>
              <a:ext cx="590" cy="536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1780" name="Text Box 44"/>
            <p:cNvSpPr txBox="1"/>
            <p:nvPr/>
          </p:nvSpPr>
          <p:spPr>
            <a:xfrm>
              <a:off x="793" y="3125"/>
              <a:ext cx="628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ClrTx/>
                <a:buFontTx/>
                <a:buNone/>
              </a:pPr>
              <a:r>
                <a:rPr lang="zh-CN" altLang="en-US" sz="3200" b="0" dirty="0">
                  <a:solidFill>
                    <a:srgbClr val="CC6600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问题</a:t>
              </a:r>
              <a:endParaRPr lang="zh-CN" altLang="en-US" sz="3200" b="0" dirty="0">
                <a:solidFill>
                  <a:srgbClr val="CC6600"/>
                </a:solidFill>
                <a:latin typeface="Arial" panose="020B0604020202020204" pitchFamily="34" charset="0"/>
                <a:ea typeface="华文行楷" panose="02010800040101010101" pitchFamily="2" charset="-122"/>
              </a:endParaRPr>
            </a:p>
          </p:txBody>
        </p:sp>
      </p:grpSp>
      <p:grpSp>
        <p:nvGrpSpPr>
          <p:cNvPr id="31781" name="Group 53"/>
          <p:cNvGrpSpPr/>
          <p:nvPr/>
        </p:nvGrpSpPr>
        <p:grpSpPr>
          <a:xfrm>
            <a:off x="6588125" y="6445250"/>
            <a:ext cx="792163" cy="366713"/>
            <a:chOff x="5193" y="4020"/>
            <a:chExt cx="499" cy="231"/>
          </a:xfrm>
        </p:grpSpPr>
        <p:pic>
          <p:nvPicPr>
            <p:cNvPr id="31782" name="Picture 54" descr="78900">
              <a:hlinkClick r:id="" action="ppaction://hlinkshowjump?jump=firstslide"/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1783" name="Text Box 55">
              <a:hlinkClick r:id="" action="ppaction://hlinkshowjump?jump=firs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769" name="Text Box 17"/>
          <p:cNvSpPr txBox="1"/>
          <p:nvPr/>
        </p:nvSpPr>
        <p:spPr>
          <a:xfrm>
            <a:off x="468313" y="692150"/>
            <a:ext cx="2160587" cy="557213"/>
          </a:xfrm>
          <a:prstGeom prst="rect">
            <a:avLst/>
          </a:prstGeom>
          <a:noFill/>
          <a:ln w="38100" cap="sq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>
            <a:spAutoFit/>
          </a:bodyPr>
          <a:p>
            <a:pPr algn="ctr" eaLnBrk="0" hangingPunct="0">
              <a:buClr>
                <a:schemeClr val="tx1"/>
              </a:buClr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FF9900"/>
                </a:solidFill>
                <a:latin typeface="Times New Roman" panose="02020603050405020304" pitchFamily="18" charset="0"/>
                <a:ea typeface="楷体_GB2312" pitchFamily="49" charset="-122"/>
              </a:rPr>
              <a:t>参考方向</a:t>
            </a:r>
            <a:endParaRPr lang="zh-CN" altLang="en-US" dirty="0">
              <a:solidFill>
                <a:srgbClr val="FF99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pSp>
        <p:nvGrpSpPr>
          <p:cNvPr id="32770" name="Group 78"/>
          <p:cNvGrpSpPr/>
          <p:nvPr/>
        </p:nvGrpSpPr>
        <p:grpSpPr>
          <a:xfrm>
            <a:off x="6227763" y="1773238"/>
            <a:ext cx="2700337" cy="1600200"/>
            <a:chOff x="385" y="689"/>
            <a:chExt cx="1542" cy="1008"/>
          </a:xfrm>
        </p:grpSpPr>
        <p:sp>
          <p:nvSpPr>
            <p:cNvPr id="32771" name="Text Box 20"/>
            <p:cNvSpPr txBox="1"/>
            <p:nvPr/>
          </p:nvSpPr>
          <p:spPr>
            <a:xfrm>
              <a:off x="567" y="1052"/>
              <a:ext cx="879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ctr" anchorCtr="0">
              <a:spAutoFit/>
            </a:bodyPr>
            <a:p>
              <a:pPr eaLnBrk="0" hangingPunct="0">
                <a:buClrTx/>
                <a:buFontTx/>
                <a:buNone/>
              </a:pPr>
              <a:r>
                <a:rPr lang="en-US" altLang="zh-CN" dirty="0">
                  <a:latin typeface="Times New Roman" panose="02020603050405020304" pitchFamily="18" charset="0"/>
                  <a:ea typeface="楷体_GB2312" pitchFamily="49" charset="-122"/>
                </a:rPr>
                <a:t>  </a:t>
              </a:r>
              <a:r>
                <a:rPr lang="zh-CN" altLang="en-US" dirty="0">
                  <a:latin typeface="Times New Roman" panose="02020603050405020304" pitchFamily="18" charset="0"/>
                  <a:ea typeface="楷体_GB2312" pitchFamily="49" charset="-122"/>
                </a:rPr>
                <a:t>大小</a:t>
              </a:r>
              <a:endParaRPr lang="zh-CN" altLang="en-US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32772" name="Text Box 21"/>
            <p:cNvSpPr txBox="1"/>
            <p:nvPr/>
          </p:nvSpPr>
          <p:spPr>
            <a:xfrm>
              <a:off x="611" y="1370"/>
              <a:ext cx="1316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ctr" anchorCtr="0">
              <a:spAutoFit/>
            </a:bodyPr>
            <a:p>
              <a:pPr algn="ctr" eaLnBrk="0" hangingPunct="0">
                <a:buClrTx/>
                <a:buFontTx/>
                <a:buNone/>
              </a:pPr>
              <a:r>
                <a:rPr lang="zh-CN" altLang="en-US" dirty="0">
                  <a:latin typeface="楷体_GB2312" pitchFamily="49" charset="-122"/>
                  <a:ea typeface="楷体_GB2312" pitchFamily="49" charset="-122"/>
                </a:rPr>
                <a:t>方向</a:t>
              </a:r>
              <a:r>
                <a:rPr lang="en-US" altLang="zh-CN" dirty="0">
                  <a:latin typeface="楷体_GB2312" pitchFamily="49" charset="-122"/>
                  <a:ea typeface="楷体_GB2312" pitchFamily="49" charset="-122"/>
                </a:rPr>
                <a:t>(</a:t>
              </a:r>
              <a:r>
                <a:rPr lang="zh-CN" altLang="en-US" dirty="0">
                  <a:latin typeface="楷体_GB2312" pitchFamily="49" charset="-122"/>
                  <a:ea typeface="楷体_GB2312" pitchFamily="49" charset="-122"/>
                </a:rPr>
                <a:t>正负）</a:t>
              </a:r>
              <a:endParaRPr lang="zh-CN" altLang="en-US" dirty="0"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32773" name="Text Box 22"/>
            <p:cNvSpPr txBox="1"/>
            <p:nvPr/>
          </p:nvSpPr>
          <p:spPr>
            <a:xfrm>
              <a:off x="385" y="689"/>
              <a:ext cx="1452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ctr" anchorCtr="0">
              <a:spAutoFit/>
            </a:bodyPr>
            <a:p>
              <a:pPr algn="ctr" eaLnBrk="0" hangingPunct="0">
                <a:buClrTx/>
                <a:buFontTx/>
                <a:buNone/>
              </a:pPr>
              <a:r>
                <a:rPr lang="zh-CN" altLang="en-US" dirty="0">
                  <a:latin typeface="楷体_GB2312" pitchFamily="49" charset="-122"/>
                  <a:ea typeface="楷体_GB2312" pitchFamily="49" charset="-122"/>
                </a:rPr>
                <a:t>电流</a:t>
              </a:r>
              <a:r>
                <a:rPr lang="en-US" altLang="zh-CN" dirty="0">
                  <a:latin typeface="楷体_GB2312" pitchFamily="49" charset="-122"/>
                  <a:ea typeface="楷体_GB2312" pitchFamily="49" charset="-122"/>
                </a:rPr>
                <a:t>(</a:t>
              </a:r>
              <a:r>
                <a:rPr lang="zh-CN" altLang="en-US" dirty="0">
                  <a:latin typeface="楷体_GB2312" pitchFamily="49" charset="-122"/>
                  <a:ea typeface="楷体_GB2312" pitchFamily="49" charset="-122"/>
                </a:rPr>
                <a:t>代数量</a:t>
              </a:r>
              <a:r>
                <a:rPr lang="en-US" altLang="zh-CN" dirty="0">
                  <a:latin typeface="楷体_GB2312" pitchFamily="49" charset="-122"/>
                  <a:ea typeface="楷体_GB2312" pitchFamily="49" charset="-122"/>
                </a:rPr>
                <a:t>)</a:t>
              </a:r>
              <a:endParaRPr lang="en-US" altLang="zh-CN" dirty="0"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32774" name="AutoShape 23"/>
            <p:cNvSpPr/>
            <p:nvPr/>
          </p:nvSpPr>
          <p:spPr>
            <a:xfrm>
              <a:off x="574" y="1120"/>
              <a:ext cx="96" cy="576"/>
            </a:xfrm>
            <a:prstGeom prst="leftBrace">
              <a:avLst>
                <a:gd name="adj1" fmla="val 50000"/>
                <a:gd name="adj2" fmla="val 50000"/>
              </a:avLst>
            </a:prstGeom>
            <a:noFill/>
            <a:ln w="38100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  <a:buNone/>
              </a:pPr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</p:grpSp>
      <p:sp>
        <p:nvSpPr>
          <p:cNvPr id="32775" name="Text Box 32"/>
          <p:cNvSpPr txBox="1"/>
          <p:nvPr/>
        </p:nvSpPr>
        <p:spPr>
          <a:xfrm>
            <a:off x="3492500" y="549275"/>
            <a:ext cx="5113338" cy="1117600"/>
          </a:xfrm>
          <a:prstGeom prst="rect">
            <a:avLst/>
          </a:prstGeom>
          <a:noFill/>
          <a:ln w="38100">
            <a:noFill/>
          </a:ln>
        </p:spPr>
        <p:txBody>
          <a:bodyPr anchor="t" anchorCtr="0">
            <a:spAutoFit/>
          </a:bodyPr>
          <a:p>
            <a:pPr eaLnBrk="0" hangingPunct="0">
              <a:lnSpc>
                <a:spcPct val="120000"/>
              </a:lnSpc>
              <a:spcBef>
                <a:spcPct val="50000"/>
              </a:spcBef>
              <a:buClrTx/>
              <a:buFontTx/>
              <a:buNone/>
            </a:pPr>
            <a:r>
              <a:rPr lang="zh-CN" altLang="en-US" dirty="0">
                <a:latin typeface="Times New Roman" panose="02020603050405020304" pitchFamily="18" charset="0"/>
                <a:ea typeface="楷体_GB2312" pitchFamily="49" charset="-122"/>
              </a:rPr>
              <a:t>任意假定一个正电荷运动的方向即为电流的参考方向。</a:t>
            </a:r>
            <a:endParaRPr lang="zh-CN" altLang="en-US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2776" name="AutoShape 33"/>
          <p:cNvSpPr/>
          <p:nvPr/>
        </p:nvSpPr>
        <p:spPr>
          <a:xfrm>
            <a:off x="2771775" y="908050"/>
            <a:ext cx="647700" cy="144463"/>
          </a:xfrm>
          <a:prstGeom prst="rightArrow">
            <a:avLst>
              <a:gd name="adj1" fmla="val 50000"/>
              <a:gd name="adj2" fmla="val 112066"/>
            </a:avLst>
          </a:prstGeom>
          <a:solidFill>
            <a:srgbClr val="33CCFF"/>
          </a:solidFill>
          <a:ln w="12700">
            <a:noFill/>
          </a:ln>
        </p:spPr>
        <p:txBody>
          <a:bodyPr wrap="none" anchor="ctr" anchorCtr="0"/>
          <a:p>
            <a:pPr>
              <a:buClrTx/>
              <a:buFontTx/>
              <a:buNone/>
            </a:pPr>
            <a:endParaRPr lang="zh-CN" altLang="en-US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32777" name="Text Box 45" descr="羊皮纸"/>
          <p:cNvSpPr txBox="1"/>
          <p:nvPr/>
        </p:nvSpPr>
        <p:spPr>
          <a:xfrm>
            <a:off x="2195513" y="5589588"/>
            <a:ext cx="935037" cy="579437"/>
          </a:xfrm>
          <a:prstGeom prst="rect">
            <a:avLst/>
          </a:prstGeom>
          <a:blipFill rotWithShape="1">
            <a:blip r:embed="rId1"/>
          </a:blipFill>
          <a:ln w="12700">
            <a:noFill/>
          </a:ln>
        </p:spPr>
        <p:txBody>
          <a:bodyPr wrap="none" anchor="ctr" anchorCtr="0">
            <a:spAutoFit/>
          </a:bodyPr>
          <a:p>
            <a:pPr algn="ctr" eaLnBrk="0" hangingPunct="0">
              <a:buClrTx/>
              <a:buFontTx/>
              <a:buNone/>
            </a:pPr>
            <a:r>
              <a:rPr lang="en-US" altLang="zh-CN" sz="3200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32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&gt; 0</a:t>
            </a:r>
            <a:endParaRPr lang="en-US" altLang="zh-CN" sz="32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2778" name="Text Box 46" descr="羊皮纸"/>
          <p:cNvSpPr txBox="1"/>
          <p:nvPr/>
        </p:nvSpPr>
        <p:spPr>
          <a:xfrm>
            <a:off x="6227763" y="5518150"/>
            <a:ext cx="935037" cy="579438"/>
          </a:xfrm>
          <a:prstGeom prst="rect">
            <a:avLst/>
          </a:prstGeom>
          <a:blipFill rotWithShape="1">
            <a:blip r:embed="rId1"/>
          </a:blipFill>
          <a:ln w="12700">
            <a:noFill/>
          </a:ln>
        </p:spPr>
        <p:txBody>
          <a:bodyPr wrap="none" anchor="ctr" anchorCtr="0">
            <a:spAutoFit/>
          </a:bodyPr>
          <a:p>
            <a:pPr algn="ctr" eaLnBrk="0" hangingPunct="0">
              <a:buClrTx/>
              <a:buFontTx/>
              <a:buNone/>
            </a:pPr>
            <a:r>
              <a:rPr lang="en-US" altLang="zh-CN" sz="3200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32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&lt; 0</a:t>
            </a:r>
            <a:endParaRPr lang="en-US" altLang="zh-CN" sz="32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2779" name="Text Box 47"/>
          <p:cNvSpPr txBox="1"/>
          <p:nvPr/>
        </p:nvSpPr>
        <p:spPr>
          <a:xfrm>
            <a:off x="2101850" y="4941888"/>
            <a:ext cx="1606550" cy="519112"/>
          </a:xfrm>
          <a:prstGeom prst="rect">
            <a:avLst/>
          </a:prstGeom>
          <a:noFill/>
          <a:ln w="12700">
            <a:noFill/>
          </a:ln>
        </p:spPr>
        <p:txBody>
          <a:bodyPr wrap="none" anchor="ctr" anchorCtr="0">
            <a:spAutoFit/>
          </a:bodyPr>
          <a:p>
            <a:pPr eaLnBrk="0" hangingPunct="0">
              <a:buClrTx/>
              <a:buFontTx/>
              <a:buNone/>
            </a:pP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实际方向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2780" name="Text Box 48"/>
          <p:cNvSpPr txBox="1"/>
          <p:nvPr/>
        </p:nvSpPr>
        <p:spPr>
          <a:xfrm>
            <a:off x="6011863" y="4868863"/>
            <a:ext cx="1612900" cy="519112"/>
          </a:xfrm>
          <a:prstGeom prst="rect">
            <a:avLst/>
          </a:prstGeom>
          <a:noFill/>
          <a:ln w="12700">
            <a:noFill/>
          </a:ln>
        </p:spPr>
        <p:txBody>
          <a:bodyPr wrap="none" anchor="ctr" anchorCtr="0">
            <a:spAutoFit/>
          </a:bodyPr>
          <a:p>
            <a:pPr eaLnBrk="0" hangingPunct="0">
              <a:buClrTx/>
              <a:buFontTx/>
              <a:buNone/>
            </a:pP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实际方向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2781" name="Text Box 49"/>
          <p:cNvSpPr txBox="1"/>
          <p:nvPr/>
        </p:nvSpPr>
        <p:spPr>
          <a:xfrm>
            <a:off x="539750" y="3213100"/>
            <a:ext cx="5899150" cy="519113"/>
          </a:xfrm>
          <a:prstGeom prst="rect">
            <a:avLst/>
          </a:prstGeom>
          <a:noFill/>
          <a:ln w="12700">
            <a:noFill/>
          </a:ln>
        </p:spPr>
        <p:txBody>
          <a:bodyPr wrap="none" anchor="ctr" anchorCtr="0">
            <a:spAutoFit/>
          </a:bodyPr>
          <a:p>
            <a:pPr algn="ctr" eaLnBrk="0" hangingPunct="0">
              <a:buClrTx/>
              <a:buFontTx/>
              <a:buNone/>
            </a:pPr>
            <a:r>
              <a:rPr lang="zh-CN" altLang="en-US" dirty="0">
                <a:solidFill>
                  <a:srgbClr val="FF9966"/>
                </a:solidFill>
                <a:latin typeface="Times New Roman" panose="02020603050405020304" pitchFamily="18" charset="0"/>
                <a:ea typeface="楷体_GB2312" pitchFamily="49" charset="-122"/>
              </a:rPr>
              <a:t>电流的参考方向与实际方向的关系：</a:t>
            </a:r>
            <a:endParaRPr lang="zh-CN" altLang="en-US" dirty="0">
              <a:solidFill>
                <a:srgbClr val="FF9966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2782" name="AutoShape 70"/>
          <p:cNvSpPr/>
          <p:nvPr/>
        </p:nvSpPr>
        <p:spPr>
          <a:xfrm>
            <a:off x="1116013" y="5157788"/>
            <a:ext cx="719137" cy="142875"/>
          </a:xfrm>
          <a:prstGeom prst="rightArrow">
            <a:avLst>
              <a:gd name="adj1" fmla="val 50000"/>
              <a:gd name="adj2" fmla="val 125809"/>
            </a:avLst>
          </a:prstGeom>
          <a:solidFill>
            <a:srgbClr val="33CCFF"/>
          </a:solidFill>
          <a:ln w="38100">
            <a:noFill/>
          </a:ln>
        </p:spPr>
        <p:txBody>
          <a:bodyPr wrap="none" anchor="ctr" anchorCtr="0"/>
          <a:p>
            <a:pPr>
              <a:buClrTx/>
              <a:buFontTx/>
              <a:buNone/>
            </a:pPr>
            <a:endParaRPr lang="zh-CN" altLang="en-US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32783" name="AutoShape 77"/>
          <p:cNvSpPr/>
          <p:nvPr/>
        </p:nvSpPr>
        <p:spPr>
          <a:xfrm>
            <a:off x="5148263" y="5084763"/>
            <a:ext cx="719137" cy="144462"/>
          </a:xfrm>
          <a:prstGeom prst="leftArrow">
            <a:avLst>
              <a:gd name="adj1" fmla="val 50000"/>
              <a:gd name="adj2" fmla="val 124427"/>
            </a:avLst>
          </a:prstGeom>
          <a:solidFill>
            <a:srgbClr val="33CCFF"/>
          </a:solidFill>
          <a:ln w="38100">
            <a:noFill/>
          </a:ln>
        </p:spPr>
        <p:txBody>
          <a:bodyPr wrap="none" anchor="ctr" anchorCtr="0"/>
          <a:p>
            <a:pPr>
              <a:buClrTx/>
              <a:buFontTx/>
              <a:buNone/>
            </a:pPr>
            <a:endParaRPr lang="zh-CN" altLang="en-US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grpSp>
        <p:nvGrpSpPr>
          <p:cNvPr id="32784" name="Group 80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32785" name="Picture 81" descr="7890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2786" name="Text Box 82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32787" name="Group 83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32788" name="Picture 84" descr="7890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2789" name="Text Box 85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32790" name="Group 90"/>
          <p:cNvGrpSpPr/>
          <p:nvPr/>
        </p:nvGrpSpPr>
        <p:grpSpPr>
          <a:xfrm>
            <a:off x="395288" y="1844675"/>
            <a:ext cx="4679950" cy="1022350"/>
            <a:chOff x="2472" y="981"/>
            <a:chExt cx="2948" cy="644"/>
          </a:xfrm>
        </p:grpSpPr>
        <p:sp>
          <p:nvSpPr>
            <p:cNvPr id="32791" name="Text Box 18"/>
            <p:cNvSpPr txBox="1"/>
            <p:nvPr/>
          </p:nvSpPr>
          <p:spPr>
            <a:xfrm>
              <a:off x="2789" y="981"/>
              <a:ext cx="2131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ctr" anchorCtr="0">
              <a:spAutoFit/>
            </a:bodyPr>
            <a:p>
              <a:pPr algn="ctr" eaLnBrk="0" hangingPunct="0">
                <a:buClrTx/>
                <a:buFontTx/>
                <a:buNone/>
              </a:pPr>
              <a:r>
                <a:rPr lang="en-US" altLang="zh-CN" i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r>
                <a:rPr lang="en-US" altLang="zh-CN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 </a:t>
              </a: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      </a:t>
              </a:r>
              <a:r>
                <a:rPr lang="zh-CN" altLang="en-US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参考方向</a:t>
              </a:r>
              <a:endPara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32792" name="AutoShape 19"/>
            <p:cNvSpPr/>
            <p:nvPr/>
          </p:nvSpPr>
          <p:spPr>
            <a:xfrm>
              <a:off x="3016" y="1253"/>
              <a:ext cx="499" cy="91"/>
            </a:xfrm>
            <a:prstGeom prst="rightArrow">
              <a:avLst>
                <a:gd name="adj1" fmla="val 50000"/>
                <a:gd name="adj2" fmla="val 137062"/>
              </a:avLst>
            </a:prstGeom>
            <a:solidFill>
              <a:srgbClr val="00FFFF"/>
            </a:solidFill>
            <a:ln w="12700">
              <a:noFill/>
            </a:ln>
          </p:spPr>
          <p:txBody>
            <a:bodyPr wrap="none" anchor="ctr" anchorCtr="0"/>
            <a:p>
              <a:pPr>
                <a:buClrTx/>
                <a:buFontTx/>
                <a:buNone/>
              </a:pPr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32793" name="Text Box 34"/>
            <p:cNvSpPr txBox="1"/>
            <p:nvPr/>
          </p:nvSpPr>
          <p:spPr>
            <a:xfrm>
              <a:off x="2472" y="1253"/>
              <a:ext cx="408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b="0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A</a:t>
              </a:r>
              <a:endPara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32794" name="Text Box 35"/>
            <p:cNvSpPr txBox="1"/>
            <p:nvPr/>
          </p:nvSpPr>
          <p:spPr>
            <a:xfrm>
              <a:off x="5012" y="1298"/>
              <a:ext cx="408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b="0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B</a:t>
              </a:r>
              <a:endPara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32795" name="Line 89"/>
            <p:cNvSpPr/>
            <p:nvPr/>
          </p:nvSpPr>
          <p:spPr>
            <a:xfrm>
              <a:off x="2880" y="1434"/>
              <a:ext cx="2177" cy="0"/>
            </a:xfrm>
            <a:prstGeom prst="line">
              <a:avLst/>
            </a:prstGeom>
            <a:ln w="28575" cap="sq" cmpd="sng">
              <a:solidFill>
                <a:srgbClr val="FFCC00"/>
              </a:solidFill>
              <a:prstDash val="solid"/>
              <a:round/>
              <a:headEnd type="oval" w="med" len="med"/>
              <a:tailEnd type="oval" w="med" len="med"/>
            </a:ln>
          </p:spPr>
        </p:sp>
        <p:sp>
          <p:nvSpPr>
            <p:cNvPr id="32796" name="Rectangle 25"/>
            <p:cNvSpPr/>
            <p:nvPr/>
          </p:nvSpPr>
          <p:spPr>
            <a:xfrm>
              <a:off x="3696" y="1344"/>
              <a:ext cx="545" cy="181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38100">
              <a:noFill/>
            </a:ln>
          </p:spPr>
          <p:txBody>
            <a:bodyPr wrap="none" anchor="ctr" anchorCtr="0"/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endParaRPr lang="zh-CN" altLang="zh-CN" sz="2400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32797" name="Group 105"/>
          <p:cNvGrpSpPr/>
          <p:nvPr/>
        </p:nvGrpSpPr>
        <p:grpSpPr>
          <a:xfrm>
            <a:off x="611188" y="4005263"/>
            <a:ext cx="4032250" cy="1311275"/>
            <a:chOff x="385" y="2523"/>
            <a:chExt cx="2540" cy="826"/>
          </a:xfrm>
        </p:grpSpPr>
        <p:sp>
          <p:nvSpPr>
            <p:cNvPr id="32798" name="Text Box 92"/>
            <p:cNvSpPr txBox="1"/>
            <p:nvPr/>
          </p:nvSpPr>
          <p:spPr>
            <a:xfrm>
              <a:off x="475" y="2523"/>
              <a:ext cx="2131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ctr" anchorCtr="0">
              <a:spAutoFit/>
            </a:bodyPr>
            <a:p>
              <a:pPr algn="ctr" eaLnBrk="0" hangingPunct="0">
                <a:buClrTx/>
                <a:buFontTx/>
                <a:buNone/>
              </a:pPr>
              <a:r>
                <a:rPr lang="en-US" altLang="zh-CN" i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r>
                <a:rPr lang="en-US" altLang="zh-CN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 </a:t>
              </a: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      </a:t>
              </a:r>
              <a:r>
                <a:rPr lang="zh-CN" altLang="en-US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参考方向</a:t>
              </a:r>
              <a:endPara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32799" name="AutoShape 93"/>
            <p:cNvSpPr/>
            <p:nvPr/>
          </p:nvSpPr>
          <p:spPr>
            <a:xfrm>
              <a:off x="702" y="2795"/>
              <a:ext cx="499" cy="91"/>
            </a:xfrm>
            <a:prstGeom prst="rightArrow">
              <a:avLst>
                <a:gd name="adj1" fmla="val 50000"/>
                <a:gd name="adj2" fmla="val 137062"/>
              </a:avLst>
            </a:prstGeom>
            <a:solidFill>
              <a:srgbClr val="FF0000"/>
            </a:solidFill>
            <a:ln w="12700">
              <a:noFill/>
            </a:ln>
          </p:spPr>
          <p:txBody>
            <a:bodyPr wrap="none" anchor="ctr" anchorCtr="0"/>
            <a:p>
              <a:pPr>
                <a:buClrTx/>
                <a:buFontTx/>
                <a:buNone/>
              </a:pPr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32800" name="Text Box 94"/>
            <p:cNvSpPr txBox="1"/>
            <p:nvPr/>
          </p:nvSpPr>
          <p:spPr>
            <a:xfrm>
              <a:off x="385" y="3022"/>
              <a:ext cx="408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b="0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A</a:t>
              </a:r>
              <a:endPara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32801" name="Text Box 95"/>
            <p:cNvSpPr txBox="1"/>
            <p:nvPr/>
          </p:nvSpPr>
          <p:spPr>
            <a:xfrm>
              <a:off x="2517" y="3022"/>
              <a:ext cx="408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b="0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B</a:t>
              </a:r>
              <a:endPara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32802" name="Line 96"/>
            <p:cNvSpPr/>
            <p:nvPr/>
          </p:nvSpPr>
          <p:spPr>
            <a:xfrm>
              <a:off x="566" y="2976"/>
              <a:ext cx="2177" cy="0"/>
            </a:xfrm>
            <a:prstGeom prst="line">
              <a:avLst/>
            </a:prstGeom>
            <a:ln w="28575" cap="sq" cmpd="sng">
              <a:solidFill>
                <a:srgbClr val="FFCC00"/>
              </a:solidFill>
              <a:prstDash val="solid"/>
              <a:round/>
              <a:headEnd type="oval" w="med" len="med"/>
              <a:tailEnd type="oval" w="med" len="med"/>
            </a:ln>
          </p:spPr>
        </p:sp>
        <p:sp>
          <p:nvSpPr>
            <p:cNvPr id="32803" name="Rectangle 97"/>
            <p:cNvSpPr/>
            <p:nvPr/>
          </p:nvSpPr>
          <p:spPr>
            <a:xfrm>
              <a:off x="1382" y="2886"/>
              <a:ext cx="545" cy="181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38100">
              <a:noFill/>
            </a:ln>
          </p:spPr>
          <p:txBody>
            <a:bodyPr wrap="none" anchor="ctr" anchorCtr="0"/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endParaRPr lang="zh-CN" altLang="zh-CN" sz="2400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32804" name="Group 106"/>
          <p:cNvGrpSpPr/>
          <p:nvPr/>
        </p:nvGrpSpPr>
        <p:grpSpPr>
          <a:xfrm>
            <a:off x="4643438" y="4005263"/>
            <a:ext cx="3960812" cy="1311275"/>
            <a:chOff x="2925" y="2523"/>
            <a:chExt cx="2495" cy="826"/>
          </a:xfrm>
        </p:grpSpPr>
        <p:sp>
          <p:nvSpPr>
            <p:cNvPr id="32805" name="Text Box 99"/>
            <p:cNvSpPr txBox="1"/>
            <p:nvPr/>
          </p:nvSpPr>
          <p:spPr>
            <a:xfrm>
              <a:off x="2970" y="2523"/>
              <a:ext cx="2131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ctr" anchorCtr="0">
              <a:spAutoFit/>
            </a:bodyPr>
            <a:p>
              <a:pPr algn="ctr" eaLnBrk="0" hangingPunct="0">
                <a:buClrTx/>
                <a:buFontTx/>
                <a:buNone/>
              </a:pPr>
              <a:r>
                <a:rPr lang="en-US" altLang="zh-CN" i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r>
                <a:rPr lang="en-US" altLang="zh-CN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 </a:t>
              </a: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      </a:t>
              </a:r>
              <a:r>
                <a:rPr lang="zh-CN" altLang="en-US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参考方向</a:t>
              </a:r>
              <a:endPara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32806" name="AutoShape 100"/>
            <p:cNvSpPr/>
            <p:nvPr/>
          </p:nvSpPr>
          <p:spPr>
            <a:xfrm>
              <a:off x="3197" y="2795"/>
              <a:ext cx="499" cy="91"/>
            </a:xfrm>
            <a:prstGeom prst="rightArrow">
              <a:avLst>
                <a:gd name="adj1" fmla="val 50000"/>
                <a:gd name="adj2" fmla="val 137062"/>
              </a:avLst>
            </a:prstGeom>
            <a:solidFill>
              <a:srgbClr val="FF0000"/>
            </a:solidFill>
            <a:ln w="12700">
              <a:noFill/>
            </a:ln>
          </p:spPr>
          <p:txBody>
            <a:bodyPr wrap="none" anchor="ctr" anchorCtr="0"/>
            <a:p>
              <a:pPr>
                <a:buClrTx/>
                <a:buFontTx/>
                <a:buNone/>
              </a:pPr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32807" name="Text Box 101"/>
            <p:cNvSpPr txBox="1"/>
            <p:nvPr/>
          </p:nvSpPr>
          <p:spPr>
            <a:xfrm>
              <a:off x="2925" y="3022"/>
              <a:ext cx="408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b="0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A</a:t>
              </a:r>
              <a:endPara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32808" name="Text Box 102"/>
            <p:cNvSpPr txBox="1"/>
            <p:nvPr/>
          </p:nvSpPr>
          <p:spPr>
            <a:xfrm>
              <a:off x="5012" y="3022"/>
              <a:ext cx="408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b="0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B</a:t>
              </a:r>
              <a:endPara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32809" name="Line 103"/>
            <p:cNvSpPr/>
            <p:nvPr/>
          </p:nvSpPr>
          <p:spPr>
            <a:xfrm>
              <a:off x="3061" y="2976"/>
              <a:ext cx="2177" cy="0"/>
            </a:xfrm>
            <a:prstGeom prst="line">
              <a:avLst/>
            </a:prstGeom>
            <a:ln w="28575" cap="sq" cmpd="sng">
              <a:solidFill>
                <a:srgbClr val="FFCC00"/>
              </a:solidFill>
              <a:prstDash val="solid"/>
              <a:round/>
              <a:headEnd type="oval" w="med" len="med"/>
              <a:tailEnd type="oval" w="med" len="med"/>
            </a:ln>
          </p:spPr>
        </p:sp>
        <p:sp>
          <p:nvSpPr>
            <p:cNvPr id="32810" name="Rectangle 104"/>
            <p:cNvSpPr/>
            <p:nvPr/>
          </p:nvSpPr>
          <p:spPr>
            <a:xfrm>
              <a:off x="3877" y="2886"/>
              <a:ext cx="545" cy="181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38100">
              <a:noFill/>
            </a:ln>
          </p:spPr>
          <p:txBody>
            <a:bodyPr wrap="none" anchor="ctr" anchorCtr="0"/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endParaRPr lang="zh-CN" altLang="zh-CN" sz="2400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32811" name="Group 107"/>
          <p:cNvGrpSpPr/>
          <p:nvPr/>
        </p:nvGrpSpPr>
        <p:grpSpPr>
          <a:xfrm>
            <a:off x="4787900" y="1628775"/>
            <a:ext cx="1644650" cy="850900"/>
            <a:chOff x="385" y="3022"/>
            <a:chExt cx="1036" cy="536"/>
          </a:xfrm>
        </p:grpSpPr>
        <p:pic>
          <p:nvPicPr>
            <p:cNvPr id="32812" name="Picture 108" descr="12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85" y="3022"/>
              <a:ext cx="590" cy="536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2813" name="Text Box 109"/>
            <p:cNvSpPr txBox="1"/>
            <p:nvPr/>
          </p:nvSpPr>
          <p:spPr>
            <a:xfrm>
              <a:off x="793" y="3125"/>
              <a:ext cx="628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ClrTx/>
                <a:buFontTx/>
                <a:buNone/>
              </a:pPr>
              <a:r>
                <a:rPr lang="zh-CN" altLang="en-US" sz="3200" b="0" dirty="0">
                  <a:solidFill>
                    <a:srgbClr val="CC6600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表明</a:t>
              </a:r>
              <a:endParaRPr lang="zh-CN" altLang="en-US" sz="3200" b="0" dirty="0">
                <a:solidFill>
                  <a:srgbClr val="CC6600"/>
                </a:solidFill>
                <a:latin typeface="Arial" panose="020B0604020202020204" pitchFamily="34" charset="0"/>
                <a:ea typeface="华文行楷" panose="02010800040101010101" pitchFamily="2" charset="-122"/>
              </a:endParaRPr>
            </a:p>
          </p:txBody>
        </p:sp>
      </p:grpSp>
      <p:grpSp>
        <p:nvGrpSpPr>
          <p:cNvPr id="32814" name="Group 116"/>
          <p:cNvGrpSpPr/>
          <p:nvPr/>
        </p:nvGrpSpPr>
        <p:grpSpPr>
          <a:xfrm>
            <a:off x="6588125" y="6445250"/>
            <a:ext cx="792163" cy="366713"/>
            <a:chOff x="5193" y="4020"/>
            <a:chExt cx="499" cy="231"/>
          </a:xfrm>
        </p:grpSpPr>
        <p:pic>
          <p:nvPicPr>
            <p:cNvPr id="32815" name="Picture 117" descr="78900">
              <a:hlinkClick r:id="" action="ppaction://hlinkshowjump?jump=firstslide"/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2816" name="Text Box 118">
              <a:hlinkClick r:id="" action="ppaction://hlinkshowjump?jump=firs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793" name="Text Box 5"/>
          <p:cNvSpPr txBox="1"/>
          <p:nvPr/>
        </p:nvSpPr>
        <p:spPr>
          <a:xfrm>
            <a:off x="755650" y="692150"/>
            <a:ext cx="4775200" cy="519113"/>
          </a:xfrm>
          <a:prstGeom prst="rect">
            <a:avLst/>
          </a:prstGeom>
          <a:noFill/>
          <a:ln w="12700">
            <a:noFill/>
          </a:ln>
        </p:spPr>
        <p:txBody>
          <a:bodyPr anchor="ctr" anchorCtr="0">
            <a:spAutoFit/>
          </a:bodyPr>
          <a:p>
            <a:pPr eaLnBrk="0" hangingPunct="0">
              <a:buClrTx/>
              <a:buFontTx/>
              <a:buNone/>
            </a:pPr>
            <a:r>
              <a:rPr lang="zh-CN" altLang="en-US" dirty="0">
                <a:solidFill>
                  <a:srgbClr val="FF9966"/>
                </a:solidFill>
                <a:latin typeface="楷体_GB2312" pitchFamily="49" charset="-122"/>
                <a:ea typeface="楷体_GB2312" pitchFamily="49" charset="-122"/>
              </a:rPr>
              <a:t>电流参考方向的两种表示：</a:t>
            </a:r>
            <a:endParaRPr lang="zh-CN" altLang="en-US" dirty="0">
              <a:solidFill>
                <a:srgbClr val="FF9966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3794" name="Text Box 6"/>
          <p:cNvSpPr txBox="1"/>
          <p:nvPr/>
        </p:nvSpPr>
        <p:spPr>
          <a:xfrm>
            <a:off x="395288" y="1412875"/>
            <a:ext cx="7670800" cy="519113"/>
          </a:xfrm>
          <a:prstGeom prst="rect">
            <a:avLst/>
          </a:prstGeom>
          <a:noFill/>
          <a:ln w="12700">
            <a:noFill/>
          </a:ln>
        </p:spPr>
        <p:txBody>
          <a:bodyPr wrap="none" anchor="ctr" anchorCtr="0">
            <a:spAutoFit/>
          </a:bodyPr>
          <a:p>
            <a:pPr algn="ctr" eaLnBrk="0" hangingPunct="0">
              <a:buClrTx/>
              <a:buFontTx/>
              <a:buNone/>
            </a:pPr>
            <a:r>
              <a:rPr lang="en-US" altLang="zh-CN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 </a:t>
            </a:r>
            <a:r>
              <a:rPr lang="zh-CN" altLang="en-US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sym typeface="Monotype Sorts" pitchFamily="2" charset="2"/>
              </a:rPr>
              <a:t>用箭头表示：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  <a:sym typeface="Monotype Sorts" pitchFamily="2" charset="2"/>
              </a:rPr>
              <a:t>箭头的指向为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电流的参考方向。</a:t>
            </a:r>
            <a:endParaRPr lang="zh-CN" altLang="en-US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3795" name="Text Box 7"/>
          <p:cNvSpPr txBox="1"/>
          <p:nvPr/>
        </p:nvSpPr>
        <p:spPr>
          <a:xfrm>
            <a:off x="323850" y="3398838"/>
            <a:ext cx="8820150" cy="579437"/>
          </a:xfrm>
          <a:prstGeom prst="rect">
            <a:avLst/>
          </a:prstGeom>
          <a:noFill/>
          <a:ln w="12700">
            <a:noFill/>
          </a:ln>
        </p:spPr>
        <p:txBody>
          <a:bodyPr anchor="ctr" anchorCtr="0">
            <a:spAutoFit/>
          </a:bodyPr>
          <a:p>
            <a:pPr marL="285750" indent="-285750" eaLnBrk="0" hangingPunct="0">
              <a:buClrTx/>
              <a:buFontTx/>
              <a:buNone/>
            </a:pPr>
            <a:r>
              <a:rPr lang="en-US" altLang="zh-CN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 </a:t>
            </a:r>
            <a:r>
              <a:rPr lang="zh-CN" altLang="en-US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sym typeface="Monotype Sorts" pitchFamily="2" charset="2"/>
              </a:rPr>
              <a:t>用双下标表示：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  <a:sym typeface="Monotype Sorts" pitchFamily="2" charset="2"/>
              </a:rPr>
              <a:t>如 </a:t>
            </a:r>
            <a:r>
              <a:rPr lang="en-US" altLang="zh-CN" sz="3200" b="0" i="1" dirty="0">
                <a:latin typeface="Times New Roman" panose="02020603050405020304" pitchFamily="18" charset="0"/>
                <a:ea typeface="楷体_GB2312" pitchFamily="49" charset="-122"/>
                <a:sym typeface="Monotype Sorts" pitchFamily="2" charset="2"/>
              </a:rPr>
              <a:t>i</a:t>
            </a:r>
            <a:r>
              <a:rPr lang="en-US" altLang="zh-CN" sz="3200" b="0" i="1" baseline="-25000" dirty="0">
                <a:latin typeface="Times New Roman" panose="02020603050405020304" pitchFamily="18" charset="0"/>
                <a:ea typeface="楷体_GB2312" pitchFamily="49" charset="-122"/>
                <a:sym typeface="Monotype Sorts" pitchFamily="2" charset="2"/>
              </a:rPr>
              <a:t>AB</a:t>
            </a:r>
            <a:r>
              <a:rPr lang="en-US" altLang="zh-CN" sz="3200" i="1" dirty="0">
                <a:latin typeface="Times New Roman" panose="02020603050405020304" pitchFamily="18" charset="0"/>
                <a:ea typeface="楷体_GB2312" pitchFamily="49" charset="-122"/>
                <a:sym typeface="Monotype Sorts" pitchFamily="2" charset="2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ea typeface="楷体_GB2312" pitchFamily="49" charset="-122"/>
                <a:sym typeface="Monotype Sorts" pitchFamily="2" charset="2"/>
              </a:rPr>
              <a:t>,</a:t>
            </a:r>
            <a:r>
              <a:rPr lang="en-US" altLang="zh-CN" dirty="0">
                <a:latin typeface="楷体_GB2312" pitchFamily="49" charset="-122"/>
                <a:ea typeface="楷体_GB2312" pitchFamily="49" charset="-122"/>
                <a:sym typeface="Monotype Sorts" pitchFamily="2" charset="2"/>
              </a:rPr>
              <a:t> 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电流的参考方向由</a:t>
            </a:r>
            <a:r>
              <a:rPr lang="en-US" altLang="zh-CN" b="0" dirty="0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指向</a:t>
            </a:r>
            <a:r>
              <a:rPr lang="en-US" altLang="zh-CN" b="0" dirty="0">
                <a:latin typeface="Times New Roman" panose="02020603050405020304" pitchFamily="18" charset="0"/>
                <a:ea typeface="楷体_GB2312" pitchFamily="49" charset="-122"/>
              </a:rPr>
              <a:t>B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。</a:t>
            </a:r>
            <a:endParaRPr lang="zh-CN" altLang="en-US" dirty="0"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33796" name="Group 57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33797" name="Picture 58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3798" name="Text Box 59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33799" name="Group 60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33800" name="Picture 61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3801" name="Text Box 62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33802" name="Group 66"/>
          <p:cNvGrpSpPr/>
          <p:nvPr/>
        </p:nvGrpSpPr>
        <p:grpSpPr>
          <a:xfrm>
            <a:off x="1908175" y="2133600"/>
            <a:ext cx="4679950" cy="1022350"/>
            <a:chOff x="2472" y="981"/>
            <a:chExt cx="2948" cy="644"/>
          </a:xfrm>
        </p:grpSpPr>
        <p:sp>
          <p:nvSpPr>
            <p:cNvPr id="33803" name="Text Box 67"/>
            <p:cNvSpPr txBox="1"/>
            <p:nvPr/>
          </p:nvSpPr>
          <p:spPr>
            <a:xfrm>
              <a:off x="2789" y="981"/>
              <a:ext cx="2131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ctr" anchorCtr="0">
              <a:spAutoFit/>
            </a:bodyPr>
            <a:p>
              <a:pPr algn="ctr" eaLnBrk="0" hangingPunct="0">
                <a:buClrTx/>
                <a:buFontTx/>
                <a:buNone/>
              </a:pPr>
              <a:r>
                <a:rPr lang="en-US" altLang="zh-CN" i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r>
                <a:rPr lang="en-US" altLang="zh-CN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 </a:t>
              </a: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      </a:t>
              </a:r>
              <a:r>
                <a:rPr lang="zh-CN" altLang="en-US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参考方向</a:t>
              </a:r>
              <a:endPara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33804" name="AutoShape 68"/>
            <p:cNvSpPr/>
            <p:nvPr/>
          </p:nvSpPr>
          <p:spPr>
            <a:xfrm>
              <a:off x="3016" y="1253"/>
              <a:ext cx="499" cy="91"/>
            </a:xfrm>
            <a:prstGeom prst="rightArrow">
              <a:avLst>
                <a:gd name="adj1" fmla="val 50000"/>
                <a:gd name="adj2" fmla="val 137062"/>
              </a:avLst>
            </a:prstGeom>
            <a:solidFill>
              <a:srgbClr val="FF0000"/>
            </a:solidFill>
            <a:ln w="12700">
              <a:noFill/>
            </a:ln>
          </p:spPr>
          <p:txBody>
            <a:bodyPr wrap="none" anchor="ctr" anchorCtr="0"/>
            <a:p>
              <a:pPr>
                <a:buClrTx/>
                <a:buFontTx/>
                <a:buNone/>
              </a:pPr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33805" name="Text Box 69"/>
            <p:cNvSpPr txBox="1"/>
            <p:nvPr/>
          </p:nvSpPr>
          <p:spPr>
            <a:xfrm>
              <a:off x="2472" y="1253"/>
              <a:ext cx="408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b="0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A</a:t>
              </a:r>
              <a:endPara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33806" name="Text Box 70"/>
            <p:cNvSpPr txBox="1"/>
            <p:nvPr/>
          </p:nvSpPr>
          <p:spPr>
            <a:xfrm>
              <a:off x="5012" y="1298"/>
              <a:ext cx="408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b="0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B</a:t>
              </a:r>
              <a:endPara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33807" name="Line 71"/>
            <p:cNvSpPr/>
            <p:nvPr/>
          </p:nvSpPr>
          <p:spPr>
            <a:xfrm>
              <a:off x="2880" y="1434"/>
              <a:ext cx="2177" cy="0"/>
            </a:xfrm>
            <a:prstGeom prst="line">
              <a:avLst/>
            </a:prstGeom>
            <a:ln w="28575" cap="sq" cmpd="sng">
              <a:solidFill>
                <a:srgbClr val="FFCC00"/>
              </a:solidFill>
              <a:prstDash val="solid"/>
              <a:round/>
              <a:headEnd type="oval" w="med" len="med"/>
              <a:tailEnd type="oval" w="med" len="med"/>
            </a:ln>
          </p:spPr>
        </p:sp>
        <p:sp>
          <p:nvSpPr>
            <p:cNvPr id="33808" name="Rectangle 72"/>
            <p:cNvSpPr/>
            <p:nvPr/>
          </p:nvSpPr>
          <p:spPr>
            <a:xfrm>
              <a:off x="3696" y="1344"/>
              <a:ext cx="545" cy="181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38100">
              <a:noFill/>
            </a:ln>
          </p:spPr>
          <p:txBody>
            <a:bodyPr wrap="none" anchor="ctr" anchorCtr="0"/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endParaRPr lang="zh-CN" altLang="zh-CN" sz="2400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33809" name="Group 80"/>
          <p:cNvGrpSpPr/>
          <p:nvPr/>
        </p:nvGrpSpPr>
        <p:grpSpPr>
          <a:xfrm>
            <a:off x="1908175" y="4076700"/>
            <a:ext cx="4679950" cy="1022350"/>
            <a:chOff x="1020" y="2704"/>
            <a:chExt cx="2948" cy="644"/>
          </a:xfrm>
        </p:grpSpPr>
        <p:sp>
          <p:nvSpPr>
            <p:cNvPr id="33810" name="Text Box 45"/>
            <p:cNvSpPr txBox="1"/>
            <p:nvPr/>
          </p:nvSpPr>
          <p:spPr>
            <a:xfrm>
              <a:off x="1474" y="2704"/>
              <a:ext cx="635" cy="365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ctr" anchorCtr="0">
              <a:spAutoFit/>
            </a:bodyPr>
            <a:p>
              <a:pPr algn="ctr" eaLnBrk="0" hangingPunct="0">
                <a:buClrTx/>
                <a:buFontTx/>
                <a:buNone/>
              </a:pPr>
              <a:r>
                <a:rPr lang="en-US" altLang="zh-CN" sz="3200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r>
                <a:rPr lang="en-US" altLang="zh-CN" sz="3200" b="0" i="1" baseline="-250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AB</a:t>
              </a:r>
              <a:endParaRPr lang="en-US" altLang="zh-CN" sz="3200" b="0" i="1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3811" name="Text Box 76"/>
            <p:cNvSpPr txBox="1"/>
            <p:nvPr/>
          </p:nvSpPr>
          <p:spPr>
            <a:xfrm>
              <a:off x="1020" y="2976"/>
              <a:ext cx="408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b="0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A</a:t>
              </a:r>
              <a:endPara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33812" name="Text Box 77"/>
            <p:cNvSpPr txBox="1"/>
            <p:nvPr/>
          </p:nvSpPr>
          <p:spPr>
            <a:xfrm>
              <a:off x="3560" y="3021"/>
              <a:ext cx="408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b="0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B</a:t>
              </a:r>
              <a:endPara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33813" name="Line 78"/>
            <p:cNvSpPr/>
            <p:nvPr/>
          </p:nvSpPr>
          <p:spPr>
            <a:xfrm>
              <a:off x="1428" y="3157"/>
              <a:ext cx="2177" cy="0"/>
            </a:xfrm>
            <a:prstGeom prst="line">
              <a:avLst/>
            </a:prstGeom>
            <a:ln w="28575" cap="sq" cmpd="sng">
              <a:solidFill>
                <a:srgbClr val="FFCC00"/>
              </a:solidFill>
              <a:prstDash val="solid"/>
              <a:round/>
              <a:headEnd type="oval" w="med" len="med"/>
              <a:tailEnd type="oval" w="med" len="med"/>
            </a:ln>
          </p:spPr>
        </p:sp>
        <p:sp>
          <p:nvSpPr>
            <p:cNvPr id="33814" name="Rectangle 79"/>
            <p:cNvSpPr/>
            <p:nvPr/>
          </p:nvSpPr>
          <p:spPr>
            <a:xfrm>
              <a:off x="2245" y="3067"/>
              <a:ext cx="545" cy="181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38100">
              <a:noFill/>
            </a:ln>
          </p:spPr>
          <p:txBody>
            <a:bodyPr wrap="none" anchor="ctr" anchorCtr="0"/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endParaRPr lang="zh-CN" altLang="zh-CN" sz="2400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33815" name="Group 87"/>
          <p:cNvGrpSpPr/>
          <p:nvPr/>
        </p:nvGrpSpPr>
        <p:grpSpPr>
          <a:xfrm>
            <a:off x="6588125" y="6445250"/>
            <a:ext cx="792163" cy="366713"/>
            <a:chOff x="5193" y="4020"/>
            <a:chExt cx="499" cy="231"/>
          </a:xfrm>
        </p:grpSpPr>
        <p:pic>
          <p:nvPicPr>
            <p:cNvPr id="33816" name="Picture 88" descr="78900">
              <a:hlinkClick r:id="" action="ppaction://hlinkshowjump?jump=firstslide"/>
            </p:cNvPr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3817" name="Text Box 89">
              <a:hlinkClick r:id="" action="ppaction://hlinkshowjump?jump=firs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817" name="Text Box 4"/>
          <p:cNvSpPr txBox="1"/>
          <p:nvPr/>
        </p:nvSpPr>
        <p:spPr>
          <a:xfrm>
            <a:off x="468313" y="2354263"/>
            <a:ext cx="1730375" cy="547687"/>
          </a:xfrm>
          <a:prstGeom prst="rect">
            <a:avLst/>
          </a:prstGeom>
          <a:noFill/>
          <a:ln w="2857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>
            <a:spAutoFit/>
          </a:bodyPr>
          <a:p>
            <a:pPr marL="381000" indent="-381000" eaLnBrk="0" hangingPunct="0">
              <a:buClr>
                <a:schemeClr val="tx1"/>
              </a:buClr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FF9900"/>
                </a:solidFill>
                <a:latin typeface="Times New Roman" panose="02020603050405020304" pitchFamily="18" charset="0"/>
                <a:ea typeface="楷体_GB2312" pitchFamily="49" charset="-122"/>
              </a:rPr>
              <a:t>电压</a:t>
            </a:r>
            <a:r>
              <a:rPr lang="en-US" altLang="zh-CN" sz="2400" b="0" i="1" dirty="0">
                <a:solidFill>
                  <a:srgbClr val="FF9900"/>
                </a:solidFill>
                <a:latin typeface="Times New Roman" panose="02020603050405020304" pitchFamily="18" charset="0"/>
                <a:ea typeface="仿宋_GB2312" pitchFamily="49" charset="-122"/>
              </a:rPr>
              <a:t>U</a:t>
            </a:r>
            <a:endParaRPr lang="en-US" altLang="zh-CN" sz="2400" b="0" i="1" dirty="0">
              <a:solidFill>
                <a:srgbClr val="FF9900"/>
              </a:solidFill>
              <a:latin typeface="Times New Roman" panose="02020603050405020304" pitchFamily="18" charset="0"/>
              <a:ea typeface="仿宋_GB2312" pitchFamily="49" charset="-122"/>
            </a:endParaRPr>
          </a:p>
        </p:txBody>
      </p:sp>
      <p:graphicFrame>
        <p:nvGraphicFramePr>
          <p:cNvPr id="34818" name="Object 5"/>
          <p:cNvGraphicFramePr>
            <a:graphicFrameLocks noChangeAspect="1"/>
          </p:cNvGraphicFramePr>
          <p:nvPr/>
        </p:nvGraphicFramePr>
        <p:xfrm>
          <a:off x="3419475" y="3429000"/>
          <a:ext cx="1806575" cy="1368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" r:id="rId1" imgW="561340" imgH="422275" progId="Equation.3">
                  <p:embed/>
                </p:oleObj>
              </mc:Choice>
              <mc:Fallback>
                <p:oleObj name="" r:id="rId1" imgW="561340" imgH="422275" progId="Equation.3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  <a:clrChange>
                          <a:clrFrom>
                            <a:srgbClr val="FFFFFF"/>
                          </a:clrFrom>
                          <a:clrTo>
                            <a:srgbClr val="00008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419475" y="3429000"/>
                        <a:ext cx="1806575" cy="1368425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FFCCCC"/>
                          </a:gs>
                          <a:gs pos="100000">
                            <a:srgbClr val="FFFFFF"/>
                          </a:gs>
                        </a:gsLst>
                        <a:lin ang="5400000" scaled="1"/>
                        <a:tileRect/>
                      </a:gradFill>
                      <a:ln w="38100">
                        <a:noFill/>
                        <a:miter/>
                      </a:ln>
                      <a:effectLst>
                        <a:prstShdw prst="shdw17" dist="17961" dir="2699999">
                          <a:srgbClr val="997A7A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19" name="Text Box 6"/>
          <p:cNvSpPr txBox="1"/>
          <p:nvPr/>
        </p:nvSpPr>
        <p:spPr>
          <a:xfrm>
            <a:off x="468313" y="5661025"/>
            <a:ext cx="1511300" cy="547688"/>
          </a:xfrm>
          <a:prstGeom prst="rect">
            <a:avLst/>
          </a:prstGeom>
          <a:noFill/>
          <a:ln w="2857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>
            <a:spAutoFit/>
          </a:bodyPr>
          <a:p>
            <a:pPr eaLnBrk="0" hangingPunct="0">
              <a:spcBef>
                <a:spcPct val="50000"/>
              </a:spcBef>
              <a:buClr>
                <a:schemeClr val="tx1"/>
              </a:buClr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FF99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r>
              <a:rPr lang="zh-CN" altLang="en-US" dirty="0">
                <a:solidFill>
                  <a:srgbClr val="FF9900"/>
                </a:solidFill>
                <a:latin typeface="Times New Roman" panose="02020603050405020304" pitchFamily="18" charset="0"/>
                <a:ea typeface="楷体_GB2312" pitchFamily="49" charset="-122"/>
              </a:rPr>
              <a:t>单位</a:t>
            </a:r>
            <a:endParaRPr lang="zh-CN" altLang="en-US" b="0" dirty="0">
              <a:solidFill>
                <a:srgbClr val="FF9900"/>
              </a:solidFill>
              <a:latin typeface="Times New Roman" panose="02020603050405020304" pitchFamily="18" charset="0"/>
              <a:ea typeface="仿宋_GB2312" pitchFamily="49" charset="-122"/>
              <a:sym typeface="Symbol" panose="05050102010706020507" pitchFamily="18" charset="2"/>
            </a:endParaRPr>
          </a:p>
        </p:txBody>
      </p:sp>
      <p:sp>
        <p:nvSpPr>
          <p:cNvPr id="34820" name="Rectangle 22"/>
          <p:cNvSpPr/>
          <p:nvPr/>
        </p:nvSpPr>
        <p:spPr>
          <a:xfrm>
            <a:off x="468313" y="620713"/>
            <a:ext cx="3449637" cy="579437"/>
          </a:xfrm>
          <a:prstGeom prst="rect">
            <a:avLst/>
          </a:prstGeom>
          <a:noFill/>
          <a:ln w="38100">
            <a:noFill/>
          </a:ln>
          <a:effectLst>
            <a:outerShdw dist="107763" dir="18900000" algn="ctr" rotWithShape="0">
              <a:schemeClr val="bg2">
                <a:alpha val="50000"/>
              </a:schemeClr>
            </a:outerShdw>
          </a:effectLst>
        </p:spPr>
        <p:txBody>
          <a:bodyPr wrap="none" anchor="ctr" anchorCtr="0">
            <a:spAutoFit/>
          </a:bodyPr>
          <a:p>
            <a:pPr eaLnBrk="0" hangingPunct="0">
              <a:buClrTx/>
              <a:buFontTx/>
              <a:buNone/>
            </a:pPr>
            <a:r>
              <a:rPr lang="en-US" altLang="zh-CN" sz="32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2.</a:t>
            </a:r>
            <a:r>
              <a:rPr lang="zh-CN" altLang="en-US" sz="32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电压的参考方向</a:t>
            </a:r>
            <a:endParaRPr lang="zh-CN" altLang="en-US" sz="3200" b="0" dirty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4821" name="Text Box 23"/>
          <p:cNvSpPr txBox="1"/>
          <p:nvPr/>
        </p:nvSpPr>
        <p:spPr>
          <a:xfrm>
            <a:off x="2987675" y="2276475"/>
            <a:ext cx="5688013" cy="1189038"/>
          </a:xfrm>
          <a:prstGeom prst="rect">
            <a:avLst/>
          </a:prstGeom>
          <a:noFill/>
          <a:ln w="38100">
            <a:noFill/>
          </a:ln>
        </p:spPr>
        <p:txBody>
          <a:bodyPr anchor="t" anchorCtr="0">
            <a:spAutoFit/>
          </a:bodyPr>
          <a:p>
            <a:pPr algn="just" eaLnBrk="0" hangingPunct="0">
              <a:lnSpc>
                <a:spcPct val="120000"/>
              </a:lnSpc>
              <a:spcBef>
                <a:spcPct val="50000"/>
              </a:spcBef>
              <a:buClrTx/>
              <a:buFont typeface="Wingdings" panose="05000000000000000000" pitchFamily="2" charset="2"/>
              <a:buNone/>
            </a:pP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单位正电荷</a:t>
            </a:r>
            <a:r>
              <a:rPr lang="en-US" altLang="zh-CN" sz="3200" b="0" i="1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q</a:t>
            </a:r>
            <a:r>
              <a:rPr lang="en-US" altLang="zh-CN" i="1" dirty="0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从电路中一点移至另一点时电场力做功</a:t>
            </a:r>
            <a:r>
              <a:rPr lang="zh-CN" altLang="en-US" b="0" dirty="0">
                <a:latin typeface="Times New Roman" panose="02020603050405020304" pitchFamily="18" charset="0"/>
                <a:ea typeface="楷体_GB2312" pitchFamily="49" charset="-122"/>
              </a:rPr>
              <a:t>（</a:t>
            </a:r>
            <a:r>
              <a:rPr lang="en-US" altLang="zh-CN" b="0" i="1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W</a:t>
            </a:r>
            <a:r>
              <a:rPr lang="zh-CN" altLang="en-US" b="0" dirty="0">
                <a:latin typeface="Times New Roman" panose="02020603050405020304" pitchFamily="18" charset="0"/>
                <a:ea typeface="楷体_GB2312" pitchFamily="49" charset="-122"/>
              </a:rPr>
              <a:t>）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的大小。</a:t>
            </a:r>
            <a:endParaRPr lang="zh-CN" altLang="en-US" dirty="0">
              <a:latin typeface="楷体_GB2312" pitchFamily="49" charset="-122"/>
              <a:ea typeface="楷体_GB2312" pitchFamily="49" charset="-122"/>
              <a:sym typeface="Symbol" panose="05050102010706020507" pitchFamily="18" charset="2"/>
            </a:endParaRPr>
          </a:p>
        </p:txBody>
      </p:sp>
      <p:sp>
        <p:nvSpPr>
          <p:cNvPr id="34822" name="AutoShape 24"/>
          <p:cNvSpPr/>
          <p:nvPr/>
        </p:nvSpPr>
        <p:spPr>
          <a:xfrm>
            <a:off x="2339975" y="2565400"/>
            <a:ext cx="576263" cy="142875"/>
          </a:xfrm>
          <a:prstGeom prst="rightArrow">
            <a:avLst>
              <a:gd name="adj1" fmla="val 50000"/>
              <a:gd name="adj2" fmla="val 100814"/>
            </a:avLst>
          </a:prstGeom>
          <a:solidFill>
            <a:schemeClr val="hlink"/>
          </a:solidFill>
          <a:ln w="38100">
            <a:noFill/>
          </a:ln>
        </p:spPr>
        <p:txBody>
          <a:bodyPr wrap="none" anchor="ctr" anchorCtr="0"/>
          <a:p>
            <a:pPr>
              <a:buClrTx/>
              <a:buFontTx/>
              <a:buNone/>
            </a:pPr>
            <a:endParaRPr lang="zh-CN" altLang="en-US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34823" name="Text Box 25"/>
          <p:cNvSpPr txBox="1"/>
          <p:nvPr/>
        </p:nvSpPr>
        <p:spPr>
          <a:xfrm>
            <a:off x="468313" y="1417638"/>
            <a:ext cx="1655762" cy="547687"/>
          </a:xfrm>
          <a:prstGeom prst="rect">
            <a:avLst/>
          </a:prstGeom>
          <a:noFill/>
          <a:ln w="2857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>
            <a:spAutoFit/>
          </a:bodyPr>
          <a:p>
            <a:pPr algn="just" eaLnBrk="0" hangingPunct="0">
              <a:buClr>
                <a:schemeClr val="tx1"/>
              </a:buClr>
              <a:buSzPct val="86000"/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FF99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zh-CN" altLang="en-US" dirty="0">
                <a:solidFill>
                  <a:srgbClr val="FF99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电位</a:t>
            </a:r>
            <a:r>
              <a:rPr lang="zh-CN" altLang="en-US" b="0" dirty="0">
                <a:solidFill>
                  <a:srgbClr val="FF9900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</a:t>
            </a:r>
            <a:endParaRPr lang="zh-CN" altLang="en-US" b="0" dirty="0">
              <a:solidFill>
                <a:srgbClr val="FF9900"/>
              </a:solidFill>
              <a:latin typeface="Times New Roman" panose="02020603050405020304" pitchFamily="18" charset="0"/>
              <a:ea typeface="仿宋_GB2312" pitchFamily="49" charset="-122"/>
              <a:sym typeface="Symbol" panose="05050102010706020507" pitchFamily="18" charset="2"/>
            </a:endParaRPr>
          </a:p>
        </p:txBody>
      </p:sp>
      <p:sp>
        <p:nvSpPr>
          <p:cNvPr id="34824" name="AutoShape 26"/>
          <p:cNvSpPr/>
          <p:nvPr/>
        </p:nvSpPr>
        <p:spPr>
          <a:xfrm>
            <a:off x="2268538" y="1557338"/>
            <a:ext cx="576262" cy="142875"/>
          </a:xfrm>
          <a:prstGeom prst="rightArrow">
            <a:avLst>
              <a:gd name="adj1" fmla="val 50000"/>
              <a:gd name="adj2" fmla="val 100814"/>
            </a:avLst>
          </a:prstGeom>
          <a:solidFill>
            <a:schemeClr val="hlink"/>
          </a:solidFill>
          <a:ln w="38100">
            <a:noFill/>
          </a:ln>
        </p:spPr>
        <p:txBody>
          <a:bodyPr wrap="none" anchor="ctr" anchorCtr="0"/>
          <a:p>
            <a:pPr>
              <a:buClrTx/>
              <a:buFontTx/>
              <a:buNone/>
            </a:pPr>
            <a:endParaRPr lang="zh-CN" altLang="en-US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34825" name="Rectangle 27"/>
          <p:cNvSpPr/>
          <p:nvPr/>
        </p:nvSpPr>
        <p:spPr>
          <a:xfrm>
            <a:off x="2555875" y="1196975"/>
            <a:ext cx="6372225" cy="1189038"/>
          </a:xfrm>
          <a:prstGeom prst="rect">
            <a:avLst/>
          </a:prstGeom>
          <a:noFill/>
          <a:ln w="38100">
            <a:noFill/>
          </a:ln>
        </p:spPr>
        <p:txBody>
          <a:bodyPr anchor="ctr" anchorCtr="0">
            <a:spAutoFit/>
          </a:bodyPr>
          <a:p>
            <a:pPr marL="381000" indent="-381000" eaLnBrk="0" hangingPunct="0">
              <a:lnSpc>
                <a:spcPct val="120000"/>
              </a:lnSpc>
              <a:spcBef>
                <a:spcPct val="50000"/>
              </a:spcBef>
              <a:buClrTx/>
              <a:buFont typeface="Wingdings" panose="05000000000000000000" pitchFamily="2" charset="2"/>
              <a:buNone/>
            </a:pPr>
            <a:r>
              <a:rPr lang="en-US" altLang="zh-CN" dirty="0">
                <a:latin typeface="楷体_GB2312" pitchFamily="49" charset="-122"/>
                <a:ea typeface="楷体_GB2312" pitchFamily="49" charset="-122"/>
              </a:rPr>
              <a:t>  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单位正电荷</a:t>
            </a:r>
            <a:r>
              <a:rPr lang="en-US" altLang="zh-CN" sz="3200" b="0" i="1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q</a:t>
            </a:r>
            <a:r>
              <a:rPr lang="en-US" altLang="zh-CN" i="1" dirty="0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从电路中一点移至参考点</a:t>
            </a:r>
            <a:r>
              <a:rPr lang="zh-CN" altLang="en-US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zh-CN" altLang="en-US" b="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＝</a:t>
            </a:r>
            <a:r>
              <a: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0</a:t>
            </a:r>
            <a:r>
              <a:rPr lang="zh-CN" altLang="en-US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）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时电场力做功的大小。</a:t>
            </a:r>
            <a:endParaRPr lang="zh-CN" altLang="en-US" b="0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4826" name="Text Box 30"/>
          <p:cNvSpPr txBox="1"/>
          <p:nvPr/>
        </p:nvSpPr>
        <p:spPr>
          <a:xfrm>
            <a:off x="468313" y="4868863"/>
            <a:ext cx="2952750" cy="547687"/>
          </a:xfrm>
          <a:prstGeom prst="rect">
            <a:avLst/>
          </a:prstGeom>
          <a:noFill/>
          <a:ln w="28575" cap="sq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>
            <a:spAutoFit/>
          </a:bodyPr>
          <a:p>
            <a:pPr eaLnBrk="0" hangingPunct="0">
              <a:spcBef>
                <a:spcPct val="50000"/>
              </a:spcBef>
              <a:buClr>
                <a:schemeClr val="tx1"/>
              </a:buClr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rgbClr val="FF9900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  </a:t>
            </a:r>
            <a:r>
              <a:rPr lang="zh-CN" altLang="en-US" dirty="0">
                <a:solidFill>
                  <a:srgbClr val="FF99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实际电压方向</a:t>
            </a:r>
            <a:r>
              <a:rPr lang="zh-CN" altLang="en-US" sz="2400" dirty="0">
                <a:solidFill>
                  <a:srgbClr val="FF9900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     </a:t>
            </a:r>
            <a:endParaRPr lang="zh-CN" altLang="en-US" sz="2400" dirty="0">
              <a:solidFill>
                <a:srgbClr val="FF9900"/>
              </a:solidFill>
              <a:latin typeface="Times New Roman" panose="02020603050405020304" pitchFamily="18" charset="0"/>
              <a:ea typeface="仿宋_GB2312" pitchFamily="49" charset="-122"/>
              <a:sym typeface="Symbol" panose="05050102010706020507" pitchFamily="18" charset="2"/>
            </a:endParaRPr>
          </a:p>
        </p:txBody>
      </p:sp>
      <p:sp>
        <p:nvSpPr>
          <p:cNvPr id="34827" name="AutoShape 31"/>
          <p:cNvSpPr/>
          <p:nvPr/>
        </p:nvSpPr>
        <p:spPr>
          <a:xfrm>
            <a:off x="3565525" y="5084763"/>
            <a:ext cx="647700" cy="215900"/>
          </a:xfrm>
          <a:prstGeom prst="rightArrow">
            <a:avLst>
              <a:gd name="adj1" fmla="val 50000"/>
              <a:gd name="adj2" fmla="val 75000"/>
            </a:avLst>
          </a:prstGeom>
          <a:solidFill>
            <a:schemeClr val="hlink"/>
          </a:solidFill>
          <a:ln w="38100">
            <a:noFill/>
          </a:ln>
        </p:spPr>
        <p:txBody>
          <a:bodyPr wrap="none" anchor="ctr" anchorCtr="0"/>
          <a:p>
            <a:pPr>
              <a:buClrTx/>
              <a:buFontTx/>
              <a:buNone/>
            </a:pPr>
            <a:endParaRPr lang="zh-CN" altLang="en-US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34828" name="Text Box 32"/>
          <p:cNvSpPr txBox="1"/>
          <p:nvPr/>
        </p:nvSpPr>
        <p:spPr>
          <a:xfrm>
            <a:off x="4140200" y="4941888"/>
            <a:ext cx="3887788" cy="519112"/>
          </a:xfrm>
          <a:prstGeom prst="rect">
            <a:avLst/>
          </a:prstGeom>
          <a:noFill/>
          <a:ln w="38100">
            <a:noFill/>
          </a:ln>
        </p:spPr>
        <p:txBody>
          <a:bodyPr anchor="t" anchorCtr="0">
            <a:spAutoFit/>
          </a:bodyPr>
          <a:p>
            <a:pPr algn="ctr" eaLnBrk="0" hangingPunct="0">
              <a:spcBef>
                <a:spcPct val="50000"/>
              </a:spcBef>
              <a:buClrTx/>
              <a:buFontTx/>
              <a:buNone/>
            </a:pPr>
            <a:r>
              <a:rPr lang="zh-CN" altLang="en-US" dirty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电位真正降低的方向。</a:t>
            </a:r>
            <a:endParaRPr lang="zh-CN" altLang="en-US" dirty="0">
              <a:latin typeface="Times New Roman" panose="02020603050405020304" pitchFamily="18" charset="0"/>
              <a:ea typeface="楷体_GB2312" pitchFamily="49" charset="-122"/>
              <a:sym typeface="Symbol" panose="05050102010706020507" pitchFamily="18" charset="2"/>
            </a:endParaRPr>
          </a:p>
        </p:txBody>
      </p:sp>
      <p:grpSp>
        <p:nvGrpSpPr>
          <p:cNvPr id="34829" name="Group 34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34830" name="Picture 35" descr="7890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4831" name="Text Box 36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34832" name="Group 37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34833" name="Picture 38" descr="7890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4834" name="Text Box 39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sp>
        <p:nvSpPr>
          <p:cNvPr id="34835" name="Text Box 43"/>
          <p:cNvSpPr txBox="1"/>
          <p:nvPr/>
        </p:nvSpPr>
        <p:spPr>
          <a:xfrm>
            <a:off x="2124075" y="5661025"/>
            <a:ext cx="3960813" cy="519113"/>
          </a:xfrm>
          <a:prstGeom prst="rect">
            <a:avLst/>
          </a:prstGeom>
          <a:noFill/>
          <a:ln w="12700">
            <a:noFill/>
          </a:ln>
        </p:spPr>
        <p:txBody>
          <a:bodyPr anchor="ctr" anchorCtr="0">
            <a:spAutoFit/>
          </a:bodyPr>
          <a:p>
            <a:pPr eaLnBrk="0" hangingPunct="0">
              <a:spcBef>
                <a:spcPct val="50000"/>
              </a:spcBef>
              <a:buClr>
                <a:srgbClr val="FFFF00"/>
              </a:buClr>
              <a:buFont typeface="Wingdings" panose="05000000000000000000" pitchFamily="2" charset="2"/>
              <a:buNone/>
            </a:pPr>
            <a:r>
              <a:rPr lang="en-US" altLang="zh-CN" b="0" dirty="0">
                <a:latin typeface="Times New Roman" panose="02020603050405020304" pitchFamily="18" charset="0"/>
                <a:ea typeface="仿宋_GB2312" pitchFamily="49" charset="-122"/>
              </a:rPr>
              <a:t>V (</a:t>
            </a:r>
            <a:r>
              <a:rPr lang="zh-CN" altLang="en-US" b="0" dirty="0">
                <a:latin typeface="Times New Roman" panose="02020603050405020304" pitchFamily="18" charset="0"/>
                <a:ea typeface="仿宋_GB2312" pitchFamily="49" charset="-122"/>
              </a:rPr>
              <a:t>伏</a:t>
            </a:r>
            <a:r>
              <a:rPr lang="en-US" altLang="en-US" b="0" dirty="0">
                <a:latin typeface="Times New Roman" panose="02020603050405020304" pitchFamily="18" charset="0"/>
                <a:ea typeface="仿宋_GB2312" pitchFamily="49" charset="-122"/>
              </a:rPr>
              <a:t>)</a:t>
            </a:r>
            <a:r>
              <a:rPr lang="zh-CN" altLang="en-US" b="0" dirty="0">
                <a:latin typeface="Times New Roman" panose="02020603050405020304" pitchFamily="18" charset="0"/>
                <a:ea typeface="仿宋_GB2312" pitchFamily="49" charset="-122"/>
              </a:rPr>
              <a:t>、</a:t>
            </a:r>
            <a:r>
              <a:rPr lang="en-US" altLang="zh-CN" b="0" dirty="0">
                <a:latin typeface="Times New Roman" panose="02020603050405020304" pitchFamily="18" charset="0"/>
                <a:ea typeface="仿宋_GB2312" pitchFamily="49" charset="-122"/>
              </a:rPr>
              <a:t>kV</a:t>
            </a:r>
            <a:r>
              <a:rPr lang="zh-CN" altLang="en-US" b="0" dirty="0">
                <a:latin typeface="Times New Roman" panose="02020603050405020304" pitchFamily="18" charset="0"/>
                <a:ea typeface="仿宋_GB2312" pitchFamily="49" charset="-122"/>
              </a:rPr>
              <a:t>、</a:t>
            </a:r>
            <a:r>
              <a:rPr lang="en-US" altLang="zh-CN" b="0" dirty="0">
                <a:latin typeface="Times New Roman" panose="02020603050405020304" pitchFamily="18" charset="0"/>
                <a:ea typeface="仿宋_GB2312" pitchFamily="49" charset="-122"/>
              </a:rPr>
              <a:t>mV</a:t>
            </a:r>
            <a:r>
              <a:rPr lang="zh-CN" altLang="en-US" b="0" dirty="0">
                <a:latin typeface="Times New Roman" panose="02020603050405020304" pitchFamily="18" charset="0"/>
                <a:ea typeface="仿宋_GB2312" pitchFamily="49" charset="-122"/>
              </a:rPr>
              <a:t>、</a:t>
            </a:r>
            <a:r>
              <a:rPr lang="zh-CN" altLang="en-US" b="0" dirty="0"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</a:t>
            </a:r>
            <a:r>
              <a:rPr lang="en-US" altLang="zh-CN" b="0" dirty="0"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V</a:t>
            </a:r>
            <a:endParaRPr lang="en-US" altLang="zh-CN" b="0" dirty="0">
              <a:latin typeface="Times New Roman" panose="02020603050405020304" pitchFamily="18" charset="0"/>
              <a:ea typeface="仿宋_GB2312" pitchFamily="49" charset="-122"/>
              <a:sym typeface="Symbol" panose="05050102010706020507" pitchFamily="18" charset="2"/>
            </a:endParaRPr>
          </a:p>
        </p:txBody>
      </p:sp>
      <p:grpSp>
        <p:nvGrpSpPr>
          <p:cNvPr id="34836" name="Group 50"/>
          <p:cNvGrpSpPr/>
          <p:nvPr/>
        </p:nvGrpSpPr>
        <p:grpSpPr>
          <a:xfrm>
            <a:off x="6588125" y="6445250"/>
            <a:ext cx="792163" cy="366713"/>
            <a:chOff x="5193" y="4020"/>
            <a:chExt cx="499" cy="231"/>
          </a:xfrm>
        </p:grpSpPr>
        <p:pic>
          <p:nvPicPr>
            <p:cNvPr id="34837" name="Picture 51" descr="78900">
              <a:hlinkClick r:id="" action="ppaction://hlinkshowjump?jump=firstslide"/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4838" name="Text Box 52">
              <a:hlinkClick r:id="" action="ppaction://hlinkshowjump?jump=firs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6372" name="Text Box 4"/>
          <p:cNvSpPr txBox="1"/>
          <p:nvPr/>
        </p:nvSpPr>
        <p:spPr>
          <a:xfrm>
            <a:off x="611188" y="549275"/>
            <a:ext cx="865187" cy="579438"/>
          </a:xfrm>
          <a:prstGeom prst="rect">
            <a:avLst/>
          </a:prstGeom>
          <a:noFill/>
          <a:ln w="38100">
            <a:noFill/>
          </a:ln>
        </p:spPr>
        <p:txBody>
          <a:bodyPr anchor="t" anchorCtr="0">
            <a:spAutoFit/>
          </a:bodyPr>
          <a:p>
            <a:pPr algn="ctr" eaLnBrk="0" hangingPunct="0">
              <a:spcBef>
                <a:spcPct val="50000"/>
              </a:spcBef>
              <a:buClrTx/>
              <a:buFontTx/>
              <a:buNone/>
            </a:pPr>
            <a:r>
              <a:rPr lang="zh-CN" altLang="en-US" sz="3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例</a:t>
            </a:r>
            <a:endParaRPr lang="zh-CN" altLang="en-US" sz="3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186373" name="Text Box 5"/>
          <p:cNvSpPr txBox="1">
            <a:spLocks noChangeArrowheads="1"/>
          </p:cNvSpPr>
          <p:nvPr/>
        </p:nvSpPr>
        <p:spPr bwMode="auto">
          <a:xfrm>
            <a:off x="3563938" y="404813"/>
            <a:ext cx="5219700" cy="3638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  <a:sym typeface="Symbol" panose="05050102010706020507" pitchFamily="18" charset="2"/>
              </a:rPr>
              <a:t>已知：</a:t>
            </a:r>
            <a:r>
              <a:rPr kumimoji="1" lang="en-US" altLang="zh-CN" sz="2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  <a:sym typeface="Symbol" panose="05050102010706020507" pitchFamily="18" charset="2"/>
              </a:rPr>
              <a:t>4C</a:t>
            </a:r>
            <a:r>
              <a:rPr kumimoji="1" lang="zh-CN" altLang="en-US" sz="2800" b="1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  <a:sym typeface="Symbol" panose="05050102010706020507" pitchFamily="18" charset="2"/>
              </a:rPr>
              <a:t>正电荷由</a:t>
            </a:r>
            <a:r>
              <a:rPr kumimoji="1" lang="en-US" altLang="zh-CN" sz="28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  <a:sym typeface="Symbol" panose="05050102010706020507" pitchFamily="18" charset="2"/>
              </a:rPr>
              <a:t>a</a:t>
            </a:r>
            <a:r>
              <a:rPr kumimoji="1" lang="zh-CN" altLang="en-US" sz="2800" b="1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  <a:sym typeface="Symbol" panose="05050102010706020507" pitchFamily="18" charset="2"/>
              </a:rPr>
              <a:t>点均匀移动至</a:t>
            </a:r>
            <a:r>
              <a:rPr kumimoji="1" lang="en-US" altLang="zh-CN" sz="28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  <a:sym typeface="Symbol" panose="05050102010706020507" pitchFamily="18" charset="2"/>
              </a:rPr>
              <a:t>b</a:t>
            </a:r>
            <a:r>
              <a:rPr kumimoji="1" lang="zh-CN" altLang="en-US" sz="2800" b="1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  <a:sym typeface="Symbol" panose="05050102010706020507" pitchFamily="18" charset="2"/>
              </a:rPr>
              <a:t>点电场力做功</a:t>
            </a:r>
            <a:r>
              <a:rPr kumimoji="1" lang="en-US" altLang="zh-CN" sz="2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  <a:sym typeface="Symbol" panose="05050102010706020507" pitchFamily="18" charset="2"/>
              </a:rPr>
              <a:t>8J</a:t>
            </a:r>
            <a:r>
              <a:rPr kumimoji="1" lang="zh-CN" altLang="en-US" sz="2800" b="1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  <a:sym typeface="Symbol" panose="05050102010706020507" pitchFamily="18" charset="2"/>
              </a:rPr>
              <a:t>，由</a:t>
            </a:r>
            <a:r>
              <a:rPr kumimoji="1" lang="en-US" altLang="zh-CN" sz="28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  <a:sym typeface="Symbol" panose="05050102010706020507" pitchFamily="18" charset="2"/>
              </a:rPr>
              <a:t>b</a:t>
            </a:r>
            <a:r>
              <a:rPr kumimoji="1" lang="zh-CN" altLang="en-US" sz="2800" b="1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  <a:sym typeface="Symbol" panose="05050102010706020507" pitchFamily="18" charset="2"/>
              </a:rPr>
              <a:t>点移动到</a:t>
            </a:r>
            <a:r>
              <a:rPr kumimoji="1" lang="en-US" altLang="zh-CN" sz="28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  <a:sym typeface="Symbol" panose="05050102010706020507" pitchFamily="18" charset="2"/>
              </a:rPr>
              <a:t>c</a:t>
            </a:r>
            <a:r>
              <a:rPr kumimoji="1" lang="zh-CN" altLang="en-US" sz="2800" b="1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  <a:sym typeface="Symbol" panose="05050102010706020507" pitchFamily="18" charset="2"/>
              </a:rPr>
              <a:t>点电场力做功为</a:t>
            </a:r>
            <a:r>
              <a:rPr kumimoji="1" lang="en-US" altLang="zh-CN" sz="2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  <a:sym typeface="Symbol" panose="05050102010706020507" pitchFamily="18" charset="2"/>
              </a:rPr>
              <a:t>12J</a:t>
            </a:r>
            <a:r>
              <a:rPr kumimoji="1" lang="zh-CN" altLang="en-US" sz="2800" b="1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  <a:sym typeface="Symbol" panose="05050102010706020507" pitchFamily="18" charset="2"/>
              </a:rPr>
              <a:t>，</a:t>
            </a:r>
            <a:endParaRPr kumimoji="1" lang="zh-CN" altLang="en-US" sz="2800" b="1" i="0" u="none" strike="noStrike" kern="1200" cap="none" spc="0" normalizeH="0" baseline="0" noProof="0" smtClean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  <a:sym typeface="Symbol" panose="05050102010706020507" pitchFamily="18" charset="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AutoNum type="circleNumDbPlain"/>
              <a:defRPr/>
            </a:pPr>
            <a:r>
              <a:rPr kumimoji="1" lang="zh-CN" altLang="en-US" sz="2800" b="1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  <a:sym typeface="Symbol" panose="05050102010706020507" pitchFamily="18" charset="2"/>
              </a:rPr>
              <a:t>若以</a:t>
            </a:r>
            <a:r>
              <a:rPr kumimoji="1" lang="en-US" altLang="zh-CN" sz="28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  <a:sym typeface="Symbol" panose="05050102010706020507" pitchFamily="18" charset="2"/>
              </a:rPr>
              <a:t>b</a:t>
            </a:r>
            <a:r>
              <a:rPr kumimoji="1" lang="zh-CN" altLang="en-US" sz="2800" b="1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  <a:sym typeface="Symbol" panose="05050102010706020507" pitchFamily="18" charset="2"/>
              </a:rPr>
              <a:t>点为参考点，求</a:t>
            </a:r>
            <a:r>
              <a:rPr kumimoji="1" lang="en-US" altLang="zh-CN" sz="28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  <a:sym typeface="Symbol" panose="05050102010706020507" pitchFamily="18" charset="2"/>
              </a:rPr>
              <a:t>a</a:t>
            </a:r>
            <a:r>
              <a:rPr kumimoji="1" lang="zh-CN" altLang="en-US" sz="28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  <a:sym typeface="Symbol" panose="05050102010706020507" pitchFamily="18" charset="2"/>
              </a:rPr>
              <a:t>、</a:t>
            </a:r>
            <a:r>
              <a:rPr kumimoji="1" lang="en-US" altLang="zh-CN" sz="28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  <a:sym typeface="Symbol" panose="05050102010706020507" pitchFamily="18" charset="2"/>
              </a:rPr>
              <a:t>b</a:t>
            </a:r>
            <a:r>
              <a:rPr kumimoji="1" lang="zh-CN" altLang="en-US" sz="28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  <a:sym typeface="Symbol" panose="05050102010706020507" pitchFamily="18" charset="2"/>
              </a:rPr>
              <a:t>、</a:t>
            </a:r>
            <a:r>
              <a:rPr kumimoji="1" lang="en-US" altLang="zh-CN" sz="28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  <a:sym typeface="Symbol" panose="05050102010706020507" pitchFamily="18" charset="2"/>
              </a:rPr>
              <a:t>c</a:t>
            </a:r>
            <a:r>
              <a:rPr kumimoji="1" lang="zh-CN" altLang="en-US" sz="2800" b="1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  <a:sym typeface="Symbol" panose="05050102010706020507" pitchFamily="18" charset="2"/>
              </a:rPr>
              <a:t>点的电位和电压</a:t>
            </a:r>
            <a:r>
              <a:rPr kumimoji="1" lang="en-US" altLang="zh-CN" sz="2800" b="0" i="1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  <a:sym typeface="Symbol" panose="05050102010706020507" pitchFamily="18" charset="2"/>
              </a:rPr>
              <a:t>U</a:t>
            </a:r>
            <a:r>
              <a:rPr kumimoji="1" lang="en-US" altLang="zh-CN" sz="2800" b="0" i="0" u="none" strike="noStrike" kern="1200" cap="none" spc="0" normalizeH="0" baseline="-2500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  <a:sym typeface="Symbol" panose="05050102010706020507" pitchFamily="18" charset="2"/>
              </a:rPr>
              <a:t>ab</a:t>
            </a:r>
            <a:r>
              <a:rPr kumimoji="1" lang="zh-CN" altLang="en-US" sz="2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  <a:sym typeface="Symbol" panose="05050102010706020507" pitchFamily="18" charset="2"/>
              </a:rPr>
              <a:t>、</a:t>
            </a:r>
            <a:r>
              <a:rPr kumimoji="1" lang="en-US" altLang="zh-CN" sz="2800" b="0" i="1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  <a:sym typeface="Symbol" panose="05050102010706020507" pitchFamily="18" charset="2"/>
              </a:rPr>
              <a:t>U</a:t>
            </a:r>
            <a:r>
              <a:rPr kumimoji="1" lang="en-US" altLang="zh-CN" sz="2800" b="0" i="0" u="none" strike="noStrike" kern="1200" cap="none" spc="0" normalizeH="0" baseline="-2500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  <a:sym typeface="Symbol" panose="05050102010706020507" pitchFamily="18" charset="2"/>
              </a:rPr>
              <a:t> bc</a:t>
            </a:r>
            <a:r>
              <a:rPr kumimoji="1" lang="en-US" altLang="zh-CN" sz="2800" b="1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  <a:cs typeface="+mn-cs"/>
                <a:sym typeface="Symbol" panose="05050102010706020507" pitchFamily="18" charset="2"/>
              </a:rPr>
              <a:t>;</a:t>
            </a:r>
            <a:endParaRPr kumimoji="1" lang="en-US" altLang="zh-CN" sz="2800" b="1" i="0" u="none" strike="noStrike" kern="1200" cap="none" spc="0" normalizeH="0" baseline="-25000" noProof="0" smtClean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楷体_GB2312" pitchFamily="49" charset="-122"/>
              <a:ea typeface="楷体_GB2312" pitchFamily="49" charset="-122"/>
              <a:cs typeface="+mn-cs"/>
              <a:sym typeface="Symbol" panose="05050102010706020507" pitchFamily="18" charset="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AutoNum type="circleNumDbPlain" startAt="2"/>
              <a:defRPr/>
            </a:pPr>
            <a:r>
              <a:rPr kumimoji="1" lang="zh-CN" altLang="en-US" sz="2800" b="1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  <a:cs typeface="+mn-cs"/>
                <a:sym typeface="Symbol" panose="05050102010706020507" pitchFamily="18" charset="2"/>
              </a:rPr>
              <a:t>若以</a:t>
            </a:r>
            <a:r>
              <a:rPr kumimoji="1" lang="en-US" altLang="zh-CN" sz="28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  <a:sym typeface="Symbol" panose="05050102010706020507" pitchFamily="18" charset="2"/>
              </a:rPr>
              <a:t>c</a:t>
            </a:r>
            <a:r>
              <a:rPr kumimoji="1" lang="zh-CN" altLang="en-US" sz="2800" b="1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  <a:cs typeface="+mn-cs"/>
                <a:sym typeface="Symbol" panose="05050102010706020507" pitchFamily="18" charset="2"/>
              </a:rPr>
              <a:t>点为参考点，再求以上各值。</a:t>
            </a:r>
            <a:endParaRPr kumimoji="1" lang="zh-CN" altLang="en-US" sz="2800" b="1" i="0" u="none" strike="noStrike" kern="1200" cap="none" spc="0" normalizeH="0" baseline="0" noProof="0" smtClean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楷体_GB2312" pitchFamily="49" charset="-122"/>
              <a:ea typeface="楷体_GB2312" pitchFamily="49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35843" name="Line 7"/>
          <p:cNvSpPr/>
          <p:nvPr/>
        </p:nvSpPr>
        <p:spPr>
          <a:xfrm>
            <a:off x="539750" y="1341438"/>
            <a:ext cx="936625" cy="0"/>
          </a:xfrm>
          <a:prstGeom prst="line">
            <a:avLst/>
          </a:prstGeom>
          <a:ln w="38100">
            <a:noFill/>
          </a:ln>
        </p:spPr>
      </p:sp>
      <p:sp>
        <p:nvSpPr>
          <p:cNvPr id="186388" name="Text Box 20"/>
          <p:cNvSpPr txBox="1"/>
          <p:nvPr/>
        </p:nvSpPr>
        <p:spPr>
          <a:xfrm>
            <a:off x="395288" y="3716338"/>
            <a:ext cx="719137" cy="579437"/>
          </a:xfrm>
          <a:prstGeom prst="rect">
            <a:avLst/>
          </a:prstGeom>
          <a:solidFill>
            <a:srgbClr val="990033"/>
          </a:solidFill>
          <a:ln w="38100">
            <a:noFill/>
          </a:ln>
        </p:spPr>
        <p:txBody>
          <a:bodyPr anchor="t" anchorCtr="0">
            <a:spAutoFit/>
          </a:bodyPr>
          <a:p>
            <a:pPr algn="ctr" eaLnBrk="0" hangingPunct="0">
              <a:spcBef>
                <a:spcPct val="50000"/>
              </a:spcBef>
              <a:buClrTx/>
              <a:buFontTx/>
              <a:buNone/>
            </a:pPr>
            <a:r>
              <a:rPr lang="zh-CN" altLang="en-US" sz="3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解</a:t>
            </a:r>
            <a:endParaRPr lang="zh-CN" altLang="en-US" sz="3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graphicFrame>
        <p:nvGraphicFramePr>
          <p:cNvPr id="186393" name="Object 25"/>
          <p:cNvGraphicFramePr>
            <a:graphicFrameLocks noChangeAspect="1"/>
          </p:cNvGraphicFramePr>
          <p:nvPr/>
        </p:nvGraphicFramePr>
        <p:xfrm>
          <a:off x="468313" y="4365625"/>
          <a:ext cx="2671762" cy="947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" name="" r:id="rId1" imgW="1221105" imgH="422275" progId="Equation.3">
                  <p:embed/>
                </p:oleObj>
              </mc:Choice>
              <mc:Fallback>
                <p:oleObj name="" r:id="rId1" imgW="1221105" imgH="422275" progId="Equation.3">
                  <p:embed/>
                  <p:pic>
                    <p:nvPicPr>
                      <p:cNvPr id="0" name="图片 3082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8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68313" y="4365625"/>
                        <a:ext cx="2671762" cy="9477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6394" name="Object 26"/>
          <p:cNvGraphicFramePr>
            <a:graphicFrameLocks noChangeAspect="1"/>
          </p:cNvGraphicFramePr>
          <p:nvPr/>
        </p:nvGraphicFramePr>
        <p:xfrm>
          <a:off x="1763713" y="3789363"/>
          <a:ext cx="106680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" name="" r:id="rId3" imgW="410845" imgH="202565" progId="Equation.3">
                  <p:embed/>
                </p:oleObj>
              </mc:Choice>
              <mc:Fallback>
                <p:oleObj name="" r:id="rId3" imgW="410845" imgH="202565" progId="Equation.3">
                  <p:embed/>
                  <p:pic>
                    <p:nvPicPr>
                      <p:cNvPr id="0" name="图片 3083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8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763713" y="3789363"/>
                        <a:ext cx="1066800" cy="546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6395" name="Object 27"/>
          <p:cNvGraphicFramePr>
            <a:graphicFrameLocks noChangeAspect="1"/>
          </p:cNvGraphicFramePr>
          <p:nvPr/>
        </p:nvGraphicFramePr>
        <p:xfrm>
          <a:off x="468313" y="5229225"/>
          <a:ext cx="4267200" cy="947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" name="" r:id="rId5" imgW="1962150" imgH="422275" progId="Equation.3">
                  <p:embed/>
                </p:oleObj>
              </mc:Choice>
              <mc:Fallback>
                <p:oleObj name="" r:id="rId5" imgW="1962150" imgH="422275" progId="Equation.3">
                  <p:embed/>
                  <p:pic>
                    <p:nvPicPr>
                      <p:cNvPr id="0" name="图片 3081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00008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68313" y="5229225"/>
                        <a:ext cx="4267200" cy="9477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6397" name="Object 29"/>
          <p:cNvGraphicFramePr>
            <a:graphicFrameLocks noChangeAspect="1"/>
          </p:cNvGraphicFramePr>
          <p:nvPr/>
        </p:nvGraphicFramePr>
        <p:xfrm>
          <a:off x="4284663" y="4076700"/>
          <a:ext cx="3694112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5" name="" r:id="rId7" imgW="1695450" imgH="202565" progId="Equation.3">
                  <p:embed/>
                </p:oleObj>
              </mc:Choice>
              <mc:Fallback>
                <p:oleObj name="" r:id="rId7" imgW="1695450" imgH="202565" progId="Equation.3">
                  <p:embed/>
                  <p:pic>
                    <p:nvPicPr>
                      <p:cNvPr id="0" name="图片 3084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00008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284663" y="4076700"/>
                        <a:ext cx="3694112" cy="4730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6398" name="Object 30"/>
          <p:cNvGraphicFramePr>
            <a:graphicFrameLocks noChangeAspect="1"/>
          </p:cNvGraphicFramePr>
          <p:nvPr/>
        </p:nvGraphicFramePr>
        <p:xfrm>
          <a:off x="4284663" y="4868863"/>
          <a:ext cx="4067175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" name="" r:id="rId9" imgW="1869440" imgH="202565" progId="Equation.3">
                  <p:embed/>
                </p:oleObj>
              </mc:Choice>
              <mc:Fallback>
                <p:oleObj name="" r:id="rId9" imgW="1869440" imgH="202565" progId="Equation.3">
                  <p:embed/>
                  <p:pic>
                    <p:nvPicPr>
                      <p:cNvPr id="0" name="图片 3080"/>
                      <p:cNvPicPr/>
                      <p:nvPr/>
                    </p:nvPicPr>
                    <p:blipFill>
                      <a:blip r:embed="rId10">
                        <a:clrChange>
                          <a:clrFrom>
                            <a:srgbClr val="000000"/>
                          </a:clrFrom>
                          <a:clrTo>
                            <a:srgbClr val="00008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284663" y="4868863"/>
                        <a:ext cx="4067175" cy="4730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6399" name="Text Box 31"/>
          <p:cNvSpPr txBox="1"/>
          <p:nvPr/>
        </p:nvSpPr>
        <p:spPr>
          <a:xfrm>
            <a:off x="1042988" y="3789363"/>
            <a:ext cx="719137" cy="457200"/>
          </a:xfrm>
          <a:prstGeom prst="rect">
            <a:avLst/>
          </a:prstGeom>
          <a:noFill/>
          <a:ln w="38100">
            <a:noFill/>
          </a:ln>
        </p:spPr>
        <p:txBody>
          <a:bodyPr anchor="t" anchorCtr="0">
            <a:spAutoFit/>
          </a:bodyPr>
          <a:p>
            <a:pPr algn="ctr" eaLnBrk="0" hangingPunct="0">
              <a:spcBef>
                <a:spcPct val="50000"/>
              </a:spcBef>
              <a:buClrTx/>
              <a:buFontTx/>
              <a:buNone/>
            </a:pP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(1)</a:t>
            </a:r>
            <a:endParaRPr lang="en-US" altLang="zh-CN" sz="2400" dirty="0">
              <a:solidFill>
                <a:schemeClr val="tx1"/>
              </a:solidFill>
              <a:latin typeface="Times New Roman" panose="02020603050405020304" pitchFamily="18" charset="0"/>
              <a:ea typeface="仿宋_GB2312" pitchFamily="49" charset="-122"/>
              <a:sym typeface="Symbol" panose="05050102010706020507" pitchFamily="18" charset="2"/>
            </a:endParaRPr>
          </a:p>
        </p:txBody>
      </p:sp>
      <p:grpSp>
        <p:nvGrpSpPr>
          <p:cNvPr id="35851" name="Group 38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35852" name="Picture 39" descr="78900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5853" name="Text Box 40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35854" name="Group 41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35855" name="Picture 42" descr="78900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5856" name="Text Box 43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186415" name="Group 47"/>
          <p:cNvGrpSpPr/>
          <p:nvPr/>
        </p:nvGrpSpPr>
        <p:grpSpPr>
          <a:xfrm>
            <a:off x="323850" y="836613"/>
            <a:ext cx="2952750" cy="2801937"/>
            <a:chOff x="2336" y="1389"/>
            <a:chExt cx="1860" cy="1765"/>
          </a:xfrm>
        </p:grpSpPr>
        <p:sp>
          <p:nvSpPr>
            <p:cNvPr id="35858" name="Text Box 48"/>
            <p:cNvSpPr txBox="1"/>
            <p:nvPr/>
          </p:nvSpPr>
          <p:spPr>
            <a:xfrm>
              <a:off x="2336" y="1434"/>
              <a:ext cx="363" cy="404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36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a</a:t>
              </a:r>
              <a:endParaRPr lang="en-US" altLang="zh-CN" sz="3600" b="0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35859" name="Line 49"/>
            <p:cNvSpPr/>
            <p:nvPr/>
          </p:nvSpPr>
          <p:spPr>
            <a:xfrm>
              <a:off x="2562" y="1797"/>
              <a:ext cx="0" cy="1043"/>
            </a:xfrm>
            <a:prstGeom prst="line">
              <a:avLst/>
            </a:prstGeom>
            <a:ln w="28575" cap="sq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860" name="Line 50"/>
            <p:cNvSpPr/>
            <p:nvPr/>
          </p:nvSpPr>
          <p:spPr>
            <a:xfrm>
              <a:off x="2562" y="1797"/>
              <a:ext cx="1475" cy="0"/>
            </a:xfrm>
            <a:prstGeom prst="line">
              <a:avLst/>
            </a:prstGeom>
            <a:ln w="28575" cap="sq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861" name="Line 51"/>
            <p:cNvSpPr/>
            <p:nvPr/>
          </p:nvSpPr>
          <p:spPr>
            <a:xfrm flipH="1">
              <a:off x="4014" y="1797"/>
              <a:ext cx="0" cy="1043"/>
            </a:xfrm>
            <a:prstGeom prst="line">
              <a:avLst/>
            </a:prstGeom>
            <a:ln w="28575" cap="sq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862" name="Line 52"/>
            <p:cNvSpPr/>
            <p:nvPr/>
          </p:nvSpPr>
          <p:spPr>
            <a:xfrm>
              <a:off x="2562" y="2840"/>
              <a:ext cx="1452" cy="0"/>
            </a:xfrm>
            <a:prstGeom prst="line">
              <a:avLst/>
            </a:prstGeom>
            <a:ln w="28575" cap="sq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863" name="Rectangle 53"/>
            <p:cNvSpPr/>
            <p:nvPr/>
          </p:nvSpPr>
          <p:spPr>
            <a:xfrm>
              <a:off x="2404" y="2159"/>
              <a:ext cx="272" cy="40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/>
            <a:p>
              <a:pPr>
                <a:buClrTx/>
                <a:buFontTx/>
                <a:buNone/>
              </a:pPr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35864" name="Rectangle 54"/>
            <p:cNvSpPr/>
            <p:nvPr/>
          </p:nvSpPr>
          <p:spPr>
            <a:xfrm>
              <a:off x="2449" y="2205"/>
              <a:ext cx="227" cy="40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/>
            <a:p>
              <a:pPr>
                <a:buClrTx/>
                <a:buFontTx/>
                <a:buNone/>
              </a:pPr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35865" name="Rectangle 55"/>
            <p:cNvSpPr/>
            <p:nvPr/>
          </p:nvSpPr>
          <p:spPr>
            <a:xfrm>
              <a:off x="3923" y="2069"/>
              <a:ext cx="158" cy="409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38100">
              <a:noFill/>
            </a:ln>
          </p:spPr>
          <p:txBody>
            <a:bodyPr wrap="none" anchor="ctr" anchorCtr="0"/>
            <a:p>
              <a:pPr>
                <a:buClrTx/>
                <a:buFontTx/>
                <a:buNone/>
              </a:pPr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35866" name="Text Box 56"/>
            <p:cNvSpPr txBox="1"/>
            <p:nvPr/>
          </p:nvSpPr>
          <p:spPr>
            <a:xfrm>
              <a:off x="3833" y="2750"/>
              <a:ext cx="363" cy="404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buClrTx/>
                <a:buFontTx/>
                <a:buNone/>
              </a:pPr>
              <a:r>
                <a:rPr lang="en-US" altLang="zh-CN" sz="36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c</a:t>
              </a:r>
              <a:endParaRPr lang="en-US" altLang="zh-CN" sz="2400" b="0" dirty="0"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35867" name="Text Box 57"/>
            <p:cNvSpPr txBox="1"/>
            <p:nvPr/>
          </p:nvSpPr>
          <p:spPr>
            <a:xfrm>
              <a:off x="3833" y="1389"/>
              <a:ext cx="363" cy="404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buClrTx/>
                <a:buFontTx/>
                <a:buNone/>
              </a:pPr>
              <a:r>
                <a:rPr lang="en-US" altLang="zh-CN" sz="36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b</a:t>
              </a:r>
              <a:endParaRPr lang="en-US" altLang="zh-CN" sz="3600" b="0" dirty="0"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35868" name="Rectangle 58"/>
            <p:cNvSpPr/>
            <p:nvPr/>
          </p:nvSpPr>
          <p:spPr>
            <a:xfrm>
              <a:off x="3016" y="1706"/>
              <a:ext cx="408" cy="182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>
                <a:buClrTx/>
                <a:buFontTx/>
                <a:buNone/>
              </a:pPr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35869" name="Rectangle 59"/>
            <p:cNvSpPr/>
            <p:nvPr/>
          </p:nvSpPr>
          <p:spPr>
            <a:xfrm>
              <a:off x="2472" y="2069"/>
              <a:ext cx="158" cy="409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38100">
              <a:noFill/>
            </a:ln>
          </p:spPr>
          <p:txBody>
            <a:bodyPr wrap="none" anchor="ctr" anchorCtr="0"/>
            <a:p>
              <a:pPr>
                <a:buClrTx/>
                <a:buFontTx/>
                <a:buNone/>
              </a:pPr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</p:grpSp>
      <p:grpSp>
        <p:nvGrpSpPr>
          <p:cNvPr id="186404" name="Group 36"/>
          <p:cNvGrpSpPr/>
          <p:nvPr/>
        </p:nvGrpSpPr>
        <p:grpSpPr>
          <a:xfrm>
            <a:off x="2987675" y="1268413"/>
            <a:ext cx="361950" cy="431800"/>
            <a:chOff x="4558" y="3839"/>
            <a:chExt cx="228" cy="272"/>
          </a:xfrm>
        </p:grpSpPr>
        <p:sp>
          <p:nvSpPr>
            <p:cNvPr id="35871" name="Line 21"/>
            <p:cNvSpPr/>
            <p:nvPr/>
          </p:nvSpPr>
          <p:spPr>
            <a:xfrm>
              <a:off x="4558" y="3974"/>
              <a:ext cx="227" cy="0"/>
            </a:xfrm>
            <a:prstGeom prst="line">
              <a:avLst/>
            </a:prstGeom>
            <a:ln w="63500" cap="sq" cmpd="sng">
              <a:solidFill>
                <a:srgbClr val="FF9900"/>
              </a:solidFill>
              <a:prstDash val="solid"/>
              <a:round/>
              <a:headEnd type="oval" w="med" len="med"/>
              <a:tailEnd type="none" w="med" len="med"/>
            </a:ln>
          </p:spPr>
        </p:sp>
        <p:sp>
          <p:nvSpPr>
            <p:cNvPr id="35872" name="Line 23"/>
            <p:cNvSpPr/>
            <p:nvPr/>
          </p:nvSpPr>
          <p:spPr>
            <a:xfrm>
              <a:off x="4786" y="3839"/>
              <a:ext cx="0" cy="272"/>
            </a:xfrm>
            <a:prstGeom prst="line">
              <a:avLst/>
            </a:prstGeom>
            <a:ln w="63500" cap="sq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35873" name="Group 69"/>
          <p:cNvGrpSpPr/>
          <p:nvPr/>
        </p:nvGrpSpPr>
        <p:grpSpPr>
          <a:xfrm>
            <a:off x="6588125" y="6445250"/>
            <a:ext cx="792163" cy="366713"/>
            <a:chOff x="5193" y="4020"/>
            <a:chExt cx="499" cy="231"/>
          </a:xfrm>
        </p:grpSpPr>
        <p:pic>
          <p:nvPicPr>
            <p:cNvPr id="35874" name="Picture 70" descr="78900">
              <a:hlinkClick r:id="" action="ppaction://hlinkshowjump?jump=firstslide"/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5875" name="Text Box 71">
              <a:hlinkClick r:id="" action="ppaction://hlinkshowjump?jump=firs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863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863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863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1863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186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2000"/>
                                        <p:tgtEl>
                                          <p:spTgt spid="186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863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863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863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863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86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500"/>
                            </p:stCondLst>
                            <p:childTnLst>
                              <p:par>
                                <p:cTn id="32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864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864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0" dur="500"/>
                                        <p:tgtEl>
                                          <p:spTgt spid="186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5" dur="2000"/>
                                        <p:tgtEl>
                                          <p:spTgt spid="186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0" dur="2000"/>
                                        <p:tgtEl>
                                          <p:spTgt spid="186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5" dur="2000"/>
                                        <p:tgtEl>
                                          <p:spTgt spid="186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0" dur="2000"/>
                                        <p:tgtEl>
                                          <p:spTgt spid="186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6372" grpId="0"/>
      <p:bldP spid="186373" grpId="0"/>
      <p:bldP spid="186388" grpId="0" animBg="1"/>
      <p:bldP spid="18639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87435" name="Group 43"/>
          <p:cNvGrpSpPr/>
          <p:nvPr/>
        </p:nvGrpSpPr>
        <p:grpSpPr>
          <a:xfrm>
            <a:off x="250825" y="1125538"/>
            <a:ext cx="2952750" cy="2801937"/>
            <a:chOff x="2336" y="1389"/>
            <a:chExt cx="1860" cy="1765"/>
          </a:xfrm>
        </p:grpSpPr>
        <p:sp>
          <p:nvSpPr>
            <p:cNvPr id="36866" name="Text Box 44"/>
            <p:cNvSpPr txBox="1"/>
            <p:nvPr/>
          </p:nvSpPr>
          <p:spPr>
            <a:xfrm>
              <a:off x="2336" y="1434"/>
              <a:ext cx="363" cy="404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36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a</a:t>
              </a:r>
              <a:endParaRPr lang="en-US" altLang="zh-CN" sz="3600" b="0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36867" name="Line 45"/>
            <p:cNvSpPr/>
            <p:nvPr/>
          </p:nvSpPr>
          <p:spPr>
            <a:xfrm>
              <a:off x="2562" y="1797"/>
              <a:ext cx="0" cy="1043"/>
            </a:xfrm>
            <a:prstGeom prst="line">
              <a:avLst/>
            </a:prstGeom>
            <a:ln w="28575" cap="sq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6868" name="Line 46"/>
            <p:cNvSpPr/>
            <p:nvPr/>
          </p:nvSpPr>
          <p:spPr>
            <a:xfrm>
              <a:off x="2562" y="1797"/>
              <a:ext cx="1475" cy="0"/>
            </a:xfrm>
            <a:prstGeom prst="line">
              <a:avLst/>
            </a:prstGeom>
            <a:ln w="28575" cap="sq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6869" name="Line 47"/>
            <p:cNvSpPr/>
            <p:nvPr/>
          </p:nvSpPr>
          <p:spPr>
            <a:xfrm flipH="1">
              <a:off x="4014" y="1797"/>
              <a:ext cx="0" cy="1043"/>
            </a:xfrm>
            <a:prstGeom prst="line">
              <a:avLst/>
            </a:prstGeom>
            <a:ln w="28575" cap="sq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6870" name="Line 48"/>
            <p:cNvSpPr/>
            <p:nvPr/>
          </p:nvSpPr>
          <p:spPr>
            <a:xfrm>
              <a:off x="2562" y="2840"/>
              <a:ext cx="1452" cy="0"/>
            </a:xfrm>
            <a:prstGeom prst="line">
              <a:avLst/>
            </a:prstGeom>
            <a:ln w="28575" cap="sq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6871" name="Rectangle 49"/>
            <p:cNvSpPr/>
            <p:nvPr/>
          </p:nvSpPr>
          <p:spPr>
            <a:xfrm>
              <a:off x="2404" y="2159"/>
              <a:ext cx="272" cy="40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/>
            <a:p>
              <a:pPr>
                <a:buClrTx/>
                <a:buFontTx/>
                <a:buNone/>
              </a:pPr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36872" name="Rectangle 50"/>
            <p:cNvSpPr/>
            <p:nvPr/>
          </p:nvSpPr>
          <p:spPr>
            <a:xfrm>
              <a:off x="2449" y="2205"/>
              <a:ext cx="227" cy="40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/>
            <a:p>
              <a:pPr>
                <a:buClrTx/>
                <a:buFontTx/>
                <a:buNone/>
              </a:pPr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36873" name="Rectangle 51"/>
            <p:cNvSpPr/>
            <p:nvPr/>
          </p:nvSpPr>
          <p:spPr>
            <a:xfrm>
              <a:off x="3923" y="2069"/>
              <a:ext cx="158" cy="409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38100">
              <a:noFill/>
            </a:ln>
          </p:spPr>
          <p:txBody>
            <a:bodyPr wrap="none" anchor="ctr" anchorCtr="0"/>
            <a:p>
              <a:pPr>
                <a:buClrTx/>
                <a:buFontTx/>
                <a:buNone/>
              </a:pPr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36874" name="Text Box 52"/>
            <p:cNvSpPr txBox="1"/>
            <p:nvPr/>
          </p:nvSpPr>
          <p:spPr>
            <a:xfrm>
              <a:off x="3833" y="2750"/>
              <a:ext cx="363" cy="404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buClrTx/>
                <a:buFontTx/>
                <a:buNone/>
              </a:pPr>
              <a:r>
                <a:rPr lang="en-US" altLang="zh-CN" sz="36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c</a:t>
              </a:r>
              <a:endParaRPr lang="en-US" altLang="zh-CN" sz="2400" b="0" dirty="0"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36875" name="Text Box 53"/>
            <p:cNvSpPr txBox="1"/>
            <p:nvPr/>
          </p:nvSpPr>
          <p:spPr>
            <a:xfrm>
              <a:off x="3833" y="1389"/>
              <a:ext cx="363" cy="404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buClrTx/>
                <a:buFontTx/>
                <a:buNone/>
              </a:pPr>
              <a:r>
                <a:rPr lang="en-US" altLang="zh-CN" sz="36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b</a:t>
              </a:r>
              <a:endParaRPr lang="en-US" altLang="zh-CN" sz="3600" b="0" dirty="0"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36876" name="Rectangle 54"/>
            <p:cNvSpPr/>
            <p:nvPr/>
          </p:nvSpPr>
          <p:spPr>
            <a:xfrm>
              <a:off x="3016" y="1706"/>
              <a:ext cx="408" cy="182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>
                <a:buClrTx/>
                <a:buFontTx/>
                <a:buNone/>
              </a:pPr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36877" name="Rectangle 55"/>
            <p:cNvSpPr/>
            <p:nvPr/>
          </p:nvSpPr>
          <p:spPr>
            <a:xfrm>
              <a:off x="2472" y="2069"/>
              <a:ext cx="158" cy="409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38100">
              <a:noFill/>
            </a:ln>
          </p:spPr>
          <p:txBody>
            <a:bodyPr wrap="none" anchor="ctr" anchorCtr="0"/>
            <a:p>
              <a:pPr>
                <a:buClrTx/>
                <a:buFontTx/>
                <a:buNone/>
              </a:pPr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</p:grpSp>
      <p:sp>
        <p:nvSpPr>
          <p:cNvPr id="36878" name="Line 7"/>
          <p:cNvSpPr/>
          <p:nvPr/>
        </p:nvSpPr>
        <p:spPr>
          <a:xfrm>
            <a:off x="539750" y="1341438"/>
            <a:ext cx="936625" cy="0"/>
          </a:xfrm>
          <a:prstGeom prst="line">
            <a:avLst/>
          </a:prstGeom>
          <a:ln w="38100">
            <a:noFill/>
          </a:ln>
        </p:spPr>
      </p:sp>
      <p:sp>
        <p:nvSpPr>
          <p:cNvPr id="187411" name="Text Box 19"/>
          <p:cNvSpPr txBox="1"/>
          <p:nvPr/>
        </p:nvSpPr>
        <p:spPr>
          <a:xfrm>
            <a:off x="395288" y="765175"/>
            <a:ext cx="865187" cy="579438"/>
          </a:xfrm>
          <a:prstGeom prst="rect">
            <a:avLst/>
          </a:prstGeom>
          <a:solidFill>
            <a:srgbClr val="990033"/>
          </a:solidFill>
          <a:ln w="38100">
            <a:noFill/>
          </a:ln>
        </p:spPr>
        <p:txBody>
          <a:bodyPr anchor="t" anchorCtr="0">
            <a:spAutoFit/>
          </a:bodyPr>
          <a:p>
            <a:pPr algn="ctr" eaLnBrk="0" hangingPunct="0">
              <a:spcBef>
                <a:spcPct val="50000"/>
              </a:spcBef>
              <a:buClrTx/>
              <a:buFontTx/>
              <a:buNone/>
            </a:pPr>
            <a:r>
              <a:rPr lang="zh-CN" altLang="en-US" sz="3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解</a:t>
            </a:r>
            <a:endParaRPr lang="zh-CN" altLang="en-US" sz="3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grpSp>
        <p:nvGrpSpPr>
          <p:cNvPr id="187423" name="Group 31"/>
          <p:cNvGrpSpPr/>
          <p:nvPr/>
        </p:nvGrpSpPr>
        <p:grpSpPr>
          <a:xfrm>
            <a:off x="2916238" y="3213100"/>
            <a:ext cx="431800" cy="431800"/>
            <a:chOff x="1837" y="2115"/>
            <a:chExt cx="272" cy="272"/>
          </a:xfrm>
        </p:grpSpPr>
        <p:sp>
          <p:nvSpPr>
            <p:cNvPr id="36881" name="Line 20"/>
            <p:cNvSpPr/>
            <p:nvPr/>
          </p:nvSpPr>
          <p:spPr>
            <a:xfrm>
              <a:off x="1837" y="2251"/>
              <a:ext cx="227" cy="0"/>
            </a:xfrm>
            <a:prstGeom prst="line">
              <a:avLst/>
            </a:prstGeom>
            <a:ln w="63500" cap="sq" cmpd="sng">
              <a:solidFill>
                <a:srgbClr val="FF9900"/>
              </a:solidFill>
              <a:prstDash val="solid"/>
              <a:round/>
              <a:headEnd type="oval" w="med" len="med"/>
              <a:tailEnd type="none" w="med" len="med"/>
            </a:ln>
          </p:spPr>
        </p:sp>
        <p:sp>
          <p:nvSpPr>
            <p:cNvPr id="36882" name="Line 21"/>
            <p:cNvSpPr/>
            <p:nvPr/>
          </p:nvSpPr>
          <p:spPr>
            <a:xfrm>
              <a:off x="2109" y="2115"/>
              <a:ext cx="0" cy="272"/>
            </a:xfrm>
            <a:prstGeom prst="line">
              <a:avLst/>
            </a:prstGeom>
            <a:ln w="63500" cap="sq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aphicFrame>
        <p:nvGraphicFramePr>
          <p:cNvPr id="187414" name="Object 22"/>
          <p:cNvGraphicFramePr>
            <a:graphicFrameLocks noChangeAspect="1"/>
          </p:cNvGraphicFramePr>
          <p:nvPr/>
        </p:nvGraphicFramePr>
        <p:xfrm>
          <a:off x="3963988" y="620713"/>
          <a:ext cx="3271837" cy="949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6" name="" r:id="rId1" imgW="1499235" imgH="422275" progId="Equation.3">
                  <p:embed/>
                </p:oleObj>
              </mc:Choice>
              <mc:Fallback>
                <p:oleObj name="" r:id="rId1" imgW="1499235" imgH="422275" progId="Equation.3">
                  <p:embed/>
                  <p:pic>
                    <p:nvPicPr>
                      <p:cNvPr id="0" name="图片 3085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8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963988" y="620713"/>
                        <a:ext cx="3271837" cy="9493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7415" name="Object 23"/>
          <p:cNvGraphicFramePr>
            <a:graphicFrameLocks noChangeAspect="1"/>
          </p:cNvGraphicFramePr>
          <p:nvPr/>
        </p:nvGraphicFramePr>
        <p:xfrm>
          <a:off x="2195513" y="765175"/>
          <a:ext cx="896937" cy="474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7" name="" r:id="rId3" imgW="399415" imgH="202565" progId="Equation.3">
                  <p:embed/>
                </p:oleObj>
              </mc:Choice>
              <mc:Fallback>
                <p:oleObj name="" r:id="rId3" imgW="399415" imgH="202565" progId="Equation.3">
                  <p:embed/>
                  <p:pic>
                    <p:nvPicPr>
                      <p:cNvPr id="0" name="图片 3086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8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195513" y="765175"/>
                        <a:ext cx="896937" cy="4746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7416" name="Object 24"/>
          <p:cNvGraphicFramePr>
            <a:graphicFrameLocks noChangeAspect="1"/>
          </p:cNvGraphicFramePr>
          <p:nvPr/>
        </p:nvGraphicFramePr>
        <p:xfrm>
          <a:off x="3960813" y="1628775"/>
          <a:ext cx="2771775" cy="947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8" name="" r:id="rId5" imgW="1267460" imgH="422275" progId="Equation.3">
                  <p:embed/>
                </p:oleObj>
              </mc:Choice>
              <mc:Fallback>
                <p:oleObj name="" r:id="rId5" imgW="1267460" imgH="422275" progId="Equation.3">
                  <p:embed/>
                  <p:pic>
                    <p:nvPicPr>
                      <p:cNvPr id="0" name="图片 3087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00008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960813" y="1628775"/>
                        <a:ext cx="2771775" cy="9477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7417" name="Object 25"/>
          <p:cNvGraphicFramePr>
            <a:graphicFrameLocks noChangeAspect="1"/>
          </p:cNvGraphicFramePr>
          <p:nvPr/>
        </p:nvGraphicFramePr>
        <p:xfrm>
          <a:off x="3973513" y="2708275"/>
          <a:ext cx="3668712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0" name="" r:id="rId7" imgW="1684020" imgH="202565" progId="Equation.3">
                  <p:embed/>
                </p:oleObj>
              </mc:Choice>
              <mc:Fallback>
                <p:oleObj name="" r:id="rId7" imgW="1684020" imgH="202565" progId="Equation.3">
                  <p:embed/>
                  <p:pic>
                    <p:nvPicPr>
                      <p:cNvPr id="0" name="图片 3089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00008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973513" y="2708275"/>
                        <a:ext cx="3668712" cy="4730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7418" name="Object 26"/>
          <p:cNvGraphicFramePr>
            <a:graphicFrameLocks noChangeAspect="1"/>
          </p:cNvGraphicFramePr>
          <p:nvPr/>
        </p:nvGraphicFramePr>
        <p:xfrm>
          <a:off x="3995738" y="3357563"/>
          <a:ext cx="3619500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9" name="" r:id="rId9" imgW="1661160" imgH="202565" progId="Equation.3">
                  <p:embed/>
                </p:oleObj>
              </mc:Choice>
              <mc:Fallback>
                <p:oleObj name="" r:id="rId9" imgW="1661160" imgH="202565" progId="Equation.3">
                  <p:embed/>
                  <p:pic>
                    <p:nvPicPr>
                      <p:cNvPr id="0" name="图片 3088"/>
                      <p:cNvPicPr/>
                      <p:nvPr/>
                    </p:nvPicPr>
                    <p:blipFill>
                      <a:blip r:embed="rId10">
                        <a:clrChange>
                          <a:clrFrom>
                            <a:srgbClr val="000000"/>
                          </a:clrFrom>
                          <a:clrTo>
                            <a:srgbClr val="00008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995738" y="3357563"/>
                        <a:ext cx="3619500" cy="4730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7419" name="Text Box 27"/>
          <p:cNvSpPr txBox="1"/>
          <p:nvPr/>
        </p:nvSpPr>
        <p:spPr>
          <a:xfrm>
            <a:off x="1403350" y="765175"/>
            <a:ext cx="719138" cy="457200"/>
          </a:xfrm>
          <a:prstGeom prst="rect">
            <a:avLst/>
          </a:prstGeom>
          <a:noFill/>
          <a:ln w="38100">
            <a:noFill/>
          </a:ln>
        </p:spPr>
        <p:txBody>
          <a:bodyPr anchor="t" anchorCtr="0">
            <a:spAutoFit/>
          </a:bodyPr>
          <a:p>
            <a:pPr algn="ctr" eaLnBrk="0" hangingPunct="0">
              <a:spcBef>
                <a:spcPct val="50000"/>
              </a:spcBef>
              <a:buClrTx/>
              <a:buFontTx/>
              <a:buNone/>
            </a:pP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(2)</a:t>
            </a:r>
            <a:endParaRPr lang="en-US" altLang="zh-CN" sz="2400" dirty="0">
              <a:solidFill>
                <a:schemeClr val="tx1"/>
              </a:solidFill>
              <a:latin typeface="Times New Roman" panose="02020603050405020304" pitchFamily="18" charset="0"/>
              <a:ea typeface="仿宋_GB2312" pitchFamily="49" charset="-122"/>
              <a:sym typeface="Symbol" panose="05050102010706020507" pitchFamily="18" charset="2"/>
            </a:endParaRPr>
          </a:p>
        </p:txBody>
      </p:sp>
      <p:sp>
        <p:nvSpPr>
          <p:cNvPr id="36889" name="Text Box 28"/>
          <p:cNvSpPr txBox="1"/>
          <p:nvPr/>
        </p:nvSpPr>
        <p:spPr>
          <a:xfrm>
            <a:off x="395288" y="5740400"/>
            <a:ext cx="8281987" cy="1117600"/>
          </a:xfrm>
          <a:prstGeom prst="rect">
            <a:avLst/>
          </a:prstGeom>
          <a:noFill/>
          <a:ln w="12700">
            <a:noFill/>
          </a:ln>
        </p:spPr>
        <p:txBody>
          <a:bodyPr anchor="ctr" anchorCtr="0">
            <a:spAutoFit/>
          </a:bodyPr>
          <a:p>
            <a:pPr marL="857250" indent="-857250" algn="just" eaLnBrk="0" fontAlgn="t" hangingPunct="0">
              <a:lnSpc>
                <a:spcPct val="120000"/>
              </a:lnSpc>
              <a:buClrTx/>
              <a:buFontTx/>
              <a:buNone/>
            </a:pPr>
            <a:endParaRPr lang="en-US" altLang="zh-CN" dirty="0">
              <a:latin typeface="Arial" panose="020B0604020202020204" pitchFamily="34" charset="0"/>
              <a:ea typeface="楷体_GB2312" pitchFamily="49" charset="-122"/>
            </a:endParaRPr>
          </a:p>
          <a:p>
            <a:pPr marL="857250" indent="-857250" algn="just" eaLnBrk="0" fontAlgn="t" hangingPunct="0">
              <a:lnSpc>
                <a:spcPct val="120000"/>
              </a:lnSpc>
              <a:buClrTx/>
              <a:buFontTx/>
              <a:buNone/>
            </a:pPr>
            <a:endParaRPr lang="en-US" altLang="zh-CN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pSp>
        <p:nvGrpSpPr>
          <p:cNvPr id="36890" name="Group 34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36891" name="Picture 35" descr="78900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6892" name="Text Box 36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36893" name="Group 37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36894" name="Picture 38" descr="78900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6895" name="Text Box 39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187448" name="Group 56"/>
          <p:cNvGrpSpPr/>
          <p:nvPr/>
        </p:nvGrpSpPr>
        <p:grpSpPr>
          <a:xfrm>
            <a:off x="323850" y="3860800"/>
            <a:ext cx="1644650" cy="850900"/>
            <a:chOff x="385" y="3022"/>
            <a:chExt cx="1036" cy="536"/>
          </a:xfrm>
        </p:grpSpPr>
        <p:pic>
          <p:nvPicPr>
            <p:cNvPr id="36897" name="Picture 57" descr="123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385" y="3022"/>
              <a:ext cx="590" cy="536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6898" name="Text Box 58"/>
            <p:cNvSpPr txBox="1"/>
            <p:nvPr/>
          </p:nvSpPr>
          <p:spPr>
            <a:xfrm>
              <a:off x="793" y="3125"/>
              <a:ext cx="628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ClrTx/>
                <a:buFontTx/>
                <a:buNone/>
              </a:pPr>
              <a:r>
                <a:rPr lang="zh-CN" altLang="en-US" sz="3200" b="0" dirty="0">
                  <a:solidFill>
                    <a:srgbClr val="CC6600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结论</a:t>
              </a:r>
              <a:endParaRPr lang="zh-CN" altLang="en-US" sz="3200" b="0" dirty="0">
                <a:solidFill>
                  <a:srgbClr val="CC6600"/>
                </a:solidFill>
                <a:latin typeface="Arial" panose="020B0604020202020204" pitchFamily="34" charset="0"/>
                <a:ea typeface="华文行楷" panose="02010800040101010101" pitchFamily="2" charset="-122"/>
              </a:endParaRPr>
            </a:p>
          </p:txBody>
        </p:sp>
      </p:grpSp>
      <p:sp>
        <p:nvSpPr>
          <p:cNvPr id="187451" name="Rectangle 59" descr="斜纹布"/>
          <p:cNvSpPr/>
          <p:nvPr/>
        </p:nvSpPr>
        <p:spPr>
          <a:xfrm>
            <a:off x="1042988" y="3949700"/>
            <a:ext cx="7777162" cy="2143125"/>
          </a:xfrm>
          <a:prstGeom prst="rect">
            <a:avLst/>
          </a:prstGeom>
          <a:noFill/>
          <a:ln w="28575">
            <a:noFill/>
          </a:ln>
          <a:effectLst>
            <a:prstShdw prst="shdw17" dist="17961" dir="2699999">
              <a:schemeClr val="bg2"/>
            </a:prstShdw>
          </a:effectLst>
        </p:spPr>
        <p:txBody>
          <a:bodyPr anchor="t" anchorCtr="0">
            <a:spAutoFit/>
          </a:bodyPr>
          <a:p>
            <a:pPr>
              <a:lnSpc>
                <a:spcPct val="120000"/>
              </a:lnSpc>
              <a:buClrTx/>
              <a:buFontTx/>
              <a:buNone/>
            </a:pPr>
            <a:r>
              <a:rPr lang="en-US" altLang="zh-CN" dirty="0">
                <a:latin typeface="Arial" panose="020B0604020202020204" pitchFamily="34" charset="0"/>
                <a:ea typeface="楷体_GB2312" pitchFamily="49" charset="-122"/>
              </a:rPr>
              <a:t>             </a:t>
            </a:r>
            <a:r>
              <a:rPr lang="zh-CN" altLang="en-US" dirty="0">
                <a:latin typeface="Arial" panose="020B0604020202020204" pitchFamily="34" charset="0"/>
                <a:ea typeface="楷体_GB2312" pitchFamily="49" charset="-122"/>
              </a:rPr>
              <a:t>电路中电位参考点可任意选择；参考点一经选定，电路中各点的电位值就唯一确定；当选择不同的电位参考点时，电路中各点电位值将改变，但任意两点间电压保持不变。</a:t>
            </a:r>
            <a:endParaRPr lang="zh-CN" altLang="en-US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grpSp>
        <p:nvGrpSpPr>
          <p:cNvPr id="36900" name="Group 66"/>
          <p:cNvGrpSpPr/>
          <p:nvPr/>
        </p:nvGrpSpPr>
        <p:grpSpPr>
          <a:xfrm>
            <a:off x="6588125" y="6445250"/>
            <a:ext cx="792163" cy="366713"/>
            <a:chOff x="5193" y="4020"/>
            <a:chExt cx="499" cy="231"/>
          </a:xfrm>
        </p:grpSpPr>
        <p:pic>
          <p:nvPicPr>
            <p:cNvPr id="36901" name="Picture 67" descr="78900">
              <a:hlinkClick r:id="" action="ppaction://hlinkshowjump?jump=firstslide"/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6902" name="Text Box 68">
              <a:hlinkClick r:id="" action="ppaction://hlinkshowjump?jump=firs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874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874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874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1874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187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187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874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874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87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2" dur="2000"/>
                                        <p:tgtEl>
                                          <p:spTgt spid="187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7" dur="2000"/>
                                        <p:tgtEl>
                                          <p:spTgt spid="187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2" dur="2000"/>
                                        <p:tgtEl>
                                          <p:spTgt spid="187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7" dur="2000"/>
                                        <p:tgtEl>
                                          <p:spTgt spid="187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87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187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7411" grpId="0" animBg="1"/>
      <p:bldP spid="187419" grpId="0"/>
      <p:bldP spid="18745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8421" name="Text Box 5"/>
          <p:cNvSpPr txBox="1"/>
          <p:nvPr/>
        </p:nvSpPr>
        <p:spPr>
          <a:xfrm>
            <a:off x="1835150" y="549275"/>
            <a:ext cx="6911975" cy="1630363"/>
          </a:xfrm>
          <a:prstGeom prst="rect">
            <a:avLst/>
          </a:prstGeom>
          <a:noFill/>
          <a:ln w="12700">
            <a:noFill/>
          </a:ln>
        </p:spPr>
        <p:txBody>
          <a:bodyPr anchor="t" anchorCtr="0">
            <a:spAutoFit/>
          </a:bodyPr>
          <a:p>
            <a:pPr eaLnBrk="0" hangingPunct="0">
              <a:lnSpc>
                <a:spcPct val="120000"/>
              </a:lnSpc>
              <a:spcBef>
                <a:spcPct val="50000"/>
              </a:spcBef>
              <a:buClrTx/>
              <a:buFontTx/>
              <a:buNone/>
            </a:pPr>
            <a:r>
              <a:rPr lang="zh-CN" altLang="en-US" dirty="0">
                <a:latin typeface="Times New Roman" panose="02020603050405020304" pitchFamily="18" charset="0"/>
                <a:ea typeface="楷体_GB2312" pitchFamily="49" charset="-122"/>
              </a:rPr>
              <a:t>复杂电路或交变电路中，两点间电压的实际方向往往不易判别，给实际电路问题的分析计算带来困难。</a:t>
            </a:r>
            <a:endParaRPr lang="zh-CN" altLang="en-US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88422" name="Text Box 6"/>
          <p:cNvSpPr txBox="1"/>
          <p:nvPr/>
        </p:nvSpPr>
        <p:spPr>
          <a:xfrm>
            <a:off x="411163" y="2349500"/>
            <a:ext cx="3873500" cy="547688"/>
          </a:xfrm>
          <a:prstGeom prst="rect">
            <a:avLst/>
          </a:prstGeom>
          <a:noFill/>
          <a:ln w="28575" cap="sq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>
            <a:spAutoFit/>
          </a:bodyPr>
          <a:p>
            <a:pPr algn="ctr" eaLnBrk="0" hangingPunct="0">
              <a:buClr>
                <a:schemeClr val="tx1"/>
              </a:buClr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FF990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dirty="0">
                <a:solidFill>
                  <a:srgbClr val="FF9900"/>
                </a:solidFill>
                <a:latin typeface="楷体_GB2312" pitchFamily="49" charset="-122"/>
                <a:ea typeface="楷体_GB2312" pitchFamily="49" charset="-122"/>
              </a:rPr>
              <a:t>电压</a:t>
            </a:r>
            <a:r>
              <a:rPr lang="en-US" altLang="zh-CN" dirty="0">
                <a:solidFill>
                  <a:srgbClr val="FF9900"/>
                </a:solidFill>
                <a:latin typeface="楷体_GB2312" pitchFamily="49" charset="-122"/>
                <a:ea typeface="楷体_GB2312" pitchFamily="49" charset="-122"/>
              </a:rPr>
              <a:t>(</a:t>
            </a:r>
            <a:r>
              <a:rPr lang="zh-CN" altLang="en-US" dirty="0">
                <a:solidFill>
                  <a:srgbClr val="FF9900"/>
                </a:solidFill>
                <a:latin typeface="楷体_GB2312" pitchFamily="49" charset="-122"/>
                <a:ea typeface="楷体_GB2312" pitchFamily="49" charset="-122"/>
              </a:rPr>
              <a:t>降</a:t>
            </a:r>
            <a:r>
              <a:rPr lang="en-US" altLang="zh-CN" dirty="0">
                <a:solidFill>
                  <a:srgbClr val="FF9900"/>
                </a:solidFill>
                <a:latin typeface="楷体_GB2312" pitchFamily="49" charset="-122"/>
                <a:ea typeface="楷体_GB2312" pitchFamily="49" charset="-122"/>
              </a:rPr>
              <a:t>)</a:t>
            </a:r>
            <a:r>
              <a:rPr lang="zh-CN" altLang="en-US" dirty="0">
                <a:solidFill>
                  <a:srgbClr val="FF9900"/>
                </a:solidFill>
                <a:latin typeface="楷体_GB2312" pitchFamily="49" charset="-122"/>
                <a:ea typeface="楷体_GB2312" pitchFamily="49" charset="-122"/>
              </a:rPr>
              <a:t>的参考方向</a:t>
            </a:r>
            <a:endParaRPr lang="zh-CN" altLang="en-US" dirty="0">
              <a:solidFill>
                <a:srgbClr val="FF99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188470" name="Group 54"/>
          <p:cNvGrpSpPr/>
          <p:nvPr/>
        </p:nvGrpSpPr>
        <p:grpSpPr>
          <a:xfrm>
            <a:off x="1906588" y="5513388"/>
            <a:ext cx="1152525" cy="579437"/>
            <a:chOff x="1111" y="3203"/>
            <a:chExt cx="726" cy="365"/>
          </a:xfrm>
        </p:grpSpPr>
        <p:sp>
          <p:nvSpPr>
            <p:cNvPr id="37892" name="Text Box 15" descr="羊皮纸"/>
            <p:cNvSpPr txBox="1"/>
            <p:nvPr/>
          </p:nvSpPr>
          <p:spPr>
            <a:xfrm>
              <a:off x="1111" y="3203"/>
              <a:ext cx="301" cy="365"/>
            </a:xfrm>
            <a:prstGeom prst="rect">
              <a:avLst/>
            </a:prstGeom>
            <a:blipFill rotWithShape="1">
              <a:blip r:embed="rId1"/>
            </a:blipFill>
            <a:ln w="12700">
              <a:noFill/>
            </a:ln>
          </p:spPr>
          <p:txBody>
            <a:bodyPr wrap="none" anchor="ctr" anchorCtr="0">
              <a:spAutoFit/>
            </a:bodyPr>
            <a:p>
              <a:pPr algn="ctr" eaLnBrk="0" hangingPunct="0">
                <a:buClrTx/>
                <a:buFontTx/>
                <a:buNone/>
              </a:pPr>
              <a:r>
                <a:rPr lang="en-US" altLang="zh-CN" sz="32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endParaRPr lang="en-US" altLang="zh-CN" sz="32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7893" name="Text Box 19" descr="羊皮纸"/>
            <p:cNvSpPr txBox="1"/>
            <p:nvPr/>
          </p:nvSpPr>
          <p:spPr>
            <a:xfrm>
              <a:off x="1383" y="3203"/>
              <a:ext cx="454" cy="365"/>
            </a:xfrm>
            <a:prstGeom prst="rect">
              <a:avLst/>
            </a:prstGeom>
            <a:blipFill rotWithShape="1">
              <a:blip r:embed="rId1"/>
            </a:blipFill>
            <a:ln w="12700">
              <a:noFill/>
            </a:ln>
          </p:spPr>
          <p:txBody>
            <a:bodyPr wrap="none" anchor="ctr" anchorCtr="0">
              <a:spAutoFit/>
            </a:bodyPr>
            <a:p>
              <a:pPr algn="ctr" eaLnBrk="0" hangingPunct="0">
                <a:buClrTx/>
                <a:buFontTx/>
                <a:buNone/>
              </a:pPr>
              <a:r>
                <a:rPr lang="en-US" altLang="zh-CN" sz="32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&gt; 0</a:t>
              </a:r>
              <a:endParaRPr lang="en-US" altLang="zh-CN" sz="32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88499" name="Group 83"/>
          <p:cNvGrpSpPr/>
          <p:nvPr/>
        </p:nvGrpSpPr>
        <p:grpSpPr>
          <a:xfrm>
            <a:off x="395288" y="3208338"/>
            <a:ext cx="3960812" cy="1138237"/>
            <a:chOff x="249" y="1933"/>
            <a:chExt cx="2495" cy="717"/>
          </a:xfrm>
        </p:grpSpPr>
        <p:sp>
          <p:nvSpPr>
            <p:cNvPr id="37895" name="Text Box 21"/>
            <p:cNvSpPr txBox="1"/>
            <p:nvPr/>
          </p:nvSpPr>
          <p:spPr>
            <a:xfrm>
              <a:off x="981" y="1933"/>
              <a:ext cx="1126" cy="596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p>
              <a:pPr algn="ctr" eaLnBrk="0" hangingPunct="0">
                <a:buClrTx/>
                <a:buFontTx/>
                <a:buNone/>
              </a:pPr>
              <a:r>
                <a:rPr lang="zh-CN" altLang="en-US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参考方向</a:t>
              </a:r>
              <a:endPara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  <a:p>
              <a:pPr algn="ctr" eaLnBrk="0" hangingPunct="0">
                <a:buClrTx/>
                <a:buFontTx/>
                <a:buNone/>
              </a:pPr>
              <a:r>
                <a:rPr lang="en-US" altLang="zh-CN" i="1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U</a:t>
              </a:r>
              <a:endParaRPr lang="en-US" altLang="zh-CN" i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37896" name="Text Box 22"/>
            <p:cNvSpPr txBox="1"/>
            <p:nvPr/>
          </p:nvSpPr>
          <p:spPr>
            <a:xfrm>
              <a:off x="249" y="2285"/>
              <a:ext cx="532" cy="365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ctr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3200" dirty="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7897" name="Text Box 23"/>
            <p:cNvSpPr txBox="1"/>
            <p:nvPr/>
          </p:nvSpPr>
          <p:spPr>
            <a:xfrm>
              <a:off x="2212" y="2266"/>
              <a:ext cx="532" cy="365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ctr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3200" dirty="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–</a:t>
              </a:r>
              <a:endPara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88448" name="Group 32"/>
          <p:cNvGrpSpPr/>
          <p:nvPr/>
        </p:nvGrpSpPr>
        <p:grpSpPr>
          <a:xfrm>
            <a:off x="4787900" y="3208338"/>
            <a:ext cx="3833813" cy="1138237"/>
            <a:chOff x="3153" y="1731"/>
            <a:chExt cx="2415" cy="717"/>
          </a:xfrm>
        </p:grpSpPr>
        <p:sp>
          <p:nvSpPr>
            <p:cNvPr id="37899" name="Text Box 33"/>
            <p:cNvSpPr txBox="1"/>
            <p:nvPr/>
          </p:nvSpPr>
          <p:spPr>
            <a:xfrm>
              <a:off x="3816" y="1731"/>
              <a:ext cx="1012" cy="596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0" hangingPunct="0">
                <a:buClrTx/>
                <a:buFontTx/>
                <a:buNone/>
              </a:pPr>
              <a:r>
                <a:rPr lang="zh-CN" altLang="en-US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参考方向</a:t>
              </a:r>
              <a:endPara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  <a:p>
              <a:pPr algn="ctr" eaLnBrk="0" hangingPunct="0">
                <a:buClrTx/>
                <a:buFontTx/>
                <a:buNone/>
              </a:pPr>
              <a:r>
                <a:rPr lang="en-US" altLang="zh-CN" i="1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U</a:t>
              </a:r>
              <a:endParaRPr lang="en-US" altLang="zh-CN" i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37900" name="Text Box 34"/>
            <p:cNvSpPr txBox="1"/>
            <p:nvPr/>
          </p:nvSpPr>
          <p:spPr>
            <a:xfrm>
              <a:off x="3153" y="2083"/>
              <a:ext cx="480" cy="365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ctr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3200" dirty="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7901" name="Text Box 35"/>
            <p:cNvSpPr txBox="1"/>
            <p:nvPr/>
          </p:nvSpPr>
          <p:spPr>
            <a:xfrm>
              <a:off x="5088" y="2064"/>
              <a:ext cx="480" cy="365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ctr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3200" dirty="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–</a:t>
              </a:r>
              <a:endPara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88471" name="Group 55"/>
          <p:cNvGrpSpPr/>
          <p:nvPr/>
        </p:nvGrpSpPr>
        <p:grpSpPr>
          <a:xfrm>
            <a:off x="6307138" y="5440363"/>
            <a:ext cx="1144587" cy="579437"/>
            <a:chOff x="3811" y="3113"/>
            <a:chExt cx="721" cy="365"/>
          </a:xfrm>
        </p:grpSpPr>
        <p:sp>
          <p:nvSpPr>
            <p:cNvPr id="37903" name="Text Box 16" descr="羊皮纸"/>
            <p:cNvSpPr txBox="1"/>
            <p:nvPr/>
          </p:nvSpPr>
          <p:spPr>
            <a:xfrm>
              <a:off x="4014" y="3113"/>
              <a:ext cx="518" cy="365"/>
            </a:xfrm>
            <a:prstGeom prst="rect">
              <a:avLst/>
            </a:prstGeom>
            <a:blipFill rotWithShape="1">
              <a:blip r:embed="rId1"/>
            </a:blipFill>
            <a:ln w="12700">
              <a:noFill/>
            </a:ln>
          </p:spPr>
          <p:txBody>
            <a:bodyPr wrap="none" anchor="ctr" anchorCtr="0">
              <a:spAutoFit/>
            </a:bodyPr>
            <a:p>
              <a:pPr algn="ctr" eaLnBrk="0" hangingPunct="0">
                <a:buClrTx/>
                <a:buFontTx/>
                <a:buNone/>
              </a:pPr>
              <a:r>
                <a:rPr lang="en-US" altLang="zh-CN" sz="32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&lt; 0</a:t>
              </a:r>
              <a:endParaRPr lang="en-US" altLang="zh-CN" sz="32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7904" name="Text Box 36" descr="羊皮纸"/>
            <p:cNvSpPr txBox="1"/>
            <p:nvPr/>
          </p:nvSpPr>
          <p:spPr>
            <a:xfrm>
              <a:off x="3811" y="3113"/>
              <a:ext cx="301" cy="365"/>
            </a:xfrm>
            <a:prstGeom prst="rect">
              <a:avLst/>
            </a:prstGeom>
            <a:blipFill rotWithShape="1">
              <a:blip r:embed="rId1"/>
            </a:blipFill>
            <a:ln w="12700">
              <a:noFill/>
            </a:ln>
          </p:spPr>
          <p:txBody>
            <a:bodyPr wrap="none" anchor="ctr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32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endParaRPr lang="en-US" altLang="zh-CN" sz="3200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188467" name="AutoShape 51"/>
          <p:cNvSpPr/>
          <p:nvPr/>
        </p:nvSpPr>
        <p:spPr>
          <a:xfrm>
            <a:off x="4427538" y="2565400"/>
            <a:ext cx="647700" cy="71438"/>
          </a:xfrm>
          <a:prstGeom prst="rightArrow">
            <a:avLst>
              <a:gd name="adj1" fmla="val 50000"/>
              <a:gd name="adj2" fmla="val 226623"/>
            </a:avLst>
          </a:prstGeom>
          <a:solidFill>
            <a:schemeClr val="hlink"/>
          </a:solidFill>
          <a:ln w="38100" cap="sq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>
              <a:buClrTx/>
              <a:buFontTx/>
              <a:buNone/>
            </a:pPr>
            <a:endParaRPr lang="zh-CN" altLang="en-US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188469" name="Text Box 53"/>
          <p:cNvSpPr txBox="1"/>
          <p:nvPr/>
        </p:nvSpPr>
        <p:spPr>
          <a:xfrm>
            <a:off x="5148263" y="2276475"/>
            <a:ext cx="3527425" cy="946150"/>
          </a:xfrm>
          <a:prstGeom prst="rect">
            <a:avLst/>
          </a:prstGeom>
          <a:noFill/>
          <a:ln w="38100">
            <a:noFill/>
          </a:ln>
        </p:spPr>
        <p:txBody>
          <a:bodyPr anchor="t" anchorCtr="0">
            <a:spAutoFit/>
          </a:bodyPr>
          <a:p>
            <a:pPr eaLnBrk="0" hangingPunct="0">
              <a:spcBef>
                <a:spcPct val="50000"/>
              </a:spcBef>
              <a:buClrTx/>
              <a:buFontTx/>
              <a:buNone/>
            </a:pPr>
            <a:r>
              <a:rPr lang="zh-CN" altLang="en-US" dirty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假设高电位指向低电位的方向。</a:t>
            </a:r>
            <a:endParaRPr lang="zh-CN" altLang="en-US" dirty="0">
              <a:latin typeface="Times New Roman" panose="02020603050405020304" pitchFamily="18" charset="0"/>
              <a:ea typeface="楷体_GB2312" pitchFamily="49" charset="-122"/>
              <a:sym typeface="Symbol" panose="05050102010706020507" pitchFamily="18" charset="2"/>
            </a:endParaRPr>
          </a:p>
        </p:txBody>
      </p:sp>
      <p:grpSp>
        <p:nvGrpSpPr>
          <p:cNvPr id="37907" name="Group 57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37908" name="Picture 58" descr="7890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7909" name="Text Box 59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37910" name="Group 60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37911" name="Picture 61" descr="7890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7912" name="Text Box 62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188482" name="Group 66"/>
          <p:cNvGrpSpPr/>
          <p:nvPr/>
        </p:nvGrpSpPr>
        <p:grpSpPr>
          <a:xfrm>
            <a:off x="179388" y="417513"/>
            <a:ext cx="1644650" cy="850900"/>
            <a:chOff x="385" y="3022"/>
            <a:chExt cx="1036" cy="536"/>
          </a:xfrm>
        </p:grpSpPr>
        <p:pic>
          <p:nvPicPr>
            <p:cNvPr id="37914" name="Picture 67" descr="12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85" y="3022"/>
              <a:ext cx="590" cy="536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7915" name="Text Box 68"/>
            <p:cNvSpPr txBox="1"/>
            <p:nvPr/>
          </p:nvSpPr>
          <p:spPr>
            <a:xfrm>
              <a:off x="793" y="3125"/>
              <a:ext cx="628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ClrTx/>
                <a:buFontTx/>
                <a:buNone/>
              </a:pPr>
              <a:r>
                <a:rPr lang="zh-CN" altLang="en-US" sz="3200" b="0" dirty="0">
                  <a:solidFill>
                    <a:srgbClr val="CC6600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问题</a:t>
              </a:r>
              <a:endParaRPr lang="zh-CN" altLang="en-US" sz="3200" b="0" dirty="0">
                <a:solidFill>
                  <a:srgbClr val="CC6600"/>
                </a:solidFill>
                <a:latin typeface="Arial" panose="020B0604020202020204" pitchFamily="34" charset="0"/>
                <a:ea typeface="华文行楷" panose="02010800040101010101" pitchFamily="2" charset="-122"/>
              </a:endParaRPr>
            </a:p>
          </p:txBody>
        </p:sp>
      </p:grpSp>
      <p:grpSp>
        <p:nvGrpSpPr>
          <p:cNvPr id="188485" name="Group 69"/>
          <p:cNvGrpSpPr/>
          <p:nvPr/>
        </p:nvGrpSpPr>
        <p:grpSpPr>
          <a:xfrm>
            <a:off x="684213" y="4216400"/>
            <a:ext cx="3384550" cy="288925"/>
            <a:chOff x="2699" y="890"/>
            <a:chExt cx="2086" cy="182"/>
          </a:xfrm>
        </p:grpSpPr>
        <p:sp>
          <p:nvSpPr>
            <p:cNvPr id="37917" name="Line 70"/>
            <p:cNvSpPr/>
            <p:nvPr/>
          </p:nvSpPr>
          <p:spPr>
            <a:xfrm flipH="1">
              <a:off x="2699" y="981"/>
              <a:ext cx="2086" cy="0"/>
            </a:xfrm>
            <a:prstGeom prst="line">
              <a:avLst/>
            </a:prstGeom>
            <a:ln w="38100" cap="sq" cmpd="sng">
              <a:solidFill>
                <a:srgbClr val="FFCC00"/>
              </a:solidFill>
              <a:prstDash val="solid"/>
              <a:round/>
              <a:headEnd type="oval" w="med" len="med"/>
              <a:tailEnd type="oval" w="med" len="med"/>
            </a:ln>
          </p:spPr>
        </p:sp>
        <p:sp>
          <p:nvSpPr>
            <p:cNvPr id="37918" name="Rectangle 71"/>
            <p:cNvSpPr/>
            <p:nvPr/>
          </p:nvSpPr>
          <p:spPr>
            <a:xfrm>
              <a:off x="3515" y="890"/>
              <a:ext cx="408" cy="182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>
                <a:buClrTx/>
                <a:buFontTx/>
                <a:buNone/>
              </a:pPr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</p:grpSp>
      <p:grpSp>
        <p:nvGrpSpPr>
          <p:cNvPr id="188488" name="Group 72"/>
          <p:cNvGrpSpPr/>
          <p:nvPr/>
        </p:nvGrpSpPr>
        <p:grpSpPr>
          <a:xfrm>
            <a:off x="5076825" y="4216400"/>
            <a:ext cx="3311525" cy="288925"/>
            <a:chOff x="2699" y="890"/>
            <a:chExt cx="2086" cy="182"/>
          </a:xfrm>
        </p:grpSpPr>
        <p:sp>
          <p:nvSpPr>
            <p:cNvPr id="37920" name="Line 73"/>
            <p:cNvSpPr/>
            <p:nvPr/>
          </p:nvSpPr>
          <p:spPr>
            <a:xfrm flipH="1">
              <a:off x="2699" y="981"/>
              <a:ext cx="2086" cy="0"/>
            </a:xfrm>
            <a:prstGeom prst="line">
              <a:avLst/>
            </a:prstGeom>
            <a:ln w="38100" cap="sq" cmpd="sng">
              <a:solidFill>
                <a:srgbClr val="FFCC00"/>
              </a:solidFill>
              <a:prstDash val="solid"/>
              <a:round/>
              <a:headEnd type="oval" w="med" len="med"/>
              <a:tailEnd type="oval" w="med" len="med"/>
            </a:ln>
          </p:spPr>
        </p:sp>
        <p:sp>
          <p:nvSpPr>
            <p:cNvPr id="37921" name="Rectangle 74"/>
            <p:cNvSpPr/>
            <p:nvPr/>
          </p:nvSpPr>
          <p:spPr>
            <a:xfrm>
              <a:off x="3515" y="890"/>
              <a:ext cx="408" cy="182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>
                <a:buClrTx/>
                <a:buFontTx/>
                <a:buNone/>
              </a:pPr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</p:grpSp>
      <p:grpSp>
        <p:nvGrpSpPr>
          <p:cNvPr id="188496" name="Group 80"/>
          <p:cNvGrpSpPr/>
          <p:nvPr/>
        </p:nvGrpSpPr>
        <p:grpSpPr>
          <a:xfrm>
            <a:off x="250825" y="4432300"/>
            <a:ext cx="4232275" cy="792163"/>
            <a:chOff x="158" y="2704"/>
            <a:chExt cx="2666" cy="499"/>
          </a:xfrm>
        </p:grpSpPr>
        <p:sp>
          <p:nvSpPr>
            <p:cNvPr id="37923" name="Text Box 25"/>
            <p:cNvSpPr txBox="1"/>
            <p:nvPr/>
          </p:nvSpPr>
          <p:spPr>
            <a:xfrm>
              <a:off x="158" y="2723"/>
              <a:ext cx="670" cy="480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ctr" anchorCtr="0">
              <a:spAutoFit/>
            </a:bodyPr>
            <a:p>
              <a:pPr algn="ctr" eaLnBrk="0" hangingPunct="0">
                <a:buClrTx/>
                <a:buFontTx/>
                <a:buNone/>
              </a:pPr>
              <a:r>
                <a:rPr lang="en-US" altLang="zh-CN" sz="4400" dirty="0">
                  <a:latin typeface="Times New Roman" panose="02020603050405020304" pitchFamily="18" charset="0"/>
                  <a:ea typeface="宋体" panose="02010600030101010101" pitchFamily="2" charset="-122"/>
                  <a:sym typeface="CommonBullets" pitchFamily="34" charset="2"/>
                </a:rPr>
                <a:t>+</a:t>
              </a:r>
              <a:endParaRPr lang="en-US" altLang="zh-CN" sz="32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7924" name="Text Box 27"/>
            <p:cNvSpPr txBox="1"/>
            <p:nvPr/>
          </p:nvSpPr>
          <p:spPr>
            <a:xfrm>
              <a:off x="975" y="2783"/>
              <a:ext cx="1086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ctr" anchorCtr="0">
              <a:spAutoFit/>
            </a:bodyPr>
            <a:p>
              <a:pPr algn="ctr" eaLnBrk="0" hangingPunct="0">
                <a:buClrTx/>
                <a:buFontTx/>
                <a:buNone/>
              </a:pPr>
              <a:r>
                <a:rPr lang="zh-CN" altLang="en-US" dirty="0">
                  <a:solidFill>
                    <a:srgbClr val="FF3399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实际方向</a:t>
              </a:r>
              <a:endParaRPr lang="zh-CN" altLang="en-US" dirty="0">
                <a:solidFill>
                  <a:srgbClr val="FF3399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37925" name="Text Box 78"/>
            <p:cNvSpPr txBox="1"/>
            <p:nvPr/>
          </p:nvSpPr>
          <p:spPr>
            <a:xfrm>
              <a:off x="2154" y="2704"/>
              <a:ext cx="670" cy="480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ctr" anchorCtr="0">
              <a:spAutoFit/>
            </a:bodyPr>
            <a:p>
              <a:pPr algn="ctr" eaLnBrk="0" hangingPunct="0">
                <a:buClrTx/>
                <a:buFontTx/>
                <a:buNone/>
              </a:pPr>
              <a:r>
                <a:rPr lang="en-US" altLang="zh-CN" sz="4400" dirty="0">
                  <a:latin typeface="Times New Roman" panose="02020603050405020304" pitchFamily="18" charset="0"/>
                  <a:ea typeface="楷体_GB2312" pitchFamily="49" charset="-122"/>
                </a:rPr>
                <a:t>–</a:t>
              </a:r>
              <a:endParaRPr lang="en-US" altLang="zh-CN" sz="4400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grpSp>
        <p:nvGrpSpPr>
          <p:cNvPr id="188497" name="Group 81"/>
          <p:cNvGrpSpPr/>
          <p:nvPr/>
        </p:nvGrpSpPr>
        <p:grpSpPr>
          <a:xfrm>
            <a:off x="4643438" y="4432300"/>
            <a:ext cx="4249737" cy="792163"/>
            <a:chOff x="2925" y="2704"/>
            <a:chExt cx="2677" cy="499"/>
          </a:xfrm>
        </p:grpSpPr>
        <p:sp>
          <p:nvSpPr>
            <p:cNvPr id="37927" name="Text Box 29"/>
            <p:cNvSpPr txBox="1"/>
            <p:nvPr/>
          </p:nvSpPr>
          <p:spPr>
            <a:xfrm>
              <a:off x="4969" y="2723"/>
              <a:ext cx="633" cy="480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ctr" anchorCtr="0">
              <a:spAutoFit/>
            </a:bodyPr>
            <a:p>
              <a:pPr algn="ctr" eaLnBrk="0" hangingPunct="0">
                <a:buClrTx/>
                <a:buFontTx/>
                <a:buNone/>
              </a:pPr>
              <a:r>
                <a:rPr lang="en-US" altLang="zh-CN" sz="4400" dirty="0">
                  <a:latin typeface="Times New Roman" panose="02020603050405020304" pitchFamily="18" charset="0"/>
                  <a:ea typeface="宋体" panose="02010600030101010101" pitchFamily="2" charset="-122"/>
                  <a:sym typeface="CommonBullets" pitchFamily="34" charset="2"/>
                </a:rPr>
                <a:t>+</a:t>
              </a:r>
              <a:endParaRPr lang="en-US" altLang="zh-CN" sz="32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7928" name="Text Box 31"/>
            <p:cNvSpPr txBox="1"/>
            <p:nvPr/>
          </p:nvSpPr>
          <p:spPr>
            <a:xfrm>
              <a:off x="3810" y="2783"/>
              <a:ext cx="1012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anchor="ctr" anchorCtr="0">
              <a:spAutoFit/>
            </a:bodyPr>
            <a:p>
              <a:pPr algn="ctr" eaLnBrk="0" hangingPunct="0">
                <a:buClrTx/>
                <a:buFontTx/>
                <a:buNone/>
              </a:pPr>
              <a:r>
                <a:rPr lang="zh-CN" altLang="en-US" dirty="0">
                  <a:solidFill>
                    <a:srgbClr val="FF3399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实际方向</a:t>
              </a:r>
              <a:endParaRPr lang="zh-CN" altLang="en-US" dirty="0">
                <a:solidFill>
                  <a:srgbClr val="FF3399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37929" name="Text Box 79"/>
            <p:cNvSpPr txBox="1"/>
            <p:nvPr/>
          </p:nvSpPr>
          <p:spPr>
            <a:xfrm>
              <a:off x="2925" y="2704"/>
              <a:ext cx="670" cy="480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ctr" anchorCtr="0">
              <a:spAutoFit/>
            </a:bodyPr>
            <a:p>
              <a:pPr algn="ctr" eaLnBrk="0" hangingPunct="0">
                <a:buClrTx/>
                <a:buFontTx/>
                <a:buNone/>
              </a:pPr>
              <a:r>
                <a:rPr lang="en-US" altLang="zh-CN" sz="4400" dirty="0">
                  <a:latin typeface="Times New Roman" panose="02020603050405020304" pitchFamily="18" charset="0"/>
                  <a:ea typeface="楷体_GB2312" pitchFamily="49" charset="-122"/>
                </a:rPr>
                <a:t>–</a:t>
              </a:r>
              <a:endParaRPr lang="en-US" altLang="zh-CN" sz="4400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grpSp>
        <p:nvGrpSpPr>
          <p:cNvPr id="37930" name="Group 87"/>
          <p:cNvGrpSpPr/>
          <p:nvPr/>
        </p:nvGrpSpPr>
        <p:grpSpPr>
          <a:xfrm>
            <a:off x="6588125" y="6445250"/>
            <a:ext cx="792163" cy="366713"/>
            <a:chOff x="5193" y="4020"/>
            <a:chExt cx="499" cy="231"/>
          </a:xfrm>
        </p:grpSpPr>
        <p:pic>
          <p:nvPicPr>
            <p:cNvPr id="37931" name="Picture 88" descr="78900">
              <a:hlinkClick r:id="" action="ppaction://hlinkshowjump?jump=firstslide"/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7932" name="Text Box 89">
              <a:hlinkClick r:id="" action="ppaction://hlinkshowjump?jump=firs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8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80" fill="hold"/>
                                        <p:tgtEl>
                                          <p:spTgt spid="1884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80" fill="hold"/>
                                        <p:tgtEl>
                                          <p:spTgt spid="1884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80" fill="hold"/>
                                        <p:tgtEl>
                                          <p:spTgt spid="1884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80" fill="hold"/>
                                        <p:tgtEl>
                                          <p:spTgt spid="1884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88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5" dur="500"/>
                                        <p:tgtEl>
                                          <p:spTgt spid="188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2000"/>
                                        <p:tgtEl>
                                          <p:spTgt spid="188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88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884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884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88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188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884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884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188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884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884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188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500"/>
                                        <p:tgtEl>
                                          <p:spTgt spid="188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884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884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8421" grpId="0"/>
      <p:bldP spid="188422" grpId="0" animBg="1"/>
      <p:bldP spid="188467" grpId="0" animBg="1"/>
      <p:bldP spid="18846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8913" name="Text Box 4"/>
          <p:cNvSpPr txBox="1"/>
          <p:nvPr/>
        </p:nvSpPr>
        <p:spPr>
          <a:xfrm>
            <a:off x="1050925" y="1539875"/>
            <a:ext cx="184150" cy="579438"/>
          </a:xfrm>
          <a:prstGeom prst="rect">
            <a:avLst/>
          </a:prstGeom>
          <a:noFill/>
          <a:ln w="12700">
            <a:noFill/>
          </a:ln>
        </p:spPr>
        <p:txBody>
          <a:bodyPr wrap="none" anchor="ctr" anchorCtr="0">
            <a:spAutoFit/>
          </a:bodyPr>
          <a:p>
            <a:pPr algn="ctr" eaLnBrk="0" hangingPunct="0">
              <a:buClrTx/>
              <a:buFontTx/>
              <a:buNone/>
            </a:pPr>
            <a:endParaRPr lang="zh-CN" altLang="zh-CN" sz="320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89445" name="Text Box 5"/>
          <p:cNvSpPr txBox="1"/>
          <p:nvPr/>
        </p:nvSpPr>
        <p:spPr>
          <a:xfrm>
            <a:off x="611188" y="620713"/>
            <a:ext cx="5184775" cy="519112"/>
          </a:xfrm>
          <a:prstGeom prst="rect">
            <a:avLst/>
          </a:prstGeom>
          <a:noFill/>
          <a:ln w="12700">
            <a:noFill/>
          </a:ln>
        </p:spPr>
        <p:txBody>
          <a:bodyPr wrap="none" anchor="ctr" anchorCtr="0">
            <a:spAutoFit/>
          </a:bodyPr>
          <a:p>
            <a:pPr algn="ctr" eaLnBrk="0" hangingPunct="0">
              <a:buClrTx/>
              <a:buFontTx/>
              <a:buNone/>
            </a:pPr>
            <a:r>
              <a:rPr lang="zh-CN" altLang="en-US" dirty="0">
                <a:solidFill>
                  <a:srgbClr val="FF9966"/>
                </a:solidFill>
                <a:latin typeface="Times New Roman" panose="02020603050405020304" pitchFamily="18" charset="0"/>
                <a:ea typeface="楷体_GB2312" pitchFamily="49" charset="-122"/>
                <a:sym typeface="Wingdings 2" panose="05020102010507070707" pitchFamily="18" charset="2"/>
              </a:rPr>
              <a:t>电压参考方向的三种表示方式：</a:t>
            </a:r>
            <a:endParaRPr lang="zh-CN" altLang="en-US" dirty="0">
              <a:solidFill>
                <a:srgbClr val="FF9966"/>
              </a:solidFill>
              <a:latin typeface="Times New Roman" panose="02020603050405020304" pitchFamily="18" charset="0"/>
              <a:ea typeface="楷体_GB2312" pitchFamily="49" charset="-122"/>
              <a:sym typeface="Wingdings 2" panose="05020102010507070707" pitchFamily="18" charset="2"/>
            </a:endParaRPr>
          </a:p>
        </p:txBody>
      </p:sp>
      <p:sp>
        <p:nvSpPr>
          <p:cNvPr id="38915" name="Text Box 6"/>
          <p:cNvSpPr txBox="1"/>
          <p:nvPr/>
        </p:nvSpPr>
        <p:spPr>
          <a:xfrm>
            <a:off x="669925" y="1997075"/>
            <a:ext cx="184150" cy="579438"/>
          </a:xfrm>
          <a:prstGeom prst="rect">
            <a:avLst/>
          </a:prstGeom>
          <a:noFill/>
          <a:ln w="12700">
            <a:noFill/>
          </a:ln>
        </p:spPr>
        <p:txBody>
          <a:bodyPr wrap="none" anchor="ctr" anchorCtr="0">
            <a:spAutoFit/>
          </a:bodyPr>
          <a:p>
            <a:pPr algn="ctr" eaLnBrk="0" hangingPunct="0">
              <a:buClrTx/>
              <a:buFontTx/>
              <a:buNone/>
            </a:pPr>
            <a:endParaRPr lang="zh-CN" altLang="zh-CN" sz="320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89447" name="Text Box 7"/>
          <p:cNvSpPr txBox="1"/>
          <p:nvPr/>
        </p:nvSpPr>
        <p:spPr>
          <a:xfrm>
            <a:off x="468313" y="1268413"/>
            <a:ext cx="3095625" cy="519112"/>
          </a:xfrm>
          <a:prstGeom prst="rect">
            <a:avLst/>
          </a:prstGeom>
          <a:noFill/>
          <a:ln w="12700">
            <a:noFill/>
          </a:ln>
        </p:spPr>
        <p:txBody>
          <a:bodyPr anchor="ctr" anchorCtr="0">
            <a:spAutoFit/>
          </a:bodyPr>
          <a:p>
            <a:pPr eaLnBrk="0" hangingPunct="0">
              <a:buClrTx/>
              <a:buFontTx/>
              <a:buNone/>
            </a:pPr>
            <a:r>
              <a:rPr lang="en-US" altLang="zh-CN" dirty="0">
                <a:latin typeface="楷体_GB2312" pitchFamily="49" charset="-122"/>
                <a:ea typeface="楷体_GB2312" pitchFamily="49" charset="-122"/>
                <a:sym typeface="Monotype Sorts" pitchFamily="2" charset="2"/>
              </a:rPr>
              <a:t>(1) 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  <a:sym typeface="Monotype Sorts" pitchFamily="2" charset="2"/>
              </a:rPr>
              <a:t>用箭头表示：</a:t>
            </a:r>
            <a:endParaRPr lang="zh-CN" altLang="en-US" dirty="0">
              <a:latin typeface="楷体_GB2312" pitchFamily="49" charset="-122"/>
              <a:ea typeface="楷体_GB2312" pitchFamily="49" charset="-122"/>
              <a:sym typeface="Monotype Sorts" pitchFamily="2" charset="2"/>
            </a:endParaRPr>
          </a:p>
        </p:txBody>
      </p:sp>
      <p:sp>
        <p:nvSpPr>
          <p:cNvPr id="189448" name="Text Box 8"/>
          <p:cNvSpPr txBox="1"/>
          <p:nvPr/>
        </p:nvSpPr>
        <p:spPr>
          <a:xfrm>
            <a:off x="468313" y="2852738"/>
            <a:ext cx="3222625" cy="519112"/>
          </a:xfrm>
          <a:prstGeom prst="rect">
            <a:avLst/>
          </a:prstGeom>
          <a:noFill/>
          <a:ln w="12700">
            <a:noFill/>
          </a:ln>
        </p:spPr>
        <p:txBody>
          <a:bodyPr wrap="none" anchor="ctr" anchorCtr="0">
            <a:spAutoFit/>
          </a:bodyPr>
          <a:p>
            <a:pPr marL="476250" indent="-476250" algn="just" eaLnBrk="0" hangingPunct="0">
              <a:buClrTx/>
              <a:buFontTx/>
              <a:buNone/>
            </a:pPr>
            <a:r>
              <a:rPr lang="en-US" altLang="zh-CN" dirty="0">
                <a:latin typeface="楷体_GB2312" pitchFamily="49" charset="-122"/>
                <a:ea typeface="楷体_GB2312" pitchFamily="49" charset="-122"/>
                <a:sym typeface="Monotype Sorts" pitchFamily="2" charset="2"/>
              </a:rPr>
              <a:t>(2)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  <a:sym typeface="Monotype Sorts" pitchFamily="2" charset="2"/>
              </a:rPr>
              <a:t>用正负极性表示</a:t>
            </a:r>
            <a:endParaRPr lang="zh-CN" altLang="en-US" dirty="0">
              <a:latin typeface="楷体_GB2312" pitchFamily="49" charset="-122"/>
              <a:ea typeface="楷体_GB2312" pitchFamily="49" charset="-122"/>
              <a:sym typeface="Monotype Sorts" pitchFamily="2" charset="2"/>
            </a:endParaRPr>
          </a:p>
        </p:txBody>
      </p:sp>
      <p:sp>
        <p:nvSpPr>
          <p:cNvPr id="189449" name="Text Box 9"/>
          <p:cNvSpPr txBox="1"/>
          <p:nvPr/>
        </p:nvSpPr>
        <p:spPr>
          <a:xfrm>
            <a:off x="539750" y="4797425"/>
            <a:ext cx="3609975" cy="519113"/>
          </a:xfrm>
          <a:prstGeom prst="rect">
            <a:avLst/>
          </a:prstGeom>
          <a:noFill/>
          <a:ln w="12700">
            <a:noFill/>
          </a:ln>
        </p:spPr>
        <p:txBody>
          <a:bodyPr anchor="ctr" anchorCtr="0">
            <a:spAutoFit/>
          </a:bodyPr>
          <a:p>
            <a:pPr marL="381000" indent="-381000" algn="just" eaLnBrk="0" hangingPunct="0">
              <a:buClrTx/>
              <a:buFontTx/>
              <a:buNone/>
            </a:pPr>
            <a:r>
              <a:rPr lang="en-US" altLang="zh-CN" dirty="0">
                <a:latin typeface="楷体_GB2312" pitchFamily="49" charset="-122"/>
                <a:ea typeface="楷体_GB2312" pitchFamily="49" charset="-122"/>
                <a:sym typeface="Monotype Sorts" pitchFamily="2" charset="2"/>
              </a:rPr>
              <a:t>(3)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  <a:sym typeface="Monotype Sorts" pitchFamily="2" charset="2"/>
              </a:rPr>
              <a:t>用双下标表示</a:t>
            </a:r>
            <a:endParaRPr lang="zh-CN" altLang="en-US" dirty="0"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189450" name="Group 10"/>
          <p:cNvGrpSpPr/>
          <p:nvPr/>
        </p:nvGrpSpPr>
        <p:grpSpPr>
          <a:xfrm>
            <a:off x="2339975" y="2205038"/>
            <a:ext cx="3962400" cy="457200"/>
            <a:chOff x="3072" y="1488"/>
            <a:chExt cx="2496" cy="288"/>
          </a:xfrm>
        </p:grpSpPr>
        <p:sp>
          <p:nvSpPr>
            <p:cNvPr id="38920" name="Rectangle 11"/>
            <p:cNvSpPr/>
            <p:nvPr/>
          </p:nvSpPr>
          <p:spPr>
            <a:xfrm>
              <a:off x="4099" y="1584"/>
              <a:ext cx="433" cy="192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12700">
              <a:noFill/>
            </a:ln>
          </p:spPr>
          <p:txBody>
            <a:bodyPr wrap="none" anchor="ctr" anchorCtr="0"/>
            <a:p>
              <a:pPr>
                <a:buClrTx/>
                <a:buFontTx/>
                <a:buNone/>
              </a:pPr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38921" name="Line 12"/>
            <p:cNvSpPr/>
            <p:nvPr/>
          </p:nvSpPr>
          <p:spPr>
            <a:xfrm flipH="1">
              <a:off x="3072" y="1681"/>
              <a:ext cx="1009" cy="1"/>
            </a:xfrm>
            <a:prstGeom prst="line">
              <a:avLst/>
            </a:prstGeom>
            <a:ln w="38100" cap="sq" cmpd="sng">
              <a:solidFill>
                <a:srgbClr val="FFCC00"/>
              </a:solidFill>
              <a:prstDash val="solid"/>
              <a:round/>
              <a:headEnd type="none" w="med" len="med"/>
              <a:tailEnd type="oval" w="med" len="med"/>
            </a:ln>
          </p:spPr>
        </p:sp>
        <p:sp>
          <p:nvSpPr>
            <p:cNvPr id="38922" name="Line 13"/>
            <p:cNvSpPr/>
            <p:nvPr/>
          </p:nvSpPr>
          <p:spPr>
            <a:xfrm>
              <a:off x="4559" y="1690"/>
              <a:ext cx="1009" cy="1"/>
            </a:xfrm>
            <a:prstGeom prst="line">
              <a:avLst/>
            </a:prstGeom>
            <a:ln w="38100" cap="sq" cmpd="sng">
              <a:solidFill>
                <a:srgbClr val="FFCC00"/>
              </a:solidFill>
              <a:prstDash val="solid"/>
              <a:round/>
              <a:headEnd type="none" w="med" len="med"/>
              <a:tailEnd type="oval" w="med" len="med"/>
            </a:ln>
          </p:spPr>
        </p:sp>
        <p:sp>
          <p:nvSpPr>
            <p:cNvPr id="38923" name="Line 14"/>
            <p:cNvSpPr/>
            <p:nvPr/>
          </p:nvSpPr>
          <p:spPr>
            <a:xfrm>
              <a:off x="3648" y="1488"/>
              <a:ext cx="1248" cy="0"/>
            </a:xfrm>
            <a:prstGeom prst="line">
              <a:avLst/>
            </a:prstGeom>
            <a:ln w="28575" cap="sq" cmpd="sng">
              <a:solidFill>
                <a:srgbClr val="00FFFF"/>
              </a:solidFill>
              <a:prstDash val="solid"/>
              <a:round/>
              <a:headEnd type="none" w="med" len="med"/>
              <a:tailEnd type="arrow" w="med" len="med"/>
            </a:ln>
          </p:spPr>
        </p:sp>
      </p:grpSp>
      <p:sp>
        <p:nvSpPr>
          <p:cNvPr id="189455" name="Text Box 15"/>
          <p:cNvSpPr txBox="1"/>
          <p:nvPr/>
        </p:nvSpPr>
        <p:spPr>
          <a:xfrm>
            <a:off x="3995738" y="1484313"/>
            <a:ext cx="477837" cy="579437"/>
          </a:xfrm>
          <a:prstGeom prst="rect">
            <a:avLst/>
          </a:prstGeom>
          <a:noFill/>
          <a:ln w="12700">
            <a:noFill/>
          </a:ln>
        </p:spPr>
        <p:txBody>
          <a:bodyPr wrap="none" anchor="ctr" anchorCtr="0">
            <a:spAutoFit/>
          </a:bodyPr>
          <a:p>
            <a:pPr algn="ctr" eaLnBrk="0" hangingPunct="0">
              <a:buClrTx/>
              <a:buFontTx/>
              <a:buNone/>
            </a:pPr>
            <a:r>
              <a:rPr lang="en-US" altLang="zh-CN" sz="3200" b="0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endParaRPr lang="en-US" altLang="zh-CN" sz="3200" b="0" i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189456" name="Group 16"/>
          <p:cNvGrpSpPr/>
          <p:nvPr/>
        </p:nvGrpSpPr>
        <p:grpSpPr>
          <a:xfrm>
            <a:off x="2411413" y="4221163"/>
            <a:ext cx="3962400" cy="304800"/>
            <a:chOff x="3024" y="2592"/>
            <a:chExt cx="2496" cy="192"/>
          </a:xfrm>
        </p:grpSpPr>
        <p:sp>
          <p:nvSpPr>
            <p:cNvPr id="38926" name="Rectangle 17"/>
            <p:cNvSpPr/>
            <p:nvPr/>
          </p:nvSpPr>
          <p:spPr>
            <a:xfrm>
              <a:off x="4051" y="2592"/>
              <a:ext cx="433" cy="192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12700">
              <a:noFill/>
            </a:ln>
          </p:spPr>
          <p:txBody>
            <a:bodyPr wrap="none" anchor="ctr" anchorCtr="0"/>
            <a:p>
              <a:pPr>
                <a:buClrTx/>
                <a:buFontTx/>
                <a:buNone/>
              </a:pPr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38927" name="Line 18"/>
            <p:cNvSpPr/>
            <p:nvPr/>
          </p:nvSpPr>
          <p:spPr>
            <a:xfrm flipH="1">
              <a:off x="3024" y="2689"/>
              <a:ext cx="1009" cy="1"/>
            </a:xfrm>
            <a:prstGeom prst="line">
              <a:avLst/>
            </a:prstGeom>
            <a:ln w="38100" cap="sq" cmpd="sng">
              <a:solidFill>
                <a:srgbClr val="FFCC00"/>
              </a:solidFill>
              <a:prstDash val="solid"/>
              <a:round/>
              <a:headEnd type="none" w="med" len="med"/>
              <a:tailEnd type="oval" w="med" len="med"/>
            </a:ln>
          </p:spPr>
        </p:sp>
        <p:sp>
          <p:nvSpPr>
            <p:cNvPr id="38928" name="Line 19"/>
            <p:cNvSpPr/>
            <p:nvPr/>
          </p:nvSpPr>
          <p:spPr>
            <a:xfrm>
              <a:off x="4511" y="2698"/>
              <a:ext cx="1009" cy="1"/>
            </a:xfrm>
            <a:prstGeom prst="line">
              <a:avLst/>
            </a:prstGeom>
            <a:ln w="38100" cap="sq" cmpd="sng">
              <a:solidFill>
                <a:srgbClr val="FFCC00"/>
              </a:solidFill>
              <a:prstDash val="solid"/>
              <a:round/>
              <a:headEnd type="none" w="med" len="med"/>
              <a:tailEnd type="oval" w="med" len="med"/>
            </a:ln>
          </p:spPr>
        </p:sp>
      </p:grpSp>
      <p:sp>
        <p:nvSpPr>
          <p:cNvPr id="189464" name="Text Box 24"/>
          <p:cNvSpPr txBox="1"/>
          <p:nvPr/>
        </p:nvSpPr>
        <p:spPr>
          <a:xfrm>
            <a:off x="4140200" y="3644900"/>
            <a:ext cx="477838" cy="579438"/>
          </a:xfrm>
          <a:prstGeom prst="rect">
            <a:avLst/>
          </a:prstGeom>
          <a:noFill/>
          <a:ln w="12700">
            <a:noFill/>
          </a:ln>
        </p:spPr>
        <p:txBody>
          <a:bodyPr wrap="none" anchor="ctr" anchorCtr="0">
            <a:spAutoFit/>
          </a:bodyPr>
          <a:p>
            <a:pPr algn="ctr" eaLnBrk="0" hangingPunct="0">
              <a:buClrTx/>
              <a:buFontTx/>
              <a:buNone/>
            </a:pPr>
            <a:r>
              <a:rPr lang="en-US" altLang="zh-CN" sz="3200" b="0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endParaRPr lang="en-US" altLang="zh-CN" sz="3200" b="0" i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89465" name="Text Box 25"/>
          <p:cNvSpPr txBox="1"/>
          <p:nvPr/>
        </p:nvSpPr>
        <p:spPr>
          <a:xfrm>
            <a:off x="2813050" y="3735388"/>
            <a:ext cx="503238" cy="762000"/>
          </a:xfrm>
          <a:prstGeom prst="rect">
            <a:avLst/>
          </a:prstGeom>
          <a:noFill/>
          <a:ln w="12700">
            <a:noFill/>
          </a:ln>
        </p:spPr>
        <p:txBody>
          <a:bodyPr wrap="none" anchor="ctr" anchorCtr="0">
            <a:spAutoFit/>
          </a:bodyPr>
          <a:p>
            <a:pPr algn="ctr" eaLnBrk="0" hangingPunct="0">
              <a:buClrTx/>
              <a:buFontTx/>
              <a:buNone/>
            </a:pPr>
            <a:r>
              <a:rPr lang="en-US" altLang="zh-CN" sz="44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CommonBullets" pitchFamily="34" charset="2"/>
              </a:rPr>
              <a:t>+</a:t>
            </a:r>
            <a:endParaRPr lang="en-US" altLang="zh-CN" sz="4400" dirty="0">
              <a:solidFill>
                <a:schemeClr val="hlink"/>
              </a:solidFill>
              <a:latin typeface="Times New Roman" panose="02020603050405020304" pitchFamily="18" charset="0"/>
              <a:ea typeface="宋体" panose="02010600030101010101" pitchFamily="2" charset="-122"/>
              <a:sym typeface="CommonBullets" pitchFamily="34" charset="2"/>
            </a:endParaRPr>
          </a:p>
        </p:txBody>
      </p:sp>
      <p:sp>
        <p:nvSpPr>
          <p:cNvPr id="189466" name="Line 26"/>
          <p:cNvSpPr/>
          <p:nvPr/>
        </p:nvSpPr>
        <p:spPr>
          <a:xfrm>
            <a:off x="6035675" y="4116388"/>
            <a:ext cx="304800" cy="0"/>
          </a:xfrm>
          <a:prstGeom prst="line">
            <a:avLst/>
          </a:prstGeom>
          <a:ln w="28575" cap="sq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sp>
      <p:grpSp>
        <p:nvGrpSpPr>
          <p:cNvPr id="189473" name="Group 33"/>
          <p:cNvGrpSpPr/>
          <p:nvPr/>
        </p:nvGrpSpPr>
        <p:grpSpPr>
          <a:xfrm>
            <a:off x="2268538" y="5373688"/>
            <a:ext cx="4364037" cy="808037"/>
            <a:chOff x="1519" y="3457"/>
            <a:chExt cx="2749" cy="509"/>
          </a:xfrm>
        </p:grpSpPr>
        <p:grpSp>
          <p:nvGrpSpPr>
            <p:cNvPr id="38933" name="Group 20"/>
            <p:cNvGrpSpPr/>
            <p:nvPr/>
          </p:nvGrpSpPr>
          <p:grpSpPr>
            <a:xfrm>
              <a:off x="1664" y="3774"/>
              <a:ext cx="2496" cy="192"/>
              <a:chOff x="3024" y="3648"/>
              <a:chExt cx="2496" cy="192"/>
            </a:xfrm>
          </p:grpSpPr>
          <p:sp>
            <p:nvSpPr>
              <p:cNvPr id="38934" name="Rectangle 21"/>
              <p:cNvSpPr/>
              <p:nvPr/>
            </p:nvSpPr>
            <p:spPr>
              <a:xfrm>
                <a:off x="4051" y="3648"/>
                <a:ext cx="433" cy="192"/>
              </a:xfrm>
              <a:prstGeom prst="rect">
                <a:avLst/>
              </a:prstGeom>
              <a:gradFill rotWithShape="1">
                <a:gsLst>
                  <a:gs pos="0">
                    <a:srgbClr val="764700"/>
                  </a:gs>
                  <a:gs pos="50000">
                    <a:srgbClr val="FF9900"/>
                  </a:gs>
                  <a:gs pos="100000">
                    <a:srgbClr val="764700"/>
                  </a:gs>
                </a:gsLst>
                <a:lin ang="5400000" scaled="1"/>
                <a:tileRect/>
              </a:gradFill>
              <a:ln w="12700">
                <a:noFill/>
              </a:ln>
            </p:spPr>
            <p:txBody>
              <a:bodyPr wrap="none" anchor="ctr" anchorCtr="0"/>
              <a:p>
                <a:pPr>
                  <a:buClrTx/>
                  <a:buFontTx/>
                  <a:buNone/>
                </a:pPr>
                <a:endParaRPr lang="zh-CN" altLang="en-US" dirty="0">
                  <a:latin typeface="Arial" panose="020B0604020202020204" pitchFamily="34" charset="0"/>
                  <a:ea typeface="楷体_GB2312" pitchFamily="49" charset="-122"/>
                </a:endParaRPr>
              </a:p>
            </p:txBody>
          </p:sp>
          <p:sp>
            <p:nvSpPr>
              <p:cNvPr id="38935" name="Line 22"/>
              <p:cNvSpPr/>
              <p:nvPr/>
            </p:nvSpPr>
            <p:spPr>
              <a:xfrm flipH="1">
                <a:off x="3024" y="3745"/>
                <a:ext cx="1009" cy="1"/>
              </a:xfrm>
              <a:prstGeom prst="line">
                <a:avLst/>
              </a:prstGeom>
              <a:ln w="38100" cap="sq" cmpd="sng">
                <a:solidFill>
                  <a:srgbClr val="FFCC00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sp>
          <p:sp>
            <p:nvSpPr>
              <p:cNvPr id="38936" name="Line 23"/>
              <p:cNvSpPr/>
              <p:nvPr/>
            </p:nvSpPr>
            <p:spPr>
              <a:xfrm>
                <a:off x="4511" y="3754"/>
                <a:ext cx="1009" cy="1"/>
              </a:xfrm>
              <a:prstGeom prst="line">
                <a:avLst/>
              </a:prstGeom>
              <a:ln w="38100" cap="sq" cmpd="sng">
                <a:solidFill>
                  <a:srgbClr val="FFCC00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sp>
        </p:grpSp>
        <p:sp>
          <p:nvSpPr>
            <p:cNvPr id="38937" name="Text Box 27"/>
            <p:cNvSpPr txBox="1"/>
            <p:nvPr/>
          </p:nvSpPr>
          <p:spPr>
            <a:xfrm>
              <a:off x="1519" y="3486"/>
              <a:ext cx="301" cy="365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anchor="ctr" anchorCtr="0">
              <a:spAutoFit/>
            </a:bodyPr>
            <a:p>
              <a:pPr algn="ctr" eaLnBrk="0" hangingPunct="0">
                <a:buClrTx/>
                <a:buFontTx/>
                <a:buNone/>
              </a:pPr>
              <a:r>
                <a:rPr lang="en-US" altLang="zh-CN" sz="32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endParaRPr lang="en-US" altLang="zh-CN" sz="32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8938" name="Text Box 28"/>
            <p:cNvSpPr txBox="1"/>
            <p:nvPr/>
          </p:nvSpPr>
          <p:spPr>
            <a:xfrm>
              <a:off x="3981" y="3457"/>
              <a:ext cx="287" cy="365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anchor="ctr" anchorCtr="0">
              <a:spAutoFit/>
            </a:bodyPr>
            <a:p>
              <a:pPr algn="ctr" eaLnBrk="0" hangingPunct="0">
                <a:buClrTx/>
                <a:buFontTx/>
                <a:buNone/>
              </a:pPr>
              <a:r>
                <a:rPr lang="en-US" altLang="zh-CN" sz="32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endParaRPr lang="en-US" altLang="zh-CN" sz="32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189470" name="Text Box 30"/>
          <p:cNvSpPr txBox="1"/>
          <p:nvPr/>
        </p:nvSpPr>
        <p:spPr>
          <a:xfrm>
            <a:off x="4140200" y="5229225"/>
            <a:ext cx="847725" cy="579438"/>
          </a:xfrm>
          <a:prstGeom prst="rect">
            <a:avLst/>
          </a:prstGeom>
          <a:noFill/>
          <a:ln w="12700">
            <a:noFill/>
          </a:ln>
        </p:spPr>
        <p:txBody>
          <a:bodyPr wrap="none" anchor="ctr" anchorCtr="0">
            <a:spAutoFit/>
          </a:bodyPr>
          <a:p>
            <a:pPr algn="ctr" eaLnBrk="0" hangingPunct="0">
              <a:buClrTx/>
              <a:buFontTx/>
              <a:buNone/>
            </a:pPr>
            <a:r>
              <a:rPr lang="en-US" altLang="zh-CN" sz="3200" b="0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en-US" altLang="zh-CN" sz="3200" b="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AB</a:t>
            </a:r>
            <a:endParaRPr lang="en-US" altLang="zh-CN" sz="32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38940" name="Group 35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38941" name="Picture 36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8942" name="Text Box 37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38943" name="Group 38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38944" name="Picture 39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8945" name="Text Box 40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38946" name="Group 50"/>
          <p:cNvGrpSpPr/>
          <p:nvPr/>
        </p:nvGrpSpPr>
        <p:grpSpPr>
          <a:xfrm>
            <a:off x="6588125" y="6445250"/>
            <a:ext cx="792163" cy="366713"/>
            <a:chOff x="5193" y="4020"/>
            <a:chExt cx="499" cy="231"/>
          </a:xfrm>
        </p:grpSpPr>
        <p:pic>
          <p:nvPicPr>
            <p:cNvPr id="38947" name="Picture 51" descr="78900">
              <a:hlinkClick r:id="" action="ppaction://hlinkshowjump?jump=firstslide"/>
            </p:cNvPr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8948" name="Text Box 52">
              <a:hlinkClick r:id="" action="ppaction://hlinkshowjump?jump=firs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89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894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94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894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894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894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894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894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894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894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894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9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500"/>
                            </p:stCondLst>
                            <p:childTnLst>
                              <p:par>
                                <p:cTn id="3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894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894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000"/>
                            </p:stCondLst>
                            <p:childTnLst>
                              <p:par>
                                <p:cTn id="44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894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894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894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894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89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000"/>
                            </p:stCondLst>
                            <p:childTnLst>
                              <p:par>
                                <p:cTn id="5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9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9445" grpId="0"/>
      <p:bldP spid="189447" grpId="0"/>
      <p:bldP spid="189448" grpId="0"/>
      <p:bldP spid="189449" grpId="0"/>
      <p:bldP spid="189455" grpId="0"/>
      <p:bldP spid="189464" grpId="0"/>
      <p:bldP spid="189465" grpId="0"/>
      <p:bldP spid="18947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1493" name="Text Box 5"/>
          <p:cNvSpPr txBox="1"/>
          <p:nvPr/>
        </p:nvSpPr>
        <p:spPr>
          <a:xfrm>
            <a:off x="433388" y="1195388"/>
            <a:ext cx="8170862" cy="1117600"/>
          </a:xfrm>
          <a:prstGeom prst="rect">
            <a:avLst/>
          </a:prstGeom>
          <a:noFill/>
          <a:ln w="12700">
            <a:noFill/>
          </a:ln>
        </p:spPr>
        <p:txBody>
          <a:bodyPr anchor="ctr" anchorCtr="0">
            <a:spAutoFit/>
          </a:bodyPr>
          <a:p>
            <a:pPr marL="571500" indent="-571500" eaLnBrk="0" hangingPunct="0">
              <a:lnSpc>
                <a:spcPct val="120000"/>
              </a:lnSpc>
              <a:buClrTx/>
              <a:buFontTx/>
              <a:buNone/>
            </a:pPr>
            <a:r>
              <a:rPr lang="en-US" altLang="zh-CN" dirty="0">
                <a:latin typeface="楷体_GB2312" pitchFamily="49" charset="-122"/>
                <a:ea typeface="楷体_GB2312" pitchFamily="49" charset="-122"/>
              </a:rPr>
              <a:t>   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元件或支路的</a:t>
            </a:r>
            <a:r>
              <a:rPr lang="en-US" altLang="zh-CN" b="0" i="1" dirty="0">
                <a:latin typeface="Times New Roman" panose="02020603050405020304" pitchFamily="18" charset="0"/>
                <a:ea typeface="楷体_GB2312" pitchFamily="49" charset="-122"/>
              </a:rPr>
              <a:t>u</a:t>
            </a:r>
            <a:r>
              <a:rPr lang="zh-CN" altLang="en-US" b="0" dirty="0"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lang="en-US" altLang="zh-CN" b="0" i="1" dirty="0"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lang="en-US" altLang="zh-CN" i="1" dirty="0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zh-CN" dirty="0">
                <a:latin typeface="楷体_GB2312" pitchFamily="49" charset="-122"/>
                <a:ea typeface="楷体_GB2312" pitchFamily="49" charset="-122"/>
              </a:rPr>
              <a:t>采用相同的参考方向称之为</a:t>
            </a:r>
            <a:r>
              <a:rPr lang="zh-CN" altLang="zh-CN" dirty="0">
                <a:solidFill>
                  <a:srgbClr val="FF9966"/>
                </a:solidFill>
                <a:latin typeface="楷体_GB2312" pitchFamily="49" charset="-122"/>
                <a:ea typeface="楷体_GB2312" pitchFamily="49" charset="-122"/>
              </a:rPr>
              <a:t>关联</a:t>
            </a:r>
            <a:r>
              <a:rPr lang="zh-CN" altLang="zh-CN" dirty="0">
                <a:solidFill>
                  <a:srgbClr val="FF9966"/>
                </a:solidFill>
                <a:latin typeface="Arial" panose="020B0604020202020204" pitchFamily="34" charset="0"/>
                <a:ea typeface="楷体_GB2312" pitchFamily="49" charset="-122"/>
              </a:rPr>
              <a:t>参考方向。</a:t>
            </a:r>
            <a:r>
              <a:rPr lang="zh-CN" altLang="zh-CN" dirty="0">
                <a:latin typeface="Arial" panose="020B0604020202020204" pitchFamily="34" charset="0"/>
                <a:ea typeface="楷体_GB2312" pitchFamily="49" charset="-122"/>
              </a:rPr>
              <a:t>反之，称为</a:t>
            </a:r>
            <a:r>
              <a:rPr lang="zh-CN" altLang="zh-CN" dirty="0">
                <a:solidFill>
                  <a:srgbClr val="FF9966"/>
                </a:solidFill>
                <a:latin typeface="Arial" panose="020B0604020202020204" pitchFamily="34" charset="0"/>
                <a:ea typeface="楷体_GB2312" pitchFamily="49" charset="-122"/>
              </a:rPr>
              <a:t>非关联参考方向。</a:t>
            </a:r>
            <a:endParaRPr lang="zh-CN" altLang="en-US" dirty="0">
              <a:solidFill>
                <a:srgbClr val="FF9966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91520" name="Text Box 32" descr="羊皮纸"/>
          <p:cNvSpPr txBox="1"/>
          <p:nvPr/>
        </p:nvSpPr>
        <p:spPr>
          <a:xfrm>
            <a:off x="1042988" y="4292600"/>
            <a:ext cx="2449512" cy="519113"/>
          </a:xfrm>
          <a:prstGeom prst="rect">
            <a:avLst/>
          </a:prstGeom>
          <a:blipFill rotWithShape="1">
            <a:blip r:embed="rId1"/>
          </a:blipFill>
          <a:ln w="9525">
            <a:noFill/>
          </a:ln>
        </p:spPr>
        <p:txBody>
          <a:bodyPr anchor="ctr" anchorCtr="0">
            <a:spAutoFit/>
          </a:bodyPr>
          <a:p>
            <a:pPr algn="ctr" eaLnBrk="0" hangingPunct="0">
              <a:buClrTx/>
              <a:buFontTx/>
              <a:buNone/>
            </a:pPr>
            <a:r>
              <a:rPr lang="zh-CN" altLang="zh-CN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关联参考方向</a:t>
            </a:r>
            <a:endParaRPr lang="zh-CN" altLang="en-US" dirty="0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91521" name="Text Box 33" descr="羊皮纸"/>
          <p:cNvSpPr txBox="1"/>
          <p:nvPr/>
        </p:nvSpPr>
        <p:spPr>
          <a:xfrm>
            <a:off x="5292725" y="4292600"/>
            <a:ext cx="2808288" cy="519113"/>
          </a:xfrm>
          <a:prstGeom prst="rect">
            <a:avLst/>
          </a:prstGeom>
          <a:blipFill rotWithShape="1">
            <a:blip r:embed="rId1"/>
          </a:blipFill>
          <a:ln w="9525">
            <a:noFill/>
          </a:ln>
        </p:spPr>
        <p:txBody>
          <a:bodyPr anchor="ctr" anchorCtr="0">
            <a:spAutoFit/>
          </a:bodyPr>
          <a:p>
            <a:pPr algn="ctr" eaLnBrk="0" hangingPunct="0">
              <a:buClrTx/>
              <a:buFontTx/>
              <a:buNone/>
            </a:pPr>
            <a:r>
              <a:rPr lang="zh-CN" altLang="zh-CN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非关联参考方向</a:t>
            </a:r>
            <a:endParaRPr lang="zh-CN" altLang="en-US" dirty="0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91522" name="Text Box 34"/>
          <p:cNvSpPr txBox="1"/>
          <p:nvPr/>
        </p:nvSpPr>
        <p:spPr>
          <a:xfrm>
            <a:off x="395288" y="620713"/>
            <a:ext cx="3240087" cy="579437"/>
          </a:xfrm>
          <a:prstGeom prst="rect">
            <a:avLst/>
          </a:prstGeom>
          <a:noFill/>
          <a:ln w="38100">
            <a:noFill/>
          </a:ln>
          <a:effectLst>
            <a:outerShdw dist="107763" dir="18900000" algn="ctr" rotWithShape="0">
              <a:schemeClr val="bg2">
                <a:alpha val="50000"/>
              </a:schemeClr>
            </a:outerShdw>
          </a:effectLst>
        </p:spPr>
        <p:txBody>
          <a:bodyPr anchor="t" anchorCtr="0">
            <a:spAutoFit/>
          </a:bodyPr>
          <a:p>
            <a:pPr eaLnBrk="0" hangingPunct="0">
              <a:spcBef>
                <a:spcPct val="50000"/>
              </a:spcBef>
              <a:buClrTx/>
              <a:buFont typeface="Wingdings" panose="05000000000000000000" pitchFamily="2" charset="2"/>
              <a:buNone/>
            </a:pPr>
            <a:r>
              <a:rPr lang="en-US" altLang="zh-CN" sz="32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3.</a:t>
            </a:r>
            <a:r>
              <a:rPr lang="zh-CN" altLang="en-US" sz="32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关联参考方向</a:t>
            </a:r>
            <a:endParaRPr lang="zh-CN" altLang="en-US" sz="3200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  <a:sym typeface="Symbol" panose="05050102010706020507" pitchFamily="18" charset="2"/>
            </a:endParaRPr>
          </a:p>
        </p:txBody>
      </p:sp>
      <p:sp>
        <p:nvSpPr>
          <p:cNvPr id="191523" name="AutoShape 35"/>
          <p:cNvSpPr/>
          <p:nvPr/>
        </p:nvSpPr>
        <p:spPr>
          <a:xfrm>
            <a:off x="3563938" y="908050"/>
            <a:ext cx="720725" cy="73025"/>
          </a:xfrm>
          <a:prstGeom prst="rightArrow">
            <a:avLst>
              <a:gd name="adj1" fmla="val 50000"/>
              <a:gd name="adj2" fmla="val 246693"/>
            </a:avLst>
          </a:prstGeom>
          <a:solidFill>
            <a:schemeClr val="hlink"/>
          </a:solidFill>
          <a:ln w="38100" cap="sq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>
              <a:buClrTx/>
              <a:buFontTx/>
              <a:buNone/>
            </a:pPr>
            <a:endParaRPr lang="zh-CN" altLang="en-US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191531" name="AutoShape 43"/>
          <p:cNvSpPr/>
          <p:nvPr/>
        </p:nvSpPr>
        <p:spPr>
          <a:xfrm>
            <a:off x="1042988" y="2997200"/>
            <a:ext cx="792162" cy="73025"/>
          </a:xfrm>
          <a:prstGeom prst="rightArrow">
            <a:avLst>
              <a:gd name="adj1" fmla="val 50000"/>
              <a:gd name="adj2" fmla="val 271145"/>
            </a:avLst>
          </a:prstGeom>
          <a:solidFill>
            <a:srgbClr val="00FFFF"/>
          </a:solidFill>
          <a:ln w="38100" cap="sq" cmpd="sng">
            <a:solidFill>
              <a:srgbClr val="00FF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>
              <a:buClrTx/>
              <a:buFontTx/>
              <a:buNone/>
            </a:pPr>
            <a:endParaRPr lang="zh-CN" altLang="en-US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191532" name="Text Box 44"/>
          <p:cNvSpPr txBox="1"/>
          <p:nvPr/>
        </p:nvSpPr>
        <p:spPr>
          <a:xfrm>
            <a:off x="2195513" y="2420938"/>
            <a:ext cx="504825" cy="641350"/>
          </a:xfrm>
          <a:prstGeom prst="rect">
            <a:avLst/>
          </a:prstGeom>
          <a:noFill/>
          <a:ln w="38100">
            <a:noFill/>
          </a:ln>
        </p:spPr>
        <p:txBody>
          <a:bodyPr anchor="t" anchorCtr="0">
            <a:spAutoFit/>
          </a:bodyPr>
          <a:p>
            <a:pPr algn="ctr" eaLnBrk="0" hangingPunct="0">
              <a:spcBef>
                <a:spcPct val="50000"/>
              </a:spcBef>
              <a:buClrTx/>
              <a:buFontTx/>
              <a:buNone/>
            </a:pPr>
            <a:r>
              <a:rPr lang="en-US" altLang="zh-CN" sz="3600" b="0" i="1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i</a:t>
            </a:r>
            <a:endParaRPr lang="en-US" altLang="zh-CN" sz="3600" b="0" i="1" dirty="0">
              <a:solidFill>
                <a:schemeClr val="tx1"/>
              </a:solidFill>
              <a:latin typeface="Times New Roman" panose="02020603050405020304" pitchFamily="18" charset="0"/>
              <a:ea typeface="仿宋_GB2312" pitchFamily="49" charset="-122"/>
              <a:sym typeface="Symbol" panose="05050102010706020507" pitchFamily="18" charset="2"/>
            </a:endParaRPr>
          </a:p>
        </p:txBody>
      </p:sp>
      <p:sp>
        <p:nvSpPr>
          <p:cNvPr id="191533" name="Text Box 45"/>
          <p:cNvSpPr txBox="1"/>
          <p:nvPr/>
        </p:nvSpPr>
        <p:spPr>
          <a:xfrm>
            <a:off x="611188" y="3500438"/>
            <a:ext cx="647700" cy="579437"/>
          </a:xfrm>
          <a:prstGeom prst="rect">
            <a:avLst/>
          </a:prstGeom>
          <a:noFill/>
          <a:ln w="38100">
            <a:noFill/>
          </a:ln>
        </p:spPr>
        <p:txBody>
          <a:bodyPr anchor="t" anchorCtr="0">
            <a:spAutoFit/>
          </a:bodyPr>
          <a:p>
            <a:pPr algn="ctr" eaLnBrk="0" hangingPunct="0">
              <a:spcBef>
                <a:spcPct val="50000"/>
              </a:spcBef>
              <a:buClrTx/>
              <a:buFontTx/>
              <a:buNone/>
            </a:pPr>
            <a:r>
              <a:rPr lang="en-US" altLang="zh-CN" sz="3200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+</a:t>
            </a:r>
            <a:endParaRPr lang="en-US" altLang="zh-CN" sz="3200" dirty="0">
              <a:solidFill>
                <a:schemeClr val="tx1"/>
              </a:solidFill>
              <a:latin typeface="Times New Roman" panose="02020603050405020304" pitchFamily="18" charset="0"/>
              <a:ea typeface="仿宋_GB2312" pitchFamily="49" charset="-122"/>
              <a:sym typeface="Symbol" panose="05050102010706020507" pitchFamily="18" charset="2"/>
            </a:endParaRPr>
          </a:p>
        </p:txBody>
      </p:sp>
      <p:sp>
        <p:nvSpPr>
          <p:cNvPr id="191564" name="Text Box 76"/>
          <p:cNvSpPr txBox="1"/>
          <p:nvPr/>
        </p:nvSpPr>
        <p:spPr>
          <a:xfrm>
            <a:off x="3924300" y="3500438"/>
            <a:ext cx="647700" cy="579437"/>
          </a:xfrm>
          <a:prstGeom prst="rect">
            <a:avLst/>
          </a:prstGeom>
          <a:noFill/>
          <a:ln w="38100">
            <a:noFill/>
          </a:ln>
        </p:spPr>
        <p:txBody>
          <a:bodyPr anchor="t" anchorCtr="0">
            <a:spAutoFit/>
          </a:bodyPr>
          <a:p>
            <a:pPr algn="ctr" eaLnBrk="0" hangingPunct="0">
              <a:spcBef>
                <a:spcPct val="50000"/>
              </a:spcBef>
              <a:buClrTx/>
              <a:buFontTx/>
              <a:buNone/>
            </a:pPr>
            <a:r>
              <a:rPr lang="en-US" altLang="zh-CN" sz="3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-</a:t>
            </a:r>
            <a:endParaRPr lang="en-US" altLang="zh-CN" sz="320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191565" name="Text Box 77"/>
          <p:cNvSpPr txBox="1"/>
          <p:nvPr/>
        </p:nvSpPr>
        <p:spPr>
          <a:xfrm>
            <a:off x="7883525" y="3425825"/>
            <a:ext cx="647700" cy="579438"/>
          </a:xfrm>
          <a:prstGeom prst="rect">
            <a:avLst/>
          </a:prstGeom>
          <a:noFill/>
          <a:ln w="38100">
            <a:noFill/>
          </a:ln>
        </p:spPr>
        <p:txBody>
          <a:bodyPr anchor="t" anchorCtr="0">
            <a:spAutoFit/>
          </a:bodyPr>
          <a:p>
            <a:pPr algn="ctr" eaLnBrk="0" hangingPunct="0">
              <a:spcBef>
                <a:spcPct val="50000"/>
              </a:spcBef>
              <a:buClrTx/>
              <a:buFontTx/>
              <a:buNone/>
            </a:pPr>
            <a:r>
              <a:rPr lang="en-US" altLang="zh-CN" sz="3200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+</a:t>
            </a:r>
            <a:endParaRPr lang="en-US" altLang="zh-CN" sz="3200" dirty="0">
              <a:solidFill>
                <a:schemeClr val="tx1"/>
              </a:solidFill>
              <a:latin typeface="Times New Roman" panose="02020603050405020304" pitchFamily="18" charset="0"/>
              <a:ea typeface="仿宋_GB2312" pitchFamily="49" charset="-122"/>
              <a:sym typeface="Symbol" panose="05050102010706020507" pitchFamily="18" charset="2"/>
            </a:endParaRPr>
          </a:p>
        </p:txBody>
      </p:sp>
      <p:sp>
        <p:nvSpPr>
          <p:cNvPr id="191566" name="Text Box 78"/>
          <p:cNvSpPr txBox="1"/>
          <p:nvPr/>
        </p:nvSpPr>
        <p:spPr>
          <a:xfrm>
            <a:off x="4643438" y="3497263"/>
            <a:ext cx="647700" cy="579437"/>
          </a:xfrm>
          <a:prstGeom prst="rect">
            <a:avLst/>
          </a:prstGeom>
          <a:noFill/>
          <a:ln w="38100">
            <a:noFill/>
          </a:ln>
        </p:spPr>
        <p:txBody>
          <a:bodyPr anchor="t" anchorCtr="0">
            <a:spAutoFit/>
          </a:bodyPr>
          <a:p>
            <a:pPr algn="ctr" eaLnBrk="0" hangingPunct="0">
              <a:spcBef>
                <a:spcPct val="50000"/>
              </a:spcBef>
              <a:buClrTx/>
              <a:buFontTx/>
              <a:buNone/>
            </a:pPr>
            <a:r>
              <a:rPr lang="en-US" altLang="zh-CN" sz="3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-</a:t>
            </a:r>
            <a:endParaRPr lang="en-US" altLang="zh-CN" sz="320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191567" name="AutoShape 79"/>
          <p:cNvSpPr/>
          <p:nvPr/>
        </p:nvSpPr>
        <p:spPr>
          <a:xfrm>
            <a:off x="4932363" y="2997200"/>
            <a:ext cx="792162" cy="71438"/>
          </a:xfrm>
          <a:prstGeom prst="rightArrow">
            <a:avLst>
              <a:gd name="adj1" fmla="val 50000"/>
              <a:gd name="adj2" fmla="val 277168"/>
            </a:avLst>
          </a:prstGeom>
          <a:solidFill>
            <a:srgbClr val="00FFFF"/>
          </a:solidFill>
          <a:ln w="38100" cap="sq" cmpd="sng">
            <a:solidFill>
              <a:srgbClr val="00FF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>
              <a:buClrTx/>
              <a:buFontTx/>
              <a:buNone/>
            </a:pPr>
            <a:endParaRPr lang="zh-CN" altLang="en-US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191568" name="Text Box 80"/>
          <p:cNvSpPr txBox="1"/>
          <p:nvPr/>
        </p:nvSpPr>
        <p:spPr>
          <a:xfrm>
            <a:off x="6227763" y="2344738"/>
            <a:ext cx="504825" cy="641350"/>
          </a:xfrm>
          <a:prstGeom prst="rect">
            <a:avLst/>
          </a:prstGeom>
          <a:noFill/>
          <a:ln w="38100">
            <a:noFill/>
          </a:ln>
        </p:spPr>
        <p:txBody>
          <a:bodyPr anchor="t" anchorCtr="0">
            <a:spAutoFit/>
          </a:bodyPr>
          <a:p>
            <a:pPr algn="ctr" eaLnBrk="0" hangingPunct="0">
              <a:spcBef>
                <a:spcPct val="50000"/>
              </a:spcBef>
              <a:buClrTx/>
              <a:buFontTx/>
              <a:buNone/>
            </a:pPr>
            <a:r>
              <a:rPr lang="en-US" altLang="zh-CN" sz="3600" b="0" i="1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i</a:t>
            </a:r>
            <a:endParaRPr lang="en-US" altLang="zh-CN" sz="3600" b="0" i="1" dirty="0">
              <a:solidFill>
                <a:schemeClr val="tx1"/>
              </a:solidFill>
              <a:latin typeface="Times New Roman" panose="02020603050405020304" pitchFamily="18" charset="0"/>
              <a:ea typeface="仿宋_GB2312" pitchFamily="49" charset="-122"/>
              <a:sym typeface="Symbol" panose="05050102010706020507" pitchFamily="18" charset="2"/>
            </a:endParaRPr>
          </a:p>
        </p:txBody>
      </p:sp>
      <p:sp>
        <p:nvSpPr>
          <p:cNvPr id="191570" name="Text Box 82"/>
          <p:cNvSpPr txBox="1"/>
          <p:nvPr/>
        </p:nvSpPr>
        <p:spPr>
          <a:xfrm>
            <a:off x="2195513" y="3573463"/>
            <a:ext cx="647700" cy="579437"/>
          </a:xfrm>
          <a:prstGeom prst="rect">
            <a:avLst/>
          </a:prstGeom>
          <a:noFill/>
          <a:ln w="38100">
            <a:noFill/>
          </a:ln>
        </p:spPr>
        <p:txBody>
          <a:bodyPr anchor="t" anchorCtr="0">
            <a:spAutoFit/>
          </a:bodyPr>
          <a:p>
            <a:pPr algn="ctr" eaLnBrk="0" hangingPunct="0">
              <a:spcBef>
                <a:spcPct val="50000"/>
              </a:spcBef>
              <a:buClrTx/>
              <a:buFontTx/>
              <a:buNone/>
            </a:pPr>
            <a:r>
              <a:rPr lang="en-US" altLang="zh-CN" sz="3200" b="0" i="1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u</a:t>
            </a:r>
            <a:endParaRPr lang="en-US" altLang="zh-CN" sz="3200" b="0" i="1" dirty="0">
              <a:solidFill>
                <a:schemeClr val="tx1"/>
              </a:solidFill>
              <a:latin typeface="Times New Roman" panose="02020603050405020304" pitchFamily="18" charset="0"/>
              <a:ea typeface="仿宋_GB2312" pitchFamily="49" charset="-122"/>
              <a:sym typeface="Symbol" panose="05050102010706020507" pitchFamily="18" charset="2"/>
            </a:endParaRPr>
          </a:p>
        </p:txBody>
      </p:sp>
      <p:sp>
        <p:nvSpPr>
          <p:cNvPr id="191571" name="Text Box 83"/>
          <p:cNvSpPr txBox="1"/>
          <p:nvPr/>
        </p:nvSpPr>
        <p:spPr>
          <a:xfrm>
            <a:off x="6154738" y="3641725"/>
            <a:ext cx="647700" cy="579438"/>
          </a:xfrm>
          <a:prstGeom prst="rect">
            <a:avLst/>
          </a:prstGeom>
          <a:noFill/>
          <a:ln w="38100">
            <a:noFill/>
          </a:ln>
        </p:spPr>
        <p:txBody>
          <a:bodyPr anchor="t" anchorCtr="0">
            <a:spAutoFit/>
          </a:bodyPr>
          <a:p>
            <a:pPr algn="ctr" eaLnBrk="0" hangingPunct="0">
              <a:spcBef>
                <a:spcPct val="50000"/>
              </a:spcBef>
              <a:buClrTx/>
              <a:buFontTx/>
              <a:buNone/>
            </a:pPr>
            <a:r>
              <a:rPr lang="en-US" altLang="zh-CN" sz="3200" b="0" i="1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u</a:t>
            </a:r>
            <a:endParaRPr lang="en-US" altLang="zh-CN" sz="3200" b="0" i="1" dirty="0">
              <a:solidFill>
                <a:schemeClr val="tx1"/>
              </a:solidFill>
              <a:latin typeface="Times New Roman" panose="02020603050405020304" pitchFamily="18" charset="0"/>
              <a:ea typeface="仿宋_GB2312" pitchFamily="49" charset="-122"/>
              <a:sym typeface="Symbol" panose="05050102010706020507" pitchFamily="18" charset="2"/>
            </a:endParaRPr>
          </a:p>
        </p:txBody>
      </p:sp>
      <p:grpSp>
        <p:nvGrpSpPr>
          <p:cNvPr id="39952" name="Group 85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39953" name="Picture 86" descr="7890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9954" name="Text Box 87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39955" name="Group 88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39956" name="Picture 89" descr="7890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9957" name="Text Box 90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191582" name="Group 94"/>
          <p:cNvGrpSpPr/>
          <p:nvPr/>
        </p:nvGrpSpPr>
        <p:grpSpPr>
          <a:xfrm>
            <a:off x="900113" y="3141663"/>
            <a:ext cx="3384550" cy="288925"/>
            <a:chOff x="2699" y="890"/>
            <a:chExt cx="2086" cy="182"/>
          </a:xfrm>
        </p:grpSpPr>
        <p:sp>
          <p:nvSpPr>
            <p:cNvPr id="39959" name="Line 95"/>
            <p:cNvSpPr/>
            <p:nvPr/>
          </p:nvSpPr>
          <p:spPr>
            <a:xfrm flipH="1">
              <a:off x="2699" y="981"/>
              <a:ext cx="2086" cy="0"/>
            </a:xfrm>
            <a:prstGeom prst="line">
              <a:avLst/>
            </a:prstGeom>
            <a:ln w="38100" cap="sq" cmpd="sng">
              <a:solidFill>
                <a:srgbClr val="FFCC00"/>
              </a:solidFill>
              <a:prstDash val="solid"/>
              <a:round/>
              <a:headEnd type="oval" w="med" len="med"/>
              <a:tailEnd type="oval" w="med" len="med"/>
            </a:ln>
          </p:spPr>
        </p:sp>
        <p:sp>
          <p:nvSpPr>
            <p:cNvPr id="39960" name="Rectangle 96"/>
            <p:cNvSpPr/>
            <p:nvPr/>
          </p:nvSpPr>
          <p:spPr>
            <a:xfrm>
              <a:off x="3515" y="890"/>
              <a:ext cx="408" cy="182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>
                <a:buClrTx/>
                <a:buFontTx/>
                <a:buNone/>
              </a:pPr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</p:grpSp>
      <p:grpSp>
        <p:nvGrpSpPr>
          <p:cNvPr id="191585" name="Group 97"/>
          <p:cNvGrpSpPr/>
          <p:nvPr/>
        </p:nvGrpSpPr>
        <p:grpSpPr>
          <a:xfrm>
            <a:off x="4859338" y="3141663"/>
            <a:ext cx="3384550" cy="288925"/>
            <a:chOff x="2699" y="890"/>
            <a:chExt cx="2086" cy="182"/>
          </a:xfrm>
        </p:grpSpPr>
        <p:sp>
          <p:nvSpPr>
            <p:cNvPr id="39962" name="Line 98"/>
            <p:cNvSpPr/>
            <p:nvPr/>
          </p:nvSpPr>
          <p:spPr>
            <a:xfrm flipH="1">
              <a:off x="2699" y="981"/>
              <a:ext cx="2086" cy="0"/>
            </a:xfrm>
            <a:prstGeom prst="line">
              <a:avLst/>
            </a:prstGeom>
            <a:ln w="38100" cap="sq" cmpd="sng">
              <a:solidFill>
                <a:srgbClr val="FFCC00"/>
              </a:solidFill>
              <a:prstDash val="solid"/>
              <a:round/>
              <a:headEnd type="oval" w="med" len="med"/>
              <a:tailEnd type="oval" w="med" len="med"/>
            </a:ln>
          </p:spPr>
        </p:sp>
        <p:sp>
          <p:nvSpPr>
            <p:cNvPr id="39963" name="Rectangle 99"/>
            <p:cNvSpPr/>
            <p:nvPr/>
          </p:nvSpPr>
          <p:spPr>
            <a:xfrm>
              <a:off x="3515" y="890"/>
              <a:ext cx="408" cy="182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>
                <a:buClrTx/>
                <a:buFontTx/>
                <a:buNone/>
              </a:pPr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</p:grpSp>
      <p:grpSp>
        <p:nvGrpSpPr>
          <p:cNvPr id="39964" name="Group 106"/>
          <p:cNvGrpSpPr/>
          <p:nvPr/>
        </p:nvGrpSpPr>
        <p:grpSpPr>
          <a:xfrm>
            <a:off x="6588125" y="6445250"/>
            <a:ext cx="792163" cy="366713"/>
            <a:chOff x="5193" y="4020"/>
            <a:chExt cx="499" cy="231"/>
          </a:xfrm>
        </p:grpSpPr>
        <p:pic>
          <p:nvPicPr>
            <p:cNvPr id="39965" name="Picture 107" descr="78900">
              <a:hlinkClick r:id="" action="ppaction://hlinkshowjump?jump=firstslide"/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9966" name="Text Box 108">
              <a:hlinkClick r:id="" action="ppaction://hlinkshowjump?jump=firs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15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15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3" dur="500"/>
                                        <p:tgtEl>
                                          <p:spTgt spid="191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75" fill="hold"/>
                                        <p:tgtEl>
                                          <p:spTgt spid="1914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75" fill="hold"/>
                                        <p:tgtEl>
                                          <p:spTgt spid="1914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91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915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915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91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915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915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915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915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000"/>
                            </p:stCondLst>
                            <p:childTnLst>
                              <p:par>
                                <p:cTn id="46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191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500"/>
                            </p:stCondLst>
                            <p:childTnLst>
                              <p:par>
                                <p:cTn id="5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915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915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191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915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915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191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915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915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00"/>
                            </p:stCondLst>
                            <p:childTnLst>
                              <p:par>
                                <p:cTn id="76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915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915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000"/>
                            </p:stCondLst>
                            <p:childTnLst>
                              <p:par>
                                <p:cTn id="81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3" dur="500"/>
                                        <p:tgtEl>
                                          <p:spTgt spid="191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500"/>
                            </p:stCondLst>
                            <p:childTnLst>
                              <p:par>
                                <p:cTn id="8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1915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1915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1493" grpId="0"/>
      <p:bldP spid="191520" grpId="0" animBg="1"/>
      <p:bldP spid="191521" grpId="0" animBg="1"/>
      <p:bldP spid="191522" grpId="0"/>
      <p:bldP spid="191523" grpId="0" animBg="1"/>
      <p:bldP spid="191531" grpId="0" animBg="1"/>
      <p:bldP spid="191532" grpId="0"/>
      <p:bldP spid="191533" grpId="0"/>
      <p:bldP spid="191564" grpId="0"/>
      <p:bldP spid="191565" grpId="0"/>
      <p:bldP spid="191566" grpId="0"/>
      <p:bldP spid="191567" grpId="0" animBg="1"/>
      <p:bldP spid="191568" grpId="0"/>
      <p:bldP spid="191570" grpId="0"/>
      <p:bldP spid="19157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6614" name="Text Box 6"/>
          <p:cNvSpPr txBox="1"/>
          <p:nvPr/>
        </p:nvSpPr>
        <p:spPr>
          <a:xfrm>
            <a:off x="539750" y="3644900"/>
            <a:ext cx="8208963" cy="641350"/>
          </a:xfrm>
          <a:prstGeom prst="rect">
            <a:avLst/>
          </a:prstGeom>
          <a:noFill/>
          <a:ln w="12700">
            <a:noFill/>
          </a:ln>
        </p:spPr>
        <p:txBody>
          <a:bodyPr anchor="ctr" anchorCtr="0"/>
          <a:p>
            <a:pPr marL="476250" indent="-476250" algn="just" eaLnBrk="0" hangingPunct="0">
              <a:buAutoNum type="circleNumDbPlain"/>
            </a:pP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分析电路前必须选定</a:t>
            </a:r>
            <a:r>
              <a:rPr lang="zh-CN" altLang="en-US" dirty="0">
                <a:latin typeface="Times New Roman" panose="02020603050405020304" pitchFamily="18" charset="0"/>
                <a:ea typeface="楷体_GB2312" pitchFamily="49" charset="-122"/>
              </a:rPr>
              <a:t>电压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和</a:t>
            </a:r>
            <a:r>
              <a:rPr lang="zh-CN" altLang="en-US" dirty="0">
                <a:latin typeface="Times New Roman" panose="02020603050405020304" pitchFamily="18" charset="0"/>
                <a:ea typeface="楷体_GB2312" pitchFamily="49" charset="-122"/>
              </a:rPr>
              <a:t>电流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的参考方向</a:t>
            </a:r>
            <a:endParaRPr lang="zh-CN" altLang="en-US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96615" name="Text Box 7"/>
          <p:cNvSpPr txBox="1"/>
          <p:nvPr/>
        </p:nvSpPr>
        <p:spPr>
          <a:xfrm>
            <a:off x="539750" y="4149725"/>
            <a:ext cx="8388350" cy="1081088"/>
          </a:xfrm>
          <a:prstGeom prst="rect">
            <a:avLst/>
          </a:prstGeom>
          <a:noFill/>
          <a:ln w="12700">
            <a:noFill/>
          </a:ln>
        </p:spPr>
        <p:txBody>
          <a:bodyPr anchor="ctr" anchorCtr="0"/>
          <a:p>
            <a:pPr marL="476250" indent="-476250" eaLnBrk="0" hangingPunct="0">
              <a:lnSpc>
                <a:spcPct val="120000"/>
              </a:lnSpc>
              <a:buAutoNum type="circleNumDbPlain" startAt="2"/>
            </a:pP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参考方向一经选定，必须在图中相应位置标注   </a:t>
            </a:r>
            <a:r>
              <a:rPr lang="en-US" altLang="zh-CN" dirty="0">
                <a:latin typeface="楷体_GB2312" pitchFamily="49" charset="-122"/>
                <a:ea typeface="楷体_GB2312" pitchFamily="49" charset="-122"/>
              </a:rPr>
              <a:t>(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包括方向和</a:t>
            </a:r>
            <a:r>
              <a:rPr lang="zh-CN" altLang="zh-CN" dirty="0">
                <a:latin typeface="楷体_GB2312" pitchFamily="49" charset="-122"/>
                <a:ea typeface="楷体_GB2312" pitchFamily="49" charset="-122"/>
              </a:rPr>
              <a:t>符号</a:t>
            </a:r>
            <a:r>
              <a:rPr lang="en-US" altLang="zh-CN" dirty="0">
                <a:latin typeface="楷体_GB2312" pitchFamily="49" charset="-122"/>
                <a:ea typeface="楷体_GB2312" pitchFamily="49" charset="-122"/>
              </a:rPr>
              <a:t>)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，</a:t>
            </a:r>
            <a:r>
              <a:rPr lang="zh-CN" altLang="en-US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在计算过程中不得任意改变</a:t>
            </a:r>
            <a:endParaRPr lang="zh-CN" altLang="en-US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96644" name="Text Box 36"/>
          <p:cNvSpPr txBox="1"/>
          <p:nvPr/>
        </p:nvSpPr>
        <p:spPr>
          <a:xfrm>
            <a:off x="539750" y="5157788"/>
            <a:ext cx="8135938" cy="11176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 marL="342900" indent="-342900" eaLnBrk="0" hangingPunct="0">
              <a:lnSpc>
                <a:spcPct val="120000"/>
              </a:lnSpc>
              <a:buAutoNum type="circleNumDbPlain" startAt="3"/>
            </a:pP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参考方向不同时，其表达式相差一负号，但电压、电流的实际方向不变。</a:t>
            </a:r>
            <a:endParaRPr lang="zh-CN" altLang="en-US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96701" name="Text Box 93"/>
          <p:cNvSpPr txBox="1"/>
          <p:nvPr/>
        </p:nvSpPr>
        <p:spPr>
          <a:xfrm>
            <a:off x="395288" y="620713"/>
            <a:ext cx="504825" cy="579437"/>
          </a:xfrm>
          <a:prstGeom prst="rect">
            <a:avLst/>
          </a:prstGeom>
          <a:noFill/>
          <a:ln w="38100">
            <a:noFill/>
          </a:ln>
        </p:spPr>
        <p:txBody>
          <a:bodyPr anchor="t" anchorCtr="0">
            <a:spAutoFit/>
          </a:bodyPr>
          <a:p>
            <a:pPr algn="ctr" eaLnBrk="0" hangingPunct="0">
              <a:spcBef>
                <a:spcPct val="50000"/>
              </a:spcBef>
              <a:buClrTx/>
              <a:buFontTx/>
              <a:buNone/>
            </a:pPr>
            <a:r>
              <a:rPr lang="zh-CN" altLang="en-US" sz="3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例</a:t>
            </a:r>
            <a:endParaRPr lang="zh-CN" altLang="en-US" sz="3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196705" name="Text Box 97"/>
          <p:cNvSpPr txBox="1"/>
          <p:nvPr/>
        </p:nvSpPr>
        <p:spPr>
          <a:xfrm>
            <a:off x="3419475" y="549275"/>
            <a:ext cx="5184775" cy="1630363"/>
          </a:xfrm>
          <a:prstGeom prst="rect">
            <a:avLst/>
          </a:prstGeom>
          <a:noFill/>
          <a:ln w="38100">
            <a:noFill/>
          </a:ln>
        </p:spPr>
        <p:txBody>
          <a:bodyPr anchor="t" anchorCtr="0">
            <a:spAutoFit/>
          </a:bodyPr>
          <a:p>
            <a:pPr eaLnBrk="0" hangingPunct="0">
              <a:lnSpc>
                <a:spcPct val="120000"/>
              </a:lnSpc>
              <a:buClrTx/>
              <a:buFontTx/>
              <a:buNone/>
            </a:pPr>
            <a:r>
              <a:rPr lang="zh-CN" altLang="en-US" dirty="0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电压电流参考方向如图中所标，问：对</a:t>
            </a:r>
            <a:r>
              <a:rPr lang="en-US" altLang="zh-CN" b="0" dirty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A</a:t>
            </a:r>
            <a:r>
              <a:rPr lang="zh-CN" altLang="en-US" b="0" dirty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、</a:t>
            </a:r>
            <a:r>
              <a:rPr lang="en-US" altLang="zh-CN" b="0" dirty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B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两部分电路电压电流参考方向关联否？</a:t>
            </a:r>
            <a:endParaRPr lang="zh-CN" altLang="en-US" dirty="0">
              <a:latin typeface="楷体_GB2312" pitchFamily="49" charset="-122"/>
              <a:ea typeface="楷体_GB2312" pitchFamily="49" charset="-122"/>
              <a:sym typeface="Symbol" panose="05050102010706020507" pitchFamily="18" charset="2"/>
            </a:endParaRPr>
          </a:p>
        </p:txBody>
      </p:sp>
      <p:sp>
        <p:nvSpPr>
          <p:cNvPr id="196706" name="Text Box 98"/>
          <p:cNvSpPr txBox="1"/>
          <p:nvPr/>
        </p:nvSpPr>
        <p:spPr>
          <a:xfrm>
            <a:off x="3059113" y="2205038"/>
            <a:ext cx="6084887" cy="1031875"/>
          </a:xfrm>
          <a:prstGeom prst="rect">
            <a:avLst/>
          </a:prstGeom>
          <a:noFill/>
          <a:ln w="38100">
            <a:noFill/>
          </a:ln>
        </p:spPr>
        <p:txBody>
          <a:bodyPr anchor="t" anchorCtr="0">
            <a:spAutoFit/>
          </a:bodyPr>
          <a:p>
            <a:pPr algn="ctr" eaLnBrk="0" hangingPunct="0">
              <a:spcBef>
                <a:spcPct val="20000"/>
              </a:spcBef>
              <a:buClrTx/>
              <a:buFontTx/>
              <a:buNone/>
            </a:pPr>
            <a:r>
              <a:rPr lang="zh-CN" altLang="en-US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答：</a:t>
            </a:r>
            <a:r>
              <a: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A</a:t>
            </a:r>
            <a:r>
              <a:rPr lang="zh-CN" altLang="en-US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电压、电流参考方向非关联；</a:t>
            </a:r>
            <a:endParaRPr lang="zh-CN" altLang="en-US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  <a:sym typeface="Symbol" panose="05050102010706020507" pitchFamily="18" charset="2"/>
            </a:endParaRPr>
          </a:p>
          <a:p>
            <a:pPr algn="ctr" eaLnBrk="0" hangingPunct="0">
              <a:spcBef>
                <a:spcPct val="20000"/>
              </a:spcBef>
              <a:buClrTx/>
              <a:buFontTx/>
              <a:buNone/>
            </a:pPr>
            <a:r>
              <a:rPr lang="zh-CN" altLang="en-US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  </a:t>
            </a:r>
            <a:r>
              <a: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B</a:t>
            </a:r>
            <a:r>
              <a:rPr lang="zh-CN" altLang="en-US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电压、电流参考方向关联。</a:t>
            </a:r>
            <a:endParaRPr lang="zh-CN" altLang="en-US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  <a:sym typeface="Symbol" panose="05050102010706020507" pitchFamily="18" charset="2"/>
            </a:endParaRPr>
          </a:p>
        </p:txBody>
      </p:sp>
      <p:grpSp>
        <p:nvGrpSpPr>
          <p:cNvPr id="40967" name="Group 112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40968" name="Picture 113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0969" name="Text Box 114">
              <a:hlinkClick r:id="rId2" action="ppaction://hlinksldjump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40970" name="Group 115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40971" name="Picture 116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0972" name="Text Box 117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196729" name="Group 121"/>
          <p:cNvGrpSpPr/>
          <p:nvPr/>
        </p:nvGrpSpPr>
        <p:grpSpPr>
          <a:xfrm>
            <a:off x="395288" y="2997200"/>
            <a:ext cx="1644650" cy="850900"/>
            <a:chOff x="385" y="3022"/>
            <a:chExt cx="1036" cy="536"/>
          </a:xfrm>
        </p:grpSpPr>
        <p:pic>
          <p:nvPicPr>
            <p:cNvPr id="40974" name="Picture 122" descr="12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85" y="3022"/>
              <a:ext cx="590" cy="536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0975" name="Text Box 123"/>
            <p:cNvSpPr txBox="1"/>
            <p:nvPr/>
          </p:nvSpPr>
          <p:spPr>
            <a:xfrm>
              <a:off x="793" y="3125"/>
              <a:ext cx="628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ClrTx/>
                <a:buFontTx/>
                <a:buNone/>
              </a:pPr>
              <a:r>
                <a:rPr lang="zh-CN" altLang="en-US" sz="3200" b="0" dirty="0">
                  <a:solidFill>
                    <a:srgbClr val="FA7748"/>
                  </a:solidFill>
                  <a:latin typeface="Times New Roman" panose="02020603050405020304" pitchFamily="18" charset="0"/>
                  <a:ea typeface="华文行楷" panose="02010800040101010101" pitchFamily="2" charset="-122"/>
                </a:rPr>
                <a:t>注意</a:t>
              </a:r>
              <a:endParaRPr lang="zh-CN" altLang="en-US" sz="3200" b="0" dirty="0">
                <a:solidFill>
                  <a:srgbClr val="FA7748"/>
                </a:solidFill>
                <a:latin typeface="Times New Roman" panose="02020603050405020304" pitchFamily="18" charset="0"/>
                <a:ea typeface="华文行楷" panose="02010800040101010101" pitchFamily="2" charset="-122"/>
              </a:endParaRPr>
            </a:p>
          </p:txBody>
        </p:sp>
      </p:grpSp>
      <p:grpSp>
        <p:nvGrpSpPr>
          <p:cNvPr id="196732" name="Group 124"/>
          <p:cNvGrpSpPr/>
          <p:nvPr/>
        </p:nvGrpSpPr>
        <p:grpSpPr>
          <a:xfrm>
            <a:off x="684213" y="476250"/>
            <a:ext cx="2303462" cy="2447925"/>
            <a:chOff x="1973" y="1979"/>
            <a:chExt cx="1451" cy="1542"/>
          </a:xfrm>
        </p:grpSpPr>
        <p:sp>
          <p:nvSpPr>
            <p:cNvPr id="40977" name="Text Box 125"/>
            <p:cNvSpPr txBox="1"/>
            <p:nvPr/>
          </p:nvSpPr>
          <p:spPr>
            <a:xfrm>
              <a:off x="2562" y="2251"/>
              <a:ext cx="408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4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＋</a:t>
              </a:r>
              <a:endPara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40978" name="Text Box 126"/>
            <p:cNvSpPr txBox="1"/>
            <p:nvPr/>
          </p:nvSpPr>
          <p:spPr>
            <a:xfrm>
              <a:off x="2562" y="3158"/>
              <a:ext cx="408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－</a:t>
              </a:r>
              <a:endPara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40979" name="Text Box 127"/>
            <p:cNvSpPr txBox="1"/>
            <p:nvPr/>
          </p:nvSpPr>
          <p:spPr>
            <a:xfrm>
              <a:off x="2517" y="2659"/>
              <a:ext cx="363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u</a:t>
              </a:r>
              <a:endParaRPr lang="en-US" altLang="zh-CN" b="0" i="1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40980" name="Rectangle 128" descr="斜纹布"/>
            <p:cNvSpPr/>
            <p:nvPr/>
          </p:nvSpPr>
          <p:spPr>
            <a:xfrm>
              <a:off x="2245" y="2296"/>
              <a:ext cx="953" cy="1225"/>
            </a:xfrm>
            <a:prstGeom prst="rect">
              <a:avLst/>
            </a:prstGeom>
            <a:noFill/>
            <a:ln w="28575" cap="sq" cmpd="sng">
              <a:solidFill>
                <a:srgbClr val="FFCC00"/>
              </a:solidFill>
              <a:prstDash val="solid"/>
              <a:miter/>
              <a:headEnd type="none" w="med" len="med"/>
              <a:tailEnd type="none" w="med" len="med"/>
            </a:ln>
            <a:effectLst>
              <a:prstShdw prst="shdw17" dist="17961" dir="2699999">
                <a:schemeClr val="bg2"/>
              </a:prstShdw>
            </a:effectLst>
          </p:spPr>
          <p:txBody>
            <a:bodyPr wrap="none" anchor="ctr" anchorCtr="0"/>
            <a:p>
              <a:pPr>
                <a:buClrTx/>
                <a:buFontTx/>
                <a:buNone/>
              </a:pPr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40981" name="Text Box 129"/>
            <p:cNvSpPr txBox="1"/>
            <p:nvPr/>
          </p:nvSpPr>
          <p:spPr>
            <a:xfrm>
              <a:off x="2925" y="2704"/>
              <a:ext cx="499" cy="327"/>
            </a:xfrm>
            <a:prstGeom prst="rect">
              <a:avLst/>
            </a:prstGeom>
            <a:gradFill rotWithShape="1">
              <a:gsLst>
                <a:gs pos="0">
                  <a:srgbClr val="FF9900"/>
                </a:gs>
                <a:gs pos="100000">
                  <a:srgbClr val="764700"/>
                </a:gs>
              </a:gsLst>
              <a:path path="shape">
                <a:fillToRect l="50000" t="50000" r="50000" b="50000"/>
              </a:path>
              <a:tileRect/>
            </a:gradFill>
            <a:ln w="2857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b="0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B</a:t>
              </a:r>
              <a:endPara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40982" name="Text Box 130"/>
            <p:cNvSpPr txBox="1"/>
            <p:nvPr/>
          </p:nvSpPr>
          <p:spPr>
            <a:xfrm>
              <a:off x="1973" y="2704"/>
              <a:ext cx="498" cy="327"/>
            </a:xfrm>
            <a:prstGeom prst="rect">
              <a:avLst/>
            </a:prstGeom>
            <a:gradFill rotWithShape="1">
              <a:gsLst>
                <a:gs pos="0">
                  <a:srgbClr val="FF9900"/>
                </a:gs>
                <a:gs pos="100000">
                  <a:srgbClr val="764700"/>
                </a:gs>
              </a:gsLst>
              <a:path path="shape">
                <a:fillToRect l="50000" t="50000" r="50000" b="50000"/>
              </a:path>
              <a:tileRect/>
            </a:gradFill>
            <a:ln w="2857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b="0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A</a:t>
              </a:r>
              <a:endPara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40983" name="Line 131"/>
            <p:cNvSpPr/>
            <p:nvPr/>
          </p:nvSpPr>
          <p:spPr>
            <a:xfrm>
              <a:off x="2517" y="2205"/>
              <a:ext cx="408" cy="0"/>
            </a:xfrm>
            <a:prstGeom prst="line">
              <a:avLst/>
            </a:prstGeom>
            <a:ln w="38100" cap="sq" cmpd="sng">
              <a:solidFill>
                <a:srgbClr val="00FFFF"/>
              </a:solidFill>
              <a:prstDash val="solid"/>
              <a:round/>
              <a:headEnd type="none" w="med" len="med"/>
              <a:tailEnd type="triangle" w="med" len="med"/>
            </a:ln>
            <a:effectLst>
              <a:prstShdw prst="shdw17" dist="17961" dir="2699999">
                <a:schemeClr val="bg2"/>
              </a:prstShdw>
            </a:effectLst>
          </p:spPr>
        </p:sp>
        <p:sp>
          <p:nvSpPr>
            <p:cNvPr id="40984" name="Text Box 132"/>
            <p:cNvSpPr txBox="1"/>
            <p:nvPr/>
          </p:nvSpPr>
          <p:spPr>
            <a:xfrm>
              <a:off x="2880" y="1979"/>
              <a:ext cx="363" cy="365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3200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i</a:t>
              </a:r>
              <a:endParaRPr lang="en-US" altLang="zh-CN" sz="3200" b="0" i="1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</p:grpSp>
      <p:grpSp>
        <p:nvGrpSpPr>
          <p:cNvPr id="40985" name="Group 139"/>
          <p:cNvGrpSpPr/>
          <p:nvPr/>
        </p:nvGrpSpPr>
        <p:grpSpPr>
          <a:xfrm>
            <a:off x="6588125" y="6445250"/>
            <a:ext cx="792163" cy="366713"/>
            <a:chOff x="5193" y="4020"/>
            <a:chExt cx="499" cy="231"/>
          </a:xfrm>
        </p:grpSpPr>
        <p:pic>
          <p:nvPicPr>
            <p:cNvPr id="40986" name="Picture 140" descr="78900">
              <a:hlinkClick r:id="" action="ppaction://hlinkshowjump?jump=firstslide"/>
            </p:cNvPr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0987" name="Text Box 141">
              <a:hlinkClick r:id="" action="ppaction://hlinkshowjump?jump=firs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967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967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967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1967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196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80" fill="hold"/>
                                        <p:tgtEl>
                                          <p:spTgt spid="1967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80" fill="hold"/>
                                        <p:tgtEl>
                                          <p:spTgt spid="1967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706">
                                            <p:txEl>
                                              <p:charRg st="0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80" fill="hold"/>
                                        <p:tgtEl>
                                          <p:spTgt spid="196706">
                                            <p:txEl>
                                              <p:charRg st="0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80" fill="hold"/>
                                        <p:tgtEl>
                                          <p:spTgt spid="196706">
                                            <p:txEl>
                                              <p:charRg st="0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706">
                                            <p:txEl>
                                              <p:charRg st="17" end="3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80" fill="hold"/>
                                        <p:tgtEl>
                                          <p:spTgt spid="196706">
                                            <p:txEl>
                                              <p:charRg st="17" end="3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80" fill="hold"/>
                                        <p:tgtEl>
                                          <p:spTgt spid="196706">
                                            <p:txEl>
                                              <p:charRg st="17" end="3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96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75" fill="hold"/>
                                        <p:tgtEl>
                                          <p:spTgt spid="1966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75" fill="hold"/>
                                        <p:tgtEl>
                                          <p:spTgt spid="1966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75" fill="hold"/>
                                        <p:tgtEl>
                                          <p:spTgt spid="1966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75" fill="hold"/>
                                        <p:tgtEl>
                                          <p:spTgt spid="1966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75" fill="hold"/>
                                        <p:tgtEl>
                                          <p:spTgt spid="1966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75" fill="hold"/>
                                        <p:tgtEl>
                                          <p:spTgt spid="1966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80" fill="hold"/>
                                        <p:tgtEl>
                                          <p:spTgt spid="1966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80" fill="hold"/>
                                        <p:tgtEl>
                                          <p:spTgt spid="1966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6614" grpId="0"/>
      <p:bldP spid="196615" grpId="0"/>
      <p:bldP spid="196644" grpId="0"/>
      <p:bldP spid="196701" grpId="0"/>
      <p:bldP spid="19670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2517" name="Rectangle 5"/>
          <p:cNvSpPr/>
          <p:nvPr/>
        </p:nvSpPr>
        <p:spPr>
          <a:xfrm>
            <a:off x="684213" y="476250"/>
            <a:ext cx="7559675" cy="701675"/>
          </a:xfrm>
          <a:prstGeom prst="rect">
            <a:avLst/>
          </a:prstGeom>
          <a:noFill/>
          <a:ln w="12700">
            <a:noFill/>
          </a:ln>
          <a:effectLst>
            <a:prstShdw prst="shdw17" dist="17961" dir="2699999">
              <a:srgbClr val="990000"/>
            </a:prstShdw>
          </a:effectLst>
        </p:spPr>
        <p:txBody>
          <a:bodyPr anchor="ctr" anchorCtr="0">
            <a:spAutoFit/>
          </a:bodyPr>
          <a:p>
            <a:pPr algn="ctr" eaLnBrk="0" hangingPunct="0">
              <a:spcBef>
                <a:spcPct val="50000"/>
              </a:spcBef>
              <a:buClrTx/>
              <a:buFontTx/>
              <a:buNone/>
            </a:pPr>
            <a:r>
              <a:rPr lang="en-US" altLang="zh-CN" sz="40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1.3  </a:t>
            </a:r>
            <a:r>
              <a:rPr lang="zh-CN" altLang="en-US" sz="40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电功率和能量</a:t>
            </a:r>
            <a:endParaRPr lang="zh-CN" altLang="en-US" sz="4000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92518" name="Text Box 6"/>
          <p:cNvSpPr txBox="1"/>
          <p:nvPr/>
        </p:nvSpPr>
        <p:spPr>
          <a:xfrm>
            <a:off x="242888" y="1235075"/>
            <a:ext cx="2025650" cy="579438"/>
          </a:xfrm>
          <a:prstGeom prst="rect">
            <a:avLst/>
          </a:prstGeom>
          <a:noFill/>
          <a:ln w="12700">
            <a:noFill/>
          </a:ln>
        </p:spPr>
        <p:txBody>
          <a:bodyPr anchor="ctr" anchorCtr="0">
            <a:spAutoFit/>
          </a:bodyPr>
          <a:p>
            <a:pPr algn="ctr" eaLnBrk="0" hangingPunct="0">
              <a:spcBef>
                <a:spcPct val="50000"/>
              </a:spcBef>
              <a:buClrTx/>
              <a:buFontTx/>
              <a:buNone/>
            </a:pPr>
            <a:r>
              <a:rPr lang="en-US" altLang="zh-CN" sz="32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1.</a:t>
            </a:r>
            <a:r>
              <a:rPr lang="zh-CN" altLang="en-US" sz="32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电功率</a:t>
            </a:r>
            <a:endParaRPr lang="zh-CN" altLang="en-US" sz="3200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192519" name="Object 7" descr="羊皮纸"/>
          <p:cNvGraphicFramePr>
            <a:graphicFrameLocks noChangeAspect="1"/>
          </p:cNvGraphicFramePr>
          <p:nvPr/>
        </p:nvGraphicFramePr>
        <p:xfrm>
          <a:off x="1331913" y="1916113"/>
          <a:ext cx="1512887" cy="1231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" r:id="rId1" imgW="492125" imgH="399415" progId="Equation.3">
                  <p:embed/>
                </p:oleObj>
              </mc:Choice>
              <mc:Fallback>
                <p:oleObj name="" r:id="rId1" imgW="492125" imgH="399415" progId="Equation.3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8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331913" y="1916113"/>
                        <a:ext cx="1512887" cy="1231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2520" name="Object 8"/>
          <p:cNvGraphicFramePr>
            <a:graphicFrameLocks noChangeAspect="1"/>
          </p:cNvGraphicFramePr>
          <p:nvPr/>
        </p:nvGraphicFramePr>
        <p:xfrm>
          <a:off x="1908175" y="3284538"/>
          <a:ext cx="4608513" cy="1476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3" imgW="1497965" imgH="482600" progId="Equation.3">
                  <p:embed/>
                </p:oleObj>
              </mc:Choice>
              <mc:Fallback>
                <p:oleObj name="" r:id="rId3" imgW="1497965" imgH="482600" progId="Equation.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08175" y="3284538"/>
                        <a:ext cx="4608513" cy="1476375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chemeClr val="tx1"/>
                          </a:gs>
                          <a:gs pos="100000">
                            <a:schemeClr val="hlink"/>
                          </a:gs>
                        </a:gsLst>
                        <a:lin ang="2700000" scaled="1"/>
                        <a:tileRect/>
                      </a:gra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2521" name="Text Box 9"/>
          <p:cNvSpPr txBox="1"/>
          <p:nvPr/>
        </p:nvSpPr>
        <p:spPr>
          <a:xfrm>
            <a:off x="1042988" y="4910138"/>
            <a:ext cx="7489825" cy="519112"/>
          </a:xfrm>
          <a:prstGeom prst="rect">
            <a:avLst/>
          </a:prstGeom>
          <a:noFill/>
          <a:ln w="12700">
            <a:noFill/>
          </a:ln>
        </p:spPr>
        <p:txBody>
          <a:bodyPr anchor="ctr" anchorCtr="0">
            <a:spAutoFit/>
          </a:bodyPr>
          <a:p>
            <a:pPr eaLnBrk="0" hangingPunct="0">
              <a:spcBef>
                <a:spcPct val="50000"/>
              </a:spcBef>
              <a:buClrTx/>
              <a:buFontTx/>
              <a:buNone/>
            </a:pP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功率的单位：</a:t>
            </a:r>
            <a:r>
              <a:rPr lang="en-US" altLang="zh-CN" b="0" dirty="0">
                <a:latin typeface="Times New Roman" panose="02020603050405020304" pitchFamily="18" charset="0"/>
                <a:ea typeface="楷体_GB2312" pitchFamily="49" charset="-122"/>
              </a:rPr>
              <a:t>W</a:t>
            </a:r>
            <a:r>
              <a:rPr lang="en-US" altLang="zh-CN" dirty="0">
                <a:latin typeface="楷体_GB2312" pitchFamily="49" charset="-122"/>
                <a:ea typeface="楷体_GB2312" pitchFamily="49" charset="-122"/>
              </a:rPr>
              <a:t> (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瓦</a:t>
            </a:r>
            <a:r>
              <a:rPr lang="en-US" altLang="zh-CN" dirty="0">
                <a:latin typeface="楷体_GB2312" pitchFamily="49" charset="-122"/>
                <a:ea typeface="楷体_GB2312" pitchFamily="49" charset="-122"/>
              </a:rPr>
              <a:t>) (</a:t>
            </a:r>
            <a:r>
              <a:rPr lang="en-US" altLang="zh-CN" b="0" dirty="0">
                <a:latin typeface="Times New Roman" panose="02020603050405020304" pitchFamily="18" charset="0"/>
                <a:ea typeface="楷体_GB2312" pitchFamily="49" charset="-122"/>
              </a:rPr>
              <a:t>Watt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，瓦特</a:t>
            </a:r>
            <a:r>
              <a:rPr lang="en-US" altLang="zh-CN" dirty="0">
                <a:latin typeface="楷体_GB2312" pitchFamily="49" charset="-122"/>
                <a:ea typeface="楷体_GB2312" pitchFamily="49" charset="-122"/>
              </a:rPr>
              <a:t>)</a:t>
            </a:r>
            <a:endParaRPr lang="en-US" altLang="zh-CN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92522" name="Text Box 10"/>
          <p:cNvSpPr txBox="1"/>
          <p:nvPr/>
        </p:nvSpPr>
        <p:spPr>
          <a:xfrm>
            <a:off x="1042988" y="5516563"/>
            <a:ext cx="7273925" cy="519112"/>
          </a:xfrm>
          <a:prstGeom prst="rect">
            <a:avLst/>
          </a:prstGeom>
          <a:noFill/>
          <a:ln w="12700">
            <a:noFill/>
          </a:ln>
        </p:spPr>
        <p:txBody>
          <a:bodyPr anchor="ctr" anchorCtr="0">
            <a:spAutoFit/>
          </a:bodyPr>
          <a:p>
            <a:pPr eaLnBrk="0" hangingPunct="0">
              <a:spcBef>
                <a:spcPct val="50000"/>
              </a:spcBef>
              <a:buClrTx/>
              <a:buFontTx/>
              <a:buNone/>
            </a:pP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能量的单位：</a:t>
            </a:r>
            <a:r>
              <a:rPr lang="en-US" altLang="zh-CN" b="0" dirty="0">
                <a:latin typeface="Times New Roman" panose="02020603050405020304" pitchFamily="18" charset="0"/>
                <a:ea typeface="楷体_GB2312" pitchFamily="49" charset="-122"/>
              </a:rPr>
              <a:t>J</a:t>
            </a:r>
            <a:r>
              <a:rPr lang="en-US" altLang="zh-CN" dirty="0">
                <a:latin typeface="楷体_GB2312" pitchFamily="49" charset="-122"/>
                <a:ea typeface="楷体_GB2312" pitchFamily="49" charset="-122"/>
              </a:rPr>
              <a:t>  (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焦</a:t>
            </a:r>
            <a:r>
              <a:rPr lang="en-US" altLang="zh-CN" dirty="0">
                <a:latin typeface="楷体_GB2312" pitchFamily="49" charset="-122"/>
                <a:ea typeface="楷体_GB2312" pitchFamily="49" charset="-122"/>
              </a:rPr>
              <a:t>) (</a:t>
            </a:r>
            <a:r>
              <a:rPr lang="en-US" altLang="zh-CN" b="0" dirty="0">
                <a:latin typeface="Times New Roman" panose="02020603050405020304" pitchFamily="18" charset="0"/>
                <a:ea typeface="楷体_GB2312" pitchFamily="49" charset="-122"/>
              </a:rPr>
              <a:t>Joule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，焦耳</a:t>
            </a:r>
            <a:r>
              <a:rPr lang="en-US" altLang="zh-CN" dirty="0">
                <a:latin typeface="楷体_GB2312" pitchFamily="49" charset="-122"/>
                <a:ea typeface="楷体_GB2312" pitchFamily="49" charset="-122"/>
              </a:rPr>
              <a:t>)</a:t>
            </a:r>
            <a:endParaRPr lang="en-US" altLang="zh-CN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92525" name="AutoShape 13"/>
          <p:cNvSpPr/>
          <p:nvPr/>
        </p:nvSpPr>
        <p:spPr>
          <a:xfrm>
            <a:off x="2555875" y="1557338"/>
            <a:ext cx="647700" cy="73025"/>
          </a:xfrm>
          <a:prstGeom prst="rightArrow">
            <a:avLst>
              <a:gd name="adj1" fmla="val 50000"/>
              <a:gd name="adj2" fmla="val 221698"/>
            </a:avLst>
          </a:prstGeom>
          <a:solidFill>
            <a:schemeClr val="hlink"/>
          </a:solidFill>
          <a:ln w="38100" cap="sq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>
              <a:buClrTx/>
              <a:buFontTx/>
              <a:buNone/>
            </a:pPr>
            <a:endParaRPr lang="zh-CN" altLang="en-US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192526" name="Text Box 14"/>
          <p:cNvSpPr txBox="1"/>
          <p:nvPr/>
        </p:nvSpPr>
        <p:spPr>
          <a:xfrm>
            <a:off x="3276600" y="1268413"/>
            <a:ext cx="5040313" cy="519112"/>
          </a:xfrm>
          <a:prstGeom prst="rect">
            <a:avLst/>
          </a:prstGeom>
          <a:noFill/>
          <a:ln w="38100">
            <a:noFill/>
          </a:ln>
        </p:spPr>
        <p:txBody>
          <a:bodyPr anchor="t" anchorCtr="0">
            <a:spAutoFit/>
          </a:bodyPr>
          <a:p>
            <a:pPr algn="ctr" eaLnBrk="0" hangingPunct="0">
              <a:spcBef>
                <a:spcPct val="50000"/>
              </a:spcBef>
              <a:buClrTx/>
              <a:buFontTx/>
              <a:buNone/>
            </a:pPr>
            <a:r>
              <a:rPr lang="zh-CN" altLang="en-US" dirty="0">
                <a:latin typeface="Times New Roman" panose="02020603050405020304" pitchFamily="18" charset="0"/>
                <a:ea typeface="楷体_GB2312" pitchFamily="49" charset="-122"/>
              </a:rPr>
              <a:t>单位时间内电场力所做的功。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ea typeface="楷体_GB2312" pitchFamily="49" charset="-122"/>
              <a:sym typeface="Symbol" panose="05050102010706020507" pitchFamily="18" charset="2"/>
            </a:endParaRPr>
          </a:p>
        </p:txBody>
      </p:sp>
      <p:grpSp>
        <p:nvGrpSpPr>
          <p:cNvPr id="41993" name="Group 18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41994" name="Picture 19" descr="7890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1995" name="Text Box 20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41996" name="Group 21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41997" name="Picture 22" descr="7890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1998" name="Text Box 23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aphicFrame>
        <p:nvGraphicFramePr>
          <p:cNvPr id="192539" name="Object 27" descr="羊皮纸"/>
          <p:cNvGraphicFramePr>
            <a:graphicFrameLocks noChangeAspect="1"/>
          </p:cNvGraphicFramePr>
          <p:nvPr/>
        </p:nvGraphicFramePr>
        <p:xfrm>
          <a:off x="3348038" y="1989138"/>
          <a:ext cx="1295400" cy="1165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6" imgW="468630" imgH="422275" progId="Equation.3">
                  <p:embed/>
                </p:oleObj>
              </mc:Choice>
              <mc:Fallback>
                <p:oleObj name="" r:id="rId6" imgW="468630" imgH="422275" progId="Equation.3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7">
                        <a:clrChange>
                          <a:clrFrom>
                            <a:srgbClr val="000000"/>
                          </a:clrFrom>
                          <a:clrTo>
                            <a:srgbClr val="00008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348038" y="1989138"/>
                        <a:ext cx="1295400" cy="11652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2540" name="Object 28" descr="羊皮纸"/>
          <p:cNvGraphicFramePr>
            <a:graphicFrameLocks noChangeAspect="1"/>
          </p:cNvGraphicFramePr>
          <p:nvPr/>
        </p:nvGraphicFramePr>
        <p:xfrm>
          <a:off x="5364163" y="1916113"/>
          <a:ext cx="1271587" cy="1231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" r:id="rId8" imgW="410845" imgH="399415" progId="Equation.3">
                  <p:embed/>
                </p:oleObj>
              </mc:Choice>
              <mc:Fallback>
                <p:oleObj name="" r:id="rId8" imgW="410845" imgH="399415" progId="Equation.3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9">
                        <a:clrChange>
                          <a:clrFrom>
                            <a:srgbClr val="000000"/>
                          </a:clrFrom>
                          <a:clrTo>
                            <a:srgbClr val="00008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364163" y="1916113"/>
                        <a:ext cx="1271587" cy="1231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2001" name="Group 35"/>
          <p:cNvGrpSpPr/>
          <p:nvPr/>
        </p:nvGrpSpPr>
        <p:grpSpPr>
          <a:xfrm>
            <a:off x="6588125" y="6445250"/>
            <a:ext cx="792163" cy="366713"/>
            <a:chOff x="5193" y="4020"/>
            <a:chExt cx="499" cy="231"/>
          </a:xfrm>
        </p:grpSpPr>
        <p:pic>
          <p:nvPicPr>
            <p:cNvPr id="42002" name="Picture 36" descr="78900">
              <a:hlinkClick r:id="" action="ppaction://hlinkshowjump?jump=firstslide"/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2003" name="Text Box 37">
              <a:hlinkClick r:id="" action="ppaction://hlinkshowjump?jump=firs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25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25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925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925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9" dur="500"/>
                                        <p:tgtEl>
                                          <p:spTgt spid="192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80" fill="hold"/>
                                        <p:tgtEl>
                                          <p:spTgt spid="1925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80" fill="hold"/>
                                        <p:tgtEl>
                                          <p:spTgt spid="1925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925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925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925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925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925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925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7" dur="2000"/>
                                        <p:tgtEl>
                                          <p:spTgt spid="192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92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92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2517" grpId="0"/>
      <p:bldP spid="192518" grpId="0"/>
      <p:bldP spid="192521" grpId="0"/>
      <p:bldP spid="192522" grpId="0"/>
      <p:bldP spid="192525" grpId="0" animBg="1"/>
      <p:bldP spid="19252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8660" name="Text Box 4"/>
          <p:cNvSpPr txBox="1"/>
          <p:nvPr/>
        </p:nvSpPr>
        <p:spPr>
          <a:xfrm>
            <a:off x="539750" y="549275"/>
            <a:ext cx="6192838" cy="579438"/>
          </a:xfrm>
          <a:prstGeom prst="rect">
            <a:avLst/>
          </a:prstGeom>
          <a:noFill/>
          <a:ln w="12700">
            <a:noFill/>
          </a:ln>
          <a:effectLst>
            <a:outerShdw dist="107763" dir="18900000" algn="ctr" rotWithShape="0">
              <a:schemeClr val="bg2">
                <a:alpha val="50000"/>
              </a:schemeClr>
            </a:outerShdw>
          </a:effectLst>
        </p:spPr>
        <p:txBody>
          <a:bodyPr anchor="ctr" anchorCtr="0">
            <a:spAutoFit/>
          </a:bodyPr>
          <a:p>
            <a:pPr eaLnBrk="0" hangingPunct="0">
              <a:spcBef>
                <a:spcPct val="50000"/>
              </a:spcBef>
              <a:buClrTx/>
              <a:buFontTx/>
              <a:buNone/>
            </a:pPr>
            <a:r>
              <a:rPr lang="en-US" altLang="zh-CN" sz="32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2. </a:t>
            </a:r>
            <a:r>
              <a:rPr lang="zh-CN" altLang="en-US" sz="32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电路吸收或发出功率的判断</a:t>
            </a:r>
            <a:endParaRPr lang="zh-CN" altLang="en-US" sz="3200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98661" name="Text Box 5"/>
          <p:cNvSpPr txBox="1"/>
          <p:nvPr/>
        </p:nvSpPr>
        <p:spPr>
          <a:xfrm>
            <a:off x="2843213" y="1125538"/>
            <a:ext cx="3810000" cy="519112"/>
          </a:xfrm>
          <a:prstGeom prst="rect">
            <a:avLst/>
          </a:prstGeom>
          <a:noFill/>
          <a:ln w="12700">
            <a:noFill/>
          </a:ln>
        </p:spPr>
        <p:txBody>
          <a:bodyPr anchor="ctr" anchorCtr="0">
            <a:spAutoFit/>
          </a:bodyPr>
          <a:p>
            <a:pPr algn="ctr" eaLnBrk="0" hangingPunct="0">
              <a:spcBef>
                <a:spcPct val="50000"/>
              </a:spcBef>
              <a:buClr>
                <a:srgbClr val="FFFF00"/>
              </a:buClr>
              <a:buFont typeface="Wingdings" panose="05000000000000000000" pitchFamily="2" charset="2"/>
              <a:buChar char="l"/>
            </a:pPr>
            <a:r>
              <a:rPr lang="en-US" altLang="zh-CN" sz="2400" i="1" dirty="0">
                <a:solidFill>
                  <a:srgbClr val="FF9900"/>
                </a:solidFill>
                <a:latin typeface="Times New Roman" panose="02020603050405020304" pitchFamily="18" charset="0"/>
                <a:ea typeface="仿宋_GB2312" pitchFamily="49" charset="-122"/>
              </a:rPr>
              <a:t>    </a:t>
            </a:r>
            <a:r>
              <a:rPr lang="en-US" altLang="zh-CN" i="1" dirty="0">
                <a:solidFill>
                  <a:srgbClr val="FF9900"/>
                </a:solidFill>
                <a:latin typeface="Times New Roman" panose="02020603050405020304" pitchFamily="18" charset="0"/>
                <a:ea typeface="仿宋_GB2312" pitchFamily="49" charset="-122"/>
              </a:rPr>
              <a:t>u</a:t>
            </a:r>
            <a:r>
              <a:rPr lang="en-US" altLang="zh-CN" dirty="0">
                <a:solidFill>
                  <a:srgbClr val="FF9900"/>
                </a:solidFill>
                <a:latin typeface="Times New Roman" panose="02020603050405020304" pitchFamily="18" charset="0"/>
                <a:ea typeface="仿宋_GB2312" pitchFamily="49" charset="-122"/>
              </a:rPr>
              <a:t>, </a:t>
            </a:r>
            <a:r>
              <a:rPr lang="en-US" altLang="zh-CN" i="1" dirty="0">
                <a:solidFill>
                  <a:srgbClr val="FF9900"/>
                </a:solidFill>
                <a:latin typeface="Times New Roman" panose="02020603050405020304" pitchFamily="18" charset="0"/>
                <a:ea typeface="仿宋_GB2312" pitchFamily="49" charset="-122"/>
              </a:rPr>
              <a:t>i</a:t>
            </a:r>
            <a:r>
              <a:rPr lang="en-US" altLang="zh-CN" dirty="0">
                <a:solidFill>
                  <a:srgbClr val="FF9900"/>
                </a:solidFill>
                <a:latin typeface="Times New Roman" panose="02020603050405020304" pitchFamily="18" charset="0"/>
                <a:ea typeface="仿宋_GB2312" pitchFamily="49" charset="-122"/>
              </a:rPr>
              <a:t> </a:t>
            </a:r>
            <a:r>
              <a:rPr lang="zh-CN" altLang="en-US" dirty="0">
                <a:solidFill>
                  <a:srgbClr val="FF9900"/>
                </a:solidFill>
                <a:latin typeface="Times New Roman" panose="02020603050405020304" pitchFamily="18" charset="0"/>
                <a:ea typeface="楷体_GB2312" pitchFamily="49" charset="-122"/>
              </a:rPr>
              <a:t>取</a:t>
            </a:r>
            <a:r>
              <a:rPr lang="zh-CN" altLang="zh-CN" dirty="0">
                <a:solidFill>
                  <a:srgbClr val="FF9900"/>
                </a:solidFill>
                <a:latin typeface="Times New Roman" panose="02020603050405020304" pitchFamily="18" charset="0"/>
                <a:ea typeface="楷体_GB2312" pitchFamily="49" charset="-122"/>
              </a:rPr>
              <a:t>关联参考方向</a:t>
            </a:r>
            <a:endParaRPr lang="zh-CN" altLang="en-US" dirty="0">
              <a:solidFill>
                <a:srgbClr val="FF99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98662" name="Text Box 6"/>
          <p:cNvSpPr txBox="1"/>
          <p:nvPr/>
        </p:nvSpPr>
        <p:spPr>
          <a:xfrm>
            <a:off x="2627313" y="1670050"/>
            <a:ext cx="5257800" cy="579438"/>
          </a:xfrm>
          <a:prstGeom prst="rect">
            <a:avLst/>
          </a:prstGeom>
          <a:noFill/>
          <a:ln w="12700">
            <a:noFill/>
          </a:ln>
        </p:spPr>
        <p:txBody>
          <a:bodyPr anchor="ctr" anchorCtr="0">
            <a:spAutoFit/>
          </a:bodyPr>
          <a:p>
            <a:pPr algn="ctr" eaLnBrk="0" hangingPunct="0">
              <a:spcBef>
                <a:spcPct val="50000"/>
              </a:spcBef>
              <a:buClrTx/>
              <a:buFontTx/>
              <a:buNone/>
            </a:pPr>
            <a:r>
              <a:rPr lang="en-US" altLang="zh-CN" sz="3200" b="0" i="1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P=ui</a:t>
            </a:r>
            <a:r>
              <a:rPr lang="en-US" altLang="zh-CN" b="0" i="1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i="1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</a:t>
            </a:r>
            <a:r>
              <a:rPr lang="zh-CN" altLang="en-US" dirty="0">
                <a:latin typeface="Times New Roman" panose="02020603050405020304" pitchFamily="18" charset="0"/>
                <a:ea typeface="楷体_GB2312" pitchFamily="49" charset="-122"/>
              </a:rPr>
              <a:t>表</a:t>
            </a:r>
            <a:r>
              <a:rPr lang="zh-CN" altLang="zh-CN" dirty="0">
                <a:latin typeface="Times New Roman" panose="02020603050405020304" pitchFamily="18" charset="0"/>
                <a:ea typeface="楷体_GB2312" pitchFamily="49" charset="-122"/>
              </a:rPr>
              <a:t>示元件吸收的功率</a:t>
            </a:r>
            <a:endParaRPr lang="zh-CN" altLang="en-US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98663" name="Text Box 7"/>
          <p:cNvSpPr txBox="1"/>
          <p:nvPr/>
        </p:nvSpPr>
        <p:spPr>
          <a:xfrm>
            <a:off x="2771775" y="2319338"/>
            <a:ext cx="5461000" cy="579437"/>
          </a:xfrm>
          <a:prstGeom prst="rect">
            <a:avLst/>
          </a:prstGeom>
          <a:noFill/>
          <a:ln w="12700">
            <a:noFill/>
          </a:ln>
        </p:spPr>
        <p:txBody>
          <a:bodyPr anchor="ctr" anchorCtr="0">
            <a:spAutoFit/>
          </a:bodyPr>
          <a:p>
            <a:pPr eaLnBrk="0" hangingPunct="0">
              <a:spcBef>
                <a:spcPct val="50000"/>
              </a:spcBef>
              <a:buClrTx/>
              <a:buFontTx/>
              <a:buNone/>
            </a:pPr>
            <a:r>
              <a:rPr lang="en-US" altLang="zh-CN" sz="3200" b="0" i="1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rPr>
              <a:t>P</a:t>
            </a:r>
            <a:r>
              <a:rPr lang="en-US" altLang="zh-CN" sz="3200" b="0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rPr>
              <a:t>&gt;0</a:t>
            </a:r>
            <a:r>
              <a:rPr lang="en-US" altLang="zh-CN" sz="3200" b="0" dirty="0">
                <a:latin typeface="Times New Roman" panose="02020603050405020304" pitchFamily="18" charset="0"/>
                <a:ea typeface="仿宋_GB2312" pitchFamily="49" charset="-122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ea typeface="仿宋_GB2312" pitchFamily="49" charset="-122"/>
              </a:rPr>
              <a:t>    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吸收正功率  </a:t>
            </a:r>
            <a:r>
              <a:rPr lang="en-US" altLang="zh-CN" dirty="0">
                <a:latin typeface="楷体_GB2312" pitchFamily="49" charset="-122"/>
                <a:ea typeface="楷体_GB2312" pitchFamily="49" charset="-122"/>
              </a:rPr>
              <a:t>(</a:t>
            </a:r>
            <a:r>
              <a:rPr lang="zh-CN" altLang="en-US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实际吸收</a:t>
            </a:r>
            <a:r>
              <a:rPr lang="en-US" altLang="zh-CN" dirty="0">
                <a:latin typeface="楷体_GB2312" pitchFamily="49" charset="-122"/>
                <a:ea typeface="楷体_GB2312" pitchFamily="49" charset="-122"/>
              </a:rPr>
              <a:t>)</a:t>
            </a:r>
            <a:endParaRPr lang="en-US" altLang="zh-CN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98664" name="Text Box 8"/>
          <p:cNvSpPr txBox="1"/>
          <p:nvPr/>
        </p:nvSpPr>
        <p:spPr>
          <a:xfrm>
            <a:off x="2771775" y="2967038"/>
            <a:ext cx="5616575" cy="579437"/>
          </a:xfrm>
          <a:prstGeom prst="rect">
            <a:avLst/>
          </a:prstGeom>
          <a:noFill/>
          <a:ln w="12700">
            <a:noFill/>
          </a:ln>
        </p:spPr>
        <p:txBody>
          <a:bodyPr anchor="ctr" anchorCtr="0">
            <a:spAutoFit/>
          </a:bodyPr>
          <a:p>
            <a:pPr eaLnBrk="0" hangingPunct="0">
              <a:spcBef>
                <a:spcPct val="50000"/>
              </a:spcBef>
              <a:buClrTx/>
              <a:buFontTx/>
              <a:buNone/>
            </a:pPr>
            <a:r>
              <a:rPr lang="en-US" altLang="zh-CN" sz="3200" b="0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</a:t>
            </a:r>
            <a:r>
              <a:rPr lang="en-US" altLang="zh-CN" sz="32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&lt;0</a:t>
            </a:r>
            <a:r>
              <a: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吸收负功率  </a:t>
            </a:r>
            <a:r>
              <a:rPr lang="en-US" altLang="zh-CN" dirty="0">
                <a:latin typeface="楷体_GB2312" pitchFamily="49" charset="-122"/>
                <a:ea typeface="楷体_GB2312" pitchFamily="49" charset="-122"/>
              </a:rPr>
              <a:t>(</a:t>
            </a:r>
            <a:r>
              <a:rPr lang="zh-CN" altLang="en-US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实际发出</a:t>
            </a:r>
            <a:r>
              <a:rPr lang="en-US" altLang="zh-CN" dirty="0">
                <a:latin typeface="楷体_GB2312" pitchFamily="49" charset="-122"/>
                <a:ea typeface="楷体_GB2312" pitchFamily="49" charset="-122"/>
              </a:rPr>
              <a:t>)</a:t>
            </a:r>
            <a:endParaRPr lang="en-US" altLang="zh-CN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98676" name="Text Box 20"/>
          <p:cNvSpPr txBox="1"/>
          <p:nvPr/>
        </p:nvSpPr>
        <p:spPr>
          <a:xfrm>
            <a:off x="2843213" y="4221163"/>
            <a:ext cx="4897437" cy="579437"/>
          </a:xfrm>
          <a:prstGeom prst="rect">
            <a:avLst/>
          </a:prstGeom>
          <a:noFill/>
          <a:ln w="12700">
            <a:noFill/>
          </a:ln>
        </p:spPr>
        <p:txBody>
          <a:bodyPr anchor="ctr" anchorCtr="0">
            <a:spAutoFit/>
          </a:bodyPr>
          <a:p>
            <a:pPr algn="ctr" eaLnBrk="0" hangingPunct="0">
              <a:spcBef>
                <a:spcPct val="50000"/>
              </a:spcBef>
              <a:buClrTx/>
              <a:buFontTx/>
              <a:buNone/>
            </a:pPr>
            <a:r>
              <a:rPr lang="en-US" altLang="zh-CN" sz="3200" b="0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 </a:t>
            </a:r>
            <a:r>
              <a:rPr lang="en-US" altLang="zh-CN" sz="32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 </a:t>
            </a:r>
            <a:r>
              <a:rPr lang="en-US" altLang="zh-CN" sz="3200" b="0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ui</a:t>
            </a:r>
            <a:r>
              <a:rPr lang="en-US" altLang="zh-CN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</a:t>
            </a:r>
            <a:r>
              <a:rPr lang="zh-CN" altLang="zh-CN" dirty="0">
                <a:latin typeface="Times New Roman" panose="02020603050405020304" pitchFamily="18" charset="0"/>
                <a:ea typeface="楷体_GB2312" pitchFamily="49" charset="-122"/>
              </a:rPr>
              <a:t>表示元件发出的功率</a:t>
            </a:r>
            <a:endParaRPr lang="zh-CN" altLang="en-US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98677" name="Text Box 21"/>
          <p:cNvSpPr txBox="1"/>
          <p:nvPr/>
        </p:nvSpPr>
        <p:spPr>
          <a:xfrm>
            <a:off x="2843213" y="4941888"/>
            <a:ext cx="5545137" cy="579437"/>
          </a:xfrm>
          <a:prstGeom prst="rect">
            <a:avLst/>
          </a:prstGeom>
          <a:noFill/>
          <a:ln w="12700">
            <a:noFill/>
          </a:ln>
        </p:spPr>
        <p:txBody>
          <a:bodyPr anchor="ctr" anchorCtr="0">
            <a:spAutoFit/>
          </a:bodyPr>
          <a:p>
            <a:pPr eaLnBrk="0" hangingPunct="0">
              <a:spcBef>
                <a:spcPct val="50000"/>
              </a:spcBef>
              <a:buClrTx/>
              <a:buFontTx/>
              <a:buNone/>
            </a:pPr>
            <a:r>
              <a:rPr lang="en-US" altLang="zh-CN" sz="3200" b="0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</a:t>
            </a:r>
            <a:r>
              <a:rPr lang="en-US" altLang="zh-CN" sz="32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&gt;0</a:t>
            </a:r>
            <a:r>
              <a:rPr lang="en-US" altLang="zh-CN" sz="24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发出正功率  </a:t>
            </a:r>
            <a:r>
              <a:rPr lang="en-US" altLang="zh-CN" dirty="0">
                <a:latin typeface="楷体_GB2312" pitchFamily="49" charset="-122"/>
                <a:ea typeface="楷体_GB2312" pitchFamily="49" charset="-122"/>
              </a:rPr>
              <a:t>(</a:t>
            </a:r>
            <a:r>
              <a:rPr lang="zh-CN" altLang="en-US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实际发出</a:t>
            </a:r>
            <a:r>
              <a:rPr lang="en-US" altLang="zh-CN" dirty="0">
                <a:latin typeface="楷体_GB2312" pitchFamily="49" charset="-122"/>
                <a:ea typeface="楷体_GB2312" pitchFamily="49" charset="-122"/>
              </a:rPr>
              <a:t>)</a:t>
            </a:r>
            <a:endParaRPr lang="en-US" altLang="zh-CN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98678" name="Text Box 22"/>
          <p:cNvSpPr txBox="1"/>
          <p:nvPr/>
        </p:nvSpPr>
        <p:spPr>
          <a:xfrm>
            <a:off x="2843213" y="5589588"/>
            <a:ext cx="5545137" cy="579437"/>
          </a:xfrm>
          <a:prstGeom prst="rect">
            <a:avLst/>
          </a:prstGeom>
          <a:noFill/>
          <a:ln w="12700">
            <a:noFill/>
          </a:ln>
        </p:spPr>
        <p:txBody>
          <a:bodyPr anchor="ctr" anchorCtr="0">
            <a:spAutoFit/>
          </a:bodyPr>
          <a:p>
            <a:pPr eaLnBrk="0" hangingPunct="0">
              <a:spcBef>
                <a:spcPct val="50000"/>
              </a:spcBef>
              <a:buClrTx/>
              <a:buFontTx/>
              <a:buNone/>
            </a:pPr>
            <a:r>
              <a:rPr lang="en-US" altLang="zh-CN" sz="3200" b="0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</a:t>
            </a:r>
            <a:r>
              <a:rPr lang="en-US" altLang="zh-CN" sz="32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&lt;0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r>
              <a:rPr lang="en-US" altLang="zh-CN" sz="24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发出负功率  </a:t>
            </a:r>
            <a:r>
              <a:rPr lang="en-US" altLang="zh-CN" dirty="0">
                <a:latin typeface="楷体_GB2312" pitchFamily="49" charset="-122"/>
                <a:ea typeface="楷体_GB2312" pitchFamily="49" charset="-122"/>
              </a:rPr>
              <a:t>(</a:t>
            </a:r>
            <a:r>
              <a:rPr lang="zh-CN" altLang="en-US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实际吸收</a:t>
            </a:r>
            <a:r>
              <a:rPr lang="en-US" altLang="zh-CN" dirty="0">
                <a:latin typeface="楷体_GB2312" pitchFamily="49" charset="-122"/>
                <a:ea typeface="楷体_GB2312" pitchFamily="49" charset="-122"/>
              </a:rPr>
              <a:t>)</a:t>
            </a:r>
            <a:endParaRPr lang="en-US" altLang="zh-CN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98690" name="Text Box 34"/>
          <p:cNvSpPr txBox="1"/>
          <p:nvPr/>
        </p:nvSpPr>
        <p:spPr>
          <a:xfrm>
            <a:off x="2771775" y="3644900"/>
            <a:ext cx="4392613" cy="519113"/>
          </a:xfrm>
          <a:prstGeom prst="rect">
            <a:avLst/>
          </a:prstGeom>
          <a:noFill/>
          <a:ln w="12700">
            <a:noFill/>
          </a:ln>
        </p:spPr>
        <p:txBody>
          <a:bodyPr anchor="ctr" anchorCtr="0">
            <a:spAutoFit/>
          </a:bodyPr>
          <a:p>
            <a:pPr algn="ctr" eaLnBrk="0" hangingPunct="0">
              <a:spcBef>
                <a:spcPct val="50000"/>
              </a:spcBef>
              <a:buClr>
                <a:srgbClr val="FFFF00"/>
              </a:buClr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rgbClr val="FF99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</a:t>
            </a:r>
            <a:r>
              <a:rPr lang="en-US" altLang="zh-CN" i="1" dirty="0">
                <a:solidFill>
                  <a:srgbClr val="FF9900"/>
                </a:solidFill>
                <a:latin typeface="Times New Roman" panose="02020603050405020304" pitchFamily="18" charset="0"/>
                <a:ea typeface="仿宋_GB2312" pitchFamily="49" charset="-122"/>
              </a:rPr>
              <a:t>u</a:t>
            </a:r>
            <a:r>
              <a:rPr lang="en-US" altLang="zh-CN" dirty="0">
                <a:solidFill>
                  <a:srgbClr val="FF9900"/>
                </a:solidFill>
                <a:latin typeface="Times New Roman" panose="02020603050405020304" pitchFamily="18" charset="0"/>
                <a:ea typeface="仿宋_GB2312" pitchFamily="49" charset="-122"/>
              </a:rPr>
              <a:t>, </a:t>
            </a:r>
            <a:r>
              <a:rPr lang="en-US" altLang="zh-CN" i="1" dirty="0">
                <a:solidFill>
                  <a:srgbClr val="FF9900"/>
                </a:solidFill>
                <a:latin typeface="Times New Roman" panose="02020603050405020304" pitchFamily="18" charset="0"/>
                <a:ea typeface="仿宋_GB2312" pitchFamily="49" charset="-122"/>
              </a:rPr>
              <a:t>i</a:t>
            </a:r>
            <a:r>
              <a:rPr lang="en-US" altLang="zh-CN" dirty="0">
                <a:solidFill>
                  <a:srgbClr val="FF9900"/>
                </a:solidFill>
                <a:latin typeface="Times New Roman" panose="02020603050405020304" pitchFamily="18" charset="0"/>
                <a:ea typeface="仿宋_GB2312" pitchFamily="49" charset="-122"/>
              </a:rPr>
              <a:t> </a:t>
            </a:r>
            <a:r>
              <a:rPr lang="zh-CN" altLang="en-US" dirty="0">
                <a:solidFill>
                  <a:srgbClr val="FF9900"/>
                </a:solidFill>
                <a:latin typeface="Times New Roman" panose="02020603050405020304" pitchFamily="18" charset="0"/>
                <a:ea typeface="楷体_GB2312" pitchFamily="49" charset="-122"/>
              </a:rPr>
              <a:t>取非</a:t>
            </a:r>
            <a:r>
              <a:rPr lang="zh-CN" altLang="zh-CN" dirty="0">
                <a:solidFill>
                  <a:srgbClr val="FF9900"/>
                </a:solidFill>
                <a:latin typeface="Times New Roman" panose="02020603050405020304" pitchFamily="18" charset="0"/>
                <a:ea typeface="楷体_GB2312" pitchFamily="49" charset="-122"/>
              </a:rPr>
              <a:t>关联参考方向</a:t>
            </a:r>
            <a:endParaRPr lang="zh-CN" altLang="en-US" dirty="0">
              <a:solidFill>
                <a:srgbClr val="FF99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pSp>
        <p:nvGrpSpPr>
          <p:cNvPr id="43018" name="Group 57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43019" name="Picture 58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3020" name="Text Box 59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43021" name="Group 60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43022" name="Picture 61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3023" name="Text Box 62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198722" name="Group 66"/>
          <p:cNvGrpSpPr/>
          <p:nvPr/>
        </p:nvGrpSpPr>
        <p:grpSpPr>
          <a:xfrm>
            <a:off x="755650" y="1412875"/>
            <a:ext cx="1798638" cy="2016125"/>
            <a:chOff x="2880" y="1117"/>
            <a:chExt cx="1133" cy="1270"/>
          </a:xfrm>
        </p:grpSpPr>
        <p:sp>
          <p:nvSpPr>
            <p:cNvPr id="43025" name="Line 67"/>
            <p:cNvSpPr/>
            <p:nvPr/>
          </p:nvSpPr>
          <p:spPr>
            <a:xfrm>
              <a:off x="3379" y="1117"/>
              <a:ext cx="0" cy="1270"/>
            </a:xfrm>
            <a:prstGeom prst="line">
              <a:avLst/>
            </a:prstGeom>
            <a:ln w="38100" cap="sq" cmpd="sng">
              <a:solidFill>
                <a:srgbClr val="FFCC00"/>
              </a:solidFill>
              <a:prstDash val="solid"/>
              <a:round/>
              <a:headEnd type="oval" w="med" len="med"/>
              <a:tailEnd type="oval" w="med" len="med"/>
            </a:ln>
          </p:spPr>
        </p:sp>
        <p:sp>
          <p:nvSpPr>
            <p:cNvPr id="43026" name="AutoShape 68"/>
            <p:cNvSpPr/>
            <p:nvPr/>
          </p:nvSpPr>
          <p:spPr>
            <a:xfrm>
              <a:off x="3061" y="1253"/>
              <a:ext cx="46" cy="726"/>
            </a:xfrm>
            <a:prstGeom prst="downArrow">
              <a:avLst>
                <a:gd name="adj1" fmla="val 50000"/>
                <a:gd name="adj2" fmla="val 394492"/>
              </a:avLst>
            </a:prstGeom>
            <a:solidFill>
              <a:srgbClr val="00CCFF"/>
            </a:solidFill>
            <a:ln w="38100">
              <a:noFill/>
            </a:ln>
          </p:spPr>
          <p:txBody>
            <a:bodyPr wrap="none" anchor="ctr" anchorCtr="0"/>
            <a:p>
              <a:pPr>
                <a:buClrTx/>
                <a:buFontTx/>
                <a:buNone/>
              </a:pPr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43027" name="Text Box 69"/>
            <p:cNvSpPr txBox="1"/>
            <p:nvPr/>
          </p:nvSpPr>
          <p:spPr>
            <a:xfrm>
              <a:off x="3470" y="1162"/>
              <a:ext cx="363" cy="365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3200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Symbol" panose="05050102010706020507" pitchFamily="18" charset="2"/>
                </a:rPr>
                <a:t>+</a:t>
              </a:r>
              <a:endParaRPr lang="en-US" altLang="zh-CN" sz="32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43028" name="Text Box 70"/>
            <p:cNvSpPr txBox="1"/>
            <p:nvPr/>
          </p:nvSpPr>
          <p:spPr>
            <a:xfrm>
              <a:off x="3515" y="1979"/>
              <a:ext cx="363" cy="365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3200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Symbol" panose="05050102010706020507" pitchFamily="18" charset="2"/>
                </a:rPr>
                <a:t>-</a:t>
              </a:r>
              <a:endParaRPr lang="en-US" altLang="zh-CN" sz="32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43029" name="Text Box 71"/>
            <p:cNvSpPr txBox="1"/>
            <p:nvPr/>
          </p:nvSpPr>
          <p:spPr>
            <a:xfrm>
              <a:off x="2880" y="1979"/>
              <a:ext cx="362" cy="365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buClrTx/>
                <a:buFontTx/>
                <a:buNone/>
              </a:pPr>
              <a:r>
                <a:rPr lang="en-US" altLang="zh-CN" sz="3200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i</a:t>
              </a:r>
              <a:endParaRPr lang="en-US" altLang="zh-CN" sz="3200" b="0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43030" name="Text Box 72"/>
            <p:cNvSpPr txBox="1"/>
            <p:nvPr/>
          </p:nvSpPr>
          <p:spPr>
            <a:xfrm>
              <a:off x="3651" y="1571"/>
              <a:ext cx="362" cy="365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buClrTx/>
                <a:buFontTx/>
                <a:buNone/>
              </a:pPr>
              <a:r>
                <a:rPr lang="en-US" altLang="zh-CN" sz="3200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u</a:t>
              </a:r>
              <a:endParaRPr lang="en-US" altLang="zh-CN" sz="3200" b="0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43031" name="Rectangle 73"/>
            <p:cNvSpPr/>
            <p:nvPr/>
          </p:nvSpPr>
          <p:spPr>
            <a:xfrm>
              <a:off x="3243" y="1525"/>
              <a:ext cx="271" cy="454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38100">
              <a:noFill/>
            </a:ln>
          </p:spPr>
          <p:txBody>
            <a:bodyPr wrap="none" anchor="ctr" anchorCtr="0"/>
            <a:p>
              <a:pPr>
                <a:buClrTx/>
                <a:buFontTx/>
                <a:buNone/>
              </a:pPr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</p:grpSp>
      <p:grpSp>
        <p:nvGrpSpPr>
          <p:cNvPr id="198738" name="Group 82"/>
          <p:cNvGrpSpPr/>
          <p:nvPr/>
        </p:nvGrpSpPr>
        <p:grpSpPr>
          <a:xfrm>
            <a:off x="755650" y="3786188"/>
            <a:ext cx="1654175" cy="2163762"/>
            <a:chOff x="476" y="2296"/>
            <a:chExt cx="1042" cy="1363"/>
          </a:xfrm>
        </p:grpSpPr>
        <p:sp>
          <p:nvSpPr>
            <p:cNvPr id="43033" name="Line 75"/>
            <p:cNvSpPr/>
            <p:nvPr/>
          </p:nvSpPr>
          <p:spPr>
            <a:xfrm>
              <a:off x="975" y="2387"/>
              <a:ext cx="0" cy="1270"/>
            </a:xfrm>
            <a:prstGeom prst="line">
              <a:avLst/>
            </a:prstGeom>
            <a:ln w="38100" cap="sq" cmpd="sng">
              <a:solidFill>
                <a:srgbClr val="FFCC00"/>
              </a:solidFill>
              <a:prstDash val="solid"/>
              <a:round/>
              <a:headEnd type="oval" w="med" len="med"/>
              <a:tailEnd type="oval" w="med" len="med"/>
            </a:ln>
          </p:spPr>
        </p:sp>
        <p:sp>
          <p:nvSpPr>
            <p:cNvPr id="43034" name="AutoShape 76"/>
            <p:cNvSpPr/>
            <p:nvPr/>
          </p:nvSpPr>
          <p:spPr>
            <a:xfrm>
              <a:off x="657" y="2523"/>
              <a:ext cx="46" cy="726"/>
            </a:xfrm>
            <a:prstGeom prst="downArrow">
              <a:avLst>
                <a:gd name="adj1" fmla="val 50000"/>
                <a:gd name="adj2" fmla="val 394492"/>
              </a:avLst>
            </a:prstGeom>
            <a:solidFill>
              <a:srgbClr val="00CCFF"/>
            </a:solidFill>
            <a:ln w="38100">
              <a:noFill/>
            </a:ln>
          </p:spPr>
          <p:txBody>
            <a:bodyPr wrap="none" anchor="ctr" anchorCtr="0"/>
            <a:p>
              <a:pPr>
                <a:buClrTx/>
                <a:buFontTx/>
                <a:buNone/>
              </a:pPr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43035" name="Text Box 77"/>
            <p:cNvSpPr txBox="1"/>
            <p:nvPr/>
          </p:nvSpPr>
          <p:spPr>
            <a:xfrm>
              <a:off x="1111" y="3294"/>
              <a:ext cx="363" cy="365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3200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Symbol" panose="05050102010706020507" pitchFamily="18" charset="2"/>
                </a:rPr>
                <a:t>+</a:t>
              </a:r>
              <a:endParaRPr lang="en-US" altLang="zh-CN" sz="32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43036" name="Text Box 78"/>
            <p:cNvSpPr txBox="1"/>
            <p:nvPr/>
          </p:nvSpPr>
          <p:spPr>
            <a:xfrm>
              <a:off x="1111" y="2296"/>
              <a:ext cx="363" cy="365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3200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Symbol" panose="05050102010706020507" pitchFamily="18" charset="2"/>
                </a:rPr>
                <a:t>-</a:t>
              </a:r>
              <a:endParaRPr lang="en-US" altLang="zh-CN" sz="32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43037" name="Text Box 79"/>
            <p:cNvSpPr txBox="1"/>
            <p:nvPr/>
          </p:nvSpPr>
          <p:spPr>
            <a:xfrm>
              <a:off x="476" y="3249"/>
              <a:ext cx="362" cy="365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buClrTx/>
                <a:buFontTx/>
                <a:buNone/>
              </a:pPr>
              <a:r>
                <a:rPr lang="en-US" altLang="zh-CN" sz="3200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i</a:t>
              </a:r>
              <a:endParaRPr lang="en-US" altLang="zh-CN" sz="3200" b="0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43038" name="Text Box 80"/>
            <p:cNvSpPr txBox="1"/>
            <p:nvPr/>
          </p:nvSpPr>
          <p:spPr>
            <a:xfrm>
              <a:off x="1156" y="2840"/>
              <a:ext cx="362" cy="365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buClrTx/>
                <a:buFontTx/>
                <a:buNone/>
              </a:pPr>
              <a:r>
                <a:rPr lang="en-US" altLang="zh-CN" sz="3200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u</a:t>
              </a:r>
              <a:endParaRPr lang="en-US" altLang="zh-CN" sz="3200" b="0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43039" name="Rectangle 81"/>
            <p:cNvSpPr/>
            <p:nvPr/>
          </p:nvSpPr>
          <p:spPr>
            <a:xfrm>
              <a:off x="839" y="2795"/>
              <a:ext cx="271" cy="454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38100">
              <a:noFill/>
            </a:ln>
          </p:spPr>
          <p:txBody>
            <a:bodyPr wrap="none" anchor="ctr" anchorCtr="0"/>
            <a:p>
              <a:pPr>
                <a:buClrTx/>
                <a:buFontTx/>
                <a:buNone/>
              </a:pPr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</p:grpSp>
      <p:grpSp>
        <p:nvGrpSpPr>
          <p:cNvPr id="43040" name="Group 89"/>
          <p:cNvGrpSpPr/>
          <p:nvPr/>
        </p:nvGrpSpPr>
        <p:grpSpPr>
          <a:xfrm>
            <a:off x="6588125" y="6445250"/>
            <a:ext cx="792163" cy="366713"/>
            <a:chOff x="5193" y="4020"/>
            <a:chExt cx="499" cy="231"/>
          </a:xfrm>
        </p:grpSpPr>
        <p:pic>
          <p:nvPicPr>
            <p:cNvPr id="43041" name="Picture 90" descr="78900">
              <a:hlinkClick r:id="" action="ppaction://hlinkshowjump?jump=firstslide"/>
            </p:cNvPr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3042" name="Text Box 91">
              <a:hlinkClick r:id="" action="ppaction://hlinkshowjump?jump=firs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86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86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3" dur="500"/>
                                        <p:tgtEl>
                                          <p:spTgt spid="198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98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986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986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986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986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4" dur="500"/>
                                        <p:tgtEl>
                                          <p:spTgt spid="198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986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986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1987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986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986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986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986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98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8660" grpId="0"/>
      <p:bldP spid="198661" grpId="0"/>
      <p:bldP spid="198662" grpId="0"/>
      <p:bldP spid="198663" grpId="0"/>
      <p:bldP spid="198664" grpId="0"/>
      <p:bldP spid="198676" grpId="0"/>
      <p:bldP spid="198677" grpId="0"/>
      <p:bldP spid="198678" grpId="0"/>
      <p:bldP spid="198690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5588" name="Text Box 4"/>
          <p:cNvSpPr txBox="1"/>
          <p:nvPr/>
        </p:nvSpPr>
        <p:spPr>
          <a:xfrm>
            <a:off x="395288" y="620713"/>
            <a:ext cx="719137" cy="579437"/>
          </a:xfrm>
          <a:prstGeom prst="rect">
            <a:avLst/>
          </a:prstGeom>
          <a:noFill/>
          <a:ln w="38100">
            <a:noFill/>
          </a:ln>
        </p:spPr>
        <p:txBody>
          <a:bodyPr anchor="t" anchorCtr="0">
            <a:spAutoFit/>
          </a:bodyPr>
          <a:p>
            <a:pPr algn="ctr" eaLnBrk="0" hangingPunct="0">
              <a:spcBef>
                <a:spcPct val="50000"/>
              </a:spcBef>
              <a:buClrTx/>
              <a:buFontTx/>
              <a:buNone/>
            </a:pPr>
            <a:r>
              <a:rPr lang="zh-CN" altLang="en-US" sz="3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例</a:t>
            </a:r>
            <a:endParaRPr lang="zh-CN" altLang="en-US" sz="3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195635" name="Text Box 51"/>
          <p:cNvSpPr txBox="1"/>
          <p:nvPr/>
        </p:nvSpPr>
        <p:spPr>
          <a:xfrm>
            <a:off x="5076825" y="836613"/>
            <a:ext cx="3671888" cy="1630362"/>
          </a:xfrm>
          <a:prstGeom prst="rect">
            <a:avLst/>
          </a:prstGeom>
          <a:noFill/>
          <a:ln w="38100">
            <a:noFill/>
          </a:ln>
        </p:spPr>
        <p:txBody>
          <a:bodyPr anchor="t" anchorCtr="0">
            <a:spAutoFit/>
          </a:bodyPr>
          <a:p>
            <a:pPr eaLnBrk="0" hangingPunct="0">
              <a:lnSpc>
                <a:spcPct val="120000"/>
              </a:lnSpc>
              <a:buClrTx/>
              <a:buFontTx/>
              <a:buNone/>
            </a:pPr>
            <a:r>
              <a:rPr lang="en-US" altLang="zh-CN" dirty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        </a:t>
            </a:r>
            <a:r>
              <a:rPr lang="zh-CN" altLang="en-US" dirty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求图示电路中各方框所代表的元件吸收或产生的功率。</a:t>
            </a:r>
            <a:endParaRPr lang="zh-CN" altLang="en-US" baseline="26000" dirty="0">
              <a:latin typeface="Times New Roman" panose="02020603050405020304" pitchFamily="18" charset="0"/>
              <a:ea typeface="楷体_GB2312" pitchFamily="49" charset="-122"/>
              <a:sym typeface="Symbol" panose="05050102010706020507" pitchFamily="18" charset="2"/>
            </a:endParaRPr>
          </a:p>
        </p:txBody>
      </p:sp>
      <p:grpSp>
        <p:nvGrpSpPr>
          <p:cNvPr id="44035" name="Group 66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44036" name="Picture 67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4037" name="Text Box 68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44038" name="Group 69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44039" name="Picture 70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4040" name="Text Box 71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sp>
        <p:nvSpPr>
          <p:cNvPr id="195661" name="Text Box 77"/>
          <p:cNvSpPr txBox="1"/>
          <p:nvPr/>
        </p:nvSpPr>
        <p:spPr>
          <a:xfrm>
            <a:off x="827088" y="4221163"/>
            <a:ext cx="7489825" cy="1117600"/>
          </a:xfrm>
          <a:prstGeom prst="rect">
            <a:avLst/>
          </a:prstGeom>
          <a:noFill/>
          <a:ln w="38100">
            <a:noFill/>
          </a:ln>
        </p:spPr>
        <p:txBody>
          <a:bodyPr anchor="t" anchorCtr="0">
            <a:spAutoFit/>
          </a:bodyPr>
          <a:p>
            <a:pPr eaLnBrk="0" hangingPunct="0">
              <a:lnSpc>
                <a:spcPct val="120000"/>
              </a:lnSpc>
              <a:buClrTx/>
              <a:buFontTx/>
              <a:buNone/>
            </a:pPr>
            <a:r>
              <a:rPr lang="zh-CN" altLang="en-US" b="0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已知： </a:t>
            </a:r>
            <a:r>
              <a:rPr lang="en-US" altLang="zh-CN" b="0" i="1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U</a:t>
            </a:r>
            <a:r>
              <a:rPr lang="en-US" altLang="zh-CN" b="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1</a:t>
            </a:r>
            <a:r>
              <a: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=1V,   </a:t>
            </a:r>
            <a:r>
              <a:rPr lang="en-US" altLang="zh-CN" b="0" i="1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U</a:t>
            </a:r>
            <a:r>
              <a:rPr lang="en-US" altLang="zh-CN" b="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2</a:t>
            </a:r>
            <a:r>
              <a: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= </a:t>
            </a:r>
            <a:r>
              <a:rPr lang="en-US" altLang="zh-CN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-</a:t>
            </a:r>
            <a:r>
              <a: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3V</a:t>
            </a:r>
            <a:r>
              <a:rPr lang="zh-CN" altLang="en-US" b="0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，</a:t>
            </a:r>
            <a:r>
              <a:rPr lang="en-US" altLang="zh-CN" b="0" i="1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U</a:t>
            </a:r>
            <a:r>
              <a:rPr lang="en-US" altLang="zh-CN" b="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3</a:t>
            </a:r>
            <a:r>
              <a: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=8V,   </a:t>
            </a:r>
            <a:r>
              <a:rPr lang="en-US" altLang="zh-CN" b="0" i="1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U</a:t>
            </a:r>
            <a:r>
              <a:rPr lang="en-US" altLang="zh-CN" b="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4</a:t>
            </a:r>
            <a:r>
              <a: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= </a:t>
            </a:r>
            <a:r>
              <a:rPr lang="en-US" altLang="zh-CN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-</a:t>
            </a:r>
            <a:r>
              <a: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4V,</a:t>
            </a:r>
            <a:endParaRPr lang="en-US" altLang="zh-CN" b="0" dirty="0">
              <a:solidFill>
                <a:schemeClr val="tx1"/>
              </a:solidFill>
              <a:latin typeface="Times New Roman" panose="02020603050405020304" pitchFamily="18" charset="0"/>
              <a:ea typeface="仿宋_GB2312" pitchFamily="49" charset="-122"/>
              <a:sym typeface="Symbol" panose="05050102010706020507" pitchFamily="18" charset="2"/>
            </a:endParaRPr>
          </a:p>
          <a:p>
            <a:pPr eaLnBrk="0" hangingPunct="0">
              <a:lnSpc>
                <a:spcPct val="120000"/>
              </a:lnSpc>
              <a:buClrTx/>
              <a:buFontTx/>
              <a:buNone/>
            </a:pPr>
            <a:r>
              <a:rPr lang="en-US" altLang="zh-CN" b="0" i="1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U</a:t>
            </a:r>
            <a:r>
              <a:rPr lang="en-US" altLang="zh-CN" b="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5</a:t>
            </a:r>
            <a:r>
              <a: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=7V,   </a:t>
            </a:r>
            <a:r>
              <a:rPr lang="en-US" altLang="zh-CN" b="0" i="1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U</a:t>
            </a:r>
            <a:r>
              <a:rPr lang="en-US" altLang="zh-CN" b="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6</a:t>
            </a:r>
            <a:r>
              <a: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= </a:t>
            </a:r>
            <a:r>
              <a:rPr lang="en-US" altLang="zh-CN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-</a:t>
            </a:r>
            <a:r>
              <a: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3V</a:t>
            </a:r>
            <a:r>
              <a:rPr lang="zh-CN" altLang="en-US" b="0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，</a:t>
            </a:r>
            <a:r>
              <a:rPr lang="en-US" altLang="zh-CN" b="0" i="1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I</a:t>
            </a:r>
            <a:r>
              <a:rPr lang="en-US" altLang="zh-CN" b="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1</a:t>
            </a:r>
            <a:r>
              <a: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=2A,    </a:t>
            </a:r>
            <a:r>
              <a:rPr lang="en-US" altLang="zh-CN" b="0" i="1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I</a:t>
            </a:r>
            <a:r>
              <a:rPr lang="en-US" altLang="zh-CN" b="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2</a:t>
            </a:r>
            <a:r>
              <a: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=1A,</a:t>
            </a:r>
            <a:r>
              <a:rPr lang="zh-CN" altLang="en-US" b="0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，</a:t>
            </a:r>
            <a:r>
              <a:rPr lang="en-US" altLang="zh-CN" b="0" i="1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I</a:t>
            </a:r>
            <a:r>
              <a:rPr lang="en-US" altLang="zh-CN" b="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3</a:t>
            </a:r>
            <a:r>
              <a: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= </a:t>
            </a:r>
            <a:r>
              <a:rPr lang="en-US" altLang="zh-CN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-</a:t>
            </a:r>
            <a:r>
              <a: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1A  </a:t>
            </a:r>
            <a:endParaRPr lang="en-US" altLang="zh-CN" b="0" baseline="26000" dirty="0">
              <a:solidFill>
                <a:schemeClr val="tx1"/>
              </a:solidFill>
              <a:latin typeface="Times New Roman" panose="02020603050405020304" pitchFamily="18" charset="0"/>
              <a:ea typeface="仿宋_GB2312" pitchFamily="49" charset="-122"/>
              <a:sym typeface="Symbol" panose="05050102010706020507" pitchFamily="18" charset="2"/>
            </a:endParaRPr>
          </a:p>
        </p:txBody>
      </p:sp>
      <p:grpSp>
        <p:nvGrpSpPr>
          <p:cNvPr id="195698" name="Group 114"/>
          <p:cNvGrpSpPr/>
          <p:nvPr/>
        </p:nvGrpSpPr>
        <p:grpSpPr>
          <a:xfrm>
            <a:off x="1042988" y="549275"/>
            <a:ext cx="3779837" cy="3457575"/>
            <a:chOff x="273" y="346"/>
            <a:chExt cx="2381" cy="2178"/>
          </a:xfrm>
        </p:grpSpPr>
        <p:sp>
          <p:nvSpPr>
            <p:cNvPr id="44043" name="Line 115"/>
            <p:cNvSpPr/>
            <p:nvPr/>
          </p:nvSpPr>
          <p:spPr>
            <a:xfrm>
              <a:off x="2518" y="755"/>
              <a:ext cx="0" cy="1633"/>
            </a:xfrm>
            <a:prstGeom prst="line">
              <a:avLst/>
            </a:prstGeom>
            <a:ln w="28575" cap="sq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4044" name="Rectangle 116"/>
            <p:cNvSpPr/>
            <p:nvPr/>
          </p:nvSpPr>
          <p:spPr>
            <a:xfrm>
              <a:off x="2382" y="1254"/>
              <a:ext cx="272" cy="453"/>
            </a:xfrm>
            <a:prstGeom prst="rect">
              <a:avLst/>
            </a:prstGeom>
            <a:gradFill rotWithShape="1">
              <a:gsLst>
                <a:gs pos="0">
                  <a:srgbClr val="FF9900"/>
                </a:gs>
                <a:gs pos="100000">
                  <a:srgbClr val="764700"/>
                </a:gs>
              </a:gsLst>
              <a:path path="shape">
                <a:fillToRect l="50000" t="50000" r="50000" b="50000"/>
              </a:path>
              <a:tileRect/>
            </a:gradFill>
            <a:ln w="38100">
              <a:noFill/>
            </a:ln>
          </p:spPr>
          <p:txBody>
            <a:bodyPr wrap="none" anchor="ctr" anchorCtr="0"/>
            <a:p>
              <a:pPr algn="ctr" eaLnBrk="0" hangingPunct="0">
                <a:buClrTx/>
                <a:buFontTx/>
                <a:buNone/>
              </a:pPr>
              <a:r>
                <a:rPr lang="en-US" altLang="zh-CN" sz="24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5</a:t>
              </a:r>
              <a:endParaRPr lang="en-US" altLang="zh-CN" sz="24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44045" name="Line 117"/>
            <p:cNvSpPr/>
            <p:nvPr/>
          </p:nvSpPr>
          <p:spPr>
            <a:xfrm flipV="1">
              <a:off x="409" y="754"/>
              <a:ext cx="2108" cy="1"/>
            </a:xfrm>
            <a:prstGeom prst="line">
              <a:avLst/>
            </a:prstGeom>
            <a:ln w="28575" cap="sq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4046" name="Line 118"/>
            <p:cNvSpPr/>
            <p:nvPr/>
          </p:nvSpPr>
          <p:spPr>
            <a:xfrm flipV="1">
              <a:off x="409" y="2387"/>
              <a:ext cx="2108" cy="1"/>
            </a:xfrm>
            <a:prstGeom prst="line">
              <a:avLst/>
            </a:prstGeom>
            <a:ln w="28575" cap="sq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4047" name="Line 119"/>
            <p:cNvSpPr/>
            <p:nvPr/>
          </p:nvSpPr>
          <p:spPr>
            <a:xfrm>
              <a:off x="409" y="755"/>
              <a:ext cx="0" cy="1633"/>
            </a:xfrm>
            <a:prstGeom prst="line">
              <a:avLst/>
            </a:prstGeom>
            <a:ln w="28575" cap="sq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4048" name="Line 120"/>
            <p:cNvSpPr/>
            <p:nvPr/>
          </p:nvSpPr>
          <p:spPr>
            <a:xfrm>
              <a:off x="1543" y="755"/>
              <a:ext cx="0" cy="1633"/>
            </a:xfrm>
            <a:prstGeom prst="line">
              <a:avLst/>
            </a:prstGeom>
            <a:ln w="28575" cap="sq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4049" name="AutoShape 121"/>
            <p:cNvSpPr/>
            <p:nvPr/>
          </p:nvSpPr>
          <p:spPr>
            <a:xfrm flipH="1">
              <a:off x="476" y="799"/>
              <a:ext cx="44" cy="363"/>
            </a:xfrm>
            <a:prstGeom prst="downArrow">
              <a:avLst>
                <a:gd name="adj1" fmla="val 50000"/>
                <a:gd name="adj2" fmla="val 206250"/>
              </a:avLst>
            </a:prstGeom>
            <a:solidFill>
              <a:schemeClr val="hlink"/>
            </a:solidFill>
            <a:ln w="38100">
              <a:noFill/>
            </a:ln>
          </p:spPr>
          <p:txBody>
            <a:bodyPr wrap="none" anchor="ctr" anchorCtr="0"/>
            <a:p>
              <a:pPr>
                <a:buClrTx/>
                <a:buFontTx/>
                <a:buNone/>
              </a:pPr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44050" name="AutoShape 122"/>
            <p:cNvSpPr/>
            <p:nvPr/>
          </p:nvSpPr>
          <p:spPr>
            <a:xfrm flipH="1">
              <a:off x="2426" y="1797"/>
              <a:ext cx="45" cy="363"/>
            </a:xfrm>
            <a:prstGeom prst="downArrow">
              <a:avLst>
                <a:gd name="adj1" fmla="val 50000"/>
                <a:gd name="adj2" fmla="val 201629"/>
              </a:avLst>
            </a:prstGeom>
            <a:solidFill>
              <a:schemeClr val="hlink"/>
            </a:solidFill>
            <a:ln w="38100">
              <a:noFill/>
            </a:ln>
          </p:spPr>
          <p:txBody>
            <a:bodyPr wrap="none" anchor="ctr" anchorCtr="0"/>
            <a:p>
              <a:pPr>
                <a:buClrTx/>
                <a:buFontTx/>
                <a:buNone/>
              </a:pPr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44051" name="Rectangle 123"/>
            <p:cNvSpPr/>
            <p:nvPr/>
          </p:nvSpPr>
          <p:spPr>
            <a:xfrm>
              <a:off x="1746" y="618"/>
              <a:ext cx="544" cy="272"/>
            </a:xfrm>
            <a:prstGeom prst="rect">
              <a:avLst/>
            </a:prstGeom>
            <a:gradFill rotWithShape="1">
              <a:gsLst>
                <a:gs pos="0">
                  <a:srgbClr val="FF9900"/>
                </a:gs>
                <a:gs pos="100000">
                  <a:srgbClr val="764700"/>
                </a:gs>
              </a:gsLst>
              <a:path path="shape">
                <a:fillToRect l="50000" t="50000" r="50000" b="50000"/>
              </a:path>
              <a:tileRect/>
            </a:gradFill>
            <a:ln w="38100">
              <a:noFill/>
            </a:ln>
          </p:spPr>
          <p:txBody>
            <a:bodyPr wrap="none" anchor="ctr" anchorCtr="0"/>
            <a:p>
              <a:pPr algn="ctr" eaLnBrk="0" hangingPunct="0">
                <a:buClrTx/>
                <a:buFontTx/>
                <a:buNone/>
              </a:pPr>
              <a:r>
                <a:rPr lang="en-US" altLang="zh-CN" sz="24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6</a:t>
              </a:r>
              <a:endParaRPr lang="en-US" altLang="zh-CN" sz="2400" b="0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44052" name="Rectangle 124"/>
            <p:cNvSpPr/>
            <p:nvPr/>
          </p:nvSpPr>
          <p:spPr>
            <a:xfrm>
              <a:off x="1407" y="1254"/>
              <a:ext cx="272" cy="453"/>
            </a:xfrm>
            <a:prstGeom prst="rect">
              <a:avLst/>
            </a:prstGeom>
            <a:gradFill rotWithShape="1">
              <a:gsLst>
                <a:gs pos="0">
                  <a:srgbClr val="FF9900"/>
                </a:gs>
                <a:gs pos="100000">
                  <a:srgbClr val="764700"/>
                </a:gs>
              </a:gsLst>
              <a:path path="shape">
                <a:fillToRect l="50000" t="50000" r="50000" b="50000"/>
              </a:path>
              <a:tileRect/>
            </a:gradFill>
            <a:ln w="38100">
              <a:noFill/>
            </a:ln>
          </p:spPr>
          <p:txBody>
            <a:bodyPr wrap="none" anchor="ctr" anchorCtr="0"/>
            <a:p>
              <a:pPr algn="ctr" eaLnBrk="0" hangingPunct="0">
                <a:buClrTx/>
                <a:buFontTx/>
                <a:buNone/>
              </a:pPr>
              <a:r>
                <a:rPr lang="en-US" altLang="zh-CN" sz="24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4</a:t>
              </a:r>
              <a:endParaRPr lang="en-US" altLang="zh-CN" sz="2400" b="0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44053" name="Rectangle 125"/>
            <p:cNvSpPr/>
            <p:nvPr/>
          </p:nvSpPr>
          <p:spPr>
            <a:xfrm>
              <a:off x="839" y="618"/>
              <a:ext cx="499" cy="272"/>
            </a:xfrm>
            <a:prstGeom prst="rect">
              <a:avLst/>
            </a:prstGeom>
            <a:gradFill rotWithShape="1">
              <a:gsLst>
                <a:gs pos="0">
                  <a:srgbClr val="FF9900"/>
                </a:gs>
                <a:gs pos="100000">
                  <a:srgbClr val="764700"/>
                </a:gs>
              </a:gsLst>
              <a:path path="shape">
                <a:fillToRect l="50000" t="50000" r="50000" b="50000"/>
              </a:path>
              <a:tileRect/>
            </a:gradFill>
            <a:ln w="38100">
              <a:noFill/>
            </a:ln>
          </p:spPr>
          <p:txBody>
            <a:bodyPr wrap="none" anchor="ctr" anchorCtr="0"/>
            <a:p>
              <a:pPr algn="ctr" eaLnBrk="0" hangingPunct="0">
                <a:buClrTx/>
                <a:buFontTx/>
                <a:buNone/>
              </a:pPr>
              <a:r>
                <a:rPr lang="en-US" altLang="zh-CN" sz="24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1</a:t>
              </a:r>
              <a:endParaRPr lang="en-US" altLang="zh-CN" sz="2400" b="0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44054" name="Rectangle 126"/>
            <p:cNvSpPr/>
            <p:nvPr/>
          </p:nvSpPr>
          <p:spPr>
            <a:xfrm>
              <a:off x="273" y="1373"/>
              <a:ext cx="272" cy="453"/>
            </a:xfrm>
            <a:prstGeom prst="rect">
              <a:avLst/>
            </a:prstGeom>
            <a:gradFill rotWithShape="1">
              <a:gsLst>
                <a:gs pos="0">
                  <a:srgbClr val="FF9900"/>
                </a:gs>
                <a:gs pos="100000">
                  <a:srgbClr val="764700"/>
                </a:gs>
              </a:gsLst>
              <a:path path="shape">
                <a:fillToRect l="50000" t="50000" r="50000" b="50000"/>
              </a:path>
              <a:tileRect/>
            </a:gradFill>
            <a:ln w="38100">
              <a:noFill/>
            </a:ln>
          </p:spPr>
          <p:txBody>
            <a:bodyPr wrap="none" anchor="ctr" anchorCtr="0"/>
            <a:p>
              <a:pPr algn="ctr" eaLnBrk="0" hangingPunct="0">
                <a:buClrTx/>
                <a:buFontTx/>
                <a:buNone/>
              </a:pPr>
              <a:r>
                <a:rPr lang="en-US" altLang="zh-CN" sz="24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2</a:t>
              </a:r>
              <a:endParaRPr lang="en-US" altLang="zh-CN" sz="2400" b="0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44055" name="Rectangle 127"/>
            <p:cNvSpPr/>
            <p:nvPr/>
          </p:nvSpPr>
          <p:spPr>
            <a:xfrm>
              <a:off x="681" y="2251"/>
              <a:ext cx="544" cy="273"/>
            </a:xfrm>
            <a:prstGeom prst="rect">
              <a:avLst/>
            </a:prstGeom>
            <a:gradFill rotWithShape="1">
              <a:gsLst>
                <a:gs pos="0">
                  <a:srgbClr val="FF9900"/>
                </a:gs>
                <a:gs pos="100000">
                  <a:srgbClr val="764700"/>
                </a:gs>
              </a:gsLst>
              <a:path path="shape">
                <a:fillToRect l="50000" t="50000" r="50000" b="50000"/>
              </a:path>
              <a:tileRect/>
            </a:gradFill>
            <a:ln w="38100">
              <a:noFill/>
            </a:ln>
          </p:spPr>
          <p:txBody>
            <a:bodyPr wrap="none" anchor="ctr" anchorCtr="0"/>
            <a:p>
              <a:pPr algn="ctr" eaLnBrk="0" hangingPunct="0">
                <a:buClrTx/>
                <a:buFontTx/>
                <a:buNone/>
              </a:pPr>
              <a:r>
                <a:rPr lang="en-US" altLang="zh-CN" sz="24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3</a:t>
              </a:r>
              <a:endParaRPr lang="en-US" altLang="zh-CN" sz="2400" b="0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44056" name="AutoShape 128"/>
            <p:cNvSpPr/>
            <p:nvPr/>
          </p:nvSpPr>
          <p:spPr>
            <a:xfrm>
              <a:off x="1588" y="1798"/>
              <a:ext cx="67" cy="408"/>
            </a:xfrm>
            <a:prstGeom prst="upArrow">
              <a:avLst>
                <a:gd name="adj1" fmla="val 50000"/>
                <a:gd name="adj2" fmla="val 152210"/>
              </a:avLst>
            </a:prstGeom>
            <a:solidFill>
              <a:schemeClr val="hlink"/>
            </a:solidFill>
            <a:ln w="38100">
              <a:noFill/>
            </a:ln>
          </p:spPr>
          <p:txBody>
            <a:bodyPr wrap="none" anchor="ctr" anchorCtr="0"/>
            <a:p>
              <a:pPr>
                <a:buClrTx/>
                <a:buFontTx/>
                <a:buNone/>
              </a:pPr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44057" name="Text Box 129"/>
            <p:cNvSpPr txBox="1"/>
            <p:nvPr/>
          </p:nvSpPr>
          <p:spPr>
            <a:xfrm>
              <a:off x="1610" y="1888"/>
              <a:ext cx="362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I</a:t>
              </a:r>
              <a:r>
                <a:rPr lang="en-US" altLang="zh-CN" sz="14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2</a:t>
              </a:r>
              <a:endParaRPr lang="en-US" altLang="zh-CN" sz="2400" b="0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44058" name="Text Box 130"/>
            <p:cNvSpPr txBox="1"/>
            <p:nvPr/>
          </p:nvSpPr>
          <p:spPr>
            <a:xfrm>
              <a:off x="2154" y="1842"/>
              <a:ext cx="271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I</a:t>
              </a:r>
              <a:r>
                <a:rPr lang="en-US" altLang="zh-CN" sz="14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3</a:t>
              </a:r>
              <a:endParaRPr lang="en-US" altLang="zh-CN" sz="2400" b="0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44059" name="Text Box 131"/>
            <p:cNvSpPr txBox="1"/>
            <p:nvPr/>
          </p:nvSpPr>
          <p:spPr>
            <a:xfrm>
              <a:off x="521" y="799"/>
              <a:ext cx="363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I</a:t>
              </a:r>
              <a:r>
                <a:rPr lang="en-US" altLang="zh-CN" sz="14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1</a:t>
              </a:r>
              <a:endParaRPr lang="en-US" altLang="zh-CN" sz="2400" b="0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44060" name="Text Box 132"/>
            <p:cNvSpPr txBox="1"/>
            <p:nvPr/>
          </p:nvSpPr>
          <p:spPr>
            <a:xfrm>
              <a:off x="1134" y="1753"/>
              <a:ext cx="317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+</a:t>
              </a:r>
              <a:endParaRPr lang="en-US" altLang="zh-CN" sz="2400" b="0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44061" name="Text Box 133"/>
            <p:cNvSpPr txBox="1"/>
            <p:nvPr/>
          </p:nvSpPr>
          <p:spPr>
            <a:xfrm>
              <a:off x="431" y="2115"/>
              <a:ext cx="317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+</a:t>
              </a:r>
              <a:endParaRPr lang="en-US" altLang="zh-CN" sz="2400" b="0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44062" name="Text Box 134"/>
            <p:cNvSpPr txBox="1"/>
            <p:nvPr/>
          </p:nvSpPr>
          <p:spPr>
            <a:xfrm>
              <a:off x="521" y="1117"/>
              <a:ext cx="317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+</a:t>
              </a:r>
              <a:endParaRPr lang="en-US" altLang="zh-CN" sz="2400" b="0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44063" name="Text Box 135"/>
            <p:cNvSpPr txBox="1"/>
            <p:nvPr/>
          </p:nvSpPr>
          <p:spPr>
            <a:xfrm>
              <a:off x="521" y="391"/>
              <a:ext cx="317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+</a:t>
              </a:r>
              <a:endParaRPr lang="en-US" altLang="zh-CN" sz="2400" b="0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44064" name="Text Box 136"/>
            <p:cNvSpPr txBox="1"/>
            <p:nvPr/>
          </p:nvSpPr>
          <p:spPr>
            <a:xfrm>
              <a:off x="1543" y="437"/>
              <a:ext cx="317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+</a:t>
              </a:r>
              <a:endParaRPr lang="en-US" altLang="zh-CN" sz="2400" b="0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44065" name="Text Box 137"/>
            <p:cNvSpPr txBox="1"/>
            <p:nvPr/>
          </p:nvSpPr>
          <p:spPr>
            <a:xfrm>
              <a:off x="2064" y="1027"/>
              <a:ext cx="317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+</a:t>
              </a:r>
              <a:endParaRPr lang="en-US" altLang="zh-CN" sz="2400" b="0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44066" name="Text Box 138"/>
            <p:cNvSpPr txBox="1"/>
            <p:nvPr/>
          </p:nvSpPr>
          <p:spPr>
            <a:xfrm>
              <a:off x="499" y="1781"/>
              <a:ext cx="318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4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－</a:t>
              </a:r>
              <a:endPara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44067" name="Text Box 139"/>
            <p:cNvSpPr txBox="1"/>
            <p:nvPr/>
          </p:nvSpPr>
          <p:spPr>
            <a:xfrm>
              <a:off x="1202" y="2115"/>
              <a:ext cx="318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4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－</a:t>
              </a:r>
              <a:endPara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44068" name="Text Box 140"/>
            <p:cNvSpPr txBox="1"/>
            <p:nvPr/>
          </p:nvSpPr>
          <p:spPr>
            <a:xfrm>
              <a:off x="2245" y="392"/>
              <a:ext cx="318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4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－</a:t>
              </a:r>
              <a:endPara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44069" name="Text Box 141"/>
            <p:cNvSpPr txBox="1"/>
            <p:nvPr/>
          </p:nvSpPr>
          <p:spPr>
            <a:xfrm>
              <a:off x="2064" y="1616"/>
              <a:ext cx="318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4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－</a:t>
              </a:r>
              <a:endPara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44070" name="Text Box 142"/>
            <p:cNvSpPr txBox="1"/>
            <p:nvPr/>
          </p:nvSpPr>
          <p:spPr>
            <a:xfrm>
              <a:off x="1134" y="936"/>
              <a:ext cx="318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4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－</a:t>
              </a:r>
              <a:endPara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44071" name="Text Box 143"/>
            <p:cNvSpPr txBox="1"/>
            <p:nvPr/>
          </p:nvSpPr>
          <p:spPr>
            <a:xfrm>
              <a:off x="1951" y="347"/>
              <a:ext cx="363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U</a:t>
              </a:r>
              <a:r>
                <a:rPr lang="en-US" altLang="zh-CN" sz="14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6</a:t>
              </a:r>
              <a:endParaRPr lang="en-US" altLang="zh-CN" sz="2400" b="0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44072" name="Text Box 144"/>
            <p:cNvSpPr txBox="1"/>
            <p:nvPr/>
          </p:nvSpPr>
          <p:spPr>
            <a:xfrm>
              <a:off x="2018" y="1298"/>
              <a:ext cx="363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U</a:t>
              </a:r>
              <a:r>
                <a:rPr lang="en-US" altLang="zh-CN" sz="14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5</a:t>
              </a:r>
              <a:endParaRPr lang="en-US" altLang="zh-CN" sz="2400" b="0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44073" name="Text Box 145"/>
            <p:cNvSpPr txBox="1"/>
            <p:nvPr/>
          </p:nvSpPr>
          <p:spPr>
            <a:xfrm>
              <a:off x="1089" y="1345"/>
              <a:ext cx="363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U</a:t>
              </a:r>
              <a:r>
                <a:rPr lang="en-US" altLang="zh-CN" sz="14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4</a:t>
              </a:r>
              <a:endParaRPr lang="en-US" altLang="zh-CN" sz="2400" b="0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44074" name="Text Box 146"/>
            <p:cNvSpPr txBox="1"/>
            <p:nvPr/>
          </p:nvSpPr>
          <p:spPr>
            <a:xfrm>
              <a:off x="793" y="1979"/>
              <a:ext cx="363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U</a:t>
              </a:r>
              <a:r>
                <a:rPr lang="en-US" altLang="zh-CN" sz="14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3</a:t>
              </a:r>
              <a:endParaRPr lang="en-US" altLang="zh-CN" sz="2400" b="0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44075" name="Text Box 147"/>
            <p:cNvSpPr txBox="1"/>
            <p:nvPr/>
          </p:nvSpPr>
          <p:spPr>
            <a:xfrm>
              <a:off x="499" y="1464"/>
              <a:ext cx="363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U</a:t>
              </a:r>
              <a:r>
                <a:rPr lang="en-US" altLang="zh-CN" sz="14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2</a:t>
              </a:r>
              <a:endParaRPr lang="en-US" altLang="zh-CN" sz="2400" b="0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44076" name="Text Box 148"/>
            <p:cNvSpPr txBox="1"/>
            <p:nvPr/>
          </p:nvSpPr>
          <p:spPr>
            <a:xfrm>
              <a:off x="930" y="346"/>
              <a:ext cx="363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U</a:t>
              </a:r>
              <a:r>
                <a:rPr lang="en-US" altLang="zh-CN" sz="14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1</a:t>
              </a:r>
              <a:endParaRPr lang="en-US" altLang="zh-CN" sz="2400" b="0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44077" name="Text Box 149"/>
            <p:cNvSpPr txBox="1"/>
            <p:nvPr/>
          </p:nvSpPr>
          <p:spPr>
            <a:xfrm>
              <a:off x="1247" y="436"/>
              <a:ext cx="318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4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－</a:t>
              </a:r>
              <a:endPara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</p:grpSp>
      <p:grpSp>
        <p:nvGrpSpPr>
          <p:cNvPr id="44078" name="Group 156"/>
          <p:cNvGrpSpPr/>
          <p:nvPr/>
        </p:nvGrpSpPr>
        <p:grpSpPr>
          <a:xfrm>
            <a:off x="6588125" y="6445250"/>
            <a:ext cx="792163" cy="366713"/>
            <a:chOff x="5193" y="4020"/>
            <a:chExt cx="499" cy="231"/>
          </a:xfrm>
        </p:grpSpPr>
        <p:pic>
          <p:nvPicPr>
            <p:cNvPr id="44079" name="Picture 157" descr="78900">
              <a:hlinkClick r:id="" action="ppaction://hlinkshowjump?jump=firstslide"/>
            </p:cNvPr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4080" name="Text Box 158">
              <a:hlinkClick r:id="" action="ppaction://hlinkshowjump?jump=firs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955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955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955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1955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195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8" dur="1000"/>
                                        <p:tgtEl>
                                          <p:spTgt spid="195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500"/>
                            </p:stCondLst>
                            <p:childTnLst>
                              <p:par>
                                <p:cTn id="20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1000"/>
                                        <p:tgtEl>
                                          <p:spTgt spid="195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5588" grpId="0"/>
      <p:bldP spid="195635" grpId="0"/>
      <p:bldP spid="19566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57732" name="Text Box 4"/>
          <p:cNvSpPr txBox="1"/>
          <p:nvPr/>
        </p:nvSpPr>
        <p:spPr>
          <a:xfrm>
            <a:off x="4643438" y="620713"/>
            <a:ext cx="719137" cy="519112"/>
          </a:xfrm>
          <a:prstGeom prst="rect">
            <a:avLst/>
          </a:prstGeom>
          <a:solidFill>
            <a:srgbClr val="990033"/>
          </a:solidFill>
          <a:ln w="38100">
            <a:noFill/>
          </a:ln>
        </p:spPr>
        <p:txBody>
          <a:bodyPr anchor="t" anchorCtr="0">
            <a:spAutoFit/>
          </a:bodyPr>
          <a:p>
            <a:pPr algn="ctr" eaLnBrk="0" hangingPunct="0">
              <a:spcBef>
                <a:spcPct val="50000"/>
              </a:spcBef>
              <a:buClrTx/>
              <a:buFontTx/>
              <a:buNone/>
            </a:pP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解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graphicFrame>
        <p:nvGraphicFramePr>
          <p:cNvPr id="457733" name="Object 5"/>
          <p:cNvGraphicFramePr>
            <a:graphicFrameLocks noChangeAspect="1"/>
          </p:cNvGraphicFramePr>
          <p:nvPr/>
        </p:nvGraphicFramePr>
        <p:xfrm>
          <a:off x="4340225" y="1412875"/>
          <a:ext cx="4262438" cy="458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6" name="" r:id="rId1" imgW="2124075" imgH="213995" progId="Equation.3">
                  <p:embed/>
                </p:oleObj>
              </mc:Choice>
              <mc:Fallback>
                <p:oleObj name="" r:id="rId1" imgW="2124075" imgH="213995" progId="Equation.3">
                  <p:embed/>
                  <p:pic>
                    <p:nvPicPr>
                      <p:cNvPr id="0" name="图片 3105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8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340225" y="1412875"/>
                        <a:ext cx="4262438" cy="4587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7734" name="Object 6"/>
          <p:cNvGraphicFramePr>
            <a:graphicFrameLocks noChangeAspect="1"/>
          </p:cNvGraphicFramePr>
          <p:nvPr/>
        </p:nvGraphicFramePr>
        <p:xfrm>
          <a:off x="4356100" y="2060575"/>
          <a:ext cx="4373563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4" name="" r:id="rId3" imgW="2308860" imgH="213995" progId="Equation.3">
                  <p:embed/>
                </p:oleObj>
              </mc:Choice>
              <mc:Fallback>
                <p:oleObj name="" r:id="rId3" imgW="2308860" imgH="213995" progId="Equation.3">
                  <p:embed/>
                  <p:pic>
                    <p:nvPicPr>
                      <p:cNvPr id="0" name="图片 3103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8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356100" y="2060575"/>
                        <a:ext cx="4373563" cy="4349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7735" name="Object 7"/>
          <p:cNvGraphicFramePr>
            <a:graphicFrameLocks noChangeAspect="1"/>
          </p:cNvGraphicFramePr>
          <p:nvPr/>
        </p:nvGraphicFramePr>
        <p:xfrm>
          <a:off x="4379913" y="2647950"/>
          <a:ext cx="4141787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5" name="" r:id="rId5" imgW="2042795" imgH="202565" progId="Equation.3">
                  <p:embed/>
                </p:oleObj>
              </mc:Choice>
              <mc:Fallback>
                <p:oleObj name="" r:id="rId5" imgW="2042795" imgH="202565" progId="Equation.3">
                  <p:embed/>
                  <p:pic>
                    <p:nvPicPr>
                      <p:cNvPr id="0" name="图片 3104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00008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379913" y="2647950"/>
                        <a:ext cx="4141787" cy="4413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7736" name="Object 8"/>
          <p:cNvGraphicFramePr>
            <a:graphicFrameLocks noChangeAspect="1"/>
          </p:cNvGraphicFramePr>
          <p:nvPr/>
        </p:nvGraphicFramePr>
        <p:xfrm>
          <a:off x="3732213" y="4467225"/>
          <a:ext cx="5064125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2" name="" r:id="rId7" imgW="2378710" imgH="202565" progId="Equation.3">
                  <p:embed/>
                </p:oleObj>
              </mc:Choice>
              <mc:Fallback>
                <p:oleObj name="" r:id="rId7" imgW="2378710" imgH="202565" progId="Equation.3">
                  <p:embed/>
                  <p:pic>
                    <p:nvPicPr>
                      <p:cNvPr id="0" name="图片 3101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00008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732213" y="4467225"/>
                        <a:ext cx="5064125" cy="4619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7737" name="Object 9"/>
          <p:cNvGraphicFramePr>
            <a:graphicFrameLocks noChangeAspect="1"/>
          </p:cNvGraphicFramePr>
          <p:nvPr/>
        </p:nvGraphicFramePr>
        <p:xfrm>
          <a:off x="4284663" y="3916363"/>
          <a:ext cx="4537075" cy="449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3" name="" r:id="rId9" imgW="2308860" imgH="213995" progId="Equation.3">
                  <p:embed/>
                </p:oleObj>
              </mc:Choice>
              <mc:Fallback>
                <p:oleObj name="" r:id="rId9" imgW="2308860" imgH="213995" progId="Equation.3">
                  <p:embed/>
                  <p:pic>
                    <p:nvPicPr>
                      <p:cNvPr id="0" name="图片 3102"/>
                      <p:cNvPicPr/>
                      <p:nvPr/>
                    </p:nvPicPr>
                    <p:blipFill>
                      <a:blip r:embed="rId10">
                        <a:clrChange>
                          <a:clrFrom>
                            <a:srgbClr val="000000"/>
                          </a:clrFrom>
                          <a:clrTo>
                            <a:srgbClr val="00008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284663" y="3916363"/>
                        <a:ext cx="4537075" cy="4492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7738" name="Object 10"/>
          <p:cNvGraphicFramePr>
            <a:graphicFrameLocks noChangeAspect="1"/>
          </p:cNvGraphicFramePr>
          <p:nvPr/>
        </p:nvGraphicFramePr>
        <p:xfrm>
          <a:off x="4356100" y="3284538"/>
          <a:ext cx="446405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1" name="" r:id="rId11" imgW="2297430" imgH="213995" progId="Equation.3">
                  <p:embed/>
                </p:oleObj>
              </mc:Choice>
              <mc:Fallback>
                <p:oleObj name="" r:id="rId11" imgW="2297430" imgH="213995" progId="Equation.3">
                  <p:embed/>
                  <p:pic>
                    <p:nvPicPr>
                      <p:cNvPr id="0" name="图片 3100"/>
                      <p:cNvPicPr/>
                      <p:nvPr/>
                    </p:nvPicPr>
                    <p:blipFill>
                      <a:blip r:embed="rId12">
                        <a:clrChange>
                          <a:clrFrom>
                            <a:srgbClr val="000000"/>
                          </a:clrFrom>
                          <a:clrTo>
                            <a:srgbClr val="00008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356100" y="3284538"/>
                        <a:ext cx="4464050" cy="444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7740" name="Text Box 12"/>
          <p:cNvSpPr txBox="1"/>
          <p:nvPr/>
        </p:nvSpPr>
        <p:spPr>
          <a:xfrm>
            <a:off x="684213" y="5445125"/>
            <a:ext cx="8208962" cy="519113"/>
          </a:xfrm>
          <a:prstGeom prst="rect">
            <a:avLst/>
          </a:prstGeom>
          <a:noFill/>
          <a:ln w="38100">
            <a:noFill/>
          </a:ln>
        </p:spPr>
        <p:txBody>
          <a:bodyPr anchor="t" anchorCtr="0">
            <a:spAutoFit/>
          </a:bodyPr>
          <a:p>
            <a:pPr eaLnBrk="0" hangingPunct="0">
              <a:spcBef>
                <a:spcPct val="20000"/>
              </a:spcBef>
              <a:buClrTx/>
              <a:buFontTx/>
              <a:buNone/>
            </a:pPr>
            <a:r>
              <a:rPr lang="zh-CN" altLang="en-US" dirty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对一完整的电路，满足：</a:t>
            </a:r>
            <a:r>
              <a:rPr lang="zh-CN" altLang="en-US" dirty="0">
                <a:solidFill>
                  <a:srgbClr val="FF00FF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发出的功率＝吸收的功率</a:t>
            </a:r>
            <a:endParaRPr lang="zh-CN" altLang="en-US" dirty="0">
              <a:solidFill>
                <a:srgbClr val="FF00FF"/>
              </a:solidFill>
              <a:latin typeface="Times New Roman" panose="02020603050405020304" pitchFamily="18" charset="0"/>
              <a:ea typeface="楷体_GB2312" pitchFamily="49" charset="-122"/>
              <a:sym typeface="Symbol" panose="05050102010706020507" pitchFamily="18" charset="2"/>
            </a:endParaRPr>
          </a:p>
        </p:txBody>
      </p:sp>
      <p:grpSp>
        <p:nvGrpSpPr>
          <p:cNvPr id="45065" name="Group 13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45066" name="Picture 14" descr="78900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5067" name="Text Box 15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45068" name="Group 16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45069" name="Picture 17" descr="78900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5070" name="Text Box 18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45071" name="Group 91"/>
          <p:cNvGrpSpPr/>
          <p:nvPr/>
        </p:nvGrpSpPr>
        <p:grpSpPr>
          <a:xfrm>
            <a:off x="433388" y="549275"/>
            <a:ext cx="3779837" cy="3457575"/>
            <a:chOff x="273" y="346"/>
            <a:chExt cx="2381" cy="2178"/>
          </a:xfrm>
        </p:grpSpPr>
        <p:sp>
          <p:nvSpPr>
            <p:cNvPr id="45072" name="Line 56"/>
            <p:cNvSpPr/>
            <p:nvPr/>
          </p:nvSpPr>
          <p:spPr>
            <a:xfrm>
              <a:off x="2518" y="755"/>
              <a:ext cx="0" cy="1633"/>
            </a:xfrm>
            <a:prstGeom prst="line">
              <a:avLst/>
            </a:prstGeom>
            <a:ln w="28575" cap="sq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5073" name="Rectangle 57"/>
            <p:cNvSpPr/>
            <p:nvPr/>
          </p:nvSpPr>
          <p:spPr>
            <a:xfrm>
              <a:off x="2382" y="1254"/>
              <a:ext cx="272" cy="453"/>
            </a:xfrm>
            <a:prstGeom prst="rect">
              <a:avLst/>
            </a:prstGeom>
            <a:gradFill rotWithShape="1">
              <a:gsLst>
                <a:gs pos="0">
                  <a:srgbClr val="FF9900"/>
                </a:gs>
                <a:gs pos="100000">
                  <a:srgbClr val="764700"/>
                </a:gs>
              </a:gsLst>
              <a:path path="shape">
                <a:fillToRect l="50000" t="50000" r="50000" b="50000"/>
              </a:path>
              <a:tileRect/>
            </a:gradFill>
            <a:ln w="38100">
              <a:noFill/>
            </a:ln>
          </p:spPr>
          <p:txBody>
            <a:bodyPr wrap="none" anchor="ctr" anchorCtr="0"/>
            <a:p>
              <a:pPr algn="ctr" eaLnBrk="0" hangingPunct="0">
                <a:buClrTx/>
                <a:buFontTx/>
                <a:buNone/>
              </a:pPr>
              <a:r>
                <a:rPr lang="en-US" altLang="zh-CN" sz="24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5</a:t>
              </a:r>
              <a:endParaRPr lang="en-US" altLang="zh-CN" sz="24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45074" name="Line 58"/>
            <p:cNvSpPr/>
            <p:nvPr/>
          </p:nvSpPr>
          <p:spPr>
            <a:xfrm flipV="1">
              <a:off x="409" y="754"/>
              <a:ext cx="2108" cy="1"/>
            </a:xfrm>
            <a:prstGeom prst="line">
              <a:avLst/>
            </a:prstGeom>
            <a:ln w="28575" cap="sq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5075" name="Line 59"/>
            <p:cNvSpPr/>
            <p:nvPr/>
          </p:nvSpPr>
          <p:spPr>
            <a:xfrm flipV="1">
              <a:off x="409" y="2387"/>
              <a:ext cx="2108" cy="1"/>
            </a:xfrm>
            <a:prstGeom prst="line">
              <a:avLst/>
            </a:prstGeom>
            <a:ln w="28575" cap="sq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5076" name="Line 60"/>
            <p:cNvSpPr/>
            <p:nvPr/>
          </p:nvSpPr>
          <p:spPr>
            <a:xfrm>
              <a:off x="409" y="755"/>
              <a:ext cx="0" cy="1633"/>
            </a:xfrm>
            <a:prstGeom prst="line">
              <a:avLst/>
            </a:prstGeom>
            <a:ln w="28575" cap="sq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5077" name="Line 61"/>
            <p:cNvSpPr/>
            <p:nvPr/>
          </p:nvSpPr>
          <p:spPr>
            <a:xfrm>
              <a:off x="1543" y="755"/>
              <a:ext cx="0" cy="1633"/>
            </a:xfrm>
            <a:prstGeom prst="line">
              <a:avLst/>
            </a:prstGeom>
            <a:ln w="28575" cap="sq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5078" name="AutoShape 62"/>
            <p:cNvSpPr/>
            <p:nvPr/>
          </p:nvSpPr>
          <p:spPr>
            <a:xfrm flipH="1">
              <a:off x="476" y="799"/>
              <a:ext cx="44" cy="363"/>
            </a:xfrm>
            <a:prstGeom prst="downArrow">
              <a:avLst>
                <a:gd name="adj1" fmla="val 50000"/>
                <a:gd name="adj2" fmla="val 206250"/>
              </a:avLst>
            </a:prstGeom>
            <a:solidFill>
              <a:srgbClr val="33CCFF"/>
            </a:solidFill>
            <a:ln w="38100">
              <a:noFill/>
            </a:ln>
          </p:spPr>
          <p:txBody>
            <a:bodyPr wrap="none" anchor="ctr" anchorCtr="0"/>
            <a:p>
              <a:pPr>
                <a:buClrTx/>
                <a:buFontTx/>
                <a:buNone/>
              </a:pPr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45079" name="AutoShape 63"/>
            <p:cNvSpPr/>
            <p:nvPr/>
          </p:nvSpPr>
          <p:spPr>
            <a:xfrm flipH="1">
              <a:off x="2426" y="1797"/>
              <a:ext cx="45" cy="363"/>
            </a:xfrm>
            <a:prstGeom prst="downArrow">
              <a:avLst>
                <a:gd name="adj1" fmla="val 50000"/>
                <a:gd name="adj2" fmla="val 201629"/>
              </a:avLst>
            </a:prstGeom>
            <a:solidFill>
              <a:srgbClr val="33CCFF"/>
            </a:solidFill>
            <a:ln w="38100">
              <a:noFill/>
            </a:ln>
          </p:spPr>
          <p:txBody>
            <a:bodyPr wrap="none" anchor="ctr" anchorCtr="0"/>
            <a:p>
              <a:pPr>
                <a:buClrTx/>
                <a:buFontTx/>
                <a:buNone/>
              </a:pPr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45080" name="Rectangle 64"/>
            <p:cNvSpPr/>
            <p:nvPr/>
          </p:nvSpPr>
          <p:spPr>
            <a:xfrm>
              <a:off x="1746" y="618"/>
              <a:ext cx="544" cy="272"/>
            </a:xfrm>
            <a:prstGeom prst="rect">
              <a:avLst/>
            </a:prstGeom>
            <a:gradFill rotWithShape="1">
              <a:gsLst>
                <a:gs pos="0">
                  <a:srgbClr val="FF9900"/>
                </a:gs>
                <a:gs pos="100000">
                  <a:srgbClr val="764700"/>
                </a:gs>
              </a:gsLst>
              <a:path path="shape">
                <a:fillToRect l="50000" t="50000" r="50000" b="50000"/>
              </a:path>
              <a:tileRect/>
            </a:gradFill>
            <a:ln w="38100">
              <a:noFill/>
            </a:ln>
          </p:spPr>
          <p:txBody>
            <a:bodyPr wrap="none" anchor="ctr" anchorCtr="0"/>
            <a:p>
              <a:pPr algn="ctr" eaLnBrk="0" hangingPunct="0">
                <a:buClrTx/>
                <a:buFontTx/>
                <a:buNone/>
              </a:pPr>
              <a:r>
                <a:rPr lang="en-US" altLang="zh-CN" sz="24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6</a:t>
              </a:r>
              <a:endParaRPr lang="en-US" altLang="zh-CN" sz="2400" b="0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45081" name="Rectangle 65"/>
            <p:cNvSpPr/>
            <p:nvPr/>
          </p:nvSpPr>
          <p:spPr>
            <a:xfrm>
              <a:off x="1407" y="1254"/>
              <a:ext cx="272" cy="453"/>
            </a:xfrm>
            <a:prstGeom prst="rect">
              <a:avLst/>
            </a:prstGeom>
            <a:gradFill rotWithShape="1">
              <a:gsLst>
                <a:gs pos="0">
                  <a:srgbClr val="FF9900"/>
                </a:gs>
                <a:gs pos="100000">
                  <a:srgbClr val="764700"/>
                </a:gs>
              </a:gsLst>
              <a:path path="shape">
                <a:fillToRect l="50000" t="50000" r="50000" b="50000"/>
              </a:path>
              <a:tileRect/>
            </a:gradFill>
            <a:ln w="38100">
              <a:noFill/>
            </a:ln>
          </p:spPr>
          <p:txBody>
            <a:bodyPr wrap="none" anchor="ctr" anchorCtr="0"/>
            <a:p>
              <a:pPr algn="ctr" eaLnBrk="0" hangingPunct="0">
                <a:buClrTx/>
                <a:buFontTx/>
                <a:buNone/>
              </a:pPr>
              <a:r>
                <a:rPr lang="en-US" altLang="zh-CN" sz="24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4</a:t>
              </a:r>
              <a:endParaRPr lang="en-US" altLang="zh-CN" sz="2400" b="0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45082" name="Rectangle 66"/>
            <p:cNvSpPr/>
            <p:nvPr/>
          </p:nvSpPr>
          <p:spPr>
            <a:xfrm>
              <a:off x="839" y="618"/>
              <a:ext cx="499" cy="272"/>
            </a:xfrm>
            <a:prstGeom prst="rect">
              <a:avLst/>
            </a:prstGeom>
            <a:gradFill rotWithShape="1">
              <a:gsLst>
                <a:gs pos="0">
                  <a:srgbClr val="FF9900"/>
                </a:gs>
                <a:gs pos="100000">
                  <a:srgbClr val="764700"/>
                </a:gs>
              </a:gsLst>
              <a:path path="shape">
                <a:fillToRect l="50000" t="50000" r="50000" b="50000"/>
              </a:path>
              <a:tileRect/>
            </a:gradFill>
            <a:ln w="38100">
              <a:noFill/>
            </a:ln>
          </p:spPr>
          <p:txBody>
            <a:bodyPr wrap="none" anchor="ctr" anchorCtr="0"/>
            <a:p>
              <a:pPr algn="ctr" eaLnBrk="0" hangingPunct="0">
                <a:buClrTx/>
                <a:buFontTx/>
                <a:buNone/>
              </a:pPr>
              <a:r>
                <a:rPr lang="en-US" altLang="zh-CN" sz="24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1</a:t>
              </a:r>
              <a:endParaRPr lang="en-US" altLang="zh-CN" sz="2400" b="0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45083" name="Rectangle 67"/>
            <p:cNvSpPr/>
            <p:nvPr/>
          </p:nvSpPr>
          <p:spPr>
            <a:xfrm>
              <a:off x="273" y="1373"/>
              <a:ext cx="272" cy="453"/>
            </a:xfrm>
            <a:prstGeom prst="rect">
              <a:avLst/>
            </a:prstGeom>
            <a:gradFill rotWithShape="1">
              <a:gsLst>
                <a:gs pos="0">
                  <a:srgbClr val="FF9900"/>
                </a:gs>
                <a:gs pos="100000">
                  <a:srgbClr val="764700"/>
                </a:gs>
              </a:gsLst>
              <a:path path="shape">
                <a:fillToRect l="50000" t="50000" r="50000" b="50000"/>
              </a:path>
              <a:tileRect/>
            </a:gradFill>
            <a:ln w="38100">
              <a:noFill/>
            </a:ln>
          </p:spPr>
          <p:txBody>
            <a:bodyPr wrap="none" anchor="ctr" anchorCtr="0"/>
            <a:p>
              <a:pPr algn="ctr" eaLnBrk="0" hangingPunct="0">
                <a:buClrTx/>
                <a:buFontTx/>
                <a:buNone/>
              </a:pPr>
              <a:r>
                <a:rPr lang="en-US" altLang="zh-CN" sz="24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2</a:t>
              </a:r>
              <a:endParaRPr lang="en-US" altLang="zh-CN" sz="2400" b="0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45084" name="Rectangle 68"/>
            <p:cNvSpPr/>
            <p:nvPr/>
          </p:nvSpPr>
          <p:spPr>
            <a:xfrm>
              <a:off x="681" y="2251"/>
              <a:ext cx="544" cy="273"/>
            </a:xfrm>
            <a:prstGeom prst="rect">
              <a:avLst/>
            </a:prstGeom>
            <a:gradFill rotWithShape="1">
              <a:gsLst>
                <a:gs pos="0">
                  <a:srgbClr val="FF9900"/>
                </a:gs>
                <a:gs pos="100000">
                  <a:srgbClr val="764700"/>
                </a:gs>
              </a:gsLst>
              <a:path path="shape">
                <a:fillToRect l="50000" t="50000" r="50000" b="50000"/>
              </a:path>
              <a:tileRect/>
            </a:gradFill>
            <a:ln w="38100">
              <a:noFill/>
            </a:ln>
          </p:spPr>
          <p:txBody>
            <a:bodyPr wrap="none" anchor="ctr" anchorCtr="0"/>
            <a:p>
              <a:pPr algn="ctr" eaLnBrk="0" hangingPunct="0">
                <a:buClrTx/>
                <a:buFontTx/>
                <a:buNone/>
              </a:pPr>
              <a:r>
                <a:rPr lang="en-US" altLang="zh-CN" sz="24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3</a:t>
              </a:r>
              <a:endParaRPr lang="en-US" altLang="zh-CN" sz="2400" b="0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45085" name="AutoShape 69"/>
            <p:cNvSpPr/>
            <p:nvPr/>
          </p:nvSpPr>
          <p:spPr>
            <a:xfrm>
              <a:off x="1588" y="1798"/>
              <a:ext cx="67" cy="408"/>
            </a:xfrm>
            <a:prstGeom prst="upArrow">
              <a:avLst>
                <a:gd name="adj1" fmla="val 50000"/>
                <a:gd name="adj2" fmla="val 152210"/>
              </a:avLst>
            </a:prstGeom>
            <a:solidFill>
              <a:srgbClr val="33CCFF"/>
            </a:solidFill>
            <a:ln w="38100">
              <a:noFill/>
            </a:ln>
          </p:spPr>
          <p:txBody>
            <a:bodyPr wrap="none" anchor="ctr" anchorCtr="0"/>
            <a:p>
              <a:pPr>
                <a:buClrTx/>
                <a:buFontTx/>
                <a:buNone/>
              </a:pPr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45086" name="Text Box 70"/>
            <p:cNvSpPr txBox="1"/>
            <p:nvPr/>
          </p:nvSpPr>
          <p:spPr>
            <a:xfrm>
              <a:off x="1610" y="1888"/>
              <a:ext cx="362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I</a:t>
              </a:r>
              <a:r>
                <a:rPr lang="en-US" altLang="zh-CN" sz="14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2</a:t>
              </a:r>
              <a:endParaRPr lang="en-US" altLang="zh-CN" sz="2400" b="0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45087" name="Text Box 71"/>
            <p:cNvSpPr txBox="1"/>
            <p:nvPr/>
          </p:nvSpPr>
          <p:spPr>
            <a:xfrm>
              <a:off x="2154" y="1842"/>
              <a:ext cx="271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I</a:t>
              </a:r>
              <a:r>
                <a:rPr lang="en-US" altLang="zh-CN" sz="14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3</a:t>
              </a:r>
              <a:endParaRPr lang="en-US" altLang="zh-CN" sz="2400" b="0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45088" name="Text Box 72"/>
            <p:cNvSpPr txBox="1"/>
            <p:nvPr/>
          </p:nvSpPr>
          <p:spPr>
            <a:xfrm>
              <a:off x="521" y="799"/>
              <a:ext cx="363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I</a:t>
              </a:r>
              <a:r>
                <a:rPr lang="en-US" altLang="zh-CN" sz="14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1</a:t>
              </a:r>
              <a:endParaRPr lang="en-US" altLang="zh-CN" sz="2400" b="0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45089" name="Text Box 73"/>
            <p:cNvSpPr txBox="1"/>
            <p:nvPr/>
          </p:nvSpPr>
          <p:spPr>
            <a:xfrm>
              <a:off x="1134" y="1753"/>
              <a:ext cx="317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+</a:t>
              </a:r>
              <a:endParaRPr lang="en-US" altLang="zh-CN" sz="2400" b="0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45090" name="Text Box 74"/>
            <p:cNvSpPr txBox="1"/>
            <p:nvPr/>
          </p:nvSpPr>
          <p:spPr>
            <a:xfrm>
              <a:off x="431" y="2115"/>
              <a:ext cx="317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+</a:t>
              </a:r>
              <a:endParaRPr lang="en-US" altLang="zh-CN" sz="2400" b="0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45091" name="Text Box 75"/>
            <p:cNvSpPr txBox="1"/>
            <p:nvPr/>
          </p:nvSpPr>
          <p:spPr>
            <a:xfrm>
              <a:off x="521" y="1117"/>
              <a:ext cx="317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+</a:t>
              </a:r>
              <a:endParaRPr lang="en-US" altLang="zh-CN" sz="2400" b="0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45092" name="Text Box 76"/>
            <p:cNvSpPr txBox="1"/>
            <p:nvPr/>
          </p:nvSpPr>
          <p:spPr>
            <a:xfrm>
              <a:off x="521" y="391"/>
              <a:ext cx="317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+</a:t>
              </a:r>
              <a:endParaRPr lang="en-US" altLang="zh-CN" sz="2400" b="0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45093" name="Text Box 77"/>
            <p:cNvSpPr txBox="1"/>
            <p:nvPr/>
          </p:nvSpPr>
          <p:spPr>
            <a:xfrm>
              <a:off x="1543" y="437"/>
              <a:ext cx="317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+</a:t>
              </a:r>
              <a:endParaRPr lang="en-US" altLang="zh-CN" sz="2400" b="0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45094" name="Text Box 78"/>
            <p:cNvSpPr txBox="1"/>
            <p:nvPr/>
          </p:nvSpPr>
          <p:spPr>
            <a:xfrm>
              <a:off x="2064" y="1027"/>
              <a:ext cx="317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+</a:t>
              </a:r>
              <a:endParaRPr lang="en-US" altLang="zh-CN" sz="2400" b="0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45095" name="Text Box 79"/>
            <p:cNvSpPr txBox="1"/>
            <p:nvPr/>
          </p:nvSpPr>
          <p:spPr>
            <a:xfrm>
              <a:off x="499" y="1781"/>
              <a:ext cx="318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4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－</a:t>
              </a:r>
              <a:endPara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45096" name="Text Box 80"/>
            <p:cNvSpPr txBox="1"/>
            <p:nvPr/>
          </p:nvSpPr>
          <p:spPr>
            <a:xfrm>
              <a:off x="1202" y="2115"/>
              <a:ext cx="318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4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－</a:t>
              </a:r>
              <a:endPara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45097" name="Text Box 81"/>
            <p:cNvSpPr txBox="1"/>
            <p:nvPr/>
          </p:nvSpPr>
          <p:spPr>
            <a:xfrm>
              <a:off x="2245" y="392"/>
              <a:ext cx="318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4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－</a:t>
              </a:r>
              <a:endPara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45098" name="Text Box 82"/>
            <p:cNvSpPr txBox="1"/>
            <p:nvPr/>
          </p:nvSpPr>
          <p:spPr>
            <a:xfrm>
              <a:off x="2064" y="1616"/>
              <a:ext cx="318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4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－</a:t>
              </a:r>
              <a:endPara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45099" name="Text Box 83"/>
            <p:cNvSpPr txBox="1"/>
            <p:nvPr/>
          </p:nvSpPr>
          <p:spPr>
            <a:xfrm>
              <a:off x="1134" y="936"/>
              <a:ext cx="318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4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－</a:t>
              </a:r>
              <a:endPara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45100" name="Text Box 84"/>
            <p:cNvSpPr txBox="1"/>
            <p:nvPr/>
          </p:nvSpPr>
          <p:spPr>
            <a:xfrm>
              <a:off x="1951" y="347"/>
              <a:ext cx="363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U</a:t>
              </a:r>
              <a:r>
                <a:rPr lang="en-US" altLang="zh-CN" sz="14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6</a:t>
              </a:r>
              <a:endParaRPr lang="en-US" altLang="zh-CN" sz="2400" b="0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45101" name="Text Box 85"/>
            <p:cNvSpPr txBox="1"/>
            <p:nvPr/>
          </p:nvSpPr>
          <p:spPr>
            <a:xfrm>
              <a:off x="2018" y="1298"/>
              <a:ext cx="363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U</a:t>
              </a:r>
              <a:r>
                <a:rPr lang="en-US" altLang="zh-CN" sz="14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5</a:t>
              </a:r>
              <a:endParaRPr lang="en-US" altLang="zh-CN" sz="2400" b="0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45102" name="Text Box 86"/>
            <p:cNvSpPr txBox="1"/>
            <p:nvPr/>
          </p:nvSpPr>
          <p:spPr>
            <a:xfrm>
              <a:off x="1089" y="1345"/>
              <a:ext cx="363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U</a:t>
              </a:r>
              <a:r>
                <a:rPr lang="en-US" altLang="zh-CN" sz="14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4</a:t>
              </a:r>
              <a:endParaRPr lang="en-US" altLang="zh-CN" sz="2400" b="0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45103" name="Text Box 87"/>
            <p:cNvSpPr txBox="1"/>
            <p:nvPr/>
          </p:nvSpPr>
          <p:spPr>
            <a:xfrm>
              <a:off x="793" y="1979"/>
              <a:ext cx="363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U</a:t>
              </a:r>
              <a:r>
                <a:rPr lang="en-US" altLang="zh-CN" sz="14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3</a:t>
              </a:r>
              <a:endParaRPr lang="en-US" altLang="zh-CN" sz="2400" b="0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45104" name="Text Box 88"/>
            <p:cNvSpPr txBox="1"/>
            <p:nvPr/>
          </p:nvSpPr>
          <p:spPr>
            <a:xfrm>
              <a:off x="499" y="1464"/>
              <a:ext cx="363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U</a:t>
              </a:r>
              <a:r>
                <a:rPr lang="en-US" altLang="zh-CN" sz="14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2</a:t>
              </a:r>
              <a:endParaRPr lang="en-US" altLang="zh-CN" sz="2400" b="0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45105" name="Text Box 89"/>
            <p:cNvSpPr txBox="1"/>
            <p:nvPr/>
          </p:nvSpPr>
          <p:spPr>
            <a:xfrm>
              <a:off x="930" y="346"/>
              <a:ext cx="363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U</a:t>
              </a:r>
              <a:r>
                <a:rPr lang="en-US" altLang="zh-CN" sz="14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1</a:t>
              </a:r>
              <a:endParaRPr lang="en-US" altLang="zh-CN" sz="2400" b="0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45106" name="Text Box 90"/>
            <p:cNvSpPr txBox="1"/>
            <p:nvPr/>
          </p:nvSpPr>
          <p:spPr>
            <a:xfrm>
              <a:off x="1247" y="436"/>
              <a:ext cx="318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4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－</a:t>
              </a:r>
              <a:endPara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</p:grpSp>
      <p:grpSp>
        <p:nvGrpSpPr>
          <p:cNvPr id="457820" name="Group 92"/>
          <p:cNvGrpSpPr/>
          <p:nvPr/>
        </p:nvGrpSpPr>
        <p:grpSpPr>
          <a:xfrm>
            <a:off x="539750" y="4652963"/>
            <a:ext cx="1644650" cy="850900"/>
            <a:chOff x="385" y="3022"/>
            <a:chExt cx="1036" cy="536"/>
          </a:xfrm>
        </p:grpSpPr>
        <p:pic>
          <p:nvPicPr>
            <p:cNvPr id="45108" name="Picture 93" descr="123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385" y="3022"/>
              <a:ext cx="590" cy="536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5109" name="Text Box 94"/>
            <p:cNvSpPr txBox="1"/>
            <p:nvPr/>
          </p:nvSpPr>
          <p:spPr>
            <a:xfrm>
              <a:off x="793" y="3125"/>
              <a:ext cx="628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ClrTx/>
                <a:buFontTx/>
                <a:buNone/>
              </a:pPr>
              <a:r>
                <a:rPr lang="zh-CN" altLang="en-US" sz="3200" b="0" dirty="0">
                  <a:solidFill>
                    <a:srgbClr val="CC6600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注意</a:t>
              </a:r>
              <a:endParaRPr lang="zh-CN" altLang="en-US" sz="3200" b="0" dirty="0">
                <a:solidFill>
                  <a:srgbClr val="CC6600"/>
                </a:solidFill>
                <a:latin typeface="Arial" panose="020B0604020202020204" pitchFamily="34" charset="0"/>
                <a:ea typeface="华文行楷" panose="02010800040101010101" pitchFamily="2" charset="-122"/>
              </a:endParaRPr>
            </a:p>
          </p:txBody>
        </p:sp>
      </p:grpSp>
      <p:grpSp>
        <p:nvGrpSpPr>
          <p:cNvPr id="45110" name="Group 101"/>
          <p:cNvGrpSpPr/>
          <p:nvPr/>
        </p:nvGrpSpPr>
        <p:grpSpPr>
          <a:xfrm>
            <a:off x="6588125" y="6445250"/>
            <a:ext cx="792163" cy="366713"/>
            <a:chOff x="5193" y="4020"/>
            <a:chExt cx="499" cy="231"/>
          </a:xfrm>
        </p:grpSpPr>
        <p:pic>
          <p:nvPicPr>
            <p:cNvPr id="45111" name="Picture 102" descr="78900">
              <a:hlinkClick r:id="" action="ppaction://hlinkshowjump?jump=firstslide"/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5112" name="Text Box 103">
              <a:hlinkClick r:id="" action="ppaction://hlinkshowjump?jump=firs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577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577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577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4577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5" dur="2000"/>
                                        <p:tgtEl>
                                          <p:spTgt spid="457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0" dur="2000"/>
                                        <p:tgtEl>
                                          <p:spTgt spid="457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5" dur="2000"/>
                                        <p:tgtEl>
                                          <p:spTgt spid="457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0" dur="2000"/>
                                        <p:tgtEl>
                                          <p:spTgt spid="4577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5" dur="2000"/>
                                        <p:tgtEl>
                                          <p:spTgt spid="457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0" dur="2000"/>
                                        <p:tgtEl>
                                          <p:spTgt spid="457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457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4577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4577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7732" grpId="0" animBg="1"/>
      <p:bldP spid="457740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46081" name="Group 8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46082" name="Picture 9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6083" name="Text Box 10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46084" name="Group 11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46085" name="Picture 12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6086" name="Text Box 13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sp>
        <p:nvSpPr>
          <p:cNvPr id="495633" name="Text Box 17"/>
          <p:cNvSpPr txBox="1"/>
          <p:nvPr/>
        </p:nvSpPr>
        <p:spPr>
          <a:xfrm>
            <a:off x="1258888" y="549275"/>
            <a:ext cx="6337300" cy="701675"/>
          </a:xfrm>
          <a:prstGeom prst="rect">
            <a:avLst/>
          </a:prstGeom>
          <a:noFill/>
          <a:ln w="28575">
            <a:noFill/>
          </a:ln>
          <a:effectLst>
            <a:prstShdw prst="shdw17" dist="17961" dir="2699999">
              <a:srgbClr val="009900"/>
            </a:prstShdw>
          </a:effectLst>
        </p:spPr>
        <p:txBody>
          <a:bodyPr anchor="ctr" anchorCtr="0">
            <a:spAutoFit/>
          </a:bodyPr>
          <a:p>
            <a:pPr algn="ctr" eaLnBrk="0" hangingPunct="0">
              <a:buClrTx/>
              <a:buFontTx/>
              <a:buNone/>
            </a:pPr>
            <a:r>
              <a:rPr lang="en-US" altLang="zh-CN" sz="40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1.4 </a:t>
            </a:r>
            <a:r>
              <a:rPr lang="zh-CN" altLang="en-US" sz="40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电路元件</a:t>
            </a:r>
            <a:endParaRPr lang="zh-CN" altLang="en-US" sz="4000" dirty="0">
              <a:solidFill>
                <a:schemeClr val="tx1"/>
              </a:solidFill>
              <a:latin typeface="Times New Roman" panose="02020603050405020304" pitchFamily="18" charset="0"/>
              <a:ea typeface="楷体_GB2312" pitchFamily="49" charset="-122"/>
              <a:sym typeface="Symbol" panose="05050102010706020507" pitchFamily="18" charset="2"/>
            </a:endParaRPr>
          </a:p>
        </p:txBody>
      </p:sp>
      <p:sp>
        <p:nvSpPr>
          <p:cNvPr id="495634" name="Text Box 18"/>
          <p:cNvSpPr txBox="1"/>
          <p:nvPr/>
        </p:nvSpPr>
        <p:spPr>
          <a:xfrm>
            <a:off x="3924300" y="1196975"/>
            <a:ext cx="4968875" cy="604838"/>
          </a:xfrm>
          <a:prstGeom prst="rect">
            <a:avLst/>
          </a:prstGeom>
          <a:noFill/>
          <a:ln w="12700">
            <a:noFill/>
          </a:ln>
        </p:spPr>
        <p:txBody>
          <a:bodyPr anchor="t" anchorCtr="0">
            <a:spAutoFit/>
          </a:bodyPr>
          <a:p>
            <a:pPr marL="342900" indent="-342900" eaLnBrk="0" fontAlgn="t" hangingPunct="0">
              <a:lnSpc>
                <a:spcPct val="120000"/>
              </a:lnSpc>
              <a:spcBef>
                <a:spcPct val="30000"/>
              </a:spcBef>
              <a:buFont typeface="Wingdings" panose="05000000000000000000" pitchFamily="2" charset="2"/>
            </a:pP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是电路中最基本的组成单元。</a:t>
            </a:r>
            <a:endParaRPr lang="zh-CN" altLang="en-US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95638" name="Text Box 22"/>
          <p:cNvSpPr txBox="1"/>
          <p:nvPr/>
        </p:nvSpPr>
        <p:spPr>
          <a:xfrm>
            <a:off x="468313" y="1196975"/>
            <a:ext cx="3168650" cy="579438"/>
          </a:xfrm>
          <a:prstGeom prst="rect">
            <a:avLst/>
          </a:prstGeom>
          <a:noFill/>
          <a:ln w="12700">
            <a:noFill/>
          </a:ln>
          <a:effectLst>
            <a:outerShdw dist="107763" dir="18900000" algn="ctr" rotWithShape="0">
              <a:schemeClr val="bg2">
                <a:alpha val="50000"/>
              </a:schemeClr>
            </a:outerShdw>
          </a:effectLst>
        </p:spPr>
        <p:txBody>
          <a:bodyPr anchor="t" anchorCtr="0">
            <a:spAutoFit/>
          </a:bodyPr>
          <a:p>
            <a:pPr algn="ctr" eaLnBrk="0" hangingPunct="0">
              <a:spcBef>
                <a:spcPct val="50000"/>
              </a:spcBef>
              <a:buClrTx/>
              <a:buFontTx/>
              <a:buNone/>
            </a:pPr>
            <a:r>
              <a:rPr lang="en-US" altLang="zh-CN" sz="32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1. </a:t>
            </a:r>
            <a:r>
              <a:rPr lang="zh-CN" altLang="en-US" sz="32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电路元件</a:t>
            </a:r>
            <a:endParaRPr lang="zh-CN" altLang="en-US" sz="3200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46090" name="Group 29"/>
          <p:cNvGrpSpPr/>
          <p:nvPr/>
        </p:nvGrpSpPr>
        <p:grpSpPr>
          <a:xfrm>
            <a:off x="6588125" y="6445250"/>
            <a:ext cx="792163" cy="366713"/>
            <a:chOff x="5193" y="4020"/>
            <a:chExt cx="499" cy="231"/>
          </a:xfrm>
        </p:grpSpPr>
        <p:pic>
          <p:nvPicPr>
            <p:cNvPr id="46091" name="Picture 30" descr="78900">
              <a:hlinkClick r:id="" action="ppaction://hlinkshowjump?jump=firstslide"/>
            </p:cNvPr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6092" name="Text Box 31">
              <a:hlinkClick r:id="" action="ppaction://hlinkshowjump?jump=firs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sp>
        <p:nvSpPr>
          <p:cNvPr id="495648" name="Text Box 32"/>
          <p:cNvSpPr txBox="1"/>
          <p:nvPr/>
        </p:nvSpPr>
        <p:spPr>
          <a:xfrm>
            <a:off x="1042988" y="1844675"/>
            <a:ext cx="4608512" cy="519113"/>
          </a:xfrm>
          <a:prstGeom prst="rect">
            <a:avLst/>
          </a:prstGeom>
          <a:noFill/>
          <a:ln w="12700">
            <a:noFill/>
          </a:ln>
        </p:spPr>
        <p:txBody>
          <a:bodyPr anchor="ctr" anchorCtr="0">
            <a:spAutoFit/>
          </a:bodyPr>
          <a:p>
            <a:pPr algn="ctr" eaLnBrk="0" hangingPunct="0">
              <a:spcBef>
                <a:spcPct val="50000"/>
              </a:spcBef>
              <a:buClrTx/>
              <a:buFontTx/>
              <a:buNone/>
            </a:pPr>
            <a:r>
              <a:rPr lang="en-US" altLang="zh-CN" dirty="0">
                <a:solidFill>
                  <a:srgbClr val="FF6600"/>
                </a:solidFill>
                <a:latin typeface="Times New Roman" panose="02020603050405020304" pitchFamily="18" charset="0"/>
                <a:ea typeface="楷体_GB2312" pitchFamily="49" charset="-122"/>
              </a:rPr>
              <a:t>5</a:t>
            </a:r>
            <a:r>
              <a:rPr lang="zh-CN" altLang="en-US" dirty="0">
                <a:solidFill>
                  <a:srgbClr val="FF6600"/>
                </a:solidFill>
                <a:latin typeface="Times New Roman" panose="02020603050405020304" pitchFamily="18" charset="0"/>
                <a:ea typeface="楷体_GB2312" pitchFamily="49" charset="-122"/>
              </a:rPr>
              <a:t>种基本的理想电路元件：</a:t>
            </a:r>
            <a:endParaRPr lang="zh-CN" altLang="en-US" dirty="0">
              <a:solidFill>
                <a:srgbClr val="FF66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495649" name="Text Box 33"/>
          <p:cNvSpPr txBox="1"/>
          <p:nvPr/>
        </p:nvSpPr>
        <p:spPr>
          <a:xfrm>
            <a:off x="611188" y="2349500"/>
            <a:ext cx="5616575" cy="519113"/>
          </a:xfrm>
          <a:prstGeom prst="rect">
            <a:avLst/>
          </a:prstGeom>
          <a:noFill/>
          <a:ln w="12700">
            <a:noFill/>
          </a:ln>
        </p:spPr>
        <p:txBody>
          <a:bodyPr anchor="ctr" anchorCtr="0">
            <a:spAutoFit/>
          </a:bodyPr>
          <a:p>
            <a:pPr algn="ctr" eaLnBrk="0" hangingPunct="0">
              <a:spcBef>
                <a:spcPct val="50000"/>
              </a:spcBef>
              <a:buClrTx/>
              <a:buFontTx/>
              <a:buNone/>
            </a:pPr>
            <a:r>
              <a:rPr lang="zh-CN" altLang="en-US" dirty="0">
                <a:solidFill>
                  <a:srgbClr val="FFFFFF"/>
                </a:solidFill>
                <a:latin typeface="Times New Roman" panose="02020603050405020304" pitchFamily="18" charset="0"/>
                <a:ea typeface="楷体_GB2312" pitchFamily="49" charset="-122"/>
              </a:rPr>
              <a:t>电阻元件：</a:t>
            </a:r>
            <a:r>
              <a:rPr lang="zh-CN" altLang="en-US" dirty="0">
                <a:latin typeface="Times New Roman" panose="02020603050405020304" pitchFamily="18" charset="0"/>
                <a:ea typeface="楷体_GB2312" pitchFamily="49" charset="-122"/>
              </a:rPr>
              <a:t>表示消耗电能的元件</a:t>
            </a:r>
            <a:endParaRPr lang="zh-CN" altLang="en-US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495650" name="Text Box 34"/>
          <p:cNvSpPr txBox="1"/>
          <p:nvPr/>
        </p:nvSpPr>
        <p:spPr>
          <a:xfrm>
            <a:off x="755650" y="2852738"/>
            <a:ext cx="7705725" cy="519112"/>
          </a:xfrm>
          <a:prstGeom prst="rect">
            <a:avLst/>
          </a:prstGeom>
          <a:noFill/>
          <a:ln w="12700">
            <a:noFill/>
          </a:ln>
        </p:spPr>
        <p:txBody>
          <a:bodyPr anchor="ctr" anchorCtr="0">
            <a:spAutoFit/>
          </a:bodyPr>
          <a:p>
            <a:pPr algn="ctr" eaLnBrk="0" hangingPunct="0">
              <a:spcBef>
                <a:spcPct val="50000"/>
              </a:spcBef>
              <a:buClrTx/>
              <a:buFontTx/>
              <a:buNone/>
            </a:pPr>
            <a:r>
              <a:rPr lang="zh-CN" altLang="en-US" dirty="0">
                <a:solidFill>
                  <a:srgbClr val="FFFFFF"/>
                </a:solidFill>
                <a:latin typeface="Times New Roman" panose="02020603050405020304" pitchFamily="18" charset="0"/>
                <a:ea typeface="楷体_GB2312" pitchFamily="49" charset="-122"/>
              </a:rPr>
              <a:t>电感元件：</a:t>
            </a:r>
            <a:r>
              <a:rPr lang="zh-CN" altLang="en-US" dirty="0">
                <a:latin typeface="Times New Roman" panose="02020603050405020304" pitchFamily="18" charset="0"/>
                <a:ea typeface="楷体_GB2312" pitchFamily="49" charset="-122"/>
              </a:rPr>
              <a:t>表示产生磁场，储存磁场能量的元件</a:t>
            </a:r>
            <a:endParaRPr lang="zh-CN" altLang="en-US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495651" name="Text Box 35"/>
          <p:cNvSpPr txBox="1"/>
          <p:nvPr/>
        </p:nvSpPr>
        <p:spPr>
          <a:xfrm>
            <a:off x="755650" y="3357563"/>
            <a:ext cx="7704138" cy="519112"/>
          </a:xfrm>
          <a:prstGeom prst="rect">
            <a:avLst/>
          </a:prstGeom>
          <a:noFill/>
          <a:ln w="12700">
            <a:noFill/>
          </a:ln>
        </p:spPr>
        <p:txBody>
          <a:bodyPr anchor="ctr" anchorCtr="0">
            <a:spAutoFit/>
          </a:bodyPr>
          <a:p>
            <a:pPr algn="ctr" eaLnBrk="0" hangingPunct="0">
              <a:spcBef>
                <a:spcPct val="50000"/>
              </a:spcBef>
              <a:buClrTx/>
              <a:buFontTx/>
              <a:buNone/>
            </a:pPr>
            <a:r>
              <a:rPr lang="zh-CN" altLang="en-US" dirty="0">
                <a:solidFill>
                  <a:srgbClr val="FFFFFF"/>
                </a:solidFill>
                <a:latin typeface="Times New Roman" panose="02020603050405020304" pitchFamily="18" charset="0"/>
                <a:ea typeface="楷体_GB2312" pitchFamily="49" charset="-122"/>
              </a:rPr>
              <a:t>电容元件：</a:t>
            </a:r>
            <a:r>
              <a:rPr lang="zh-CN" altLang="en-US" dirty="0">
                <a:latin typeface="Times New Roman" panose="02020603050405020304" pitchFamily="18" charset="0"/>
                <a:ea typeface="楷体_GB2312" pitchFamily="49" charset="-122"/>
              </a:rPr>
              <a:t>表示产生电场，储存电场能量的元件</a:t>
            </a:r>
            <a:endParaRPr lang="zh-CN" altLang="en-US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495652" name="Text Box 36"/>
          <p:cNvSpPr txBox="1"/>
          <p:nvPr/>
        </p:nvSpPr>
        <p:spPr>
          <a:xfrm>
            <a:off x="758825" y="3860800"/>
            <a:ext cx="7918450" cy="1031875"/>
          </a:xfrm>
          <a:prstGeom prst="rect">
            <a:avLst/>
          </a:prstGeom>
          <a:noFill/>
          <a:ln w="12700">
            <a:noFill/>
          </a:ln>
        </p:spPr>
        <p:txBody>
          <a:bodyPr anchor="ctr" anchorCtr="0">
            <a:spAutoFit/>
          </a:bodyPr>
          <a:p>
            <a:pPr eaLnBrk="0" hangingPunct="0">
              <a:spcBef>
                <a:spcPct val="20000"/>
              </a:spcBef>
              <a:buClrTx/>
              <a:buFontTx/>
              <a:buNone/>
            </a:pPr>
            <a:r>
              <a:rPr lang="zh-CN" altLang="en-US" dirty="0">
                <a:solidFill>
                  <a:srgbClr val="FFFFFF"/>
                </a:solidFill>
                <a:latin typeface="Times New Roman" panose="02020603050405020304" pitchFamily="18" charset="0"/>
                <a:ea typeface="楷体_GB2312" pitchFamily="49" charset="-122"/>
              </a:rPr>
              <a:t>电压源和电流源：</a:t>
            </a:r>
            <a:r>
              <a:rPr lang="zh-CN" altLang="en-US" dirty="0">
                <a:latin typeface="Times New Roman" panose="02020603050405020304" pitchFamily="18" charset="0"/>
                <a:ea typeface="楷体_GB2312" pitchFamily="49" charset="-122"/>
              </a:rPr>
              <a:t>表示将其它形式的能量转变成</a:t>
            </a:r>
            <a:endParaRPr lang="zh-CN" altLang="en-US" dirty="0">
              <a:latin typeface="Times New Roman" panose="02020603050405020304" pitchFamily="18" charset="0"/>
              <a:ea typeface="楷体_GB2312" pitchFamily="49" charset="-122"/>
            </a:endParaRPr>
          </a:p>
          <a:p>
            <a:pPr eaLnBrk="0" hangingPunct="0">
              <a:spcBef>
                <a:spcPct val="20000"/>
              </a:spcBef>
              <a:buClrTx/>
              <a:buFontTx/>
              <a:buNone/>
            </a:pPr>
            <a:r>
              <a:rPr lang="zh-CN" altLang="en-US" dirty="0">
                <a:latin typeface="Times New Roman" panose="02020603050405020304" pitchFamily="18" charset="0"/>
                <a:ea typeface="楷体_GB2312" pitchFamily="49" charset="-122"/>
              </a:rPr>
              <a:t>                                电能的元件。</a:t>
            </a:r>
            <a:endParaRPr lang="zh-CN" altLang="en-US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pSp>
        <p:nvGrpSpPr>
          <p:cNvPr id="495653" name="Group 37"/>
          <p:cNvGrpSpPr/>
          <p:nvPr/>
        </p:nvGrpSpPr>
        <p:grpSpPr>
          <a:xfrm>
            <a:off x="612775" y="4725988"/>
            <a:ext cx="1644650" cy="850900"/>
            <a:chOff x="385" y="3022"/>
            <a:chExt cx="1036" cy="536"/>
          </a:xfrm>
        </p:grpSpPr>
        <p:pic>
          <p:nvPicPr>
            <p:cNvPr id="46099" name="Picture 38" descr="12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85" y="3022"/>
              <a:ext cx="590" cy="536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6100" name="Text Box 39"/>
            <p:cNvSpPr txBox="1"/>
            <p:nvPr/>
          </p:nvSpPr>
          <p:spPr>
            <a:xfrm>
              <a:off x="793" y="3125"/>
              <a:ext cx="628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ClrTx/>
                <a:buFontTx/>
                <a:buNone/>
              </a:pPr>
              <a:r>
                <a:rPr lang="zh-CN" altLang="en-US" sz="3200" b="0" dirty="0">
                  <a:solidFill>
                    <a:srgbClr val="FA7748"/>
                  </a:solidFill>
                  <a:latin typeface="Times New Roman" panose="02020603050405020304" pitchFamily="18" charset="0"/>
                  <a:ea typeface="华文行楷" panose="02010800040101010101" pitchFamily="2" charset="-122"/>
                </a:rPr>
                <a:t>注意</a:t>
              </a:r>
              <a:endParaRPr lang="zh-CN" altLang="en-US" sz="3200" b="0" dirty="0">
                <a:solidFill>
                  <a:srgbClr val="FA7748"/>
                </a:solidFill>
                <a:latin typeface="Times New Roman" panose="02020603050405020304" pitchFamily="18" charset="0"/>
                <a:ea typeface="华文行楷" panose="02010800040101010101" pitchFamily="2" charset="-122"/>
              </a:endParaRPr>
            </a:p>
          </p:txBody>
        </p:sp>
      </p:grpSp>
      <p:sp>
        <p:nvSpPr>
          <p:cNvPr id="495656" name="Text Box 40"/>
          <p:cNvSpPr txBox="1"/>
          <p:nvPr/>
        </p:nvSpPr>
        <p:spPr>
          <a:xfrm>
            <a:off x="900113" y="4868863"/>
            <a:ext cx="7489825" cy="1630362"/>
          </a:xfrm>
          <a:prstGeom prst="rect">
            <a:avLst/>
          </a:prstGeom>
          <a:noFill/>
          <a:ln w="12700">
            <a:noFill/>
          </a:ln>
        </p:spPr>
        <p:txBody>
          <a:bodyPr anchor="t" anchorCtr="0">
            <a:spAutoFit/>
          </a:bodyPr>
          <a:p>
            <a:pPr marL="342900" indent="-342900" eaLnBrk="0" fontAlgn="t" hangingPunct="0">
              <a:lnSpc>
                <a:spcPct val="120000"/>
              </a:lnSpc>
              <a:spcBef>
                <a:spcPct val="30000"/>
              </a:spcBef>
              <a:buFont typeface="Wingdings" panose="05000000000000000000" pitchFamily="2" charset="2"/>
            </a:pPr>
            <a:r>
              <a:rPr lang="en-US" altLang="zh-CN" dirty="0">
                <a:latin typeface="楷体_GB2312" pitchFamily="49" charset="-122"/>
                <a:ea typeface="楷体_GB2312" pitchFamily="49" charset="-122"/>
              </a:rPr>
              <a:t>        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如果表征元件端子特性的数学关系式是线性关系，该元件称为线性元件，否则称为非线性元件。</a:t>
            </a:r>
            <a:endParaRPr lang="zh-CN" altLang="en-US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95657" name="Line 41"/>
          <p:cNvSpPr/>
          <p:nvPr/>
        </p:nvSpPr>
        <p:spPr>
          <a:xfrm>
            <a:off x="3348038" y="1484313"/>
            <a:ext cx="576262" cy="0"/>
          </a:xfrm>
          <a:prstGeom prst="line">
            <a:avLst/>
          </a:prstGeom>
          <a:ln w="76200" cap="sq" cmpd="sng">
            <a:solidFill>
              <a:schemeClr val="hlink"/>
            </a:solidFill>
            <a:prstDash val="solid"/>
            <a:round/>
            <a:headEnd type="none" w="med" len="med"/>
            <a:tailEnd type="triangle" w="med" len="me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956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956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956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956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9" dur="500"/>
                                        <p:tgtEl>
                                          <p:spTgt spid="495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34">
                                            <p:txEl>
                                              <p:charRg st="0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2000"/>
                                        <p:tgtEl>
                                          <p:spTgt spid="495634">
                                            <p:txEl>
                                              <p:charRg st="0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5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2000"/>
                                        <p:tgtEl>
                                          <p:spTgt spid="495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2000"/>
                                        <p:tgtEl>
                                          <p:spTgt spid="495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2000"/>
                                        <p:tgtEl>
                                          <p:spTgt spid="495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2000"/>
                                        <p:tgtEl>
                                          <p:spTgt spid="495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495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56">
                                            <p:txEl>
                                              <p:charRg st="0" end="5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2000"/>
                                        <p:tgtEl>
                                          <p:spTgt spid="495656">
                                            <p:txEl>
                                              <p:charRg st="0" end="5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5633" grpId="0"/>
      <p:bldP spid="495638" grpId="0"/>
      <p:bldP spid="495648" grpId="0"/>
      <p:bldP spid="495649" grpId="0"/>
      <p:bldP spid="495650" grpId="0"/>
      <p:bldP spid="495651" grpId="0"/>
      <p:bldP spid="49565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7105" name="Oval 2"/>
          <p:cNvSpPr/>
          <p:nvPr/>
        </p:nvSpPr>
        <p:spPr>
          <a:xfrm>
            <a:off x="2700338" y="1052513"/>
            <a:ext cx="142875" cy="73025"/>
          </a:xfrm>
          <a:prstGeom prst="ellipse">
            <a:avLst/>
          </a:prstGeom>
          <a:noFill/>
          <a:ln w="12700">
            <a:noFill/>
          </a:ln>
        </p:spPr>
        <p:txBody>
          <a:bodyPr wrap="none" anchor="ctr" anchorCtr="0">
            <a:spAutoFit/>
          </a:bodyPr>
          <a:p>
            <a:pPr>
              <a:buClrTx/>
              <a:buFontTx/>
              <a:buNone/>
            </a:pPr>
            <a:endParaRPr lang="zh-CN" altLang="en-US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497667" name="Text Box 3"/>
          <p:cNvSpPr txBox="1"/>
          <p:nvPr/>
        </p:nvSpPr>
        <p:spPr>
          <a:xfrm>
            <a:off x="468313" y="620713"/>
            <a:ext cx="3168650" cy="579437"/>
          </a:xfrm>
          <a:prstGeom prst="rect">
            <a:avLst/>
          </a:prstGeom>
          <a:noFill/>
          <a:ln w="12700">
            <a:noFill/>
          </a:ln>
          <a:effectLst>
            <a:outerShdw dist="107763" dir="18900000" algn="ctr" rotWithShape="0">
              <a:schemeClr val="bg2">
                <a:alpha val="50000"/>
              </a:schemeClr>
            </a:outerShdw>
          </a:effectLst>
        </p:spPr>
        <p:txBody>
          <a:bodyPr anchor="t" anchorCtr="0">
            <a:spAutoFit/>
          </a:bodyPr>
          <a:p>
            <a:pPr algn="ctr" eaLnBrk="0" hangingPunct="0">
              <a:spcBef>
                <a:spcPct val="50000"/>
              </a:spcBef>
              <a:buClrTx/>
              <a:buFontTx/>
              <a:buNone/>
            </a:pPr>
            <a:r>
              <a:rPr lang="en-US" altLang="zh-CN" sz="32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2.</a:t>
            </a:r>
            <a:r>
              <a:rPr lang="zh-CN" altLang="en-US" sz="32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集总参数电路</a:t>
            </a:r>
            <a:endParaRPr lang="zh-CN" altLang="en-US" sz="3200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97668" name="Line 4"/>
          <p:cNvSpPr/>
          <p:nvPr/>
        </p:nvSpPr>
        <p:spPr>
          <a:xfrm>
            <a:off x="1042988" y="1557338"/>
            <a:ext cx="576262" cy="0"/>
          </a:xfrm>
          <a:prstGeom prst="line">
            <a:avLst/>
          </a:prstGeom>
          <a:ln w="76200" cap="flat" cmpd="sng">
            <a:solidFill>
              <a:srgbClr val="33CCFF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497669" name="Text Box 5"/>
          <p:cNvSpPr txBox="1"/>
          <p:nvPr/>
        </p:nvSpPr>
        <p:spPr>
          <a:xfrm>
            <a:off x="1619250" y="1268413"/>
            <a:ext cx="3887788" cy="519112"/>
          </a:xfrm>
          <a:prstGeom prst="rect">
            <a:avLst/>
          </a:prstGeom>
          <a:noFill/>
          <a:ln w="12700">
            <a:noFill/>
          </a:ln>
        </p:spPr>
        <p:txBody>
          <a:bodyPr anchor="t" anchorCtr="0">
            <a:spAutoFit/>
          </a:bodyPr>
          <a:p>
            <a:pPr algn="ctr" eaLnBrk="0" hangingPunct="0">
              <a:spcBef>
                <a:spcPct val="50000"/>
              </a:spcBef>
              <a:buClrTx/>
              <a:buFontTx/>
              <a:buNone/>
            </a:pPr>
            <a:r>
              <a:rPr lang="zh-CN" altLang="en-US" dirty="0">
                <a:latin typeface="Times New Roman" panose="02020603050405020304" pitchFamily="18" charset="0"/>
                <a:ea typeface="楷体_GB2312" pitchFamily="49" charset="-122"/>
              </a:rPr>
              <a:t>由集总元件构成的电路</a:t>
            </a:r>
            <a:endParaRPr lang="zh-CN" altLang="en-US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497670" name="Text Box 6"/>
          <p:cNvSpPr txBox="1"/>
          <p:nvPr/>
        </p:nvSpPr>
        <p:spPr>
          <a:xfrm>
            <a:off x="611188" y="1844675"/>
            <a:ext cx="1728787" cy="519113"/>
          </a:xfrm>
          <a:prstGeom prst="rect">
            <a:avLst/>
          </a:prstGeom>
          <a:noFill/>
          <a:ln w="12700">
            <a:noFill/>
          </a:ln>
        </p:spPr>
        <p:txBody>
          <a:bodyPr anchor="t" anchorCtr="0">
            <a:spAutoFit/>
          </a:bodyPr>
          <a:p>
            <a:pPr algn="ctr" eaLnBrk="0" hangingPunct="0">
              <a:spcBef>
                <a:spcPct val="50000"/>
              </a:spcBef>
              <a:buClrTx/>
              <a:buFontTx/>
              <a:buNone/>
            </a:pPr>
            <a:r>
              <a:rPr lang="zh-CN" altLang="en-US" dirty="0">
                <a:latin typeface="Times New Roman" panose="02020603050405020304" pitchFamily="18" charset="0"/>
                <a:ea typeface="楷体_GB2312" pitchFamily="49" charset="-122"/>
              </a:rPr>
              <a:t>集总元件</a:t>
            </a:r>
            <a:endParaRPr lang="zh-CN" altLang="en-US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497671" name="Line 7"/>
          <p:cNvSpPr/>
          <p:nvPr/>
        </p:nvSpPr>
        <p:spPr>
          <a:xfrm>
            <a:off x="2339975" y="2133600"/>
            <a:ext cx="647700" cy="0"/>
          </a:xfrm>
          <a:prstGeom prst="line">
            <a:avLst/>
          </a:prstGeom>
          <a:ln w="76200" cap="flat" cmpd="sng">
            <a:solidFill>
              <a:srgbClr val="66CCFF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497672" name="Text Box 8"/>
          <p:cNvSpPr txBox="1"/>
          <p:nvPr/>
        </p:nvSpPr>
        <p:spPr>
          <a:xfrm>
            <a:off x="3059113" y="1773238"/>
            <a:ext cx="5184775" cy="1117600"/>
          </a:xfrm>
          <a:prstGeom prst="rect">
            <a:avLst/>
          </a:prstGeom>
          <a:noFill/>
          <a:ln w="12700">
            <a:noFill/>
          </a:ln>
        </p:spPr>
        <p:txBody>
          <a:bodyPr anchor="t" anchorCtr="0">
            <a:spAutoFit/>
          </a:bodyPr>
          <a:p>
            <a:pPr eaLnBrk="0" hangingPunct="0">
              <a:lnSpc>
                <a:spcPct val="120000"/>
              </a:lnSpc>
              <a:buClrTx/>
              <a:buFontTx/>
              <a:buNone/>
            </a:pPr>
            <a:r>
              <a:rPr lang="zh-CN" altLang="en-US" dirty="0">
                <a:latin typeface="Times New Roman" panose="02020603050405020304" pitchFamily="18" charset="0"/>
                <a:ea typeface="楷体_GB2312" pitchFamily="49" charset="-122"/>
              </a:rPr>
              <a:t>假定发生的电磁过程都集中在元件内部进行。</a:t>
            </a:r>
            <a:endParaRPr lang="zh-CN" altLang="en-US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497673" name="Rectangle 9"/>
          <p:cNvSpPr/>
          <p:nvPr/>
        </p:nvSpPr>
        <p:spPr>
          <a:xfrm>
            <a:off x="611188" y="2924175"/>
            <a:ext cx="1800225" cy="519113"/>
          </a:xfrm>
          <a:prstGeom prst="rect">
            <a:avLst/>
          </a:prstGeom>
          <a:noFill/>
          <a:ln w="12700">
            <a:noFill/>
          </a:ln>
        </p:spPr>
        <p:txBody>
          <a:bodyPr anchor="t" anchorCtr="0">
            <a:spAutoFit/>
          </a:bodyPr>
          <a:p>
            <a:pPr algn="ctr" eaLnBrk="0" hangingPunct="0">
              <a:spcBef>
                <a:spcPct val="50000"/>
              </a:spcBef>
              <a:buClrTx/>
              <a:buFontTx/>
              <a:buNone/>
            </a:pPr>
            <a:r>
              <a:rPr lang="zh-CN" altLang="en-US" dirty="0">
                <a:latin typeface="Times New Roman" panose="02020603050405020304" pitchFamily="18" charset="0"/>
                <a:ea typeface="楷体_GB2312" pitchFamily="49" charset="-122"/>
              </a:rPr>
              <a:t>集总条件</a:t>
            </a:r>
            <a:endParaRPr lang="zh-CN" altLang="en-US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497674" name="Line 10"/>
          <p:cNvSpPr/>
          <p:nvPr/>
        </p:nvSpPr>
        <p:spPr>
          <a:xfrm>
            <a:off x="2339975" y="3213100"/>
            <a:ext cx="647700" cy="0"/>
          </a:xfrm>
          <a:prstGeom prst="line">
            <a:avLst/>
          </a:prstGeom>
          <a:ln w="76200" cap="flat" cmpd="sng">
            <a:solidFill>
              <a:srgbClr val="66CCFF"/>
            </a:solidFill>
            <a:prstDash val="solid"/>
            <a:round/>
            <a:headEnd type="none" w="med" len="med"/>
            <a:tailEnd type="triangle" w="med" len="med"/>
          </a:ln>
        </p:spPr>
      </p:sp>
      <p:graphicFrame>
        <p:nvGraphicFramePr>
          <p:cNvPr id="497675" name="Object 11"/>
          <p:cNvGraphicFramePr>
            <a:graphicFrameLocks noChangeAspect="1"/>
          </p:cNvGraphicFramePr>
          <p:nvPr>
            <p:ph sz="quarter" idx="4"/>
          </p:nvPr>
        </p:nvGraphicFramePr>
        <p:xfrm>
          <a:off x="3203575" y="2924175"/>
          <a:ext cx="1584325" cy="614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7" name="" r:id="rId1" imgW="341630" imgH="121285" progId="Equation.3">
                  <p:embed/>
                </p:oleObj>
              </mc:Choice>
              <mc:Fallback>
                <p:oleObj name="" r:id="rId1" imgW="341630" imgH="121285" progId="Equation.3">
                  <p:embed/>
                  <p:pic>
                    <p:nvPicPr>
                      <p:cNvPr id="0" name="图片 3106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FF33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203575" y="2924175"/>
                        <a:ext cx="1584325" cy="614363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FFCCCC"/>
                          </a:gs>
                          <a:gs pos="100000">
                            <a:schemeClr val="tx1"/>
                          </a:gs>
                        </a:gsLst>
                        <a:lin ang="5400000" scaled="1"/>
                        <a:tileRect/>
                      </a:gradFill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7115" name="Group 12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47116" name="Picture 13" descr="7890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7117" name="Text Box 14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47118" name="Group 15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47119" name="Picture 16" descr="7890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7120" name="Text Box 17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sp>
        <p:nvSpPr>
          <p:cNvPr id="497682" name="Text Box 18"/>
          <p:cNvSpPr txBox="1"/>
          <p:nvPr/>
        </p:nvSpPr>
        <p:spPr>
          <a:xfrm>
            <a:off x="971550" y="3789363"/>
            <a:ext cx="7345363" cy="2143125"/>
          </a:xfrm>
          <a:prstGeom prst="rect">
            <a:avLst/>
          </a:prstGeom>
          <a:noFill/>
          <a:ln w="12700">
            <a:noFill/>
          </a:ln>
        </p:spPr>
        <p:txBody>
          <a:bodyPr anchor="t" anchorCtr="0">
            <a:spAutoFit/>
          </a:bodyPr>
          <a:p>
            <a:pPr eaLnBrk="0" hangingPunct="0">
              <a:lnSpc>
                <a:spcPct val="120000"/>
              </a:lnSpc>
              <a:spcBef>
                <a:spcPct val="50000"/>
              </a:spcBef>
              <a:buClrTx/>
              <a:buFontTx/>
              <a:buNone/>
            </a:pPr>
            <a:r>
              <a:rPr lang="en-US" altLang="zh-CN" dirty="0">
                <a:latin typeface="楷体_GB2312" pitchFamily="49" charset="-122"/>
                <a:ea typeface="楷体_GB2312" pitchFamily="49" charset="-122"/>
              </a:rPr>
              <a:t>       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集总参数电路中</a:t>
            </a:r>
            <a:r>
              <a:rPr lang="en-US" altLang="zh-CN" b="0" i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u</a:t>
            </a:r>
            <a:r>
              <a:rPr lang="zh-CN" altLang="en-US" b="0" i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、</a:t>
            </a:r>
            <a:r>
              <a:rPr lang="en-US" altLang="zh-CN" b="0" i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lang="en-US" altLang="zh-CN" i="1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可以是时间的函数，但与空间坐标无关。因此，任何时刻，流入两端元件一个端子的电流等于从另一端子流出的电流；端子间的电压为单值量。</a:t>
            </a:r>
            <a:endParaRPr lang="zh-CN" altLang="en-US" dirty="0"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497683" name="Group 19"/>
          <p:cNvGrpSpPr/>
          <p:nvPr/>
        </p:nvGrpSpPr>
        <p:grpSpPr>
          <a:xfrm>
            <a:off x="539750" y="3657600"/>
            <a:ext cx="1644650" cy="850900"/>
            <a:chOff x="385" y="3022"/>
            <a:chExt cx="1036" cy="536"/>
          </a:xfrm>
        </p:grpSpPr>
        <p:pic>
          <p:nvPicPr>
            <p:cNvPr id="47123" name="Picture 20" descr="12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85" y="3022"/>
              <a:ext cx="590" cy="536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7124" name="Text Box 21"/>
            <p:cNvSpPr txBox="1"/>
            <p:nvPr/>
          </p:nvSpPr>
          <p:spPr>
            <a:xfrm>
              <a:off x="793" y="3125"/>
              <a:ext cx="628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ClrTx/>
                <a:buFontTx/>
                <a:buNone/>
              </a:pPr>
              <a:r>
                <a:rPr lang="zh-CN" altLang="en-US" sz="3200" b="0" dirty="0">
                  <a:solidFill>
                    <a:srgbClr val="FA7748"/>
                  </a:solidFill>
                  <a:latin typeface="Times New Roman" panose="02020603050405020304" pitchFamily="18" charset="0"/>
                  <a:ea typeface="华文行楷" panose="02010800040101010101" pitchFamily="2" charset="-122"/>
                </a:rPr>
                <a:t>注意</a:t>
              </a:r>
              <a:endParaRPr lang="zh-CN" altLang="en-US" sz="3200" b="0" dirty="0">
                <a:solidFill>
                  <a:srgbClr val="FA7748"/>
                </a:solidFill>
                <a:latin typeface="Times New Roman" panose="02020603050405020304" pitchFamily="18" charset="0"/>
                <a:ea typeface="华文行楷" panose="02010800040101010101" pitchFamily="2" charset="-122"/>
              </a:endParaRPr>
            </a:p>
          </p:txBody>
        </p:sp>
      </p:grpSp>
      <p:grpSp>
        <p:nvGrpSpPr>
          <p:cNvPr id="47125" name="Group 28"/>
          <p:cNvGrpSpPr/>
          <p:nvPr/>
        </p:nvGrpSpPr>
        <p:grpSpPr>
          <a:xfrm>
            <a:off x="6588125" y="6445250"/>
            <a:ext cx="792163" cy="366713"/>
            <a:chOff x="5193" y="4020"/>
            <a:chExt cx="499" cy="231"/>
          </a:xfrm>
        </p:grpSpPr>
        <p:pic>
          <p:nvPicPr>
            <p:cNvPr id="47126" name="Picture 29" descr="78900">
              <a:hlinkClick r:id="" action="ppaction://hlinkshowjump?jump=firstslide"/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7127" name="Text Box 30">
              <a:hlinkClick r:id="" action="ppaction://hlinkshowjump?jump=firs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976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976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3" dur="500"/>
                                        <p:tgtEl>
                                          <p:spTgt spid="497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4976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976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976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8" dur="500"/>
                                        <p:tgtEl>
                                          <p:spTgt spid="4976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4976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976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976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3" dur="500"/>
                                        <p:tgtEl>
                                          <p:spTgt spid="497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4976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4976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497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497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80" fill="hold"/>
                                        <p:tgtEl>
                                          <p:spTgt spid="4976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80" fill="hold"/>
                                        <p:tgtEl>
                                          <p:spTgt spid="4976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7667" grpId="0"/>
      <p:bldP spid="497669" grpId="0"/>
      <p:bldP spid="497670" grpId="0"/>
      <p:bldP spid="497672" grpId="0"/>
      <p:bldP spid="497673" grpId="0"/>
      <p:bldP spid="49768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48129" name="Group 2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48130" name="Picture 3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8131" name="Text Box 4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48132" name="Group 5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48133" name="Picture 6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8134" name="Text Box 7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sp>
        <p:nvSpPr>
          <p:cNvPr id="498696" name="Text Box 8"/>
          <p:cNvSpPr txBox="1"/>
          <p:nvPr/>
        </p:nvSpPr>
        <p:spPr>
          <a:xfrm>
            <a:off x="611188" y="765175"/>
            <a:ext cx="647700" cy="579438"/>
          </a:xfrm>
          <a:prstGeom prst="rect">
            <a:avLst/>
          </a:prstGeom>
          <a:noFill/>
          <a:ln w="38100">
            <a:noFill/>
          </a:ln>
        </p:spPr>
        <p:txBody>
          <a:bodyPr anchor="t" anchorCtr="0">
            <a:spAutoFit/>
          </a:bodyPr>
          <a:p>
            <a:pPr algn="ctr" eaLnBrk="0" hangingPunct="0">
              <a:spcBef>
                <a:spcPct val="50000"/>
              </a:spcBef>
              <a:buClrTx/>
              <a:buFontTx/>
              <a:buNone/>
            </a:pPr>
            <a:r>
              <a:rPr lang="zh-CN" altLang="en-US" sz="3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例</a:t>
            </a:r>
            <a:endParaRPr lang="zh-CN" altLang="en-US" sz="3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498697" name="Group 9"/>
          <p:cNvGrpSpPr/>
          <p:nvPr/>
        </p:nvGrpSpPr>
        <p:grpSpPr>
          <a:xfrm>
            <a:off x="684213" y="3284538"/>
            <a:ext cx="2736850" cy="1728787"/>
            <a:chOff x="3787" y="255"/>
            <a:chExt cx="1587" cy="998"/>
          </a:xfrm>
        </p:grpSpPr>
        <p:grpSp>
          <p:nvGrpSpPr>
            <p:cNvPr id="48137" name="Group 10"/>
            <p:cNvGrpSpPr/>
            <p:nvPr/>
          </p:nvGrpSpPr>
          <p:grpSpPr>
            <a:xfrm>
              <a:off x="3787" y="346"/>
              <a:ext cx="1587" cy="907"/>
              <a:chOff x="3787" y="346"/>
              <a:chExt cx="1587" cy="907"/>
            </a:xfrm>
          </p:grpSpPr>
          <p:pic>
            <p:nvPicPr>
              <p:cNvPr id="48138" name="Picture 11" descr="7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787" y="346"/>
                <a:ext cx="1587" cy="907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48139" name="Line 12"/>
              <p:cNvSpPr/>
              <p:nvPr/>
            </p:nvSpPr>
            <p:spPr>
              <a:xfrm flipV="1">
                <a:off x="3969" y="799"/>
                <a:ext cx="363" cy="272"/>
              </a:xfrm>
              <a:prstGeom prst="line">
                <a:avLst/>
              </a:prstGeom>
              <a:ln w="3810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sp>
            <p:nvSpPr>
              <p:cNvPr id="48140" name="Line 13"/>
              <p:cNvSpPr/>
              <p:nvPr/>
            </p:nvSpPr>
            <p:spPr>
              <a:xfrm flipV="1">
                <a:off x="4649" y="754"/>
                <a:ext cx="363" cy="272"/>
              </a:xfrm>
              <a:prstGeom prst="line">
                <a:avLst/>
              </a:prstGeom>
              <a:ln w="38100" cap="flat" cmpd="sng">
                <a:solidFill>
                  <a:srgbClr val="FF0000"/>
                </a:solidFill>
                <a:prstDash val="solid"/>
                <a:round/>
                <a:headEnd type="triangle" w="med" len="med"/>
                <a:tailEnd type="none" w="med" len="med"/>
              </a:ln>
            </p:spPr>
          </p:sp>
          <p:sp>
            <p:nvSpPr>
              <p:cNvPr id="48141" name="Text Box 14"/>
              <p:cNvSpPr txBox="1"/>
              <p:nvPr/>
            </p:nvSpPr>
            <p:spPr>
              <a:xfrm>
                <a:off x="3969" y="618"/>
                <a:ext cx="408" cy="26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p>
                <a:pPr algn="ctr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0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i</a:t>
                </a:r>
                <a:endParaRPr lang="en-US" altLang="zh-CN" sz="2400" b="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endParaRPr>
              </a:p>
            </p:txBody>
          </p:sp>
          <p:sp>
            <p:nvSpPr>
              <p:cNvPr id="48142" name="Text Box 15"/>
              <p:cNvSpPr txBox="1"/>
              <p:nvPr/>
            </p:nvSpPr>
            <p:spPr>
              <a:xfrm>
                <a:off x="4785" y="799"/>
                <a:ext cx="408" cy="26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p>
                <a:pPr algn="ctr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0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i</a:t>
                </a:r>
                <a:endParaRPr lang="en-US" altLang="zh-CN" sz="2400" b="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endParaRPr>
              </a:p>
            </p:txBody>
          </p:sp>
        </p:grpSp>
        <p:sp>
          <p:nvSpPr>
            <p:cNvPr id="48143" name="Line 16"/>
            <p:cNvSpPr/>
            <p:nvPr/>
          </p:nvSpPr>
          <p:spPr>
            <a:xfrm flipV="1">
              <a:off x="4105" y="391"/>
              <a:ext cx="1088" cy="816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48144" name="Text Box 17"/>
            <p:cNvSpPr txBox="1"/>
            <p:nvPr/>
          </p:nvSpPr>
          <p:spPr>
            <a:xfrm>
              <a:off x="4830" y="255"/>
              <a:ext cx="273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b="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z</a:t>
              </a:r>
              <a:endParaRPr lang="en-US" altLang="zh-CN" b="0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</a:endParaRPr>
            </a:p>
          </p:txBody>
        </p:sp>
      </p:grpSp>
      <p:sp>
        <p:nvSpPr>
          <p:cNvPr id="498706" name="AutoShape 18" descr="羊皮纸"/>
          <p:cNvSpPr/>
          <p:nvPr/>
        </p:nvSpPr>
        <p:spPr>
          <a:xfrm>
            <a:off x="7235825" y="2205038"/>
            <a:ext cx="1295400" cy="863600"/>
          </a:xfrm>
          <a:prstGeom prst="wedgeRoundRectCallout">
            <a:avLst>
              <a:gd name="adj1" fmla="val -56370"/>
              <a:gd name="adj2" fmla="val 106435"/>
              <a:gd name="adj3" fmla="val 16667"/>
            </a:avLst>
          </a:prstGeom>
          <a:blipFill rotWithShape="0">
            <a:blip r:embed="rId3"/>
          </a:blipFill>
          <a:ln w="28575">
            <a:noFill/>
          </a:ln>
        </p:spPr>
        <p:txBody>
          <a:bodyPr anchor="ctr" anchorCtr="0"/>
          <a:p>
            <a:pPr algn="ctr" eaLnBrk="0" hangingPunct="0">
              <a:buClrTx/>
              <a:buFontTx/>
              <a:buNone/>
            </a:pP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集总参数电路</a:t>
            </a:r>
            <a:endParaRPr lang="zh-CN" altLang="en-US" sz="2400" dirty="0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  <a:sym typeface="Symbol" panose="05050102010706020507" pitchFamily="18" charset="2"/>
            </a:endParaRPr>
          </a:p>
        </p:txBody>
      </p:sp>
      <p:grpSp>
        <p:nvGrpSpPr>
          <p:cNvPr id="498707" name="Group 19"/>
          <p:cNvGrpSpPr/>
          <p:nvPr/>
        </p:nvGrpSpPr>
        <p:grpSpPr>
          <a:xfrm>
            <a:off x="4427538" y="3284538"/>
            <a:ext cx="3113087" cy="1989137"/>
            <a:chOff x="793" y="2238"/>
            <a:chExt cx="1961" cy="1253"/>
          </a:xfrm>
        </p:grpSpPr>
        <p:graphicFrame>
          <p:nvGraphicFramePr>
            <p:cNvPr id="48147" name="Object 20"/>
            <p:cNvGraphicFramePr>
              <a:graphicFrameLocks noChangeAspect="1"/>
            </p:cNvGraphicFramePr>
            <p:nvPr/>
          </p:nvGraphicFramePr>
          <p:xfrm>
            <a:off x="793" y="2840"/>
            <a:ext cx="423" cy="2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8" name="" r:id="rId4" imgW="271780" imgH="191135" progId="Equation.3">
                    <p:embed/>
                  </p:oleObj>
                </mc:Choice>
                <mc:Fallback>
                  <p:oleObj name="" r:id="rId4" imgW="271780" imgH="191135" progId="Equation.3">
                    <p:embed/>
                    <p:pic>
                      <p:nvPicPr>
                        <p:cNvPr id="0" name="图片 3107"/>
                        <p:cNvPicPr/>
                        <p:nvPr/>
                      </p:nvPicPr>
                      <p:blipFill>
                        <a:blip r:embed="rId5">
                          <a:clrChange>
                            <a:clrFrom>
                              <a:srgbClr val="000000"/>
                            </a:clrFrom>
                            <a:clrTo>
                              <a:srgbClr val="00008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793" y="2840"/>
                          <a:ext cx="423" cy="27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8148" name="Text Box 21"/>
            <p:cNvSpPr txBox="1"/>
            <p:nvPr/>
          </p:nvSpPr>
          <p:spPr>
            <a:xfrm>
              <a:off x="1043" y="2568"/>
              <a:ext cx="273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dirty="0">
                  <a:solidFill>
                    <a:schemeClr val="tx1"/>
                  </a:solidFill>
                  <a:latin typeface="华文中宋" panose="02010600040101010101" pitchFamily="2" charset="-122"/>
                  <a:ea typeface="楷体_GB2312" pitchFamily="49" charset="-122"/>
                </a:rPr>
                <a:t>+</a:t>
              </a:r>
              <a:endParaRPr lang="en-US" altLang="zh-CN" sz="2400" dirty="0">
                <a:solidFill>
                  <a:schemeClr val="tx1"/>
                </a:solidFill>
                <a:latin typeface="华文中宋" panose="02010600040101010101" pitchFamily="2" charset="-122"/>
                <a:ea typeface="楷体_GB2312" pitchFamily="49" charset="-122"/>
              </a:endParaRPr>
            </a:p>
          </p:txBody>
        </p:sp>
        <p:sp>
          <p:nvSpPr>
            <p:cNvPr id="48149" name="Text Box 22"/>
            <p:cNvSpPr txBox="1"/>
            <p:nvPr/>
          </p:nvSpPr>
          <p:spPr>
            <a:xfrm>
              <a:off x="997" y="3203"/>
              <a:ext cx="273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dirty="0">
                  <a:solidFill>
                    <a:schemeClr val="tx1"/>
                  </a:solidFill>
                  <a:latin typeface="华文中宋" panose="02010600040101010101" pitchFamily="2" charset="-122"/>
                  <a:ea typeface="楷体_GB2312" pitchFamily="49" charset="-122"/>
                </a:rPr>
                <a:t>-</a:t>
              </a:r>
              <a:endParaRPr lang="en-US" altLang="zh-CN" sz="2400" dirty="0">
                <a:solidFill>
                  <a:schemeClr val="tx1"/>
                </a:solidFill>
                <a:latin typeface="华文中宋" panose="02010600040101010101" pitchFamily="2" charset="-122"/>
                <a:ea typeface="楷体_GB2312" pitchFamily="49" charset="-122"/>
              </a:endParaRPr>
            </a:p>
          </p:txBody>
        </p:sp>
        <p:sp>
          <p:nvSpPr>
            <p:cNvPr id="48150" name="Line 23"/>
            <p:cNvSpPr/>
            <p:nvPr/>
          </p:nvSpPr>
          <p:spPr>
            <a:xfrm>
              <a:off x="1791" y="2659"/>
              <a:ext cx="409" cy="0"/>
            </a:xfrm>
            <a:prstGeom prst="line">
              <a:avLst/>
            </a:prstGeom>
            <a:ln w="38100" cap="flat" cmpd="sng">
              <a:solidFill>
                <a:srgbClr val="00FF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graphicFrame>
          <p:nvGraphicFramePr>
            <p:cNvPr id="48151" name="Object 24"/>
            <p:cNvGraphicFramePr>
              <a:graphicFrameLocks noChangeAspect="1"/>
            </p:cNvGraphicFramePr>
            <p:nvPr/>
          </p:nvGraphicFramePr>
          <p:xfrm>
            <a:off x="2381" y="2704"/>
            <a:ext cx="373" cy="2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0" name="" r:id="rId6" imgW="237490" imgH="191135" progId="Equation.3">
                    <p:embed/>
                  </p:oleObj>
                </mc:Choice>
                <mc:Fallback>
                  <p:oleObj name="" r:id="rId6" imgW="237490" imgH="191135" progId="Equation.3">
                    <p:embed/>
                    <p:pic>
                      <p:nvPicPr>
                        <p:cNvPr id="0" name="图片 3109"/>
                        <p:cNvPicPr/>
                        <p:nvPr/>
                      </p:nvPicPr>
                      <p:blipFill>
                        <a:blip r:embed="rId7">
                          <a:clrChange>
                            <a:clrFrom>
                              <a:srgbClr val="000000"/>
                            </a:clrFrom>
                            <a:clrTo>
                              <a:srgbClr val="00008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381" y="2704"/>
                          <a:ext cx="373" cy="27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8152" name="Object 25"/>
            <p:cNvGraphicFramePr>
              <a:graphicFrameLocks noChangeAspect="1"/>
            </p:cNvGraphicFramePr>
            <p:nvPr/>
          </p:nvGraphicFramePr>
          <p:xfrm>
            <a:off x="1673" y="2238"/>
            <a:ext cx="227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1" name="" r:id="rId8" imgW="121285" imgH="144780" progId="Equation.3">
                    <p:embed/>
                  </p:oleObj>
                </mc:Choice>
                <mc:Fallback>
                  <p:oleObj name="" r:id="rId8" imgW="121285" imgH="144780" progId="Equation.3">
                    <p:embed/>
                    <p:pic>
                      <p:nvPicPr>
                        <p:cNvPr id="0" name="图片 3110"/>
                        <p:cNvPicPr/>
                        <p:nvPr/>
                      </p:nvPicPr>
                      <p:blipFill>
                        <a:blip r:embed="rId9">
                          <a:clrChange>
                            <a:clrFrom>
                              <a:srgbClr val="000000"/>
                            </a:clrFrom>
                            <a:clrTo>
                              <a:srgbClr val="00008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673" y="2238"/>
                          <a:ext cx="227" cy="24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8153" name="Object 26"/>
            <p:cNvGraphicFramePr>
              <a:graphicFrameLocks noChangeAspect="1"/>
            </p:cNvGraphicFramePr>
            <p:nvPr/>
          </p:nvGraphicFramePr>
          <p:xfrm>
            <a:off x="1519" y="2840"/>
            <a:ext cx="242" cy="2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9" name="" r:id="rId10" imgW="133350" imgH="156210" progId="Equation.3">
                    <p:embed/>
                  </p:oleObj>
                </mc:Choice>
                <mc:Fallback>
                  <p:oleObj name="" r:id="rId10" imgW="133350" imgH="156210" progId="Equation.3">
                    <p:embed/>
                    <p:pic>
                      <p:nvPicPr>
                        <p:cNvPr id="0" name="图片 3108"/>
                        <p:cNvPicPr/>
                        <p:nvPr/>
                      </p:nvPicPr>
                      <p:blipFill>
                        <a:blip r:embed="rId11">
                          <a:clrChange>
                            <a:clrFrom>
                              <a:srgbClr val="000000"/>
                            </a:clrFrom>
                            <a:clrTo>
                              <a:srgbClr val="00008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519" y="2840"/>
                          <a:ext cx="242" cy="29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48154" name="Group 27"/>
            <p:cNvGrpSpPr/>
            <p:nvPr/>
          </p:nvGrpSpPr>
          <p:grpSpPr>
            <a:xfrm>
              <a:off x="1043" y="2477"/>
              <a:ext cx="952" cy="998"/>
              <a:chOff x="431" y="1253"/>
              <a:chExt cx="952" cy="998"/>
            </a:xfrm>
          </p:grpSpPr>
          <p:grpSp>
            <p:nvGrpSpPr>
              <p:cNvPr id="48155" name="Group 28"/>
              <p:cNvGrpSpPr/>
              <p:nvPr/>
            </p:nvGrpSpPr>
            <p:grpSpPr>
              <a:xfrm>
                <a:off x="1020" y="1253"/>
                <a:ext cx="318" cy="181"/>
                <a:chOff x="1020" y="1616"/>
                <a:chExt cx="273" cy="136"/>
              </a:xfrm>
            </p:grpSpPr>
            <p:sp>
              <p:nvSpPr>
                <p:cNvPr id="48156" name="AutoShape 29"/>
                <p:cNvSpPr/>
                <p:nvPr/>
              </p:nvSpPr>
              <p:spPr>
                <a:xfrm>
                  <a:off x="1020" y="1616"/>
                  <a:ext cx="91" cy="136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pathLst>
                    <a:path w="21600" h="21600">
                      <a:moveTo>
                        <a:pt x="72" y="12045"/>
                      </a:moveTo>
                      <a:cubicBezTo>
                        <a:pt x="24" y="11631"/>
                        <a:pt x="0" y="11216"/>
                        <a:pt x="0" y="10800"/>
                      </a:cubicBezTo>
                      <a:cubicBezTo>
                        <a:pt x="0" y="4835"/>
                        <a:pt x="4835" y="0"/>
                        <a:pt x="10800" y="0"/>
                      </a:cubicBezTo>
                      <a:cubicBezTo>
                        <a:pt x="16764" y="0"/>
                        <a:pt x="21600" y="4835"/>
                        <a:pt x="21600" y="10800"/>
                      </a:cubicBezTo>
                      <a:cubicBezTo>
                        <a:pt x="21600" y="11216"/>
                        <a:pt x="21575" y="11631"/>
                        <a:pt x="21527" y="12045"/>
                      </a:cubicBezTo>
                      <a:cubicBezTo>
                        <a:pt x="21575" y="11631"/>
                        <a:pt x="21600" y="11216"/>
                        <a:pt x="21600" y="10800"/>
                      </a:cubicBezTo>
                      <a:cubicBezTo>
                        <a:pt x="21600" y="4835"/>
                        <a:pt x="16764" y="0"/>
                        <a:pt x="10800" y="0"/>
                      </a:cubicBezTo>
                      <a:cubicBezTo>
                        <a:pt x="4835" y="0"/>
                        <a:pt x="0" y="4835"/>
                        <a:pt x="0" y="10800"/>
                      </a:cubicBezTo>
                      <a:cubicBezTo>
                        <a:pt x="-1" y="11216"/>
                        <a:pt x="24" y="11631"/>
                        <a:pt x="72" y="12045"/>
                      </a:cubicBezTo>
                      <a:close/>
                    </a:path>
                  </a:pathLst>
                </a:custGeom>
                <a:noFill/>
                <a:ln w="38100" cap="flat" cmpd="sng">
                  <a:solidFill>
                    <a:srgbClr val="FF990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48157" name="AutoShape 30"/>
                <p:cNvSpPr/>
                <p:nvPr/>
              </p:nvSpPr>
              <p:spPr>
                <a:xfrm>
                  <a:off x="1111" y="1616"/>
                  <a:ext cx="91" cy="136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pathLst>
                    <a:path w="21600" h="21600">
                      <a:moveTo>
                        <a:pt x="72" y="12045"/>
                      </a:moveTo>
                      <a:cubicBezTo>
                        <a:pt x="24" y="11631"/>
                        <a:pt x="0" y="11216"/>
                        <a:pt x="0" y="10800"/>
                      </a:cubicBezTo>
                      <a:cubicBezTo>
                        <a:pt x="0" y="4835"/>
                        <a:pt x="4835" y="0"/>
                        <a:pt x="10800" y="0"/>
                      </a:cubicBezTo>
                      <a:cubicBezTo>
                        <a:pt x="16764" y="0"/>
                        <a:pt x="21600" y="4835"/>
                        <a:pt x="21600" y="10800"/>
                      </a:cubicBezTo>
                      <a:cubicBezTo>
                        <a:pt x="21600" y="11216"/>
                        <a:pt x="21575" y="11631"/>
                        <a:pt x="21527" y="12045"/>
                      </a:cubicBezTo>
                      <a:cubicBezTo>
                        <a:pt x="21575" y="11631"/>
                        <a:pt x="21600" y="11216"/>
                        <a:pt x="21600" y="10800"/>
                      </a:cubicBezTo>
                      <a:cubicBezTo>
                        <a:pt x="21600" y="4835"/>
                        <a:pt x="16764" y="0"/>
                        <a:pt x="10800" y="0"/>
                      </a:cubicBezTo>
                      <a:cubicBezTo>
                        <a:pt x="4835" y="0"/>
                        <a:pt x="0" y="4835"/>
                        <a:pt x="0" y="10800"/>
                      </a:cubicBezTo>
                      <a:cubicBezTo>
                        <a:pt x="-1" y="11216"/>
                        <a:pt x="24" y="11631"/>
                        <a:pt x="72" y="12045"/>
                      </a:cubicBezTo>
                      <a:close/>
                    </a:path>
                  </a:pathLst>
                </a:custGeom>
                <a:noFill/>
                <a:ln w="38100" cap="flat" cmpd="sng">
                  <a:solidFill>
                    <a:srgbClr val="FF990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48158" name="AutoShape 31"/>
                <p:cNvSpPr/>
                <p:nvPr/>
              </p:nvSpPr>
              <p:spPr>
                <a:xfrm>
                  <a:off x="1202" y="1616"/>
                  <a:ext cx="91" cy="136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pathLst>
                    <a:path w="21600" h="21600">
                      <a:moveTo>
                        <a:pt x="72" y="12045"/>
                      </a:moveTo>
                      <a:cubicBezTo>
                        <a:pt x="24" y="11631"/>
                        <a:pt x="0" y="11216"/>
                        <a:pt x="0" y="10800"/>
                      </a:cubicBezTo>
                      <a:cubicBezTo>
                        <a:pt x="0" y="4835"/>
                        <a:pt x="4835" y="0"/>
                        <a:pt x="10800" y="0"/>
                      </a:cubicBezTo>
                      <a:cubicBezTo>
                        <a:pt x="16764" y="0"/>
                        <a:pt x="21600" y="4835"/>
                        <a:pt x="21600" y="10800"/>
                      </a:cubicBezTo>
                      <a:cubicBezTo>
                        <a:pt x="21600" y="11216"/>
                        <a:pt x="21575" y="11631"/>
                        <a:pt x="21527" y="12045"/>
                      </a:cubicBezTo>
                      <a:cubicBezTo>
                        <a:pt x="21575" y="11631"/>
                        <a:pt x="21600" y="11216"/>
                        <a:pt x="21600" y="10800"/>
                      </a:cubicBezTo>
                      <a:cubicBezTo>
                        <a:pt x="21600" y="4835"/>
                        <a:pt x="16764" y="0"/>
                        <a:pt x="10800" y="0"/>
                      </a:cubicBezTo>
                      <a:cubicBezTo>
                        <a:pt x="4835" y="0"/>
                        <a:pt x="0" y="4835"/>
                        <a:pt x="0" y="10800"/>
                      </a:cubicBezTo>
                      <a:cubicBezTo>
                        <a:pt x="-1" y="11216"/>
                        <a:pt x="24" y="11631"/>
                        <a:pt x="72" y="12045"/>
                      </a:cubicBezTo>
                      <a:close/>
                    </a:path>
                  </a:pathLst>
                </a:custGeom>
                <a:noFill/>
                <a:ln w="38100" cap="flat" cmpd="sng">
                  <a:solidFill>
                    <a:srgbClr val="FF990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</p:grpSp>
          <p:grpSp>
            <p:nvGrpSpPr>
              <p:cNvPr id="48159" name="Group 32"/>
              <p:cNvGrpSpPr/>
              <p:nvPr/>
            </p:nvGrpSpPr>
            <p:grpSpPr>
              <a:xfrm>
                <a:off x="657" y="1752"/>
                <a:ext cx="227" cy="91"/>
                <a:chOff x="1020" y="2069"/>
                <a:chExt cx="227" cy="91"/>
              </a:xfrm>
            </p:grpSpPr>
            <p:sp>
              <p:nvSpPr>
                <p:cNvPr id="48160" name="Line 33"/>
                <p:cNvSpPr/>
                <p:nvPr/>
              </p:nvSpPr>
              <p:spPr>
                <a:xfrm>
                  <a:off x="1020" y="2069"/>
                  <a:ext cx="227" cy="0"/>
                </a:xfrm>
                <a:prstGeom prst="line">
                  <a:avLst/>
                </a:prstGeom>
                <a:ln w="38100" cap="flat" cmpd="sng">
                  <a:solidFill>
                    <a:srgbClr val="FFCC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48161" name="Line 34"/>
                <p:cNvSpPr/>
                <p:nvPr/>
              </p:nvSpPr>
              <p:spPr>
                <a:xfrm>
                  <a:off x="1020" y="2160"/>
                  <a:ext cx="227" cy="0"/>
                </a:xfrm>
                <a:prstGeom prst="line">
                  <a:avLst/>
                </a:prstGeom>
                <a:ln w="38100" cap="flat" cmpd="sng">
                  <a:solidFill>
                    <a:srgbClr val="FFCC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48162" name="Line 35"/>
              <p:cNvSpPr/>
              <p:nvPr/>
            </p:nvSpPr>
            <p:spPr>
              <a:xfrm>
                <a:off x="431" y="1344"/>
                <a:ext cx="590" cy="0"/>
              </a:xfrm>
              <a:prstGeom prst="line">
                <a:avLst/>
              </a:prstGeom>
              <a:ln w="28575" cap="flat" cmpd="sng">
                <a:solidFill>
                  <a:srgbClr val="FFCC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8163" name="Line 36"/>
              <p:cNvSpPr/>
              <p:nvPr/>
            </p:nvSpPr>
            <p:spPr>
              <a:xfrm>
                <a:off x="793" y="1344"/>
                <a:ext cx="0" cy="408"/>
              </a:xfrm>
              <a:prstGeom prst="line">
                <a:avLst/>
              </a:prstGeom>
              <a:ln w="28575" cap="flat" cmpd="sng">
                <a:solidFill>
                  <a:srgbClr val="FFCC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8164" name="Line 37"/>
              <p:cNvSpPr/>
              <p:nvPr/>
            </p:nvSpPr>
            <p:spPr>
              <a:xfrm>
                <a:off x="793" y="1842"/>
                <a:ext cx="0" cy="408"/>
              </a:xfrm>
              <a:prstGeom prst="line">
                <a:avLst/>
              </a:prstGeom>
              <a:ln w="28575" cap="flat" cmpd="sng">
                <a:solidFill>
                  <a:srgbClr val="FFCC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8165" name="Line 38"/>
              <p:cNvSpPr/>
              <p:nvPr/>
            </p:nvSpPr>
            <p:spPr>
              <a:xfrm>
                <a:off x="431" y="2251"/>
                <a:ext cx="952" cy="0"/>
              </a:xfrm>
              <a:prstGeom prst="line">
                <a:avLst/>
              </a:prstGeom>
              <a:ln w="28575" cap="flat" cmpd="sng">
                <a:solidFill>
                  <a:srgbClr val="FFCC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48166" name="Line 39"/>
            <p:cNvSpPr/>
            <p:nvPr/>
          </p:nvSpPr>
          <p:spPr>
            <a:xfrm>
              <a:off x="1950" y="2567"/>
              <a:ext cx="771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8167" name="Line 40"/>
            <p:cNvSpPr/>
            <p:nvPr/>
          </p:nvSpPr>
          <p:spPr>
            <a:xfrm>
              <a:off x="1996" y="3475"/>
              <a:ext cx="725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8168" name="Rectangle 41"/>
            <p:cNvSpPr/>
            <p:nvPr/>
          </p:nvSpPr>
          <p:spPr>
            <a:xfrm>
              <a:off x="2222" y="2522"/>
              <a:ext cx="273" cy="91"/>
            </a:xfrm>
            <a:prstGeom prst="rect">
              <a:avLst/>
            </a:prstGeom>
            <a:solidFill>
              <a:srgbClr val="FF9900"/>
            </a:solidFill>
            <a:ln w="28575">
              <a:noFill/>
            </a:ln>
          </p:spPr>
          <p:txBody>
            <a:bodyPr wrap="none" anchor="ctr" anchorCtr="0"/>
            <a:p>
              <a:pPr>
                <a:buClrTx/>
                <a:buFontTx/>
                <a:buNone/>
              </a:pPr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graphicFrame>
          <p:nvGraphicFramePr>
            <p:cNvPr id="48169" name="Object 42"/>
            <p:cNvGraphicFramePr>
              <a:graphicFrameLocks noChangeAspect="1"/>
            </p:cNvGraphicFramePr>
            <p:nvPr/>
          </p:nvGraphicFramePr>
          <p:xfrm>
            <a:off x="2245" y="2251"/>
            <a:ext cx="261" cy="2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2" name="" r:id="rId12" imgW="133350" imgH="144780" progId="Equation.3">
                    <p:embed/>
                  </p:oleObj>
                </mc:Choice>
                <mc:Fallback>
                  <p:oleObj name="" r:id="rId12" imgW="133350" imgH="144780" progId="Equation.3">
                    <p:embed/>
                    <p:pic>
                      <p:nvPicPr>
                        <p:cNvPr id="0" name="图片 3111"/>
                        <p:cNvPicPr/>
                        <p:nvPr/>
                      </p:nvPicPr>
                      <p:blipFill>
                        <a:blip r:embed="rId13">
                          <a:clrChange>
                            <a:clrFrom>
                              <a:srgbClr val="000000"/>
                            </a:clrFrom>
                            <a:clrTo>
                              <a:srgbClr val="00008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245" y="2251"/>
                          <a:ext cx="261" cy="25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98731" name="Text Box 43" descr="斜纹布"/>
          <p:cNvSpPr txBox="1"/>
          <p:nvPr/>
        </p:nvSpPr>
        <p:spPr>
          <a:xfrm>
            <a:off x="1331913" y="836613"/>
            <a:ext cx="5616575" cy="519112"/>
          </a:xfrm>
          <a:prstGeom prst="rect">
            <a:avLst/>
          </a:prstGeom>
          <a:noFill/>
          <a:ln w="28575">
            <a:noFill/>
          </a:ln>
          <a:effectLst>
            <a:prstShdw prst="shdw17" dist="17961" dir="2699999">
              <a:schemeClr val="bg2"/>
            </a:prstShdw>
          </a:effectLst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ClrTx/>
              <a:buFontTx/>
              <a:buNone/>
            </a:pPr>
            <a:r>
              <a:rPr lang="zh-CN" altLang="en-US" dirty="0">
                <a:latin typeface="Arial" panose="020B0604020202020204" pitchFamily="34" charset="0"/>
                <a:ea typeface="楷体_GB2312" pitchFamily="49" charset="-122"/>
              </a:rPr>
              <a:t>两线传输线的等效电路</a:t>
            </a:r>
            <a:endParaRPr lang="zh-CN" altLang="en-US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498732" name="Text Box 44" descr="斜纹布"/>
          <p:cNvSpPr txBox="1"/>
          <p:nvPr/>
        </p:nvSpPr>
        <p:spPr>
          <a:xfrm>
            <a:off x="971550" y="1412875"/>
            <a:ext cx="7343775" cy="519113"/>
          </a:xfrm>
          <a:prstGeom prst="rect">
            <a:avLst/>
          </a:prstGeom>
          <a:noFill/>
          <a:ln w="28575">
            <a:noFill/>
          </a:ln>
          <a:effectLst>
            <a:prstShdw prst="shdw17" dist="17961" dir="2699999">
              <a:schemeClr val="bg2"/>
            </a:prstShdw>
          </a:effectLst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ClrTx/>
              <a:buFontTx/>
              <a:buNone/>
            </a:pP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当两线传输线的长度 </a:t>
            </a:r>
            <a:r>
              <a:rPr lang="en-US" altLang="zh-CN" b="0" i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l 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与电磁波的波长满足：</a:t>
            </a:r>
            <a:endParaRPr lang="zh-CN" altLang="en-US" dirty="0">
              <a:solidFill>
                <a:schemeClr val="tx1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graphicFrame>
        <p:nvGraphicFramePr>
          <p:cNvPr id="498733" name="Object 45"/>
          <p:cNvGraphicFramePr>
            <a:graphicFrameLocks noChangeAspect="1"/>
          </p:cNvGraphicFramePr>
          <p:nvPr>
            <p:ph sz="quarter" idx="4"/>
          </p:nvPr>
        </p:nvGraphicFramePr>
        <p:xfrm>
          <a:off x="3059113" y="2060575"/>
          <a:ext cx="1555750" cy="614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3" name="" r:id="rId14" imgW="422275" imgH="156210" progId="Equation.3">
                  <p:embed/>
                </p:oleObj>
              </mc:Choice>
              <mc:Fallback>
                <p:oleObj name="" r:id="rId14" imgW="422275" imgH="156210" progId="Equation.3">
                  <p:embed/>
                  <p:pic>
                    <p:nvPicPr>
                      <p:cNvPr id="0" name="图片 3112"/>
                      <p:cNvPicPr/>
                      <p:nvPr/>
                    </p:nvPicPr>
                    <p:blipFill>
                      <a:blip r:embed="rId15">
                        <a:clrChange>
                          <a:clrFrom>
                            <a:srgbClr val="000000"/>
                          </a:clrFrom>
                          <a:clrTo>
                            <a:srgbClr val="FF33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059113" y="2060575"/>
                        <a:ext cx="1555750" cy="614363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FFCCCC"/>
                          </a:gs>
                          <a:gs pos="100000">
                            <a:schemeClr val="tx1"/>
                          </a:gs>
                        </a:gsLst>
                        <a:lin ang="5400000" scaled="1"/>
                        <a:tileRect/>
                      </a:gradFill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8734" name="Line 46"/>
          <p:cNvSpPr/>
          <p:nvPr/>
        </p:nvSpPr>
        <p:spPr>
          <a:xfrm>
            <a:off x="3779838" y="4292600"/>
            <a:ext cx="647700" cy="0"/>
          </a:xfrm>
          <a:prstGeom prst="line">
            <a:avLst/>
          </a:prstGeom>
          <a:ln w="76200" cap="flat" cmpd="sng">
            <a:solidFill>
              <a:srgbClr val="66CCFF"/>
            </a:solidFill>
            <a:prstDash val="solid"/>
            <a:round/>
            <a:headEnd type="none" w="med" len="med"/>
            <a:tailEnd type="triangle" w="med" len="med"/>
          </a:ln>
        </p:spPr>
      </p:sp>
      <p:grpSp>
        <p:nvGrpSpPr>
          <p:cNvPr id="48174" name="Group 53"/>
          <p:cNvGrpSpPr/>
          <p:nvPr/>
        </p:nvGrpSpPr>
        <p:grpSpPr>
          <a:xfrm>
            <a:off x="6588125" y="6445250"/>
            <a:ext cx="792163" cy="366713"/>
            <a:chOff x="5193" y="4020"/>
            <a:chExt cx="499" cy="231"/>
          </a:xfrm>
        </p:grpSpPr>
        <p:pic>
          <p:nvPicPr>
            <p:cNvPr id="48175" name="Picture 54" descr="78900">
              <a:hlinkClick r:id="" action="ppaction://hlinkshowjump?jump=firstslide"/>
            </p:cNvPr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8176" name="Text Box 55">
              <a:hlinkClick r:id="" action="ppaction://hlinkshowjump?jump=firs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986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986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986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4986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1000"/>
                                        <p:tgtEl>
                                          <p:spTgt spid="498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000"/>
                            </p:stCondLst>
                            <p:childTnLst>
                              <p:par>
                                <p:cTn id="16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4986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000"/>
                                        <p:tgtEl>
                                          <p:spTgt spid="498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4987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987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498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4" dur="500"/>
                                        <p:tgtEl>
                                          <p:spTgt spid="498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498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42" dur="2000"/>
                                        <p:tgtEl>
                                          <p:spTgt spid="498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8696" grpId="0"/>
      <p:bldP spid="498706" grpId="0" animBg="1"/>
      <p:bldP spid="498731" grpId="0"/>
      <p:bldP spid="498732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49153" name="Group 2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49154" name="Picture 3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9155" name="Text Box 4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49156" name="Group 5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49157" name="Picture 6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9158" name="Text Box 7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499720" name="Group 8"/>
          <p:cNvGrpSpPr/>
          <p:nvPr/>
        </p:nvGrpSpPr>
        <p:grpSpPr>
          <a:xfrm>
            <a:off x="755650" y="1268413"/>
            <a:ext cx="2736850" cy="1728787"/>
            <a:chOff x="3787" y="255"/>
            <a:chExt cx="1587" cy="998"/>
          </a:xfrm>
        </p:grpSpPr>
        <p:grpSp>
          <p:nvGrpSpPr>
            <p:cNvPr id="49160" name="Group 9"/>
            <p:cNvGrpSpPr/>
            <p:nvPr/>
          </p:nvGrpSpPr>
          <p:grpSpPr>
            <a:xfrm>
              <a:off x="3787" y="346"/>
              <a:ext cx="1587" cy="907"/>
              <a:chOff x="3787" y="346"/>
              <a:chExt cx="1587" cy="907"/>
            </a:xfrm>
          </p:grpSpPr>
          <p:pic>
            <p:nvPicPr>
              <p:cNvPr id="49161" name="Picture 10" descr="7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787" y="346"/>
                <a:ext cx="1587" cy="907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49162" name="Line 11"/>
              <p:cNvSpPr/>
              <p:nvPr/>
            </p:nvSpPr>
            <p:spPr>
              <a:xfrm flipV="1">
                <a:off x="3969" y="799"/>
                <a:ext cx="363" cy="272"/>
              </a:xfrm>
              <a:prstGeom prst="line">
                <a:avLst/>
              </a:prstGeom>
              <a:ln w="3810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sp>
            <p:nvSpPr>
              <p:cNvPr id="49163" name="Line 12"/>
              <p:cNvSpPr/>
              <p:nvPr/>
            </p:nvSpPr>
            <p:spPr>
              <a:xfrm flipV="1">
                <a:off x="4649" y="754"/>
                <a:ext cx="363" cy="272"/>
              </a:xfrm>
              <a:prstGeom prst="line">
                <a:avLst/>
              </a:prstGeom>
              <a:ln w="38100" cap="flat" cmpd="sng">
                <a:solidFill>
                  <a:srgbClr val="FF0000"/>
                </a:solidFill>
                <a:prstDash val="solid"/>
                <a:round/>
                <a:headEnd type="triangle" w="med" len="med"/>
                <a:tailEnd type="none" w="med" len="med"/>
              </a:ln>
            </p:spPr>
          </p:sp>
          <p:sp>
            <p:nvSpPr>
              <p:cNvPr id="49164" name="Text Box 13"/>
              <p:cNvSpPr txBox="1"/>
              <p:nvPr/>
            </p:nvSpPr>
            <p:spPr>
              <a:xfrm>
                <a:off x="3969" y="618"/>
                <a:ext cx="408" cy="26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p>
                <a:pPr algn="ctr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0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i</a:t>
                </a:r>
                <a:endParaRPr lang="en-US" altLang="zh-CN" sz="2400" b="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endParaRPr>
              </a:p>
            </p:txBody>
          </p:sp>
          <p:sp>
            <p:nvSpPr>
              <p:cNvPr id="49165" name="Text Box 14"/>
              <p:cNvSpPr txBox="1"/>
              <p:nvPr/>
            </p:nvSpPr>
            <p:spPr>
              <a:xfrm>
                <a:off x="4785" y="799"/>
                <a:ext cx="408" cy="26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p>
                <a:pPr algn="ctr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0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i</a:t>
                </a:r>
                <a:endParaRPr lang="en-US" altLang="zh-CN" sz="2400" b="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endParaRPr>
              </a:p>
            </p:txBody>
          </p:sp>
        </p:grpSp>
        <p:sp>
          <p:nvSpPr>
            <p:cNvPr id="49166" name="Line 15"/>
            <p:cNvSpPr/>
            <p:nvPr/>
          </p:nvSpPr>
          <p:spPr>
            <a:xfrm flipV="1">
              <a:off x="4105" y="391"/>
              <a:ext cx="1088" cy="816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49167" name="Text Box 16"/>
            <p:cNvSpPr txBox="1"/>
            <p:nvPr/>
          </p:nvSpPr>
          <p:spPr>
            <a:xfrm>
              <a:off x="4830" y="255"/>
              <a:ext cx="273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b="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z</a:t>
              </a:r>
              <a:endParaRPr lang="en-US" altLang="zh-CN" b="0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</a:endParaRPr>
            </a:p>
          </p:txBody>
        </p:sp>
      </p:grpSp>
      <p:grpSp>
        <p:nvGrpSpPr>
          <p:cNvPr id="499729" name="Group 17"/>
          <p:cNvGrpSpPr/>
          <p:nvPr/>
        </p:nvGrpSpPr>
        <p:grpSpPr>
          <a:xfrm>
            <a:off x="971550" y="3284538"/>
            <a:ext cx="6769100" cy="2205037"/>
            <a:chOff x="521" y="2341"/>
            <a:chExt cx="4141" cy="1270"/>
          </a:xfrm>
        </p:grpSpPr>
        <p:graphicFrame>
          <p:nvGraphicFramePr>
            <p:cNvPr id="49169" name="Object 18"/>
            <p:cNvGraphicFramePr>
              <a:graphicFrameLocks noChangeAspect="1"/>
            </p:cNvGraphicFramePr>
            <p:nvPr/>
          </p:nvGraphicFramePr>
          <p:xfrm>
            <a:off x="521" y="3067"/>
            <a:ext cx="609" cy="2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7" name="" r:id="rId3" imgW="399415" imgH="191135" progId="Equation.3">
                    <p:embed/>
                  </p:oleObj>
                </mc:Choice>
                <mc:Fallback>
                  <p:oleObj name="" r:id="rId3" imgW="399415" imgH="191135" progId="Equation.3">
                    <p:embed/>
                    <p:pic>
                      <p:nvPicPr>
                        <p:cNvPr id="0" name="图片 3116"/>
                        <p:cNvPicPr/>
                        <p:nvPr/>
                      </p:nvPicPr>
                      <p:blipFill>
                        <a:blip r:embed="rId4">
                          <a:clrChange>
                            <a:clrFrom>
                              <a:srgbClr val="000000"/>
                            </a:clrFrom>
                            <a:clrTo>
                              <a:srgbClr val="00008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521" y="3067"/>
                          <a:ext cx="609" cy="27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9170" name="Text Box 19"/>
            <p:cNvSpPr txBox="1"/>
            <p:nvPr/>
          </p:nvSpPr>
          <p:spPr>
            <a:xfrm>
              <a:off x="2993" y="2704"/>
              <a:ext cx="273" cy="263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dirty="0">
                  <a:solidFill>
                    <a:schemeClr val="tx1"/>
                  </a:solidFill>
                  <a:latin typeface="华文中宋" panose="02010600040101010101" pitchFamily="2" charset="-122"/>
                  <a:ea typeface="楷体_GB2312" pitchFamily="49" charset="-122"/>
                </a:rPr>
                <a:t>+</a:t>
              </a:r>
              <a:endParaRPr lang="en-US" altLang="zh-CN" sz="2400" dirty="0">
                <a:solidFill>
                  <a:schemeClr val="tx1"/>
                </a:solidFill>
                <a:latin typeface="华文中宋" panose="02010600040101010101" pitchFamily="2" charset="-122"/>
                <a:ea typeface="楷体_GB2312" pitchFamily="49" charset="-122"/>
              </a:endParaRPr>
            </a:p>
          </p:txBody>
        </p:sp>
        <p:sp>
          <p:nvSpPr>
            <p:cNvPr id="49171" name="Text Box 20"/>
            <p:cNvSpPr txBox="1"/>
            <p:nvPr/>
          </p:nvSpPr>
          <p:spPr>
            <a:xfrm>
              <a:off x="952" y="2704"/>
              <a:ext cx="273" cy="263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dirty="0">
                  <a:solidFill>
                    <a:schemeClr val="tx1"/>
                  </a:solidFill>
                  <a:latin typeface="华文中宋" panose="02010600040101010101" pitchFamily="2" charset="-122"/>
                  <a:ea typeface="楷体_GB2312" pitchFamily="49" charset="-122"/>
                </a:rPr>
                <a:t>+</a:t>
              </a:r>
              <a:endParaRPr lang="en-US" altLang="zh-CN" sz="2400" dirty="0">
                <a:solidFill>
                  <a:schemeClr val="tx1"/>
                </a:solidFill>
                <a:latin typeface="华文中宋" panose="02010600040101010101" pitchFamily="2" charset="-122"/>
                <a:ea typeface="楷体_GB2312" pitchFamily="49" charset="-122"/>
              </a:endParaRPr>
            </a:p>
          </p:txBody>
        </p:sp>
        <p:sp>
          <p:nvSpPr>
            <p:cNvPr id="49172" name="Text Box 21"/>
            <p:cNvSpPr txBox="1"/>
            <p:nvPr/>
          </p:nvSpPr>
          <p:spPr>
            <a:xfrm>
              <a:off x="906" y="3339"/>
              <a:ext cx="273" cy="263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dirty="0">
                  <a:solidFill>
                    <a:schemeClr val="tx1"/>
                  </a:solidFill>
                  <a:latin typeface="华文中宋" panose="02010600040101010101" pitchFamily="2" charset="-122"/>
                  <a:ea typeface="楷体_GB2312" pitchFamily="49" charset="-122"/>
                </a:rPr>
                <a:t>-</a:t>
              </a:r>
              <a:endParaRPr lang="en-US" altLang="zh-CN" sz="2400" dirty="0">
                <a:solidFill>
                  <a:schemeClr val="tx1"/>
                </a:solidFill>
                <a:latin typeface="华文中宋" panose="02010600040101010101" pitchFamily="2" charset="-122"/>
                <a:ea typeface="楷体_GB2312" pitchFamily="49" charset="-122"/>
              </a:endParaRPr>
            </a:p>
          </p:txBody>
        </p:sp>
        <p:sp>
          <p:nvSpPr>
            <p:cNvPr id="49173" name="Line 22"/>
            <p:cNvSpPr/>
            <p:nvPr/>
          </p:nvSpPr>
          <p:spPr>
            <a:xfrm>
              <a:off x="2539" y="2749"/>
              <a:ext cx="181" cy="0"/>
            </a:xfrm>
            <a:prstGeom prst="line">
              <a:avLst/>
            </a:prstGeom>
            <a:ln w="38100" cap="flat" cmpd="sng">
              <a:solidFill>
                <a:srgbClr val="33CC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graphicFrame>
          <p:nvGraphicFramePr>
            <p:cNvPr id="49174" name="Object 23"/>
            <p:cNvGraphicFramePr>
              <a:graphicFrameLocks noChangeAspect="1"/>
            </p:cNvGraphicFramePr>
            <p:nvPr/>
          </p:nvGraphicFramePr>
          <p:xfrm>
            <a:off x="2312" y="2795"/>
            <a:ext cx="559" cy="2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6" name="" r:id="rId5" imgW="364490" imgH="191135" progId="Equation.3">
                    <p:embed/>
                  </p:oleObj>
                </mc:Choice>
                <mc:Fallback>
                  <p:oleObj name="" r:id="rId5" imgW="364490" imgH="191135" progId="Equation.3">
                    <p:embed/>
                    <p:pic>
                      <p:nvPicPr>
                        <p:cNvPr id="0" name="图片 3115"/>
                        <p:cNvPicPr/>
                        <p:nvPr/>
                      </p:nvPicPr>
                      <p:blipFill>
                        <a:blip r:embed="rId6">
                          <a:clrChange>
                            <a:clrFrom>
                              <a:srgbClr val="000000"/>
                            </a:clrFrom>
                            <a:clrTo>
                              <a:srgbClr val="00008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312" y="2795"/>
                          <a:ext cx="559" cy="27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9175" name="Object 24"/>
            <p:cNvGraphicFramePr>
              <a:graphicFrameLocks noChangeAspect="1"/>
            </p:cNvGraphicFramePr>
            <p:nvPr/>
          </p:nvGraphicFramePr>
          <p:xfrm>
            <a:off x="3083" y="3067"/>
            <a:ext cx="1031" cy="2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8" name="" r:id="rId7" imgW="688975" imgH="191135" progId="Equation.3">
                    <p:embed/>
                  </p:oleObj>
                </mc:Choice>
                <mc:Fallback>
                  <p:oleObj name="" r:id="rId7" imgW="688975" imgH="191135" progId="Equation.3">
                    <p:embed/>
                    <p:pic>
                      <p:nvPicPr>
                        <p:cNvPr id="0" name="图片 3117"/>
                        <p:cNvPicPr/>
                        <p:nvPr/>
                      </p:nvPicPr>
                      <p:blipFill>
                        <a:blip r:embed="rId8">
                          <a:clrChange>
                            <a:clrFrom>
                              <a:srgbClr val="000000"/>
                            </a:clrFrom>
                            <a:clrTo>
                              <a:srgbClr val="00008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083" y="3067"/>
                          <a:ext cx="1031" cy="27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9176" name="Text Box 25"/>
            <p:cNvSpPr txBox="1"/>
            <p:nvPr/>
          </p:nvSpPr>
          <p:spPr>
            <a:xfrm>
              <a:off x="3038" y="3294"/>
              <a:ext cx="273" cy="263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dirty="0">
                  <a:solidFill>
                    <a:schemeClr val="tx1"/>
                  </a:solidFill>
                  <a:latin typeface="华文中宋" panose="02010600040101010101" pitchFamily="2" charset="-122"/>
                  <a:ea typeface="楷体_GB2312" pitchFamily="49" charset="-122"/>
                </a:rPr>
                <a:t>-</a:t>
              </a:r>
              <a:endParaRPr lang="en-US" altLang="zh-CN" sz="2400" dirty="0">
                <a:solidFill>
                  <a:schemeClr val="tx1"/>
                </a:solidFill>
                <a:latin typeface="华文中宋" panose="02010600040101010101" pitchFamily="2" charset="-122"/>
                <a:ea typeface="楷体_GB2312" pitchFamily="49" charset="-122"/>
              </a:endParaRPr>
            </a:p>
          </p:txBody>
        </p:sp>
        <p:graphicFrame>
          <p:nvGraphicFramePr>
            <p:cNvPr id="49177" name="Object 26"/>
            <p:cNvGraphicFramePr>
              <a:graphicFrameLocks noChangeAspect="1"/>
            </p:cNvGraphicFramePr>
            <p:nvPr/>
          </p:nvGraphicFramePr>
          <p:xfrm>
            <a:off x="3628" y="2795"/>
            <a:ext cx="1034" cy="2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4" name="" r:id="rId9" imgW="688975" imgH="191135" progId="Equation.3">
                    <p:embed/>
                  </p:oleObj>
                </mc:Choice>
                <mc:Fallback>
                  <p:oleObj name="" r:id="rId9" imgW="688975" imgH="191135" progId="Equation.3">
                    <p:embed/>
                    <p:pic>
                      <p:nvPicPr>
                        <p:cNvPr id="0" name="图片 3113"/>
                        <p:cNvPicPr/>
                        <p:nvPr/>
                      </p:nvPicPr>
                      <p:blipFill>
                        <a:blip r:embed="rId10">
                          <a:clrChange>
                            <a:clrFrom>
                              <a:srgbClr val="000000"/>
                            </a:clrFrom>
                            <a:clrTo>
                              <a:srgbClr val="00008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628" y="2795"/>
                          <a:ext cx="1034" cy="27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9178" name="Line 27"/>
            <p:cNvSpPr/>
            <p:nvPr/>
          </p:nvSpPr>
          <p:spPr>
            <a:xfrm>
              <a:off x="4127" y="2749"/>
              <a:ext cx="272" cy="0"/>
            </a:xfrm>
            <a:prstGeom prst="line">
              <a:avLst/>
            </a:prstGeom>
            <a:ln w="38100" cap="flat" cmpd="sng">
              <a:solidFill>
                <a:srgbClr val="33CC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graphicFrame>
          <p:nvGraphicFramePr>
            <p:cNvPr id="49179" name="Object 28"/>
            <p:cNvGraphicFramePr>
              <a:graphicFrameLocks noChangeAspect="1"/>
            </p:cNvGraphicFramePr>
            <p:nvPr/>
          </p:nvGraphicFramePr>
          <p:xfrm>
            <a:off x="1451" y="2341"/>
            <a:ext cx="437" cy="2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9" name="" r:id="rId11" imgW="329565" imgH="202565" progId="Equation.3">
                    <p:embed/>
                  </p:oleObj>
                </mc:Choice>
                <mc:Fallback>
                  <p:oleObj name="" r:id="rId11" imgW="329565" imgH="202565" progId="Equation.3">
                    <p:embed/>
                    <p:pic>
                      <p:nvPicPr>
                        <p:cNvPr id="0" name="图片 3118"/>
                        <p:cNvPicPr/>
                        <p:nvPr/>
                      </p:nvPicPr>
                      <p:blipFill>
                        <a:blip r:embed="rId12">
                          <a:clrChange>
                            <a:clrFrom>
                              <a:srgbClr val="000000"/>
                            </a:clrFrom>
                            <a:clrTo>
                              <a:srgbClr val="00008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451" y="2341"/>
                          <a:ext cx="437" cy="25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9180" name="Object 29"/>
            <p:cNvGraphicFramePr>
              <a:graphicFrameLocks noChangeAspect="1"/>
            </p:cNvGraphicFramePr>
            <p:nvPr/>
          </p:nvGraphicFramePr>
          <p:xfrm>
            <a:off x="1451" y="3067"/>
            <a:ext cx="451" cy="2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5" name="" r:id="rId13" imgW="341630" imgH="202565" progId="Equation.3">
                    <p:embed/>
                  </p:oleObj>
                </mc:Choice>
                <mc:Fallback>
                  <p:oleObj name="" r:id="rId13" imgW="341630" imgH="202565" progId="Equation.3">
                    <p:embed/>
                    <p:pic>
                      <p:nvPicPr>
                        <p:cNvPr id="0" name="图片 3114"/>
                        <p:cNvPicPr/>
                        <p:nvPr/>
                      </p:nvPicPr>
                      <p:blipFill>
                        <a:blip r:embed="rId14">
                          <a:clrChange>
                            <a:clrFrom>
                              <a:srgbClr val="000000"/>
                            </a:clrFrom>
                            <a:clrTo>
                              <a:srgbClr val="00008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451" y="3067"/>
                          <a:ext cx="451" cy="25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49181" name="Group 30"/>
            <p:cNvGrpSpPr/>
            <p:nvPr/>
          </p:nvGrpSpPr>
          <p:grpSpPr>
            <a:xfrm>
              <a:off x="2585" y="2613"/>
              <a:ext cx="952" cy="998"/>
              <a:chOff x="431" y="1253"/>
              <a:chExt cx="952" cy="998"/>
            </a:xfrm>
          </p:grpSpPr>
          <p:grpSp>
            <p:nvGrpSpPr>
              <p:cNvPr id="49182" name="Group 31"/>
              <p:cNvGrpSpPr/>
              <p:nvPr/>
            </p:nvGrpSpPr>
            <p:grpSpPr>
              <a:xfrm>
                <a:off x="1020" y="1253"/>
                <a:ext cx="318" cy="181"/>
                <a:chOff x="1020" y="1616"/>
                <a:chExt cx="273" cy="136"/>
              </a:xfrm>
            </p:grpSpPr>
            <p:sp>
              <p:nvSpPr>
                <p:cNvPr id="49183" name="AutoShape 32"/>
                <p:cNvSpPr/>
                <p:nvPr/>
              </p:nvSpPr>
              <p:spPr>
                <a:xfrm>
                  <a:off x="1020" y="1616"/>
                  <a:ext cx="91" cy="136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pathLst>
                    <a:path w="21600" h="21600">
                      <a:moveTo>
                        <a:pt x="72" y="12045"/>
                      </a:moveTo>
                      <a:cubicBezTo>
                        <a:pt x="24" y="11631"/>
                        <a:pt x="0" y="11216"/>
                        <a:pt x="0" y="10800"/>
                      </a:cubicBezTo>
                      <a:cubicBezTo>
                        <a:pt x="0" y="4835"/>
                        <a:pt x="4835" y="0"/>
                        <a:pt x="10800" y="0"/>
                      </a:cubicBezTo>
                      <a:cubicBezTo>
                        <a:pt x="16764" y="0"/>
                        <a:pt x="21600" y="4835"/>
                        <a:pt x="21600" y="10800"/>
                      </a:cubicBezTo>
                      <a:cubicBezTo>
                        <a:pt x="21600" y="11216"/>
                        <a:pt x="21575" y="11631"/>
                        <a:pt x="21527" y="12045"/>
                      </a:cubicBezTo>
                      <a:cubicBezTo>
                        <a:pt x="21575" y="11631"/>
                        <a:pt x="21600" y="11216"/>
                        <a:pt x="21600" y="10800"/>
                      </a:cubicBezTo>
                      <a:cubicBezTo>
                        <a:pt x="21600" y="4835"/>
                        <a:pt x="16764" y="0"/>
                        <a:pt x="10800" y="0"/>
                      </a:cubicBezTo>
                      <a:cubicBezTo>
                        <a:pt x="4835" y="0"/>
                        <a:pt x="0" y="4835"/>
                        <a:pt x="0" y="10800"/>
                      </a:cubicBezTo>
                      <a:cubicBezTo>
                        <a:pt x="-1" y="11216"/>
                        <a:pt x="24" y="11631"/>
                        <a:pt x="72" y="12045"/>
                      </a:cubicBezTo>
                      <a:close/>
                    </a:path>
                  </a:pathLst>
                </a:custGeom>
                <a:noFill/>
                <a:ln w="38100" cap="flat" cmpd="sng">
                  <a:solidFill>
                    <a:srgbClr val="FF990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49184" name="AutoShape 33"/>
                <p:cNvSpPr/>
                <p:nvPr/>
              </p:nvSpPr>
              <p:spPr>
                <a:xfrm>
                  <a:off x="1111" y="1616"/>
                  <a:ext cx="91" cy="136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pathLst>
                    <a:path w="21600" h="21600">
                      <a:moveTo>
                        <a:pt x="72" y="12045"/>
                      </a:moveTo>
                      <a:cubicBezTo>
                        <a:pt x="24" y="11631"/>
                        <a:pt x="0" y="11216"/>
                        <a:pt x="0" y="10800"/>
                      </a:cubicBezTo>
                      <a:cubicBezTo>
                        <a:pt x="0" y="4835"/>
                        <a:pt x="4835" y="0"/>
                        <a:pt x="10800" y="0"/>
                      </a:cubicBezTo>
                      <a:cubicBezTo>
                        <a:pt x="16764" y="0"/>
                        <a:pt x="21600" y="4835"/>
                        <a:pt x="21600" y="10800"/>
                      </a:cubicBezTo>
                      <a:cubicBezTo>
                        <a:pt x="21600" y="11216"/>
                        <a:pt x="21575" y="11631"/>
                        <a:pt x="21527" y="12045"/>
                      </a:cubicBezTo>
                      <a:cubicBezTo>
                        <a:pt x="21575" y="11631"/>
                        <a:pt x="21600" y="11216"/>
                        <a:pt x="21600" y="10800"/>
                      </a:cubicBezTo>
                      <a:cubicBezTo>
                        <a:pt x="21600" y="4835"/>
                        <a:pt x="16764" y="0"/>
                        <a:pt x="10800" y="0"/>
                      </a:cubicBezTo>
                      <a:cubicBezTo>
                        <a:pt x="4835" y="0"/>
                        <a:pt x="0" y="4835"/>
                        <a:pt x="0" y="10800"/>
                      </a:cubicBezTo>
                      <a:cubicBezTo>
                        <a:pt x="-1" y="11216"/>
                        <a:pt x="24" y="11631"/>
                        <a:pt x="72" y="12045"/>
                      </a:cubicBezTo>
                      <a:close/>
                    </a:path>
                  </a:pathLst>
                </a:custGeom>
                <a:noFill/>
                <a:ln w="38100" cap="flat" cmpd="sng">
                  <a:solidFill>
                    <a:srgbClr val="FF990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49185" name="AutoShape 34"/>
                <p:cNvSpPr/>
                <p:nvPr/>
              </p:nvSpPr>
              <p:spPr>
                <a:xfrm>
                  <a:off x="1202" y="1616"/>
                  <a:ext cx="91" cy="136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pathLst>
                    <a:path w="21600" h="21600">
                      <a:moveTo>
                        <a:pt x="72" y="12045"/>
                      </a:moveTo>
                      <a:cubicBezTo>
                        <a:pt x="24" y="11631"/>
                        <a:pt x="0" y="11216"/>
                        <a:pt x="0" y="10800"/>
                      </a:cubicBezTo>
                      <a:cubicBezTo>
                        <a:pt x="0" y="4835"/>
                        <a:pt x="4835" y="0"/>
                        <a:pt x="10800" y="0"/>
                      </a:cubicBezTo>
                      <a:cubicBezTo>
                        <a:pt x="16764" y="0"/>
                        <a:pt x="21600" y="4835"/>
                        <a:pt x="21600" y="10800"/>
                      </a:cubicBezTo>
                      <a:cubicBezTo>
                        <a:pt x="21600" y="11216"/>
                        <a:pt x="21575" y="11631"/>
                        <a:pt x="21527" y="12045"/>
                      </a:cubicBezTo>
                      <a:cubicBezTo>
                        <a:pt x="21575" y="11631"/>
                        <a:pt x="21600" y="11216"/>
                        <a:pt x="21600" y="10800"/>
                      </a:cubicBezTo>
                      <a:cubicBezTo>
                        <a:pt x="21600" y="4835"/>
                        <a:pt x="16764" y="0"/>
                        <a:pt x="10800" y="0"/>
                      </a:cubicBezTo>
                      <a:cubicBezTo>
                        <a:pt x="4835" y="0"/>
                        <a:pt x="0" y="4835"/>
                        <a:pt x="0" y="10800"/>
                      </a:cubicBezTo>
                      <a:cubicBezTo>
                        <a:pt x="-1" y="11216"/>
                        <a:pt x="24" y="11631"/>
                        <a:pt x="72" y="12045"/>
                      </a:cubicBezTo>
                      <a:close/>
                    </a:path>
                  </a:pathLst>
                </a:custGeom>
                <a:noFill/>
                <a:ln w="38100" cap="flat" cmpd="sng">
                  <a:solidFill>
                    <a:srgbClr val="FF990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</p:grpSp>
          <p:grpSp>
            <p:nvGrpSpPr>
              <p:cNvPr id="49186" name="Group 35"/>
              <p:cNvGrpSpPr/>
              <p:nvPr/>
            </p:nvGrpSpPr>
            <p:grpSpPr>
              <a:xfrm>
                <a:off x="657" y="1752"/>
                <a:ext cx="227" cy="91"/>
                <a:chOff x="1020" y="2069"/>
                <a:chExt cx="227" cy="91"/>
              </a:xfrm>
            </p:grpSpPr>
            <p:sp>
              <p:nvSpPr>
                <p:cNvPr id="49187" name="Line 36"/>
                <p:cNvSpPr/>
                <p:nvPr/>
              </p:nvSpPr>
              <p:spPr>
                <a:xfrm>
                  <a:off x="1020" y="2069"/>
                  <a:ext cx="227" cy="0"/>
                </a:xfrm>
                <a:prstGeom prst="line">
                  <a:avLst/>
                </a:prstGeom>
                <a:ln w="38100" cap="flat" cmpd="sng">
                  <a:solidFill>
                    <a:srgbClr val="FF99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49188" name="Line 37"/>
                <p:cNvSpPr/>
                <p:nvPr/>
              </p:nvSpPr>
              <p:spPr>
                <a:xfrm>
                  <a:off x="1020" y="2160"/>
                  <a:ext cx="227" cy="0"/>
                </a:xfrm>
                <a:prstGeom prst="line">
                  <a:avLst/>
                </a:prstGeom>
                <a:ln w="38100" cap="flat" cmpd="sng">
                  <a:solidFill>
                    <a:srgbClr val="FF99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49189" name="Line 38"/>
              <p:cNvSpPr/>
              <p:nvPr/>
            </p:nvSpPr>
            <p:spPr>
              <a:xfrm>
                <a:off x="431" y="1344"/>
                <a:ext cx="590" cy="0"/>
              </a:xfrm>
              <a:prstGeom prst="line">
                <a:avLst/>
              </a:prstGeom>
              <a:ln w="28575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9190" name="Line 39"/>
              <p:cNvSpPr/>
              <p:nvPr/>
            </p:nvSpPr>
            <p:spPr>
              <a:xfrm>
                <a:off x="793" y="1344"/>
                <a:ext cx="0" cy="408"/>
              </a:xfrm>
              <a:prstGeom prst="line">
                <a:avLst/>
              </a:prstGeom>
              <a:ln w="28575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9191" name="Line 40"/>
              <p:cNvSpPr/>
              <p:nvPr/>
            </p:nvSpPr>
            <p:spPr>
              <a:xfrm>
                <a:off x="793" y="1842"/>
                <a:ext cx="0" cy="408"/>
              </a:xfrm>
              <a:prstGeom prst="line">
                <a:avLst/>
              </a:prstGeom>
              <a:ln w="28575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9192" name="Line 41"/>
              <p:cNvSpPr/>
              <p:nvPr/>
            </p:nvSpPr>
            <p:spPr>
              <a:xfrm>
                <a:off x="431" y="2251"/>
                <a:ext cx="952" cy="0"/>
              </a:xfrm>
              <a:prstGeom prst="line">
                <a:avLst/>
              </a:prstGeom>
              <a:ln w="28575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49193" name="Line 42"/>
            <p:cNvSpPr/>
            <p:nvPr/>
          </p:nvSpPr>
          <p:spPr>
            <a:xfrm>
              <a:off x="3492" y="2703"/>
              <a:ext cx="771" cy="0"/>
            </a:xfrm>
            <a:prstGeom prst="line">
              <a:avLst/>
            </a:prstGeom>
            <a:ln w="28575" cap="flat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9194" name="Line 43"/>
            <p:cNvSpPr/>
            <p:nvPr/>
          </p:nvSpPr>
          <p:spPr>
            <a:xfrm>
              <a:off x="3538" y="3611"/>
              <a:ext cx="725" cy="0"/>
            </a:xfrm>
            <a:prstGeom prst="line">
              <a:avLst/>
            </a:prstGeom>
            <a:ln w="28575" cap="flat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9195" name="Rectangle 44"/>
            <p:cNvSpPr/>
            <p:nvPr/>
          </p:nvSpPr>
          <p:spPr>
            <a:xfrm>
              <a:off x="3764" y="2658"/>
              <a:ext cx="273" cy="91"/>
            </a:xfrm>
            <a:prstGeom prst="rect">
              <a:avLst/>
            </a:prstGeom>
            <a:solidFill>
              <a:srgbClr val="FF9900"/>
            </a:solidFill>
            <a:ln w="28575">
              <a:noFill/>
            </a:ln>
          </p:spPr>
          <p:txBody>
            <a:bodyPr wrap="none" anchor="ctr" anchorCtr="0"/>
            <a:p>
              <a:pPr>
                <a:buClrTx/>
                <a:buFontTx/>
                <a:buNone/>
              </a:pPr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grpSp>
          <p:nvGrpSpPr>
            <p:cNvPr id="49196" name="Group 45"/>
            <p:cNvGrpSpPr/>
            <p:nvPr/>
          </p:nvGrpSpPr>
          <p:grpSpPr>
            <a:xfrm>
              <a:off x="952" y="2613"/>
              <a:ext cx="952" cy="998"/>
              <a:chOff x="431" y="1253"/>
              <a:chExt cx="952" cy="998"/>
            </a:xfrm>
          </p:grpSpPr>
          <p:grpSp>
            <p:nvGrpSpPr>
              <p:cNvPr id="49197" name="Group 46"/>
              <p:cNvGrpSpPr/>
              <p:nvPr/>
            </p:nvGrpSpPr>
            <p:grpSpPr>
              <a:xfrm>
                <a:off x="1020" y="1253"/>
                <a:ext cx="318" cy="181"/>
                <a:chOff x="1020" y="1616"/>
                <a:chExt cx="273" cy="136"/>
              </a:xfrm>
            </p:grpSpPr>
            <p:sp>
              <p:nvSpPr>
                <p:cNvPr id="49198" name="AutoShape 47"/>
                <p:cNvSpPr/>
                <p:nvPr/>
              </p:nvSpPr>
              <p:spPr>
                <a:xfrm>
                  <a:off x="1020" y="1616"/>
                  <a:ext cx="91" cy="136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pathLst>
                    <a:path w="21600" h="21600">
                      <a:moveTo>
                        <a:pt x="72" y="12045"/>
                      </a:moveTo>
                      <a:cubicBezTo>
                        <a:pt x="24" y="11631"/>
                        <a:pt x="0" y="11216"/>
                        <a:pt x="0" y="10800"/>
                      </a:cubicBezTo>
                      <a:cubicBezTo>
                        <a:pt x="0" y="4835"/>
                        <a:pt x="4835" y="0"/>
                        <a:pt x="10800" y="0"/>
                      </a:cubicBezTo>
                      <a:cubicBezTo>
                        <a:pt x="16764" y="0"/>
                        <a:pt x="21600" y="4835"/>
                        <a:pt x="21600" y="10800"/>
                      </a:cubicBezTo>
                      <a:cubicBezTo>
                        <a:pt x="21600" y="11216"/>
                        <a:pt x="21575" y="11631"/>
                        <a:pt x="21527" y="12045"/>
                      </a:cubicBezTo>
                      <a:cubicBezTo>
                        <a:pt x="21575" y="11631"/>
                        <a:pt x="21600" y="11216"/>
                        <a:pt x="21600" y="10800"/>
                      </a:cubicBezTo>
                      <a:cubicBezTo>
                        <a:pt x="21600" y="4835"/>
                        <a:pt x="16764" y="0"/>
                        <a:pt x="10800" y="0"/>
                      </a:cubicBezTo>
                      <a:cubicBezTo>
                        <a:pt x="4835" y="0"/>
                        <a:pt x="0" y="4835"/>
                        <a:pt x="0" y="10800"/>
                      </a:cubicBezTo>
                      <a:cubicBezTo>
                        <a:pt x="-1" y="11216"/>
                        <a:pt x="24" y="11631"/>
                        <a:pt x="72" y="12045"/>
                      </a:cubicBezTo>
                      <a:close/>
                    </a:path>
                  </a:pathLst>
                </a:custGeom>
                <a:noFill/>
                <a:ln w="38100" cap="flat" cmpd="sng">
                  <a:solidFill>
                    <a:srgbClr val="FF990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49199" name="AutoShape 48"/>
                <p:cNvSpPr/>
                <p:nvPr/>
              </p:nvSpPr>
              <p:spPr>
                <a:xfrm>
                  <a:off x="1111" y="1616"/>
                  <a:ext cx="91" cy="136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pathLst>
                    <a:path w="21600" h="21600">
                      <a:moveTo>
                        <a:pt x="72" y="12045"/>
                      </a:moveTo>
                      <a:cubicBezTo>
                        <a:pt x="24" y="11631"/>
                        <a:pt x="0" y="11216"/>
                        <a:pt x="0" y="10800"/>
                      </a:cubicBezTo>
                      <a:cubicBezTo>
                        <a:pt x="0" y="4835"/>
                        <a:pt x="4835" y="0"/>
                        <a:pt x="10800" y="0"/>
                      </a:cubicBezTo>
                      <a:cubicBezTo>
                        <a:pt x="16764" y="0"/>
                        <a:pt x="21600" y="4835"/>
                        <a:pt x="21600" y="10800"/>
                      </a:cubicBezTo>
                      <a:cubicBezTo>
                        <a:pt x="21600" y="11216"/>
                        <a:pt x="21575" y="11631"/>
                        <a:pt x="21527" y="12045"/>
                      </a:cubicBezTo>
                      <a:cubicBezTo>
                        <a:pt x="21575" y="11631"/>
                        <a:pt x="21600" y="11216"/>
                        <a:pt x="21600" y="10800"/>
                      </a:cubicBezTo>
                      <a:cubicBezTo>
                        <a:pt x="21600" y="4835"/>
                        <a:pt x="16764" y="0"/>
                        <a:pt x="10800" y="0"/>
                      </a:cubicBezTo>
                      <a:cubicBezTo>
                        <a:pt x="4835" y="0"/>
                        <a:pt x="0" y="4835"/>
                        <a:pt x="0" y="10800"/>
                      </a:cubicBezTo>
                      <a:cubicBezTo>
                        <a:pt x="-1" y="11216"/>
                        <a:pt x="24" y="11631"/>
                        <a:pt x="72" y="12045"/>
                      </a:cubicBezTo>
                      <a:close/>
                    </a:path>
                  </a:pathLst>
                </a:custGeom>
                <a:noFill/>
                <a:ln w="38100" cap="flat" cmpd="sng">
                  <a:solidFill>
                    <a:srgbClr val="FF990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49200" name="AutoShape 49"/>
                <p:cNvSpPr/>
                <p:nvPr/>
              </p:nvSpPr>
              <p:spPr>
                <a:xfrm>
                  <a:off x="1202" y="1616"/>
                  <a:ext cx="91" cy="136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pathLst>
                    <a:path w="21600" h="21600">
                      <a:moveTo>
                        <a:pt x="72" y="12045"/>
                      </a:moveTo>
                      <a:cubicBezTo>
                        <a:pt x="24" y="11631"/>
                        <a:pt x="0" y="11216"/>
                        <a:pt x="0" y="10800"/>
                      </a:cubicBezTo>
                      <a:cubicBezTo>
                        <a:pt x="0" y="4835"/>
                        <a:pt x="4835" y="0"/>
                        <a:pt x="10800" y="0"/>
                      </a:cubicBezTo>
                      <a:cubicBezTo>
                        <a:pt x="16764" y="0"/>
                        <a:pt x="21600" y="4835"/>
                        <a:pt x="21600" y="10800"/>
                      </a:cubicBezTo>
                      <a:cubicBezTo>
                        <a:pt x="21600" y="11216"/>
                        <a:pt x="21575" y="11631"/>
                        <a:pt x="21527" y="12045"/>
                      </a:cubicBezTo>
                      <a:cubicBezTo>
                        <a:pt x="21575" y="11631"/>
                        <a:pt x="21600" y="11216"/>
                        <a:pt x="21600" y="10800"/>
                      </a:cubicBezTo>
                      <a:cubicBezTo>
                        <a:pt x="21600" y="4835"/>
                        <a:pt x="16764" y="0"/>
                        <a:pt x="10800" y="0"/>
                      </a:cubicBezTo>
                      <a:cubicBezTo>
                        <a:pt x="4835" y="0"/>
                        <a:pt x="0" y="4835"/>
                        <a:pt x="0" y="10800"/>
                      </a:cubicBezTo>
                      <a:cubicBezTo>
                        <a:pt x="-1" y="11216"/>
                        <a:pt x="24" y="11631"/>
                        <a:pt x="72" y="12045"/>
                      </a:cubicBezTo>
                      <a:close/>
                    </a:path>
                  </a:pathLst>
                </a:custGeom>
                <a:noFill/>
                <a:ln w="38100" cap="flat" cmpd="sng">
                  <a:solidFill>
                    <a:srgbClr val="FF990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</p:grpSp>
          <p:grpSp>
            <p:nvGrpSpPr>
              <p:cNvPr id="49201" name="Group 50"/>
              <p:cNvGrpSpPr/>
              <p:nvPr/>
            </p:nvGrpSpPr>
            <p:grpSpPr>
              <a:xfrm>
                <a:off x="657" y="1752"/>
                <a:ext cx="227" cy="91"/>
                <a:chOff x="1020" y="2069"/>
                <a:chExt cx="227" cy="91"/>
              </a:xfrm>
            </p:grpSpPr>
            <p:sp>
              <p:nvSpPr>
                <p:cNvPr id="49202" name="Line 51"/>
                <p:cNvSpPr/>
                <p:nvPr/>
              </p:nvSpPr>
              <p:spPr>
                <a:xfrm>
                  <a:off x="1020" y="2069"/>
                  <a:ext cx="227" cy="0"/>
                </a:xfrm>
                <a:prstGeom prst="line">
                  <a:avLst/>
                </a:prstGeom>
                <a:ln w="38100" cap="flat" cmpd="sng">
                  <a:solidFill>
                    <a:srgbClr val="FF99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49203" name="Line 52"/>
                <p:cNvSpPr/>
                <p:nvPr/>
              </p:nvSpPr>
              <p:spPr>
                <a:xfrm>
                  <a:off x="1020" y="2160"/>
                  <a:ext cx="227" cy="0"/>
                </a:xfrm>
                <a:prstGeom prst="line">
                  <a:avLst/>
                </a:prstGeom>
                <a:ln w="38100" cap="flat" cmpd="sng">
                  <a:solidFill>
                    <a:srgbClr val="FF99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49204" name="Line 53"/>
              <p:cNvSpPr/>
              <p:nvPr/>
            </p:nvSpPr>
            <p:spPr>
              <a:xfrm>
                <a:off x="431" y="1344"/>
                <a:ext cx="590" cy="0"/>
              </a:xfrm>
              <a:prstGeom prst="line">
                <a:avLst/>
              </a:prstGeom>
              <a:ln w="28575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9205" name="Line 54"/>
              <p:cNvSpPr/>
              <p:nvPr/>
            </p:nvSpPr>
            <p:spPr>
              <a:xfrm>
                <a:off x="793" y="1344"/>
                <a:ext cx="0" cy="408"/>
              </a:xfrm>
              <a:prstGeom prst="line">
                <a:avLst/>
              </a:prstGeom>
              <a:ln w="28575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9206" name="Line 55"/>
              <p:cNvSpPr/>
              <p:nvPr/>
            </p:nvSpPr>
            <p:spPr>
              <a:xfrm>
                <a:off x="793" y="1842"/>
                <a:ext cx="0" cy="408"/>
              </a:xfrm>
              <a:prstGeom prst="line">
                <a:avLst/>
              </a:prstGeom>
              <a:ln w="28575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9207" name="Line 56"/>
              <p:cNvSpPr/>
              <p:nvPr/>
            </p:nvSpPr>
            <p:spPr>
              <a:xfrm>
                <a:off x="431" y="2251"/>
                <a:ext cx="952" cy="0"/>
              </a:xfrm>
              <a:prstGeom prst="line">
                <a:avLst/>
              </a:prstGeom>
              <a:ln w="28575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49208" name="Line 57"/>
            <p:cNvSpPr/>
            <p:nvPr/>
          </p:nvSpPr>
          <p:spPr>
            <a:xfrm>
              <a:off x="1859" y="2703"/>
              <a:ext cx="771" cy="0"/>
            </a:xfrm>
            <a:prstGeom prst="line">
              <a:avLst/>
            </a:prstGeom>
            <a:ln w="28575" cap="flat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9209" name="Line 58"/>
            <p:cNvSpPr/>
            <p:nvPr/>
          </p:nvSpPr>
          <p:spPr>
            <a:xfrm>
              <a:off x="1905" y="3611"/>
              <a:ext cx="725" cy="0"/>
            </a:xfrm>
            <a:prstGeom prst="line">
              <a:avLst/>
            </a:prstGeom>
            <a:ln w="28575" cap="flat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9210" name="Rectangle 59"/>
            <p:cNvSpPr/>
            <p:nvPr/>
          </p:nvSpPr>
          <p:spPr>
            <a:xfrm>
              <a:off x="2131" y="2658"/>
              <a:ext cx="273" cy="91"/>
            </a:xfrm>
            <a:prstGeom prst="rect">
              <a:avLst/>
            </a:prstGeom>
            <a:solidFill>
              <a:srgbClr val="FF9900"/>
            </a:solidFill>
            <a:ln w="28575">
              <a:noFill/>
            </a:ln>
          </p:spPr>
          <p:txBody>
            <a:bodyPr wrap="none" anchor="ctr" anchorCtr="0"/>
            <a:p>
              <a:pPr>
                <a:buClrTx/>
                <a:buFontTx/>
                <a:buNone/>
              </a:pPr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graphicFrame>
          <p:nvGraphicFramePr>
            <p:cNvPr id="49211" name="Object 60"/>
            <p:cNvGraphicFramePr>
              <a:graphicFrameLocks noChangeAspect="1"/>
            </p:cNvGraphicFramePr>
            <p:nvPr/>
          </p:nvGraphicFramePr>
          <p:xfrm>
            <a:off x="2079" y="2386"/>
            <a:ext cx="452" cy="2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3" name="" r:id="rId15" imgW="341630" imgH="202565" progId="Equation.3">
                    <p:embed/>
                  </p:oleObj>
                </mc:Choice>
                <mc:Fallback>
                  <p:oleObj name="" r:id="rId15" imgW="341630" imgH="202565" progId="Equation.3">
                    <p:embed/>
                    <p:pic>
                      <p:nvPicPr>
                        <p:cNvPr id="0" name="图片 3122"/>
                        <p:cNvPicPr/>
                        <p:nvPr/>
                      </p:nvPicPr>
                      <p:blipFill>
                        <a:blip r:embed="rId16">
                          <a:clrChange>
                            <a:clrFrom>
                              <a:srgbClr val="000000"/>
                            </a:clrFrom>
                            <a:clrTo>
                              <a:srgbClr val="00008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079" y="2386"/>
                          <a:ext cx="452" cy="25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9212" name="Object 61"/>
            <p:cNvGraphicFramePr>
              <a:graphicFrameLocks noChangeAspect="1"/>
            </p:cNvGraphicFramePr>
            <p:nvPr/>
          </p:nvGraphicFramePr>
          <p:xfrm>
            <a:off x="3719" y="2386"/>
            <a:ext cx="452" cy="2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2" name="" r:id="rId17" imgW="341630" imgH="202565" progId="Equation.3">
                    <p:embed/>
                  </p:oleObj>
                </mc:Choice>
                <mc:Fallback>
                  <p:oleObj name="" r:id="rId17" imgW="341630" imgH="202565" progId="Equation.3">
                    <p:embed/>
                    <p:pic>
                      <p:nvPicPr>
                        <p:cNvPr id="0" name="图片 3121"/>
                        <p:cNvPicPr/>
                        <p:nvPr/>
                      </p:nvPicPr>
                      <p:blipFill>
                        <a:blip r:embed="rId18">
                          <a:clrChange>
                            <a:clrFrom>
                              <a:srgbClr val="000000"/>
                            </a:clrFrom>
                            <a:clrTo>
                              <a:srgbClr val="00008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719" y="2386"/>
                          <a:ext cx="452" cy="25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9213" name="Object 62"/>
            <p:cNvGraphicFramePr>
              <a:graphicFrameLocks noChangeAspect="1"/>
            </p:cNvGraphicFramePr>
            <p:nvPr/>
          </p:nvGraphicFramePr>
          <p:xfrm>
            <a:off x="3084" y="2386"/>
            <a:ext cx="437" cy="2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4" name="" r:id="rId19" imgW="329565" imgH="202565" progId="Equation.3">
                    <p:embed/>
                  </p:oleObj>
                </mc:Choice>
                <mc:Fallback>
                  <p:oleObj name="" r:id="rId19" imgW="329565" imgH="202565" progId="Equation.3">
                    <p:embed/>
                    <p:pic>
                      <p:nvPicPr>
                        <p:cNvPr id="0" name="图片 3123"/>
                        <p:cNvPicPr/>
                        <p:nvPr/>
                      </p:nvPicPr>
                      <p:blipFill>
                        <a:blip r:embed="rId20">
                          <a:clrChange>
                            <a:clrFrom>
                              <a:srgbClr val="000000"/>
                            </a:clrFrom>
                            <a:clrTo>
                              <a:srgbClr val="00008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084" y="2386"/>
                          <a:ext cx="437" cy="25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9214" name="Object 63"/>
            <p:cNvGraphicFramePr>
              <a:graphicFrameLocks noChangeAspect="1"/>
            </p:cNvGraphicFramePr>
            <p:nvPr/>
          </p:nvGraphicFramePr>
          <p:xfrm>
            <a:off x="2403" y="3112"/>
            <a:ext cx="451" cy="2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1" name="" r:id="rId21" imgW="341630" imgH="202565" progId="Equation.3">
                    <p:embed/>
                  </p:oleObj>
                </mc:Choice>
                <mc:Fallback>
                  <p:oleObj name="" r:id="rId21" imgW="341630" imgH="202565" progId="Equation.3">
                    <p:embed/>
                    <p:pic>
                      <p:nvPicPr>
                        <p:cNvPr id="0" name="图片 3120"/>
                        <p:cNvPicPr/>
                        <p:nvPr/>
                      </p:nvPicPr>
                      <p:blipFill>
                        <a:blip r:embed="rId22">
                          <a:clrChange>
                            <a:clrFrom>
                              <a:srgbClr val="000000"/>
                            </a:clrFrom>
                            <a:clrTo>
                              <a:srgbClr val="00008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403" y="3112"/>
                          <a:ext cx="451" cy="25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99776" name="AutoShape 64" descr="羊皮纸"/>
          <p:cNvSpPr/>
          <p:nvPr/>
        </p:nvSpPr>
        <p:spPr>
          <a:xfrm>
            <a:off x="7092950" y="2060575"/>
            <a:ext cx="1295400" cy="863600"/>
          </a:xfrm>
          <a:prstGeom prst="wedgeRoundRectCallout">
            <a:avLst>
              <a:gd name="adj1" fmla="val -59806"/>
              <a:gd name="adj2" fmla="val 140810"/>
              <a:gd name="adj3" fmla="val 16667"/>
            </a:avLst>
          </a:prstGeom>
          <a:blipFill rotWithShape="0">
            <a:blip r:embed="rId23"/>
          </a:blipFill>
          <a:ln w="28575">
            <a:noFill/>
          </a:ln>
        </p:spPr>
        <p:txBody>
          <a:bodyPr anchor="ctr" anchorCtr="0"/>
          <a:p>
            <a:pPr algn="ctr" eaLnBrk="0" hangingPunct="0">
              <a:buClrTx/>
              <a:buFontTx/>
              <a:buNone/>
            </a:pP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分布参数电路</a:t>
            </a:r>
            <a:endParaRPr lang="zh-CN" altLang="en-US" sz="2400" dirty="0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  <a:sym typeface="Symbol" panose="05050102010706020507" pitchFamily="18" charset="2"/>
            </a:endParaRPr>
          </a:p>
        </p:txBody>
      </p:sp>
      <p:sp>
        <p:nvSpPr>
          <p:cNvPr id="499777" name="Text Box 65" descr="斜纹布"/>
          <p:cNvSpPr txBox="1"/>
          <p:nvPr/>
        </p:nvSpPr>
        <p:spPr>
          <a:xfrm>
            <a:off x="1042988" y="692150"/>
            <a:ext cx="7343775" cy="519113"/>
          </a:xfrm>
          <a:prstGeom prst="rect">
            <a:avLst/>
          </a:prstGeom>
          <a:noFill/>
          <a:ln w="28575">
            <a:noFill/>
          </a:ln>
          <a:effectLst>
            <a:prstShdw prst="shdw17" dist="17961" dir="2699999">
              <a:schemeClr val="bg2"/>
            </a:prstShdw>
          </a:effectLst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ClrTx/>
              <a:buFontTx/>
              <a:buNone/>
            </a:pP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当两线传输线的长度 </a:t>
            </a:r>
            <a:r>
              <a:rPr lang="en-US" altLang="zh-CN" b="0" i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l 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与电磁波的波长满足：</a:t>
            </a:r>
            <a:endParaRPr lang="zh-CN" altLang="en-US" dirty="0">
              <a:solidFill>
                <a:schemeClr val="tx1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graphicFrame>
        <p:nvGraphicFramePr>
          <p:cNvPr id="499778" name="Object 66"/>
          <p:cNvGraphicFramePr>
            <a:graphicFrameLocks noChangeAspect="1"/>
          </p:cNvGraphicFramePr>
          <p:nvPr>
            <p:ph sz="quarter" idx="4"/>
          </p:nvPr>
        </p:nvGraphicFramePr>
        <p:xfrm>
          <a:off x="4427538" y="1773238"/>
          <a:ext cx="1228725" cy="614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0" name="" r:id="rId24" imgW="329565" imgH="156210" progId="Equation.3">
                  <p:embed/>
                </p:oleObj>
              </mc:Choice>
              <mc:Fallback>
                <p:oleObj name="" r:id="rId24" imgW="329565" imgH="156210" progId="Equation.3">
                  <p:embed/>
                  <p:pic>
                    <p:nvPicPr>
                      <p:cNvPr id="0" name="图片 3119"/>
                      <p:cNvPicPr/>
                      <p:nvPr/>
                    </p:nvPicPr>
                    <p:blipFill>
                      <a:blip r:embed="rId25">
                        <a:clrChange>
                          <a:clrFrom>
                            <a:srgbClr val="000000"/>
                          </a:clrFrom>
                          <a:clrTo>
                            <a:srgbClr val="FF33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427538" y="1773238"/>
                        <a:ext cx="1228725" cy="614362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FFCCCC"/>
                          </a:gs>
                          <a:gs pos="100000">
                            <a:schemeClr val="tx1"/>
                          </a:gs>
                        </a:gsLst>
                        <a:lin ang="5400000" scaled="1"/>
                        <a:tileRect/>
                      </a:gradFill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9218" name="Group 73"/>
          <p:cNvGrpSpPr/>
          <p:nvPr/>
        </p:nvGrpSpPr>
        <p:grpSpPr>
          <a:xfrm>
            <a:off x="6588125" y="6445250"/>
            <a:ext cx="792163" cy="366713"/>
            <a:chOff x="5193" y="4020"/>
            <a:chExt cx="499" cy="231"/>
          </a:xfrm>
        </p:grpSpPr>
        <p:pic>
          <p:nvPicPr>
            <p:cNvPr id="49219" name="Picture 74" descr="78900">
              <a:hlinkClick r:id="" action="ppaction://hlinkshowjump?jump=firstslide"/>
            </p:cNvPr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9220" name="Text Box 75">
              <a:hlinkClick r:id="" action="ppaction://hlinkshowjump?jump=firs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997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4997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997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997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99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99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6" dur="2000"/>
                                        <p:tgtEl>
                                          <p:spTgt spid="499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9776" grpId="0" animBg="1"/>
      <p:bldP spid="499777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9685" name="Text Box 5"/>
          <p:cNvSpPr txBox="1"/>
          <p:nvPr/>
        </p:nvSpPr>
        <p:spPr>
          <a:xfrm>
            <a:off x="1331913" y="549275"/>
            <a:ext cx="6337300" cy="701675"/>
          </a:xfrm>
          <a:prstGeom prst="rect">
            <a:avLst/>
          </a:prstGeom>
          <a:noFill/>
          <a:ln w="28575">
            <a:noFill/>
          </a:ln>
          <a:effectLst>
            <a:prstShdw prst="shdw17" dist="17961" dir="2699999">
              <a:srgbClr val="009900"/>
            </a:prstShdw>
          </a:effectLst>
        </p:spPr>
        <p:txBody>
          <a:bodyPr anchor="ctr" anchorCtr="0">
            <a:spAutoFit/>
          </a:bodyPr>
          <a:p>
            <a:pPr algn="ctr" eaLnBrk="0" hangingPunct="0">
              <a:buClrTx/>
              <a:buFontTx/>
              <a:buNone/>
            </a:pPr>
            <a:r>
              <a:rPr lang="en-US" altLang="zh-CN" sz="40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1.5 </a:t>
            </a:r>
            <a:r>
              <a:rPr lang="zh-CN" altLang="en-US" sz="40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电阻元件</a:t>
            </a:r>
            <a:endParaRPr lang="zh-CN" altLang="en-US" sz="4000" dirty="0">
              <a:solidFill>
                <a:schemeClr val="tx1"/>
              </a:solidFill>
              <a:latin typeface="Times New Roman" panose="02020603050405020304" pitchFamily="18" charset="0"/>
              <a:ea typeface="楷体_GB2312" pitchFamily="49" charset="-122"/>
              <a:sym typeface="Symbol" panose="05050102010706020507" pitchFamily="18" charset="2"/>
            </a:endParaRPr>
          </a:p>
        </p:txBody>
      </p:sp>
      <p:sp>
        <p:nvSpPr>
          <p:cNvPr id="199686" name="Text Box 6"/>
          <p:cNvSpPr txBox="1"/>
          <p:nvPr/>
        </p:nvSpPr>
        <p:spPr>
          <a:xfrm>
            <a:off x="611188" y="3975100"/>
            <a:ext cx="4897437" cy="579438"/>
          </a:xfrm>
          <a:prstGeom prst="rect">
            <a:avLst/>
          </a:prstGeom>
          <a:noFill/>
          <a:ln w="44450">
            <a:noFill/>
          </a:ln>
          <a:effectLst>
            <a:outerShdw dist="107763" dir="18900000" algn="ctr" rotWithShape="0">
              <a:schemeClr val="bg2">
                <a:alpha val="50000"/>
              </a:schemeClr>
            </a:outerShdw>
          </a:effectLst>
        </p:spPr>
        <p:txBody>
          <a:bodyPr anchor="ctr" anchorCtr="0">
            <a:spAutoFit/>
          </a:bodyPr>
          <a:p>
            <a:pPr algn="just" eaLnBrk="0" hangingPunct="0">
              <a:buClrTx/>
              <a:buFontTx/>
              <a:buNone/>
            </a:pPr>
            <a:r>
              <a:rPr lang="en-US" altLang="zh-CN" sz="32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2.</a:t>
            </a:r>
            <a:r>
              <a:rPr lang="zh-CN" altLang="en-US" sz="32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线性时不变电阻元件</a:t>
            </a:r>
            <a:endParaRPr lang="zh-CN" altLang="en-US" sz="3200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  <a:sym typeface="Symbol" panose="05050102010706020507" pitchFamily="18" charset="2"/>
            </a:endParaRPr>
          </a:p>
        </p:txBody>
      </p:sp>
      <p:sp>
        <p:nvSpPr>
          <p:cNvPr id="199687" name="Text Box 7"/>
          <p:cNvSpPr txBox="1"/>
          <p:nvPr/>
        </p:nvSpPr>
        <p:spPr>
          <a:xfrm>
            <a:off x="900113" y="5445125"/>
            <a:ext cx="2303462" cy="557213"/>
          </a:xfrm>
          <a:prstGeom prst="rect">
            <a:avLst/>
          </a:prstGeom>
          <a:noFill/>
          <a:ln w="38100" cap="sq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>
            <a:spAutoFit/>
          </a:bodyPr>
          <a:p>
            <a:pPr eaLnBrk="0" hangingPunct="0">
              <a:buClr>
                <a:schemeClr val="tx1"/>
              </a:buClr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FF9900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 </a:t>
            </a:r>
            <a:r>
              <a:rPr lang="zh-CN" altLang="en-US" dirty="0">
                <a:solidFill>
                  <a:srgbClr val="FF9900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电路符号</a:t>
            </a:r>
            <a:endParaRPr lang="zh-CN" altLang="en-US" dirty="0">
              <a:solidFill>
                <a:srgbClr val="FF9900"/>
              </a:solidFill>
              <a:latin typeface="楷体_GB2312" pitchFamily="49" charset="-122"/>
              <a:ea typeface="楷体_GB2312" pitchFamily="49" charset="-122"/>
              <a:sym typeface="Symbol" panose="05050102010706020507" pitchFamily="18" charset="2"/>
            </a:endParaRPr>
          </a:p>
        </p:txBody>
      </p:sp>
      <p:grpSp>
        <p:nvGrpSpPr>
          <p:cNvPr id="199732" name="Group 52"/>
          <p:cNvGrpSpPr/>
          <p:nvPr/>
        </p:nvGrpSpPr>
        <p:grpSpPr>
          <a:xfrm>
            <a:off x="3708400" y="5013325"/>
            <a:ext cx="2590800" cy="981075"/>
            <a:chOff x="1751" y="3320"/>
            <a:chExt cx="1632" cy="618"/>
          </a:xfrm>
        </p:grpSpPr>
        <p:sp>
          <p:nvSpPr>
            <p:cNvPr id="50181" name="Text Box 10"/>
            <p:cNvSpPr txBox="1"/>
            <p:nvPr/>
          </p:nvSpPr>
          <p:spPr>
            <a:xfrm>
              <a:off x="2468" y="3320"/>
              <a:ext cx="253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0" hangingPunct="0">
                <a:buClrTx/>
                <a:buFontTx/>
                <a:buNone/>
              </a:pPr>
              <a:r>
                <a:rPr lang="en-US" altLang="zh-CN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R</a:t>
              </a:r>
              <a:endParaRPr lang="en-US" altLang="zh-CN" b="0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50182" name="Rectangle 24"/>
            <p:cNvSpPr/>
            <p:nvPr/>
          </p:nvSpPr>
          <p:spPr>
            <a:xfrm>
              <a:off x="2327" y="3702"/>
              <a:ext cx="480" cy="2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12700">
              <a:noFill/>
            </a:ln>
          </p:spPr>
          <p:txBody>
            <a:bodyPr wrap="none" anchor="ctr" anchorCtr="0"/>
            <a:p>
              <a:pPr>
                <a:buClrTx/>
                <a:buFontTx/>
                <a:buNone/>
              </a:pPr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50183" name="Line 25"/>
            <p:cNvSpPr/>
            <p:nvPr/>
          </p:nvSpPr>
          <p:spPr>
            <a:xfrm flipH="1" flipV="1">
              <a:off x="1751" y="3820"/>
              <a:ext cx="576" cy="0"/>
            </a:xfrm>
            <a:prstGeom prst="line">
              <a:avLst/>
            </a:prstGeom>
            <a:ln w="38100" cap="sq" cmpd="sng">
              <a:solidFill>
                <a:srgbClr val="FFCC00"/>
              </a:solidFill>
              <a:prstDash val="solid"/>
              <a:round/>
              <a:headEnd type="none" w="med" len="med"/>
              <a:tailEnd type="oval" w="med" len="med"/>
            </a:ln>
          </p:spPr>
        </p:sp>
        <p:sp>
          <p:nvSpPr>
            <p:cNvPr id="50184" name="Line 26"/>
            <p:cNvSpPr/>
            <p:nvPr/>
          </p:nvSpPr>
          <p:spPr>
            <a:xfrm>
              <a:off x="2807" y="3820"/>
              <a:ext cx="576" cy="0"/>
            </a:xfrm>
            <a:prstGeom prst="line">
              <a:avLst/>
            </a:prstGeom>
            <a:ln w="38100" cap="sq" cmpd="sng">
              <a:solidFill>
                <a:srgbClr val="FFCC00"/>
              </a:solidFill>
              <a:prstDash val="solid"/>
              <a:round/>
              <a:headEnd type="none" w="med" len="med"/>
              <a:tailEnd type="oval" w="med" len="med"/>
            </a:ln>
          </p:spPr>
        </p:sp>
      </p:grpSp>
      <p:sp>
        <p:nvSpPr>
          <p:cNvPr id="199715" name="Text Box 35"/>
          <p:cNvSpPr txBox="1"/>
          <p:nvPr/>
        </p:nvSpPr>
        <p:spPr>
          <a:xfrm>
            <a:off x="898525" y="1863725"/>
            <a:ext cx="1657350" cy="557213"/>
          </a:xfrm>
          <a:prstGeom prst="rect">
            <a:avLst/>
          </a:prstGeom>
          <a:noFill/>
          <a:ln w="38100" cap="sq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>
            <a:spAutoFit/>
          </a:bodyPr>
          <a:p>
            <a:pPr algn="ctr" eaLnBrk="0" hangingPunct="0">
              <a:spcBef>
                <a:spcPct val="50000"/>
              </a:spcBef>
              <a:buClrTx/>
              <a:buFontTx/>
              <a:buNone/>
            </a:pP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电阻元件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ea typeface="楷体_GB2312" pitchFamily="49" charset="-122"/>
              <a:sym typeface="Symbol" panose="05050102010706020507" pitchFamily="18" charset="2"/>
            </a:endParaRPr>
          </a:p>
        </p:txBody>
      </p:sp>
      <p:sp>
        <p:nvSpPr>
          <p:cNvPr id="199716" name="AutoShape 36"/>
          <p:cNvSpPr/>
          <p:nvPr/>
        </p:nvSpPr>
        <p:spPr>
          <a:xfrm>
            <a:off x="2701925" y="2132013"/>
            <a:ext cx="574675" cy="73025"/>
          </a:xfrm>
          <a:prstGeom prst="rightArrow">
            <a:avLst>
              <a:gd name="adj1" fmla="val 50000"/>
              <a:gd name="adj2" fmla="val 196702"/>
            </a:avLst>
          </a:prstGeom>
          <a:solidFill>
            <a:schemeClr val="hlink"/>
          </a:solidFill>
          <a:ln w="38100" cap="sq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>
              <a:buClrTx/>
              <a:buFontTx/>
              <a:buNone/>
            </a:pPr>
            <a:endParaRPr lang="zh-CN" altLang="en-US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199717" name="Text Box 37"/>
          <p:cNvSpPr txBox="1"/>
          <p:nvPr/>
        </p:nvSpPr>
        <p:spPr>
          <a:xfrm>
            <a:off x="3276600" y="1628775"/>
            <a:ext cx="5616575" cy="946150"/>
          </a:xfrm>
          <a:prstGeom prst="rect">
            <a:avLst/>
          </a:prstGeom>
          <a:noFill/>
          <a:ln w="38100">
            <a:noFill/>
          </a:ln>
        </p:spPr>
        <p:txBody>
          <a:bodyPr anchor="t" anchorCtr="0">
            <a:spAutoFit/>
          </a:bodyPr>
          <a:p>
            <a:pPr eaLnBrk="0" hangingPunct="0">
              <a:spcBef>
                <a:spcPct val="50000"/>
              </a:spcBef>
              <a:buClrTx/>
              <a:buFontTx/>
              <a:buNone/>
            </a:pPr>
            <a:r>
              <a:rPr lang="zh-CN" altLang="en-US" dirty="0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对电流呈现阻力的元件。其特性可用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u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～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i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平面上的一条曲线来描述：</a:t>
            </a:r>
            <a:endParaRPr lang="zh-CN" altLang="en-US" dirty="0">
              <a:latin typeface="楷体_GB2312" pitchFamily="49" charset="-122"/>
              <a:ea typeface="楷体_GB2312" pitchFamily="49" charset="-122"/>
              <a:sym typeface="Symbol" panose="05050102010706020507" pitchFamily="18" charset="2"/>
            </a:endParaRPr>
          </a:p>
        </p:txBody>
      </p:sp>
      <p:graphicFrame>
        <p:nvGraphicFramePr>
          <p:cNvPr id="199718" name="Object 38"/>
          <p:cNvGraphicFramePr>
            <a:graphicFrameLocks noChangeAspect="1"/>
          </p:cNvGraphicFramePr>
          <p:nvPr/>
        </p:nvGraphicFramePr>
        <p:xfrm>
          <a:off x="971550" y="3057525"/>
          <a:ext cx="2198688" cy="658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5" name="" r:id="rId1" imgW="676910" imgH="191135" progId="Equation.3">
                  <p:embed/>
                </p:oleObj>
              </mc:Choice>
              <mc:Fallback>
                <p:oleObj name="" r:id="rId1" imgW="676910" imgH="191135" progId="Equation.3">
                  <p:embed/>
                  <p:pic>
                    <p:nvPicPr>
                      <p:cNvPr id="0" name="图片 3124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8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971550" y="3057525"/>
                        <a:ext cx="2198688" cy="6588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99730" name="Group 50"/>
          <p:cNvGrpSpPr/>
          <p:nvPr/>
        </p:nvGrpSpPr>
        <p:grpSpPr>
          <a:xfrm>
            <a:off x="5724525" y="2492375"/>
            <a:ext cx="2879725" cy="1800225"/>
            <a:chOff x="3742" y="1434"/>
            <a:chExt cx="1814" cy="1134"/>
          </a:xfrm>
        </p:grpSpPr>
        <p:sp>
          <p:nvSpPr>
            <p:cNvPr id="50190" name="Text Box 42"/>
            <p:cNvSpPr txBox="1"/>
            <p:nvPr/>
          </p:nvSpPr>
          <p:spPr>
            <a:xfrm>
              <a:off x="5239" y="2024"/>
              <a:ext cx="317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i</a:t>
              </a:r>
              <a:endParaRPr lang="en-US" altLang="zh-CN" b="0" i="1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grpSp>
          <p:nvGrpSpPr>
            <p:cNvPr id="50191" name="Group 48"/>
            <p:cNvGrpSpPr/>
            <p:nvPr/>
          </p:nvGrpSpPr>
          <p:grpSpPr>
            <a:xfrm>
              <a:off x="3742" y="1434"/>
              <a:ext cx="1542" cy="1134"/>
              <a:chOff x="3946" y="1026"/>
              <a:chExt cx="1542" cy="1134"/>
            </a:xfrm>
          </p:grpSpPr>
          <p:sp>
            <p:nvSpPr>
              <p:cNvPr id="50192" name="Line 39"/>
              <p:cNvSpPr/>
              <p:nvPr/>
            </p:nvSpPr>
            <p:spPr>
              <a:xfrm>
                <a:off x="3946" y="1797"/>
                <a:ext cx="1542" cy="0"/>
              </a:xfrm>
              <a:prstGeom prst="line">
                <a:avLst/>
              </a:prstGeom>
              <a:ln w="28575" cap="sq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sp>
            <p:nvSpPr>
              <p:cNvPr id="50193" name="Line 40"/>
              <p:cNvSpPr/>
              <p:nvPr/>
            </p:nvSpPr>
            <p:spPr>
              <a:xfrm>
                <a:off x="4445" y="1162"/>
                <a:ext cx="23" cy="998"/>
              </a:xfrm>
              <a:prstGeom prst="line">
                <a:avLst/>
              </a:prstGeom>
              <a:ln w="28575" cap="sq" cmpd="sng">
                <a:solidFill>
                  <a:schemeClr val="tx1"/>
                </a:solidFill>
                <a:prstDash val="solid"/>
                <a:round/>
                <a:headEnd type="triangle" w="med" len="med"/>
                <a:tailEnd type="none" w="med" len="med"/>
              </a:ln>
            </p:spPr>
          </p:sp>
          <p:sp>
            <p:nvSpPr>
              <p:cNvPr id="50194" name="Text Box 41"/>
              <p:cNvSpPr txBox="1"/>
              <p:nvPr/>
            </p:nvSpPr>
            <p:spPr>
              <a:xfrm>
                <a:off x="4445" y="1026"/>
                <a:ext cx="317" cy="327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anchor="t" anchorCtr="0">
                <a:spAutoFit/>
              </a:bodyPr>
              <a:p>
                <a:pPr algn="ctr" eaLnBrk="0" hangingPunct="0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b="0" i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  <a:sym typeface="Symbol" panose="05050102010706020507" pitchFamily="18" charset="2"/>
                  </a:rPr>
                  <a:t>u</a:t>
                </a:r>
                <a:endParaRPr lang="en-US" altLang="zh-CN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endParaRPr>
              </a:p>
            </p:txBody>
          </p:sp>
          <p:sp>
            <p:nvSpPr>
              <p:cNvPr id="50195" name="Freeform 44"/>
              <p:cNvSpPr/>
              <p:nvPr/>
            </p:nvSpPr>
            <p:spPr>
              <a:xfrm>
                <a:off x="3991" y="1207"/>
                <a:ext cx="1043" cy="726"/>
              </a:xfrm>
              <a:custGeom>
                <a:avLst/>
                <a:gdLst/>
                <a:ahLst/>
                <a:cxnLst>
                  <a:cxn ang="0">
                    <a:pos x="0" y="726"/>
                  </a:cxn>
                  <a:cxn ang="0">
                    <a:pos x="454" y="590"/>
                  </a:cxn>
                  <a:cxn ang="0">
                    <a:pos x="1043" y="0"/>
                  </a:cxn>
                </a:cxnLst>
                <a:pathLst>
                  <a:path w="1043" h="726">
                    <a:moveTo>
                      <a:pt x="0" y="726"/>
                    </a:moveTo>
                    <a:cubicBezTo>
                      <a:pt x="140" y="718"/>
                      <a:pt x="280" y="711"/>
                      <a:pt x="454" y="590"/>
                    </a:cubicBezTo>
                    <a:cubicBezTo>
                      <a:pt x="628" y="469"/>
                      <a:pt x="945" y="98"/>
                      <a:pt x="1043" y="0"/>
                    </a:cubicBezTo>
                  </a:path>
                </a:pathLst>
              </a:custGeom>
              <a:noFill/>
              <a:ln w="28575" cap="sq" cmpd="sng">
                <a:solidFill>
                  <a:srgbClr val="FF33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</p:grpSp>
      <p:sp>
        <p:nvSpPr>
          <p:cNvPr id="199726" name="Rectangle 46"/>
          <p:cNvSpPr/>
          <p:nvPr/>
        </p:nvSpPr>
        <p:spPr>
          <a:xfrm>
            <a:off x="1254125" y="4638675"/>
            <a:ext cx="6940550" cy="519113"/>
          </a:xfrm>
          <a:prstGeom prst="rect">
            <a:avLst/>
          </a:prstGeom>
          <a:noFill/>
          <a:ln w="38100">
            <a:noFill/>
          </a:ln>
        </p:spPr>
        <p:txBody>
          <a:bodyPr wrap="none" anchor="t" anchorCtr="0">
            <a:spAutoFit/>
          </a:bodyPr>
          <a:p>
            <a:pPr algn="ctr" eaLnBrk="0" hangingPunct="0">
              <a:buClrTx/>
              <a:buFontTx/>
              <a:buNone/>
            </a:pPr>
            <a:r>
              <a:rPr lang="zh-CN" altLang="en-US" dirty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任何时刻端电压与电流成正比的电阻元件。</a:t>
            </a:r>
            <a:endParaRPr lang="zh-CN" altLang="en-US" dirty="0">
              <a:latin typeface="Times New Roman" panose="02020603050405020304" pitchFamily="18" charset="0"/>
              <a:ea typeface="楷体_GB2312" pitchFamily="49" charset="-122"/>
              <a:sym typeface="Symbol" panose="05050102010706020507" pitchFamily="18" charset="2"/>
            </a:endParaRPr>
          </a:p>
        </p:txBody>
      </p:sp>
      <p:sp>
        <p:nvSpPr>
          <p:cNvPr id="199729" name="Text Box 49"/>
          <p:cNvSpPr txBox="1"/>
          <p:nvPr/>
        </p:nvSpPr>
        <p:spPr>
          <a:xfrm>
            <a:off x="468313" y="1196975"/>
            <a:ext cx="1655762" cy="579438"/>
          </a:xfrm>
          <a:prstGeom prst="rect">
            <a:avLst/>
          </a:prstGeom>
          <a:noFill/>
          <a:ln w="38100">
            <a:noFill/>
          </a:ln>
          <a:effectLst>
            <a:outerShdw dist="107763" dir="18900000" algn="ctr" rotWithShape="0">
              <a:schemeClr val="bg2">
                <a:alpha val="50000"/>
              </a:schemeClr>
            </a:outerShdw>
          </a:effectLst>
        </p:spPr>
        <p:txBody>
          <a:bodyPr anchor="t" anchorCtr="0">
            <a:spAutoFit/>
          </a:bodyPr>
          <a:p>
            <a:pPr algn="ctr" eaLnBrk="0" hangingPunct="0">
              <a:spcBef>
                <a:spcPct val="50000"/>
              </a:spcBef>
              <a:buClrTx/>
              <a:buFontTx/>
              <a:buNone/>
            </a:pPr>
            <a:r>
              <a:rPr lang="en-US" altLang="zh-CN" sz="32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1.</a:t>
            </a:r>
            <a:r>
              <a:rPr lang="zh-CN" altLang="en-US" sz="32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定义</a:t>
            </a:r>
            <a:endParaRPr lang="zh-CN" altLang="en-US" sz="3200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  <a:sym typeface="Symbol" panose="05050102010706020507" pitchFamily="18" charset="2"/>
            </a:endParaRPr>
          </a:p>
        </p:txBody>
      </p:sp>
      <p:sp>
        <p:nvSpPr>
          <p:cNvPr id="199733" name="AutoShape 53" descr="羊皮纸"/>
          <p:cNvSpPr/>
          <p:nvPr/>
        </p:nvSpPr>
        <p:spPr>
          <a:xfrm>
            <a:off x="3419475" y="2781300"/>
            <a:ext cx="2016125" cy="1008063"/>
          </a:xfrm>
          <a:prstGeom prst="leftRightArrowCallout">
            <a:avLst>
              <a:gd name="adj1" fmla="val 25000"/>
              <a:gd name="adj2" fmla="val 25000"/>
              <a:gd name="adj3" fmla="val 24990"/>
              <a:gd name="adj4" fmla="val 50000"/>
            </a:avLst>
          </a:prstGeom>
          <a:blipFill rotWithShape="1">
            <a:blip r:embed="rId3"/>
          </a:blipFill>
          <a:ln w="9525">
            <a:noFill/>
          </a:ln>
        </p:spPr>
        <p:txBody>
          <a:bodyPr wrap="none" anchor="ctr" anchorCtr="0"/>
          <a:p>
            <a:pPr algn="ctr" eaLnBrk="0" hangingPunct="0">
              <a:buClrTx/>
              <a:buFontTx/>
              <a:buNone/>
            </a:pP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伏安</a:t>
            </a:r>
            <a:endParaRPr lang="zh-CN" altLang="en-US" dirty="0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  <a:sym typeface="Symbol" panose="05050102010706020507" pitchFamily="18" charset="2"/>
            </a:endParaRPr>
          </a:p>
          <a:p>
            <a:pPr algn="ctr" eaLnBrk="0" hangingPunct="0">
              <a:buClrTx/>
              <a:buFontTx/>
              <a:buNone/>
            </a:pP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特性</a:t>
            </a:r>
            <a:endParaRPr lang="zh-CN" altLang="en-US" dirty="0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  <a:sym typeface="Symbol" panose="05050102010706020507" pitchFamily="18" charset="2"/>
            </a:endParaRPr>
          </a:p>
        </p:txBody>
      </p:sp>
      <p:grpSp>
        <p:nvGrpSpPr>
          <p:cNvPr id="50199" name="Group 55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50200" name="Picture 56" descr="7890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0201" name="Text Box 57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50202" name="Group 58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50203" name="Picture 59" descr="7890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0204" name="Text Box 60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sp>
        <p:nvSpPr>
          <p:cNvPr id="199744" name="Text Box 64" descr="斜纹布"/>
          <p:cNvSpPr txBox="1"/>
          <p:nvPr/>
        </p:nvSpPr>
        <p:spPr>
          <a:xfrm>
            <a:off x="6516688" y="3644900"/>
            <a:ext cx="576262" cy="519113"/>
          </a:xfrm>
          <a:prstGeom prst="rect">
            <a:avLst/>
          </a:prstGeom>
          <a:noFill/>
          <a:ln w="28575">
            <a:noFill/>
          </a:ln>
          <a:effectLst>
            <a:prstShdw prst="shdw17" dist="17961" dir="2699999">
              <a:schemeClr val="bg2"/>
            </a:prstShdw>
          </a:effectLst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ClrTx/>
              <a:buFontTx/>
              <a:buNone/>
            </a:pPr>
            <a:r>
              <a: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endParaRPr lang="en-US" altLang="zh-CN" b="0" dirty="0">
              <a:solidFill>
                <a:schemeClr val="tx1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pSp>
        <p:nvGrpSpPr>
          <p:cNvPr id="50206" name="Group 71"/>
          <p:cNvGrpSpPr/>
          <p:nvPr/>
        </p:nvGrpSpPr>
        <p:grpSpPr>
          <a:xfrm>
            <a:off x="6588125" y="6445250"/>
            <a:ext cx="792163" cy="366713"/>
            <a:chOff x="5193" y="4020"/>
            <a:chExt cx="499" cy="231"/>
          </a:xfrm>
        </p:grpSpPr>
        <p:pic>
          <p:nvPicPr>
            <p:cNvPr id="50207" name="Picture 72" descr="78900">
              <a:hlinkClick r:id="" action="ppaction://hlinkshowjump?jump=firstslide"/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0208" name="Text Box 73">
              <a:hlinkClick r:id="" action="ppaction://hlinkshowjump?jump=firs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96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96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997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997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99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3" dur="500"/>
                                        <p:tgtEl>
                                          <p:spTgt spid="199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90" fill="hold"/>
                                        <p:tgtEl>
                                          <p:spTgt spid="1997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90" fill="hold"/>
                                        <p:tgtEl>
                                          <p:spTgt spid="1997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90"/>
                                        <p:tgtEl>
                                          <p:spTgt spid="199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199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39" dur="2000"/>
                                        <p:tgtEl>
                                          <p:spTgt spid="199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000"/>
                            </p:stCondLst>
                            <p:childTnLst>
                              <p:par>
                                <p:cTn id="41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199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500"/>
                            </p:stCondLst>
                            <p:childTnLst>
                              <p:par>
                                <p:cTn id="4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99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996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996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90" fill="hold"/>
                                        <p:tgtEl>
                                          <p:spTgt spid="1997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90" fill="hold"/>
                                        <p:tgtEl>
                                          <p:spTgt spid="1997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90"/>
                                        <p:tgtEl>
                                          <p:spTgt spid="199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996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996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500"/>
                                        <p:tgtEl>
                                          <p:spTgt spid="199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9685" grpId="0"/>
      <p:bldP spid="199686" grpId="0"/>
      <p:bldP spid="199687" grpId="0" animBg="1"/>
      <p:bldP spid="199715" grpId="0" animBg="1"/>
      <p:bldP spid="199716" grpId="0" animBg="1"/>
      <p:bldP spid="199717" grpId="0"/>
      <p:bldP spid="199726" grpId="0"/>
      <p:bldP spid="199729" grpId="0"/>
      <p:bldP spid="199733" grpId="0" animBg="1"/>
      <p:bldP spid="199744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3805" name="Text Box 29"/>
          <p:cNvSpPr txBox="1"/>
          <p:nvPr/>
        </p:nvSpPr>
        <p:spPr>
          <a:xfrm>
            <a:off x="468313" y="625475"/>
            <a:ext cx="2411412" cy="547688"/>
          </a:xfrm>
          <a:prstGeom prst="rect">
            <a:avLst/>
          </a:prstGeom>
          <a:noFill/>
          <a:ln w="28575" cap="sq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>
            <a:spAutoFit/>
          </a:bodyPr>
          <a:p>
            <a:pPr algn="ctr" eaLnBrk="0" hangingPunct="0">
              <a:buClr>
                <a:schemeClr val="tx1"/>
              </a:buClr>
              <a:buFont typeface="Wingdings" panose="05000000000000000000" pitchFamily="2" charset="2"/>
              <a:buChar char="l"/>
            </a:pPr>
            <a:r>
              <a:rPr lang="en-US" altLang="zh-CN" b="0" dirty="0">
                <a:solidFill>
                  <a:srgbClr val="FF99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r>
              <a:rPr lang="en-US" altLang="zh-CN" i="1" dirty="0">
                <a:solidFill>
                  <a:srgbClr val="FF9900"/>
                </a:solidFill>
                <a:latin typeface="Times New Roman" panose="02020603050405020304" pitchFamily="18" charset="0"/>
                <a:ea typeface="仿宋_GB2312" pitchFamily="49" charset="-122"/>
              </a:rPr>
              <a:t>u</a:t>
            </a:r>
            <a:r>
              <a:rPr lang="zh-CN" altLang="en-US" i="1" dirty="0">
                <a:solidFill>
                  <a:srgbClr val="FF9900"/>
                </a:solidFill>
                <a:latin typeface="Times New Roman" panose="02020603050405020304" pitchFamily="18" charset="0"/>
                <a:ea typeface="仿宋_GB2312" pitchFamily="49" charset="-122"/>
              </a:rPr>
              <a:t>～</a:t>
            </a:r>
            <a:r>
              <a:rPr lang="en-US" altLang="zh-CN" i="1" dirty="0">
                <a:solidFill>
                  <a:srgbClr val="FF9900"/>
                </a:solidFill>
                <a:latin typeface="Times New Roman" panose="02020603050405020304" pitchFamily="18" charset="0"/>
                <a:ea typeface="仿宋_GB2312" pitchFamily="49" charset="-122"/>
              </a:rPr>
              <a:t>i</a:t>
            </a:r>
            <a:r>
              <a:rPr lang="en-US" altLang="zh-CN" dirty="0">
                <a:solidFill>
                  <a:srgbClr val="FF9900"/>
                </a:solidFill>
                <a:latin typeface="Times New Roman" panose="02020603050405020304" pitchFamily="18" charset="0"/>
                <a:ea typeface="仿宋_GB2312" pitchFamily="49" charset="-122"/>
              </a:rPr>
              <a:t> </a:t>
            </a:r>
            <a:r>
              <a:rPr lang="zh-CN" altLang="en-US" dirty="0">
                <a:solidFill>
                  <a:srgbClr val="FF9900"/>
                </a:solidFill>
                <a:latin typeface="Times New Roman" panose="02020603050405020304" pitchFamily="18" charset="0"/>
                <a:ea typeface="楷体_GB2312" pitchFamily="49" charset="-122"/>
              </a:rPr>
              <a:t>关系</a:t>
            </a:r>
            <a:endParaRPr lang="zh-CN" altLang="en-US" dirty="0">
              <a:solidFill>
                <a:srgbClr val="FF99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03809" name="Text Box 33"/>
          <p:cNvSpPr txBox="1"/>
          <p:nvPr/>
        </p:nvSpPr>
        <p:spPr>
          <a:xfrm>
            <a:off x="2916238" y="4868863"/>
            <a:ext cx="5184775" cy="519112"/>
          </a:xfrm>
          <a:prstGeom prst="rect">
            <a:avLst/>
          </a:prstGeom>
          <a:noFill/>
          <a:ln w="28575">
            <a:noFill/>
          </a:ln>
        </p:spPr>
        <p:txBody>
          <a:bodyPr anchor="ctr" anchorCtr="0">
            <a:spAutoFit/>
          </a:bodyPr>
          <a:p>
            <a:pPr eaLnBrk="0" hangingPunct="0">
              <a:buClrTx/>
              <a:buFontTx/>
              <a:buNone/>
            </a:pPr>
            <a:r>
              <a:rPr lang="en-US" altLang="zh-CN" b="0" i="1" dirty="0">
                <a:latin typeface="Times New Roman" panose="02020603050405020304" pitchFamily="18" charset="0"/>
                <a:ea typeface="仿宋_GB2312" pitchFamily="49" charset="-122"/>
              </a:rPr>
              <a:t>R</a:t>
            </a:r>
            <a:r>
              <a:rPr lang="en-US" altLang="zh-CN" i="1" dirty="0">
                <a:latin typeface="Times New Roman" panose="02020603050405020304" pitchFamily="18" charset="0"/>
                <a:ea typeface="仿宋_GB2312" pitchFamily="49" charset="-122"/>
              </a:rPr>
              <a:t> </a:t>
            </a:r>
            <a:r>
              <a:rPr lang="zh-CN" altLang="en-US" dirty="0">
                <a:latin typeface="Times New Roman" panose="02020603050405020304" pitchFamily="18" charset="0"/>
                <a:ea typeface="楷体_GB2312" pitchFamily="49" charset="-122"/>
              </a:rPr>
              <a:t>称为电阻，单位：</a:t>
            </a:r>
            <a:r>
              <a:rPr lang="zh-CN" altLang="en-US" b="0" dirty="0"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</a:t>
            </a:r>
            <a:r>
              <a:rPr lang="zh-CN" altLang="en-US" dirty="0">
                <a:latin typeface="Times New Roman" panose="02020603050405020304" pitchFamily="18" charset="0"/>
                <a:ea typeface="仿宋_GB2312" pitchFamily="49" charset="-122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ea typeface="仿宋_GB2312" pitchFamily="49" charset="-122"/>
              </a:rPr>
              <a:t>(</a:t>
            </a:r>
            <a:r>
              <a:rPr lang="en-US" altLang="zh-CN" b="0" dirty="0">
                <a:latin typeface="Times New Roman" panose="02020603050405020304" pitchFamily="18" charset="0"/>
                <a:ea typeface="仿宋_GB2312" pitchFamily="49" charset="-122"/>
              </a:rPr>
              <a:t>Ohm</a:t>
            </a:r>
            <a:r>
              <a:rPr lang="en-US" altLang="zh-CN" dirty="0">
                <a:latin typeface="Times New Roman" panose="02020603050405020304" pitchFamily="18" charset="0"/>
                <a:ea typeface="仿宋_GB2312" pitchFamily="49" charset="-122"/>
              </a:rPr>
              <a:t>)</a:t>
            </a:r>
            <a:endParaRPr lang="en-US" altLang="zh-CN" dirty="0">
              <a:latin typeface="Times New Roman" panose="02020603050405020304" pitchFamily="18" charset="0"/>
              <a:ea typeface="仿宋_GB2312" pitchFamily="49" charset="-122"/>
            </a:endParaRPr>
          </a:p>
        </p:txBody>
      </p:sp>
      <p:sp>
        <p:nvSpPr>
          <p:cNvPr id="203811" name="AutoShape 35"/>
          <p:cNvSpPr/>
          <p:nvPr/>
        </p:nvSpPr>
        <p:spPr>
          <a:xfrm>
            <a:off x="3059113" y="836613"/>
            <a:ext cx="792162" cy="144462"/>
          </a:xfrm>
          <a:prstGeom prst="rightArrow">
            <a:avLst>
              <a:gd name="adj1" fmla="val 50000"/>
              <a:gd name="adj2" fmla="val 137062"/>
            </a:avLst>
          </a:prstGeom>
          <a:solidFill>
            <a:schemeClr val="hlink"/>
          </a:solidFill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>
              <a:buClrTx/>
              <a:buFontTx/>
              <a:buNone/>
            </a:pPr>
            <a:endParaRPr lang="zh-CN" altLang="en-US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203812" name="Rectangle 36"/>
          <p:cNvSpPr/>
          <p:nvPr/>
        </p:nvSpPr>
        <p:spPr>
          <a:xfrm>
            <a:off x="3851275" y="620713"/>
            <a:ext cx="3024188" cy="519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>
              <a:buClr>
                <a:srgbClr val="FFFF00"/>
              </a:buClr>
              <a:buFont typeface="Wingdings" panose="05000000000000000000" pitchFamily="2" charset="2"/>
              <a:buNone/>
            </a:pPr>
            <a:r>
              <a:rPr lang="zh-CN" altLang="en-US" dirty="0">
                <a:latin typeface="Times New Roman" panose="02020603050405020304" pitchFamily="18" charset="0"/>
                <a:ea typeface="楷体_GB2312" pitchFamily="49" charset="-122"/>
              </a:rPr>
              <a:t>满足欧姆定律</a:t>
            </a:r>
            <a:endParaRPr lang="zh-CN" altLang="en-US" dirty="0">
              <a:latin typeface="Times New Roman" panose="02020603050405020304" pitchFamily="18" charset="0"/>
              <a:ea typeface="仿宋_GB2312" pitchFamily="49" charset="-122"/>
            </a:endParaRPr>
          </a:p>
        </p:txBody>
      </p:sp>
      <p:graphicFrame>
        <p:nvGraphicFramePr>
          <p:cNvPr id="203814" name="Object 38"/>
          <p:cNvGraphicFramePr>
            <a:graphicFrameLocks noChangeAspect="1"/>
          </p:cNvGraphicFramePr>
          <p:nvPr/>
        </p:nvGraphicFramePr>
        <p:xfrm>
          <a:off x="971550" y="2133600"/>
          <a:ext cx="2447925" cy="627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7" name="" r:id="rId1" imgW="839470" imgH="202565" progId="Equation.3">
                  <p:embed/>
                </p:oleObj>
              </mc:Choice>
              <mc:Fallback>
                <p:oleObj name="" r:id="rId1" imgW="839470" imgH="202565" progId="Equation.3">
                  <p:embed/>
                  <p:pic>
                    <p:nvPicPr>
                      <p:cNvPr id="0" name="图片 3126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8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971550" y="2133600"/>
                        <a:ext cx="2447925" cy="6270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3815" name="Object 39"/>
          <p:cNvGraphicFramePr>
            <a:graphicFrameLocks noChangeAspect="1"/>
          </p:cNvGraphicFramePr>
          <p:nvPr/>
        </p:nvGraphicFramePr>
        <p:xfrm>
          <a:off x="2843213" y="1484313"/>
          <a:ext cx="1368425" cy="604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6" name="" r:id="rId3" imgW="480060" imgH="202565" progId="Equation.3">
                  <p:embed/>
                </p:oleObj>
              </mc:Choice>
              <mc:Fallback>
                <p:oleObj name="" r:id="rId3" imgW="480060" imgH="202565" progId="Equation.3">
                  <p:embed/>
                  <p:pic>
                    <p:nvPicPr>
                      <p:cNvPr id="0" name="图片 3125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8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843213" y="1484313"/>
                        <a:ext cx="1368425" cy="6048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3825" name="Text Box 49"/>
          <p:cNvSpPr txBox="1"/>
          <p:nvPr/>
        </p:nvSpPr>
        <p:spPr>
          <a:xfrm>
            <a:off x="468313" y="4797425"/>
            <a:ext cx="1439862" cy="547688"/>
          </a:xfrm>
          <a:prstGeom prst="rect">
            <a:avLst/>
          </a:prstGeom>
          <a:noFill/>
          <a:ln w="2857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>
            <a:spAutoFit/>
          </a:bodyPr>
          <a:p>
            <a:pPr eaLnBrk="0" hangingPunct="0">
              <a:spcBef>
                <a:spcPct val="50000"/>
              </a:spcBef>
              <a:buClr>
                <a:schemeClr val="tx1"/>
              </a:buClr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FF9900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 </a:t>
            </a:r>
            <a:r>
              <a:rPr lang="zh-CN" altLang="en-US" dirty="0">
                <a:solidFill>
                  <a:srgbClr val="FF9900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单位</a:t>
            </a:r>
            <a:endParaRPr lang="zh-CN" altLang="en-US" dirty="0">
              <a:solidFill>
                <a:srgbClr val="FF9900"/>
              </a:solidFill>
              <a:latin typeface="楷体_GB2312" pitchFamily="49" charset="-122"/>
              <a:ea typeface="楷体_GB2312" pitchFamily="49" charset="-122"/>
              <a:sym typeface="Symbol" panose="05050102010706020507" pitchFamily="18" charset="2"/>
            </a:endParaRPr>
          </a:p>
        </p:txBody>
      </p:sp>
      <p:sp>
        <p:nvSpPr>
          <p:cNvPr id="203826" name="AutoShape 50"/>
          <p:cNvSpPr/>
          <p:nvPr/>
        </p:nvSpPr>
        <p:spPr>
          <a:xfrm>
            <a:off x="2124075" y="5013325"/>
            <a:ext cx="719138" cy="144463"/>
          </a:xfrm>
          <a:prstGeom prst="rightArrow">
            <a:avLst>
              <a:gd name="adj1" fmla="val 50000"/>
              <a:gd name="adj2" fmla="val 124427"/>
            </a:avLst>
          </a:prstGeom>
          <a:solidFill>
            <a:schemeClr val="hlink"/>
          </a:solidFill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>
              <a:buClrTx/>
              <a:buFontTx/>
              <a:buNone/>
            </a:pPr>
            <a:endParaRPr lang="zh-CN" altLang="en-US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203827" name="Rectangle 51"/>
          <p:cNvSpPr/>
          <p:nvPr/>
        </p:nvSpPr>
        <p:spPr>
          <a:xfrm>
            <a:off x="2916238" y="5516563"/>
            <a:ext cx="5761037" cy="519112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 eaLnBrk="0" hangingPunct="0">
              <a:buClrTx/>
              <a:buFontTx/>
              <a:buNone/>
            </a:pPr>
            <a:r>
              <a:rPr lang="en-US" altLang="zh-CN" b="0" i="1" dirty="0">
                <a:latin typeface="Times New Roman" panose="02020603050405020304" pitchFamily="18" charset="0"/>
                <a:ea typeface="仿宋_GB2312" pitchFamily="49" charset="-122"/>
              </a:rPr>
              <a:t>G</a:t>
            </a:r>
            <a:r>
              <a:rPr lang="en-US" altLang="zh-CN" i="1" dirty="0">
                <a:latin typeface="Times New Roman" panose="02020603050405020304" pitchFamily="18" charset="0"/>
                <a:ea typeface="仿宋_GB2312" pitchFamily="49" charset="-122"/>
              </a:rPr>
              <a:t> </a:t>
            </a:r>
            <a:r>
              <a:rPr lang="zh-CN" altLang="en-US" dirty="0">
                <a:latin typeface="Times New Roman" panose="02020603050405020304" pitchFamily="18" charset="0"/>
                <a:ea typeface="楷体_GB2312" pitchFamily="49" charset="-122"/>
              </a:rPr>
              <a:t>称为电导，单位</a:t>
            </a:r>
            <a:r>
              <a:rPr lang="zh-CN" altLang="en-US" dirty="0">
                <a:latin typeface="Times New Roman" panose="02020603050405020304" pitchFamily="18" charset="0"/>
                <a:ea typeface="仿宋_GB2312" pitchFamily="49" charset="-122"/>
              </a:rPr>
              <a:t>：</a:t>
            </a:r>
            <a:r>
              <a:rPr lang="en-US" altLang="zh-CN" b="0" dirty="0">
                <a:latin typeface="Times New Roman" panose="02020603050405020304" pitchFamily="18" charset="0"/>
                <a:ea typeface="仿宋_GB2312" pitchFamily="49" charset="-122"/>
              </a:rPr>
              <a:t>S </a:t>
            </a:r>
            <a:r>
              <a:rPr lang="en-US" altLang="zh-CN" dirty="0">
                <a:latin typeface="Times New Roman" panose="02020603050405020304" pitchFamily="18" charset="0"/>
                <a:ea typeface="仿宋_GB2312" pitchFamily="49" charset="-122"/>
              </a:rPr>
              <a:t>(</a:t>
            </a:r>
            <a:r>
              <a:rPr lang="en-US" altLang="zh-CN" b="0" dirty="0">
                <a:latin typeface="Times New Roman" panose="02020603050405020304" pitchFamily="18" charset="0"/>
                <a:ea typeface="仿宋_GB2312" pitchFamily="49" charset="-122"/>
              </a:rPr>
              <a:t>Siemens</a:t>
            </a:r>
            <a:r>
              <a:rPr lang="en-US" altLang="zh-CN" dirty="0">
                <a:latin typeface="Times New Roman" panose="02020603050405020304" pitchFamily="18" charset="0"/>
                <a:ea typeface="仿宋_GB2312" pitchFamily="49" charset="-122"/>
              </a:rPr>
              <a:t>) </a:t>
            </a:r>
            <a:endParaRPr lang="en-US" altLang="zh-CN" dirty="0">
              <a:latin typeface="Times New Roman" panose="02020603050405020304" pitchFamily="18" charset="0"/>
              <a:ea typeface="仿宋_GB2312" pitchFamily="49" charset="-122"/>
            </a:endParaRPr>
          </a:p>
        </p:txBody>
      </p:sp>
      <p:sp>
        <p:nvSpPr>
          <p:cNvPr id="30731" name="AutoShape 53" descr="羊皮纸"/>
          <p:cNvSpPr/>
          <p:nvPr/>
        </p:nvSpPr>
        <p:spPr>
          <a:xfrm rot="10800000">
            <a:off x="539750" y="3141663"/>
            <a:ext cx="2159000" cy="828675"/>
          </a:xfrm>
          <a:prstGeom prst="wedgeRectCallout">
            <a:avLst>
              <a:gd name="adj1" fmla="val -35296"/>
              <a:gd name="adj2" fmla="val 114366"/>
            </a:avLst>
          </a:prstGeom>
          <a:blipFill rotWithShape="1">
            <a:blip r:embed="rId5"/>
          </a:blipFill>
          <a:ln w="9525">
            <a:noFill/>
          </a:ln>
        </p:spPr>
        <p:txBody>
          <a:bodyPr rot="10800000" anchor="ctr" anchorCtr="0"/>
          <a:p>
            <a:pPr algn="ctr" eaLnBrk="0" hangingPunct="0">
              <a:buClrTx/>
              <a:buFontTx/>
              <a:buNone/>
            </a:pPr>
            <a:r>
              <a:rPr lang="en-US" altLang="zh-CN" i="1" dirty="0">
                <a:solidFill>
                  <a:srgbClr val="000000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u</a:t>
            </a:r>
            <a:r>
              <a:rPr lang="zh-CN" altLang="en-US" i="1" dirty="0">
                <a:solidFill>
                  <a:srgbClr val="000000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、</a:t>
            </a:r>
            <a:r>
              <a:rPr lang="en-US" altLang="zh-CN" i="1" dirty="0">
                <a:solidFill>
                  <a:srgbClr val="000000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i 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取关联参考方向</a:t>
            </a:r>
            <a:endParaRPr lang="zh-CN" altLang="en-US" dirty="0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  <a:sym typeface="Symbol" panose="05050102010706020507" pitchFamily="18" charset="2"/>
            </a:endParaRPr>
          </a:p>
        </p:txBody>
      </p:sp>
      <p:graphicFrame>
        <p:nvGraphicFramePr>
          <p:cNvPr id="203843" name="Object 67"/>
          <p:cNvGraphicFramePr>
            <a:graphicFrameLocks noChangeAspect="1"/>
          </p:cNvGraphicFramePr>
          <p:nvPr/>
        </p:nvGraphicFramePr>
        <p:xfrm>
          <a:off x="971550" y="1484313"/>
          <a:ext cx="1296988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9" name="" r:id="rId6" imgW="422275" imgH="156210" progId="Equation.3">
                  <p:embed/>
                </p:oleObj>
              </mc:Choice>
              <mc:Fallback>
                <p:oleObj name="" r:id="rId6" imgW="422275" imgH="156210" progId="Equation.3">
                  <p:embed/>
                  <p:pic>
                    <p:nvPicPr>
                      <p:cNvPr id="0" name="图片 3128"/>
                      <p:cNvPicPr/>
                      <p:nvPr/>
                    </p:nvPicPr>
                    <p:blipFill>
                      <a:blip r:embed="rId7">
                        <a:clrChange>
                          <a:clrFrom>
                            <a:srgbClr val="000000"/>
                          </a:clrFrom>
                          <a:clrTo>
                            <a:srgbClr val="00008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971550" y="1484313"/>
                        <a:ext cx="1296988" cy="5111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1212" name="Group 69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51213" name="Picture 70" descr="78900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1214" name="Text Box 71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51215" name="Group 72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51216" name="Picture 73" descr="78900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1217" name="Text Box 74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sp>
        <p:nvSpPr>
          <p:cNvPr id="203854" name="AutoShape 78" descr="羊皮纸"/>
          <p:cNvSpPr/>
          <p:nvPr/>
        </p:nvSpPr>
        <p:spPr>
          <a:xfrm>
            <a:off x="7596188" y="1447800"/>
            <a:ext cx="1223962" cy="2087563"/>
          </a:xfrm>
          <a:prstGeom prst="wedgeRoundRectCallout">
            <a:avLst>
              <a:gd name="adj1" fmla="val -122116"/>
              <a:gd name="adj2" fmla="val -18898"/>
              <a:gd name="adj3" fmla="val 16667"/>
            </a:avLst>
          </a:prstGeom>
          <a:blipFill rotWithShape="0">
            <a:blip r:embed="rId5"/>
          </a:blipFill>
          <a:ln w="28575">
            <a:noFill/>
          </a:ln>
          <a:effectLst>
            <a:prstShdw prst="shdw17" dist="17961" dir="2699999">
              <a:schemeClr val="bg2"/>
            </a:prstShdw>
          </a:effectLst>
        </p:spPr>
        <p:txBody>
          <a:bodyPr anchor="ctr" anchorCtr="0"/>
          <a:p>
            <a:pPr eaLnBrk="0" hangingPunct="0">
              <a:buClrTx/>
              <a:buFontTx/>
              <a:buNone/>
            </a:pPr>
            <a:r>
              <a:rPr lang="zh-CN" altLang="en-US" sz="2400" dirty="0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rPr>
              <a:t>伏安特性为一条过原点的直线</a:t>
            </a:r>
            <a:endParaRPr lang="zh-CN" altLang="en-US" sz="2400" dirty="0">
              <a:solidFill>
                <a:srgbClr val="000000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grpSp>
        <p:nvGrpSpPr>
          <p:cNvPr id="203856" name="Group 80"/>
          <p:cNvGrpSpPr/>
          <p:nvPr/>
        </p:nvGrpSpPr>
        <p:grpSpPr>
          <a:xfrm>
            <a:off x="4716463" y="1231900"/>
            <a:ext cx="2882900" cy="2449513"/>
            <a:chOff x="2971" y="663"/>
            <a:chExt cx="1816" cy="1543"/>
          </a:xfrm>
        </p:grpSpPr>
        <p:grpSp>
          <p:nvGrpSpPr>
            <p:cNvPr id="51220" name="Group 46"/>
            <p:cNvGrpSpPr/>
            <p:nvPr/>
          </p:nvGrpSpPr>
          <p:grpSpPr>
            <a:xfrm>
              <a:off x="2971" y="663"/>
              <a:ext cx="1816" cy="1543"/>
              <a:chOff x="3560" y="618"/>
              <a:chExt cx="1816" cy="1543"/>
            </a:xfrm>
          </p:grpSpPr>
          <p:sp>
            <p:nvSpPr>
              <p:cNvPr id="51221" name="Line 40"/>
              <p:cNvSpPr/>
              <p:nvPr/>
            </p:nvSpPr>
            <p:spPr>
              <a:xfrm>
                <a:off x="3560" y="1435"/>
                <a:ext cx="1542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sp>
            <p:nvSpPr>
              <p:cNvPr id="51222" name="Line 41"/>
              <p:cNvSpPr/>
              <p:nvPr/>
            </p:nvSpPr>
            <p:spPr>
              <a:xfrm>
                <a:off x="4241" y="754"/>
                <a:ext cx="0" cy="1407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triangle" w="med" len="med"/>
                <a:tailEnd type="none" w="med" len="med"/>
              </a:ln>
            </p:spPr>
          </p:sp>
          <p:sp>
            <p:nvSpPr>
              <p:cNvPr id="51223" name="Line 42"/>
              <p:cNvSpPr/>
              <p:nvPr/>
            </p:nvSpPr>
            <p:spPr>
              <a:xfrm flipV="1">
                <a:off x="3787" y="800"/>
                <a:ext cx="1089" cy="1088"/>
              </a:xfrm>
              <a:prstGeom prst="line">
                <a:avLst/>
              </a:prstGeom>
              <a:ln w="3810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51224" name="Text Box 43"/>
              <p:cNvSpPr txBox="1"/>
              <p:nvPr/>
            </p:nvSpPr>
            <p:spPr>
              <a:xfrm>
                <a:off x="4286" y="618"/>
                <a:ext cx="273" cy="327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anchor="t" anchorCtr="0">
                <a:spAutoFit/>
              </a:bodyPr>
              <a:p>
                <a:pPr algn="ctr" eaLnBrk="0" hangingPunct="0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b="0" i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  <a:sym typeface="Symbol" panose="05050102010706020507" pitchFamily="18" charset="2"/>
                  </a:rPr>
                  <a:t>u</a:t>
                </a:r>
                <a:endParaRPr lang="en-US" altLang="zh-CN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endParaRPr>
              </a:p>
            </p:txBody>
          </p:sp>
          <p:sp>
            <p:nvSpPr>
              <p:cNvPr id="51225" name="Text Box 44"/>
              <p:cNvSpPr txBox="1"/>
              <p:nvPr/>
            </p:nvSpPr>
            <p:spPr>
              <a:xfrm>
                <a:off x="5103" y="1298"/>
                <a:ext cx="273" cy="327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anchor="t" anchorCtr="0">
                <a:spAutoFit/>
              </a:bodyPr>
              <a:p>
                <a:pPr algn="ctr" eaLnBrk="0" hangingPunct="0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b="0" i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  <a:sym typeface="Symbol" panose="05050102010706020507" pitchFamily="18" charset="2"/>
                  </a:rPr>
                  <a:t>i</a:t>
                </a:r>
                <a:endParaRPr lang="en-US" altLang="zh-CN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endParaRPr>
              </a:p>
            </p:txBody>
          </p:sp>
        </p:grpSp>
        <p:sp>
          <p:nvSpPr>
            <p:cNvPr id="51226" name="Text Box 79" descr="斜纹布"/>
            <p:cNvSpPr txBox="1"/>
            <p:nvPr/>
          </p:nvSpPr>
          <p:spPr>
            <a:xfrm>
              <a:off x="3651" y="1434"/>
              <a:ext cx="363" cy="327"/>
            </a:xfrm>
            <a:prstGeom prst="rect">
              <a:avLst/>
            </a:prstGeom>
            <a:noFill/>
            <a:ln w="28575">
              <a:noFill/>
            </a:ln>
            <a:effectLst>
              <a:prstShdw prst="shdw17" dist="17961" dir="2699999">
                <a:schemeClr val="bg2"/>
              </a:prstShdw>
            </a:effectLst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b="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0</a:t>
              </a:r>
              <a:endPara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grpSp>
        <p:nvGrpSpPr>
          <p:cNvPr id="203859" name="Group 83"/>
          <p:cNvGrpSpPr/>
          <p:nvPr/>
        </p:nvGrpSpPr>
        <p:grpSpPr>
          <a:xfrm>
            <a:off x="2916238" y="3284538"/>
            <a:ext cx="3886200" cy="1443037"/>
            <a:chOff x="1837" y="1979"/>
            <a:chExt cx="2448" cy="909"/>
          </a:xfrm>
        </p:grpSpPr>
        <p:sp>
          <p:nvSpPr>
            <p:cNvPr id="51228" name="Line 57"/>
            <p:cNvSpPr/>
            <p:nvPr/>
          </p:nvSpPr>
          <p:spPr>
            <a:xfrm flipH="1" flipV="1">
              <a:off x="1883" y="2473"/>
              <a:ext cx="2267" cy="5"/>
            </a:xfrm>
            <a:prstGeom prst="line">
              <a:avLst/>
            </a:prstGeom>
            <a:ln w="38100" cap="sq" cmpd="sng">
              <a:solidFill>
                <a:srgbClr val="FFCC00"/>
              </a:solidFill>
              <a:prstDash val="solid"/>
              <a:round/>
              <a:headEnd type="oval" w="med" len="med"/>
              <a:tailEnd type="oval" w="med" len="med"/>
            </a:ln>
          </p:spPr>
        </p:sp>
        <p:sp>
          <p:nvSpPr>
            <p:cNvPr id="51229" name="Rectangle 56"/>
            <p:cNvSpPr/>
            <p:nvPr/>
          </p:nvSpPr>
          <p:spPr>
            <a:xfrm>
              <a:off x="2619" y="2325"/>
              <a:ext cx="533" cy="244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12700">
              <a:noFill/>
            </a:ln>
          </p:spPr>
          <p:txBody>
            <a:bodyPr wrap="none" anchor="ctr" anchorCtr="0"/>
            <a:p>
              <a:pPr>
                <a:buClrTx/>
                <a:buFontTx/>
                <a:buNone/>
              </a:pPr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51230" name="Text Box 55"/>
            <p:cNvSpPr txBox="1"/>
            <p:nvPr/>
          </p:nvSpPr>
          <p:spPr>
            <a:xfrm>
              <a:off x="2789" y="1979"/>
              <a:ext cx="253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0" hangingPunct="0">
                <a:buClrTx/>
                <a:buFontTx/>
                <a:buNone/>
              </a:pPr>
              <a:r>
                <a:rPr lang="en-US" altLang="zh-CN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R</a:t>
              </a:r>
              <a:endParaRPr lang="en-US" altLang="zh-CN" sz="2400" b="0" dirty="0"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51231" name="Text Box 59"/>
            <p:cNvSpPr txBox="1"/>
            <p:nvPr/>
          </p:nvSpPr>
          <p:spPr>
            <a:xfrm>
              <a:off x="2699" y="2523"/>
              <a:ext cx="490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3200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u</a:t>
              </a:r>
              <a:endParaRPr lang="en-US" altLang="zh-CN" sz="3200" b="0" i="1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51232" name="Text Box 61"/>
            <p:cNvSpPr txBox="1"/>
            <p:nvPr/>
          </p:nvSpPr>
          <p:spPr>
            <a:xfrm>
              <a:off x="2291" y="2030"/>
              <a:ext cx="363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buClrTx/>
                <a:buFontTx/>
                <a:buNone/>
              </a:pPr>
              <a:r>
                <a:rPr lang="en-US" altLang="zh-CN" sz="3200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i</a:t>
              </a:r>
              <a:endParaRPr lang="en-US" altLang="zh-CN" sz="2400" b="0" dirty="0"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51233" name="Text Box 62"/>
            <p:cNvSpPr txBox="1"/>
            <p:nvPr/>
          </p:nvSpPr>
          <p:spPr>
            <a:xfrm>
              <a:off x="1837" y="2433"/>
              <a:ext cx="317" cy="44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40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+</a:t>
              </a:r>
              <a:endParaRPr lang="en-US" altLang="zh-CN" sz="4000" b="0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51234" name="Text Box 63"/>
            <p:cNvSpPr txBox="1"/>
            <p:nvPr/>
          </p:nvSpPr>
          <p:spPr>
            <a:xfrm>
              <a:off x="3696" y="2387"/>
              <a:ext cx="589" cy="44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buClrTx/>
                <a:buFontTx/>
                <a:buNone/>
              </a:pPr>
              <a:r>
                <a:rPr lang="zh-CN" altLang="en-US" sz="40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－</a:t>
              </a:r>
              <a:endPara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51235" name="Line 81"/>
            <p:cNvSpPr/>
            <p:nvPr/>
          </p:nvSpPr>
          <p:spPr>
            <a:xfrm>
              <a:off x="1927" y="2387"/>
              <a:ext cx="454" cy="0"/>
            </a:xfrm>
            <a:prstGeom prst="line">
              <a:avLst/>
            </a:prstGeom>
            <a:ln w="28575" cap="sq" cmpd="sng">
              <a:solidFill>
                <a:srgbClr val="00FFFF"/>
              </a:solidFill>
              <a:prstDash val="solid"/>
              <a:round/>
              <a:headEnd type="none" w="med" len="med"/>
              <a:tailEnd type="triangle" w="med" len="med"/>
            </a:ln>
            <a:effectLst>
              <a:prstShdw prst="shdw17" dist="17961" dir="2699999">
                <a:schemeClr val="bg2"/>
              </a:prstShdw>
            </a:effectLst>
          </p:spPr>
        </p:sp>
      </p:grpSp>
      <p:grpSp>
        <p:nvGrpSpPr>
          <p:cNvPr id="51236" name="Group 90"/>
          <p:cNvGrpSpPr/>
          <p:nvPr/>
        </p:nvGrpSpPr>
        <p:grpSpPr>
          <a:xfrm>
            <a:off x="6588125" y="6445250"/>
            <a:ext cx="792163" cy="366713"/>
            <a:chOff x="5193" y="4020"/>
            <a:chExt cx="499" cy="231"/>
          </a:xfrm>
        </p:grpSpPr>
        <p:pic>
          <p:nvPicPr>
            <p:cNvPr id="51237" name="Picture 91" descr="78900">
              <a:hlinkClick r:id="" action="ppaction://hlinkshowjump?jump=firstslide"/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1238" name="Text Box 92">
              <a:hlinkClick r:id="" action="ppaction://hlinkshowjump?jump=firs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38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38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3" dur="500"/>
                                        <p:tgtEl>
                                          <p:spTgt spid="2038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90" fill="hold"/>
                                        <p:tgtEl>
                                          <p:spTgt spid="2038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90" fill="hold"/>
                                        <p:tgtEl>
                                          <p:spTgt spid="2038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90"/>
                                        <p:tgtEl>
                                          <p:spTgt spid="2038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39"/>
                            </p:stCondLst>
                            <p:childTnLst>
                              <p:par>
                                <p:cTn id="21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3" dur="2000"/>
                                        <p:tgtEl>
                                          <p:spTgt spid="203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2038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2038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37" dur="2000"/>
                                        <p:tgtEl>
                                          <p:spTgt spid="30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500"/>
                            </p:stCondLst>
                            <p:childTnLst>
                              <p:par>
                                <p:cTn id="3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2038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2038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50" dur="2000"/>
                                        <p:tgtEl>
                                          <p:spTgt spid="2038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038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038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61" dur="500"/>
                                        <p:tgtEl>
                                          <p:spTgt spid="203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90" fill="hold"/>
                                        <p:tgtEl>
                                          <p:spTgt spid="2038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90" fill="hold"/>
                                        <p:tgtEl>
                                          <p:spTgt spid="2038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90"/>
                                        <p:tgtEl>
                                          <p:spTgt spid="2038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90" fill="hold"/>
                                        <p:tgtEl>
                                          <p:spTgt spid="2038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90" fill="hold"/>
                                        <p:tgtEl>
                                          <p:spTgt spid="2038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3805" grpId="0" animBg="1"/>
      <p:bldP spid="203809" grpId="0"/>
      <p:bldP spid="203811" grpId="0" animBg="1"/>
      <p:bldP spid="203812" grpId="0"/>
      <p:bldP spid="203825" grpId="0" animBg="1"/>
      <p:bldP spid="203826" grpId="0" animBg="1"/>
      <p:bldP spid="203827" grpId="0"/>
      <p:bldP spid="30731" grpId="0" animBg="1"/>
      <p:bldP spid="203854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5828" name="Text Box 4"/>
          <p:cNvSpPr txBox="1"/>
          <p:nvPr/>
        </p:nvSpPr>
        <p:spPr>
          <a:xfrm>
            <a:off x="2411413" y="1052513"/>
            <a:ext cx="6337300" cy="1073150"/>
          </a:xfrm>
          <a:prstGeom prst="rect">
            <a:avLst/>
          </a:prstGeom>
          <a:noFill/>
          <a:ln w="28575">
            <a:noFill/>
          </a:ln>
        </p:spPr>
        <p:txBody>
          <a:bodyPr anchor="ctr" anchorCtr="0">
            <a:spAutoFit/>
          </a:bodyPr>
          <a:p>
            <a:pPr marL="342900" indent="-342900" eaLnBrk="0" hangingPunct="0">
              <a:lnSpc>
                <a:spcPct val="115000"/>
              </a:lnSpc>
              <a:buAutoNum type="circleNumDbPlain" startAt="2"/>
            </a:pP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如电阻上的电压与电流参考方向非关联，公式中应冠以负号；</a:t>
            </a:r>
            <a:endParaRPr lang="zh-CN" altLang="en-US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05844" name="Text Box 20"/>
          <p:cNvSpPr txBox="1"/>
          <p:nvPr/>
        </p:nvSpPr>
        <p:spPr>
          <a:xfrm>
            <a:off x="2411413" y="2133600"/>
            <a:ext cx="6267450" cy="946150"/>
          </a:xfrm>
          <a:prstGeom prst="rect">
            <a:avLst/>
          </a:prstGeom>
          <a:noFill/>
          <a:ln w="28575">
            <a:noFill/>
          </a:ln>
        </p:spPr>
        <p:txBody>
          <a:bodyPr anchor="ctr" anchorCtr="0">
            <a:spAutoFit/>
          </a:bodyPr>
          <a:p>
            <a:pPr marL="342900" indent="-342900" eaLnBrk="0" hangingPunct="0">
              <a:buAutoNum type="circleNumDbPlain" startAt="3"/>
            </a:pP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说明线性电阻是无记忆、双向性的元件。</a:t>
            </a:r>
            <a:endParaRPr lang="zh-CN" altLang="en-US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05845" name="Text Box 21"/>
          <p:cNvSpPr txBox="1"/>
          <p:nvPr/>
        </p:nvSpPr>
        <p:spPr>
          <a:xfrm>
            <a:off x="395288" y="1557338"/>
            <a:ext cx="1728787" cy="519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ctr" eaLnBrk="0" hangingPunct="0">
              <a:spcBef>
                <a:spcPct val="50000"/>
              </a:spcBef>
              <a:buClrTx/>
              <a:buFontTx/>
              <a:buNone/>
            </a:pP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欧姆定律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ea typeface="楷体_GB2312" pitchFamily="49" charset="-122"/>
              <a:sym typeface="Symbol" panose="05050102010706020507" pitchFamily="18" charset="2"/>
            </a:endParaRPr>
          </a:p>
        </p:txBody>
      </p:sp>
      <p:sp>
        <p:nvSpPr>
          <p:cNvPr id="205846" name="AutoShape 22"/>
          <p:cNvSpPr/>
          <p:nvPr/>
        </p:nvSpPr>
        <p:spPr>
          <a:xfrm>
            <a:off x="2124075" y="549275"/>
            <a:ext cx="215900" cy="2592388"/>
          </a:xfrm>
          <a:prstGeom prst="leftBrace">
            <a:avLst>
              <a:gd name="adj1" fmla="val 100005"/>
              <a:gd name="adj2" fmla="val 50000"/>
            </a:avLst>
          </a:prstGeom>
          <a:noFill/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pPr>
              <a:buClrTx/>
              <a:buFontTx/>
              <a:buNone/>
            </a:pPr>
            <a:endParaRPr lang="zh-CN" altLang="en-US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205847" name="Text Box 23"/>
          <p:cNvSpPr txBox="1"/>
          <p:nvPr/>
        </p:nvSpPr>
        <p:spPr>
          <a:xfrm>
            <a:off x="2411413" y="549275"/>
            <a:ext cx="5903912" cy="519113"/>
          </a:xfrm>
          <a:prstGeom prst="rect">
            <a:avLst/>
          </a:prstGeom>
          <a:noFill/>
          <a:ln w="28575">
            <a:noFill/>
          </a:ln>
        </p:spPr>
        <p:txBody>
          <a:bodyPr anchor="ctr" anchorCtr="0">
            <a:spAutoFit/>
          </a:bodyPr>
          <a:p>
            <a:pPr marL="342900" indent="-342900" eaLnBrk="0" hangingPunct="0">
              <a:buAutoNum type="circleNumDbPlain"/>
            </a:pPr>
            <a:r>
              <a:rPr lang="zh-CN" altLang="en-US" dirty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只适用于线性电阻</a:t>
            </a:r>
            <a:r>
              <a:rPr lang="en-US" altLang="zh-CN" dirty="0"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 </a:t>
            </a:r>
            <a:r>
              <a:rPr lang="en-US" altLang="zh-CN" b="0" i="1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R</a:t>
            </a:r>
            <a:r>
              <a:rPr lang="en-US" altLang="zh-CN" i="1" dirty="0"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 </a:t>
            </a:r>
            <a:r>
              <a:rPr lang="zh-CN" altLang="en-US" dirty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为常数</a:t>
            </a:r>
            <a:r>
              <a:rPr lang="zh-CN" altLang="en-US" dirty="0"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）；</a:t>
            </a:r>
            <a:endParaRPr lang="zh-CN" altLang="en-US" dirty="0">
              <a:latin typeface="Times New Roman" panose="02020603050405020304" pitchFamily="18" charset="0"/>
              <a:ea typeface="仿宋_GB2312" pitchFamily="49" charset="-122"/>
              <a:sym typeface="Symbol" panose="05050102010706020507" pitchFamily="18" charset="2"/>
            </a:endParaRPr>
          </a:p>
        </p:txBody>
      </p:sp>
      <p:sp>
        <p:nvSpPr>
          <p:cNvPr id="205856" name="Text Box 32"/>
          <p:cNvSpPr txBox="1"/>
          <p:nvPr/>
        </p:nvSpPr>
        <p:spPr>
          <a:xfrm>
            <a:off x="468313" y="4652963"/>
            <a:ext cx="2951162" cy="519112"/>
          </a:xfrm>
          <a:prstGeom prst="rect">
            <a:avLst/>
          </a:prstGeom>
          <a:noFill/>
          <a:ln w="28575">
            <a:noFill/>
          </a:ln>
        </p:spPr>
        <p:txBody>
          <a:bodyPr anchor="ctr" anchorCtr="0">
            <a:spAutoFit/>
          </a:bodyPr>
          <a:p>
            <a:pPr eaLnBrk="0" hangingPunct="0">
              <a:buClrTx/>
              <a:buFontTx/>
              <a:buNone/>
            </a:pPr>
            <a:r>
              <a:rPr lang="zh-CN" altLang="en-US" dirty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则欧姆定律写为</a:t>
            </a:r>
            <a:endParaRPr lang="zh-CN" altLang="en-US" dirty="0">
              <a:latin typeface="Times New Roman" panose="02020603050405020304" pitchFamily="18" charset="0"/>
              <a:ea typeface="楷体_GB2312" pitchFamily="49" charset="-122"/>
              <a:sym typeface="Symbol" panose="05050102010706020507" pitchFamily="18" charset="2"/>
            </a:endParaRPr>
          </a:p>
        </p:txBody>
      </p:sp>
      <p:sp>
        <p:nvSpPr>
          <p:cNvPr id="205857" name="Rectangle 33"/>
          <p:cNvSpPr/>
          <p:nvPr/>
        </p:nvSpPr>
        <p:spPr>
          <a:xfrm>
            <a:off x="3059113" y="4551363"/>
            <a:ext cx="4708525" cy="641350"/>
          </a:xfrm>
          <a:prstGeom prst="rect">
            <a:avLst/>
          </a:prstGeom>
          <a:noFill/>
          <a:ln w="28575">
            <a:noFill/>
          </a:ln>
        </p:spPr>
        <p:txBody>
          <a:bodyPr anchor="ctr" anchorCtr="0">
            <a:spAutoFit/>
          </a:bodyPr>
          <a:p>
            <a:pPr algn="ctr" eaLnBrk="0" hangingPunct="0">
              <a:buClrTx/>
              <a:buFontTx/>
              <a:buNone/>
            </a:pPr>
            <a:r>
              <a:rPr lang="en-US" altLang="zh-CN" sz="3600" b="0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u</a:t>
            </a:r>
            <a:r>
              <a:rPr lang="en-US" altLang="zh-CN" sz="36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 –</a:t>
            </a:r>
            <a:r>
              <a:rPr lang="en-US" altLang="zh-CN" sz="3600" b="0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R i       i</a:t>
            </a:r>
            <a:r>
              <a:rPr lang="en-US" altLang="zh-CN" sz="36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 –</a:t>
            </a:r>
            <a:r>
              <a:rPr lang="en-US" altLang="zh-CN" sz="3600" b="0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G u</a:t>
            </a:r>
            <a:endParaRPr lang="en-US" altLang="zh-CN" sz="36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205858" name="Rectangle 34"/>
          <p:cNvSpPr/>
          <p:nvPr/>
        </p:nvSpPr>
        <p:spPr>
          <a:xfrm>
            <a:off x="1547813" y="5300663"/>
            <a:ext cx="5184775" cy="519112"/>
          </a:xfrm>
          <a:prstGeom prst="rect">
            <a:avLst/>
          </a:prstGeom>
          <a:noFill/>
          <a:ln w="28575">
            <a:noFill/>
          </a:ln>
        </p:spPr>
        <p:txBody>
          <a:bodyPr wrap="none" anchor="ctr" anchorCtr="0">
            <a:spAutoFit/>
          </a:bodyPr>
          <a:p>
            <a:pPr algn="ctr" eaLnBrk="0" hangingPunct="0">
              <a:buClrTx/>
              <a:buFontTx/>
              <a:buNone/>
            </a:pPr>
            <a:r>
              <a:rPr lang="zh-CN" altLang="en-US" dirty="0">
                <a:solidFill>
                  <a:srgbClr val="CC66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公式和参考方向必须配套使用！</a:t>
            </a:r>
            <a:endParaRPr lang="zh-CN" altLang="en-US" dirty="0">
              <a:solidFill>
                <a:srgbClr val="CC6600"/>
              </a:solidFill>
              <a:latin typeface="Times New Roman" panose="02020603050405020304" pitchFamily="18" charset="0"/>
              <a:ea typeface="楷体_GB2312" pitchFamily="49" charset="-122"/>
              <a:sym typeface="Symbol" panose="05050102010706020507" pitchFamily="18" charset="2"/>
            </a:endParaRPr>
          </a:p>
        </p:txBody>
      </p:sp>
      <p:grpSp>
        <p:nvGrpSpPr>
          <p:cNvPr id="52233" name="Group 59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52234" name="Picture 60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2235" name="Text Box 61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52236" name="Group 62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52237" name="Picture 63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2238" name="Text Box 64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205892" name="Group 68"/>
          <p:cNvGrpSpPr/>
          <p:nvPr/>
        </p:nvGrpSpPr>
        <p:grpSpPr>
          <a:xfrm>
            <a:off x="395288" y="404813"/>
            <a:ext cx="1644650" cy="850900"/>
            <a:chOff x="385" y="3022"/>
            <a:chExt cx="1036" cy="536"/>
          </a:xfrm>
        </p:grpSpPr>
        <p:pic>
          <p:nvPicPr>
            <p:cNvPr id="52240" name="Picture 69" descr="12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85" y="3022"/>
              <a:ext cx="590" cy="536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2241" name="Text Box 70"/>
            <p:cNvSpPr txBox="1"/>
            <p:nvPr/>
          </p:nvSpPr>
          <p:spPr>
            <a:xfrm>
              <a:off x="793" y="3125"/>
              <a:ext cx="628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ClrTx/>
                <a:buFontTx/>
                <a:buNone/>
              </a:pPr>
              <a:r>
                <a:rPr lang="zh-CN" altLang="en-US" sz="3200" b="0" dirty="0">
                  <a:solidFill>
                    <a:srgbClr val="FA7748"/>
                  </a:solidFill>
                  <a:latin typeface="Times New Roman" panose="02020603050405020304" pitchFamily="18" charset="0"/>
                  <a:ea typeface="华文行楷" panose="02010800040101010101" pitchFamily="2" charset="-122"/>
                </a:rPr>
                <a:t>注意</a:t>
              </a:r>
              <a:endParaRPr lang="zh-CN" altLang="en-US" sz="3200" b="0" dirty="0">
                <a:solidFill>
                  <a:srgbClr val="FA7748"/>
                </a:solidFill>
                <a:latin typeface="Times New Roman" panose="02020603050405020304" pitchFamily="18" charset="0"/>
                <a:ea typeface="华文行楷" panose="02010800040101010101" pitchFamily="2" charset="-122"/>
              </a:endParaRPr>
            </a:p>
          </p:txBody>
        </p:sp>
      </p:grpSp>
      <p:grpSp>
        <p:nvGrpSpPr>
          <p:cNvPr id="205895" name="Group 71"/>
          <p:cNvGrpSpPr/>
          <p:nvPr/>
        </p:nvGrpSpPr>
        <p:grpSpPr>
          <a:xfrm>
            <a:off x="2771775" y="3068638"/>
            <a:ext cx="3886200" cy="1443037"/>
            <a:chOff x="1837" y="1979"/>
            <a:chExt cx="2448" cy="909"/>
          </a:xfrm>
        </p:grpSpPr>
        <p:sp>
          <p:nvSpPr>
            <p:cNvPr id="52243" name="Line 72"/>
            <p:cNvSpPr/>
            <p:nvPr/>
          </p:nvSpPr>
          <p:spPr>
            <a:xfrm flipH="1" flipV="1">
              <a:off x="1883" y="2473"/>
              <a:ext cx="2267" cy="5"/>
            </a:xfrm>
            <a:prstGeom prst="line">
              <a:avLst/>
            </a:prstGeom>
            <a:ln w="38100" cap="sq" cmpd="sng">
              <a:solidFill>
                <a:srgbClr val="FFCC00"/>
              </a:solidFill>
              <a:prstDash val="solid"/>
              <a:round/>
              <a:headEnd type="oval" w="med" len="med"/>
              <a:tailEnd type="oval" w="med" len="med"/>
            </a:ln>
          </p:spPr>
        </p:sp>
        <p:sp>
          <p:nvSpPr>
            <p:cNvPr id="52244" name="Rectangle 73"/>
            <p:cNvSpPr/>
            <p:nvPr/>
          </p:nvSpPr>
          <p:spPr>
            <a:xfrm>
              <a:off x="2619" y="2325"/>
              <a:ext cx="533" cy="244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12700">
              <a:noFill/>
            </a:ln>
          </p:spPr>
          <p:txBody>
            <a:bodyPr wrap="none" anchor="ctr" anchorCtr="0"/>
            <a:p>
              <a:pPr>
                <a:buClrTx/>
                <a:buFontTx/>
                <a:buNone/>
              </a:pPr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52245" name="Text Box 74"/>
            <p:cNvSpPr txBox="1"/>
            <p:nvPr/>
          </p:nvSpPr>
          <p:spPr>
            <a:xfrm>
              <a:off x="2789" y="1979"/>
              <a:ext cx="253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0" hangingPunct="0">
                <a:buClrTx/>
                <a:buFontTx/>
                <a:buNone/>
              </a:pPr>
              <a:r>
                <a:rPr lang="en-US" altLang="zh-CN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R</a:t>
              </a:r>
              <a:endParaRPr lang="en-US" altLang="zh-CN" sz="2400" b="0" dirty="0"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52246" name="Text Box 75"/>
            <p:cNvSpPr txBox="1"/>
            <p:nvPr/>
          </p:nvSpPr>
          <p:spPr>
            <a:xfrm>
              <a:off x="2699" y="2523"/>
              <a:ext cx="490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3200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u</a:t>
              </a:r>
              <a:endParaRPr lang="en-US" altLang="zh-CN" sz="3200" b="0" i="1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52247" name="Text Box 76"/>
            <p:cNvSpPr txBox="1"/>
            <p:nvPr/>
          </p:nvSpPr>
          <p:spPr>
            <a:xfrm>
              <a:off x="2291" y="2030"/>
              <a:ext cx="363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buClrTx/>
                <a:buFontTx/>
                <a:buNone/>
              </a:pPr>
              <a:r>
                <a:rPr lang="en-US" altLang="zh-CN" sz="3200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i</a:t>
              </a:r>
              <a:endParaRPr lang="en-US" altLang="zh-CN" sz="2400" b="0" dirty="0"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52248" name="Text Box 77"/>
            <p:cNvSpPr txBox="1"/>
            <p:nvPr/>
          </p:nvSpPr>
          <p:spPr>
            <a:xfrm>
              <a:off x="1837" y="2433"/>
              <a:ext cx="317" cy="44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4000" b="0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Symbol" panose="05050102010706020507" pitchFamily="18" charset="2"/>
                </a:rPr>
                <a:t>-</a:t>
              </a:r>
              <a:endParaRPr lang="en-US" altLang="zh-CN" sz="40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52249" name="Text Box 78"/>
            <p:cNvSpPr txBox="1"/>
            <p:nvPr/>
          </p:nvSpPr>
          <p:spPr>
            <a:xfrm>
              <a:off x="3696" y="2387"/>
              <a:ext cx="589" cy="44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buClrTx/>
                <a:buFontTx/>
                <a:buNone/>
              </a:pPr>
              <a:r>
                <a:rPr lang="en-US" altLang="zh-CN" sz="40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+</a:t>
              </a:r>
              <a:endParaRPr lang="en-US" altLang="zh-CN" sz="2400" b="0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52250" name="Line 79"/>
            <p:cNvSpPr/>
            <p:nvPr/>
          </p:nvSpPr>
          <p:spPr>
            <a:xfrm>
              <a:off x="1927" y="2387"/>
              <a:ext cx="454" cy="0"/>
            </a:xfrm>
            <a:prstGeom prst="line">
              <a:avLst/>
            </a:prstGeom>
            <a:ln w="28575" cap="sq" cmpd="sng">
              <a:solidFill>
                <a:srgbClr val="00FFFF"/>
              </a:solidFill>
              <a:prstDash val="solid"/>
              <a:round/>
              <a:headEnd type="none" w="med" len="med"/>
              <a:tailEnd type="triangle" w="med" len="med"/>
            </a:ln>
            <a:effectLst>
              <a:prstShdw prst="shdw17" dist="17961" dir="2699999">
                <a:schemeClr val="bg2"/>
              </a:prstShdw>
            </a:effectLst>
          </p:spPr>
        </p:sp>
      </p:grpSp>
      <p:grpSp>
        <p:nvGrpSpPr>
          <p:cNvPr id="52251" name="Group 86"/>
          <p:cNvGrpSpPr/>
          <p:nvPr/>
        </p:nvGrpSpPr>
        <p:grpSpPr>
          <a:xfrm>
            <a:off x="6588125" y="6445250"/>
            <a:ext cx="792163" cy="366713"/>
            <a:chOff x="5193" y="4020"/>
            <a:chExt cx="499" cy="231"/>
          </a:xfrm>
        </p:grpSpPr>
        <p:pic>
          <p:nvPicPr>
            <p:cNvPr id="52252" name="Picture 87" descr="78900">
              <a:hlinkClick r:id="" action="ppaction://hlinkshowjump?jump=firstslide"/>
            </p:cNvPr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2253" name="Text Box 88">
              <a:hlinkClick r:id="" action="ppaction://hlinkshowjump?jump=firs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5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058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058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05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2058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75" fill="hold"/>
                                        <p:tgtEl>
                                          <p:spTgt spid="2058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75" fill="hold"/>
                                        <p:tgtEl>
                                          <p:spTgt spid="2058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05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058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058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2" dur="5000"/>
                                        <p:tgtEl>
                                          <p:spTgt spid="2058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500"/>
                            </p:stCondLst>
                            <p:childTnLst>
                              <p:par>
                                <p:cTn id="44" presetID="5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85" decel="100000"/>
                                        <p:tgtEl>
                                          <p:spTgt spid="20585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7" dur="385" decel="100000"/>
                                        <p:tgtEl>
                                          <p:spTgt spid="205858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48" dur="615" accel="100000" fill="hold">
                                          <p:stCondLst>
                                            <p:cond delay="385"/>
                                          </p:stCondLst>
                                        </p:cTn>
                                        <p:tgtEl>
                                          <p:spTgt spid="205858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49" dur="385" fill="hold"/>
                                        <p:tgtEl>
                                          <p:spTgt spid="2058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50" dur="615" accel="100000" fill="hold">
                                          <p:stCondLst>
                                            <p:cond delay="385"/>
                                          </p:stCondLst>
                                        </p:cTn>
                                        <p:tgtEl>
                                          <p:spTgt spid="2058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51" dur="385" fill="hold"/>
                                        <p:tgtEl>
                                          <p:spTgt spid="2058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52" dur="615" accel="100000" fill="hold">
                                          <p:stCondLst>
                                            <p:cond delay="385"/>
                                          </p:stCondLst>
                                        </p:cTn>
                                        <p:tgtEl>
                                          <p:spTgt spid="2058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75" fill="hold"/>
                                        <p:tgtEl>
                                          <p:spTgt spid="2058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75" fill="hold"/>
                                        <p:tgtEl>
                                          <p:spTgt spid="2058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828" grpId="0"/>
      <p:bldP spid="205844" grpId="0"/>
      <p:bldP spid="205845" grpId="0"/>
      <p:bldP spid="205846" grpId="0" animBg="1"/>
      <p:bldP spid="205847" grpId="0"/>
      <p:bldP spid="205856" grpId="0"/>
      <p:bldP spid="205857" grpId="0"/>
      <p:bldP spid="205858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42" name="Text Box 42"/>
          <p:cNvSpPr txBox="1"/>
          <p:nvPr/>
        </p:nvSpPr>
        <p:spPr>
          <a:xfrm>
            <a:off x="395288" y="549275"/>
            <a:ext cx="2951162" cy="519113"/>
          </a:xfrm>
          <a:prstGeom prst="rect">
            <a:avLst/>
          </a:prstGeom>
          <a:noFill/>
          <a:ln w="28575">
            <a:noFill/>
          </a:ln>
          <a:effectLst>
            <a:outerShdw dist="107763" dir="18900000" algn="ctr" rotWithShape="0">
              <a:schemeClr val="bg2">
                <a:alpha val="50000"/>
              </a:schemeClr>
            </a:outerShdw>
          </a:effectLst>
        </p:spPr>
        <p:txBody>
          <a:bodyPr anchor="ctr" anchorCtr="0">
            <a:spAutoFit/>
          </a:bodyPr>
          <a:p>
            <a:pPr algn="ctr" eaLnBrk="0" hangingPunct="0">
              <a:buClrTx/>
              <a:buFontTx/>
              <a:buNone/>
            </a:pPr>
            <a:r>
              <a:rPr lang="en-US" altLang="zh-CN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3.</a:t>
            </a:r>
            <a:r>
              <a:rPr lang="zh-CN" altLang="en-US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功率和能量</a:t>
            </a:r>
            <a:endParaRPr lang="zh-CN" altLang="en-US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04854" name="Text Box 54"/>
          <p:cNvSpPr txBox="1"/>
          <p:nvPr/>
        </p:nvSpPr>
        <p:spPr>
          <a:xfrm>
            <a:off x="2051050" y="5445125"/>
            <a:ext cx="6256338" cy="519113"/>
          </a:xfrm>
          <a:prstGeom prst="rect">
            <a:avLst/>
          </a:prstGeom>
          <a:noFill/>
          <a:ln w="28575">
            <a:noFill/>
          </a:ln>
        </p:spPr>
        <p:txBody>
          <a:bodyPr wrap="none" anchor="ctr" anchorCtr="0">
            <a:spAutoFit/>
          </a:bodyPr>
          <a:p>
            <a:pPr algn="ctr" eaLnBrk="0" hangingPunct="0">
              <a:buClrTx/>
              <a:buFontTx/>
              <a:buNone/>
            </a:pPr>
            <a:r>
              <a:rPr lang="zh-CN" altLang="en-US" dirty="0">
                <a:latin typeface="Times New Roman" panose="02020603050405020304" pitchFamily="18" charset="0"/>
                <a:ea typeface="楷体_GB2312" pitchFamily="49" charset="-122"/>
                <a:sym typeface="Monotype Sorts" pitchFamily="2" charset="2"/>
              </a:rPr>
              <a:t>电阻元件在任何时刻总是消耗功率的。</a:t>
            </a:r>
            <a:endParaRPr lang="zh-CN" altLang="en-US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04867" name="Text Box 67"/>
          <p:cNvSpPr txBox="1"/>
          <p:nvPr/>
        </p:nvSpPr>
        <p:spPr>
          <a:xfrm>
            <a:off x="4484688" y="3573463"/>
            <a:ext cx="4335462" cy="1465262"/>
          </a:xfrm>
          <a:prstGeom prst="rect">
            <a:avLst/>
          </a:prstGeom>
          <a:noFill/>
          <a:ln w="12700">
            <a:noFill/>
          </a:ln>
        </p:spPr>
        <p:txBody>
          <a:bodyPr anchor="ctr" anchorCtr="0">
            <a:spAutoFit/>
          </a:bodyPr>
          <a:p>
            <a:pPr eaLnBrk="0" hangingPunct="0">
              <a:spcBef>
                <a:spcPct val="50000"/>
              </a:spcBef>
              <a:buClrTx/>
              <a:buFontTx/>
              <a:buNone/>
            </a:pPr>
            <a:r>
              <a:rPr lang="en-US" altLang="zh-CN" sz="3600" b="0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p</a:t>
            </a:r>
            <a:r>
              <a:rPr lang="en-US" altLang="zh-CN" sz="3600" b="0" i="1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36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</a:t>
            </a:r>
            <a:r>
              <a:rPr lang="en-US" altLang="zh-CN" sz="36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3600" b="0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 i</a:t>
            </a:r>
            <a:r>
              <a:rPr lang="en-US" altLang="zh-CN" sz="36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 (</a:t>
            </a:r>
            <a:r>
              <a:rPr lang="en-US" altLang="zh-CN" sz="36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–</a:t>
            </a:r>
            <a:r>
              <a:rPr lang="en-US" altLang="zh-CN" sz="3600" b="0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 i) i</a:t>
            </a:r>
            <a:endParaRPr lang="en-US" altLang="zh-CN" sz="3600" b="0" i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0" hangingPunct="0">
              <a:spcBef>
                <a:spcPct val="50000"/>
              </a:spcBef>
              <a:buClrTx/>
              <a:buFontTx/>
              <a:buNone/>
            </a:pPr>
            <a:r>
              <a:rPr lang="en-US" altLang="zh-CN" sz="36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  </a:t>
            </a:r>
            <a:r>
              <a:rPr lang="en-US" altLang="zh-CN" sz="36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–</a:t>
            </a:r>
            <a:r>
              <a:rPr lang="en-US" altLang="zh-CN" sz="3600" b="0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3600" b="0" i="1" baseline="30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sz="3600" b="0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R </a:t>
            </a:r>
            <a:r>
              <a:rPr lang="en-US" altLang="zh-CN" sz="36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 </a:t>
            </a:r>
            <a:r>
              <a:rPr lang="en-US" altLang="zh-CN" sz="36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-</a:t>
            </a:r>
            <a:r>
              <a:rPr lang="en-US" altLang="zh-CN" sz="3600" b="0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3600" b="0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en-US" altLang="zh-CN" sz="3600" b="0" i="1" baseline="30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sz="3600" b="0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/ R</a:t>
            </a:r>
            <a:endParaRPr lang="en-US" altLang="zh-CN" sz="3600" b="0" i="1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04868" name="Text Box 68"/>
          <p:cNvSpPr txBox="1"/>
          <p:nvPr/>
        </p:nvSpPr>
        <p:spPr>
          <a:xfrm>
            <a:off x="4284663" y="2276475"/>
            <a:ext cx="4038600" cy="641350"/>
          </a:xfrm>
          <a:prstGeom prst="rect">
            <a:avLst/>
          </a:prstGeom>
          <a:noFill/>
          <a:ln w="12700">
            <a:noFill/>
          </a:ln>
        </p:spPr>
        <p:txBody>
          <a:bodyPr anchor="ctr" anchorCtr="0">
            <a:spAutoFit/>
          </a:bodyPr>
          <a:p>
            <a:pPr algn="ctr" eaLnBrk="0" hangingPunct="0">
              <a:spcBef>
                <a:spcPct val="50000"/>
              </a:spcBef>
              <a:buClrTx/>
              <a:buFontTx/>
              <a:buNone/>
            </a:pPr>
            <a:r>
              <a:rPr lang="en-US" altLang="zh-CN" sz="3600" b="0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p </a:t>
            </a:r>
            <a:r>
              <a:rPr lang="en-US" altLang="zh-CN" sz="36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</a:t>
            </a:r>
            <a:r>
              <a:rPr lang="en-US" altLang="zh-CN" sz="36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3600" b="0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 i</a:t>
            </a:r>
            <a:r>
              <a:rPr lang="en-US" altLang="zh-CN" sz="36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 </a:t>
            </a:r>
            <a:r>
              <a:rPr lang="en-US" altLang="zh-CN" sz="3600" b="0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3600" b="0" baseline="30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sz="3600" b="0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 </a:t>
            </a:r>
            <a:r>
              <a:rPr lang="en-US" altLang="zh-CN" sz="36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</a:t>
            </a:r>
            <a:r>
              <a:rPr lang="en-US" altLang="zh-CN" sz="3600" b="0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en-US" altLang="zh-CN" sz="3600" b="0" baseline="30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sz="3600" b="0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/ R</a:t>
            </a:r>
            <a:endParaRPr lang="en-US" altLang="zh-CN" sz="3600" b="0" i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04869" name="Text Box 69"/>
          <p:cNvSpPr txBox="1"/>
          <p:nvPr/>
        </p:nvSpPr>
        <p:spPr>
          <a:xfrm>
            <a:off x="684213" y="1130300"/>
            <a:ext cx="1584325" cy="547688"/>
          </a:xfrm>
          <a:prstGeom prst="rect">
            <a:avLst/>
          </a:prstGeom>
          <a:noFill/>
          <a:ln w="28575" cap="sq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>
            <a:spAutoFit/>
          </a:bodyPr>
          <a:p>
            <a:pPr eaLnBrk="0" hangingPunct="0"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FF9900"/>
                </a:solidFill>
                <a:latin typeface="Times New Roman" panose="02020603050405020304" pitchFamily="18" charset="0"/>
                <a:ea typeface="楷体_GB2312" pitchFamily="49" charset="-122"/>
                <a:sym typeface="Monotype Sorts" pitchFamily="2" charset="2"/>
              </a:rPr>
              <a:t> </a:t>
            </a:r>
            <a:r>
              <a:rPr lang="zh-CN" altLang="en-US" dirty="0">
                <a:solidFill>
                  <a:srgbClr val="FF9900"/>
                </a:solidFill>
                <a:latin typeface="Times New Roman" panose="02020603050405020304" pitchFamily="18" charset="0"/>
                <a:ea typeface="楷体_GB2312" pitchFamily="49" charset="-122"/>
                <a:sym typeface="Monotype Sorts" pitchFamily="2" charset="2"/>
              </a:rPr>
              <a:t>功率</a:t>
            </a:r>
            <a:endParaRPr lang="zh-CN" altLang="en-US" dirty="0">
              <a:solidFill>
                <a:srgbClr val="FF99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pSp>
        <p:nvGrpSpPr>
          <p:cNvPr id="204876" name="Group 76"/>
          <p:cNvGrpSpPr/>
          <p:nvPr/>
        </p:nvGrpSpPr>
        <p:grpSpPr>
          <a:xfrm>
            <a:off x="539750" y="3500438"/>
            <a:ext cx="3671888" cy="1622425"/>
            <a:chOff x="1610" y="2000"/>
            <a:chExt cx="2540" cy="1176"/>
          </a:xfrm>
        </p:grpSpPr>
        <p:grpSp>
          <p:nvGrpSpPr>
            <p:cNvPr id="53255" name="Group 77"/>
            <p:cNvGrpSpPr/>
            <p:nvPr/>
          </p:nvGrpSpPr>
          <p:grpSpPr>
            <a:xfrm>
              <a:off x="1928" y="2000"/>
              <a:ext cx="2086" cy="756"/>
              <a:chOff x="1751" y="3333"/>
              <a:chExt cx="1632" cy="605"/>
            </a:xfrm>
          </p:grpSpPr>
          <p:sp>
            <p:nvSpPr>
              <p:cNvPr id="53256" name="Text Box 78"/>
              <p:cNvSpPr txBox="1"/>
              <p:nvPr/>
            </p:nvSpPr>
            <p:spPr>
              <a:xfrm>
                <a:off x="2481" y="3333"/>
                <a:ext cx="227" cy="301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 anchor="ctr" anchorCtr="0">
                <a:spAutoFit/>
              </a:bodyPr>
              <a:p>
                <a:pPr algn="ctr" eaLnBrk="0" hangingPunct="0">
                  <a:buClrTx/>
                  <a:buFontTx/>
                  <a:buNone/>
                </a:pPr>
                <a:r>
                  <a:rPr lang="en-US" altLang="zh-CN" i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R</a:t>
                </a:r>
                <a:endParaRPr lang="en-US" altLang="zh-CN" sz="2400" dirty="0"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endParaRPr>
              </a:p>
            </p:txBody>
          </p:sp>
          <p:sp>
            <p:nvSpPr>
              <p:cNvPr id="53257" name="Rectangle 79"/>
              <p:cNvSpPr/>
              <p:nvPr/>
            </p:nvSpPr>
            <p:spPr>
              <a:xfrm>
                <a:off x="2327" y="3702"/>
                <a:ext cx="480" cy="236"/>
              </a:xfrm>
              <a:prstGeom prst="rect">
                <a:avLst/>
              </a:prstGeom>
              <a:gradFill rotWithShape="1">
                <a:gsLst>
                  <a:gs pos="0">
                    <a:srgbClr val="764700"/>
                  </a:gs>
                  <a:gs pos="50000">
                    <a:srgbClr val="FF9900"/>
                  </a:gs>
                  <a:gs pos="100000">
                    <a:srgbClr val="764700"/>
                  </a:gs>
                </a:gsLst>
                <a:lin ang="5400000" scaled="1"/>
                <a:tileRect/>
              </a:gradFill>
              <a:ln w="12700">
                <a:noFill/>
              </a:ln>
            </p:spPr>
            <p:txBody>
              <a:bodyPr wrap="none" anchor="ctr" anchorCtr="0"/>
              <a:p>
                <a:pPr>
                  <a:buClrTx/>
                  <a:buFontTx/>
                  <a:buNone/>
                </a:pPr>
                <a:endParaRPr lang="zh-CN" altLang="en-US" dirty="0">
                  <a:latin typeface="Arial" panose="020B0604020202020204" pitchFamily="34" charset="0"/>
                  <a:ea typeface="楷体_GB2312" pitchFamily="49" charset="-122"/>
                </a:endParaRPr>
              </a:p>
            </p:txBody>
          </p:sp>
          <p:sp>
            <p:nvSpPr>
              <p:cNvPr id="53258" name="Line 80"/>
              <p:cNvSpPr/>
              <p:nvPr/>
            </p:nvSpPr>
            <p:spPr>
              <a:xfrm flipH="1" flipV="1">
                <a:off x="1751" y="3820"/>
                <a:ext cx="576" cy="0"/>
              </a:xfrm>
              <a:prstGeom prst="line">
                <a:avLst/>
              </a:prstGeom>
              <a:ln w="38100" cap="sq" cmpd="sng">
                <a:solidFill>
                  <a:srgbClr val="FFCC00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sp>
          <p:sp>
            <p:nvSpPr>
              <p:cNvPr id="53259" name="Line 81"/>
              <p:cNvSpPr/>
              <p:nvPr/>
            </p:nvSpPr>
            <p:spPr>
              <a:xfrm>
                <a:off x="2807" y="3820"/>
                <a:ext cx="576" cy="0"/>
              </a:xfrm>
              <a:prstGeom prst="line">
                <a:avLst/>
              </a:prstGeom>
              <a:ln w="38100" cap="sq" cmpd="sng">
                <a:solidFill>
                  <a:srgbClr val="FFCC00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sp>
        </p:grpSp>
        <p:sp>
          <p:nvSpPr>
            <p:cNvPr id="53260" name="Text Box 82"/>
            <p:cNvSpPr txBox="1"/>
            <p:nvPr/>
          </p:nvSpPr>
          <p:spPr>
            <a:xfrm>
              <a:off x="2744" y="2756"/>
              <a:ext cx="490" cy="42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buClrTx/>
                <a:buFontTx/>
                <a:buNone/>
              </a:pPr>
              <a:r>
                <a:rPr lang="en-US" altLang="zh-CN" sz="3200" i="1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u</a:t>
              </a:r>
              <a:endParaRPr lang="en-US" altLang="zh-CN" sz="2400" dirty="0"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53261" name="AutoShape 83"/>
            <p:cNvSpPr/>
            <p:nvPr/>
          </p:nvSpPr>
          <p:spPr>
            <a:xfrm>
              <a:off x="1837" y="2347"/>
              <a:ext cx="499" cy="91"/>
            </a:xfrm>
            <a:prstGeom prst="rightArrow">
              <a:avLst>
                <a:gd name="adj1" fmla="val 50000"/>
                <a:gd name="adj2" fmla="val 137062"/>
              </a:avLst>
            </a:prstGeom>
            <a:solidFill>
              <a:srgbClr val="00FFFF"/>
            </a:solidFill>
            <a:ln w="9525">
              <a:noFill/>
            </a:ln>
          </p:spPr>
          <p:txBody>
            <a:bodyPr wrap="none" anchor="ctr" anchorCtr="0"/>
            <a:p>
              <a:pPr>
                <a:buClrTx/>
                <a:buFontTx/>
                <a:buNone/>
              </a:pPr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53262" name="Text Box 84"/>
            <p:cNvSpPr txBox="1"/>
            <p:nvPr/>
          </p:nvSpPr>
          <p:spPr>
            <a:xfrm>
              <a:off x="2336" y="2166"/>
              <a:ext cx="363" cy="42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buClrTx/>
                <a:buFontTx/>
                <a:buNone/>
              </a:pPr>
              <a:r>
                <a:rPr lang="en-US" altLang="zh-CN" sz="3200" i="1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i</a:t>
              </a:r>
              <a:endParaRPr lang="en-US" altLang="zh-CN" sz="2400" dirty="0"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53263" name="Text Box 85"/>
            <p:cNvSpPr txBox="1"/>
            <p:nvPr/>
          </p:nvSpPr>
          <p:spPr>
            <a:xfrm>
              <a:off x="3833" y="2614"/>
              <a:ext cx="317" cy="509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buClrTx/>
                <a:buFontTx/>
                <a:buNone/>
              </a:pPr>
              <a:r>
                <a:rPr lang="en-US" altLang="zh-CN" sz="4000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Symbol" panose="05050102010706020507" pitchFamily="18" charset="2"/>
                </a:rPr>
                <a:t>+</a:t>
              </a:r>
              <a:endParaRPr lang="en-US" altLang="zh-CN" sz="24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53264" name="Text Box 86"/>
            <p:cNvSpPr txBox="1"/>
            <p:nvPr/>
          </p:nvSpPr>
          <p:spPr>
            <a:xfrm>
              <a:off x="1610" y="2615"/>
              <a:ext cx="589" cy="50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buClrTx/>
                <a:buFontTx/>
                <a:buNone/>
              </a:pPr>
              <a:r>
                <a:rPr lang="en-US" altLang="zh-CN" sz="4000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Symbol" panose="05050102010706020507" pitchFamily="18" charset="2"/>
                </a:rPr>
                <a:t>-</a:t>
              </a:r>
              <a:endParaRPr lang="en-US" altLang="zh-CN" sz="24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</p:grpSp>
      <p:grpSp>
        <p:nvGrpSpPr>
          <p:cNvPr id="53265" name="Group 102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53266" name="Picture 103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3267" name="Text Box 104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53268" name="Group 105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53269" name="Picture 106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3270" name="Text Box 107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204911" name="Group 111"/>
          <p:cNvGrpSpPr/>
          <p:nvPr/>
        </p:nvGrpSpPr>
        <p:grpSpPr>
          <a:xfrm>
            <a:off x="395288" y="5300663"/>
            <a:ext cx="1644650" cy="850900"/>
            <a:chOff x="385" y="3022"/>
            <a:chExt cx="1036" cy="536"/>
          </a:xfrm>
        </p:grpSpPr>
        <p:pic>
          <p:nvPicPr>
            <p:cNvPr id="53272" name="Picture 112" descr="12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85" y="3022"/>
              <a:ext cx="590" cy="536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3273" name="Text Box 113"/>
            <p:cNvSpPr txBox="1"/>
            <p:nvPr/>
          </p:nvSpPr>
          <p:spPr>
            <a:xfrm>
              <a:off x="793" y="3125"/>
              <a:ext cx="628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ClrTx/>
                <a:buFontTx/>
                <a:buNone/>
              </a:pPr>
              <a:r>
                <a:rPr lang="zh-CN" altLang="en-US" sz="3200" b="0" dirty="0">
                  <a:solidFill>
                    <a:srgbClr val="FA7748"/>
                  </a:solidFill>
                  <a:latin typeface="Times New Roman" panose="02020603050405020304" pitchFamily="18" charset="0"/>
                  <a:ea typeface="华文行楷" panose="02010800040101010101" pitchFamily="2" charset="-122"/>
                </a:rPr>
                <a:t>表明</a:t>
              </a:r>
              <a:endParaRPr lang="zh-CN" altLang="en-US" sz="3200" b="0" dirty="0">
                <a:solidFill>
                  <a:srgbClr val="FA7748"/>
                </a:solidFill>
                <a:latin typeface="Times New Roman" panose="02020603050405020304" pitchFamily="18" charset="0"/>
                <a:ea typeface="华文行楷" panose="02010800040101010101" pitchFamily="2" charset="-122"/>
              </a:endParaRPr>
            </a:p>
          </p:txBody>
        </p:sp>
      </p:grpSp>
      <p:grpSp>
        <p:nvGrpSpPr>
          <p:cNvPr id="204917" name="Group 117"/>
          <p:cNvGrpSpPr/>
          <p:nvPr/>
        </p:nvGrpSpPr>
        <p:grpSpPr>
          <a:xfrm>
            <a:off x="468313" y="1844675"/>
            <a:ext cx="3671887" cy="1622425"/>
            <a:chOff x="1610" y="2000"/>
            <a:chExt cx="2540" cy="1176"/>
          </a:xfrm>
        </p:grpSpPr>
        <p:grpSp>
          <p:nvGrpSpPr>
            <p:cNvPr id="53275" name="Group 118"/>
            <p:cNvGrpSpPr/>
            <p:nvPr/>
          </p:nvGrpSpPr>
          <p:grpSpPr>
            <a:xfrm>
              <a:off x="1928" y="2000"/>
              <a:ext cx="2086" cy="756"/>
              <a:chOff x="1751" y="3333"/>
              <a:chExt cx="1632" cy="605"/>
            </a:xfrm>
          </p:grpSpPr>
          <p:sp>
            <p:nvSpPr>
              <p:cNvPr id="53276" name="Text Box 119"/>
              <p:cNvSpPr txBox="1"/>
              <p:nvPr/>
            </p:nvSpPr>
            <p:spPr>
              <a:xfrm>
                <a:off x="2481" y="3333"/>
                <a:ext cx="227" cy="301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 anchor="ctr" anchorCtr="0">
                <a:spAutoFit/>
              </a:bodyPr>
              <a:p>
                <a:pPr algn="ctr" eaLnBrk="0" hangingPunct="0">
                  <a:buClrTx/>
                  <a:buFontTx/>
                  <a:buNone/>
                </a:pPr>
                <a:r>
                  <a:rPr lang="en-US" altLang="zh-CN" i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R</a:t>
                </a:r>
                <a:endParaRPr lang="en-US" altLang="zh-CN" sz="2400" dirty="0"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endParaRPr>
              </a:p>
            </p:txBody>
          </p:sp>
          <p:sp>
            <p:nvSpPr>
              <p:cNvPr id="53277" name="Rectangle 120"/>
              <p:cNvSpPr/>
              <p:nvPr/>
            </p:nvSpPr>
            <p:spPr>
              <a:xfrm>
                <a:off x="2327" y="3702"/>
                <a:ext cx="480" cy="236"/>
              </a:xfrm>
              <a:prstGeom prst="rect">
                <a:avLst/>
              </a:prstGeom>
              <a:gradFill rotWithShape="1">
                <a:gsLst>
                  <a:gs pos="0">
                    <a:srgbClr val="764700"/>
                  </a:gs>
                  <a:gs pos="50000">
                    <a:srgbClr val="FF9900"/>
                  </a:gs>
                  <a:gs pos="100000">
                    <a:srgbClr val="764700"/>
                  </a:gs>
                </a:gsLst>
                <a:lin ang="5400000" scaled="1"/>
                <a:tileRect/>
              </a:gradFill>
              <a:ln w="12700">
                <a:noFill/>
              </a:ln>
            </p:spPr>
            <p:txBody>
              <a:bodyPr wrap="none" anchor="ctr" anchorCtr="0"/>
              <a:p>
                <a:pPr>
                  <a:buClrTx/>
                  <a:buFontTx/>
                  <a:buNone/>
                </a:pPr>
                <a:endParaRPr lang="zh-CN" altLang="en-US" dirty="0">
                  <a:latin typeface="Arial" panose="020B0604020202020204" pitchFamily="34" charset="0"/>
                  <a:ea typeface="楷体_GB2312" pitchFamily="49" charset="-122"/>
                </a:endParaRPr>
              </a:p>
            </p:txBody>
          </p:sp>
          <p:sp>
            <p:nvSpPr>
              <p:cNvPr id="53278" name="Line 121"/>
              <p:cNvSpPr/>
              <p:nvPr/>
            </p:nvSpPr>
            <p:spPr>
              <a:xfrm flipH="1" flipV="1">
                <a:off x="1751" y="3820"/>
                <a:ext cx="576" cy="0"/>
              </a:xfrm>
              <a:prstGeom prst="line">
                <a:avLst/>
              </a:prstGeom>
              <a:ln w="38100" cap="sq" cmpd="sng">
                <a:solidFill>
                  <a:srgbClr val="FFCC00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sp>
          <p:sp>
            <p:nvSpPr>
              <p:cNvPr id="53279" name="Line 122"/>
              <p:cNvSpPr/>
              <p:nvPr/>
            </p:nvSpPr>
            <p:spPr>
              <a:xfrm>
                <a:off x="2807" y="3820"/>
                <a:ext cx="576" cy="0"/>
              </a:xfrm>
              <a:prstGeom prst="line">
                <a:avLst/>
              </a:prstGeom>
              <a:ln w="38100" cap="sq" cmpd="sng">
                <a:solidFill>
                  <a:srgbClr val="FFCC00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sp>
        </p:grpSp>
        <p:sp>
          <p:nvSpPr>
            <p:cNvPr id="53280" name="Text Box 123"/>
            <p:cNvSpPr txBox="1"/>
            <p:nvPr/>
          </p:nvSpPr>
          <p:spPr>
            <a:xfrm>
              <a:off x="2744" y="2756"/>
              <a:ext cx="490" cy="42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buClrTx/>
                <a:buFontTx/>
                <a:buNone/>
              </a:pPr>
              <a:r>
                <a:rPr lang="en-US" altLang="zh-CN" sz="3200" i="1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u</a:t>
              </a:r>
              <a:endParaRPr lang="en-US" altLang="zh-CN" sz="2400" dirty="0"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53281" name="AutoShape 124"/>
            <p:cNvSpPr/>
            <p:nvPr/>
          </p:nvSpPr>
          <p:spPr>
            <a:xfrm>
              <a:off x="1837" y="2347"/>
              <a:ext cx="499" cy="91"/>
            </a:xfrm>
            <a:prstGeom prst="rightArrow">
              <a:avLst>
                <a:gd name="adj1" fmla="val 50000"/>
                <a:gd name="adj2" fmla="val 137062"/>
              </a:avLst>
            </a:prstGeom>
            <a:solidFill>
              <a:srgbClr val="00FFFF"/>
            </a:solidFill>
            <a:ln w="9525">
              <a:noFill/>
            </a:ln>
          </p:spPr>
          <p:txBody>
            <a:bodyPr wrap="none" anchor="ctr" anchorCtr="0"/>
            <a:p>
              <a:pPr>
                <a:buClrTx/>
                <a:buFontTx/>
                <a:buNone/>
              </a:pPr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53282" name="Text Box 125"/>
            <p:cNvSpPr txBox="1"/>
            <p:nvPr/>
          </p:nvSpPr>
          <p:spPr>
            <a:xfrm>
              <a:off x="2336" y="2166"/>
              <a:ext cx="363" cy="42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buClrTx/>
                <a:buFontTx/>
                <a:buNone/>
              </a:pPr>
              <a:r>
                <a:rPr lang="en-US" altLang="zh-CN" sz="3200" i="1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i</a:t>
              </a:r>
              <a:endParaRPr lang="en-US" altLang="zh-CN" sz="2400" dirty="0"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53283" name="Text Box 126"/>
            <p:cNvSpPr txBox="1"/>
            <p:nvPr/>
          </p:nvSpPr>
          <p:spPr>
            <a:xfrm>
              <a:off x="3833" y="2614"/>
              <a:ext cx="317" cy="509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buClrTx/>
                <a:buFontTx/>
                <a:buNone/>
              </a:pPr>
              <a:r>
                <a:rPr lang="en-US" altLang="zh-CN" sz="4000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Symbol" panose="05050102010706020507" pitchFamily="18" charset="2"/>
                </a:rPr>
                <a:t>-</a:t>
              </a:r>
              <a:endParaRPr lang="en-US" altLang="zh-CN" sz="24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53284" name="Text Box 127"/>
            <p:cNvSpPr txBox="1"/>
            <p:nvPr/>
          </p:nvSpPr>
          <p:spPr>
            <a:xfrm>
              <a:off x="1610" y="2615"/>
              <a:ext cx="589" cy="50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buClrTx/>
                <a:buFontTx/>
                <a:buNone/>
              </a:pPr>
              <a:r>
                <a:rPr lang="en-US" altLang="zh-CN" sz="4000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Symbol" panose="05050102010706020507" pitchFamily="18" charset="2"/>
                </a:rPr>
                <a:t>+</a:t>
              </a:r>
              <a:endParaRPr lang="en-US" altLang="zh-CN" sz="24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</p:grpSp>
      <p:grpSp>
        <p:nvGrpSpPr>
          <p:cNvPr id="53285" name="Group 131"/>
          <p:cNvGrpSpPr/>
          <p:nvPr/>
        </p:nvGrpSpPr>
        <p:grpSpPr>
          <a:xfrm>
            <a:off x="6588125" y="6445250"/>
            <a:ext cx="792163" cy="366713"/>
            <a:chOff x="5193" y="4020"/>
            <a:chExt cx="499" cy="231"/>
          </a:xfrm>
        </p:grpSpPr>
        <p:pic>
          <p:nvPicPr>
            <p:cNvPr id="53286" name="Picture 132" descr="78900">
              <a:hlinkClick r:id="" action="ppaction://hlinkshowjump?jump=firstslide"/>
            </p:cNvPr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3287" name="Text Box 133">
              <a:hlinkClick r:id="" action="ppaction://hlinkshowjump?jump=firs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48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48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48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48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204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4" dur="2000"/>
                                        <p:tgtEl>
                                          <p:spTgt spid="204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204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204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2049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1000"/>
                                        <p:tgtEl>
                                          <p:spTgt spid="2048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42" grpId="0"/>
      <p:bldP spid="204854" grpId="0"/>
      <p:bldP spid="204867" grpId="0"/>
      <p:bldP spid="204868" grpId="0"/>
      <p:bldP spid="204869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06910" name="Group 62"/>
          <p:cNvGrpSpPr/>
          <p:nvPr/>
        </p:nvGrpSpPr>
        <p:grpSpPr>
          <a:xfrm>
            <a:off x="6443663" y="4076700"/>
            <a:ext cx="2305050" cy="2160588"/>
            <a:chOff x="4059" y="1752"/>
            <a:chExt cx="1452" cy="1361"/>
          </a:xfrm>
        </p:grpSpPr>
        <p:sp>
          <p:nvSpPr>
            <p:cNvPr id="54274" name="Line 63"/>
            <p:cNvSpPr/>
            <p:nvPr/>
          </p:nvSpPr>
          <p:spPr>
            <a:xfrm>
              <a:off x="4059" y="2473"/>
              <a:ext cx="1233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54275" name="Line 64"/>
            <p:cNvSpPr/>
            <p:nvPr/>
          </p:nvSpPr>
          <p:spPr>
            <a:xfrm>
              <a:off x="4604" y="1872"/>
              <a:ext cx="0" cy="1241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triangle" w="med" len="med"/>
              <a:tailEnd type="none" w="med" len="med"/>
            </a:ln>
          </p:spPr>
        </p:sp>
        <p:sp>
          <p:nvSpPr>
            <p:cNvPr id="54276" name="Text Box 65"/>
            <p:cNvSpPr txBox="1"/>
            <p:nvPr/>
          </p:nvSpPr>
          <p:spPr>
            <a:xfrm>
              <a:off x="4639" y="1752"/>
              <a:ext cx="219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buClrTx/>
                <a:buFontTx/>
                <a:buNone/>
              </a:pPr>
              <a:r>
                <a:rPr lang="en-US" altLang="zh-CN" i="1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u</a:t>
              </a:r>
              <a:endParaRPr lang="en-US" altLang="zh-CN" sz="2400" dirty="0"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54277" name="Text Box 66"/>
            <p:cNvSpPr txBox="1"/>
            <p:nvPr/>
          </p:nvSpPr>
          <p:spPr>
            <a:xfrm>
              <a:off x="5293" y="2352"/>
              <a:ext cx="218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buClrTx/>
                <a:buFontTx/>
                <a:buNone/>
              </a:pPr>
              <a:r>
                <a:rPr lang="en-US" altLang="zh-CN" i="1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i</a:t>
              </a:r>
              <a:endParaRPr lang="en-US" altLang="zh-CN" sz="2400" dirty="0"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</p:grpSp>
      <p:sp>
        <p:nvSpPr>
          <p:cNvPr id="206850" name="Text Box 2"/>
          <p:cNvSpPr txBox="1"/>
          <p:nvPr/>
        </p:nvSpPr>
        <p:spPr>
          <a:xfrm>
            <a:off x="2268538" y="692150"/>
            <a:ext cx="5183187" cy="519113"/>
          </a:xfrm>
          <a:prstGeom prst="rect">
            <a:avLst/>
          </a:prstGeom>
          <a:noFill/>
          <a:ln w="12700">
            <a:noFill/>
          </a:ln>
        </p:spPr>
        <p:txBody>
          <a:bodyPr anchor="ctr" anchorCtr="0">
            <a:spAutoFit/>
          </a:bodyPr>
          <a:p>
            <a:pPr eaLnBrk="0" hangingPunct="0">
              <a:spcBef>
                <a:spcPct val="50000"/>
              </a:spcBef>
              <a:buClrTx/>
              <a:buFontTx/>
              <a:buNone/>
            </a:pP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从</a:t>
            </a:r>
            <a:r>
              <a:rPr lang="zh-CN" altLang="en-US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en-US" altLang="zh-CN" b="0" i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t</a:t>
            </a:r>
            <a:r>
              <a:rPr lang="en-US" altLang="zh-CN" b="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r>
              <a:rPr lang="en-US" altLang="zh-CN" dirty="0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到 </a:t>
            </a:r>
            <a:r>
              <a:rPr lang="en-US" altLang="zh-CN" b="0" i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t 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电阻消耗的能量：</a:t>
            </a:r>
            <a:endParaRPr lang="zh-CN" altLang="en-US" dirty="0"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206851" name="Object 3"/>
          <p:cNvGraphicFramePr>
            <a:graphicFrameLocks noChangeAspect="1"/>
          </p:cNvGraphicFramePr>
          <p:nvPr/>
        </p:nvGraphicFramePr>
        <p:xfrm>
          <a:off x="2195513" y="1196975"/>
          <a:ext cx="4089400" cy="944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2" name="" r:id="rId1" imgW="1336675" imgH="295275" progId="Equation.3">
                  <p:embed/>
                </p:oleObj>
              </mc:Choice>
              <mc:Fallback>
                <p:oleObj name="" r:id="rId1" imgW="1336675" imgH="295275" progId="Equation.3">
                  <p:embed/>
                  <p:pic>
                    <p:nvPicPr>
                      <p:cNvPr id="0" name="图片 3131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8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195513" y="1196975"/>
                        <a:ext cx="4089400" cy="9445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6866" name="Text Box 18"/>
          <p:cNvSpPr txBox="1"/>
          <p:nvPr/>
        </p:nvSpPr>
        <p:spPr>
          <a:xfrm>
            <a:off x="539750" y="2133600"/>
            <a:ext cx="3889375" cy="579438"/>
          </a:xfrm>
          <a:prstGeom prst="rect">
            <a:avLst/>
          </a:prstGeom>
          <a:noFill/>
          <a:ln w="12700">
            <a:noFill/>
          </a:ln>
          <a:effectLst>
            <a:outerShdw dist="107763" dir="18900000" algn="ctr" rotWithShape="0">
              <a:schemeClr val="bg2">
                <a:alpha val="50000"/>
              </a:schemeClr>
            </a:outerShdw>
          </a:effectLst>
        </p:spPr>
        <p:txBody>
          <a:bodyPr anchor="ctr" anchorCtr="0">
            <a:spAutoFit/>
          </a:bodyPr>
          <a:p>
            <a:pPr eaLnBrk="0" hangingPunct="0">
              <a:spcBef>
                <a:spcPct val="50000"/>
              </a:spcBef>
              <a:buClrTx/>
              <a:buFontTx/>
              <a:buNone/>
            </a:pPr>
            <a:r>
              <a:rPr lang="en-US" altLang="zh-CN" sz="32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4.</a:t>
            </a:r>
            <a:r>
              <a:rPr lang="zh-CN" altLang="en-US" sz="32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电阻的开路与短路</a:t>
            </a:r>
            <a:endParaRPr lang="zh-CN" altLang="en-US" sz="3200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06873" name="Text Box 25"/>
          <p:cNvSpPr txBox="1"/>
          <p:nvPr/>
        </p:nvSpPr>
        <p:spPr>
          <a:xfrm>
            <a:off x="684213" y="620713"/>
            <a:ext cx="1366837" cy="547687"/>
          </a:xfrm>
          <a:prstGeom prst="rect">
            <a:avLst/>
          </a:prstGeom>
          <a:noFill/>
          <a:ln w="2857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>
            <a:spAutoFit/>
          </a:bodyPr>
          <a:p>
            <a:pPr eaLnBrk="0" hangingPunct="0">
              <a:spcBef>
                <a:spcPct val="5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FF9900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zh-CN" altLang="en-US" dirty="0">
                <a:solidFill>
                  <a:srgbClr val="FF9900"/>
                </a:solidFill>
                <a:latin typeface="Times New Roman" panose="02020603050405020304" pitchFamily="18" charset="0"/>
                <a:ea typeface="楷体_GB2312" pitchFamily="49" charset="-122"/>
              </a:rPr>
              <a:t>能量</a:t>
            </a:r>
            <a:endParaRPr lang="zh-CN" altLang="en-US" dirty="0">
              <a:solidFill>
                <a:srgbClr val="FF99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06875" name="Text Box 27"/>
          <p:cNvSpPr txBox="1"/>
          <p:nvPr/>
        </p:nvSpPr>
        <p:spPr>
          <a:xfrm>
            <a:off x="2914650" y="4365625"/>
            <a:ext cx="1728788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>
              <a:spcBef>
                <a:spcPct val="50000"/>
              </a:spcBef>
              <a:buClrTx/>
              <a:buSzPct val="80000"/>
              <a:buFont typeface="Wingdings" panose="05000000000000000000" pitchFamily="2" charset="2"/>
              <a:buChar char="l"/>
            </a:pPr>
            <a:r>
              <a:rPr lang="en-US" altLang="zh-CN" dirty="0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 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短路</a:t>
            </a:r>
            <a:endParaRPr lang="zh-CN" altLang="en-US" dirty="0">
              <a:latin typeface="楷体_GB2312" pitchFamily="49" charset="-122"/>
              <a:ea typeface="楷体_GB2312" pitchFamily="49" charset="-122"/>
              <a:sym typeface="Symbol" panose="05050102010706020507" pitchFamily="18" charset="2"/>
            </a:endParaRPr>
          </a:p>
        </p:txBody>
      </p:sp>
      <p:graphicFrame>
        <p:nvGraphicFramePr>
          <p:cNvPr id="206876" name="Object 28"/>
          <p:cNvGraphicFramePr>
            <a:graphicFrameLocks noChangeAspect="1"/>
          </p:cNvGraphicFramePr>
          <p:nvPr/>
        </p:nvGraphicFramePr>
        <p:xfrm>
          <a:off x="2916238" y="5013325"/>
          <a:ext cx="2414587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0" name="" r:id="rId3" imgW="862330" imgH="156210" progId="Equation.3">
                  <p:embed/>
                </p:oleObj>
              </mc:Choice>
              <mc:Fallback>
                <p:oleObj name="" r:id="rId3" imgW="862330" imgH="156210" progId="Equation.3">
                  <p:embed/>
                  <p:pic>
                    <p:nvPicPr>
                      <p:cNvPr id="0" name="图片 3129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8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916238" y="5013325"/>
                        <a:ext cx="2414587" cy="4762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6877" name="AutoShape 29"/>
          <p:cNvSpPr/>
          <p:nvPr/>
        </p:nvSpPr>
        <p:spPr>
          <a:xfrm>
            <a:off x="2843213" y="4005263"/>
            <a:ext cx="576262" cy="144462"/>
          </a:xfrm>
          <a:prstGeom prst="rightArrow">
            <a:avLst>
              <a:gd name="adj1" fmla="val 50000"/>
              <a:gd name="adj2" fmla="val 99707"/>
            </a:avLst>
          </a:prstGeom>
          <a:solidFill>
            <a:srgbClr val="66CCFF"/>
          </a:solidFill>
          <a:ln w="9525">
            <a:noFill/>
          </a:ln>
        </p:spPr>
        <p:txBody>
          <a:bodyPr wrap="none" anchor="ctr" anchorCtr="0"/>
          <a:p>
            <a:pPr>
              <a:buClrTx/>
              <a:buFontTx/>
              <a:buNone/>
            </a:pPr>
            <a:endParaRPr lang="zh-CN" altLang="en-US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graphicFrame>
        <p:nvGraphicFramePr>
          <p:cNvPr id="206879" name="Object 31"/>
          <p:cNvGraphicFramePr>
            <a:graphicFrameLocks noChangeAspect="1"/>
          </p:cNvGraphicFramePr>
          <p:nvPr/>
        </p:nvGraphicFramePr>
        <p:xfrm>
          <a:off x="3432175" y="5516563"/>
          <a:ext cx="3155950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1" name="" r:id="rId5" imgW="1139825" imgH="156210" progId="Equation.3">
                  <p:embed/>
                </p:oleObj>
              </mc:Choice>
              <mc:Fallback>
                <p:oleObj name="" r:id="rId5" imgW="1139825" imgH="156210" progId="Equation.3">
                  <p:embed/>
                  <p:pic>
                    <p:nvPicPr>
                      <p:cNvPr id="0" name="图片 3130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00008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432175" y="5516563"/>
                        <a:ext cx="3155950" cy="4762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6880" name="Text Box 32"/>
          <p:cNvSpPr txBox="1"/>
          <p:nvPr/>
        </p:nvSpPr>
        <p:spPr>
          <a:xfrm>
            <a:off x="2843213" y="2708275"/>
            <a:ext cx="1728787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>
              <a:spcBef>
                <a:spcPct val="50000"/>
              </a:spcBef>
              <a:buClrTx/>
              <a:buSzPct val="80000"/>
              <a:buFont typeface="Wingdings" panose="05000000000000000000" pitchFamily="2" charset="2"/>
              <a:buChar char="l"/>
            </a:pPr>
            <a:r>
              <a:rPr lang="en-US" altLang="zh-CN" dirty="0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 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开路</a:t>
            </a:r>
            <a:endParaRPr lang="zh-CN" altLang="en-US" dirty="0">
              <a:latin typeface="楷体_GB2312" pitchFamily="49" charset="-122"/>
              <a:ea typeface="楷体_GB2312" pitchFamily="49" charset="-122"/>
              <a:sym typeface="Symbol" panose="05050102010706020507" pitchFamily="18" charset="2"/>
            </a:endParaRPr>
          </a:p>
        </p:txBody>
      </p:sp>
      <p:graphicFrame>
        <p:nvGraphicFramePr>
          <p:cNvPr id="206881" name="Object 33"/>
          <p:cNvGraphicFramePr>
            <a:graphicFrameLocks noChangeAspect="1"/>
          </p:cNvGraphicFramePr>
          <p:nvPr/>
        </p:nvGraphicFramePr>
        <p:xfrm>
          <a:off x="2916238" y="3284538"/>
          <a:ext cx="2493962" cy="493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4" name="" r:id="rId7" imgW="862330" imgH="156210" progId="Equation.3">
                  <p:embed/>
                </p:oleObj>
              </mc:Choice>
              <mc:Fallback>
                <p:oleObj name="" r:id="rId7" imgW="862330" imgH="156210" progId="Equation.3">
                  <p:embed/>
                  <p:pic>
                    <p:nvPicPr>
                      <p:cNvPr id="0" name="图片 3133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00008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916238" y="3284538"/>
                        <a:ext cx="2493962" cy="4937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6882" name="AutoShape 34"/>
          <p:cNvSpPr/>
          <p:nvPr/>
        </p:nvSpPr>
        <p:spPr>
          <a:xfrm>
            <a:off x="2841625" y="5661025"/>
            <a:ext cx="576263" cy="144463"/>
          </a:xfrm>
          <a:prstGeom prst="rightArrow">
            <a:avLst>
              <a:gd name="adj1" fmla="val 50000"/>
              <a:gd name="adj2" fmla="val 99706"/>
            </a:avLst>
          </a:prstGeom>
          <a:solidFill>
            <a:srgbClr val="66CCFF"/>
          </a:solidFill>
          <a:ln w="9525">
            <a:noFill/>
          </a:ln>
        </p:spPr>
        <p:txBody>
          <a:bodyPr wrap="none" anchor="ctr" anchorCtr="0"/>
          <a:p>
            <a:pPr>
              <a:buClrTx/>
              <a:buFontTx/>
              <a:buNone/>
            </a:pPr>
            <a:endParaRPr lang="zh-CN" altLang="en-US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graphicFrame>
        <p:nvGraphicFramePr>
          <p:cNvPr id="206883" name="Object 35"/>
          <p:cNvGraphicFramePr>
            <a:graphicFrameLocks noChangeAspect="1"/>
          </p:cNvGraphicFramePr>
          <p:nvPr/>
        </p:nvGraphicFramePr>
        <p:xfrm>
          <a:off x="3492500" y="3860800"/>
          <a:ext cx="2992438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3" name="" r:id="rId9" imgW="1139825" imgH="156210" progId="Equation.3">
                  <p:embed/>
                </p:oleObj>
              </mc:Choice>
              <mc:Fallback>
                <p:oleObj name="" r:id="rId9" imgW="1139825" imgH="156210" progId="Equation.3">
                  <p:embed/>
                  <p:pic>
                    <p:nvPicPr>
                      <p:cNvPr id="0" name="图片 3132"/>
                      <p:cNvPicPr/>
                      <p:nvPr/>
                    </p:nvPicPr>
                    <p:blipFill>
                      <a:blip r:embed="rId10">
                        <a:clrChange>
                          <a:clrFrom>
                            <a:srgbClr val="000000"/>
                          </a:clrFrom>
                          <a:clrTo>
                            <a:srgbClr val="00008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492500" y="3860800"/>
                        <a:ext cx="2992438" cy="4508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06892" name="Group 44"/>
          <p:cNvGrpSpPr/>
          <p:nvPr/>
        </p:nvGrpSpPr>
        <p:grpSpPr>
          <a:xfrm>
            <a:off x="6372225" y="1700213"/>
            <a:ext cx="2305050" cy="2160587"/>
            <a:chOff x="4059" y="1752"/>
            <a:chExt cx="1452" cy="1361"/>
          </a:xfrm>
        </p:grpSpPr>
        <p:sp>
          <p:nvSpPr>
            <p:cNvPr id="54291" name="Line 39"/>
            <p:cNvSpPr/>
            <p:nvPr/>
          </p:nvSpPr>
          <p:spPr>
            <a:xfrm>
              <a:off x="4059" y="2473"/>
              <a:ext cx="1233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54292" name="Line 40"/>
            <p:cNvSpPr/>
            <p:nvPr/>
          </p:nvSpPr>
          <p:spPr>
            <a:xfrm>
              <a:off x="4604" y="1872"/>
              <a:ext cx="0" cy="1241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triangle" w="med" len="med"/>
              <a:tailEnd type="none" w="med" len="med"/>
            </a:ln>
          </p:spPr>
        </p:sp>
        <p:sp>
          <p:nvSpPr>
            <p:cNvPr id="54293" name="Text Box 42"/>
            <p:cNvSpPr txBox="1"/>
            <p:nvPr/>
          </p:nvSpPr>
          <p:spPr>
            <a:xfrm>
              <a:off x="4639" y="1752"/>
              <a:ext cx="219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buClrTx/>
                <a:buFontTx/>
                <a:buNone/>
              </a:pPr>
              <a:r>
                <a:rPr lang="en-US" altLang="zh-CN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u</a:t>
              </a:r>
              <a:endParaRPr lang="en-US" altLang="zh-CN" b="0" dirty="0"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54294" name="Text Box 43"/>
            <p:cNvSpPr txBox="1"/>
            <p:nvPr/>
          </p:nvSpPr>
          <p:spPr>
            <a:xfrm>
              <a:off x="5293" y="2352"/>
              <a:ext cx="218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buClrTx/>
                <a:buFontTx/>
                <a:buNone/>
              </a:pPr>
              <a:r>
                <a:rPr lang="en-US" altLang="zh-CN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i</a:t>
              </a:r>
              <a:endParaRPr lang="en-US" altLang="zh-CN" b="0" dirty="0"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</p:grpSp>
      <p:sp>
        <p:nvSpPr>
          <p:cNvPr id="206893" name="Line 45"/>
          <p:cNvSpPr/>
          <p:nvPr/>
        </p:nvSpPr>
        <p:spPr>
          <a:xfrm>
            <a:off x="6875463" y="5227638"/>
            <a:ext cx="935037" cy="0"/>
          </a:xfrm>
          <a:prstGeom prst="line">
            <a:avLst/>
          </a:prstGeom>
          <a:ln w="38100" cap="flat" cmpd="sng">
            <a:solidFill>
              <a:srgbClr val="FF33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06894" name="Line 46"/>
          <p:cNvSpPr/>
          <p:nvPr/>
        </p:nvSpPr>
        <p:spPr>
          <a:xfrm flipV="1">
            <a:off x="7235825" y="2349500"/>
            <a:ext cx="0" cy="1079500"/>
          </a:xfrm>
          <a:prstGeom prst="line">
            <a:avLst/>
          </a:prstGeom>
          <a:ln w="38100" cap="flat" cmpd="sng">
            <a:solidFill>
              <a:srgbClr val="FF3300"/>
            </a:solidFill>
            <a:prstDash val="solid"/>
            <a:round/>
            <a:headEnd type="none" w="med" len="med"/>
            <a:tailEnd type="none" w="med" len="med"/>
          </a:ln>
        </p:spPr>
      </p:sp>
      <p:grpSp>
        <p:nvGrpSpPr>
          <p:cNvPr id="54297" name="Group 53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54298" name="Picture 54" descr="78900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4299" name="Text Box 55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54300" name="Group 56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54301" name="Picture 57" descr="78900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4302" name="Text Box 58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206915" name="Group 67"/>
          <p:cNvGrpSpPr/>
          <p:nvPr/>
        </p:nvGrpSpPr>
        <p:grpSpPr>
          <a:xfrm>
            <a:off x="539750" y="3284538"/>
            <a:ext cx="1722438" cy="1695450"/>
            <a:chOff x="3152" y="1510"/>
            <a:chExt cx="1085" cy="1068"/>
          </a:xfrm>
        </p:grpSpPr>
        <p:sp>
          <p:nvSpPr>
            <p:cNvPr id="54304" name="Text Box 68"/>
            <p:cNvSpPr txBox="1"/>
            <p:nvPr/>
          </p:nvSpPr>
          <p:spPr>
            <a:xfrm>
              <a:off x="3975" y="1979"/>
              <a:ext cx="253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0" hangingPunct="0">
                <a:buClrTx/>
                <a:buFontTx/>
                <a:buNone/>
              </a:pPr>
              <a:r>
                <a:rPr lang="en-US" altLang="zh-CN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endParaRPr lang="en-US" altLang="zh-CN" b="0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4305" name="Text Box 69"/>
            <p:cNvSpPr txBox="1"/>
            <p:nvPr/>
          </p:nvSpPr>
          <p:spPr>
            <a:xfrm>
              <a:off x="4059" y="1525"/>
              <a:ext cx="178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0" hangingPunct="0">
                <a:buClrTx/>
                <a:buFontTx/>
                <a:buNone/>
              </a:pPr>
              <a:r>
                <a:rPr lang="en-US" altLang="zh-CN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endParaRPr lang="en-US" altLang="zh-CN" b="0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4306" name="Text Box 70"/>
            <p:cNvSpPr txBox="1"/>
            <p:nvPr/>
          </p:nvSpPr>
          <p:spPr>
            <a:xfrm>
              <a:off x="3204" y="1797"/>
              <a:ext cx="228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0" hangingPunct="0">
                <a:buClrTx/>
                <a:buFontTx/>
                <a:buNone/>
              </a:pPr>
              <a:r>
                <a:rPr lang="en-US" altLang="zh-CN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endParaRPr lang="en-US" altLang="zh-CN" b="0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4307" name="Rectangle 71"/>
            <p:cNvSpPr/>
            <p:nvPr/>
          </p:nvSpPr>
          <p:spPr>
            <a:xfrm rot="5400000">
              <a:off x="3181" y="1479"/>
              <a:ext cx="267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0" hangingPunct="0">
                <a:buClrTx/>
                <a:buFontTx/>
                <a:buNone/>
              </a:pPr>
              <a:r>
                <a:rPr lang="en-US" altLang="zh-CN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CommonBullets" pitchFamily="34" charset="2"/>
                </a:rPr>
                <a:t>+</a:t>
              </a:r>
              <a:endParaRPr lang="en-US" altLang="zh-CN" b="0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CommonBullets" pitchFamily="34" charset="2"/>
              </a:endParaRPr>
            </a:p>
          </p:txBody>
        </p:sp>
        <p:sp>
          <p:nvSpPr>
            <p:cNvPr id="54308" name="Line 72"/>
            <p:cNvSpPr/>
            <p:nvPr/>
          </p:nvSpPr>
          <p:spPr>
            <a:xfrm rot="-5400000" flipV="1">
              <a:off x="3400" y="2045"/>
              <a:ext cx="1043" cy="0"/>
            </a:xfrm>
            <a:prstGeom prst="line">
              <a:avLst/>
            </a:prstGeom>
            <a:ln w="28575" cap="sq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4309" name="Rectangle 73"/>
            <p:cNvSpPr/>
            <p:nvPr/>
          </p:nvSpPr>
          <p:spPr>
            <a:xfrm>
              <a:off x="3198" y="2251"/>
              <a:ext cx="228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0" hangingPunct="0">
                <a:buClrTx/>
                <a:buFontTx/>
                <a:buNone/>
              </a:pPr>
              <a:r>
                <a:rPr lang="en-US" altLang="zh-CN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CommonBullets" pitchFamily="34" charset="2"/>
                </a:rPr>
                <a:t>–</a:t>
              </a:r>
              <a:endParaRPr lang="en-US" altLang="zh-CN" b="0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CommonBullets" pitchFamily="34" charset="2"/>
              </a:endParaRPr>
            </a:p>
          </p:txBody>
        </p:sp>
        <p:sp>
          <p:nvSpPr>
            <p:cNvPr id="54310" name="Line 74"/>
            <p:cNvSpPr/>
            <p:nvPr/>
          </p:nvSpPr>
          <p:spPr>
            <a:xfrm>
              <a:off x="4014" y="1525"/>
              <a:ext cx="0" cy="385"/>
            </a:xfrm>
            <a:prstGeom prst="line">
              <a:avLst/>
            </a:prstGeom>
            <a:ln w="38100" cap="flat" cmpd="sng">
              <a:solidFill>
                <a:srgbClr val="00FF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54311" name="Line 75"/>
            <p:cNvSpPr/>
            <p:nvPr/>
          </p:nvSpPr>
          <p:spPr>
            <a:xfrm>
              <a:off x="3288" y="2568"/>
              <a:ext cx="636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oval" w="med" len="med"/>
              <a:tailEnd type="none" w="med" len="med"/>
            </a:ln>
          </p:spPr>
        </p:sp>
        <p:sp>
          <p:nvSpPr>
            <p:cNvPr id="54312" name="Line 76"/>
            <p:cNvSpPr/>
            <p:nvPr/>
          </p:nvSpPr>
          <p:spPr>
            <a:xfrm>
              <a:off x="3288" y="1525"/>
              <a:ext cx="635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oval" w="med" len="med"/>
              <a:tailEnd type="none" w="med" len="med"/>
            </a:ln>
          </p:spPr>
        </p:sp>
        <p:sp>
          <p:nvSpPr>
            <p:cNvPr id="54313" name="Rectangle 77"/>
            <p:cNvSpPr/>
            <p:nvPr/>
          </p:nvSpPr>
          <p:spPr>
            <a:xfrm>
              <a:off x="3833" y="1979"/>
              <a:ext cx="136" cy="317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>
                <a:buClrTx/>
                <a:buFontTx/>
                <a:buNone/>
              </a:pPr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</p:grpSp>
      <p:grpSp>
        <p:nvGrpSpPr>
          <p:cNvPr id="206926" name="Group 78"/>
          <p:cNvGrpSpPr/>
          <p:nvPr/>
        </p:nvGrpSpPr>
        <p:grpSpPr>
          <a:xfrm>
            <a:off x="250825" y="2924175"/>
            <a:ext cx="2305050" cy="2520950"/>
            <a:chOff x="2880" y="890"/>
            <a:chExt cx="1452" cy="1588"/>
          </a:xfrm>
        </p:grpSpPr>
        <p:sp>
          <p:nvSpPr>
            <p:cNvPr id="54315" name="Rectangle 79"/>
            <p:cNvSpPr/>
            <p:nvPr/>
          </p:nvSpPr>
          <p:spPr>
            <a:xfrm>
              <a:off x="2880" y="890"/>
              <a:ext cx="1452" cy="1588"/>
            </a:xfrm>
            <a:prstGeom prst="rect">
              <a:avLst/>
            </a:prstGeom>
            <a:solidFill>
              <a:srgbClr val="969696"/>
            </a:solidFill>
            <a:ln w="28575">
              <a:noFill/>
            </a:ln>
          </p:spPr>
          <p:txBody>
            <a:bodyPr wrap="none" anchor="ctr" anchorCtr="0"/>
            <a:p>
              <a:pPr>
                <a:buClrTx/>
                <a:buFontTx/>
                <a:buNone/>
              </a:pPr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grpSp>
          <p:nvGrpSpPr>
            <p:cNvPr id="54316" name="Group 80"/>
            <p:cNvGrpSpPr/>
            <p:nvPr/>
          </p:nvGrpSpPr>
          <p:grpSpPr>
            <a:xfrm>
              <a:off x="3152" y="1162"/>
              <a:ext cx="817" cy="1068"/>
              <a:chOff x="3152" y="1162"/>
              <a:chExt cx="817" cy="1068"/>
            </a:xfrm>
          </p:grpSpPr>
          <p:sp>
            <p:nvSpPr>
              <p:cNvPr id="54317" name="Text Box 81"/>
              <p:cNvSpPr txBox="1"/>
              <p:nvPr/>
            </p:nvSpPr>
            <p:spPr>
              <a:xfrm>
                <a:off x="3204" y="1449"/>
                <a:ext cx="228" cy="327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 anchor="ctr" anchorCtr="0">
                <a:spAutoFit/>
              </a:bodyPr>
              <a:p>
                <a:pPr algn="ctr" eaLnBrk="0" hangingPunct="0">
                  <a:buClrTx/>
                  <a:buFontTx/>
                  <a:buNone/>
                </a:pPr>
                <a:r>
                  <a:rPr lang="en-US" altLang="zh-CN" b="0" i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u</a:t>
                </a:r>
                <a:endParaRPr lang="en-US" altLang="zh-CN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4318" name="Rectangle 82"/>
              <p:cNvSpPr/>
              <p:nvPr/>
            </p:nvSpPr>
            <p:spPr>
              <a:xfrm rot="5400000">
                <a:off x="3181" y="1131"/>
                <a:ext cx="267" cy="327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 anchor="ctr" anchorCtr="0">
                <a:spAutoFit/>
              </a:bodyPr>
              <a:p>
                <a:pPr algn="ctr" eaLnBrk="0" hangingPunct="0">
                  <a:buClrTx/>
                  <a:buFontTx/>
                  <a:buNone/>
                </a:pPr>
                <a:r>
                  <a:rPr lang="en-US" altLang="zh-CN" b="0" i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CommonBullets" pitchFamily="34" charset="2"/>
                  </a:rPr>
                  <a:t>+</a:t>
                </a:r>
                <a:endParaRPr lang="en-US" altLang="zh-CN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CommonBullets" pitchFamily="34" charset="2"/>
                </a:endParaRPr>
              </a:p>
            </p:txBody>
          </p:sp>
          <p:sp>
            <p:nvSpPr>
              <p:cNvPr id="54319" name="Line 83"/>
              <p:cNvSpPr/>
              <p:nvPr/>
            </p:nvSpPr>
            <p:spPr>
              <a:xfrm rot="-5400000" flipV="1">
                <a:off x="3770" y="1327"/>
                <a:ext cx="303" cy="0"/>
              </a:xfrm>
              <a:prstGeom prst="line">
                <a:avLst/>
              </a:prstGeom>
              <a:ln w="28575" cap="sq" cmpd="sng">
                <a:solidFill>
                  <a:srgbClr val="FFCC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54320" name="Rectangle 84"/>
              <p:cNvSpPr/>
              <p:nvPr/>
            </p:nvSpPr>
            <p:spPr>
              <a:xfrm>
                <a:off x="3198" y="1903"/>
                <a:ext cx="228" cy="327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 anchor="ctr" anchorCtr="0">
                <a:spAutoFit/>
              </a:bodyPr>
              <a:p>
                <a:pPr algn="ctr" eaLnBrk="0" hangingPunct="0">
                  <a:buClrTx/>
                  <a:buFontTx/>
                  <a:buNone/>
                </a:pPr>
                <a:r>
                  <a:rPr lang="en-US" altLang="zh-CN" b="0" i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CommonBullets" pitchFamily="34" charset="2"/>
                  </a:rPr>
                  <a:t>–</a:t>
                </a:r>
                <a:endParaRPr lang="en-US" altLang="zh-CN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CommonBullets" pitchFamily="34" charset="2"/>
                </a:endParaRPr>
              </a:p>
            </p:txBody>
          </p:sp>
          <p:sp>
            <p:nvSpPr>
              <p:cNvPr id="54321" name="Line 85"/>
              <p:cNvSpPr/>
              <p:nvPr/>
            </p:nvSpPr>
            <p:spPr>
              <a:xfrm>
                <a:off x="3288" y="2220"/>
                <a:ext cx="636" cy="0"/>
              </a:xfrm>
              <a:prstGeom prst="line">
                <a:avLst/>
              </a:prstGeom>
              <a:ln w="28575" cap="flat" cmpd="sng">
                <a:solidFill>
                  <a:srgbClr val="FFCC00"/>
                </a:solidFill>
                <a:prstDash val="solid"/>
                <a:round/>
                <a:headEnd type="oval" w="med" len="med"/>
                <a:tailEnd type="none" w="med" len="med"/>
              </a:ln>
            </p:spPr>
          </p:sp>
          <p:sp>
            <p:nvSpPr>
              <p:cNvPr id="54322" name="Line 86"/>
              <p:cNvSpPr/>
              <p:nvPr/>
            </p:nvSpPr>
            <p:spPr>
              <a:xfrm>
                <a:off x="3288" y="1177"/>
                <a:ext cx="635" cy="0"/>
              </a:xfrm>
              <a:prstGeom prst="line">
                <a:avLst/>
              </a:prstGeom>
              <a:ln w="28575" cap="flat" cmpd="sng">
                <a:solidFill>
                  <a:srgbClr val="FFCC00"/>
                </a:solidFill>
                <a:prstDash val="solid"/>
                <a:round/>
                <a:headEnd type="oval" w="med" len="med"/>
                <a:tailEnd type="none" w="med" len="med"/>
              </a:ln>
            </p:spPr>
          </p:sp>
          <p:sp>
            <p:nvSpPr>
              <p:cNvPr id="54323" name="Oval 87" descr="斜纹布"/>
              <p:cNvSpPr/>
              <p:nvPr/>
            </p:nvSpPr>
            <p:spPr>
              <a:xfrm>
                <a:off x="3878" y="1480"/>
                <a:ext cx="91" cy="90"/>
              </a:xfrm>
              <a:prstGeom prst="ellipse">
                <a:avLst/>
              </a:prstGeom>
              <a:noFill/>
              <a:ln w="28575" cap="sq" cmpd="sng">
                <a:solidFill>
                  <a:srgbClr val="FFCC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ClrTx/>
                  <a:buFontTx/>
                  <a:buNone/>
                </a:pPr>
                <a:endParaRPr lang="zh-CN" altLang="en-US" dirty="0">
                  <a:latin typeface="Arial" panose="020B0604020202020204" pitchFamily="34" charset="0"/>
                  <a:ea typeface="楷体_GB2312" pitchFamily="49" charset="-122"/>
                </a:endParaRPr>
              </a:p>
            </p:txBody>
          </p:sp>
          <p:sp>
            <p:nvSpPr>
              <p:cNvPr id="54324" name="Line 88"/>
              <p:cNvSpPr/>
              <p:nvPr/>
            </p:nvSpPr>
            <p:spPr>
              <a:xfrm rot="-5400000" flipV="1">
                <a:off x="3787" y="2069"/>
                <a:ext cx="272" cy="0"/>
              </a:xfrm>
              <a:prstGeom prst="line">
                <a:avLst/>
              </a:prstGeom>
              <a:ln w="28575" cap="sq" cmpd="sng">
                <a:solidFill>
                  <a:srgbClr val="FFCC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54325" name="Oval 89" descr="斜纹布"/>
              <p:cNvSpPr/>
              <p:nvPr/>
            </p:nvSpPr>
            <p:spPr>
              <a:xfrm>
                <a:off x="3878" y="1843"/>
                <a:ext cx="91" cy="90"/>
              </a:xfrm>
              <a:prstGeom prst="ellipse">
                <a:avLst/>
              </a:prstGeom>
              <a:noFill/>
              <a:ln w="28575" cap="sq" cmpd="sng">
                <a:solidFill>
                  <a:srgbClr val="FFCC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ClrTx/>
                  <a:buFontTx/>
                  <a:buNone/>
                </a:pPr>
                <a:endParaRPr lang="zh-CN" altLang="en-US" dirty="0">
                  <a:latin typeface="Arial" panose="020B0604020202020204" pitchFamily="34" charset="0"/>
                  <a:ea typeface="楷体_GB2312" pitchFamily="49" charset="-122"/>
                </a:endParaRPr>
              </a:p>
            </p:txBody>
          </p:sp>
        </p:grpSp>
      </p:grpSp>
      <p:grpSp>
        <p:nvGrpSpPr>
          <p:cNvPr id="206938" name="Group 90"/>
          <p:cNvGrpSpPr/>
          <p:nvPr/>
        </p:nvGrpSpPr>
        <p:grpSpPr>
          <a:xfrm>
            <a:off x="250825" y="2924175"/>
            <a:ext cx="2305050" cy="2520950"/>
            <a:chOff x="2381" y="1570"/>
            <a:chExt cx="1452" cy="1588"/>
          </a:xfrm>
        </p:grpSpPr>
        <p:sp>
          <p:nvSpPr>
            <p:cNvPr id="54327" name="Rectangle 91"/>
            <p:cNvSpPr/>
            <p:nvPr/>
          </p:nvSpPr>
          <p:spPr>
            <a:xfrm>
              <a:off x="2381" y="1570"/>
              <a:ext cx="1452" cy="1588"/>
            </a:xfrm>
            <a:prstGeom prst="rect">
              <a:avLst/>
            </a:prstGeom>
            <a:solidFill>
              <a:srgbClr val="969696"/>
            </a:solidFill>
            <a:ln w="28575">
              <a:noFill/>
            </a:ln>
          </p:spPr>
          <p:txBody>
            <a:bodyPr wrap="none" anchor="ctr" anchorCtr="0"/>
            <a:p>
              <a:pPr>
                <a:buClrTx/>
                <a:buFontTx/>
                <a:buNone/>
              </a:pPr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54328" name="Text Box 92"/>
            <p:cNvSpPr txBox="1"/>
            <p:nvPr/>
          </p:nvSpPr>
          <p:spPr>
            <a:xfrm>
              <a:off x="3107" y="1933"/>
              <a:ext cx="178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0" hangingPunct="0">
                <a:buClrTx/>
                <a:buFontTx/>
                <a:buNone/>
              </a:pPr>
              <a:r>
                <a:rPr lang="en-US" altLang="zh-CN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endParaRPr lang="en-US" altLang="zh-CN" b="0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4329" name="Line 93"/>
            <p:cNvSpPr/>
            <p:nvPr/>
          </p:nvSpPr>
          <p:spPr>
            <a:xfrm rot="-5400000" flipV="1">
              <a:off x="2908" y="2370"/>
              <a:ext cx="1029" cy="0"/>
            </a:xfrm>
            <a:prstGeom prst="line">
              <a:avLst/>
            </a:prstGeom>
            <a:ln w="28575" cap="sq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4330" name="Line 94"/>
            <p:cNvSpPr/>
            <p:nvPr/>
          </p:nvSpPr>
          <p:spPr>
            <a:xfrm>
              <a:off x="2789" y="2900"/>
              <a:ext cx="636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oval" w="med" len="med"/>
              <a:tailEnd type="none" w="med" len="med"/>
            </a:ln>
          </p:spPr>
        </p:sp>
        <p:sp>
          <p:nvSpPr>
            <p:cNvPr id="54331" name="Line 95"/>
            <p:cNvSpPr/>
            <p:nvPr/>
          </p:nvSpPr>
          <p:spPr>
            <a:xfrm>
              <a:off x="2789" y="1857"/>
              <a:ext cx="635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oval" w="med" len="med"/>
              <a:tailEnd type="none" w="med" len="med"/>
            </a:ln>
          </p:spPr>
        </p:sp>
        <p:sp>
          <p:nvSpPr>
            <p:cNvPr id="54332" name="Line 96"/>
            <p:cNvSpPr/>
            <p:nvPr/>
          </p:nvSpPr>
          <p:spPr>
            <a:xfrm>
              <a:off x="3334" y="1933"/>
              <a:ext cx="0" cy="363"/>
            </a:xfrm>
            <a:prstGeom prst="line">
              <a:avLst/>
            </a:prstGeom>
            <a:ln w="38100" cap="sq" cmpd="sng">
              <a:solidFill>
                <a:srgbClr val="00CC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  <p:sp>
        <p:nvSpPr>
          <p:cNvPr id="206945" name="Text Box 97" descr="斜纹布"/>
          <p:cNvSpPr txBox="1"/>
          <p:nvPr/>
        </p:nvSpPr>
        <p:spPr>
          <a:xfrm>
            <a:off x="6877050" y="2781300"/>
            <a:ext cx="360363" cy="519113"/>
          </a:xfrm>
          <a:prstGeom prst="rect">
            <a:avLst/>
          </a:prstGeom>
          <a:noFill/>
          <a:ln w="28575">
            <a:noFill/>
          </a:ln>
          <a:effectLst>
            <a:prstShdw prst="shdw17" dist="17961" dir="2699999">
              <a:schemeClr val="bg2"/>
            </a:prstShdw>
          </a:effectLst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ClrTx/>
              <a:buFontTx/>
              <a:buNone/>
            </a:pPr>
            <a:r>
              <a: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endParaRPr lang="en-US" altLang="zh-CN" b="0" dirty="0">
              <a:solidFill>
                <a:schemeClr val="tx1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06946" name="Text Box 98" descr="斜纹布"/>
          <p:cNvSpPr txBox="1"/>
          <p:nvPr/>
        </p:nvSpPr>
        <p:spPr>
          <a:xfrm>
            <a:off x="6946900" y="5156200"/>
            <a:ext cx="360363" cy="519113"/>
          </a:xfrm>
          <a:prstGeom prst="rect">
            <a:avLst/>
          </a:prstGeom>
          <a:noFill/>
          <a:ln w="28575">
            <a:noFill/>
          </a:ln>
          <a:effectLst>
            <a:prstShdw prst="shdw17" dist="17961" dir="2699999">
              <a:schemeClr val="bg2"/>
            </a:prstShdw>
          </a:effectLst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ClrTx/>
              <a:buFontTx/>
              <a:buNone/>
            </a:pPr>
            <a:r>
              <a: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endParaRPr lang="en-US" altLang="zh-CN" b="0" dirty="0">
              <a:solidFill>
                <a:schemeClr val="tx1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pSp>
        <p:nvGrpSpPr>
          <p:cNvPr id="54335" name="Group 106"/>
          <p:cNvGrpSpPr/>
          <p:nvPr/>
        </p:nvGrpSpPr>
        <p:grpSpPr>
          <a:xfrm>
            <a:off x="6588125" y="6445250"/>
            <a:ext cx="792163" cy="366713"/>
            <a:chOff x="5193" y="4020"/>
            <a:chExt cx="499" cy="231"/>
          </a:xfrm>
        </p:grpSpPr>
        <p:pic>
          <p:nvPicPr>
            <p:cNvPr id="54336" name="Picture 107" descr="78900">
              <a:hlinkClick r:id="" action="ppaction://hlinkshowjump?jump=firstslide"/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4337" name="Text Box 108">
              <a:hlinkClick r:id="" action="ppaction://hlinkshowjump?jump=firs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68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68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90" fill="hold"/>
                                        <p:tgtEl>
                                          <p:spTgt spid="2068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90" fill="hold"/>
                                        <p:tgtEl>
                                          <p:spTgt spid="2068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90"/>
                                        <p:tgtEl>
                                          <p:spTgt spid="206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9" dur="2000"/>
                                        <p:tgtEl>
                                          <p:spTgt spid="206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300" fill="hold"/>
                                        <p:tgtEl>
                                          <p:spTgt spid="2068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300" fill="hold"/>
                                        <p:tgtEl>
                                          <p:spTgt spid="2068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206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068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068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206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5" dur="2000"/>
                                        <p:tgtEl>
                                          <p:spTgt spid="2068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0" dur="500"/>
                                        <p:tgtEl>
                                          <p:spTgt spid="2068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4" dur="3000"/>
                                        <p:tgtEl>
                                          <p:spTgt spid="2068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59" dur="2000"/>
                                        <p:tgtEl>
                                          <p:spTgt spid="206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2000"/>
                            </p:stCondLst>
                            <p:childTnLst>
                              <p:par>
                                <p:cTn id="61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2069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2500"/>
                            </p:stCondLst>
                            <p:childTnLst>
                              <p:par>
                                <p:cTn id="6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206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2" dur="500"/>
                                        <p:tgtEl>
                                          <p:spTgt spid="206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"/>
                            </p:stCondLst>
                            <p:childTnLst>
                              <p:par>
                                <p:cTn id="7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500"/>
                                        <p:tgtEl>
                                          <p:spTgt spid="206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81" dur="2000"/>
                                        <p:tgtEl>
                                          <p:spTgt spid="206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86" dur="500"/>
                                        <p:tgtEl>
                                          <p:spTgt spid="2068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500"/>
                            </p:stCondLst>
                            <p:childTnLst>
                              <p:par>
                                <p:cTn id="88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90" dur="2000"/>
                                        <p:tgtEl>
                                          <p:spTgt spid="2068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95" dur="2000"/>
                                        <p:tgtEl>
                                          <p:spTgt spid="2069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2000"/>
                            </p:stCondLst>
                            <p:childTnLst>
                              <p:par>
                                <p:cTn id="9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9" dur="500"/>
                                        <p:tgtEl>
                                          <p:spTgt spid="206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2500"/>
                            </p:stCondLst>
                            <p:childTnLst>
                              <p:par>
                                <p:cTn id="10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206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6850" grpId="0"/>
      <p:bldP spid="206866" grpId="0"/>
      <p:bldP spid="206873" grpId="0" animBg="1"/>
      <p:bldP spid="206875" grpId="0"/>
      <p:bldP spid="206877" grpId="0" animBg="1"/>
      <p:bldP spid="206880" grpId="0"/>
      <p:bldP spid="206882" grpId="0" animBg="1"/>
      <p:bldP spid="206945" grpId="0"/>
      <p:bldP spid="206946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55297" name="Group 2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55298" name="Picture 3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5299" name="Text Box 4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55300" name="Group 5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55301" name="Picture 6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5302" name="Text Box 7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pic>
        <p:nvPicPr>
          <p:cNvPr id="55303" name="Picture 8" descr="3th"/>
          <p:cNvPicPr>
            <a:picLocks noChangeAspect="1"/>
          </p:cNvPicPr>
          <p:nvPr/>
        </p:nvPicPr>
        <p:blipFill>
          <a:blip r:embed="rId2"/>
          <a:srcRect l="11890" t="1772" r="9528" b="5354"/>
          <a:stretch>
            <a:fillRect/>
          </a:stretch>
        </p:blipFill>
        <p:spPr>
          <a:xfrm>
            <a:off x="1403350" y="620713"/>
            <a:ext cx="5976938" cy="47085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5304" name="Text Box 9"/>
          <p:cNvSpPr txBox="1"/>
          <p:nvPr/>
        </p:nvSpPr>
        <p:spPr>
          <a:xfrm>
            <a:off x="3203575" y="5445125"/>
            <a:ext cx="2232025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>
              <a:spcBef>
                <a:spcPct val="50000"/>
              </a:spcBef>
              <a:buClrTx/>
              <a:buFontTx/>
              <a:buNone/>
            </a:pP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实际电阻器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ea typeface="楷体_GB2312" pitchFamily="49" charset="-122"/>
              <a:sym typeface="Symbol" panose="05050102010706020507" pitchFamily="18" charset="2"/>
            </a:endParaRPr>
          </a:p>
        </p:txBody>
      </p:sp>
      <p:grpSp>
        <p:nvGrpSpPr>
          <p:cNvPr id="55305" name="Group 16"/>
          <p:cNvGrpSpPr/>
          <p:nvPr/>
        </p:nvGrpSpPr>
        <p:grpSpPr>
          <a:xfrm>
            <a:off x="6588125" y="6445250"/>
            <a:ext cx="792163" cy="366713"/>
            <a:chOff x="5193" y="4020"/>
            <a:chExt cx="499" cy="231"/>
          </a:xfrm>
        </p:grpSpPr>
        <p:pic>
          <p:nvPicPr>
            <p:cNvPr id="55306" name="Picture 17" descr="78900">
              <a:hlinkClick r:id="" action="ppaction://hlinkshowjump?jump=firstslide"/>
            </p:cNvPr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5307" name="Text Box 18">
              <a:hlinkClick r:id="" action="ppaction://hlinkshowjump?jump=firs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8356" name="Text Box 4"/>
          <p:cNvSpPr txBox="1"/>
          <p:nvPr/>
        </p:nvSpPr>
        <p:spPr>
          <a:xfrm>
            <a:off x="2093913" y="620713"/>
            <a:ext cx="5357812" cy="762000"/>
          </a:xfrm>
          <a:prstGeom prst="rect">
            <a:avLst/>
          </a:prstGeom>
          <a:noFill/>
          <a:ln w="12700">
            <a:noFill/>
          </a:ln>
          <a:effectLst>
            <a:prstShdw prst="shdw17" dist="17961" dir="2699999">
              <a:srgbClr val="009900"/>
            </a:prstShdw>
          </a:effectLst>
        </p:spPr>
        <p:txBody>
          <a:bodyPr wrap="none" anchor="ctr" anchorCtr="0">
            <a:spAutoFit/>
          </a:bodyPr>
          <a:p>
            <a:pPr algn="ctr" eaLnBrk="0" hangingPunct="0">
              <a:buClrTx/>
              <a:buFontTx/>
              <a:buNone/>
            </a:pPr>
            <a:r>
              <a:rPr lang="en-US" altLang="zh-CN" sz="40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44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1.6 </a:t>
            </a:r>
            <a:r>
              <a:rPr lang="zh-CN" altLang="en-US" sz="44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电压源和电流源</a:t>
            </a:r>
            <a:endParaRPr lang="zh-CN" altLang="en-US" sz="3600" dirty="0">
              <a:solidFill>
                <a:schemeClr val="tx1"/>
              </a:solidFill>
              <a:latin typeface="Times New Roman" panose="02020603050405020304" pitchFamily="18" charset="0"/>
              <a:ea typeface="仿宋_GB2312" pitchFamily="49" charset="-122"/>
            </a:endParaRPr>
          </a:p>
        </p:txBody>
      </p:sp>
      <p:sp>
        <p:nvSpPr>
          <p:cNvPr id="56322" name="Text Box 5"/>
          <p:cNvSpPr txBox="1"/>
          <p:nvPr/>
        </p:nvSpPr>
        <p:spPr>
          <a:xfrm>
            <a:off x="3419475" y="2420938"/>
            <a:ext cx="5472113" cy="1081087"/>
          </a:xfrm>
          <a:prstGeom prst="rect">
            <a:avLst/>
          </a:prstGeom>
          <a:noFill/>
          <a:ln w="12700">
            <a:noFill/>
          </a:ln>
        </p:spPr>
        <p:txBody>
          <a:bodyPr anchor="ctr" anchorCtr="0"/>
          <a:p>
            <a:pPr marL="2476500" indent="-2476500" eaLnBrk="0" hangingPunct="0">
              <a:lnSpc>
                <a:spcPct val="120000"/>
              </a:lnSpc>
              <a:buClrTx/>
              <a:buFontTx/>
              <a:buNone/>
            </a:pPr>
            <a:endParaRPr lang="en-US" altLang="zh-CN" dirty="0">
              <a:latin typeface="楷体_GB2312" pitchFamily="49" charset="-122"/>
              <a:ea typeface="楷体_GB2312" pitchFamily="49" charset="-122"/>
            </a:endParaRPr>
          </a:p>
          <a:p>
            <a:pPr marL="2476500" indent="-2476500" eaLnBrk="0" hangingPunct="0">
              <a:lnSpc>
                <a:spcPct val="120000"/>
              </a:lnSpc>
              <a:buClrTx/>
              <a:buFontTx/>
              <a:buNone/>
            </a:pPr>
            <a:endParaRPr lang="en-US" altLang="zh-CN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28364" name="Text Box 12"/>
          <p:cNvSpPr txBox="1"/>
          <p:nvPr/>
        </p:nvSpPr>
        <p:spPr>
          <a:xfrm>
            <a:off x="1042988" y="4437063"/>
            <a:ext cx="2087562" cy="576262"/>
          </a:xfrm>
          <a:prstGeom prst="rect">
            <a:avLst/>
          </a:prstGeom>
          <a:noFill/>
          <a:ln w="2857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p>
            <a:pPr eaLnBrk="0" hangingPunct="0">
              <a:lnSpc>
                <a:spcPct val="120000"/>
              </a:lnSpc>
              <a:spcBef>
                <a:spcPct val="50000"/>
              </a:spcBef>
              <a:buClrTx/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电路符号</a:t>
            </a:r>
            <a:endParaRPr lang="zh-CN" altLang="en-US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28376" name="Text Box 24"/>
          <p:cNvSpPr txBox="1"/>
          <p:nvPr/>
        </p:nvSpPr>
        <p:spPr>
          <a:xfrm>
            <a:off x="684213" y="1484313"/>
            <a:ext cx="3167062" cy="57943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ctr" eaLnBrk="0" hangingPunct="0">
              <a:spcBef>
                <a:spcPct val="50000"/>
              </a:spcBef>
              <a:buClrTx/>
              <a:buFontTx/>
              <a:buNone/>
            </a:pPr>
            <a:r>
              <a:rPr lang="en-US" altLang="zh-CN" sz="32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1.</a:t>
            </a:r>
            <a:r>
              <a:rPr lang="zh-CN" altLang="en-US" sz="32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理想电压源</a:t>
            </a:r>
            <a:endParaRPr lang="zh-CN" altLang="en-US" sz="3200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  <a:sym typeface="Symbol" panose="05050102010706020507" pitchFamily="18" charset="2"/>
            </a:endParaRPr>
          </a:p>
        </p:txBody>
      </p:sp>
      <p:sp>
        <p:nvSpPr>
          <p:cNvPr id="228377" name="Text Box 25"/>
          <p:cNvSpPr txBox="1"/>
          <p:nvPr/>
        </p:nvSpPr>
        <p:spPr>
          <a:xfrm>
            <a:off x="1042988" y="2349500"/>
            <a:ext cx="1368425" cy="547688"/>
          </a:xfrm>
          <a:prstGeom prst="rect">
            <a:avLst/>
          </a:prstGeom>
          <a:noFill/>
          <a:ln w="2857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>
            <a:spAutoFit/>
          </a:bodyPr>
          <a:p>
            <a:pPr algn="ctr" eaLnBrk="0" hangingPunct="0">
              <a:spcBef>
                <a:spcPct val="50000"/>
              </a:spcBef>
              <a:buClr>
                <a:schemeClr val="tx1"/>
              </a:buClr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定义</a:t>
            </a:r>
            <a:endParaRPr lang="zh-CN" altLang="en-US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  <a:sym typeface="Symbol" panose="05050102010706020507" pitchFamily="18" charset="2"/>
            </a:endParaRPr>
          </a:p>
        </p:txBody>
      </p:sp>
      <p:sp>
        <p:nvSpPr>
          <p:cNvPr id="228378" name="AutoShape 26"/>
          <p:cNvSpPr/>
          <p:nvPr/>
        </p:nvSpPr>
        <p:spPr>
          <a:xfrm>
            <a:off x="2627313" y="2565400"/>
            <a:ext cx="719137" cy="144463"/>
          </a:xfrm>
          <a:prstGeom prst="rightArrow">
            <a:avLst>
              <a:gd name="adj1" fmla="val 50000"/>
              <a:gd name="adj2" fmla="val 124426"/>
            </a:avLst>
          </a:prstGeom>
          <a:solidFill>
            <a:schemeClr val="hlink"/>
          </a:solidFill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>
              <a:buClrTx/>
              <a:buFontTx/>
              <a:buNone/>
            </a:pPr>
            <a:endParaRPr lang="zh-CN" altLang="en-US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grpSp>
        <p:nvGrpSpPr>
          <p:cNvPr id="228388" name="Group 36"/>
          <p:cNvGrpSpPr/>
          <p:nvPr/>
        </p:nvGrpSpPr>
        <p:grpSpPr>
          <a:xfrm>
            <a:off x="3851275" y="3933825"/>
            <a:ext cx="3382963" cy="2076450"/>
            <a:chOff x="1610" y="2659"/>
            <a:chExt cx="2131" cy="1308"/>
          </a:xfrm>
        </p:grpSpPr>
        <p:sp>
          <p:nvSpPr>
            <p:cNvPr id="56328" name="Text Box 20"/>
            <p:cNvSpPr txBox="1"/>
            <p:nvPr/>
          </p:nvSpPr>
          <p:spPr>
            <a:xfrm>
              <a:off x="2200" y="2659"/>
              <a:ext cx="178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anchor="ctr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i</a:t>
              </a:r>
              <a:endParaRPr lang="en-US" altLang="zh-CN" b="0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graphicFrame>
          <p:nvGraphicFramePr>
            <p:cNvPr id="56329" name="Object 28"/>
            <p:cNvGraphicFramePr>
              <a:graphicFrameLocks noChangeAspect="1"/>
            </p:cNvGraphicFramePr>
            <p:nvPr/>
          </p:nvGraphicFramePr>
          <p:xfrm>
            <a:off x="2471" y="3555"/>
            <a:ext cx="325" cy="4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36" name="" r:id="rId1" imgW="156210" imgH="202565" progId="Equation.3">
                    <p:embed/>
                  </p:oleObj>
                </mc:Choice>
                <mc:Fallback>
                  <p:oleObj name="" r:id="rId1" imgW="156210" imgH="202565" progId="Equation.3">
                    <p:embed/>
                    <p:pic>
                      <p:nvPicPr>
                        <p:cNvPr id="0" name="图片 3135"/>
                        <p:cNvPicPr/>
                        <p:nvPr/>
                      </p:nvPicPr>
                      <p:blipFill>
                        <a:blip r:embed="rId2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471" y="3555"/>
                          <a:ext cx="325" cy="41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6330" name="Text Box 29"/>
            <p:cNvSpPr txBox="1"/>
            <p:nvPr/>
          </p:nvSpPr>
          <p:spPr>
            <a:xfrm>
              <a:off x="1927" y="3385"/>
              <a:ext cx="27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+</a:t>
              </a:r>
              <a:endPara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56331" name="Text Box 30"/>
            <p:cNvSpPr txBox="1"/>
            <p:nvPr/>
          </p:nvSpPr>
          <p:spPr>
            <a:xfrm>
              <a:off x="2970" y="3249"/>
              <a:ext cx="27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buClrTx/>
                <a:buFontTx/>
                <a:buNone/>
              </a:pPr>
              <a:r>
                <a:rPr lang="en-US" altLang="zh-CN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_</a:t>
              </a:r>
              <a:endPara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56332" name="AutoShape 32"/>
            <p:cNvSpPr/>
            <p:nvPr/>
          </p:nvSpPr>
          <p:spPr>
            <a:xfrm>
              <a:off x="1610" y="3022"/>
              <a:ext cx="680" cy="91"/>
            </a:xfrm>
            <a:prstGeom prst="leftArrow">
              <a:avLst>
                <a:gd name="adj1" fmla="val 50000"/>
                <a:gd name="adj2" fmla="val 186778"/>
              </a:avLst>
            </a:prstGeom>
            <a:solidFill>
              <a:schemeClr val="hlink"/>
            </a:solidFill>
            <a:ln w="9525">
              <a:noFill/>
            </a:ln>
          </p:spPr>
          <p:txBody>
            <a:bodyPr wrap="none" anchor="ctr" anchorCtr="0"/>
            <a:p>
              <a:pPr>
                <a:buClrTx/>
                <a:buFontTx/>
                <a:buNone/>
              </a:pPr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grpSp>
          <p:nvGrpSpPr>
            <p:cNvPr id="56333" name="Group 35"/>
            <p:cNvGrpSpPr/>
            <p:nvPr/>
          </p:nvGrpSpPr>
          <p:grpSpPr>
            <a:xfrm>
              <a:off x="1693" y="2985"/>
              <a:ext cx="2048" cy="536"/>
              <a:chOff x="1693" y="2985"/>
              <a:chExt cx="2048" cy="536"/>
            </a:xfrm>
          </p:grpSpPr>
          <p:sp>
            <p:nvSpPr>
              <p:cNvPr id="228375" name="Oval 23"/>
              <p:cNvSpPr>
                <a:spLocks noChangeArrowheads="1"/>
              </p:cNvSpPr>
              <p:nvPr/>
            </p:nvSpPr>
            <p:spPr bwMode="auto">
              <a:xfrm>
                <a:off x="2363" y="2985"/>
                <a:ext cx="547" cy="536"/>
              </a:xfrm>
              <a:prstGeom prst="ellipse">
                <a:avLst/>
              </a:prstGeom>
              <a:gradFill rotWithShape="1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path path="shape">
                  <a:fillToRect l="50000" t="50000" r="50000" b="50000"/>
                </a:path>
              </a:gradFill>
              <a:ln w="50800">
                <a:solidFill>
                  <a:srgbClr val="FF99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Arial" panose="020B0604020202020204" pitchFamily="34" charset="0"/>
                  <a:ea typeface="楷体_GB2312" pitchFamily="49" charset="-122"/>
                  <a:cs typeface="+mn-cs"/>
                </a:endParaRPr>
              </a:p>
            </p:txBody>
          </p:sp>
          <p:sp>
            <p:nvSpPr>
              <p:cNvPr id="56335" name="Line 17"/>
              <p:cNvSpPr/>
              <p:nvPr/>
            </p:nvSpPr>
            <p:spPr>
              <a:xfrm rot="5400000">
                <a:off x="2717" y="2246"/>
                <a:ext cx="0" cy="2048"/>
              </a:xfrm>
              <a:prstGeom prst="line">
                <a:avLst/>
              </a:prstGeom>
              <a:ln w="38100" cap="flat" cmpd="sng">
                <a:solidFill>
                  <a:srgbClr val="FF9900"/>
                </a:solidFill>
                <a:prstDash val="solid"/>
                <a:round/>
                <a:headEnd type="oval" w="med" len="med"/>
                <a:tailEnd type="oval" w="med" len="med"/>
              </a:ln>
            </p:spPr>
          </p:sp>
        </p:grpSp>
      </p:grpSp>
      <p:grpSp>
        <p:nvGrpSpPr>
          <p:cNvPr id="56336" name="Group 40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56337" name="Picture 41" descr="7890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6338" name="Text Box 42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56339" name="Group 43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56340" name="Picture 44" descr="7890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6341" name="Text Box 45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sp>
        <p:nvSpPr>
          <p:cNvPr id="228401" name="Rectangle 49" descr="斜纹布"/>
          <p:cNvSpPr/>
          <p:nvPr/>
        </p:nvSpPr>
        <p:spPr>
          <a:xfrm>
            <a:off x="3419475" y="2205038"/>
            <a:ext cx="5329238" cy="1630362"/>
          </a:xfrm>
          <a:prstGeom prst="rect">
            <a:avLst/>
          </a:prstGeom>
          <a:noFill/>
          <a:ln w="28575">
            <a:noFill/>
          </a:ln>
          <a:effectLst>
            <a:prstShdw prst="shdw17" dist="17961" dir="2699999">
              <a:schemeClr val="bg2"/>
            </a:prstShdw>
          </a:effectLst>
        </p:spPr>
        <p:txBody>
          <a:bodyPr anchor="t" anchorCtr="0">
            <a:spAutoFit/>
          </a:bodyPr>
          <a:p>
            <a:pPr>
              <a:lnSpc>
                <a:spcPct val="120000"/>
              </a:lnSpc>
              <a:buClrTx/>
              <a:buFontTx/>
              <a:buNone/>
            </a:pPr>
            <a:r>
              <a:rPr lang="zh-CN" altLang="en-US" dirty="0">
                <a:latin typeface="Arial" panose="020B0604020202020204" pitchFamily="34" charset="0"/>
                <a:ea typeface="楷体_GB2312" pitchFamily="49" charset="-122"/>
              </a:rPr>
              <a:t>其两端电压总能保持定值或一定的时间函数，其值与流过它的电流 </a:t>
            </a:r>
            <a:r>
              <a:rPr lang="en-US" altLang="zh-CN" b="0" i="1" dirty="0"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lang="en-US" altLang="zh-CN" b="0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zh-CN" altLang="en-US" dirty="0">
                <a:latin typeface="Arial" panose="020B0604020202020204" pitchFamily="34" charset="0"/>
                <a:ea typeface="楷体_GB2312" pitchFamily="49" charset="-122"/>
              </a:rPr>
              <a:t>无关的元件叫理想电压源。</a:t>
            </a:r>
            <a:endParaRPr lang="zh-CN" altLang="en-US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grpSp>
        <p:nvGrpSpPr>
          <p:cNvPr id="56343" name="Group 56"/>
          <p:cNvGrpSpPr/>
          <p:nvPr/>
        </p:nvGrpSpPr>
        <p:grpSpPr>
          <a:xfrm>
            <a:off x="6588125" y="6445250"/>
            <a:ext cx="792163" cy="366713"/>
            <a:chOff x="5193" y="4020"/>
            <a:chExt cx="499" cy="231"/>
          </a:xfrm>
        </p:grpSpPr>
        <p:pic>
          <p:nvPicPr>
            <p:cNvPr id="56344" name="Picture 57" descr="78900">
              <a:hlinkClick r:id="" action="ppaction://hlinkshowjump?jump=firstslide"/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6345" name="Text Box 58">
              <a:hlinkClick r:id="" action="ppaction://hlinkshowjump?jump=firs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83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83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83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83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228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4" dur="500"/>
                                        <p:tgtEl>
                                          <p:spTgt spid="228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228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8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37" dur="1000"/>
                                        <p:tgtEl>
                                          <p:spTgt spid="228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8356" grpId="0"/>
      <p:bldP spid="228364" grpId="0" animBg="1"/>
      <p:bldP spid="228376" grpId="0"/>
      <p:bldP spid="228377" grpId="0" animBg="1"/>
      <p:bldP spid="228378" grpId="0" animBg="1"/>
      <p:bldP spid="228401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9380" name="Text Box 4"/>
          <p:cNvSpPr txBox="1"/>
          <p:nvPr/>
        </p:nvSpPr>
        <p:spPr>
          <a:xfrm>
            <a:off x="539750" y="1125538"/>
            <a:ext cx="8064500" cy="1117600"/>
          </a:xfrm>
          <a:prstGeom prst="rect">
            <a:avLst/>
          </a:prstGeom>
          <a:noFill/>
          <a:ln w="12700">
            <a:noFill/>
          </a:ln>
        </p:spPr>
        <p:txBody>
          <a:bodyPr anchor="ctr" anchorCtr="0">
            <a:spAutoFit/>
          </a:bodyPr>
          <a:p>
            <a:pPr marL="342900" indent="-342900" eaLnBrk="0" hangingPunct="0">
              <a:lnSpc>
                <a:spcPct val="120000"/>
              </a:lnSpc>
              <a:spcBef>
                <a:spcPct val="50000"/>
              </a:spcBef>
              <a:buAutoNum type="circleNumDbPlain"/>
            </a:pPr>
            <a:r>
              <a:rPr lang="zh-CN" altLang="en-US" dirty="0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电源两端电压由电源本身决定，与外电路无关；与流经它的电流方向、大小无关。</a:t>
            </a:r>
            <a:endParaRPr lang="zh-CN" altLang="en-US" dirty="0">
              <a:latin typeface="楷体_GB2312" pitchFamily="49" charset="-122"/>
              <a:ea typeface="楷体_GB2312" pitchFamily="49" charset="-122"/>
              <a:sym typeface="Symbol" panose="05050102010706020507" pitchFamily="18" charset="2"/>
            </a:endParaRPr>
          </a:p>
        </p:txBody>
      </p:sp>
      <p:sp>
        <p:nvSpPr>
          <p:cNvPr id="229381" name="Text Box 5"/>
          <p:cNvSpPr txBox="1"/>
          <p:nvPr/>
        </p:nvSpPr>
        <p:spPr>
          <a:xfrm>
            <a:off x="539750" y="2133600"/>
            <a:ext cx="5111750" cy="1117600"/>
          </a:xfrm>
          <a:prstGeom prst="rect">
            <a:avLst/>
          </a:prstGeom>
          <a:noFill/>
          <a:ln w="12700">
            <a:noFill/>
          </a:ln>
        </p:spPr>
        <p:txBody>
          <a:bodyPr anchor="ctr" anchorCtr="0">
            <a:spAutoFit/>
          </a:bodyPr>
          <a:p>
            <a:pPr marL="342900" indent="-342900" eaLnBrk="0" hangingPunct="0">
              <a:lnSpc>
                <a:spcPct val="120000"/>
              </a:lnSpc>
              <a:spcBef>
                <a:spcPct val="50000"/>
              </a:spcBef>
              <a:buAutoNum type="circleNumDbPlain" startAt="2"/>
            </a:pPr>
            <a:r>
              <a:rPr lang="zh-CN" altLang="en-US" dirty="0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通过电压源的电流由电源及外电路共同决定。</a:t>
            </a:r>
            <a:endParaRPr lang="zh-CN" altLang="en-US" dirty="0">
              <a:latin typeface="楷体_GB2312" pitchFamily="49" charset="-122"/>
              <a:ea typeface="楷体_GB2312" pitchFamily="49" charset="-122"/>
              <a:sym typeface="Symbol" panose="05050102010706020507" pitchFamily="18" charset="2"/>
            </a:endParaRPr>
          </a:p>
        </p:txBody>
      </p:sp>
      <p:sp>
        <p:nvSpPr>
          <p:cNvPr id="229384" name="Text Box 8"/>
          <p:cNvSpPr txBox="1"/>
          <p:nvPr/>
        </p:nvSpPr>
        <p:spPr>
          <a:xfrm>
            <a:off x="539750" y="549275"/>
            <a:ext cx="5688013" cy="547688"/>
          </a:xfrm>
          <a:prstGeom prst="rect">
            <a:avLst/>
          </a:prstGeom>
          <a:noFill/>
          <a:ln w="28575" cap="flat" cmpd="sng">
            <a:solidFill>
              <a:srgbClr val="00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>
            <a:spAutoFit/>
          </a:bodyPr>
          <a:p>
            <a:pPr eaLnBrk="0" hangingPunct="0">
              <a:spcBef>
                <a:spcPct val="50000"/>
              </a:spcBef>
              <a:buClr>
                <a:schemeClr val="tx1"/>
              </a:buClr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理想电压源的电压、电流关系</a:t>
            </a:r>
            <a:endParaRPr lang="zh-CN" altLang="en-US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  <a:sym typeface="Symbol" panose="05050102010706020507" pitchFamily="18" charset="2"/>
            </a:endParaRPr>
          </a:p>
        </p:txBody>
      </p:sp>
      <p:grpSp>
        <p:nvGrpSpPr>
          <p:cNvPr id="229392" name="Group 16"/>
          <p:cNvGrpSpPr/>
          <p:nvPr/>
        </p:nvGrpSpPr>
        <p:grpSpPr>
          <a:xfrm>
            <a:off x="5795963" y="1700213"/>
            <a:ext cx="2954337" cy="2449512"/>
            <a:chOff x="3651" y="391"/>
            <a:chExt cx="1861" cy="1543"/>
          </a:xfrm>
        </p:grpSpPr>
        <p:sp>
          <p:nvSpPr>
            <p:cNvPr id="57349" name="Line 10"/>
            <p:cNvSpPr/>
            <p:nvPr/>
          </p:nvSpPr>
          <p:spPr>
            <a:xfrm>
              <a:off x="3651" y="1525"/>
              <a:ext cx="1542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57350" name="Line 11"/>
            <p:cNvSpPr/>
            <p:nvPr/>
          </p:nvSpPr>
          <p:spPr>
            <a:xfrm>
              <a:off x="4332" y="527"/>
              <a:ext cx="0" cy="1407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triangle" w="med" len="med"/>
              <a:tailEnd type="none" w="med" len="med"/>
            </a:ln>
          </p:spPr>
        </p:sp>
        <p:sp>
          <p:nvSpPr>
            <p:cNvPr id="57351" name="Line 12"/>
            <p:cNvSpPr/>
            <p:nvPr/>
          </p:nvSpPr>
          <p:spPr>
            <a:xfrm flipV="1">
              <a:off x="3696" y="1117"/>
              <a:ext cx="1315" cy="0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7352" name="Text Box 13"/>
            <p:cNvSpPr txBox="1"/>
            <p:nvPr/>
          </p:nvSpPr>
          <p:spPr>
            <a:xfrm>
              <a:off x="4377" y="391"/>
              <a:ext cx="273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u</a:t>
              </a:r>
              <a:endParaRPr lang="en-US" altLang="zh-CN" b="0" i="1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57353" name="Text Box 14"/>
            <p:cNvSpPr txBox="1"/>
            <p:nvPr/>
          </p:nvSpPr>
          <p:spPr>
            <a:xfrm>
              <a:off x="5239" y="1389"/>
              <a:ext cx="273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i</a:t>
              </a:r>
              <a:endParaRPr lang="en-US" altLang="zh-CN" b="0" i="1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graphicFrame>
          <p:nvGraphicFramePr>
            <p:cNvPr id="57354" name="Object 15"/>
            <p:cNvGraphicFramePr>
              <a:graphicFrameLocks noChangeAspect="1"/>
            </p:cNvGraphicFramePr>
            <p:nvPr/>
          </p:nvGraphicFramePr>
          <p:xfrm>
            <a:off x="4508" y="790"/>
            <a:ext cx="282" cy="3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37" name="" r:id="rId1" imgW="156210" imgH="202565" progId="Equation.3">
                    <p:embed/>
                  </p:oleObj>
                </mc:Choice>
                <mc:Fallback>
                  <p:oleObj name="" r:id="rId1" imgW="156210" imgH="202565" progId="Equation.3">
                    <p:embed/>
                    <p:pic>
                      <p:nvPicPr>
                        <p:cNvPr id="0" name="图片 3136"/>
                        <p:cNvPicPr/>
                        <p:nvPr/>
                      </p:nvPicPr>
                      <p:blipFill>
                        <a:blip r:embed="rId2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508" y="790"/>
                          <a:ext cx="282" cy="35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29393" name="AutoShape 17" descr="羊皮纸"/>
          <p:cNvSpPr/>
          <p:nvPr/>
        </p:nvSpPr>
        <p:spPr>
          <a:xfrm>
            <a:off x="6804025" y="4292600"/>
            <a:ext cx="1944688" cy="792163"/>
          </a:xfrm>
          <a:prstGeom prst="wedgeRoundRectCallout">
            <a:avLst>
              <a:gd name="adj1" fmla="val -26000"/>
              <a:gd name="adj2" fmla="val -216134"/>
              <a:gd name="adj3" fmla="val 16667"/>
            </a:avLst>
          </a:prstGeom>
          <a:blipFill rotWithShape="1">
            <a:blip r:embed="rId3"/>
          </a:blip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p>
            <a:pPr algn="ctr" eaLnBrk="0" hangingPunct="0">
              <a:buClrTx/>
              <a:buFontTx/>
              <a:buNone/>
            </a:pP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直流电压源的伏安关系</a:t>
            </a:r>
            <a:endParaRPr lang="zh-CN" altLang="en-US" sz="2400" dirty="0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  <a:sym typeface="Symbol" panose="05050102010706020507" pitchFamily="18" charset="2"/>
            </a:endParaRPr>
          </a:p>
        </p:txBody>
      </p:sp>
      <p:grpSp>
        <p:nvGrpSpPr>
          <p:cNvPr id="57356" name="Group 42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57357" name="Picture 43" descr="7890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7358" name="Text Box 44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57359" name="Group 45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57360" name="Picture 46" descr="7890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7361" name="Text Box 47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sp>
        <p:nvSpPr>
          <p:cNvPr id="229427" name="Text Box 51"/>
          <p:cNvSpPr txBox="1"/>
          <p:nvPr/>
        </p:nvSpPr>
        <p:spPr>
          <a:xfrm>
            <a:off x="468313" y="3429000"/>
            <a:ext cx="647700" cy="5794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ctr" eaLnBrk="0" hangingPunct="0">
              <a:spcBef>
                <a:spcPct val="50000"/>
              </a:spcBef>
              <a:buClrTx/>
              <a:buFontTx/>
              <a:buNone/>
            </a:pPr>
            <a:r>
              <a:rPr lang="zh-CN" altLang="en-US" sz="320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例</a:t>
            </a:r>
            <a:endParaRPr lang="zh-CN" altLang="en-US" sz="3200" dirty="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grpSp>
        <p:nvGrpSpPr>
          <p:cNvPr id="229428" name="Group 52"/>
          <p:cNvGrpSpPr/>
          <p:nvPr/>
        </p:nvGrpSpPr>
        <p:grpSpPr>
          <a:xfrm>
            <a:off x="900113" y="3500438"/>
            <a:ext cx="1944687" cy="1871662"/>
            <a:chOff x="1973" y="1616"/>
            <a:chExt cx="1225" cy="1179"/>
          </a:xfrm>
        </p:grpSpPr>
        <p:sp>
          <p:nvSpPr>
            <p:cNvPr id="57364" name="Oval 53"/>
            <p:cNvSpPr/>
            <p:nvPr/>
          </p:nvSpPr>
          <p:spPr>
            <a:xfrm>
              <a:off x="1973" y="2024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buClrTx/>
                <a:buFontTx/>
                <a:buNone/>
              </a:pPr>
              <a:endParaRPr lang="zh-CN" altLang="zh-CN" sz="2400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57365" name="Rectangle 54"/>
            <p:cNvSpPr/>
            <p:nvPr/>
          </p:nvSpPr>
          <p:spPr>
            <a:xfrm>
              <a:off x="2154" y="1661"/>
              <a:ext cx="998" cy="1134"/>
            </a:xfrm>
            <a:prstGeom prst="rect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  <a:buNone/>
              </a:pPr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57366" name="Text Box 55"/>
            <p:cNvSpPr txBox="1"/>
            <p:nvPr/>
          </p:nvSpPr>
          <p:spPr>
            <a:xfrm>
              <a:off x="2789" y="2069"/>
              <a:ext cx="27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R</a:t>
              </a:r>
              <a:endParaRPr lang="en-US" altLang="zh-CN" b="0" i="1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57367" name="Text Box 56"/>
            <p:cNvSpPr txBox="1"/>
            <p:nvPr/>
          </p:nvSpPr>
          <p:spPr>
            <a:xfrm>
              <a:off x="2835" y="1616"/>
              <a:ext cx="27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i</a:t>
              </a:r>
              <a:endParaRPr lang="en-US" altLang="zh-CN" b="0" i="1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57368" name="Text Box 57"/>
            <p:cNvSpPr txBox="1"/>
            <p:nvPr/>
          </p:nvSpPr>
          <p:spPr>
            <a:xfrm>
              <a:off x="2290" y="2342"/>
              <a:ext cx="273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3200" b="0" i="1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Symbol" panose="05050102010706020507" pitchFamily="18" charset="2"/>
                </a:rPr>
                <a:t>-</a:t>
              </a:r>
              <a:endParaRPr lang="en-US" altLang="zh-CN" sz="3200" b="0" i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57369" name="Text Box 58"/>
            <p:cNvSpPr txBox="1"/>
            <p:nvPr/>
          </p:nvSpPr>
          <p:spPr>
            <a:xfrm>
              <a:off x="2290" y="1707"/>
              <a:ext cx="272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3200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+</a:t>
              </a:r>
              <a:endParaRPr lang="en-US" altLang="zh-CN" sz="3200" b="0" i="1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graphicFrame>
          <p:nvGraphicFramePr>
            <p:cNvPr id="57370" name="Object 59"/>
            <p:cNvGraphicFramePr>
              <a:graphicFrameLocks noChangeAspect="1"/>
            </p:cNvGraphicFramePr>
            <p:nvPr/>
          </p:nvGraphicFramePr>
          <p:xfrm>
            <a:off x="2381" y="2024"/>
            <a:ext cx="286" cy="3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40" name="" r:id="rId5" imgW="156210" imgH="202565" progId="Equation.3">
                    <p:embed/>
                  </p:oleObj>
                </mc:Choice>
                <mc:Fallback>
                  <p:oleObj name="" r:id="rId5" imgW="156210" imgH="202565" progId="Equation.3">
                    <p:embed/>
                    <p:pic>
                      <p:nvPicPr>
                        <p:cNvPr id="0" name="图片 3139"/>
                        <p:cNvPicPr/>
                        <p:nvPr/>
                      </p:nvPicPr>
                      <p:blipFill>
                        <a:blip r:embed="rId6">
                          <a:clrChange>
                            <a:clrFrom>
                              <a:srgbClr val="000000"/>
                            </a:clrFrom>
                            <a:clrTo>
                              <a:srgbClr val="00008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381" y="2024"/>
                          <a:ext cx="286" cy="36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7371" name="Rectangle 60"/>
            <p:cNvSpPr/>
            <p:nvPr/>
          </p:nvSpPr>
          <p:spPr>
            <a:xfrm>
              <a:off x="3061" y="2024"/>
              <a:ext cx="137" cy="363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>
                <a:buClrTx/>
                <a:buFontTx/>
                <a:buNone/>
              </a:pPr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57372" name="Line 61"/>
            <p:cNvSpPr/>
            <p:nvPr/>
          </p:nvSpPr>
          <p:spPr>
            <a:xfrm>
              <a:off x="2562" y="1752"/>
              <a:ext cx="273" cy="0"/>
            </a:xfrm>
            <a:prstGeom prst="line">
              <a:avLst/>
            </a:prstGeom>
            <a:ln w="28575" cap="sq" cmpd="sng">
              <a:solidFill>
                <a:srgbClr val="00CCFF"/>
              </a:solidFill>
              <a:prstDash val="solid"/>
              <a:round/>
              <a:headEnd type="none" w="med" len="med"/>
              <a:tailEnd type="triangle" w="med" len="med"/>
            </a:ln>
            <a:effectLst>
              <a:prstShdw prst="shdw17" dist="17961" dir="2699999">
                <a:schemeClr val="bg2"/>
              </a:prstShdw>
            </a:effectLst>
          </p:spPr>
        </p:sp>
      </p:grpSp>
      <p:sp>
        <p:nvSpPr>
          <p:cNvPr id="229438" name="AutoShape 62" descr="羊皮纸"/>
          <p:cNvSpPr/>
          <p:nvPr/>
        </p:nvSpPr>
        <p:spPr>
          <a:xfrm>
            <a:off x="611188" y="5805488"/>
            <a:ext cx="1368425" cy="398462"/>
          </a:xfrm>
          <a:prstGeom prst="wedgeRoundRectCallout">
            <a:avLst>
              <a:gd name="adj1" fmla="val 98028"/>
              <a:gd name="adj2" fmla="val -342032"/>
              <a:gd name="adj3" fmla="val 16667"/>
            </a:avLst>
          </a:prstGeom>
          <a:blipFill rotWithShape="1">
            <a:blip r:embed="rId3"/>
          </a:blip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p>
            <a:pPr algn="ctr" eaLnBrk="0" hangingPunct="0">
              <a:buClrTx/>
              <a:buFontTx/>
              <a:buNone/>
            </a:pP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外电路</a:t>
            </a:r>
            <a:endParaRPr lang="zh-CN" altLang="en-US" dirty="0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  <a:sym typeface="Symbol" panose="05050102010706020507" pitchFamily="18" charset="2"/>
            </a:endParaRPr>
          </a:p>
        </p:txBody>
      </p:sp>
      <p:sp>
        <p:nvSpPr>
          <p:cNvPr id="229439" name="AutoShape 63"/>
          <p:cNvSpPr/>
          <p:nvPr/>
        </p:nvSpPr>
        <p:spPr>
          <a:xfrm rot="-772628" flipV="1">
            <a:off x="3132138" y="3716338"/>
            <a:ext cx="719137" cy="144462"/>
          </a:xfrm>
          <a:prstGeom prst="rightArrow">
            <a:avLst>
              <a:gd name="adj1" fmla="val 50000"/>
              <a:gd name="adj2" fmla="val 124427"/>
            </a:avLst>
          </a:prstGeom>
          <a:solidFill>
            <a:srgbClr val="FF3300"/>
          </a:solidFill>
          <a:ln w="9525" cap="flat" cmpd="sng">
            <a:solidFill>
              <a:srgbClr val="FF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>
              <a:buClrTx/>
              <a:buFontTx/>
              <a:buNone/>
            </a:pPr>
            <a:endParaRPr lang="zh-CN" altLang="en-US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graphicFrame>
        <p:nvGraphicFramePr>
          <p:cNvPr id="229440" name="Object 64"/>
          <p:cNvGraphicFramePr>
            <a:graphicFrameLocks noChangeAspect="1"/>
          </p:cNvGraphicFramePr>
          <p:nvPr/>
        </p:nvGraphicFramePr>
        <p:xfrm>
          <a:off x="3971925" y="3068638"/>
          <a:ext cx="15367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9" name="" r:id="rId7" imgW="399415" imgH="387985" progId="Equation.3">
                  <p:embed/>
                </p:oleObj>
              </mc:Choice>
              <mc:Fallback>
                <p:oleObj name="" r:id="rId7" imgW="399415" imgH="387985" progId="Equation.3">
                  <p:embed/>
                  <p:pic>
                    <p:nvPicPr>
                      <p:cNvPr id="0" name="图片 3138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00008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971925" y="3068638"/>
                        <a:ext cx="1536700" cy="1016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9441" name="AutoShape 65"/>
          <p:cNvSpPr/>
          <p:nvPr/>
        </p:nvSpPr>
        <p:spPr>
          <a:xfrm>
            <a:off x="3132138" y="4292600"/>
            <a:ext cx="720725" cy="144463"/>
          </a:xfrm>
          <a:prstGeom prst="rightArrow">
            <a:avLst>
              <a:gd name="adj1" fmla="val 50000"/>
              <a:gd name="adj2" fmla="val 124701"/>
            </a:avLst>
          </a:prstGeom>
          <a:solidFill>
            <a:srgbClr val="FF3300"/>
          </a:solidFill>
          <a:ln w="9525" cap="flat" cmpd="sng">
            <a:solidFill>
              <a:srgbClr val="FF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>
              <a:buClrTx/>
              <a:buFontTx/>
              <a:buNone/>
            </a:pPr>
            <a:endParaRPr lang="zh-CN" altLang="en-US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graphicFrame>
        <p:nvGraphicFramePr>
          <p:cNvPr id="229442" name="Object 66"/>
          <p:cNvGraphicFramePr>
            <a:graphicFrameLocks noChangeAspect="1"/>
          </p:cNvGraphicFramePr>
          <p:nvPr/>
        </p:nvGraphicFramePr>
        <p:xfrm>
          <a:off x="3995738" y="4116388"/>
          <a:ext cx="2505075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1" name="" r:id="rId9" imgW="955040" imgH="191135" progId="Equation.3">
                  <p:embed/>
                </p:oleObj>
              </mc:Choice>
              <mc:Fallback>
                <p:oleObj name="" r:id="rId9" imgW="955040" imgH="191135" progId="Equation.3">
                  <p:embed/>
                  <p:pic>
                    <p:nvPicPr>
                      <p:cNvPr id="0" name="图片 3140"/>
                      <p:cNvPicPr/>
                      <p:nvPr/>
                    </p:nvPicPr>
                    <p:blipFill>
                      <a:blip r:embed="rId10">
                        <a:clrChange>
                          <a:clrFrom>
                            <a:srgbClr val="000000"/>
                          </a:clrFrom>
                          <a:clrTo>
                            <a:srgbClr val="00008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995738" y="4116388"/>
                        <a:ext cx="2505075" cy="5365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9443" name="AutoShape 67"/>
          <p:cNvSpPr/>
          <p:nvPr/>
        </p:nvSpPr>
        <p:spPr>
          <a:xfrm rot="1047492">
            <a:off x="3059113" y="4868863"/>
            <a:ext cx="719137" cy="144462"/>
          </a:xfrm>
          <a:prstGeom prst="rightArrow">
            <a:avLst>
              <a:gd name="adj1" fmla="val 50000"/>
              <a:gd name="adj2" fmla="val 124427"/>
            </a:avLst>
          </a:prstGeom>
          <a:solidFill>
            <a:srgbClr val="FF3300"/>
          </a:solidFill>
          <a:ln w="9525" cap="flat" cmpd="sng">
            <a:solidFill>
              <a:srgbClr val="FF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>
              <a:buClrTx/>
              <a:buFontTx/>
              <a:buNone/>
            </a:pPr>
            <a:endParaRPr lang="zh-CN" altLang="en-US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graphicFrame>
        <p:nvGraphicFramePr>
          <p:cNvPr id="229444" name="Object 68"/>
          <p:cNvGraphicFramePr>
            <a:graphicFrameLocks noChangeAspect="1"/>
          </p:cNvGraphicFramePr>
          <p:nvPr/>
        </p:nvGraphicFramePr>
        <p:xfrm>
          <a:off x="3946525" y="4910138"/>
          <a:ext cx="2762250" cy="538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8" name="" r:id="rId11" imgW="908685" imgH="191135" progId="Equation.3">
                  <p:embed/>
                </p:oleObj>
              </mc:Choice>
              <mc:Fallback>
                <p:oleObj name="" r:id="rId11" imgW="908685" imgH="191135" progId="Equation.3">
                  <p:embed/>
                  <p:pic>
                    <p:nvPicPr>
                      <p:cNvPr id="0" name="图片 3137"/>
                      <p:cNvPicPr/>
                      <p:nvPr/>
                    </p:nvPicPr>
                    <p:blipFill>
                      <a:blip r:embed="rId12">
                        <a:clrChange>
                          <a:clrFrom>
                            <a:srgbClr val="000000"/>
                          </a:clrFrom>
                          <a:clrTo>
                            <a:srgbClr val="00008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946525" y="4910138"/>
                        <a:ext cx="2762250" cy="5381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9445" name="Text Box 69"/>
          <p:cNvSpPr txBox="1"/>
          <p:nvPr/>
        </p:nvSpPr>
        <p:spPr>
          <a:xfrm>
            <a:off x="3492500" y="5661025"/>
            <a:ext cx="3529013" cy="519113"/>
          </a:xfrm>
          <a:prstGeom prst="rect">
            <a:avLst/>
          </a:prstGeom>
          <a:solidFill>
            <a:srgbClr val="FF0000"/>
          </a:solidFill>
          <a:ln w="9525">
            <a:noFill/>
          </a:ln>
        </p:spPr>
        <p:txBody>
          <a:bodyPr anchor="t" anchorCtr="0">
            <a:spAutoFit/>
          </a:bodyPr>
          <a:p>
            <a:pPr algn="ctr" eaLnBrk="0" hangingPunct="0">
              <a:spcBef>
                <a:spcPct val="50000"/>
              </a:spcBef>
              <a:buClrTx/>
              <a:buFontTx/>
              <a:buNone/>
            </a:pP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电压源不能短路！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ea typeface="楷体_GB2312" pitchFamily="49" charset="-122"/>
              <a:sym typeface="Symbol" panose="05050102010706020507" pitchFamily="18" charset="2"/>
            </a:endParaRPr>
          </a:p>
        </p:txBody>
      </p:sp>
      <p:sp>
        <p:nvSpPr>
          <p:cNvPr id="229446" name="Text Box 70" descr="斜纹布"/>
          <p:cNvSpPr txBox="1"/>
          <p:nvPr/>
        </p:nvSpPr>
        <p:spPr>
          <a:xfrm>
            <a:off x="6443663" y="3571875"/>
            <a:ext cx="360362" cy="519113"/>
          </a:xfrm>
          <a:prstGeom prst="rect">
            <a:avLst/>
          </a:prstGeom>
          <a:noFill/>
          <a:ln w="28575">
            <a:noFill/>
          </a:ln>
          <a:effectLst>
            <a:prstShdw prst="shdw17" dist="17961" dir="2699999">
              <a:schemeClr val="bg2"/>
            </a:prstShdw>
          </a:effectLst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ClrTx/>
              <a:buFontTx/>
              <a:buNone/>
            </a:pPr>
            <a:r>
              <a: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endParaRPr lang="en-US" altLang="zh-CN" b="0" dirty="0">
              <a:solidFill>
                <a:schemeClr val="tx1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pSp>
        <p:nvGrpSpPr>
          <p:cNvPr id="57382" name="Group 77"/>
          <p:cNvGrpSpPr/>
          <p:nvPr/>
        </p:nvGrpSpPr>
        <p:grpSpPr>
          <a:xfrm>
            <a:off x="6588125" y="6445250"/>
            <a:ext cx="792163" cy="366713"/>
            <a:chOff x="5193" y="4020"/>
            <a:chExt cx="499" cy="231"/>
          </a:xfrm>
        </p:grpSpPr>
        <p:pic>
          <p:nvPicPr>
            <p:cNvPr id="57383" name="Picture 78" descr="78900">
              <a:hlinkClick r:id="" action="ppaction://hlinkshowjump?jump=firstslide"/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7384" name="Text Box 79">
              <a:hlinkClick r:id="" action="ppaction://hlinkshowjump?jump=firs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29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" fill="hold"/>
                                        <p:tgtEl>
                                          <p:spTgt spid="2293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" fill="hold"/>
                                        <p:tgtEl>
                                          <p:spTgt spid="2293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8" dur="2000"/>
                                        <p:tgtEl>
                                          <p:spTgt spid="229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29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500"/>
                            </p:stCondLst>
                            <p:childTnLst>
                              <p:par>
                                <p:cTn id="24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6" dur="2000"/>
                                        <p:tgtEl>
                                          <p:spTgt spid="229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" fill="hold"/>
                                        <p:tgtEl>
                                          <p:spTgt spid="2293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" fill="hold"/>
                                        <p:tgtEl>
                                          <p:spTgt spid="2293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100"/>
                                        <p:tgtEl>
                                          <p:spTgt spid="229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294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294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294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294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4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229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500"/>
                            </p:stCondLst>
                            <p:childTnLst>
                              <p:par>
                                <p:cTn id="47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294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294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2943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0.00000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29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229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61" dur="1000"/>
                                        <p:tgtEl>
                                          <p:spTgt spid="229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66" dur="500"/>
                                        <p:tgtEl>
                                          <p:spTgt spid="229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0" dur="1000"/>
                                        <p:tgtEl>
                                          <p:spTgt spid="229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229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"/>
                            </p:stCondLst>
                            <p:childTnLst>
                              <p:par>
                                <p:cTn id="77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9" dur="1000"/>
                                        <p:tgtEl>
                                          <p:spTgt spid="229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2294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2294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229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9380" grpId="0"/>
      <p:bldP spid="229381" grpId="0"/>
      <p:bldP spid="229384" grpId="0" animBg="1"/>
      <p:bldP spid="229393" grpId="0" animBg="1"/>
      <p:bldP spid="229427" grpId="0"/>
      <p:bldP spid="229438" grpId="0" animBg="1"/>
      <p:bldP spid="229439" grpId="0" animBg="1"/>
      <p:bldP spid="229441" grpId="0" animBg="1"/>
      <p:bldP spid="229443" grpId="0" animBg="1"/>
      <p:bldP spid="229445" grpId="0" animBg="1"/>
      <p:bldP spid="229446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0405" name="Text Box 5"/>
          <p:cNvSpPr txBox="1"/>
          <p:nvPr/>
        </p:nvSpPr>
        <p:spPr>
          <a:xfrm>
            <a:off x="611188" y="625475"/>
            <a:ext cx="2736850" cy="547688"/>
          </a:xfrm>
          <a:prstGeom prst="rect">
            <a:avLst/>
          </a:prstGeom>
          <a:noFill/>
          <a:ln w="2857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>
            <a:spAutoFit/>
          </a:bodyPr>
          <a:p>
            <a:pPr algn="ctr" eaLnBrk="0" hangingPunct="0">
              <a:spcBef>
                <a:spcPct val="50000"/>
              </a:spcBef>
              <a:buClr>
                <a:schemeClr val="tx1"/>
              </a:buClr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电压源的功率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ea typeface="楷体_GB2312" pitchFamily="49" charset="-122"/>
              <a:sym typeface="Symbol" panose="05050102010706020507" pitchFamily="18" charset="2"/>
            </a:endParaRPr>
          </a:p>
        </p:txBody>
      </p:sp>
      <p:sp>
        <p:nvSpPr>
          <p:cNvPr id="230409" name="Text Box 9"/>
          <p:cNvSpPr txBox="1"/>
          <p:nvPr/>
        </p:nvSpPr>
        <p:spPr>
          <a:xfrm>
            <a:off x="3059113" y="1341438"/>
            <a:ext cx="5545137" cy="519112"/>
          </a:xfrm>
          <a:prstGeom prst="rect">
            <a:avLst/>
          </a:prstGeom>
          <a:noFill/>
          <a:ln w="12700">
            <a:noFill/>
          </a:ln>
        </p:spPr>
        <p:txBody>
          <a:bodyPr anchor="ctr" anchorCtr="0">
            <a:spAutoFit/>
          </a:bodyPr>
          <a:p>
            <a:pPr marL="342900" indent="-342900" eaLnBrk="0" hangingPunct="0">
              <a:spcBef>
                <a:spcPct val="50000"/>
              </a:spcBef>
              <a:buAutoNum type="circleNumDbPlain"/>
            </a:pPr>
            <a:r>
              <a:rPr lang="zh-CN" altLang="en-US" dirty="0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电压、电流参考方向非关联；</a:t>
            </a:r>
            <a:r>
              <a:rPr lang="zh-CN" altLang="en-US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　　　　　　　　　　　　　　　</a:t>
            </a:r>
            <a:endParaRPr lang="zh-CN" altLang="en-US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  <a:sym typeface="Symbol" panose="05050102010706020507" pitchFamily="18" charset="2"/>
            </a:endParaRPr>
          </a:p>
        </p:txBody>
      </p:sp>
      <p:sp>
        <p:nvSpPr>
          <p:cNvPr id="230414" name="Line 14"/>
          <p:cNvSpPr/>
          <p:nvPr/>
        </p:nvSpPr>
        <p:spPr>
          <a:xfrm>
            <a:off x="1619250" y="1557338"/>
            <a:ext cx="458788" cy="0"/>
          </a:xfrm>
          <a:prstGeom prst="line">
            <a:avLst/>
          </a:prstGeom>
          <a:ln w="28575" cap="flat" cmpd="sng">
            <a:solidFill>
              <a:srgbClr val="00CCFF"/>
            </a:solidFill>
            <a:prstDash val="solid"/>
            <a:round/>
            <a:headEnd type="none" w="med" len="med"/>
            <a:tailEnd type="triangle" w="med" len="med"/>
          </a:ln>
        </p:spPr>
      </p:sp>
      <p:grpSp>
        <p:nvGrpSpPr>
          <p:cNvPr id="230462" name="Group 62"/>
          <p:cNvGrpSpPr/>
          <p:nvPr/>
        </p:nvGrpSpPr>
        <p:grpSpPr>
          <a:xfrm>
            <a:off x="395288" y="1196975"/>
            <a:ext cx="2109787" cy="2425700"/>
            <a:chOff x="249" y="663"/>
            <a:chExt cx="1329" cy="1528"/>
          </a:xfrm>
        </p:grpSpPr>
        <p:sp>
          <p:nvSpPr>
            <p:cNvPr id="230416" name="Oval 16"/>
            <p:cNvSpPr>
              <a:spLocks noChangeArrowheads="1"/>
            </p:cNvSpPr>
            <p:nvPr/>
          </p:nvSpPr>
          <p:spPr bwMode="auto">
            <a:xfrm rot="10800000">
              <a:off x="559" y="1424"/>
              <a:ext cx="340" cy="340"/>
            </a:xfrm>
            <a:prstGeom prst="ellipse">
              <a:avLst/>
            </a:prstGeom>
            <a:gradFill rotWithShape="1">
              <a:gsLst>
                <a:gs pos="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 w="38100">
              <a:solidFill>
                <a:srgbClr val="FF99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endParaRPr>
            </a:p>
          </p:txBody>
        </p:sp>
        <p:sp>
          <p:nvSpPr>
            <p:cNvPr id="58374" name="Text Box 17"/>
            <p:cNvSpPr txBox="1"/>
            <p:nvPr/>
          </p:nvSpPr>
          <p:spPr>
            <a:xfrm rot="10800000">
              <a:off x="490" y="1116"/>
              <a:ext cx="289" cy="365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anchor="ctr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3200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+</a:t>
              </a:r>
              <a:endParaRPr lang="en-US" altLang="zh-CN" sz="3200" b="0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58375" name="Text Box 18"/>
            <p:cNvSpPr txBox="1"/>
            <p:nvPr/>
          </p:nvSpPr>
          <p:spPr>
            <a:xfrm>
              <a:off x="533" y="1664"/>
              <a:ext cx="196" cy="365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ctr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3200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_</a:t>
              </a:r>
              <a:endParaRPr lang="en-US" altLang="zh-CN" sz="3200" b="0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58376" name="Text Box 19"/>
            <p:cNvSpPr txBox="1"/>
            <p:nvPr/>
          </p:nvSpPr>
          <p:spPr>
            <a:xfrm>
              <a:off x="839" y="663"/>
              <a:ext cx="178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anchor="ctr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i</a:t>
              </a:r>
              <a:endParaRPr lang="en-US" altLang="zh-CN" b="0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58377" name="Oval 20"/>
            <p:cNvSpPr/>
            <p:nvPr/>
          </p:nvSpPr>
          <p:spPr>
            <a:xfrm rot="10800000">
              <a:off x="1380" y="2123"/>
              <a:ext cx="68" cy="68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>
              <a:spAutoFit/>
            </a:bodyPr>
            <a:p>
              <a:pPr>
                <a:buClrTx/>
                <a:buFontTx/>
                <a:buNone/>
              </a:pPr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58378" name="Line 21"/>
            <p:cNvSpPr/>
            <p:nvPr/>
          </p:nvSpPr>
          <p:spPr>
            <a:xfrm rot="5400000">
              <a:off x="1060" y="1837"/>
              <a:ext cx="0" cy="64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8379" name="Oval 22"/>
            <p:cNvSpPr/>
            <p:nvPr/>
          </p:nvSpPr>
          <p:spPr>
            <a:xfrm rot="10800000">
              <a:off x="1380" y="948"/>
              <a:ext cx="68" cy="68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>
              <a:spAutoFit/>
            </a:bodyPr>
            <a:p>
              <a:pPr>
                <a:buClrTx/>
                <a:buFontTx/>
                <a:buNone/>
              </a:pPr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58380" name="Line 23"/>
            <p:cNvSpPr/>
            <p:nvPr/>
          </p:nvSpPr>
          <p:spPr>
            <a:xfrm rot="5400000">
              <a:off x="1060" y="662"/>
              <a:ext cx="0" cy="64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8381" name="Text Box 24"/>
            <p:cNvSpPr txBox="1"/>
            <p:nvPr/>
          </p:nvSpPr>
          <p:spPr>
            <a:xfrm>
              <a:off x="1324" y="1386"/>
              <a:ext cx="228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anchor="ctr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u</a:t>
              </a:r>
              <a:endParaRPr lang="en-US" altLang="zh-CN" b="0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58382" name="Text Box 25"/>
            <p:cNvSpPr txBox="1"/>
            <p:nvPr/>
          </p:nvSpPr>
          <p:spPr>
            <a:xfrm rot="10800000">
              <a:off x="1289" y="958"/>
              <a:ext cx="289" cy="365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anchor="ctr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3200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+</a:t>
              </a:r>
              <a:endParaRPr lang="en-US" altLang="zh-CN" sz="3200" b="0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58383" name="Text Box 26"/>
            <p:cNvSpPr txBox="1"/>
            <p:nvPr/>
          </p:nvSpPr>
          <p:spPr>
            <a:xfrm>
              <a:off x="1343" y="1726"/>
              <a:ext cx="196" cy="365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ctr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3200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_</a:t>
              </a:r>
              <a:endParaRPr lang="en-US" altLang="zh-CN" sz="3200" b="0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58384" name="Line 15"/>
            <p:cNvSpPr/>
            <p:nvPr/>
          </p:nvSpPr>
          <p:spPr>
            <a:xfrm rot="10800000">
              <a:off x="740" y="982"/>
              <a:ext cx="0" cy="1175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aphicFrame>
          <p:nvGraphicFramePr>
            <p:cNvPr id="58385" name="Object 44"/>
            <p:cNvGraphicFramePr>
              <a:graphicFrameLocks noChangeAspect="1"/>
            </p:cNvGraphicFramePr>
            <p:nvPr/>
          </p:nvGraphicFramePr>
          <p:xfrm>
            <a:off x="249" y="1424"/>
            <a:ext cx="302" cy="3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42" name="" r:id="rId1" imgW="156210" imgH="202565" progId="Equation.3">
                    <p:embed/>
                  </p:oleObj>
                </mc:Choice>
                <mc:Fallback>
                  <p:oleObj name="" r:id="rId1" imgW="156210" imgH="202565" progId="Equation.3">
                    <p:embed/>
                    <p:pic>
                      <p:nvPicPr>
                        <p:cNvPr id="0" name="图片 3141"/>
                        <p:cNvPicPr/>
                        <p:nvPr/>
                      </p:nvPicPr>
                      <p:blipFill>
                        <a:blip r:embed="rId2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49" y="1424"/>
                          <a:ext cx="302" cy="38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30464" name="AutoShape 64"/>
          <p:cNvSpPr/>
          <p:nvPr/>
        </p:nvSpPr>
        <p:spPr>
          <a:xfrm>
            <a:off x="3708400" y="836613"/>
            <a:ext cx="792163" cy="142875"/>
          </a:xfrm>
          <a:prstGeom prst="rightArrow">
            <a:avLst>
              <a:gd name="adj1" fmla="val 50000"/>
              <a:gd name="adj2" fmla="val 138585"/>
            </a:avLst>
          </a:prstGeom>
          <a:solidFill>
            <a:schemeClr val="hlink"/>
          </a:solidFill>
          <a:ln w="9525">
            <a:noFill/>
          </a:ln>
        </p:spPr>
        <p:txBody>
          <a:bodyPr wrap="none" anchor="ctr" anchorCtr="0"/>
          <a:p>
            <a:pPr>
              <a:buClrTx/>
              <a:buFontTx/>
              <a:buNone/>
            </a:pPr>
            <a:endParaRPr lang="zh-CN" altLang="en-US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graphicFrame>
        <p:nvGraphicFramePr>
          <p:cNvPr id="230465" name="Object 65"/>
          <p:cNvGraphicFramePr>
            <a:graphicFrameLocks noChangeAspect="1"/>
          </p:cNvGraphicFramePr>
          <p:nvPr/>
        </p:nvGraphicFramePr>
        <p:xfrm>
          <a:off x="4643438" y="620713"/>
          <a:ext cx="1446212" cy="652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3" name="" r:id="rId3" imgW="468630" imgH="202565" progId="Equation.3">
                  <p:embed/>
                </p:oleObj>
              </mc:Choice>
              <mc:Fallback>
                <p:oleObj name="" r:id="rId3" imgW="468630" imgH="202565" progId="Equation.3">
                  <p:embed/>
                  <p:pic>
                    <p:nvPicPr>
                      <p:cNvPr id="0" name="图片 3142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8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643438" y="620713"/>
                        <a:ext cx="1446212" cy="6524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0466" name="Text Box 66"/>
          <p:cNvSpPr txBox="1"/>
          <p:nvPr/>
        </p:nvSpPr>
        <p:spPr>
          <a:xfrm>
            <a:off x="2771775" y="1773238"/>
            <a:ext cx="6049963" cy="1630362"/>
          </a:xfrm>
          <a:prstGeom prst="rect">
            <a:avLst/>
          </a:prstGeom>
          <a:noFill/>
          <a:ln w="12700">
            <a:noFill/>
          </a:ln>
        </p:spPr>
        <p:txBody>
          <a:bodyPr anchor="ctr" anchorCtr="0">
            <a:spAutoFit/>
          </a:bodyPr>
          <a:p>
            <a:pPr eaLnBrk="0" hangingPunct="0">
              <a:lnSpc>
                <a:spcPct val="120000"/>
              </a:lnSpc>
              <a:spcBef>
                <a:spcPct val="50000"/>
              </a:spcBef>
              <a:buClrTx/>
              <a:buFontTx/>
              <a:buNone/>
            </a:pPr>
            <a:r>
              <a:rPr lang="en-US" altLang="zh-CN" dirty="0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          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电流（正电荷 ）由低电位向高电位移动，外力克服电场力作功，电源发出功率。</a:t>
            </a:r>
            <a:r>
              <a:rPr lang="zh-CN" altLang="en-US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　　　　　　　　　　　　　　　　　</a:t>
            </a:r>
            <a:endParaRPr lang="zh-CN" altLang="en-US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  <a:sym typeface="Symbol" panose="05050102010706020507" pitchFamily="18" charset="2"/>
            </a:endParaRPr>
          </a:p>
        </p:txBody>
      </p:sp>
      <p:graphicFrame>
        <p:nvGraphicFramePr>
          <p:cNvPr id="230467" name="Object 67"/>
          <p:cNvGraphicFramePr>
            <a:graphicFrameLocks noChangeAspect="1"/>
          </p:cNvGraphicFramePr>
          <p:nvPr/>
        </p:nvGraphicFramePr>
        <p:xfrm>
          <a:off x="2843213" y="3429000"/>
          <a:ext cx="1457325" cy="601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4" name="" r:id="rId5" imgW="514985" imgH="202565" progId="Equation.3">
                  <p:embed/>
                </p:oleObj>
              </mc:Choice>
              <mc:Fallback>
                <p:oleObj name="" r:id="rId5" imgW="514985" imgH="202565" progId="Equation.3">
                  <p:embed/>
                  <p:pic>
                    <p:nvPicPr>
                      <p:cNvPr id="0" name="图片 3143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00008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843213" y="3429000"/>
                        <a:ext cx="1457325" cy="6016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0468" name="AutoShape 68"/>
          <p:cNvSpPr/>
          <p:nvPr/>
        </p:nvSpPr>
        <p:spPr>
          <a:xfrm>
            <a:off x="4284663" y="3644900"/>
            <a:ext cx="647700" cy="144463"/>
          </a:xfrm>
          <a:prstGeom prst="rightArrow">
            <a:avLst>
              <a:gd name="adj1" fmla="val 50000"/>
              <a:gd name="adj2" fmla="val 112066"/>
            </a:avLst>
          </a:prstGeom>
          <a:solidFill>
            <a:srgbClr val="66CCFF"/>
          </a:solidFill>
          <a:ln w="9525">
            <a:noFill/>
          </a:ln>
        </p:spPr>
        <p:txBody>
          <a:bodyPr wrap="none" anchor="ctr" anchorCtr="0"/>
          <a:p>
            <a:pPr>
              <a:buClrTx/>
              <a:buFontTx/>
              <a:buNone/>
            </a:pPr>
            <a:endParaRPr lang="zh-CN" altLang="en-US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230469" name="Text Box 69"/>
          <p:cNvSpPr txBox="1"/>
          <p:nvPr/>
        </p:nvSpPr>
        <p:spPr>
          <a:xfrm>
            <a:off x="4787900" y="3429000"/>
            <a:ext cx="4105275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ctr" eaLnBrk="0" hangingPunct="0">
              <a:spcBef>
                <a:spcPct val="50000"/>
              </a:spcBef>
              <a:buClrTx/>
              <a:buFontTx/>
              <a:buNone/>
            </a:pPr>
            <a:r>
              <a:rPr lang="zh-CN" altLang="en-US" dirty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发出功率，起电源作用</a:t>
            </a:r>
            <a:endParaRPr lang="zh-CN" altLang="en-US" dirty="0">
              <a:latin typeface="Times New Roman" panose="02020603050405020304" pitchFamily="18" charset="0"/>
              <a:ea typeface="楷体_GB2312" pitchFamily="49" charset="-122"/>
              <a:sym typeface="Symbol" panose="05050102010706020507" pitchFamily="18" charset="2"/>
            </a:endParaRPr>
          </a:p>
        </p:txBody>
      </p:sp>
      <p:sp>
        <p:nvSpPr>
          <p:cNvPr id="230471" name="Rectangle 71"/>
          <p:cNvSpPr/>
          <p:nvPr/>
        </p:nvSpPr>
        <p:spPr>
          <a:xfrm>
            <a:off x="2768600" y="1844675"/>
            <a:ext cx="1970088" cy="519113"/>
          </a:xfrm>
          <a:prstGeom prst="rect">
            <a:avLst/>
          </a:prstGeom>
          <a:noFill/>
          <a:ln w="12700">
            <a:noFill/>
          </a:ln>
        </p:spPr>
        <p:txBody>
          <a:bodyPr wrap="none" anchor="ctr" anchorCtr="0">
            <a:spAutoFit/>
          </a:bodyPr>
          <a:p>
            <a:pPr algn="ctr" eaLnBrk="0" hangingPunct="0">
              <a:spcBef>
                <a:spcPct val="50000"/>
              </a:spcBef>
              <a:buClrTx/>
              <a:buFontTx/>
              <a:buNone/>
            </a:pP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物理意义：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ea typeface="楷体_GB2312" pitchFamily="49" charset="-122"/>
              <a:sym typeface="Symbol" panose="05050102010706020507" pitchFamily="18" charset="2"/>
            </a:endParaRPr>
          </a:p>
        </p:txBody>
      </p:sp>
      <p:grpSp>
        <p:nvGrpSpPr>
          <p:cNvPr id="58393" name="Group 82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58394" name="Picture 83" descr="78900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8395" name="Text Box 84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58396" name="Group 85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58397" name="Picture 86" descr="78900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8398" name="Text Box 87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230491" name="Group 91"/>
          <p:cNvGrpSpPr/>
          <p:nvPr/>
        </p:nvGrpSpPr>
        <p:grpSpPr>
          <a:xfrm>
            <a:off x="395288" y="3789363"/>
            <a:ext cx="2093912" cy="2425700"/>
            <a:chOff x="249" y="2387"/>
            <a:chExt cx="1319" cy="1528"/>
          </a:xfrm>
        </p:grpSpPr>
        <p:sp>
          <p:nvSpPr>
            <p:cNvPr id="230492" name="Oval 92"/>
            <p:cNvSpPr>
              <a:spLocks noChangeArrowheads="1"/>
            </p:cNvSpPr>
            <p:nvPr/>
          </p:nvSpPr>
          <p:spPr bwMode="auto">
            <a:xfrm rot="10800000">
              <a:off x="559" y="3148"/>
              <a:ext cx="340" cy="340"/>
            </a:xfrm>
            <a:prstGeom prst="ellipse">
              <a:avLst/>
            </a:prstGeom>
            <a:gradFill rotWithShape="1">
              <a:gsLst>
                <a:gs pos="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 w="38100">
              <a:solidFill>
                <a:srgbClr val="FF99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endParaRPr>
            </a:p>
          </p:txBody>
        </p:sp>
        <p:sp>
          <p:nvSpPr>
            <p:cNvPr id="58401" name="Text Box 93"/>
            <p:cNvSpPr txBox="1"/>
            <p:nvPr/>
          </p:nvSpPr>
          <p:spPr>
            <a:xfrm rot="10800000">
              <a:off x="502" y="2859"/>
              <a:ext cx="267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anchor="ctr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+</a:t>
              </a:r>
              <a:endParaRPr lang="en-US" altLang="zh-CN" b="0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58402" name="Text Box 94"/>
            <p:cNvSpPr txBox="1"/>
            <p:nvPr/>
          </p:nvSpPr>
          <p:spPr>
            <a:xfrm>
              <a:off x="533" y="3407"/>
              <a:ext cx="196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ctr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_</a:t>
              </a:r>
              <a:endParaRPr lang="en-US" altLang="zh-CN" b="0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58403" name="Text Box 95"/>
            <p:cNvSpPr txBox="1"/>
            <p:nvPr/>
          </p:nvSpPr>
          <p:spPr>
            <a:xfrm>
              <a:off x="839" y="2387"/>
              <a:ext cx="178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anchor="ctr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i</a:t>
              </a:r>
              <a:endParaRPr lang="en-US" altLang="zh-CN" b="0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58404" name="Oval 96"/>
            <p:cNvSpPr/>
            <p:nvPr/>
          </p:nvSpPr>
          <p:spPr>
            <a:xfrm rot="10800000">
              <a:off x="1380" y="3847"/>
              <a:ext cx="68" cy="68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>
              <a:spAutoFit/>
            </a:bodyPr>
            <a:p>
              <a:pPr>
                <a:buClrTx/>
                <a:buFontTx/>
                <a:buNone/>
              </a:pPr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58405" name="Line 97"/>
            <p:cNvSpPr/>
            <p:nvPr/>
          </p:nvSpPr>
          <p:spPr>
            <a:xfrm rot="5400000">
              <a:off x="1060" y="3561"/>
              <a:ext cx="0" cy="64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8406" name="Oval 98"/>
            <p:cNvSpPr/>
            <p:nvPr/>
          </p:nvSpPr>
          <p:spPr>
            <a:xfrm rot="10800000">
              <a:off x="1380" y="2672"/>
              <a:ext cx="68" cy="68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>
              <a:spAutoFit/>
            </a:bodyPr>
            <a:p>
              <a:pPr>
                <a:buClrTx/>
                <a:buFontTx/>
                <a:buNone/>
              </a:pPr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58407" name="Line 99"/>
            <p:cNvSpPr/>
            <p:nvPr/>
          </p:nvSpPr>
          <p:spPr>
            <a:xfrm rot="5400000">
              <a:off x="1060" y="2386"/>
              <a:ext cx="0" cy="64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8408" name="Text Box 100"/>
            <p:cNvSpPr txBox="1"/>
            <p:nvPr/>
          </p:nvSpPr>
          <p:spPr>
            <a:xfrm>
              <a:off x="1324" y="3110"/>
              <a:ext cx="228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anchor="ctr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u</a:t>
              </a:r>
              <a:endParaRPr lang="en-US" altLang="zh-CN" b="0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58409" name="Text Box 101"/>
            <p:cNvSpPr txBox="1"/>
            <p:nvPr/>
          </p:nvSpPr>
          <p:spPr>
            <a:xfrm rot="10800000">
              <a:off x="1301" y="2701"/>
              <a:ext cx="267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anchor="ctr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+</a:t>
              </a:r>
              <a:endParaRPr lang="en-US" altLang="zh-CN" b="0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58410" name="Text Box 102"/>
            <p:cNvSpPr txBox="1"/>
            <p:nvPr/>
          </p:nvSpPr>
          <p:spPr>
            <a:xfrm>
              <a:off x="1343" y="3469"/>
              <a:ext cx="196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ctr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_</a:t>
              </a:r>
              <a:endParaRPr lang="en-US" altLang="zh-CN" b="0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58411" name="Line 103"/>
            <p:cNvSpPr/>
            <p:nvPr/>
          </p:nvSpPr>
          <p:spPr>
            <a:xfrm rot="10800000">
              <a:off x="740" y="2706"/>
              <a:ext cx="0" cy="1175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aphicFrame>
          <p:nvGraphicFramePr>
            <p:cNvPr id="58412" name="Object 104"/>
            <p:cNvGraphicFramePr>
              <a:graphicFrameLocks noChangeAspect="1"/>
            </p:cNvGraphicFramePr>
            <p:nvPr/>
          </p:nvGraphicFramePr>
          <p:xfrm>
            <a:off x="249" y="3148"/>
            <a:ext cx="302" cy="3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47" name="" r:id="rId8" imgW="156210" imgH="202565" progId="Equation.3">
                    <p:embed/>
                  </p:oleObj>
                </mc:Choice>
                <mc:Fallback>
                  <p:oleObj name="" r:id="rId8" imgW="156210" imgH="202565" progId="Equation.3">
                    <p:embed/>
                    <p:pic>
                      <p:nvPicPr>
                        <p:cNvPr id="0" name="图片 3146"/>
                        <p:cNvPicPr/>
                        <p:nvPr/>
                      </p:nvPicPr>
                      <p:blipFill>
                        <a:blip r:embed="rId9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49" y="3148"/>
                          <a:ext cx="302" cy="38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30505" name="Line 105"/>
          <p:cNvSpPr/>
          <p:nvPr/>
        </p:nvSpPr>
        <p:spPr>
          <a:xfrm>
            <a:off x="1692275" y="4149725"/>
            <a:ext cx="458788" cy="0"/>
          </a:xfrm>
          <a:prstGeom prst="line">
            <a:avLst/>
          </a:prstGeom>
          <a:ln w="28575" cap="flat" cmpd="sng">
            <a:solidFill>
              <a:srgbClr val="00CCFF"/>
            </a:solidFill>
            <a:prstDash val="solid"/>
            <a:round/>
            <a:headEnd type="triangle" w="med" len="med"/>
            <a:tailEnd type="none" w="med" len="med"/>
          </a:ln>
        </p:spPr>
      </p:sp>
      <p:sp>
        <p:nvSpPr>
          <p:cNvPr id="230506" name="Text Box 106"/>
          <p:cNvSpPr txBox="1"/>
          <p:nvPr/>
        </p:nvSpPr>
        <p:spPr>
          <a:xfrm>
            <a:off x="3203575" y="4133850"/>
            <a:ext cx="5184775" cy="519113"/>
          </a:xfrm>
          <a:prstGeom prst="rect">
            <a:avLst/>
          </a:prstGeom>
          <a:noFill/>
          <a:ln w="12700">
            <a:noFill/>
          </a:ln>
        </p:spPr>
        <p:txBody>
          <a:bodyPr anchor="ctr" anchorCtr="0">
            <a:spAutoFit/>
          </a:bodyPr>
          <a:p>
            <a:pPr marL="342900" indent="-342900" eaLnBrk="0" hangingPunct="0">
              <a:spcBef>
                <a:spcPct val="50000"/>
              </a:spcBef>
              <a:buAutoNum type="circleNumDbPlain" startAt="2"/>
            </a:pPr>
            <a:r>
              <a:rPr lang="zh-CN" altLang="en-US" dirty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电压、电流参考方向关联；</a:t>
            </a:r>
            <a:r>
              <a:rPr lang="zh-CN" altLang="en-US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　　　　　　　　　　　　　　　</a:t>
            </a:r>
            <a:endParaRPr lang="zh-CN" altLang="en-US" dirty="0">
              <a:solidFill>
                <a:schemeClr val="tx2"/>
              </a:solidFill>
              <a:latin typeface="Times New Roman" panose="02020603050405020304" pitchFamily="18" charset="0"/>
              <a:ea typeface="楷体_GB2312" pitchFamily="49" charset="-122"/>
              <a:sym typeface="Symbol" panose="05050102010706020507" pitchFamily="18" charset="2"/>
            </a:endParaRPr>
          </a:p>
        </p:txBody>
      </p:sp>
      <p:sp>
        <p:nvSpPr>
          <p:cNvPr id="230507" name="Rectangle 107"/>
          <p:cNvSpPr/>
          <p:nvPr/>
        </p:nvSpPr>
        <p:spPr>
          <a:xfrm>
            <a:off x="2700338" y="4854575"/>
            <a:ext cx="1962150" cy="519113"/>
          </a:xfrm>
          <a:prstGeom prst="rect">
            <a:avLst/>
          </a:prstGeom>
          <a:noFill/>
          <a:ln w="12700">
            <a:noFill/>
          </a:ln>
        </p:spPr>
        <p:txBody>
          <a:bodyPr wrap="none" anchor="ctr" anchorCtr="0">
            <a:spAutoFit/>
          </a:bodyPr>
          <a:p>
            <a:pPr algn="ctr" eaLnBrk="0" hangingPunct="0">
              <a:spcBef>
                <a:spcPct val="50000"/>
              </a:spcBef>
              <a:buClrTx/>
              <a:buFontTx/>
              <a:buNone/>
            </a:pP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物理意义：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ea typeface="楷体_GB2312" pitchFamily="49" charset="-122"/>
              <a:sym typeface="Symbol" panose="05050102010706020507" pitchFamily="18" charset="2"/>
            </a:endParaRPr>
          </a:p>
        </p:txBody>
      </p:sp>
      <p:sp>
        <p:nvSpPr>
          <p:cNvPr id="230508" name="Text Box 108"/>
          <p:cNvSpPr txBox="1"/>
          <p:nvPr/>
        </p:nvSpPr>
        <p:spPr>
          <a:xfrm>
            <a:off x="4427538" y="4854575"/>
            <a:ext cx="4537075" cy="519113"/>
          </a:xfrm>
          <a:prstGeom prst="rect">
            <a:avLst/>
          </a:prstGeom>
          <a:noFill/>
          <a:ln w="12700">
            <a:noFill/>
          </a:ln>
        </p:spPr>
        <p:txBody>
          <a:bodyPr anchor="ctr" anchorCtr="0">
            <a:spAutoFit/>
          </a:bodyPr>
          <a:p>
            <a:pPr eaLnBrk="0" hangingPunct="0">
              <a:spcBef>
                <a:spcPct val="50000"/>
              </a:spcBef>
              <a:buClrTx/>
              <a:buFontTx/>
              <a:buNone/>
            </a:pPr>
            <a:r>
              <a:rPr lang="zh-CN" altLang="en-US" dirty="0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电场力做功，电源吸收功率</a:t>
            </a:r>
            <a:endParaRPr lang="zh-CN" altLang="en-US" dirty="0">
              <a:latin typeface="楷体_GB2312" pitchFamily="49" charset="-122"/>
              <a:ea typeface="楷体_GB2312" pitchFamily="49" charset="-122"/>
              <a:sym typeface="Symbol" panose="05050102010706020507" pitchFamily="18" charset="2"/>
            </a:endParaRPr>
          </a:p>
        </p:txBody>
      </p:sp>
      <p:graphicFrame>
        <p:nvGraphicFramePr>
          <p:cNvPr id="230509" name="Object 109"/>
          <p:cNvGraphicFramePr>
            <a:graphicFrameLocks noChangeAspect="1"/>
          </p:cNvGraphicFramePr>
          <p:nvPr/>
        </p:nvGraphicFramePr>
        <p:xfrm>
          <a:off x="2898775" y="5516563"/>
          <a:ext cx="1457325" cy="60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9" name="" r:id="rId10" imgW="514985" imgH="202565" progId="Equation.3">
                  <p:embed/>
                </p:oleObj>
              </mc:Choice>
              <mc:Fallback>
                <p:oleObj name="" r:id="rId10" imgW="514985" imgH="202565" progId="Equation.3">
                  <p:embed/>
                  <p:pic>
                    <p:nvPicPr>
                      <p:cNvPr id="0" name="图片 3148"/>
                      <p:cNvPicPr/>
                      <p:nvPr/>
                    </p:nvPicPr>
                    <p:blipFill>
                      <a:blip r:embed="rId11">
                        <a:clrChange>
                          <a:clrFrom>
                            <a:srgbClr val="000000"/>
                          </a:clrFrom>
                          <a:clrTo>
                            <a:srgbClr val="00008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898775" y="5516563"/>
                        <a:ext cx="1457325" cy="6000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0510" name="AutoShape 110"/>
          <p:cNvSpPr/>
          <p:nvPr/>
        </p:nvSpPr>
        <p:spPr>
          <a:xfrm>
            <a:off x="4284663" y="5734050"/>
            <a:ext cx="647700" cy="144463"/>
          </a:xfrm>
          <a:prstGeom prst="rightArrow">
            <a:avLst>
              <a:gd name="adj1" fmla="val 50000"/>
              <a:gd name="adj2" fmla="val 112066"/>
            </a:avLst>
          </a:prstGeom>
          <a:solidFill>
            <a:srgbClr val="66CCFF"/>
          </a:solidFill>
          <a:ln w="9525">
            <a:noFill/>
          </a:ln>
        </p:spPr>
        <p:txBody>
          <a:bodyPr wrap="none" anchor="ctr" anchorCtr="0"/>
          <a:p>
            <a:pPr>
              <a:buClrTx/>
              <a:buFontTx/>
              <a:buNone/>
            </a:pPr>
            <a:endParaRPr lang="zh-CN" altLang="en-US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230511" name="Text Box 111"/>
          <p:cNvSpPr txBox="1"/>
          <p:nvPr/>
        </p:nvSpPr>
        <p:spPr>
          <a:xfrm>
            <a:off x="5005388" y="5516563"/>
            <a:ext cx="3527425" cy="519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ctr" eaLnBrk="0" hangingPunct="0">
              <a:buClrTx/>
              <a:buFontTx/>
              <a:buNone/>
            </a:pPr>
            <a:r>
              <a:rPr lang="zh-CN" altLang="en-US" dirty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吸收功率，充当负载</a:t>
            </a:r>
            <a:endParaRPr lang="zh-CN" altLang="en-US" dirty="0">
              <a:latin typeface="Times New Roman" panose="02020603050405020304" pitchFamily="18" charset="0"/>
              <a:ea typeface="楷体_GB2312" pitchFamily="49" charset="-122"/>
              <a:sym typeface="Symbol" panose="05050102010706020507" pitchFamily="18" charset="2"/>
            </a:endParaRPr>
          </a:p>
        </p:txBody>
      </p:sp>
      <p:grpSp>
        <p:nvGrpSpPr>
          <p:cNvPr id="58420" name="Group 118"/>
          <p:cNvGrpSpPr/>
          <p:nvPr/>
        </p:nvGrpSpPr>
        <p:grpSpPr>
          <a:xfrm>
            <a:off x="6588125" y="6445250"/>
            <a:ext cx="792163" cy="366713"/>
            <a:chOff x="5193" y="4020"/>
            <a:chExt cx="499" cy="231"/>
          </a:xfrm>
        </p:grpSpPr>
        <p:pic>
          <p:nvPicPr>
            <p:cNvPr id="58421" name="Picture 119" descr="78900">
              <a:hlinkClick r:id="" action="ppaction://hlinkshowjump?jump=firstslide"/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8422" name="Text Box 120">
              <a:hlinkClick r:id="" action="ppaction://hlinkshowjump?jump=firs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30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" dur="500"/>
                                        <p:tgtEl>
                                          <p:spTgt spid="230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30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1" dur="75"/>
                                        <p:tgtEl>
                                          <p:spTgt spid="230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100"/>
                            </p:stCondLst>
                            <p:childTnLst>
                              <p:par>
                                <p:cTn id="23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5" dur="2000"/>
                                        <p:tgtEl>
                                          <p:spTgt spid="230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100"/>
                            </p:stCondLst>
                            <p:childTnLst>
                              <p:par>
                                <p:cTn id="27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304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304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5" dur="500"/>
                                        <p:tgtEl>
                                          <p:spTgt spid="230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9" dur="75"/>
                                        <p:tgtEl>
                                          <p:spTgt spid="230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230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9" dur="500"/>
                                        <p:tgtEl>
                                          <p:spTgt spid="230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304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304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9" dur="75"/>
                                        <p:tgtEl>
                                          <p:spTgt spid="230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2025"/>
                            </p:stCondLst>
                            <p:childTnLst>
                              <p:par>
                                <p:cTn id="61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63" dur="2000"/>
                                        <p:tgtEl>
                                          <p:spTgt spid="230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4025"/>
                            </p:stCondLst>
                            <p:childTnLst>
                              <p:par>
                                <p:cTn id="65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67" dur="500"/>
                                        <p:tgtEl>
                                          <p:spTgt spid="230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2" dur="500"/>
                                        <p:tgtEl>
                                          <p:spTgt spid="230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"/>
                            </p:stCondLst>
                            <p:childTnLst>
                              <p:par>
                                <p:cTn id="74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6" dur="100"/>
                                        <p:tgtEl>
                                          <p:spTgt spid="230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1" dur="500"/>
                                        <p:tgtEl>
                                          <p:spTgt spid="230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86" dur="500"/>
                                        <p:tgtEl>
                                          <p:spTgt spid="230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500"/>
                            </p:stCondLst>
                            <p:childTnLst>
                              <p:par>
                                <p:cTn id="88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2305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2305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0405" grpId="0" animBg="1"/>
      <p:bldP spid="230409" grpId="0"/>
      <p:bldP spid="230464" grpId="0" animBg="1"/>
      <p:bldP spid="230466" grpId="0"/>
      <p:bldP spid="230468" grpId="0" animBg="1"/>
      <p:bldP spid="230469" grpId="0"/>
      <p:bldP spid="230471" grpId="0"/>
      <p:bldP spid="230506" grpId="0"/>
      <p:bldP spid="230507" grpId="0"/>
      <p:bldP spid="230508" grpId="0"/>
      <p:bldP spid="230510" grpId="0" animBg="1"/>
      <p:bldP spid="230511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1443" name="Text Box 19"/>
          <p:cNvSpPr txBox="1"/>
          <p:nvPr/>
        </p:nvSpPr>
        <p:spPr>
          <a:xfrm>
            <a:off x="468313" y="620713"/>
            <a:ext cx="647700" cy="519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ctr" eaLnBrk="0" hangingPunct="0">
              <a:spcBef>
                <a:spcPct val="50000"/>
              </a:spcBef>
              <a:buClrTx/>
              <a:buFontTx/>
              <a:buNone/>
            </a:pP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例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231463" name="Text Box 39"/>
          <p:cNvSpPr txBox="1"/>
          <p:nvPr/>
        </p:nvSpPr>
        <p:spPr>
          <a:xfrm>
            <a:off x="1116013" y="620713"/>
            <a:ext cx="4824412" cy="519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>
              <a:spcBef>
                <a:spcPct val="50000"/>
              </a:spcBef>
              <a:buClrTx/>
              <a:buFontTx/>
              <a:buNone/>
            </a:pPr>
            <a:r>
              <a:rPr lang="zh-CN" altLang="en-US" dirty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计算图示电路各元件的功率</a:t>
            </a:r>
            <a:endParaRPr lang="zh-CN" altLang="en-US" dirty="0">
              <a:latin typeface="Times New Roman" panose="02020603050405020304" pitchFamily="18" charset="0"/>
              <a:ea typeface="楷体_GB2312" pitchFamily="49" charset="-122"/>
              <a:sym typeface="Symbol" panose="05050102010706020507" pitchFamily="18" charset="2"/>
            </a:endParaRPr>
          </a:p>
        </p:txBody>
      </p:sp>
      <p:sp>
        <p:nvSpPr>
          <p:cNvPr id="231464" name="Text Box 40"/>
          <p:cNvSpPr txBox="1"/>
          <p:nvPr/>
        </p:nvSpPr>
        <p:spPr>
          <a:xfrm>
            <a:off x="468313" y="1412875"/>
            <a:ext cx="647700" cy="519113"/>
          </a:xfrm>
          <a:prstGeom prst="rect">
            <a:avLst/>
          </a:prstGeom>
          <a:solidFill>
            <a:srgbClr val="990033"/>
          </a:solidFill>
          <a:ln w="9525">
            <a:noFill/>
          </a:ln>
        </p:spPr>
        <p:txBody>
          <a:bodyPr anchor="t" anchorCtr="0">
            <a:spAutoFit/>
          </a:bodyPr>
          <a:p>
            <a:pPr algn="ctr" eaLnBrk="0" hangingPunct="0">
              <a:spcBef>
                <a:spcPct val="50000"/>
              </a:spcBef>
              <a:buClrTx/>
              <a:buFontTx/>
              <a:buNone/>
            </a:pP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解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graphicFrame>
        <p:nvGraphicFramePr>
          <p:cNvPr id="231465" name="Object 41"/>
          <p:cNvGraphicFramePr>
            <a:graphicFrameLocks noChangeAspect="1"/>
          </p:cNvGraphicFramePr>
          <p:nvPr/>
        </p:nvGraphicFramePr>
        <p:xfrm>
          <a:off x="1547813" y="1412875"/>
          <a:ext cx="2879725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6" name="" r:id="rId1" imgW="1163320" imgH="202565" progId="Equation.3">
                  <p:embed/>
                </p:oleObj>
              </mc:Choice>
              <mc:Fallback>
                <p:oleObj name="" r:id="rId1" imgW="1163320" imgH="202565" progId="Equation.3">
                  <p:embed/>
                  <p:pic>
                    <p:nvPicPr>
                      <p:cNvPr id="0" name="图片 3145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547813" y="1412875"/>
                        <a:ext cx="2879725" cy="5365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1466" name="Object 42"/>
          <p:cNvGraphicFramePr>
            <a:graphicFrameLocks noChangeAspect="1"/>
          </p:cNvGraphicFramePr>
          <p:nvPr/>
        </p:nvGraphicFramePr>
        <p:xfrm>
          <a:off x="1547813" y="1989138"/>
          <a:ext cx="2463800" cy="1019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8" name="" r:id="rId3" imgW="989330" imgH="399415" progId="Equation.3">
                  <p:embed/>
                </p:oleObj>
              </mc:Choice>
              <mc:Fallback>
                <p:oleObj name="" r:id="rId3" imgW="989330" imgH="399415" progId="Equation.3">
                  <p:embed/>
                  <p:pic>
                    <p:nvPicPr>
                      <p:cNvPr id="0" name="图片 3147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547813" y="1989138"/>
                        <a:ext cx="2463800" cy="10191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1467" name="Object 43"/>
          <p:cNvGraphicFramePr>
            <a:graphicFrameLocks noChangeAspect="1"/>
          </p:cNvGraphicFramePr>
          <p:nvPr/>
        </p:nvGraphicFramePr>
        <p:xfrm>
          <a:off x="827088" y="4525963"/>
          <a:ext cx="3744912" cy="631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1" name="" r:id="rId5" imgW="1360170" imgH="213995" progId="Equation.3">
                  <p:embed/>
                </p:oleObj>
              </mc:Choice>
              <mc:Fallback>
                <p:oleObj name="" r:id="rId5" imgW="1360170" imgH="213995" progId="Equation.3">
                  <p:embed/>
                  <p:pic>
                    <p:nvPicPr>
                      <p:cNvPr id="0" name="图片 3150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827088" y="4525963"/>
                        <a:ext cx="3744912" cy="6318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1468" name="Object 44"/>
          <p:cNvGraphicFramePr>
            <a:graphicFrameLocks noChangeAspect="1"/>
          </p:cNvGraphicFramePr>
          <p:nvPr/>
        </p:nvGraphicFramePr>
        <p:xfrm>
          <a:off x="971550" y="3213100"/>
          <a:ext cx="4103688" cy="576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5" name="" r:id="rId7" imgW="1544955" imgH="202565" progId="Equation.3">
                  <p:embed/>
                </p:oleObj>
              </mc:Choice>
              <mc:Fallback>
                <p:oleObj name="" r:id="rId7" imgW="1544955" imgH="202565" progId="Equation.3">
                  <p:embed/>
                  <p:pic>
                    <p:nvPicPr>
                      <p:cNvPr id="0" name="图片 3144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971550" y="3213100"/>
                        <a:ext cx="4103688" cy="5762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1469" name="Object 45"/>
          <p:cNvGraphicFramePr>
            <a:graphicFrameLocks noChangeAspect="1"/>
          </p:cNvGraphicFramePr>
          <p:nvPr/>
        </p:nvGraphicFramePr>
        <p:xfrm>
          <a:off x="1309688" y="3860800"/>
          <a:ext cx="3646487" cy="57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0" name="" r:id="rId9" imgW="1371600" imgH="202565" progId="Equation.3">
                  <p:embed/>
                </p:oleObj>
              </mc:Choice>
              <mc:Fallback>
                <p:oleObj name="" r:id="rId9" imgW="1371600" imgH="202565" progId="Equation.3">
                  <p:embed/>
                  <p:pic>
                    <p:nvPicPr>
                      <p:cNvPr id="0" name="图片 3149"/>
                      <p:cNvPicPr/>
                      <p:nvPr/>
                    </p:nvPicPr>
                    <p:blipFill>
                      <a:blip r:embed="rId10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309688" y="3860800"/>
                        <a:ext cx="3646487" cy="5778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1470" name="Text Box 46"/>
          <p:cNvSpPr txBox="1"/>
          <p:nvPr/>
        </p:nvSpPr>
        <p:spPr>
          <a:xfrm>
            <a:off x="5651500" y="3141663"/>
            <a:ext cx="935038" cy="519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ctr" eaLnBrk="0" hangingPunct="0">
              <a:spcBef>
                <a:spcPct val="50000"/>
              </a:spcBef>
              <a:buClrTx/>
              <a:buFontTx/>
              <a:buNone/>
            </a:pPr>
            <a:r>
              <a:rPr lang="zh-CN" altLang="en-US" dirty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发出</a:t>
            </a:r>
            <a:endParaRPr lang="zh-CN" altLang="en-US" dirty="0">
              <a:latin typeface="Times New Roman" panose="02020603050405020304" pitchFamily="18" charset="0"/>
              <a:ea typeface="楷体_GB2312" pitchFamily="49" charset="-122"/>
              <a:sym typeface="Symbol" panose="05050102010706020507" pitchFamily="18" charset="2"/>
            </a:endParaRPr>
          </a:p>
        </p:txBody>
      </p:sp>
      <p:sp>
        <p:nvSpPr>
          <p:cNvPr id="231471" name="Text Box 47"/>
          <p:cNvSpPr txBox="1"/>
          <p:nvPr/>
        </p:nvSpPr>
        <p:spPr>
          <a:xfrm>
            <a:off x="5651500" y="3846513"/>
            <a:ext cx="935038" cy="519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ctr" eaLnBrk="0" hangingPunct="0">
              <a:spcBef>
                <a:spcPct val="50000"/>
              </a:spcBef>
              <a:buClrTx/>
              <a:buFontTx/>
              <a:buNone/>
            </a:pPr>
            <a:r>
              <a:rPr lang="zh-CN" altLang="en-US" dirty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吸收</a:t>
            </a:r>
            <a:endParaRPr lang="zh-CN" altLang="en-US" dirty="0">
              <a:latin typeface="Times New Roman" panose="02020603050405020304" pitchFamily="18" charset="0"/>
              <a:ea typeface="楷体_GB2312" pitchFamily="49" charset="-122"/>
              <a:sym typeface="Symbol" panose="05050102010706020507" pitchFamily="18" charset="2"/>
            </a:endParaRPr>
          </a:p>
        </p:txBody>
      </p:sp>
      <p:sp>
        <p:nvSpPr>
          <p:cNvPr id="231472" name="Text Box 48"/>
          <p:cNvSpPr txBox="1"/>
          <p:nvPr/>
        </p:nvSpPr>
        <p:spPr>
          <a:xfrm>
            <a:off x="5651500" y="4565650"/>
            <a:ext cx="935038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ctr" eaLnBrk="0" hangingPunct="0">
              <a:spcBef>
                <a:spcPct val="50000"/>
              </a:spcBef>
              <a:buClrTx/>
              <a:buFontTx/>
              <a:buNone/>
            </a:pPr>
            <a:r>
              <a:rPr lang="zh-CN" altLang="en-US" dirty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吸收</a:t>
            </a:r>
            <a:endParaRPr lang="zh-CN" altLang="en-US" dirty="0">
              <a:latin typeface="Times New Roman" panose="02020603050405020304" pitchFamily="18" charset="0"/>
              <a:ea typeface="楷体_GB2312" pitchFamily="49" charset="-122"/>
              <a:sym typeface="Symbol" panose="05050102010706020507" pitchFamily="18" charset="2"/>
            </a:endParaRPr>
          </a:p>
        </p:txBody>
      </p:sp>
      <p:sp>
        <p:nvSpPr>
          <p:cNvPr id="231473" name="Text Box 49"/>
          <p:cNvSpPr txBox="1"/>
          <p:nvPr/>
        </p:nvSpPr>
        <p:spPr>
          <a:xfrm>
            <a:off x="1258888" y="5286375"/>
            <a:ext cx="4537075" cy="519113"/>
          </a:xfrm>
          <a:prstGeom prst="rect">
            <a:avLst/>
          </a:prstGeom>
          <a:solidFill>
            <a:srgbClr val="008000"/>
          </a:solidFill>
          <a:ln w="9525">
            <a:noFill/>
          </a:ln>
        </p:spPr>
        <p:txBody>
          <a:bodyPr anchor="t" anchorCtr="0">
            <a:spAutoFit/>
          </a:bodyPr>
          <a:p>
            <a:pPr algn="ctr" eaLnBrk="0" hangingPunct="0">
              <a:spcBef>
                <a:spcPct val="50000"/>
              </a:spcBef>
              <a:buClrTx/>
              <a:buFontTx/>
              <a:buNone/>
            </a:pPr>
            <a:r>
              <a:rPr lang="zh-CN" altLang="en-US" dirty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满足</a:t>
            </a:r>
            <a:r>
              <a:rPr lang="zh-CN" altLang="en-US" dirty="0">
                <a:latin typeface="Times New Roman" panose="02020603050405020304" pitchFamily="18" charset="0"/>
                <a:ea typeface="仿宋_GB2312" pitchFamily="49" charset="-122"/>
                <a:sym typeface="Wingdings" panose="05000000000000000000" pitchFamily="2" charset="2"/>
              </a:rPr>
              <a:t>：</a:t>
            </a:r>
            <a:r>
              <a:rPr lang="en-US" altLang="zh-CN" b="0" i="1" dirty="0">
                <a:latin typeface="Times New Roman" panose="02020603050405020304" pitchFamily="18" charset="0"/>
                <a:ea typeface="仿宋_GB2312" pitchFamily="49" charset="-122"/>
                <a:sym typeface="Wingdings" panose="05000000000000000000" pitchFamily="2" charset="2"/>
              </a:rPr>
              <a:t>P</a:t>
            </a:r>
            <a:r>
              <a:rPr lang="zh-CN" altLang="en-US" dirty="0">
                <a:latin typeface="Times New Roman" panose="02020603050405020304" pitchFamily="18" charset="0"/>
                <a:ea typeface="仿宋_GB2312" pitchFamily="49" charset="-122"/>
                <a:sym typeface="Wingdings" panose="05000000000000000000" pitchFamily="2" charset="2"/>
              </a:rPr>
              <a:t>（</a:t>
            </a:r>
            <a:r>
              <a:rPr lang="zh-CN" altLang="en-US" dirty="0">
                <a:latin typeface="Times New Roman" panose="02020603050405020304" pitchFamily="18" charset="0"/>
                <a:ea typeface="楷体_GB2312" pitchFamily="49" charset="-122"/>
                <a:sym typeface="Wingdings" panose="05000000000000000000" pitchFamily="2" charset="2"/>
              </a:rPr>
              <a:t>发</a:t>
            </a:r>
            <a:r>
              <a:rPr lang="zh-CN" altLang="en-US" dirty="0">
                <a:latin typeface="Times New Roman" panose="02020603050405020304" pitchFamily="18" charset="0"/>
                <a:ea typeface="仿宋_GB2312" pitchFamily="49" charset="-122"/>
                <a:sym typeface="Wingdings" panose="05000000000000000000" pitchFamily="2" charset="2"/>
              </a:rPr>
              <a:t>）＝</a:t>
            </a:r>
            <a:r>
              <a:rPr lang="en-US" altLang="zh-CN" b="0" i="1" dirty="0">
                <a:latin typeface="Times New Roman" panose="02020603050405020304" pitchFamily="18" charset="0"/>
                <a:ea typeface="仿宋_GB2312" pitchFamily="49" charset="-122"/>
                <a:sym typeface="Wingdings" panose="05000000000000000000" pitchFamily="2" charset="2"/>
              </a:rPr>
              <a:t>P</a:t>
            </a:r>
            <a:r>
              <a:rPr lang="zh-CN" altLang="en-US" dirty="0">
                <a:latin typeface="Times New Roman" panose="02020603050405020304" pitchFamily="18" charset="0"/>
                <a:ea typeface="仿宋_GB2312" pitchFamily="49" charset="-122"/>
                <a:sym typeface="Wingdings" panose="05000000000000000000" pitchFamily="2" charset="2"/>
              </a:rPr>
              <a:t>（</a:t>
            </a:r>
            <a:r>
              <a:rPr lang="zh-CN" altLang="en-US" dirty="0">
                <a:latin typeface="Times New Roman" panose="02020603050405020304" pitchFamily="18" charset="0"/>
                <a:ea typeface="楷体_GB2312" pitchFamily="49" charset="-122"/>
                <a:sym typeface="Wingdings" panose="05000000000000000000" pitchFamily="2" charset="2"/>
              </a:rPr>
              <a:t>吸</a:t>
            </a:r>
            <a:r>
              <a:rPr lang="zh-CN" altLang="en-US" dirty="0">
                <a:latin typeface="Times New Roman" panose="02020603050405020304" pitchFamily="18" charset="0"/>
                <a:ea typeface="仿宋_GB2312" pitchFamily="49" charset="-122"/>
                <a:sym typeface="Wingdings" panose="05000000000000000000" pitchFamily="2" charset="2"/>
              </a:rPr>
              <a:t>）</a:t>
            </a:r>
            <a:endParaRPr lang="zh-CN" altLang="en-US" dirty="0">
              <a:latin typeface="Times New Roman" panose="02020603050405020304" pitchFamily="18" charset="0"/>
              <a:ea typeface="仿宋_GB2312" pitchFamily="49" charset="-122"/>
              <a:sym typeface="Symbol" panose="05050102010706020507" pitchFamily="18" charset="2"/>
            </a:endParaRPr>
          </a:p>
        </p:txBody>
      </p:sp>
      <p:grpSp>
        <p:nvGrpSpPr>
          <p:cNvPr id="59405" name="Group 53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59406" name="Picture 54" descr="78900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9407" name="Text Box 55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59408" name="Group 56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59409" name="Picture 57" descr="78900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9410" name="Text Box 58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231486" name="Group 62"/>
          <p:cNvGrpSpPr/>
          <p:nvPr/>
        </p:nvGrpSpPr>
        <p:grpSpPr>
          <a:xfrm>
            <a:off x="5724525" y="692150"/>
            <a:ext cx="3167063" cy="2319338"/>
            <a:chOff x="3198" y="164"/>
            <a:chExt cx="1995" cy="1461"/>
          </a:xfrm>
        </p:grpSpPr>
        <p:sp>
          <p:nvSpPr>
            <p:cNvPr id="59412" name="Oval 63"/>
            <p:cNvSpPr/>
            <p:nvPr/>
          </p:nvSpPr>
          <p:spPr>
            <a:xfrm>
              <a:off x="4286" y="890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buClrTx/>
                <a:buFontTx/>
                <a:buNone/>
              </a:pPr>
              <a:endParaRPr lang="zh-CN" altLang="zh-CN" sz="2400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59413" name="Oval 64"/>
            <p:cNvSpPr/>
            <p:nvPr/>
          </p:nvSpPr>
          <p:spPr>
            <a:xfrm>
              <a:off x="3198" y="934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buClrTx/>
                <a:buFontTx/>
                <a:buNone/>
              </a:pPr>
              <a:endParaRPr lang="zh-CN" altLang="zh-CN" sz="2400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graphicFrame>
          <p:nvGraphicFramePr>
            <p:cNvPr id="59414" name="Object 65"/>
            <p:cNvGraphicFramePr>
              <a:graphicFrameLocks noChangeAspect="1"/>
            </p:cNvGraphicFramePr>
            <p:nvPr/>
          </p:nvGraphicFramePr>
          <p:xfrm>
            <a:off x="3576" y="164"/>
            <a:ext cx="698" cy="2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52" name="" r:id="rId12" imgW="492125" imgH="156210" progId="Equation.3">
                    <p:embed/>
                  </p:oleObj>
                </mc:Choice>
                <mc:Fallback>
                  <p:oleObj name="" r:id="rId12" imgW="492125" imgH="156210" progId="Equation.3">
                    <p:embed/>
                    <p:pic>
                      <p:nvPicPr>
                        <p:cNvPr id="0" name="图片 3151"/>
                        <p:cNvPicPr/>
                        <p:nvPr/>
                      </p:nvPicPr>
                      <p:blipFill>
                        <a:blip r:embed="rId13">
                          <a:clrChange>
                            <a:clrFrom>
                              <a:srgbClr val="000000"/>
                            </a:clrFrom>
                            <a:clrTo>
                              <a:srgbClr val="00008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576" y="164"/>
                          <a:ext cx="698" cy="23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9415" name="Text Box 66"/>
            <p:cNvSpPr txBox="1"/>
            <p:nvPr/>
          </p:nvSpPr>
          <p:spPr>
            <a:xfrm>
              <a:off x="4059" y="1298"/>
              <a:ext cx="178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anchor="ctr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i</a:t>
              </a:r>
              <a:endParaRPr lang="en-US" altLang="zh-CN" b="0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59416" name="Text Box 67"/>
            <p:cNvSpPr txBox="1"/>
            <p:nvPr/>
          </p:nvSpPr>
          <p:spPr>
            <a:xfrm rot="10800000">
              <a:off x="4059" y="482"/>
              <a:ext cx="263" cy="365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ctr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3200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+</a:t>
              </a:r>
              <a:endParaRPr lang="en-US" altLang="zh-CN" sz="3200" b="0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59417" name="Text Box 68"/>
            <p:cNvSpPr txBox="1"/>
            <p:nvPr/>
          </p:nvSpPr>
          <p:spPr>
            <a:xfrm>
              <a:off x="3560" y="300"/>
              <a:ext cx="196" cy="365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ctr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3200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_</a:t>
              </a:r>
              <a:endParaRPr lang="en-US" altLang="zh-CN" sz="3200" b="0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graphicFrame>
          <p:nvGraphicFramePr>
            <p:cNvPr id="59418" name="Object 69"/>
            <p:cNvGraphicFramePr>
              <a:graphicFrameLocks noChangeAspect="1"/>
            </p:cNvGraphicFramePr>
            <p:nvPr/>
          </p:nvGraphicFramePr>
          <p:xfrm>
            <a:off x="3787" y="482"/>
            <a:ext cx="302" cy="3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53" name="" r:id="rId14" imgW="156210" imgH="202565" progId="Equation.3">
                    <p:embed/>
                  </p:oleObj>
                </mc:Choice>
                <mc:Fallback>
                  <p:oleObj name="" r:id="rId14" imgW="156210" imgH="202565" progId="Equation.3">
                    <p:embed/>
                    <p:pic>
                      <p:nvPicPr>
                        <p:cNvPr id="0" name="图片 3152"/>
                        <p:cNvPicPr/>
                        <p:nvPr/>
                      </p:nvPicPr>
                      <p:blipFill>
                        <a:blip r:embed="rId15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787" y="482"/>
                          <a:ext cx="302" cy="38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9419" name="Text Box 70"/>
            <p:cNvSpPr txBox="1"/>
            <p:nvPr/>
          </p:nvSpPr>
          <p:spPr>
            <a:xfrm rot="10800000">
              <a:off x="4454" y="573"/>
              <a:ext cx="289" cy="365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anchor="ctr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3200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+</a:t>
              </a:r>
              <a:endParaRPr lang="en-US" altLang="zh-CN" sz="3200" b="0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59420" name="Text Box 71"/>
            <p:cNvSpPr txBox="1"/>
            <p:nvPr/>
          </p:nvSpPr>
          <p:spPr>
            <a:xfrm>
              <a:off x="4468" y="1117"/>
              <a:ext cx="196" cy="365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ctr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3200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_</a:t>
              </a:r>
              <a:endParaRPr lang="en-US" altLang="zh-CN" sz="3200" b="0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59421" name="Text Box 72"/>
            <p:cNvSpPr txBox="1"/>
            <p:nvPr/>
          </p:nvSpPr>
          <p:spPr>
            <a:xfrm>
              <a:off x="4649" y="935"/>
              <a:ext cx="54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b="0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10V</a:t>
              </a:r>
              <a:endPara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59422" name="Text Box 73"/>
            <p:cNvSpPr txBox="1"/>
            <p:nvPr/>
          </p:nvSpPr>
          <p:spPr>
            <a:xfrm>
              <a:off x="3560" y="935"/>
              <a:ext cx="43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b="0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5V</a:t>
              </a:r>
              <a:endPara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59423" name="Rectangle 74" descr="斜纹布"/>
            <p:cNvSpPr/>
            <p:nvPr/>
          </p:nvSpPr>
          <p:spPr>
            <a:xfrm>
              <a:off x="3379" y="436"/>
              <a:ext cx="1089" cy="1180"/>
            </a:xfrm>
            <a:prstGeom prst="rect">
              <a:avLst/>
            </a:prstGeom>
            <a:noFill/>
            <a:ln w="28575" cap="sq" cmpd="sng">
              <a:solidFill>
                <a:srgbClr val="FFCC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  <a:buNone/>
              </a:pPr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59424" name="Text Box 75"/>
            <p:cNvSpPr txBox="1"/>
            <p:nvPr/>
          </p:nvSpPr>
          <p:spPr>
            <a:xfrm>
              <a:off x="3334" y="1251"/>
              <a:ext cx="273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3200" b="0" i="1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Symbol" panose="05050102010706020507" pitchFamily="18" charset="2"/>
                </a:rPr>
                <a:t>-</a:t>
              </a:r>
              <a:endParaRPr lang="en-US" altLang="zh-CN" sz="3200" b="0" i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59425" name="Text Box 76"/>
            <p:cNvSpPr txBox="1"/>
            <p:nvPr/>
          </p:nvSpPr>
          <p:spPr>
            <a:xfrm>
              <a:off x="3379" y="618"/>
              <a:ext cx="272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3200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+</a:t>
              </a:r>
              <a:endParaRPr lang="en-US" altLang="zh-CN" sz="3200" b="0" i="1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59426" name="Line 77"/>
            <p:cNvSpPr/>
            <p:nvPr/>
          </p:nvSpPr>
          <p:spPr>
            <a:xfrm>
              <a:off x="3742" y="1525"/>
              <a:ext cx="317" cy="0"/>
            </a:xfrm>
            <a:prstGeom prst="line">
              <a:avLst/>
            </a:prstGeom>
            <a:ln w="38100" cap="sq" cmpd="sng">
              <a:solidFill>
                <a:srgbClr val="00CCFF"/>
              </a:solidFill>
              <a:prstDash val="solid"/>
              <a:round/>
              <a:headEnd type="none" w="med" len="med"/>
              <a:tailEnd type="triangle" w="med" len="med"/>
            </a:ln>
            <a:effectLst>
              <a:prstShdw prst="shdw17" dist="17961" dir="2699999">
                <a:schemeClr val="bg2"/>
              </a:prstShdw>
            </a:effectLst>
          </p:spPr>
        </p:sp>
        <p:sp>
          <p:nvSpPr>
            <p:cNvPr id="59427" name="Rectangle 78"/>
            <p:cNvSpPr/>
            <p:nvPr/>
          </p:nvSpPr>
          <p:spPr>
            <a:xfrm>
              <a:off x="3742" y="391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>
                <a:buClrTx/>
                <a:buFontTx/>
                <a:buNone/>
              </a:pPr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</p:grpSp>
      <p:grpSp>
        <p:nvGrpSpPr>
          <p:cNvPr id="59428" name="Group 85"/>
          <p:cNvGrpSpPr/>
          <p:nvPr/>
        </p:nvGrpSpPr>
        <p:grpSpPr>
          <a:xfrm>
            <a:off x="6588125" y="6445250"/>
            <a:ext cx="792163" cy="366713"/>
            <a:chOff x="5193" y="4020"/>
            <a:chExt cx="499" cy="231"/>
          </a:xfrm>
        </p:grpSpPr>
        <p:pic>
          <p:nvPicPr>
            <p:cNvPr id="59429" name="Picture 86" descr="78900">
              <a:hlinkClick r:id="" action="ppaction://hlinkshowjump?jump=firstslide"/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9430" name="Text Box 87">
              <a:hlinkClick r:id="" action="ppaction://hlinkshowjump?jump=firs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314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314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314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314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231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314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314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231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9" dur="1000"/>
                                        <p:tgtEl>
                                          <p:spTgt spid="231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4" dur="1000"/>
                                        <p:tgtEl>
                                          <p:spTgt spid="231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9" dur="1000"/>
                                        <p:tgtEl>
                                          <p:spTgt spid="231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314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314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9" dur="1000"/>
                                        <p:tgtEl>
                                          <p:spTgt spid="231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000"/>
                            </p:stCondLst>
                            <p:childTnLst>
                              <p:par>
                                <p:cTn id="51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314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2314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59" dur="1000"/>
                                        <p:tgtEl>
                                          <p:spTgt spid="231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000"/>
                            </p:stCondLst>
                            <p:childTnLst>
                              <p:par>
                                <p:cTn id="61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314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2314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69" dur="1000"/>
                                        <p:tgtEl>
                                          <p:spTgt spid="231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1443" grpId="0"/>
      <p:bldP spid="231463" grpId="0"/>
      <p:bldP spid="231464" grpId="0" animBg="1"/>
      <p:bldP spid="231470" grpId="0"/>
      <p:bldP spid="231471" grpId="0"/>
      <p:bldP spid="231472" grpId="0"/>
      <p:bldP spid="231473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3476" name="Text Box 4"/>
          <p:cNvSpPr txBox="1"/>
          <p:nvPr/>
        </p:nvSpPr>
        <p:spPr>
          <a:xfrm>
            <a:off x="3059113" y="1196975"/>
            <a:ext cx="5651500" cy="1439863"/>
          </a:xfrm>
          <a:prstGeom prst="rect">
            <a:avLst/>
          </a:prstGeom>
          <a:noFill/>
          <a:ln w="12700">
            <a:noFill/>
          </a:ln>
        </p:spPr>
        <p:txBody>
          <a:bodyPr anchor="ctr" anchorCtr="0"/>
          <a:p>
            <a:pPr marL="2476500" indent="-2476500" eaLnBrk="0" hangingPunct="0">
              <a:lnSpc>
                <a:spcPct val="120000"/>
              </a:lnSpc>
              <a:buClrTx/>
              <a:buFontTx/>
              <a:buNone/>
            </a:pP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其输出电流总能保持定值或一定的</a:t>
            </a:r>
            <a:endParaRPr lang="zh-CN" altLang="en-US" dirty="0">
              <a:latin typeface="楷体_GB2312" pitchFamily="49" charset="-122"/>
              <a:ea typeface="楷体_GB2312" pitchFamily="49" charset="-122"/>
            </a:endParaRPr>
          </a:p>
          <a:p>
            <a:pPr marL="2476500" indent="-2476500" eaLnBrk="0" hangingPunct="0">
              <a:lnSpc>
                <a:spcPct val="120000"/>
              </a:lnSpc>
              <a:buClrTx/>
              <a:buFontTx/>
              <a:buNone/>
            </a:pP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时间函数，其值与它的两端电压</a:t>
            </a:r>
            <a:r>
              <a:rPr lang="en-US" altLang="zh-CN" b="0" i="1" dirty="0">
                <a:latin typeface="Times New Roman" panose="02020603050405020304" pitchFamily="18" charset="0"/>
                <a:ea typeface="楷体_GB2312" pitchFamily="49" charset="-122"/>
              </a:rPr>
              <a:t>u</a:t>
            </a:r>
            <a:r>
              <a:rPr lang="en-US" altLang="zh-CN" i="1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endParaRPr lang="en-US" altLang="zh-CN" i="1" dirty="0">
              <a:latin typeface="Times New Roman" panose="02020603050405020304" pitchFamily="18" charset="0"/>
              <a:ea typeface="楷体_GB2312" pitchFamily="49" charset="-122"/>
            </a:endParaRPr>
          </a:p>
          <a:p>
            <a:pPr marL="2476500" indent="-2476500" eaLnBrk="0" hangingPunct="0">
              <a:lnSpc>
                <a:spcPct val="120000"/>
              </a:lnSpc>
              <a:buClrTx/>
              <a:buFontTx/>
              <a:buNone/>
            </a:pP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无关的元件叫理想电流源。</a:t>
            </a:r>
            <a:endParaRPr lang="zh-CN" altLang="en-US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33477" name="Text Box 5"/>
          <p:cNvSpPr txBox="1"/>
          <p:nvPr/>
        </p:nvSpPr>
        <p:spPr>
          <a:xfrm>
            <a:off x="682625" y="3068638"/>
            <a:ext cx="2087563" cy="647700"/>
          </a:xfrm>
          <a:prstGeom prst="rect">
            <a:avLst/>
          </a:prstGeom>
          <a:noFill/>
          <a:ln w="2857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p>
            <a:pPr eaLnBrk="0" hangingPunct="0">
              <a:spcBef>
                <a:spcPct val="50000"/>
              </a:spcBef>
              <a:buClrTx/>
              <a:buSzPct val="80000"/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电路符号</a:t>
            </a:r>
            <a:endParaRPr lang="zh-CN" altLang="en-US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33478" name="Text Box 6"/>
          <p:cNvSpPr txBox="1"/>
          <p:nvPr/>
        </p:nvSpPr>
        <p:spPr>
          <a:xfrm>
            <a:off x="539750" y="620713"/>
            <a:ext cx="2881313" cy="57943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ctr" eaLnBrk="0" hangingPunct="0">
              <a:spcBef>
                <a:spcPct val="50000"/>
              </a:spcBef>
              <a:buClrTx/>
              <a:buFontTx/>
              <a:buNone/>
            </a:pPr>
            <a:r>
              <a:rPr lang="en-US" altLang="zh-CN" sz="32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2.</a:t>
            </a:r>
            <a:r>
              <a:rPr lang="zh-CN" altLang="en-US" sz="32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理想电流源</a:t>
            </a:r>
            <a:endParaRPr lang="zh-CN" altLang="en-US" sz="3200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  <a:sym typeface="Symbol" panose="05050102010706020507" pitchFamily="18" charset="2"/>
            </a:endParaRPr>
          </a:p>
        </p:txBody>
      </p:sp>
      <p:sp>
        <p:nvSpPr>
          <p:cNvPr id="233479" name="Text Box 7"/>
          <p:cNvSpPr txBox="1"/>
          <p:nvPr/>
        </p:nvSpPr>
        <p:spPr>
          <a:xfrm>
            <a:off x="684213" y="1412875"/>
            <a:ext cx="1512887" cy="547688"/>
          </a:xfrm>
          <a:prstGeom prst="rect">
            <a:avLst/>
          </a:prstGeom>
          <a:noFill/>
          <a:ln w="2857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>
            <a:spAutoFit/>
          </a:bodyPr>
          <a:p>
            <a:pPr eaLnBrk="0" hangingPunct="0">
              <a:spcBef>
                <a:spcPct val="5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 </a:t>
            </a:r>
            <a:r>
              <a:rPr lang="zh-CN" altLang="en-US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定义</a:t>
            </a:r>
            <a:endParaRPr lang="zh-CN" altLang="en-US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  <a:sym typeface="Symbol" panose="05050102010706020507" pitchFamily="18" charset="2"/>
            </a:endParaRPr>
          </a:p>
        </p:txBody>
      </p:sp>
      <p:sp>
        <p:nvSpPr>
          <p:cNvPr id="233480" name="AutoShape 8"/>
          <p:cNvSpPr/>
          <p:nvPr/>
        </p:nvSpPr>
        <p:spPr>
          <a:xfrm>
            <a:off x="2339975" y="1628775"/>
            <a:ext cx="647700" cy="144463"/>
          </a:xfrm>
          <a:prstGeom prst="rightArrow">
            <a:avLst>
              <a:gd name="adj1" fmla="val 50000"/>
              <a:gd name="adj2" fmla="val 112066"/>
            </a:avLst>
          </a:prstGeom>
          <a:solidFill>
            <a:schemeClr val="hlink"/>
          </a:solidFill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>
              <a:buClrTx/>
              <a:buFontTx/>
              <a:buNone/>
            </a:pPr>
            <a:endParaRPr lang="zh-CN" altLang="en-US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grpSp>
        <p:nvGrpSpPr>
          <p:cNvPr id="233521" name="Group 49"/>
          <p:cNvGrpSpPr/>
          <p:nvPr/>
        </p:nvGrpSpPr>
        <p:grpSpPr>
          <a:xfrm>
            <a:off x="3408363" y="2636838"/>
            <a:ext cx="3252787" cy="1558925"/>
            <a:chOff x="2147" y="1661"/>
            <a:chExt cx="2049" cy="982"/>
          </a:xfrm>
        </p:grpSpPr>
        <p:sp>
          <p:nvSpPr>
            <p:cNvPr id="60423" name="Line 17"/>
            <p:cNvSpPr/>
            <p:nvPr/>
          </p:nvSpPr>
          <p:spPr>
            <a:xfrm rot="5400000">
              <a:off x="3171" y="1078"/>
              <a:ext cx="0" cy="2048"/>
            </a:xfrm>
            <a:prstGeom prst="line">
              <a:avLst/>
            </a:prstGeom>
            <a:ln w="38100" cap="flat" cmpd="sng">
              <a:solidFill>
                <a:srgbClr val="FFCC00"/>
              </a:solidFill>
              <a:prstDash val="solid"/>
              <a:round/>
              <a:headEnd type="oval" w="med" len="med"/>
              <a:tailEnd type="oval" w="med" len="med"/>
            </a:ln>
          </p:spPr>
        </p:sp>
        <p:sp>
          <p:nvSpPr>
            <p:cNvPr id="233488" name="Oval 16"/>
            <p:cNvSpPr>
              <a:spLocks noChangeArrowheads="1"/>
            </p:cNvSpPr>
            <p:nvPr/>
          </p:nvSpPr>
          <p:spPr bwMode="auto">
            <a:xfrm>
              <a:off x="2817" y="1817"/>
              <a:ext cx="547" cy="536"/>
            </a:xfrm>
            <a:prstGeom prst="ellipse">
              <a:avLst/>
            </a:prstGeom>
            <a:gradFill rotWithShape="1">
              <a:gsLst>
                <a:gs pos="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 w="50800">
              <a:solidFill>
                <a:srgbClr val="FF99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endParaRPr>
            </a:p>
          </p:txBody>
        </p:sp>
        <p:sp>
          <p:nvSpPr>
            <p:cNvPr id="60425" name="Text Box 10"/>
            <p:cNvSpPr txBox="1"/>
            <p:nvPr/>
          </p:nvSpPr>
          <p:spPr>
            <a:xfrm>
              <a:off x="3008" y="2278"/>
              <a:ext cx="244" cy="365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anchor="ctr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3200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u</a:t>
              </a:r>
              <a:endParaRPr lang="en-US" altLang="zh-CN" sz="3200" b="0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graphicFrame>
          <p:nvGraphicFramePr>
            <p:cNvPr id="60426" name="Object 11"/>
            <p:cNvGraphicFramePr>
              <a:graphicFrameLocks noChangeAspect="1"/>
            </p:cNvGraphicFramePr>
            <p:nvPr/>
          </p:nvGraphicFramePr>
          <p:xfrm>
            <a:off x="2517" y="1661"/>
            <a:ext cx="237" cy="4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54" name="" r:id="rId1" imgW="109855" imgH="202565" progId="Equation.3">
                    <p:embed/>
                  </p:oleObj>
                </mc:Choice>
                <mc:Fallback>
                  <p:oleObj name="" r:id="rId1" imgW="109855" imgH="202565" progId="Equation.3">
                    <p:embed/>
                    <p:pic>
                      <p:nvPicPr>
                        <p:cNvPr id="0" name="图片 3153"/>
                        <p:cNvPicPr/>
                        <p:nvPr/>
                      </p:nvPicPr>
                      <p:blipFill>
                        <a:blip r:embed="rId2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517" y="1661"/>
                          <a:ext cx="237" cy="40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0427" name="Text Box 12"/>
            <p:cNvSpPr txBox="1"/>
            <p:nvPr/>
          </p:nvSpPr>
          <p:spPr>
            <a:xfrm>
              <a:off x="2155" y="2115"/>
              <a:ext cx="272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32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+</a:t>
              </a:r>
              <a:endParaRPr lang="en-US" altLang="zh-CN" sz="32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60428" name="Text Box 13"/>
            <p:cNvSpPr txBox="1"/>
            <p:nvPr/>
          </p:nvSpPr>
          <p:spPr>
            <a:xfrm>
              <a:off x="3924" y="2070"/>
              <a:ext cx="27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buClrTx/>
                <a:buFontTx/>
                <a:buNone/>
              </a:pPr>
              <a:r>
                <a:rPr lang="en-US" altLang="zh-CN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_</a:t>
              </a:r>
              <a:endParaRPr lang="en-US" altLang="zh-CN" sz="2400" b="0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60429" name="AutoShape 14"/>
            <p:cNvSpPr/>
            <p:nvPr/>
          </p:nvSpPr>
          <p:spPr>
            <a:xfrm>
              <a:off x="2291" y="2069"/>
              <a:ext cx="317" cy="80"/>
            </a:xfrm>
            <a:prstGeom prst="leftArrow">
              <a:avLst>
                <a:gd name="adj1" fmla="val 50000"/>
                <a:gd name="adj2" fmla="val 99044"/>
              </a:avLst>
            </a:prstGeom>
            <a:solidFill>
              <a:srgbClr val="00FFFF"/>
            </a:solidFill>
            <a:ln w="9525" cap="flat" cmpd="sng">
              <a:solidFill>
                <a:srgbClr val="00FF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  <a:buNone/>
              </a:pPr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60430" name="Line 18"/>
            <p:cNvSpPr/>
            <p:nvPr/>
          </p:nvSpPr>
          <p:spPr>
            <a:xfrm>
              <a:off x="3107" y="1809"/>
              <a:ext cx="0" cy="544"/>
            </a:xfrm>
            <a:prstGeom prst="line">
              <a:avLst/>
            </a:prstGeom>
            <a:ln w="57150" cap="flat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60431" name="Group 34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60432" name="Picture 35" descr="7890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60433" name="Text Box 36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60434" name="Group 37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60435" name="Picture 38" descr="7890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60436" name="Text Box 39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sp>
        <p:nvSpPr>
          <p:cNvPr id="233515" name="Text Box 43"/>
          <p:cNvSpPr txBox="1"/>
          <p:nvPr/>
        </p:nvSpPr>
        <p:spPr>
          <a:xfrm>
            <a:off x="682625" y="4297363"/>
            <a:ext cx="5689600" cy="547687"/>
          </a:xfrm>
          <a:prstGeom prst="rect">
            <a:avLst/>
          </a:prstGeom>
          <a:noFill/>
          <a:ln w="2857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>
            <a:spAutoFit/>
          </a:bodyPr>
          <a:p>
            <a:pPr eaLnBrk="0" hangingPunct="0">
              <a:spcBef>
                <a:spcPct val="5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 </a:t>
            </a:r>
            <a:r>
              <a:rPr lang="zh-CN" altLang="en-US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理想电流源的电压、电流关系</a:t>
            </a:r>
            <a:endParaRPr lang="zh-CN" altLang="en-US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  <a:sym typeface="Symbol" panose="05050102010706020507" pitchFamily="18" charset="2"/>
            </a:endParaRPr>
          </a:p>
        </p:txBody>
      </p:sp>
      <p:sp>
        <p:nvSpPr>
          <p:cNvPr id="233516" name="Text Box 44"/>
          <p:cNvSpPr txBox="1"/>
          <p:nvPr/>
        </p:nvSpPr>
        <p:spPr>
          <a:xfrm>
            <a:off x="611188" y="4903788"/>
            <a:ext cx="8135937" cy="1117600"/>
          </a:xfrm>
          <a:prstGeom prst="rect">
            <a:avLst/>
          </a:prstGeom>
          <a:noFill/>
          <a:ln w="12700">
            <a:noFill/>
          </a:ln>
        </p:spPr>
        <p:txBody>
          <a:bodyPr anchor="ctr" anchorCtr="0">
            <a:spAutoFit/>
          </a:bodyPr>
          <a:p>
            <a:pPr marL="342900" indent="-342900" eaLnBrk="0" hangingPunct="0">
              <a:lnSpc>
                <a:spcPct val="120000"/>
              </a:lnSpc>
              <a:spcBef>
                <a:spcPct val="50000"/>
              </a:spcBef>
              <a:buAutoNum type="circleNumDbPlain"/>
            </a:pPr>
            <a:r>
              <a:rPr lang="zh-CN" altLang="en-US" dirty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电流源的输出电流由电源本身决定，与外电路无关；与它两端电压方向、大小无关。</a:t>
            </a:r>
            <a:endParaRPr lang="zh-CN" altLang="en-US" dirty="0">
              <a:latin typeface="Times New Roman" panose="02020603050405020304" pitchFamily="18" charset="0"/>
              <a:ea typeface="楷体_GB2312" pitchFamily="49" charset="-122"/>
              <a:sym typeface="Symbol" panose="05050102010706020507" pitchFamily="18" charset="2"/>
            </a:endParaRPr>
          </a:p>
        </p:txBody>
      </p:sp>
      <p:grpSp>
        <p:nvGrpSpPr>
          <p:cNvPr id="60439" name="Group 53"/>
          <p:cNvGrpSpPr/>
          <p:nvPr/>
        </p:nvGrpSpPr>
        <p:grpSpPr>
          <a:xfrm>
            <a:off x="6588125" y="6445250"/>
            <a:ext cx="792163" cy="366713"/>
            <a:chOff x="5193" y="4020"/>
            <a:chExt cx="499" cy="231"/>
          </a:xfrm>
        </p:grpSpPr>
        <p:pic>
          <p:nvPicPr>
            <p:cNvPr id="60440" name="Picture 54" descr="78900">
              <a:hlinkClick r:id="" action="ppaction://hlinkshowjump?jump=firstslide"/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60441" name="Text Box 55">
              <a:hlinkClick r:id="" action="ppaction://hlinkshowjump?jump=firs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34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34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33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8" dur="500"/>
                                        <p:tgtEl>
                                          <p:spTgt spid="233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33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3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233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335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335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100" fill="hold"/>
                                        <p:tgtEl>
                                          <p:spTgt spid="2335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" fill="hold"/>
                                        <p:tgtEl>
                                          <p:spTgt spid="2335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3476" grpId="0"/>
      <p:bldP spid="233477" grpId="0" animBg="1"/>
      <p:bldP spid="233478" grpId="0"/>
      <p:bldP spid="233479" grpId="0" animBg="1"/>
      <p:bldP spid="233480" grpId="0" animBg="1"/>
      <p:bldP spid="233515" grpId="0" animBg="1"/>
      <p:bldP spid="233516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60817" name="Text Box 17"/>
          <p:cNvSpPr txBox="1"/>
          <p:nvPr/>
        </p:nvSpPr>
        <p:spPr>
          <a:xfrm>
            <a:off x="539750" y="620713"/>
            <a:ext cx="6264275" cy="1117600"/>
          </a:xfrm>
          <a:prstGeom prst="rect">
            <a:avLst/>
          </a:prstGeom>
          <a:noFill/>
          <a:ln w="12700">
            <a:noFill/>
          </a:ln>
        </p:spPr>
        <p:txBody>
          <a:bodyPr anchor="ctr" anchorCtr="0">
            <a:spAutoFit/>
          </a:bodyPr>
          <a:p>
            <a:pPr marL="342900" indent="-342900" eaLnBrk="0" hangingPunct="0">
              <a:lnSpc>
                <a:spcPct val="120000"/>
              </a:lnSpc>
              <a:spcBef>
                <a:spcPct val="50000"/>
              </a:spcBef>
              <a:buAutoNum type="circleNumDbPlain" startAt="2"/>
            </a:pPr>
            <a:r>
              <a:rPr lang="zh-CN" altLang="en-US" dirty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电流源两端的电压由电源及外电路共同决定。</a:t>
            </a:r>
            <a:endParaRPr lang="zh-CN" altLang="en-US" dirty="0">
              <a:latin typeface="Times New Roman" panose="02020603050405020304" pitchFamily="18" charset="0"/>
              <a:ea typeface="楷体_GB2312" pitchFamily="49" charset="-122"/>
              <a:sym typeface="Symbol" panose="05050102010706020507" pitchFamily="18" charset="2"/>
            </a:endParaRPr>
          </a:p>
        </p:txBody>
      </p:sp>
      <p:grpSp>
        <p:nvGrpSpPr>
          <p:cNvPr id="460819" name="Group 19"/>
          <p:cNvGrpSpPr/>
          <p:nvPr/>
        </p:nvGrpSpPr>
        <p:grpSpPr>
          <a:xfrm>
            <a:off x="6588125" y="404813"/>
            <a:ext cx="2206625" cy="2952750"/>
            <a:chOff x="4150" y="2024"/>
            <a:chExt cx="1390" cy="1860"/>
          </a:xfrm>
        </p:grpSpPr>
        <p:sp>
          <p:nvSpPr>
            <p:cNvPr id="61443" name="Line 20"/>
            <p:cNvSpPr/>
            <p:nvPr/>
          </p:nvSpPr>
          <p:spPr>
            <a:xfrm flipV="1">
              <a:off x="4150" y="3126"/>
              <a:ext cx="1239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61444" name="Line 21"/>
            <p:cNvSpPr/>
            <p:nvPr/>
          </p:nvSpPr>
          <p:spPr>
            <a:xfrm flipH="1">
              <a:off x="4558" y="2230"/>
              <a:ext cx="0" cy="158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triangle" w="med" len="med"/>
              <a:tailEnd type="none" w="med" len="med"/>
            </a:ln>
          </p:spPr>
        </p:sp>
        <p:sp>
          <p:nvSpPr>
            <p:cNvPr id="61445" name="Line 22"/>
            <p:cNvSpPr/>
            <p:nvPr/>
          </p:nvSpPr>
          <p:spPr>
            <a:xfrm>
              <a:off x="5041" y="2437"/>
              <a:ext cx="1" cy="1447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1446" name="Text Box 23"/>
            <p:cNvSpPr txBox="1"/>
            <p:nvPr/>
          </p:nvSpPr>
          <p:spPr>
            <a:xfrm>
              <a:off x="4578" y="2024"/>
              <a:ext cx="298" cy="326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u</a:t>
              </a:r>
              <a:endParaRPr lang="en-US" altLang="zh-CN" b="0" i="1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61447" name="Text Box 24"/>
            <p:cNvSpPr txBox="1"/>
            <p:nvPr/>
          </p:nvSpPr>
          <p:spPr>
            <a:xfrm>
              <a:off x="5241" y="3058"/>
              <a:ext cx="299" cy="326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i</a:t>
              </a:r>
              <a:endParaRPr lang="en-US" altLang="zh-CN" b="0" i="1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graphicFrame>
          <p:nvGraphicFramePr>
            <p:cNvPr id="61448" name="Object 25"/>
            <p:cNvGraphicFramePr>
              <a:graphicFrameLocks noChangeAspect="1"/>
            </p:cNvGraphicFramePr>
            <p:nvPr/>
          </p:nvGraphicFramePr>
          <p:xfrm>
            <a:off x="5225" y="2218"/>
            <a:ext cx="197" cy="4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55" name="" r:id="rId1" imgW="109855" imgH="202565" progId="Equation.3">
                    <p:embed/>
                  </p:oleObj>
                </mc:Choice>
                <mc:Fallback>
                  <p:oleObj name="" r:id="rId1" imgW="109855" imgH="202565" progId="Equation.3">
                    <p:embed/>
                    <p:pic>
                      <p:nvPicPr>
                        <p:cNvPr id="0" name="图片 3154"/>
                        <p:cNvPicPr/>
                        <p:nvPr/>
                      </p:nvPicPr>
                      <p:blipFill>
                        <a:blip r:embed="rId2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5225" y="2218"/>
                          <a:ext cx="197" cy="47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60826" name="AutoShape 26" descr="羊皮纸"/>
          <p:cNvSpPr/>
          <p:nvPr/>
        </p:nvSpPr>
        <p:spPr>
          <a:xfrm>
            <a:off x="4140200" y="1412875"/>
            <a:ext cx="2447925" cy="863600"/>
          </a:xfrm>
          <a:prstGeom prst="wedgeRoundRectCallout">
            <a:avLst>
              <a:gd name="adj1" fmla="val 101167"/>
              <a:gd name="adj2" fmla="val -4963"/>
              <a:gd name="adj3" fmla="val 16667"/>
            </a:avLst>
          </a:prstGeom>
          <a:blipFill rotWithShape="1">
            <a:blip r:embed="rId3"/>
          </a:blip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p>
            <a:pPr algn="ctr" eaLnBrk="0" hangingPunct="0">
              <a:buClrTx/>
              <a:buFontTx/>
              <a:buNone/>
            </a:pP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直流电流源的伏安关系</a:t>
            </a:r>
            <a:endParaRPr lang="zh-CN" altLang="en-US" dirty="0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  <a:sym typeface="Symbol" panose="05050102010706020507" pitchFamily="18" charset="2"/>
            </a:endParaRPr>
          </a:p>
        </p:txBody>
      </p:sp>
      <p:grpSp>
        <p:nvGrpSpPr>
          <p:cNvPr id="61450" name="Group 27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61451" name="Picture 28" descr="7890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61452" name="Text Box 29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61453" name="Group 30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61454" name="Picture 31" descr="7890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61455" name="Text Box 32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sp>
        <p:nvSpPr>
          <p:cNvPr id="460833" name="Text Box 33" descr="斜纹布"/>
          <p:cNvSpPr txBox="1"/>
          <p:nvPr/>
        </p:nvSpPr>
        <p:spPr>
          <a:xfrm>
            <a:off x="6877050" y="2060575"/>
            <a:ext cx="433388" cy="519113"/>
          </a:xfrm>
          <a:prstGeom prst="rect">
            <a:avLst/>
          </a:prstGeom>
          <a:noFill/>
          <a:ln w="28575">
            <a:noFill/>
          </a:ln>
          <a:effectLst>
            <a:prstShdw prst="shdw17" dist="17961" dir="2699999">
              <a:schemeClr val="bg2"/>
            </a:prstShdw>
          </a:effectLst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ClrTx/>
              <a:buFontTx/>
              <a:buNone/>
            </a:pPr>
            <a:r>
              <a: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endParaRPr lang="en-US" altLang="zh-CN" b="0" dirty="0">
              <a:solidFill>
                <a:schemeClr val="tx1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460834" name="Text Box 34"/>
          <p:cNvSpPr txBox="1"/>
          <p:nvPr/>
        </p:nvSpPr>
        <p:spPr>
          <a:xfrm>
            <a:off x="611188" y="1989138"/>
            <a:ext cx="647700" cy="57943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ctr" eaLnBrk="0" hangingPunct="0">
              <a:spcBef>
                <a:spcPct val="50000"/>
              </a:spcBef>
              <a:buClrTx/>
              <a:buFontTx/>
              <a:buNone/>
            </a:pPr>
            <a:r>
              <a:rPr lang="zh-CN" altLang="en-US" sz="320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例</a:t>
            </a:r>
            <a:endParaRPr lang="zh-CN" altLang="en-US" sz="3200" dirty="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grpSp>
        <p:nvGrpSpPr>
          <p:cNvPr id="460858" name="Group 58"/>
          <p:cNvGrpSpPr/>
          <p:nvPr/>
        </p:nvGrpSpPr>
        <p:grpSpPr>
          <a:xfrm>
            <a:off x="971550" y="2760663"/>
            <a:ext cx="2433638" cy="1944687"/>
            <a:chOff x="612" y="1739"/>
            <a:chExt cx="1533" cy="1225"/>
          </a:xfrm>
        </p:grpSpPr>
        <p:sp>
          <p:nvSpPr>
            <p:cNvPr id="61459" name="Rectangle 36"/>
            <p:cNvSpPr/>
            <p:nvPr/>
          </p:nvSpPr>
          <p:spPr>
            <a:xfrm>
              <a:off x="1065" y="1739"/>
              <a:ext cx="998" cy="1225"/>
            </a:xfrm>
            <a:prstGeom prst="rect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buClrTx/>
                <a:buFontTx/>
                <a:buNone/>
              </a:pPr>
              <a:endParaRPr lang="zh-CN" altLang="zh-CN" b="0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61460" name="Oval 37"/>
            <p:cNvSpPr/>
            <p:nvPr/>
          </p:nvSpPr>
          <p:spPr>
            <a:xfrm>
              <a:off x="884" y="2147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buClrTx/>
                <a:buFontTx/>
                <a:buNone/>
              </a:pPr>
              <a:endParaRPr lang="zh-CN" altLang="zh-CN" sz="2400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61461" name="Text Box 38"/>
            <p:cNvSpPr txBox="1"/>
            <p:nvPr/>
          </p:nvSpPr>
          <p:spPr>
            <a:xfrm>
              <a:off x="1746" y="2193"/>
              <a:ext cx="27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R</a:t>
              </a:r>
              <a:endParaRPr lang="en-US" altLang="zh-CN" b="0" i="1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61462" name="Text Box 39"/>
            <p:cNvSpPr txBox="1"/>
            <p:nvPr/>
          </p:nvSpPr>
          <p:spPr>
            <a:xfrm>
              <a:off x="612" y="2238"/>
              <a:ext cx="27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u</a:t>
              </a:r>
              <a:endParaRPr lang="en-US" altLang="zh-CN" b="0" i="1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61463" name="Text Box 40"/>
            <p:cNvSpPr txBox="1"/>
            <p:nvPr/>
          </p:nvSpPr>
          <p:spPr>
            <a:xfrm>
              <a:off x="793" y="2510"/>
              <a:ext cx="273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3200" b="0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Symbol" panose="05050102010706020507" pitchFamily="18" charset="2"/>
                </a:rPr>
                <a:t>-</a:t>
              </a:r>
              <a:endParaRPr lang="en-US" altLang="zh-CN" sz="3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61464" name="Text Box 41"/>
            <p:cNvSpPr txBox="1"/>
            <p:nvPr/>
          </p:nvSpPr>
          <p:spPr>
            <a:xfrm>
              <a:off x="748" y="1830"/>
              <a:ext cx="272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3200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+</a:t>
              </a:r>
              <a:endParaRPr lang="en-US" altLang="zh-CN" sz="3200" b="0" i="1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graphicFrame>
          <p:nvGraphicFramePr>
            <p:cNvPr id="61465" name="Object 42"/>
            <p:cNvGraphicFramePr>
              <a:graphicFrameLocks noChangeAspect="1"/>
            </p:cNvGraphicFramePr>
            <p:nvPr/>
          </p:nvGraphicFramePr>
          <p:xfrm>
            <a:off x="1201" y="1785"/>
            <a:ext cx="238" cy="4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56" name="" r:id="rId5" imgW="109855" imgH="202565" progId="Equation.3">
                    <p:embed/>
                  </p:oleObj>
                </mc:Choice>
                <mc:Fallback>
                  <p:oleObj name="" r:id="rId5" imgW="109855" imgH="202565" progId="Equation.3">
                    <p:embed/>
                    <p:pic>
                      <p:nvPicPr>
                        <p:cNvPr id="0" name="图片 3155"/>
                        <p:cNvPicPr/>
                        <p:nvPr/>
                      </p:nvPicPr>
                      <p:blipFill>
                        <a:blip r:embed="rId6">
                          <a:clrChange>
                            <a:clrFrom>
                              <a:srgbClr val="000000"/>
                            </a:clrFrom>
                            <a:clrTo>
                              <a:srgbClr val="00008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201" y="1785"/>
                          <a:ext cx="238" cy="41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1466" name="Line 43"/>
            <p:cNvSpPr/>
            <p:nvPr/>
          </p:nvSpPr>
          <p:spPr>
            <a:xfrm>
              <a:off x="884" y="2329"/>
              <a:ext cx="363" cy="0"/>
            </a:xfrm>
            <a:prstGeom prst="line">
              <a:avLst/>
            </a:prstGeom>
            <a:ln w="38100" cap="flat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1467" name="Rectangle 44"/>
            <p:cNvSpPr/>
            <p:nvPr/>
          </p:nvSpPr>
          <p:spPr>
            <a:xfrm>
              <a:off x="2018" y="2147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>
                <a:buClrTx/>
                <a:buFontTx/>
                <a:buNone/>
              </a:pPr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61468" name="Line 45"/>
            <p:cNvSpPr/>
            <p:nvPr/>
          </p:nvSpPr>
          <p:spPr>
            <a:xfrm flipV="1">
              <a:off x="1066" y="1797"/>
              <a:ext cx="0" cy="317"/>
            </a:xfrm>
            <a:prstGeom prst="line">
              <a:avLst/>
            </a:prstGeom>
            <a:ln w="38100" cap="sq" cmpd="sng">
              <a:solidFill>
                <a:srgbClr val="00CC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  <p:sp>
        <p:nvSpPr>
          <p:cNvPr id="460846" name="AutoShape 46" descr="羊皮纸"/>
          <p:cNvSpPr/>
          <p:nvPr/>
        </p:nvSpPr>
        <p:spPr>
          <a:xfrm>
            <a:off x="827088" y="5208588"/>
            <a:ext cx="1584325" cy="525462"/>
          </a:xfrm>
          <a:prstGeom prst="wedgeRoundRectCallout">
            <a:avLst>
              <a:gd name="adj1" fmla="val 96792"/>
              <a:gd name="adj2" fmla="val -279306"/>
              <a:gd name="adj3" fmla="val 16667"/>
            </a:avLst>
          </a:prstGeom>
          <a:blipFill rotWithShape="1">
            <a:blip r:embed="rId3"/>
          </a:blip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p>
            <a:pPr algn="ctr" eaLnBrk="0" hangingPunct="0">
              <a:buClrTx/>
              <a:buFontTx/>
              <a:buNone/>
            </a:pP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外电路</a:t>
            </a:r>
            <a:endParaRPr lang="zh-CN" altLang="en-US" dirty="0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  <a:sym typeface="Symbol" panose="05050102010706020507" pitchFamily="18" charset="2"/>
            </a:endParaRPr>
          </a:p>
        </p:txBody>
      </p:sp>
      <p:sp>
        <p:nvSpPr>
          <p:cNvPr id="460847" name="AutoShape 47"/>
          <p:cNvSpPr/>
          <p:nvPr/>
        </p:nvSpPr>
        <p:spPr>
          <a:xfrm rot="-1218513">
            <a:off x="3563938" y="3141663"/>
            <a:ext cx="812800" cy="146050"/>
          </a:xfrm>
          <a:prstGeom prst="rightArrow">
            <a:avLst>
              <a:gd name="adj1" fmla="val 50000"/>
              <a:gd name="adj2" fmla="val 139104"/>
            </a:avLst>
          </a:prstGeom>
          <a:solidFill>
            <a:srgbClr val="FF3300"/>
          </a:solidFill>
          <a:ln w="9525" cap="flat" cmpd="sng">
            <a:solidFill>
              <a:srgbClr val="FF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>
              <a:buClrTx/>
              <a:buFontTx/>
              <a:buNone/>
            </a:pPr>
            <a:endParaRPr lang="zh-CN" altLang="en-US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graphicFrame>
        <p:nvGraphicFramePr>
          <p:cNvPr id="460848" name="Object 48"/>
          <p:cNvGraphicFramePr>
            <a:graphicFrameLocks noChangeAspect="1"/>
          </p:cNvGraphicFramePr>
          <p:nvPr/>
        </p:nvGraphicFramePr>
        <p:xfrm>
          <a:off x="4787900" y="2636838"/>
          <a:ext cx="1262063" cy="569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2" name="" r:id="rId7" imgW="468630" imgH="202565" progId="Equation.3">
                  <p:embed/>
                </p:oleObj>
              </mc:Choice>
              <mc:Fallback>
                <p:oleObj name="" r:id="rId7" imgW="468630" imgH="202565" progId="Equation.3">
                  <p:embed/>
                  <p:pic>
                    <p:nvPicPr>
                      <p:cNvPr id="0" name="图片 3091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00008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787900" y="2636838"/>
                        <a:ext cx="1262063" cy="5699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0849" name="AutoShape 49"/>
          <p:cNvSpPr/>
          <p:nvPr/>
        </p:nvSpPr>
        <p:spPr>
          <a:xfrm>
            <a:off x="3563938" y="3624263"/>
            <a:ext cx="792162" cy="142875"/>
          </a:xfrm>
          <a:prstGeom prst="rightArrow">
            <a:avLst>
              <a:gd name="adj1" fmla="val 50000"/>
              <a:gd name="adj2" fmla="val 138585"/>
            </a:avLst>
          </a:prstGeom>
          <a:solidFill>
            <a:srgbClr val="FF3300"/>
          </a:solidFill>
          <a:ln w="9525" cap="flat" cmpd="sng">
            <a:solidFill>
              <a:srgbClr val="FF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>
              <a:buClrTx/>
              <a:buFontTx/>
              <a:buNone/>
            </a:pPr>
            <a:endParaRPr lang="zh-CN" altLang="en-US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graphicFrame>
        <p:nvGraphicFramePr>
          <p:cNvPr id="460850" name="Object 50"/>
          <p:cNvGraphicFramePr>
            <a:graphicFrameLocks noChangeAspect="1"/>
          </p:cNvGraphicFramePr>
          <p:nvPr/>
        </p:nvGraphicFramePr>
        <p:xfrm>
          <a:off x="4787900" y="3500438"/>
          <a:ext cx="2520950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1" name="" r:id="rId9" imgW="955040" imgH="191135" progId="Equation.3">
                  <p:embed/>
                </p:oleObj>
              </mc:Choice>
              <mc:Fallback>
                <p:oleObj name="" r:id="rId9" imgW="955040" imgH="191135" progId="Equation.3">
                  <p:embed/>
                  <p:pic>
                    <p:nvPicPr>
                      <p:cNvPr id="0" name="图片 3090"/>
                      <p:cNvPicPr/>
                      <p:nvPr/>
                    </p:nvPicPr>
                    <p:blipFill>
                      <a:blip r:embed="rId10">
                        <a:clrChange>
                          <a:clrFrom>
                            <a:srgbClr val="000000"/>
                          </a:clrFrom>
                          <a:clrTo>
                            <a:srgbClr val="00008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787900" y="3500438"/>
                        <a:ext cx="2520950" cy="5397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0851" name="AutoShape 51"/>
          <p:cNvSpPr/>
          <p:nvPr/>
        </p:nvSpPr>
        <p:spPr>
          <a:xfrm rot="1049089">
            <a:off x="3563938" y="4129088"/>
            <a:ext cx="792162" cy="144462"/>
          </a:xfrm>
          <a:prstGeom prst="rightArrow">
            <a:avLst>
              <a:gd name="adj1" fmla="val 50000"/>
              <a:gd name="adj2" fmla="val 137062"/>
            </a:avLst>
          </a:prstGeom>
          <a:solidFill>
            <a:srgbClr val="FF3300"/>
          </a:solidFill>
          <a:ln w="9525" cap="flat" cmpd="sng">
            <a:solidFill>
              <a:srgbClr val="FF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>
              <a:buClrTx/>
              <a:buFontTx/>
              <a:buNone/>
            </a:pPr>
            <a:endParaRPr lang="zh-CN" altLang="en-US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graphicFrame>
        <p:nvGraphicFramePr>
          <p:cNvPr id="460852" name="Object 52"/>
          <p:cNvGraphicFramePr>
            <a:graphicFrameLocks noChangeAspect="1"/>
          </p:cNvGraphicFramePr>
          <p:nvPr/>
        </p:nvGraphicFramePr>
        <p:xfrm>
          <a:off x="4716463" y="4149725"/>
          <a:ext cx="3195637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3" name="" r:id="rId11" imgW="989330" imgH="191135" progId="Equation.3">
                  <p:embed/>
                </p:oleObj>
              </mc:Choice>
              <mc:Fallback>
                <p:oleObj name="" r:id="rId11" imgW="989330" imgH="191135" progId="Equation.3">
                  <p:embed/>
                  <p:pic>
                    <p:nvPicPr>
                      <p:cNvPr id="0" name="图片 3092"/>
                      <p:cNvPicPr/>
                      <p:nvPr/>
                    </p:nvPicPr>
                    <p:blipFill>
                      <a:blip r:embed="rId12">
                        <a:clrChange>
                          <a:clrFrom>
                            <a:srgbClr val="000000"/>
                          </a:clrFrom>
                          <a:clrTo>
                            <a:srgbClr val="00008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716463" y="4149725"/>
                        <a:ext cx="3195637" cy="571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0853" name="Text Box 53"/>
          <p:cNvSpPr txBox="1"/>
          <p:nvPr/>
        </p:nvSpPr>
        <p:spPr>
          <a:xfrm>
            <a:off x="3924300" y="4941888"/>
            <a:ext cx="3529013" cy="519112"/>
          </a:xfrm>
          <a:prstGeom prst="rect">
            <a:avLst/>
          </a:prstGeom>
          <a:solidFill>
            <a:srgbClr val="FF0000"/>
          </a:solidFill>
          <a:ln w="9525">
            <a:noFill/>
          </a:ln>
        </p:spPr>
        <p:txBody>
          <a:bodyPr anchor="t" anchorCtr="0">
            <a:spAutoFit/>
          </a:bodyPr>
          <a:p>
            <a:pPr algn="ctr" eaLnBrk="0" hangingPunct="0">
              <a:spcBef>
                <a:spcPct val="50000"/>
              </a:spcBef>
              <a:buClrTx/>
              <a:buFontTx/>
              <a:buNone/>
            </a:pP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电流源不能开路！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ea typeface="楷体_GB2312" pitchFamily="49" charset="-122"/>
              <a:sym typeface="Symbol" panose="05050102010706020507" pitchFamily="18" charset="2"/>
            </a:endParaRPr>
          </a:p>
        </p:txBody>
      </p:sp>
      <p:grpSp>
        <p:nvGrpSpPr>
          <p:cNvPr id="61477" name="Group 62"/>
          <p:cNvGrpSpPr/>
          <p:nvPr/>
        </p:nvGrpSpPr>
        <p:grpSpPr>
          <a:xfrm>
            <a:off x="6588125" y="6445250"/>
            <a:ext cx="792163" cy="366713"/>
            <a:chOff x="5193" y="4020"/>
            <a:chExt cx="499" cy="231"/>
          </a:xfrm>
        </p:grpSpPr>
        <p:pic>
          <p:nvPicPr>
            <p:cNvPr id="61478" name="Picture 63" descr="78900">
              <a:hlinkClick r:id="" action="ppaction://hlinkshowjump?jump=firstslide"/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61479" name="Text Box 64">
              <a:hlinkClick r:id="" action="ppaction://hlinkshowjump?jump=firs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460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4608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5" dur="2000"/>
                                        <p:tgtEl>
                                          <p:spTgt spid="460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" fill="hold"/>
                                        <p:tgtEl>
                                          <p:spTgt spid="4608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" fill="hold"/>
                                        <p:tgtEl>
                                          <p:spTgt spid="4608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"/>
                                        <p:tgtEl>
                                          <p:spTgt spid="4608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4608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608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608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608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4608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500"/>
                            </p:stCondLst>
                            <p:childTnLst>
                              <p:par>
                                <p:cTn id="36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4608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4608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46084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0.00000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60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4608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0" dur="1000"/>
                                        <p:tgtEl>
                                          <p:spTgt spid="4608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5" dur="500"/>
                                        <p:tgtEl>
                                          <p:spTgt spid="4608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9" dur="1000"/>
                                        <p:tgtEl>
                                          <p:spTgt spid="460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460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8" dur="1000"/>
                                        <p:tgtEl>
                                          <p:spTgt spid="460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4608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4608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4608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817" grpId="0"/>
      <p:bldP spid="460826" grpId="0" animBg="1"/>
      <p:bldP spid="460833" grpId="0"/>
      <p:bldP spid="460834" grpId="0"/>
      <p:bldP spid="460846" grpId="0" animBg="1"/>
      <p:bldP spid="460847" grpId="0" animBg="1"/>
      <p:bldP spid="460849" grpId="0" animBg="1"/>
      <p:bldP spid="460851" grpId="0" animBg="1"/>
      <p:bldP spid="460853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4524" name="Text Box 28"/>
          <p:cNvSpPr txBox="1"/>
          <p:nvPr/>
        </p:nvSpPr>
        <p:spPr>
          <a:xfrm>
            <a:off x="611188" y="908050"/>
            <a:ext cx="7777162" cy="1727200"/>
          </a:xfrm>
          <a:prstGeom prst="rect">
            <a:avLst/>
          </a:prstGeom>
          <a:noFill/>
          <a:ln w="12700">
            <a:noFill/>
          </a:ln>
        </p:spPr>
        <p:txBody>
          <a:bodyPr anchor="t" anchorCtr="0"/>
          <a:p>
            <a:pPr algn="just" eaLnBrk="0" hangingPunct="0">
              <a:lnSpc>
                <a:spcPct val="120000"/>
              </a:lnSpc>
              <a:buClrTx/>
              <a:buFontTx/>
              <a:buNone/>
            </a:pPr>
            <a:r>
              <a:rPr lang="en-US" altLang="zh-CN" dirty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        </a:t>
            </a:r>
            <a:r>
              <a:rPr lang="zh-CN" altLang="en-US" dirty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可由稳流电子设备产生，如晶体管的集电极电流与负载无关；光电池在一定光线照射下光电子被激发产生一定值的电流等。</a:t>
            </a:r>
            <a:endParaRPr lang="zh-CN" altLang="en-US" dirty="0">
              <a:latin typeface="Times New Roman" panose="02020603050405020304" pitchFamily="18" charset="0"/>
              <a:ea typeface="楷体_GB2312" pitchFamily="49" charset="-122"/>
              <a:sym typeface="Symbol" panose="05050102010706020507" pitchFamily="18" charset="2"/>
            </a:endParaRPr>
          </a:p>
        </p:txBody>
      </p:sp>
      <p:grpSp>
        <p:nvGrpSpPr>
          <p:cNvPr id="62466" name="Group 31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62467" name="Picture 32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62468" name="Text Box 33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62469" name="Group 34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62470" name="Picture 35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62471" name="Text Box 36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sp>
        <p:nvSpPr>
          <p:cNvPr id="234536" name="Text Box 40"/>
          <p:cNvSpPr txBox="1"/>
          <p:nvPr/>
        </p:nvSpPr>
        <p:spPr>
          <a:xfrm>
            <a:off x="539750" y="476250"/>
            <a:ext cx="4032250" cy="504825"/>
          </a:xfrm>
          <a:prstGeom prst="rect">
            <a:avLst/>
          </a:prstGeom>
          <a:noFill/>
          <a:ln w="12700">
            <a:noFill/>
          </a:ln>
        </p:spPr>
        <p:txBody>
          <a:bodyPr anchor="t" anchorCtr="0"/>
          <a:p>
            <a:pPr marL="285750" indent="-285750" algn="just" eaLnBrk="0" hangingPunct="0">
              <a:spcBef>
                <a:spcPct val="50000"/>
              </a:spcBef>
              <a:buClrTx/>
              <a:buFontTx/>
              <a:buNone/>
            </a:pP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实际电流源的产生：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34537" name="Text Box 41"/>
          <p:cNvSpPr txBox="1"/>
          <p:nvPr/>
        </p:nvSpPr>
        <p:spPr>
          <a:xfrm>
            <a:off x="539750" y="2786063"/>
            <a:ext cx="3024188" cy="547687"/>
          </a:xfrm>
          <a:prstGeom prst="rect">
            <a:avLst/>
          </a:prstGeom>
          <a:noFill/>
          <a:ln w="2857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>
            <a:spAutoFit/>
          </a:bodyPr>
          <a:p>
            <a:pPr eaLnBrk="0" hangingPunct="0">
              <a:spcBef>
                <a:spcPct val="5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 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电流源的功率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ea typeface="楷体_GB2312" pitchFamily="49" charset="-122"/>
              <a:sym typeface="Symbol" panose="05050102010706020507" pitchFamily="18" charset="2"/>
            </a:endParaRPr>
          </a:p>
        </p:txBody>
      </p:sp>
      <p:grpSp>
        <p:nvGrpSpPr>
          <p:cNvPr id="234577" name="Group 81"/>
          <p:cNvGrpSpPr/>
          <p:nvPr/>
        </p:nvGrpSpPr>
        <p:grpSpPr>
          <a:xfrm>
            <a:off x="6372225" y="2349500"/>
            <a:ext cx="1398588" cy="1973263"/>
            <a:chOff x="4014" y="1480"/>
            <a:chExt cx="881" cy="1243"/>
          </a:xfrm>
        </p:grpSpPr>
        <p:sp>
          <p:nvSpPr>
            <p:cNvPr id="62475" name="Line 43"/>
            <p:cNvSpPr/>
            <p:nvPr/>
          </p:nvSpPr>
          <p:spPr>
            <a:xfrm rot="10800000">
              <a:off x="4195" y="1514"/>
              <a:ext cx="0" cy="1175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2476" name="Oval 44"/>
            <p:cNvSpPr/>
            <p:nvPr/>
          </p:nvSpPr>
          <p:spPr>
            <a:xfrm>
              <a:off x="4014" y="1978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buClrTx/>
                <a:buFontTx/>
                <a:buNone/>
              </a:pPr>
              <a:endParaRPr lang="zh-CN" altLang="zh-CN" sz="2400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62477" name="Oval 45"/>
            <p:cNvSpPr/>
            <p:nvPr/>
          </p:nvSpPr>
          <p:spPr>
            <a:xfrm rot="10800000">
              <a:off x="4827" y="2655"/>
              <a:ext cx="68" cy="68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>
              <a:spAutoFit/>
            </a:bodyPr>
            <a:p>
              <a:pPr>
                <a:buClrTx/>
                <a:buFontTx/>
                <a:buNone/>
              </a:pPr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62478" name="Line 46"/>
            <p:cNvSpPr/>
            <p:nvPr/>
          </p:nvSpPr>
          <p:spPr>
            <a:xfrm rot="5400000">
              <a:off x="4507" y="2369"/>
              <a:ext cx="0" cy="64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2479" name="Oval 47"/>
            <p:cNvSpPr/>
            <p:nvPr/>
          </p:nvSpPr>
          <p:spPr>
            <a:xfrm rot="10800000">
              <a:off x="4827" y="1480"/>
              <a:ext cx="68" cy="68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>
              <a:spAutoFit/>
            </a:bodyPr>
            <a:p>
              <a:pPr>
                <a:buClrTx/>
                <a:buFontTx/>
                <a:buNone/>
              </a:pPr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62480" name="Line 48"/>
            <p:cNvSpPr/>
            <p:nvPr/>
          </p:nvSpPr>
          <p:spPr>
            <a:xfrm rot="5400000">
              <a:off x="4507" y="1194"/>
              <a:ext cx="0" cy="64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2481" name="Text Box 49"/>
            <p:cNvSpPr txBox="1"/>
            <p:nvPr/>
          </p:nvSpPr>
          <p:spPr>
            <a:xfrm>
              <a:off x="4649" y="1933"/>
              <a:ext cx="228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anchor="ctr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u</a:t>
              </a:r>
              <a:endParaRPr lang="en-US" altLang="zh-CN" b="0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62482" name="Text Box 50"/>
            <p:cNvSpPr txBox="1"/>
            <p:nvPr/>
          </p:nvSpPr>
          <p:spPr>
            <a:xfrm rot="10800000">
              <a:off x="4604" y="1480"/>
              <a:ext cx="289" cy="365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anchor="ctr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3200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+</a:t>
              </a:r>
              <a:endParaRPr lang="en-US" altLang="zh-CN" sz="3200" b="0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62483" name="Text Box 51"/>
            <p:cNvSpPr txBox="1"/>
            <p:nvPr/>
          </p:nvSpPr>
          <p:spPr>
            <a:xfrm>
              <a:off x="4649" y="2251"/>
              <a:ext cx="196" cy="365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ctr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3200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_</a:t>
              </a:r>
              <a:endParaRPr lang="en-US" altLang="zh-CN" sz="3200" b="0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graphicFrame>
          <p:nvGraphicFramePr>
            <p:cNvPr id="62484" name="Object 52"/>
            <p:cNvGraphicFramePr>
              <a:graphicFrameLocks noChangeAspect="1"/>
            </p:cNvGraphicFramePr>
            <p:nvPr/>
          </p:nvGraphicFramePr>
          <p:xfrm>
            <a:off x="4332" y="1616"/>
            <a:ext cx="222" cy="3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6" name="" r:id="rId2" imgW="109855" imgH="202565" progId="Equation.3">
                    <p:embed/>
                  </p:oleObj>
                </mc:Choice>
                <mc:Fallback>
                  <p:oleObj name="" r:id="rId2" imgW="109855" imgH="202565" progId="Equation.3">
                    <p:embed/>
                    <p:pic>
                      <p:nvPicPr>
                        <p:cNvPr id="0" name="图片 3095"/>
                        <p:cNvPicPr/>
                        <p:nvPr/>
                      </p:nvPicPr>
                      <p:blipFill>
                        <a:blip r:embed="rId3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332" y="1616"/>
                          <a:ext cx="222" cy="38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2485" name="Line 53"/>
            <p:cNvSpPr/>
            <p:nvPr/>
          </p:nvSpPr>
          <p:spPr>
            <a:xfrm>
              <a:off x="4014" y="2160"/>
              <a:ext cx="363" cy="0"/>
            </a:xfrm>
            <a:prstGeom prst="line">
              <a:avLst/>
            </a:prstGeom>
            <a:ln w="38100" cap="flat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2486" name="Line 54"/>
            <p:cNvSpPr/>
            <p:nvPr/>
          </p:nvSpPr>
          <p:spPr>
            <a:xfrm flipV="1">
              <a:off x="4195" y="1616"/>
              <a:ext cx="0" cy="317"/>
            </a:xfrm>
            <a:prstGeom prst="line">
              <a:avLst/>
            </a:prstGeom>
            <a:ln w="28575" cap="sq" cmpd="sng">
              <a:solidFill>
                <a:srgbClr val="00FF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  <p:sp>
        <p:nvSpPr>
          <p:cNvPr id="234551" name="AutoShape 55"/>
          <p:cNvSpPr/>
          <p:nvPr/>
        </p:nvSpPr>
        <p:spPr>
          <a:xfrm>
            <a:off x="3779838" y="2997200"/>
            <a:ext cx="647700" cy="142875"/>
          </a:xfrm>
          <a:prstGeom prst="rightArrow">
            <a:avLst>
              <a:gd name="adj1" fmla="val 50000"/>
              <a:gd name="adj2" fmla="val 113312"/>
            </a:avLst>
          </a:prstGeom>
          <a:solidFill>
            <a:schemeClr val="hlink"/>
          </a:solidFill>
          <a:ln w="9525">
            <a:noFill/>
          </a:ln>
        </p:spPr>
        <p:txBody>
          <a:bodyPr wrap="none" anchor="ctr" anchorCtr="0"/>
          <a:p>
            <a:pPr>
              <a:buClrTx/>
              <a:buFontTx/>
              <a:buNone/>
            </a:pPr>
            <a:endParaRPr lang="zh-CN" altLang="en-US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graphicFrame>
        <p:nvGraphicFramePr>
          <p:cNvPr id="234552" name="Object 56"/>
          <p:cNvGraphicFramePr>
            <a:graphicFrameLocks noChangeAspect="1"/>
          </p:cNvGraphicFramePr>
          <p:nvPr/>
        </p:nvGraphicFramePr>
        <p:xfrm>
          <a:off x="4572000" y="2781300"/>
          <a:ext cx="1243013" cy="576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5" name="" r:id="rId4" imgW="457200" imgH="202565" progId="Equation.3">
                  <p:embed/>
                </p:oleObj>
              </mc:Choice>
              <mc:Fallback>
                <p:oleObj name="" r:id="rId4" imgW="457200" imgH="202565" progId="Equation.3">
                  <p:embed/>
                  <p:pic>
                    <p:nvPicPr>
                      <p:cNvPr id="0" name="图片 3094"/>
                      <p:cNvPicPr/>
                      <p:nvPr/>
                    </p:nvPicPr>
                    <p:blipFill>
                      <a:blip r:embed="rId5">
                        <a:clrChange>
                          <a:clrFrom>
                            <a:srgbClr val="000000"/>
                          </a:clrFrom>
                          <a:clrTo>
                            <a:srgbClr val="00008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572000" y="2781300"/>
                        <a:ext cx="1243013" cy="5762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4553" name="Text Box 57"/>
          <p:cNvSpPr txBox="1"/>
          <p:nvPr/>
        </p:nvSpPr>
        <p:spPr>
          <a:xfrm>
            <a:off x="539750" y="3500438"/>
            <a:ext cx="5545138" cy="519112"/>
          </a:xfrm>
          <a:prstGeom prst="rect">
            <a:avLst/>
          </a:prstGeom>
          <a:noFill/>
          <a:ln w="12700">
            <a:noFill/>
          </a:ln>
        </p:spPr>
        <p:txBody>
          <a:bodyPr anchor="ctr" anchorCtr="0">
            <a:spAutoFit/>
          </a:bodyPr>
          <a:p>
            <a:pPr marL="342900" indent="-342900" eaLnBrk="0" hangingPunct="0">
              <a:spcBef>
                <a:spcPct val="50000"/>
              </a:spcBef>
              <a:buAutoNum type="circleNumDbPlain"/>
            </a:pPr>
            <a:r>
              <a:rPr lang="zh-CN" altLang="en-US" dirty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电压、电流的参考方向非关联；</a:t>
            </a:r>
            <a:r>
              <a:rPr lang="zh-CN" altLang="en-US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　　　　　　　　　　　　　　　</a:t>
            </a:r>
            <a:endParaRPr lang="zh-CN" altLang="en-US" dirty="0">
              <a:solidFill>
                <a:schemeClr val="tx2"/>
              </a:solidFill>
              <a:latin typeface="Times New Roman" panose="02020603050405020304" pitchFamily="18" charset="0"/>
              <a:ea typeface="楷体_GB2312" pitchFamily="49" charset="-122"/>
              <a:sym typeface="Symbol" panose="05050102010706020507" pitchFamily="18" charset="2"/>
            </a:endParaRPr>
          </a:p>
        </p:txBody>
      </p:sp>
      <p:sp>
        <p:nvSpPr>
          <p:cNvPr id="234554" name="AutoShape 58"/>
          <p:cNvSpPr/>
          <p:nvPr/>
        </p:nvSpPr>
        <p:spPr>
          <a:xfrm>
            <a:off x="1979613" y="4292600"/>
            <a:ext cx="574675" cy="144463"/>
          </a:xfrm>
          <a:prstGeom prst="rightArrow">
            <a:avLst>
              <a:gd name="adj1" fmla="val 50000"/>
              <a:gd name="adj2" fmla="val 99431"/>
            </a:avLst>
          </a:prstGeom>
          <a:solidFill>
            <a:schemeClr val="hlink"/>
          </a:solidFill>
          <a:ln w="9525">
            <a:noFill/>
          </a:ln>
        </p:spPr>
        <p:txBody>
          <a:bodyPr wrap="none" anchor="ctr" anchorCtr="0"/>
          <a:p>
            <a:pPr>
              <a:buClrTx/>
              <a:buFontTx/>
              <a:buNone/>
            </a:pPr>
            <a:endParaRPr lang="zh-CN" altLang="en-US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234555" name="Text Box 59"/>
          <p:cNvSpPr txBox="1"/>
          <p:nvPr/>
        </p:nvSpPr>
        <p:spPr>
          <a:xfrm>
            <a:off x="2484438" y="4076700"/>
            <a:ext cx="3960812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ctr" eaLnBrk="0" hangingPunct="0">
              <a:spcBef>
                <a:spcPct val="50000"/>
              </a:spcBef>
              <a:buClrTx/>
              <a:buFontTx/>
              <a:buNone/>
            </a:pPr>
            <a:r>
              <a:rPr lang="zh-CN" altLang="en-US" dirty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发出功率，起电源作用</a:t>
            </a:r>
            <a:endParaRPr lang="zh-CN" altLang="en-US" dirty="0">
              <a:latin typeface="Times New Roman" panose="02020603050405020304" pitchFamily="18" charset="0"/>
              <a:ea typeface="楷体_GB2312" pitchFamily="49" charset="-122"/>
              <a:sym typeface="Symbol" panose="05050102010706020507" pitchFamily="18" charset="2"/>
            </a:endParaRPr>
          </a:p>
        </p:txBody>
      </p:sp>
      <p:graphicFrame>
        <p:nvGraphicFramePr>
          <p:cNvPr id="234556" name="Object 60"/>
          <p:cNvGraphicFramePr>
            <a:graphicFrameLocks noChangeAspect="1"/>
          </p:cNvGraphicFramePr>
          <p:nvPr/>
        </p:nvGraphicFramePr>
        <p:xfrm>
          <a:off x="611188" y="4076700"/>
          <a:ext cx="1239837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4" name="" r:id="rId6" imgW="457200" imgH="202565" progId="Equation.3">
                  <p:embed/>
                </p:oleObj>
              </mc:Choice>
              <mc:Fallback>
                <p:oleObj name="" r:id="rId6" imgW="457200" imgH="202565" progId="Equation.3">
                  <p:embed/>
                  <p:pic>
                    <p:nvPicPr>
                      <p:cNvPr id="0" name="图片 3093"/>
                      <p:cNvPicPr/>
                      <p:nvPr/>
                    </p:nvPicPr>
                    <p:blipFill>
                      <a:blip r:embed="rId7">
                        <a:clrChange>
                          <a:clrFrom>
                            <a:srgbClr val="000000"/>
                          </a:clrFrom>
                          <a:clrTo>
                            <a:srgbClr val="00008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11188" y="4076700"/>
                        <a:ext cx="1239837" cy="5746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4557" name="Text Box 61"/>
          <p:cNvSpPr txBox="1"/>
          <p:nvPr/>
        </p:nvSpPr>
        <p:spPr>
          <a:xfrm>
            <a:off x="539750" y="4724400"/>
            <a:ext cx="5184775" cy="519113"/>
          </a:xfrm>
          <a:prstGeom prst="rect">
            <a:avLst/>
          </a:prstGeom>
          <a:noFill/>
          <a:ln w="12700">
            <a:noFill/>
          </a:ln>
        </p:spPr>
        <p:txBody>
          <a:bodyPr anchor="ctr" anchorCtr="0">
            <a:spAutoFit/>
          </a:bodyPr>
          <a:p>
            <a:pPr marL="342900" indent="-342900" eaLnBrk="0" hangingPunct="0">
              <a:spcBef>
                <a:spcPct val="50000"/>
              </a:spcBef>
              <a:buAutoNum type="circleNumDbPlain" startAt="2"/>
            </a:pPr>
            <a:r>
              <a:rPr lang="zh-CN" altLang="en-US" dirty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电压、电流的参考方向关联；</a:t>
            </a:r>
            <a:r>
              <a:rPr lang="zh-CN" altLang="en-US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　　　　　　　　　　　　　　　</a:t>
            </a:r>
            <a:endParaRPr lang="zh-CN" altLang="en-US" dirty="0">
              <a:solidFill>
                <a:schemeClr val="tx2"/>
              </a:solidFill>
              <a:latin typeface="Times New Roman" panose="02020603050405020304" pitchFamily="18" charset="0"/>
              <a:ea typeface="楷体_GB2312" pitchFamily="49" charset="-122"/>
              <a:sym typeface="Symbol" panose="05050102010706020507" pitchFamily="18" charset="2"/>
            </a:endParaRPr>
          </a:p>
        </p:txBody>
      </p:sp>
      <p:grpSp>
        <p:nvGrpSpPr>
          <p:cNvPr id="234578" name="Group 82"/>
          <p:cNvGrpSpPr/>
          <p:nvPr/>
        </p:nvGrpSpPr>
        <p:grpSpPr>
          <a:xfrm>
            <a:off x="6372225" y="4437063"/>
            <a:ext cx="1398588" cy="1973262"/>
            <a:chOff x="4014" y="2795"/>
            <a:chExt cx="881" cy="1243"/>
          </a:xfrm>
        </p:grpSpPr>
        <p:sp>
          <p:nvSpPr>
            <p:cNvPr id="62495" name="Line 63"/>
            <p:cNvSpPr/>
            <p:nvPr/>
          </p:nvSpPr>
          <p:spPr>
            <a:xfrm rot="10800000">
              <a:off x="4195" y="2829"/>
              <a:ext cx="0" cy="1175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2496" name="Oval 64"/>
            <p:cNvSpPr/>
            <p:nvPr/>
          </p:nvSpPr>
          <p:spPr>
            <a:xfrm>
              <a:off x="4014" y="3113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buClrTx/>
                <a:buFontTx/>
                <a:buNone/>
              </a:pPr>
              <a:endParaRPr lang="zh-CN" altLang="zh-CN" sz="2400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62497" name="Oval 65"/>
            <p:cNvSpPr/>
            <p:nvPr/>
          </p:nvSpPr>
          <p:spPr>
            <a:xfrm rot="10800000">
              <a:off x="4827" y="3970"/>
              <a:ext cx="68" cy="68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>
              <a:spAutoFit/>
            </a:bodyPr>
            <a:p>
              <a:pPr>
                <a:buClrTx/>
                <a:buFontTx/>
                <a:buNone/>
              </a:pPr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62498" name="Line 66"/>
            <p:cNvSpPr/>
            <p:nvPr/>
          </p:nvSpPr>
          <p:spPr>
            <a:xfrm rot="5400000">
              <a:off x="4507" y="3684"/>
              <a:ext cx="0" cy="64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2499" name="Oval 67"/>
            <p:cNvSpPr/>
            <p:nvPr/>
          </p:nvSpPr>
          <p:spPr>
            <a:xfrm rot="10800000">
              <a:off x="4827" y="2795"/>
              <a:ext cx="68" cy="68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>
              <a:spAutoFit/>
            </a:bodyPr>
            <a:p>
              <a:pPr>
                <a:buClrTx/>
                <a:buFontTx/>
                <a:buNone/>
              </a:pPr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62500" name="Line 68"/>
            <p:cNvSpPr/>
            <p:nvPr/>
          </p:nvSpPr>
          <p:spPr>
            <a:xfrm rot="5400000">
              <a:off x="4507" y="2509"/>
              <a:ext cx="0" cy="64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2501" name="Text Box 69"/>
            <p:cNvSpPr txBox="1"/>
            <p:nvPr/>
          </p:nvSpPr>
          <p:spPr>
            <a:xfrm>
              <a:off x="4649" y="3248"/>
              <a:ext cx="228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anchor="ctr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u</a:t>
              </a:r>
              <a:endParaRPr lang="en-US" altLang="zh-CN" b="0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62502" name="Text Box 70"/>
            <p:cNvSpPr txBox="1"/>
            <p:nvPr/>
          </p:nvSpPr>
          <p:spPr>
            <a:xfrm rot="10800000">
              <a:off x="4604" y="2795"/>
              <a:ext cx="289" cy="365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anchor="ctr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3200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+</a:t>
              </a:r>
              <a:endParaRPr lang="en-US" altLang="zh-CN" sz="3200" b="0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62503" name="Text Box 71"/>
            <p:cNvSpPr txBox="1"/>
            <p:nvPr/>
          </p:nvSpPr>
          <p:spPr>
            <a:xfrm>
              <a:off x="4649" y="3566"/>
              <a:ext cx="196" cy="365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ctr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3200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_</a:t>
              </a:r>
              <a:endParaRPr lang="en-US" altLang="zh-CN" sz="3200" b="0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graphicFrame>
          <p:nvGraphicFramePr>
            <p:cNvPr id="62504" name="Object 72"/>
            <p:cNvGraphicFramePr>
              <a:graphicFrameLocks noChangeAspect="1"/>
            </p:cNvGraphicFramePr>
            <p:nvPr/>
          </p:nvGraphicFramePr>
          <p:xfrm>
            <a:off x="4332" y="2931"/>
            <a:ext cx="222" cy="3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9" name="" r:id="rId8" imgW="109855" imgH="202565" progId="Equation.3">
                    <p:embed/>
                  </p:oleObj>
                </mc:Choice>
                <mc:Fallback>
                  <p:oleObj name="" r:id="rId8" imgW="109855" imgH="202565" progId="Equation.3">
                    <p:embed/>
                    <p:pic>
                      <p:nvPicPr>
                        <p:cNvPr id="0" name="图片 3098"/>
                        <p:cNvPicPr/>
                        <p:nvPr/>
                      </p:nvPicPr>
                      <p:blipFill>
                        <a:blip r:embed="rId9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332" y="2931"/>
                          <a:ext cx="222" cy="38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2505" name="Line 73"/>
            <p:cNvSpPr/>
            <p:nvPr/>
          </p:nvSpPr>
          <p:spPr>
            <a:xfrm>
              <a:off x="4014" y="3294"/>
              <a:ext cx="363" cy="0"/>
            </a:xfrm>
            <a:prstGeom prst="line">
              <a:avLst/>
            </a:prstGeom>
            <a:ln w="38100" cap="flat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2506" name="Line 74"/>
            <p:cNvSpPr/>
            <p:nvPr/>
          </p:nvSpPr>
          <p:spPr>
            <a:xfrm flipV="1">
              <a:off x="4195" y="3566"/>
              <a:ext cx="0" cy="317"/>
            </a:xfrm>
            <a:prstGeom prst="line">
              <a:avLst/>
            </a:prstGeom>
            <a:ln w="28575" cap="sq" cmpd="sng">
              <a:solidFill>
                <a:srgbClr val="00FFFF"/>
              </a:solidFill>
              <a:prstDash val="solid"/>
              <a:round/>
              <a:headEnd type="triangle" w="med" len="med"/>
              <a:tailEnd type="none" w="med" len="med"/>
            </a:ln>
          </p:spPr>
        </p:sp>
      </p:grpSp>
      <p:sp>
        <p:nvSpPr>
          <p:cNvPr id="234571" name="AutoShape 75"/>
          <p:cNvSpPr/>
          <p:nvPr/>
        </p:nvSpPr>
        <p:spPr>
          <a:xfrm>
            <a:off x="1908175" y="5661025"/>
            <a:ext cx="647700" cy="142875"/>
          </a:xfrm>
          <a:prstGeom prst="rightArrow">
            <a:avLst>
              <a:gd name="adj1" fmla="val 50000"/>
              <a:gd name="adj2" fmla="val 113312"/>
            </a:avLst>
          </a:prstGeom>
          <a:solidFill>
            <a:schemeClr val="hlink"/>
          </a:solidFill>
          <a:ln w="9525">
            <a:noFill/>
          </a:ln>
        </p:spPr>
        <p:txBody>
          <a:bodyPr wrap="none" anchor="ctr" anchorCtr="0"/>
          <a:p>
            <a:pPr>
              <a:buClrTx/>
              <a:buFontTx/>
              <a:buNone/>
            </a:pPr>
            <a:endParaRPr lang="zh-CN" altLang="en-US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234572" name="Text Box 76"/>
          <p:cNvSpPr txBox="1"/>
          <p:nvPr/>
        </p:nvSpPr>
        <p:spPr>
          <a:xfrm>
            <a:off x="2555875" y="5445125"/>
            <a:ext cx="3529013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ctr" eaLnBrk="0" hangingPunct="0">
              <a:buClrTx/>
              <a:buFontTx/>
              <a:buNone/>
            </a:pPr>
            <a:r>
              <a:rPr lang="zh-CN" altLang="en-US" dirty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吸收功率，充当负载</a:t>
            </a:r>
            <a:endParaRPr lang="zh-CN" altLang="en-US" dirty="0">
              <a:latin typeface="Times New Roman" panose="02020603050405020304" pitchFamily="18" charset="0"/>
              <a:ea typeface="楷体_GB2312" pitchFamily="49" charset="-122"/>
              <a:sym typeface="Symbol" panose="05050102010706020507" pitchFamily="18" charset="2"/>
            </a:endParaRPr>
          </a:p>
        </p:txBody>
      </p:sp>
      <p:graphicFrame>
        <p:nvGraphicFramePr>
          <p:cNvPr id="234573" name="Object 77"/>
          <p:cNvGraphicFramePr>
            <a:graphicFrameLocks noChangeAspect="1"/>
          </p:cNvGraphicFramePr>
          <p:nvPr/>
        </p:nvGraphicFramePr>
        <p:xfrm>
          <a:off x="611188" y="5445125"/>
          <a:ext cx="1168400" cy="541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7" name="" r:id="rId10" imgW="457200" imgH="202565" progId="Equation.3">
                  <p:embed/>
                </p:oleObj>
              </mc:Choice>
              <mc:Fallback>
                <p:oleObj name="" r:id="rId10" imgW="457200" imgH="202565" progId="Equation.3">
                  <p:embed/>
                  <p:pic>
                    <p:nvPicPr>
                      <p:cNvPr id="0" name="图片 3096"/>
                      <p:cNvPicPr/>
                      <p:nvPr/>
                    </p:nvPicPr>
                    <p:blipFill>
                      <a:blip r:embed="rId11">
                        <a:clrChange>
                          <a:clrFrom>
                            <a:srgbClr val="000000"/>
                          </a:clrFrom>
                          <a:clrTo>
                            <a:srgbClr val="00008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11188" y="5445125"/>
                        <a:ext cx="1168400" cy="5413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2510" name="Group 86"/>
          <p:cNvGrpSpPr/>
          <p:nvPr/>
        </p:nvGrpSpPr>
        <p:grpSpPr>
          <a:xfrm>
            <a:off x="6588125" y="6445250"/>
            <a:ext cx="792163" cy="366713"/>
            <a:chOff x="5193" y="4020"/>
            <a:chExt cx="499" cy="231"/>
          </a:xfrm>
        </p:grpSpPr>
        <p:pic>
          <p:nvPicPr>
            <p:cNvPr id="62511" name="Picture 87" descr="78900">
              <a:hlinkClick r:id="" action="ppaction://hlinkshowjump?jump=firstslide"/>
            </p:cNvPr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62512" name="Text Box 88">
              <a:hlinkClick r:id="" action="ppaction://hlinkshowjump?jump=firs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34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75" fill="hold"/>
                                        <p:tgtEl>
                                          <p:spTgt spid="2345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75" fill="hold"/>
                                        <p:tgtEl>
                                          <p:spTgt spid="2345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34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3" dur="500"/>
                                        <p:tgtEl>
                                          <p:spTgt spid="2345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345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34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7" dur="75"/>
                                        <p:tgtEl>
                                          <p:spTgt spid="2345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34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7" dur="500"/>
                                        <p:tgtEl>
                                          <p:spTgt spid="234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345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345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7" dur="75"/>
                                        <p:tgtEl>
                                          <p:spTgt spid="234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234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234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2" dur="500"/>
                                        <p:tgtEl>
                                          <p:spTgt spid="234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"/>
                            </p:stCondLst>
                            <p:childTnLst>
                              <p:par>
                                <p:cTn id="74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2345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2345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4524" grpId="0"/>
      <p:bldP spid="234536" grpId="0"/>
      <p:bldP spid="234537" grpId="0" animBg="1"/>
      <p:bldP spid="234551" grpId="0" animBg="1"/>
      <p:bldP spid="234553" grpId="0"/>
      <p:bldP spid="234554" grpId="0" animBg="1"/>
      <p:bldP spid="234555" grpId="0"/>
      <p:bldP spid="234557" grpId="0"/>
      <p:bldP spid="234571" grpId="0" animBg="1"/>
      <p:bldP spid="234572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6561" name="Text Box 17"/>
          <p:cNvSpPr txBox="1"/>
          <p:nvPr/>
        </p:nvSpPr>
        <p:spPr>
          <a:xfrm>
            <a:off x="611188" y="692150"/>
            <a:ext cx="647700" cy="5794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ctr" eaLnBrk="0" hangingPunct="0">
              <a:spcBef>
                <a:spcPct val="50000"/>
              </a:spcBef>
              <a:buClrTx/>
              <a:buFontTx/>
              <a:buNone/>
            </a:pPr>
            <a:r>
              <a:rPr lang="zh-CN" altLang="en-US" sz="3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例</a:t>
            </a:r>
            <a:endParaRPr lang="zh-CN" altLang="en-US" sz="3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236584" name="Text Box 40"/>
          <p:cNvSpPr txBox="1"/>
          <p:nvPr/>
        </p:nvSpPr>
        <p:spPr>
          <a:xfrm>
            <a:off x="1116013" y="749300"/>
            <a:ext cx="5184775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ctr" eaLnBrk="0" hangingPunct="0">
              <a:spcBef>
                <a:spcPct val="50000"/>
              </a:spcBef>
              <a:buClrTx/>
              <a:buFontTx/>
              <a:buNone/>
            </a:pPr>
            <a:r>
              <a:rPr lang="zh-CN" altLang="en-US" dirty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计算图示电路各元件的功率</a:t>
            </a:r>
            <a:endParaRPr lang="zh-CN" altLang="en-US" dirty="0">
              <a:latin typeface="Times New Roman" panose="02020603050405020304" pitchFamily="18" charset="0"/>
              <a:ea typeface="楷体_GB2312" pitchFamily="49" charset="-122"/>
              <a:sym typeface="Symbol" panose="05050102010706020507" pitchFamily="18" charset="2"/>
            </a:endParaRPr>
          </a:p>
        </p:txBody>
      </p:sp>
      <p:sp>
        <p:nvSpPr>
          <p:cNvPr id="236585" name="Text Box 41"/>
          <p:cNvSpPr txBox="1"/>
          <p:nvPr/>
        </p:nvSpPr>
        <p:spPr>
          <a:xfrm>
            <a:off x="611188" y="1484313"/>
            <a:ext cx="647700" cy="519112"/>
          </a:xfrm>
          <a:prstGeom prst="rect">
            <a:avLst/>
          </a:prstGeom>
          <a:solidFill>
            <a:srgbClr val="990033"/>
          </a:solidFill>
          <a:ln w="9525">
            <a:noFill/>
          </a:ln>
        </p:spPr>
        <p:txBody>
          <a:bodyPr anchor="t" anchorCtr="0">
            <a:spAutoFit/>
          </a:bodyPr>
          <a:p>
            <a:pPr algn="ctr" eaLnBrk="0" hangingPunct="0">
              <a:spcBef>
                <a:spcPct val="50000"/>
              </a:spcBef>
              <a:buClrTx/>
              <a:buFontTx/>
              <a:buNone/>
            </a:pP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解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graphicFrame>
        <p:nvGraphicFramePr>
          <p:cNvPr id="236586" name="Object 42"/>
          <p:cNvGraphicFramePr>
            <a:graphicFrameLocks noChangeAspect="1"/>
          </p:cNvGraphicFramePr>
          <p:nvPr/>
        </p:nvGraphicFramePr>
        <p:xfrm>
          <a:off x="1258888" y="1989138"/>
          <a:ext cx="2325687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0" name="" r:id="rId1" imgW="862330" imgH="156210" progId="Equation.3">
                  <p:embed/>
                </p:oleObj>
              </mc:Choice>
              <mc:Fallback>
                <p:oleObj name="" r:id="rId1" imgW="862330" imgH="156210" progId="Equation.3">
                  <p:embed/>
                  <p:pic>
                    <p:nvPicPr>
                      <p:cNvPr id="0" name="图片 3099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258888" y="1989138"/>
                        <a:ext cx="2325687" cy="4603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6587" name="Object 43"/>
          <p:cNvGraphicFramePr>
            <a:graphicFrameLocks noChangeAspect="1"/>
          </p:cNvGraphicFramePr>
          <p:nvPr/>
        </p:nvGraphicFramePr>
        <p:xfrm>
          <a:off x="1187450" y="2708275"/>
          <a:ext cx="1339850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8" name="" r:id="rId3" imgW="468630" imgH="156210" progId="Equation.3">
                  <p:embed/>
                </p:oleObj>
              </mc:Choice>
              <mc:Fallback>
                <p:oleObj name="" r:id="rId3" imgW="468630" imgH="156210" progId="Equation.3">
                  <p:embed/>
                  <p:pic>
                    <p:nvPicPr>
                      <p:cNvPr id="0" name="图片 3097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187450" y="2708275"/>
                        <a:ext cx="1339850" cy="4794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6589" name="Object 45"/>
          <p:cNvGraphicFramePr>
            <a:graphicFrameLocks noChangeAspect="1"/>
          </p:cNvGraphicFramePr>
          <p:nvPr/>
        </p:nvGraphicFramePr>
        <p:xfrm>
          <a:off x="1116013" y="3429000"/>
          <a:ext cx="4064000" cy="60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8" name="" r:id="rId5" imgW="1464310" imgH="202565" progId="Equation.3">
                  <p:embed/>
                </p:oleObj>
              </mc:Choice>
              <mc:Fallback>
                <p:oleObj name="" r:id="rId5" imgW="1464310" imgH="202565" progId="Equation.3">
                  <p:embed/>
                  <p:pic>
                    <p:nvPicPr>
                      <p:cNvPr id="0" name="图片 3127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116013" y="3429000"/>
                        <a:ext cx="4064000" cy="6032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6590" name="Object 46"/>
          <p:cNvGraphicFramePr>
            <a:graphicFrameLocks noChangeAspect="1"/>
          </p:cNvGraphicFramePr>
          <p:nvPr/>
        </p:nvGraphicFramePr>
        <p:xfrm>
          <a:off x="1095375" y="4292600"/>
          <a:ext cx="4700588" cy="576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5" name="" r:id="rId7" imgW="1776730" imgH="202565" progId="Equation.3">
                  <p:embed/>
                </p:oleObj>
              </mc:Choice>
              <mc:Fallback>
                <p:oleObj name="" r:id="rId7" imgW="1776730" imgH="202565" progId="Equation.3">
                  <p:embed/>
                  <p:pic>
                    <p:nvPicPr>
                      <p:cNvPr id="0" name="图片 3134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095375" y="4292600"/>
                        <a:ext cx="4700588" cy="5762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6591" name="Text Box 47"/>
          <p:cNvSpPr txBox="1"/>
          <p:nvPr/>
        </p:nvSpPr>
        <p:spPr>
          <a:xfrm>
            <a:off x="5942013" y="3414713"/>
            <a:ext cx="935037" cy="519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ctr" eaLnBrk="0" hangingPunct="0">
              <a:spcBef>
                <a:spcPct val="50000"/>
              </a:spcBef>
              <a:buClrTx/>
              <a:buFontTx/>
              <a:buNone/>
            </a:pPr>
            <a:r>
              <a:rPr lang="zh-CN" altLang="en-US" dirty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发出</a:t>
            </a:r>
            <a:endParaRPr lang="zh-CN" altLang="en-US" dirty="0">
              <a:latin typeface="Times New Roman" panose="02020603050405020304" pitchFamily="18" charset="0"/>
              <a:ea typeface="楷体_GB2312" pitchFamily="49" charset="-122"/>
              <a:sym typeface="Symbol" panose="05050102010706020507" pitchFamily="18" charset="2"/>
            </a:endParaRPr>
          </a:p>
        </p:txBody>
      </p:sp>
      <p:sp>
        <p:nvSpPr>
          <p:cNvPr id="236592" name="Text Box 48"/>
          <p:cNvSpPr txBox="1"/>
          <p:nvPr/>
        </p:nvSpPr>
        <p:spPr>
          <a:xfrm>
            <a:off x="5940425" y="4278313"/>
            <a:ext cx="935038" cy="52228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ctr" eaLnBrk="0" hangingPunct="0">
              <a:spcBef>
                <a:spcPct val="50000"/>
              </a:spcBef>
              <a:buClrTx/>
              <a:buFontTx/>
              <a:buNone/>
            </a:pPr>
            <a:r>
              <a:rPr lang="zh-CN" altLang="en-US" dirty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发出</a:t>
            </a:r>
            <a:endParaRPr lang="zh-CN" altLang="en-US" dirty="0">
              <a:latin typeface="Times New Roman" panose="02020603050405020304" pitchFamily="18" charset="0"/>
              <a:ea typeface="楷体_GB2312" pitchFamily="49" charset="-122"/>
              <a:sym typeface="Symbol" panose="05050102010706020507" pitchFamily="18" charset="2"/>
            </a:endParaRPr>
          </a:p>
        </p:txBody>
      </p:sp>
      <p:sp>
        <p:nvSpPr>
          <p:cNvPr id="236594" name="Text Box 50"/>
          <p:cNvSpPr txBox="1"/>
          <p:nvPr/>
        </p:nvSpPr>
        <p:spPr>
          <a:xfrm>
            <a:off x="1619250" y="5157788"/>
            <a:ext cx="4537075" cy="519112"/>
          </a:xfrm>
          <a:prstGeom prst="rect">
            <a:avLst/>
          </a:prstGeom>
          <a:solidFill>
            <a:srgbClr val="008000"/>
          </a:solidFill>
          <a:ln w="9525">
            <a:noFill/>
          </a:ln>
        </p:spPr>
        <p:txBody>
          <a:bodyPr anchor="t" anchorCtr="0">
            <a:spAutoFit/>
          </a:bodyPr>
          <a:p>
            <a:pPr algn="ctr" eaLnBrk="0" hangingPunct="0">
              <a:spcBef>
                <a:spcPct val="50000"/>
              </a:spcBef>
              <a:buClrTx/>
              <a:buFontTx/>
              <a:buNone/>
            </a:pPr>
            <a:r>
              <a:rPr lang="zh-CN" altLang="en-US" dirty="0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满足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  <a:sym typeface="Wingdings" panose="05000000000000000000" pitchFamily="2" charset="2"/>
              </a:rPr>
              <a:t>：</a:t>
            </a:r>
            <a:r>
              <a:rPr lang="en-US" altLang="zh-CN" b="0" i="1" dirty="0">
                <a:latin typeface="Times New Roman" panose="02020603050405020304" pitchFamily="18" charset="0"/>
                <a:ea typeface="楷体_GB2312" pitchFamily="49" charset="-122"/>
                <a:sym typeface="Wingdings" panose="05000000000000000000" pitchFamily="2" charset="2"/>
              </a:rPr>
              <a:t>P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  <a:sym typeface="Wingdings" panose="05000000000000000000" pitchFamily="2" charset="2"/>
              </a:rPr>
              <a:t>（发）＝</a:t>
            </a:r>
            <a:r>
              <a:rPr lang="en-US" altLang="zh-CN" b="0" i="1" dirty="0">
                <a:latin typeface="Times New Roman" panose="02020603050405020304" pitchFamily="18" charset="0"/>
                <a:ea typeface="楷体_GB2312" pitchFamily="49" charset="-122"/>
                <a:sym typeface="Wingdings" panose="05000000000000000000" pitchFamily="2" charset="2"/>
              </a:rPr>
              <a:t>P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  <a:sym typeface="Wingdings" panose="05000000000000000000" pitchFamily="2" charset="2"/>
              </a:rPr>
              <a:t>（吸）</a:t>
            </a:r>
            <a:endParaRPr lang="zh-CN" altLang="en-US" dirty="0">
              <a:latin typeface="楷体_GB2312" pitchFamily="49" charset="-122"/>
              <a:ea typeface="楷体_GB2312" pitchFamily="49" charset="-122"/>
              <a:sym typeface="Symbol" panose="05050102010706020507" pitchFamily="18" charset="2"/>
            </a:endParaRPr>
          </a:p>
        </p:txBody>
      </p:sp>
      <p:grpSp>
        <p:nvGrpSpPr>
          <p:cNvPr id="63499" name="Group 58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63500" name="Picture 59" descr="78900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63501" name="Text Box 60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63502" name="Group 61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63503" name="Picture 62" descr="78900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63504" name="Text Box 63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236633" name="Group 89"/>
          <p:cNvGrpSpPr/>
          <p:nvPr/>
        </p:nvGrpSpPr>
        <p:grpSpPr>
          <a:xfrm>
            <a:off x="5651500" y="1341438"/>
            <a:ext cx="2952750" cy="1873250"/>
            <a:chOff x="3560" y="845"/>
            <a:chExt cx="1860" cy="1180"/>
          </a:xfrm>
        </p:grpSpPr>
        <p:sp>
          <p:nvSpPr>
            <p:cNvPr id="63506" name="Oval 73"/>
            <p:cNvSpPr/>
            <p:nvPr/>
          </p:nvSpPr>
          <p:spPr>
            <a:xfrm>
              <a:off x="3560" y="1343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buClrTx/>
                <a:buFontTx/>
                <a:buNone/>
              </a:pPr>
              <a:endParaRPr lang="zh-CN" altLang="zh-CN" sz="2400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63507" name="Rectangle 68" descr="斜纹布"/>
            <p:cNvSpPr/>
            <p:nvPr/>
          </p:nvSpPr>
          <p:spPr>
            <a:xfrm>
              <a:off x="3741" y="845"/>
              <a:ext cx="1089" cy="1180"/>
            </a:xfrm>
            <a:prstGeom prst="rect">
              <a:avLst/>
            </a:prstGeom>
            <a:noFill/>
            <a:ln w="28575" cap="sq" cmpd="sng">
              <a:solidFill>
                <a:srgbClr val="FFCC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  <a:buNone/>
              </a:pPr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63508" name="Oval 69"/>
            <p:cNvSpPr/>
            <p:nvPr/>
          </p:nvSpPr>
          <p:spPr>
            <a:xfrm>
              <a:off x="4648" y="1299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buClrTx/>
                <a:buFontTx/>
                <a:buNone/>
              </a:pPr>
              <a:endParaRPr lang="zh-CN" altLang="zh-CN" sz="2400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63509" name="Text Box 70"/>
            <p:cNvSpPr txBox="1"/>
            <p:nvPr/>
          </p:nvSpPr>
          <p:spPr>
            <a:xfrm>
              <a:off x="4422" y="1344"/>
              <a:ext cx="228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anchor="ctr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u</a:t>
              </a:r>
              <a:endParaRPr lang="en-US" altLang="zh-CN" b="0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63510" name="Text Box 71"/>
            <p:cNvSpPr txBox="1"/>
            <p:nvPr/>
          </p:nvSpPr>
          <p:spPr>
            <a:xfrm>
              <a:off x="4876" y="1027"/>
              <a:ext cx="54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b="0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2A</a:t>
              </a:r>
              <a:endPara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63511" name="Line 72"/>
            <p:cNvSpPr/>
            <p:nvPr/>
          </p:nvSpPr>
          <p:spPr>
            <a:xfrm>
              <a:off x="4649" y="1480"/>
              <a:ext cx="363" cy="0"/>
            </a:xfrm>
            <a:prstGeom prst="line">
              <a:avLst/>
            </a:prstGeom>
            <a:ln w="38100" cap="flat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3512" name="Text Box 74"/>
            <p:cNvSpPr txBox="1"/>
            <p:nvPr/>
          </p:nvSpPr>
          <p:spPr>
            <a:xfrm>
              <a:off x="4286" y="845"/>
              <a:ext cx="178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anchor="ctr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i</a:t>
              </a:r>
              <a:endParaRPr lang="en-US" altLang="zh-CN" b="0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63513" name="Text Box 75"/>
            <p:cNvSpPr txBox="1"/>
            <p:nvPr/>
          </p:nvSpPr>
          <p:spPr>
            <a:xfrm rot="10800000">
              <a:off x="4467" y="982"/>
              <a:ext cx="289" cy="365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anchor="ctr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3200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+</a:t>
              </a:r>
              <a:endParaRPr lang="en-US" altLang="zh-CN" sz="3200" b="0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63514" name="Text Box 76"/>
            <p:cNvSpPr txBox="1"/>
            <p:nvPr/>
          </p:nvSpPr>
          <p:spPr>
            <a:xfrm>
              <a:off x="4513" y="1571"/>
              <a:ext cx="196" cy="365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ctr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3200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_</a:t>
              </a:r>
              <a:endParaRPr lang="en-US" altLang="zh-CN" sz="3200" b="0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63515" name="Text Box 77"/>
            <p:cNvSpPr txBox="1"/>
            <p:nvPr/>
          </p:nvSpPr>
          <p:spPr>
            <a:xfrm>
              <a:off x="3922" y="1344"/>
              <a:ext cx="43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b="0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5V</a:t>
              </a:r>
              <a:endPara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63516" name="Text Box 78"/>
            <p:cNvSpPr txBox="1"/>
            <p:nvPr/>
          </p:nvSpPr>
          <p:spPr>
            <a:xfrm>
              <a:off x="3696" y="1660"/>
              <a:ext cx="273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3200" b="0" i="1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Symbol" panose="05050102010706020507" pitchFamily="18" charset="2"/>
                </a:rPr>
                <a:t>-</a:t>
              </a:r>
              <a:endParaRPr lang="en-US" altLang="zh-CN" sz="3200" b="0" i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63517" name="Text Box 79"/>
            <p:cNvSpPr txBox="1"/>
            <p:nvPr/>
          </p:nvSpPr>
          <p:spPr>
            <a:xfrm>
              <a:off x="3741" y="1027"/>
              <a:ext cx="272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3200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+</a:t>
              </a:r>
              <a:endParaRPr lang="en-US" altLang="zh-CN" sz="3200" b="0" i="1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63518" name="Line 80"/>
            <p:cNvSpPr/>
            <p:nvPr/>
          </p:nvSpPr>
          <p:spPr>
            <a:xfrm>
              <a:off x="3878" y="936"/>
              <a:ext cx="317" cy="0"/>
            </a:xfrm>
            <a:prstGeom prst="line">
              <a:avLst/>
            </a:prstGeom>
            <a:ln w="28575" cap="sq" cmpd="sng">
              <a:solidFill>
                <a:srgbClr val="00CCFF"/>
              </a:solidFill>
              <a:prstDash val="solid"/>
              <a:round/>
              <a:headEnd type="none" w="med" len="med"/>
              <a:tailEnd type="triangle" w="med" len="med"/>
            </a:ln>
            <a:effectLst>
              <a:prstShdw prst="shdw17" dist="17961" dir="2699999">
                <a:schemeClr val="bg2"/>
              </a:prstShdw>
            </a:effectLst>
          </p:spPr>
        </p:sp>
        <p:sp>
          <p:nvSpPr>
            <p:cNvPr id="63519" name="Line 81"/>
            <p:cNvSpPr/>
            <p:nvPr/>
          </p:nvSpPr>
          <p:spPr>
            <a:xfrm flipV="1">
              <a:off x="4830" y="935"/>
              <a:ext cx="0" cy="318"/>
            </a:xfrm>
            <a:prstGeom prst="line">
              <a:avLst/>
            </a:prstGeom>
            <a:ln w="28575" cap="sq" cmpd="sng">
              <a:solidFill>
                <a:srgbClr val="FF33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  <p:grpSp>
        <p:nvGrpSpPr>
          <p:cNvPr id="63520" name="Group 96"/>
          <p:cNvGrpSpPr/>
          <p:nvPr/>
        </p:nvGrpSpPr>
        <p:grpSpPr>
          <a:xfrm>
            <a:off x="6588125" y="6445250"/>
            <a:ext cx="792163" cy="366713"/>
            <a:chOff x="5193" y="4020"/>
            <a:chExt cx="499" cy="231"/>
          </a:xfrm>
        </p:grpSpPr>
        <p:pic>
          <p:nvPicPr>
            <p:cNvPr id="63521" name="Picture 97" descr="78900">
              <a:hlinkClick r:id="" action="ppaction://hlinkshowjump?jump=firstslide"/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63522" name="Text Box 98">
              <a:hlinkClick r:id="" action="ppaction://hlinkshowjump?jump=firs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365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365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365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365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236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365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365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236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9" dur="1000"/>
                                        <p:tgtEl>
                                          <p:spTgt spid="236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4" dur="1000"/>
                                        <p:tgtEl>
                                          <p:spTgt spid="236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9" dur="1000"/>
                                        <p:tgtEl>
                                          <p:spTgt spid="236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365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365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9" dur="1000"/>
                                        <p:tgtEl>
                                          <p:spTgt spid="236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000"/>
                            </p:stCondLst>
                            <p:childTnLst>
                              <p:par>
                                <p:cTn id="51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365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365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500"/>
                            </p:stCondLst>
                            <p:childTnLst>
                              <p:par>
                                <p:cTn id="56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58" dur="1000"/>
                                        <p:tgtEl>
                                          <p:spTgt spid="236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6561" grpId="0"/>
      <p:bldP spid="236585" grpId="0" animBg="1"/>
      <p:bldP spid="236591" grpId="0"/>
      <p:bldP spid="236592" grpId="0"/>
      <p:bldP spid="236594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81283" name="Text Box 3"/>
          <p:cNvSpPr txBox="1"/>
          <p:nvPr/>
        </p:nvSpPr>
        <p:spPr>
          <a:xfrm>
            <a:off x="684213" y="404813"/>
            <a:ext cx="2303462" cy="57943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ClrTx/>
              <a:buFontTx/>
              <a:buNone/>
            </a:pPr>
            <a:r>
              <a:rPr lang="zh-CN" altLang="en-US" sz="3200" dirty="0">
                <a:solidFill>
                  <a:srgbClr val="FF9933"/>
                </a:solidFill>
                <a:latin typeface="Times New Roman" panose="02020603050405020304" pitchFamily="18" charset="0"/>
                <a:ea typeface="楷体_GB2312" pitchFamily="49" charset="-122"/>
              </a:rPr>
              <a:t>实际电源</a:t>
            </a:r>
            <a:endParaRPr lang="zh-CN" altLang="en-US" sz="3200" dirty="0">
              <a:solidFill>
                <a:srgbClr val="FF9933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pSp>
        <p:nvGrpSpPr>
          <p:cNvPr id="481286" name="Group 6"/>
          <p:cNvGrpSpPr/>
          <p:nvPr/>
        </p:nvGrpSpPr>
        <p:grpSpPr>
          <a:xfrm>
            <a:off x="827088" y="3213100"/>
            <a:ext cx="2376487" cy="3316288"/>
            <a:chOff x="839" y="2432"/>
            <a:chExt cx="1360" cy="1829"/>
          </a:xfrm>
        </p:grpSpPr>
        <p:pic>
          <p:nvPicPr>
            <p:cNvPr id="64515" name="Picture 7" descr="干电池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839" y="2432"/>
              <a:ext cx="1360" cy="1633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64516" name="Text Box 8"/>
            <p:cNvSpPr txBox="1"/>
            <p:nvPr/>
          </p:nvSpPr>
          <p:spPr>
            <a:xfrm>
              <a:off x="1195" y="4042"/>
              <a:ext cx="542" cy="21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ClrTx/>
                <a:buFontTx/>
                <a:buNone/>
              </a:pPr>
              <a:r>
                <a:rPr lang="zh-CN" altLang="en-US" sz="2000" b="0" dirty="0">
                  <a:solidFill>
                    <a:srgbClr val="FFFFCC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干电池</a:t>
              </a:r>
              <a:endParaRPr lang="zh-CN" altLang="en-US" sz="2000" b="0" dirty="0">
                <a:solidFill>
                  <a:srgbClr val="FFFFCC"/>
                </a:solidFill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</p:grpSp>
      <p:grpSp>
        <p:nvGrpSpPr>
          <p:cNvPr id="481289" name="Group 9"/>
          <p:cNvGrpSpPr/>
          <p:nvPr/>
        </p:nvGrpSpPr>
        <p:grpSpPr>
          <a:xfrm>
            <a:off x="4284663" y="3357563"/>
            <a:ext cx="3384550" cy="3106737"/>
            <a:chOff x="3016" y="2387"/>
            <a:chExt cx="1995" cy="1405"/>
          </a:xfrm>
        </p:grpSpPr>
        <p:pic>
          <p:nvPicPr>
            <p:cNvPr id="64518" name="Picture 10" descr="钮扣电池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016" y="2387"/>
              <a:ext cx="1995" cy="1247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64519" name="Text Box 11"/>
            <p:cNvSpPr txBox="1"/>
            <p:nvPr/>
          </p:nvSpPr>
          <p:spPr>
            <a:xfrm>
              <a:off x="3666" y="3612"/>
              <a:ext cx="708" cy="18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ClrTx/>
                <a:buFontTx/>
                <a:buNone/>
              </a:pPr>
              <a:r>
                <a:rPr lang="zh-CN" altLang="en-US" sz="2000" b="0" dirty="0">
                  <a:solidFill>
                    <a:srgbClr val="FFFFCC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钮扣电池</a:t>
              </a:r>
              <a:endParaRPr lang="zh-CN" altLang="en-US" sz="2000" b="0" dirty="0">
                <a:solidFill>
                  <a:srgbClr val="FFFFCC"/>
                </a:solidFill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</p:grpSp>
      <p:sp>
        <p:nvSpPr>
          <p:cNvPr id="481298" name="Text Box 18"/>
          <p:cNvSpPr txBox="1"/>
          <p:nvPr/>
        </p:nvSpPr>
        <p:spPr>
          <a:xfrm>
            <a:off x="539750" y="981075"/>
            <a:ext cx="5832475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ClrTx/>
              <a:buFontTx/>
              <a:buNone/>
            </a:pPr>
            <a:r>
              <a:rPr lang="en-US" altLang="zh-CN" dirty="0">
                <a:solidFill>
                  <a:srgbClr val="FFFF66"/>
                </a:solidFill>
                <a:latin typeface="楷体_GB2312" pitchFamily="49" charset="-122"/>
                <a:ea typeface="楷体_GB2312" pitchFamily="49" charset="-122"/>
              </a:rPr>
              <a:t>1. </a:t>
            </a:r>
            <a:r>
              <a:rPr lang="zh-CN" altLang="en-US" dirty="0">
                <a:solidFill>
                  <a:srgbClr val="FFFF66"/>
                </a:solidFill>
                <a:latin typeface="楷体_GB2312" pitchFamily="49" charset="-122"/>
                <a:ea typeface="楷体_GB2312" pitchFamily="49" charset="-122"/>
              </a:rPr>
              <a:t>干电池和钮扣电池（化学电源）</a:t>
            </a:r>
            <a:endParaRPr lang="zh-CN" altLang="en-US" dirty="0">
              <a:solidFill>
                <a:srgbClr val="FFFF66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81299" name="Rectangle 19"/>
          <p:cNvSpPr/>
          <p:nvPr/>
        </p:nvSpPr>
        <p:spPr>
          <a:xfrm>
            <a:off x="468313" y="1412875"/>
            <a:ext cx="8280400" cy="111442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140000"/>
              </a:lnSpc>
              <a:buClrTx/>
              <a:buFontTx/>
              <a:buNone/>
            </a:pPr>
            <a:r>
              <a:rPr lang="en-US" altLang="zh-CN" sz="24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    </a:t>
            </a:r>
            <a:r>
              <a:rPr lang="zh-CN" altLang="en-US" sz="24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干电池电动势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1.5V</a:t>
            </a:r>
            <a:r>
              <a:rPr lang="zh-CN" altLang="en-US" sz="24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，仅取决于（糊状）化学材料，其大小决定储存的能量，化学反应不可逆。</a:t>
            </a:r>
            <a:endParaRPr lang="zh-CN" altLang="en-US" sz="2400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81300" name="Rectangle 20"/>
          <p:cNvSpPr/>
          <p:nvPr/>
        </p:nvSpPr>
        <p:spPr>
          <a:xfrm>
            <a:off x="466725" y="2492375"/>
            <a:ext cx="8353425" cy="6032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140000"/>
              </a:lnSpc>
              <a:buClrTx/>
              <a:buFontTx/>
              <a:buNone/>
            </a:pPr>
            <a:r>
              <a:rPr lang="zh-CN" altLang="en-US" sz="24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钮扣电池电动势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1.35</a:t>
            </a:r>
            <a:r>
              <a:rPr lang="en-US" altLang="zh-CN" sz="24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V</a:t>
            </a:r>
            <a:r>
              <a:rPr lang="zh-CN" altLang="en-US" sz="24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，用固体化学材料，化学反应不可逆。</a:t>
            </a:r>
            <a:endParaRPr lang="zh-CN" altLang="en-US" sz="2400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64523" name="Group 25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64524" name="Picture 26" descr="7890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64525" name="Text Box 27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64526" name="Group 28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64527" name="Picture 29" descr="7890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64528" name="Text Box 30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64529" name="Group 37"/>
          <p:cNvGrpSpPr/>
          <p:nvPr/>
        </p:nvGrpSpPr>
        <p:grpSpPr>
          <a:xfrm>
            <a:off x="6588125" y="6445250"/>
            <a:ext cx="792163" cy="366713"/>
            <a:chOff x="5193" y="4020"/>
            <a:chExt cx="499" cy="231"/>
          </a:xfrm>
        </p:grpSpPr>
        <p:pic>
          <p:nvPicPr>
            <p:cNvPr id="64530" name="Picture 38" descr="78900">
              <a:hlinkClick r:id="" action="ppaction://hlinkshowjump?jump=firstslide"/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64531" name="Text Box 39">
              <a:hlinkClick r:id="" action="ppaction://hlinkshowjump?jump=firs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81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481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481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481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481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81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283" grpId="0"/>
      <p:bldP spid="481298" grpId="0"/>
      <p:bldP spid="481299" grpId="0"/>
      <p:bldP spid="481300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482306" name="Group 2"/>
          <p:cNvGrpSpPr/>
          <p:nvPr/>
        </p:nvGrpSpPr>
        <p:grpSpPr>
          <a:xfrm>
            <a:off x="1692275" y="2276475"/>
            <a:ext cx="4897438" cy="3984625"/>
            <a:chOff x="3424" y="1661"/>
            <a:chExt cx="1905" cy="1929"/>
          </a:xfrm>
        </p:grpSpPr>
        <p:sp>
          <p:nvSpPr>
            <p:cNvPr id="65538" name="Rectangle 3"/>
            <p:cNvSpPr/>
            <p:nvPr/>
          </p:nvSpPr>
          <p:spPr>
            <a:xfrm>
              <a:off x="3440" y="3369"/>
              <a:ext cx="1435" cy="22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ClrTx/>
                <a:buFontTx/>
                <a:buNone/>
              </a:pPr>
              <a:r>
                <a:rPr lang="en-US" altLang="zh-CN" sz="2400" b="0" dirty="0">
                  <a:solidFill>
                    <a:srgbClr val="FFFFCC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     </a:t>
              </a:r>
              <a:r>
                <a:rPr lang="zh-CN" altLang="en-US" sz="2400" b="0" dirty="0">
                  <a:solidFill>
                    <a:srgbClr val="FFFFCC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氢氧燃料电池示意图</a:t>
              </a:r>
              <a:endParaRPr lang="zh-CN" altLang="en-US" sz="2400" b="0" dirty="0">
                <a:solidFill>
                  <a:srgbClr val="FFFFCC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  <p:pic>
          <p:nvPicPr>
            <p:cNvPr id="65539" name="Picture 4" descr="氢氧燃料电池示意图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3424" y="1661"/>
              <a:ext cx="1905" cy="1732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65540" name="Text Box 5"/>
          <p:cNvSpPr txBox="1"/>
          <p:nvPr/>
        </p:nvSpPr>
        <p:spPr>
          <a:xfrm>
            <a:off x="684213" y="549275"/>
            <a:ext cx="4535487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ClrTx/>
              <a:buFontTx/>
              <a:buNone/>
            </a:pPr>
            <a:r>
              <a:rPr lang="en-US" altLang="zh-CN" dirty="0">
                <a:solidFill>
                  <a:srgbClr val="FFFF66"/>
                </a:solidFill>
                <a:latin typeface="楷体_GB2312" pitchFamily="49" charset="-122"/>
                <a:ea typeface="楷体_GB2312" pitchFamily="49" charset="-122"/>
              </a:rPr>
              <a:t>2. </a:t>
            </a:r>
            <a:r>
              <a:rPr lang="zh-CN" altLang="en-US" dirty="0">
                <a:solidFill>
                  <a:srgbClr val="FFFF66"/>
                </a:solidFill>
                <a:latin typeface="楷体_GB2312" pitchFamily="49" charset="-122"/>
                <a:ea typeface="楷体_GB2312" pitchFamily="49" charset="-122"/>
              </a:rPr>
              <a:t>燃料电池（化学电源）</a:t>
            </a:r>
            <a:endParaRPr lang="zh-CN" altLang="en-US" dirty="0">
              <a:solidFill>
                <a:srgbClr val="FFFF66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82310" name="Text Box 6"/>
          <p:cNvSpPr txBox="1"/>
          <p:nvPr/>
        </p:nvSpPr>
        <p:spPr>
          <a:xfrm>
            <a:off x="250825" y="1052513"/>
            <a:ext cx="8675688" cy="968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120000"/>
              </a:lnSpc>
              <a:buClrTx/>
              <a:buFontTx/>
              <a:buNone/>
            </a:pPr>
            <a:r>
              <a:rPr lang="en-US" altLang="zh-CN" sz="24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   </a:t>
            </a:r>
            <a:r>
              <a:rPr lang="zh-CN" altLang="en-US" sz="24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电池电动势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1.23V</a:t>
            </a:r>
            <a:r>
              <a:rPr lang="zh-CN" altLang="en-US" sz="24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。以氢、氧作为燃料。约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40-45%</a:t>
            </a:r>
            <a:r>
              <a:rPr lang="zh-CN" altLang="en-US" sz="24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的化学能转变为电能。实验阶段加燃料可继续工作。 </a:t>
            </a:r>
            <a:endParaRPr lang="zh-CN" altLang="en-US" sz="2400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65542" name="Group 16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65543" name="Picture 17" descr="7890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65544" name="Text Box 18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65545" name="Group 19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65546" name="Picture 20" descr="7890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65547" name="Text Box 21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65548" name="Group 28"/>
          <p:cNvGrpSpPr/>
          <p:nvPr/>
        </p:nvGrpSpPr>
        <p:grpSpPr>
          <a:xfrm>
            <a:off x="6588125" y="6445250"/>
            <a:ext cx="792163" cy="366713"/>
            <a:chOff x="5193" y="4020"/>
            <a:chExt cx="499" cy="231"/>
          </a:xfrm>
        </p:grpSpPr>
        <p:pic>
          <p:nvPicPr>
            <p:cNvPr id="65549" name="Picture 29" descr="78900">
              <a:hlinkClick r:id="" action="ppaction://hlinkshowjump?jump=firstslide"/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65550" name="Text Box 30">
              <a:hlinkClick r:id="" action="ppaction://hlinkshowjump?jump=firs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82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482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2310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6561" name="Text Box 2"/>
          <p:cNvSpPr txBox="1"/>
          <p:nvPr/>
        </p:nvSpPr>
        <p:spPr>
          <a:xfrm>
            <a:off x="611188" y="549275"/>
            <a:ext cx="4897437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ClrTx/>
              <a:buFontTx/>
              <a:buNone/>
            </a:pPr>
            <a:r>
              <a:rPr lang="en-US" altLang="zh-CN" dirty="0">
                <a:solidFill>
                  <a:srgbClr val="FFFF66"/>
                </a:solidFill>
                <a:latin typeface="楷体_GB2312" pitchFamily="49" charset="-122"/>
                <a:ea typeface="楷体_GB2312" pitchFamily="49" charset="-122"/>
              </a:rPr>
              <a:t>3. </a:t>
            </a:r>
            <a:r>
              <a:rPr lang="zh-CN" altLang="en-US" dirty="0">
                <a:solidFill>
                  <a:srgbClr val="FFFF66"/>
                </a:solidFill>
                <a:latin typeface="楷体_GB2312" pitchFamily="49" charset="-122"/>
                <a:ea typeface="楷体_GB2312" pitchFamily="49" charset="-122"/>
              </a:rPr>
              <a:t>太阳能电池（光能电源）</a:t>
            </a:r>
            <a:endParaRPr lang="zh-CN" altLang="en-US" dirty="0">
              <a:solidFill>
                <a:srgbClr val="FFFF66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66562" name="Text Box 3"/>
          <p:cNvSpPr txBox="1"/>
          <p:nvPr/>
        </p:nvSpPr>
        <p:spPr>
          <a:xfrm>
            <a:off x="395288" y="1125538"/>
            <a:ext cx="7920037" cy="140652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120000"/>
              </a:lnSpc>
              <a:buClrTx/>
              <a:buFontTx/>
              <a:buNone/>
            </a:pPr>
            <a:r>
              <a:rPr lang="en-US" altLang="zh-CN" sz="24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    </a:t>
            </a:r>
            <a:r>
              <a:rPr lang="zh-CN" altLang="en-US" sz="24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一块太阳能电池电动势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0.6V</a:t>
            </a:r>
            <a:r>
              <a:rPr lang="zh-CN" altLang="en-US" sz="24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。太阳光照射到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P-N</a:t>
            </a:r>
            <a:r>
              <a:rPr lang="zh-CN" altLang="en-US" sz="24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结上，形成一个从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lang="zh-CN" altLang="en-US" sz="24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区流向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P</a:t>
            </a:r>
            <a:r>
              <a:rPr lang="zh-CN" altLang="en-US" sz="24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区的电流。约 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11%</a:t>
            </a:r>
            <a:r>
              <a:rPr lang="zh-CN" altLang="en-US" sz="24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的光能转变为电能，故常用太阳能电池板。</a:t>
            </a:r>
            <a:endParaRPr lang="zh-CN" altLang="en-US" sz="2400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66563" name="Text Box 4"/>
          <p:cNvSpPr txBox="1"/>
          <p:nvPr/>
        </p:nvSpPr>
        <p:spPr>
          <a:xfrm>
            <a:off x="323850" y="2492375"/>
            <a:ext cx="7993063" cy="6032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140000"/>
              </a:lnSpc>
              <a:buClrTx/>
              <a:buFontTx/>
              <a:buNone/>
            </a:pPr>
            <a:r>
              <a:rPr lang="en-US" altLang="zh-CN" sz="2400" b="0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        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一个</a:t>
            </a:r>
            <a:r>
              <a:rPr lang="en-US" altLang="zh-CN" sz="2400" b="0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50cm</a:t>
            </a:r>
            <a:r>
              <a:rPr lang="en-US" altLang="zh-CN" sz="2400" b="0" baseline="30000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2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太阳能电池的电动势</a:t>
            </a:r>
            <a:r>
              <a:rPr lang="en-US" altLang="zh-CN" sz="2400" b="0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0.6V,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电流</a:t>
            </a:r>
            <a:r>
              <a:rPr lang="en-US" altLang="zh-CN" sz="2400" b="0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0.1A</a:t>
            </a:r>
            <a:endParaRPr lang="en-US" altLang="zh-CN" sz="2400" b="0" dirty="0">
              <a:solidFill>
                <a:schemeClr val="tx1"/>
              </a:solidFill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grpSp>
        <p:nvGrpSpPr>
          <p:cNvPr id="483333" name="Group 5"/>
          <p:cNvGrpSpPr/>
          <p:nvPr/>
        </p:nvGrpSpPr>
        <p:grpSpPr>
          <a:xfrm>
            <a:off x="684213" y="3141663"/>
            <a:ext cx="3600450" cy="3065462"/>
            <a:chOff x="3832" y="1661"/>
            <a:chExt cx="1724" cy="1807"/>
          </a:xfrm>
        </p:grpSpPr>
        <p:pic>
          <p:nvPicPr>
            <p:cNvPr id="66565" name="Picture 6" descr="太阳能电池示意图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3832" y="1661"/>
              <a:ext cx="1724" cy="1552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66566" name="Rectangle 7"/>
            <p:cNvSpPr/>
            <p:nvPr/>
          </p:nvSpPr>
          <p:spPr>
            <a:xfrm>
              <a:off x="4024" y="3234"/>
              <a:ext cx="1274" cy="23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       </a:t>
              </a:r>
              <a:r>
                <a:rPr lang="zh-CN" altLang="en-US" sz="20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太阳能电池示意图</a:t>
              </a:r>
              <a:endParaRPr lang="zh-CN" altLang="en-US" sz="2000" b="0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</p:grpSp>
      <p:pic>
        <p:nvPicPr>
          <p:cNvPr id="66567" name="Picture 14" descr="太阳能电池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0563" y="3141663"/>
            <a:ext cx="4105275" cy="22574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6568" name="Text Box 15"/>
          <p:cNvSpPr txBox="1"/>
          <p:nvPr/>
        </p:nvSpPr>
        <p:spPr>
          <a:xfrm>
            <a:off x="5364163" y="5589588"/>
            <a:ext cx="2317750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buClrTx/>
              <a:buFontTx/>
              <a:buNone/>
            </a:pPr>
            <a:r>
              <a:rPr lang="zh-CN" altLang="en-US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太阳能电池板</a:t>
            </a:r>
            <a:endParaRPr lang="zh-CN" altLang="en-US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66569" name="Group 19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66570" name="Picture 20" descr="7890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66571" name="Text Box 21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66572" name="Group 22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66573" name="Picture 23" descr="7890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66574" name="Text Box 24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66575" name="Group 31"/>
          <p:cNvGrpSpPr/>
          <p:nvPr/>
        </p:nvGrpSpPr>
        <p:grpSpPr>
          <a:xfrm>
            <a:off x="6588125" y="6445250"/>
            <a:ext cx="792163" cy="366713"/>
            <a:chOff x="5193" y="4020"/>
            <a:chExt cx="499" cy="231"/>
          </a:xfrm>
        </p:grpSpPr>
        <p:pic>
          <p:nvPicPr>
            <p:cNvPr id="66576" name="Picture 32" descr="78900">
              <a:hlinkClick r:id="" action="ppaction://hlinkshowjump?jump=firstslide"/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66577" name="Text Box 33">
              <a:hlinkClick r:id="" action="ppaction://hlinkshowjump?jump=firs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83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484354" name="Group 2"/>
          <p:cNvGrpSpPr/>
          <p:nvPr/>
        </p:nvGrpSpPr>
        <p:grpSpPr>
          <a:xfrm>
            <a:off x="611188" y="2276475"/>
            <a:ext cx="3671887" cy="3640138"/>
            <a:chOff x="3243" y="1616"/>
            <a:chExt cx="1678" cy="2315"/>
          </a:xfrm>
        </p:grpSpPr>
        <p:pic>
          <p:nvPicPr>
            <p:cNvPr id="67586" name="Picture 3" descr="蓄电池示意图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3243" y="1616"/>
              <a:ext cx="1678" cy="204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67587" name="Rectangle 4"/>
            <p:cNvSpPr/>
            <p:nvPr/>
          </p:nvSpPr>
          <p:spPr>
            <a:xfrm>
              <a:off x="3560" y="3679"/>
              <a:ext cx="781" cy="25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ClrTx/>
                <a:buFontTx/>
                <a:buNone/>
              </a:pPr>
              <a:r>
                <a:rPr lang="zh-CN" altLang="en-US" sz="2000" b="0" dirty="0">
                  <a:solidFill>
                    <a:srgbClr val="FFFFCC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蓄电池示意图</a:t>
              </a:r>
              <a:endParaRPr lang="zh-CN" altLang="en-US" sz="2000" b="0" dirty="0">
                <a:solidFill>
                  <a:srgbClr val="FFFFCC"/>
                </a:solidFill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</p:grpSp>
      <p:sp>
        <p:nvSpPr>
          <p:cNvPr id="484357" name="Text Box 5"/>
          <p:cNvSpPr txBox="1"/>
          <p:nvPr/>
        </p:nvSpPr>
        <p:spPr>
          <a:xfrm>
            <a:off x="671513" y="438150"/>
            <a:ext cx="4260850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ClrTx/>
              <a:buFontTx/>
              <a:buNone/>
            </a:pPr>
            <a:r>
              <a:rPr lang="en-US" altLang="zh-CN" dirty="0">
                <a:solidFill>
                  <a:srgbClr val="FFFF66"/>
                </a:solidFill>
                <a:latin typeface="楷体_GB2312" pitchFamily="49" charset="-122"/>
                <a:ea typeface="楷体_GB2312" pitchFamily="49" charset="-122"/>
              </a:rPr>
              <a:t>4. </a:t>
            </a:r>
            <a:r>
              <a:rPr lang="zh-CN" altLang="en-US" dirty="0">
                <a:solidFill>
                  <a:srgbClr val="FFFF66"/>
                </a:solidFill>
                <a:latin typeface="楷体_GB2312" pitchFamily="49" charset="-122"/>
                <a:ea typeface="楷体_GB2312" pitchFamily="49" charset="-122"/>
              </a:rPr>
              <a:t>蓄电池（化学电源）</a:t>
            </a:r>
            <a:endParaRPr lang="zh-CN" altLang="en-US" dirty="0">
              <a:solidFill>
                <a:srgbClr val="FFFF66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84358" name="Text Box 6"/>
          <p:cNvSpPr txBox="1"/>
          <p:nvPr/>
        </p:nvSpPr>
        <p:spPr>
          <a:xfrm>
            <a:off x="539750" y="981075"/>
            <a:ext cx="8120063" cy="968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120000"/>
              </a:lnSpc>
              <a:buClrTx/>
              <a:buFontTx/>
              <a:buNone/>
            </a:pPr>
            <a:r>
              <a:rPr lang="en-US" altLang="zh-CN" sz="24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    </a:t>
            </a:r>
            <a:r>
              <a:rPr lang="zh-CN" altLang="en-US" sz="24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电池电动势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2V</a:t>
            </a:r>
            <a:r>
              <a:rPr lang="zh-CN" altLang="en-US" sz="24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。使用时，电池放电，当电解液浓度小于一定值时，电动势低于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2V</a:t>
            </a:r>
            <a:r>
              <a:rPr lang="zh-CN" altLang="en-US" sz="24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，常要充电，化学反应可逆。</a:t>
            </a:r>
            <a:endParaRPr lang="zh-CN" altLang="en-US" sz="2400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pic>
        <p:nvPicPr>
          <p:cNvPr id="67590" name="Picture 13" descr="蓄电池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3438" y="2276475"/>
            <a:ext cx="3959225" cy="3078163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67591" name="Group 17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67592" name="Picture 18" descr="7890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67593" name="Text Box 19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67594" name="Group 20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67595" name="Picture 21" descr="7890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67596" name="Text Box 22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67597" name="Group 29"/>
          <p:cNvGrpSpPr/>
          <p:nvPr/>
        </p:nvGrpSpPr>
        <p:grpSpPr>
          <a:xfrm>
            <a:off x="6588125" y="6445250"/>
            <a:ext cx="792163" cy="366713"/>
            <a:chOff x="5193" y="4020"/>
            <a:chExt cx="499" cy="231"/>
          </a:xfrm>
        </p:grpSpPr>
        <p:pic>
          <p:nvPicPr>
            <p:cNvPr id="67598" name="Picture 30" descr="78900">
              <a:hlinkClick r:id="" action="ppaction://hlinkshowjump?jump=firstslide"/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67599" name="Text Box 31">
              <a:hlinkClick r:id="" action="ppaction://hlinkshowjump?jump=firs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84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484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484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4357" grpId="0"/>
      <p:bldP spid="484358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8609" name="Picture 14" descr="直流稳压电源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213" y="620713"/>
            <a:ext cx="2881312" cy="21034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8610" name="Text Box 15" descr="斜纹布"/>
          <p:cNvSpPr txBox="1"/>
          <p:nvPr/>
        </p:nvSpPr>
        <p:spPr>
          <a:xfrm>
            <a:off x="971550" y="2852738"/>
            <a:ext cx="2303463" cy="519112"/>
          </a:xfrm>
          <a:prstGeom prst="rect">
            <a:avLst/>
          </a:prstGeom>
          <a:noFill/>
          <a:ln w="28575">
            <a:noFill/>
          </a:ln>
          <a:effectLst>
            <a:prstShdw prst="shdw17" dist="17961" dir="2699999">
              <a:schemeClr val="bg2"/>
            </a:prstShdw>
          </a:effectLst>
        </p:spPr>
        <p:txBody>
          <a:bodyPr anchor="t" anchorCtr="0">
            <a:spAutoFit/>
          </a:bodyPr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直流稳压源</a:t>
            </a:r>
            <a:endParaRPr lang="zh-CN" altLang="en-US" dirty="0">
              <a:solidFill>
                <a:schemeClr val="tx1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pic>
        <p:nvPicPr>
          <p:cNvPr id="68611" name="Picture 16" descr="变频器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4525" y="549275"/>
            <a:ext cx="2187575" cy="30956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8612" name="Text Box 17" descr="斜纹布"/>
          <p:cNvSpPr txBox="1"/>
          <p:nvPr/>
        </p:nvSpPr>
        <p:spPr>
          <a:xfrm>
            <a:off x="6011863" y="3716338"/>
            <a:ext cx="1657350" cy="519112"/>
          </a:xfrm>
          <a:prstGeom prst="rect">
            <a:avLst/>
          </a:prstGeom>
          <a:noFill/>
          <a:ln w="28575">
            <a:noFill/>
          </a:ln>
          <a:effectLst>
            <a:prstShdw prst="shdw17" dist="17961" dir="2699999">
              <a:schemeClr val="bg2"/>
            </a:prstShdw>
          </a:effectLst>
        </p:spPr>
        <p:txBody>
          <a:bodyPr anchor="t" anchorCtr="0">
            <a:spAutoFit/>
          </a:bodyPr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变频器</a:t>
            </a:r>
            <a:endParaRPr lang="zh-CN" altLang="en-US" dirty="0">
              <a:solidFill>
                <a:schemeClr val="tx1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pic>
        <p:nvPicPr>
          <p:cNvPr id="68613" name="Picture 18" descr="频率计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213" y="3500438"/>
            <a:ext cx="3311525" cy="22066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8614" name="Picture 19" descr="函数发生器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6100" y="4365625"/>
            <a:ext cx="4537075" cy="13589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8615" name="Text Box 20" descr="斜纹布"/>
          <p:cNvSpPr txBox="1"/>
          <p:nvPr/>
        </p:nvSpPr>
        <p:spPr>
          <a:xfrm>
            <a:off x="1476375" y="5876925"/>
            <a:ext cx="1655763" cy="519113"/>
          </a:xfrm>
          <a:prstGeom prst="rect">
            <a:avLst/>
          </a:prstGeom>
          <a:noFill/>
          <a:ln w="28575">
            <a:noFill/>
          </a:ln>
          <a:effectLst>
            <a:prstShdw prst="shdw17" dist="17961" dir="2699999">
              <a:schemeClr val="bg2"/>
            </a:prstShdw>
          </a:effectLst>
        </p:spPr>
        <p:txBody>
          <a:bodyPr anchor="t" anchorCtr="0">
            <a:spAutoFit/>
          </a:bodyPr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频率计</a:t>
            </a:r>
            <a:endParaRPr lang="zh-CN" altLang="en-US" dirty="0">
              <a:solidFill>
                <a:schemeClr val="tx1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68616" name="Text Box 21" descr="斜纹布"/>
          <p:cNvSpPr txBox="1"/>
          <p:nvPr/>
        </p:nvSpPr>
        <p:spPr>
          <a:xfrm>
            <a:off x="5724525" y="5805488"/>
            <a:ext cx="2303463" cy="519112"/>
          </a:xfrm>
          <a:prstGeom prst="rect">
            <a:avLst/>
          </a:prstGeom>
          <a:noFill/>
          <a:ln w="28575">
            <a:noFill/>
          </a:ln>
          <a:effectLst>
            <a:prstShdw prst="shdw17" dist="17961" dir="2699999">
              <a:schemeClr val="bg2"/>
            </a:prstShdw>
          </a:effectLst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ClrTx/>
              <a:buFontTx/>
              <a:buNone/>
            </a:pP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函数发生器</a:t>
            </a:r>
            <a:endParaRPr lang="zh-CN" altLang="en-US" dirty="0">
              <a:solidFill>
                <a:schemeClr val="tx1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grpSp>
        <p:nvGrpSpPr>
          <p:cNvPr id="68617" name="Group 25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68618" name="Picture 26" descr="7890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68619" name="Text Box 27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68620" name="Group 28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68621" name="Picture 29" descr="7890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68622" name="Text Box 30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68623" name="Group 37"/>
          <p:cNvGrpSpPr/>
          <p:nvPr/>
        </p:nvGrpSpPr>
        <p:grpSpPr>
          <a:xfrm>
            <a:off x="6588125" y="6445250"/>
            <a:ext cx="792163" cy="366713"/>
            <a:chOff x="5193" y="4020"/>
            <a:chExt cx="499" cy="231"/>
          </a:xfrm>
        </p:grpSpPr>
        <p:pic>
          <p:nvPicPr>
            <p:cNvPr id="68624" name="Picture 38" descr="78900">
              <a:hlinkClick r:id="" action="ppaction://hlinkshowjump?jump=firstslide"/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68625" name="Text Box 39">
              <a:hlinkClick r:id="" action="ppaction://hlinkshowjump?jump=firs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9633" name="Picture 49" descr="t20041117142142">
            <a:hlinkClick r:id="rId1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650" y="620713"/>
            <a:ext cx="7273925" cy="54562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9634" name="Text Box 50" descr="斜纹布"/>
          <p:cNvSpPr txBox="1"/>
          <p:nvPr/>
        </p:nvSpPr>
        <p:spPr>
          <a:xfrm>
            <a:off x="3348038" y="5373688"/>
            <a:ext cx="2665412" cy="519112"/>
          </a:xfrm>
          <a:prstGeom prst="rect">
            <a:avLst/>
          </a:prstGeom>
          <a:noFill/>
          <a:ln w="28575">
            <a:noFill/>
          </a:ln>
          <a:effectLst>
            <a:prstShdw prst="shdw17" dist="17961" dir="2699999">
              <a:schemeClr val="bg2"/>
            </a:prstShdw>
          </a:effectLst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ClrTx/>
              <a:buFontTx/>
              <a:buNone/>
            </a:pPr>
            <a:r>
              <a:rPr lang="zh-CN" altLang="en-US" dirty="0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rPr>
              <a:t>发电机组</a:t>
            </a:r>
            <a:endParaRPr lang="zh-CN" altLang="en-US" dirty="0">
              <a:solidFill>
                <a:srgbClr val="000000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grpSp>
        <p:nvGrpSpPr>
          <p:cNvPr id="69635" name="Group 53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69636" name="Picture 54" descr="7890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69637" name="Text Box 55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69638" name="Group 56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69639" name="Picture 57" descr="7890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69640" name="Text Box 58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69641" name="Group 65"/>
          <p:cNvGrpSpPr/>
          <p:nvPr/>
        </p:nvGrpSpPr>
        <p:grpSpPr>
          <a:xfrm>
            <a:off x="6588125" y="6445250"/>
            <a:ext cx="792163" cy="366713"/>
            <a:chOff x="5193" y="4020"/>
            <a:chExt cx="499" cy="231"/>
          </a:xfrm>
        </p:grpSpPr>
        <p:pic>
          <p:nvPicPr>
            <p:cNvPr id="69642" name="Picture 66" descr="78900">
              <a:hlinkClick r:id="" action="ppaction://hlinkshowjump?jump=firstslide"/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69643" name="Text Box 67">
              <a:hlinkClick r:id="" action="ppaction://hlinkshowjump?jump=firs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70657" name="Picture 8" descr="xin_38080205084442178105">
            <a:hlinkClick r:id="rId1"/>
          </p:cNvPr>
          <p:cNvPicPr>
            <a:picLocks noChangeAspect="1"/>
          </p:cNvPicPr>
          <p:nvPr/>
        </p:nvPicPr>
        <p:blipFill>
          <a:blip r:embed="rId2"/>
          <a:srcRect b="33417"/>
          <a:stretch>
            <a:fillRect/>
          </a:stretch>
        </p:blipFill>
        <p:spPr>
          <a:xfrm>
            <a:off x="539750" y="620713"/>
            <a:ext cx="7920038" cy="42799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0658" name="Text Box 10" descr="斜纹布"/>
          <p:cNvSpPr txBox="1"/>
          <p:nvPr/>
        </p:nvSpPr>
        <p:spPr>
          <a:xfrm>
            <a:off x="2916238" y="5157788"/>
            <a:ext cx="4105275" cy="519112"/>
          </a:xfrm>
          <a:prstGeom prst="rect">
            <a:avLst/>
          </a:prstGeom>
          <a:noFill/>
          <a:ln w="28575">
            <a:noFill/>
          </a:ln>
          <a:effectLst>
            <a:prstShdw prst="shdw17" dist="17961" dir="2699999">
              <a:schemeClr val="bg2"/>
            </a:prstShdw>
          </a:effectLst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ClrTx/>
              <a:buFontTx/>
              <a:buNone/>
            </a:pP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草原上的风力发电</a:t>
            </a:r>
            <a:endParaRPr lang="zh-CN" altLang="en-US" dirty="0">
              <a:solidFill>
                <a:schemeClr val="tx1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grpSp>
        <p:nvGrpSpPr>
          <p:cNvPr id="70659" name="Group 11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70660" name="Picture 12" descr="7890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70661" name="Text Box 13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70662" name="Group 14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70663" name="Picture 15" descr="7890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70664" name="Text Box 16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70665" name="Group 23"/>
          <p:cNvGrpSpPr/>
          <p:nvPr/>
        </p:nvGrpSpPr>
        <p:grpSpPr>
          <a:xfrm>
            <a:off x="6588125" y="6445250"/>
            <a:ext cx="792163" cy="366713"/>
            <a:chOff x="5193" y="4020"/>
            <a:chExt cx="499" cy="231"/>
          </a:xfrm>
        </p:grpSpPr>
        <p:pic>
          <p:nvPicPr>
            <p:cNvPr id="70666" name="Picture 24" descr="78900">
              <a:hlinkClick r:id="" action="ppaction://hlinkshowjump?jump=firstslide"/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70667" name="Text Box 25">
              <a:hlinkClick r:id="" action="ppaction://hlinkshowjump?jump=firs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8596" name="Text Box 4"/>
          <p:cNvSpPr txBox="1"/>
          <p:nvPr/>
        </p:nvSpPr>
        <p:spPr>
          <a:xfrm>
            <a:off x="395288" y="692150"/>
            <a:ext cx="8353425" cy="792163"/>
          </a:xfrm>
          <a:prstGeom prst="rect">
            <a:avLst/>
          </a:prstGeom>
          <a:noFill/>
          <a:ln w="12700">
            <a:noFill/>
          </a:ln>
          <a:effectLst>
            <a:prstShdw prst="shdw17" dist="17961" dir="2699999">
              <a:srgbClr val="009900"/>
            </a:prstShdw>
          </a:effectLst>
        </p:spPr>
        <p:txBody>
          <a:bodyPr tIns="0" bIns="0" anchor="t" anchorCtr="1"/>
          <a:p>
            <a:pPr algn="ctr" eaLnBrk="0" hangingPunct="0">
              <a:spcBef>
                <a:spcPct val="50000"/>
              </a:spcBef>
              <a:buClrTx/>
              <a:buFontTx/>
              <a:buNone/>
            </a:pPr>
            <a:r>
              <a:rPr lang="en-US" altLang="zh-CN" sz="44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1.7 </a:t>
            </a:r>
            <a:r>
              <a:rPr lang="zh-CN" altLang="en-US" sz="44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受控电源</a:t>
            </a:r>
            <a:r>
              <a:rPr lang="en-US" altLang="zh-CN" sz="44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(</a:t>
            </a:r>
            <a:r>
              <a:rPr lang="zh-CN" altLang="en-US" sz="44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非独立源</a:t>
            </a:r>
            <a:r>
              <a:rPr lang="en-US" altLang="zh-CN" sz="44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)</a:t>
            </a:r>
            <a:endParaRPr lang="en-US" altLang="zh-CN" sz="3600" dirty="0">
              <a:solidFill>
                <a:schemeClr val="tx1"/>
              </a:solidFill>
              <a:latin typeface="Times New Roman" panose="02020603050405020304" pitchFamily="18" charset="0"/>
              <a:ea typeface="仿宋_GB2312" pitchFamily="49" charset="-122"/>
              <a:sym typeface="Symbol" panose="05050102010706020507" pitchFamily="18" charset="2"/>
            </a:endParaRPr>
          </a:p>
        </p:txBody>
      </p:sp>
      <p:sp>
        <p:nvSpPr>
          <p:cNvPr id="238598" name="Text Box 6"/>
          <p:cNvSpPr txBox="1"/>
          <p:nvPr/>
        </p:nvSpPr>
        <p:spPr>
          <a:xfrm>
            <a:off x="900113" y="3359150"/>
            <a:ext cx="2520950" cy="574675"/>
          </a:xfrm>
          <a:prstGeom prst="rect">
            <a:avLst/>
          </a:prstGeom>
          <a:noFill/>
          <a:ln w="2857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p>
            <a:pPr eaLnBrk="0" hangingPunct="0">
              <a:spcBef>
                <a:spcPct val="5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电路符号</a:t>
            </a:r>
            <a:endParaRPr lang="zh-CN" altLang="en-US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238621" name="Group 29"/>
          <p:cNvGrpSpPr/>
          <p:nvPr/>
        </p:nvGrpSpPr>
        <p:grpSpPr>
          <a:xfrm>
            <a:off x="971550" y="4005263"/>
            <a:ext cx="2735263" cy="1081087"/>
            <a:chOff x="1066" y="2741"/>
            <a:chExt cx="1008" cy="398"/>
          </a:xfrm>
        </p:grpSpPr>
        <p:sp>
          <p:nvSpPr>
            <p:cNvPr id="238600" name="AutoShape 8"/>
            <p:cNvSpPr>
              <a:spLocks noChangeArrowheads="1"/>
            </p:cNvSpPr>
            <p:nvPr/>
          </p:nvSpPr>
          <p:spPr bwMode="auto">
            <a:xfrm rot="5400000">
              <a:off x="1436" y="2787"/>
              <a:ext cx="267" cy="432"/>
            </a:xfrm>
            <a:prstGeom prst="diamond">
              <a:avLst/>
            </a:prstGeom>
            <a:gradFill rotWithShape="1">
              <a:gsLst>
                <a:gs pos="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 w="38100">
              <a:solidFill>
                <a:srgbClr val="FF99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endParaRPr>
            </a:p>
          </p:txBody>
        </p:sp>
        <p:sp>
          <p:nvSpPr>
            <p:cNvPr id="71685" name="Line 9"/>
            <p:cNvSpPr/>
            <p:nvPr/>
          </p:nvSpPr>
          <p:spPr>
            <a:xfrm>
              <a:off x="1114" y="3005"/>
              <a:ext cx="912" cy="0"/>
            </a:xfrm>
            <a:prstGeom prst="line">
              <a:avLst/>
            </a:prstGeom>
            <a:ln w="38100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1686" name="Oval 10"/>
            <p:cNvSpPr/>
            <p:nvPr/>
          </p:nvSpPr>
          <p:spPr>
            <a:xfrm>
              <a:off x="2026" y="2981"/>
              <a:ext cx="48" cy="48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  <a:buNone/>
              </a:pPr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71687" name="Oval 11"/>
            <p:cNvSpPr/>
            <p:nvPr/>
          </p:nvSpPr>
          <p:spPr>
            <a:xfrm>
              <a:off x="1066" y="2981"/>
              <a:ext cx="48" cy="48"/>
            </a:xfrm>
            <a:prstGeom prst="ellipse">
              <a:avLst/>
            </a:prstGeom>
            <a:noFill/>
            <a:ln w="38100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  <a:buNone/>
              </a:pPr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71688" name="Text Box 12"/>
            <p:cNvSpPr txBox="1"/>
            <p:nvPr/>
          </p:nvSpPr>
          <p:spPr>
            <a:xfrm>
              <a:off x="1162" y="2741"/>
              <a:ext cx="247" cy="214"/>
            </a:xfrm>
            <a:prstGeom prst="rect">
              <a:avLst/>
            </a:prstGeom>
            <a:noFill/>
            <a:ln w="19050">
              <a:noFill/>
            </a:ln>
          </p:spPr>
          <p:txBody>
            <a:bodyPr anchor="ctr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32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lang="en-US" altLang="zh-CN" sz="32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1689" name="Text Box 13"/>
            <p:cNvSpPr txBox="1"/>
            <p:nvPr/>
          </p:nvSpPr>
          <p:spPr>
            <a:xfrm>
              <a:off x="1731" y="2741"/>
              <a:ext cx="247" cy="214"/>
            </a:xfrm>
            <a:prstGeom prst="rect">
              <a:avLst/>
            </a:prstGeom>
            <a:noFill/>
            <a:ln w="19050">
              <a:noFill/>
            </a:ln>
          </p:spPr>
          <p:txBody>
            <a:bodyPr anchor="ctr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32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–</a:t>
              </a:r>
              <a:endParaRPr lang="en-US" altLang="zh-CN" sz="32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238615" name="Text Box 23" descr="羊皮纸"/>
          <p:cNvSpPr txBox="1"/>
          <p:nvPr/>
        </p:nvSpPr>
        <p:spPr>
          <a:xfrm>
            <a:off x="1187450" y="5302250"/>
            <a:ext cx="2303463" cy="457200"/>
          </a:xfrm>
          <a:prstGeom prst="rect">
            <a:avLst/>
          </a:prstGeom>
          <a:blipFill rotWithShape="1">
            <a:blip r:embed="rId1"/>
          </a:blipFill>
          <a:ln w="19050">
            <a:noFill/>
          </a:ln>
        </p:spPr>
        <p:txBody>
          <a:bodyPr anchor="ctr" anchorCtr="0"/>
          <a:p>
            <a:pPr algn="ctr" eaLnBrk="0" hangingPunct="0">
              <a:spcBef>
                <a:spcPct val="50000"/>
              </a:spcBef>
              <a:buClrTx/>
              <a:buFontTx/>
              <a:buNone/>
            </a:pP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受控电压源</a:t>
            </a:r>
            <a:endParaRPr lang="zh-CN" altLang="en-US" dirty="0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38619" name="Text Box 27"/>
          <p:cNvSpPr txBox="1"/>
          <p:nvPr/>
        </p:nvSpPr>
        <p:spPr>
          <a:xfrm>
            <a:off x="684213" y="1557338"/>
            <a:ext cx="1655762" cy="57943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ctr" eaLnBrk="0" hangingPunct="0">
              <a:spcBef>
                <a:spcPct val="50000"/>
              </a:spcBef>
              <a:buClrTx/>
              <a:buFontTx/>
              <a:buNone/>
            </a:pPr>
            <a:r>
              <a:rPr lang="en-US" altLang="zh-CN" sz="32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1.</a:t>
            </a:r>
            <a:r>
              <a:rPr lang="zh-CN" altLang="en-US" sz="32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定义</a:t>
            </a:r>
            <a:endParaRPr lang="zh-CN" altLang="en-US" sz="3200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  <a:sym typeface="Symbol" panose="05050102010706020507" pitchFamily="18" charset="2"/>
            </a:endParaRPr>
          </a:p>
        </p:txBody>
      </p:sp>
      <p:sp>
        <p:nvSpPr>
          <p:cNvPr id="238620" name="AutoShape 28"/>
          <p:cNvSpPr/>
          <p:nvPr/>
        </p:nvSpPr>
        <p:spPr>
          <a:xfrm>
            <a:off x="2341563" y="1774825"/>
            <a:ext cx="719137" cy="141288"/>
          </a:xfrm>
          <a:prstGeom prst="rightArrow">
            <a:avLst>
              <a:gd name="adj1" fmla="val 50000"/>
              <a:gd name="adj2" fmla="val 127223"/>
            </a:avLst>
          </a:prstGeom>
          <a:solidFill>
            <a:schemeClr val="hlink"/>
          </a:solidFill>
          <a:ln w="9525">
            <a:noFill/>
          </a:ln>
        </p:spPr>
        <p:txBody>
          <a:bodyPr wrap="none" anchor="ctr" anchorCtr="0"/>
          <a:p>
            <a:pPr>
              <a:buClrTx/>
              <a:buFontTx/>
              <a:buNone/>
            </a:pPr>
            <a:endParaRPr lang="zh-CN" altLang="en-US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238629" name="Text Box 37" descr="羊皮纸"/>
          <p:cNvSpPr txBox="1"/>
          <p:nvPr/>
        </p:nvSpPr>
        <p:spPr>
          <a:xfrm>
            <a:off x="4932363" y="5229225"/>
            <a:ext cx="2376487" cy="457200"/>
          </a:xfrm>
          <a:prstGeom prst="rect">
            <a:avLst/>
          </a:prstGeom>
          <a:blipFill rotWithShape="1">
            <a:blip r:embed="rId1"/>
          </a:blipFill>
          <a:ln w="19050">
            <a:noFill/>
          </a:ln>
        </p:spPr>
        <p:txBody>
          <a:bodyPr anchor="ctr" anchorCtr="0"/>
          <a:p>
            <a:pPr algn="ctr" eaLnBrk="0" hangingPunct="0">
              <a:buClrTx/>
              <a:buFontTx/>
              <a:buNone/>
            </a:pP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受控电流源</a:t>
            </a:r>
            <a:endParaRPr lang="zh-CN" altLang="en-US" dirty="0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  <a:sym typeface="Symbol" panose="05050102010706020507" pitchFamily="18" charset="2"/>
            </a:endParaRPr>
          </a:p>
        </p:txBody>
      </p:sp>
      <p:grpSp>
        <p:nvGrpSpPr>
          <p:cNvPr id="238653" name="Group 61"/>
          <p:cNvGrpSpPr/>
          <p:nvPr/>
        </p:nvGrpSpPr>
        <p:grpSpPr>
          <a:xfrm>
            <a:off x="4643438" y="4360863"/>
            <a:ext cx="2735262" cy="725487"/>
            <a:chOff x="2925" y="2747"/>
            <a:chExt cx="1723" cy="457"/>
          </a:xfrm>
        </p:grpSpPr>
        <p:sp>
          <p:nvSpPr>
            <p:cNvPr id="71695" name="Line 32"/>
            <p:cNvSpPr/>
            <p:nvPr/>
          </p:nvSpPr>
          <p:spPr>
            <a:xfrm>
              <a:off x="3007" y="2975"/>
              <a:ext cx="1559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1696" name="Oval 33"/>
            <p:cNvSpPr/>
            <p:nvPr/>
          </p:nvSpPr>
          <p:spPr>
            <a:xfrm>
              <a:off x="4566" y="2934"/>
              <a:ext cx="82" cy="82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  <a:buNone/>
              </a:pPr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71697" name="Oval 34"/>
            <p:cNvSpPr/>
            <p:nvPr/>
          </p:nvSpPr>
          <p:spPr>
            <a:xfrm>
              <a:off x="2925" y="2934"/>
              <a:ext cx="82" cy="82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  <a:buNone/>
              </a:pPr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71698" name="AutoShape 38"/>
            <p:cNvSpPr/>
            <p:nvPr/>
          </p:nvSpPr>
          <p:spPr>
            <a:xfrm>
              <a:off x="4150" y="2931"/>
              <a:ext cx="363" cy="91"/>
            </a:xfrm>
            <a:prstGeom prst="rightArrow">
              <a:avLst>
                <a:gd name="adj1" fmla="val 50000"/>
                <a:gd name="adj2" fmla="val 99706"/>
              </a:avLst>
            </a:prstGeom>
            <a:solidFill>
              <a:srgbClr val="00CCFF"/>
            </a:solidFill>
            <a:ln w="9525">
              <a:noFill/>
            </a:ln>
          </p:spPr>
          <p:txBody>
            <a:bodyPr wrap="none" anchor="ctr" anchorCtr="0"/>
            <a:p>
              <a:pPr>
                <a:buClrTx/>
                <a:buFontTx/>
                <a:buNone/>
              </a:pPr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238623" name="AutoShape 31"/>
            <p:cNvSpPr>
              <a:spLocks noChangeArrowheads="1"/>
            </p:cNvSpPr>
            <p:nvPr/>
          </p:nvSpPr>
          <p:spPr bwMode="auto">
            <a:xfrm rot="5400000">
              <a:off x="3557" y="2605"/>
              <a:ext cx="457" cy="739"/>
            </a:xfrm>
            <a:prstGeom prst="diamond">
              <a:avLst/>
            </a:prstGeom>
            <a:gradFill rotWithShape="1">
              <a:gsLst>
                <a:gs pos="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 w="38100">
              <a:solidFill>
                <a:srgbClr val="FF99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endParaRPr>
            </a:p>
          </p:txBody>
        </p:sp>
        <p:sp>
          <p:nvSpPr>
            <p:cNvPr id="71700" name="Line 39"/>
            <p:cNvSpPr/>
            <p:nvPr/>
          </p:nvSpPr>
          <p:spPr>
            <a:xfrm>
              <a:off x="3786" y="2750"/>
              <a:ext cx="0" cy="454"/>
            </a:xfrm>
            <a:prstGeom prst="line">
              <a:avLst/>
            </a:prstGeom>
            <a:ln w="38100" cap="flat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238643" name="Rectangle 51" descr="斜纹布"/>
          <p:cNvSpPr/>
          <p:nvPr/>
        </p:nvSpPr>
        <p:spPr>
          <a:xfrm>
            <a:off x="900113" y="1557338"/>
            <a:ext cx="7993062" cy="1630362"/>
          </a:xfrm>
          <a:prstGeom prst="rect">
            <a:avLst/>
          </a:prstGeom>
          <a:noFill/>
          <a:ln w="28575">
            <a:noFill/>
          </a:ln>
          <a:effectLst>
            <a:prstShdw prst="shdw17" dist="17961" dir="2699999">
              <a:schemeClr val="bg2"/>
            </a:prstShdw>
          </a:effectLst>
        </p:spPr>
        <p:txBody>
          <a:bodyPr anchor="t" anchorCtr="0">
            <a:spAutoFit/>
          </a:bodyPr>
          <a:p>
            <a:pPr>
              <a:lnSpc>
                <a:spcPct val="120000"/>
              </a:lnSpc>
              <a:buClrTx/>
              <a:buFontTx/>
              <a:buNone/>
            </a:pPr>
            <a:r>
              <a:rPr lang="en-US" altLang="zh-CN" dirty="0">
                <a:latin typeface="Arial" panose="020B0604020202020204" pitchFamily="34" charset="0"/>
                <a:ea typeface="楷体_GB2312" pitchFamily="49" charset="-122"/>
              </a:rPr>
              <a:t>                      </a:t>
            </a:r>
            <a:r>
              <a:rPr lang="zh-CN" altLang="en-US" dirty="0">
                <a:latin typeface="Arial" panose="020B0604020202020204" pitchFamily="34" charset="0"/>
                <a:ea typeface="楷体_GB2312" pitchFamily="49" charset="-122"/>
              </a:rPr>
              <a:t>电压或电流的大小和方向不是给定的时间函数，而是受电路中某个地方的电压</a:t>
            </a:r>
            <a:r>
              <a:rPr lang="en-US" altLang="zh-CN" dirty="0"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lang="zh-CN" altLang="en-US" dirty="0">
                <a:latin typeface="Arial" panose="020B0604020202020204" pitchFamily="34" charset="0"/>
                <a:ea typeface="楷体_GB2312" pitchFamily="49" charset="-122"/>
              </a:rPr>
              <a:t>或电流</a:t>
            </a:r>
            <a:r>
              <a:rPr lang="en-US" altLang="zh-CN" dirty="0"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r>
              <a:rPr lang="zh-CN" altLang="en-US" dirty="0">
                <a:latin typeface="Arial" panose="020B0604020202020204" pitchFamily="34" charset="0"/>
                <a:ea typeface="楷体_GB2312" pitchFamily="49" charset="-122"/>
              </a:rPr>
              <a:t>控制的电源，称受控源。</a:t>
            </a:r>
            <a:endParaRPr lang="zh-CN" altLang="en-US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grpSp>
        <p:nvGrpSpPr>
          <p:cNvPr id="71702" name="Group 52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71703" name="Picture 53" descr="7890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71704" name="Text Box 54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71705" name="Group 55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71706" name="Picture 56" descr="7890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71707" name="Text Box 57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71708" name="Group 65"/>
          <p:cNvGrpSpPr/>
          <p:nvPr/>
        </p:nvGrpSpPr>
        <p:grpSpPr>
          <a:xfrm>
            <a:off x="6588125" y="6445250"/>
            <a:ext cx="792163" cy="366713"/>
            <a:chOff x="5193" y="4020"/>
            <a:chExt cx="499" cy="231"/>
          </a:xfrm>
        </p:grpSpPr>
        <p:pic>
          <p:nvPicPr>
            <p:cNvPr id="71709" name="Picture 66" descr="78900">
              <a:hlinkClick r:id="" action="ppaction://hlinkshowjump?jump=firstslide"/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71710" name="Text Box 67">
              <a:hlinkClick r:id="" action="ppaction://hlinkshowjump?jump=firs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238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386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386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8" dur="500"/>
                                        <p:tgtEl>
                                          <p:spTgt spid="238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90"/>
                                        <p:tgtEl>
                                          <p:spTgt spid="238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300" fill="hold"/>
                                        <p:tgtEl>
                                          <p:spTgt spid="2385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300" fill="hold"/>
                                        <p:tgtEl>
                                          <p:spTgt spid="2385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33" dur="1000"/>
                                        <p:tgtEl>
                                          <p:spTgt spid="238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386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386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238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386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386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8596" grpId="0"/>
      <p:bldP spid="238598" grpId="0" animBg="1"/>
      <p:bldP spid="238615" grpId="0" animBg="1"/>
      <p:bldP spid="238619" grpId="0"/>
      <p:bldP spid="238620" grpId="0" animBg="1"/>
      <p:bldP spid="238629" grpId="0" animBg="1"/>
      <p:bldP spid="238643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9620" name="Text Box 4"/>
          <p:cNvSpPr txBox="1"/>
          <p:nvPr/>
        </p:nvSpPr>
        <p:spPr>
          <a:xfrm>
            <a:off x="323850" y="2924175"/>
            <a:ext cx="5616575" cy="519113"/>
          </a:xfrm>
          <a:prstGeom prst="rect">
            <a:avLst/>
          </a:prstGeom>
          <a:noFill/>
          <a:ln w="12700">
            <a:noFill/>
          </a:ln>
        </p:spPr>
        <p:txBody>
          <a:bodyPr anchor="ctr" anchorCtr="0">
            <a:spAutoFit/>
          </a:bodyPr>
          <a:p>
            <a:pPr marL="342900" indent="-342900" algn="ctr" eaLnBrk="0" hangingPunct="0">
              <a:spcBef>
                <a:spcPct val="50000"/>
              </a:spcBef>
              <a:buAutoNum type="circleNumDbPlain"/>
            </a:pPr>
            <a:r>
              <a:rPr lang="zh-CN" altLang="en-US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电流控制的电流源 </a:t>
            </a:r>
            <a:r>
              <a: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( CCCS )</a:t>
            </a:r>
            <a:endParaRPr lang="en-US" altLang="zh-CN" b="0" dirty="0">
              <a:solidFill>
                <a:schemeClr val="tx1"/>
              </a:solidFill>
              <a:latin typeface="Times New Roman" panose="02020603050405020304" pitchFamily="18" charset="0"/>
              <a:ea typeface="楷体_GB2312" pitchFamily="49" charset="-122"/>
              <a:sym typeface="Symbol" panose="05050102010706020507" pitchFamily="18" charset="2"/>
            </a:endParaRPr>
          </a:p>
        </p:txBody>
      </p:sp>
      <p:sp>
        <p:nvSpPr>
          <p:cNvPr id="239621" name="Text Box 5" descr="羊皮纸"/>
          <p:cNvSpPr txBox="1"/>
          <p:nvPr/>
        </p:nvSpPr>
        <p:spPr>
          <a:xfrm>
            <a:off x="5940425" y="4652963"/>
            <a:ext cx="2871788" cy="519112"/>
          </a:xfrm>
          <a:prstGeom prst="rect">
            <a:avLst/>
          </a:prstGeom>
          <a:noFill/>
          <a:ln w="12700">
            <a:noFill/>
          </a:ln>
        </p:spPr>
        <p:txBody>
          <a:bodyPr anchor="ctr" anchorCtr="0">
            <a:spAutoFit/>
          </a:bodyPr>
          <a:p>
            <a:pPr algn="ctr" eaLnBrk="0" hangingPunct="0">
              <a:spcBef>
                <a:spcPct val="50000"/>
              </a:spcBef>
              <a:buClrTx/>
              <a:buFontTx/>
              <a:buNone/>
            </a:pPr>
            <a:r>
              <a:rPr lang="en-US" altLang="zh-CN" i="1" dirty="0">
                <a:solidFill>
                  <a:schemeClr val="tx1"/>
                </a:solidFill>
                <a:latin typeface="Symbol" panose="05050102010706020507" pitchFamily="18" charset="2"/>
                <a:ea typeface="宋体" panose="02010600030101010101" pitchFamily="2" charset="-122"/>
                <a:sym typeface="Symbol" panose="05050102010706020507" pitchFamily="18" charset="2"/>
              </a:rPr>
              <a:t> </a:t>
            </a:r>
            <a:r>
              <a:rPr lang="en-US" altLang="zh-CN" dirty="0">
                <a:solidFill>
                  <a:schemeClr val="tx1"/>
                </a:solidFill>
                <a:latin typeface="Symbol" panose="05050102010706020507" pitchFamily="18" charset="2"/>
                <a:ea typeface="宋体" panose="02010600030101010101" pitchFamily="2" charset="-122"/>
                <a:sym typeface="Symbol" panose="05050102010706020507" pitchFamily="18" charset="2"/>
              </a:rPr>
              <a:t>: </a:t>
            </a:r>
            <a:r>
              <a:rPr lang="zh-CN" altLang="en-US" dirty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电流放大倍数</a:t>
            </a:r>
            <a:endParaRPr lang="zh-CN" altLang="en-US" dirty="0">
              <a:latin typeface="Times New Roman" panose="02020603050405020304" pitchFamily="18" charset="0"/>
              <a:ea typeface="楷体_GB2312" pitchFamily="49" charset="-122"/>
              <a:sym typeface="Symbol" panose="05050102010706020507" pitchFamily="18" charset="2"/>
            </a:endParaRPr>
          </a:p>
        </p:txBody>
      </p:sp>
      <p:sp>
        <p:nvSpPr>
          <p:cNvPr id="239657" name="Text Box 41"/>
          <p:cNvSpPr txBox="1"/>
          <p:nvPr/>
        </p:nvSpPr>
        <p:spPr>
          <a:xfrm>
            <a:off x="323850" y="1196975"/>
            <a:ext cx="8569325" cy="1630363"/>
          </a:xfrm>
          <a:prstGeom prst="rect">
            <a:avLst/>
          </a:prstGeom>
          <a:noFill/>
          <a:ln w="19050">
            <a:noFill/>
          </a:ln>
        </p:spPr>
        <p:txBody>
          <a:bodyPr anchor="ctr" anchorCtr="0">
            <a:spAutoFit/>
          </a:bodyPr>
          <a:p>
            <a:pPr marL="1143000" indent="-1143000" algn="just" eaLnBrk="0" hangingPunct="0">
              <a:lnSpc>
                <a:spcPct val="120000"/>
              </a:lnSpc>
              <a:buClrTx/>
              <a:buFontTx/>
              <a:buNone/>
            </a:pPr>
            <a:r>
              <a:rPr lang="en-US" altLang="zh-CN" dirty="0">
                <a:latin typeface="楷体_GB2312" pitchFamily="49" charset="-122"/>
                <a:ea typeface="楷体_GB2312" pitchFamily="49" charset="-122"/>
              </a:rPr>
              <a:t>   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根据控制量和被控制量是电压</a:t>
            </a:r>
            <a:r>
              <a:rPr lang="en-US" altLang="zh-CN" b="0" i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u</a:t>
            </a:r>
            <a:r>
              <a:rPr lang="en-US" altLang="zh-CN" i="1" dirty="0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或电流</a:t>
            </a:r>
            <a:r>
              <a:rPr lang="en-US" altLang="zh-CN" b="0" i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，受控源</a:t>
            </a:r>
            <a:endParaRPr lang="zh-CN" altLang="en-US" dirty="0">
              <a:latin typeface="楷体_GB2312" pitchFamily="49" charset="-122"/>
              <a:ea typeface="楷体_GB2312" pitchFamily="49" charset="-122"/>
            </a:endParaRPr>
          </a:p>
          <a:p>
            <a:pPr marL="1143000" indent="-1143000" algn="just" eaLnBrk="0" hangingPunct="0">
              <a:lnSpc>
                <a:spcPct val="120000"/>
              </a:lnSpc>
              <a:buClrTx/>
              <a:buFontTx/>
              <a:buNone/>
            </a:pP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可分</a:t>
            </a:r>
            <a:r>
              <a:rPr lang="zh-CN" altLang="en-US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四种类型：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当被控制量是电压时，用受控电压</a:t>
            </a:r>
            <a:endParaRPr lang="zh-CN" altLang="en-US" dirty="0">
              <a:latin typeface="楷体_GB2312" pitchFamily="49" charset="-122"/>
              <a:ea typeface="楷体_GB2312" pitchFamily="49" charset="-122"/>
            </a:endParaRPr>
          </a:p>
          <a:p>
            <a:pPr marL="1143000" indent="-1143000" algn="just" eaLnBrk="0" hangingPunct="0">
              <a:lnSpc>
                <a:spcPct val="120000"/>
              </a:lnSpc>
              <a:buClrTx/>
              <a:buFontTx/>
              <a:buNone/>
            </a:pP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源表示；当被控制量是电流时，用受控电流源表示。</a:t>
            </a:r>
            <a:endParaRPr lang="zh-CN" altLang="en-US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39714" name="Text Box 98"/>
          <p:cNvSpPr txBox="1"/>
          <p:nvPr/>
        </p:nvSpPr>
        <p:spPr>
          <a:xfrm>
            <a:off x="611188" y="549275"/>
            <a:ext cx="2016125" cy="579438"/>
          </a:xfrm>
          <a:prstGeom prst="rect">
            <a:avLst/>
          </a:prstGeom>
          <a:noFill/>
          <a:ln w="38100">
            <a:noFill/>
          </a:ln>
        </p:spPr>
        <p:txBody>
          <a:bodyPr anchor="t" anchorCtr="0">
            <a:spAutoFit/>
          </a:bodyPr>
          <a:p>
            <a:pPr eaLnBrk="0" hangingPunct="0">
              <a:spcBef>
                <a:spcPct val="50000"/>
              </a:spcBef>
              <a:buClrTx/>
              <a:buFont typeface="Wingdings" panose="05000000000000000000" pitchFamily="2" charset="2"/>
              <a:buNone/>
            </a:pPr>
            <a:r>
              <a:rPr lang="en-US" altLang="zh-CN" sz="32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2.</a:t>
            </a:r>
            <a:r>
              <a:rPr lang="zh-CN" altLang="en-US" sz="32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分类</a:t>
            </a:r>
            <a:endParaRPr lang="zh-CN" altLang="en-US" sz="3200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  <a:sym typeface="Symbol" panose="05050102010706020507" pitchFamily="18" charset="2"/>
            </a:endParaRPr>
          </a:p>
        </p:txBody>
      </p:sp>
      <p:sp>
        <p:nvSpPr>
          <p:cNvPr id="239720" name="AutoShape 104" descr="羊皮纸"/>
          <p:cNvSpPr/>
          <p:nvPr/>
        </p:nvSpPr>
        <p:spPr>
          <a:xfrm>
            <a:off x="4500563" y="3644900"/>
            <a:ext cx="1800225" cy="503238"/>
          </a:xfrm>
          <a:prstGeom prst="wedgeRoundRectCallout">
            <a:avLst>
              <a:gd name="adj1" fmla="val -84125"/>
              <a:gd name="adj2" fmla="val 167352"/>
              <a:gd name="adj3" fmla="val 16667"/>
            </a:avLst>
          </a:prstGeom>
          <a:blipFill rotWithShape="1">
            <a:blip r:embed="rId1"/>
          </a:blip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p>
            <a:pPr algn="ctr" eaLnBrk="0" hangingPunct="0">
              <a:buClrTx/>
              <a:buFontTx/>
              <a:buNone/>
            </a:pP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四端元件</a:t>
            </a:r>
            <a:endParaRPr lang="zh-CN" altLang="en-US" dirty="0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  <a:sym typeface="Symbol" panose="05050102010706020507" pitchFamily="18" charset="2"/>
            </a:endParaRPr>
          </a:p>
        </p:txBody>
      </p:sp>
      <p:graphicFrame>
        <p:nvGraphicFramePr>
          <p:cNvPr id="239722" name="Object 106"/>
          <p:cNvGraphicFramePr>
            <a:graphicFrameLocks noChangeAspect="1"/>
          </p:cNvGraphicFramePr>
          <p:nvPr/>
        </p:nvGraphicFramePr>
        <p:xfrm>
          <a:off x="6516688" y="3933825"/>
          <a:ext cx="1584325" cy="684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7" name="" r:id="rId2" imgW="492125" imgH="202565" progId="Equation.3">
                  <p:embed/>
                </p:oleObj>
              </mc:Choice>
              <mc:Fallback>
                <p:oleObj name="" r:id="rId2" imgW="492125" imgH="202565" progId="Equation.3">
                  <p:embed/>
                  <p:pic>
                    <p:nvPicPr>
                      <p:cNvPr id="0" name="图片 3156"/>
                      <p:cNvPicPr/>
                      <p:nvPr/>
                    </p:nvPicPr>
                    <p:blipFill>
                      <a:blip r:embed="rId3">
                        <a:clrChange>
                          <a:clrFrom>
                            <a:srgbClr val="000000"/>
                          </a:clrFrom>
                          <a:clrTo>
                            <a:srgbClr val="00008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516688" y="3933825"/>
                        <a:ext cx="1584325" cy="6842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9724" name="AutoShape 108" descr="羊皮纸"/>
          <p:cNvSpPr/>
          <p:nvPr/>
        </p:nvSpPr>
        <p:spPr>
          <a:xfrm>
            <a:off x="3635375" y="5805488"/>
            <a:ext cx="3168650" cy="503237"/>
          </a:xfrm>
          <a:prstGeom prst="wedgeRoundRectCallout">
            <a:avLst>
              <a:gd name="adj1" fmla="val -53306"/>
              <a:gd name="adj2" fmla="val -199213"/>
              <a:gd name="adj3" fmla="val 16667"/>
            </a:avLst>
          </a:prstGeom>
          <a:blipFill rotWithShape="1">
            <a:blip r:embed="rId1"/>
          </a:blip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p>
            <a:pPr algn="ctr" eaLnBrk="0" hangingPunct="0">
              <a:buClrTx/>
              <a:buFontTx/>
              <a:buNone/>
            </a:pP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输出：受控部分</a:t>
            </a:r>
            <a:endParaRPr lang="zh-CN" altLang="en-US" dirty="0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  <a:sym typeface="Symbol" panose="05050102010706020507" pitchFamily="18" charset="2"/>
            </a:endParaRPr>
          </a:p>
        </p:txBody>
      </p:sp>
      <p:sp>
        <p:nvSpPr>
          <p:cNvPr id="239725" name="AutoShape 109" descr="羊皮纸"/>
          <p:cNvSpPr/>
          <p:nvPr/>
        </p:nvSpPr>
        <p:spPr>
          <a:xfrm>
            <a:off x="179388" y="5805488"/>
            <a:ext cx="3097212" cy="503237"/>
          </a:xfrm>
          <a:prstGeom prst="wedgeRoundRectCallout">
            <a:avLst>
              <a:gd name="adj1" fmla="val -898"/>
              <a:gd name="adj2" fmla="val -222556"/>
              <a:gd name="adj3" fmla="val 16667"/>
            </a:avLst>
          </a:prstGeom>
          <a:blipFill rotWithShape="1">
            <a:blip r:embed="rId1"/>
          </a:blip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p>
            <a:pPr algn="ctr" eaLnBrk="0" hangingPunct="0">
              <a:buClrTx/>
              <a:buFontTx/>
              <a:buNone/>
            </a:pP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输入：控制部分</a:t>
            </a:r>
            <a:endParaRPr lang="zh-CN" altLang="en-US" dirty="0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  <a:sym typeface="Symbol" panose="05050102010706020507" pitchFamily="18" charset="2"/>
            </a:endParaRPr>
          </a:p>
        </p:txBody>
      </p:sp>
      <p:grpSp>
        <p:nvGrpSpPr>
          <p:cNvPr id="72713" name="Group 142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72714" name="Picture 143" descr="7890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72715" name="Text Box 144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72716" name="Group 145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72717" name="Picture 146" descr="7890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72718" name="Text Box 147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239770" name="Group 154"/>
          <p:cNvGrpSpPr/>
          <p:nvPr/>
        </p:nvGrpSpPr>
        <p:grpSpPr>
          <a:xfrm>
            <a:off x="539750" y="3357563"/>
            <a:ext cx="4017963" cy="2016125"/>
            <a:chOff x="340" y="2115"/>
            <a:chExt cx="2531" cy="1270"/>
          </a:xfrm>
        </p:grpSpPr>
        <p:sp>
          <p:nvSpPr>
            <p:cNvPr id="72720" name="Line 122"/>
            <p:cNvSpPr/>
            <p:nvPr/>
          </p:nvSpPr>
          <p:spPr>
            <a:xfrm>
              <a:off x="1610" y="3385"/>
              <a:ext cx="1016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oval" w="med" len="med"/>
            </a:ln>
          </p:spPr>
        </p:sp>
        <p:sp>
          <p:nvSpPr>
            <p:cNvPr id="72721" name="Line 123"/>
            <p:cNvSpPr/>
            <p:nvPr/>
          </p:nvSpPr>
          <p:spPr>
            <a:xfrm>
              <a:off x="1610" y="2523"/>
              <a:ext cx="1016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oval" w="med" len="med"/>
            </a:ln>
          </p:spPr>
        </p:sp>
        <p:sp>
          <p:nvSpPr>
            <p:cNvPr id="72722" name="Text Box 124"/>
            <p:cNvSpPr txBox="1"/>
            <p:nvPr/>
          </p:nvSpPr>
          <p:spPr>
            <a:xfrm>
              <a:off x="1655" y="2976"/>
              <a:ext cx="505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ctr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b="0" i="1" dirty="0">
                  <a:solidFill>
                    <a:schemeClr val="tx1"/>
                  </a:solidFill>
                  <a:latin typeface="Symbol" panose="05050102010706020507" pitchFamily="18" charset="2"/>
                  <a:ea typeface="宋体" panose="02010600030101010101" pitchFamily="2" charset="-122"/>
                  <a:sym typeface="Symbol" panose="05050102010706020507" pitchFamily="18" charset="2"/>
                </a:rPr>
                <a:t>b</a:t>
              </a:r>
              <a:r>
                <a:rPr lang="en-US" altLang="zh-CN" b="0" dirty="0">
                  <a:solidFill>
                    <a:schemeClr val="tx1"/>
                  </a:solidFill>
                  <a:latin typeface="Symbol" panose="05050102010706020507" pitchFamily="18" charset="2"/>
                  <a:ea typeface="宋体" panose="02010600030101010101" pitchFamily="2" charset="-122"/>
                  <a:sym typeface="Symbol" panose="05050102010706020507" pitchFamily="18" charset="2"/>
                </a:rPr>
                <a:t> </a:t>
              </a:r>
              <a:r>
                <a:rPr lang="en-US" altLang="zh-CN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i</a:t>
              </a:r>
              <a:r>
                <a:rPr lang="en-US" altLang="zh-CN" b="0" baseline="-250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1</a:t>
              </a:r>
              <a:endPara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72723" name="Text Box 125"/>
            <p:cNvSpPr txBox="1"/>
            <p:nvPr/>
          </p:nvSpPr>
          <p:spPr>
            <a:xfrm>
              <a:off x="2426" y="2478"/>
              <a:ext cx="290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ctr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+</a:t>
              </a:r>
              <a:endPara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72724" name="Text Box 126"/>
            <p:cNvSpPr txBox="1"/>
            <p:nvPr/>
          </p:nvSpPr>
          <p:spPr>
            <a:xfrm>
              <a:off x="2472" y="2977"/>
              <a:ext cx="345" cy="326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ctr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_</a:t>
              </a:r>
              <a:endPara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72725" name="Text Box 127"/>
            <p:cNvSpPr txBox="1"/>
            <p:nvPr/>
          </p:nvSpPr>
          <p:spPr>
            <a:xfrm>
              <a:off x="2381" y="2750"/>
              <a:ext cx="490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ctr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u</a:t>
              </a:r>
              <a:r>
                <a:rPr lang="en-US" altLang="zh-CN" b="0" baseline="-250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2</a:t>
              </a:r>
              <a:endPara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72726" name="Line 128"/>
            <p:cNvSpPr/>
            <p:nvPr/>
          </p:nvSpPr>
          <p:spPr>
            <a:xfrm flipH="1">
              <a:off x="1837" y="2433"/>
              <a:ext cx="400" cy="0"/>
            </a:xfrm>
            <a:prstGeom prst="line">
              <a:avLst/>
            </a:prstGeom>
            <a:ln w="28575" cap="flat" cmpd="sng">
              <a:solidFill>
                <a:srgbClr val="00CC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72727" name="Text Box 129"/>
            <p:cNvSpPr txBox="1"/>
            <p:nvPr/>
          </p:nvSpPr>
          <p:spPr>
            <a:xfrm>
              <a:off x="2245" y="2160"/>
              <a:ext cx="435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ctr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i</a:t>
              </a:r>
              <a:r>
                <a:rPr lang="en-US" altLang="zh-CN" b="0" baseline="-250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2</a:t>
              </a:r>
              <a:endPara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72728" name="Line 130"/>
            <p:cNvSpPr/>
            <p:nvPr/>
          </p:nvSpPr>
          <p:spPr>
            <a:xfrm>
              <a:off x="630" y="2520"/>
              <a:ext cx="581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oval" w="med" len="med"/>
              <a:tailEnd type="none" w="med" len="med"/>
            </a:ln>
          </p:spPr>
        </p:sp>
        <p:sp>
          <p:nvSpPr>
            <p:cNvPr id="72729" name="Line 131"/>
            <p:cNvSpPr/>
            <p:nvPr/>
          </p:nvSpPr>
          <p:spPr>
            <a:xfrm>
              <a:off x="839" y="2433"/>
              <a:ext cx="363" cy="0"/>
            </a:xfrm>
            <a:prstGeom prst="line">
              <a:avLst/>
            </a:prstGeom>
            <a:ln w="28575" cap="flat" cmpd="sng">
              <a:solidFill>
                <a:srgbClr val="00CC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72730" name="Line 132"/>
            <p:cNvSpPr/>
            <p:nvPr/>
          </p:nvSpPr>
          <p:spPr>
            <a:xfrm flipH="1">
              <a:off x="1202" y="2520"/>
              <a:ext cx="9" cy="865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2731" name="Line 133"/>
            <p:cNvSpPr/>
            <p:nvPr/>
          </p:nvSpPr>
          <p:spPr>
            <a:xfrm flipH="1" flipV="1">
              <a:off x="612" y="3385"/>
              <a:ext cx="581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oval" w="med" len="med"/>
            </a:ln>
          </p:spPr>
        </p:sp>
        <p:sp>
          <p:nvSpPr>
            <p:cNvPr id="72732" name="Text Box 134"/>
            <p:cNvSpPr txBox="1"/>
            <p:nvPr/>
          </p:nvSpPr>
          <p:spPr>
            <a:xfrm>
              <a:off x="567" y="2977"/>
              <a:ext cx="218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ctr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_</a:t>
              </a:r>
              <a:endPara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72733" name="Text Box 135"/>
            <p:cNvSpPr txBox="1"/>
            <p:nvPr/>
          </p:nvSpPr>
          <p:spPr>
            <a:xfrm>
              <a:off x="340" y="2750"/>
              <a:ext cx="490" cy="328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ctr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u</a:t>
              </a:r>
              <a:r>
                <a:rPr lang="en-US" altLang="zh-CN" b="0" baseline="-250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1</a:t>
              </a:r>
              <a:endPara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72734" name="Text Box 136"/>
            <p:cNvSpPr txBox="1"/>
            <p:nvPr/>
          </p:nvSpPr>
          <p:spPr>
            <a:xfrm>
              <a:off x="430" y="2115"/>
              <a:ext cx="527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ctr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i</a:t>
              </a:r>
              <a:r>
                <a:rPr lang="en-US" altLang="zh-CN" b="0" baseline="-250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1</a:t>
              </a:r>
              <a:endPara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72735" name="Line 138"/>
            <p:cNvSpPr/>
            <p:nvPr/>
          </p:nvSpPr>
          <p:spPr>
            <a:xfrm>
              <a:off x="1610" y="2523"/>
              <a:ext cx="0" cy="862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2736" name="Text Box 140"/>
            <p:cNvSpPr txBox="1"/>
            <p:nvPr/>
          </p:nvSpPr>
          <p:spPr>
            <a:xfrm>
              <a:off x="475" y="2466"/>
              <a:ext cx="290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ctr" anchorCtr="0">
              <a:spAutoFit/>
            </a:bodyPr>
            <a:p>
              <a:pPr algn="ctr" eaLnBrk="0" hangingPunct="0">
                <a:buClrTx/>
                <a:buFontTx/>
                <a:buNone/>
              </a:pPr>
              <a:r>
                <a:rPr lang="en-US" altLang="zh-CN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+</a:t>
              </a:r>
              <a:endParaRPr lang="en-US" altLang="zh-CN" b="0" dirty="0"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72737" name="Rectangle 141"/>
            <p:cNvSpPr/>
            <p:nvPr/>
          </p:nvSpPr>
          <p:spPr>
            <a:xfrm>
              <a:off x="1156" y="2750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>
                <a:buClrTx/>
                <a:buFontTx/>
                <a:buNone/>
              </a:pPr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72738" name="Line 137"/>
            <p:cNvSpPr/>
            <p:nvPr/>
          </p:nvSpPr>
          <p:spPr>
            <a:xfrm>
              <a:off x="1610" y="2972"/>
              <a:ext cx="0" cy="367"/>
            </a:xfrm>
            <a:prstGeom prst="line">
              <a:avLst/>
            </a:prstGeom>
            <a:ln w="28575" cap="flat" cmpd="sng">
              <a:solidFill>
                <a:srgbClr val="00CC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39755" name="AutoShape 139"/>
            <p:cNvSpPr>
              <a:spLocks noChangeArrowheads="1"/>
            </p:cNvSpPr>
            <p:nvPr/>
          </p:nvSpPr>
          <p:spPr bwMode="auto">
            <a:xfrm>
              <a:off x="1384" y="2613"/>
              <a:ext cx="453" cy="454"/>
            </a:xfrm>
            <a:prstGeom prst="flowChartSort">
              <a:avLst/>
            </a:prstGeom>
            <a:gradFill rotWithShape="1">
              <a:gsLst>
                <a:gs pos="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 w="38100">
              <a:solidFill>
                <a:srgbClr val="FF99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endParaRPr>
            </a:p>
          </p:txBody>
        </p:sp>
      </p:grpSp>
      <p:grpSp>
        <p:nvGrpSpPr>
          <p:cNvPr id="72740" name="Group 155"/>
          <p:cNvGrpSpPr/>
          <p:nvPr/>
        </p:nvGrpSpPr>
        <p:grpSpPr>
          <a:xfrm>
            <a:off x="6588125" y="6445250"/>
            <a:ext cx="792163" cy="366713"/>
            <a:chOff x="5193" y="4020"/>
            <a:chExt cx="499" cy="231"/>
          </a:xfrm>
        </p:grpSpPr>
        <p:pic>
          <p:nvPicPr>
            <p:cNvPr id="72741" name="Picture 156" descr="78900">
              <a:hlinkClick r:id="" action="ppaction://hlinkshowjump?jump=firstslide"/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72742" name="Text Box 157">
              <a:hlinkClick r:id="" action="ppaction://hlinkshowjump?jump=firs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97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97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100"/>
                                        <p:tgtEl>
                                          <p:spTgt spid="239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396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396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239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8" dur="2000"/>
                                        <p:tgtEl>
                                          <p:spTgt spid="239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32" dur="2000"/>
                                        <p:tgtEl>
                                          <p:spTgt spid="239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37" dur="2000"/>
                                        <p:tgtEl>
                                          <p:spTgt spid="2397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2" dur="3000"/>
                                        <p:tgtEl>
                                          <p:spTgt spid="239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3000"/>
                            </p:stCondLst>
                            <p:childTnLst>
                              <p:par>
                                <p:cTn id="44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396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396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9620" grpId="0"/>
      <p:bldP spid="239621" grpId="0"/>
      <p:bldP spid="239657" grpId="0"/>
      <p:bldP spid="239714" grpId="0"/>
      <p:bldP spid="239720" grpId="0" animBg="1"/>
      <p:bldP spid="239724" grpId="0" animBg="1"/>
      <p:bldP spid="239725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0644" name="Text Box 4" descr="羊皮纸"/>
          <p:cNvSpPr txBox="1"/>
          <p:nvPr/>
        </p:nvSpPr>
        <p:spPr>
          <a:xfrm>
            <a:off x="5292725" y="1989138"/>
            <a:ext cx="2663825" cy="519112"/>
          </a:xfrm>
          <a:prstGeom prst="rect">
            <a:avLst/>
          </a:prstGeom>
          <a:noFill/>
          <a:ln w="12700">
            <a:noFill/>
          </a:ln>
        </p:spPr>
        <p:txBody>
          <a:bodyPr anchor="ctr" anchorCtr="0">
            <a:spAutoFit/>
          </a:bodyPr>
          <a:p>
            <a:pPr algn="ctr" eaLnBrk="0" hangingPunct="0">
              <a:spcBef>
                <a:spcPct val="50000"/>
              </a:spcBef>
              <a:buClrTx/>
              <a:buFontTx/>
              <a:buNone/>
            </a:pPr>
            <a:r>
              <a:rPr lang="en-US" altLang="zh-CN" b="0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g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: </a:t>
            </a:r>
            <a:r>
              <a:rPr lang="zh-CN" altLang="en-US" dirty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转移电导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240704" name="Text Box 64"/>
          <p:cNvSpPr txBox="1"/>
          <p:nvPr/>
        </p:nvSpPr>
        <p:spPr>
          <a:xfrm>
            <a:off x="611188" y="620713"/>
            <a:ext cx="5111750" cy="519112"/>
          </a:xfrm>
          <a:prstGeom prst="rect">
            <a:avLst/>
          </a:prstGeom>
          <a:noFill/>
          <a:ln w="12700">
            <a:noFill/>
          </a:ln>
        </p:spPr>
        <p:txBody>
          <a:bodyPr anchor="ctr" anchorCtr="0">
            <a:spAutoFit/>
          </a:bodyPr>
          <a:p>
            <a:pPr marL="342900" indent="-342900" algn="ctr" eaLnBrk="0" hangingPunct="0">
              <a:spcBef>
                <a:spcPct val="50000"/>
              </a:spcBef>
              <a:buAutoNum type="circleNumDbPlain" startAt="2"/>
            </a:pPr>
            <a:r>
              <a:rPr lang="zh-CN" altLang="en-US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电压控制的电流源 </a:t>
            </a:r>
            <a:r>
              <a:rPr lang="en-US" altLang="zh-CN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(</a:t>
            </a:r>
            <a:r>
              <a: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 VCCS </a:t>
            </a:r>
            <a:r>
              <a:rPr lang="en-US" altLang="zh-CN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)</a:t>
            </a:r>
            <a:endParaRPr lang="en-US" altLang="zh-CN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  <a:sym typeface="Symbol" panose="05050102010706020507" pitchFamily="18" charset="2"/>
            </a:endParaRPr>
          </a:p>
        </p:txBody>
      </p:sp>
      <p:graphicFrame>
        <p:nvGraphicFramePr>
          <p:cNvPr id="240732" name="Object 92"/>
          <p:cNvGraphicFramePr>
            <a:graphicFrameLocks noChangeAspect="1"/>
          </p:cNvGraphicFramePr>
          <p:nvPr/>
        </p:nvGraphicFramePr>
        <p:xfrm>
          <a:off x="5445125" y="1155700"/>
          <a:ext cx="1647825" cy="727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8" name="" r:id="rId1" imgW="480060" imgH="202565" progId="Equation.3">
                  <p:embed/>
                </p:oleObj>
              </mc:Choice>
              <mc:Fallback>
                <p:oleObj name="" r:id="rId1" imgW="480060" imgH="202565" progId="Equation.3">
                  <p:embed/>
                  <p:pic>
                    <p:nvPicPr>
                      <p:cNvPr id="0" name="图片 3157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8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445125" y="1155700"/>
                        <a:ext cx="1647825" cy="7270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0734" name="Text Box 94"/>
          <p:cNvSpPr txBox="1"/>
          <p:nvPr/>
        </p:nvSpPr>
        <p:spPr>
          <a:xfrm>
            <a:off x="611188" y="3357563"/>
            <a:ext cx="5400675" cy="519112"/>
          </a:xfrm>
          <a:prstGeom prst="rect">
            <a:avLst/>
          </a:prstGeom>
          <a:noFill/>
          <a:ln w="12700">
            <a:noFill/>
          </a:ln>
        </p:spPr>
        <p:txBody>
          <a:bodyPr anchor="ctr" anchorCtr="0">
            <a:spAutoFit/>
          </a:bodyPr>
          <a:p>
            <a:pPr marL="342900" indent="-342900" algn="ctr" eaLnBrk="0" hangingPunct="0">
              <a:spcBef>
                <a:spcPct val="50000"/>
              </a:spcBef>
              <a:buAutoNum type="circleNumDbPlain" startAt="3"/>
            </a:pPr>
            <a:r>
              <a:rPr lang="zh-CN" altLang="en-US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电压控制的电压源 </a:t>
            </a:r>
            <a:r>
              <a:rPr lang="en-US" altLang="zh-CN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(</a:t>
            </a:r>
            <a:r>
              <a: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 VCVS</a:t>
            </a:r>
            <a:r>
              <a:rPr lang="en-US" altLang="zh-CN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 )</a:t>
            </a:r>
            <a:endParaRPr lang="en-US" altLang="zh-CN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  <a:sym typeface="Symbol" panose="05050102010706020507" pitchFamily="18" charset="2"/>
            </a:endParaRPr>
          </a:p>
        </p:txBody>
      </p:sp>
      <p:graphicFrame>
        <p:nvGraphicFramePr>
          <p:cNvPr id="240761" name="Object 121"/>
          <p:cNvGraphicFramePr>
            <a:graphicFrameLocks noChangeAspect="1"/>
          </p:cNvGraphicFramePr>
          <p:nvPr/>
        </p:nvGraphicFramePr>
        <p:xfrm>
          <a:off x="5651500" y="4149725"/>
          <a:ext cx="1728788" cy="655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9" name="" r:id="rId3" imgW="561340" imgH="202565" progId="Equation.3">
                  <p:embed/>
                </p:oleObj>
              </mc:Choice>
              <mc:Fallback>
                <p:oleObj name="" r:id="rId3" imgW="561340" imgH="202565" progId="Equation.3">
                  <p:embed/>
                  <p:pic>
                    <p:nvPicPr>
                      <p:cNvPr id="0" name="图片 3158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8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651500" y="4149725"/>
                        <a:ext cx="1728788" cy="6556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0762" name="Text Box 122" descr="羊皮纸"/>
          <p:cNvSpPr txBox="1"/>
          <p:nvPr/>
        </p:nvSpPr>
        <p:spPr>
          <a:xfrm>
            <a:off x="5148263" y="4941888"/>
            <a:ext cx="3024187" cy="519112"/>
          </a:xfrm>
          <a:prstGeom prst="rect">
            <a:avLst/>
          </a:prstGeom>
          <a:noFill/>
          <a:ln w="12700">
            <a:noFill/>
          </a:ln>
        </p:spPr>
        <p:txBody>
          <a:bodyPr anchor="ctr" anchorCtr="0">
            <a:spAutoFit/>
          </a:bodyPr>
          <a:p>
            <a:pPr algn="ctr" eaLnBrk="0" hangingPunct="0">
              <a:buClrTx/>
              <a:buFontTx/>
              <a:buNone/>
            </a:pPr>
            <a:r>
              <a:rPr lang="en-US" altLang="zh-CN" b="0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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: </a:t>
            </a:r>
            <a:r>
              <a:rPr lang="zh-CN" altLang="en-US" dirty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电压放大倍数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endParaRPr lang="zh-CN" altLang="en-US" dirty="0">
              <a:latin typeface="Times New Roman" panose="02020603050405020304" pitchFamily="18" charset="0"/>
              <a:ea typeface="仿宋_GB2312" pitchFamily="49" charset="-122"/>
              <a:sym typeface="Symbol" panose="05050102010706020507" pitchFamily="18" charset="2"/>
            </a:endParaRPr>
          </a:p>
        </p:txBody>
      </p:sp>
      <p:grpSp>
        <p:nvGrpSpPr>
          <p:cNvPr id="240828" name="Group 188"/>
          <p:cNvGrpSpPr/>
          <p:nvPr/>
        </p:nvGrpSpPr>
        <p:grpSpPr>
          <a:xfrm>
            <a:off x="611188" y="1052513"/>
            <a:ext cx="4017962" cy="2016125"/>
            <a:chOff x="385" y="663"/>
            <a:chExt cx="2531" cy="1270"/>
          </a:xfrm>
        </p:grpSpPr>
        <p:sp>
          <p:nvSpPr>
            <p:cNvPr id="73736" name="Line 153"/>
            <p:cNvSpPr/>
            <p:nvPr/>
          </p:nvSpPr>
          <p:spPr>
            <a:xfrm>
              <a:off x="1655" y="1071"/>
              <a:ext cx="0" cy="862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3737" name="Line 137"/>
            <p:cNvSpPr/>
            <p:nvPr/>
          </p:nvSpPr>
          <p:spPr>
            <a:xfrm>
              <a:off x="1655" y="1933"/>
              <a:ext cx="1016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oval" w="med" len="med"/>
            </a:ln>
          </p:spPr>
        </p:sp>
        <p:sp>
          <p:nvSpPr>
            <p:cNvPr id="73738" name="Line 138"/>
            <p:cNvSpPr/>
            <p:nvPr/>
          </p:nvSpPr>
          <p:spPr>
            <a:xfrm>
              <a:off x="1655" y="1071"/>
              <a:ext cx="1016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oval" w="med" len="med"/>
            </a:ln>
          </p:spPr>
        </p:sp>
        <p:sp>
          <p:nvSpPr>
            <p:cNvPr id="73739" name="Text Box 139"/>
            <p:cNvSpPr txBox="1"/>
            <p:nvPr/>
          </p:nvSpPr>
          <p:spPr>
            <a:xfrm>
              <a:off x="2002" y="1381"/>
              <a:ext cx="505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ctr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gu</a:t>
              </a:r>
              <a:r>
                <a:rPr lang="en-US" altLang="zh-CN" b="0" baseline="-250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1</a:t>
              </a:r>
              <a:endParaRPr lang="en-US" altLang="zh-CN" b="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73740" name="Text Box 140"/>
            <p:cNvSpPr txBox="1"/>
            <p:nvPr/>
          </p:nvSpPr>
          <p:spPr>
            <a:xfrm>
              <a:off x="2471" y="1026"/>
              <a:ext cx="290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ctr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+</a:t>
              </a:r>
              <a:endPara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73741" name="Text Box 141"/>
            <p:cNvSpPr txBox="1"/>
            <p:nvPr/>
          </p:nvSpPr>
          <p:spPr>
            <a:xfrm>
              <a:off x="2517" y="1525"/>
              <a:ext cx="345" cy="326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ctr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_</a:t>
              </a:r>
              <a:endPara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73742" name="Text Box 142"/>
            <p:cNvSpPr txBox="1"/>
            <p:nvPr/>
          </p:nvSpPr>
          <p:spPr>
            <a:xfrm>
              <a:off x="2426" y="1298"/>
              <a:ext cx="490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ctr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u</a:t>
              </a:r>
              <a:r>
                <a:rPr lang="en-US" altLang="zh-CN" b="0" baseline="-250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2</a:t>
              </a:r>
              <a:endPara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73743" name="Line 143"/>
            <p:cNvSpPr/>
            <p:nvPr/>
          </p:nvSpPr>
          <p:spPr>
            <a:xfrm flipH="1">
              <a:off x="1882" y="981"/>
              <a:ext cx="400" cy="0"/>
            </a:xfrm>
            <a:prstGeom prst="line">
              <a:avLst/>
            </a:prstGeom>
            <a:ln w="28575" cap="flat" cmpd="sng">
              <a:solidFill>
                <a:srgbClr val="00FF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73744" name="Text Box 144"/>
            <p:cNvSpPr txBox="1"/>
            <p:nvPr/>
          </p:nvSpPr>
          <p:spPr>
            <a:xfrm>
              <a:off x="2290" y="708"/>
              <a:ext cx="435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ctr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i</a:t>
              </a:r>
              <a:r>
                <a:rPr lang="en-US" altLang="zh-CN" b="0" baseline="-250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2</a:t>
              </a:r>
              <a:endPara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73745" name="Line 145"/>
            <p:cNvSpPr/>
            <p:nvPr/>
          </p:nvSpPr>
          <p:spPr>
            <a:xfrm>
              <a:off x="675" y="1068"/>
              <a:ext cx="581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oval" w="med" len="med"/>
              <a:tailEnd type="none" w="med" len="med"/>
            </a:ln>
          </p:spPr>
        </p:sp>
        <p:sp>
          <p:nvSpPr>
            <p:cNvPr id="73746" name="Line 146"/>
            <p:cNvSpPr/>
            <p:nvPr/>
          </p:nvSpPr>
          <p:spPr>
            <a:xfrm>
              <a:off x="884" y="981"/>
              <a:ext cx="363" cy="0"/>
            </a:xfrm>
            <a:prstGeom prst="line">
              <a:avLst/>
            </a:prstGeom>
            <a:ln w="28575" cap="flat" cmpd="sng">
              <a:solidFill>
                <a:srgbClr val="00FF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73747" name="Line 147"/>
            <p:cNvSpPr/>
            <p:nvPr/>
          </p:nvSpPr>
          <p:spPr>
            <a:xfrm flipH="1">
              <a:off x="1247" y="1068"/>
              <a:ext cx="9" cy="865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3748" name="Line 148"/>
            <p:cNvSpPr/>
            <p:nvPr/>
          </p:nvSpPr>
          <p:spPr>
            <a:xfrm flipH="1" flipV="1">
              <a:off x="657" y="1933"/>
              <a:ext cx="581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oval" w="med" len="med"/>
            </a:ln>
          </p:spPr>
        </p:sp>
        <p:sp>
          <p:nvSpPr>
            <p:cNvPr id="73749" name="Text Box 149"/>
            <p:cNvSpPr txBox="1"/>
            <p:nvPr/>
          </p:nvSpPr>
          <p:spPr>
            <a:xfrm>
              <a:off x="612" y="1525"/>
              <a:ext cx="218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ctr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_</a:t>
              </a:r>
              <a:endPara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73750" name="Text Box 150"/>
            <p:cNvSpPr txBox="1"/>
            <p:nvPr/>
          </p:nvSpPr>
          <p:spPr>
            <a:xfrm>
              <a:off x="385" y="1298"/>
              <a:ext cx="490" cy="328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ctr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u</a:t>
              </a:r>
              <a:r>
                <a:rPr lang="en-US" altLang="zh-CN" b="0" baseline="-250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1</a:t>
              </a:r>
              <a:endPara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73751" name="Text Box 151"/>
            <p:cNvSpPr txBox="1"/>
            <p:nvPr/>
          </p:nvSpPr>
          <p:spPr>
            <a:xfrm>
              <a:off x="475" y="663"/>
              <a:ext cx="527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ctr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i</a:t>
              </a:r>
              <a:r>
                <a:rPr lang="en-US" altLang="zh-CN" b="0" baseline="-250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1</a:t>
              </a:r>
              <a:endPara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73752" name="Line 152"/>
            <p:cNvSpPr/>
            <p:nvPr/>
          </p:nvSpPr>
          <p:spPr>
            <a:xfrm>
              <a:off x="1655" y="1706"/>
              <a:ext cx="0" cy="227"/>
            </a:xfrm>
            <a:prstGeom prst="line">
              <a:avLst/>
            </a:prstGeom>
            <a:ln w="38100" cap="flat" cmpd="sng">
              <a:solidFill>
                <a:srgbClr val="00FF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40794" name="AutoShape 154"/>
            <p:cNvSpPr>
              <a:spLocks noChangeArrowheads="1"/>
            </p:cNvSpPr>
            <p:nvPr/>
          </p:nvSpPr>
          <p:spPr bwMode="auto">
            <a:xfrm>
              <a:off x="1428" y="1253"/>
              <a:ext cx="453" cy="454"/>
            </a:xfrm>
            <a:prstGeom prst="flowChartSort">
              <a:avLst/>
            </a:prstGeom>
            <a:gradFill rotWithShape="1">
              <a:gsLst>
                <a:gs pos="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 w="38100">
              <a:solidFill>
                <a:srgbClr val="FF99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endParaRPr>
            </a:p>
          </p:txBody>
        </p:sp>
        <p:sp>
          <p:nvSpPr>
            <p:cNvPr id="73754" name="Text Box 155"/>
            <p:cNvSpPr txBox="1"/>
            <p:nvPr/>
          </p:nvSpPr>
          <p:spPr>
            <a:xfrm>
              <a:off x="520" y="1014"/>
              <a:ext cx="290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ctr" anchorCtr="0">
              <a:spAutoFit/>
            </a:bodyPr>
            <a:p>
              <a:pPr algn="ctr" eaLnBrk="0" hangingPunct="0">
                <a:buClrTx/>
                <a:buFontTx/>
                <a:buNone/>
              </a:pPr>
              <a:r>
                <a:rPr lang="en-US" altLang="zh-CN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+</a:t>
              </a:r>
              <a:endParaRPr lang="en-US" altLang="zh-CN" b="0" dirty="0"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73755" name="Rectangle 156"/>
            <p:cNvSpPr/>
            <p:nvPr/>
          </p:nvSpPr>
          <p:spPr>
            <a:xfrm>
              <a:off x="1201" y="1298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>
                <a:buClrTx/>
                <a:buFontTx/>
                <a:buNone/>
              </a:pPr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</p:grpSp>
      <p:grpSp>
        <p:nvGrpSpPr>
          <p:cNvPr id="73756" name="Group 179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73757" name="Picture 180" descr="7890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73758" name="Text Box 181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73759" name="Group 182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73760" name="Picture 183" descr="7890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73761" name="Text Box 184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240832" name="Group 192"/>
          <p:cNvGrpSpPr/>
          <p:nvPr/>
        </p:nvGrpSpPr>
        <p:grpSpPr>
          <a:xfrm>
            <a:off x="539750" y="3860800"/>
            <a:ext cx="4017963" cy="2016125"/>
            <a:chOff x="340" y="2432"/>
            <a:chExt cx="2531" cy="1270"/>
          </a:xfrm>
        </p:grpSpPr>
        <p:sp>
          <p:nvSpPr>
            <p:cNvPr id="73763" name="Text Box 172"/>
            <p:cNvSpPr txBox="1"/>
            <p:nvPr/>
          </p:nvSpPr>
          <p:spPr>
            <a:xfrm>
              <a:off x="430" y="2432"/>
              <a:ext cx="527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ctr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i</a:t>
              </a:r>
              <a:r>
                <a:rPr lang="en-US" altLang="zh-CN" b="0" baseline="-250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1</a:t>
              </a:r>
              <a:endPara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grpSp>
          <p:nvGrpSpPr>
            <p:cNvPr id="73764" name="Group 191"/>
            <p:cNvGrpSpPr/>
            <p:nvPr/>
          </p:nvGrpSpPr>
          <p:grpSpPr>
            <a:xfrm>
              <a:off x="340" y="2477"/>
              <a:ext cx="2531" cy="1225"/>
              <a:chOff x="340" y="2477"/>
              <a:chExt cx="2531" cy="1225"/>
            </a:xfrm>
          </p:grpSpPr>
          <p:sp>
            <p:nvSpPr>
              <p:cNvPr id="73765" name="Text Box 98"/>
              <p:cNvSpPr txBox="1"/>
              <p:nvPr/>
            </p:nvSpPr>
            <p:spPr>
              <a:xfrm>
                <a:off x="1837" y="3041"/>
                <a:ext cx="639" cy="327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anchor="ctr" anchorCtr="0">
                <a:spAutoFit/>
              </a:bodyPr>
              <a:p>
                <a:pPr algn="ctr" eaLnBrk="0" hangingPunct="0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b="0" i="1" dirty="0">
                    <a:solidFill>
                      <a:schemeClr val="tx1"/>
                    </a:solidFill>
                    <a:latin typeface="Symbol" panose="05050102010706020507" pitchFamily="18" charset="2"/>
                    <a:ea typeface="宋体" panose="02010600030101010101" pitchFamily="2" charset="-122"/>
                    <a:sym typeface="Symbol" panose="05050102010706020507" pitchFamily="18" charset="2"/>
                  </a:rPr>
                  <a:t></a:t>
                </a:r>
                <a:r>
                  <a:rPr lang="en-US" altLang="zh-CN" b="0" i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u</a:t>
                </a:r>
                <a:r>
                  <a:rPr lang="en-US" altLang="zh-CN" b="0" baseline="-250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1</a:t>
                </a:r>
                <a:endParaRPr lang="en-US" altLang="zh-CN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endParaRPr>
              </a:p>
            </p:txBody>
          </p:sp>
          <p:sp>
            <p:nvSpPr>
              <p:cNvPr id="73766" name="Line 158"/>
              <p:cNvSpPr/>
              <p:nvPr/>
            </p:nvSpPr>
            <p:spPr>
              <a:xfrm>
                <a:off x="1610" y="3702"/>
                <a:ext cx="1016" cy="0"/>
              </a:xfrm>
              <a:prstGeom prst="line">
                <a:avLst/>
              </a:prstGeom>
              <a:ln w="28575" cap="flat" cmpd="sng">
                <a:solidFill>
                  <a:srgbClr val="FFCC00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sp>
          <p:sp>
            <p:nvSpPr>
              <p:cNvPr id="73767" name="Line 159"/>
              <p:cNvSpPr/>
              <p:nvPr/>
            </p:nvSpPr>
            <p:spPr>
              <a:xfrm>
                <a:off x="1610" y="2840"/>
                <a:ext cx="1016" cy="0"/>
              </a:xfrm>
              <a:prstGeom prst="line">
                <a:avLst/>
              </a:prstGeom>
              <a:ln w="28575" cap="flat" cmpd="sng">
                <a:solidFill>
                  <a:srgbClr val="FFCC00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sp>
          <p:sp>
            <p:nvSpPr>
              <p:cNvPr id="73768" name="Text Box 161"/>
              <p:cNvSpPr txBox="1"/>
              <p:nvPr/>
            </p:nvSpPr>
            <p:spPr>
              <a:xfrm>
                <a:off x="2426" y="2795"/>
                <a:ext cx="290" cy="327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anchor="ctr" anchorCtr="0">
                <a:spAutoFit/>
              </a:bodyPr>
              <a:p>
                <a:pPr algn="ctr" eaLnBrk="0" hangingPunct="0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+</a:t>
                </a:r>
                <a:endParaRPr lang="en-US" altLang="zh-CN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endParaRPr>
              </a:p>
            </p:txBody>
          </p:sp>
          <p:sp>
            <p:nvSpPr>
              <p:cNvPr id="73769" name="Text Box 162"/>
              <p:cNvSpPr txBox="1"/>
              <p:nvPr/>
            </p:nvSpPr>
            <p:spPr>
              <a:xfrm>
                <a:off x="2381" y="3294"/>
                <a:ext cx="345" cy="326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anchor="ctr" anchorCtr="0">
                <a:spAutoFit/>
              </a:bodyPr>
              <a:p>
                <a:pPr algn="ctr" eaLnBrk="0" hangingPunct="0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_</a:t>
                </a:r>
                <a:endParaRPr lang="en-US" altLang="zh-CN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endParaRPr>
              </a:p>
            </p:txBody>
          </p:sp>
          <p:sp>
            <p:nvSpPr>
              <p:cNvPr id="73770" name="Text Box 163"/>
              <p:cNvSpPr txBox="1"/>
              <p:nvPr/>
            </p:nvSpPr>
            <p:spPr>
              <a:xfrm>
                <a:off x="2381" y="3067"/>
                <a:ext cx="490" cy="327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anchor="ctr" anchorCtr="0">
                <a:spAutoFit/>
              </a:bodyPr>
              <a:p>
                <a:pPr algn="ctr" eaLnBrk="0" hangingPunct="0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b="0" i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u</a:t>
                </a:r>
                <a:r>
                  <a:rPr lang="en-US" altLang="zh-CN" b="0" baseline="-250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2</a:t>
                </a:r>
                <a:endParaRPr lang="en-US" altLang="zh-CN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endParaRPr>
              </a:p>
            </p:txBody>
          </p:sp>
          <p:sp>
            <p:nvSpPr>
              <p:cNvPr id="73771" name="Line 164"/>
              <p:cNvSpPr/>
              <p:nvPr/>
            </p:nvSpPr>
            <p:spPr>
              <a:xfrm flipH="1">
                <a:off x="1837" y="2750"/>
                <a:ext cx="400" cy="0"/>
              </a:xfrm>
              <a:prstGeom prst="line">
                <a:avLst/>
              </a:prstGeom>
              <a:ln w="28575" cap="flat" cmpd="sng">
                <a:solidFill>
                  <a:srgbClr val="00FFFF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sp>
            <p:nvSpPr>
              <p:cNvPr id="73772" name="Text Box 165"/>
              <p:cNvSpPr txBox="1"/>
              <p:nvPr/>
            </p:nvSpPr>
            <p:spPr>
              <a:xfrm>
                <a:off x="2245" y="2477"/>
                <a:ext cx="435" cy="327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anchor="ctr" anchorCtr="0">
                <a:spAutoFit/>
              </a:bodyPr>
              <a:p>
                <a:pPr algn="ctr" eaLnBrk="0" hangingPunct="0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b="0" i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i</a:t>
                </a:r>
                <a:r>
                  <a:rPr lang="en-US" altLang="zh-CN" b="0" baseline="-250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2</a:t>
                </a:r>
                <a:endParaRPr lang="en-US" altLang="zh-CN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endParaRPr>
              </a:p>
            </p:txBody>
          </p:sp>
          <p:sp>
            <p:nvSpPr>
              <p:cNvPr id="73773" name="Line 166"/>
              <p:cNvSpPr/>
              <p:nvPr/>
            </p:nvSpPr>
            <p:spPr>
              <a:xfrm>
                <a:off x="630" y="2837"/>
                <a:ext cx="581" cy="0"/>
              </a:xfrm>
              <a:prstGeom prst="line">
                <a:avLst/>
              </a:prstGeom>
              <a:ln w="28575" cap="flat" cmpd="sng">
                <a:solidFill>
                  <a:srgbClr val="FFCC00"/>
                </a:solidFill>
                <a:prstDash val="solid"/>
                <a:round/>
                <a:headEnd type="oval" w="med" len="med"/>
                <a:tailEnd type="none" w="med" len="med"/>
              </a:ln>
            </p:spPr>
          </p:sp>
          <p:sp>
            <p:nvSpPr>
              <p:cNvPr id="73774" name="Line 167"/>
              <p:cNvSpPr/>
              <p:nvPr/>
            </p:nvSpPr>
            <p:spPr>
              <a:xfrm>
                <a:off x="839" y="2750"/>
                <a:ext cx="363" cy="0"/>
              </a:xfrm>
              <a:prstGeom prst="line">
                <a:avLst/>
              </a:prstGeom>
              <a:ln w="28575" cap="flat" cmpd="sng">
                <a:solidFill>
                  <a:srgbClr val="00FFFF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sp>
            <p:nvSpPr>
              <p:cNvPr id="73775" name="Line 168"/>
              <p:cNvSpPr/>
              <p:nvPr/>
            </p:nvSpPr>
            <p:spPr>
              <a:xfrm flipH="1">
                <a:off x="1202" y="2837"/>
                <a:ext cx="9" cy="865"/>
              </a:xfrm>
              <a:prstGeom prst="line">
                <a:avLst/>
              </a:prstGeom>
              <a:ln w="28575" cap="flat" cmpd="sng">
                <a:solidFill>
                  <a:srgbClr val="FFCC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3776" name="Line 169"/>
              <p:cNvSpPr/>
              <p:nvPr/>
            </p:nvSpPr>
            <p:spPr>
              <a:xfrm flipH="1" flipV="1">
                <a:off x="612" y="3702"/>
                <a:ext cx="581" cy="0"/>
              </a:xfrm>
              <a:prstGeom prst="line">
                <a:avLst/>
              </a:prstGeom>
              <a:ln w="28575" cap="flat" cmpd="sng">
                <a:solidFill>
                  <a:srgbClr val="FFCC00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sp>
          <p:sp>
            <p:nvSpPr>
              <p:cNvPr id="73777" name="Text Box 170"/>
              <p:cNvSpPr txBox="1"/>
              <p:nvPr/>
            </p:nvSpPr>
            <p:spPr>
              <a:xfrm>
                <a:off x="567" y="3294"/>
                <a:ext cx="218" cy="327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anchor="ctr" anchorCtr="0">
                <a:spAutoFit/>
              </a:bodyPr>
              <a:p>
                <a:pPr algn="ctr" eaLnBrk="0" hangingPunct="0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_</a:t>
                </a:r>
                <a:endParaRPr lang="en-US" altLang="zh-CN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endParaRPr>
              </a:p>
            </p:txBody>
          </p:sp>
          <p:sp>
            <p:nvSpPr>
              <p:cNvPr id="73778" name="Text Box 171"/>
              <p:cNvSpPr txBox="1"/>
              <p:nvPr/>
            </p:nvSpPr>
            <p:spPr>
              <a:xfrm>
                <a:off x="340" y="3067"/>
                <a:ext cx="490" cy="328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anchor="ctr" anchorCtr="0">
                <a:spAutoFit/>
              </a:bodyPr>
              <a:p>
                <a:pPr algn="ctr" eaLnBrk="0" hangingPunct="0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b="0" i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u</a:t>
                </a:r>
                <a:r>
                  <a:rPr lang="en-US" altLang="zh-CN" b="0" baseline="-250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1</a:t>
                </a:r>
                <a:endParaRPr lang="en-US" altLang="zh-CN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endParaRPr>
              </a:p>
            </p:txBody>
          </p:sp>
          <p:sp>
            <p:nvSpPr>
              <p:cNvPr id="73779" name="Line 174"/>
              <p:cNvSpPr/>
              <p:nvPr/>
            </p:nvSpPr>
            <p:spPr>
              <a:xfrm>
                <a:off x="1610" y="2840"/>
                <a:ext cx="0" cy="862"/>
              </a:xfrm>
              <a:prstGeom prst="line">
                <a:avLst/>
              </a:prstGeom>
              <a:ln w="28575" cap="flat" cmpd="sng">
                <a:solidFill>
                  <a:srgbClr val="FFCC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40815" name="AutoShape 175"/>
              <p:cNvSpPr>
                <a:spLocks noChangeArrowheads="1"/>
              </p:cNvSpPr>
              <p:nvPr/>
            </p:nvSpPr>
            <p:spPr bwMode="auto">
              <a:xfrm rot="5400000">
                <a:off x="1386" y="3018"/>
                <a:ext cx="453" cy="454"/>
              </a:xfrm>
              <a:prstGeom prst="flowChartSort">
                <a:avLst/>
              </a:prstGeom>
              <a:gradFill rotWithShape="1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path path="shape">
                  <a:fillToRect l="50000" t="50000" r="50000" b="50000"/>
                </a:path>
              </a:gradFill>
              <a:ln w="38100">
                <a:solidFill>
                  <a:srgbClr val="FF9900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Arial" panose="020B0604020202020204" pitchFamily="34" charset="0"/>
                  <a:ea typeface="楷体_GB2312" pitchFamily="49" charset="-122"/>
                  <a:cs typeface="+mn-cs"/>
                </a:endParaRPr>
              </a:p>
            </p:txBody>
          </p:sp>
          <p:sp>
            <p:nvSpPr>
              <p:cNvPr id="73781" name="Text Box 176"/>
              <p:cNvSpPr txBox="1"/>
              <p:nvPr/>
            </p:nvSpPr>
            <p:spPr>
              <a:xfrm>
                <a:off x="475" y="2783"/>
                <a:ext cx="290" cy="327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anchor="ctr" anchorCtr="0">
                <a:spAutoFit/>
              </a:bodyPr>
              <a:p>
                <a:pPr algn="ctr" eaLnBrk="0" hangingPunct="0">
                  <a:buClrTx/>
                  <a:buFontTx/>
                  <a:buNone/>
                </a:pPr>
                <a:r>
                  <a:rPr lang="en-US" altLang="zh-CN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+</a:t>
                </a:r>
                <a:endParaRPr lang="en-US" altLang="zh-CN" b="0" dirty="0"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endParaRPr>
              </a:p>
            </p:txBody>
          </p:sp>
          <p:sp>
            <p:nvSpPr>
              <p:cNvPr id="73782" name="Rectangle 177"/>
              <p:cNvSpPr/>
              <p:nvPr/>
            </p:nvSpPr>
            <p:spPr>
              <a:xfrm>
                <a:off x="1156" y="3067"/>
                <a:ext cx="127" cy="318"/>
              </a:xfrm>
              <a:prstGeom prst="rect">
                <a:avLst/>
              </a:prstGeom>
              <a:gradFill rotWithShape="1">
                <a:gsLst>
                  <a:gs pos="0">
                    <a:srgbClr val="764700"/>
                  </a:gs>
                  <a:gs pos="50000">
                    <a:srgbClr val="FF9900"/>
                  </a:gs>
                  <a:gs pos="100000">
                    <a:srgbClr val="764700"/>
                  </a:gs>
                </a:gsLst>
                <a:lin ang="0" scaled="1"/>
                <a:tileRect/>
              </a:gradFill>
              <a:ln w="28575">
                <a:noFill/>
              </a:ln>
            </p:spPr>
            <p:txBody>
              <a:bodyPr wrap="none" anchor="ctr" anchorCtr="0"/>
              <a:p>
                <a:pPr>
                  <a:buClrTx/>
                  <a:buFontTx/>
                  <a:buNone/>
                </a:pPr>
                <a:endParaRPr lang="zh-CN" altLang="en-US" dirty="0">
                  <a:latin typeface="Arial" panose="020B0604020202020204" pitchFamily="34" charset="0"/>
                  <a:ea typeface="楷体_GB2312" pitchFamily="49" charset="-122"/>
                </a:endParaRPr>
              </a:p>
            </p:txBody>
          </p:sp>
          <p:sp>
            <p:nvSpPr>
              <p:cNvPr id="73783" name="Text Box 189"/>
              <p:cNvSpPr txBox="1"/>
              <p:nvPr/>
            </p:nvSpPr>
            <p:spPr>
              <a:xfrm>
                <a:off x="1610" y="2795"/>
                <a:ext cx="290" cy="327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anchor="ctr" anchorCtr="0">
                <a:spAutoFit/>
              </a:bodyPr>
              <a:p>
                <a:pPr algn="ctr" eaLnBrk="0" hangingPunct="0">
                  <a:buClrTx/>
                  <a:buFontTx/>
                  <a:buNone/>
                </a:pPr>
                <a:r>
                  <a:rPr lang="en-US" altLang="zh-CN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+</a:t>
                </a:r>
                <a:endParaRPr lang="en-US" altLang="zh-CN" b="0" dirty="0"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endParaRPr>
              </a:p>
            </p:txBody>
          </p:sp>
          <p:sp>
            <p:nvSpPr>
              <p:cNvPr id="73784" name="Text Box 190"/>
              <p:cNvSpPr txBox="1"/>
              <p:nvPr/>
            </p:nvSpPr>
            <p:spPr>
              <a:xfrm>
                <a:off x="1655" y="3294"/>
                <a:ext cx="218" cy="327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anchor="ctr" anchorCtr="0">
                <a:spAutoFit/>
              </a:bodyPr>
              <a:p>
                <a:pPr algn="ctr" eaLnBrk="0" hangingPunct="0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_</a:t>
                </a:r>
                <a:endParaRPr lang="en-US" altLang="zh-CN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endParaRPr>
              </a:p>
            </p:txBody>
          </p:sp>
        </p:grpSp>
      </p:grpSp>
      <p:grpSp>
        <p:nvGrpSpPr>
          <p:cNvPr id="73785" name="Group 196"/>
          <p:cNvGrpSpPr/>
          <p:nvPr/>
        </p:nvGrpSpPr>
        <p:grpSpPr>
          <a:xfrm>
            <a:off x="6588125" y="6445250"/>
            <a:ext cx="792163" cy="366713"/>
            <a:chOff x="5193" y="4020"/>
            <a:chExt cx="499" cy="231"/>
          </a:xfrm>
        </p:grpSpPr>
        <p:pic>
          <p:nvPicPr>
            <p:cNvPr id="73786" name="Picture 197" descr="78900">
              <a:hlinkClick r:id="" action="ppaction://hlinkshowjump?jump=firstslide"/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73787" name="Text Box 198">
              <a:hlinkClick r:id="" action="ppaction://hlinkshowjump?jump=firs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07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07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40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8" dur="1000"/>
                                        <p:tgtEl>
                                          <p:spTgt spid="240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17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406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406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406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406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407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407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2408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1" dur="1000"/>
                                        <p:tgtEl>
                                          <p:spTgt spid="2407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43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407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407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0644" grpId="0"/>
      <p:bldP spid="240704" grpId="0"/>
      <p:bldP spid="240734" grpId="0"/>
      <p:bldP spid="240762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1690" name="Text Box 26"/>
          <p:cNvSpPr txBox="1"/>
          <p:nvPr/>
        </p:nvSpPr>
        <p:spPr>
          <a:xfrm>
            <a:off x="611188" y="620713"/>
            <a:ext cx="5689600" cy="519112"/>
          </a:xfrm>
          <a:prstGeom prst="rect">
            <a:avLst/>
          </a:prstGeom>
          <a:noFill/>
          <a:ln w="12700">
            <a:noFill/>
          </a:ln>
        </p:spPr>
        <p:txBody>
          <a:bodyPr anchor="ctr" anchorCtr="0">
            <a:spAutoFit/>
          </a:bodyPr>
          <a:p>
            <a:pPr marL="342900" indent="-342900" eaLnBrk="0" hangingPunct="0">
              <a:buAutoNum type="circleNumDbPlain" startAt="4"/>
            </a:pPr>
            <a:r>
              <a:rPr lang="zh-CN" altLang="en-US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电流控制的电压源 </a:t>
            </a:r>
            <a:r>
              <a:rPr lang="en-US" altLang="zh-CN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(</a:t>
            </a:r>
            <a:r>
              <a: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 CCVS </a:t>
            </a:r>
            <a:r>
              <a:rPr lang="en-US" altLang="zh-CN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)</a:t>
            </a:r>
            <a:endParaRPr lang="en-US" altLang="zh-CN" dirty="0">
              <a:latin typeface="楷体_GB2312" pitchFamily="49" charset="-122"/>
              <a:ea typeface="楷体_GB2312" pitchFamily="49" charset="-122"/>
              <a:sym typeface="Symbol" panose="05050102010706020507" pitchFamily="18" charset="2"/>
            </a:endParaRPr>
          </a:p>
        </p:txBody>
      </p:sp>
      <p:graphicFrame>
        <p:nvGraphicFramePr>
          <p:cNvPr id="241691" name="Object 27"/>
          <p:cNvGraphicFramePr>
            <a:graphicFrameLocks noChangeAspect="1"/>
          </p:cNvGraphicFramePr>
          <p:nvPr/>
        </p:nvGraphicFramePr>
        <p:xfrm>
          <a:off x="5795963" y="1125538"/>
          <a:ext cx="1439862" cy="668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0" name="" r:id="rId1" imgW="457200" imgH="202565" progId="Equation.3">
                  <p:embed/>
                </p:oleObj>
              </mc:Choice>
              <mc:Fallback>
                <p:oleObj name="" r:id="rId1" imgW="457200" imgH="202565" progId="Equation.3">
                  <p:embed/>
                  <p:pic>
                    <p:nvPicPr>
                      <p:cNvPr id="0" name="图片 3159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8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795963" y="1125538"/>
                        <a:ext cx="1439862" cy="6683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1692" name="Text Box 28" descr="羊皮纸"/>
          <p:cNvSpPr txBox="1"/>
          <p:nvPr/>
        </p:nvSpPr>
        <p:spPr>
          <a:xfrm>
            <a:off x="5435600" y="1989138"/>
            <a:ext cx="2447925" cy="519112"/>
          </a:xfrm>
          <a:prstGeom prst="rect">
            <a:avLst/>
          </a:prstGeom>
          <a:noFill/>
          <a:ln w="12700">
            <a:noFill/>
          </a:ln>
        </p:spPr>
        <p:txBody>
          <a:bodyPr anchor="ctr" anchorCtr="0">
            <a:spAutoFit/>
          </a:bodyPr>
          <a:p>
            <a:pPr algn="ctr" eaLnBrk="0" hangingPunct="0">
              <a:buClrTx/>
              <a:buFontTx/>
              <a:buNone/>
            </a:pPr>
            <a:r>
              <a:rPr lang="en-US" altLang="zh-CN" b="0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r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: </a:t>
            </a:r>
            <a:r>
              <a:rPr lang="zh-CN" altLang="en-US" dirty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转移电阻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endParaRPr lang="zh-CN" altLang="en-US" dirty="0">
              <a:latin typeface="Times New Roman" panose="02020603050405020304" pitchFamily="18" charset="0"/>
              <a:ea typeface="仿宋_GB2312" pitchFamily="49" charset="-122"/>
              <a:sym typeface="Symbol" panose="05050102010706020507" pitchFamily="18" charset="2"/>
            </a:endParaRPr>
          </a:p>
        </p:txBody>
      </p:sp>
      <p:sp>
        <p:nvSpPr>
          <p:cNvPr id="241693" name="Text Box 29"/>
          <p:cNvSpPr txBox="1"/>
          <p:nvPr/>
        </p:nvSpPr>
        <p:spPr>
          <a:xfrm>
            <a:off x="611188" y="3284538"/>
            <a:ext cx="623887" cy="579437"/>
          </a:xfrm>
          <a:prstGeom prst="rect">
            <a:avLst/>
          </a:prstGeom>
          <a:noFill/>
          <a:ln w="12700">
            <a:noFill/>
          </a:ln>
        </p:spPr>
        <p:txBody>
          <a:bodyPr anchor="ctr" anchorCtr="0">
            <a:spAutoFit/>
          </a:bodyPr>
          <a:p>
            <a:pPr algn="ctr" eaLnBrk="0" hangingPunct="0">
              <a:spcBef>
                <a:spcPct val="50000"/>
              </a:spcBef>
              <a:buClrTx/>
              <a:buFontTx/>
              <a:buNone/>
            </a:pPr>
            <a:r>
              <a:rPr lang="zh-CN" altLang="en-US" sz="3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例</a:t>
            </a:r>
            <a:endParaRPr lang="zh-CN" altLang="en-US" sz="3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grpSp>
        <p:nvGrpSpPr>
          <p:cNvPr id="241731" name="Group 67"/>
          <p:cNvGrpSpPr/>
          <p:nvPr/>
        </p:nvGrpSpPr>
        <p:grpSpPr>
          <a:xfrm>
            <a:off x="539750" y="3429000"/>
            <a:ext cx="3384550" cy="2303463"/>
            <a:chOff x="340" y="2296"/>
            <a:chExt cx="2314" cy="1497"/>
          </a:xfrm>
        </p:grpSpPr>
        <p:grpSp>
          <p:nvGrpSpPr>
            <p:cNvPr id="74758" name="Group 63"/>
            <p:cNvGrpSpPr/>
            <p:nvPr/>
          </p:nvGrpSpPr>
          <p:grpSpPr>
            <a:xfrm>
              <a:off x="340" y="2296"/>
              <a:ext cx="2314" cy="1497"/>
              <a:chOff x="385" y="2713"/>
              <a:chExt cx="1761" cy="1080"/>
            </a:xfrm>
          </p:grpSpPr>
          <p:grpSp>
            <p:nvGrpSpPr>
              <p:cNvPr id="74759" name="Group 32"/>
              <p:cNvGrpSpPr/>
              <p:nvPr/>
            </p:nvGrpSpPr>
            <p:grpSpPr>
              <a:xfrm>
                <a:off x="1153" y="3025"/>
                <a:ext cx="264" cy="240"/>
                <a:chOff x="1344" y="1968"/>
                <a:chExt cx="1344" cy="1344"/>
              </a:xfrm>
            </p:grpSpPr>
            <p:sp>
              <p:nvSpPr>
                <p:cNvPr id="241697" name="Oval 33"/>
                <p:cNvSpPr>
                  <a:spLocks noChangeArrowheads="1"/>
                </p:cNvSpPr>
                <p:nvPr/>
              </p:nvSpPr>
              <p:spPr bwMode="auto">
                <a:xfrm>
                  <a:off x="1391" y="1967"/>
                  <a:ext cx="1295" cy="1346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chemeClr val="hlink">
                        <a:gamma/>
                        <a:shade val="46275"/>
                        <a:invGamma/>
                      </a:schemeClr>
                    </a:gs>
                  </a:gsLst>
                  <a:path path="shape">
                    <a:fillToRect l="50000" t="50000" r="50000" b="50000"/>
                  </a:path>
                </a:gradFill>
                <a:ln w="38100">
                  <a:solidFill>
                    <a:srgbClr val="FF99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rgbClr val="FFFF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楷体_GB2312" pitchFamily="49" charset="-122"/>
                    <a:cs typeface="+mn-cs"/>
                  </a:endParaRPr>
                </a:p>
              </p:txBody>
            </p:sp>
            <p:sp>
              <p:nvSpPr>
                <p:cNvPr id="74761" name="Line 34"/>
                <p:cNvSpPr/>
                <p:nvPr/>
              </p:nvSpPr>
              <p:spPr>
                <a:xfrm>
                  <a:off x="1920" y="2271"/>
                  <a:ext cx="0" cy="762"/>
                </a:xfrm>
                <a:prstGeom prst="line">
                  <a:avLst/>
                </a:prstGeom>
                <a:ln w="38100" cap="flat" cmpd="sng">
                  <a:solidFill>
                    <a:srgbClr val="FF99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74762" name="Line 35"/>
                <p:cNvSpPr/>
                <p:nvPr/>
              </p:nvSpPr>
              <p:spPr>
                <a:xfrm>
                  <a:off x="1920" y="2738"/>
                  <a:ext cx="480" cy="478"/>
                </a:xfrm>
                <a:prstGeom prst="line">
                  <a:avLst/>
                </a:prstGeom>
                <a:ln w="38100" cap="flat" cmpd="sng">
                  <a:solidFill>
                    <a:srgbClr val="FF9900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sp>
            <p:sp>
              <p:nvSpPr>
                <p:cNvPr id="74763" name="Line 36"/>
                <p:cNvSpPr/>
                <p:nvPr/>
              </p:nvSpPr>
              <p:spPr>
                <a:xfrm flipV="1">
                  <a:off x="1920" y="2064"/>
                  <a:ext cx="480" cy="480"/>
                </a:xfrm>
                <a:prstGeom prst="line">
                  <a:avLst/>
                </a:prstGeom>
                <a:ln w="38100" cap="flat" cmpd="sng">
                  <a:solidFill>
                    <a:srgbClr val="FF99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74764" name="Line 37"/>
                <p:cNvSpPr/>
                <p:nvPr/>
              </p:nvSpPr>
              <p:spPr>
                <a:xfrm flipH="1">
                  <a:off x="1344" y="2640"/>
                  <a:ext cx="576" cy="0"/>
                </a:xfrm>
                <a:prstGeom prst="line">
                  <a:avLst/>
                </a:prstGeom>
                <a:ln w="38100" cap="flat" cmpd="sng">
                  <a:solidFill>
                    <a:srgbClr val="FF99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74765" name="Line 38"/>
              <p:cNvSpPr/>
              <p:nvPr/>
            </p:nvSpPr>
            <p:spPr>
              <a:xfrm flipH="1">
                <a:off x="510" y="3145"/>
                <a:ext cx="652" cy="0"/>
              </a:xfrm>
              <a:prstGeom prst="line">
                <a:avLst/>
              </a:prstGeom>
              <a:ln w="28575" cap="flat" cmpd="sng">
                <a:solidFill>
                  <a:srgbClr val="FFCC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4766" name="Rectangle 39"/>
              <p:cNvSpPr/>
              <p:nvPr/>
            </p:nvSpPr>
            <p:spPr>
              <a:xfrm>
                <a:off x="677" y="3079"/>
                <a:ext cx="332" cy="136"/>
              </a:xfrm>
              <a:prstGeom prst="rect">
                <a:avLst/>
              </a:prstGeom>
              <a:gradFill rotWithShape="1">
                <a:gsLst>
                  <a:gs pos="0">
                    <a:srgbClr val="764700"/>
                  </a:gs>
                  <a:gs pos="50000">
                    <a:srgbClr val="FF9900"/>
                  </a:gs>
                  <a:gs pos="100000">
                    <a:srgbClr val="764700"/>
                  </a:gs>
                </a:gsLst>
                <a:lin ang="5400000" scaled="1"/>
                <a:tileRect/>
              </a:gradFill>
              <a:ln w="12700">
                <a:noFill/>
              </a:ln>
            </p:spPr>
            <p:txBody>
              <a:bodyPr anchor="ctr" anchorCtr="0">
                <a:spAutoFit/>
              </a:bodyPr>
              <a:p>
                <a:pPr>
                  <a:buClrTx/>
                  <a:buFontTx/>
                  <a:buNone/>
                </a:pPr>
                <a:endParaRPr lang="zh-CN" altLang="en-US" dirty="0">
                  <a:latin typeface="Arial" panose="020B0604020202020204" pitchFamily="34" charset="0"/>
                  <a:ea typeface="楷体_GB2312" pitchFamily="49" charset="-122"/>
                </a:endParaRPr>
              </a:p>
            </p:txBody>
          </p:sp>
          <p:sp>
            <p:nvSpPr>
              <p:cNvPr id="74767" name="Line 40"/>
              <p:cNvSpPr/>
              <p:nvPr/>
            </p:nvSpPr>
            <p:spPr>
              <a:xfrm>
                <a:off x="1360" y="3248"/>
                <a:ext cx="0" cy="545"/>
              </a:xfrm>
              <a:prstGeom prst="line">
                <a:avLst/>
              </a:prstGeom>
              <a:ln w="28575" cap="flat" cmpd="sng">
                <a:solidFill>
                  <a:srgbClr val="FFCC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4768" name="Line 41"/>
              <p:cNvSpPr/>
              <p:nvPr/>
            </p:nvSpPr>
            <p:spPr>
              <a:xfrm flipV="1">
                <a:off x="1360" y="2785"/>
                <a:ext cx="0" cy="257"/>
              </a:xfrm>
              <a:prstGeom prst="line">
                <a:avLst/>
              </a:prstGeom>
              <a:ln w="28575" cap="flat" cmpd="sng">
                <a:solidFill>
                  <a:srgbClr val="FFCC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4769" name="Line 42"/>
              <p:cNvSpPr/>
              <p:nvPr/>
            </p:nvSpPr>
            <p:spPr>
              <a:xfrm>
                <a:off x="1360" y="2785"/>
                <a:ext cx="657" cy="0"/>
              </a:xfrm>
              <a:prstGeom prst="line">
                <a:avLst/>
              </a:prstGeom>
              <a:ln w="28575" cap="flat" cmpd="sng">
                <a:solidFill>
                  <a:srgbClr val="FFCC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4770" name="Line 43"/>
              <p:cNvSpPr/>
              <p:nvPr/>
            </p:nvSpPr>
            <p:spPr>
              <a:xfrm>
                <a:off x="510" y="3793"/>
                <a:ext cx="1507" cy="0"/>
              </a:xfrm>
              <a:prstGeom prst="line">
                <a:avLst/>
              </a:prstGeom>
              <a:ln w="28575" cap="flat" cmpd="sng">
                <a:solidFill>
                  <a:srgbClr val="FFCC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4771" name="Line 44"/>
              <p:cNvSpPr/>
              <p:nvPr/>
            </p:nvSpPr>
            <p:spPr>
              <a:xfrm>
                <a:off x="510" y="3145"/>
                <a:ext cx="0" cy="648"/>
              </a:xfrm>
              <a:prstGeom prst="line">
                <a:avLst/>
              </a:prstGeom>
              <a:ln w="28575" cap="flat" cmpd="sng">
                <a:solidFill>
                  <a:srgbClr val="FFCC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4772" name="Rectangle 45"/>
              <p:cNvSpPr/>
              <p:nvPr/>
            </p:nvSpPr>
            <p:spPr>
              <a:xfrm>
                <a:off x="1541" y="2713"/>
                <a:ext cx="332" cy="136"/>
              </a:xfrm>
              <a:prstGeom prst="rect">
                <a:avLst/>
              </a:prstGeom>
              <a:gradFill rotWithShape="1">
                <a:gsLst>
                  <a:gs pos="0">
                    <a:srgbClr val="764700"/>
                  </a:gs>
                  <a:gs pos="50000">
                    <a:srgbClr val="FF9900"/>
                  </a:gs>
                  <a:gs pos="100000">
                    <a:srgbClr val="764700"/>
                  </a:gs>
                </a:gsLst>
                <a:lin ang="5400000" scaled="1"/>
                <a:tileRect/>
              </a:gradFill>
              <a:ln w="12700">
                <a:noFill/>
              </a:ln>
            </p:spPr>
            <p:txBody>
              <a:bodyPr anchor="ctr" anchorCtr="0">
                <a:spAutoFit/>
              </a:bodyPr>
              <a:p>
                <a:pPr>
                  <a:buClrTx/>
                  <a:buFontTx/>
                  <a:buNone/>
                </a:pPr>
                <a:endParaRPr lang="zh-CN" altLang="en-US" dirty="0">
                  <a:latin typeface="Arial" panose="020B0604020202020204" pitchFamily="34" charset="0"/>
                  <a:ea typeface="楷体_GB2312" pitchFamily="49" charset="-122"/>
                </a:endParaRPr>
              </a:p>
            </p:txBody>
          </p:sp>
          <p:grpSp>
            <p:nvGrpSpPr>
              <p:cNvPr id="74773" name="Group 46"/>
              <p:cNvGrpSpPr/>
              <p:nvPr/>
            </p:nvGrpSpPr>
            <p:grpSpPr>
              <a:xfrm>
                <a:off x="1885" y="3265"/>
                <a:ext cx="261" cy="192"/>
                <a:chOff x="2112" y="3130"/>
                <a:chExt cx="432" cy="278"/>
              </a:xfrm>
            </p:grpSpPr>
            <p:sp>
              <p:nvSpPr>
                <p:cNvPr id="74774" name="Line 47"/>
                <p:cNvSpPr/>
                <p:nvPr/>
              </p:nvSpPr>
              <p:spPr>
                <a:xfrm>
                  <a:off x="2112" y="3130"/>
                  <a:ext cx="432" cy="0"/>
                </a:xfrm>
                <a:prstGeom prst="line">
                  <a:avLst/>
                </a:prstGeom>
                <a:ln w="38100" cap="flat" cmpd="sng">
                  <a:solidFill>
                    <a:srgbClr val="FF99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74775" name="Line 48"/>
                <p:cNvSpPr/>
                <p:nvPr/>
              </p:nvSpPr>
              <p:spPr>
                <a:xfrm>
                  <a:off x="2208" y="3216"/>
                  <a:ext cx="240" cy="0"/>
                </a:xfrm>
                <a:prstGeom prst="line">
                  <a:avLst/>
                </a:prstGeom>
                <a:ln w="38100" cap="flat" cmpd="sng">
                  <a:solidFill>
                    <a:srgbClr val="FF99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74776" name="Line 49"/>
                <p:cNvSpPr/>
                <p:nvPr/>
              </p:nvSpPr>
              <p:spPr>
                <a:xfrm>
                  <a:off x="2112" y="3322"/>
                  <a:ext cx="432" cy="0"/>
                </a:xfrm>
                <a:prstGeom prst="line">
                  <a:avLst/>
                </a:prstGeom>
                <a:ln w="38100" cap="flat" cmpd="sng">
                  <a:solidFill>
                    <a:srgbClr val="FF99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74777" name="Line 50"/>
                <p:cNvSpPr/>
                <p:nvPr/>
              </p:nvSpPr>
              <p:spPr>
                <a:xfrm>
                  <a:off x="2208" y="3408"/>
                  <a:ext cx="240" cy="0"/>
                </a:xfrm>
                <a:prstGeom prst="line">
                  <a:avLst/>
                </a:prstGeom>
                <a:ln w="38100" cap="flat" cmpd="sng">
                  <a:solidFill>
                    <a:srgbClr val="FF99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74778" name="Line 51"/>
              <p:cNvSpPr/>
              <p:nvPr/>
            </p:nvSpPr>
            <p:spPr>
              <a:xfrm>
                <a:off x="2017" y="2785"/>
                <a:ext cx="0" cy="480"/>
              </a:xfrm>
              <a:prstGeom prst="line">
                <a:avLst/>
              </a:prstGeom>
              <a:ln w="28575" cap="flat" cmpd="sng">
                <a:solidFill>
                  <a:srgbClr val="FFCC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4779" name="Line 52"/>
              <p:cNvSpPr/>
              <p:nvPr/>
            </p:nvSpPr>
            <p:spPr>
              <a:xfrm flipV="1">
                <a:off x="2017" y="3457"/>
                <a:ext cx="0" cy="336"/>
              </a:xfrm>
              <a:prstGeom prst="line">
                <a:avLst/>
              </a:prstGeom>
              <a:ln w="28575" cap="flat" cmpd="sng">
                <a:solidFill>
                  <a:srgbClr val="FFCC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grpSp>
            <p:nvGrpSpPr>
              <p:cNvPr id="74780" name="Group 53"/>
              <p:cNvGrpSpPr/>
              <p:nvPr/>
            </p:nvGrpSpPr>
            <p:grpSpPr>
              <a:xfrm>
                <a:off x="385" y="3361"/>
                <a:ext cx="272" cy="272"/>
                <a:chOff x="1732" y="3033"/>
                <a:chExt cx="620" cy="605"/>
              </a:xfrm>
            </p:grpSpPr>
            <p:sp>
              <p:nvSpPr>
                <p:cNvPr id="241718" name="Oval 54"/>
                <p:cNvSpPr>
                  <a:spLocks noChangeArrowheads="1"/>
                </p:cNvSpPr>
                <p:nvPr/>
              </p:nvSpPr>
              <p:spPr bwMode="auto">
                <a:xfrm>
                  <a:off x="1732" y="3035"/>
                  <a:ext cx="604" cy="603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accent1"/>
                    </a:gs>
                    <a:gs pos="100000">
                      <a:schemeClr val="accent1">
                        <a:gamma/>
                        <a:shade val="46275"/>
                        <a:invGamma/>
                      </a:schemeClr>
                    </a:gs>
                  </a:gsLst>
                  <a:path path="shape">
                    <a:fillToRect l="50000" t="50000" r="50000" b="50000"/>
                  </a:path>
                </a:gradFill>
                <a:ln w="38100">
                  <a:solidFill>
                    <a:srgbClr val="FF99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rgbClr val="FFFF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楷体_GB2312" pitchFamily="49" charset="-122"/>
                    <a:cs typeface="+mn-cs"/>
                  </a:endParaRPr>
                </a:p>
              </p:txBody>
            </p:sp>
            <p:sp>
              <p:nvSpPr>
                <p:cNvPr id="74782" name="Freeform 55"/>
                <p:cNvSpPr/>
                <p:nvPr/>
              </p:nvSpPr>
              <p:spPr>
                <a:xfrm>
                  <a:off x="1752" y="3240"/>
                  <a:ext cx="600" cy="240"/>
                </a:xfrm>
                <a:custGeom>
                  <a:avLst/>
                  <a:gdLst/>
                  <a:ahLst/>
                  <a:cxnLst>
                    <a:cxn ang="0">
                      <a:pos x="0" y="228"/>
                    </a:cxn>
                    <a:cxn ang="0">
                      <a:pos x="84" y="84"/>
                    </a:cxn>
                    <a:cxn ang="0">
                      <a:pos x="168" y="0"/>
                    </a:cxn>
                    <a:cxn ang="0">
                      <a:pos x="216" y="12"/>
                    </a:cxn>
                    <a:cxn ang="0">
                      <a:pos x="324" y="156"/>
                    </a:cxn>
                    <a:cxn ang="0">
                      <a:pos x="468" y="240"/>
                    </a:cxn>
                    <a:cxn ang="0">
                      <a:pos x="600" y="96"/>
                    </a:cxn>
                  </a:cxnLst>
                  <a:pathLst>
                    <a:path w="600" h="240">
                      <a:moveTo>
                        <a:pt x="0" y="228"/>
                      </a:moveTo>
                      <a:cubicBezTo>
                        <a:pt x="16" y="163"/>
                        <a:pt x="26" y="122"/>
                        <a:pt x="84" y="84"/>
                      </a:cubicBezTo>
                      <a:cubicBezTo>
                        <a:pt x="139" y="1"/>
                        <a:pt x="105" y="21"/>
                        <a:pt x="168" y="0"/>
                      </a:cubicBezTo>
                      <a:cubicBezTo>
                        <a:pt x="184" y="4"/>
                        <a:pt x="204" y="1"/>
                        <a:pt x="216" y="12"/>
                      </a:cubicBezTo>
                      <a:cubicBezTo>
                        <a:pt x="257" y="48"/>
                        <a:pt x="282" y="119"/>
                        <a:pt x="324" y="156"/>
                      </a:cubicBezTo>
                      <a:cubicBezTo>
                        <a:pt x="365" y="192"/>
                        <a:pt x="416" y="223"/>
                        <a:pt x="468" y="240"/>
                      </a:cubicBezTo>
                      <a:cubicBezTo>
                        <a:pt x="560" y="222"/>
                        <a:pt x="600" y="194"/>
                        <a:pt x="600" y="96"/>
                      </a:cubicBezTo>
                    </a:path>
                  </a:pathLst>
                </a:custGeom>
                <a:solidFill>
                  <a:schemeClr val="accent1"/>
                </a:solidFill>
                <a:ln w="38100" cap="flat" cmpd="sng">
                  <a:solidFill>
                    <a:srgbClr val="FF99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</p:grpSp>
          <p:sp>
            <p:nvSpPr>
              <p:cNvPr id="74783" name="Line 56"/>
              <p:cNvSpPr/>
              <p:nvPr/>
            </p:nvSpPr>
            <p:spPr>
              <a:xfrm>
                <a:off x="677" y="3324"/>
                <a:ext cx="332" cy="0"/>
              </a:xfrm>
              <a:prstGeom prst="line">
                <a:avLst/>
              </a:prstGeom>
              <a:ln w="28575" cap="flat" cmpd="sng">
                <a:solidFill>
                  <a:srgbClr val="00CCFF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sp>
            <p:nvSpPr>
              <p:cNvPr id="74784" name="Line 59"/>
              <p:cNvSpPr/>
              <p:nvPr/>
            </p:nvSpPr>
            <p:spPr>
              <a:xfrm flipH="1">
                <a:off x="1541" y="2953"/>
                <a:ext cx="332" cy="0"/>
              </a:xfrm>
              <a:prstGeom prst="line">
                <a:avLst/>
              </a:prstGeom>
              <a:ln w="28575" cap="flat" cmpd="sng">
                <a:solidFill>
                  <a:srgbClr val="00CCFF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</p:grpSp>
        <p:graphicFrame>
          <p:nvGraphicFramePr>
            <p:cNvPr id="74785" name="Object 61"/>
            <p:cNvGraphicFramePr>
              <a:graphicFrameLocks noChangeAspect="1"/>
            </p:cNvGraphicFramePr>
            <p:nvPr/>
          </p:nvGraphicFramePr>
          <p:xfrm>
            <a:off x="839" y="3148"/>
            <a:ext cx="230" cy="3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61" name="" r:id="rId3" imgW="109855" imgH="202565" progId="Equation.3">
                    <p:embed/>
                  </p:oleObj>
                </mc:Choice>
                <mc:Fallback>
                  <p:oleObj name="" r:id="rId3" imgW="109855" imgH="202565" progId="Equation.3">
                    <p:embed/>
                    <p:pic>
                      <p:nvPicPr>
                        <p:cNvPr id="0" name="图片 3160"/>
                        <p:cNvPicPr/>
                        <p:nvPr/>
                      </p:nvPicPr>
                      <p:blipFill>
                        <a:blip r:embed="rId4">
                          <a:clrChange>
                            <a:clrFrom>
                              <a:srgbClr val="000000"/>
                            </a:clrFrom>
                            <a:clrTo>
                              <a:srgbClr val="00008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839" y="3148"/>
                          <a:ext cx="230" cy="39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4786" name="Object 62"/>
            <p:cNvGraphicFramePr>
              <a:graphicFrameLocks noChangeAspect="1"/>
            </p:cNvGraphicFramePr>
            <p:nvPr/>
          </p:nvGraphicFramePr>
          <p:xfrm>
            <a:off x="1983" y="2693"/>
            <a:ext cx="209" cy="3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62" name="" r:id="rId5" imgW="98425" imgH="202565" progId="Equation.3">
                    <p:embed/>
                  </p:oleObj>
                </mc:Choice>
                <mc:Fallback>
                  <p:oleObj name="" r:id="rId5" imgW="98425" imgH="202565" progId="Equation.3">
                    <p:embed/>
                    <p:pic>
                      <p:nvPicPr>
                        <p:cNvPr id="0" name="图片 3161"/>
                        <p:cNvPicPr/>
                        <p:nvPr/>
                      </p:nvPicPr>
                      <p:blipFill>
                        <a:blip r:embed="rId6">
                          <a:clrChange>
                            <a:clrFrom>
                              <a:srgbClr val="000000"/>
                            </a:clrFrom>
                            <a:clrTo>
                              <a:srgbClr val="00008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983" y="2693"/>
                          <a:ext cx="209" cy="39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41729" name="Object 65"/>
          <p:cNvGraphicFramePr>
            <a:graphicFrameLocks noChangeAspect="1"/>
          </p:cNvGraphicFramePr>
          <p:nvPr/>
        </p:nvGraphicFramePr>
        <p:xfrm>
          <a:off x="5580063" y="2997200"/>
          <a:ext cx="1385887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3" name="" r:id="rId7" imgW="492125" imgH="202565" progId="Equation.3">
                  <p:embed/>
                </p:oleObj>
              </mc:Choice>
              <mc:Fallback>
                <p:oleObj name="" r:id="rId7" imgW="492125" imgH="202565" progId="Equation.3">
                  <p:embed/>
                  <p:pic>
                    <p:nvPicPr>
                      <p:cNvPr id="0" name="图片 3162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00008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580063" y="2997200"/>
                        <a:ext cx="1385887" cy="596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1730" name="AutoShape 66"/>
          <p:cNvSpPr/>
          <p:nvPr/>
        </p:nvSpPr>
        <p:spPr>
          <a:xfrm rot="-1118616">
            <a:off x="4356100" y="3573463"/>
            <a:ext cx="792163" cy="71437"/>
          </a:xfrm>
          <a:prstGeom prst="rightArrow">
            <a:avLst>
              <a:gd name="adj1" fmla="val 50000"/>
              <a:gd name="adj2" fmla="val 277172"/>
            </a:avLst>
          </a:prstGeom>
          <a:solidFill>
            <a:srgbClr val="FF3300"/>
          </a:solidFill>
          <a:ln w="9525" cap="flat" cmpd="sng">
            <a:solidFill>
              <a:srgbClr val="FF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>
              <a:buClrTx/>
              <a:buFontTx/>
              <a:buNone/>
            </a:pPr>
            <a:endParaRPr lang="zh-CN" altLang="en-US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241732" name="AutoShape 68"/>
          <p:cNvSpPr/>
          <p:nvPr/>
        </p:nvSpPr>
        <p:spPr>
          <a:xfrm>
            <a:off x="4427538" y="4581525"/>
            <a:ext cx="792162" cy="71438"/>
          </a:xfrm>
          <a:prstGeom prst="rightArrow">
            <a:avLst>
              <a:gd name="adj1" fmla="val 50000"/>
              <a:gd name="adj2" fmla="val 277168"/>
            </a:avLst>
          </a:prstGeom>
          <a:solidFill>
            <a:srgbClr val="FF3300"/>
          </a:solidFill>
          <a:ln w="9525" cap="flat" cmpd="sng">
            <a:solidFill>
              <a:srgbClr val="FF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>
              <a:buClrTx/>
              <a:buFontTx/>
              <a:buNone/>
            </a:pPr>
            <a:endParaRPr lang="zh-CN" altLang="en-US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241812" name="AutoShape 148" descr="羊皮纸"/>
          <p:cNvSpPr/>
          <p:nvPr/>
        </p:nvSpPr>
        <p:spPr>
          <a:xfrm>
            <a:off x="4067175" y="5805488"/>
            <a:ext cx="2016125" cy="504825"/>
          </a:xfrm>
          <a:prstGeom prst="wedgeRectCallout">
            <a:avLst>
              <a:gd name="adj1" fmla="val 52676"/>
              <a:gd name="adj2" fmla="val -221699"/>
            </a:avLst>
          </a:prstGeom>
          <a:blipFill rotWithShape="1">
            <a:blip r:embed="rId9"/>
          </a:blip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p>
            <a:pPr algn="ctr" eaLnBrk="0" hangingPunct="0">
              <a:buClrTx/>
              <a:buFontTx/>
              <a:buNone/>
            </a:pP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电路模型</a:t>
            </a:r>
            <a:endParaRPr lang="zh-CN" altLang="en-US" dirty="0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  <a:sym typeface="Symbol" panose="05050102010706020507" pitchFamily="18" charset="2"/>
            </a:endParaRPr>
          </a:p>
        </p:txBody>
      </p:sp>
      <p:grpSp>
        <p:nvGrpSpPr>
          <p:cNvPr id="241878" name="Group 214"/>
          <p:cNvGrpSpPr/>
          <p:nvPr/>
        </p:nvGrpSpPr>
        <p:grpSpPr>
          <a:xfrm>
            <a:off x="5508625" y="3573463"/>
            <a:ext cx="2744788" cy="1944687"/>
            <a:chOff x="3470" y="2251"/>
            <a:chExt cx="1729" cy="1225"/>
          </a:xfrm>
        </p:grpSpPr>
        <p:sp>
          <p:nvSpPr>
            <p:cNvPr id="74792" name="Line 197"/>
            <p:cNvSpPr/>
            <p:nvPr/>
          </p:nvSpPr>
          <p:spPr>
            <a:xfrm>
              <a:off x="4513" y="2614"/>
              <a:ext cx="0" cy="862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4793" name="Line 181"/>
            <p:cNvSpPr/>
            <p:nvPr/>
          </p:nvSpPr>
          <p:spPr>
            <a:xfrm>
              <a:off x="4499" y="3476"/>
              <a:ext cx="694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oval" w="med" len="med"/>
            </a:ln>
          </p:spPr>
        </p:sp>
        <p:sp>
          <p:nvSpPr>
            <p:cNvPr id="74794" name="Line 182"/>
            <p:cNvSpPr/>
            <p:nvPr/>
          </p:nvSpPr>
          <p:spPr>
            <a:xfrm>
              <a:off x="4499" y="2614"/>
              <a:ext cx="649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oval" w="med" len="med"/>
            </a:ln>
          </p:spPr>
        </p:sp>
        <p:sp>
          <p:nvSpPr>
            <p:cNvPr id="74795" name="Text Box 183"/>
            <p:cNvSpPr txBox="1"/>
            <p:nvPr/>
          </p:nvSpPr>
          <p:spPr>
            <a:xfrm>
              <a:off x="4694" y="2886"/>
              <a:ext cx="505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ctr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i</a:t>
              </a:r>
              <a:r>
                <a:rPr lang="en-US" altLang="zh-CN" b="0" baseline="-250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b</a:t>
              </a:r>
              <a:endParaRPr lang="en-US" altLang="zh-CN" b="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74796" name="Line 187"/>
            <p:cNvSpPr/>
            <p:nvPr/>
          </p:nvSpPr>
          <p:spPr>
            <a:xfrm flipH="1">
              <a:off x="4558" y="2660"/>
              <a:ext cx="400" cy="0"/>
            </a:xfrm>
            <a:prstGeom prst="line">
              <a:avLst/>
            </a:prstGeom>
            <a:ln w="28575" cap="flat" cmpd="sng">
              <a:solidFill>
                <a:srgbClr val="00CC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74797" name="Text Box 188"/>
            <p:cNvSpPr txBox="1"/>
            <p:nvPr/>
          </p:nvSpPr>
          <p:spPr>
            <a:xfrm>
              <a:off x="4558" y="2251"/>
              <a:ext cx="435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ctr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i</a:t>
              </a:r>
              <a:r>
                <a:rPr lang="en-US" altLang="zh-CN" b="0" baseline="-250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c</a:t>
              </a:r>
              <a:endPara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74798" name="Line 189"/>
            <p:cNvSpPr/>
            <p:nvPr/>
          </p:nvSpPr>
          <p:spPr>
            <a:xfrm>
              <a:off x="3519" y="2611"/>
              <a:ext cx="581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oval" w="med" len="med"/>
              <a:tailEnd type="none" w="med" len="med"/>
            </a:ln>
          </p:spPr>
        </p:sp>
        <p:sp>
          <p:nvSpPr>
            <p:cNvPr id="74799" name="Line 190"/>
            <p:cNvSpPr/>
            <p:nvPr/>
          </p:nvSpPr>
          <p:spPr>
            <a:xfrm>
              <a:off x="3606" y="2660"/>
              <a:ext cx="363" cy="0"/>
            </a:xfrm>
            <a:prstGeom prst="line">
              <a:avLst/>
            </a:prstGeom>
            <a:ln w="28575" cap="flat" cmpd="sng">
              <a:solidFill>
                <a:srgbClr val="00CC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74800" name="Line 191"/>
            <p:cNvSpPr/>
            <p:nvPr/>
          </p:nvSpPr>
          <p:spPr>
            <a:xfrm flipH="1">
              <a:off x="4091" y="2611"/>
              <a:ext cx="9" cy="865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4801" name="Line 192"/>
            <p:cNvSpPr/>
            <p:nvPr/>
          </p:nvSpPr>
          <p:spPr>
            <a:xfrm flipH="1" flipV="1">
              <a:off x="3501" y="3476"/>
              <a:ext cx="581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oval" w="med" len="med"/>
            </a:ln>
          </p:spPr>
        </p:sp>
        <p:sp>
          <p:nvSpPr>
            <p:cNvPr id="74802" name="Text Box 195"/>
            <p:cNvSpPr txBox="1"/>
            <p:nvPr/>
          </p:nvSpPr>
          <p:spPr>
            <a:xfrm>
              <a:off x="3470" y="2251"/>
              <a:ext cx="527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ctr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i</a:t>
              </a:r>
              <a:r>
                <a:rPr lang="en-US" altLang="zh-CN" b="0" baseline="-250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b</a:t>
              </a:r>
              <a:endPara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74803" name="Line 196"/>
            <p:cNvSpPr/>
            <p:nvPr/>
          </p:nvSpPr>
          <p:spPr>
            <a:xfrm>
              <a:off x="4513" y="3249"/>
              <a:ext cx="0" cy="226"/>
            </a:xfrm>
            <a:prstGeom prst="line">
              <a:avLst/>
            </a:prstGeom>
            <a:ln w="38100" cap="flat" cmpd="sng">
              <a:solidFill>
                <a:srgbClr val="00FF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41862" name="AutoShape 198"/>
            <p:cNvSpPr>
              <a:spLocks noChangeArrowheads="1"/>
            </p:cNvSpPr>
            <p:nvPr/>
          </p:nvSpPr>
          <p:spPr bwMode="auto">
            <a:xfrm>
              <a:off x="4272" y="2796"/>
              <a:ext cx="453" cy="454"/>
            </a:xfrm>
            <a:prstGeom prst="flowChartSort">
              <a:avLst/>
            </a:prstGeom>
            <a:gradFill rotWithShape="1">
              <a:gsLst>
                <a:gs pos="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 w="38100">
              <a:solidFill>
                <a:srgbClr val="FF99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endParaRPr>
            </a:p>
          </p:txBody>
        </p:sp>
        <p:sp>
          <p:nvSpPr>
            <p:cNvPr id="74805" name="Rectangle 200"/>
            <p:cNvSpPr/>
            <p:nvPr/>
          </p:nvSpPr>
          <p:spPr>
            <a:xfrm>
              <a:off x="4045" y="2841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>
                <a:buClrTx/>
                <a:buFontTx/>
                <a:buNone/>
              </a:pPr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</p:grpSp>
      <p:grpSp>
        <p:nvGrpSpPr>
          <p:cNvPr id="74806" name="Group 202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74807" name="Picture 203" descr="78900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74808" name="Text Box 204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74809" name="Group 205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74810" name="Picture 206" descr="78900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74811" name="Text Box 207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241877" name="Group 213"/>
          <p:cNvGrpSpPr/>
          <p:nvPr/>
        </p:nvGrpSpPr>
        <p:grpSpPr>
          <a:xfrm>
            <a:off x="611188" y="981075"/>
            <a:ext cx="4017962" cy="2016125"/>
            <a:chOff x="385" y="618"/>
            <a:chExt cx="2531" cy="1270"/>
          </a:xfrm>
        </p:grpSpPr>
        <p:sp>
          <p:nvSpPr>
            <p:cNvPr id="74813" name="Text Box 160"/>
            <p:cNvSpPr txBox="1"/>
            <p:nvPr/>
          </p:nvSpPr>
          <p:spPr>
            <a:xfrm>
              <a:off x="1882" y="1227"/>
              <a:ext cx="639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ctr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ri</a:t>
              </a:r>
              <a:r>
                <a:rPr lang="en-US" altLang="zh-CN" b="0" baseline="-250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1</a:t>
              </a:r>
              <a:endParaRPr lang="en-US" altLang="zh-CN" b="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74814" name="Line 161"/>
            <p:cNvSpPr/>
            <p:nvPr/>
          </p:nvSpPr>
          <p:spPr>
            <a:xfrm>
              <a:off x="1655" y="1888"/>
              <a:ext cx="1016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oval" w="med" len="med"/>
            </a:ln>
          </p:spPr>
        </p:sp>
        <p:sp>
          <p:nvSpPr>
            <p:cNvPr id="74815" name="Line 162"/>
            <p:cNvSpPr/>
            <p:nvPr/>
          </p:nvSpPr>
          <p:spPr>
            <a:xfrm>
              <a:off x="1655" y="1026"/>
              <a:ext cx="1016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oval" w="med" len="med"/>
            </a:ln>
          </p:spPr>
        </p:sp>
        <p:sp>
          <p:nvSpPr>
            <p:cNvPr id="74816" name="Text Box 163"/>
            <p:cNvSpPr txBox="1"/>
            <p:nvPr/>
          </p:nvSpPr>
          <p:spPr>
            <a:xfrm>
              <a:off x="2471" y="981"/>
              <a:ext cx="290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ctr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+</a:t>
              </a:r>
              <a:endPara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74817" name="Text Box 164"/>
            <p:cNvSpPr txBox="1"/>
            <p:nvPr/>
          </p:nvSpPr>
          <p:spPr>
            <a:xfrm>
              <a:off x="2426" y="1480"/>
              <a:ext cx="345" cy="326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ctr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_</a:t>
              </a:r>
              <a:endPara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74818" name="Text Box 165"/>
            <p:cNvSpPr txBox="1"/>
            <p:nvPr/>
          </p:nvSpPr>
          <p:spPr>
            <a:xfrm>
              <a:off x="2426" y="1253"/>
              <a:ext cx="490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ctr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u</a:t>
              </a:r>
              <a:r>
                <a:rPr lang="en-US" altLang="zh-CN" b="0" baseline="-250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2</a:t>
              </a:r>
              <a:endPara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74819" name="Line 166"/>
            <p:cNvSpPr/>
            <p:nvPr/>
          </p:nvSpPr>
          <p:spPr>
            <a:xfrm flipH="1">
              <a:off x="1882" y="936"/>
              <a:ext cx="400" cy="0"/>
            </a:xfrm>
            <a:prstGeom prst="line">
              <a:avLst/>
            </a:prstGeom>
            <a:ln w="28575" cap="flat" cmpd="sng">
              <a:solidFill>
                <a:srgbClr val="00CC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74820" name="Text Box 167"/>
            <p:cNvSpPr txBox="1"/>
            <p:nvPr/>
          </p:nvSpPr>
          <p:spPr>
            <a:xfrm>
              <a:off x="2290" y="663"/>
              <a:ext cx="435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ctr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i</a:t>
              </a:r>
              <a:r>
                <a:rPr lang="en-US" altLang="zh-CN" b="0" baseline="-250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2</a:t>
              </a:r>
              <a:endPara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74821" name="Line 168"/>
            <p:cNvSpPr/>
            <p:nvPr/>
          </p:nvSpPr>
          <p:spPr>
            <a:xfrm>
              <a:off x="675" y="1023"/>
              <a:ext cx="581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oval" w="med" len="med"/>
              <a:tailEnd type="none" w="med" len="med"/>
            </a:ln>
          </p:spPr>
        </p:sp>
        <p:sp>
          <p:nvSpPr>
            <p:cNvPr id="74822" name="Line 169"/>
            <p:cNvSpPr/>
            <p:nvPr/>
          </p:nvSpPr>
          <p:spPr>
            <a:xfrm>
              <a:off x="884" y="936"/>
              <a:ext cx="363" cy="0"/>
            </a:xfrm>
            <a:prstGeom prst="line">
              <a:avLst/>
            </a:prstGeom>
            <a:ln w="28575" cap="flat" cmpd="sng">
              <a:solidFill>
                <a:srgbClr val="00CC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74823" name="Line 170"/>
            <p:cNvSpPr/>
            <p:nvPr/>
          </p:nvSpPr>
          <p:spPr>
            <a:xfrm flipH="1">
              <a:off x="1247" y="1023"/>
              <a:ext cx="9" cy="865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4824" name="Line 171"/>
            <p:cNvSpPr/>
            <p:nvPr/>
          </p:nvSpPr>
          <p:spPr>
            <a:xfrm flipH="1" flipV="1">
              <a:off x="657" y="1888"/>
              <a:ext cx="581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oval" w="med" len="med"/>
            </a:ln>
          </p:spPr>
        </p:sp>
        <p:sp>
          <p:nvSpPr>
            <p:cNvPr id="74825" name="Text Box 172"/>
            <p:cNvSpPr txBox="1"/>
            <p:nvPr/>
          </p:nvSpPr>
          <p:spPr>
            <a:xfrm>
              <a:off x="612" y="1480"/>
              <a:ext cx="218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ctr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_</a:t>
              </a:r>
              <a:endPara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74826" name="Text Box 173"/>
            <p:cNvSpPr txBox="1"/>
            <p:nvPr/>
          </p:nvSpPr>
          <p:spPr>
            <a:xfrm>
              <a:off x="385" y="1298"/>
              <a:ext cx="490" cy="328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ctr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u</a:t>
              </a:r>
              <a:r>
                <a:rPr lang="en-US" altLang="zh-CN" b="0" baseline="-250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1</a:t>
              </a:r>
              <a:endPara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74827" name="Text Box 174"/>
            <p:cNvSpPr txBox="1"/>
            <p:nvPr/>
          </p:nvSpPr>
          <p:spPr>
            <a:xfrm>
              <a:off x="475" y="618"/>
              <a:ext cx="527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ctr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i</a:t>
              </a:r>
              <a:r>
                <a:rPr lang="en-US" altLang="zh-CN" b="0" baseline="-250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1</a:t>
              </a:r>
              <a:endPara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74828" name="Line 176"/>
            <p:cNvSpPr/>
            <p:nvPr/>
          </p:nvSpPr>
          <p:spPr>
            <a:xfrm>
              <a:off x="1655" y="1026"/>
              <a:ext cx="0" cy="862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41841" name="AutoShape 177"/>
            <p:cNvSpPr>
              <a:spLocks noChangeArrowheads="1"/>
            </p:cNvSpPr>
            <p:nvPr/>
          </p:nvSpPr>
          <p:spPr bwMode="auto">
            <a:xfrm rot="5400000">
              <a:off x="1431" y="1206"/>
              <a:ext cx="453" cy="454"/>
            </a:xfrm>
            <a:prstGeom prst="flowChartSort">
              <a:avLst/>
            </a:prstGeom>
            <a:gradFill rotWithShape="1">
              <a:gsLst>
                <a:gs pos="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 w="38100">
              <a:solidFill>
                <a:srgbClr val="FF99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endParaRPr>
            </a:p>
          </p:txBody>
        </p:sp>
        <p:sp>
          <p:nvSpPr>
            <p:cNvPr id="74830" name="Text Box 178"/>
            <p:cNvSpPr txBox="1"/>
            <p:nvPr/>
          </p:nvSpPr>
          <p:spPr>
            <a:xfrm>
              <a:off x="520" y="969"/>
              <a:ext cx="290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ctr" anchorCtr="0">
              <a:spAutoFit/>
            </a:bodyPr>
            <a:p>
              <a:pPr algn="ctr" eaLnBrk="0" hangingPunct="0">
                <a:buClrTx/>
                <a:buFontTx/>
                <a:buNone/>
              </a:pPr>
              <a:r>
                <a:rPr lang="en-US" altLang="zh-CN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+</a:t>
              </a:r>
              <a:endParaRPr lang="en-US" altLang="zh-CN" b="0" dirty="0"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74831" name="Rectangle 179"/>
            <p:cNvSpPr/>
            <p:nvPr/>
          </p:nvSpPr>
          <p:spPr>
            <a:xfrm>
              <a:off x="1201" y="1253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>
                <a:buClrTx/>
                <a:buFontTx/>
                <a:buNone/>
              </a:pPr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74832" name="Text Box 211"/>
            <p:cNvSpPr txBox="1"/>
            <p:nvPr/>
          </p:nvSpPr>
          <p:spPr>
            <a:xfrm>
              <a:off x="1701" y="981"/>
              <a:ext cx="290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ctr" anchorCtr="0">
              <a:spAutoFit/>
            </a:bodyPr>
            <a:p>
              <a:pPr algn="ctr" eaLnBrk="0" hangingPunct="0">
                <a:buClrTx/>
                <a:buFontTx/>
                <a:buNone/>
              </a:pPr>
              <a:r>
                <a:rPr lang="en-US" altLang="zh-CN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+</a:t>
              </a:r>
              <a:endParaRPr lang="en-US" altLang="zh-CN" b="0" dirty="0"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74833" name="Text Box 212"/>
            <p:cNvSpPr txBox="1"/>
            <p:nvPr/>
          </p:nvSpPr>
          <p:spPr>
            <a:xfrm>
              <a:off x="1746" y="1480"/>
              <a:ext cx="218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ctr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_</a:t>
              </a:r>
              <a:endPara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</p:grpSp>
      <p:grpSp>
        <p:nvGrpSpPr>
          <p:cNvPr id="74834" name="Group 218"/>
          <p:cNvGrpSpPr/>
          <p:nvPr/>
        </p:nvGrpSpPr>
        <p:grpSpPr>
          <a:xfrm>
            <a:off x="6588125" y="6445250"/>
            <a:ext cx="792163" cy="366713"/>
            <a:chOff x="5193" y="4020"/>
            <a:chExt cx="499" cy="231"/>
          </a:xfrm>
        </p:grpSpPr>
        <p:pic>
          <p:nvPicPr>
            <p:cNvPr id="74835" name="Picture 219" descr="78900">
              <a:hlinkClick r:id="" action="ppaction://hlinkshowjump?jump=firstslide"/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74836" name="Text Box 220">
              <a:hlinkClick r:id="" action="ppaction://hlinkshowjump?jump=firs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16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16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418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8" dur="1000"/>
                                        <p:tgtEl>
                                          <p:spTgt spid="241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416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416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416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416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416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416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36" dur="2000"/>
                                        <p:tgtEl>
                                          <p:spTgt spid="241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241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5" dur="500"/>
                                        <p:tgtEl>
                                          <p:spTgt spid="241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0" dur="500"/>
                                        <p:tgtEl>
                                          <p:spTgt spid="241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2418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000"/>
                            </p:stCondLst>
                            <p:childTnLst>
                              <p:par>
                                <p:cTn id="56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58" dur="2000"/>
                                        <p:tgtEl>
                                          <p:spTgt spid="2418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1690" grpId="0"/>
      <p:bldP spid="241692" grpId="0"/>
      <p:bldP spid="241693" grpId="0"/>
      <p:bldP spid="241730" grpId="0" animBg="1"/>
      <p:bldP spid="241732" grpId="0" animBg="1"/>
      <p:bldP spid="241812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2692" name="Text Box 4"/>
          <p:cNvSpPr txBox="1"/>
          <p:nvPr/>
        </p:nvSpPr>
        <p:spPr>
          <a:xfrm>
            <a:off x="395288" y="549275"/>
            <a:ext cx="5545137" cy="579438"/>
          </a:xfrm>
          <a:prstGeom prst="rect">
            <a:avLst/>
          </a:prstGeom>
          <a:noFill/>
          <a:ln w="12700">
            <a:noFill/>
          </a:ln>
        </p:spPr>
        <p:txBody>
          <a:bodyPr anchor="ctr" anchorCtr="0">
            <a:spAutoFit/>
          </a:bodyPr>
          <a:p>
            <a:pPr eaLnBrk="0" hangingPunct="0">
              <a:spcBef>
                <a:spcPct val="50000"/>
              </a:spcBef>
              <a:buClrTx/>
              <a:buFontTx/>
              <a:buNone/>
            </a:pPr>
            <a:r>
              <a:rPr lang="en-US" altLang="zh-CN" sz="32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3.</a:t>
            </a:r>
            <a:r>
              <a:rPr lang="zh-CN" altLang="en-US" sz="32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受控源与独立源的比较</a:t>
            </a:r>
            <a:endParaRPr lang="zh-CN" altLang="en-US" sz="3200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  <a:sym typeface="Symbol" panose="05050102010706020507" pitchFamily="18" charset="2"/>
            </a:endParaRPr>
          </a:p>
        </p:txBody>
      </p:sp>
      <p:sp>
        <p:nvSpPr>
          <p:cNvPr id="242693" name="Text Box 5"/>
          <p:cNvSpPr txBox="1"/>
          <p:nvPr/>
        </p:nvSpPr>
        <p:spPr>
          <a:xfrm>
            <a:off x="611188" y="1125538"/>
            <a:ext cx="7632700" cy="1630362"/>
          </a:xfrm>
          <a:prstGeom prst="rect">
            <a:avLst/>
          </a:prstGeom>
          <a:noFill/>
          <a:ln w="12700">
            <a:noFill/>
          </a:ln>
        </p:spPr>
        <p:txBody>
          <a:bodyPr anchor="ctr" anchorCtr="0">
            <a:spAutoFit/>
          </a:bodyPr>
          <a:p>
            <a:pPr marL="381000" indent="-381000" algn="just" eaLnBrk="0" hangingPunct="0">
              <a:lnSpc>
                <a:spcPct val="120000"/>
              </a:lnSpc>
              <a:buAutoNum type="circleNumDbPlain"/>
            </a:pPr>
            <a:r>
              <a:rPr lang="zh-CN" altLang="en-US" dirty="0">
                <a:solidFill>
                  <a:srgbClr val="F8FF65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独立源电压</a:t>
            </a:r>
            <a:r>
              <a:rPr lang="en-US" altLang="zh-CN" dirty="0">
                <a:solidFill>
                  <a:srgbClr val="F8FF65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(</a:t>
            </a:r>
            <a:r>
              <a:rPr lang="zh-CN" altLang="en-US" dirty="0">
                <a:solidFill>
                  <a:srgbClr val="F8FF65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或电流</a:t>
            </a:r>
            <a:r>
              <a:rPr lang="en-US" altLang="zh-CN" dirty="0">
                <a:solidFill>
                  <a:srgbClr val="F8FF65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)</a:t>
            </a:r>
            <a:r>
              <a:rPr lang="zh-CN" altLang="en-US" dirty="0">
                <a:solidFill>
                  <a:srgbClr val="F8FF65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由电源本身决定，与电路中其它电压、电流无关，而受控源电压</a:t>
            </a:r>
            <a:r>
              <a:rPr lang="en-US" altLang="zh-CN" dirty="0">
                <a:solidFill>
                  <a:srgbClr val="F8FF65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(</a:t>
            </a:r>
            <a:r>
              <a:rPr lang="zh-CN" altLang="en-US" dirty="0">
                <a:solidFill>
                  <a:srgbClr val="F8FF65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或电流</a:t>
            </a:r>
            <a:r>
              <a:rPr lang="en-US" altLang="zh-CN" dirty="0">
                <a:solidFill>
                  <a:srgbClr val="F8FF65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)</a:t>
            </a:r>
            <a:r>
              <a:rPr lang="zh-CN" altLang="en-US" dirty="0">
                <a:solidFill>
                  <a:srgbClr val="F8FF65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由控制量决定。</a:t>
            </a:r>
            <a:endParaRPr lang="zh-CN" altLang="en-US" dirty="0">
              <a:solidFill>
                <a:srgbClr val="F8FF65"/>
              </a:solidFill>
              <a:latin typeface="楷体_GB2312" pitchFamily="49" charset="-122"/>
              <a:ea typeface="楷体_GB2312" pitchFamily="49" charset="-122"/>
              <a:sym typeface="Symbol" panose="05050102010706020507" pitchFamily="18" charset="2"/>
            </a:endParaRPr>
          </a:p>
        </p:txBody>
      </p:sp>
      <p:sp>
        <p:nvSpPr>
          <p:cNvPr id="242694" name="Text Box 6"/>
          <p:cNvSpPr txBox="1"/>
          <p:nvPr/>
        </p:nvSpPr>
        <p:spPr>
          <a:xfrm>
            <a:off x="611188" y="2708275"/>
            <a:ext cx="7920037" cy="2143125"/>
          </a:xfrm>
          <a:prstGeom prst="rect">
            <a:avLst/>
          </a:prstGeom>
          <a:noFill/>
          <a:ln w="12700">
            <a:noFill/>
          </a:ln>
        </p:spPr>
        <p:txBody>
          <a:bodyPr anchor="ctr" anchorCtr="0">
            <a:spAutoFit/>
          </a:bodyPr>
          <a:p>
            <a:pPr marL="381000" indent="-381000" algn="just" eaLnBrk="0" hangingPunct="0">
              <a:lnSpc>
                <a:spcPct val="120000"/>
              </a:lnSpc>
              <a:buAutoNum type="circleNumDbPlain" startAt="2"/>
            </a:pPr>
            <a:r>
              <a:rPr lang="zh-CN" altLang="en-US" dirty="0">
                <a:solidFill>
                  <a:srgbClr val="F8FF65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独立源在电路中起</a:t>
            </a:r>
            <a:r>
              <a:rPr lang="zh-CN" altLang="en-US" dirty="0">
                <a:solidFill>
                  <a:srgbClr val="F8FF65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“</a:t>
            </a:r>
            <a:r>
              <a:rPr lang="zh-CN" altLang="en-US" dirty="0">
                <a:solidFill>
                  <a:srgbClr val="F8FF65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激励</a:t>
            </a:r>
            <a:r>
              <a:rPr lang="zh-CN" altLang="en-US" dirty="0">
                <a:solidFill>
                  <a:srgbClr val="F8FF65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”</a:t>
            </a:r>
            <a:r>
              <a:rPr lang="zh-CN" altLang="en-US" dirty="0">
                <a:solidFill>
                  <a:srgbClr val="F8FF65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作用，在电路中产生电压、电流，而受控源是反映电路中某处的电压或电流对另一处的</a:t>
            </a:r>
            <a:r>
              <a:rPr lang="zh-CN" altLang="en-US" dirty="0">
                <a:solidFill>
                  <a:srgbClr val="F8FF65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电压或电流</a:t>
            </a:r>
            <a:r>
              <a:rPr lang="zh-CN" altLang="en-US" dirty="0">
                <a:solidFill>
                  <a:srgbClr val="F8FF65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的控制关系，在电路中不能作为</a:t>
            </a:r>
            <a:r>
              <a:rPr lang="zh-CN" altLang="en-US" dirty="0">
                <a:solidFill>
                  <a:srgbClr val="F8FF65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“</a:t>
            </a:r>
            <a:r>
              <a:rPr lang="zh-CN" altLang="en-US" dirty="0">
                <a:solidFill>
                  <a:srgbClr val="F8FF65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激励</a:t>
            </a:r>
            <a:r>
              <a:rPr lang="zh-CN" altLang="en-US" dirty="0">
                <a:solidFill>
                  <a:srgbClr val="F8FF65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”</a:t>
            </a:r>
            <a:r>
              <a:rPr lang="zh-CN" altLang="en-US" dirty="0">
                <a:solidFill>
                  <a:srgbClr val="F8FF65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。</a:t>
            </a:r>
            <a:endParaRPr lang="zh-CN" altLang="en-US" dirty="0">
              <a:solidFill>
                <a:srgbClr val="F8FF65"/>
              </a:solidFill>
              <a:latin typeface="楷体_GB2312" pitchFamily="49" charset="-122"/>
              <a:ea typeface="楷体_GB2312" pitchFamily="49" charset="-122"/>
              <a:sym typeface="Symbol" panose="05050102010706020507" pitchFamily="18" charset="2"/>
            </a:endParaRPr>
          </a:p>
        </p:txBody>
      </p:sp>
      <p:grpSp>
        <p:nvGrpSpPr>
          <p:cNvPr id="75780" name="Group 75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75781" name="Picture 76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75782" name="Text Box 77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75783" name="Group 78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75784" name="Picture 79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75785" name="Text Box 80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75786" name="Group 87"/>
          <p:cNvGrpSpPr/>
          <p:nvPr/>
        </p:nvGrpSpPr>
        <p:grpSpPr>
          <a:xfrm>
            <a:off x="6588125" y="6445250"/>
            <a:ext cx="792163" cy="366713"/>
            <a:chOff x="5193" y="4020"/>
            <a:chExt cx="499" cy="231"/>
          </a:xfrm>
        </p:grpSpPr>
        <p:pic>
          <p:nvPicPr>
            <p:cNvPr id="75787" name="Picture 88" descr="78900">
              <a:hlinkClick r:id="" action="ppaction://hlinkshowjump?jump=firstslide"/>
            </p:cNvPr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75788" name="Text Box 89">
              <a:hlinkClick r:id="" action="ppaction://hlinkshowjump?jump=firs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" fill="hold"/>
                                        <p:tgtEl>
                                          <p:spTgt spid="2426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300" fill="hold"/>
                                        <p:tgtEl>
                                          <p:spTgt spid="2426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" fill="hold"/>
                                        <p:tgtEl>
                                          <p:spTgt spid="2426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" fill="hold"/>
                                        <p:tgtEl>
                                          <p:spTgt spid="2426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" fill="hold"/>
                                        <p:tgtEl>
                                          <p:spTgt spid="2426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" fill="hold"/>
                                        <p:tgtEl>
                                          <p:spTgt spid="2426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00"/>
                                        <p:tgtEl>
                                          <p:spTgt spid="2426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2692" grpId="0"/>
      <p:bldP spid="242693" grpId="0"/>
      <p:bldP spid="242694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62859" name="Text Box 11"/>
          <p:cNvSpPr txBox="1"/>
          <p:nvPr/>
        </p:nvSpPr>
        <p:spPr>
          <a:xfrm>
            <a:off x="827088" y="765175"/>
            <a:ext cx="647700" cy="5794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ctr" eaLnBrk="0" hangingPunct="0">
              <a:spcBef>
                <a:spcPct val="50000"/>
              </a:spcBef>
              <a:buClrTx/>
              <a:buFontTx/>
              <a:buNone/>
            </a:pPr>
            <a:r>
              <a:rPr lang="zh-CN" altLang="en-US" sz="320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例</a:t>
            </a:r>
            <a:endParaRPr lang="zh-CN" altLang="en-US" sz="3200" dirty="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462860" name="Rectangle 12"/>
          <p:cNvSpPr/>
          <p:nvPr/>
        </p:nvSpPr>
        <p:spPr>
          <a:xfrm>
            <a:off x="1474788" y="836613"/>
            <a:ext cx="2376487" cy="519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ctr" eaLnBrk="0" hangingPunct="0">
              <a:buClrTx/>
              <a:buFontTx/>
              <a:buNone/>
            </a:pPr>
            <a:r>
              <a:rPr lang="zh-CN" altLang="en-US" dirty="0">
                <a:solidFill>
                  <a:srgbClr val="F8FF65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求：电压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u</a:t>
            </a:r>
            <a:r>
              <a:rPr lang="en-US" altLang="zh-CN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2</a:t>
            </a:r>
            <a:endParaRPr lang="en-US" altLang="zh-CN" baseline="-25000" dirty="0">
              <a:solidFill>
                <a:schemeClr val="tx1"/>
              </a:solidFill>
              <a:latin typeface="Times New Roman" panose="02020603050405020304" pitchFamily="18" charset="0"/>
              <a:ea typeface="楷体_GB2312" pitchFamily="49" charset="-122"/>
              <a:sym typeface="Symbol" panose="05050102010706020507" pitchFamily="18" charset="2"/>
            </a:endParaRPr>
          </a:p>
        </p:txBody>
      </p:sp>
      <p:sp>
        <p:nvSpPr>
          <p:cNvPr id="462878" name="Text Box 30"/>
          <p:cNvSpPr txBox="1"/>
          <p:nvPr/>
        </p:nvSpPr>
        <p:spPr>
          <a:xfrm>
            <a:off x="827088" y="1773238"/>
            <a:ext cx="647700" cy="519112"/>
          </a:xfrm>
          <a:prstGeom prst="rect">
            <a:avLst/>
          </a:prstGeom>
          <a:solidFill>
            <a:srgbClr val="990033"/>
          </a:solidFill>
          <a:ln w="9525">
            <a:noFill/>
          </a:ln>
        </p:spPr>
        <p:txBody>
          <a:bodyPr anchor="t" anchorCtr="0">
            <a:spAutoFit/>
          </a:bodyPr>
          <a:p>
            <a:pPr algn="ctr" eaLnBrk="0" hangingPunct="0">
              <a:spcBef>
                <a:spcPct val="50000"/>
              </a:spcBef>
              <a:buClrTx/>
              <a:buFontTx/>
              <a:buNone/>
            </a:pPr>
            <a:r>
              <a:rPr lang="zh-CN" altLang="en-US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解</a:t>
            </a:r>
            <a:endParaRPr lang="zh-CN" altLang="en-US" dirty="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graphicFrame>
        <p:nvGraphicFramePr>
          <p:cNvPr id="462879" name="Object 31"/>
          <p:cNvGraphicFramePr>
            <a:graphicFrameLocks noChangeAspect="1"/>
          </p:cNvGraphicFramePr>
          <p:nvPr/>
        </p:nvGraphicFramePr>
        <p:xfrm>
          <a:off x="1476375" y="2401888"/>
          <a:ext cx="1949450" cy="739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4" name="" r:id="rId1" imgW="804545" imgH="295275" progId="Equation.3">
                  <p:embed/>
                </p:oleObj>
              </mc:Choice>
              <mc:Fallback>
                <p:oleObj name="" r:id="rId1" imgW="804545" imgH="295275" progId="Equation.3">
                  <p:embed/>
                  <p:pic>
                    <p:nvPicPr>
                      <p:cNvPr id="0" name="图片 3163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8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476375" y="2401888"/>
                        <a:ext cx="1949450" cy="7397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2880" name="Object 32"/>
          <p:cNvGraphicFramePr>
            <a:graphicFrameLocks noChangeAspect="1"/>
          </p:cNvGraphicFramePr>
          <p:nvPr/>
        </p:nvGraphicFramePr>
        <p:xfrm>
          <a:off x="1468438" y="3322638"/>
          <a:ext cx="2959100" cy="898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5" name="" r:id="rId3" imgW="1232535" imgH="364490" progId="Equation.3">
                  <p:embed/>
                </p:oleObj>
              </mc:Choice>
              <mc:Fallback>
                <p:oleObj name="" r:id="rId3" imgW="1232535" imgH="364490" progId="Equation.3">
                  <p:embed/>
                  <p:pic>
                    <p:nvPicPr>
                      <p:cNvPr id="0" name="图片 3164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8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468438" y="3322638"/>
                        <a:ext cx="2959100" cy="8985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62882" name="Group 34"/>
          <p:cNvGrpSpPr/>
          <p:nvPr/>
        </p:nvGrpSpPr>
        <p:grpSpPr>
          <a:xfrm>
            <a:off x="3995738" y="692150"/>
            <a:ext cx="3954462" cy="2159000"/>
            <a:chOff x="2517" y="436"/>
            <a:chExt cx="2491" cy="1360"/>
          </a:xfrm>
        </p:grpSpPr>
        <p:grpSp>
          <p:nvGrpSpPr>
            <p:cNvPr id="76807" name="Group 13"/>
            <p:cNvGrpSpPr/>
            <p:nvPr/>
          </p:nvGrpSpPr>
          <p:grpSpPr>
            <a:xfrm>
              <a:off x="3198" y="436"/>
              <a:ext cx="1810" cy="1360"/>
              <a:chOff x="3152" y="845"/>
              <a:chExt cx="1810" cy="1360"/>
            </a:xfrm>
          </p:grpSpPr>
          <p:sp>
            <p:nvSpPr>
              <p:cNvPr id="76808" name="Text Box 14"/>
              <p:cNvSpPr txBox="1"/>
              <p:nvPr/>
            </p:nvSpPr>
            <p:spPr>
              <a:xfrm>
                <a:off x="3833" y="845"/>
                <a:ext cx="678" cy="327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anchor="ctr" anchorCtr="0">
                <a:spAutoFit/>
              </a:bodyPr>
              <a:p>
                <a:pPr algn="ctr" eaLnBrk="0" hangingPunct="0">
                  <a:buClrTx/>
                  <a:buFontTx/>
                  <a:buNone/>
                </a:pPr>
                <a:r>
                  <a:rPr lang="en-US" altLang="zh-CN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5</a:t>
                </a:r>
                <a:r>
                  <a:rPr lang="en-US" altLang="zh-CN" b="0" i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i</a:t>
                </a:r>
                <a:r>
                  <a:rPr lang="en-US" altLang="zh-CN" b="0" baseline="-250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1</a:t>
                </a:r>
                <a:endParaRPr lang="en-US" altLang="zh-CN" b="0" dirty="0"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endParaRPr>
              </a:p>
            </p:txBody>
          </p:sp>
          <p:sp>
            <p:nvSpPr>
              <p:cNvPr id="76809" name="Text Box 15"/>
              <p:cNvSpPr txBox="1"/>
              <p:nvPr/>
            </p:nvSpPr>
            <p:spPr>
              <a:xfrm>
                <a:off x="4513" y="1298"/>
                <a:ext cx="293" cy="327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anchor="ctr" anchorCtr="0">
                <a:spAutoFit/>
              </a:bodyPr>
              <a:p>
                <a:pPr algn="ctr" eaLnBrk="0" hangingPunct="0">
                  <a:buClrTx/>
                  <a:buFontTx/>
                  <a:buNone/>
                </a:pPr>
                <a:r>
                  <a:rPr lang="en-US" altLang="zh-CN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+</a:t>
                </a:r>
                <a:endParaRPr lang="en-US" altLang="zh-CN" b="0" dirty="0"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endParaRPr>
              </a:p>
            </p:txBody>
          </p:sp>
          <p:sp>
            <p:nvSpPr>
              <p:cNvPr id="76810" name="Text Box 16"/>
              <p:cNvSpPr txBox="1"/>
              <p:nvPr/>
            </p:nvSpPr>
            <p:spPr>
              <a:xfrm>
                <a:off x="4513" y="1842"/>
                <a:ext cx="348" cy="327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anchor="ctr" anchorCtr="0">
                <a:spAutoFit/>
              </a:bodyPr>
              <a:p>
                <a:pPr algn="ctr" eaLnBrk="0" hangingPunct="0">
                  <a:buClrTx/>
                  <a:buFontTx/>
                  <a:buNone/>
                </a:pPr>
                <a:r>
                  <a:rPr lang="en-US" altLang="zh-CN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_</a:t>
                </a:r>
                <a:endParaRPr lang="en-US" altLang="zh-CN" b="0" dirty="0"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endParaRPr>
              </a:p>
            </p:txBody>
          </p:sp>
          <p:sp>
            <p:nvSpPr>
              <p:cNvPr id="76811" name="Text Box 17"/>
              <p:cNvSpPr txBox="1"/>
              <p:nvPr/>
            </p:nvSpPr>
            <p:spPr>
              <a:xfrm>
                <a:off x="4468" y="1570"/>
                <a:ext cx="494" cy="327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anchor="ctr" anchorCtr="0">
                <a:spAutoFit/>
              </a:bodyPr>
              <a:p>
                <a:pPr algn="ctr" eaLnBrk="0" hangingPunct="0">
                  <a:buClrTx/>
                  <a:buFontTx/>
                  <a:buNone/>
                </a:pPr>
                <a:r>
                  <a:rPr lang="en-US" altLang="zh-CN" b="0" i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  <a:sym typeface="Symbol" panose="05050102010706020507" pitchFamily="18" charset="2"/>
                  </a:rPr>
                  <a:t>u</a:t>
                </a:r>
                <a:r>
                  <a:rPr lang="en-US" altLang="zh-CN" b="0" baseline="-250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  <a:sym typeface="Symbol" panose="05050102010706020507" pitchFamily="18" charset="2"/>
                  </a:rPr>
                  <a:t>2</a:t>
                </a:r>
                <a:endParaRPr lang="en-US" altLang="zh-CN" b="0" baseline="-25000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endParaRPr>
              </a:p>
            </p:txBody>
          </p:sp>
          <p:sp>
            <p:nvSpPr>
              <p:cNvPr id="76812" name="Line 18"/>
              <p:cNvSpPr/>
              <p:nvPr/>
            </p:nvSpPr>
            <p:spPr>
              <a:xfrm>
                <a:off x="3152" y="1344"/>
                <a:ext cx="1633" cy="0"/>
              </a:xfrm>
              <a:prstGeom prst="line">
                <a:avLst/>
              </a:prstGeom>
              <a:ln w="28575" cap="flat" cmpd="sng">
                <a:solidFill>
                  <a:srgbClr val="FFCC00"/>
                </a:solidFill>
                <a:prstDash val="solid"/>
                <a:round/>
                <a:headEnd type="oval" w="med" len="med"/>
                <a:tailEnd type="oval" w="med" len="med"/>
              </a:ln>
            </p:spPr>
          </p:sp>
          <p:sp>
            <p:nvSpPr>
              <p:cNvPr id="76813" name="Line 19"/>
              <p:cNvSpPr/>
              <p:nvPr/>
            </p:nvSpPr>
            <p:spPr>
              <a:xfrm>
                <a:off x="3696" y="1344"/>
                <a:ext cx="0" cy="861"/>
              </a:xfrm>
              <a:prstGeom prst="line">
                <a:avLst/>
              </a:prstGeom>
              <a:ln w="28575" cap="flat" cmpd="sng">
                <a:solidFill>
                  <a:srgbClr val="FFCC00"/>
                </a:solidFill>
                <a:prstDash val="solid"/>
                <a:round/>
                <a:headEnd type="oval" w="med" len="med"/>
                <a:tailEnd type="oval" w="med" len="med"/>
              </a:ln>
            </p:spPr>
          </p:sp>
          <p:sp>
            <p:nvSpPr>
              <p:cNvPr id="76814" name="Line 20"/>
              <p:cNvSpPr/>
              <p:nvPr/>
            </p:nvSpPr>
            <p:spPr>
              <a:xfrm flipH="1" flipV="1">
                <a:off x="3152" y="2205"/>
                <a:ext cx="1678" cy="0"/>
              </a:xfrm>
              <a:prstGeom prst="line">
                <a:avLst/>
              </a:prstGeom>
              <a:ln w="28575" cap="flat" cmpd="sng">
                <a:solidFill>
                  <a:srgbClr val="FFCC00"/>
                </a:solidFill>
                <a:prstDash val="solid"/>
                <a:round/>
                <a:headEnd type="oval" w="med" len="med"/>
                <a:tailEnd type="oval" w="med" len="med"/>
              </a:ln>
            </p:spPr>
          </p:sp>
          <p:sp>
            <p:nvSpPr>
              <p:cNvPr id="76815" name="Text Box 21"/>
              <p:cNvSpPr txBox="1"/>
              <p:nvPr/>
            </p:nvSpPr>
            <p:spPr>
              <a:xfrm>
                <a:off x="3152" y="1842"/>
                <a:ext cx="219" cy="327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anchor="ctr" anchorCtr="0">
                <a:spAutoFit/>
              </a:bodyPr>
              <a:p>
                <a:pPr algn="ctr" eaLnBrk="0" hangingPunct="0">
                  <a:buClrTx/>
                  <a:buFontTx/>
                  <a:buNone/>
                </a:pPr>
                <a:r>
                  <a:rPr lang="en-US" altLang="zh-CN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_</a:t>
                </a:r>
                <a:endParaRPr lang="en-US" altLang="zh-CN" b="0" dirty="0"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endParaRPr>
              </a:p>
            </p:txBody>
          </p:sp>
          <p:sp>
            <p:nvSpPr>
              <p:cNvPr id="76816" name="Text Box 22"/>
              <p:cNvSpPr txBox="1"/>
              <p:nvPr/>
            </p:nvSpPr>
            <p:spPr>
              <a:xfrm>
                <a:off x="3288" y="1616"/>
                <a:ext cx="530" cy="327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anchor="ctr" anchorCtr="0">
                <a:spAutoFit/>
              </a:bodyPr>
              <a:p>
                <a:pPr algn="ctr" eaLnBrk="0" hangingPunct="0">
                  <a:buClrTx/>
                  <a:buFontTx/>
                  <a:buNone/>
                </a:pPr>
                <a:r>
                  <a:rPr lang="en-US" altLang="zh-CN" b="0" i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i</a:t>
                </a:r>
                <a:r>
                  <a:rPr lang="en-US" altLang="zh-CN" b="0" baseline="-250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1</a:t>
                </a:r>
                <a:endParaRPr lang="en-US" altLang="zh-CN" b="0" dirty="0"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endParaRPr>
              </a:p>
            </p:txBody>
          </p:sp>
          <p:sp>
            <p:nvSpPr>
              <p:cNvPr id="462871" name="AutoShape 23"/>
              <p:cNvSpPr>
                <a:spLocks noChangeArrowheads="1"/>
              </p:cNvSpPr>
              <p:nvPr/>
            </p:nvSpPr>
            <p:spPr bwMode="auto">
              <a:xfrm>
                <a:off x="3969" y="1162"/>
                <a:ext cx="453" cy="363"/>
              </a:xfrm>
              <a:prstGeom prst="flowChartSort">
                <a:avLst/>
              </a:prstGeom>
              <a:gradFill rotWithShape="1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path path="shape">
                  <a:fillToRect l="50000" t="50000" r="50000" b="50000"/>
                </a:path>
              </a:gradFill>
              <a:ln w="38100">
                <a:solidFill>
                  <a:srgbClr val="FF9900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Arial" panose="020B0604020202020204" pitchFamily="34" charset="0"/>
                  <a:ea typeface="楷体_GB2312" pitchFamily="49" charset="-122"/>
                  <a:cs typeface="+mn-cs"/>
                </a:endParaRPr>
              </a:p>
            </p:txBody>
          </p:sp>
          <p:sp>
            <p:nvSpPr>
              <p:cNvPr id="76818" name="Text Box 24"/>
              <p:cNvSpPr txBox="1"/>
              <p:nvPr/>
            </p:nvSpPr>
            <p:spPr>
              <a:xfrm>
                <a:off x="3152" y="1298"/>
                <a:ext cx="292" cy="327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anchor="ctr" anchorCtr="0">
                <a:spAutoFit/>
              </a:bodyPr>
              <a:p>
                <a:pPr algn="ctr" eaLnBrk="0" hangingPunct="0">
                  <a:buClrTx/>
                  <a:buFontTx/>
                  <a:buNone/>
                </a:pPr>
                <a:r>
                  <a:rPr lang="en-US" altLang="zh-CN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+</a:t>
                </a:r>
                <a:endParaRPr lang="en-US" altLang="zh-CN" b="0" dirty="0"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endParaRPr>
              </a:p>
            </p:txBody>
          </p:sp>
          <p:sp>
            <p:nvSpPr>
              <p:cNvPr id="76819" name="Text Box 25"/>
              <p:cNvSpPr txBox="1"/>
              <p:nvPr/>
            </p:nvSpPr>
            <p:spPr>
              <a:xfrm>
                <a:off x="3606" y="1026"/>
                <a:ext cx="292" cy="327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anchor="ctr" anchorCtr="0">
                <a:spAutoFit/>
              </a:bodyPr>
              <a:p>
                <a:pPr algn="ctr" eaLnBrk="0" hangingPunct="0">
                  <a:buClrTx/>
                  <a:buFontTx/>
                  <a:buNone/>
                </a:pPr>
                <a:r>
                  <a:rPr lang="en-US" altLang="zh-CN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+</a:t>
                </a:r>
                <a:endParaRPr lang="en-US" altLang="zh-CN" b="0" dirty="0"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endParaRPr>
              </a:p>
            </p:txBody>
          </p:sp>
          <p:sp>
            <p:nvSpPr>
              <p:cNvPr id="76820" name="Text Box 26"/>
              <p:cNvSpPr txBox="1"/>
              <p:nvPr/>
            </p:nvSpPr>
            <p:spPr>
              <a:xfrm>
                <a:off x="4422" y="1026"/>
                <a:ext cx="293" cy="327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anchor="ctr" anchorCtr="0">
                <a:spAutoFit/>
              </a:bodyPr>
              <a:p>
                <a:pPr algn="ctr" eaLnBrk="0" hangingPunct="0">
                  <a:buClrTx/>
                  <a:buFontTx/>
                  <a:buNone/>
                </a:pPr>
                <a:r>
                  <a:rPr lang="en-US" altLang="zh-CN" b="0" dirty="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  <a:sym typeface="Symbol" panose="05050102010706020507" pitchFamily="18" charset="2"/>
                  </a:rPr>
                  <a:t>-</a:t>
                </a:r>
                <a:endParaRPr lang="en-US" altLang="zh-CN" b="0" dirty="0">
                  <a:latin typeface="宋体" panose="02010600030101010101" pitchFamily="2" charset="-122"/>
                  <a:ea typeface="宋体" panose="02010600030101010101" pitchFamily="2" charset="-122"/>
                  <a:sym typeface="Symbol" panose="05050102010706020507" pitchFamily="18" charset="2"/>
                </a:endParaRPr>
              </a:p>
            </p:txBody>
          </p:sp>
          <p:sp>
            <p:nvSpPr>
              <p:cNvPr id="76821" name="Line 27"/>
              <p:cNvSpPr/>
              <p:nvPr/>
            </p:nvSpPr>
            <p:spPr>
              <a:xfrm>
                <a:off x="3560" y="1389"/>
                <a:ext cx="0" cy="273"/>
              </a:xfrm>
              <a:prstGeom prst="line">
                <a:avLst/>
              </a:prstGeom>
              <a:ln w="28575" cap="flat" cmpd="sng">
                <a:solidFill>
                  <a:srgbClr val="00CCFF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sp>
            <p:nvSpPr>
              <p:cNvPr id="76822" name="Text Box 28"/>
              <p:cNvSpPr txBox="1"/>
              <p:nvPr/>
            </p:nvSpPr>
            <p:spPr>
              <a:xfrm>
                <a:off x="3787" y="1661"/>
                <a:ext cx="453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p>
                <a:pPr algn="ctr" eaLnBrk="0" hangingPunct="0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 pitchFamily="49" charset="-122"/>
                    <a:sym typeface="Symbol" panose="05050102010706020507" pitchFamily="18" charset="2"/>
                  </a:rPr>
                  <a:t>3</a:t>
                </a:r>
                <a:endParaRPr lang="en-US" altLang="zh-CN" b="0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endParaRPr>
              </a:p>
            </p:txBody>
          </p:sp>
          <p:sp>
            <p:nvSpPr>
              <p:cNvPr id="76823" name="Rectangle 29"/>
              <p:cNvSpPr/>
              <p:nvPr/>
            </p:nvSpPr>
            <p:spPr>
              <a:xfrm>
                <a:off x="3651" y="1661"/>
                <a:ext cx="127" cy="318"/>
              </a:xfrm>
              <a:prstGeom prst="rect">
                <a:avLst/>
              </a:prstGeom>
              <a:gradFill rotWithShape="1">
                <a:gsLst>
                  <a:gs pos="0">
                    <a:srgbClr val="764700"/>
                  </a:gs>
                  <a:gs pos="50000">
                    <a:srgbClr val="FF9900"/>
                  </a:gs>
                  <a:gs pos="100000">
                    <a:srgbClr val="764700"/>
                  </a:gs>
                </a:gsLst>
                <a:lin ang="0" scaled="1"/>
                <a:tileRect/>
              </a:gradFill>
              <a:ln w="28575">
                <a:noFill/>
              </a:ln>
            </p:spPr>
            <p:txBody>
              <a:bodyPr wrap="none" anchor="ctr" anchorCtr="0"/>
              <a:p>
                <a:pPr>
                  <a:buClrTx/>
                  <a:buFontTx/>
                  <a:buNone/>
                </a:pPr>
                <a:endParaRPr lang="zh-CN" altLang="en-US" dirty="0">
                  <a:latin typeface="Arial" panose="020B0604020202020204" pitchFamily="34" charset="0"/>
                  <a:ea typeface="楷体_GB2312" pitchFamily="49" charset="-122"/>
                </a:endParaRPr>
              </a:p>
            </p:txBody>
          </p:sp>
        </p:grpSp>
        <p:sp>
          <p:nvSpPr>
            <p:cNvPr id="76824" name="Text Box 33"/>
            <p:cNvSpPr txBox="1"/>
            <p:nvPr/>
          </p:nvSpPr>
          <p:spPr>
            <a:xfrm>
              <a:off x="2517" y="1207"/>
              <a:ext cx="1088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ctr" anchorCtr="0">
              <a:spAutoFit/>
            </a:bodyPr>
            <a:p>
              <a:pPr algn="ctr" eaLnBrk="0" hangingPunct="0">
                <a:buClrTx/>
                <a:buFontTx/>
                <a:buNone/>
              </a:pPr>
              <a:r>
                <a:rPr lang="en-US" altLang="zh-CN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u</a:t>
              </a:r>
              <a:r>
                <a:rPr lang="en-US" altLang="zh-CN" b="0" baseline="-250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1</a:t>
              </a:r>
              <a:r>
                <a:rPr lang="en-US" altLang="zh-CN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=6V</a:t>
              </a:r>
              <a:endPara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</p:grpSp>
      <p:grpSp>
        <p:nvGrpSpPr>
          <p:cNvPr id="76825" name="Group 35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76826" name="Picture 36" descr="7890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76827" name="Text Box 37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76828" name="Group 38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76829" name="Picture 39" descr="7890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76830" name="Text Box 40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76831" name="Group 47"/>
          <p:cNvGrpSpPr/>
          <p:nvPr/>
        </p:nvGrpSpPr>
        <p:grpSpPr>
          <a:xfrm>
            <a:off x="6588125" y="6445250"/>
            <a:ext cx="792163" cy="366713"/>
            <a:chOff x="5193" y="4020"/>
            <a:chExt cx="499" cy="231"/>
          </a:xfrm>
        </p:grpSpPr>
        <p:pic>
          <p:nvPicPr>
            <p:cNvPr id="76832" name="Picture 48" descr="78900">
              <a:hlinkClick r:id="" action="ppaction://hlinkshowjump?jump=firstslide"/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76833" name="Text Box 49">
              <a:hlinkClick r:id="" action="ppaction://hlinkshowjump?jump=firs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628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628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628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4628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4628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628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628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628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628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628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4628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2" dur="1000"/>
                                        <p:tgtEl>
                                          <p:spTgt spid="4628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7" dur="500"/>
                                        <p:tgtEl>
                                          <p:spTgt spid="4628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2859" grpId="0"/>
      <p:bldP spid="462860" grpId="0"/>
      <p:bldP spid="462878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3716" name="Text Box 4"/>
          <p:cNvSpPr txBox="1"/>
          <p:nvPr/>
        </p:nvSpPr>
        <p:spPr>
          <a:xfrm>
            <a:off x="1835150" y="792163"/>
            <a:ext cx="5257800" cy="762000"/>
          </a:xfrm>
          <a:prstGeom prst="rect">
            <a:avLst/>
          </a:prstGeom>
          <a:noFill/>
          <a:ln w="12700">
            <a:noFill/>
          </a:ln>
          <a:effectLst>
            <a:prstShdw prst="shdw17" dist="17961" dir="2699999">
              <a:srgbClr val="009900"/>
            </a:prstShdw>
          </a:effectLst>
        </p:spPr>
        <p:txBody>
          <a:bodyPr anchor="ctr" anchorCtr="0">
            <a:spAutoFit/>
          </a:bodyPr>
          <a:p>
            <a:pPr algn="ctr" eaLnBrk="0" hangingPunct="0">
              <a:buClrTx/>
              <a:buFontTx/>
              <a:buNone/>
            </a:pPr>
            <a:r>
              <a:rPr lang="en-US" altLang="zh-CN" sz="44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1.8 </a:t>
            </a:r>
            <a:r>
              <a:rPr lang="zh-CN" altLang="en-US" sz="44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基尔霍夫定律</a:t>
            </a:r>
            <a:r>
              <a:rPr lang="zh-CN" altLang="en-US" sz="3200" dirty="0">
                <a:solidFill>
                  <a:schemeClr val="tx1"/>
                </a:solidFill>
                <a:latin typeface="仿宋_GB2312" pitchFamily="49" charset="-122"/>
                <a:ea typeface="仿宋_GB2312" pitchFamily="49" charset="-122"/>
                <a:sym typeface="Symbol" panose="05050102010706020507" pitchFamily="18" charset="2"/>
              </a:rPr>
              <a:t>  </a:t>
            </a:r>
            <a:endParaRPr lang="zh-CN" altLang="en-US" sz="3200" b="0" dirty="0">
              <a:solidFill>
                <a:schemeClr val="tx1"/>
              </a:solidFill>
              <a:latin typeface="Times New Roman" panose="02020603050405020304" pitchFamily="18" charset="0"/>
              <a:ea typeface="仿宋_GB2312" pitchFamily="49" charset="-122"/>
              <a:sym typeface="Symbol" panose="05050102010706020507" pitchFamily="18" charset="2"/>
            </a:endParaRPr>
          </a:p>
        </p:txBody>
      </p:sp>
      <p:sp>
        <p:nvSpPr>
          <p:cNvPr id="243717" name="Text Box 5"/>
          <p:cNvSpPr txBox="1"/>
          <p:nvPr/>
        </p:nvSpPr>
        <p:spPr>
          <a:xfrm>
            <a:off x="1187450" y="1844675"/>
            <a:ext cx="7129463" cy="3940175"/>
          </a:xfrm>
          <a:prstGeom prst="rect">
            <a:avLst/>
          </a:prstGeom>
          <a:noFill/>
          <a:ln w="19050">
            <a:noFill/>
          </a:ln>
        </p:spPr>
        <p:txBody>
          <a:bodyPr anchor="ctr" anchorCtr="0">
            <a:spAutoFit/>
          </a:bodyPr>
          <a:p>
            <a:pPr indent="666750" algn="just" eaLnBrk="0" hangingPunct="0">
              <a:lnSpc>
                <a:spcPct val="150000"/>
              </a:lnSpc>
              <a:spcBef>
                <a:spcPct val="50000"/>
              </a:spcBef>
              <a:buClrTx/>
              <a:buFontTx/>
              <a:buNone/>
            </a:pPr>
            <a:r>
              <a:rPr lang="zh-CN" altLang="en-US" dirty="0">
                <a:solidFill>
                  <a:srgbClr val="F8FF65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基尔霍夫定律包括基尔霍夫电流定律  </a:t>
            </a:r>
            <a:r>
              <a:rPr lang="zh-CN" altLang="en-US" dirty="0">
                <a:solidFill>
                  <a:srgbClr val="F8FF65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（</a:t>
            </a:r>
            <a:r>
              <a: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KCL</a:t>
            </a:r>
            <a:r>
              <a:rPr lang="zh-CN" altLang="en-US" dirty="0">
                <a:solidFill>
                  <a:srgbClr val="F8FF65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）</a:t>
            </a:r>
            <a:r>
              <a:rPr lang="zh-CN" altLang="en-US" dirty="0">
                <a:solidFill>
                  <a:srgbClr val="F8FF65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和基尔霍夫电压定律</a:t>
            </a:r>
            <a:r>
              <a:rPr lang="en-US" altLang="zh-CN" dirty="0">
                <a:solidFill>
                  <a:srgbClr val="F8FF65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( </a:t>
            </a:r>
            <a:r>
              <a: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KVL</a:t>
            </a:r>
            <a:r>
              <a:rPr lang="en-US" altLang="zh-CN" dirty="0">
                <a:solidFill>
                  <a:srgbClr val="F8FF65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 )</a:t>
            </a:r>
            <a:r>
              <a:rPr lang="zh-CN" altLang="en-US" dirty="0">
                <a:solidFill>
                  <a:srgbClr val="F8FF65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。它反映了电路中所有支路电压和电流所遵循的基本规律，是分析集总参数电路的基本定律。基尔霍夫定律与元件特性构成了电路分析的基础。</a:t>
            </a:r>
            <a:endParaRPr lang="zh-CN" altLang="en-US" dirty="0">
              <a:solidFill>
                <a:srgbClr val="F8FF65"/>
              </a:solidFill>
              <a:latin typeface="楷体_GB2312" pitchFamily="49" charset="-122"/>
              <a:ea typeface="楷体_GB2312" pitchFamily="49" charset="-122"/>
              <a:sym typeface="Symbol" panose="05050102010706020507" pitchFamily="18" charset="2"/>
            </a:endParaRPr>
          </a:p>
        </p:txBody>
      </p:sp>
      <p:grpSp>
        <p:nvGrpSpPr>
          <p:cNvPr id="77827" name="Group 18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77828" name="Picture 19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77829" name="Text Box 20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77830" name="Group 21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77831" name="Picture 22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77832" name="Text Box 23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77833" name="Group 30"/>
          <p:cNvGrpSpPr/>
          <p:nvPr/>
        </p:nvGrpSpPr>
        <p:grpSpPr>
          <a:xfrm>
            <a:off x="6588125" y="6445250"/>
            <a:ext cx="792163" cy="366713"/>
            <a:chOff x="5193" y="4020"/>
            <a:chExt cx="499" cy="231"/>
          </a:xfrm>
        </p:grpSpPr>
        <p:pic>
          <p:nvPicPr>
            <p:cNvPr id="77834" name="Picture 31" descr="78900">
              <a:hlinkClick r:id="" action="ppaction://hlinkshowjump?jump=firstslide"/>
            </p:cNvPr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77835" name="Text Box 32">
              <a:hlinkClick r:id="" action="ppaction://hlinkshowjump?jump=firs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37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37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7">
                                            <p:txEl>
                                              <p:charRg st="0" end="10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75"/>
                                        <p:tgtEl>
                                          <p:spTgt spid="243717">
                                            <p:txEl>
                                              <p:charRg st="0" end="10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3716" grpId="0"/>
      <p:bldP spid="243717" grpId="0" build="p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4740" name="Text Box 4"/>
          <p:cNvSpPr txBox="1"/>
          <p:nvPr/>
        </p:nvSpPr>
        <p:spPr>
          <a:xfrm>
            <a:off x="539750" y="549275"/>
            <a:ext cx="2433638" cy="579438"/>
          </a:xfrm>
          <a:prstGeom prst="rect">
            <a:avLst/>
          </a:prstGeom>
          <a:noFill/>
          <a:ln w="12700">
            <a:noFill/>
          </a:ln>
        </p:spPr>
        <p:txBody>
          <a:bodyPr anchor="ctr" anchorCtr="0">
            <a:spAutoFit/>
          </a:bodyPr>
          <a:p>
            <a:pPr algn="ctr" eaLnBrk="0" hangingPunct="0">
              <a:spcBef>
                <a:spcPct val="50000"/>
              </a:spcBef>
              <a:buClrTx/>
              <a:buFontTx/>
              <a:buNone/>
            </a:pPr>
            <a:r>
              <a:rPr lang="en-US" altLang="zh-CN" sz="32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1.</a:t>
            </a:r>
            <a:r>
              <a:rPr lang="zh-CN" altLang="en-US" sz="32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几个名词</a:t>
            </a:r>
            <a:endParaRPr lang="zh-CN" altLang="en-US" sz="3200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  <a:sym typeface="Symbol" panose="05050102010706020507" pitchFamily="18" charset="2"/>
            </a:endParaRPr>
          </a:p>
        </p:txBody>
      </p:sp>
      <p:sp>
        <p:nvSpPr>
          <p:cNvPr id="244741" name="Text Box 5"/>
          <p:cNvSpPr txBox="1"/>
          <p:nvPr/>
        </p:nvSpPr>
        <p:spPr>
          <a:xfrm>
            <a:off x="3635375" y="1557338"/>
            <a:ext cx="5040313" cy="519112"/>
          </a:xfrm>
          <a:prstGeom prst="rect">
            <a:avLst/>
          </a:prstGeom>
          <a:noFill/>
          <a:ln w="12700">
            <a:noFill/>
          </a:ln>
        </p:spPr>
        <p:txBody>
          <a:bodyPr anchor="ctr" anchorCtr="0">
            <a:spAutoFit/>
          </a:bodyPr>
          <a:p>
            <a:pPr marL="1143000" indent="-1143000" algn="just" eaLnBrk="0" hangingPunct="0">
              <a:spcBef>
                <a:spcPct val="50000"/>
              </a:spcBef>
              <a:buClrTx/>
              <a:buFontTx/>
              <a:buNone/>
            </a:pPr>
            <a:r>
              <a:rPr lang="zh-CN" altLang="en-US" dirty="0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电路中通过同一电流的分支。</a:t>
            </a:r>
            <a:endParaRPr lang="zh-CN" altLang="en-US" dirty="0">
              <a:latin typeface="楷体_GB2312" pitchFamily="49" charset="-122"/>
              <a:ea typeface="楷体_GB2312" pitchFamily="49" charset="-122"/>
              <a:sym typeface="Symbol" panose="05050102010706020507" pitchFamily="18" charset="2"/>
            </a:endParaRPr>
          </a:p>
        </p:txBody>
      </p:sp>
      <p:sp>
        <p:nvSpPr>
          <p:cNvPr id="244742" name="Text Box 6"/>
          <p:cNvSpPr txBox="1"/>
          <p:nvPr/>
        </p:nvSpPr>
        <p:spPr>
          <a:xfrm>
            <a:off x="3348038" y="5084763"/>
            <a:ext cx="4751387" cy="519112"/>
          </a:xfrm>
          <a:prstGeom prst="rect">
            <a:avLst/>
          </a:prstGeom>
          <a:noFill/>
          <a:ln w="12700">
            <a:noFill/>
          </a:ln>
        </p:spPr>
        <p:txBody>
          <a:bodyPr anchor="ctr" anchorCtr="0">
            <a:spAutoFit/>
          </a:bodyPr>
          <a:p>
            <a:pPr eaLnBrk="0" hangingPunct="0">
              <a:spcBef>
                <a:spcPct val="50000"/>
              </a:spcBef>
              <a:buClrTx/>
              <a:buFontTx/>
              <a:buNone/>
            </a:pPr>
            <a:r>
              <a:rPr lang="zh-CN" altLang="en-US" dirty="0">
                <a:solidFill>
                  <a:srgbClr val="F8FF65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元件的连接点称为结点。</a:t>
            </a:r>
            <a:endParaRPr lang="zh-CN" altLang="en-US" b="0" dirty="0">
              <a:solidFill>
                <a:srgbClr val="F8FF65"/>
              </a:solidFill>
              <a:latin typeface="Times New Roman" panose="02020603050405020304" pitchFamily="18" charset="0"/>
              <a:ea typeface="楷体_GB2312" pitchFamily="49" charset="-122"/>
              <a:sym typeface="Symbol" panose="05050102010706020507" pitchFamily="18" charset="2"/>
            </a:endParaRPr>
          </a:p>
        </p:txBody>
      </p:sp>
      <p:sp>
        <p:nvSpPr>
          <p:cNvPr id="244744" name="Text Box 8"/>
          <p:cNvSpPr txBox="1"/>
          <p:nvPr/>
        </p:nvSpPr>
        <p:spPr>
          <a:xfrm>
            <a:off x="5795963" y="1989138"/>
            <a:ext cx="822325" cy="579437"/>
          </a:xfrm>
          <a:prstGeom prst="rect">
            <a:avLst/>
          </a:prstGeom>
          <a:noFill/>
          <a:ln w="12700">
            <a:noFill/>
          </a:ln>
        </p:spPr>
        <p:txBody>
          <a:bodyPr wrap="none" anchor="ctr" anchorCtr="0">
            <a:spAutoFit/>
          </a:bodyPr>
          <a:p>
            <a:pPr algn="ctr" eaLnBrk="0" hangingPunct="0">
              <a:spcBef>
                <a:spcPct val="50000"/>
              </a:spcBef>
              <a:buClrTx/>
              <a:buFontTx/>
              <a:buNone/>
            </a:pPr>
            <a:r>
              <a:rPr lang="en-US" altLang="zh-CN" sz="3200" b="0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b</a:t>
            </a:r>
            <a:r>
              <a:rPr lang="en-US" altLang="zh-CN" sz="32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=3</a:t>
            </a:r>
            <a:endParaRPr lang="en-US" altLang="zh-CN" sz="32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244750" name="Text Box 14"/>
          <p:cNvSpPr txBox="1"/>
          <p:nvPr/>
        </p:nvSpPr>
        <p:spPr>
          <a:xfrm>
            <a:off x="3060700" y="1989138"/>
            <a:ext cx="400050" cy="519112"/>
          </a:xfrm>
          <a:prstGeom prst="rect">
            <a:avLst/>
          </a:prstGeom>
          <a:noFill/>
          <a:ln w="19050">
            <a:noFill/>
          </a:ln>
        </p:spPr>
        <p:txBody>
          <a:bodyPr anchor="ctr" anchorCtr="0">
            <a:spAutoFit/>
          </a:bodyPr>
          <a:p>
            <a:pPr algn="ctr" eaLnBrk="0" hangingPunct="0">
              <a:spcBef>
                <a:spcPct val="50000"/>
              </a:spcBef>
              <a:buClrTx/>
              <a:buFontTx/>
              <a:buNone/>
            </a:pPr>
            <a:r>
              <a: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endParaRPr lang="en-US" altLang="zh-CN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44775" name="Text Box 39"/>
          <p:cNvSpPr txBox="1"/>
          <p:nvPr/>
        </p:nvSpPr>
        <p:spPr>
          <a:xfrm>
            <a:off x="7424738" y="5013325"/>
            <a:ext cx="819150" cy="579438"/>
          </a:xfrm>
          <a:prstGeom prst="rect">
            <a:avLst/>
          </a:prstGeom>
          <a:noFill/>
          <a:ln w="12700">
            <a:noFill/>
          </a:ln>
        </p:spPr>
        <p:txBody>
          <a:bodyPr wrap="none" anchor="ctr" anchorCtr="0">
            <a:spAutoFit/>
          </a:bodyPr>
          <a:p>
            <a:pPr algn="ctr" eaLnBrk="0" hangingPunct="0">
              <a:spcBef>
                <a:spcPct val="50000"/>
              </a:spcBef>
              <a:buClrTx/>
              <a:buFontTx/>
              <a:buNone/>
            </a:pPr>
            <a:r>
              <a:rPr lang="en-US" altLang="zh-CN" sz="3200" b="0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n</a:t>
            </a:r>
            <a:r>
              <a:rPr lang="en-US" altLang="zh-CN" sz="32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=4</a:t>
            </a:r>
            <a:endParaRPr lang="en-US" altLang="zh-CN" sz="32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244751" name="Text Box 15"/>
          <p:cNvSpPr txBox="1"/>
          <p:nvPr/>
        </p:nvSpPr>
        <p:spPr>
          <a:xfrm>
            <a:off x="3060700" y="4797425"/>
            <a:ext cx="477838" cy="520700"/>
          </a:xfrm>
          <a:prstGeom prst="rect">
            <a:avLst/>
          </a:prstGeom>
          <a:noFill/>
          <a:ln w="19050">
            <a:noFill/>
          </a:ln>
        </p:spPr>
        <p:txBody>
          <a:bodyPr anchor="ctr" anchorCtr="0">
            <a:spAutoFit/>
          </a:bodyPr>
          <a:p>
            <a:pPr algn="ctr" eaLnBrk="0" hangingPunct="0">
              <a:spcBef>
                <a:spcPct val="50000"/>
              </a:spcBef>
              <a:buClrTx/>
              <a:buFontTx/>
              <a:buNone/>
            </a:pPr>
            <a:r>
              <a: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endParaRPr lang="en-US" altLang="zh-CN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244805" name="Group 69"/>
          <p:cNvGrpSpPr/>
          <p:nvPr/>
        </p:nvGrpSpPr>
        <p:grpSpPr>
          <a:xfrm>
            <a:off x="684213" y="2492375"/>
            <a:ext cx="5040312" cy="2435225"/>
            <a:chOff x="158" y="1389"/>
            <a:chExt cx="3175" cy="1534"/>
          </a:xfrm>
        </p:grpSpPr>
        <p:sp>
          <p:nvSpPr>
            <p:cNvPr id="78857" name="Text Box 11"/>
            <p:cNvSpPr txBox="1"/>
            <p:nvPr/>
          </p:nvSpPr>
          <p:spPr>
            <a:xfrm>
              <a:off x="594" y="1815"/>
              <a:ext cx="301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endParaRPr lang="zh-CN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8858" name="Text Box 12"/>
            <p:cNvSpPr txBox="1"/>
            <p:nvPr/>
          </p:nvSpPr>
          <p:spPr>
            <a:xfrm>
              <a:off x="1657" y="1843"/>
              <a:ext cx="302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endParaRPr lang="zh-CN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44753" name="Oval 17"/>
            <p:cNvSpPr>
              <a:spLocks noChangeArrowheads="1"/>
            </p:cNvSpPr>
            <p:nvPr/>
          </p:nvSpPr>
          <p:spPr bwMode="auto">
            <a:xfrm>
              <a:off x="603" y="1667"/>
              <a:ext cx="345" cy="346"/>
            </a:xfrm>
            <a:prstGeom prst="ellipse">
              <a:avLst/>
            </a:prstGeom>
            <a:gradFill rotWithShape="1">
              <a:gsLst>
                <a:gs pos="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 w="38100">
              <a:solidFill>
                <a:srgbClr val="FF99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endParaRPr>
            </a:p>
          </p:txBody>
        </p:sp>
        <p:sp>
          <p:nvSpPr>
            <p:cNvPr id="244754" name="Oval 18"/>
            <p:cNvSpPr>
              <a:spLocks noChangeArrowheads="1"/>
            </p:cNvSpPr>
            <p:nvPr/>
          </p:nvSpPr>
          <p:spPr bwMode="auto">
            <a:xfrm>
              <a:off x="1623" y="1667"/>
              <a:ext cx="345" cy="346"/>
            </a:xfrm>
            <a:prstGeom prst="ellipse">
              <a:avLst/>
            </a:prstGeom>
            <a:gradFill rotWithShape="1">
              <a:gsLst>
                <a:gs pos="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 w="38100">
              <a:solidFill>
                <a:srgbClr val="FF99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endParaRPr>
            </a:p>
          </p:txBody>
        </p:sp>
        <p:sp>
          <p:nvSpPr>
            <p:cNvPr id="78861" name="Line 19"/>
            <p:cNvSpPr/>
            <p:nvPr/>
          </p:nvSpPr>
          <p:spPr>
            <a:xfrm>
              <a:off x="1796" y="1437"/>
              <a:ext cx="0" cy="1439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8862" name="Rectangle 20"/>
            <p:cNvSpPr/>
            <p:nvPr/>
          </p:nvSpPr>
          <p:spPr>
            <a:xfrm>
              <a:off x="1724" y="2315"/>
              <a:ext cx="144" cy="345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>
              <a:spAutoFit/>
            </a:bodyPr>
            <a:p>
              <a:pPr>
                <a:buClrTx/>
                <a:buFontTx/>
                <a:buNone/>
              </a:pPr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78863" name="Line 21"/>
            <p:cNvSpPr/>
            <p:nvPr/>
          </p:nvSpPr>
          <p:spPr>
            <a:xfrm flipV="1">
              <a:off x="776" y="1437"/>
              <a:ext cx="0" cy="1439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8864" name="Line 22"/>
            <p:cNvSpPr/>
            <p:nvPr/>
          </p:nvSpPr>
          <p:spPr>
            <a:xfrm flipV="1">
              <a:off x="2816" y="1437"/>
              <a:ext cx="0" cy="1439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8865" name="Line 23"/>
            <p:cNvSpPr/>
            <p:nvPr/>
          </p:nvSpPr>
          <p:spPr>
            <a:xfrm>
              <a:off x="776" y="2876"/>
              <a:ext cx="2040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8866" name="Line 24"/>
            <p:cNvSpPr/>
            <p:nvPr/>
          </p:nvSpPr>
          <p:spPr>
            <a:xfrm>
              <a:off x="776" y="1437"/>
              <a:ext cx="2040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8867" name="Rectangle 25"/>
            <p:cNvSpPr/>
            <p:nvPr/>
          </p:nvSpPr>
          <p:spPr>
            <a:xfrm>
              <a:off x="2744" y="2013"/>
              <a:ext cx="144" cy="345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>
              <a:spAutoFit/>
            </a:bodyPr>
            <a:p>
              <a:pPr>
                <a:buClrTx/>
                <a:buFontTx/>
                <a:buNone/>
              </a:pPr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78868" name="Rectangle 26"/>
            <p:cNvSpPr/>
            <p:nvPr/>
          </p:nvSpPr>
          <p:spPr>
            <a:xfrm>
              <a:off x="704" y="2301"/>
              <a:ext cx="144" cy="345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>
              <a:spAutoFit/>
            </a:bodyPr>
            <a:p>
              <a:pPr>
                <a:buClrTx/>
                <a:buFontTx/>
                <a:buNone/>
              </a:pPr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78869" name="Text Box 27"/>
            <p:cNvSpPr txBox="1"/>
            <p:nvPr/>
          </p:nvSpPr>
          <p:spPr>
            <a:xfrm>
              <a:off x="476" y="1389"/>
              <a:ext cx="244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+</a:t>
              </a:r>
              <a:endPara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78870" name="Text Box 28"/>
            <p:cNvSpPr txBox="1"/>
            <p:nvPr/>
          </p:nvSpPr>
          <p:spPr>
            <a:xfrm>
              <a:off x="476" y="1888"/>
              <a:ext cx="228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_</a:t>
              </a:r>
              <a:endPara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78871" name="Text Box 29"/>
            <p:cNvSpPr txBox="1"/>
            <p:nvPr/>
          </p:nvSpPr>
          <p:spPr>
            <a:xfrm>
              <a:off x="230" y="2311"/>
              <a:ext cx="546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r>
                <a:rPr lang="en-US" altLang="zh-CN" b="0" baseline="-250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8872" name="Text Box 30"/>
            <p:cNvSpPr txBox="1"/>
            <p:nvPr/>
          </p:nvSpPr>
          <p:spPr>
            <a:xfrm>
              <a:off x="158" y="1585"/>
              <a:ext cx="546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lang="en-US" altLang="zh-CN" b="0" baseline="-250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S1</a:t>
              </a:r>
              <a:endPara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8873" name="Text Box 31"/>
            <p:cNvSpPr txBox="1"/>
            <p:nvPr/>
          </p:nvSpPr>
          <p:spPr>
            <a:xfrm>
              <a:off x="1520" y="1389"/>
              <a:ext cx="244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+</a:t>
              </a:r>
              <a:endPara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78874" name="Text Box 32"/>
            <p:cNvSpPr txBox="1"/>
            <p:nvPr/>
          </p:nvSpPr>
          <p:spPr>
            <a:xfrm>
              <a:off x="1520" y="1889"/>
              <a:ext cx="228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_</a:t>
              </a:r>
              <a:endPara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78875" name="Text Box 33"/>
            <p:cNvSpPr txBox="1"/>
            <p:nvPr/>
          </p:nvSpPr>
          <p:spPr>
            <a:xfrm>
              <a:off x="1149" y="1642"/>
              <a:ext cx="546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lang="en-US" altLang="zh-CN" b="0" baseline="-250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S2</a:t>
              </a:r>
              <a:endPara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8876" name="Text Box 34"/>
            <p:cNvSpPr txBox="1"/>
            <p:nvPr/>
          </p:nvSpPr>
          <p:spPr>
            <a:xfrm>
              <a:off x="1235" y="2368"/>
              <a:ext cx="546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r>
                <a:rPr lang="en-US" altLang="zh-CN" b="0" baseline="-250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endPara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8877" name="Text Box 35"/>
            <p:cNvSpPr txBox="1"/>
            <p:nvPr/>
          </p:nvSpPr>
          <p:spPr>
            <a:xfrm>
              <a:off x="2787" y="2023"/>
              <a:ext cx="546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r>
                <a:rPr lang="en-US" altLang="zh-CN" b="0" baseline="-250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  <a:endPara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8878" name="Oval 36"/>
            <p:cNvSpPr/>
            <p:nvPr/>
          </p:nvSpPr>
          <p:spPr>
            <a:xfrm>
              <a:off x="1759" y="1389"/>
              <a:ext cx="81" cy="82"/>
            </a:xfrm>
            <a:prstGeom prst="ellipse">
              <a:avLst/>
            </a:prstGeom>
            <a:solidFill>
              <a:srgbClr val="FF9900"/>
            </a:solidFill>
            <a:ln w="28575">
              <a:noFill/>
            </a:ln>
          </p:spPr>
          <p:txBody>
            <a:bodyPr wrap="none" anchor="ctr" anchorCtr="0"/>
            <a:p>
              <a:pPr>
                <a:buClrTx/>
                <a:buFontTx/>
                <a:buNone/>
              </a:pPr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78879" name="Oval 37"/>
            <p:cNvSpPr/>
            <p:nvPr/>
          </p:nvSpPr>
          <p:spPr>
            <a:xfrm>
              <a:off x="1759" y="2841"/>
              <a:ext cx="81" cy="82"/>
            </a:xfrm>
            <a:prstGeom prst="ellipse">
              <a:avLst/>
            </a:prstGeom>
            <a:solidFill>
              <a:srgbClr val="FF9900"/>
            </a:solidFill>
            <a:ln w="28575">
              <a:noFill/>
            </a:ln>
          </p:spPr>
          <p:txBody>
            <a:bodyPr wrap="none" anchor="ctr" anchorCtr="0"/>
            <a:p>
              <a:pPr>
                <a:buClrTx/>
                <a:buFontTx/>
                <a:buNone/>
              </a:pPr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</p:grpSp>
      <p:sp>
        <p:nvSpPr>
          <p:cNvPr id="244787" name="Text Box 51"/>
          <p:cNvSpPr txBox="1"/>
          <p:nvPr/>
        </p:nvSpPr>
        <p:spPr>
          <a:xfrm>
            <a:off x="900113" y="1268413"/>
            <a:ext cx="1584325" cy="547687"/>
          </a:xfrm>
          <a:prstGeom prst="rect">
            <a:avLst/>
          </a:prstGeom>
          <a:noFill/>
          <a:ln w="28575" cap="flat" cmpd="sng">
            <a:solidFill>
              <a:srgbClr val="00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>
            <a:spAutoFit/>
          </a:bodyPr>
          <a:p>
            <a:pPr marL="342900" indent="-342900" eaLnBrk="0" hangingPunct="0">
              <a:spcBef>
                <a:spcPct val="50000"/>
              </a:spcBef>
              <a:buAutoNum type="circleNumDbPlain"/>
            </a:pPr>
            <a:r>
              <a:rPr lang="zh-CN" altLang="en-US" dirty="0">
                <a:solidFill>
                  <a:srgbClr val="FF9900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支路</a:t>
            </a:r>
            <a:endParaRPr lang="zh-CN" altLang="en-US" dirty="0">
              <a:solidFill>
                <a:srgbClr val="FF99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44789" name="AutoShape 53"/>
          <p:cNvSpPr/>
          <p:nvPr/>
        </p:nvSpPr>
        <p:spPr>
          <a:xfrm rot="-1593903">
            <a:off x="2843213" y="1052513"/>
            <a:ext cx="720725" cy="144462"/>
          </a:xfrm>
          <a:prstGeom prst="rightArrow">
            <a:avLst>
              <a:gd name="adj1" fmla="val 50000"/>
              <a:gd name="adj2" fmla="val 124702"/>
            </a:avLst>
          </a:prstGeom>
          <a:solidFill>
            <a:schemeClr val="hlink"/>
          </a:solidFill>
          <a:ln w="9525">
            <a:noFill/>
          </a:ln>
        </p:spPr>
        <p:txBody>
          <a:bodyPr wrap="none" anchor="ctr" anchorCtr="0"/>
          <a:p>
            <a:pPr>
              <a:buClrTx/>
              <a:buFontTx/>
              <a:buNone/>
            </a:pPr>
            <a:endParaRPr lang="zh-CN" altLang="en-US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244790" name="AutoShape 54"/>
          <p:cNvSpPr/>
          <p:nvPr/>
        </p:nvSpPr>
        <p:spPr>
          <a:xfrm>
            <a:off x="2916238" y="1773238"/>
            <a:ext cx="647700" cy="142875"/>
          </a:xfrm>
          <a:prstGeom prst="rightArrow">
            <a:avLst>
              <a:gd name="adj1" fmla="val 50000"/>
              <a:gd name="adj2" fmla="val 113312"/>
            </a:avLst>
          </a:prstGeom>
          <a:solidFill>
            <a:schemeClr val="hlink"/>
          </a:solidFill>
          <a:ln w="9525">
            <a:noFill/>
          </a:ln>
        </p:spPr>
        <p:txBody>
          <a:bodyPr wrap="none" anchor="ctr" anchorCtr="0"/>
          <a:p>
            <a:pPr>
              <a:buClrTx/>
              <a:buFontTx/>
              <a:buNone/>
            </a:pPr>
            <a:endParaRPr lang="zh-CN" altLang="en-US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244792" name="Text Box 56"/>
          <p:cNvSpPr txBox="1"/>
          <p:nvPr/>
        </p:nvSpPr>
        <p:spPr>
          <a:xfrm>
            <a:off x="3635375" y="611188"/>
            <a:ext cx="4752975" cy="9461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>
              <a:spcBef>
                <a:spcPct val="50000"/>
              </a:spcBef>
              <a:buClrTx/>
              <a:buFontTx/>
              <a:buNone/>
            </a:pPr>
            <a:r>
              <a:rPr lang="zh-CN" altLang="en-US" dirty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电路中每一个两端元件就叫一条支路。</a:t>
            </a:r>
            <a:endParaRPr lang="zh-CN" altLang="en-US" dirty="0">
              <a:latin typeface="Times New Roman" panose="02020603050405020304" pitchFamily="18" charset="0"/>
              <a:ea typeface="楷体_GB2312" pitchFamily="49" charset="-122"/>
              <a:sym typeface="Symbol" panose="05050102010706020507" pitchFamily="18" charset="2"/>
            </a:endParaRPr>
          </a:p>
        </p:txBody>
      </p:sp>
      <p:grpSp>
        <p:nvGrpSpPr>
          <p:cNvPr id="244807" name="Group 71"/>
          <p:cNvGrpSpPr/>
          <p:nvPr/>
        </p:nvGrpSpPr>
        <p:grpSpPr>
          <a:xfrm>
            <a:off x="3852863" y="1917700"/>
            <a:ext cx="719137" cy="576263"/>
            <a:chOff x="2200" y="981"/>
            <a:chExt cx="453" cy="363"/>
          </a:xfrm>
        </p:grpSpPr>
        <p:sp>
          <p:nvSpPr>
            <p:cNvPr id="78885" name="Line 58"/>
            <p:cNvSpPr/>
            <p:nvPr/>
          </p:nvSpPr>
          <p:spPr>
            <a:xfrm>
              <a:off x="2200" y="1344"/>
              <a:ext cx="453" cy="0"/>
            </a:xfrm>
            <a:prstGeom prst="line">
              <a:avLst/>
            </a:prstGeom>
            <a:ln w="28575" cap="flat" cmpd="sng">
              <a:solidFill>
                <a:srgbClr val="00CC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78886" name="Text Box 60"/>
            <p:cNvSpPr txBox="1"/>
            <p:nvPr/>
          </p:nvSpPr>
          <p:spPr>
            <a:xfrm>
              <a:off x="2245" y="981"/>
              <a:ext cx="317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 anchor="ctr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r>
                <a:rPr lang="en-US" altLang="zh-CN" b="0" baseline="-250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  <a:endPara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244804" name="Group 68"/>
          <p:cNvGrpSpPr/>
          <p:nvPr/>
        </p:nvGrpSpPr>
        <p:grpSpPr>
          <a:xfrm>
            <a:off x="3492500" y="3573463"/>
            <a:ext cx="431800" cy="576262"/>
            <a:chOff x="3515" y="2387"/>
            <a:chExt cx="272" cy="363"/>
          </a:xfrm>
        </p:grpSpPr>
        <p:sp>
          <p:nvSpPr>
            <p:cNvPr id="78888" name="Line 59"/>
            <p:cNvSpPr/>
            <p:nvPr/>
          </p:nvSpPr>
          <p:spPr>
            <a:xfrm>
              <a:off x="3515" y="2387"/>
              <a:ext cx="0" cy="363"/>
            </a:xfrm>
            <a:prstGeom prst="line">
              <a:avLst/>
            </a:prstGeom>
            <a:ln w="38100" cap="flat" cmpd="sng">
              <a:solidFill>
                <a:srgbClr val="00CC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78889" name="Text Box 61"/>
            <p:cNvSpPr txBox="1"/>
            <p:nvPr/>
          </p:nvSpPr>
          <p:spPr>
            <a:xfrm>
              <a:off x="3515" y="2388"/>
              <a:ext cx="272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ctr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r>
                <a:rPr lang="en-US" altLang="zh-CN" b="0" baseline="-250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endPara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244806" name="Group 70"/>
          <p:cNvGrpSpPr/>
          <p:nvPr/>
        </p:nvGrpSpPr>
        <p:grpSpPr>
          <a:xfrm>
            <a:off x="2484438" y="1844675"/>
            <a:ext cx="574675" cy="649288"/>
            <a:chOff x="930" y="935"/>
            <a:chExt cx="362" cy="409"/>
          </a:xfrm>
        </p:grpSpPr>
        <p:sp>
          <p:nvSpPr>
            <p:cNvPr id="78891" name="Line 57"/>
            <p:cNvSpPr/>
            <p:nvPr/>
          </p:nvSpPr>
          <p:spPr>
            <a:xfrm>
              <a:off x="930" y="1344"/>
              <a:ext cx="362" cy="0"/>
            </a:xfrm>
            <a:prstGeom prst="line">
              <a:avLst/>
            </a:prstGeom>
            <a:ln w="28575" cap="flat" cmpd="sng">
              <a:solidFill>
                <a:srgbClr val="00CC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78892" name="Text Box 62"/>
            <p:cNvSpPr txBox="1"/>
            <p:nvPr/>
          </p:nvSpPr>
          <p:spPr>
            <a:xfrm>
              <a:off x="975" y="935"/>
              <a:ext cx="317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ctr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r>
                <a:rPr lang="en-US" altLang="zh-CN" b="0" baseline="-250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244801" name="Text Box 65"/>
          <p:cNvSpPr txBox="1"/>
          <p:nvPr/>
        </p:nvSpPr>
        <p:spPr>
          <a:xfrm>
            <a:off x="898525" y="5157788"/>
            <a:ext cx="1584325" cy="547687"/>
          </a:xfrm>
          <a:prstGeom prst="rect">
            <a:avLst/>
          </a:prstGeom>
          <a:noFill/>
          <a:ln w="28575" cap="flat" cmpd="sng">
            <a:solidFill>
              <a:srgbClr val="00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>
            <a:spAutoFit/>
          </a:bodyPr>
          <a:p>
            <a:pPr marL="342900" indent="-342900" eaLnBrk="0" hangingPunct="0">
              <a:spcBef>
                <a:spcPct val="50000"/>
              </a:spcBef>
              <a:buAutoNum type="circleNumDbPlain" startAt="2"/>
            </a:pPr>
            <a:r>
              <a:rPr lang="zh-CN" altLang="en-US" dirty="0">
                <a:solidFill>
                  <a:srgbClr val="FF9900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结点</a:t>
            </a:r>
            <a:endParaRPr lang="zh-CN" altLang="en-US" dirty="0">
              <a:solidFill>
                <a:srgbClr val="FF9900"/>
              </a:solidFill>
              <a:latin typeface="楷体_GB2312" pitchFamily="49" charset="-122"/>
              <a:ea typeface="楷体_GB2312" pitchFamily="49" charset="-122"/>
              <a:sym typeface="Symbol" panose="05050102010706020507" pitchFamily="18" charset="2"/>
            </a:endParaRPr>
          </a:p>
        </p:txBody>
      </p:sp>
      <p:sp>
        <p:nvSpPr>
          <p:cNvPr id="244802" name="AutoShape 66"/>
          <p:cNvSpPr/>
          <p:nvPr/>
        </p:nvSpPr>
        <p:spPr>
          <a:xfrm>
            <a:off x="2627313" y="5372100"/>
            <a:ext cx="647700" cy="144463"/>
          </a:xfrm>
          <a:prstGeom prst="rightArrow">
            <a:avLst>
              <a:gd name="adj1" fmla="val 50000"/>
              <a:gd name="adj2" fmla="val 112066"/>
            </a:avLst>
          </a:prstGeom>
          <a:solidFill>
            <a:schemeClr val="hlink"/>
          </a:solidFill>
          <a:ln w="9525">
            <a:noFill/>
          </a:ln>
        </p:spPr>
        <p:txBody>
          <a:bodyPr wrap="none" anchor="ctr" anchorCtr="0"/>
          <a:p>
            <a:pPr>
              <a:buClrTx/>
              <a:buFontTx/>
              <a:buNone/>
            </a:pPr>
            <a:endParaRPr lang="zh-CN" altLang="en-US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244809" name="Text Box 73"/>
          <p:cNvSpPr txBox="1"/>
          <p:nvPr/>
        </p:nvSpPr>
        <p:spPr>
          <a:xfrm>
            <a:off x="5724525" y="1049338"/>
            <a:ext cx="822325" cy="579437"/>
          </a:xfrm>
          <a:prstGeom prst="rect">
            <a:avLst/>
          </a:prstGeom>
          <a:noFill/>
          <a:ln w="12700">
            <a:noFill/>
          </a:ln>
        </p:spPr>
        <p:txBody>
          <a:bodyPr anchor="ctr" anchorCtr="0">
            <a:spAutoFit/>
          </a:bodyPr>
          <a:p>
            <a:pPr algn="ctr" eaLnBrk="0" hangingPunct="0">
              <a:spcBef>
                <a:spcPct val="50000"/>
              </a:spcBef>
              <a:buClrTx/>
              <a:buFontTx/>
              <a:buNone/>
            </a:pPr>
            <a:r>
              <a:rPr lang="en-US" altLang="zh-CN" sz="3200" b="0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b</a:t>
            </a:r>
            <a:r>
              <a:rPr lang="en-US" altLang="zh-CN" sz="32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=5</a:t>
            </a:r>
            <a:endParaRPr lang="en-US" altLang="zh-CN" sz="32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grpSp>
        <p:nvGrpSpPr>
          <p:cNvPr id="78896" name="Group 77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78897" name="Picture 78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78898" name="Text Box 79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78899" name="Group 80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78900" name="Picture 81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78901" name="Text Box 82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sp>
        <p:nvSpPr>
          <p:cNvPr id="244822" name="Text Box 86"/>
          <p:cNvSpPr txBox="1"/>
          <p:nvPr/>
        </p:nvSpPr>
        <p:spPr>
          <a:xfrm>
            <a:off x="3349625" y="5516563"/>
            <a:ext cx="4751388" cy="946150"/>
          </a:xfrm>
          <a:prstGeom prst="rect">
            <a:avLst/>
          </a:prstGeom>
          <a:noFill/>
          <a:ln w="12700">
            <a:noFill/>
          </a:ln>
        </p:spPr>
        <p:txBody>
          <a:bodyPr anchor="ctr" anchorCtr="0">
            <a:spAutoFit/>
          </a:bodyPr>
          <a:p>
            <a:pPr eaLnBrk="0" hangingPunct="0">
              <a:spcBef>
                <a:spcPct val="50000"/>
              </a:spcBef>
              <a:buClrTx/>
              <a:buFontTx/>
              <a:buNone/>
            </a:pPr>
            <a:r>
              <a:rPr lang="zh-CN" altLang="en-US" dirty="0">
                <a:solidFill>
                  <a:srgbClr val="F8FF65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或三条以上支路的连接点称为结点。</a:t>
            </a:r>
            <a:endParaRPr lang="zh-CN" altLang="en-US" b="0" dirty="0">
              <a:solidFill>
                <a:srgbClr val="F8FF65"/>
              </a:solidFill>
              <a:latin typeface="Times New Roman" panose="02020603050405020304" pitchFamily="18" charset="0"/>
              <a:ea typeface="楷体_GB2312" pitchFamily="49" charset="-122"/>
              <a:sym typeface="Symbol" panose="05050102010706020507" pitchFamily="18" charset="2"/>
            </a:endParaRPr>
          </a:p>
        </p:txBody>
      </p:sp>
      <p:sp>
        <p:nvSpPr>
          <p:cNvPr id="244823" name="Text Box 87"/>
          <p:cNvSpPr txBox="1"/>
          <p:nvPr/>
        </p:nvSpPr>
        <p:spPr>
          <a:xfrm>
            <a:off x="4976813" y="5949950"/>
            <a:ext cx="819150" cy="579438"/>
          </a:xfrm>
          <a:prstGeom prst="rect">
            <a:avLst/>
          </a:prstGeom>
          <a:noFill/>
          <a:ln w="12700">
            <a:noFill/>
          </a:ln>
        </p:spPr>
        <p:txBody>
          <a:bodyPr wrap="none" anchor="ctr" anchorCtr="0">
            <a:spAutoFit/>
          </a:bodyPr>
          <a:p>
            <a:pPr algn="ctr" eaLnBrk="0" hangingPunct="0">
              <a:spcBef>
                <a:spcPct val="50000"/>
              </a:spcBef>
              <a:buClrTx/>
              <a:buFontTx/>
              <a:buNone/>
            </a:pPr>
            <a:r>
              <a:rPr lang="en-US" altLang="zh-CN" sz="3200" b="0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n</a:t>
            </a:r>
            <a:r>
              <a:rPr lang="en-US" altLang="zh-CN" sz="32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=2</a:t>
            </a:r>
            <a:endParaRPr lang="en-US" altLang="zh-CN" sz="32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grpSp>
        <p:nvGrpSpPr>
          <p:cNvPr id="244824" name="Group 88"/>
          <p:cNvGrpSpPr/>
          <p:nvPr/>
        </p:nvGrpSpPr>
        <p:grpSpPr>
          <a:xfrm>
            <a:off x="5580063" y="2925763"/>
            <a:ext cx="1644650" cy="850900"/>
            <a:chOff x="385" y="3022"/>
            <a:chExt cx="1036" cy="536"/>
          </a:xfrm>
        </p:grpSpPr>
        <p:pic>
          <p:nvPicPr>
            <p:cNvPr id="78905" name="Picture 89" descr="12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85" y="3022"/>
              <a:ext cx="590" cy="536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78906" name="Text Box 90"/>
            <p:cNvSpPr txBox="1"/>
            <p:nvPr/>
          </p:nvSpPr>
          <p:spPr>
            <a:xfrm>
              <a:off x="793" y="3125"/>
              <a:ext cx="628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ClrTx/>
                <a:buFontTx/>
                <a:buNone/>
              </a:pPr>
              <a:r>
                <a:rPr lang="zh-CN" altLang="en-US" sz="3200" b="0" dirty="0">
                  <a:solidFill>
                    <a:srgbClr val="CC6600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注意</a:t>
              </a:r>
              <a:endParaRPr lang="zh-CN" altLang="en-US" sz="3200" b="0" dirty="0">
                <a:solidFill>
                  <a:srgbClr val="CC6600"/>
                </a:solidFill>
                <a:latin typeface="Arial" panose="020B0604020202020204" pitchFamily="34" charset="0"/>
                <a:ea typeface="华文行楷" panose="02010800040101010101" pitchFamily="2" charset="-122"/>
              </a:endParaRPr>
            </a:p>
          </p:txBody>
        </p:sp>
      </p:grpSp>
      <p:sp>
        <p:nvSpPr>
          <p:cNvPr id="244828" name="Text Box 92" descr="斜纹布"/>
          <p:cNvSpPr txBox="1"/>
          <p:nvPr/>
        </p:nvSpPr>
        <p:spPr>
          <a:xfrm>
            <a:off x="6011863" y="3141663"/>
            <a:ext cx="2736850" cy="1373187"/>
          </a:xfrm>
          <a:prstGeom prst="rect">
            <a:avLst/>
          </a:prstGeom>
          <a:noFill/>
          <a:ln w="28575">
            <a:noFill/>
          </a:ln>
          <a:effectLst>
            <a:prstShdw prst="shdw17" dist="17961" dir="2699999">
              <a:schemeClr val="bg2"/>
            </a:prstShdw>
          </a:effectLst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ClrTx/>
              <a:buFontTx/>
              <a:buNone/>
            </a:pPr>
            <a:r>
              <a:rPr lang="en-US" altLang="zh-CN" dirty="0"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            </a:t>
            </a:r>
            <a:r>
              <a:rPr lang="zh-CN" altLang="en-US" dirty="0"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两种定义分别用在不同的场合。</a:t>
            </a:r>
            <a:endParaRPr lang="zh-CN" altLang="en-US" dirty="0">
              <a:latin typeface="Arial" panose="020B0604020202020204" pitchFamily="34" charset="0"/>
              <a:ea typeface="楷体_GB2312" pitchFamily="49" charset="-122"/>
              <a:sym typeface="Symbol" panose="05050102010706020507" pitchFamily="18" charset="2"/>
            </a:endParaRPr>
          </a:p>
        </p:txBody>
      </p:sp>
      <p:grpSp>
        <p:nvGrpSpPr>
          <p:cNvPr id="78908" name="Group 108"/>
          <p:cNvGrpSpPr/>
          <p:nvPr/>
        </p:nvGrpSpPr>
        <p:grpSpPr>
          <a:xfrm>
            <a:off x="6588125" y="6445250"/>
            <a:ext cx="792163" cy="366713"/>
            <a:chOff x="5193" y="4020"/>
            <a:chExt cx="499" cy="231"/>
          </a:xfrm>
        </p:grpSpPr>
        <p:pic>
          <p:nvPicPr>
            <p:cNvPr id="78909" name="Picture 109" descr="78900">
              <a:hlinkClick r:id="" action="ppaction://hlinkshowjump?jump=firstslide"/>
            </p:cNvPr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78910" name="Text Box 110">
              <a:hlinkClick r:id="" action="ppaction://hlinkshowjump?jump=firs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47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47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447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447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9" dur="2000"/>
                                        <p:tgtEl>
                                          <p:spTgt spid="244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4" dur="1" fill="hold"/>
                                        <p:tgtEl>
                                          <p:spTgt spid="244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" fill="hold"/>
                                        <p:tgtEl>
                                          <p:spTgt spid="2447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" fill="hold"/>
                                        <p:tgtEl>
                                          <p:spTgt spid="2447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448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9" dur="500"/>
                                        <p:tgtEl>
                                          <p:spTgt spid="2447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" fill="hold"/>
                                        <p:tgtEl>
                                          <p:spTgt spid="2447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" fill="hold"/>
                                        <p:tgtEl>
                                          <p:spTgt spid="2447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448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448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448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448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448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448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7" dur="500"/>
                                        <p:tgtEl>
                                          <p:spTgt spid="244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448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448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8" dur="500"/>
                                        <p:tgtEl>
                                          <p:spTgt spid="244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500"/>
                            </p:stCondLst>
                            <p:childTnLst>
                              <p:par>
                                <p:cTn id="80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100" fill="hold"/>
                                        <p:tgtEl>
                                          <p:spTgt spid="2447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" fill="hold"/>
                                        <p:tgtEl>
                                          <p:spTgt spid="2447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88" dur="500"/>
                                        <p:tgtEl>
                                          <p:spTgt spid="244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100" fill="hold"/>
                                        <p:tgtEl>
                                          <p:spTgt spid="2448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" fill="hold"/>
                                        <p:tgtEl>
                                          <p:spTgt spid="2448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1600"/>
                            </p:stCondLst>
                            <p:childTnLst>
                              <p:par>
                                <p:cTn id="96" presetID="23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2447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2447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2100"/>
                            </p:stCondLst>
                            <p:childTnLst>
                              <p:par>
                                <p:cTn id="101" presetID="23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2447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2447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09" dur="500"/>
                                        <p:tgtEl>
                                          <p:spTgt spid="244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4" dur="500"/>
                                        <p:tgtEl>
                                          <p:spTgt spid="2448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500"/>
                            </p:stCondLst>
                            <p:childTnLst>
                              <p:par>
                                <p:cTn id="116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8" dur="500"/>
                                        <p:tgtEl>
                                          <p:spTgt spid="244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4740" grpId="0"/>
      <p:bldP spid="244741" grpId="0"/>
      <p:bldP spid="244742" grpId="0"/>
      <p:bldP spid="244744" grpId="0"/>
      <p:bldP spid="244750" grpId="0"/>
      <p:bldP spid="244775" grpId="0"/>
      <p:bldP spid="244751" grpId="0"/>
      <p:bldP spid="244787" grpId="0" animBg="1"/>
      <p:bldP spid="244789" grpId="0" animBg="1"/>
      <p:bldP spid="244790" grpId="0" animBg="1"/>
      <p:bldP spid="244792" grpId="0"/>
      <p:bldP spid="244801" grpId="0" animBg="1"/>
      <p:bldP spid="244802" grpId="0" animBg="1"/>
      <p:bldP spid="244809" grpId="0"/>
      <p:bldP spid="244822" grpId="0"/>
      <p:bldP spid="244823" grpId="0"/>
      <p:bldP spid="244828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64" name="Text Box 4"/>
          <p:cNvSpPr txBox="1"/>
          <p:nvPr/>
        </p:nvSpPr>
        <p:spPr>
          <a:xfrm>
            <a:off x="3348038" y="1484313"/>
            <a:ext cx="4824412" cy="519112"/>
          </a:xfrm>
          <a:prstGeom prst="rect">
            <a:avLst/>
          </a:prstGeom>
          <a:noFill/>
          <a:ln w="12700">
            <a:noFill/>
          </a:ln>
        </p:spPr>
        <p:txBody>
          <a:bodyPr anchor="ctr" anchorCtr="0">
            <a:spAutoFit/>
          </a:bodyPr>
          <a:p>
            <a:pPr eaLnBrk="0" hangingPunct="0">
              <a:spcBef>
                <a:spcPct val="50000"/>
              </a:spcBef>
              <a:buClrTx/>
              <a:buFontTx/>
              <a:buNone/>
            </a:pPr>
            <a:r>
              <a:rPr lang="zh-CN" altLang="en-US" dirty="0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由支路组成的闭合路径。</a:t>
            </a:r>
            <a:endParaRPr lang="zh-CN" altLang="en-US" dirty="0">
              <a:latin typeface="楷体_GB2312" pitchFamily="49" charset="-122"/>
              <a:ea typeface="楷体_GB2312" pitchFamily="49" charset="-122"/>
              <a:sym typeface="Symbol" panose="05050102010706020507" pitchFamily="18" charset="2"/>
            </a:endParaRPr>
          </a:p>
        </p:txBody>
      </p:sp>
      <p:sp>
        <p:nvSpPr>
          <p:cNvPr id="245765" name="Text Box 5"/>
          <p:cNvSpPr txBox="1"/>
          <p:nvPr/>
        </p:nvSpPr>
        <p:spPr>
          <a:xfrm>
            <a:off x="3419475" y="549275"/>
            <a:ext cx="4968875" cy="946150"/>
          </a:xfrm>
          <a:prstGeom prst="rect">
            <a:avLst/>
          </a:prstGeom>
          <a:noFill/>
          <a:ln w="12700">
            <a:noFill/>
          </a:ln>
        </p:spPr>
        <p:txBody>
          <a:bodyPr anchor="ctr" anchorCtr="0">
            <a:spAutoFit/>
          </a:bodyPr>
          <a:p>
            <a:pPr eaLnBrk="0" hangingPunct="0">
              <a:spcBef>
                <a:spcPct val="50000"/>
              </a:spcBef>
              <a:buClrTx/>
              <a:buFontTx/>
              <a:buNone/>
            </a:pPr>
            <a:r>
              <a:rPr lang="zh-CN" altLang="en-US" dirty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两结点间的一条通路。由支路构成</a:t>
            </a:r>
            <a:endParaRPr lang="zh-CN" altLang="en-US" dirty="0">
              <a:latin typeface="Times New Roman" panose="02020603050405020304" pitchFamily="18" charset="0"/>
              <a:ea typeface="楷体_GB2312" pitchFamily="49" charset="-122"/>
              <a:sym typeface="Symbol" panose="05050102010706020507" pitchFamily="18" charset="2"/>
            </a:endParaRPr>
          </a:p>
        </p:txBody>
      </p:sp>
      <p:sp>
        <p:nvSpPr>
          <p:cNvPr id="245766" name="Text Box 6"/>
          <p:cNvSpPr txBox="1"/>
          <p:nvPr/>
        </p:nvSpPr>
        <p:spPr>
          <a:xfrm>
            <a:off x="3203575" y="4868863"/>
            <a:ext cx="4752975" cy="946150"/>
          </a:xfrm>
          <a:prstGeom prst="rect">
            <a:avLst/>
          </a:prstGeom>
          <a:noFill/>
          <a:ln w="12700">
            <a:noFill/>
          </a:ln>
        </p:spPr>
        <p:txBody>
          <a:bodyPr anchor="ctr" anchorCtr="0">
            <a:spAutoFit/>
          </a:bodyPr>
          <a:p>
            <a:pPr eaLnBrk="0" hangingPunct="0">
              <a:spcBef>
                <a:spcPct val="50000"/>
              </a:spcBef>
              <a:buClrTx/>
              <a:buFontTx/>
              <a:buNone/>
            </a:pPr>
            <a:r>
              <a:rPr lang="zh-CN" altLang="en-US" dirty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对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平面电路</a:t>
            </a:r>
            <a:r>
              <a:rPr lang="zh-CN" altLang="en-US" dirty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，其内部不含任何支路的回路称网孔。</a:t>
            </a:r>
            <a:endParaRPr lang="zh-CN" altLang="en-US" dirty="0">
              <a:latin typeface="Times New Roman" panose="02020603050405020304" pitchFamily="18" charset="0"/>
              <a:ea typeface="楷体_GB2312" pitchFamily="49" charset="-122"/>
              <a:sym typeface="Symbol" panose="05050102010706020507" pitchFamily="18" charset="2"/>
            </a:endParaRPr>
          </a:p>
        </p:txBody>
      </p:sp>
      <p:sp>
        <p:nvSpPr>
          <p:cNvPr id="245768" name="Text Box 8"/>
          <p:cNvSpPr txBox="1"/>
          <p:nvPr/>
        </p:nvSpPr>
        <p:spPr>
          <a:xfrm>
            <a:off x="7369175" y="1481138"/>
            <a:ext cx="731838" cy="579437"/>
          </a:xfrm>
          <a:prstGeom prst="rect">
            <a:avLst/>
          </a:prstGeom>
          <a:noFill/>
          <a:ln w="12700">
            <a:noFill/>
          </a:ln>
        </p:spPr>
        <p:txBody>
          <a:bodyPr wrap="none" anchor="ctr" anchorCtr="0">
            <a:spAutoFit/>
          </a:bodyPr>
          <a:p>
            <a:pPr algn="ctr" eaLnBrk="0" hangingPunct="0">
              <a:spcBef>
                <a:spcPct val="50000"/>
              </a:spcBef>
              <a:buClrTx/>
              <a:buFontTx/>
              <a:buNone/>
            </a:pPr>
            <a:r>
              <a:rPr lang="en-US" altLang="zh-CN" sz="3200" b="0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l</a:t>
            </a:r>
            <a:r>
              <a:rPr lang="en-US" altLang="zh-CN" sz="32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=3</a:t>
            </a:r>
            <a:endParaRPr lang="en-US" altLang="zh-CN" sz="32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grpSp>
        <p:nvGrpSpPr>
          <p:cNvPr id="245796" name="Group 36"/>
          <p:cNvGrpSpPr/>
          <p:nvPr/>
        </p:nvGrpSpPr>
        <p:grpSpPr>
          <a:xfrm>
            <a:off x="2771775" y="2854325"/>
            <a:ext cx="403225" cy="1092200"/>
            <a:chOff x="4980" y="1428"/>
            <a:chExt cx="212" cy="594"/>
          </a:xfrm>
        </p:grpSpPr>
        <p:sp>
          <p:nvSpPr>
            <p:cNvPr id="79878" name="Arc 37"/>
            <p:cNvSpPr/>
            <p:nvPr/>
          </p:nvSpPr>
          <p:spPr>
            <a:xfrm>
              <a:off x="4980" y="1428"/>
              <a:ext cx="212" cy="59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pathLst>
                <a:path w="43200" h="43200" fill="none">
                  <a:moveTo>
                    <a:pt x="21600" y="0"/>
                  </a:move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3529"/>
                    <a:pt x="33529" y="43200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-1" y="11724"/>
                    <a:pt x="6697" y="3106"/>
                    <a:pt x="16268" y="668"/>
                  </a:cubicBezTo>
                </a:path>
                <a:path w="43200" h="43200" stroke="0">
                  <a:moveTo>
                    <a:pt x="21600" y="0"/>
                  </a:move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3529"/>
                    <a:pt x="33529" y="43200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-1" y="11724"/>
                    <a:pt x="6697" y="3106"/>
                    <a:pt x="16268" y="668"/>
                  </a:cubicBezTo>
                  <a:lnTo>
                    <a:pt x="21600" y="21600"/>
                  </a:lnTo>
                  <a:lnTo>
                    <a:pt x="21600" y="0"/>
                  </a:lnTo>
                  <a:close/>
                </a:path>
              </a:pathLst>
            </a:custGeom>
            <a:noFill/>
            <a:ln w="28575" cap="flat" cmpd="sng">
              <a:solidFill>
                <a:srgbClr val="FF3300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79879" name="Text Box 38"/>
            <p:cNvSpPr txBox="1"/>
            <p:nvPr/>
          </p:nvSpPr>
          <p:spPr>
            <a:xfrm>
              <a:off x="4991" y="1581"/>
              <a:ext cx="190" cy="282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0" hangingPunct="0">
                <a:buClrTx/>
                <a:buFontTx/>
                <a:buNone/>
              </a:pPr>
              <a:r>
                <a:rPr lang="en-US" altLang="zh-CN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1</a:t>
              </a:r>
              <a:endPara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</p:grpSp>
      <p:grpSp>
        <p:nvGrpSpPr>
          <p:cNvPr id="245799" name="Group 39"/>
          <p:cNvGrpSpPr/>
          <p:nvPr/>
        </p:nvGrpSpPr>
        <p:grpSpPr>
          <a:xfrm>
            <a:off x="4716463" y="2854325"/>
            <a:ext cx="403225" cy="1092200"/>
            <a:chOff x="4980" y="1428"/>
            <a:chExt cx="212" cy="594"/>
          </a:xfrm>
        </p:grpSpPr>
        <p:sp>
          <p:nvSpPr>
            <p:cNvPr id="79881" name="Arc 40"/>
            <p:cNvSpPr/>
            <p:nvPr/>
          </p:nvSpPr>
          <p:spPr>
            <a:xfrm>
              <a:off x="4980" y="1428"/>
              <a:ext cx="212" cy="59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pathLst>
                <a:path w="43200" h="43200" fill="none">
                  <a:moveTo>
                    <a:pt x="21600" y="0"/>
                  </a:move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3529"/>
                    <a:pt x="33529" y="43200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-1" y="11724"/>
                    <a:pt x="6697" y="3106"/>
                    <a:pt x="16268" y="668"/>
                  </a:cubicBezTo>
                </a:path>
                <a:path w="43200" h="43200" stroke="0">
                  <a:moveTo>
                    <a:pt x="21600" y="0"/>
                  </a:move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3529"/>
                    <a:pt x="33529" y="43200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-1" y="11724"/>
                    <a:pt x="6697" y="3106"/>
                    <a:pt x="16268" y="668"/>
                  </a:cubicBezTo>
                  <a:lnTo>
                    <a:pt x="21600" y="21600"/>
                  </a:lnTo>
                  <a:lnTo>
                    <a:pt x="21600" y="0"/>
                  </a:lnTo>
                  <a:close/>
                </a:path>
              </a:pathLst>
            </a:custGeom>
            <a:noFill/>
            <a:ln w="28575" cap="flat" cmpd="sng">
              <a:solidFill>
                <a:srgbClr val="FF3300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79882" name="Text Box 41"/>
            <p:cNvSpPr txBox="1"/>
            <p:nvPr/>
          </p:nvSpPr>
          <p:spPr>
            <a:xfrm>
              <a:off x="4990" y="1581"/>
              <a:ext cx="190" cy="28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p>
              <a:pPr algn="ctr" eaLnBrk="0" hangingPunct="0">
                <a:buClrTx/>
                <a:buFontTx/>
                <a:buNone/>
              </a:pPr>
              <a:r>
                <a:rPr lang="en-US" altLang="zh-CN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2</a:t>
              </a:r>
              <a:endPara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</p:grpSp>
      <p:sp>
        <p:nvSpPr>
          <p:cNvPr id="245802" name="Text Box 42"/>
          <p:cNvSpPr txBox="1"/>
          <p:nvPr/>
        </p:nvSpPr>
        <p:spPr>
          <a:xfrm>
            <a:off x="5940425" y="2205038"/>
            <a:ext cx="360363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algn="ctr" eaLnBrk="0" hangingPunct="0">
              <a:buClrTx/>
              <a:buFontTx/>
              <a:buNone/>
            </a:pPr>
            <a:r>
              <a: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3</a:t>
            </a:r>
            <a:endParaRPr lang="en-US" altLang="zh-CN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245806" name="Freeform 46"/>
          <p:cNvSpPr/>
          <p:nvPr/>
        </p:nvSpPr>
        <p:spPr>
          <a:xfrm>
            <a:off x="2987675" y="2349500"/>
            <a:ext cx="3311525" cy="2592388"/>
          </a:xfrm>
          <a:custGeom>
            <a:avLst/>
            <a:gdLst/>
            <a:ahLst/>
            <a:cxnLst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0"/>
              </a:cxn>
            </a:cxnLst>
            <a:pathLst>
              <a:path w="2147" h="1717">
                <a:moveTo>
                  <a:pt x="0" y="1542"/>
                </a:moveTo>
                <a:cubicBezTo>
                  <a:pt x="159" y="1572"/>
                  <a:pt x="318" y="1603"/>
                  <a:pt x="635" y="1588"/>
                </a:cubicBezTo>
                <a:cubicBezTo>
                  <a:pt x="952" y="1573"/>
                  <a:pt x="1663" y="1717"/>
                  <a:pt x="1905" y="1452"/>
                </a:cubicBezTo>
                <a:cubicBezTo>
                  <a:pt x="2147" y="1187"/>
                  <a:pt x="2116" y="593"/>
                  <a:pt x="2086" y="0"/>
                </a:cubicBezTo>
              </a:path>
            </a:pathLst>
          </a:custGeom>
          <a:noFill/>
          <a:ln w="28575" cap="flat" cmpd="sng">
            <a:solidFill>
              <a:srgbClr val="FF33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p>
            <a:endParaRPr lang="zh-CN" altLang="en-US"/>
          </a:p>
        </p:txBody>
      </p:sp>
      <p:sp>
        <p:nvSpPr>
          <p:cNvPr id="245807" name="Text Box 47"/>
          <p:cNvSpPr txBox="1"/>
          <p:nvPr/>
        </p:nvSpPr>
        <p:spPr>
          <a:xfrm>
            <a:off x="611188" y="625475"/>
            <a:ext cx="1584325" cy="547688"/>
          </a:xfrm>
          <a:prstGeom prst="rect">
            <a:avLst/>
          </a:prstGeom>
          <a:noFill/>
          <a:ln w="2857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>
            <a:spAutoFit/>
          </a:bodyPr>
          <a:p>
            <a:pPr marL="342900" indent="-342900" eaLnBrk="0" hangingPunct="0">
              <a:buAutoNum type="circleNumDbPlain" startAt="3"/>
            </a:pPr>
            <a:r>
              <a:rPr lang="zh-CN" altLang="en-US" dirty="0">
                <a:solidFill>
                  <a:srgbClr val="FF9900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路径</a:t>
            </a:r>
            <a:endParaRPr lang="zh-CN" altLang="en-US" b="0" dirty="0">
              <a:solidFill>
                <a:srgbClr val="FF9900"/>
              </a:solidFill>
              <a:latin typeface="仿宋_GB2312" pitchFamily="49" charset="-122"/>
              <a:ea typeface="仿宋_GB2312" pitchFamily="49" charset="-122"/>
              <a:sym typeface="Symbol" panose="05050102010706020507" pitchFamily="18" charset="2"/>
            </a:endParaRPr>
          </a:p>
        </p:txBody>
      </p:sp>
      <p:sp>
        <p:nvSpPr>
          <p:cNvPr id="245808" name="AutoShape 48"/>
          <p:cNvSpPr/>
          <p:nvPr/>
        </p:nvSpPr>
        <p:spPr>
          <a:xfrm>
            <a:off x="2555875" y="836613"/>
            <a:ext cx="647700" cy="144462"/>
          </a:xfrm>
          <a:prstGeom prst="rightArrow">
            <a:avLst>
              <a:gd name="adj1" fmla="val 50000"/>
              <a:gd name="adj2" fmla="val 112067"/>
            </a:avLst>
          </a:prstGeom>
          <a:solidFill>
            <a:schemeClr val="hlink"/>
          </a:solidFill>
          <a:ln w="9525">
            <a:noFill/>
          </a:ln>
        </p:spPr>
        <p:txBody>
          <a:bodyPr wrap="none" anchor="ctr" anchorCtr="0"/>
          <a:p>
            <a:pPr>
              <a:buClrTx/>
              <a:buFontTx/>
              <a:buNone/>
            </a:pPr>
            <a:endParaRPr lang="zh-CN" altLang="en-US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245809" name="Text Box 49"/>
          <p:cNvSpPr txBox="1"/>
          <p:nvPr/>
        </p:nvSpPr>
        <p:spPr>
          <a:xfrm>
            <a:off x="611188" y="1489075"/>
            <a:ext cx="1584325" cy="547688"/>
          </a:xfrm>
          <a:prstGeom prst="rect">
            <a:avLst/>
          </a:prstGeom>
          <a:noFill/>
          <a:ln w="2857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>
            <a:spAutoFit/>
          </a:bodyPr>
          <a:p>
            <a:pPr marL="342900" indent="-342900" eaLnBrk="0" hangingPunct="0">
              <a:buAutoNum type="circleNumDbPlain" startAt="4"/>
            </a:pPr>
            <a:r>
              <a:rPr lang="zh-CN" altLang="en-US" dirty="0">
                <a:solidFill>
                  <a:srgbClr val="FF9900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回路</a:t>
            </a:r>
            <a:endParaRPr lang="zh-CN" altLang="en-US" b="0" dirty="0">
              <a:solidFill>
                <a:srgbClr val="FF9900"/>
              </a:solidFill>
              <a:latin typeface="仿宋_GB2312" pitchFamily="49" charset="-122"/>
              <a:ea typeface="仿宋_GB2312" pitchFamily="49" charset="-122"/>
              <a:sym typeface="Symbol" panose="05050102010706020507" pitchFamily="18" charset="2"/>
            </a:endParaRPr>
          </a:p>
        </p:txBody>
      </p:sp>
      <p:sp>
        <p:nvSpPr>
          <p:cNvPr id="245810" name="AutoShape 50"/>
          <p:cNvSpPr/>
          <p:nvPr/>
        </p:nvSpPr>
        <p:spPr>
          <a:xfrm>
            <a:off x="2484438" y="1700213"/>
            <a:ext cx="647700" cy="144462"/>
          </a:xfrm>
          <a:prstGeom prst="rightArrow">
            <a:avLst>
              <a:gd name="adj1" fmla="val 50000"/>
              <a:gd name="adj2" fmla="val 112067"/>
            </a:avLst>
          </a:prstGeom>
          <a:solidFill>
            <a:schemeClr val="hlink"/>
          </a:solidFill>
          <a:ln w="9525">
            <a:noFill/>
          </a:ln>
        </p:spPr>
        <p:txBody>
          <a:bodyPr wrap="none" anchor="ctr" anchorCtr="0"/>
          <a:p>
            <a:pPr>
              <a:buClrTx/>
              <a:buFontTx/>
              <a:buNone/>
            </a:pPr>
            <a:endParaRPr lang="zh-CN" altLang="en-US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245811" name="Text Box 51"/>
          <p:cNvSpPr txBox="1"/>
          <p:nvPr/>
        </p:nvSpPr>
        <p:spPr>
          <a:xfrm>
            <a:off x="611188" y="4868863"/>
            <a:ext cx="1512887" cy="547687"/>
          </a:xfrm>
          <a:prstGeom prst="rect">
            <a:avLst/>
          </a:prstGeom>
          <a:noFill/>
          <a:ln w="2857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>
            <a:spAutoFit/>
          </a:bodyPr>
          <a:p>
            <a:pPr marL="342900" indent="-342900" eaLnBrk="0" hangingPunct="0">
              <a:buAutoNum type="circleNumDbPlain" startAt="5"/>
            </a:pPr>
            <a:r>
              <a:rPr lang="zh-CN" altLang="en-US" dirty="0">
                <a:solidFill>
                  <a:srgbClr val="FF9900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网孔</a:t>
            </a:r>
            <a:endParaRPr lang="zh-CN" altLang="en-US" b="0" dirty="0">
              <a:solidFill>
                <a:srgbClr val="FF9900"/>
              </a:solidFill>
              <a:latin typeface="仿宋_GB2312" pitchFamily="49" charset="-122"/>
              <a:ea typeface="仿宋_GB2312" pitchFamily="49" charset="-122"/>
              <a:sym typeface="Symbol" panose="05050102010706020507" pitchFamily="18" charset="2"/>
            </a:endParaRPr>
          </a:p>
        </p:txBody>
      </p:sp>
      <p:sp>
        <p:nvSpPr>
          <p:cNvPr id="245812" name="AutoShape 52"/>
          <p:cNvSpPr/>
          <p:nvPr/>
        </p:nvSpPr>
        <p:spPr>
          <a:xfrm>
            <a:off x="2411413" y="5084763"/>
            <a:ext cx="647700" cy="144462"/>
          </a:xfrm>
          <a:prstGeom prst="rightArrow">
            <a:avLst>
              <a:gd name="adj1" fmla="val 50000"/>
              <a:gd name="adj2" fmla="val 112067"/>
            </a:avLst>
          </a:prstGeom>
          <a:solidFill>
            <a:schemeClr val="hlink"/>
          </a:solidFill>
          <a:ln w="9525">
            <a:noFill/>
          </a:ln>
        </p:spPr>
        <p:txBody>
          <a:bodyPr wrap="none" anchor="ctr" anchorCtr="0"/>
          <a:p>
            <a:pPr>
              <a:buClrTx/>
              <a:buFontTx/>
              <a:buNone/>
            </a:pPr>
            <a:endParaRPr lang="zh-CN" altLang="en-US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245815" name="Text Box 55"/>
          <p:cNvSpPr txBox="1"/>
          <p:nvPr/>
        </p:nvSpPr>
        <p:spPr>
          <a:xfrm>
            <a:off x="2124075" y="5734050"/>
            <a:ext cx="6048375" cy="519113"/>
          </a:xfrm>
          <a:prstGeom prst="rect">
            <a:avLst/>
          </a:prstGeom>
          <a:noFill/>
          <a:ln w="12700">
            <a:noFill/>
          </a:ln>
        </p:spPr>
        <p:txBody>
          <a:bodyPr anchor="ctr" anchorCtr="0">
            <a:spAutoFit/>
          </a:bodyPr>
          <a:p>
            <a:pPr eaLnBrk="0" hangingPunct="0">
              <a:spcBef>
                <a:spcPct val="50000"/>
              </a:spcBef>
              <a:buClrTx/>
              <a:buFontTx/>
              <a:buNone/>
            </a:pP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网孔是回路，但回路不一定是网孔。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ea typeface="楷体_GB2312" pitchFamily="49" charset="-122"/>
              <a:sym typeface="Symbol" panose="05050102010706020507" pitchFamily="18" charset="2"/>
            </a:endParaRPr>
          </a:p>
        </p:txBody>
      </p:sp>
      <p:grpSp>
        <p:nvGrpSpPr>
          <p:cNvPr id="79892" name="Group 57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79893" name="Picture 58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79894" name="Text Box 59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79895" name="Group 60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79896" name="Picture 61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79897" name="Text Box 62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245826" name="Group 66"/>
          <p:cNvGrpSpPr/>
          <p:nvPr/>
        </p:nvGrpSpPr>
        <p:grpSpPr>
          <a:xfrm>
            <a:off x="1476375" y="2205038"/>
            <a:ext cx="5040313" cy="2435225"/>
            <a:chOff x="158" y="1389"/>
            <a:chExt cx="3175" cy="1534"/>
          </a:xfrm>
        </p:grpSpPr>
        <p:sp>
          <p:nvSpPr>
            <p:cNvPr id="79899" name="Text Box 67"/>
            <p:cNvSpPr txBox="1"/>
            <p:nvPr/>
          </p:nvSpPr>
          <p:spPr>
            <a:xfrm>
              <a:off x="594" y="1815"/>
              <a:ext cx="301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endParaRPr lang="zh-CN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9900" name="Text Box 68"/>
            <p:cNvSpPr txBox="1"/>
            <p:nvPr/>
          </p:nvSpPr>
          <p:spPr>
            <a:xfrm>
              <a:off x="1657" y="1843"/>
              <a:ext cx="302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endParaRPr lang="zh-CN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45829" name="Oval 69"/>
            <p:cNvSpPr>
              <a:spLocks noChangeArrowheads="1"/>
            </p:cNvSpPr>
            <p:nvPr/>
          </p:nvSpPr>
          <p:spPr bwMode="auto">
            <a:xfrm>
              <a:off x="603" y="1667"/>
              <a:ext cx="345" cy="346"/>
            </a:xfrm>
            <a:prstGeom prst="ellipse">
              <a:avLst/>
            </a:prstGeom>
            <a:gradFill rotWithShape="1">
              <a:gsLst>
                <a:gs pos="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 w="38100">
              <a:solidFill>
                <a:srgbClr val="FF99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endParaRPr>
            </a:p>
          </p:txBody>
        </p:sp>
        <p:sp>
          <p:nvSpPr>
            <p:cNvPr id="245830" name="Oval 70"/>
            <p:cNvSpPr>
              <a:spLocks noChangeArrowheads="1"/>
            </p:cNvSpPr>
            <p:nvPr/>
          </p:nvSpPr>
          <p:spPr bwMode="auto">
            <a:xfrm>
              <a:off x="1623" y="1667"/>
              <a:ext cx="345" cy="346"/>
            </a:xfrm>
            <a:prstGeom prst="ellipse">
              <a:avLst/>
            </a:prstGeom>
            <a:gradFill rotWithShape="1">
              <a:gsLst>
                <a:gs pos="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 w="38100">
              <a:solidFill>
                <a:srgbClr val="FF99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endParaRPr>
            </a:p>
          </p:txBody>
        </p:sp>
        <p:sp>
          <p:nvSpPr>
            <p:cNvPr id="79903" name="Line 71"/>
            <p:cNvSpPr/>
            <p:nvPr/>
          </p:nvSpPr>
          <p:spPr>
            <a:xfrm>
              <a:off x="1796" y="1437"/>
              <a:ext cx="0" cy="1439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9904" name="Rectangle 72"/>
            <p:cNvSpPr/>
            <p:nvPr/>
          </p:nvSpPr>
          <p:spPr>
            <a:xfrm>
              <a:off x="1724" y="2315"/>
              <a:ext cx="144" cy="345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>
              <a:spAutoFit/>
            </a:bodyPr>
            <a:p>
              <a:pPr>
                <a:buClrTx/>
                <a:buFontTx/>
                <a:buNone/>
              </a:pPr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79905" name="Line 73"/>
            <p:cNvSpPr/>
            <p:nvPr/>
          </p:nvSpPr>
          <p:spPr>
            <a:xfrm flipV="1">
              <a:off x="776" y="1437"/>
              <a:ext cx="0" cy="1439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9906" name="Line 74"/>
            <p:cNvSpPr/>
            <p:nvPr/>
          </p:nvSpPr>
          <p:spPr>
            <a:xfrm flipV="1">
              <a:off x="2816" y="1437"/>
              <a:ext cx="0" cy="1439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9907" name="Line 75"/>
            <p:cNvSpPr/>
            <p:nvPr/>
          </p:nvSpPr>
          <p:spPr>
            <a:xfrm>
              <a:off x="776" y="2876"/>
              <a:ext cx="2040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9908" name="Line 76"/>
            <p:cNvSpPr/>
            <p:nvPr/>
          </p:nvSpPr>
          <p:spPr>
            <a:xfrm>
              <a:off x="776" y="1437"/>
              <a:ext cx="2040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9909" name="Rectangle 77"/>
            <p:cNvSpPr/>
            <p:nvPr/>
          </p:nvSpPr>
          <p:spPr>
            <a:xfrm>
              <a:off x="2744" y="2013"/>
              <a:ext cx="144" cy="345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>
              <a:spAutoFit/>
            </a:bodyPr>
            <a:p>
              <a:pPr>
                <a:buClrTx/>
                <a:buFontTx/>
                <a:buNone/>
              </a:pPr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79910" name="Rectangle 78"/>
            <p:cNvSpPr/>
            <p:nvPr/>
          </p:nvSpPr>
          <p:spPr>
            <a:xfrm>
              <a:off x="704" y="2301"/>
              <a:ext cx="144" cy="345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>
              <a:spAutoFit/>
            </a:bodyPr>
            <a:p>
              <a:pPr>
                <a:buClrTx/>
                <a:buFontTx/>
                <a:buNone/>
              </a:pPr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79911" name="Text Box 79"/>
            <p:cNvSpPr txBox="1"/>
            <p:nvPr/>
          </p:nvSpPr>
          <p:spPr>
            <a:xfrm>
              <a:off x="476" y="1389"/>
              <a:ext cx="244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+</a:t>
              </a:r>
              <a:endPara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79912" name="Text Box 80"/>
            <p:cNvSpPr txBox="1"/>
            <p:nvPr/>
          </p:nvSpPr>
          <p:spPr>
            <a:xfrm>
              <a:off x="476" y="1888"/>
              <a:ext cx="228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_</a:t>
              </a:r>
              <a:endPara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79913" name="Text Box 81"/>
            <p:cNvSpPr txBox="1"/>
            <p:nvPr/>
          </p:nvSpPr>
          <p:spPr>
            <a:xfrm>
              <a:off x="230" y="2311"/>
              <a:ext cx="546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r>
                <a:rPr lang="en-US" altLang="zh-CN" b="0" baseline="-250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9914" name="Text Box 82"/>
            <p:cNvSpPr txBox="1"/>
            <p:nvPr/>
          </p:nvSpPr>
          <p:spPr>
            <a:xfrm>
              <a:off x="158" y="1585"/>
              <a:ext cx="546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lang="en-US" altLang="zh-CN" b="0" baseline="-250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S1</a:t>
              </a:r>
              <a:endPara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9915" name="Text Box 83"/>
            <p:cNvSpPr txBox="1"/>
            <p:nvPr/>
          </p:nvSpPr>
          <p:spPr>
            <a:xfrm>
              <a:off x="1520" y="1389"/>
              <a:ext cx="244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+</a:t>
              </a:r>
              <a:endPara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79916" name="Text Box 84"/>
            <p:cNvSpPr txBox="1"/>
            <p:nvPr/>
          </p:nvSpPr>
          <p:spPr>
            <a:xfrm>
              <a:off x="1520" y="1889"/>
              <a:ext cx="228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_</a:t>
              </a:r>
              <a:endPara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79917" name="Text Box 85"/>
            <p:cNvSpPr txBox="1"/>
            <p:nvPr/>
          </p:nvSpPr>
          <p:spPr>
            <a:xfrm>
              <a:off x="1149" y="1642"/>
              <a:ext cx="546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lang="en-US" altLang="zh-CN" b="0" baseline="-250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S2</a:t>
              </a:r>
              <a:endPara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9918" name="Text Box 86"/>
            <p:cNvSpPr txBox="1"/>
            <p:nvPr/>
          </p:nvSpPr>
          <p:spPr>
            <a:xfrm>
              <a:off x="1235" y="2368"/>
              <a:ext cx="546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r>
                <a:rPr lang="en-US" altLang="zh-CN" b="0" baseline="-250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endPara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9919" name="Text Box 87"/>
            <p:cNvSpPr txBox="1"/>
            <p:nvPr/>
          </p:nvSpPr>
          <p:spPr>
            <a:xfrm>
              <a:off x="2787" y="2023"/>
              <a:ext cx="546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r>
                <a:rPr lang="en-US" altLang="zh-CN" b="0" baseline="-250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  <a:endPara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9920" name="Oval 88"/>
            <p:cNvSpPr/>
            <p:nvPr/>
          </p:nvSpPr>
          <p:spPr>
            <a:xfrm>
              <a:off x="1759" y="1389"/>
              <a:ext cx="81" cy="82"/>
            </a:xfrm>
            <a:prstGeom prst="ellipse">
              <a:avLst/>
            </a:prstGeom>
            <a:solidFill>
              <a:srgbClr val="FF9900"/>
            </a:solidFill>
            <a:ln w="28575">
              <a:noFill/>
            </a:ln>
          </p:spPr>
          <p:txBody>
            <a:bodyPr wrap="none" anchor="ctr" anchorCtr="0"/>
            <a:p>
              <a:pPr>
                <a:buClrTx/>
                <a:buFontTx/>
                <a:buNone/>
              </a:pPr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79921" name="Oval 89"/>
            <p:cNvSpPr/>
            <p:nvPr/>
          </p:nvSpPr>
          <p:spPr>
            <a:xfrm>
              <a:off x="1759" y="2841"/>
              <a:ext cx="81" cy="82"/>
            </a:xfrm>
            <a:prstGeom prst="ellipse">
              <a:avLst/>
            </a:prstGeom>
            <a:solidFill>
              <a:srgbClr val="FF9900"/>
            </a:solidFill>
            <a:ln w="28575">
              <a:noFill/>
            </a:ln>
          </p:spPr>
          <p:txBody>
            <a:bodyPr wrap="none" anchor="ctr" anchorCtr="0"/>
            <a:p>
              <a:pPr>
                <a:buClrTx/>
                <a:buFontTx/>
                <a:buNone/>
              </a:pPr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</p:grpSp>
      <p:grpSp>
        <p:nvGrpSpPr>
          <p:cNvPr id="245850" name="Group 90"/>
          <p:cNvGrpSpPr/>
          <p:nvPr/>
        </p:nvGrpSpPr>
        <p:grpSpPr>
          <a:xfrm>
            <a:off x="395288" y="5589588"/>
            <a:ext cx="1644650" cy="850900"/>
            <a:chOff x="385" y="3022"/>
            <a:chExt cx="1036" cy="536"/>
          </a:xfrm>
        </p:grpSpPr>
        <p:pic>
          <p:nvPicPr>
            <p:cNvPr id="79923" name="Picture 91" descr="12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85" y="3022"/>
              <a:ext cx="590" cy="536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79924" name="Text Box 92"/>
            <p:cNvSpPr txBox="1"/>
            <p:nvPr/>
          </p:nvSpPr>
          <p:spPr>
            <a:xfrm>
              <a:off x="793" y="3125"/>
              <a:ext cx="628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ClrTx/>
                <a:buFontTx/>
                <a:buNone/>
              </a:pPr>
              <a:r>
                <a:rPr lang="zh-CN" altLang="en-US" sz="3200" b="0" dirty="0">
                  <a:solidFill>
                    <a:srgbClr val="CC6600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注意</a:t>
              </a:r>
              <a:endParaRPr lang="zh-CN" altLang="en-US" sz="3200" b="0" dirty="0">
                <a:solidFill>
                  <a:srgbClr val="CC6600"/>
                </a:solidFill>
                <a:latin typeface="Arial" panose="020B0604020202020204" pitchFamily="34" charset="0"/>
                <a:ea typeface="华文行楷" panose="02010800040101010101" pitchFamily="2" charset="-122"/>
              </a:endParaRPr>
            </a:p>
          </p:txBody>
        </p:sp>
      </p:grpSp>
      <p:grpSp>
        <p:nvGrpSpPr>
          <p:cNvPr id="79925" name="Group 99"/>
          <p:cNvGrpSpPr/>
          <p:nvPr/>
        </p:nvGrpSpPr>
        <p:grpSpPr>
          <a:xfrm>
            <a:off x="6588125" y="6445250"/>
            <a:ext cx="792163" cy="366713"/>
            <a:chOff x="5193" y="4020"/>
            <a:chExt cx="499" cy="231"/>
          </a:xfrm>
        </p:grpSpPr>
        <p:pic>
          <p:nvPicPr>
            <p:cNvPr id="79926" name="Picture 100" descr="78900">
              <a:hlinkClick r:id="" action="ppaction://hlinkshowjump?jump=firstslide"/>
            </p:cNvPr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79927" name="Text Box 101">
              <a:hlinkClick r:id="" action="ppaction://hlinkshowjump?jump=firs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58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58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3" dur="500"/>
                                        <p:tgtEl>
                                          <p:spTgt spid="2458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" fill="hold"/>
                                        <p:tgtEl>
                                          <p:spTgt spid="2457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" fill="hold"/>
                                        <p:tgtEl>
                                          <p:spTgt spid="2457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458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458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9" dur="500"/>
                                        <p:tgtEl>
                                          <p:spTgt spid="2458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" fill="hold"/>
                                        <p:tgtEl>
                                          <p:spTgt spid="2457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" fill="hold"/>
                                        <p:tgtEl>
                                          <p:spTgt spid="2457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245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457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457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457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457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56" dur="500"/>
                                        <p:tgtEl>
                                          <p:spTgt spid="245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60" dur="500"/>
                                        <p:tgtEl>
                                          <p:spTgt spid="245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5" dur="500"/>
                                        <p:tgtEl>
                                          <p:spTgt spid="2457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458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458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6" dur="500"/>
                                        <p:tgtEl>
                                          <p:spTgt spid="2458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500"/>
                            </p:stCondLst>
                            <p:childTnLst>
                              <p:par>
                                <p:cTn id="78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100" fill="hold"/>
                                        <p:tgtEl>
                                          <p:spTgt spid="2457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" fill="hold"/>
                                        <p:tgtEl>
                                          <p:spTgt spid="2457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0" dur="500"/>
                                        <p:tgtEl>
                                          <p:spTgt spid="245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2458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2458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64" grpId="0"/>
      <p:bldP spid="245765" grpId="0"/>
      <p:bldP spid="245766" grpId="0"/>
      <p:bldP spid="245768" grpId="0"/>
      <p:bldP spid="245802" grpId="0"/>
      <p:bldP spid="245807" grpId="0" animBg="1"/>
      <p:bldP spid="245808" grpId="0" animBg="1"/>
      <p:bldP spid="245809" grpId="0" animBg="1"/>
      <p:bldP spid="245810" grpId="0" animBg="1"/>
      <p:bldP spid="245811" grpId="0" animBg="1"/>
      <p:bldP spid="245812" grpId="0" animBg="1"/>
      <p:bldP spid="245815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7812" name="Text Box 4"/>
          <p:cNvSpPr txBox="1"/>
          <p:nvPr/>
        </p:nvSpPr>
        <p:spPr>
          <a:xfrm>
            <a:off x="539750" y="590550"/>
            <a:ext cx="6192838" cy="579438"/>
          </a:xfrm>
          <a:prstGeom prst="rect">
            <a:avLst/>
          </a:prstGeom>
          <a:noFill/>
          <a:ln w="12700">
            <a:noFill/>
          </a:ln>
        </p:spPr>
        <p:txBody>
          <a:bodyPr anchor="ctr" anchorCtr="0">
            <a:spAutoFit/>
          </a:bodyPr>
          <a:p>
            <a:pPr marL="571500" indent="-571500" algn="just" eaLnBrk="0" hangingPunct="0">
              <a:spcBef>
                <a:spcPct val="50000"/>
              </a:spcBef>
              <a:buClrTx/>
              <a:buFontTx/>
              <a:buNone/>
            </a:pPr>
            <a:r>
              <a:rPr lang="en-US" altLang="zh-CN" sz="32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2.</a:t>
            </a:r>
            <a:r>
              <a:rPr lang="zh-CN" altLang="en-US" sz="32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基尔霍夫电流定律</a:t>
            </a:r>
            <a:r>
              <a:rPr lang="zh-CN" altLang="en-US" sz="3200" dirty="0">
                <a:solidFill>
                  <a:schemeClr val="tx1"/>
                </a:solidFill>
                <a:latin typeface="仿宋_GB2312" pitchFamily="49" charset="-122"/>
                <a:ea typeface="仿宋_GB2312" pitchFamily="49" charset="-122"/>
                <a:sym typeface="Symbol" panose="05050102010706020507" pitchFamily="18" charset="2"/>
              </a:rPr>
              <a:t> </a:t>
            </a:r>
            <a:r>
              <a:rPr lang="en-US" altLang="zh-CN" sz="32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(KCL)</a:t>
            </a:r>
            <a:endParaRPr lang="en-US" altLang="zh-CN" sz="32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247828" name="Text Box 20"/>
          <p:cNvSpPr txBox="1"/>
          <p:nvPr/>
        </p:nvSpPr>
        <p:spPr>
          <a:xfrm>
            <a:off x="3419475" y="3614738"/>
            <a:ext cx="4321175" cy="579437"/>
          </a:xfrm>
          <a:prstGeom prst="rect">
            <a:avLst/>
          </a:prstGeom>
          <a:noFill/>
          <a:ln w="12700">
            <a:noFill/>
          </a:ln>
        </p:spPr>
        <p:txBody>
          <a:bodyPr anchor="ctr" anchorCtr="0">
            <a:spAutoFit/>
          </a:bodyPr>
          <a:p>
            <a:pPr algn="ctr" eaLnBrk="0" hangingPunct="0">
              <a:spcBef>
                <a:spcPct val="50000"/>
              </a:spcBef>
              <a:buClrTx/>
              <a:buFontTx/>
              <a:buNone/>
            </a:pPr>
            <a:r>
              <a:rPr lang="zh-CN" altLang="en-US" dirty="0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令流出为“</a:t>
            </a:r>
            <a:r>
              <a:rPr lang="en-US" altLang="zh-CN" sz="3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+</a:t>
            </a:r>
            <a:r>
              <a:rPr lang="en-US" altLang="zh-CN" dirty="0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”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，有：</a:t>
            </a:r>
            <a:endParaRPr lang="zh-CN" altLang="en-US" dirty="0">
              <a:latin typeface="楷体_GB2312" pitchFamily="49" charset="-122"/>
              <a:ea typeface="楷体_GB2312" pitchFamily="49" charset="-122"/>
              <a:sym typeface="Symbol" panose="05050102010706020507" pitchFamily="18" charset="2"/>
            </a:endParaRPr>
          </a:p>
        </p:txBody>
      </p:sp>
      <p:sp>
        <p:nvSpPr>
          <p:cNvPr id="247850" name="Text Box 42"/>
          <p:cNvSpPr txBox="1"/>
          <p:nvPr/>
        </p:nvSpPr>
        <p:spPr>
          <a:xfrm>
            <a:off x="539750" y="4005263"/>
            <a:ext cx="576263" cy="579437"/>
          </a:xfrm>
          <a:prstGeom prst="rect">
            <a:avLst/>
          </a:prstGeom>
          <a:noFill/>
          <a:ln w="38100">
            <a:noFill/>
          </a:ln>
        </p:spPr>
        <p:txBody>
          <a:bodyPr anchor="ctr" anchorCtr="0">
            <a:spAutoFit/>
          </a:bodyPr>
          <a:p>
            <a:pPr algn="ctr" eaLnBrk="0" hangingPunct="0">
              <a:spcBef>
                <a:spcPct val="50000"/>
              </a:spcBef>
              <a:buClrTx/>
              <a:buFontTx/>
              <a:buNone/>
            </a:pPr>
            <a:r>
              <a:rPr lang="zh-CN" altLang="en-US" sz="3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例</a:t>
            </a:r>
            <a:endParaRPr lang="zh-CN" altLang="en-US" sz="3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247854" name="Text Box 46"/>
          <p:cNvSpPr txBox="1"/>
          <p:nvPr/>
        </p:nvSpPr>
        <p:spPr>
          <a:xfrm>
            <a:off x="395288" y="1052513"/>
            <a:ext cx="8064500" cy="1117600"/>
          </a:xfrm>
          <a:prstGeom prst="rect">
            <a:avLst/>
          </a:prstGeom>
          <a:noFill/>
          <a:ln w="12700">
            <a:noFill/>
          </a:ln>
        </p:spPr>
        <p:txBody>
          <a:bodyPr anchor="ctr" anchorCtr="0">
            <a:spAutoFit/>
          </a:bodyPr>
          <a:p>
            <a:pPr algn="just" eaLnBrk="0" hangingPunct="0">
              <a:lnSpc>
                <a:spcPct val="120000"/>
              </a:lnSpc>
              <a:buClrTx/>
              <a:buFontTx/>
              <a:buNone/>
            </a:pPr>
            <a:r>
              <a:rPr lang="en-US" altLang="zh-CN" dirty="0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    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在集总参数电路中，任意时刻，对任意结点流出（或流入）该结点电流的代数和等于零。</a:t>
            </a:r>
            <a:endParaRPr lang="zh-CN" altLang="en-US" dirty="0">
              <a:latin typeface="楷体_GB2312" pitchFamily="49" charset="-122"/>
              <a:ea typeface="楷体_GB2312" pitchFamily="49" charset="-122"/>
              <a:sym typeface="Symbol" panose="05050102010706020507" pitchFamily="18" charset="2"/>
            </a:endParaRPr>
          </a:p>
        </p:txBody>
      </p:sp>
      <p:graphicFrame>
        <p:nvGraphicFramePr>
          <p:cNvPr id="247855" name="Object 47"/>
          <p:cNvGraphicFramePr>
            <a:graphicFrameLocks noChangeAspect="1"/>
          </p:cNvGraphicFramePr>
          <p:nvPr/>
        </p:nvGraphicFramePr>
        <p:xfrm>
          <a:off x="827088" y="2349500"/>
          <a:ext cx="2479675" cy="1236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6" name="" r:id="rId1" imgW="642620" imgH="387985" progId="Equation.3">
                  <p:embed/>
                </p:oleObj>
              </mc:Choice>
              <mc:Fallback>
                <p:oleObj name="" r:id="rId1" imgW="642620" imgH="387985" progId="Equation.3">
                  <p:embed/>
                  <p:pic>
                    <p:nvPicPr>
                      <p:cNvPr id="0" name="图片 3165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FF33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827088" y="2349500"/>
                        <a:ext cx="2479675" cy="1236663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FFCCCC"/>
                          </a:gs>
                          <a:gs pos="100000">
                            <a:srgbClr val="FFFFFF"/>
                          </a:gs>
                        </a:gsLst>
                        <a:lin ang="5400000" scaled="1"/>
                        <a:tileRect/>
                      </a:gra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7857" name="Object 49"/>
          <p:cNvGraphicFramePr>
            <a:graphicFrameLocks noChangeAspect="1"/>
          </p:cNvGraphicFramePr>
          <p:nvPr/>
        </p:nvGraphicFramePr>
        <p:xfrm>
          <a:off x="3779838" y="2565400"/>
          <a:ext cx="3403600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7" name="" r:id="rId3" imgW="1001395" imgH="213995" progId="Equation.3">
                  <p:embed/>
                </p:oleObj>
              </mc:Choice>
              <mc:Fallback>
                <p:oleObj name="" r:id="rId3" imgW="1001395" imgH="213995" progId="Equation.3">
                  <p:embed/>
                  <p:pic>
                    <p:nvPicPr>
                      <p:cNvPr id="0" name="图片 3166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8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779838" y="2565400"/>
                        <a:ext cx="3403600" cy="6286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7858" name="AutoShape 50" descr="羊皮纸"/>
          <p:cNvSpPr/>
          <p:nvPr/>
        </p:nvSpPr>
        <p:spPr>
          <a:xfrm>
            <a:off x="7667625" y="1700213"/>
            <a:ext cx="1187450" cy="2665412"/>
          </a:xfrm>
          <a:prstGeom prst="wedgeRectCallout">
            <a:avLst>
              <a:gd name="adj1" fmla="val -133690"/>
              <a:gd name="adj2" fmla="val -16708"/>
            </a:avLst>
          </a:prstGeom>
          <a:blipFill rotWithShape="1">
            <a:blip r:embed="rId5"/>
          </a:blip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p>
            <a:pPr algn="ctr" eaLnBrk="0" hangingPunct="0">
              <a:spcBef>
                <a:spcPct val="50000"/>
              </a:spcBef>
              <a:buClrTx/>
              <a:buFontTx/>
              <a:buNone/>
            </a:pP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流进的电流等于流出的电流</a:t>
            </a:r>
            <a:endParaRPr lang="zh-CN" altLang="en-US" dirty="0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  <a:sym typeface="Symbol" panose="05050102010706020507" pitchFamily="18" charset="2"/>
            </a:endParaRPr>
          </a:p>
        </p:txBody>
      </p:sp>
      <p:grpSp>
        <p:nvGrpSpPr>
          <p:cNvPr id="247874" name="Group 66"/>
          <p:cNvGrpSpPr/>
          <p:nvPr/>
        </p:nvGrpSpPr>
        <p:grpSpPr>
          <a:xfrm>
            <a:off x="755650" y="3716338"/>
            <a:ext cx="3384550" cy="2609850"/>
            <a:chOff x="385" y="2149"/>
            <a:chExt cx="2132" cy="1644"/>
          </a:xfrm>
        </p:grpSpPr>
        <p:sp>
          <p:nvSpPr>
            <p:cNvPr id="80905" name="Line 51"/>
            <p:cNvSpPr/>
            <p:nvPr/>
          </p:nvSpPr>
          <p:spPr>
            <a:xfrm>
              <a:off x="385" y="2886"/>
              <a:ext cx="1134" cy="0"/>
            </a:xfrm>
            <a:prstGeom prst="line">
              <a:avLst/>
            </a:prstGeom>
            <a:ln w="57150" cap="flat" cmpd="sng">
              <a:solidFill>
                <a:srgbClr val="FFCC00"/>
              </a:solidFill>
              <a:prstDash val="solid"/>
              <a:round/>
              <a:headEnd type="none" w="med" len="med"/>
              <a:tailEnd type="oval" w="lg" len="lg"/>
            </a:ln>
          </p:spPr>
        </p:sp>
        <p:sp>
          <p:nvSpPr>
            <p:cNvPr id="80906" name="Line 52"/>
            <p:cNvSpPr/>
            <p:nvPr/>
          </p:nvSpPr>
          <p:spPr>
            <a:xfrm>
              <a:off x="793" y="2160"/>
              <a:ext cx="726" cy="726"/>
            </a:xfrm>
            <a:prstGeom prst="line">
              <a:avLst/>
            </a:prstGeom>
            <a:ln w="57150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0907" name="Line 53"/>
            <p:cNvSpPr/>
            <p:nvPr/>
          </p:nvSpPr>
          <p:spPr>
            <a:xfrm flipH="1">
              <a:off x="975" y="2886"/>
              <a:ext cx="544" cy="907"/>
            </a:xfrm>
            <a:prstGeom prst="line">
              <a:avLst/>
            </a:prstGeom>
            <a:ln w="57150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0908" name="Line 54"/>
            <p:cNvSpPr/>
            <p:nvPr/>
          </p:nvSpPr>
          <p:spPr>
            <a:xfrm flipV="1">
              <a:off x="1519" y="2205"/>
              <a:ext cx="408" cy="681"/>
            </a:xfrm>
            <a:prstGeom prst="line">
              <a:avLst/>
            </a:prstGeom>
            <a:ln w="57150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0909" name="Line 55"/>
            <p:cNvSpPr/>
            <p:nvPr/>
          </p:nvSpPr>
          <p:spPr>
            <a:xfrm>
              <a:off x="1519" y="2886"/>
              <a:ext cx="998" cy="726"/>
            </a:xfrm>
            <a:prstGeom prst="line">
              <a:avLst/>
            </a:prstGeom>
            <a:ln w="57150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0910" name="Line 56"/>
            <p:cNvSpPr/>
            <p:nvPr/>
          </p:nvSpPr>
          <p:spPr>
            <a:xfrm flipH="1">
              <a:off x="1701" y="2387"/>
              <a:ext cx="227" cy="363"/>
            </a:xfrm>
            <a:prstGeom prst="line">
              <a:avLst/>
            </a:prstGeom>
            <a:ln w="28575" cap="flat" cmpd="sng">
              <a:solidFill>
                <a:srgbClr val="00CC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80911" name="Line 57"/>
            <p:cNvSpPr/>
            <p:nvPr/>
          </p:nvSpPr>
          <p:spPr>
            <a:xfrm flipH="1" flipV="1">
              <a:off x="1610" y="3067"/>
              <a:ext cx="499" cy="363"/>
            </a:xfrm>
            <a:prstGeom prst="line">
              <a:avLst/>
            </a:prstGeom>
            <a:ln w="28575" cap="flat" cmpd="sng">
              <a:solidFill>
                <a:srgbClr val="00CC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80912" name="Line 58"/>
            <p:cNvSpPr/>
            <p:nvPr/>
          </p:nvSpPr>
          <p:spPr>
            <a:xfrm flipH="1">
              <a:off x="1202" y="3203"/>
              <a:ext cx="272" cy="409"/>
            </a:xfrm>
            <a:prstGeom prst="line">
              <a:avLst/>
            </a:prstGeom>
            <a:ln w="28575" cap="flat" cmpd="sng">
              <a:solidFill>
                <a:srgbClr val="00CC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80913" name="Line 59"/>
            <p:cNvSpPr/>
            <p:nvPr/>
          </p:nvSpPr>
          <p:spPr>
            <a:xfrm flipH="1">
              <a:off x="567" y="2976"/>
              <a:ext cx="589" cy="0"/>
            </a:xfrm>
            <a:prstGeom prst="line">
              <a:avLst/>
            </a:prstGeom>
            <a:ln w="28575" cap="flat" cmpd="sng">
              <a:solidFill>
                <a:srgbClr val="00CC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80914" name="Line 60"/>
            <p:cNvSpPr/>
            <p:nvPr/>
          </p:nvSpPr>
          <p:spPr>
            <a:xfrm flipH="1" flipV="1">
              <a:off x="1020" y="2251"/>
              <a:ext cx="363" cy="408"/>
            </a:xfrm>
            <a:prstGeom prst="line">
              <a:avLst/>
            </a:prstGeom>
            <a:ln w="28575" cap="flat" cmpd="sng">
              <a:solidFill>
                <a:srgbClr val="00CC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graphicFrame>
          <p:nvGraphicFramePr>
            <p:cNvPr id="80915" name="Object 61"/>
            <p:cNvGraphicFramePr>
              <a:graphicFrameLocks noChangeAspect="1"/>
            </p:cNvGraphicFramePr>
            <p:nvPr/>
          </p:nvGraphicFramePr>
          <p:xfrm>
            <a:off x="1850" y="2456"/>
            <a:ext cx="247" cy="4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8" name="" r:id="rId6" imgW="86995" imgH="202565" progId="Equation.3">
                    <p:embed/>
                  </p:oleObj>
                </mc:Choice>
                <mc:Fallback>
                  <p:oleObj name="" r:id="rId6" imgW="86995" imgH="202565" progId="Equation.3">
                    <p:embed/>
                    <p:pic>
                      <p:nvPicPr>
                        <p:cNvPr id="0" name="图片 3177"/>
                        <p:cNvPicPr/>
                        <p:nvPr/>
                      </p:nvPicPr>
                      <p:blipFill>
                        <a:blip r:embed="rId7">
                          <a:clrChange>
                            <a:clrFrom>
                              <a:srgbClr val="000000"/>
                            </a:clrFrom>
                            <a:clrTo>
                              <a:srgbClr val="00008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850" y="2456"/>
                          <a:ext cx="247" cy="42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0916" name="Object 62"/>
            <p:cNvGraphicFramePr>
              <a:graphicFrameLocks noChangeAspect="1"/>
            </p:cNvGraphicFramePr>
            <p:nvPr/>
          </p:nvGraphicFramePr>
          <p:xfrm>
            <a:off x="1215" y="2149"/>
            <a:ext cx="275" cy="4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4" name="" r:id="rId8" imgW="98425" imgH="202565" progId="Equation.3">
                    <p:embed/>
                  </p:oleObj>
                </mc:Choice>
                <mc:Fallback>
                  <p:oleObj name="" r:id="rId8" imgW="98425" imgH="202565" progId="Equation.3">
                    <p:embed/>
                    <p:pic>
                      <p:nvPicPr>
                        <p:cNvPr id="0" name="图片 3173"/>
                        <p:cNvPicPr/>
                        <p:nvPr/>
                      </p:nvPicPr>
                      <p:blipFill>
                        <a:blip r:embed="rId9">
                          <a:clrChange>
                            <a:clrFrom>
                              <a:srgbClr val="000000"/>
                            </a:clrFrom>
                            <a:clrTo>
                              <a:srgbClr val="00008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215" y="2149"/>
                          <a:ext cx="275" cy="42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0917" name="Object 63"/>
            <p:cNvGraphicFramePr>
              <a:graphicFrameLocks noChangeAspect="1"/>
            </p:cNvGraphicFramePr>
            <p:nvPr/>
          </p:nvGraphicFramePr>
          <p:xfrm>
            <a:off x="657" y="2909"/>
            <a:ext cx="302" cy="4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7" name="" r:id="rId10" imgW="109855" imgH="202565" progId="Equation.3">
                    <p:embed/>
                  </p:oleObj>
                </mc:Choice>
                <mc:Fallback>
                  <p:oleObj name="" r:id="rId10" imgW="109855" imgH="202565" progId="Equation.3">
                    <p:embed/>
                    <p:pic>
                      <p:nvPicPr>
                        <p:cNvPr id="0" name="图片 3176"/>
                        <p:cNvPicPr/>
                        <p:nvPr/>
                      </p:nvPicPr>
                      <p:blipFill>
                        <a:blip r:embed="rId11">
                          <a:clrChange>
                            <a:clrFrom>
                              <a:srgbClr val="000000"/>
                            </a:clrFrom>
                            <a:clrTo>
                              <a:srgbClr val="00008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657" y="2909"/>
                          <a:ext cx="302" cy="42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0918" name="Object 64"/>
            <p:cNvGraphicFramePr>
              <a:graphicFrameLocks noChangeAspect="1"/>
            </p:cNvGraphicFramePr>
            <p:nvPr/>
          </p:nvGraphicFramePr>
          <p:xfrm>
            <a:off x="1351" y="3283"/>
            <a:ext cx="274" cy="4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0" name="" r:id="rId12" imgW="98425" imgH="202565" progId="Equation.3">
                    <p:embed/>
                  </p:oleObj>
                </mc:Choice>
                <mc:Fallback>
                  <p:oleObj name="" r:id="rId12" imgW="98425" imgH="202565" progId="Equation.3">
                    <p:embed/>
                    <p:pic>
                      <p:nvPicPr>
                        <p:cNvPr id="0" name="图片 3169"/>
                        <p:cNvPicPr/>
                        <p:nvPr/>
                      </p:nvPicPr>
                      <p:blipFill>
                        <a:blip r:embed="rId13">
                          <a:clrChange>
                            <a:clrFrom>
                              <a:srgbClr val="000000"/>
                            </a:clrFrom>
                            <a:clrTo>
                              <a:srgbClr val="00008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351" y="3283"/>
                          <a:ext cx="274" cy="42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0919" name="Object 65"/>
            <p:cNvGraphicFramePr>
              <a:graphicFrameLocks noChangeAspect="1"/>
            </p:cNvGraphicFramePr>
            <p:nvPr/>
          </p:nvGraphicFramePr>
          <p:xfrm>
            <a:off x="1701" y="3181"/>
            <a:ext cx="302" cy="4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68" name="" r:id="rId14" imgW="109855" imgH="202565" progId="Equation.3">
                    <p:embed/>
                  </p:oleObj>
                </mc:Choice>
                <mc:Fallback>
                  <p:oleObj name="" r:id="rId14" imgW="109855" imgH="202565" progId="Equation.3">
                    <p:embed/>
                    <p:pic>
                      <p:nvPicPr>
                        <p:cNvPr id="0" name="图片 3167"/>
                        <p:cNvPicPr/>
                        <p:nvPr/>
                      </p:nvPicPr>
                      <p:blipFill>
                        <a:blip r:embed="rId15">
                          <a:clrChange>
                            <a:clrFrom>
                              <a:srgbClr val="000000"/>
                            </a:clrFrom>
                            <a:clrTo>
                              <a:srgbClr val="00008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701" y="3181"/>
                          <a:ext cx="302" cy="42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47875" name="Object 67"/>
          <p:cNvGraphicFramePr>
            <a:graphicFrameLocks noChangeAspect="1"/>
          </p:cNvGraphicFramePr>
          <p:nvPr/>
        </p:nvGraphicFramePr>
        <p:xfrm>
          <a:off x="3779838" y="4365625"/>
          <a:ext cx="4608512" cy="585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1" name="" r:id="rId16" imgW="1313815" imgH="191135" progId="Equation.3">
                  <p:embed/>
                </p:oleObj>
              </mc:Choice>
              <mc:Fallback>
                <p:oleObj name="" r:id="rId16" imgW="1313815" imgH="191135" progId="Equation.3">
                  <p:embed/>
                  <p:pic>
                    <p:nvPicPr>
                      <p:cNvPr id="0" name="图片 3170"/>
                      <p:cNvPicPr/>
                      <p:nvPr/>
                    </p:nvPicPr>
                    <p:blipFill>
                      <a:blip r:embed="rId17">
                        <a:clrChange>
                          <a:clrFrom>
                            <a:srgbClr val="000000"/>
                          </a:clrFrom>
                          <a:clrTo>
                            <a:srgbClr val="00008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779838" y="4365625"/>
                        <a:ext cx="4608512" cy="5857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7876" name="Object 68"/>
          <p:cNvGraphicFramePr>
            <a:graphicFrameLocks noChangeAspect="1"/>
          </p:cNvGraphicFramePr>
          <p:nvPr/>
        </p:nvGraphicFramePr>
        <p:xfrm>
          <a:off x="4067175" y="5013325"/>
          <a:ext cx="3567113" cy="585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5" name="" r:id="rId18" imgW="1012825" imgH="191135" progId="Equation.3">
                  <p:embed/>
                </p:oleObj>
              </mc:Choice>
              <mc:Fallback>
                <p:oleObj name="" r:id="rId18" imgW="1012825" imgH="191135" progId="Equation.3">
                  <p:embed/>
                  <p:pic>
                    <p:nvPicPr>
                      <p:cNvPr id="0" name="图片 3174"/>
                      <p:cNvPicPr/>
                      <p:nvPr/>
                    </p:nvPicPr>
                    <p:blipFill>
                      <a:blip r:embed="rId19">
                        <a:clrChange>
                          <a:clrFrom>
                            <a:srgbClr val="000000"/>
                          </a:clrFrom>
                          <a:clrTo>
                            <a:srgbClr val="00008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067175" y="5013325"/>
                        <a:ext cx="3567113" cy="5857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0922" name="Group 70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80923" name="Picture 71" descr="78900"/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80924" name="Text Box 72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80925" name="Group 73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80926" name="Picture 74" descr="78900"/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80927" name="Text Box 75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80928" name="Group 85"/>
          <p:cNvGrpSpPr/>
          <p:nvPr/>
        </p:nvGrpSpPr>
        <p:grpSpPr>
          <a:xfrm>
            <a:off x="6588125" y="6445250"/>
            <a:ext cx="792163" cy="366713"/>
            <a:chOff x="5193" y="4020"/>
            <a:chExt cx="499" cy="231"/>
          </a:xfrm>
        </p:grpSpPr>
        <p:pic>
          <p:nvPicPr>
            <p:cNvPr id="80929" name="Picture 86" descr="78900">
              <a:hlinkClick r:id="" action="ppaction://hlinkshowjump?jump=firstslide"/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80930" name="Text Box 87">
              <a:hlinkClick r:id="" action="ppaction://hlinkshowjump?jump=firs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2478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"/>
                                        <p:tgtEl>
                                          <p:spTgt spid="2478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2478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2478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6" dur="1000"/>
                                        <p:tgtEl>
                                          <p:spTgt spid="2478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478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478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478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478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2000"/>
                                        <p:tgtEl>
                                          <p:spTgt spid="247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2000"/>
                                        <p:tgtEl>
                                          <p:spTgt spid="247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1000"/>
                                        <p:tgtEl>
                                          <p:spTgt spid="247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1000"/>
                                        <p:tgtEl>
                                          <p:spTgt spid="247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7812" grpId="0"/>
      <p:bldP spid="247828" grpId="0"/>
      <p:bldP spid="247850" grpId="0"/>
      <p:bldP spid="247854" grpId="0"/>
      <p:bldP spid="247858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48882" name="Object 50"/>
          <p:cNvGraphicFramePr>
            <a:graphicFrameLocks noChangeAspect="1"/>
          </p:cNvGraphicFramePr>
          <p:nvPr/>
        </p:nvGraphicFramePr>
        <p:xfrm>
          <a:off x="1403350" y="620713"/>
          <a:ext cx="3024188" cy="639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6" name="" r:id="rId1" imgW="827405" imgH="202565" progId="Equation.3">
                  <p:embed/>
                </p:oleObj>
              </mc:Choice>
              <mc:Fallback>
                <p:oleObj name="" r:id="rId1" imgW="827405" imgH="202565" progId="Equation.3">
                  <p:embed/>
                  <p:pic>
                    <p:nvPicPr>
                      <p:cNvPr id="0" name="图片 3175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8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403350" y="620713"/>
                        <a:ext cx="3024188" cy="6397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8884" name="Text Box 52"/>
          <p:cNvSpPr txBox="1"/>
          <p:nvPr/>
        </p:nvSpPr>
        <p:spPr>
          <a:xfrm>
            <a:off x="468313" y="549275"/>
            <a:ext cx="576262" cy="579438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 algn="ctr" eaLnBrk="0" hangingPunct="0">
              <a:buClrTx/>
              <a:buFontTx/>
              <a:buNone/>
            </a:pPr>
            <a:r>
              <a:rPr lang="zh-CN" altLang="en-US" sz="3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例</a:t>
            </a:r>
            <a:endParaRPr lang="zh-CN" altLang="en-US" sz="3200" dirty="0">
              <a:solidFill>
                <a:schemeClr val="tx1"/>
              </a:solidFill>
              <a:latin typeface="Times New Roman" panose="02020603050405020304" pitchFamily="18" charset="0"/>
              <a:ea typeface="仿宋_GB2312" pitchFamily="49" charset="-122"/>
              <a:sym typeface="Symbol" panose="05050102010706020507" pitchFamily="18" charset="2"/>
            </a:endParaRPr>
          </a:p>
        </p:txBody>
      </p:sp>
      <p:graphicFrame>
        <p:nvGraphicFramePr>
          <p:cNvPr id="248885" name="Object 53"/>
          <p:cNvGraphicFramePr>
            <a:graphicFrameLocks noChangeAspect="1"/>
          </p:cNvGraphicFramePr>
          <p:nvPr/>
        </p:nvGraphicFramePr>
        <p:xfrm>
          <a:off x="1042988" y="1341438"/>
          <a:ext cx="3455987" cy="625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2" name="" r:id="rId3" imgW="966470" imgH="202565" progId="Equation.3">
                  <p:embed/>
                </p:oleObj>
              </mc:Choice>
              <mc:Fallback>
                <p:oleObj name="" r:id="rId3" imgW="966470" imgH="202565" progId="Equation.3">
                  <p:embed/>
                  <p:pic>
                    <p:nvPicPr>
                      <p:cNvPr id="0" name="图片 3171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8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042988" y="1341438"/>
                        <a:ext cx="3455987" cy="6254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8886" name="Object 54"/>
          <p:cNvGraphicFramePr>
            <a:graphicFrameLocks noChangeAspect="1"/>
          </p:cNvGraphicFramePr>
          <p:nvPr/>
        </p:nvGraphicFramePr>
        <p:xfrm>
          <a:off x="1547813" y="2060575"/>
          <a:ext cx="2928937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9" name="" r:id="rId5" imgW="827405" imgH="202565" progId="Equation.3">
                  <p:embed/>
                </p:oleObj>
              </mc:Choice>
              <mc:Fallback>
                <p:oleObj name="" r:id="rId5" imgW="827405" imgH="202565" progId="Equation.3">
                  <p:embed/>
                  <p:pic>
                    <p:nvPicPr>
                      <p:cNvPr id="0" name="图片 3168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00008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547813" y="2060575"/>
                        <a:ext cx="2928937" cy="6191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8887" name="Text Box 55"/>
          <p:cNvSpPr txBox="1"/>
          <p:nvPr/>
        </p:nvSpPr>
        <p:spPr>
          <a:xfrm>
            <a:off x="611188" y="2781300"/>
            <a:ext cx="2736850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>
              <a:spcBef>
                <a:spcPct val="50000"/>
              </a:spcBef>
              <a:buClrTx/>
              <a:buFontTx/>
              <a:buNone/>
            </a:pPr>
            <a:r>
              <a:rPr lang="zh-CN" altLang="en-US" dirty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三式相加得：</a:t>
            </a:r>
            <a:endParaRPr lang="zh-CN" altLang="en-US" dirty="0">
              <a:latin typeface="Times New Roman" panose="02020603050405020304" pitchFamily="18" charset="0"/>
              <a:ea typeface="楷体_GB2312" pitchFamily="49" charset="-122"/>
              <a:sym typeface="Symbol" panose="05050102010706020507" pitchFamily="18" charset="2"/>
            </a:endParaRPr>
          </a:p>
        </p:txBody>
      </p:sp>
      <p:graphicFrame>
        <p:nvGraphicFramePr>
          <p:cNvPr id="248888" name="Object 56"/>
          <p:cNvGraphicFramePr>
            <a:graphicFrameLocks noChangeAspect="1"/>
          </p:cNvGraphicFramePr>
          <p:nvPr/>
        </p:nvGraphicFramePr>
        <p:xfrm>
          <a:off x="1476375" y="3500438"/>
          <a:ext cx="2928938" cy="617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3" name="" r:id="rId7" imgW="827405" imgH="202565" progId="Equation.3">
                  <p:embed/>
                </p:oleObj>
              </mc:Choice>
              <mc:Fallback>
                <p:oleObj name="" r:id="rId7" imgW="827405" imgH="202565" progId="Equation.3">
                  <p:embed/>
                  <p:pic>
                    <p:nvPicPr>
                      <p:cNvPr id="0" name="图片 3172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00008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476375" y="3500438"/>
                        <a:ext cx="2928938" cy="6175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8890" name="Text Box 58"/>
          <p:cNvSpPr txBox="1"/>
          <p:nvPr/>
        </p:nvSpPr>
        <p:spPr>
          <a:xfrm>
            <a:off x="2195513" y="4508500"/>
            <a:ext cx="6264275" cy="1117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>
              <a:lnSpc>
                <a:spcPct val="120000"/>
              </a:lnSpc>
              <a:spcBef>
                <a:spcPct val="50000"/>
              </a:spcBef>
              <a:buClrTx/>
              <a:buFontTx/>
              <a:buNone/>
            </a:pPr>
            <a:r>
              <a:rPr lang="en-US" altLang="zh-CN" b="0" dirty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KCL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可推广应用于电路中包围多个结点的任一闭合面。</a:t>
            </a:r>
            <a:endParaRPr lang="zh-CN" altLang="en-US" dirty="0">
              <a:latin typeface="楷体_GB2312" pitchFamily="49" charset="-122"/>
              <a:ea typeface="楷体_GB2312" pitchFamily="49" charset="-122"/>
              <a:sym typeface="Symbol" panose="05050102010706020507" pitchFamily="18" charset="2"/>
            </a:endParaRPr>
          </a:p>
        </p:txBody>
      </p:sp>
      <p:sp>
        <p:nvSpPr>
          <p:cNvPr id="248891" name="Oval 59"/>
          <p:cNvSpPr/>
          <p:nvPr/>
        </p:nvSpPr>
        <p:spPr>
          <a:xfrm>
            <a:off x="6011863" y="981075"/>
            <a:ext cx="2305050" cy="3167063"/>
          </a:xfrm>
          <a:prstGeom prst="ellipse">
            <a:avLst/>
          </a:prstGeom>
          <a:noFill/>
          <a:ln w="28575" cap="flat" cmpd="sng">
            <a:solidFill>
              <a:srgbClr val="FF3300"/>
            </a:solidFill>
            <a:prstDash val="dash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pPr>
              <a:buClrTx/>
              <a:buFontTx/>
              <a:buNone/>
            </a:pPr>
            <a:endParaRPr lang="zh-CN" altLang="en-US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grpSp>
        <p:nvGrpSpPr>
          <p:cNvPr id="81929" name="Group 68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81930" name="Picture 69" descr="78900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81931" name="Text Box 70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81932" name="Group 71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81933" name="Picture 72" descr="78900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81934" name="Text Box 73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248909" name="Group 77"/>
          <p:cNvGrpSpPr/>
          <p:nvPr/>
        </p:nvGrpSpPr>
        <p:grpSpPr>
          <a:xfrm>
            <a:off x="5148263" y="836613"/>
            <a:ext cx="3249612" cy="3271837"/>
            <a:chOff x="2653" y="925"/>
            <a:chExt cx="2047" cy="2061"/>
          </a:xfrm>
        </p:grpSpPr>
        <p:sp>
          <p:nvSpPr>
            <p:cNvPr id="81936" name="Rectangle 78"/>
            <p:cNvSpPr/>
            <p:nvPr/>
          </p:nvSpPr>
          <p:spPr>
            <a:xfrm>
              <a:off x="3515" y="1298"/>
              <a:ext cx="771" cy="1360"/>
            </a:xfrm>
            <a:prstGeom prst="rect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  <a:buNone/>
              </a:pPr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81937" name="Line 79"/>
            <p:cNvSpPr/>
            <p:nvPr/>
          </p:nvSpPr>
          <p:spPr>
            <a:xfrm>
              <a:off x="2653" y="1298"/>
              <a:ext cx="862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oval" w="lg" len="med"/>
            </a:ln>
          </p:spPr>
        </p:sp>
        <p:sp>
          <p:nvSpPr>
            <p:cNvPr id="81938" name="Line 80"/>
            <p:cNvSpPr/>
            <p:nvPr/>
          </p:nvSpPr>
          <p:spPr>
            <a:xfrm>
              <a:off x="2653" y="1978"/>
              <a:ext cx="862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oval" w="med" len="med"/>
            </a:ln>
          </p:spPr>
        </p:sp>
        <p:sp>
          <p:nvSpPr>
            <p:cNvPr id="81939" name="Line 81"/>
            <p:cNvSpPr/>
            <p:nvPr/>
          </p:nvSpPr>
          <p:spPr>
            <a:xfrm>
              <a:off x="2653" y="2658"/>
              <a:ext cx="862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oval" w="med" len="med"/>
            </a:ln>
          </p:spPr>
        </p:sp>
        <p:sp>
          <p:nvSpPr>
            <p:cNvPr id="81940" name="Line 82"/>
            <p:cNvSpPr/>
            <p:nvPr/>
          </p:nvSpPr>
          <p:spPr>
            <a:xfrm flipH="1">
              <a:off x="2925" y="1388"/>
              <a:ext cx="363" cy="0"/>
            </a:xfrm>
            <a:prstGeom prst="line">
              <a:avLst/>
            </a:prstGeom>
            <a:ln w="28575" cap="flat" cmpd="sng">
              <a:solidFill>
                <a:srgbClr val="00CC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81941" name="Line 83"/>
            <p:cNvSpPr/>
            <p:nvPr/>
          </p:nvSpPr>
          <p:spPr>
            <a:xfrm flipH="1">
              <a:off x="2880" y="2749"/>
              <a:ext cx="363" cy="0"/>
            </a:xfrm>
            <a:prstGeom prst="line">
              <a:avLst/>
            </a:prstGeom>
            <a:ln w="28575" cap="flat" cmpd="sng">
              <a:solidFill>
                <a:srgbClr val="00CC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81942" name="Line 84"/>
            <p:cNvSpPr/>
            <p:nvPr/>
          </p:nvSpPr>
          <p:spPr>
            <a:xfrm flipH="1">
              <a:off x="2880" y="2069"/>
              <a:ext cx="363" cy="0"/>
            </a:xfrm>
            <a:prstGeom prst="line">
              <a:avLst/>
            </a:prstGeom>
            <a:ln w="28575" cap="flat" cmpd="sng">
              <a:solidFill>
                <a:srgbClr val="00CCFF"/>
              </a:solidFill>
              <a:prstDash val="solid"/>
              <a:round/>
              <a:headEnd type="triangle" w="med" len="med"/>
              <a:tailEnd type="none" w="med" len="med"/>
            </a:ln>
          </p:spPr>
        </p:sp>
        <p:sp>
          <p:nvSpPr>
            <p:cNvPr id="81943" name="Line 85"/>
            <p:cNvSpPr/>
            <p:nvPr/>
          </p:nvSpPr>
          <p:spPr>
            <a:xfrm>
              <a:off x="3651" y="2115"/>
              <a:ext cx="0" cy="363"/>
            </a:xfrm>
            <a:prstGeom prst="line">
              <a:avLst/>
            </a:prstGeom>
            <a:ln w="38100" cap="flat" cmpd="sng">
              <a:solidFill>
                <a:srgbClr val="00CC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81944" name="Line 86"/>
            <p:cNvSpPr/>
            <p:nvPr/>
          </p:nvSpPr>
          <p:spPr>
            <a:xfrm>
              <a:off x="3651" y="1388"/>
              <a:ext cx="0" cy="364"/>
            </a:xfrm>
            <a:prstGeom prst="line">
              <a:avLst/>
            </a:prstGeom>
            <a:ln w="28575" cap="flat" cmpd="sng">
              <a:solidFill>
                <a:srgbClr val="00CC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81945" name="Line 87"/>
            <p:cNvSpPr/>
            <p:nvPr/>
          </p:nvSpPr>
          <p:spPr>
            <a:xfrm>
              <a:off x="4377" y="1297"/>
              <a:ext cx="0" cy="364"/>
            </a:xfrm>
            <a:prstGeom prst="line">
              <a:avLst/>
            </a:prstGeom>
            <a:ln w="28575" cap="flat" cmpd="sng">
              <a:solidFill>
                <a:srgbClr val="00CC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81946" name="Text Box 88"/>
            <p:cNvSpPr txBox="1"/>
            <p:nvPr/>
          </p:nvSpPr>
          <p:spPr>
            <a:xfrm>
              <a:off x="3334" y="935"/>
              <a:ext cx="31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marL="342900" indent="-342900" algn="ctr" eaLnBrk="0" hangingPunct="0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1</a:t>
              </a:r>
              <a:r>
                <a:rPr lang="en-US" altLang="zh-CN" sz="2400" b="0" dirty="0"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 </a:t>
              </a:r>
              <a:endParaRPr lang="en-US" altLang="zh-CN" sz="2400" b="0" dirty="0"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81947" name="Text Box 89"/>
            <p:cNvSpPr txBox="1"/>
            <p:nvPr/>
          </p:nvSpPr>
          <p:spPr>
            <a:xfrm>
              <a:off x="3334" y="2659"/>
              <a:ext cx="31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marL="342900" indent="-342900" algn="ctr" eaLnBrk="0" hangingPunct="0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3 </a:t>
              </a:r>
              <a:endPara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81948" name="Rectangle 90"/>
            <p:cNvSpPr/>
            <p:nvPr/>
          </p:nvSpPr>
          <p:spPr>
            <a:xfrm>
              <a:off x="3515" y="1797"/>
              <a:ext cx="22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ctr" eaLnBrk="0" hangingPunct="0">
                <a:buClrTx/>
                <a:buFontTx/>
                <a:buNone/>
              </a:pPr>
              <a:r>
                <a:rPr lang="en-US" altLang="zh-CN" b="0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2</a:t>
              </a:r>
              <a:endPara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graphicFrame>
          <p:nvGraphicFramePr>
            <p:cNvPr id="81949" name="Object 91"/>
            <p:cNvGraphicFramePr>
              <a:graphicFrameLocks noChangeAspect="1"/>
            </p:cNvGraphicFramePr>
            <p:nvPr/>
          </p:nvGraphicFramePr>
          <p:xfrm>
            <a:off x="3651" y="2115"/>
            <a:ext cx="253" cy="3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82" name="" r:id="rId10" imgW="98425" imgH="202565" progId="Equation.3">
                    <p:embed/>
                  </p:oleObj>
                </mc:Choice>
                <mc:Fallback>
                  <p:oleObj name="" r:id="rId10" imgW="98425" imgH="202565" progId="Equation.3">
                    <p:embed/>
                    <p:pic>
                      <p:nvPicPr>
                        <p:cNvPr id="0" name="图片 3181"/>
                        <p:cNvPicPr/>
                        <p:nvPr/>
                      </p:nvPicPr>
                      <p:blipFill>
                        <a:blip r:embed="rId11">
                          <a:clrChange>
                            <a:clrFrom>
                              <a:srgbClr val="000000"/>
                            </a:clrFrom>
                            <a:clrTo>
                              <a:srgbClr val="00008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651" y="2115"/>
                          <a:ext cx="253" cy="38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1950" name="Object 92"/>
            <p:cNvGraphicFramePr>
              <a:graphicFrameLocks noChangeAspect="1"/>
            </p:cNvGraphicFramePr>
            <p:nvPr/>
          </p:nvGraphicFramePr>
          <p:xfrm>
            <a:off x="4422" y="1253"/>
            <a:ext cx="278" cy="3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9" name="" r:id="rId12" imgW="109855" imgH="202565" progId="Equation.3">
                    <p:embed/>
                  </p:oleObj>
                </mc:Choice>
                <mc:Fallback>
                  <p:oleObj name="" r:id="rId12" imgW="109855" imgH="202565" progId="Equation.3">
                    <p:embed/>
                    <p:pic>
                      <p:nvPicPr>
                        <p:cNvPr id="0" name="图片 3178"/>
                        <p:cNvPicPr/>
                        <p:nvPr/>
                      </p:nvPicPr>
                      <p:blipFill>
                        <a:blip r:embed="rId13">
                          <a:clrChange>
                            <a:clrFrom>
                              <a:srgbClr val="000000"/>
                            </a:clrFrom>
                            <a:clrTo>
                              <a:srgbClr val="00008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422" y="1253"/>
                          <a:ext cx="278" cy="38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1951" name="Object 93"/>
            <p:cNvGraphicFramePr>
              <a:graphicFrameLocks noChangeAspect="1"/>
            </p:cNvGraphicFramePr>
            <p:nvPr/>
          </p:nvGraphicFramePr>
          <p:xfrm>
            <a:off x="3696" y="1344"/>
            <a:ext cx="278" cy="3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80" name="" r:id="rId14" imgW="109855" imgH="202565" progId="Equation.3">
                    <p:embed/>
                  </p:oleObj>
                </mc:Choice>
                <mc:Fallback>
                  <p:oleObj name="" r:id="rId14" imgW="109855" imgH="202565" progId="Equation.3">
                    <p:embed/>
                    <p:pic>
                      <p:nvPicPr>
                        <p:cNvPr id="0" name="图片 3179"/>
                        <p:cNvPicPr/>
                        <p:nvPr/>
                      </p:nvPicPr>
                      <p:blipFill>
                        <a:blip r:embed="rId15">
                          <a:clrChange>
                            <a:clrFrom>
                              <a:srgbClr val="000000"/>
                            </a:clrFrom>
                            <a:clrTo>
                              <a:srgbClr val="00008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696" y="1344"/>
                          <a:ext cx="278" cy="38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1952" name="Object 94"/>
            <p:cNvGraphicFramePr>
              <a:graphicFrameLocks noChangeAspect="1"/>
            </p:cNvGraphicFramePr>
            <p:nvPr/>
          </p:nvGraphicFramePr>
          <p:xfrm>
            <a:off x="2996" y="925"/>
            <a:ext cx="227" cy="3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83" name="" r:id="rId16" imgW="86995" imgH="202565" progId="Equation.3">
                    <p:embed/>
                  </p:oleObj>
                </mc:Choice>
                <mc:Fallback>
                  <p:oleObj name="" r:id="rId16" imgW="86995" imgH="202565" progId="Equation.3">
                    <p:embed/>
                    <p:pic>
                      <p:nvPicPr>
                        <p:cNvPr id="0" name="图片 3182"/>
                        <p:cNvPicPr/>
                        <p:nvPr/>
                      </p:nvPicPr>
                      <p:blipFill>
                        <a:blip r:embed="rId17">
                          <a:clrChange>
                            <a:clrFrom>
                              <a:srgbClr val="000000"/>
                            </a:clrFrom>
                            <a:clrTo>
                              <a:srgbClr val="00008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996" y="925"/>
                          <a:ext cx="227" cy="39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1953" name="Object 95"/>
            <p:cNvGraphicFramePr>
              <a:graphicFrameLocks noChangeAspect="1"/>
            </p:cNvGraphicFramePr>
            <p:nvPr/>
          </p:nvGraphicFramePr>
          <p:xfrm>
            <a:off x="2926" y="2230"/>
            <a:ext cx="252" cy="3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81" name="" r:id="rId18" imgW="98425" imgH="202565" progId="Equation.3">
                    <p:embed/>
                  </p:oleObj>
                </mc:Choice>
                <mc:Fallback>
                  <p:oleObj name="" r:id="rId18" imgW="98425" imgH="202565" progId="Equation.3">
                    <p:embed/>
                    <p:pic>
                      <p:nvPicPr>
                        <p:cNvPr id="0" name="图片 3180"/>
                        <p:cNvPicPr/>
                        <p:nvPr/>
                      </p:nvPicPr>
                      <p:blipFill>
                        <a:blip r:embed="rId19">
                          <a:clrChange>
                            <a:clrFrom>
                              <a:srgbClr val="000000"/>
                            </a:clrFrom>
                            <a:clrTo>
                              <a:srgbClr val="00008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926" y="2230"/>
                          <a:ext cx="252" cy="38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1954" name="Object 96"/>
            <p:cNvGraphicFramePr>
              <a:graphicFrameLocks noChangeAspect="1"/>
            </p:cNvGraphicFramePr>
            <p:nvPr/>
          </p:nvGraphicFramePr>
          <p:xfrm>
            <a:off x="2971" y="1595"/>
            <a:ext cx="278" cy="3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84" name="" r:id="rId20" imgW="109855" imgH="202565" progId="Equation.3">
                    <p:embed/>
                  </p:oleObj>
                </mc:Choice>
                <mc:Fallback>
                  <p:oleObj name="" r:id="rId20" imgW="109855" imgH="202565" progId="Equation.3">
                    <p:embed/>
                    <p:pic>
                      <p:nvPicPr>
                        <p:cNvPr id="0" name="图片 3183"/>
                        <p:cNvPicPr/>
                        <p:nvPr/>
                      </p:nvPicPr>
                      <p:blipFill>
                        <a:blip r:embed="rId21">
                          <a:clrChange>
                            <a:clrFrom>
                              <a:srgbClr val="000000"/>
                            </a:clrFrom>
                            <a:clrTo>
                              <a:srgbClr val="00008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971" y="1595"/>
                          <a:ext cx="278" cy="38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1955" name="Rectangle 97"/>
            <p:cNvSpPr/>
            <p:nvPr/>
          </p:nvSpPr>
          <p:spPr>
            <a:xfrm>
              <a:off x="4195" y="1797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>
                <a:buClrTx/>
                <a:buFontTx/>
                <a:buNone/>
              </a:pPr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81956" name="Rectangle 98"/>
            <p:cNvSpPr/>
            <p:nvPr/>
          </p:nvSpPr>
          <p:spPr>
            <a:xfrm>
              <a:off x="3433" y="2160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>
                <a:buClrTx/>
                <a:buFontTx/>
                <a:buNone/>
              </a:pPr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81957" name="Rectangle 99"/>
            <p:cNvSpPr/>
            <p:nvPr/>
          </p:nvSpPr>
          <p:spPr>
            <a:xfrm>
              <a:off x="3433" y="1480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>
                <a:buClrTx/>
                <a:buFontTx/>
                <a:buNone/>
              </a:pPr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</p:grpSp>
      <p:grpSp>
        <p:nvGrpSpPr>
          <p:cNvPr id="248932" name="Group 100"/>
          <p:cNvGrpSpPr/>
          <p:nvPr/>
        </p:nvGrpSpPr>
        <p:grpSpPr>
          <a:xfrm>
            <a:off x="395288" y="4437063"/>
            <a:ext cx="1644650" cy="850900"/>
            <a:chOff x="385" y="3022"/>
            <a:chExt cx="1036" cy="536"/>
          </a:xfrm>
        </p:grpSpPr>
        <p:pic>
          <p:nvPicPr>
            <p:cNvPr id="81959" name="Picture 101" descr="123"/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385" y="3022"/>
              <a:ext cx="590" cy="536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81960" name="Text Box 102"/>
            <p:cNvSpPr txBox="1"/>
            <p:nvPr/>
          </p:nvSpPr>
          <p:spPr>
            <a:xfrm>
              <a:off x="793" y="3125"/>
              <a:ext cx="628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ClrTx/>
                <a:buFontTx/>
                <a:buNone/>
              </a:pPr>
              <a:r>
                <a:rPr lang="zh-CN" altLang="en-US" sz="3200" b="0" dirty="0">
                  <a:solidFill>
                    <a:srgbClr val="CC6600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表明</a:t>
              </a:r>
              <a:endParaRPr lang="zh-CN" altLang="en-US" sz="3200" b="0" dirty="0">
                <a:solidFill>
                  <a:srgbClr val="CC6600"/>
                </a:solidFill>
                <a:latin typeface="Arial" panose="020B0604020202020204" pitchFamily="34" charset="0"/>
                <a:ea typeface="华文行楷" panose="02010800040101010101" pitchFamily="2" charset="-122"/>
              </a:endParaRPr>
            </a:p>
          </p:txBody>
        </p:sp>
      </p:grpSp>
      <p:grpSp>
        <p:nvGrpSpPr>
          <p:cNvPr id="81961" name="Group 109"/>
          <p:cNvGrpSpPr/>
          <p:nvPr/>
        </p:nvGrpSpPr>
        <p:grpSpPr>
          <a:xfrm>
            <a:off x="6588125" y="6445250"/>
            <a:ext cx="792163" cy="366713"/>
            <a:chOff x="5193" y="4020"/>
            <a:chExt cx="499" cy="231"/>
          </a:xfrm>
        </p:grpSpPr>
        <p:pic>
          <p:nvPicPr>
            <p:cNvPr id="81962" name="Picture 110" descr="78900">
              <a:hlinkClick r:id="" action="ppaction://hlinkshowjump?jump=firstslide"/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81963" name="Text Box 111">
              <a:hlinkClick r:id="" action="ppaction://hlinkshowjump?jump=firs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488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488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488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488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2489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2000"/>
                                        <p:tgtEl>
                                          <p:spTgt spid="2488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2000"/>
                                        <p:tgtEl>
                                          <p:spTgt spid="2488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2000"/>
                                        <p:tgtEl>
                                          <p:spTgt spid="2488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2000"/>
                                        <p:tgtEl>
                                          <p:spTgt spid="2488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0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2000"/>
                                        <p:tgtEl>
                                          <p:spTgt spid="2488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2489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3000"/>
                                        <p:tgtEl>
                                          <p:spTgt spid="248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3000"/>
                            </p:stCondLst>
                            <p:childTnLst>
                              <p:par>
                                <p:cTn id="5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3000"/>
                                        <p:tgtEl>
                                          <p:spTgt spid="248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8884" grpId="0"/>
      <p:bldP spid="248887" grpId="0"/>
      <p:bldP spid="248890" grpId="0"/>
      <p:bldP spid="248891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63906" name="Text Box 34"/>
          <p:cNvSpPr txBox="1"/>
          <p:nvPr/>
        </p:nvSpPr>
        <p:spPr>
          <a:xfrm>
            <a:off x="755650" y="1268413"/>
            <a:ext cx="7343775" cy="1117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marL="342900" indent="-342900" eaLnBrk="0" hangingPunct="0">
              <a:lnSpc>
                <a:spcPct val="120000"/>
              </a:lnSpc>
              <a:buAutoNum type="circleNumDbPlain"/>
            </a:pPr>
            <a:r>
              <a:rPr lang="en-US" altLang="zh-CN" b="0" dirty="0">
                <a:latin typeface="Times New Roman" panose="02020603050405020304" pitchFamily="18" charset="0"/>
                <a:ea typeface="楷体_GB2312" pitchFamily="49" charset="-122"/>
              </a:rPr>
              <a:t>KCL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是电荷守恒和电流连续性原理在电路中任意结点处的反映；</a:t>
            </a:r>
            <a:endParaRPr lang="zh-CN" altLang="en-US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63907" name="Text Box 35"/>
          <p:cNvSpPr txBox="1"/>
          <p:nvPr/>
        </p:nvSpPr>
        <p:spPr>
          <a:xfrm>
            <a:off x="755650" y="2420938"/>
            <a:ext cx="7345363" cy="163036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marL="342900" indent="-342900" eaLnBrk="0" hangingPunct="0">
              <a:lnSpc>
                <a:spcPct val="120000"/>
              </a:lnSpc>
              <a:buAutoNum type="circleNumDbPlain" startAt="2"/>
            </a:pPr>
            <a:r>
              <a:rPr lang="en-US" altLang="zh-CN" b="0" dirty="0">
                <a:latin typeface="Times New Roman" panose="02020603050405020304" pitchFamily="18" charset="0"/>
                <a:ea typeface="楷体_GB2312" pitchFamily="49" charset="-122"/>
              </a:rPr>
              <a:t>KCL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是对结点处支路电流加的约束，与支路上接的是什么元件无关，与电路是线性还是非线性无关；</a:t>
            </a:r>
            <a:endParaRPr lang="zh-CN" altLang="en-US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63908" name="Text Box 36"/>
          <p:cNvSpPr txBox="1"/>
          <p:nvPr/>
        </p:nvSpPr>
        <p:spPr>
          <a:xfrm>
            <a:off x="755650" y="4005263"/>
            <a:ext cx="7200900" cy="1117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marL="342900" indent="-342900" eaLnBrk="0" hangingPunct="0">
              <a:lnSpc>
                <a:spcPct val="120000"/>
              </a:lnSpc>
              <a:buAutoNum type="circleNumDbPlain" startAt="3"/>
            </a:pPr>
            <a:r>
              <a:rPr lang="en-US" altLang="zh-CN" b="0" dirty="0">
                <a:latin typeface="Times New Roman" panose="02020603050405020304" pitchFamily="18" charset="0"/>
                <a:ea typeface="楷体_GB2312" pitchFamily="49" charset="-122"/>
              </a:rPr>
              <a:t>KCL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方程是按电流参考方向列写的，与电流实际方向无关。</a:t>
            </a:r>
            <a:endParaRPr lang="zh-CN" altLang="en-US" dirty="0"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82948" name="Group 37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82949" name="Picture 38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82950" name="Text Box 39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82951" name="Group 40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82952" name="Picture 41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82953" name="Text Box 42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463915" name="Group 43"/>
          <p:cNvGrpSpPr/>
          <p:nvPr/>
        </p:nvGrpSpPr>
        <p:grpSpPr>
          <a:xfrm>
            <a:off x="827088" y="549275"/>
            <a:ext cx="1644650" cy="850900"/>
            <a:chOff x="385" y="3022"/>
            <a:chExt cx="1036" cy="536"/>
          </a:xfrm>
        </p:grpSpPr>
        <p:pic>
          <p:nvPicPr>
            <p:cNvPr id="82955" name="Picture 44" descr="12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85" y="3022"/>
              <a:ext cx="590" cy="536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82956" name="Text Box 45"/>
            <p:cNvSpPr txBox="1"/>
            <p:nvPr/>
          </p:nvSpPr>
          <p:spPr>
            <a:xfrm>
              <a:off x="793" y="3125"/>
              <a:ext cx="628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ClrTx/>
                <a:buFontTx/>
                <a:buNone/>
              </a:pPr>
              <a:r>
                <a:rPr lang="zh-CN" altLang="en-US" sz="3200" b="0" dirty="0">
                  <a:solidFill>
                    <a:srgbClr val="CC6600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明确</a:t>
              </a:r>
              <a:endParaRPr lang="zh-CN" altLang="en-US" sz="3200" b="0" dirty="0">
                <a:solidFill>
                  <a:srgbClr val="CC6600"/>
                </a:solidFill>
                <a:latin typeface="Arial" panose="020B0604020202020204" pitchFamily="34" charset="0"/>
                <a:ea typeface="华文行楷" panose="02010800040101010101" pitchFamily="2" charset="-122"/>
              </a:endParaRPr>
            </a:p>
          </p:txBody>
        </p:sp>
      </p:grpSp>
      <p:grpSp>
        <p:nvGrpSpPr>
          <p:cNvPr id="82957" name="Group 52"/>
          <p:cNvGrpSpPr/>
          <p:nvPr/>
        </p:nvGrpSpPr>
        <p:grpSpPr>
          <a:xfrm>
            <a:off x="6588125" y="6445250"/>
            <a:ext cx="792163" cy="366713"/>
            <a:chOff x="5193" y="4020"/>
            <a:chExt cx="499" cy="231"/>
          </a:xfrm>
        </p:grpSpPr>
        <p:pic>
          <p:nvPicPr>
            <p:cNvPr id="82958" name="Picture 53" descr="78900">
              <a:hlinkClick r:id="" action="ppaction://hlinkshowjump?jump=firstslide"/>
            </p:cNvPr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82959" name="Text Box 54">
              <a:hlinkClick r:id="" action="ppaction://hlinkshowjump?jump=firs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63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" fill="hold"/>
                                        <p:tgtEl>
                                          <p:spTgt spid="4639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" fill="hold"/>
                                        <p:tgtEl>
                                          <p:spTgt spid="4639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00" fill="hold"/>
                                        <p:tgtEl>
                                          <p:spTgt spid="4639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" fill="hold"/>
                                        <p:tgtEl>
                                          <p:spTgt spid="4639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" fill="hold"/>
                                        <p:tgtEl>
                                          <p:spTgt spid="4639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" fill="hold"/>
                                        <p:tgtEl>
                                          <p:spTgt spid="4639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3906" grpId="0"/>
      <p:bldP spid="463907" grpId="0"/>
      <p:bldP spid="463908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9867" name="Text Box 11"/>
          <p:cNvSpPr txBox="1"/>
          <p:nvPr/>
        </p:nvSpPr>
        <p:spPr>
          <a:xfrm>
            <a:off x="468313" y="549275"/>
            <a:ext cx="5400675" cy="676275"/>
          </a:xfrm>
          <a:prstGeom prst="rect">
            <a:avLst/>
          </a:prstGeom>
          <a:noFill/>
          <a:ln w="19050">
            <a:noFill/>
          </a:ln>
        </p:spPr>
        <p:txBody>
          <a:bodyPr anchor="ctr" anchorCtr="0">
            <a:spAutoFit/>
          </a:bodyPr>
          <a:p>
            <a:pPr marL="666750" indent="-666750" algn="just" eaLnBrk="0" hangingPunct="0">
              <a:lnSpc>
                <a:spcPct val="120000"/>
              </a:lnSpc>
              <a:spcBef>
                <a:spcPct val="50000"/>
              </a:spcBef>
              <a:buClrTx/>
              <a:buFontTx/>
              <a:buNone/>
            </a:pPr>
            <a:r>
              <a:rPr lang="en-US" altLang="zh-CN" sz="3200" dirty="0">
                <a:solidFill>
                  <a:schemeClr val="tx1"/>
                </a:solidFill>
                <a:latin typeface="仿宋_GB2312" pitchFamily="49" charset="-122"/>
                <a:ea typeface="仿宋_GB2312" pitchFamily="49" charset="-122"/>
                <a:sym typeface="Symbol" panose="05050102010706020507" pitchFamily="18" charset="2"/>
              </a:rPr>
              <a:t>3</a:t>
            </a:r>
            <a:r>
              <a:rPr lang="en-US" altLang="zh-CN" sz="32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.</a:t>
            </a:r>
            <a:r>
              <a:rPr lang="zh-CN" altLang="en-US" sz="32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基尔霍夫电压定律</a:t>
            </a:r>
            <a:r>
              <a:rPr lang="zh-CN" altLang="en-US" sz="3200" dirty="0">
                <a:solidFill>
                  <a:schemeClr val="tx1"/>
                </a:solidFill>
                <a:latin typeface="仿宋_GB2312" pitchFamily="49" charset="-122"/>
                <a:ea typeface="仿宋_GB2312" pitchFamily="49" charset="-122"/>
                <a:sym typeface="Symbol" panose="05050102010706020507" pitchFamily="18" charset="2"/>
              </a:rPr>
              <a:t> </a:t>
            </a:r>
            <a:r>
              <a:rPr lang="en-US" altLang="zh-CN" sz="3200" b="0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(KVL)</a:t>
            </a:r>
            <a:endParaRPr lang="en-US" altLang="zh-CN" sz="3200" b="0" dirty="0">
              <a:solidFill>
                <a:schemeClr val="tx1"/>
              </a:solidFill>
              <a:latin typeface="Times New Roman" panose="02020603050405020304" pitchFamily="18" charset="0"/>
              <a:ea typeface="仿宋_GB2312" pitchFamily="49" charset="-122"/>
            </a:endParaRPr>
          </a:p>
        </p:txBody>
      </p:sp>
      <p:graphicFrame>
        <p:nvGraphicFramePr>
          <p:cNvPr id="249935" name="Object 79"/>
          <p:cNvGraphicFramePr>
            <a:graphicFrameLocks noChangeAspect="1"/>
          </p:cNvGraphicFramePr>
          <p:nvPr/>
        </p:nvGraphicFramePr>
        <p:xfrm>
          <a:off x="755650" y="2349500"/>
          <a:ext cx="2392363" cy="1135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5" name="" r:id="rId1" imgW="676910" imgH="387985" progId="Equation.3">
                  <p:embed/>
                </p:oleObj>
              </mc:Choice>
              <mc:Fallback>
                <p:oleObj name="" r:id="rId1" imgW="676910" imgH="387985" progId="Equation.3">
                  <p:embed/>
                  <p:pic>
                    <p:nvPicPr>
                      <p:cNvPr id="0" name="图片 3184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FF33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755650" y="2349500"/>
                        <a:ext cx="2392363" cy="1135063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FFCCCC"/>
                          </a:gs>
                          <a:gs pos="100000">
                            <a:srgbClr val="FFFFFF"/>
                          </a:gs>
                        </a:gsLst>
                        <a:lin ang="5400000" scaled="1"/>
                        <a:tileRect/>
                      </a:gra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9936" name="Object 80"/>
          <p:cNvGraphicFramePr>
            <a:graphicFrameLocks noChangeAspect="1"/>
          </p:cNvGraphicFramePr>
          <p:nvPr/>
        </p:nvGraphicFramePr>
        <p:xfrm>
          <a:off x="4284663" y="2492375"/>
          <a:ext cx="3600450" cy="658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6" name="" r:id="rId3" imgW="1012825" imgH="213995" progId="Equation.3">
                  <p:embed/>
                </p:oleObj>
              </mc:Choice>
              <mc:Fallback>
                <p:oleObj name="" r:id="rId3" imgW="1012825" imgH="213995" progId="Equation.3">
                  <p:embed/>
                  <p:pic>
                    <p:nvPicPr>
                      <p:cNvPr id="0" name="图片 3185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8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284663" y="2492375"/>
                        <a:ext cx="3600450" cy="6588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49974" name="Group 118"/>
          <p:cNvGrpSpPr/>
          <p:nvPr/>
        </p:nvGrpSpPr>
        <p:grpSpPr>
          <a:xfrm>
            <a:off x="8029575" y="4148138"/>
            <a:ext cx="493713" cy="819150"/>
            <a:chOff x="1673" y="401"/>
            <a:chExt cx="311" cy="516"/>
          </a:xfrm>
        </p:grpSpPr>
        <p:sp>
          <p:nvSpPr>
            <p:cNvPr id="83973" name="Line 119"/>
            <p:cNvSpPr/>
            <p:nvPr/>
          </p:nvSpPr>
          <p:spPr>
            <a:xfrm>
              <a:off x="1764" y="917"/>
              <a:ext cx="168" cy="0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3974" name="Line 120"/>
            <p:cNvSpPr/>
            <p:nvPr/>
          </p:nvSpPr>
          <p:spPr>
            <a:xfrm>
              <a:off x="1764" y="485"/>
              <a:ext cx="168" cy="0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3975" name="Line 121"/>
            <p:cNvSpPr/>
            <p:nvPr/>
          </p:nvSpPr>
          <p:spPr>
            <a:xfrm rot="-5400000">
              <a:off x="1764" y="485"/>
              <a:ext cx="168" cy="0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3976" name="Text Box 122"/>
            <p:cNvSpPr txBox="1"/>
            <p:nvPr/>
          </p:nvSpPr>
          <p:spPr>
            <a:xfrm>
              <a:off x="1673" y="593"/>
              <a:ext cx="311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p>
              <a:pPr algn="ctr" eaLnBrk="0" hangingPunct="0">
                <a:buClrTx/>
                <a:buFontTx/>
                <a:buNone/>
              </a:pPr>
              <a:r>
                <a:rPr lang="en-US" altLang="zh-CN" sz="2400" i="1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U</a:t>
              </a:r>
              <a:r>
                <a:rPr lang="en-US" altLang="zh-CN" sz="1400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3</a:t>
              </a:r>
              <a:endPara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</p:grpSp>
      <p:grpSp>
        <p:nvGrpSpPr>
          <p:cNvPr id="249979" name="Group 123"/>
          <p:cNvGrpSpPr/>
          <p:nvPr/>
        </p:nvGrpSpPr>
        <p:grpSpPr>
          <a:xfrm>
            <a:off x="4572000" y="4724400"/>
            <a:ext cx="493713" cy="819150"/>
            <a:chOff x="1673" y="401"/>
            <a:chExt cx="311" cy="516"/>
          </a:xfrm>
        </p:grpSpPr>
        <p:sp>
          <p:nvSpPr>
            <p:cNvPr id="83978" name="Line 124"/>
            <p:cNvSpPr/>
            <p:nvPr/>
          </p:nvSpPr>
          <p:spPr>
            <a:xfrm>
              <a:off x="1764" y="917"/>
              <a:ext cx="168" cy="0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3979" name="Line 125"/>
            <p:cNvSpPr/>
            <p:nvPr/>
          </p:nvSpPr>
          <p:spPr>
            <a:xfrm>
              <a:off x="1764" y="485"/>
              <a:ext cx="168" cy="0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3980" name="Line 126"/>
            <p:cNvSpPr/>
            <p:nvPr/>
          </p:nvSpPr>
          <p:spPr>
            <a:xfrm rot="-5400000">
              <a:off x="1764" y="485"/>
              <a:ext cx="168" cy="0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3981" name="Text Box 127"/>
            <p:cNvSpPr txBox="1"/>
            <p:nvPr/>
          </p:nvSpPr>
          <p:spPr>
            <a:xfrm>
              <a:off x="1673" y="593"/>
              <a:ext cx="311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p>
              <a:pPr algn="ctr" eaLnBrk="0" hangingPunct="0">
                <a:buClrTx/>
                <a:buFontTx/>
                <a:buNone/>
              </a:pPr>
              <a:r>
                <a:rPr lang="en-US" altLang="zh-CN" sz="2400" i="1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U</a:t>
              </a:r>
              <a:r>
                <a:rPr lang="en-US" altLang="zh-CN" sz="1400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1</a:t>
              </a:r>
              <a:endPara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</p:grpSp>
      <p:grpSp>
        <p:nvGrpSpPr>
          <p:cNvPr id="249984" name="Group 128"/>
          <p:cNvGrpSpPr/>
          <p:nvPr/>
        </p:nvGrpSpPr>
        <p:grpSpPr>
          <a:xfrm>
            <a:off x="6011863" y="3357563"/>
            <a:ext cx="1058862" cy="457200"/>
            <a:chOff x="3291" y="1678"/>
            <a:chExt cx="667" cy="288"/>
          </a:xfrm>
        </p:grpSpPr>
        <p:sp>
          <p:nvSpPr>
            <p:cNvPr id="83983" name="Line 129"/>
            <p:cNvSpPr/>
            <p:nvPr/>
          </p:nvSpPr>
          <p:spPr>
            <a:xfrm>
              <a:off x="3790" y="1824"/>
              <a:ext cx="168" cy="0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83984" name="Group 130"/>
            <p:cNvGrpSpPr/>
            <p:nvPr/>
          </p:nvGrpSpPr>
          <p:grpSpPr>
            <a:xfrm>
              <a:off x="3291" y="1728"/>
              <a:ext cx="168" cy="168"/>
              <a:chOff x="3303" y="1716"/>
              <a:chExt cx="168" cy="168"/>
            </a:xfrm>
          </p:grpSpPr>
          <p:sp>
            <p:nvSpPr>
              <p:cNvPr id="83985" name="Line 131"/>
              <p:cNvSpPr/>
              <p:nvPr/>
            </p:nvSpPr>
            <p:spPr>
              <a:xfrm>
                <a:off x="3303" y="1812"/>
                <a:ext cx="168" cy="0"/>
              </a:xfrm>
              <a:prstGeom prst="line">
                <a:avLst/>
              </a:prstGeom>
              <a:ln w="1905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83986" name="Line 132"/>
              <p:cNvSpPr/>
              <p:nvPr/>
            </p:nvSpPr>
            <p:spPr>
              <a:xfrm rot="-5400000">
                <a:off x="3303" y="1800"/>
                <a:ext cx="168" cy="0"/>
              </a:xfrm>
              <a:prstGeom prst="line">
                <a:avLst/>
              </a:prstGeom>
              <a:ln w="1905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83987" name="Text Box 133"/>
            <p:cNvSpPr txBox="1"/>
            <p:nvPr/>
          </p:nvSpPr>
          <p:spPr>
            <a:xfrm>
              <a:off x="3459" y="1678"/>
              <a:ext cx="311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>
              <a:spAutoFit/>
            </a:bodyPr>
            <a:p>
              <a:pPr algn="ctr" eaLnBrk="0" hangingPunct="0">
                <a:buClrTx/>
                <a:buFontTx/>
                <a:buNone/>
              </a:pPr>
              <a:r>
                <a:rPr lang="en-US" altLang="zh-CN" sz="2400" i="1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U</a:t>
              </a:r>
              <a:r>
                <a:rPr lang="en-US" altLang="zh-CN" sz="1400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2</a:t>
              </a:r>
              <a:endPara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</p:grpSp>
      <p:grpSp>
        <p:nvGrpSpPr>
          <p:cNvPr id="249990" name="Group 134"/>
          <p:cNvGrpSpPr/>
          <p:nvPr/>
        </p:nvGrpSpPr>
        <p:grpSpPr>
          <a:xfrm>
            <a:off x="6877050" y="5635625"/>
            <a:ext cx="925513" cy="457200"/>
            <a:chOff x="1408" y="3696"/>
            <a:chExt cx="583" cy="288"/>
          </a:xfrm>
        </p:grpSpPr>
        <p:grpSp>
          <p:nvGrpSpPr>
            <p:cNvPr id="83989" name="Group 135"/>
            <p:cNvGrpSpPr/>
            <p:nvPr/>
          </p:nvGrpSpPr>
          <p:grpSpPr>
            <a:xfrm>
              <a:off x="1823" y="3760"/>
              <a:ext cx="168" cy="168"/>
              <a:chOff x="3303" y="1716"/>
              <a:chExt cx="168" cy="168"/>
            </a:xfrm>
          </p:grpSpPr>
          <p:sp>
            <p:nvSpPr>
              <p:cNvPr id="83990" name="Line 136"/>
              <p:cNvSpPr/>
              <p:nvPr/>
            </p:nvSpPr>
            <p:spPr>
              <a:xfrm>
                <a:off x="3303" y="1812"/>
                <a:ext cx="168" cy="0"/>
              </a:xfrm>
              <a:prstGeom prst="line">
                <a:avLst/>
              </a:prstGeom>
              <a:ln w="1905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83991" name="Line 137"/>
              <p:cNvSpPr/>
              <p:nvPr/>
            </p:nvSpPr>
            <p:spPr>
              <a:xfrm rot="-5400000">
                <a:off x="3303" y="1800"/>
                <a:ext cx="168" cy="0"/>
              </a:xfrm>
              <a:prstGeom prst="line">
                <a:avLst/>
              </a:prstGeom>
              <a:ln w="1905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83992" name="Text Box 138"/>
            <p:cNvSpPr txBox="1"/>
            <p:nvPr/>
          </p:nvSpPr>
          <p:spPr>
            <a:xfrm>
              <a:off x="1536" y="3696"/>
              <a:ext cx="311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>
              <a:spAutoFit/>
            </a:bodyPr>
            <a:p>
              <a:pPr algn="ctr" eaLnBrk="0" hangingPunct="0">
                <a:buClrTx/>
                <a:buFontTx/>
                <a:buNone/>
              </a:pPr>
              <a:r>
                <a:rPr lang="en-US" altLang="zh-CN" sz="2400" i="1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U</a:t>
              </a:r>
              <a:r>
                <a:rPr lang="en-US" altLang="zh-CN" sz="1400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4</a:t>
              </a:r>
              <a:endPara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83993" name="Line 139"/>
            <p:cNvSpPr/>
            <p:nvPr/>
          </p:nvSpPr>
          <p:spPr>
            <a:xfrm>
              <a:off x="1408" y="3856"/>
              <a:ext cx="168" cy="0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250005" name="Group 149"/>
          <p:cNvGrpSpPr/>
          <p:nvPr/>
        </p:nvGrpSpPr>
        <p:grpSpPr>
          <a:xfrm>
            <a:off x="6084888" y="4437063"/>
            <a:ext cx="403225" cy="790575"/>
            <a:chOff x="4980" y="1428"/>
            <a:chExt cx="212" cy="594"/>
          </a:xfrm>
        </p:grpSpPr>
        <p:sp>
          <p:nvSpPr>
            <p:cNvPr id="83995" name="Arc 150"/>
            <p:cNvSpPr/>
            <p:nvPr/>
          </p:nvSpPr>
          <p:spPr>
            <a:xfrm>
              <a:off x="4980" y="1428"/>
              <a:ext cx="212" cy="59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pathLst>
                <a:path w="43200" h="43200" fill="none">
                  <a:moveTo>
                    <a:pt x="21600" y="0"/>
                  </a:move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3529"/>
                    <a:pt x="33529" y="43200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-1" y="11724"/>
                    <a:pt x="6697" y="3106"/>
                    <a:pt x="16268" y="668"/>
                  </a:cubicBezTo>
                </a:path>
                <a:path w="43200" h="43200" stroke="0">
                  <a:moveTo>
                    <a:pt x="21600" y="0"/>
                  </a:move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3529"/>
                    <a:pt x="33529" y="43200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-1" y="11724"/>
                    <a:pt x="6697" y="3106"/>
                    <a:pt x="16268" y="668"/>
                  </a:cubicBezTo>
                  <a:lnTo>
                    <a:pt x="21600" y="21600"/>
                  </a:lnTo>
                  <a:lnTo>
                    <a:pt x="21600" y="0"/>
                  </a:lnTo>
                  <a:close/>
                </a:path>
              </a:pathLst>
            </a:custGeom>
            <a:noFill/>
            <a:ln w="28575" cap="flat" cmpd="sng">
              <a:solidFill>
                <a:srgbClr val="FF3300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83996" name="Text Box 151"/>
            <p:cNvSpPr txBox="1"/>
            <p:nvPr/>
          </p:nvSpPr>
          <p:spPr>
            <a:xfrm>
              <a:off x="5028" y="1528"/>
              <a:ext cx="116" cy="389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p>
              <a:pPr algn="ctr" eaLnBrk="0" hangingPunct="0">
                <a:buClrTx/>
                <a:buFontTx/>
                <a:buNone/>
              </a:pPr>
              <a:endParaRPr lang="zh-CN" altLang="zh-CN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</p:grpSp>
      <p:grpSp>
        <p:nvGrpSpPr>
          <p:cNvPr id="83997" name="Group 153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83998" name="Picture 154" descr="7890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83999" name="Text Box 155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84000" name="Group 156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84001" name="Picture 157" descr="7890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84002" name="Text Box 158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sp>
        <p:nvSpPr>
          <p:cNvPr id="250052" name="Text Box 196"/>
          <p:cNvSpPr txBox="1"/>
          <p:nvPr/>
        </p:nvSpPr>
        <p:spPr>
          <a:xfrm>
            <a:off x="468313" y="3716338"/>
            <a:ext cx="3529012" cy="1117600"/>
          </a:xfrm>
          <a:prstGeom prst="rect">
            <a:avLst/>
          </a:prstGeom>
          <a:noFill/>
          <a:ln w="12700">
            <a:noFill/>
          </a:ln>
        </p:spPr>
        <p:txBody>
          <a:bodyPr anchor="ctr" anchorCtr="0">
            <a:spAutoFit/>
          </a:bodyPr>
          <a:p>
            <a:pPr marL="342900" indent="-342900" algn="just" eaLnBrk="0" hangingPunct="0">
              <a:lnSpc>
                <a:spcPct val="120000"/>
              </a:lnSpc>
              <a:buAutoNum type="circleNumDbPlain"/>
            </a:pPr>
            <a:r>
              <a:rPr lang="zh-CN" altLang="en-US" dirty="0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标定各元件电压参考方向     </a:t>
            </a:r>
            <a:endParaRPr lang="zh-CN" altLang="en-US" dirty="0">
              <a:latin typeface="楷体_GB2312" pitchFamily="49" charset="-122"/>
              <a:ea typeface="楷体_GB2312" pitchFamily="49" charset="-122"/>
              <a:sym typeface="Symbol" panose="05050102010706020507" pitchFamily="18" charset="2"/>
            </a:endParaRPr>
          </a:p>
        </p:txBody>
      </p:sp>
      <p:sp>
        <p:nvSpPr>
          <p:cNvPr id="250053" name="Text Box 197"/>
          <p:cNvSpPr txBox="1"/>
          <p:nvPr/>
        </p:nvSpPr>
        <p:spPr>
          <a:xfrm>
            <a:off x="466725" y="4797425"/>
            <a:ext cx="3889375" cy="1117600"/>
          </a:xfrm>
          <a:prstGeom prst="rect">
            <a:avLst/>
          </a:prstGeom>
          <a:noFill/>
          <a:ln w="12700">
            <a:noFill/>
          </a:ln>
        </p:spPr>
        <p:txBody>
          <a:bodyPr anchor="ctr" anchorCtr="0">
            <a:spAutoFit/>
          </a:bodyPr>
          <a:p>
            <a:pPr marL="342900" indent="-342900" algn="just" eaLnBrk="0" hangingPunct="0">
              <a:lnSpc>
                <a:spcPct val="120000"/>
              </a:lnSpc>
              <a:buAutoNum type="circleNumDbPlain" startAt="2"/>
            </a:pPr>
            <a:r>
              <a:rPr lang="zh-CN" altLang="en-US" dirty="0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选定回路绕行方向，顺时针或逆时针</a:t>
            </a:r>
            <a:r>
              <a:rPr lang="en-US" altLang="zh-CN" dirty="0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.</a:t>
            </a:r>
            <a:endParaRPr lang="en-US" altLang="zh-CN" dirty="0">
              <a:latin typeface="楷体_GB2312" pitchFamily="49" charset="-122"/>
              <a:ea typeface="楷体_GB2312" pitchFamily="49" charset="-122"/>
              <a:sym typeface="Symbol" panose="05050102010706020507" pitchFamily="18" charset="2"/>
            </a:endParaRPr>
          </a:p>
        </p:txBody>
      </p:sp>
      <p:grpSp>
        <p:nvGrpSpPr>
          <p:cNvPr id="250054" name="Group 198"/>
          <p:cNvGrpSpPr/>
          <p:nvPr/>
        </p:nvGrpSpPr>
        <p:grpSpPr>
          <a:xfrm>
            <a:off x="4284663" y="3716338"/>
            <a:ext cx="3959225" cy="2608262"/>
            <a:chOff x="2699" y="2341"/>
            <a:chExt cx="2494" cy="1643"/>
          </a:xfrm>
        </p:grpSpPr>
        <p:sp>
          <p:nvSpPr>
            <p:cNvPr id="84006" name="Oval 199"/>
            <p:cNvSpPr/>
            <p:nvPr/>
          </p:nvSpPr>
          <p:spPr>
            <a:xfrm>
              <a:off x="3697" y="3339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buClrTx/>
                <a:buFontTx/>
                <a:buNone/>
              </a:pPr>
              <a:endParaRPr lang="zh-CN" altLang="zh-CN" sz="2400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84007" name="Oval 200"/>
            <p:cNvSpPr/>
            <p:nvPr/>
          </p:nvSpPr>
          <p:spPr>
            <a:xfrm>
              <a:off x="3152" y="2523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buClrTx/>
                <a:buFontTx/>
                <a:buNone/>
              </a:pPr>
              <a:endParaRPr lang="zh-CN" altLang="zh-CN" sz="2400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84008" name="Line 201"/>
            <p:cNvSpPr/>
            <p:nvPr/>
          </p:nvSpPr>
          <p:spPr>
            <a:xfrm>
              <a:off x="3334" y="2432"/>
              <a:ext cx="1633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4009" name="Line 202"/>
            <p:cNvSpPr/>
            <p:nvPr/>
          </p:nvSpPr>
          <p:spPr>
            <a:xfrm>
              <a:off x="3334" y="3521"/>
              <a:ext cx="1633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4010" name="Line 203"/>
            <p:cNvSpPr/>
            <p:nvPr/>
          </p:nvSpPr>
          <p:spPr>
            <a:xfrm>
              <a:off x="4967" y="2432"/>
              <a:ext cx="0" cy="1089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oval" w="med" len="med"/>
              <a:tailEnd type="oval" w="med" len="med"/>
            </a:ln>
          </p:spPr>
        </p:sp>
        <p:sp>
          <p:nvSpPr>
            <p:cNvPr id="84011" name="Line 204"/>
            <p:cNvSpPr/>
            <p:nvPr/>
          </p:nvSpPr>
          <p:spPr>
            <a:xfrm>
              <a:off x="4967" y="3521"/>
              <a:ext cx="226" cy="9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4012" name="Line 205"/>
            <p:cNvSpPr/>
            <p:nvPr/>
          </p:nvSpPr>
          <p:spPr>
            <a:xfrm flipV="1">
              <a:off x="4967" y="2341"/>
              <a:ext cx="226" cy="85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4013" name="Line 206"/>
            <p:cNvSpPr/>
            <p:nvPr/>
          </p:nvSpPr>
          <p:spPr>
            <a:xfrm flipH="1">
              <a:off x="3107" y="3521"/>
              <a:ext cx="232" cy="9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4014" name="Line 207"/>
            <p:cNvSpPr/>
            <p:nvPr/>
          </p:nvSpPr>
          <p:spPr>
            <a:xfrm>
              <a:off x="3107" y="2341"/>
              <a:ext cx="199" cy="72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4015" name="Line 208"/>
            <p:cNvSpPr/>
            <p:nvPr/>
          </p:nvSpPr>
          <p:spPr>
            <a:xfrm>
              <a:off x="3515" y="2840"/>
              <a:ext cx="0" cy="281"/>
            </a:xfrm>
            <a:prstGeom prst="line">
              <a:avLst/>
            </a:prstGeom>
            <a:ln w="38100" cap="flat" cmpd="sng">
              <a:solidFill>
                <a:srgbClr val="00CC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84016" name="Line 209"/>
            <p:cNvSpPr/>
            <p:nvPr/>
          </p:nvSpPr>
          <p:spPr>
            <a:xfrm flipH="1" flipV="1">
              <a:off x="4105" y="3430"/>
              <a:ext cx="263" cy="2"/>
            </a:xfrm>
            <a:prstGeom prst="line">
              <a:avLst/>
            </a:prstGeom>
            <a:ln w="38100" cap="flat" cmpd="sng">
              <a:solidFill>
                <a:srgbClr val="00CC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84017" name="Line 210"/>
            <p:cNvSpPr/>
            <p:nvPr/>
          </p:nvSpPr>
          <p:spPr>
            <a:xfrm>
              <a:off x="3606" y="2523"/>
              <a:ext cx="309" cy="0"/>
            </a:xfrm>
            <a:prstGeom prst="line">
              <a:avLst/>
            </a:prstGeom>
            <a:ln w="38100" cap="flat" cmpd="sng">
              <a:solidFill>
                <a:srgbClr val="00CC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84018" name="Line 211"/>
            <p:cNvSpPr/>
            <p:nvPr/>
          </p:nvSpPr>
          <p:spPr>
            <a:xfrm flipV="1">
              <a:off x="4831" y="2523"/>
              <a:ext cx="0" cy="281"/>
            </a:xfrm>
            <a:prstGeom prst="line">
              <a:avLst/>
            </a:prstGeom>
            <a:ln w="38100" cap="flat" cmpd="sng">
              <a:solidFill>
                <a:srgbClr val="00CC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84019" name="Text Box 212"/>
            <p:cNvSpPr txBox="1"/>
            <p:nvPr/>
          </p:nvSpPr>
          <p:spPr>
            <a:xfrm>
              <a:off x="3470" y="2704"/>
              <a:ext cx="400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ctr" anchorCtr="0">
              <a:spAutoFit/>
            </a:bodyPr>
            <a:p>
              <a:pPr algn="ctr" eaLnBrk="0" hangingPunct="0">
                <a:buClrTx/>
                <a:buFontTx/>
                <a:buNone/>
              </a:pPr>
              <a:r>
                <a:rPr lang="en-US" altLang="zh-CN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I</a:t>
              </a:r>
              <a:r>
                <a:rPr lang="en-US" altLang="zh-CN" b="0" baseline="-250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1</a:t>
              </a:r>
              <a:endPara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84020" name="Text Box 213"/>
            <p:cNvSpPr txBox="1"/>
            <p:nvPr/>
          </p:nvSpPr>
          <p:spPr>
            <a:xfrm>
              <a:off x="2981" y="2360"/>
              <a:ext cx="223" cy="328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ctr" anchorCtr="0">
              <a:spAutoFit/>
            </a:bodyPr>
            <a:p>
              <a:pPr algn="ctr" eaLnBrk="0" hangingPunct="0">
                <a:buClrTx/>
                <a:buFontTx/>
                <a:buNone/>
              </a:pPr>
              <a:r>
                <a:rPr lang="en-US" altLang="zh-CN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+</a:t>
              </a:r>
              <a:endPara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84021" name="Text Box 214"/>
            <p:cNvSpPr txBox="1"/>
            <p:nvPr/>
          </p:nvSpPr>
          <p:spPr>
            <a:xfrm>
              <a:off x="2699" y="2568"/>
              <a:ext cx="473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ctr" anchorCtr="0">
              <a:spAutoFit/>
            </a:bodyPr>
            <a:p>
              <a:pPr algn="ctr" eaLnBrk="0" hangingPunct="0">
                <a:buClrTx/>
                <a:buFontTx/>
                <a:buNone/>
              </a:pPr>
              <a:r>
                <a:rPr lang="en-US" altLang="zh-CN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U</a:t>
              </a:r>
              <a:r>
                <a:rPr lang="en-US" altLang="zh-CN" b="0" baseline="-250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S1</a:t>
              </a:r>
              <a:endPara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84022" name="Text Box 215"/>
            <p:cNvSpPr txBox="1"/>
            <p:nvPr/>
          </p:nvSpPr>
          <p:spPr>
            <a:xfrm>
              <a:off x="3334" y="3067"/>
              <a:ext cx="433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ctr" anchorCtr="0">
              <a:spAutoFit/>
            </a:bodyPr>
            <a:p>
              <a:pPr algn="ctr" eaLnBrk="0" hangingPunct="0">
                <a:buClrTx/>
                <a:buFontTx/>
                <a:buNone/>
              </a:pPr>
              <a:r>
                <a:rPr lang="en-US" altLang="zh-CN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R</a:t>
              </a:r>
              <a:r>
                <a:rPr lang="en-US" altLang="zh-CN" b="0" baseline="-250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1</a:t>
              </a:r>
              <a:endPara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84023" name="Text Box 216"/>
            <p:cNvSpPr txBox="1"/>
            <p:nvPr/>
          </p:nvSpPr>
          <p:spPr>
            <a:xfrm>
              <a:off x="4059" y="3067"/>
              <a:ext cx="472" cy="328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ctr" anchorCtr="0">
              <a:spAutoFit/>
            </a:bodyPr>
            <a:p>
              <a:pPr algn="ctr" eaLnBrk="0" hangingPunct="0">
                <a:buClrTx/>
                <a:buFontTx/>
                <a:buNone/>
              </a:pPr>
              <a:r>
                <a:rPr lang="en-US" altLang="zh-CN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I</a:t>
              </a:r>
              <a:r>
                <a:rPr lang="en-US" altLang="zh-CN" b="0" baseline="-250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4</a:t>
              </a:r>
              <a:endPara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84024" name="Text Box 217"/>
            <p:cNvSpPr txBox="1"/>
            <p:nvPr/>
          </p:nvSpPr>
          <p:spPr>
            <a:xfrm>
              <a:off x="3470" y="3385"/>
              <a:ext cx="184" cy="326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ctr" anchorCtr="0">
              <a:spAutoFit/>
            </a:bodyPr>
            <a:p>
              <a:pPr algn="ctr" eaLnBrk="0" hangingPunct="0">
                <a:buClrTx/>
                <a:buFontTx/>
                <a:buNone/>
              </a:pPr>
              <a:r>
                <a:rPr lang="en-US" altLang="zh-CN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_</a:t>
              </a:r>
              <a:endPara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84025" name="Text Box 218"/>
            <p:cNvSpPr txBox="1"/>
            <p:nvPr/>
          </p:nvSpPr>
          <p:spPr>
            <a:xfrm>
              <a:off x="3969" y="3521"/>
              <a:ext cx="341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ctr" anchorCtr="0">
              <a:spAutoFit/>
            </a:bodyPr>
            <a:p>
              <a:pPr algn="ctr" eaLnBrk="0" hangingPunct="0">
                <a:buClrTx/>
                <a:buFontTx/>
                <a:buNone/>
              </a:pPr>
              <a:r>
                <a:rPr lang="en-US" altLang="zh-CN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+</a:t>
              </a:r>
              <a:endPara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84026" name="Text Box 219"/>
            <p:cNvSpPr txBox="1"/>
            <p:nvPr/>
          </p:nvSpPr>
          <p:spPr>
            <a:xfrm>
              <a:off x="3651" y="3657"/>
              <a:ext cx="472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ctr" anchorCtr="0">
              <a:spAutoFit/>
            </a:bodyPr>
            <a:p>
              <a:pPr algn="ctr" eaLnBrk="0" hangingPunct="0">
                <a:buClrTx/>
                <a:buFontTx/>
                <a:buNone/>
              </a:pPr>
              <a:r>
                <a:rPr lang="en-US" altLang="zh-CN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U</a:t>
              </a:r>
              <a:r>
                <a:rPr lang="en-US" altLang="zh-CN" b="0" baseline="-250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S4</a:t>
              </a:r>
              <a:endPara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84027" name="Text Box 220"/>
            <p:cNvSpPr txBox="1"/>
            <p:nvPr/>
          </p:nvSpPr>
          <p:spPr>
            <a:xfrm>
              <a:off x="4377" y="3112"/>
              <a:ext cx="407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ctr" anchorCtr="0">
              <a:spAutoFit/>
            </a:bodyPr>
            <a:p>
              <a:pPr algn="ctr" eaLnBrk="0" hangingPunct="0">
                <a:buClrTx/>
                <a:buFontTx/>
                <a:buNone/>
              </a:pPr>
              <a:r>
                <a:rPr lang="en-US" altLang="zh-CN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R</a:t>
              </a:r>
              <a:r>
                <a:rPr lang="en-US" altLang="zh-CN" b="0" baseline="-250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4</a:t>
              </a:r>
              <a:endPara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84028" name="Text Box 221"/>
            <p:cNvSpPr txBox="1"/>
            <p:nvPr/>
          </p:nvSpPr>
          <p:spPr>
            <a:xfrm>
              <a:off x="4513" y="2477"/>
              <a:ext cx="297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ctr" anchorCtr="0">
              <a:spAutoFit/>
            </a:bodyPr>
            <a:p>
              <a:pPr algn="ctr" eaLnBrk="0" hangingPunct="0">
                <a:buClrTx/>
                <a:buFontTx/>
                <a:buNone/>
              </a:pPr>
              <a:r>
                <a:rPr lang="en-US" altLang="zh-CN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I</a:t>
              </a:r>
              <a:r>
                <a:rPr lang="en-US" altLang="zh-CN" b="0" baseline="-250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3</a:t>
              </a:r>
              <a:endPara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84029" name="Text Box 222"/>
            <p:cNvSpPr txBox="1"/>
            <p:nvPr/>
          </p:nvSpPr>
          <p:spPr>
            <a:xfrm>
              <a:off x="4513" y="2749"/>
              <a:ext cx="397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ctr" anchorCtr="0">
              <a:spAutoFit/>
            </a:bodyPr>
            <a:p>
              <a:pPr algn="ctr" eaLnBrk="0" hangingPunct="0">
                <a:buClrTx/>
                <a:buFontTx/>
                <a:buNone/>
              </a:pPr>
              <a:r>
                <a:rPr lang="en-US" altLang="zh-CN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R</a:t>
              </a:r>
              <a:r>
                <a:rPr lang="en-US" altLang="zh-CN" b="0" baseline="-250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3</a:t>
              </a:r>
              <a:endPara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84030" name="Text Box 223"/>
            <p:cNvSpPr txBox="1"/>
            <p:nvPr/>
          </p:nvSpPr>
          <p:spPr>
            <a:xfrm>
              <a:off x="3923" y="2523"/>
              <a:ext cx="433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ctr" anchorCtr="0">
              <a:spAutoFit/>
            </a:bodyPr>
            <a:p>
              <a:pPr algn="ctr" eaLnBrk="0" hangingPunct="0">
                <a:buClrTx/>
                <a:buFontTx/>
                <a:buNone/>
              </a:pPr>
              <a:r>
                <a:rPr lang="en-US" altLang="zh-CN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R</a:t>
              </a:r>
              <a:r>
                <a:rPr lang="en-US" altLang="zh-CN" b="0" baseline="-250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2</a:t>
              </a:r>
              <a:endPara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84031" name="Text Box 224"/>
            <p:cNvSpPr txBox="1"/>
            <p:nvPr/>
          </p:nvSpPr>
          <p:spPr>
            <a:xfrm>
              <a:off x="3606" y="2477"/>
              <a:ext cx="329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ctr" anchorCtr="0">
              <a:spAutoFit/>
            </a:bodyPr>
            <a:p>
              <a:pPr algn="ctr" eaLnBrk="0" hangingPunct="0">
                <a:buClrTx/>
                <a:buFontTx/>
                <a:buNone/>
              </a:pPr>
              <a:r>
                <a:rPr lang="en-US" altLang="zh-CN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I</a:t>
              </a:r>
              <a:r>
                <a:rPr lang="en-US" altLang="zh-CN" b="0" baseline="-250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2</a:t>
              </a:r>
              <a:endPara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84032" name="Text Box 225"/>
            <p:cNvSpPr txBox="1"/>
            <p:nvPr/>
          </p:nvSpPr>
          <p:spPr>
            <a:xfrm>
              <a:off x="2823" y="2608"/>
              <a:ext cx="223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ctr" anchorCtr="0">
              <a:spAutoFit/>
            </a:bodyPr>
            <a:p>
              <a:pPr algn="ctr" eaLnBrk="0" hangingPunct="0">
                <a:buClrTx/>
                <a:buFontTx/>
                <a:buNone/>
              </a:pPr>
              <a:endParaRPr lang="zh-CN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84033" name="Text Box 226"/>
            <p:cNvSpPr txBox="1"/>
            <p:nvPr/>
          </p:nvSpPr>
          <p:spPr>
            <a:xfrm>
              <a:off x="3016" y="2659"/>
              <a:ext cx="184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ctr" anchorCtr="0">
              <a:spAutoFit/>
            </a:bodyPr>
            <a:p>
              <a:pPr algn="ctr" eaLnBrk="0" hangingPunct="0">
                <a:buClrTx/>
                <a:buFontTx/>
                <a:buNone/>
              </a:pPr>
              <a:r>
                <a:rPr lang="en-US" altLang="zh-CN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_</a:t>
              </a:r>
              <a:endPara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84034" name="Line 227"/>
            <p:cNvSpPr/>
            <p:nvPr/>
          </p:nvSpPr>
          <p:spPr>
            <a:xfrm>
              <a:off x="3334" y="2432"/>
              <a:ext cx="0" cy="1089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oval" w="med" len="med"/>
              <a:tailEnd type="oval" w="med" len="med"/>
            </a:ln>
          </p:spPr>
        </p:sp>
        <p:sp>
          <p:nvSpPr>
            <p:cNvPr id="84035" name="Rectangle 228"/>
            <p:cNvSpPr/>
            <p:nvPr/>
          </p:nvSpPr>
          <p:spPr>
            <a:xfrm>
              <a:off x="4921" y="2749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>
                <a:buClrTx/>
                <a:buFontTx/>
                <a:buNone/>
              </a:pPr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84036" name="Rectangle 229"/>
            <p:cNvSpPr/>
            <p:nvPr/>
          </p:nvSpPr>
          <p:spPr>
            <a:xfrm>
              <a:off x="4422" y="3430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>
                <a:buClrTx/>
                <a:buFontTx/>
                <a:buNone/>
              </a:pPr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84037" name="Rectangle 230"/>
            <p:cNvSpPr/>
            <p:nvPr/>
          </p:nvSpPr>
          <p:spPr>
            <a:xfrm>
              <a:off x="3969" y="2387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>
                <a:buClrTx/>
                <a:buFontTx/>
                <a:buNone/>
              </a:pPr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84038" name="Rectangle 231"/>
            <p:cNvSpPr/>
            <p:nvPr/>
          </p:nvSpPr>
          <p:spPr>
            <a:xfrm>
              <a:off x="3288" y="3022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>
                <a:buClrTx/>
                <a:buFontTx/>
                <a:buNone/>
              </a:pPr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</p:grpSp>
      <p:sp>
        <p:nvSpPr>
          <p:cNvPr id="250091" name="Text Box 235" descr="斜纹布"/>
          <p:cNvSpPr txBox="1"/>
          <p:nvPr/>
        </p:nvSpPr>
        <p:spPr>
          <a:xfrm>
            <a:off x="395288" y="1125538"/>
            <a:ext cx="8353425" cy="1117600"/>
          </a:xfrm>
          <a:prstGeom prst="rect">
            <a:avLst/>
          </a:prstGeom>
          <a:noFill/>
          <a:ln w="28575">
            <a:noFill/>
          </a:ln>
          <a:effectLst>
            <a:prstShdw prst="shdw17" dist="17961" dir="2699999">
              <a:schemeClr val="bg2"/>
            </a:prstShdw>
          </a:effectLst>
        </p:spPr>
        <p:txBody>
          <a:bodyPr anchor="t" anchorCtr="0">
            <a:spAutoFit/>
          </a:bodyPr>
          <a:p>
            <a:pPr eaLnBrk="0" hangingPunct="0">
              <a:lnSpc>
                <a:spcPct val="120000"/>
              </a:lnSpc>
              <a:buClrTx/>
              <a:buFontTx/>
              <a:buNone/>
            </a:pPr>
            <a:r>
              <a:rPr lang="en-US" altLang="zh-CN" dirty="0">
                <a:solidFill>
                  <a:srgbClr val="F8FF65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	</a:t>
            </a:r>
            <a:r>
              <a:rPr lang="zh-CN" altLang="en-US" dirty="0">
                <a:solidFill>
                  <a:srgbClr val="F8FF65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在</a:t>
            </a:r>
            <a:r>
              <a:rPr lang="zh-CN" altLang="zh-CN" dirty="0">
                <a:solidFill>
                  <a:srgbClr val="F8FF65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集总参数电路中，任一时刻，</a:t>
            </a:r>
            <a:r>
              <a:rPr lang="zh-CN" altLang="en-US" dirty="0">
                <a:solidFill>
                  <a:srgbClr val="F8FF65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沿任一回路，所有支路电压的代数和恒等于零</a:t>
            </a:r>
            <a:r>
              <a:rPr lang="zh-CN" altLang="zh-CN" dirty="0">
                <a:solidFill>
                  <a:srgbClr val="F8FF65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。</a:t>
            </a:r>
            <a:endParaRPr lang="zh-CN" altLang="en-US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grpSp>
        <p:nvGrpSpPr>
          <p:cNvPr id="84040" name="Group 239"/>
          <p:cNvGrpSpPr/>
          <p:nvPr/>
        </p:nvGrpSpPr>
        <p:grpSpPr>
          <a:xfrm>
            <a:off x="6588125" y="6445250"/>
            <a:ext cx="792163" cy="366713"/>
            <a:chOff x="5193" y="4020"/>
            <a:chExt cx="499" cy="231"/>
          </a:xfrm>
        </p:grpSpPr>
        <p:pic>
          <p:nvPicPr>
            <p:cNvPr id="84041" name="Picture 240" descr="78900">
              <a:hlinkClick r:id="" action="ppaction://hlinkshowjump?jump=firstslide"/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84042" name="Text Box 241">
              <a:hlinkClick r:id="" action="ppaction://hlinkshowjump?jump=firs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"/>
                                        <p:tgtEl>
                                          <p:spTgt spid="249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250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499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2499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50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250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499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499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499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499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000"/>
                            </p:stCondLst>
                            <p:childTnLst>
                              <p:par>
                                <p:cTn id="4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2499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499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3000"/>
                            </p:stCondLst>
                            <p:childTnLst>
                              <p:par>
                                <p:cTn id="50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2499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499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100" fill="hold"/>
                                        <p:tgtEl>
                                          <p:spTgt spid="2500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" fill="hold"/>
                                        <p:tgtEl>
                                          <p:spTgt spid="2500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2500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2500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9867" grpId="0"/>
      <p:bldP spid="250052" grpId="0"/>
      <p:bldP spid="250053" grpId="0"/>
      <p:bldP spid="250091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64899" name="Text Box 3"/>
          <p:cNvSpPr txBox="1"/>
          <p:nvPr/>
        </p:nvSpPr>
        <p:spPr>
          <a:xfrm>
            <a:off x="1692275" y="3573463"/>
            <a:ext cx="5545138" cy="579437"/>
          </a:xfrm>
          <a:prstGeom prst="rect">
            <a:avLst/>
          </a:prstGeom>
          <a:noFill/>
          <a:ln w="12700">
            <a:noFill/>
          </a:ln>
        </p:spPr>
        <p:txBody>
          <a:bodyPr anchor="ctr" anchorCtr="0">
            <a:spAutoFit/>
          </a:bodyPr>
          <a:p>
            <a:pPr eaLnBrk="0" hangingPunct="0">
              <a:spcBef>
                <a:spcPct val="50000"/>
              </a:spcBef>
              <a:buClrTx/>
              <a:buFontTx/>
              <a:buNone/>
            </a:pPr>
            <a:r>
              <a:rPr lang="en-US" altLang="zh-CN" sz="32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–</a:t>
            </a:r>
            <a:r>
              <a:rPr lang="en-US" altLang="zh-CN" sz="3200" b="0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U</a:t>
            </a:r>
            <a:r>
              <a:rPr lang="en-US" altLang="zh-CN" sz="3200" b="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3200" b="0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–U</a:t>
            </a:r>
            <a:r>
              <a:rPr lang="en-US" altLang="zh-CN" sz="3200" b="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S1</a:t>
            </a:r>
            <a:r>
              <a:rPr lang="en-US" altLang="zh-CN" sz="3200" b="0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+U</a:t>
            </a:r>
            <a:r>
              <a:rPr lang="en-US" altLang="zh-CN" sz="3200" b="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sz="3200" b="0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+U</a:t>
            </a:r>
            <a:r>
              <a:rPr lang="en-US" altLang="zh-CN" sz="3200" b="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3</a:t>
            </a:r>
            <a:r>
              <a:rPr lang="en-US" altLang="zh-CN" sz="3200" b="0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+U</a:t>
            </a:r>
            <a:r>
              <a:rPr lang="en-US" altLang="zh-CN" sz="3200" b="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4</a:t>
            </a:r>
            <a:r>
              <a:rPr lang="en-US" altLang="zh-CN" sz="3200" b="0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+U</a:t>
            </a:r>
            <a:r>
              <a:rPr lang="en-US" altLang="zh-CN" sz="3200" b="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S4</a:t>
            </a:r>
            <a:r>
              <a:rPr lang="en-US" altLang="zh-CN" sz="3200" b="0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= </a:t>
            </a:r>
            <a:r>
              <a:rPr lang="en-US" altLang="zh-CN" sz="32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0</a:t>
            </a:r>
            <a:endParaRPr lang="en-US" altLang="zh-CN" sz="32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464961" name="Text Box 65"/>
          <p:cNvSpPr txBox="1"/>
          <p:nvPr/>
        </p:nvSpPr>
        <p:spPr>
          <a:xfrm>
            <a:off x="1763713" y="4221163"/>
            <a:ext cx="4752975" cy="579437"/>
          </a:xfrm>
          <a:prstGeom prst="rect">
            <a:avLst/>
          </a:prstGeom>
          <a:noFill/>
          <a:ln w="12700">
            <a:noFill/>
          </a:ln>
        </p:spPr>
        <p:txBody>
          <a:bodyPr anchor="ctr" anchorCtr="0">
            <a:spAutoFit/>
          </a:bodyPr>
          <a:p>
            <a:pPr eaLnBrk="0" hangingPunct="0">
              <a:spcBef>
                <a:spcPct val="50000"/>
              </a:spcBef>
              <a:buClrTx/>
              <a:buFontTx/>
              <a:buNone/>
            </a:pPr>
            <a:r>
              <a:rPr lang="en-US" altLang="zh-CN" sz="3200" b="0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U</a:t>
            </a:r>
            <a:r>
              <a:rPr lang="en-US" altLang="zh-CN" sz="3200" b="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sz="3200" b="0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+U</a:t>
            </a:r>
            <a:r>
              <a:rPr lang="en-US" altLang="zh-CN" sz="3200" b="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3</a:t>
            </a:r>
            <a:r>
              <a:rPr lang="en-US" altLang="zh-CN" sz="3200" b="0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+U</a:t>
            </a:r>
            <a:r>
              <a:rPr lang="en-US" altLang="zh-CN" sz="3200" b="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4</a:t>
            </a:r>
            <a:r>
              <a:rPr lang="en-US" altLang="zh-CN" sz="3200" b="0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+U</a:t>
            </a:r>
            <a:r>
              <a:rPr lang="en-US" altLang="zh-CN" sz="3200" b="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S4</a:t>
            </a:r>
            <a:r>
              <a:rPr lang="en-US" altLang="zh-CN" sz="3200" b="0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=</a:t>
            </a:r>
            <a:r>
              <a:rPr lang="en-US" altLang="zh-CN" sz="3200" b="0" i="1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U</a:t>
            </a:r>
            <a:r>
              <a:rPr lang="en-US" altLang="zh-CN" sz="3200" b="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1</a:t>
            </a:r>
            <a:r>
              <a:rPr lang="en-US" altLang="zh-CN" sz="3200" b="0" i="1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+U</a:t>
            </a:r>
            <a:r>
              <a:rPr lang="en-US" altLang="zh-CN" sz="3200" b="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S1</a:t>
            </a:r>
            <a:r>
              <a:rPr lang="en-US" altLang="zh-CN" sz="3200" b="0" dirty="0"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 </a:t>
            </a:r>
            <a:endParaRPr lang="en-US" altLang="zh-CN" sz="3200" b="0" dirty="0">
              <a:latin typeface="Times New Roman" panose="02020603050405020304" pitchFamily="18" charset="0"/>
              <a:ea typeface="仿宋_GB2312" pitchFamily="49" charset="-122"/>
              <a:sym typeface="Symbol" panose="05050102010706020507" pitchFamily="18" charset="2"/>
            </a:endParaRPr>
          </a:p>
        </p:txBody>
      </p:sp>
      <p:sp>
        <p:nvSpPr>
          <p:cNvPr id="464962" name="Text Box 66"/>
          <p:cNvSpPr txBox="1"/>
          <p:nvPr/>
        </p:nvSpPr>
        <p:spPr>
          <a:xfrm>
            <a:off x="250825" y="4365625"/>
            <a:ext cx="1223963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ctr" eaLnBrk="0" hangingPunct="0">
              <a:spcBef>
                <a:spcPct val="50000"/>
              </a:spcBef>
              <a:buClrTx/>
              <a:buFontTx/>
              <a:buNone/>
            </a:pPr>
            <a:r>
              <a:rPr lang="zh-CN" altLang="en-US" dirty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或：</a:t>
            </a:r>
            <a:endParaRPr lang="zh-CN" altLang="en-US" dirty="0">
              <a:latin typeface="Times New Roman" panose="02020603050405020304" pitchFamily="18" charset="0"/>
              <a:ea typeface="楷体_GB2312" pitchFamily="49" charset="-122"/>
              <a:sym typeface="Symbol" panose="05050102010706020507" pitchFamily="18" charset="2"/>
            </a:endParaRPr>
          </a:p>
        </p:txBody>
      </p:sp>
      <p:sp>
        <p:nvSpPr>
          <p:cNvPr id="464963" name="Text Box 67"/>
          <p:cNvSpPr txBox="1"/>
          <p:nvPr/>
        </p:nvSpPr>
        <p:spPr>
          <a:xfrm>
            <a:off x="1619250" y="4797425"/>
            <a:ext cx="5976938" cy="579438"/>
          </a:xfrm>
          <a:prstGeom prst="rect">
            <a:avLst/>
          </a:prstGeom>
          <a:noFill/>
          <a:ln w="12700">
            <a:noFill/>
          </a:ln>
        </p:spPr>
        <p:txBody>
          <a:bodyPr anchor="ctr" anchorCtr="0">
            <a:spAutoFit/>
          </a:bodyPr>
          <a:p>
            <a:pPr eaLnBrk="0" hangingPunct="0">
              <a:spcBef>
                <a:spcPct val="50000"/>
              </a:spcBef>
              <a:buClrTx/>
              <a:buFontTx/>
              <a:buNone/>
            </a:pPr>
            <a:r>
              <a:rPr lang="en-US" altLang="zh-CN" sz="3200" b="0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–R</a:t>
            </a:r>
            <a:r>
              <a:rPr lang="en-US" altLang="zh-CN" sz="3200" b="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3200" b="0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I</a:t>
            </a:r>
            <a:r>
              <a:rPr lang="en-US" altLang="zh-CN" sz="3200" b="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3200" b="0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+R</a:t>
            </a:r>
            <a:r>
              <a:rPr lang="en-US" altLang="zh-CN" sz="3200" b="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sz="3200" b="0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I</a:t>
            </a:r>
            <a:r>
              <a:rPr lang="en-US" altLang="zh-CN" sz="3200" b="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sz="3200" b="0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–R</a:t>
            </a:r>
            <a:r>
              <a:rPr lang="en-US" altLang="zh-CN" sz="3200" b="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3</a:t>
            </a:r>
            <a:r>
              <a:rPr lang="en-US" altLang="zh-CN" sz="3200" b="0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I</a:t>
            </a:r>
            <a:r>
              <a:rPr lang="en-US" altLang="zh-CN" sz="3200" b="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3</a:t>
            </a:r>
            <a:r>
              <a:rPr lang="en-US" altLang="zh-CN" sz="3200" b="0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+R</a:t>
            </a:r>
            <a:r>
              <a:rPr lang="en-US" altLang="zh-CN" sz="3200" b="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4</a:t>
            </a:r>
            <a:r>
              <a:rPr lang="en-US" altLang="zh-CN" sz="3200" b="0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I</a:t>
            </a:r>
            <a:r>
              <a:rPr lang="en-US" altLang="zh-CN" sz="3200" b="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4</a:t>
            </a:r>
            <a:r>
              <a:rPr lang="en-US" altLang="zh-CN" sz="3200" b="0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=U</a:t>
            </a:r>
            <a:r>
              <a:rPr lang="en-US" altLang="zh-CN" sz="3200" b="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S1</a:t>
            </a:r>
            <a:r>
              <a:rPr lang="en-US" altLang="zh-CN" sz="3200" b="0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–U</a:t>
            </a:r>
            <a:r>
              <a:rPr lang="en-US" altLang="zh-CN" sz="3200" b="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S4</a:t>
            </a:r>
            <a:endParaRPr lang="en-US" altLang="zh-CN" sz="3200" b="0" i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grpSp>
        <p:nvGrpSpPr>
          <p:cNvPr id="84997" name="Group 71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84998" name="Picture 72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84999" name="Text Box 73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85000" name="Group 74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85001" name="Picture 75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85002" name="Text Box 76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85003" name="Group 136"/>
          <p:cNvGrpSpPr/>
          <p:nvPr/>
        </p:nvGrpSpPr>
        <p:grpSpPr>
          <a:xfrm>
            <a:off x="1619250" y="620713"/>
            <a:ext cx="4238625" cy="2967037"/>
            <a:chOff x="295" y="392"/>
            <a:chExt cx="2670" cy="1869"/>
          </a:xfrm>
        </p:grpSpPr>
        <p:grpSp>
          <p:nvGrpSpPr>
            <p:cNvPr id="85004" name="Group 77"/>
            <p:cNvGrpSpPr/>
            <p:nvPr/>
          </p:nvGrpSpPr>
          <p:grpSpPr>
            <a:xfrm>
              <a:off x="2654" y="890"/>
              <a:ext cx="311" cy="516"/>
              <a:chOff x="1673" y="401"/>
              <a:chExt cx="311" cy="516"/>
            </a:xfrm>
          </p:grpSpPr>
          <p:sp>
            <p:nvSpPr>
              <p:cNvPr id="85005" name="Line 78"/>
              <p:cNvSpPr/>
              <p:nvPr/>
            </p:nvSpPr>
            <p:spPr>
              <a:xfrm>
                <a:off x="1764" y="917"/>
                <a:ext cx="168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85006" name="Line 79"/>
              <p:cNvSpPr/>
              <p:nvPr/>
            </p:nvSpPr>
            <p:spPr>
              <a:xfrm>
                <a:off x="1764" y="485"/>
                <a:ext cx="168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85007" name="Line 80"/>
              <p:cNvSpPr/>
              <p:nvPr/>
            </p:nvSpPr>
            <p:spPr>
              <a:xfrm rot="-5400000">
                <a:off x="1764" y="485"/>
                <a:ext cx="168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85008" name="Text Box 81"/>
              <p:cNvSpPr txBox="1"/>
              <p:nvPr/>
            </p:nvSpPr>
            <p:spPr>
              <a:xfrm>
                <a:off x="1673" y="593"/>
                <a:ext cx="311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>
                <a:spAutoFit/>
              </a:bodyPr>
              <a:p>
                <a:pPr algn="ctr" eaLnBrk="0" hangingPunct="0">
                  <a:buClrTx/>
                  <a:buFontTx/>
                  <a:buNone/>
                </a:pPr>
                <a:r>
                  <a:rPr lang="en-US" altLang="zh-CN" sz="2400" b="0" i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U</a:t>
                </a:r>
                <a:r>
                  <a:rPr lang="en-US" altLang="zh-CN" sz="14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3</a:t>
                </a:r>
                <a:endParaRPr lang="en-US" altLang="zh-CN" sz="24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endParaRPr>
              </a:p>
            </p:txBody>
          </p:sp>
        </p:grpSp>
        <p:grpSp>
          <p:nvGrpSpPr>
            <p:cNvPr id="85009" name="Group 82"/>
            <p:cNvGrpSpPr/>
            <p:nvPr/>
          </p:nvGrpSpPr>
          <p:grpSpPr>
            <a:xfrm>
              <a:off x="476" y="1253"/>
              <a:ext cx="311" cy="516"/>
              <a:chOff x="1673" y="401"/>
              <a:chExt cx="311" cy="516"/>
            </a:xfrm>
          </p:grpSpPr>
          <p:sp>
            <p:nvSpPr>
              <p:cNvPr id="85010" name="Line 83"/>
              <p:cNvSpPr/>
              <p:nvPr/>
            </p:nvSpPr>
            <p:spPr>
              <a:xfrm>
                <a:off x="1764" y="917"/>
                <a:ext cx="168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85011" name="Line 84"/>
              <p:cNvSpPr/>
              <p:nvPr/>
            </p:nvSpPr>
            <p:spPr>
              <a:xfrm>
                <a:off x="1764" y="485"/>
                <a:ext cx="168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85012" name="Line 85"/>
              <p:cNvSpPr/>
              <p:nvPr/>
            </p:nvSpPr>
            <p:spPr>
              <a:xfrm rot="-5400000">
                <a:off x="1764" y="485"/>
                <a:ext cx="168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85013" name="Text Box 86"/>
              <p:cNvSpPr txBox="1"/>
              <p:nvPr/>
            </p:nvSpPr>
            <p:spPr>
              <a:xfrm>
                <a:off x="1673" y="593"/>
                <a:ext cx="311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>
                <a:spAutoFit/>
              </a:bodyPr>
              <a:p>
                <a:pPr algn="ctr" eaLnBrk="0" hangingPunct="0">
                  <a:buClrTx/>
                  <a:buFontTx/>
                  <a:buNone/>
                </a:pPr>
                <a:r>
                  <a:rPr lang="en-US" altLang="zh-CN" sz="2400" b="0" i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U</a:t>
                </a:r>
                <a:r>
                  <a:rPr lang="en-US" altLang="zh-CN" sz="14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1</a:t>
                </a:r>
                <a:endParaRPr lang="en-US" altLang="zh-CN" sz="24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endParaRPr>
              </a:p>
            </p:txBody>
          </p:sp>
        </p:grpSp>
        <p:grpSp>
          <p:nvGrpSpPr>
            <p:cNvPr id="85014" name="Group 87"/>
            <p:cNvGrpSpPr/>
            <p:nvPr/>
          </p:nvGrpSpPr>
          <p:grpSpPr>
            <a:xfrm>
              <a:off x="1383" y="392"/>
              <a:ext cx="667" cy="288"/>
              <a:chOff x="3291" y="1678"/>
              <a:chExt cx="667" cy="288"/>
            </a:xfrm>
          </p:grpSpPr>
          <p:sp>
            <p:nvSpPr>
              <p:cNvPr id="85015" name="Line 88"/>
              <p:cNvSpPr/>
              <p:nvPr/>
            </p:nvSpPr>
            <p:spPr>
              <a:xfrm>
                <a:off x="3790" y="1824"/>
                <a:ext cx="168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grpSp>
            <p:nvGrpSpPr>
              <p:cNvPr id="85016" name="Group 89"/>
              <p:cNvGrpSpPr/>
              <p:nvPr/>
            </p:nvGrpSpPr>
            <p:grpSpPr>
              <a:xfrm>
                <a:off x="3291" y="1728"/>
                <a:ext cx="168" cy="168"/>
                <a:chOff x="3303" y="1716"/>
                <a:chExt cx="168" cy="168"/>
              </a:xfrm>
            </p:grpSpPr>
            <p:sp>
              <p:nvSpPr>
                <p:cNvPr id="85017" name="Line 90"/>
                <p:cNvSpPr/>
                <p:nvPr/>
              </p:nvSpPr>
              <p:spPr>
                <a:xfrm>
                  <a:off x="3303" y="1812"/>
                  <a:ext cx="168" cy="0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85018" name="Line 91"/>
                <p:cNvSpPr/>
                <p:nvPr/>
              </p:nvSpPr>
              <p:spPr>
                <a:xfrm rot="-5400000">
                  <a:off x="3303" y="1800"/>
                  <a:ext cx="168" cy="0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85019" name="Text Box 92"/>
              <p:cNvSpPr txBox="1"/>
              <p:nvPr/>
            </p:nvSpPr>
            <p:spPr>
              <a:xfrm>
                <a:off x="3459" y="1678"/>
                <a:ext cx="311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ctr" anchorCtr="0">
                <a:spAutoFit/>
              </a:bodyPr>
              <a:p>
                <a:pPr algn="ctr" eaLnBrk="0" hangingPunct="0">
                  <a:buClrTx/>
                  <a:buFontTx/>
                  <a:buNone/>
                </a:pPr>
                <a:r>
                  <a:rPr lang="en-US" altLang="zh-CN" sz="2400" i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U</a:t>
                </a:r>
                <a:r>
                  <a:rPr lang="en-US" altLang="zh-CN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2</a:t>
                </a:r>
                <a:endPara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endParaRPr>
              </a:p>
            </p:txBody>
          </p:sp>
        </p:grpSp>
        <p:grpSp>
          <p:nvGrpSpPr>
            <p:cNvPr id="85020" name="Group 93"/>
            <p:cNvGrpSpPr/>
            <p:nvPr/>
          </p:nvGrpSpPr>
          <p:grpSpPr>
            <a:xfrm>
              <a:off x="1928" y="1843"/>
              <a:ext cx="583" cy="288"/>
              <a:chOff x="1408" y="3696"/>
              <a:chExt cx="583" cy="288"/>
            </a:xfrm>
          </p:grpSpPr>
          <p:grpSp>
            <p:nvGrpSpPr>
              <p:cNvPr id="85021" name="Group 94"/>
              <p:cNvGrpSpPr/>
              <p:nvPr/>
            </p:nvGrpSpPr>
            <p:grpSpPr>
              <a:xfrm>
                <a:off x="1823" y="3760"/>
                <a:ext cx="168" cy="168"/>
                <a:chOff x="3303" y="1716"/>
                <a:chExt cx="168" cy="168"/>
              </a:xfrm>
            </p:grpSpPr>
            <p:sp>
              <p:nvSpPr>
                <p:cNvPr id="85022" name="Line 95"/>
                <p:cNvSpPr/>
                <p:nvPr/>
              </p:nvSpPr>
              <p:spPr>
                <a:xfrm>
                  <a:off x="3303" y="1812"/>
                  <a:ext cx="168" cy="0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85023" name="Line 96"/>
                <p:cNvSpPr/>
                <p:nvPr/>
              </p:nvSpPr>
              <p:spPr>
                <a:xfrm rot="-5400000">
                  <a:off x="3303" y="1800"/>
                  <a:ext cx="168" cy="0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85024" name="Text Box 97"/>
              <p:cNvSpPr txBox="1"/>
              <p:nvPr/>
            </p:nvSpPr>
            <p:spPr>
              <a:xfrm>
                <a:off x="1536" y="3696"/>
                <a:ext cx="311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ctr" anchorCtr="0">
                <a:spAutoFit/>
              </a:bodyPr>
              <a:p>
                <a:pPr algn="ctr" eaLnBrk="0" hangingPunct="0">
                  <a:buClrTx/>
                  <a:buFontTx/>
                  <a:buNone/>
                </a:pPr>
                <a:r>
                  <a:rPr lang="en-US" altLang="zh-CN" sz="2400" b="0" i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U</a:t>
                </a:r>
                <a:r>
                  <a:rPr lang="en-US" altLang="zh-CN" sz="1400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4</a:t>
                </a:r>
                <a:endParaRPr lang="en-US" altLang="zh-CN" sz="24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endParaRPr>
              </a:p>
            </p:txBody>
          </p:sp>
          <p:sp>
            <p:nvSpPr>
              <p:cNvPr id="85025" name="Line 98"/>
              <p:cNvSpPr/>
              <p:nvPr/>
            </p:nvSpPr>
            <p:spPr>
              <a:xfrm>
                <a:off x="1408" y="3856"/>
                <a:ext cx="168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85026" name="Group 99"/>
            <p:cNvGrpSpPr/>
            <p:nvPr/>
          </p:nvGrpSpPr>
          <p:grpSpPr>
            <a:xfrm>
              <a:off x="1429" y="1071"/>
              <a:ext cx="254" cy="499"/>
              <a:chOff x="4980" y="1428"/>
              <a:chExt cx="212" cy="594"/>
            </a:xfrm>
          </p:grpSpPr>
          <p:sp>
            <p:nvSpPr>
              <p:cNvPr id="85027" name="Arc 100"/>
              <p:cNvSpPr/>
              <p:nvPr/>
            </p:nvSpPr>
            <p:spPr>
              <a:xfrm>
                <a:off x="4980" y="1428"/>
                <a:ext cx="212" cy="594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pathLst>
                  <a:path w="43200" h="43200" fill="none">
                    <a:moveTo>
                      <a:pt x="21600" y="0"/>
                    </a:move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33529"/>
                      <a:pt x="33529" y="43200"/>
                      <a:pt x="21600" y="43200"/>
                    </a:cubicBezTo>
                    <a:cubicBezTo>
                      <a:pt x="9670" y="43200"/>
                      <a:pt x="0" y="33529"/>
                      <a:pt x="0" y="21600"/>
                    </a:cubicBezTo>
                    <a:cubicBezTo>
                      <a:pt x="-1" y="11724"/>
                      <a:pt x="6697" y="3106"/>
                      <a:pt x="16268" y="668"/>
                    </a:cubicBezTo>
                  </a:path>
                  <a:path w="43200" h="43200" stroke="0">
                    <a:moveTo>
                      <a:pt x="21600" y="0"/>
                    </a:move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33529"/>
                      <a:pt x="33529" y="43200"/>
                      <a:pt x="21600" y="43200"/>
                    </a:cubicBezTo>
                    <a:cubicBezTo>
                      <a:pt x="9670" y="43200"/>
                      <a:pt x="0" y="33529"/>
                      <a:pt x="0" y="21600"/>
                    </a:cubicBezTo>
                    <a:cubicBezTo>
                      <a:pt x="-1" y="11724"/>
                      <a:pt x="6697" y="3106"/>
                      <a:pt x="16268" y="668"/>
                    </a:cubicBezTo>
                    <a:lnTo>
                      <a:pt x="21600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33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85028" name="Text Box 101"/>
              <p:cNvSpPr txBox="1"/>
              <p:nvPr/>
            </p:nvSpPr>
            <p:spPr>
              <a:xfrm>
                <a:off x="5028" y="1528"/>
                <a:ext cx="116" cy="389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anchor="ctr" anchorCtr="0">
                <a:spAutoFit/>
              </a:bodyPr>
              <a:p>
                <a:pPr algn="ctr" eaLnBrk="0" hangingPunct="0">
                  <a:buClrTx/>
                  <a:buFontTx/>
                  <a:buNone/>
                </a:pPr>
                <a:endParaRPr lang="zh-CN" altLang="zh-CN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endParaRPr>
              </a:p>
            </p:txBody>
          </p:sp>
        </p:grpSp>
        <p:grpSp>
          <p:nvGrpSpPr>
            <p:cNvPr id="85029" name="Group 102"/>
            <p:cNvGrpSpPr/>
            <p:nvPr/>
          </p:nvGrpSpPr>
          <p:grpSpPr>
            <a:xfrm>
              <a:off x="295" y="618"/>
              <a:ext cx="2494" cy="1643"/>
              <a:chOff x="2699" y="2341"/>
              <a:chExt cx="2494" cy="1643"/>
            </a:xfrm>
          </p:grpSpPr>
          <p:sp>
            <p:nvSpPr>
              <p:cNvPr id="85030" name="Oval 103"/>
              <p:cNvSpPr/>
              <p:nvPr/>
            </p:nvSpPr>
            <p:spPr>
              <a:xfrm>
                <a:off x="3697" y="3339"/>
                <a:ext cx="363" cy="363"/>
              </a:xfrm>
              <a:prstGeom prst="ellipse">
                <a:avLst/>
              </a:prstGeom>
              <a:gradFill rotWithShape="1">
                <a:gsLst>
                  <a:gs pos="0">
                    <a:srgbClr val="0099FF"/>
                  </a:gs>
                  <a:gs pos="100000">
                    <a:srgbClr val="004776"/>
                  </a:gs>
                </a:gsLst>
                <a:path path="shape">
                  <a:fillToRect l="50000" t="50000" r="50000" b="50000"/>
                </a:path>
                <a:tileRect/>
              </a:gradFill>
              <a:ln w="38100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>
                  <a:buClrTx/>
                  <a:buFontTx/>
                  <a:buNone/>
                </a:pPr>
                <a:endParaRPr lang="zh-CN" altLang="zh-CN" sz="2400" b="0" dirty="0">
                  <a:latin typeface="Arial" panose="020B0604020202020204" pitchFamily="34" charset="0"/>
                  <a:ea typeface="仿宋_GB2312" pitchFamily="49" charset="-122"/>
                </a:endParaRPr>
              </a:p>
            </p:txBody>
          </p:sp>
          <p:sp>
            <p:nvSpPr>
              <p:cNvPr id="85031" name="Oval 104"/>
              <p:cNvSpPr/>
              <p:nvPr/>
            </p:nvSpPr>
            <p:spPr>
              <a:xfrm>
                <a:off x="3152" y="2523"/>
                <a:ext cx="363" cy="363"/>
              </a:xfrm>
              <a:prstGeom prst="ellipse">
                <a:avLst/>
              </a:prstGeom>
              <a:gradFill rotWithShape="1">
                <a:gsLst>
                  <a:gs pos="0">
                    <a:srgbClr val="0099FF"/>
                  </a:gs>
                  <a:gs pos="100000">
                    <a:srgbClr val="004776"/>
                  </a:gs>
                </a:gsLst>
                <a:path path="shape">
                  <a:fillToRect l="50000" t="50000" r="50000" b="50000"/>
                </a:path>
                <a:tileRect/>
              </a:gradFill>
              <a:ln w="38100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>
                  <a:buClrTx/>
                  <a:buFontTx/>
                  <a:buNone/>
                </a:pPr>
                <a:endParaRPr lang="zh-CN" altLang="zh-CN" sz="2400" b="0" dirty="0">
                  <a:latin typeface="Arial" panose="020B0604020202020204" pitchFamily="34" charset="0"/>
                  <a:ea typeface="仿宋_GB2312" pitchFamily="49" charset="-122"/>
                </a:endParaRPr>
              </a:p>
            </p:txBody>
          </p:sp>
          <p:sp>
            <p:nvSpPr>
              <p:cNvPr id="85032" name="Line 105"/>
              <p:cNvSpPr/>
              <p:nvPr/>
            </p:nvSpPr>
            <p:spPr>
              <a:xfrm>
                <a:off x="3334" y="2432"/>
                <a:ext cx="1633" cy="0"/>
              </a:xfrm>
              <a:prstGeom prst="line">
                <a:avLst/>
              </a:prstGeom>
              <a:ln w="28575" cap="flat" cmpd="sng">
                <a:solidFill>
                  <a:srgbClr val="FFCC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85033" name="Line 106"/>
              <p:cNvSpPr/>
              <p:nvPr/>
            </p:nvSpPr>
            <p:spPr>
              <a:xfrm>
                <a:off x="3334" y="3521"/>
                <a:ext cx="1633" cy="0"/>
              </a:xfrm>
              <a:prstGeom prst="line">
                <a:avLst/>
              </a:prstGeom>
              <a:ln w="28575" cap="flat" cmpd="sng">
                <a:solidFill>
                  <a:srgbClr val="FFCC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85034" name="Line 107"/>
              <p:cNvSpPr/>
              <p:nvPr/>
            </p:nvSpPr>
            <p:spPr>
              <a:xfrm>
                <a:off x="4967" y="2432"/>
                <a:ext cx="0" cy="1089"/>
              </a:xfrm>
              <a:prstGeom prst="line">
                <a:avLst/>
              </a:prstGeom>
              <a:ln w="28575" cap="flat" cmpd="sng">
                <a:solidFill>
                  <a:srgbClr val="FFCC00"/>
                </a:solidFill>
                <a:prstDash val="solid"/>
                <a:round/>
                <a:headEnd type="oval" w="med" len="med"/>
                <a:tailEnd type="oval" w="med" len="med"/>
              </a:ln>
            </p:spPr>
          </p:sp>
          <p:sp>
            <p:nvSpPr>
              <p:cNvPr id="85035" name="Line 108"/>
              <p:cNvSpPr/>
              <p:nvPr/>
            </p:nvSpPr>
            <p:spPr>
              <a:xfrm>
                <a:off x="4967" y="3521"/>
                <a:ext cx="226" cy="90"/>
              </a:xfrm>
              <a:prstGeom prst="line">
                <a:avLst/>
              </a:prstGeom>
              <a:ln w="28575" cap="flat" cmpd="sng">
                <a:solidFill>
                  <a:srgbClr val="FFCC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85036" name="Line 109"/>
              <p:cNvSpPr/>
              <p:nvPr/>
            </p:nvSpPr>
            <p:spPr>
              <a:xfrm flipV="1">
                <a:off x="4967" y="2341"/>
                <a:ext cx="226" cy="85"/>
              </a:xfrm>
              <a:prstGeom prst="line">
                <a:avLst/>
              </a:prstGeom>
              <a:ln w="28575" cap="flat" cmpd="sng">
                <a:solidFill>
                  <a:srgbClr val="FFCC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85037" name="Line 110"/>
              <p:cNvSpPr/>
              <p:nvPr/>
            </p:nvSpPr>
            <p:spPr>
              <a:xfrm flipH="1">
                <a:off x="3107" y="3521"/>
                <a:ext cx="232" cy="90"/>
              </a:xfrm>
              <a:prstGeom prst="line">
                <a:avLst/>
              </a:prstGeom>
              <a:ln w="28575" cap="flat" cmpd="sng">
                <a:solidFill>
                  <a:srgbClr val="FFCC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85038" name="Line 111"/>
              <p:cNvSpPr/>
              <p:nvPr/>
            </p:nvSpPr>
            <p:spPr>
              <a:xfrm>
                <a:off x="3107" y="2341"/>
                <a:ext cx="199" cy="72"/>
              </a:xfrm>
              <a:prstGeom prst="line">
                <a:avLst/>
              </a:prstGeom>
              <a:ln w="28575" cap="flat" cmpd="sng">
                <a:solidFill>
                  <a:srgbClr val="FFCC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85039" name="Line 112"/>
              <p:cNvSpPr/>
              <p:nvPr/>
            </p:nvSpPr>
            <p:spPr>
              <a:xfrm>
                <a:off x="3515" y="2840"/>
                <a:ext cx="0" cy="281"/>
              </a:xfrm>
              <a:prstGeom prst="line">
                <a:avLst/>
              </a:prstGeom>
              <a:ln w="38100" cap="flat" cmpd="sng">
                <a:solidFill>
                  <a:srgbClr val="00CCFF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sp>
            <p:nvSpPr>
              <p:cNvPr id="85040" name="Line 113"/>
              <p:cNvSpPr/>
              <p:nvPr/>
            </p:nvSpPr>
            <p:spPr>
              <a:xfrm flipH="1" flipV="1">
                <a:off x="4105" y="3430"/>
                <a:ext cx="263" cy="2"/>
              </a:xfrm>
              <a:prstGeom prst="line">
                <a:avLst/>
              </a:prstGeom>
              <a:ln w="38100" cap="flat" cmpd="sng">
                <a:solidFill>
                  <a:srgbClr val="00CCFF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sp>
            <p:nvSpPr>
              <p:cNvPr id="85041" name="Line 114"/>
              <p:cNvSpPr/>
              <p:nvPr/>
            </p:nvSpPr>
            <p:spPr>
              <a:xfrm>
                <a:off x="3606" y="2523"/>
                <a:ext cx="309" cy="0"/>
              </a:xfrm>
              <a:prstGeom prst="line">
                <a:avLst/>
              </a:prstGeom>
              <a:ln w="38100" cap="flat" cmpd="sng">
                <a:solidFill>
                  <a:srgbClr val="00CCFF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sp>
            <p:nvSpPr>
              <p:cNvPr id="85042" name="Line 115"/>
              <p:cNvSpPr/>
              <p:nvPr/>
            </p:nvSpPr>
            <p:spPr>
              <a:xfrm flipV="1">
                <a:off x="4831" y="2523"/>
                <a:ext cx="0" cy="281"/>
              </a:xfrm>
              <a:prstGeom prst="line">
                <a:avLst/>
              </a:prstGeom>
              <a:ln w="38100" cap="flat" cmpd="sng">
                <a:solidFill>
                  <a:srgbClr val="00CCFF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sp>
            <p:nvSpPr>
              <p:cNvPr id="85043" name="Text Box 116"/>
              <p:cNvSpPr txBox="1"/>
              <p:nvPr/>
            </p:nvSpPr>
            <p:spPr>
              <a:xfrm>
                <a:off x="3470" y="2704"/>
                <a:ext cx="400" cy="327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anchor="ctr" anchorCtr="0">
                <a:spAutoFit/>
              </a:bodyPr>
              <a:p>
                <a:pPr algn="ctr" eaLnBrk="0" hangingPunct="0">
                  <a:buClrTx/>
                  <a:buFontTx/>
                  <a:buNone/>
                </a:pPr>
                <a:r>
                  <a:rPr lang="en-US" altLang="zh-CN" b="0" i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I</a:t>
                </a:r>
                <a:r>
                  <a:rPr lang="en-US" altLang="zh-CN" b="0" baseline="-250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1</a:t>
                </a:r>
                <a:endParaRPr lang="en-US" altLang="zh-CN" b="0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endParaRPr>
              </a:p>
            </p:txBody>
          </p:sp>
          <p:sp>
            <p:nvSpPr>
              <p:cNvPr id="85044" name="Text Box 117"/>
              <p:cNvSpPr txBox="1"/>
              <p:nvPr/>
            </p:nvSpPr>
            <p:spPr>
              <a:xfrm>
                <a:off x="2981" y="2360"/>
                <a:ext cx="223" cy="328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anchor="ctr" anchorCtr="0">
                <a:spAutoFit/>
              </a:bodyPr>
              <a:p>
                <a:pPr algn="ctr" eaLnBrk="0" hangingPunct="0">
                  <a:buClrTx/>
                  <a:buFontTx/>
                  <a:buNone/>
                </a:pPr>
                <a:r>
                  <a:rPr lang="en-US" altLang="zh-CN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+</a:t>
                </a:r>
                <a:endParaRPr lang="en-US" altLang="zh-CN" b="0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endParaRPr>
              </a:p>
            </p:txBody>
          </p:sp>
          <p:sp>
            <p:nvSpPr>
              <p:cNvPr id="85045" name="Text Box 118"/>
              <p:cNvSpPr txBox="1"/>
              <p:nvPr/>
            </p:nvSpPr>
            <p:spPr>
              <a:xfrm>
                <a:off x="2699" y="2568"/>
                <a:ext cx="473" cy="327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anchor="ctr" anchorCtr="0">
                <a:spAutoFit/>
              </a:bodyPr>
              <a:p>
                <a:pPr algn="ctr" eaLnBrk="0" hangingPunct="0">
                  <a:buClrTx/>
                  <a:buFontTx/>
                  <a:buNone/>
                </a:pPr>
                <a:r>
                  <a:rPr lang="en-US" altLang="zh-CN" b="0" i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U</a:t>
                </a:r>
                <a:r>
                  <a:rPr lang="en-US" altLang="zh-CN" b="0" baseline="-250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S1</a:t>
                </a:r>
                <a:endParaRPr lang="en-US" altLang="zh-CN" b="0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endParaRPr>
              </a:p>
            </p:txBody>
          </p:sp>
          <p:sp>
            <p:nvSpPr>
              <p:cNvPr id="85046" name="Text Box 119"/>
              <p:cNvSpPr txBox="1"/>
              <p:nvPr/>
            </p:nvSpPr>
            <p:spPr>
              <a:xfrm>
                <a:off x="3334" y="3067"/>
                <a:ext cx="433" cy="327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anchor="ctr" anchorCtr="0">
                <a:spAutoFit/>
              </a:bodyPr>
              <a:p>
                <a:pPr algn="ctr" eaLnBrk="0" hangingPunct="0">
                  <a:buClrTx/>
                  <a:buFontTx/>
                  <a:buNone/>
                </a:pPr>
                <a:r>
                  <a:rPr lang="en-US" altLang="zh-CN" b="0" i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R</a:t>
                </a:r>
                <a:r>
                  <a:rPr lang="en-US" altLang="zh-CN" b="0" baseline="-250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1</a:t>
                </a:r>
                <a:endParaRPr lang="en-US" altLang="zh-CN" b="0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endParaRPr>
              </a:p>
            </p:txBody>
          </p:sp>
          <p:sp>
            <p:nvSpPr>
              <p:cNvPr id="85047" name="Text Box 120"/>
              <p:cNvSpPr txBox="1"/>
              <p:nvPr/>
            </p:nvSpPr>
            <p:spPr>
              <a:xfrm>
                <a:off x="4059" y="3067"/>
                <a:ext cx="472" cy="328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anchor="ctr" anchorCtr="0">
                <a:spAutoFit/>
              </a:bodyPr>
              <a:p>
                <a:pPr algn="ctr" eaLnBrk="0" hangingPunct="0">
                  <a:buClrTx/>
                  <a:buFontTx/>
                  <a:buNone/>
                </a:pPr>
                <a:r>
                  <a:rPr lang="en-US" altLang="zh-CN" b="0" i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I</a:t>
                </a:r>
                <a:r>
                  <a:rPr lang="en-US" altLang="zh-CN" b="0" baseline="-250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4</a:t>
                </a:r>
                <a:endParaRPr lang="en-US" altLang="zh-CN" b="0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endParaRPr>
              </a:p>
            </p:txBody>
          </p:sp>
          <p:sp>
            <p:nvSpPr>
              <p:cNvPr id="85048" name="Text Box 121"/>
              <p:cNvSpPr txBox="1"/>
              <p:nvPr/>
            </p:nvSpPr>
            <p:spPr>
              <a:xfrm>
                <a:off x="3470" y="3385"/>
                <a:ext cx="184" cy="326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anchor="ctr" anchorCtr="0">
                <a:spAutoFit/>
              </a:bodyPr>
              <a:p>
                <a:pPr algn="ctr" eaLnBrk="0" hangingPunct="0">
                  <a:buClrTx/>
                  <a:buFontTx/>
                  <a:buNone/>
                </a:pPr>
                <a:r>
                  <a:rPr lang="en-US" altLang="zh-CN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_</a:t>
                </a:r>
                <a:endParaRPr lang="en-US" altLang="zh-CN" b="0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endParaRPr>
              </a:p>
            </p:txBody>
          </p:sp>
          <p:sp>
            <p:nvSpPr>
              <p:cNvPr id="85049" name="Text Box 122"/>
              <p:cNvSpPr txBox="1"/>
              <p:nvPr/>
            </p:nvSpPr>
            <p:spPr>
              <a:xfrm>
                <a:off x="3969" y="3521"/>
                <a:ext cx="341" cy="327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anchor="ctr" anchorCtr="0">
                <a:spAutoFit/>
              </a:bodyPr>
              <a:p>
                <a:pPr algn="ctr" eaLnBrk="0" hangingPunct="0">
                  <a:buClrTx/>
                  <a:buFontTx/>
                  <a:buNone/>
                </a:pPr>
                <a:r>
                  <a:rPr lang="en-US" altLang="zh-CN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+</a:t>
                </a:r>
                <a:endParaRPr lang="en-US" altLang="zh-CN" b="0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endParaRPr>
              </a:p>
            </p:txBody>
          </p:sp>
          <p:sp>
            <p:nvSpPr>
              <p:cNvPr id="85050" name="Text Box 123"/>
              <p:cNvSpPr txBox="1"/>
              <p:nvPr/>
            </p:nvSpPr>
            <p:spPr>
              <a:xfrm>
                <a:off x="3651" y="3657"/>
                <a:ext cx="472" cy="327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anchor="ctr" anchorCtr="0">
                <a:spAutoFit/>
              </a:bodyPr>
              <a:p>
                <a:pPr algn="ctr" eaLnBrk="0" hangingPunct="0">
                  <a:buClrTx/>
                  <a:buFontTx/>
                  <a:buNone/>
                </a:pPr>
                <a:r>
                  <a:rPr lang="en-US" altLang="zh-CN" b="0" i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U</a:t>
                </a:r>
                <a:r>
                  <a:rPr lang="en-US" altLang="zh-CN" b="0" baseline="-250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S4</a:t>
                </a:r>
                <a:endParaRPr lang="en-US" altLang="zh-CN" b="0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endParaRPr>
              </a:p>
            </p:txBody>
          </p:sp>
          <p:sp>
            <p:nvSpPr>
              <p:cNvPr id="85051" name="Text Box 124"/>
              <p:cNvSpPr txBox="1"/>
              <p:nvPr/>
            </p:nvSpPr>
            <p:spPr>
              <a:xfrm>
                <a:off x="4377" y="3112"/>
                <a:ext cx="407" cy="327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anchor="ctr" anchorCtr="0">
                <a:spAutoFit/>
              </a:bodyPr>
              <a:p>
                <a:pPr algn="ctr" eaLnBrk="0" hangingPunct="0">
                  <a:buClrTx/>
                  <a:buFontTx/>
                  <a:buNone/>
                </a:pPr>
                <a:r>
                  <a:rPr lang="en-US" altLang="zh-CN" b="0" i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R</a:t>
                </a:r>
                <a:r>
                  <a:rPr lang="en-US" altLang="zh-CN" b="0" baseline="-250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4</a:t>
                </a:r>
                <a:endParaRPr lang="en-US" altLang="zh-CN" b="0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endParaRPr>
              </a:p>
            </p:txBody>
          </p:sp>
          <p:sp>
            <p:nvSpPr>
              <p:cNvPr id="85052" name="Text Box 125"/>
              <p:cNvSpPr txBox="1"/>
              <p:nvPr/>
            </p:nvSpPr>
            <p:spPr>
              <a:xfrm>
                <a:off x="4513" y="2477"/>
                <a:ext cx="297" cy="327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anchor="ctr" anchorCtr="0">
                <a:spAutoFit/>
              </a:bodyPr>
              <a:p>
                <a:pPr algn="ctr" eaLnBrk="0" hangingPunct="0">
                  <a:buClrTx/>
                  <a:buFontTx/>
                  <a:buNone/>
                </a:pPr>
                <a:r>
                  <a:rPr lang="en-US" altLang="zh-CN" b="0" i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I</a:t>
                </a:r>
                <a:r>
                  <a:rPr lang="en-US" altLang="zh-CN" b="0" baseline="-250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3</a:t>
                </a:r>
                <a:endParaRPr lang="en-US" altLang="zh-CN" b="0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endParaRPr>
              </a:p>
            </p:txBody>
          </p:sp>
          <p:sp>
            <p:nvSpPr>
              <p:cNvPr id="85053" name="Text Box 126"/>
              <p:cNvSpPr txBox="1"/>
              <p:nvPr/>
            </p:nvSpPr>
            <p:spPr>
              <a:xfrm>
                <a:off x="4513" y="2749"/>
                <a:ext cx="397" cy="327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anchor="ctr" anchorCtr="0">
                <a:spAutoFit/>
              </a:bodyPr>
              <a:p>
                <a:pPr algn="ctr" eaLnBrk="0" hangingPunct="0">
                  <a:buClrTx/>
                  <a:buFontTx/>
                  <a:buNone/>
                </a:pPr>
                <a:r>
                  <a:rPr lang="en-US" altLang="zh-CN" b="0" i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R</a:t>
                </a:r>
                <a:r>
                  <a:rPr lang="en-US" altLang="zh-CN" b="0" baseline="-250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3</a:t>
                </a:r>
                <a:endParaRPr lang="en-US" altLang="zh-CN" b="0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endParaRPr>
              </a:p>
            </p:txBody>
          </p:sp>
          <p:sp>
            <p:nvSpPr>
              <p:cNvPr id="85054" name="Text Box 127"/>
              <p:cNvSpPr txBox="1"/>
              <p:nvPr/>
            </p:nvSpPr>
            <p:spPr>
              <a:xfrm>
                <a:off x="3923" y="2523"/>
                <a:ext cx="433" cy="327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anchor="ctr" anchorCtr="0">
                <a:spAutoFit/>
              </a:bodyPr>
              <a:p>
                <a:pPr algn="ctr" eaLnBrk="0" hangingPunct="0">
                  <a:buClrTx/>
                  <a:buFontTx/>
                  <a:buNone/>
                </a:pPr>
                <a:r>
                  <a:rPr lang="en-US" altLang="zh-CN" b="0" i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R</a:t>
                </a:r>
                <a:r>
                  <a:rPr lang="en-US" altLang="zh-CN" b="0" baseline="-250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2</a:t>
                </a:r>
                <a:endParaRPr lang="en-US" altLang="zh-CN" b="0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endParaRPr>
              </a:p>
            </p:txBody>
          </p:sp>
          <p:sp>
            <p:nvSpPr>
              <p:cNvPr id="85055" name="Text Box 128"/>
              <p:cNvSpPr txBox="1"/>
              <p:nvPr/>
            </p:nvSpPr>
            <p:spPr>
              <a:xfrm>
                <a:off x="3606" y="2477"/>
                <a:ext cx="329" cy="327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anchor="ctr" anchorCtr="0">
                <a:spAutoFit/>
              </a:bodyPr>
              <a:p>
                <a:pPr algn="ctr" eaLnBrk="0" hangingPunct="0">
                  <a:buClrTx/>
                  <a:buFontTx/>
                  <a:buNone/>
                </a:pPr>
                <a:r>
                  <a:rPr lang="en-US" altLang="zh-CN" b="0" i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I</a:t>
                </a:r>
                <a:r>
                  <a:rPr lang="en-US" altLang="zh-CN" b="0" baseline="-250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2</a:t>
                </a:r>
                <a:endParaRPr lang="en-US" altLang="zh-CN" b="0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endParaRPr>
              </a:p>
            </p:txBody>
          </p:sp>
          <p:sp>
            <p:nvSpPr>
              <p:cNvPr id="85056" name="Text Box 129"/>
              <p:cNvSpPr txBox="1"/>
              <p:nvPr/>
            </p:nvSpPr>
            <p:spPr>
              <a:xfrm>
                <a:off x="2823" y="2608"/>
                <a:ext cx="223" cy="327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anchor="ctr" anchorCtr="0">
                <a:spAutoFit/>
              </a:bodyPr>
              <a:p>
                <a:pPr algn="ctr" eaLnBrk="0" hangingPunct="0">
                  <a:buClrTx/>
                  <a:buFontTx/>
                  <a:buNone/>
                </a:pPr>
                <a:endParaRPr lang="zh-CN" altLang="zh-CN" b="0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endParaRPr>
              </a:p>
            </p:txBody>
          </p:sp>
          <p:sp>
            <p:nvSpPr>
              <p:cNvPr id="85057" name="Text Box 130"/>
              <p:cNvSpPr txBox="1"/>
              <p:nvPr/>
            </p:nvSpPr>
            <p:spPr>
              <a:xfrm>
                <a:off x="3016" y="2659"/>
                <a:ext cx="184" cy="327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anchor="ctr" anchorCtr="0">
                <a:spAutoFit/>
              </a:bodyPr>
              <a:p>
                <a:pPr algn="ctr" eaLnBrk="0" hangingPunct="0">
                  <a:buClrTx/>
                  <a:buFontTx/>
                  <a:buNone/>
                </a:pPr>
                <a:r>
                  <a:rPr lang="en-US" altLang="zh-CN" b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_</a:t>
                </a:r>
                <a:endParaRPr lang="en-US" altLang="zh-CN" b="0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endParaRPr>
              </a:p>
            </p:txBody>
          </p:sp>
          <p:sp>
            <p:nvSpPr>
              <p:cNvPr id="85058" name="Line 131"/>
              <p:cNvSpPr/>
              <p:nvPr/>
            </p:nvSpPr>
            <p:spPr>
              <a:xfrm>
                <a:off x="3334" y="2432"/>
                <a:ext cx="0" cy="1089"/>
              </a:xfrm>
              <a:prstGeom prst="line">
                <a:avLst/>
              </a:prstGeom>
              <a:ln w="28575" cap="flat" cmpd="sng">
                <a:solidFill>
                  <a:srgbClr val="FFCC00"/>
                </a:solidFill>
                <a:prstDash val="solid"/>
                <a:round/>
                <a:headEnd type="oval" w="med" len="med"/>
                <a:tailEnd type="oval" w="med" len="med"/>
              </a:ln>
            </p:spPr>
          </p:sp>
          <p:sp>
            <p:nvSpPr>
              <p:cNvPr id="85059" name="Rectangle 132"/>
              <p:cNvSpPr/>
              <p:nvPr/>
            </p:nvSpPr>
            <p:spPr>
              <a:xfrm>
                <a:off x="4921" y="2749"/>
                <a:ext cx="127" cy="318"/>
              </a:xfrm>
              <a:prstGeom prst="rect">
                <a:avLst/>
              </a:prstGeom>
              <a:gradFill rotWithShape="1">
                <a:gsLst>
                  <a:gs pos="0">
                    <a:srgbClr val="764700"/>
                  </a:gs>
                  <a:gs pos="50000">
                    <a:srgbClr val="FF9900"/>
                  </a:gs>
                  <a:gs pos="100000">
                    <a:srgbClr val="764700"/>
                  </a:gs>
                </a:gsLst>
                <a:lin ang="0" scaled="1"/>
                <a:tileRect/>
              </a:gradFill>
              <a:ln w="28575">
                <a:noFill/>
              </a:ln>
            </p:spPr>
            <p:txBody>
              <a:bodyPr wrap="none" anchor="ctr" anchorCtr="0"/>
              <a:p>
                <a:pPr>
                  <a:buClrTx/>
                  <a:buFontTx/>
                  <a:buNone/>
                </a:pPr>
                <a:endParaRPr lang="zh-CN" altLang="en-US" dirty="0">
                  <a:latin typeface="Arial" panose="020B0604020202020204" pitchFamily="34" charset="0"/>
                  <a:ea typeface="楷体_GB2312" pitchFamily="49" charset="-122"/>
                </a:endParaRPr>
              </a:p>
            </p:txBody>
          </p:sp>
          <p:sp>
            <p:nvSpPr>
              <p:cNvPr id="85060" name="Rectangle 133"/>
              <p:cNvSpPr/>
              <p:nvPr/>
            </p:nvSpPr>
            <p:spPr>
              <a:xfrm>
                <a:off x="4422" y="3430"/>
                <a:ext cx="317" cy="136"/>
              </a:xfrm>
              <a:prstGeom prst="rect">
                <a:avLst/>
              </a:prstGeom>
              <a:gradFill rotWithShape="1">
                <a:gsLst>
                  <a:gs pos="0">
                    <a:srgbClr val="764700"/>
                  </a:gs>
                  <a:gs pos="50000">
                    <a:srgbClr val="FF9900"/>
                  </a:gs>
                  <a:gs pos="100000">
                    <a:srgbClr val="764700"/>
                  </a:gs>
                </a:gsLst>
                <a:lin ang="5400000" scaled="1"/>
                <a:tileRect/>
              </a:gradFill>
              <a:ln w="28575">
                <a:noFill/>
              </a:ln>
            </p:spPr>
            <p:txBody>
              <a:bodyPr wrap="none" anchor="ctr" anchorCtr="0"/>
              <a:p>
                <a:pPr>
                  <a:buClrTx/>
                  <a:buFontTx/>
                  <a:buNone/>
                </a:pPr>
                <a:endParaRPr lang="zh-CN" altLang="en-US" dirty="0">
                  <a:latin typeface="Arial" panose="020B0604020202020204" pitchFamily="34" charset="0"/>
                  <a:ea typeface="楷体_GB2312" pitchFamily="49" charset="-122"/>
                </a:endParaRPr>
              </a:p>
            </p:txBody>
          </p:sp>
          <p:sp>
            <p:nvSpPr>
              <p:cNvPr id="85061" name="Rectangle 134"/>
              <p:cNvSpPr/>
              <p:nvPr/>
            </p:nvSpPr>
            <p:spPr>
              <a:xfrm>
                <a:off x="3969" y="2387"/>
                <a:ext cx="317" cy="136"/>
              </a:xfrm>
              <a:prstGeom prst="rect">
                <a:avLst/>
              </a:prstGeom>
              <a:gradFill rotWithShape="1">
                <a:gsLst>
                  <a:gs pos="0">
                    <a:srgbClr val="764700"/>
                  </a:gs>
                  <a:gs pos="50000">
                    <a:srgbClr val="FF9900"/>
                  </a:gs>
                  <a:gs pos="100000">
                    <a:srgbClr val="764700"/>
                  </a:gs>
                </a:gsLst>
                <a:lin ang="5400000" scaled="1"/>
                <a:tileRect/>
              </a:gradFill>
              <a:ln w="28575">
                <a:noFill/>
              </a:ln>
            </p:spPr>
            <p:txBody>
              <a:bodyPr wrap="none" anchor="ctr" anchorCtr="0"/>
              <a:p>
                <a:pPr>
                  <a:buClrTx/>
                  <a:buFontTx/>
                  <a:buNone/>
                </a:pPr>
                <a:endParaRPr lang="zh-CN" altLang="en-US" dirty="0">
                  <a:latin typeface="Arial" panose="020B0604020202020204" pitchFamily="34" charset="0"/>
                  <a:ea typeface="楷体_GB2312" pitchFamily="49" charset="-122"/>
                </a:endParaRPr>
              </a:p>
            </p:txBody>
          </p:sp>
          <p:sp>
            <p:nvSpPr>
              <p:cNvPr id="85062" name="Rectangle 135"/>
              <p:cNvSpPr/>
              <p:nvPr/>
            </p:nvSpPr>
            <p:spPr>
              <a:xfrm>
                <a:off x="3288" y="3022"/>
                <a:ext cx="127" cy="318"/>
              </a:xfrm>
              <a:prstGeom prst="rect">
                <a:avLst/>
              </a:prstGeom>
              <a:gradFill rotWithShape="1">
                <a:gsLst>
                  <a:gs pos="0">
                    <a:srgbClr val="764700"/>
                  </a:gs>
                  <a:gs pos="50000">
                    <a:srgbClr val="FF9900"/>
                  </a:gs>
                  <a:gs pos="100000">
                    <a:srgbClr val="764700"/>
                  </a:gs>
                </a:gsLst>
                <a:lin ang="0" scaled="1"/>
                <a:tileRect/>
              </a:gradFill>
              <a:ln w="28575">
                <a:noFill/>
              </a:ln>
            </p:spPr>
            <p:txBody>
              <a:bodyPr wrap="none" anchor="ctr" anchorCtr="0"/>
              <a:p>
                <a:pPr>
                  <a:buClrTx/>
                  <a:buFontTx/>
                  <a:buNone/>
                </a:pPr>
                <a:endParaRPr lang="zh-CN" altLang="en-US" dirty="0">
                  <a:latin typeface="Arial" panose="020B0604020202020204" pitchFamily="34" charset="0"/>
                  <a:ea typeface="楷体_GB2312" pitchFamily="49" charset="-122"/>
                </a:endParaRPr>
              </a:p>
            </p:txBody>
          </p:sp>
        </p:grpSp>
      </p:grpSp>
      <p:sp>
        <p:nvSpPr>
          <p:cNvPr id="465033" name="Text Box 137"/>
          <p:cNvSpPr txBox="1"/>
          <p:nvPr/>
        </p:nvSpPr>
        <p:spPr>
          <a:xfrm>
            <a:off x="1978025" y="5589588"/>
            <a:ext cx="6481763" cy="519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>
              <a:spcBef>
                <a:spcPct val="50000"/>
              </a:spcBef>
              <a:buClrTx/>
              <a:buFontTx/>
              <a:buNone/>
            </a:pPr>
            <a:r>
              <a: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KVL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也适用于电路中任一假想的回路。</a:t>
            </a:r>
            <a:endParaRPr lang="zh-CN" altLang="en-US" dirty="0">
              <a:latin typeface="楷体_GB2312" pitchFamily="49" charset="-122"/>
              <a:ea typeface="楷体_GB2312" pitchFamily="49" charset="-122"/>
              <a:sym typeface="Symbol" panose="05050102010706020507" pitchFamily="18" charset="2"/>
            </a:endParaRPr>
          </a:p>
        </p:txBody>
      </p:sp>
      <p:grpSp>
        <p:nvGrpSpPr>
          <p:cNvPr id="465034" name="Group 138"/>
          <p:cNvGrpSpPr/>
          <p:nvPr/>
        </p:nvGrpSpPr>
        <p:grpSpPr>
          <a:xfrm>
            <a:off x="250825" y="5445125"/>
            <a:ext cx="1644650" cy="850900"/>
            <a:chOff x="385" y="3022"/>
            <a:chExt cx="1036" cy="536"/>
          </a:xfrm>
        </p:grpSpPr>
        <p:pic>
          <p:nvPicPr>
            <p:cNvPr id="85065" name="Picture 139" descr="12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85" y="3022"/>
              <a:ext cx="590" cy="536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85066" name="Text Box 140"/>
            <p:cNvSpPr txBox="1"/>
            <p:nvPr/>
          </p:nvSpPr>
          <p:spPr>
            <a:xfrm>
              <a:off x="793" y="3125"/>
              <a:ext cx="628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ClrTx/>
                <a:buFontTx/>
                <a:buNone/>
              </a:pPr>
              <a:r>
                <a:rPr lang="zh-CN" altLang="en-US" sz="3200" b="0" dirty="0">
                  <a:solidFill>
                    <a:srgbClr val="CC6600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注意</a:t>
              </a:r>
              <a:endParaRPr lang="zh-CN" altLang="en-US" sz="3200" b="0" dirty="0">
                <a:solidFill>
                  <a:srgbClr val="CC6600"/>
                </a:solidFill>
                <a:latin typeface="Arial" panose="020B0604020202020204" pitchFamily="34" charset="0"/>
                <a:ea typeface="华文行楷" panose="02010800040101010101" pitchFamily="2" charset="-122"/>
              </a:endParaRPr>
            </a:p>
          </p:txBody>
        </p:sp>
      </p:grpSp>
      <p:grpSp>
        <p:nvGrpSpPr>
          <p:cNvPr id="85067" name="Group 147"/>
          <p:cNvGrpSpPr/>
          <p:nvPr/>
        </p:nvGrpSpPr>
        <p:grpSpPr>
          <a:xfrm>
            <a:off x="6588125" y="6445250"/>
            <a:ext cx="792163" cy="366713"/>
            <a:chOff x="5193" y="4020"/>
            <a:chExt cx="499" cy="231"/>
          </a:xfrm>
        </p:grpSpPr>
        <p:pic>
          <p:nvPicPr>
            <p:cNvPr id="85068" name="Picture 148" descr="78900">
              <a:hlinkClick r:id="" action="ppaction://hlinkshowjump?jump=firstslide"/>
            </p:cNvPr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85069" name="Text Box 149">
              <a:hlinkClick r:id="" action="ppaction://hlinkshowjump?jump=firs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464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64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4649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464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465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2000"/>
                                        <p:tgtEl>
                                          <p:spTgt spid="465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4899" grpId="0"/>
      <p:bldP spid="464961" grpId="0"/>
      <p:bldP spid="464962" grpId="0"/>
      <p:bldP spid="464963" grpId="0"/>
      <p:bldP spid="465033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0885" name="Text Box 5"/>
          <p:cNvSpPr txBox="1"/>
          <p:nvPr/>
        </p:nvSpPr>
        <p:spPr>
          <a:xfrm>
            <a:off x="611188" y="765175"/>
            <a:ext cx="576262" cy="579438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 algn="ctr" eaLnBrk="0" hangingPunct="0">
              <a:buClrTx/>
              <a:buFontTx/>
              <a:buNone/>
            </a:pPr>
            <a:r>
              <a:rPr lang="zh-CN" altLang="en-US" sz="3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例</a:t>
            </a:r>
            <a:endParaRPr lang="zh-CN" altLang="en-US" sz="3200" dirty="0">
              <a:solidFill>
                <a:schemeClr val="tx1"/>
              </a:solidFill>
              <a:latin typeface="Times New Roman" panose="02020603050405020304" pitchFamily="18" charset="0"/>
              <a:ea typeface="仿宋_GB2312" pitchFamily="49" charset="-122"/>
              <a:sym typeface="Symbol" panose="05050102010706020507" pitchFamily="18" charset="2"/>
            </a:endParaRPr>
          </a:p>
        </p:txBody>
      </p:sp>
      <p:graphicFrame>
        <p:nvGraphicFramePr>
          <p:cNvPr id="250922" name="Object 42"/>
          <p:cNvGraphicFramePr>
            <a:graphicFrameLocks noChangeAspect="1"/>
          </p:cNvGraphicFramePr>
          <p:nvPr/>
        </p:nvGraphicFramePr>
        <p:xfrm>
          <a:off x="5364163" y="808038"/>
          <a:ext cx="3343275" cy="604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7" name="" r:id="rId1" imgW="1198245" imgH="202565" progId="Equation.3">
                  <p:embed/>
                </p:oleObj>
              </mc:Choice>
              <mc:Fallback>
                <p:oleObj name="" r:id="rId1" imgW="1198245" imgH="202565" progId="Equation.3">
                  <p:embed/>
                  <p:pic>
                    <p:nvPicPr>
                      <p:cNvPr id="0" name="图片 3186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8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364163" y="808038"/>
                        <a:ext cx="3343275" cy="6048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0924" name="Text Box 44"/>
          <p:cNvSpPr txBox="1"/>
          <p:nvPr/>
        </p:nvSpPr>
        <p:spPr>
          <a:xfrm>
            <a:off x="754063" y="3068638"/>
            <a:ext cx="7921625" cy="60483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marL="342900" indent="-342900" eaLnBrk="0" hangingPunct="0">
              <a:lnSpc>
                <a:spcPct val="120000"/>
              </a:lnSpc>
              <a:buAutoNum type="circleNumDbPlain"/>
            </a:pPr>
            <a:r>
              <a:rPr lang="en-US" altLang="zh-CN" b="0" dirty="0">
                <a:latin typeface="Times New Roman" panose="02020603050405020304" pitchFamily="18" charset="0"/>
                <a:ea typeface="仿宋_GB2312" pitchFamily="49" charset="-122"/>
              </a:rPr>
              <a:t>KVL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的实质反映了电路遵从能量守恒定律</a:t>
            </a:r>
            <a:r>
              <a:rPr lang="en-US" altLang="zh-CN" dirty="0">
                <a:latin typeface="楷体_GB2312" pitchFamily="49" charset="-122"/>
                <a:ea typeface="楷体_GB2312" pitchFamily="49" charset="-122"/>
              </a:rPr>
              <a:t>;</a:t>
            </a:r>
            <a:endParaRPr lang="en-US" altLang="zh-CN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50925" name="Text Box 45"/>
          <p:cNvSpPr txBox="1"/>
          <p:nvPr/>
        </p:nvSpPr>
        <p:spPr>
          <a:xfrm>
            <a:off x="755650" y="3598863"/>
            <a:ext cx="7921625" cy="163036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marL="342900" indent="-342900" eaLnBrk="0" hangingPunct="0">
              <a:lnSpc>
                <a:spcPct val="120000"/>
              </a:lnSpc>
              <a:buAutoNum type="circleNumDbPlain" startAt="2"/>
            </a:pPr>
            <a:r>
              <a:rPr lang="en-US" altLang="zh-CN" b="0" dirty="0">
                <a:latin typeface="Times New Roman" panose="02020603050405020304" pitchFamily="18" charset="0"/>
                <a:ea typeface="楷体_GB2312" pitchFamily="49" charset="-122"/>
              </a:rPr>
              <a:t>KVL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是对回路中的支路电压加的约束，与回路各支路上接的是什么元件无关，与电路是线性还是非线性无关；</a:t>
            </a:r>
            <a:endParaRPr lang="zh-CN" altLang="en-US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50926" name="Text Box 46"/>
          <p:cNvSpPr txBox="1"/>
          <p:nvPr/>
        </p:nvSpPr>
        <p:spPr>
          <a:xfrm>
            <a:off x="755650" y="5157788"/>
            <a:ext cx="7705725" cy="1117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marL="342900" indent="-342900" eaLnBrk="0" hangingPunct="0">
              <a:lnSpc>
                <a:spcPct val="120000"/>
              </a:lnSpc>
              <a:buAutoNum type="circleNumDbPlain" startAt="3"/>
            </a:pPr>
            <a:r>
              <a:rPr lang="en-US" altLang="zh-CN" b="0" dirty="0">
                <a:latin typeface="Times New Roman" panose="02020603050405020304" pitchFamily="18" charset="0"/>
                <a:ea typeface="仿宋_GB2312" pitchFamily="49" charset="-122"/>
              </a:rPr>
              <a:t>KVL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方程是按电压参考方向列写，与电压实际方向无关。</a:t>
            </a:r>
            <a:endParaRPr lang="zh-CN" altLang="en-US" dirty="0"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86022" name="Group 52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86023" name="Picture 53" descr="7890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86024" name="Text Box 54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86025" name="Group 55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86026" name="Picture 56" descr="7890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86027" name="Text Box 57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250941" name="Group 61"/>
          <p:cNvGrpSpPr/>
          <p:nvPr/>
        </p:nvGrpSpPr>
        <p:grpSpPr>
          <a:xfrm>
            <a:off x="468313" y="2420938"/>
            <a:ext cx="1644650" cy="850900"/>
            <a:chOff x="385" y="3022"/>
            <a:chExt cx="1036" cy="536"/>
          </a:xfrm>
        </p:grpSpPr>
        <p:pic>
          <p:nvPicPr>
            <p:cNvPr id="86029" name="Picture 62" descr="12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85" y="3022"/>
              <a:ext cx="590" cy="536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86030" name="Text Box 63"/>
            <p:cNvSpPr txBox="1"/>
            <p:nvPr/>
          </p:nvSpPr>
          <p:spPr>
            <a:xfrm>
              <a:off x="793" y="3125"/>
              <a:ext cx="628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ClrTx/>
                <a:buFontTx/>
                <a:buNone/>
              </a:pPr>
              <a:r>
                <a:rPr lang="zh-CN" altLang="en-US" sz="3200" b="0" dirty="0">
                  <a:solidFill>
                    <a:srgbClr val="CC6600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明确</a:t>
              </a:r>
              <a:endParaRPr lang="zh-CN" altLang="en-US" sz="3200" b="0" dirty="0">
                <a:solidFill>
                  <a:srgbClr val="CC6600"/>
                </a:solidFill>
                <a:latin typeface="Arial" panose="020B0604020202020204" pitchFamily="34" charset="0"/>
                <a:ea typeface="华文行楷" panose="02010800040101010101" pitchFamily="2" charset="-122"/>
              </a:endParaRPr>
            </a:p>
          </p:txBody>
        </p:sp>
      </p:grpSp>
      <p:grpSp>
        <p:nvGrpSpPr>
          <p:cNvPr id="250944" name="Group 64"/>
          <p:cNvGrpSpPr/>
          <p:nvPr/>
        </p:nvGrpSpPr>
        <p:grpSpPr>
          <a:xfrm>
            <a:off x="684213" y="692150"/>
            <a:ext cx="4752975" cy="1600200"/>
            <a:chOff x="1292" y="2205"/>
            <a:chExt cx="2994" cy="1008"/>
          </a:xfrm>
        </p:grpSpPr>
        <p:sp>
          <p:nvSpPr>
            <p:cNvPr id="86032" name="Oval 65"/>
            <p:cNvSpPr/>
            <p:nvPr/>
          </p:nvSpPr>
          <p:spPr>
            <a:xfrm>
              <a:off x="1837" y="2704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buClrTx/>
                <a:buFontTx/>
                <a:buNone/>
              </a:pPr>
              <a:endParaRPr lang="zh-CN" altLang="zh-CN" sz="2400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86033" name="Line 66"/>
            <p:cNvSpPr/>
            <p:nvPr/>
          </p:nvSpPr>
          <p:spPr>
            <a:xfrm>
              <a:off x="3152" y="2205"/>
              <a:ext cx="0" cy="363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oval" w="med" len="med"/>
            </a:ln>
          </p:spPr>
        </p:sp>
        <p:sp>
          <p:nvSpPr>
            <p:cNvPr id="86034" name="Line 67"/>
            <p:cNvSpPr/>
            <p:nvPr/>
          </p:nvSpPr>
          <p:spPr>
            <a:xfrm flipH="1" flipV="1">
              <a:off x="3152" y="2568"/>
              <a:ext cx="725" cy="226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oval" w="med" len="med"/>
              <a:tailEnd type="none" w="med" len="med"/>
            </a:ln>
          </p:spPr>
        </p:sp>
        <p:sp>
          <p:nvSpPr>
            <p:cNvPr id="86035" name="Line 68"/>
            <p:cNvSpPr/>
            <p:nvPr/>
          </p:nvSpPr>
          <p:spPr>
            <a:xfrm>
              <a:off x="1292" y="2976"/>
              <a:ext cx="318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6036" name="Line 69"/>
            <p:cNvSpPr/>
            <p:nvPr/>
          </p:nvSpPr>
          <p:spPr>
            <a:xfrm flipH="1">
              <a:off x="1610" y="2568"/>
              <a:ext cx="1542" cy="409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oval" w="med" len="med"/>
            </a:ln>
          </p:spPr>
        </p:sp>
        <p:sp>
          <p:nvSpPr>
            <p:cNvPr id="86037" name="Line 70"/>
            <p:cNvSpPr/>
            <p:nvPr/>
          </p:nvSpPr>
          <p:spPr>
            <a:xfrm>
              <a:off x="3878" y="2795"/>
              <a:ext cx="408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6038" name="Text Box 71"/>
            <p:cNvSpPr txBox="1"/>
            <p:nvPr/>
          </p:nvSpPr>
          <p:spPr>
            <a:xfrm>
              <a:off x="1383" y="2886"/>
              <a:ext cx="27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a</a:t>
              </a:r>
              <a:endParaRPr lang="en-US" altLang="zh-CN" b="0" i="1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86039" name="Text Box 72"/>
            <p:cNvSpPr txBox="1"/>
            <p:nvPr/>
          </p:nvSpPr>
          <p:spPr>
            <a:xfrm>
              <a:off x="1701" y="2341"/>
              <a:ext cx="362" cy="32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lnSpc>
                  <a:spcPct val="50000"/>
                </a:lnSpc>
                <a:buClrTx/>
                <a:buFontTx/>
                <a:buNone/>
              </a:pPr>
              <a:endParaRPr lang="en-US" altLang="zh-CN" b="0" i="1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  <a:p>
              <a:pPr algn="ctr" eaLnBrk="0" hangingPunct="0">
                <a:lnSpc>
                  <a:spcPct val="50000"/>
                </a:lnSpc>
                <a:buClrTx/>
                <a:buFontTx/>
                <a:buNone/>
              </a:pPr>
              <a:r>
                <a:rPr lang="en-US" altLang="zh-CN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U</a:t>
              </a:r>
              <a:r>
                <a:rPr lang="en-US" altLang="zh-CN" b="0" i="1" baseline="-25000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s</a:t>
              </a:r>
              <a:endParaRPr lang="en-US" altLang="zh-CN" b="0" i="1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86040" name="Text Box 73"/>
            <p:cNvSpPr txBox="1"/>
            <p:nvPr/>
          </p:nvSpPr>
          <p:spPr>
            <a:xfrm>
              <a:off x="3923" y="2795"/>
              <a:ext cx="27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b</a:t>
              </a:r>
              <a:endParaRPr lang="en-US" altLang="zh-CN" b="0" i="1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86041" name="Text Box 74"/>
            <p:cNvSpPr txBox="1"/>
            <p:nvPr/>
          </p:nvSpPr>
          <p:spPr>
            <a:xfrm rot="-1416568">
              <a:off x="1474" y="2523"/>
              <a:ext cx="27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b="0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_</a:t>
              </a:r>
              <a:endPara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86042" name="Text Box 75"/>
            <p:cNvSpPr txBox="1"/>
            <p:nvPr/>
          </p:nvSpPr>
          <p:spPr>
            <a:xfrm rot="-1008821">
              <a:off x="2245" y="2296"/>
              <a:ext cx="27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b="0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_</a:t>
              </a:r>
              <a:endPara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86043" name="Text Box 76"/>
            <p:cNvSpPr txBox="1"/>
            <p:nvPr/>
          </p:nvSpPr>
          <p:spPr>
            <a:xfrm>
              <a:off x="3152" y="2205"/>
              <a:ext cx="27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b="0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Symbol" panose="05050102010706020507" pitchFamily="18" charset="2"/>
                </a:rPr>
                <a:t>-</a:t>
              </a:r>
              <a:endParaRPr lang="en-US" altLang="zh-CN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86044" name="Text Box 77"/>
            <p:cNvSpPr txBox="1"/>
            <p:nvPr/>
          </p:nvSpPr>
          <p:spPr>
            <a:xfrm>
              <a:off x="2109" y="2478"/>
              <a:ext cx="27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b="0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+</a:t>
              </a:r>
              <a:endPara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86045" name="Text Box 78"/>
            <p:cNvSpPr txBox="1"/>
            <p:nvPr/>
          </p:nvSpPr>
          <p:spPr>
            <a:xfrm>
              <a:off x="2835" y="2251"/>
              <a:ext cx="27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b="0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+</a:t>
              </a:r>
              <a:endPara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86046" name="Text Box 79"/>
            <p:cNvSpPr txBox="1"/>
            <p:nvPr/>
          </p:nvSpPr>
          <p:spPr>
            <a:xfrm>
              <a:off x="3651" y="2432"/>
              <a:ext cx="27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b="0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+</a:t>
              </a:r>
              <a:endPara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86047" name="Text Box 80"/>
            <p:cNvSpPr txBox="1"/>
            <p:nvPr/>
          </p:nvSpPr>
          <p:spPr>
            <a:xfrm>
              <a:off x="2472" y="2251"/>
              <a:ext cx="362" cy="32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lnSpc>
                  <a:spcPct val="50000"/>
                </a:lnSpc>
                <a:buClrTx/>
                <a:buFontTx/>
                <a:buNone/>
              </a:pPr>
              <a:endParaRPr lang="en-US" altLang="zh-CN" b="0" i="1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  <a:p>
              <a:pPr algn="ctr" eaLnBrk="0" hangingPunct="0">
                <a:lnSpc>
                  <a:spcPct val="50000"/>
                </a:lnSpc>
                <a:buClrTx/>
                <a:buFontTx/>
                <a:buNone/>
              </a:pPr>
              <a:r>
                <a:rPr lang="en-US" altLang="zh-CN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U</a:t>
              </a:r>
              <a:r>
                <a:rPr lang="en-US" altLang="zh-CN" b="0" baseline="-25000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2</a:t>
              </a:r>
              <a:endPara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86048" name="Text Box 81"/>
            <p:cNvSpPr txBox="1"/>
            <p:nvPr/>
          </p:nvSpPr>
          <p:spPr>
            <a:xfrm>
              <a:off x="3334" y="2296"/>
              <a:ext cx="362" cy="32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lnSpc>
                  <a:spcPct val="50000"/>
                </a:lnSpc>
                <a:buClrTx/>
                <a:buFontTx/>
                <a:buNone/>
              </a:pPr>
              <a:endParaRPr lang="en-US" altLang="zh-CN" b="0" i="1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  <a:p>
              <a:pPr algn="ctr" eaLnBrk="0" hangingPunct="0">
                <a:lnSpc>
                  <a:spcPct val="50000"/>
                </a:lnSpc>
                <a:buClrTx/>
                <a:buFontTx/>
                <a:buNone/>
              </a:pPr>
              <a:r>
                <a:rPr lang="en-US" altLang="zh-CN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U</a:t>
              </a:r>
              <a:r>
                <a:rPr lang="en-US" altLang="zh-CN" b="0" baseline="-25000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1</a:t>
              </a:r>
              <a:endPara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86049" name="Rectangle 82"/>
            <p:cNvSpPr/>
            <p:nvPr/>
          </p:nvSpPr>
          <p:spPr>
            <a:xfrm rot="-1071388">
              <a:off x="2608" y="2614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>
                <a:buClrTx/>
                <a:buFontTx/>
                <a:buNone/>
              </a:pPr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86050" name="Rectangle 83"/>
            <p:cNvSpPr/>
            <p:nvPr/>
          </p:nvSpPr>
          <p:spPr>
            <a:xfrm rot="1236582">
              <a:off x="3288" y="2614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>
                <a:buClrTx/>
                <a:buFontTx/>
                <a:buNone/>
              </a:pPr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</p:grpSp>
      <p:grpSp>
        <p:nvGrpSpPr>
          <p:cNvPr id="250964" name="Group 84"/>
          <p:cNvGrpSpPr/>
          <p:nvPr/>
        </p:nvGrpSpPr>
        <p:grpSpPr>
          <a:xfrm>
            <a:off x="1189038" y="1628775"/>
            <a:ext cx="3816350" cy="1152525"/>
            <a:chOff x="1610" y="2795"/>
            <a:chExt cx="2404" cy="726"/>
          </a:xfrm>
        </p:grpSpPr>
        <p:sp>
          <p:nvSpPr>
            <p:cNvPr id="86052" name="Freeform 85" descr="斜纹布"/>
            <p:cNvSpPr/>
            <p:nvPr/>
          </p:nvSpPr>
          <p:spPr>
            <a:xfrm>
              <a:off x="1610" y="2795"/>
              <a:ext cx="2404" cy="650"/>
            </a:xfrm>
            <a:custGeom>
              <a:avLst/>
              <a:gdLst/>
              <a:ahLst/>
              <a:cxnLst>
                <a:cxn ang="0">
                  <a:pos x="0" y="181"/>
                </a:cxn>
                <a:cxn ang="0">
                  <a:pos x="635" y="590"/>
                </a:cxn>
                <a:cxn ang="0">
                  <a:pos x="2132" y="544"/>
                </a:cxn>
                <a:cxn ang="0">
                  <a:pos x="2268" y="0"/>
                </a:cxn>
              </a:cxnLst>
              <a:pathLst>
                <a:path w="2404" h="650">
                  <a:moveTo>
                    <a:pt x="0" y="181"/>
                  </a:moveTo>
                  <a:cubicBezTo>
                    <a:pt x="140" y="355"/>
                    <a:pt x="280" y="530"/>
                    <a:pt x="635" y="590"/>
                  </a:cubicBezTo>
                  <a:cubicBezTo>
                    <a:pt x="990" y="650"/>
                    <a:pt x="1860" y="642"/>
                    <a:pt x="2132" y="544"/>
                  </a:cubicBezTo>
                  <a:cubicBezTo>
                    <a:pt x="2404" y="446"/>
                    <a:pt x="2245" y="91"/>
                    <a:pt x="2268" y="0"/>
                  </a:cubicBezTo>
                </a:path>
              </a:pathLst>
            </a:custGeom>
            <a:noFill/>
            <a:ln w="28575" cap="flat" cmpd="sng">
              <a:solidFill>
                <a:srgbClr val="00CCFF"/>
              </a:solidFill>
              <a:prstDash val="dash"/>
              <a:round/>
              <a:headEnd type="none" w="med" len="med"/>
              <a:tailEnd type="none" w="med" len="med"/>
            </a:ln>
            <a:effectLst>
              <a:prstShdw prst="shdw17" dist="17961" dir="2699999">
                <a:schemeClr val="bg2"/>
              </a:prstShdw>
            </a:effectLst>
          </p:spPr>
          <p:txBody>
            <a:bodyPr/>
            <a:p>
              <a:endParaRPr lang="zh-CN" altLang="en-US"/>
            </a:p>
          </p:txBody>
        </p:sp>
        <p:sp>
          <p:nvSpPr>
            <p:cNvPr id="250966" name="Rectangle 86"/>
            <p:cNvSpPr>
              <a:spLocks noChangeArrowheads="1"/>
            </p:cNvSpPr>
            <p:nvPr/>
          </p:nvSpPr>
          <p:spPr bwMode="auto">
            <a:xfrm rot="5234821">
              <a:off x="2971" y="3203"/>
              <a:ext cx="182" cy="454"/>
            </a:xfrm>
            <a:prstGeom prst="rect">
              <a:avLst/>
            </a:prstGeom>
            <a:gradFill rotWithShape="1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5000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28575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endParaRPr>
            </a:p>
          </p:txBody>
        </p:sp>
      </p:grpSp>
      <p:grpSp>
        <p:nvGrpSpPr>
          <p:cNvPr id="86054" name="Group 93"/>
          <p:cNvGrpSpPr/>
          <p:nvPr/>
        </p:nvGrpSpPr>
        <p:grpSpPr>
          <a:xfrm>
            <a:off x="6588125" y="6445250"/>
            <a:ext cx="792163" cy="366713"/>
            <a:chOff x="5193" y="4020"/>
            <a:chExt cx="499" cy="231"/>
          </a:xfrm>
        </p:grpSpPr>
        <p:pic>
          <p:nvPicPr>
            <p:cNvPr id="86055" name="Picture 94" descr="78900">
              <a:hlinkClick r:id="" action="ppaction://hlinkshowjump?jump=firstslide"/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86056" name="Text Box 95">
              <a:hlinkClick r:id="" action="ppaction://hlinkshowjump?jump=firs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2509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50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0"/>
                                        <p:tgtEl>
                                          <p:spTgt spid="2509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250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100" fill="hold"/>
                                        <p:tgtEl>
                                          <p:spTgt spid="2509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" fill="hold"/>
                                        <p:tgtEl>
                                          <p:spTgt spid="2509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100" fill="hold"/>
                                        <p:tgtEl>
                                          <p:spTgt spid="2509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" fill="hold"/>
                                        <p:tgtEl>
                                          <p:spTgt spid="2509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100" fill="hold"/>
                                        <p:tgtEl>
                                          <p:spTgt spid="2509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" fill="hold"/>
                                        <p:tgtEl>
                                          <p:spTgt spid="2509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0885" grpId="0"/>
      <p:bldP spid="250924" grpId="0"/>
      <p:bldP spid="250925" grpId="0"/>
      <p:bldP spid="250926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1908" name="Text Box 4"/>
          <p:cNvSpPr txBox="1"/>
          <p:nvPr/>
        </p:nvSpPr>
        <p:spPr>
          <a:xfrm>
            <a:off x="611188" y="620713"/>
            <a:ext cx="5040312" cy="579437"/>
          </a:xfrm>
          <a:prstGeom prst="rect">
            <a:avLst/>
          </a:prstGeom>
          <a:noFill/>
          <a:ln w="12700">
            <a:noFill/>
          </a:ln>
        </p:spPr>
        <p:txBody>
          <a:bodyPr anchor="ctr" anchorCtr="0">
            <a:spAutoFit/>
          </a:bodyPr>
          <a:p>
            <a:pPr algn="ctr" eaLnBrk="0" hangingPunct="0">
              <a:spcBef>
                <a:spcPct val="50000"/>
              </a:spcBef>
              <a:buClrTx/>
              <a:buFontTx/>
              <a:buNone/>
            </a:pPr>
            <a:r>
              <a:rPr lang="en-US" altLang="zh-CN" sz="3200" dirty="0">
                <a:solidFill>
                  <a:schemeClr val="tx1"/>
                </a:solidFill>
                <a:latin typeface="仿宋_GB2312" pitchFamily="49" charset="-122"/>
                <a:ea typeface="仿宋_GB2312" pitchFamily="49" charset="-122"/>
                <a:sym typeface="Symbol" panose="05050102010706020507" pitchFamily="18" charset="2"/>
              </a:rPr>
              <a:t>4. </a:t>
            </a:r>
            <a:r>
              <a:rPr lang="en-US" altLang="zh-CN" sz="32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KCL</a:t>
            </a:r>
            <a:r>
              <a:rPr lang="zh-CN" altLang="en-US" sz="32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、</a:t>
            </a:r>
            <a:r>
              <a:rPr lang="en-US" altLang="zh-CN" sz="32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KVL</a:t>
            </a:r>
            <a:r>
              <a:rPr lang="zh-CN" altLang="en-US" sz="32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小结</a:t>
            </a:r>
            <a:r>
              <a:rPr lang="zh-CN" altLang="en-US" sz="3200" dirty="0">
                <a:solidFill>
                  <a:schemeClr val="tx1"/>
                </a:solidFill>
                <a:latin typeface="仿宋_GB2312" pitchFamily="49" charset="-122"/>
                <a:ea typeface="仿宋_GB2312" pitchFamily="49" charset="-122"/>
                <a:sym typeface="Symbol" panose="05050102010706020507" pitchFamily="18" charset="2"/>
              </a:rPr>
              <a:t>：</a:t>
            </a:r>
            <a:endParaRPr lang="zh-CN" altLang="en-US" sz="3200" dirty="0">
              <a:solidFill>
                <a:schemeClr val="tx1"/>
              </a:solidFill>
              <a:latin typeface="仿宋_GB2312" pitchFamily="49" charset="-122"/>
              <a:ea typeface="仿宋_GB2312" pitchFamily="49" charset="-122"/>
              <a:sym typeface="Symbol" panose="05050102010706020507" pitchFamily="18" charset="2"/>
            </a:endParaRPr>
          </a:p>
        </p:txBody>
      </p:sp>
      <p:sp>
        <p:nvSpPr>
          <p:cNvPr id="251909" name="Text Box 5"/>
          <p:cNvSpPr txBox="1"/>
          <p:nvPr/>
        </p:nvSpPr>
        <p:spPr>
          <a:xfrm>
            <a:off x="539750" y="1268413"/>
            <a:ext cx="7704138" cy="1117600"/>
          </a:xfrm>
          <a:prstGeom prst="rect">
            <a:avLst/>
          </a:prstGeom>
          <a:noFill/>
          <a:ln w="19050">
            <a:noFill/>
          </a:ln>
        </p:spPr>
        <p:txBody>
          <a:bodyPr anchor="ctr" anchorCtr="0">
            <a:spAutoFit/>
          </a:bodyPr>
          <a:p>
            <a:pPr marL="476250" indent="-476250" algn="just" eaLnBrk="0" hangingPunct="0">
              <a:lnSpc>
                <a:spcPct val="120000"/>
              </a:lnSpc>
              <a:spcBef>
                <a:spcPct val="50000"/>
              </a:spcBef>
              <a:buAutoNum type="circleNumDbPlain"/>
            </a:pPr>
            <a:r>
              <a:rPr lang="en-US" altLang="zh-CN" b="0" dirty="0">
                <a:latin typeface="Times New Roman" panose="02020603050405020304" pitchFamily="18" charset="0"/>
                <a:ea typeface="楷体_GB2312" pitchFamily="49" charset="-122"/>
              </a:rPr>
              <a:t>KCL</a:t>
            </a:r>
            <a:r>
              <a:rPr lang="zh-CN" altLang="zh-CN" dirty="0">
                <a:latin typeface="楷体_GB2312" pitchFamily="49" charset="-122"/>
                <a:ea typeface="楷体_GB2312" pitchFamily="49" charset="-122"/>
              </a:rPr>
              <a:t>是对支路电流的线性约束，</a:t>
            </a:r>
            <a:r>
              <a:rPr lang="en-US" altLang="zh-CN" b="0" dirty="0">
                <a:latin typeface="Times New Roman" panose="02020603050405020304" pitchFamily="18" charset="0"/>
                <a:ea typeface="楷体_GB2312" pitchFamily="49" charset="-122"/>
              </a:rPr>
              <a:t>KVL</a:t>
            </a:r>
            <a:r>
              <a:rPr lang="zh-CN" altLang="zh-CN" dirty="0">
                <a:latin typeface="楷体_GB2312" pitchFamily="49" charset="-122"/>
                <a:ea typeface="楷体_GB2312" pitchFamily="49" charset="-122"/>
              </a:rPr>
              <a:t>是对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回</a:t>
            </a:r>
            <a:r>
              <a:rPr lang="zh-CN" altLang="zh-CN" dirty="0">
                <a:latin typeface="楷体_GB2312" pitchFamily="49" charset="-122"/>
                <a:ea typeface="楷体_GB2312" pitchFamily="49" charset="-122"/>
              </a:rPr>
              <a:t>路电压的线性约束。</a:t>
            </a:r>
            <a:endParaRPr lang="zh-CN" altLang="en-US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51910" name="Text Box 6"/>
          <p:cNvSpPr txBox="1"/>
          <p:nvPr/>
        </p:nvSpPr>
        <p:spPr>
          <a:xfrm>
            <a:off x="539750" y="2420938"/>
            <a:ext cx="8280400" cy="519112"/>
          </a:xfrm>
          <a:prstGeom prst="rect">
            <a:avLst/>
          </a:prstGeom>
          <a:noFill/>
          <a:ln w="19050">
            <a:noFill/>
          </a:ln>
        </p:spPr>
        <p:txBody>
          <a:bodyPr anchor="ctr" anchorCtr="0">
            <a:spAutoFit/>
          </a:bodyPr>
          <a:p>
            <a:pPr marL="476250" indent="-476250" algn="just" eaLnBrk="0" hangingPunct="0">
              <a:spcBef>
                <a:spcPct val="50000"/>
              </a:spcBef>
              <a:buAutoNum type="circleNumDbPlain" startAt="2"/>
            </a:pPr>
            <a:r>
              <a:rPr lang="en-US" altLang="zh-CN" b="0" dirty="0">
                <a:latin typeface="Times New Roman" panose="02020603050405020304" pitchFamily="18" charset="0"/>
                <a:ea typeface="楷体_GB2312" pitchFamily="49" charset="-122"/>
              </a:rPr>
              <a:t>KCL</a:t>
            </a:r>
            <a:r>
              <a:rPr lang="zh-CN" altLang="en-US" b="0" dirty="0">
                <a:latin typeface="Times New Roman" panose="02020603050405020304" pitchFamily="18" charset="0"/>
                <a:ea typeface="楷体_GB2312" pitchFamily="49" charset="-122"/>
              </a:rPr>
              <a:t>、</a:t>
            </a:r>
            <a:r>
              <a:rPr lang="en-US" altLang="zh-CN" b="0" dirty="0">
                <a:latin typeface="Times New Roman" panose="02020603050405020304" pitchFamily="18" charset="0"/>
                <a:ea typeface="楷体_GB2312" pitchFamily="49" charset="-122"/>
              </a:rPr>
              <a:t>KVL</a:t>
            </a:r>
            <a:r>
              <a:rPr lang="zh-CN" altLang="zh-CN" dirty="0">
                <a:latin typeface="楷体_GB2312" pitchFamily="49" charset="-122"/>
                <a:ea typeface="楷体_GB2312" pitchFamily="49" charset="-122"/>
              </a:rPr>
              <a:t>与组成支路的元件性质及参数无关。</a:t>
            </a:r>
            <a:endParaRPr lang="zh-CN" altLang="en-US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51911" name="Text Box 7"/>
          <p:cNvSpPr txBox="1"/>
          <p:nvPr/>
        </p:nvSpPr>
        <p:spPr>
          <a:xfrm>
            <a:off x="539750" y="2959100"/>
            <a:ext cx="7993063" cy="1117600"/>
          </a:xfrm>
          <a:prstGeom prst="rect">
            <a:avLst/>
          </a:prstGeom>
          <a:noFill/>
          <a:ln w="19050">
            <a:noFill/>
          </a:ln>
        </p:spPr>
        <p:txBody>
          <a:bodyPr anchor="ctr" anchorCtr="0">
            <a:spAutoFit/>
          </a:bodyPr>
          <a:p>
            <a:pPr marL="476250" indent="-476250" algn="just" eaLnBrk="0" hangingPunct="0">
              <a:lnSpc>
                <a:spcPct val="120000"/>
              </a:lnSpc>
              <a:spcBef>
                <a:spcPct val="50000"/>
              </a:spcBef>
              <a:buAutoNum type="circleNumDbPlain" startAt="3"/>
            </a:pPr>
            <a:r>
              <a:rPr lang="en-US" altLang="zh-CN" b="0" dirty="0">
                <a:latin typeface="Times New Roman" panose="02020603050405020304" pitchFamily="18" charset="0"/>
                <a:ea typeface="楷体_GB2312" pitchFamily="49" charset="-122"/>
              </a:rPr>
              <a:t>KCL</a:t>
            </a:r>
            <a:r>
              <a:rPr lang="zh-CN" altLang="zh-CN" dirty="0">
                <a:latin typeface="楷体_GB2312" pitchFamily="49" charset="-122"/>
                <a:ea typeface="楷体_GB2312" pitchFamily="49" charset="-122"/>
              </a:rPr>
              <a:t>表明在每一节点上电荷是守恒的；</a:t>
            </a:r>
            <a:r>
              <a:rPr lang="en-US" altLang="zh-CN" b="0" dirty="0">
                <a:latin typeface="Times New Roman" panose="02020603050405020304" pitchFamily="18" charset="0"/>
                <a:ea typeface="楷体_GB2312" pitchFamily="49" charset="-122"/>
              </a:rPr>
              <a:t>KVL</a:t>
            </a:r>
            <a:r>
              <a:rPr lang="zh-CN" altLang="zh-CN" dirty="0">
                <a:latin typeface="楷体_GB2312" pitchFamily="49" charset="-122"/>
                <a:ea typeface="楷体_GB2312" pitchFamily="49" charset="-122"/>
              </a:rPr>
              <a:t>是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能量守恒</a:t>
            </a:r>
            <a:r>
              <a:rPr lang="zh-CN" altLang="zh-CN" dirty="0">
                <a:latin typeface="楷体_GB2312" pitchFamily="49" charset="-122"/>
                <a:ea typeface="楷体_GB2312" pitchFamily="49" charset="-122"/>
              </a:rPr>
              <a:t>的具体体现</a:t>
            </a:r>
            <a:r>
              <a:rPr lang="en-US" altLang="zh-CN" dirty="0">
                <a:latin typeface="楷体_GB2312" pitchFamily="49" charset="-122"/>
                <a:ea typeface="楷体_GB2312" pitchFamily="49" charset="-122"/>
              </a:rPr>
              <a:t>(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电压与路径无关</a:t>
            </a:r>
            <a:r>
              <a:rPr lang="en-US" altLang="zh-CN" dirty="0">
                <a:latin typeface="楷体_GB2312" pitchFamily="49" charset="-122"/>
                <a:ea typeface="楷体_GB2312" pitchFamily="49" charset="-122"/>
              </a:rPr>
              <a:t>)</a:t>
            </a:r>
            <a:r>
              <a:rPr lang="zh-CN" altLang="zh-CN" dirty="0">
                <a:latin typeface="楷体_GB2312" pitchFamily="49" charset="-122"/>
                <a:ea typeface="楷体_GB2312" pitchFamily="49" charset="-122"/>
              </a:rPr>
              <a:t>。</a:t>
            </a:r>
            <a:endParaRPr lang="zh-CN" altLang="en-US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51912" name="Text Box 8"/>
          <p:cNvSpPr txBox="1"/>
          <p:nvPr/>
        </p:nvSpPr>
        <p:spPr>
          <a:xfrm>
            <a:off x="539750" y="4133850"/>
            <a:ext cx="7416800" cy="519113"/>
          </a:xfrm>
          <a:prstGeom prst="rect">
            <a:avLst/>
          </a:prstGeom>
          <a:noFill/>
          <a:ln w="19050">
            <a:noFill/>
          </a:ln>
        </p:spPr>
        <p:txBody>
          <a:bodyPr anchor="ctr" anchorCtr="0">
            <a:spAutoFit/>
          </a:bodyPr>
          <a:p>
            <a:pPr marL="342900" indent="-342900" algn="just" eaLnBrk="0" hangingPunct="0">
              <a:spcBef>
                <a:spcPct val="50000"/>
              </a:spcBef>
              <a:buAutoNum type="circleNumDbPlain" startAt="4"/>
            </a:pPr>
            <a:r>
              <a:rPr lang="en-US" altLang="zh-CN" b="0" dirty="0">
                <a:latin typeface="Times New Roman" panose="02020603050405020304" pitchFamily="18" charset="0"/>
                <a:ea typeface="楷体_GB2312" pitchFamily="49" charset="-122"/>
              </a:rPr>
              <a:t> KCL</a:t>
            </a:r>
            <a:r>
              <a:rPr lang="zh-CN" altLang="en-US" b="0" dirty="0">
                <a:latin typeface="Times New Roman" panose="02020603050405020304" pitchFamily="18" charset="0"/>
                <a:ea typeface="楷体_GB2312" pitchFamily="49" charset="-122"/>
              </a:rPr>
              <a:t>、</a:t>
            </a:r>
            <a:r>
              <a:rPr lang="en-US" altLang="zh-CN" b="0" dirty="0">
                <a:latin typeface="Times New Roman" panose="02020603050405020304" pitchFamily="18" charset="0"/>
                <a:ea typeface="楷体_GB2312" pitchFamily="49" charset="-122"/>
              </a:rPr>
              <a:t>KVL</a:t>
            </a:r>
            <a:r>
              <a:rPr lang="zh-CN" altLang="zh-CN" dirty="0">
                <a:latin typeface="楷体_GB2312" pitchFamily="49" charset="-122"/>
                <a:ea typeface="楷体_GB2312" pitchFamily="49" charset="-122"/>
              </a:rPr>
              <a:t>只适用于集总参数的电路。</a:t>
            </a:r>
            <a:endParaRPr lang="zh-CN" altLang="en-US" dirty="0"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87046" name="Group 15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87047" name="Picture 16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87048" name="Text Box 17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87049" name="Group 18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87050" name="Picture 19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87051" name="Text Box 20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87052" name="Group 30"/>
          <p:cNvGrpSpPr/>
          <p:nvPr/>
        </p:nvGrpSpPr>
        <p:grpSpPr>
          <a:xfrm>
            <a:off x="6588125" y="6445250"/>
            <a:ext cx="792163" cy="366713"/>
            <a:chOff x="5193" y="4020"/>
            <a:chExt cx="499" cy="231"/>
          </a:xfrm>
        </p:grpSpPr>
        <p:pic>
          <p:nvPicPr>
            <p:cNvPr id="87053" name="Picture 31" descr="78900">
              <a:hlinkClick r:id="" action="ppaction://hlinkshowjump?jump=firstslide"/>
            </p:cNvPr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87054" name="Text Box 32">
              <a:hlinkClick r:id="" action="ppaction://hlinkshowjump?jump=firs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19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19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3" dur="500"/>
                                        <p:tgtEl>
                                          <p:spTgt spid="2519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8" dur="500"/>
                                        <p:tgtEl>
                                          <p:spTgt spid="2519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500"/>
                                        <p:tgtEl>
                                          <p:spTgt spid="2519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8" dur="500"/>
                                        <p:tgtEl>
                                          <p:spTgt spid="2519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1908" grpId="0"/>
      <p:bldP spid="251909" grpId="0"/>
      <p:bldP spid="251910" grpId="0"/>
      <p:bldP spid="251911" grpId="0"/>
      <p:bldP spid="251912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2933" name="Oval 5"/>
          <p:cNvSpPr/>
          <p:nvPr/>
        </p:nvSpPr>
        <p:spPr>
          <a:xfrm>
            <a:off x="3779838" y="908050"/>
            <a:ext cx="1511300" cy="1728788"/>
          </a:xfrm>
          <a:prstGeom prst="ellipse">
            <a:avLst/>
          </a:prstGeom>
          <a:noFill/>
          <a:ln w="28575" cap="flat" cmpd="sng">
            <a:solidFill>
              <a:srgbClr val="FF3300"/>
            </a:solidFill>
            <a:prstDash val="dash"/>
            <a:round/>
            <a:headEnd type="none" w="med" len="med"/>
            <a:tailEnd type="none" w="med" len="med"/>
          </a:ln>
        </p:spPr>
        <p:txBody>
          <a:bodyPr anchor="ctr" anchorCtr="0">
            <a:spAutoFit/>
          </a:bodyPr>
          <a:p>
            <a:pPr>
              <a:buClrTx/>
              <a:buFontTx/>
              <a:buNone/>
            </a:pPr>
            <a:endParaRPr lang="zh-CN" altLang="en-US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grpSp>
        <p:nvGrpSpPr>
          <p:cNvPr id="253040" name="Group 112"/>
          <p:cNvGrpSpPr/>
          <p:nvPr/>
        </p:nvGrpSpPr>
        <p:grpSpPr>
          <a:xfrm>
            <a:off x="6804025" y="4365625"/>
            <a:ext cx="1439863" cy="938213"/>
            <a:chOff x="4422" y="2750"/>
            <a:chExt cx="681" cy="591"/>
          </a:xfrm>
        </p:grpSpPr>
        <p:sp>
          <p:nvSpPr>
            <p:cNvPr id="88067" name="Text Box 105"/>
            <p:cNvSpPr txBox="1"/>
            <p:nvPr/>
          </p:nvSpPr>
          <p:spPr>
            <a:xfrm>
              <a:off x="4422" y="2976"/>
              <a:ext cx="681" cy="365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ctr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3200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i</a:t>
              </a:r>
              <a:r>
                <a:rPr lang="en-US" altLang="zh-CN" sz="3200" b="0" baseline="-250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1</a:t>
              </a:r>
              <a:r>
                <a:rPr lang="en-US" altLang="zh-CN" sz="3200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=i</a:t>
              </a:r>
              <a:r>
                <a:rPr lang="en-US" altLang="zh-CN" sz="3200" b="0" baseline="-250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2</a:t>
              </a:r>
              <a:endParaRPr lang="en-US" altLang="zh-CN" sz="32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88068" name="Text Box 106"/>
            <p:cNvSpPr txBox="1"/>
            <p:nvPr/>
          </p:nvSpPr>
          <p:spPr>
            <a:xfrm>
              <a:off x="4649" y="2750"/>
              <a:ext cx="306" cy="366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ctr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32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?</a:t>
              </a:r>
              <a:endParaRPr lang="en-US" altLang="zh-CN" sz="24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</p:grpSp>
      <p:sp>
        <p:nvSpPr>
          <p:cNvPr id="253038" name="Oval 110"/>
          <p:cNvSpPr/>
          <p:nvPr/>
        </p:nvSpPr>
        <p:spPr>
          <a:xfrm>
            <a:off x="4067175" y="2852738"/>
            <a:ext cx="2016125" cy="2520950"/>
          </a:xfrm>
          <a:prstGeom prst="ellipse">
            <a:avLst/>
          </a:prstGeom>
          <a:noFill/>
          <a:ln w="28575" cap="flat" cmpd="sng">
            <a:solidFill>
              <a:srgbClr val="FF3300"/>
            </a:solidFill>
            <a:prstDash val="dash"/>
            <a:round/>
            <a:headEnd type="none" w="med" len="med"/>
            <a:tailEnd type="none" w="med" len="med"/>
          </a:ln>
        </p:spPr>
        <p:txBody>
          <a:bodyPr anchor="ctr" anchorCtr="0">
            <a:spAutoFit/>
          </a:bodyPr>
          <a:p>
            <a:pPr>
              <a:buClrTx/>
              <a:buFontTx/>
              <a:buNone/>
            </a:pPr>
            <a:endParaRPr lang="zh-CN" altLang="en-US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grpSp>
        <p:nvGrpSpPr>
          <p:cNvPr id="253041" name="Group 113"/>
          <p:cNvGrpSpPr/>
          <p:nvPr/>
        </p:nvGrpSpPr>
        <p:grpSpPr>
          <a:xfrm>
            <a:off x="6659563" y="3068638"/>
            <a:ext cx="1666875" cy="1011237"/>
            <a:chOff x="4286" y="1570"/>
            <a:chExt cx="1050" cy="637"/>
          </a:xfrm>
        </p:grpSpPr>
        <p:sp>
          <p:nvSpPr>
            <p:cNvPr id="88071" name="Text Box 55"/>
            <p:cNvSpPr txBox="1"/>
            <p:nvPr/>
          </p:nvSpPr>
          <p:spPr>
            <a:xfrm>
              <a:off x="4286" y="1842"/>
              <a:ext cx="1050" cy="365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ctr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3200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U</a:t>
              </a:r>
              <a:r>
                <a:rPr lang="en-US" altLang="zh-CN" sz="3200" b="0" i="1" baseline="-250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A </a:t>
              </a:r>
              <a:r>
                <a:rPr lang="en-US" altLang="zh-CN" sz="3200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=U</a:t>
              </a:r>
              <a:r>
                <a:rPr lang="en-US" altLang="zh-CN" sz="3200" b="0" i="1" baseline="-250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B</a:t>
              </a:r>
              <a:endParaRPr lang="en-US" altLang="zh-CN" sz="3200" b="0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88072" name="Text Box 56"/>
            <p:cNvSpPr txBox="1"/>
            <p:nvPr/>
          </p:nvSpPr>
          <p:spPr>
            <a:xfrm>
              <a:off x="4740" y="1570"/>
              <a:ext cx="188" cy="364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ctr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32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?</a:t>
              </a:r>
              <a:endPara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</p:grpSp>
      <p:grpSp>
        <p:nvGrpSpPr>
          <p:cNvPr id="88073" name="Group 120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88074" name="Picture 121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88075" name="Text Box 122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88076" name="Group 123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88077" name="Picture 124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88078" name="Text Box 125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253057" name="Group 129"/>
          <p:cNvGrpSpPr/>
          <p:nvPr/>
        </p:nvGrpSpPr>
        <p:grpSpPr>
          <a:xfrm>
            <a:off x="468313" y="476250"/>
            <a:ext cx="1663700" cy="850900"/>
            <a:chOff x="385" y="3022"/>
            <a:chExt cx="1018" cy="536"/>
          </a:xfrm>
        </p:grpSpPr>
        <p:pic>
          <p:nvPicPr>
            <p:cNvPr id="88080" name="Picture 130" descr="12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85" y="3022"/>
              <a:ext cx="590" cy="536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88081" name="Text Box 131"/>
            <p:cNvSpPr txBox="1"/>
            <p:nvPr/>
          </p:nvSpPr>
          <p:spPr>
            <a:xfrm>
              <a:off x="793" y="3125"/>
              <a:ext cx="610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ClrTx/>
                <a:buFontTx/>
                <a:buNone/>
              </a:pPr>
              <a:r>
                <a:rPr lang="zh-CN" altLang="en-US" sz="3200" b="0" dirty="0">
                  <a:solidFill>
                    <a:srgbClr val="FF9933"/>
                  </a:solidFill>
                  <a:latin typeface="Times New Roman" panose="02020603050405020304" pitchFamily="18" charset="0"/>
                  <a:ea typeface="华文行楷" panose="02010800040101010101" pitchFamily="2" charset="-122"/>
                </a:rPr>
                <a:t>思考</a:t>
              </a:r>
              <a:endParaRPr lang="zh-CN" altLang="en-US" sz="3200" b="0" dirty="0">
                <a:solidFill>
                  <a:srgbClr val="FF9933"/>
                </a:solidFill>
                <a:latin typeface="Times New Roman" panose="02020603050405020304" pitchFamily="18" charset="0"/>
                <a:ea typeface="华文行楷" panose="02010800040101010101" pitchFamily="2" charset="-122"/>
              </a:endParaRPr>
            </a:p>
          </p:txBody>
        </p:sp>
      </p:grpSp>
      <p:sp>
        <p:nvSpPr>
          <p:cNvPr id="253061" name="Line 133"/>
          <p:cNvSpPr/>
          <p:nvPr/>
        </p:nvSpPr>
        <p:spPr>
          <a:xfrm flipV="1">
            <a:off x="3851275" y="4221163"/>
            <a:ext cx="431800" cy="503237"/>
          </a:xfrm>
          <a:prstGeom prst="line">
            <a:avLst/>
          </a:prstGeom>
          <a:ln w="38100" cap="sq" cmpd="sng">
            <a:solidFill>
              <a:srgbClr val="FF3300"/>
            </a:solidFill>
            <a:prstDash val="solid"/>
            <a:round/>
            <a:headEnd type="none" w="med" len="med"/>
            <a:tailEnd type="triangle" w="med" len="med"/>
          </a:ln>
        </p:spPr>
      </p:sp>
      <p:grpSp>
        <p:nvGrpSpPr>
          <p:cNvPr id="253062" name="Group 134"/>
          <p:cNvGrpSpPr/>
          <p:nvPr/>
        </p:nvGrpSpPr>
        <p:grpSpPr>
          <a:xfrm>
            <a:off x="755650" y="908050"/>
            <a:ext cx="4032250" cy="1295400"/>
            <a:chOff x="1882" y="1117"/>
            <a:chExt cx="2540" cy="816"/>
          </a:xfrm>
        </p:grpSpPr>
        <p:sp>
          <p:nvSpPr>
            <p:cNvPr id="253063" name="Rectangle 135"/>
            <p:cNvSpPr>
              <a:spLocks noChangeArrowheads="1"/>
            </p:cNvSpPr>
            <p:nvPr/>
          </p:nvSpPr>
          <p:spPr bwMode="auto">
            <a:xfrm>
              <a:off x="4121" y="1318"/>
              <a:ext cx="301" cy="615"/>
            </a:xfrm>
            <a:prstGeom prst="rect">
              <a:avLst/>
            </a:prstGeom>
            <a:gradFill rotWithShape="1">
              <a:gsLst>
                <a:gs pos="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 w="38100">
              <a:solidFill>
                <a:srgbClr val="FF99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endParaRPr>
            </a:p>
          </p:txBody>
        </p:sp>
        <p:sp>
          <p:nvSpPr>
            <p:cNvPr id="88085" name="Line 136"/>
            <p:cNvSpPr/>
            <p:nvPr/>
          </p:nvSpPr>
          <p:spPr>
            <a:xfrm>
              <a:off x="3228" y="1678"/>
              <a:ext cx="893" cy="0"/>
            </a:xfrm>
            <a:prstGeom prst="line">
              <a:avLst/>
            </a:prstGeom>
            <a:ln w="38100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8086" name="Line 137"/>
            <p:cNvSpPr/>
            <p:nvPr/>
          </p:nvSpPr>
          <p:spPr>
            <a:xfrm>
              <a:off x="3452" y="1678"/>
              <a:ext cx="335" cy="0"/>
            </a:xfrm>
            <a:prstGeom prst="line">
              <a:avLst/>
            </a:prstGeom>
            <a:ln w="57150" cap="flat" cmpd="sng">
              <a:solidFill>
                <a:srgbClr val="00CC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88087" name="Text Box 138"/>
            <p:cNvSpPr txBox="1"/>
            <p:nvPr/>
          </p:nvSpPr>
          <p:spPr>
            <a:xfrm>
              <a:off x="3452" y="1390"/>
              <a:ext cx="606" cy="288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ctr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I </a:t>
              </a:r>
              <a:r>
                <a:rPr lang="en-US" altLang="zh-CN" sz="24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= 0</a:t>
              </a:r>
              <a:endParaRPr lang="en-US" altLang="zh-CN" sz="24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88088" name="Text Box 139"/>
            <p:cNvSpPr txBox="1"/>
            <p:nvPr/>
          </p:nvSpPr>
          <p:spPr>
            <a:xfrm>
              <a:off x="1882" y="1434"/>
              <a:ext cx="335" cy="288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ctr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1.</a:t>
              </a:r>
              <a:endPara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88089" name="Text Box 140" descr="斜纹布"/>
            <p:cNvSpPr txBox="1"/>
            <p:nvPr/>
          </p:nvSpPr>
          <p:spPr>
            <a:xfrm>
              <a:off x="3604" y="1117"/>
              <a:ext cx="317" cy="327"/>
            </a:xfrm>
            <a:prstGeom prst="rect">
              <a:avLst/>
            </a:prstGeom>
            <a:noFill/>
            <a:ln w="28575">
              <a:noFill/>
            </a:ln>
            <a:effectLst>
              <a:prstShdw prst="shdw17" dist="17961" dir="2699999">
                <a:srgbClr val="3D5C99"/>
              </a:prstShdw>
            </a:effectLst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？</a:t>
              </a:r>
              <a:endParaRPr lang="zh-CN" altLang="en-US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253069" name="Rectangle 141"/>
            <p:cNvSpPr>
              <a:spLocks noChangeArrowheads="1"/>
            </p:cNvSpPr>
            <p:nvPr/>
          </p:nvSpPr>
          <p:spPr bwMode="auto">
            <a:xfrm>
              <a:off x="2929" y="1318"/>
              <a:ext cx="314" cy="615"/>
            </a:xfrm>
            <a:prstGeom prst="rect">
              <a:avLst/>
            </a:prstGeom>
            <a:gradFill rotWithShape="1">
              <a:gsLst>
                <a:gs pos="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 w="38100">
              <a:solidFill>
                <a:srgbClr val="FF99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endParaRPr>
            </a:p>
          </p:txBody>
        </p:sp>
      </p:grpSp>
      <p:grpSp>
        <p:nvGrpSpPr>
          <p:cNvPr id="253070" name="Group 142"/>
          <p:cNvGrpSpPr/>
          <p:nvPr/>
        </p:nvGrpSpPr>
        <p:grpSpPr>
          <a:xfrm>
            <a:off x="755650" y="2995613"/>
            <a:ext cx="5564188" cy="2117725"/>
            <a:chOff x="1565" y="2423"/>
            <a:chExt cx="3505" cy="1334"/>
          </a:xfrm>
        </p:grpSpPr>
        <p:sp>
          <p:nvSpPr>
            <p:cNvPr id="88092" name="Oval 143"/>
            <p:cNvSpPr/>
            <p:nvPr/>
          </p:nvSpPr>
          <p:spPr>
            <a:xfrm>
              <a:off x="3787" y="2976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buClrTx/>
                <a:buFontTx/>
                <a:buNone/>
              </a:pPr>
              <a:endParaRPr lang="zh-CN" altLang="zh-CN" sz="2400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88093" name="Oval 144"/>
            <p:cNvSpPr/>
            <p:nvPr/>
          </p:nvSpPr>
          <p:spPr>
            <a:xfrm>
              <a:off x="2381" y="2931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buClrTx/>
                <a:buFontTx/>
                <a:buNone/>
              </a:pPr>
              <a:endParaRPr lang="zh-CN" altLang="zh-CN" sz="2400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88094" name="Line 145"/>
            <p:cNvSpPr/>
            <p:nvPr/>
          </p:nvSpPr>
          <p:spPr>
            <a:xfrm>
              <a:off x="4558" y="3339"/>
              <a:ext cx="0" cy="221"/>
            </a:xfrm>
            <a:prstGeom prst="line">
              <a:avLst/>
            </a:prstGeom>
            <a:ln w="28575" cap="flat" cmpd="sng">
              <a:solidFill>
                <a:srgbClr val="00CC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cxnSp>
          <p:nvCxnSpPr>
            <p:cNvPr id="88095" name="AutoShape 146"/>
            <p:cNvCxnSpPr/>
            <p:nvPr/>
          </p:nvCxnSpPr>
          <p:spPr>
            <a:xfrm flipV="1">
              <a:off x="3243" y="2750"/>
              <a:ext cx="727" cy="839"/>
            </a:xfrm>
            <a:prstGeom prst="straightConnector1">
              <a:avLst/>
            </a:prstGeom>
            <a:ln w="28575" cap="flat" cmpd="sng">
              <a:solidFill>
                <a:srgbClr val="FFCC00"/>
              </a:solidFill>
              <a:prstDash val="solid"/>
              <a:round/>
              <a:headEnd type="oval" w="med" len="med"/>
              <a:tailEnd type="oval" w="med" len="med"/>
            </a:ln>
          </p:spPr>
        </p:cxnSp>
        <p:sp>
          <p:nvSpPr>
            <p:cNvPr id="88096" name="Text Box 147"/>
            <p:cNvSpPr txBox="1"/>
            <p:nvPr/>
          </p:nvSpPr>
          <p:spPr>
            <a:xfrm>
              <a:off x="3243" y="3430"/>
              <a:ext cx="235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ctr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A</a:t>
              </a:r>
              <a:endPara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88097" name="Text Box 148"/>
            <p:cNvSpPr txBox="1"/>
            <p:nvPr/>
          </p:nvSpPr>
          <p:spPr>
            <a:xfrm>
              <a:off x="3742" y="2478"/>
              <a:ext cx="258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ctr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B</a:t>
              </a:r>
              <a:endPara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88098" name="Text Box 149"/>
            <p:cNvSpPr txBox="1"/>
            <p:nvPr/>
          </p:nvSpPr>
          <p:spPr>
            <a:xfrm>
              <a:off x="2154" y="2750"/>
              <a:ext cx="188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ctr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+</a:t>
              </a:r>
              <a:endPara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88099" name="Text Box 150"/>
            <p:cNvSpPr txBox="1"/>
            <p:nvPr/>
          </p:nvSpPr>
          <p:spPr>
            <a:xfrm>
              <a:off x="2154" y="3100"/>
              <a:ext cx="188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ctr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_</a:t>
              </a:r>
              <a:endPara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88100" name="Text Box 151"/>
            <p:cNvSpPr txBox="1"/>
            <p:nvPr/>
          </p:nvSpPr>
          <p:spPr>
            <a:xfrm>
              <a:off x="2608" y="2423"/>
              <a:ext cx="512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ctr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1</a:t>
              </a:r>
              <a:endPara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88101" name="Text Box 152"/>
            <p:cNvSpPr txBox="1"/>
            <p:nvPr/>
          </p:nvSpPr>
          <p:spPr>
            <a:xfrm>
              <a:off x="1973" y="2976"/>
              <a:ext cx="499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ctr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3V</a:t>
              </a:r>
              <a:endPara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88102" name="Text Box 153"/>
            <p:cNvSpPr txBox="1"/>
            <p:nvPr/>
          </p:nvSpPr>
          <p:spPr>
            <a:xfrm>
              <a:off x="4105" y="2753"/>
              <a:ext cx="188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ctr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+</a:t>
              </a:r>
              <a:endPara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88103" name="Text Box 154"/>
            <p:cNvSpPr txBox="1"/>
            <p:nvPr/>
          </p:nvSpPr>
          <p:spPr>
            <a:xfrm>
              <a:off x="4105" y="3103"/>
              <a:ext cx="188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ctr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_</a:t>
              </a:r>
              <a:endPara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88104" name="Text Box 155"/>
            <p:cNvSpPr txBox="1"/>
            <p:nvPr/>
          </p:nvSpPr>
          <p:spPr>
            <a:xfrm>
              <a:off x="4105" y="2975"/>
              <a:ext cx="453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ctr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2V</a:t>
              </a:r>
              <a:endPara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88105" name="Rectangle 156"/>
            <p:cNvSpPr/>
            <p:nvPr/>
          </p:nvSpPr>
          <p:spPr>
            <a:xfrm>
              <a:off x="1565" y="2886"/>
              <a:ext cx="284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anchor="ctr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Wingdings 2" panose="05020102010507070707" pitchFamily="18" charset="2"/>
                </a:rPr>
                <a:t>2.</a:t>
              </a:r>
              <a:endPara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Wingdings 2" panose="05020102010507070707" pitchFamily="18" charset="2"/>
              </a:endParaRPr>
            </a:p>
          </p:txBody>
        </p:sp>
        <p:sp>
          <p:nvSpPr>
            <p:cNvPr id="88106" name="Text Box 157"/>
            <p:cNvSpPr txBox="1"/>
            <p:nvPr/>
          </p:nvSpPr>
          <p:spPr>
            <a:xfrm>
              <a:off x="4604" y="3249"/>
              <a:ext cx="329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ctr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r>
                <a:rPr lang="en-US" altLang="zh-CN" b="0" baseline="-250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8107" name="Rectangle 158" descr="斜纹布"/>
            <p:cNvSpPr/>
            <p:nvPr/>
          </p:nvSpPr>
          <p:spPr>
            <a:xfrm>
              <a:off x="2562" y="2750"/>
              <a:ext cx="681" cy="862"/>
            </a:xfrm>
            <a:prstGeom prst="rect">
              <a:avLst/>
            </a:prstGeom>
            <a:noFill/>
            <a:ln w="28575" cap="sq" cmpd="sng">
              <a:solidFill>
                <a:srgbClr val="FFCC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  <a:buNone/>
              </a:pPr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88108" name="Rectangle 159" descr="斜纹布"/>
            <p:cNvSpPr/>
            <p:nvPr/>
          </p:nvSpPr>
          <p:spPr>
            <a:xfrm>
              <a:off x="3968" y="2750"/>
              <a:ext cx="681" cy="862"/>
            </a:xfrm>
            <a:prstGeom prst="rect">
              <a:avLst/>
            </a:prstGeom>
            <a:noFill/>
            <a:ln w="28575" cap="sq" cmpd="sng">
              <a:solidFill>
                <a:srgbClr val="FFCC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  <a:buNone/>
              </a:pPr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88109" name="Rectangle 160"/>
            <p:cNvSpPr/>
            <p:nvPr/>
          </p:nvSpPr>
          <p:spPr>
            <a:xfrm>
              <a:off x="4150" y="2704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>
                <a:buClrTx/>
                <a:buFontTx/>
                <a:buNone/>
              </a:pPr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88110" name="Rectangle 161"/>
            <p:cNvSpPr/>
            <p:nvPr/>
          </p:nvSpPr>
          <p:spPr>
            <a:xfrm>
              <a:off x="2744" y="3521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>
                <a:buClrTx/>
                <a:buFontTx/>
                <a:buNone/>
              </a:pPr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88111" name="Rectangle 162"/>
            <p:cNvSpPr/>
            <p:nvPr/>
          </p:nvSpPr>
          <p:spPr>
            <a:xfrm>
              <a:off x="2744" y="2704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>
                <a:buClrTx/>
                <a:buFontTx/>
                <a:buNone/>
              </a:pPr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88112" name="Rectangle 163"/>
            <p:cNvSpPr/>
            <p:nvPr/>
          </p:nvSpPr>
          <p:spPr>
            <a:xfrm>
              <a:off x="4558" y="2976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>
                <a:buClrTx/>
                <a:buFontTx/>
                <a:buNone/>
              </a:pPr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88113" name="Rectangle 164"/>
            <p:cNvSpPr/>
            <p:nvPr/>
          </p:nvSpPr>
          <p:spPr>
            <a:xfrm>
              <a:off x="3152" y="2976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>
                <a:buClrTx/>
                <a:buFontTx/>
                <a:buNone/>
              </a:pPr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88114" name="Text Box 165"/>
            <p:cNvSpPr txBox="1"/>
            <p:nvPr/>
          </p:nvSpPr>
          <p:spPr>
            <a:xfrm>
              <a:off x="2731" y="2931"/>
              <a:ext cx="512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ctr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1</a:t>
              </a:r>
              <a:endPara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88115" name="Text Box 166"/>
            <p:cNvSpPr txBox="1"/>
            <p:nvPr/>
          </p:nvSpPr>
          <p:spPr>
            <a:xfrm>
              <a:off x="4558" y="2976"/>
              <a:ext cx="512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ctr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1</a:t>
              </a:r>
              <a:endPara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88116" name="Text Box 167"/>
            <p:cNvSpPr txBox="1"/>
            <p:nvPr/>
          </p:nvSpPr>
          <p:spPr>
            <a:xfrm>
              <a:off x="4059" y="2432"/>
              <a:ext cx="512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ctr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1</a:t>
              </a:r>
              <a:endPara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88117" name="Text Box 168"/>
            <p:cNvSpPr txBox="1"/>
            <p:nvPr/>
          </p:nvSpPr>
          <p:spPr>
            <a:xfrm>
              <a:off x="2608" y="3249"/>
              <a:ext cx="512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ctr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1</a:t>
              </a:r>
              <a:endPara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88118" name="Rectangle 169"/>
            <p:cNvSpPr/>
            <p:nvPr/>
          </p:nvSpPr>
          <p:spPr>
            <a:xfrm rot="-2967504">
              <a:off x="3423" y="3156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>
                <a:buClrTx/>
                <a:buFontTx/>
                <a:buNone/>
              </a:pPr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88119" name="Text Box 170"/>
            <p:cNvSpPr txBox="1"/>
            <p:nvPr/>
          </p:nvSpPr>
          <p:spPr>
            <a:xfrm>
              <a:off x="3152" y="2922"/>
              <a:ext cx="512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ctr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b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1</a:t>
              </a:r>
              <a:endPara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</p:grpSp>
      <p:grpSp>
        <p:nvGrpSpPr>
          <p:cNvPr id="253103" name="Group 175"/>
          <p:cNvGrpSpPr/>
          <p:nvPr/>
        </p:nvGrpSpPr>
        <p:grpSpPr>
          <a:xfrm>
            <a:off x="2124075" y="4868863"/>
            <a:ext cx="3671888" cy="576262"/>
            <a:chOff x="1338" y="3067"/>
            <a:chExt cx="2313" cy="363"/>
          </a:xfrm>
        </p:grpSpPr>
        <p:sp>
          <p:nvSpPr>
            <p:cNvPr id="88121" name="Line 171"/>
            <p:cNvSpPr/>
            <p:nvPr/>
          </p:nvSpPr>
          <p:spPr>
            <a:xfrm>
              <a:off x="1474" y="3067"/>
              <a:ext cx="0" cy="363"/>
            </a:xfrm>
            <a:prstGeom prst="line">
              <a:avLst/>
            </a:prstGeom>
            <a:ln w="38100" cap="sq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8122" name="Line 172"/>
            <p:cNvSpPr/>
            <p:nvPr/>
          </p:nvSpPr>
          <p:spPr>
            <a:xfrm flipH="1">
              <a:off x="1338" y="3430"/>
              <a:ext cx="227" cy="0"/>
            </a:xfrm>
            <a:prstGeom prst="line">
              <a:avLst/>
            </a:prstGeom>
            <a:ln w="38100" cap="sq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8123" name="Line 173"/>
            <p:cNvSpPr/>
            <p:nvPr/>
          </p:nvSpPr>
          <p:spPr>
            <a:xfrm>
              <a:off x="3560" y="3067"/>
              <a:ext cx="0" cy="363"/>
            </a:xfrm>
            <a:prstGeom prst="line">
              <a:avLst/>
            </a:prstGeom>
            <a:ln w="38100" cap="sq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8124" name="Line 174"/>
            <p:cNvSpPr/>
            <p:nvPr/>
          </p:nvSpPr>
          <p:spPr>
            <a:xfrm flipH="1">
              <a:off x="3424" y="3430"/>
              <a:ext cx="227" cy="0"/>
            </a:xfrm>
            <a:prstGeom prst="line">
              <a:avLst/>
            </a:prstGeom>
            <a:ln w="38100" cap="sq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253108" name="Group 180"/>
          <p:cNvGrpSpPr/>
          <p:nvPr/>
        </p:nvGrpSpPr>
        <p:grpSpPr>
          <a:xfrm>
            <a:off x="3348038" y="3213100"/>
            <a:ext cx="719137" cy="579438"/>
            <a:chOff x="2109" y="2024"/>
            <a:chExt cx="453" cy="365"/>
          </a:xfrm>
        </p:grpSpPr>
        <p:sp>
          <p:nvSpPr>
            <p:cNvPr id="88126" name="Line 176"/>
            <p:cNvSpPr/>
            <p:nvPr/>
          </p:nvSpPr>
          <p:spPr>
            <a:xfrm>
              <a:off x="2200" y="2160"/>
              <a:ext cx="0" cy="227"/>
            </a:xfrm>
            <a:prstGeom prst="line">
              <a:avLst/>
            </a:prstGeom>
            <a:ln w="28575" cap="sq" cmpd="sng">
              <a:solidFill>
                <a:srgbClr val="00CC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88127" name="Text Box 178"/>
            <p:cNvSpPr txBox="1"/>
            <p:nvPr/>
          </p:nvSpPr>
          <p:spPr>
            <a:xfrm>
              <a:off x="2109" y="2024"/>
              <a:ext cx="453" cy="365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ctr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3200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i</a:t>
              </a:r>
              <a:r>
                <a:rPr lang="en-US" altLang="zh-CN" sz="3200" b="0" baseline="-250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2</a:t>
              </a:r>
              <a:endParaRPr lang="en-US" altLang="zh-CN" sz="32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</p:grpSp>
      <p:grpSp>
        <p:nvGrpSpPr>
          <p:cNvPr id="88128" name="Group 187"/>
          <p:cNvGrpSpPr/>
          <p:nvPr/>
        </p:nvGrpSpPr>
        <p:grpSpPr>
          <a:xfrm>
            <a:off x="6588125" y="6445250"/>
            <a:ext cx="792163" cy="366713"/>
            <a:chOff x="5193" y="4020"/>
            <a:chExt cx="499" cy="231"/>
          </a:xfrm>
        </p:grpSpPr>
        <p:pic>
          <p:nvPicPr>
            <p:cNvPr id="88129" name="Picture 188" descr="78900">
              <a:hlinkClick r:id="" action="ppaction://hlinkshowjump?jump=firstslide"/>
            </p:cNvPr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88130" name="Text Box 189">
              <a:hlinkClick r:id="" action="ppaction://hlinkshowjump?jump=firs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530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53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70" decel="100000"/>
                                        <p:tgtEl>
                                          <p:spTgt spid="25293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8" dur="770" decel="100000"/>
                                        <p:tgtEl>
                                          <p:spTgt spid="252933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19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252933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20" dur="770" fill="hold"/>
                                        <p:tgtEl>
                                          <p:spTgt spid="2529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21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2529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22" dur="770" fill="hold"/>
                                        <p:tgtEl>
                                          <p:spTgt spid="2529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23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2529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52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253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530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530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770" decel="100000"/>
                                        <p:tgtEl>
                                          <p:spTgt spid="25303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9" dur="770" decel="100000"/>
                                        <p:tgtEl>
                                          <p:spTgt spid="253038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40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253038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41" dur="770" fill="hold"/>
                                        <p:tgtEl>
                                          <p:spTgt spid="2530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42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2530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43" dur="770" fill="hold"/>
                                        <p:tgtEl>
                                          <p:spTgt spid="2530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44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2530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53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531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531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2531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531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000"/>
                            </p:stCondLst>
                            <p:childTnLst>
                              <p:par>
                                <p:cTn id="58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2530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530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253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2933" grpId="0" animBg="1"/>
      <p:bldP spid="253038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53977" name="Object 25"/>
          <p:cNvGraphicFramePr>
            <a:graphicFrameLocks noChangeAspect="1"/>
          </p:cNvGraphicFramePr>
          <p:nvPr/>
        </p:nvGraphicFramePr>
        <p:xfrm>
          <a:off x="1331913" y="5157788"/>
          <a:ext cx="2592387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2" name="" r:id="rId1" imgW="1082040" imgH="191135" progId="Equation.3">
                  <p:embed/>
                </p:oleObj>
              </mc:Choice>
              <mc:Fallback>
                <p:oleObj name="" r:id="rId1" imgW="1082040" imgH="191135" progId="Equation.3">
                  <p:embed/>
                  <p:pic>
                    <p:nvPicPr>
                      <p:cNvPr id="0" name="图片 3191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8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331913" y="5157788"/>
                        <a:ext cx="2592387" cy="4921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4009" name="Object 57"/>
          <p:cNvGraphicFramePr>
            <a:graphicFrameLocks noChangeAspect="1"/>
          </p:cNvGraphicFramePr>
          <p:nvPr/>
        </p:nvGraphicFramePr>
        <p:xfrm>
          <a:off x="4787900" y="5157788"/>
          <a:ext cx="3671888" cy="427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4" name="" r:id="rId3" imgW="1475740" imgH="156210" progId="Equation.3">
                  <p:embed/>
                </p:oleObj>
              </mc:Choice>
              <mc:Fallback>
                <p:oleObj name="" r:id="rId3" imgW="1475740" imgH="156210" progId="Equation.3">
                  <p:embed/>
                  <p:pic>
                    <p:nvPicPr>
                      <p:cNvPr id="0" name="图片 3193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8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787900" y="5157788"/>
                        <a:ext cx="3671888" cy="4270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4010" name="Oval 58" descr="斜纹布"/>
          <p:cNvSpPr/>
          <p:nvPr/>
        </p:nvSpPr>
        <p:spPr>
          <a:xfrm>
            <a:off x="1042988" y="1439863"/>
            <a:ext cx="3168650" cy="3068637"/>
          </a:xfrm>
          <a:prstGeom prst="ellipse">
            <a:avLst/>
          </a:prstGeom>
          <a:noFill/>
          <a:ln w="28575" cap="flat" cmpd="sng">
            <a:solidFill>
              <a:srgbClr val="FF3300"/>
            </a:solidFill>
            <a:prstDash val="dash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pPr>
              <a:buClrTx/>
              <a:buFontTx/>
              <a:buNone/>
            </a:pPr>
            <a:endParaRPr lang="zh-CN" altLang="en-US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grpSp>
        <p:nvGrpSpPr>
          <p:cNvPr id="89092" name="Group 116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89093" name="Picture 117" descr="7890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89094" name="Text Box 118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89095" name="Group 119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89096" name="Picture 120" descr="7890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89097" name="Text Box 121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254193" name="Group 241"/>
          <p:cNvGrpSpPr/>
          <p:nvPr/>
        </p:nvGrpSpPr>
        <p:grpSpPr>
          <a:xfrm>
            <a:off x="5076825" y="1341438"/>
            <a:ext cx="3679825" cy="2376487"/>
            <a:chOff x="3243" y="527"/>
            <a:chExt cx="2318" cy="1497"/>
          </a:xfrm>
        </p:grpSpPr>
        <p:graphicFrame>
          <p:nvGraphicFramePr>
            <p:cNvPr id="89099" name="Object 150"/>
            <p:cNvGraphicFramePr>
              <a:graphicFrameLocks noChangeAspect="1"/>
            </p:cNvGraphicFramePr>
            <p:nvPr/>
          </p:nvGraphicFramePr>
          <p:xfrm>
            <a:off x="5239" y="1298"/>
            <a:ext cx="322" cy="6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90" name="" r:id="rId6" imgW="225425" imgH="468630" progId="Equation.3">
                    <p:embed/>
                  </p:oleObj>
                </mc:Choice>
                <mc:Fallback>
                  <p:oleObj name="" r:id="rId6" imgW="225425" imgH="468630" progId="Equation.3">
                    <p:embed/>
                    <p:pic>
                      <p:nvPicPr>
                        <p:cNvPr id="0" name="图片 3189"/>
                        <p:cNvPicPr/>
                        <p:nvPr/>
                      </p:nvPicPr>
                      <p:blipFill>
                        <a:blip r:embed="rId7">
                          <a:clrChange>
                            <a:clrFrom>
                              <a:srgbClr val="000000"/>
                            </a:clrFrom>
                            <a:clrTo>
                              <a:srgbClr val="00008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5239" y="1298"/>
                          <a:ext cx="322" cy="67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9100" name="Object 151"/>
            <p:cNvGraphicFramePr>
              <a:graphicFrameLocks noChangeAspect="1"/>
            </p:cNvGraphicFramePr>
            <p:nvPr/>
          </p:nvGraphicFramePr>
          <p:xfrm>
            <a:off x="4241" y="1298"/>
            <a:ext cx="772" cy="2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91" name="" r:id="rId8" imgW="480060" imgH="121285" progId="Equation.3">
                    <p:embed/>
                  </p:oleObj>
                </mc:Choice>
                <mc:Fallback>
                  <p:oleObj name="" r:id="rId8" imgW="480060" imgH="121285" progId="Equation.3">
                    <p:embed/>
                    <p:pic>
                      <p:nvPicPr>
                        <p:cNvPr id="0" name="图片 3190"/>
                        <p:cNvPicPr/>
                        <p:nvPr/>
                      </p:nvPicPr>
                      <p:blipFill>
                        <a:blip r:embed="rId9">
                          <a:clrChange>
                            <a:clrFrom>
                              <a:srgbClr val="000000"/>
                            </a:clrFrom>
                            <a:clrTo>
                              <a:srgbClr val="00008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241" y="1298"/>
                          <a:ext cx="772" cy="22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9101" name="Object 152"/>
            <p:cNvGraphicFramePr>
              <a:graphicFrameLocks noChangeAspect="1"/>
            </p:cNvGraphicFramePr>
            <p:nvPr/>
          </p:nvGraphicFramePr>
          <p:xfrm>
            <a:off x="4377" y="1389"/>
            <a:ext cx="507" cy="2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89" name="" r:id="rId10" imgW="329565" imgH="156210" progId="Equation.3">
                    <p:embed/>
                  </p:oleObj>
                </mc:Choice>
                <mc:Fallback>
                  <p:oleObj name="" r:id="rId10" imgW="329565" imgH="156210" progId="Equation.3">
                    <p:embed/>
                    <p:pic>
                      <p:nvPicPr>
                        <p:cNvPr id="0" name="图片 3188"/>
                        <p:cNvPicPr/>
                        <p:nvPr/>
                      </p:nvPicPr>
                      <p:blipFill>
                        <a:blip r:embed="rId11">
                          <a:clrChange>
                            <a:clrFrom>
                              <a:srgbClr val="000000"/>
                            </a:clrFrom>
                            <a:clrTo>
                              <a:srgbClr val="00008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377" y="1389"/>
                          <a:ext cx="507" cy="26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9102" name="Object 153"/>
            <p:cNvGraphicFramePr>
              <a:graphicFrameLocks noChangeAspect="1"/>
            </p:cNvGraphicFramePr>
            <p:nvPr/>
          </p:nvGraphicFramePr>
          <p:xfrm>
            <a:off x="4196" y="573"/>
            <a:ext cx="390" cy="6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88" name="" r:id="rId12" imgW="295275" imgH="468630" progId="Equation.3">
                    <p:embed/>
                  </p:oleObj>
                </mc:Choice>
                <mc:Fallback>
                  <p:oleObj name="" r:id="rId12" imgW="295275" imgH="468630" progId="Equation.3">
                    <p:embed/>
                    <p:pic>
                      <p:nvPicPr>
                        <p:cNvPr id="0" name="图片 3187"/>
                        <p:cNvPicPr/>
                        <p:nvPr/>
                      </p:nvPicPr>
                      <p:blipFill>
                        <a:blip r:embed="rId13">
                          <a:clrChange>
                            <a:clrFrom>
                              <a:srgbClr val="000000"/>
                            </a:clrFrom>
                            <a:clrTo>
                              <a:srgbClr val="00008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196" y="573"/>
                          <a:ext cx="390" cy="63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9103" name="Rectangle 154" descr="斜纹布"/>
            <p:cNvSpPr/>
            <p:nvPr/>
          </p:nvSpPr>
          <p:spPr>
            <a:xfrm>
              <a:off x="3697" y="527"/>
              <a:ext cx="1406" cy="1497"/>
            </a:xfrm>
            <a:prstGeom prst="rect">
              <a:avLst/>
            </a:prstGeom>
            <a:noFill/>
            <a:ln w="28575" cap="sq" cmpd="sng">
              <a:solidFill>
                <a:srgbClr val="FFCC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  <a:buNone/>
              </a:pPr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89104" name="Line 155"/>
            <p:cNvSpPr/>
            <p:nvPr/>
          </p:nvSpPr>
          <p:spPr>
            <a:xfrm>
              <a:off x="4150" y="527"/>
              <a:ext cx="0" cy="1497"/>
            </a:xfrm>
            <a:prstGeom prst="line">
              <a:avLst/>
            </a:prstGeom>
            <a:ln w="28575" cap="sq" cmpd="sng">
              <a:solidFill>
                <a:srgbClr val="FFCC00"/>
              </a:solidFill>
              <a:prstDash val="solid"/>
              <a:round/>
              <a:headEnd type="oval" w="med" len="med"/>
              <a:tailEnd type="oval" w="med" len="med"/>
            </a:ln>
          </p:spPr>
        </p:sp>
        <p:grpSp>
          <p:nvGrpSpPr>
            <p:cNvPr id="89105" name="Group 156"/>
            <p:cNvGrpSpPr/>
            <p:nvPr/>
          </p:nvGrpSpPr>
          <p:grpSpPr>
            <a:xfrm>
              <a:off x="4150" y="1253"/>
              <a:ext cx="277" cy="82"/>
              <a:chOff x="2200" y="3385"/>
              <a:chExt cx="453" cy="90"/>
            </a:xfrm>
          </p:grpSpPr>
          <p:sp>
            <p:nvSpPr>
              <p:cNvPr id="89106" name="Oval 157"/>
              <p:cNvSpPr/>
              <p:nvPr/>
            </p:nvSpPr>
            <p:spPr>
              <a:xfrm>
                <a:off x="2562" y="3385"/>
                <a:ext cx="91" cy="90"/>
              </a:xfrm>
              <a:prstGeom prst="ellipse">
                <a:avLst/>
              </a:prstGeom>
              <a:noFill/>
              <a:ln w="28575" cap="sq" cmpd="sng">
                <a:solidFill>
                  <a:srgbClr val="FFCC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ClrTx/>
                  <a:buFontTx/>
                  <a:buNone/>
                </a:pPr>
                <a:endParaRPr lang="zh-CN" altLang="en-US" dirty="0">
                  <a:latin typeface="Arial" panose="020B0604020202020204" pitchFamily="34" charset="0"/>
                  <a:ea typeface="楷体_GB2312" pitchFamily="49" charset="-122"/>
                </a:endParaRPr>
              </a:p>
            </p:txBody>
          </p:sp>
          <p:sp>
            <p:nvSpPr>
              <p:cNvPr id="89107" name="Line 158"/>
              <p:cNvSpPr/>
              <p:nvPr/>
            </p:nvSpPr>
            <p:spPr>
              <a:xfrm>
                <a:off x="2200" y="3430"/>
                <a:ext cx="362" cy="0"/>
              </a:xfrm>
              <a:prstGeom prst="line">
                <a:avLst/>
              </a:prstGeom>
              <a:ln w="28575" cap="sq" cmpd="sng">
                <a:solidFill>
                  <a:srgbClr val="FFCC00"/>
                </a:solidFill>
                <a:prstDash val="solid"/>
                <a:round/>
                <a:headEnd type="oval" w="med" len="med"/>
                <a:tailEnd type="none" w="med" len="med"/>
              </a:ln>
            </p:spPr>
          </p:sp>
        </p:grpSp>
        <p:grpSp>
          <p:nvGrpSpPr>
            <p:cNvPr id="89108" name="Group 159"/>
            <p:cNvGrpSpPr/>
            <p:nvPr/>
          </p:nvGrpSpPr>
          <p:grpSpPr>
            <a:xfrm rot="10800000">
              <a:off x="4787" y="1253"/>
              <a:ext cx="316" cy="82"/>
              <a:chOff x="2200" y="3385"/>
              <a:chExt cx="453" cy="90"/>
            </a:xfrm>
          </p:grpSpPr>
          <p:sp>
            <p:nvSpPr>
              <p:cNvPr id="89109" name="Oval 160"/>
              <p:cNvSpPr/>
              <p:nvPr/>
            </p:nvSpPr>
            <p:spPr>
              <a:xfrm>
                <a:off x="2562" y="3385"/>
                <a:ext cx="91" cy="90"/>
              </a:xfrm>
              <a:prstGeom prst="ellipse">
                <a:avLst/>
              </a:prstGeom>
              <a:noFill/>
              <a:ln w="28575" cap="sq" cmpd="sng">
                <a:solidFill>
                  <a:srgbClr val="FFCC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ClrTx/>
                  <a:buFontTx/>
                  <a:buNone/>
                </a:pPr>
                <a:endParaRPr lang="zh-CN" altLang="en-US" dirty="0">
                  <a:latin typeface="Arial" panose="020B0604020202020204" pitchFamily="34" charset="0"/>
                  <a:ea typeface="楷体_GB2312" pitchFamily="49" charset="-122"/>
                </a:endParaRPr>
              </a:p>
            </p:txBody>
          </p:sp>
          <p:sp>
            <p:nvSpPr>
              <p:cNvPr id="89110" name="Line 161"/>
              <p:cNvSpPr/>
              <p:nvPr/>
            </p:nvSpPr>
            <p:spPr>
              <a:xfrm>
                <a:off x="2200" y="3430"/>
                <a:ext cx="362" cy="0"/>
              </a:xfrm>
              <a:prstGeom prst="line">
                <a:avLst/>
              </a:prstGeom>
              <a:ln w="28575" cap="sq" cmpd="sng">
                <a:solidFill>
                  <a:srgbClr val="FFCC00"/>
                </a:solidFill>
                <a:prstDash val="solid"/>
                <a:round/>
                <a:headEnd type="oval" w="med" len="med"/>
                <a:tailEnd type="none" w="med" len="med"/>
              </a:ln>
            </p:spPr>
          </p:sp>
        </p:grpSp>
        <p:graphicFrame>
          <p:nvGraphicFramePr>
            <p:cNvPr id="89111" name="Object 162"/>
            <p:cNvGraphicFramePr>
              <a:graphicFrameLocks noChangeAspect="1"/>
            </p:cNvGraphicFramePr>
            <p:nvPr/>
          </p:nvGraphicFramePr>
          <p:xfrm>
            <a:off x="3243" y="981"/>
            <a:ext cx="389" cy="6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93" name="" r:id="rId14" imgW="306705" imgH="468630" progId="Equation.3">
                    <p:embed/>
                  </p:oleObj>
                </mc:Choice>
                <mc:Fallback>
                  <p:oleObj name="" r:id="rId14" imgW="306705" imgH="468630" progId="Equation.3">
                    <p:embed/>
                    <p:pic>
                      <p:nvPicPr>
                        <p:cNvPr id="0" name="图片 3192"/>
                        <p:cNvPicPr/>
                        <p:nvPr/>
                      </p:nvPicPr>
                      <p:blipFill>
                        <a:blip r:embed="rId15">
                          <a:clrChange>
                            <a:clrFrom>
                              <a:srgbClr val="000000"/>
                            </a:clrFrom>
                            <a:clrTo>
                              <a:srgbClr val="00008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243" y="981"/>
                          <a:ext cx="389" cy="60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9112" name="Rectangle 164"/>
            <p:cNvSpPr/>
            <p:nvPr/>
          </p:nvSpPr>
          <p:spPr>
            <a:xfrm>
              <a:off x="4060" y="1525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>
                <a:buClrTx/>
                <a:buFontTx/>
                <a:buNone/>
              </a:pPr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89113" name="Rectangle 165"/>
            <p:cNvSpPr/>
            <p:nvPr/>
          </p:nvSpPr>
          <p:spPr>
            <a:xfrm>
              <a:off x="5058" y="709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>
                <a:buClrTx/>
                <a:buFontTx/>
                <a:buNone/>
              </a:pPr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89114" name="Rectangle 166"/>
            <p:cNvSpPr/>
            <p:nvPr/>
          </p:nvSpPr>
          <p:spPr>
            <a:xfrm>
              <a:off x="4060" y="754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>
                <a:buClrTx/>
                <a:buFontTx/>
                <a:buNone/>
              </a:pPr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89115" name="Rectangle 167"/>
            <p:cNvSpPr/>
            <p:nvPr/>
          </p:nvSpPr>
          <p:spPr>
            <a:xfrm>
              <a:off x="3651" y="1117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>
                <a:buClrTx/>
                <a:buFontTx/>
                <a:buNone/>
              </a:pPr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89116" name="Rectangle 168"/>
            <p:cNvSpPr/>
            <p:nvPr/>
          </p:nvSpPr>
          <p:spPr>
            <a:xfrm>
              <a:off x="5058" y="1525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>
                <a:buClrTx/>
                <a:buFontTx/>
                <a:buNone/>
              </a:pPr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</p:grpSp>
      <p:grpSp>
        <p:nvGrpSpPr>
          <p:cNvPr id="254129" name="Group 177"/>
          <p:cNvGrpSpPr/>
          <p:nvPr/>
        </p:nvGrpSpPr>
        <p:grpSpPr>
          <a:xfrm>
            <a:off x="6011863" y="1628775"/>
            <a:ext cx="1800225" cy="1871663"/>
            <a:chOff x="3833" y="663"/>
            <a:chExt cx="1134" cy="1179"/>
          </a:xfrm>
        </p:grpSpPr>
        <p:sp>
          <p:nvSpPr>
            <p:cNvPr id="89118" name="Line 172"/>
            <p:cNvSpPr/>
            <p:nvPr/>
          </p:nvSpPr>
          <p:spPr>
            <a:xfrm>
              <a:off x="3833" y="663"/>
              <a:ext cx="0" cy="907"/>
            </a:xfrm>
            <a:prstGeom prst="line">
              <a:avLst/>
            </a:prstGeom>
            <a:ln w="28575" cap="sq" cmpd="sng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9119" name="Line 173"/>
            <p:cNvSpPr/>
            <p:nvPr/>
          </p:nvSpPr>
          <p:spPr>
            <a:xfrm>
              <a:off x="4014" y="1162"/>
              <a:ext cx="953" cy="0"/>
            </a:xfrm>
            <a:prstGeom prst="line">
              <a:avLst/>
            </a:prstGeom>
            <a:ln w="28575" cap="sq" cmpd="sng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9120" name="Line 174"/>
            <p:cNvSpPr/>
            <p:nvPr/>
          </p:nvSpPr>
          <p:spPr>
            <a:xfrm>
              <a:off x="4014" y="663"/>
              <a:ext cx="0" cy="499"/>
            </a:xfrm>
            <a:prstGeom prst="line">
              <a:avLst/>
            </a:prstGeom>
            <a:ln w="28575" cap="sq" cmpd="sng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9121" name="Line 175"/>
            <p:cNvSpPr/>
            <p:nvPr/>
          </p:nvSpPr>
          <p:spPr>
            <a:xfrm>
              <a:off x="4967" y="1162"/>
              <a:ext cx="0" cy="680"/>
            </a:xfrm>
            <a:prstGeom prst="line">
              <a:avLst/>
            </a:prstGeom>
            <a:ln w="28575" cap="sq" cmpd="sng">
              <a:solidFill>
                <a:srgbClr val="FF33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89122" name="Line 176"/>
            <p:cNvSpPr/>
            <p:nvPr/>
          </p:nvSpPr>
          <p:spPr>
            <a:xfrm>
              <a:off x="3833" y="663"/>
              <a:ext cx="181" cy="0"/>
            </a:xfrm>
            <a:prstGeom prst="line">
              <a:avLst/>
            </a:prstGeom>
            <a:ln w="28575" cap="sq" cmpd="sng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254179" name="Text Box 227" descr="斜纹布"/>
          <p:cNvSpPr txBox="1"/>
          <p:nvPr/>
        </p:nvSpPr>
        <p:spPr>
          <a:xfrm>
            <a:off x="468313" y="620713"/>
            <a:ext cx="923925" cy="579437"/>
          </a:xfrm>
          <a:prstGeom prst="rect">
            <a:avLst/>
          </a:prstGeom>
          <a:noFill/>
          <a:ln w="28575">
            <a:noFill/>
          </a:ln>
          <a:effectLst>
            <a:prstShdw prst="shdw17" dist="17961" dir="2699999">
              <a:srgbClr val="3D5C99"/>
            </a:prstShdw>
          </a:effectLst>
        </p:spPr>
        <p:txBody>
          <a:bodyPr anchor="t" anchorCtr="0">
            <a:spAutoFit/>
          </a:bodyPr>
          <a:p>
            <a:pPr algn="ctr" eaLnBrk="0" hangingPunct="0">
              <a:spcBef>
                <a:spcPct val="50000"/>
              </a:spcBef>
              <a:buClrTx/>
              <a:buFontTx/>
              <a:buNone/>
            </a:pPr>
            <a:r>
              <a:rPr lang="zh-CN" altLang="en-US" sz="3200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例</a:t>
            </a:r>
            <a:r>
              <a:rPr lang="en-US" altLang="zh-CN" sz="3200" b="0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1</a:t>
            </a:r>
            <a:endParaRPr lang="en-US" altLang="zh-CN" sz="3200" b="0" dirty="0">
              <a:solidFill>
                <a:schemeClr val="tx1"/>
              </a:solidFill>
              <a:latin typeface="Times New Roman" panose="02020603050405020304" pitchFamily="18" charset="0"/>
              <a:ea typeface="仿宋_GB2312" pitchFamily="49" charset="-122"/>
              <a:sym typeface="Symbol" panose="05050102010706020507" pitchFamily="18" charset="2"/>
            </a:endParaRPr>
          </a:p>
        </p:txBody>
      </p:sp>
      <p:grpSp>
        <p:nvGrpSpPr>
          <p:cNvPr id="254190" name="Group 238"/>
          <p:cNvGrpSpPr/>
          <p:nvPr/>
        </p:nvGrpSpPr>
        <p:grpSpPr>
          <a:xfrm>
            <a:off x="611188" y="1800225"/>
            <a:ext cx="3975100" cy="2303463"/>
            <a:chOff x="702" y="709"/>
            <a:chExt cx="2504" cy="1451"/>
          </a:xfrm>
        </p:grpSpPr>
        <p:sp>
          <p:nvSpPr>
            <p:cNvPr id="89125" name="Rectangle 216" descr="斜纹布"/>
            <p:cNvSpPr/>
            <p:nvPr/>
          </p:nvSpPr>
          <p:spPr>
            <a:xfrm>
              <a:off x="1383" y="754"/>
              <a:ext cx="1204" cy="1366"/>
            </a:xfrm>
            <a:prstGeom prst="rect">
              <a:avLst/>
            </a:prstGeom>
            <a:noFill/>
            <a:ln w="28575" cap="sq" cmpd="sng">
              <a:solidFill>
                <a:srgbClr val="FFCC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  <a:buNone/>
              </a:pPr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89126" name="Line 217"/>
            <p:cNvSpPr/>
            <p:nvPr/>
          </p:nvSpPr>
          <p:spPr>
            <a:xfrm>
              <a:off x="1383" y="1571"/>
              <a:ext cx="1196" cy="0"/>
            </a:xfrm>
            <a:prstGeom prst="line">
              <a:avLst/>
            </a:prstGeom>
            <a:ln w="28575" cap="sq" cmpd="sng">
              <a:solidFill>
                <a:srgbClr val="FFCC00"/>
              </a:solidFill>
              <a:prstDash val="solid"/>
              <a:round/>
              <a:headEnd type="oval" w="med" len="med"/>
              <a:tailEnd type="oval" w="med" len="med"/>
            </a:ln>
          </p:spPr>
        </p:sp>
        <p:sp>
          <p:nvSpPr>
            <p:cNvPr id="89127" name="Line 218"/>
            <p:cNvSpPr/>
            <p:nvPr/>
          </p:nvSpPr>
          <p:spPr>
            <a:xfrm>
              <a:off x="748" y="754"/>
              <a:ext cx="623" cy="0"/>
            </a:xfrm>
            <a:prstGeom prst="line">
              <a:avLst/>
            </a:prstGeom>
            <a:ln w="28575" cap="sq" cmpd="sng">
              <a:solidFill>
                <a:srgbClr val="FFCC00"/>
              </a:solidFill>
              <a:prstDash val="solid"/>
              <a:round/>
              <a:headEnd type="none" w="med" len="med"/>
              <a:tailEnd type="oval" w="med" len="med"/>
            </a:ln>
          </p:spPr>
        </p:sp>
        <p:sp>
          <p:nvSpPr>
            <p:cNvPr id="89128" name="Line 219"/>
            <p:cNvSpPr/>
            <p:nvPr/>
          </p:nvSpPr>
          <p:spPr>
            <a:xfrm>
              <a:off x="703" y="2115"/>
              <a:ext cx="665" cy="0"/>
            </a:xfrm>
            <a:prstGeom prst="line">
              <a:avLst/>
            </a:prstGeom>
            <a:ln w="28575" cap="sq" cmpd="sng">
              <a:solidFill>
                <a:srgbClr val="FFCC00"/>
              </a:solidFill>
              <a:prstDash val="solid"/>
              <a:round/>
              <a:headEnd type="none" w="med" len="med"/>
              <a:tailEnd type="oval" w="med" len="med"/>
            </a:ln>
          </p:spPr>
        </p:sp>
        <p:sp>
          <p:nvSpPr>
            <p:cNvPr id="89129" name="Line 220"/>
            <p:cNvSpPr/>
            <p:nvPr/>
          </p:nvSpPr>
          <p:spPr>
            <a:xfrm>
              <a:off x="748" y="2024"/>
              <a:ext cx="333" cy="0"/>
            </a:xfrm>
            <a:prstGeom prst="line">
              <a:avLst/>
            </a:prstGeom>
            <a:ln w="28575" cap="sq" cmpd="sng">
              <a:solidFill>
                <a:srgbClr val="00CCFF"/>
              </a:solidFill>
              <a:prstDash val="solid"/>
              <a:round/>
              <a:headEnd type="triangle" w="med" len="med"/>
              <a:tailEnd type="none" w="med" len="med"/>
            </a:ln>
          </p:spPr>
        </p:sp>
        <p:graphicFrame>
          <p:nvGraphicFramePr>
            <p:cNvPr id="89130" name="Object 221"/>
            <p:cNvGraphicFramePr>
              <a:graphicFrameLocks noChangeAspect="1"/>
            </p:cNvGraphicFramePr>
            <p:nvPr/>
          </p:nvGraphicFramePr>
          <p:xfrm>
            <a:off x="793" y="890"/>
            <a:ext cx="292" cy="2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95" name="" r:id="rId16" imgW="213995" imgH="156210" progId="Equation.3">
                    <p:embed/>
                  </p:oleObj>
                </mc:Choice>
                <mc:Fallback>
                  <p:oleObj name="" r:id="rId16" imgW="213995" imgH="156210" progId="Equation.3">
                    <p:embed/>
                    <p:pic>
                      <p:nvPicPr>
                        <p:cNvPr id="0" name="图片 3194"/>
                        <p:cNvPicPr/>
                        <p:nvPr/>
                      </p:nvPicPr>
                      <p:blipFill>
                        <a:blip r:embed="rId17">
                          <a:clrChange>
                            <a:clrFrom>
                              <a:srgbClr val="000000"/>
                            </a:clrFrom>
                            <a:clrTo>
                              <a:srgbClr val="00008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793" y="890"/>
                          <a:ext cx="292" cy="23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9131" name="Object 222"/>
            <p:cNvGraphicFramePr>
              <a:graphicFrameLocks noChangeAspect="1"/>
            </p:cNvGraphicFramePr>
            <p:nvPr/>
          </p:nvGraphicFramePr>
          <p:xfrm>
            <a:off x="702" y="1752"/>
            <a:ext cx="490" cy="2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96" name="" r:id="rId18" imgW="353060" imgH="144780" progId="Equation.3">
                    <p:embed/>
                  </p:oleObj>
                </mc:Choice>
                <mc:Fallback>
                  <p:oleObj name="" r:id="rId18" imgW="353060" imgH="144780" progId="Equation.3">
                    <p:embed/>
                    <p:pic>
                      <p:nvPicPr>
                        <p:cNvPr id="0" name="图片 3195"/>
                        <p:cNvPicPr/>
                        <p:nvPr/>
                      </p:nvPicPr>
                      <p:blipFill>
                        <a:blip r:embed="rId19">
                          <a:clrChange>
                            <a:clrFrom>
                              <a:srgbClr val="000000"/>
                            </a:clrFrom>
                            <a:clrTo>
                              <a:srgbClr val="00008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702" y="1752"/>
                          <a:ext cx="490" cy="22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9132" name="Object 223"/>
            <p:cNvGraphicFramePr>
              <a:graphicFrameLocks noChangeAspect="1"/>
            </p:cNvGraphicFramePr>
            <p:nvPr/>
          </p:nvGraphicFramePr>
          <p:xfrm>
            <a:off x="2689" y="1152"/>
            <a:ext cx="517" cy="3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97" name="" r:id="rId20" imgW="295275" imgH="156210" progId="Equation.3">
                    <p:embed/>
                  </p:oleObj>
                </mc:Choice>
                <mc:Fallback>
                  <p:oleObj name="" r:id="rId20" imgW="295275" imgH="156210" progId="Equation.3">
                    <p:embed/>
                    <p:pic>
                      <p:nvPicPr>
                        <p:cNvPr id="0" name="图片 3196"/>
                        <p:cNvPicPr/>
                        <p:nvPr/>
                      </p:nvPicPr>
                      <p:blipFill>
                        <a:blip r:embed="rId21">
                          <a:clrChange>
                            <a:clrFrom>
                              <a:srgbClr val="000000"/>
                            </a:clrFrom>
                            <a:clrTo>
                              <a:srgbClr val="00008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689" y="1152"/>
                          <a:ext cx="517" cy="30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9133" name="Object 224"/>
            <p:cNvGraphicFramePr>
              <a:graphicFrameLocks noChangeAspect="1"/>
            </p:cNvGraphicFramePr>
            <p:nvPr/>
          </p:nvGraphicFramePr>
          <p:xfrm>
            <a:off x="1836" y="1253"/>
            <a:ext cx="321" cy="2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98" name="" r:id="rId22" imgW="225425" imgH="156210" progId="Equation.3">
                    <p:embed/>
                  </p:oleObj>
                </mc:Choice>
                <mc:Fallback>
                  <p:oleObj name="" r:id="rId22" imgW="225425" imgH="156210" progId="Equation.3">
                    <p:embed/>
                    <p:pic>
                      <p:nvPicPr>
                        <p:cNvPr id="0" name="图片 3197"/>
                        <p:cNvPicPr/>
                        <p:nvPr/>
                      </p:nvPicPr>
                      <p:blipFill>
                        <a:blip r:embed="rId23">
                          <a:clrChange>
                            <a:clrFrom>
                              <a:srgbClr val="000000"/>
                            </a:clrFrom>
                            <a:clrTo>
                              <a:srgbClr val="00008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836" y="1253"/>
                          <a:ext cx="321" cy="24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9134" name="Object 225"/>
            <p:cNvGraphicFramePr>
              <a:graphicFrameLocks noChangeAspect="1"/>
            </p:cNvGraphicFramePr>
            <p:nvPr/>
          </p:nvGraphicFramePr>
          <p:xfrm>
            <a:off x="2244" y="1072"/>
            <a:ext cx="257" cy="20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99" name="" r:id="rId24" imgW="202565" imgH="144780" progId="Equation.3">
                    <p:embed/>
                  </p:oleObj>
                </mc:Choice>
                <mc:Fallback>
                  <p:oleObj name="" r:id="rId24" imgW="202565" imgH="144780" progId="Equation.3">
                    <p:embed/>
                    <p:pic>
                      <p:nvPicPr>
                        <p:cNvPr id="0" name="图片 3198"/>
                        <p:cNvPicPr/>
                        <p:nvPr/>
                      </p:nvPicPr>
                      <p:blipFill>
                        <a:blip r:embed="rId25">
                          <a:clrChange>
                            <a:clrFrom>
                              <a:srgbClr val="000000"/>
                            </a:clrFrom>
                            <a:clrTo>
                              <a:srgbClr val="00008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244" y="1072"/>
                          <a:ext cx="257" cy="20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9135" name="Object 226"/>
            <p:cNvGraphicFramePr>
              <a:graphicFrameLocks noChangeAspect="1"/>
            </p:cNvGraphicFramePr>
            <p:nvPr/>
          </p:nvGraphicFramePr>
          <p:xfrm>
            <a:off x="1791" y="1797"/>
            <a:ext cx="322" cy="2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00" name="" r:id="rId26" imgW="225425" imgH="144780" progId="Equation.3">
                    <p:embed/>
                  </p:oleObj>
                </mc:Choice>
                <mc:Fallback>
                  <p:oleObj name="" r:id="rId26" imgW="225425" imgH="144780" progId="Equation.3">
                    <p:embed/>
                    <p:pic>
                      <p:nvPicPr>
                        <p:cNvPr id="0" name="图片 3199"/>
                        <p:cNvPicPr/>
                        <p:nvPr/>
                      </p:nvPicPr>
                      <p:blipFill>
                        <a:blip r:embed="rId27">
                          <a:clrChange>
                            <a:clrFrom>
                              <a:srgbClr val="000000"/>
                            </a:clrFrom>
                            <a:clrTo>
                              <a:srgbClr val="00008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791" y="1797"/>
                          <a:ext cx="322" cy="22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9136" name="Line 228"/>
            <p:cNvSpPr/>
            <p:nvPr/>
          </p:nvSpPr>
          <p:spPr>
            <a:xfrm>
              <a:off x="2607" y="1571"/>
              <a:ext cx="499" cy="0"/>
            </a:xfrm>
            <a:prstGeom prst="line">
              <a:avLst/>
            </a:prstGeom>
            <a:ln w="28575" cap="sq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9137" name="Rectangle 229"/>
            <p:cNvSpPr/>
            <p:nvPr/>
          </p:nvSpPr>
          <p:spPr>
            <a:xfrm>
              <a:off x="1836" y="2024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>
                <a:buClrTx/>
                <a:buFontTx/>
                <a:buNone/>
              </a:pPr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89138" name="Rectangle 230"/>
            <p:cNvSpPr/>
            <p:nvPr/>
          </p:nvSpPr>
          <p:spPr>
            <a:xfrm>
              <a:off x="1836" y="1480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>
                <a:buClrTx/>
                <a:buFontTx/>
                <a:buNone/>
              </a:pPr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89139" name="Rectangle 231"/>
            <p:cNvSpPr/>
            <p:nvPr/>
          </p:nvSpPr>
          <p:spPr>
            <a:xfrm>
              <a:off x="1836" y="709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>
                <a:buClrTx/>
                <a:buFontTx/>
                <a:buNone/>
              </a:pPr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89140" name="Rectangle 232"/>
            <p:cNvSpPr/>
            <p:nvPr/>
          </p:nvSpPr>
          <p:spPr>
            <a:xfrm>
              <a:off x="1292" y="981"/>
              <a:ext cx="136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>
                <a:buClrTx/>
                <a:buFontTx/>
                <a:buNone/>
              </a:pPr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89141" name="Rectangle 233"/>
            <p:cNvSpPr/>
            <p:nvPr/>
          </p:nvSpPr>
          <p:spPr>
            <a:xfrm>
              <a:off x="2517" y="981"/>
              <a:ext cx="136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>
                <a:buClrTx/>
                <a:buFontTx/>
                <a:buNone/>
              </a:pPr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graphicFrame>
          <p:nvGraphicFramePr>
            <p:cNvPr id="89142" name="Object 234"/>
            <p:cNvGraphicFramePr>
              <a:graphicFrameLocks noChangeAspect="1"/>
            </p:cNvGraphicFramePr>
            <p:nvPr/>
          </p:nvGraphicFramePr>
          <p:xfrm>
            <a:off x="1473" y="1026"/>
            <a:ext cx="307" cy="2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01" name="" r:id="rId28" imgW="213995" imgH="156210" progId="Equation.3">
                    <p:embed/>
                  </p:oleObj>
                </mc:Choice>
                <mc:Fallback>
                  <p:oleObj name="" r:id="rId28" imgW="213995" imgH="156210" progId="Equation.3">
                    <p:embed/>
                    <p:pic>
                      <p:nvPicPr>
                        <p:cNvPr id="0" name="图片 3200"/>
                        <p:cNvPicPr/>
                        <p:nvPr/>
                      </p:nvPicPr>
                      <p:blipFill>
                        <a:blip r:embed="rId29">
                          <a:clrChange>
                            <a:clrFrom>
                              <a:srgbClr val="000000"/>
                            </a:clrFrom>
                            <a:clrTo>
                              <a:srgbClr val="00008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473" y="1026"/>
                          <a:ext cx="307" cy="24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9143" name="Object 235"/>
            <p:cNvGraphicFramePr>
              <a:graphicFrameLocks noChangeAspect="1"/>
            </p:cNvGraphicFramePr>
            <p:nvPr/>
          </p:nvGraphicFramePr>
          <p:xfrm>
            <a:off x="1836" y="845"/>
            <a:ext cx="307" cy="2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04" name="" r:id="rId30" imgW="213995" imgH="156210" progId="Equation.3">
                    <p:embed/>
                  </p:oleObj>
                </mc:Choice>
                <mc:Fallback>
                  <p:oleObj name="" r:id="rId30" imgW="213995" imgH="156210" progId="Equation.3">
                    <p:embed/>
                    <p:pic>
                      <p:nvPicPr>
                        <p:cNvPr id="0" name="图片 3203"/>
                        <p:cNvPicPr/>
                        <p:nvPr/>
                      </p:nvPicPr>
                      <p:blipFill>
                        <a:blip r:embed="rId31">
                          <a:clrChange>
                            <a:clrFrom>
                              <a:srgbClr val="000000"/>
                            </a:clrFrom>
                            <a:clrTo>
                              <a:srgbClr val="00008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836" y="845"/>
                          <a:ext cx="307" cy="24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9144" name="Line 236"/>
            <p:cNvSpPr/>
            <p:nvPr/>
          </p:nvSpPr>
          <p:spPr>
            <a:xfrm>
              <a:off x="793" y="845"/>
              <a:ext cx="333" cy="0"/>
            </a:xfrm>
            <a:prstGeom prst="line">
              <a:avLst/>
            </a:prstGeom>
            <a:ln w="28575" cap="sq" cmpd="sng">
              <a:solidFill>
                <a:srgbClr val="00CC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89145" name="Line 237"/>
            <p:cNvSpPr/>
            <p:nvPr/>
          </p:nvSpPr>
          <p:spPr>
            <a:xfrm>
              <a:off x="2653" y="1525"/>
              <a:ext cx="333" cy="0"/>
            </a:xfrm>
            <a:prstGeom prst="line">
              <a:avLst/>
            </a:prstGeom>
            <a:ln w="28575" cap="sq" cmpd="sng">
              <a:solidFill>
                <a:srgbClr val="00CC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  <p:sp>
        <p:nvSpPr>
          <p:cNvPr id="254191" name="Text Box 239"/>
          <p:cNvSpPr txBox="1"/>
          <p:nvPr/>
        </p:nvSpPr>
        <p:spPr>
          <a:xfrm>
            <a:off x="1403350" y="677863"/>
            <a:ext cx="1728788" cy="519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>
              <a:spcBef>
                <a:spcPct val="50000"/>
              </a:spcBef>
              <a:buClrTx/>
              <a:buFontTx/>
              <a:buNone/>
            </a:pPr>
            <a:r>
              <a:rPr lang="zh-CN" altLang="en-US" dirty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求电流 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i</a:t>
            </a:r>
            <a:endParaRPr lang="en-US" altLang="zh-CN" i="1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  <a:sym typeface="Symbol" panose="05050102010706020507" pitchFamily="18" charset="2"/>
            </a:endParaRPr>
          </a:p>
        </p:txBody>
      </p:sp>
      <p:sp>
        <p:nvSpPr>
          <p:cNvPr id="254192" name="Text Box 240"/>
          <p:cNvSpPr txBox="1"/>
          <p:nvPr/>
        </p:nvSpPr>
        <p:spPr>
          <a:xfrm>
            <a:off x="611188" y="4365625"/>
            <a:ext cx="647700" cy="519113"/>
          </a:xfrm>
          <a:prstGeom prst="rect">
            <a:avLst/>
          </a:prstGeom>
          <a:solidFill>
            <a:srgbClr val="990033"/>
          </a:solidFill>
          <a:ln w="9525">
            <a:noFill/>
          </a:ln>
        </p:spPr>
        <p:txBody>
          <a:bodyPr anchor="t" anchorCtr="0">
            <a:spAutoFit/>
          </a:bodyPr>
          <a:p>
            <a:pPr algn="ctr" eaLnBrk="0" hangingPunct="0">
              <a:spcBef>
                <a:spcPct val="50000"/>
              </a:spcBef>
              <a:buClrTx/>
              <a:buFontTx/>
              <a:buNone/>
            </a:pP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解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254194" name="Text Box 242" descr="斜纹布"/>
          <p:cNvSpPr txBox="1"/>
          <p:nvPr/>
        </p:nvSpPr>
        <p:spPr>
          <a:xfrm>
            <a:off x="4716463" y="620713"/>
            <a:ext cx="923925" cy="579437"/>
          </a:xfrm>
          <a:prstGeom prst="rect">
            <a:avLst/>
          </a:prstGeom>
          <a:noFill/>
          <a:ln w="28575">
            <a:noFill/>
          </a:ln>
          <a:effectLst>
            <a:prstShdw prst="shdw17" dist="17961" dir="2699999">
              <a:srgbClr val="3D5C99"/>
            </a:prstShdw>
          </a:effectLst>
        </p:spPr>
        <p:txBody>
          <a:bodyPr anchor="t" anchorCtr="0">
            <a:spAutoFit/>
          </a:bodyPr>
          <a:p>
            <a:pPr algn="ctr" eaLnBrk="0" hangingPunct="0">
              <a:spcBef>
                <a:spcPct val="50000"/>
              </a:spcBef>
              <a:buClrTx/>
              <a:buFontTx/>
              <a:buNone/>
            </a:pPr>
            <a:r>
              <a:rPr lang="zh-CN" altLang="en-US" sz="3200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例</a:t>
            </a:r>
            <a:r>
              <a:rPr lang="en-US" altLang="zh-CN" sz="3200" b="0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2</a:t>
            </a:r>
            <a:endParaRPr lang="en-US" altLang="zh-CN" sz="3200" b="0" dirty="0">
              <a:solidFill>
                <a:schemeClr val="tx1"/>
              </a:solidFill>
              <a:latin typeface="Times New Roman" panose="02020603050405020304" pitchFamily="18" charset="0"/>
              <a:ea typeface="仿宋_GB2312" pitchFamily="49" charset="-122"/>
              <a:sym typeface="Symbol" panose="05050102010706020507" pitchFamily="18" charset="2"/>
            </a:endParaRPr>
          </a:p>
        </p:txBody>
      </p:sp>
      <p:sp>
        <p:nvSpPr>
          <p:cNvPr id="254195" name="Text Box 243"/>
          <p:cNvSpPr txBox="1"/>
          <p:nvPr/>
        </p:nvSpPr>
        <p:spPr>
          <a:xfrm>
            <a:off x="4932363" y="4221163"/>
            <a:ext cx="647700" cy="519112"/>
          </a:xfrm>
          <a:prstGeom prst="rect">
            <a:avLst/>
          </a:prstGeom>
          <a:solidFill>
            <a:srgbClr val="990033"/>
          </a:solidFill>
          <a:ln w="9525">
            <a:noFill/>
          </a:ln>
        </p:spPr>
        <p:txBody>
          <a:bodyPr anchor="t" anchorCtr="0">
            <a:spAutoFit/>
          </a:bodyPr>
          <a:p>
            <a:pPr algn="ctr" eaLnBrk="0" hangingPunct="0">
              <a:spcBef>
                <a:spcPct val="50000"/>
              </a:spcBef>
              <a:buClrTx/>
              <a:buFontTx/>
              <a:buNone/>
            </a:pP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解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254196" name="Text Box 244"/>
          <p:cNvSpPr txBox="1"/>
          <p:nvPr/>
        </p:nvSpPr>
        <p:spPr>
          <a:xfrm>
            <a:off x="5867400" y="620713"/>
            <a:ext cx="1728788" cy="519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>
              <a:spcBef>
                <a:spcPct val="50000"/>
              </a:spcBef>
              <a:buClrTx/>
              <a:buFontTx/>
              <a:buNone/>
            </a:pPr>
            <a:r>
              <a:rPr lang="zh-CN" altLang="en-US" dirty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求电压 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u</a:t>
            </a:r>
            <a:endParaRPr lang="en-US" altLang="zh-CN" i="1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  <a:sym typeface="Symbol" panose="05050102010706020507" pitchFamily="18" charset="2"/>
            </a:endParaRPr>
          </a:p>
        </p:txBody>
      </p:sp>
      <p:grpSp>
        <p:nvGrpSpPr>
          <p:cNvPr id="89151" name="Group 251"/>
          <p:cNvGrpSpPr/>
          <p:nvPr/>
        </p:nvGrpSpPr>
        <p:grpSpPr>
          <a:xfrm>
            <a:off x="6588125" y="6445250"/>
            <a:ext cx="792163" cy="366713"/>
            <a:chOff x="5193" y="4020"/>
            <a:chExt cx="499" cy="231"/>
          </a:xfrm>
        </p:grpSpPr>
        <p:pic>
          <p:nvPicPr>
            <p:cNvPr id="89152" name="Picture 252" descr="78900">
              <a:hlinkClick r:id="" action="ppaction://hlinkshowjump?jump=firstslide"/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89153" name="Text Box 253">
              <a:hlinkClick r:id="" action="ppaction://hlinkshowjump?jump=firs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541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541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541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541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254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2000"/>
                                        <p:tgtEl>
                                          <p:spTgt spid="254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254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70" decel="100000"/>
                                        <p:tgtEl>
                                          <p:spTgt spid="2540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9" dur="770" decel="100000"/>
                                        <p:tgtEl>
                                          <p:spTgt spid="254010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30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254010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31" dur="770" fill="hold"/>
                                        <p:tgtEl>
                                          <p:spTgt spid="2540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32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2540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33" dur="770" fill="hold"/>
                                        <p:tgtEl>
                                          <p:spTgt spid="2540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34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2540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000"/>
                                        <p:tgtEl>
                                          <p:spTgt spid="2539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541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541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541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2541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000"/>
                            </p:stCondLst>
                            <p:childTnLst>
                              <p:par>
                                <p:cTn id="4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254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500"/>
                            </p:stCondLst>
                            <p:childTnLst>
                              <p:par>
                                <p:cTn id="5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2000"/>
                                        <p:tgtEl>
                                          <p:spTgt spid="254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254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2541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2541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1000"/>
                                        <p:tgtEl>
                                          <p:spTgt spid="2540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4010" grpId="0" animBg="1"/>
      <p:bldP spid="254179" grpId="0"/>
      <p:bldP spid="254191" grpId="0"/>
      <p:bldP spid="254192" grpId="0" animBg="1"/>
      <p:bldP spid="254194" grpId="0"/>
      <p:bldP spid="254195" grpId="0" animBg="1"/>
      <p:bldP spid="254196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500741" name="Object 5"/>
          <p:cNvGraphicFramePr>
            <a:graphicFrameLocks noChangeAspect="1"/>
          </p:cNvGraphicFramePr>
          <p:nvPr/>
        </p:nvGraphicFramePr>
        <p:xfrm>
          <a:off x="5003800" y="1773238"/>
          <a:ext cx="3532188" cy="411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3" name="" r:id="rId1" imgW="1302385" imgH="156210" progId="Equation.3">
                  <p:embed/>
                </p:oleObj>
              </mc:Choice>
              <mc:Fallback>
                <p:oleObj name="" r:id="rId1" imgW="1302385" imgH="156210" progId="Equation.3">
                  <p:embed/>
                  <p:pic>
                    <p:nvPicPr>
                      <p:cNvPr id="0" name="图片 3202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8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003800" y="1773238"/>
                        <a:ext cx="3532188" cy="4111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0742" name="Object 6"/>
          <p:cNvGraphicFramePr>
            <a:graphicFrameLocks noChangeAspect="1"/>
          </p:cNvGraphicFramePr>
          <p:nvPr/>
        </p:nvGraphicFramePr>
        <p:xfrm>
          <a:off x="5148263" y="3573463"/>
          <a:ext cx="2376487" cy="404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2" name="" r:id="rId3" imgW="1001395" imgH="156210" progId="Equation.3">
                  <p:embed/>
                </p:oleObj>
              </mc:Choice>
              <mc:Fallback>
                <p:oleObj name="" r:id="rId3" imgW="1001395" imgH="156210" progId="Equation.3">
                  <p:embed/>
                  <p:pic>
                    <p:nvPicPr>
                      <p:cNvPr id="0" name="图片 3201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8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148263" y="3573463"/>
                        <a:ext cx="2376487" cy="4048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0115" name="Group 7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90116" name="Picture 8" descr="7890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90117" name="Text Box 9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90118" name="Group 10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90119" name="Picture 11" descr="7890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90120" name="Text Box 12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500837" name="Group 101"/>
          <p:cNvGrpSpPr/>
          <p:nvPr/>
        </p:nvGrpSpPr>
        <p:grpSpPr>
          <a:xfrm>
            <a:off x="827088" y="1341438"/>
            <a:ext cx="3455987" cy="1527175"/>
            <a:chOff x="749" y="618"/>
            <a:chExt cx="2177" cy="962"/>
          </a:xfrm>
        </p:grpSpPr>
        <p:sp>
          <p:nvSpPr>
            <p:cNvPr id="90122" name="Oval 40"/>
            <p:cNvSpPr/>
            <p:nvPr/>
          </p:nvSpPr>
          <p:spPr>
            <a:xfrm>
              <a:off x="1927" y="890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buClrTx/>
                <a:buFontTx/>
                <a:buNone/>
              </a:pPr>
              <a:endParaRPr lang="zh-CN" altLang="zh-CN" sz="2400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90123" name="Line 41"/>
            <p:cNvSpPr/>
            <p:nvPr/>
          </p:nvSpPr>
          <p:spPr>
            <a:xfrm>
              <a:off x="930" y="1071"/>
              <a:ext cx="1860" cy="0"/>
            </a:xfrm>
            <a:prstGeom prst="line">
              <a:avLst/>
            </a:prstGeom>
            <a:ln w="28575" cap="sq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0124" name="Oval 42" descr="斜纹布"/>
            <p:cNvSpPr/>
            <p:nvPr/>
          </p:nvSpPr>
          <p:spPr>
            <a:xfrm>
              <a:off x="839" y="1026"/>
              <a:ext cx="91" cy="90"/>
            </a:xfrm>
            <a:prstGeom prst="ellipse">
              <a:avLst/>
            </a:prstGeom>
            <a:noFill/>
            <a:ln w="28575" cap="sq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  <a:buNone/>
              </a:pPr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90125" name="Oval 43" descr="斜纹布"/>
            <p:cNvSpPr/>
            <p:nvPr/>
          </p:nvSpPr>
          <p:spPr>
            <a:xfrm>
              <a:off x="2789" y="1026"/>
              <a:ext cx="91" cy="90"/>
            </a:xfrm>
            <a:prstGeom prst="ellipse">
              <a:avLst/>
            </a:prstGeom>
            <a:noFill/>
            <a:ln w="28575" cap="sq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  <a:buNone/>
              </a:pPr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90126" name="Text Box 44" descr="斜纹布"/>
            <p:cNvSpPr txBox="1"/>
            <p:nvPr/>
          </p:nvSpPr>
          <p:spPr>
            <a:xfrm>
              <a:off x="2291" y="708"/>
              <a:ext cx="272" cy="327"/>
            </a:xfrm>
            <a:prstGeom prst="rect">
              <a:avLst/>
            </a:prstGeom>
            <a:noFill/>
            <a:ln w="28575">
              <a:noFill/>
            </a:ln>
            <a:effectLst>
              <a:prstShdw prst="shdw17" dist="17961" dir="2699999">
                <a:srgbClr val="3D5C99"/>
              </a:prstShdw>
            </a:effectLst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b="0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+</a:t>
              </a:r>
              <a:endPara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90127" name="Text Box 45" descr="斜纹布"/>
            <p:cNvSpPr txBox="1"/>
            <p:nvPr/>
          </p:nvSpPr>
          <p:spPr>
            <a:xfrm>
              <a:off x="749" y="1162"/>
              <a:ext cx="272" cy="327"/>
            </a:xfrm>
            <a:prstGeom prst="rect">
              <a:avLst/>
            </a:prstGeom>
            <a:noFill/>
            <a:ln w="28575">
              <a:noFill/>
            </a:ln>
            <a:effectLst>
              <a:prstShdw prst="shdw17" dist="17961" dir="2699999">
                <a:srgbClr val="3D5C99"/>
              </a:prstShdw>
            </a:effectLst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b="0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+</a:t>
              </a:r>
              <a:endPara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90128" name="Text Box 46" descr="斜纹布"/>
            <p:cNvSpPr txBox="1"/>
            <p:nvPr/>
          </p:nvSpPr>
          <p:spPr>
            <a:xfrm>
              <a:off x="2654" y="1162"/>
              <a:ext cx="272" cy="327"/>
            </a:xfrm>
            <a:prstGeom prst="rect">
              <a:avLst/>
            </a:prstGeom>
            <a:noFill/>
            <a:ln w="28575">
              <a:noFill/>
            </a:ln>
            <a:effectLst>
              <a:prstShdw prst="shdw17" dist="17961" dir="2699999">
                <a:srgbClr val="3D5C99"/>
              </a:prstShdw>
            </a:effectLst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b="0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Symbol" panose="05050102010706020507" pitchFamily="18" charset="2"/>
                </a:rPr>
                <a:t>-</a:t>
              </a:r>
              <a:endParaRPr lang="en-US" altLang="zh-CN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90129" name="Text Box 47" descr="斜纹布"/>
            <p:cNvSpPr txBox="1"/>
            <p:nvPr/>
          </p:nvSpPr>
          <p:spPr>
            <a:xfrm>
              <a:off x="1792" y="663"/>
              <a:ext cx="272" cy="327"/>
            </a:xfrm>
            <a:prstGeom prst="rect">
              <a:avLst/>
            </a:prstGeom>
            <a:noFill/>
            <a:ln w="28575">
              <a:noFill/>
            </a:ln>
            <a:effectLst>
              <a:prstShdw prst="shdw17" dist="17961" dir="2699999">
                <a:srgbClr val="3D5C99"/>
              </a:prstShdw>
            </a:effectLst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b="0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Symbol" panose="05050102010706020507" pitchFamily="18" charset="2"/>
                </a:rPr>
                <a:t>-</a:t>
              </a:r>
              <a:endParaRPr lang="en-US" altLang="zh-CN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90130" name="Text Box 48" descr="斜纹布"/>
            <p:cNvSpPr txBox="1"/>
            <p:nvPr/>
          </p:nvSpPr>
          <p:spPr>
            <a:xfrm>
              <a:off x="1928" y="618"/>
              <a:ext cx="454" cy="327"/>
            </a:xfrm>
            <a:prstGeom prst="rect">
              <a:avLst/>
            </a:prstGeom>
            <a:noFill/>
            <a:ln w="28575">
              <a:noFill/>
            </a:ln>
            <a:effectLst>
              <a:prstShdw prst="shdw17" dist="17961" dir="2699999">
                <a:srgbClr val="3D5C99"/>
              </a:prstShdw>
            </a:effectLst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b="0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4V</a:t>
              </a:r>
              <a:endPara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90131" name="Text Box 49" descr="斜纹布"/>
            <p:cNvSpPr txBox="1"/>
            <p:nvPr/>
          </p:nvSpPr>
          <p:spPr>
            <a:xfrm>
              <a:off x="1656" y="1253"/>
              <a:ext cx="454" cy="327"/>
            </a:xfrm>
            <a:prstGeom prst="rect">
              <a:avLst/>
            </a:prstGeom>
            <a:noFill/>
            <a:ln w="28575">
              <a:noFill/>
            </a:ln>
            <a:effectLst>
              <a:prstShdw prst="shdw17" dist="17961" dir="2699999">
                <a:srgbClr val="3D5C99"/>
              </a:prstShdw>
            </a:effectLst>
          </p:spPr>
          <p:txBody>
            <a:bodyPr anchor="t" anchorCtr="0">
              <a:spAutoFit/>
            </a:bodyPr>
            <a:p>
              <a:pPr algn="ctr" eaLnBrk="0" hangingPunct="0">
                <a:buClrTx/>
                <a:buFontTx/>
                <a:buNone/>
              </a:pPr>
              <a:r>
                <a:rPr lang="en-US" altLang="zh-CN" b="0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5V</a:t>
              </a:r>
              <a:endParaRPr lang="en-US" altLang="zh-CN" b="0" dirty="0"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90132" name="Line 50"/>
            <p:cNvSpPr/>
            <p:nvPr/>
          </p:nvSpPr>
          <p:spPr>
            <a:xfrm>
              <a:off x="1066" y="935"/>
              <a:ext cx="454" cy="0"/>
            </a:xfrm>
            <a:prstGeom prst="line">
              <a:avLst/>
            </a:prstGeom>
            <a:ln w="38100" cap="sq" cmpd="sng">
              <a:solidFill>
                <a:srgbClr val="00CC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90133" name="Text Box 51" descr="斜纹布"/>
            <p:cNvSpPr txBox="1"/>
            <p:nvPr/>
          </p:nvSpPr>
          <p:spPr>
            <a:xfrm>
              <a:off x="1111" y="618"/>
              <a:ext cx="544" cy="327"/>
            </a:xfrm>
            <a:prstGeom prst="rect">
              <a:avLst/>
            </a:prstGeom>
            <a:noFill/>
            <a:ln w="28575">
              <a:noFill/>
            </a:ln>
            <a:effectLst>
              <a:prstShdw prst="shdw17" dist="17961" dir="2699999">
                <a:srgbClr val="3D5C99"/>
              </a:prstShdw>
            </a:effectLst>
          </p:spPr>
          <p:txBody>
            <a:bodyPr anchor="t" anchorCtr="0">
              <a:spAutoFit/>
            </a:bodyPr>
            <a:p>
              <a:pPr algn="ctr" eaLnBrk="0" hangingPunct="0">
                <a:buClrTx/>
                <a:buFontTx/>
                <a:buNone/>
              </a:pPr>
              <a:r>
                <a:rPr lang="en-US" altLang="zh-CN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i </a:t>
              </a:r>
              <a:r>
                <a:rPr lang="en-US" altLang="zh-CN" b="0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=?</a:t>
              </a:r>
              <a:endParaRPr lang="en-US" altLang="zh-CN" b="0" dirty="0"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90134" name="Rectangle 53"/>
            <p:cNvSpPr/>
            <p:nvPr/>
          </p:nvSpPr>
          <p:spPr>
            <a:xfrm>
              <a:off x="1247" y="981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>
                <a:buClrTx/>
                <a:buFontTx/>
                <a:buNone/>
              </a:pPr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90135" name="Text Box 54" descr="斜纹布"/>
            <p:cNvSpPr txBox="1"/>
            <p:nvPr/>
          </p:nvSpPr>
          <p:spPr>
            <a:xfrm>
              <a:off x="1066" y="1117"/>
              <a:ext cx="590" cy="327"/>
            </a:xfrm>
            <a:prstGeom prst="rect">
              <a:avLst/>
            </a:prstGeom>
            <a:noFill/>
            <a:ln w="28575">
              <a:noFill/>
            </a:ln>
            <a:effectLst>
              <a:prstShdw prst="shdw17" dist="17961" dir="2699999">
                <a:srgbClr val="3D5C99"/>
              </a:prstShdw>
            </a:effectLst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b="0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3</a:t>
              </a:r>
              <a:endPara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</p:grpSp>
      <p:grpSp>
        <p:nvGrpSpPr>
          <p:cNvPr id="500850" name="Group 114"/>
          <p:cNvGrpSpPr/>
          <p:nvPr/>
        </p:nvGrpSpPr>
        <p:grpSpPr>
          <a:xfrm>
            <a:off x="611188" y="4149725"/>
            <a:ext cx="3886200" cy="1743075"/>
            <a:chOff x="385" y="2614"/>
            <a:chExt cx="2448" cy="1098"/>
          </a:xfrm>
        </p:grpSpPr>
        <p:sp>
          <p:nvSpPr>
            <p:cNvPr id="90137" name="Oval 56"/>
            <p:cNvSpPr/>
            <p:nvPr/>
          </p:nvSpPr>
          <p:spPr>
            <a:xfrm>
              <a:off x="2108" y="2977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buClrTx/>
                <a:buFontTx/>
                <a:buNone/>
              </a:pPr>
              <a:endParaRPr lang="zh-CN" altLang="zh-CN" sz="2400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90138" name="Line 57"/>
            <p:cNvSpPr/>
            <p:nvPr/>
          </p:nvSpPr>
          <p:spPr>
            <a:xfrm>
              <a:off x="566" y="3157"/>
              <a:ext cx="2132" cy="1"/>
            </a:xfrm>
            <a:prstGeom prst="line">
              <a:avLst/>
            </a:prstGeom>
            <a:ln w="28575" cap="sq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0139" name="Oval 58"/>
            <p:cNvSpPr/>
            <p:nvPr/>
          </p:nvSpPr>
          <p:spPr>
            <a:xfrm>
              <a:off x="928" y="2932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buClrTx/>
                <a:buFontTx/>
                <a:buNone/>
              </a:pPr>
              <a:endParaRPr lang="zh-CN" altLang="zh-CN" sz="2400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90140" name="Oval 59" descr="斜纹布"/>
            <p:cNvSpPr/>
            <p:nvPr/>
          </p:nvSpPr>
          <p:spPr>
            <a:xfrm>
              <a:off x="475" y="3112"/>
              <a:ext cx="91" cy="90"/>
            </a:xfrm>
            <a:prstGeom prst="ellipse">
              <a:avLst/>
            </a:prstGeom>
            <a:noFill/>
            <a:ln w="28575" cap="sq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  <a:buNone/>
              </a:pPr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90141" name="Oval 60" descr="斜纹布"/>
            <p:cNvSpPr/>
            <p:nvPr/>
          </p:nvSpPr>
          <p:spPr>
            <a:xfrm>
              <a:off x="2698" y="3112"/>
              <a:ext cx="91" cy="90"/>
            </a:xfrm>
            <a:prstGeom prst="ellipse">
              <a:avLst/>
            </a:prstGeom>
            <a:noFill/>
            <a:ln w="28575" cap="sq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  <a:buNone/>
              </a:pPr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90142" name="Line 61"/>
            <p:cNvSpPr/>
            <p:nvPr/>
          </p:nvSpPr>
          <p:spPr>
            <a:xfrm>
              <a:off x="1110" y="2932"/>
              <a:ext cx="0" cy="362"/>
            </a:xfrm>
            <a:prstGeom prst="line">
              <a:avLst/>
            </a:prstGeom>
            <a:ln w="38100" cap="sq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0143" name="Text Box 62" descr="斜纹布"/>
            <p:cNvSpPr txBox="1"/>
            <p:nvPr/>
          </p:nvSpPr>
          <p:spPr>
            <a:xfrm>
              <a:off x="385" y="3339"/>
              <a:ext cx="272" cy="327"/>
            </a:xfrm>
            <a:prstGeom prst="rect">
              <a:avLst/>
            </a:prstGeom>
            <a:noFill/>
            <a:ln w="28575">
              <a:noFill/>
            </a:ln>
            <a:effectLst>
              <a:prstShdw prst="shdw17" dist="17961" dir="2699999">
                <a:srgbClr val="3D5C99"/>
              </a:prstShdw>
            </a:effectLst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b="0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+</a:t>
              </a:r>
              <a:endPara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90144" name="Text Box 63" descr="斜纹布"/>
            <p:cNvSpPr txBox="1"/>
            <p:nvPr/>
          </p:nvSpPr>
          <p:spPr>
            <a:xfrm>
              <a:off x="2380" y="2795"/>
              <a:ext cx="272" cy="327"/>
            </a:xfrm>
            <a:prstGeom prst="rect">
              <a:avLst/>
            </a:prstGeom>
            <a:noFill/>
            <a:ln w="28575">
              <a:noFill/>
            </a:ln>
            <a:effectLst>
              <a:prstShdw prst="shdw17" dist="17961" dir="2699999">
                <a:srgbClr val="3D5C99"/>
              </a:prstShdw>
            </a:effectLst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b="0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+</a:t>
              </a:r>
              <a:endPara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90145" name="Text Box 64" descr="斜纹布"/>
            <p:cNvSpPr txBox="1"/>
            <p:nvPr/>
          </p:nvSpPr>
          <p:spPr>
            <a:xfrm>
              <a:off x="2561" y="3295"/>
              <a:ext cx="272" cy="327"/>
            </a:xfrm>
            <a:prstGeom prst="rect">
              <a:avLst/>
            </a:prstGeom>
            <a:noFill/>
            <a:ln w="28575">
              <a:noFill/>
            </a:ln>
            <a:effectLst>
              <a:prstShdw prst="shdw17" dist="17961" dir="2699999">
                <a:srgbClr val="3D5C99"/>
              </a:prstShdw>
            </a:effectLst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b="0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Symbol" panose="05050102010706020507" pitchFamily="18" charset="2"/>
                </a:rPr>
                <a:t>-</a:t>
              </a:r>
              <a:endParaRPr lang="en-US" altLang="zh-CN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90146" name="Text Box 65" descr="斜纹布"/>
            <p:cNvSpPr txBox="1"/>
            <p:nvPr/>
          </p:nvSpPr>
          <p:spPr>
            <a:xfrm>
              <a:off x="1927" y="2750"/>
              <a:ext cx="272" cy="327"/>
            </a:xfrm>
            <a:prstGeom prst="rect">
              <a:avLst/>
            </a:prstGeom>
            <a:noFill/>
            <a:ln w="28575">
              <a:noFill/>
            </a:ln>
            <a:effectLst>
              <a:prstShdw prst="shdw17" dist="17961" dir="2699999">
                <a:srgbClr val="3D5C99"/>
              </a:prstShdw>
            </a:effectLst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b="0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Symbol" panose="05050102010706020507" pitchFamily="18" charset="2"/>
                </a:rPr>
                <a:t>-</a:t>
              </a:r>
              <a:endParaRPr lang="en-US" altLang="zh-CN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90147" name="Text Box 66" descr="斜纹布"/>
            <p:cNvSpPr txBox="1"/>
            <p:nvPr/>
          </p:nvSpPr>
          <p:spPr>
            <a:xfrm>
              <a:off x="2063" y="2704"/>
              <a:ext cx="454" cy="327"/>
            </a:xfrm>
            <a:prstGeom prst="rect">
              <a:avLst/>
            </a:prstGeom>
            <a:noFill/>
            <a:ln w="28575">
              <a:noFill/>
            </a:ln>
            <a:effectLst>
              <a:prstShdw prst="shdw17" dist="17961" dir="2699999">
                <a:srgbClr val="3D5C99"/>
              </a:prstShdw>
            </a:effectLst>
          </p:spPr>
          <p:txBody>
            <a:bodyPr anchor="t" anchorCtr="0">
              <a:spAutoFit/>
            </a:bodyPr>
            <a:p>
              <a:pPr algn="ctr" eaLnBrk="0" hangingPunct="0">
                <a:buClrTx/>
                <a:buFontTx/>
                <a:buNone/>
              </a:pPr>
              <a:r>
                <a:rPr lang="en-US" altLang="zh-CN" b="0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4V</a:t>
              </a:r>
              <a:endParaRPr lang="en-US" altLang="zh-CN" b="0" dirty="0"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90148" name="Text Box 67" descr="斜纹布"/>
            <p:cNvSpPr txBox="1"/>
            <p:nvPr/>
          </p:nvSpPr>
          <p:spPr>
            <a:xfrm>
              <a:off x="1428" y="3385"/>
              <a:ext cx="454" cy="327"/>
            </a:xfrm>
            <a:prstGeom prst="rect">
              <a:avLst/>
            </a:prstGeom>
            <a:noFill/>
            <a:ln w="28575">
              <a:noFill/>
            </a:ln>
            <a:effectLst>
              <a:prstShdw prst="shdw17" dist="17961" dir="2699999">
                <a:srgbClr val="3D5C99"/>
              </a:prstShdw>
            </a:effectLst>
          </p:spPr>
          <p:txBody>
            <a:bodyPr anchor="t" anchorCtr="0">
              <a:spAutoFit/>
            </a:bodyPr>
            <a:p>
              <a:pPr algn="ctr" eaLnBrk="0" hangingPunct="0">
                <a:buClrTx/>
                <a:buFontTx/>
                <a:buNone/>
              </a:pPr>
              <a:r>
                <a:rPr lang="en-US" altLang="zh-CN" b="0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5V</a:t>
              </a:r>
              <a:endParaRPr lang="en-US" altLang="zh-CN" b="0" dirty="0"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90149" name="Line 68"/>
            <p:cNvSpPr/>
            <p:nvPr/>
          </p:nvSpPr>
          <p:spPr>
            <a:xfrm>
              <a:off x="657" y="3158"/>
              <a:ext cx="227" cy="0"/>
            </a:xfrm>
            <a:prstGeom prst="line">
              <a:avLst/>
            </a:prstGeom>
            <a:ln w="38100" cap="sq" cmpd="sng">
              <a:solidFill>
                <a:srgbClr val="00CCFF"/>
              </a:solidFill>
              <a:prstDash val="solid"/>
              <a:round/>
              <a:headEnd type="triangle" w="med" len="med"/>
              <a:tailEnd type="none" w="med" len="med"/>
            </a:ln>
          </p:spPr>
        </p:sp>
        <p:sp>
          <p:nvSpPr>
            <p:cNvPr id="90150" name="Text Box 69" descr="斜纹布"/>
            <p:cNvSpPr txBox="1"/>
            <p:nvPr/>
          </p:nvSpPr>
          <p:spPr>
            <a:xfrm>
              <a:off x="475" y="3113"/>
              <a:ext cx="454" cy="327"/>
            </a:xfrm>
            <a:prstGeom prst="rect">
              <a:avLst/>
            </a:prstGeom>
            <a:noFill/>
            <a:ln w="28575">
              <a:noFill/>
            </a:ln>
            <a:effectLst>
              <a:prstShdw prst="shdw17" dist="17961" dir="2699999">
                <a:srgbClr val="3D5C99"/>
              </a:prstShdw>
            </a:effectLst>
          </p:spPr>
          <p:txBody>
            <a:bodyPr anchor="t" anchorCtr="0">
              <a:spAutoFit/>
            </a:bodyPr>
            <a:p>
              <a:pPr algn="ctr" eaLnBrk="0" hangingPunct="0">
                <a:buClrTx/>
                <a:buFontTx/>
                <a:buNone/>
              </a:pPr>
              <a:r>
                <a:rPr lang="en-US" altLang="zh-CN" b="0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1A</a:t>
              </a:r>
              <a:endParaRPr lang="en-US" altLang="zh-CN" b="0" dirty="0"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90151" name="Text Box 70" descr="斜纹布"/>
            <p:cNvSpPr txBox="1"/>
            <p:nvPr/>
          </p:nvSpPr>
          <p:spPr>
            <a:xfrm>
              <a:off x="657" y="2795"/>
              <a:ext cx="272" cy="327"/>
            </a:xfrm>
            <a:prstGeom prst="rect">
              <a:avLst/>
            </a:prstGeom>
            <a:noFill/>
            <a:ln w="28575">
              <a:noFill/>
            </a:ln>
            <a:effectLst>
              <a:prstShdw prst="shdw17" dist="17961" dir="2699999">
                <a:srgbClr val="3D5C99"/>
              </a:prstShdw>
            </a:effectLst>
          </p:spPr>
          <p:txBody>
            <a:bodyPr anchor="t" anchorCtr="0">
              <a:spAutoFit/>
            </a:bodyPr>
            <a:p>
              <a:pPr algn="ctr" eaLnBrk="0" hangingPunct="0">
                <a:buClrTx/>
                <a:buFontTx/>
                <a:buNone/>
              </a:pPr>
              <a:r>
                <a:rPr lang="en-US" altLang="zh-CN" b="0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+</a:t>
              </a:r>
              <a:endParaRPr lang="en-US" altLang="zh-CN" b="0" dirty="0"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90152" name="Text Box 71" descr="斜纹布"/>
            <p:cNvSpPr txBox="1"/>
            <p:nvPr/>
          </p:nvSpPr>
          <p:spPr>
            <a:xfrm>
              <a:off x="1246" y="2795"/>
              <a:ext cx="272" cy="327"/>
            </a:xfrm>
            <a:prstGeom prst="rect">
              <a:avLst/>
            </a:prstGeom>
            <a:noFill/>
            <a:ln w="28575">
              <a:noFill/>
            </a:ln>
            <a:effectLst>
              <a:prstShdw prst="shdw17" dist="17961" dir="2699999">
                <a:srgbClr val="3D5C99"/>
              </a:prstShdw>
            </a:effectLst>
          </p:spPr>
          <p:txBody>
            <a:bodyPr anchor="t" anchorCtr="0">
              <a:spAutoFit/>
            </a:bodyPr>
            <a:p>
              <a:pPr algn="ctr" eaLnBrk="0" hangingPunct="0">
                <a:buClrTx/>
                <a:buFontTx/>
                <a:buNone/>
              </a:pPr>
              <a:r>
                <a:rPr lang="en-US" altLang="zh-CN" b="0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Symbol" panose="05050102010706020507" pitchFamily="18" charset="2"/>
                </a:rPr>
                <a:t>-</a:t>
              </a:r>
              <a:endParaRPr lang="en-US" altLang="zh-CN" b="0" dirty="0"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90153" name="Text Box 72" descr="斜纹布"/>
            <p:cNvSpPr txBox="1"/>
            <p:nvPr/>
          </p:nvSpPr>
          <p:spPr>
            <a:xfrm>
              <a:off x="838" y="2614"/>
              <a:ext cx="544" cy="327"/>
            </a:xfrm>
            <a:prstGeom prst="rect">
              <a:avLst/>
            </a:prstGeom>
            <a:noFill/>
            <a:ln w="28575">
              <a:noFill/>
            </a:ln>
            <a:effectLst>
              <a:prstShdw prst="shdw17" dist="17961" dir="2699999">
                <a:srgbClr val="3D5C99"/>
              </a:prstShdw>
            </a:effectLst>
          </p:spPr>
          <p:txBody>
            <a:bodyPr anchor="t" anchorCtr="0">
              <a:spAutoFit/>
            </a:bodyPr>
            <a:p>
              <a:pPr algn="ctr" eaLnBrk="0" hangingPunct="0">
                <a:buClrTx/>
                <a:buFontTx/>
                <a:buNone/>
              </a:pPr>
              <a:r>
                <a:rPr lang="en-US" altLang="zh-CN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u </a:t>
              </a:r>
              <a:r>
                <a:rPr lang="en-US" altLang="zh-CN" b="0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=?</a:t>
              </a:r>
              <a:endParaRPr lang="en-US" altLang="zh-CN" b="0" dirty="0"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90154" name="Rectangle 74"/>
            <p:cNvSpPr/>
            <p:nvPr/>
          </p:nvSpPr>
          <p:spPr>
            <a:xfrm>
              <a:off x="1563" y="3068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>
                <a:buClrTx/>
                <a:buFontTx/>
                <a:buNone/>
              </a:pPr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90155" name="Text Box 75" descr="斜纹布"/>
            <p:cNvSpPr txBox="1"/>
            <p:nvPr/>
          </p:nvSpPr>
          <p:spPr>
            <a:xfrm>
              <a:off x="1427" y="2796"/>
              <a:ext cx="590" cy="327"/>
            </a:xfrm>
            <a:prstGeom prst="rect">
              <a:avLst/>
            </a:prstGeom>
            <a:noFill/>
            <a:ln w="28575">
              <a:noFill/>
            </a:ln>
            <a:effectLst>
              <a:prstShdw prst="shdw17" dist="17961" dir="2699999">
                <a:srgbClr val="3D5C99"/>
              </a:prstShdw>
            </a:effectLst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b="0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3</a:t>
              </a:r>
              <a:endPara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</p:grpSp>
      <p:sp>
        <p:nvSpPr>
          <p:cNvPr id="500835" name="Text Box 99" descr="斜纹布"/>
          <p:cNvSpPr txBox="1"/>
          <p:nvPr/>
        </p:nvSpPr>
        <p:spPr>
          <a:xfrm>
            <a:off x="468313" y="620713"/>
            <a:ext cx="923925" cy="579437"/>
          </a:xfrm>
          <a:prstGeom prst="rect">
            <a:avLst/>
          </a:prstGeom>
          <a:noFill/>
          <a:ln w="28575">
            <a:noFill/>
          </a:ln>
          <a:effectLst>
            <a:prstShdw prst="shdw17" dist="17961" dir="2699999">
              <a:srgbClr val="3D5C99"/>
            </a:prstShdw>
          </a:effectLst>
        </p:spPr>
        <p:txBody>
          <a:bodyPr anchor="t" anchorCtr="0">
            <a:spAutoFit/>
          </a:bodyPr>
          <a:p>
            <a:pPr algn="ctr" eaLnBrk="0" hangingPunct="0">
              <a:spcBef>
                <a:spcPct val="50000"/>
              </a:spcBef>
              <a:buClrTx/>
              <a:buFontTx/>
              <a:buNone/>
            </a:pPr>
            <a:r>
              <a:rPr lang="zh-CN" altLang="en-US" sz="3200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例</a:t>
            </a:r>
            <a:r>
              <a:rPr lang="en-US" altLang="zh-CN" sz="3200" b="0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3</a:t>
            </a:r>
            <a:endParaRPr lang="en-US" altLang="zh-CN" sz="3200" b="0" dirty="0">
              <a:solidFill>
                <a:schemeClr val="tx1"/>
              </a:solidFill>
              <a:latin typeface="Times New Roman" panose="02020603050405020304" pitchFamily="18" charset="0"/>
              <a:ea typeface="仿宋_GB2312" pitchFamily="49" charset="-122"/>
              <a:sym typeface="Symbol" panose="05050102010706020507" pitchFamily="18" charset="2"/>
            </a:endParaRPr>
          </a:p>
        </p:txBody>
      </p:sp>
      <p:sp>
        <p:nvSpPr>
          <p:cNvPr id="500836" name="Text Box 100"/>
          <p:cNvSpPr txBox="1"/>
          <p:nvPr/>
        </p:nvSpPr>
        <p:spPr>
          <a:xfrm>
            <a:off x="1331913" y="692150"/>
            <a:ext cx="1728787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>
              <a:spcBef>
                <a:spcPct val="50000"/>
              </a:spcBef>
              <a:buClrTx/>
              <a:buFontTx/>
              <a:buNone/>
            </a:pPr>
            <a:r>
              <a:rPr lang="zh-CN" altLang="en-US" dirty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求电流</a:t>
            </a:r>
            <a:r>
              <a:rPr lang="zh-CN" altLang="en-US" b="0" dirty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 </a:t>
            </a:r>
            <a:r>
              <a:rPr lang="en-US" altLang="zh-CN" b="0" i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i</a:t>
            </a:r>
            <a:endParaRPr lang="en-US" altLang="zh-CN" b="0" i="1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  <a:sym typeface="Symbol" panose="05050102010706020507" pitchFamily="18" charset="2"/>
            </a:endParaRPr>
          </a:p>
        </p:txBody>
      </p:sp>
      <p:sp>
        <p:nvSpPr>
          <p:cNvPr id="500838" name="Text Box 102" descr="斜纹布"/>
          <p:cNvSpPr txBox="1"/>
          <p:nvPr/>
        </p:nvSpPr>
        <p:spPr>
          <a:xfrm>
            <a:off x="541338" y="3213100"/>
            <a:ext cx="923925" cy="579438"/>
          </a:xfrm>
          <a:prstGeom prst="rect">
            <a:avLst/>
          </a:prstGeom>
          <a:noFill/>
          <a:ln w="28575">
            <a:noFill/>
          </a:ln>
          <a:effectLst>
            <a:prstShdw prst="shdw17" dist="17961" dir="2699999">
              <a:srgbClr val="3D5C99"/>
            </a:prstShdw>
          </a:effectLst>
        </p:spPr>
        <p:txBody>
          <a:bodyPr anchor="t" anchorCtr="0">
            <a:spAutoFit/>
          </a:bodyPr>
          <a:p>
            <a:pPr algn="ctr" eaLnBrk="0" hangingPunct="0">
              <a:spcBef>
                <a:spcPct val="50000"/>
              </a:spcBef>
              <a:buClrTx/>
              <a:buFontTx/>
              <a:buNone/>
            </a:pPr>
            <a:r>
              <a:rPr lang="zh-CN" altLang="en-US" sz="3200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例</a:t>
            </a:r>
            <a:r>
              <a:rPr lang="en-US" altLang="zh-CN" sz="3200" b="0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4</a:t>
            </a:r>
            <a:endParaRPr lang="en-US" altLang="zh-CN" sz="3200" b="0" dirty="0">
              <a:solidFill>
                <a:schemeClr val="tx1"/>
              </a:solidFill>
              <a:latin typeface="Times New Roman" panose="02020603050405020304" pitchFamily="18" charset="0"/>
              <a:ea typeface="仿宋_GB2312" pitchFamily="49" charset="-122"/>
              <a:sym typeface="Symbol" panose="05050102010706020507" pitchFamily="18" charset="2"/>
            </a:endParaRPr>
          </a:p>
        </p:txBody>
      </p:sp>
      <p:sp>
        <p:nvSpPr>
          <p:cNvPr id="500839" name="Text Box 103"/>
          <p:cNvSpPr txBox="1"/>
          <p:nvPr/>
        </p:nvSpPr>
        <p:spPr>
          <a:xfrm>
            <a:off x="1403350" y="3213100"/>
            <a:ext cx="1728788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>
              <a:spcBef>
                <a:spcPct val="50000"/>
              </a:spcBef>
              <a:buClrTx/>
              <a:buFontTx/>
              <a:buNone/>
            </a:pPr>
            <a:r>
              <a:rPr lang="zh-CN" altLang="en-US" dirty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求电压 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u</a:t>
            </a:r>
            <a:endParaRPr lang="en-US" altLang="zh-CN" i="1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  <a:sym typeface="Symbol" panose="05050102010706020507" pitchFamily="18" charset="2"/>
            </a:endParaRPr>
          </a:p>
        </p:txBody>
      </p:sp>
      <p:sp>
        <p:nvSpPr>
          <p:cNvPr id="500841" name="Text Box 105"/>
          <p:cNvSpPr txBox="1"/>
          <p:nvPr/>
        </p:nvSpPr>
        <p:spPr>
          <a:xfrm>
            <a:off x="4932363" y="765175"/>
            <a:ext cx="647700" cy="519113"/>
          </a:xfrm>
          <a:prstGeom prst="rect">
            <a:avLst/>
          </a:prstGeom>
          <a:solidFill>
            <a:srgbClr val="990033"/>
          </a:solidFill>
          <a:ln w="9525">
            <a:noFill/>
          </a:ln>
        </p:spPr>
        <p:txBody>
          <a:bodyPr anchor="t" anchorCtr="0">
            <a:spAutoFit/>
          </a:bodyPr>
          <a:p>
            <a:pPr algn="ctr" eaLnBrk="0" hangingPunct="0">
              <a:spcBef>
                <a:spcPct val="50000"/>
              </a:spcBef>
              <a:buClrTx/>
              <a:buFontTx/>
              <a:buNone/>
            </a:pP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解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500842" name="Text Box 106"/>
          <p:cNvSpPr txBox="1"/>
          <p:nvPr/>
        </p:nvSpPr>
        <p:spPr>
          <a:xfrm>
            <a:off x="4932363" y="2924175"/>
            <a:ext cx="647700" cy="519113"/>
          </a:xfrm>
          <a:prstGeom prst="rect">
            <a:avLst/>
          </a:prstGeom>
          <a:solidFill>
            <a:srgbClr val="990033"/>
          </a:solidFill>
          <a:ln w="9525">
            <a:noFill/>
          </a:ln>
        </p:spPr>
        <p:txBody>
          <a:bodyPr anchor="t" anchorCtr="0">
            <a:spAutoFit/>
          </a:bodyPr>
          <a:p>
            <a:pPr algn="ctr" eaLnBrk="0" hangingPunct="0">
              <a:spcBef>
                <a:spcPct val="50000"/>
              </a:spcBef>
              <a:buClrTx/>
              <a:buFontTx/>
              <a:buNone/>
            </a:pP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解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grpSp>
        <p:nvGrpSpPr>
          <p:cNvPr id="500843" name="Group 107"/>
          <p:cNvGrpSpPr/>
          <p:nvPr/>
        </p:nvGrpSpPr>
        <p:grpSpPr>
          <a:xfrm>
            <a:off x="4859338" y="4076700"/>
            <a:ext cx="1644650" cy="850900"/>
            <a:chOff x="385" y="3022"/>
            <a:chExt cx="1036" cy="536"/>
          </a:xfrm>
        </p:grpSpPr>
        <p:pic>
          <p:nvPicPr>
            <p:cNvPr id="90163" name="Picture 108" descr="123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85" y="3022"/>
              <a:ext cx="590" cy="536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90164" name="Text Box 109"/>
            <p:cNvSpPr txBox="1"/>
            <p:nvPr/>
          </p:nvSpPr>
          <p:spPr>
            <a:xfrm>
              <a:off x="793" y="3125"/>
              <a:ext cx="628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ClrTx/>
                <a:buFontTx/>
                <a:buNone/>
              </a:pPr>
              <a:r>
                <a:rPr lang="zh-CN" altLang="en-US" sz="3200" b="0" dirty="0">
                  <a:solidFill>
                    <a:srgbClr val="CC6600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要求</a:t>
              </a:r>
              <a:endParaRPr lang="zh-CN" altLang="en-US" sz="3200" b="0" dirty="0">
                <a:solidFill>
                  <a:srgbClr val="CC6600"/>
                </a:solidFill>
                <a:latin typeface="Arial" panose="020B0604020202020204" pitchFamily="34" charset="0"/>
                <a:ea typeface="华文行楷" panose="02010800040101010101" pitchFamily="2" charset="-122"/>
              </a:endParaRPr>
            </a:p>
          </p:txBody>
        </p:sp>
      </p:grpSp>
      <p:sp>
        <p:nvSpPr>
          <p:cNvPr id="500846" name="Text Box 110"/>
          <p:cNvSpPr txBox="1"/>
          <p:nvPr/>
        </p:nvSpPr>
        <p:spPr>
          <a:xfrm>
            <a:off x="5148263" y="4797425"/>
            <a:ext cx="3529012" cy="9461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>
              <a:spcBef>
                <a:spcPct val="50000"/>
              </a:spcBef>
              <a:buClrTx/>
              <a:buFontTx/>
              <a:buNone/>
            </a:pPr>
            <a:r>
              <a:rPr lang="zh-CN" altLang="en-US" dirty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能熟练求解含源支路的电压和电流。</a:t>
            </a:r>
            <a:endParaRPr lang="zh-CN" altLang="en-US" b="0" i="1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  <a:sym typeface="Symbol" panose="05050102010706020507" pitchFamily="18" charset="2"/>
            </a:endParaRPr>
          </a:p>
        </p:txBody>
      </p:sp>
      <p:grpSp>
        <p:nvGrpSpPr>
          <p:cNvPr id="90166" name="Group 118"/>
          <p:cNvGrpSpPr/>
          <p:nvPr/>
        </p:nvGrpSpPr>
        <p:grpSpPr>
          <a:xfrm>
            <a:off x="6588125" y="6445250"/>
            <a:ext cx="792163" cy="366713"/>
            <a:chOff x="5193" y="4020"/>
            <a:chExt cx="499" cy="231"/>
          </a:xfrm>
        </p:grpSpPr>
        <p:pic>
          <p:nvPicPr>
            <p:cNvPr id="90167" name="Picture 119" descr="78900">
              <a:hlinkClick r:id="" action="ppaction://hlinkshowjump?jump=firstslide"/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90168" name="Text Box 120">
              <a:hlinkClick r:id="" action="ppaction://hlinkshowjump?jump=firs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008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008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008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5008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5008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2000"/>
                                        <p:tgtEl>
                                          <p:spTgt spid="5008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5008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1000"/>
                                        <p:tgtEl>
                                          <p:spTgt spid="500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5008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5008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008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008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500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5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2000"/>
                                        <p:tgtEl>
                                          <p:spTgt spid="5008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500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1000"/>
                                        <p:tgtEl>
                                          <p:spTgt spid="500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500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2000"/>
                                        <p:tgtEl>
                                          <p:spTgt spid="500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0835" grpId="0"/>
      <p:bldP spid="500836" grpId="0"/>
      <p:bldP spid="500838" grpId="0"/>
      <p:bldP spid="500839" grpId="0"/>
      <p:bldP spid="500841" grpId="0" animBg="1"/>
      <p:bldP spid="500842" grpId="0" animBg="1"/>
      <p:bldP spid="500846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302105" name="Object 25"/>
          <p:cNvGraphicFramePr>
            <a:graphicFrameLocks noChangeAspect="1"/>
          </p:cNvGraphicFramePr>
          <p:nvPr/>
        </p:nvGraphicFramePr>
        <p:xfrm>
          <a:off x="4803775" y="836613"/>
          <a:ext cx="3341688" cy="550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5" name="" r:id="rId1" imgW="1325245" imgH="202565" progId="Equation.3">
                  <p:embed/>
                </p:oleObj>
              </mc:Choice>
              <mc:Fallback>
                <p:oleObj name="" r:id="rId1" imgW="1325245" imgH="202565" progId="Equation.3">
                  <p:embed/>
                  <p:pic>
                    <p:nvPicPr>
                      <p:cNvPr id="0" name="图片 3204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8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803775" y="836613"/>
                        <a:ext cx="3341688" cy="5508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2106" name="Text Box 26"/>
          <p:cNvSpPr txBox="1"/>
          <p:nvPr/>
        </p:nvSpPr>
        <p:spPr>
          <a:xfrm>
            <a:off x="3924300" y="836613"/>
            <a:ext cx="647700" cy="519112"/>
          </a:xfrm>
          <a:prstGeom prst="rect">
            <a:avLst/>
          </a:prstGeom>
          <a:solidFill>
            <a:srgbClr val="990033"/>
          </a:solidFill>
          <a:ln w="28575">
            <a:noFill/>
          </a:ln>
          <a:effectLst>
            <a:prstShdw prst="shdw17" dist="17961" dir="2699999">
              <a:srgbClr val="5C001F"/>
            </a:prstShdw>
          </a:effectLst>
        </p:spPr>
        <p:txBody>
          <a:bodyPr anchor="t" anchorCtr="0">
            <a:spAutoFit/>
          </a:bodyPr>
          <a:p>
            <a:pPr algn="ctr" eaLnBrk="0" hangingPunct="0">
              <a:spcBef>
                <a:spcPct val="50000"/>
              </a:spcBef>
              <a:buClrTx/>
              <a:buFontTx/>
              <a:buNone/>
            </a:pP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解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graphicFrame>
        <p:nvGraphicFramePr>
          <p:cNvPr id="302107" name="Object 27"/>
          <p:cNvGraphicFramePr>
            <a:graphicFrameLocks noChangeAspect="1"/>
          </p:cNvGraphicFramePr>
          <p:nvPr/>
        </p:nvGraphicFramePr>
        <p:xfrm>
          <a:off x="4803775" y="1412875"/>
          <a:ext cx="1495425" cy="550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7" name="" r:id="rId3" imgW="584835" imgH="202565" progId="Equation.3">
                  <p:embed/>
                </p:oleObj>
              </mc:Choice>
              <mc:Fallback>
                <p:oleObj name="" r:id="rId3" imgW="584835" imgH="202565" progId="Equation.3">
                  <p:embed/>
                  <p:pic>
                    <p:nvPicPr>
                      <p:cNvPr id="0" name="图片 3206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8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803775" y="1412875"/>
                        <a:ext cx="1495425" cy="5508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2108" name="Object 28"/>
          <p:cNvGraphicFramePr>
            <a:graphicFrameLocks noChangeAspect="1"/>
          </p:cNvGraphicFramePr>
          <p:nvPr/>
        </p:nvGraphicFramePr>
        <p:xfrm>
          <a:off x="4787900" y="2012950"/>
          <a:ext cx="3903663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6" name="" r:id="rId5" imgW="1544955" imgH="202565" progId="Equation.3">
                  <p:embed/>
                </p:oleObj>
              </mc:Choice>
              <mc:Fallback>
                <p:oleObj name="" r:id="rId5" imgW="1544955" imgH="202565" progId="Equation.3">
                  <p:embed/>
                  <p:pic>
                    <p:nvPicPr>
                      <p:cNvPr id="0" name="图片 3205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00008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787900" y="2012950"/>
                        <a:ext cx="3903663" cy="5524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02147" name="Group 67"/>
          <p:cNvGrpSpPr/>
          <p:nvPr/>
        </p:nvGrpSpPr>
        <p:grpSpPr>
          <a:xfrm>
            <a:off x="2051050" y="1196975"/>
            <a:ext cx="503238" cy="503238"/>
            <a:chOff x="884" y="210"/>
            <a:chExt cx="317" cy="317"/>
          </a:xfrm>
        </p:grpSpPr>
        <p:sp>
          <p:nvSpPr>
            <p:cNvPr id="91142" name="Line 68"/>
            <p:cNvSpPr/>
            <p:nvPr/>
          </p:nvSpPr>
          <p:spPr>
            <a:xfrm>
              <a:off x="884" y="527"/>
              <a:ext cx="317" cy="0"/>
            </a:xfrm>
            <a:prstGeom prst="line">
              <a:avLst/>
            </a:prstGeom>
            <a:ln w="38100" cap="sq" cmpd="sng">
              <a:solidFill>
                <a:srgbClr val="FF3300"/>
              </a:solidFill>
              <a:prstDash val="solid"/>
              <a:round/>
              <a:headEnd type="triangle" w="med" len="med"/>
              <a:tailEnd type="none" w="med" len="med"/>
            </a:ln>
          </p:spPr>
        </p:sp>
        <p:sp>
          <p:nvSpPr>
            <p:cNvPr id="91143" name="Text Box 69" descr="斜纹布"/>
            <p:cNvSpPr txBox="1"/>
            <p:nvPr/>
          </p:nvSpPr>
          <p:spPr>
            <a:xfrm>
              <a:off x="884" y="210"/>
              <a:ext cx="273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I</a:t>
              </a:r>
              <a:r>
                <a:rPr lang="en-US" altLang="zh-CN" sz="2400" b="0" baseline="-25000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1</a:t>
              </a:r>
              <a:endParaRPr lang="en-US" altLang="zh-CN" sz="2400" b="0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</p:grpSp>
      <p:grpSp>
        <p:nvGrpSpPr>
          <p:cNvPr id="91144" name="Group 70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91145" name="Picture 71" descr="78900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91146" name="Text Box 72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91147" name="Group 73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91148" name="Picture 74" descr="78900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91149" name="Text Box 75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302241" name="Group 161"/>
          <p:cNvGrpSpPr/>
          <p:nvPr/>
        </p:nvGrpSpPr>
        <p:grpSpPr>
          <a:xfrm>
            <a:off x="539750" y="1268413"/>
            <a:ext cx="3600450" cy="2390775"/>
            <a:chOff x="340" y="799"/>
            <a:chExt cx="2268" cy="1506"/>
          </a:xfrm>
        </p:grpSpPr>
        <p:sp>
          <p:nvSpPr>
            <p:cNvPr id="91151" name="Text Box 93" descr="斜纹布"/>
            <p:cNvSpPr txBox="1"/>
            <p:nvPr/>
          </p:nvSpPr>
          <p:spPr>
            <a:xfrm>
              <a:off x="1882" y="1525"/>
              <a:ext cx="726" cy="327"/>
            </a:xfrm>
            <a:prstGeom prst="rect">
              <a:avLst/>
            </a:prstGeom>
            <a:noFill/>
            <a:ln w="28575">
              <a:noFill/>
            </a:ln>
            <a:effectLst>
              <a:prstShdw prst="shdw17" dist="17961" dir="2699999">
                <a:srgbClr val="3D5C99"/>
              </a:prstShdw>
            </a:effectLst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b="0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Symbol" panose="05050102010706020507" pitchFamily="18" charset="2"/>
                </a:rPr>
                <a:t>-10V</a:t>
              </a:r>
              <a:endParaRPr lang="en-US" altLang="zh-CN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91152" name="Oval 80"/>
            <p:cNvSpPr/>
            <p:nvPr/>
          </p:nvSpPr>
          <p:spPr>
            <a:xfrm>
              <a:off x="839" y="1761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buClrTx/>
                <a:buFontTx/>
                <a:buNone/>
              </a:pPr>
              <a:endParaRPr lang="zh-CN" altLang="zh-CN" sz="2400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91153" name="Rectangle 81"/>
            <p:cNvSpPr/>
            <p:nvPr/>
          </p:nvSpPr>
          <p:spPr>
            <a:xfrm>
              <a:off x="1043" y="1126"/>
              <a:ext cx="612" cy="1179"/>
            </a:xfrm>
            <a:prstGeom prst="rect">
              <a:avLst/>
            </a:prstGeom>
            <a:noFill/>
            <a:ln w="28575" cap="sq" cmpd="sng">
              <a:solidFill>
                <a:srgbClr val="FFCC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  <a:buNone/>
              </a:pPr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91154" name="Oval 82"/>
            <p:cNvSpPr/>
            <p:nvPr/>
          </p:nvSpPr>
          <p:spPr>
            <a:xfrm>
              <a:off x="1474" y="1580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buClrTx/>
                <a:buFontTx/>
                <a:buNone/>
              </a:pPr>
              <a:endParaRPr lang="zh-CN" altLang="zh-CN" sz="2400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91155" name="Text Box 83" descr="斜纹布"/>
            <p:cNvSpPr txBox="1"/>
            <p:nvPr/>
          </p:nvSpPr>
          <p:spPr>
            <a:xfrm>
              <a:off x="340" y="1715"/>
              <a:ext cx="544" cy="327"/>
            </a:xfrm>
            <a:prstGeom prst="rect">
              <a:avLst/>
            </a:prstGeom>
            <a:noFill/>
            <a:ln w="28575">
              <a:noFill/>
            </a:ln>
            <a:effectLst>
              <a:prstShdw prst="shdw17" dist="17961" dir="2699999">
                <a:srgbClr val="3D5C99"/>
              </a:prstShdw>
            </a:effectLst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b="0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10V</a:t>
              </a:r>
              <a:endPara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91156" name="Line 84"/>
            <p:cNvSpPr/>
            <p:nvPr/>
          </p:nvSpPr>
          <p:spPr>
            <a:xfrm>
              <a:off x="1474" y="1761"/>
              <a:ext cx="363" cy="0"/>
            </a:xfrm>
            <a:prstGeom prst="line">
              <a:avLst/>
            </a:prstGeom>
            <a:ln w="38100" cap="sq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1157" name="Line 85"/>
            <p:cNvSpPr/>
            <p:nvPr/>
          </p:nvSpPr>
          <p:spPr>
            <a:xfrm>
              <a:off x="1678" y="1126"/>
              <a:ext cx="499" cy="0"/>
            </a:xfrm>
            <a:prstGeom prst="line">
              <a:avLst/>
            </a:prstGeom>
            <a:ln w="28575" cap="sq" cmpd="sng">
              <a:solidFill>
                <a:srgbClr val="FFCC00"/>
              </a:solidFill>
              <a:prstDash val="solid"/>
              <a:round/>
              <a:headEnd type="oval" w="med" len="med"/>
              <a:tailEnd type="oval" w="med" len="med"/>
            </a:ln>
          </p:spPr>
        </p:sp>
        <p:sp>
          <p:nvSpPr>
            <p:cNvPr id="91158" name="Line 86"/>
            <p:cNvSpPr/>
            <p:nvPr/>
          </p:nvSpPr>
          <p:spPr>
            <a:xfrm>
              <a:off x="1678" y="2305"/>
              <a:ext cx="499" cy="0"/>
            </a:xfrm>
            <a:prstGeom prst="line">
              <a:avLst/>
            </a:prstGeom>
            <a:ln w="28575" cap="sq" cmpd="sng">
              <a:solidFill>
                <a:srgbClr val="FFCC00"/>
              </a:solidFill>
              <a:prstDash val="solid"/>
              <a:round/>
              <a:headEnd type="oval" w="med" len="med"/>
              <a:tailEnd type="oval" w="med" len="med"/>
            </a:ln>
          </p:spPr>
        </p:sp>
        <p:sp>
          <p:nvSpPr>
            <p:cNvPr id="91159" name="Text Box 87" descr="斜纹布"/>
            <p:cNvSpPr txBox="1"/>
            <p:nvPr/>
          </p:nvSpPr>
          <p:spPr>
            <a:xfrm>
              <a:off x="2041" y="1081"/>
              <a:ext cx="317" cy="327"/>
            </a:xfrm>
            <a:prstGeom prst="rect">
              <a:avLst/>
            </a:prstGeom>
            <a:noFill/>
            <a:ln w="28575">
              <a:noFill/>
            </a:ln>
            <a:effectLst>
              <a:prstShdw prst="shdw17" dist="17961" dir="2699999">
                <a:srgbClr val="3D5C99"/>
              </a:prstShdw>
            </a:effectLst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b="0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+</a:t>
              </a:r>
              <a:endPara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91160" name="Text Box 88" descr="斜纹布"/>
            <p:cNvSpPr txBox="1"/>
            <p:nvPr/>
          </p:nvSpPr>
          <p:spPr>
            <a:xfrm flipV="1">
              <a:off x="635" y="1534"/>
              <a:ext cx="317" cy="327"/>
            </a:xfrm>
            <a:prstGeom prst="rect">
              <a:avLst/>
            </a:prstGeom>
            <a:noFill/>
            <a:ln w="28575">
              <a:noFill/>
            </a:ln>
            <a:effectLst>
              <a:prstShdw prst="shdw17" dist="17961" dir="2699999">
                <a:srgbClr val="3D5C99"/>
              </a:prstShdw>
            </a:effectLst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b="0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+</a:t>
              </a:r>
              <a:endPara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91161" name="Text Box 89" descr="斜纹布"/>
            <p:cNvSpPr txBox="1"/>
            <p:nvPr/>
          </p:nvSpPr>
          <p:spPr>
            <a:xfrm>
              <a:off x="657" y="1943"/>
              <a:ext cx="227" cy="327"/>
            </a:xfrm>
            <a:prstGeom prst="rect">
              <a:avLst/>
            </a:prstGeom>
            <a:noFill/>
            <a:ln w="28575">
              <a:noFill/>
            </a:ln>
            <a:effectLst>
              <a:prstShdw prst="shdw17" dist="17961" dir="2699999">
                <a:srgbClr val="3D5C99"/>
              </a:prstShdw>
            </a:effectLst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b="0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Symbol" panose="05050102010706020507" pitchFamily="18" charset="2"/>
                </a:rPr>
                <a:t>-</a:t>
              </a:r>
              <a:endParaRPr lang="en-US" altLang="zh-CN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91162" name="Text Box 90" descr="斜纹布"/>
            <p:cNvSpPr txBox="1"/>
            <p:nvPr/>
          </p:nvSpPr>
          <p:spPr>
            <a:xfrm>
              <a:off x="2018" y="1943"/>
              <a:ext cx="227" cy="327"/>
            </a:xfrm>
            <a:prstGeom prst="rect">
              <a:avLst/>
            </a:prstGeom>
            <a:noFill/>
            <a:ln w="28575">
              <a:noFill/>
            </a:ln>
            <a:effectLst>
              <a:prstShdw prst="shdw17" dist="17961" dir="2699999">
                <a:srgbClr val="3D5C99"/>
              </a:prstShdw>
            </a:effectLst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b="0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Symbol" panose="05050102010706020507" pitchFamily="18" charset="2"/>
                </a:rPr>
                <a:t>-</a:t>
              </a:r>
              <a:endParaRPr lang="en-US" altLang="zh-CN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91163" name="Line 91"/>
            <p:cNvSpPr/>
            <p:nvPr/>
          </p:nvSpPr>
          <p:spPr>
            <a:xfrm flipV="1">
              <a:off x="1655" y="1207"/>
              <a:ext cx="0" cy="318"/>
            </a:xfrm>
            <a:prstGeom prst="line">
              <a:avLst/>
            </a:prstGeom>
            <a:ln w="38100" cap="sq" cmpd="sng">
              <a:solidFill>
                <a:srgbClr val="00CC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91164" name="Text Box 92" descr="斜纹布"/>
            <p:cNvSpPr txBox="1"/>
            <p:nvPr/>
          </p:nvSpPr>
          <p:spPr>
            <a:xfrm>
              <a:off x="1292" y="1207"/>
              <a:ext cx="408" cy="327"/>
            </a:xfrm>
            <a:prstGeom prst="rect">
              <a:avLst/>
            </a:prstGeom>
            <a:noFill/>
            <a:ln w="28575">
              <a:noFill/>
            </a:ln>
            <a:effectLst>
              <a:prstShdw prst="shdw17" dist="17961" dir="2699999">
                <a:srgbClr val="3D5C99"/>
              </a:prstShdw>
            </a:effectLst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b="0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1A</a:t>
              </a:r>
              <a:endPara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91165" name="Line 94"/>
            <p:cNvSpPr/>
            <p:nvPr/>
          </p:nvSpPr>
          <p:spPr>
            <a:xfrm>
              <a:off x="1746" y="1217"/>
              <a:ext cx="317" cy="0"/>
            </a:xfrm>
            <a:prstGeom prst="line">
              <a:avLst/>
            </a:prstGeom>
            <a:ln w="38100" cap="sq" cmpd="sng">
              <a:solidFill>
                <a:srgbClr val="00CCFF"/>
              </a:solidFill>
              <a:prstDash val="solid"/>
              <a:round/>
              <a:headEnd type="triangle" w="med" len="med"/>
              <a:tailEnd type="none" w="med" len="med"/>
            </a:ln>
          </p:spPr>
        </p:sp>
        <p:sp>
          <p:nvSpPr>
            <p:cNvPr id="91166" name="Text Box 95" descr="斜纹布"/>
            <p:cNvSpPr txBox="1"/>
            <p:nvPr/>
          </p:nvSpPr>
          <p:spPr>
            <a:xfrm>
              <a:off x="1655" y="799"/>
              <a:ext cx="544" cy="327"/>
            </a:xfrm>
            <a:prstGeom prst="rect">
              <a:avLst/>
            </a:prstGeom>
            <a:noFill/>
            <a:ln w="28575">
              <a:noFill/>
            </a:ln>
            <a:effectLst>
              <a:prstShdw prst="shdw17" dist="17961" dir="2699999">
                <a:srgbClr val="3D5C99"/>
              </a:prstShdw>
            </a:effectLst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I</a:t>
              </a:r>
              <a:r>
                <a:rPr lang="en-US" altLang="zh-CN" b="0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 =?</a:t>
              </a:r>
              <a:endPara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91167" name="Text Box 96" descr="斜纹布"/>
            <p:cNvSpPr txBox="1"/>
            <p:nvPr/>
          </p:nvSpPr>
          <p:spPr>
            <a:xfrm>
              <a:off x="431" y="1262"/>
              <a:ext cx="589" cy="327"/>
            </a:xfrm>
            <a:prstGeom prst="rect">
              <a:avLst/>
            </a:prstGeom>
            <a:noFill/>
            <a:ln w="28575">
              <a:noFill/>
            </a:ln>
            <a:effectLst>
              <a:prstShdw prst="shdw17" dist="17961" dir="2699999">
                <a:srgbClr val="3D5C99"/>
              </a:prstShdw>
            </a:effectLst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b="0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10</a:t>
              </a:r>
              <a:endPara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91168" name="Rectangle 98"/>
            <p:cNvSpPr/>
            <p:nvPr/>
          </p:nvSpPr>
          <p:spPr>
            <a:xfrm>
              <a:off x="975" y="1262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>
                <a:buClrTx/>
                <a:buFontTx/>
                <a:buNone/>
              </a:pPr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</p:grpSp>
      <p:sp>
        <p:nvSpPr>
          <p:cNvPr id="302201" name="Text Box 121" descr="斜纹布"/>
          <p:cNvSpPr txBox="1"/>
          <p:nvPr/>
        </p:nvSpPr>
        <p:spPr>
          <a:xfrm>
            <a:off x="539750" y="549275"/>
            <a:ext cx="923925" cy="579438"/>
          </a:xfrm>
          <a:prstGeom prst="rect">
            <a:avLst/>
          </a:prstGeom>
          <a:noFill/>
          <a:ln w="28575">
            <a:noFill/>
          </a:ln>
          <a:effectLst>
            <a:prstShdw prst="shdw17" dist="17961" dir="2699999">
              <a:srgbClr val="3D5C99"/>
            </a:prstShdw>
          </a:effectLst>
        </p:spPr>
        <p:txBody>
          <a:bodyPr anchor="t" anchorCtr="0">
            <a:spAutoFit/>
          </a:bodyPr>
          <a:p>
            <a:pPr algn="ctr" eaLnBrk="0" hangingPunct="0">
              <a:spcBef>
                <a:spcPct val="50000"/>
              </a:spcBef>
              <a:buClrTx/>
              <a:buFontTx/>
              <a:buNone/>
            </a:pPr>
            <a:r>
              <a:rPr lang="zh-CN" altLang="en-US" sz="3200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例</a:t>
            </a:r>
            <a:r>
              <a:rPr lang="en-US" altLang="zh-CN" sz="3200" b="0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5</a:t>
            </a:r>
            <a:endParaRPr lang="en-US" altLang="zh-CN" sz="3200" b="0" dirty="0">
              <a:solidFill>
                <a:schemeClr val="tx1"/>
              </a:solidFill>
              <a:latin typeface="Times New Roman" panose="02020603050405020304" pitchFamily="18" charset="0"/>
              <a:ea typeface="仿宋_GB2312" pitchFamily="49" charset="-122"/>
              <a:sym typeface="Symbol" panose="05050102010706020507" pitchFamily="18" charset="2"/>
            </a:endParaRPr>
          </a:p>
        </p:txBody>
      </p:sp>
      <p:sp>
        <p:nvSpPr>
          <p:cNvPr id="302203" name="Text Box 123"/>
          <p:cNvSpPr txBox="1"/>
          <p:nvPr/>
        </p:nvSpPr>
        <p:spPr>
          <a:xfrm>
            <a:off x="1547813" y="549275"/>
            <a:ext cx="1728787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>
              <a:spcBef>
                <a:spcPct val="50000"/>
              </a:spcBef>
              <a:buClrTx/>
              <a:buFontTx/>
              <a:buNone/>
            </a:pPr>
            <a:r>
              <a:rPr lang="zh-CN" altLang="en-US" dirty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求电流 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I</a:t>
            </a:r>
            <a:endParaRPr lang="en-US" altLang="zh-CN" i="1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  <a:sym typeface="Symbol" panose="05050102010706020507" pitchFamily="18" charset="2"/>
            </a:endParaRPr>
          </a:p>
        </p:txBody>
      </p:sp>
      <p:sp>
        <p:nvSpPr>
          <p:cNvPr id="302205" name="Text Box 125" descr="斜纹布"/>
          <p:cNvSpPr txBox="1"/>
          <p:nvPr/>
        </p:nvSpPr>
        <p:spPr>
          <a:xfrm>
            <a:off x="4859338" y="2708275"/>
            <a:ext cx="923925" cy="579438"/>
          </a:xfrm>
          <a:prstGeom prst="rect">
            <a:avLst/>
          </a:prstGeom>
          <a:noFill/>
          <a:ln w="28575">
            <a:noFill/>
          </a:ln>
          <a:effectLst>
            <a:prstShdw prst="shdw17" dist="17961" dir="2699999">
              <a:srgbClr val="3D5C99"/>
            </a:prstShdw>
          </a:effectLst>
        </p:spPr>
        <p:txBody>
          <a:bodyPr anchor="t" anchorCtr="0">
            <a:spAutoFit/>
          </a:bodyPr>
          <a:p>
            <a:pPr algn="ctr" eaLnBrk="0" hangingPunct="0">
              <a:spcBef>
                <a:spcPct val="50000"/>
              </a:spcBef>
              <a:buClrTx/>
              <a:buFontTx/>
              <a:buNone/>
            </a:pPr>
            <a:r>
              <a:rPr lang="zh-CN" altLang="en-US" sz="3200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例</a:t>
            </a:r>
            <a:r>
              <a:rPr lang="en-US" altLang="zh-CN" sz="3200" b="0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6</a:t>
            </a:r>
            <a:endParaRPr lang="en-US" altLang="zh-CN" sz="3200" b="0" dirty="0">
              <a:solidFill>
                <a:schemeClr val="tx1"/>
              </a:solidFill>
              <a:latin typeface="Times New Roman" panose="02020603050405020304" pitchFamily="18" charset="0"/>
              <a:ea typeface="仿宋_GB2312" pitchFamily="49" charset="-122"/>
              <a:sym typeface="Symbol" panose="05050102010706020507" pitchFamily="18" charset="2"/>
            </a:endParaRPr>
          </a:p>
        </p:txBody>
      </p:sp>
      <p:sp>
        <p:nvSpPr>
          <p:cNvPr id="302206" name="Text Box 126"/>
          <p:cNvSpPr txBox="1"/>
          <p:nvPr/>
        </p:nvSpPr>
        <p:spPr>
          <a:xfrm>
            <a:off x="5724525" y="2708275"/>
            <a:ext cx="1728788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>
              <a:spcBef>
                <a:spcPct val="50000"/>
              </a:spcBef>
              <a:buClrTx/>
              <a:buFontTx/>
              <a:buNone/>
            </a:pPr>
            <a:r>
              <a:rPr lang="zh-CN" altLang="en-US" dirty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求电压</a:t>
            </a:r>
            <a:r>
              <a:rPr lang="zh-CN" altLang="en-US" b="0" dirty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 </a:t>
            </a:r>
            <a:r>
              <a:rPr lang="en-US" altLang="zh-CN" b="0" i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U</a:t>
            </a:r>
            <a:endParaRPr lang="en-US" altLang="zh-CN" b="0" i="1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  <a:sym typeface="Symbol" panose="05050102010706020507" pitchFamily="18" charset="2"/>
            </a:endParaRPr>
          </a:p>
        </p:txBody>
      </p:sp>
      <p:sp>
        <p:nvSpPr>
          <p:cNvPr id="302207" name="Text Box 127"/>
          <p:cNvSpPr txBox="1"/>
          <p:nvPr/>
        </p:nvSpPr>
        <p:spPr>
          <a:xfrm>
            <a:off x="684213" y="4005263"/>
            <a:ext cx="647700" cy="519112"/>
          </a:xfrm>
          <a:prstGeom prst="rect">
            <a:avLst/>
          </a:prstGeom>
          <a:solidFill>
            <a:srgbClr val="990033"/>
          </a:solidFill>
          <a:ln w="28575">
            <a:noFill/>
          </a:ln>
          <a:effectLst>
            <a:prstShdw prst="shdw17" dist="17961" dir="2699999">
              <a:srgbClr val="5C001F"/>
            </a:prstShdw>
          </a:effectLst>
        </p:spPr>
        <p:txBody>
          <a:bodyPr anchor="t" anchorCtr="0">
            <a:spAutoFit/>
          </a:bodyPr>
          <a:p>
            <a:pPr algn="ctr" eaLnBrk="0" hangingPunct="0">
              <a:spcBef>
                <a:spcPct val="50000"/>
              </a:spcBef>
              <a:buClrTx/>
              <a:buFontTx/>
              <a:buNone/>
            </a:pP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解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graphicFrame>
        <p:nvGraphicFramePr>
          <p:cNvPr id="302208" name="Object 128"/>
          <p:cNvGraphicFramePr>
            <a:graphicFrameLocks noChangeAspect="1"/>
          </p:cNvGraphicFramePr>
          <p:nvPr/>
        </p:nvGraphicFramePr>
        <p:xfrm>
          <a:off x="1692275" y="4076700"/>
          <a:ext cx="2274888" cy="395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0" name="" r:id="rId8" imgW="989330" imgH="156210" progId="Equation.3">
                  <p:embed/>
                </p:oleObj>
              </mc:Choice>
              <mc:Fallback>
                <p:oleObj name="" r:id="rId8" imgW="989330" imgH="156210" progId="Equation.3">
                  <p:embed/>
                  <p:pic>
                    <p:nvPicPr>
                      <p:cNvPr id="0" name="图片 3209"/>
                      <p:cNvPicPr/>
                      <p:nvPr/>
                    </p:nvPicPr>
                    <p:blipFill>
                      <a:blip r:embed="rId9">
                        <a:clrChange>
                          <a:clrFrom>
                            <a:srgbClr val="000000"/>
                          </a:clrFrom>
                          <a:clrTo>
                            <a:srgbClr val="00008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692275" y="4076700"/>
                        <a:ext cx="2274888" cy="3952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2209" name="Object 129"/>
          <p:cNvGraphicFramePr>
            <a:graphicFrameLocks noChangeAspect="1"/>
          </p:cNvGraphicFramePr>
          <p:nvPr/>
        </p:nvGraphicFramePr>
        <p:xfrm>
          <a:off x="1633538" y="4724400"/>
          <a:ext cx="2362200" cy="436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9" name="" r:id="rId10" imgW="931545" imgH="156210" progId="Equation.3">
                  <p:embed/>
                </p:oleObj>
              </mc:Choice>
              <mc:Fallback>
                <p:oleObj name="" r:id="rId10" imgW="931545" imgH="156210" progId="Equation.3">
                  <p:embed/>
                  <p:pic>
                    <p:nvPicPr>
                      <p:cNvPr id="0" name="图片 3208"/>
                      <p:cNvPicPr/>
                      <p:nvPr/>
                    </p:nvPicPr>
                    <p:blipFill>
                      <a:blip r:embed="rId11">
                        <a:clrChange>
                          <a:clrFrom>
                            <a:srgbClr val="000000"/>
                          </a:clrFrom>
                          <a:clrTo>
                            <a:srgbClr val="00008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633538" y="4724400"/>
                        <a:ext cx="2362200" cy="4365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2210" name="Object 130"/>
          <p:cNvGraphicFramePr>
            <a:graphicFrameLocks noChangeAspect="1"/>
          </p:cNvGraphicFramePr>
          <p:nvPr/>
        </p:nvGraphicFramePr>
        <p:xfrm>
          <a:off x="827088" y="5445125"/>
          <a:ext cx="3973512" cy="414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8" name="" r:id="rId12" imgW="1661160" imgH="156210" progId="Equation.3">
                  <p:embed/>
                </p:oleObj>
              </mc:Choice>
              <mc:Fallback>
                <p:oleObj name="" r:id="rId12" imgW="1661160" imgH="156210" progId="Equation.3">
                  <p:embed/>
                  <p:pic>
                    <p:nvPicPr>
                      <p:cNvPr id="0" name="图片 3207"/>
                      <p:cNvPicPr/>
                      <p:nvPr/>
                    </p:nvPicPr>
                    <p:blipFill>
                      <a:blip r:embed="rId13">
                        <a:clrChange>
                          <a:clrFrom>
                            <a:srgbClr val="000000"/>
                          </a:clrFrom>
                          <a:clrTo>
                            <a:srgbClr val="00008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827088" y="5445125"/>
                        <a:ext cx="3973512" cy="4143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02242" name="Group 162"/>
          <p:cNvGrpSpPr/>
          <p:nvPr/>
        </p:nvGrpSpPr>
        <p:grpSpPr>
          <a:xfrm>
            <a:off x="4932363" y="3284538"/>
            <a:ext cx="4068762" cy="2592387"/>
            <a:chOff x="3107" y="2069"/>
            <a:chExt cx="2563" cy="1633"/>
          </a:xfrm>
        </p:grpSpPr>
        <p:sp>
          <p:nvSpPr>
            <p:cNvPr id="91178" name="Line 132"/>
            <p:cNvSpPr/>
            <p:nvPr/>
          </p:nvSpPr>
          <p:spPr>
            <a:xfrm>
              <a:off x="5058" y="2523"/>
              <a:ext cx="0" cy="1179"/>
            </a:xfrm>
            <a:prstGeom prst="line">
              <a:avLst/>
            </a:prstGeom>
            <a:ln w="28575" cap="sq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1179" name="Oval 133"/>
            <p:cNvSpPr/>
            <p:nvPr/>
          </p:nvSpPr>
          <p:spPr>
            <a:xfrm>
              <a:off x="4332" y="2341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buClrTx/>
                <a:buFontTx/>
                <a:buNone/>
              </a:pPr>
              <a:endParaRPr lang="zh-CN" altLang="zh-CN" sz="2400" b="0" dirty="0">
                <a:solidFill>
                  <a:schemeClr val="tx1"/>
                </a:solidFill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91180" name="Rectangle 134"/>
            <p:cNvSpPr/>
            <p:nvPr/>
          </p:nvSpPr>
          <p:spPr>
            <a:xfrm>
              <a:off x="3334" y="2523"/>
              <a:ext cx="613" cy="1179"/>
            </a:xfrm>
            <a:prstGeom prst="rect">
              <a:avLst/>
            </a:prstGeom>
            <a:noFill/>
            <a:ln w="28575" cap="sq" cmpd="sng">
              <a:solidFill>
                <a:srgbClr val="FFCC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  <a:buNone/>
              </a:pPr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91181" name="Oval 135"/>
            <p:cNvSpPr/>
            <p:nvPr/>
          </p:nvSpPr>
          <p:spPr>
            <a:xfrm>
              <a:off x="3107" y="2976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buClrTx/>
                <a:buFontTx/>
                <a:buNone/>
              </a:pPr>
              <a:endParaRPr lang="zh-CN" altLang="zh-CN" sz="2400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91182" name="Rectangle 136"/>
            <p:cNvSpPr/>
            <p:nvPr/>
          </p:nvSpPr>
          <p:spPr>
            <a:xfrm>
              <a:off x="4967" y="2976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>
                <a:buClrTx/>
                <a:buFontTx/>
                <a:buNone/>
              </a:pPr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91183" name="Rectangle 137"/>
            <p:cNvSpPr/>
            <p:nvPr/>
          </p:nvSpPr>
          <p:spPr>
            <a:xfrm>
              <a:off x="3878" y="2931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>
                <a:buClrTx/>
                <a:buFontTx/>
                <a:buNone/>
              </a:pPr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91184" name="Text Box 138" descr="斜纹布"/>
            <p:cNvSpPr txBox="1"/>
            <p:nvPr/>
          </p:nvSpPr>
          <p:spPr>
            <a:xfrm>
              <a:off x="4287" y="2069"/>
              <a:ext cx="589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b="0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4V</a:t>
              </a:r>
              <a:endPara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91185" name="Line 139"/>
            <p:cNvSpPr/>
            <p:nvPr/>
          </p:nvSpPr>
          <p:spPr>
            <a:xfrm>
              <a:off x="3107" y="3157"/>
              <a:ext cx="363" cy="0"/>
            </a:xfrm>
            <a:prstGeom prst="line">
              <a:avLst/>
            </a:prstGeom>
            <a:ln w="38100" cap="sq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1186" name="Line 140"/>
            <p:cNvSpPr/>
            <p:nvPr/>
          </p:nvSpPr>
          <p:spPr>
            <a:xfrm>
              <a:off x="3947" y="2523"/>
              <a:ext cx="1111" cy="0"/>
            </a:xfrm>
            <a:prstGeom prst="line">
              <a:avLst/>
            </a:prstGeom>
            <a:ln w="28575" cap="sq" cmpd="sng">
              <a:solidFill>
                <a:srgbClr val="FFCC00"/>
              </a:solidFill>
              <a:prstDash val="solid"/>
              <a:round/>
              <a:headEnd type="oval" w="med" len="med"/>
              <a:tailEnd type="oval" w="med" len="med"/>
            </a:ln>
          </p:spPr>
        </p:sp>
        <p:sp>
          <p:nvSpPr>
            <p:cNvPr id="91187" name="Line 141"/>
            <p:cNvSpPr/>
            <p:nvPr/>
          </p:nvSpPr>
          <p:spPr>
            <a:xfrm>
              <a:off x="3947" y="3702"/>
              <a:ext cx="1111" cy="0"/>
            </a:xfrm>
            <a:prstGeom prst="line">
              <a:avLst/>
            </a:prstGeom>
            <a:ln w="28575" cap="sq" cmpd="sng">
              <a:solidFill>
                <a:srgbClr val="FFCC00"/>
              </a:solidFill>
              <a:prstDash val="solid"/>
              <a:round/>
              <a:headEnd type="oval" w="med" len="med"/>
              <a:tailEnd type="oval" w="med" len="med"/>
            </a:ln>
          </p:spPr>
        </p:sp>
        <p:sp>
          <p:nvSpPr>
            <p:cNvPr id="91188" name="Text Box 142" descr="斜纹布"/>
            <p:cNvSpPr txBox="1"/>
            <p:nvPr/>
          </p:nvSpPr>
          <p:spPr>
            <a:xfrm>
              <a:off x="4786" y="2478"/>
              <a:ext cx="317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b="0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+</a:t>
              </a:r>
              <a:endPara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91189" name="Text Box 143" descr="斜纹布"/>
            <p:cNvSpPr txBox="1"/>
            <p:nvPr/>
          </p:nvSpPr>
          <p:spPr>
            <a:xfrm>
              <a:off x="4831" y="3340"/>
              <a:ext cx="227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b="0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Symbol" panose="05050102010706020507" pitchFamily="18" charset="2"/>
                </a:rPr>
                <a:t>-</a:t>
              </a:r>
              <a:endParaRPr lang="en-US" altLang="zh-CN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91190" name="Line 144"/>
            <p:cNvSpPr/>
            <p:nvPr/>
          </p:nvSpPr>
          <p:spPr>
            <a:xfrm flipV="1">
              <a:off x="3334" y="2614"/>
              <a:ext cx="0" cy="318"/>
            </a:xfrm>
            <a:prstGeom prst="line">
              <a:avLst/>
            </a:prstGeom>
            <a:ln w="38100" cap="sq" cmpd="sng">
              <a:solidFill>
                <a:srgbClr val="00CC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91191" name="Text Box 145" descr="斜纹布"/>
            <p:cNvSpPr txBox="1"/>
            <p:nvPr/>
          </p:nvSpPr>
          <p:spPr>
            <a:xfrm>
              <a:off x="3288" y="2614"/>
              <a:ext cx="545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b="0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10A</a:t>
              </a:r>
              <a:endPara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91192" name="Text Box 146" descr="斜纹布"/>
            <p:cNvSpPr txBox="1"/>
            <p:nvPr/>
          </p:nvSpPr>
          <p:spPr>
            <a:xfrm>
              <a:off x="4332" y="2931"/>
              <a:ext cx="771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U</a:t>
              </a:r>
              <a:r>
                <a:rPr lang="en-US" altLang="zh-CN" b="0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 =?</a:t>
              </a:r>
              <a:endPara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91193" name="Text Box 147" descr="斜纹布"/>
            <p:cNvSpPr txBox="1"/>
            <p:nvPr/>
          </p:nvSpPr>
          <p:spPr>
            <a:xfrm>
              <a:off x="3878" y="2931"/>
              <a:ext cx="635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b="0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2</a:t>
              </a:r>
              <a:endPara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91194" name="Text Box 149" descr="斜纹布"/>
            <p:cNvSpPr txBox="1"/>
            <p:nvPr/>
          </p:nvSpPr>
          <p:spPr>
            <a:xfrm>
              <a:off x="4060" y="2206"/>
              <a:ext cx="317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b="0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+</a:t>
              </a:r>
              <a:endPara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91195" name="Text Box 150" descr="斜纹布"/>
            <p:cNvSpPr txBox="1"/>
            <p:nvPr/>
          </p:nvSpPr>
          <p:spPr>
            <a:xfrm>
              <a:off x="4786" y="2205"/>
              <a:ext cx="227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b="0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Symbol" panose="05050102010706020507" pitchFamily="18" charset="2"/>
                </a:rPr>
                <a:t>-</a:t>
              </a:r>
              <a:endParaRPr lang="en-US" altLang="zh-CN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91196" name="Line 151"/>
            <p:cNvSpPr/>
            <p:nvPr/>
          </p:nvSpPr>
          <p:spPr>
            <a:xfrm>
              <a:off x="5194" y="2614"/>
              <a:ext cx="0" cy="363"/>
            </a:xfrm>
            <a:prstGeom prst="line">
              <a:avLst/>
            </a:prstGeom>
            <a:ln w="28575" cap="sq" cmpd="sng">
              <a:solidFill>
                <a:srgbClr val="00CC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91197" name="Text Box 152" descr="斜纹布"/>
            <p:cNvSpPr txBox="1"/>
            <p:nvPr/>
          </p:nvSpPr>
          <p:spPr>
            <a:xfrm>
              <a:off x="5125" y="2569"/>
              <a:ext cx="545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b="0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3A</a:t>
              </a:r>
              <a:endPara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</p:grpSp>
      <p:grpSp>
        <p:nvGrpSpPr>
          <p:cNvPr id="302234" name="Group 154"/>
          <p:cNvGrpSpPr/>
          <p:nvPr/>
        </p:nvGrpSpPr>
        <p:grpSpPr>
          <a:xfrm>
            <a:off x="6372225" y="5229225"/>
            <a:ext cx="431800" cy="647700"/>
            <a:chOff x="2925" y="2523"/>
            <a:chExt cx="272" cy="408"/>
          </a:xfrm>
        </p:grpSpPr>
        <p:sp>
          <p:nvSpPr>
            <p:cNvPr id="91199" name="Line 155"/>
            <p:cNvSpPr/>
            <p:nvPr/>
          </p:nvSpPr>
          <p:spPr>
            <a:xfrm>
              <a:off x="2925" y="2523"/>
              <a:ext cx="0" cy="408"/>
            </a:xfrm>
            <a:prstGeom prst="line">
              <a:avLst/>
            </a:prstGeom>
            <a:ln w="38100" cap="sq" cmpd="sng">
              <a:solidFill>
                <a:srgbClr val="FF33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91200" name="Text Box 156" descr="斜纹布"/>
            <p:cNvSpPr txBox="1"/>
            <p:nvPr/>
          </p:nvSpPr>
          <p:spPr>
            <a:xfrm>
              <a:off x="2925" y="2568"/>
              <a:ext cx="272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I</a:t>
              </a:r>
              <a:endParaRPr lang="en-US" altLang="zh-CN" sz="2400" b="0" i="1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</p:grpSp>
      <p:grpSp>
        <p:nvGrpSpPr>
          <p:cNvPr id="91201" name="Group 166"/>
          <p:cNvGrpSpPr/>
          <p:nvPr/>
        </p:nvGrpSpPr>
        <p:grpSpPr>
          <a:xfrm>
            <a:off x="6588125" y="6445250"/>
            <a:ext cx="792163" cy="366713"/>
            <a:chOff x="5193" y="4020"/>
            <a:chExt cx="499" cy="231"/>
          </a:xfrm>
        </p:grpSpPr>
        <p:pic>
          <p:nvPicPr>
            <p:cNvPr id="91202" name="Picture 167" descr="78900">
              <a:hlinkClick r:id="" action="ppaction://hlinkshowjump?jump=firstslide"/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91203" name="Text Box 168">
              <a:hlinkClick r:id="" action="ppaction://hlinkshowjump?jump=firs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022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022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022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3022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302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2000"/>
                                        <p:tgtEl>
                                          <p:spTgt spid="302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021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021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02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02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70" decel="100000"/>
                                        <p:tgtEl>
                                          <p:spTgt spid="30214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2" dur="770" decel="100000"/>
                                        <p:tgtEl>
                                          <p:spTgt spid="302147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33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302147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34" dur="770" fill="hold"/>
                                        <p:tgtEl>
                                          <p:spTgt spid="3021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35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3021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36" dur="770" fill="hold"/>
                                        <p:tgtEl>
                                          <p:spTgt spid="3021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37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3021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2000"/>
                                        <p:tgtEl>
                                          <p:spTgt spid="302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2000"/>
                                        <p:tgtEl>
                                          <p:spTgt spid="302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2000"/>
                                        <p:tgtEl>
                                          <p:spTgt spid="302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022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022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3022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3022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000"/>
                            </p:stCondLst>
                            <p:childTnLst>
                              <p:par>
                                <p:cTn id="6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302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1500"/>
                            </p:stCondLst>
                            <p:childTnLst>
                              <p:par>
                                <p:cTn id="6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2000"/>
                                        <p:tgtEl>
                                          <p:spTgt spid="302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3022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3022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3022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3022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3022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3022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2000"/>
                                        <p:tgtEl>
                                          <p:spTgt spid="302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2000"/>
                                        <p:tgtEl>
                                          <p:spTgt spid="302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2000"/>
                                        <p:tgtEl>
                                          <p:spTgt spid="302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2106" grpId="0" animBg="1"/>
      <p:bldP spid="302201" grpId="0"/>
      <p:bldP spid="302203" grpId="0"/>
      <p:bldP spid="302205" grpId="0"/>
      <p:bldP spid="302206" grpId="0"/>
      <p:bldP spid="302207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3142" name="Text Box 38"/>
          <p:cNvSpPr txBox="1"/>
          <p:nvPr/>
        </p:nvSpPr>
        <p:spPr>
          <a:xfrm>
            <a:off x="755650" y="4437063"/>
            <a:ext cx="647700" cy="519112"/>
          </a:xfrm>
          <a:prstGeom prst="rect">
            <a:avLst/>
          </a:prstGeom>
          <a:solidFill>
            <a:srgbClr val="990033"/>
          </a:solidFill>
          <a:ln w="28575">
            <a:noFill/>
          </a:ln>
          <a:effectLst>
            <a:prstShdw prst="shdw17" dist="17961" dir="2699999">
              <a:srgbClr val="5C001F"/>
            </a:prstShdw>
          </a:effectLst>
        </p:spPr>
        <p:txBody>
          <a:bodyPr anchor="t" anchorCtr="0">
            <a:spAutoFit/>
          </a:bodyPr>
          <a:p>
            <a:pPr algn="ctr" eaLnBrk="0" hangingPunct="0">
              <a:spcBef>
                <a:spcPct val="50000"/>
              </a:spcBef>
              <a:buClrTx/>
              <a:buFontTx/>
              <a:buNone/>
            </a:pP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解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graphicFrame>
        <p:nvGraphicFramePr>
          <p:cNvPr id="303143" name="Object 39"/>
          <p:cNvGraphicFramePr>
            <a:graphicFrameLocks noChangeAspect="1"/>
          </p:cNvGraphicFramePr>
          <p:nvPr/>
        </p:nvGraphicFramePr>
        <p:xfrm>
          <a:off x="1979613" y="4292600"/>
          <a:ext cx="2159000" cy="922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1" name="" r:id="rId1" imgW="966470" imgH="399415" progId="Equation.3">
                  <p:embed/>
                </p:oleObj>
              </mc:Choice>
              <mc:Fallback>
                <p:oleObj name="" r:id="rId1" imgW="966470" imgH="399415" progId="Equation.3">
                  <p:embed/>
                  <p:pic>
                    <p:nvPicPr>
                      <p:cNvPr id="0" name="图片 3210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8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979613" y="4292600"/>
                        <a:ext cx="2159000" cy="9223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3145" name="Object 41"/>
          <p:cNvGraphicFramePr>
            <a:graphicFrameLocks noChangeAspect="1"/>
          </p:cNvGraphicFramePr>
          <p:nvPr/>
        </p:nvGraphicFramePr>
        <p:xfrm>
          <a:off x="1966913" y="5399088"/>
          <a:ext cx="5845175" cy="550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2" name="" r:id="rId3" imgW="2332355" imgH="202565" progId="Equation.3">
                  <p:embed/>
                </p:oleObj>
              </mc:Choice>
              <mc:Fallback>
                <p:oleObj name="" r:id="rId3" imgW="2332355" imgH="202565" progId="Equation.3">
                  <p:embed/>
                  <p:pic>
                    <p:nvPicPr>
                      <p:cNvPr id="0" name="图片 3211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8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966913" y="5399088"/>
                        <a:ext cx="5845175" cy="5508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3188" name="Group 51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93189" name="Picture 52" descr="7890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93190" name="Text Box 53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93191" name="Group 54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93192" name="Picture 55" descr="7890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93193" name="Text Box 56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303236" name="Group 132"/>
          <p:cNvGrpSpPr/>
          <p:nvPr/>
        </p:nvGrpSpPr>
        <p:grpSpPr>
          <a:xfrm>
            <a:off x="1116013" y="908050"/>
            <a:ext cx="5616575" cy="3687763"/>
            <a:chOff x="703" y="572"/>
            <a:chExt cx="3538" cy="2323"/>
          </a:xfrm>
        </p:grpSpPr>
        <p:sp>
          <p:nvSpPr>
            <p:cNvPr id="93195" name="Oval 94"/>
            <p:cNvSpPr/>
            <p:nvPr/>
          </p:nvSpPr>
          <p:spPr>
            <a:xfrm>
              <a:off x="1202" y="1434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buClrTx/>
                <a:buFontTx/>
                <a:buNone/>
              </a:pPr>
              <a:endParaRPr lang="zh-CN" altLang="zh-CN" sz="2400" b="0" dirty="0">
                <a:solidFill>
                  <a:schemeClr val="tx1"/>
                </a:solidFill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93196" name="Rectangle 95"/>
            <p:cNvSpPr/>
            <p:nvPr/>
          </p:nvSpPr>
          <p:spPr>
            <a:xfrm>
              <a:off x="1384" y="1116"/>
              <a:ext cx="907" cy="1044"/>
            </a:xfrm>
            <a:prstGeom prst="rect">
              <a:avLst/>
            </a:prstGeom>
            <a:noFill/>
            <a:ln w="28575" cap="sq" cmpd="sng">
              <a:solidFill>
                <a:srgbClr val="FFCC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  <a:buNone/>
              </a:pPr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93197" name="AutoShape 96"/>
            <p:cNvSpPr/>
            <p:nvPr/>
          </p:nvSpPr>
          <p:spPr>
            <a:xfrm>
              <a:off x="2744" y="935"/>
              <a:ext cx="499" cy="363"/>
            </a:xfrm>
            <a:prstGeom prst="diamond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  <a:buNone/>
              </a:pPr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93198" name="Rectangle 97" descr="斜纹布"/>
            <p:cNvSpPr/>
            <p:nvPr/>
          </p:nvSpPr>
          <p:spPr>
            <a:xfrm>
              <a:off x="2699" y="2160"/>
              <a:ext cx="862" cy="408"/>
            </a:xfrm>
            <a:prstGeom prst="rect">
              <a:avLst/>
            </a:prstGeom>
            <a:noFill/>
            <a:ln w="28575" cap="sq" cmpd="sng">
              <a:solidFill>
                <a:srgbClr val="FFCC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  <a:buNone/>
              </a:pPr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93199" name="AutoShape 98"/>
            <p:cNvSpPr/>
            <p:nvPr/>
          </p:nvSpPr>
          <p:spPr>
            <a:xfrm>
              <a:off x="2880" y="2387"/>
              <a:ext cx="454" cy="363"/>
            </a:xfrm>
            <a:prstGeom prst="diamond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  <a:buNone/>
              </a:pPr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93200" name="Rectangle 99"/>
            <p:cNvSpPr/>
            <p:nvPr/>
          </p:nvSpPr>
          <p:spPr>
            <a:xfrm>
              <a:off x="2245" y="1479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>
                <a:buClrTx/>
                <a:buFontTx/>
                <a:buNone/>
              </a:pPr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93201" name="Text Box 100" descr="斜纹布"/>
            <p:cNvSpPr txBox="1"/>
            <p:nvPr/>
          </p:nvSpPr>
          <p:spPr>
            <a:xfrm>
              <a:off x="703" y="1434"/>
              <a:ext cx="544" cy="327"/>
            </a:xfrm>
            <a:prstGeom prst="rect">
              <a:avLst/>
            </a:prstGeom>
            <a:noFill/>
            <a:ln w="28575">
              <a:noFill/>
            </a:ln>
            <a:effectLst>
              <a:prstShdw prst="shdw17" dist="17961" dir="2699999">
                <a:srgbClr val="3D5C99"/>
              </a:prstShdw>
            </a:effectLst>
          </p:spPr>
          <p:txBody>
            <a:bodyPr anchor="t" anchorCtr="0">
              <a:spAutoFit/>
            </a:bodyPr>
            <a:p>
              <a:pPr algn="ctr" eaLnBrk="0" hangingPunct="0">
                <a:buClrTx/>
                <a:buFontTx/>
                <a:buNone/>
              </a:pPr>
              <a:r>
                <a:rPr lang="en-US" altLang="zh-CN" b="0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10V</a:t>
              </a:r>
              <a:endParaRPr lang="en-US" altLang="zh-CN" b="0" dirty="0"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93202" name="Line 101"/>
            <p:cNvSpPr/>
            <p:nvPr/>
          </p:nvSpPr>
          <p:spPr>
            <a:xfrm>
              <a:off x="2313" y="1117"/>
              <a:ext cx="1678" cy="0"/>
            </a:xfrm>
            <a:prstGeom prst="line">
              <a:avLst/>
            </a:prstGeom>
            <a:ln w="28575" cap="sq" cmpd="sng">
              <a:solidFill>
                <a:srgbClr val="FFCC00"/>
              </a:solidFill>
              <a:prstDash val="solid"/>
              <a:round/>
              <a:headEnd type="oval" w="med" len="med"/>
              <a:tailEnd type="oval" w="med" len="med"/>
            </a:ln>
          </p:spPr>
        </p:sp>
        <p:sp>
          <p:nvSpPr>
            <p:cNvPr id="93203" name="Line 102"/>
            <p:cNvSpPr/>
            <p:nvPr/>
          </p:nvSpPr>
          <p:spPr>
            <a:xfrm>
              <a:off x="2290" y="2159"/>
              <a:ext cx="1678" cy="0"/>
            </a:xfrm>
            <a:prstGeom prst="line">
              <a:avLst/>
            </a:prstGeom>
            <a:ln w="28575" cap="sq" cmpd="sng">
              <a:solidFill>
                <a:srgbClr val="FFCC00"/>
              </a:solidFill>
              <a:prstDash val="solid"/>
              <a:round/>
              <a:headEnd type="oval" w="med" len="med"/>
              <a:tailEnd type="oval" w="med" len="med"/>
            </a:ln>
          </p:spPr>
        </p:sp>
        <p:sp>
          <p:nvSpPr>
            <p:cNvPr id="93204" name="Text Box 103" descr="斜纹布"/>
            <p:cNvSpPr txBox="1"/>
            <p:nvPr/>
          </p:nvSpPr>
          <p:spPr>
            <a:xfrm>
              <a:off x="3764" y="1162"/>
              <a:ext cx="317" cy="327"/>
            </a:xfrm>
            <a:prstGeom prst="rect">
              <a:avLst/>
            </a:prstGeom>
            <a:noFill/>
            <a:ln w="28575">
              <a:noFill/>
            </a:ln>
            <a:effectLst>
              <a:prstShdw prst="shdw17" dist="17961" dir="2699999">
                <a:srgbClr val="3D5C99"/>
              </a:prstShdw>
            </a:effectLst>
          </p:spPr>
          <p:txBody>
            <a:bodyPr anchor="t" anchorCtr="0">
              <a:spAutoFit/>
            </a:bodyPr>
            <a:p>
              <a:pPr algn="ctr" eaLnBrk="0" hangingPunct="0">
                <a:buClrTx/>
                <a:buFontTx/>
                <a:buNone/>
              </a:pPr>
              <a:r>
                <a:rPr lang="en-US" altLang="zh-CN" b="0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+</a:t>
              </a:r>
              <a:endPara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93205" name="Text Box 104" descr="斜纹布"/>
            <p:cNvSpPr txBox="1"/>
            <p:nvPr/>
          </p:nvSpPr>
          <p:spPr>
            <a:xfrm flipV="1">
              <a:off x="1066" y="1162"/>
              <a:ext cx="317" cy="327"/>
            </a:xfrm>
            <a:prstGeom prst="rect">
              <a:avLst/>
            </a:prstGeom>
            <a:noFill/>
            <a:ln w="28575">
              <a:noFill/>
            </a:ln>
            <a:effectLst>
              <a:prstShdw prst="shdw17" dist="17961" dir="2699999">
                <a:srgbClr val="3D5C99"/>
              </a:prstShdw>
            </a:effectLst>
          </p:spPr>
          <p:txBody>
            <a:bodyPr anchor="t" anchorCtr="0">
              <a:spAutoFit/>
            </a:bodyPr>
            <a:p>
              <a:pPr algn="ctr" eaLnBrk="0" hangingPunct="0">
                <a:buClrTx/>
                <a:buFontTx/>
                <a:buNone/>
              </a:pPr>
              <a:r>
                <a:rPr lang="en-US" altLang="zh-CN" b="0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+</a:t>
              </a:r>
              <a:endPara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93206" name="Text Box 105" descr="斜纹布"/>
            <p:cNvSpPr txBox="1"/>
            <p:nvPr/>
          </p:nvSpPr>
          <p:spPr>
            <a:xfrm>
              <a:off x="1157" y="1797"/>
              <a:ext cx="227" cy="327"/>
            </a:xfrm>
            <a:prstGeom prst="rect">
              <a:avLst/>
            </a:prstGeom>
            <a:noFill/>
            <a:ln w="28575">
              <a:noFill/>
            </a:ln>
            <a:effectLst>
              <a:prstShdw prst="shdw17" dist="17961" dir="2699999">
                <a:srgbClr val="3D5C99"/>
              </a:prstShdw>
            </a:effectLst>
          </p:spPr>
          <p:txBody>
            <a:bodyPr anchor="t" anchorCtr="0">
              <a:spAutoFit/>
            </a:bodyPr>
            <a:p>
              <a:pPr algn="ctr" eaLnBrk="0" hangingPunct="0">
                <a:buClrTx/>
                <a:buFontTx/>
                <a:buNone/>
              </a:pPr>
              <a:r>
                <a:rPr lang="en-US" altLang="zh-CN" b="0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Symbol" panose="05050102010706020507" pitchFamily="18" charset="2"/>
                </a:rPr>
                <a:t>-</a:t>
              </a:r>
              <a:endParaRPr lang="en-US" altLang="zh-CN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93207" name="Text Box 106" descr="斜纹布"/>
            <p:cNvSpPr txBox="1"/>
            <p:nvPr/>
          </p:nvSpPr>
          <p:spPr>
            <a:xfrm>
              <a:off x="3788" y="1842"/>
              <a:ext cx="227" cy="327"/>
            </a:xfrm>
            <a:prstGeom prst="rect">
              <a:avLst/>
            </a:prstGeom>
            <a:noFill/>
            <a:ln w="28575">
              <a:noFill/>
            </a:ln>
            <a:effectLst>
              <a:prstShdw prst="shdw17" dist="17961" dir="2699999">
                <a:srgbClr val="3D5C99"/>
              </a:prstShdw>
            </a:effectLst>
          </p:spPr>
          <p:txBody>
            <a:bodyPr anchor="t" anchorCtr="0">
              <a:spAutoFit/>
            </a:bodyPr>
            <a:p>
              <a:pPr algn="ctr" eaLnBrk="0" hangingPunct="0">
                <a:buClrTx/>
                <a:buFontTx/>
                <a:buNone/>
              </a:pPr>
              <a:r>
                <a:rPr lang="en-US" altLang="zh-CN" b="0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Symbol" panose="05050102010706020507" pitchFamily="18" charset="2"/>
                </a:rPr>
                <a:t>-</a:t>
              </a:r>
              <a:endParaRPr lang="en-US" altLang="zh-CN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93208" name="Line 107"/>
            <p:cNvSpPr/>
            <p:nvPr/>
          </p:nvSpPr>
          <p:spPr>
            <a:xfrm flipV="1">
              <a:off x="2404" y="1162"/>
              <a:ext cx="0" cy="318"/>
            </a:xfrm>
            <a:prstGeom prst="line">
              <a:avLst/>
            </a:prstGeom>
            <a:ln w="28575" cap="sq" cmpd="sng">
              <a:solidFill>
                <a:srgbClr val="00CCFF"/>
              </a:solidFill>
              <a:prstDash val="solid"/>
              <a:round/>
              <a:headEnd type="triangle" w="med" len="med"/>
              <a:tailEnd type="none" w="med" len="med"/>
            </a:ln>
          </p:spPr>
        </p:sp>
        <p:sp>
          <p:nvSpPr>
            <p:cNvPr id="93209" name="Text Box 108" descr="斜纹布"/>
            <p:cNvSpPr txBox="1"/>
            <p:nvPr/>
          </p:nvSpPr>
          <p:spPr>
            <a:xfrm>
              <a:off x="2835" y="572"/>
              <a:ext cx="408" cy="327"/>
            </a:xfrm>
            <a:prstGeom prst="rect">
              <a:avLst/>
            </a:prstGeom>
            <a:noFill/>
            <a:ln w="28575">
              <a:noFill/>
            </a:ln>
            <a:effectLst>
              <a:prstShdw prst="shdw17" dist="17961" dir="2699999">
                <a:srgbClr val="3D5C99"/>
              </a:prstShdw>
            </a:effectLst>
          </p:spPr>
          <p:txBody>
            <a:bodyPr anchor="t" anchorCtr="0">
              <a:spAutoFit/>
            </a:bodyPr>
            <a:p>
              <a:pPr algn="ctr" eaLnBrk="0" hangingPunct="0">
                <a:buClrTx/>
                <a:buFontTx/>
                <a:buNone/>
              </a:pPr>
              <a:r>
                <a:rPr lang="en-US" altLang="zh-CN" b="0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3</a:t>
              </a:r>
              <a:r>
                <a:rPr lang="en-US" altLang="zh-CN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I</a:t>
              </a:r>
              <a:r>
                <a:rPr lang="en-US" altLang="zh-CN" b="0" baseline="-25000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2</a:t>
              </a:r>
              <a:endParaRPr lang="en-US" altLang="zh-CN" b="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93210" name="Text Box 109" descr="斜纹布"/>
            <p:cNvSpPr txBox="1"/>
            <p:nvPr/>
          </p:nvSpPr>
          <p:spPr>
            <a:xfrm>
              <a:off x="3697" y="1525"/>
              <a:ext cx="544" cy="327"/>
            </a:xfrm>
            <a:prstGeom prst="rect">
              <a:avLst/>
            </a:prstGeom>
            <a:noFill/>
            <a:ln w="28575">
              <a:noFill/>
            </a:ln>
            <a:effectLst>
              <a:prstShdw prst="shdw17" dist="17961" dir="2699999">
                <a:srgbClr val="3D5C99"/>
              </a:prstShdw>
            </a:effectLst>
          </p:spPr>
          <p:txBody>
            <a:bodyPr anchor="t" anchorCtr="0">
              <a:spAutoFit/>
            </a:bodyPr>
            <a:p>
              <a:pPr algn="ctr" eaLnBrk="0" hangingPunct="0">
                <a:buClrTx/>
                <a:buFontTx/>
                <a:buNone/>
              </a:pPr>
              <a:r>
                <a:rPr lang="en-US" altLang="zh-CN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U</a:t>
              </a:r>
              <a:r>
                <a:rPr lang="en-US" altLang="zh-CN" b="0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=?</a:t>
              </a:r>
              <a:endParaRPr lang="en-US" altLang="zh-CN" b="0" dirty="0"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93211" name="Line 110"/>
            <p:cNvSpPr/>
            <p:nvPr/>
          </p:nvSpPr>
          <p:spPr>
            <a:xfrm>
              <a:off x="3425" y="1162"/>
              <a:ext cx="317" cy="0"/>
            </a:xfrm>
            <a:prstGeom prst="line">
              <a:avLst/>
            </a:prstGeom>
            <a:ln w="28575" cap="sq" cmpd="sng">
              <a:solidFill>
                <a:srgbClr val="00CC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93212" name="Text Box 111" descr="斜纹布"/>
            <p:cNvSpPr txBox="1"/>
            <p:nvPr/>
          </p:nvSpPr>
          <p:spPr>
            <a:xfrm>
              <a:off x="3334" y="799"/>
              <a:ext cx="590" cy="327"/>
            </a:xfrm>
            <a:prstGeom prst="rect">
              <a:avLst/>
            </a:prstGeom>
            <a:noFill/>
            <a:ln w="28575">
              <a:noFill/>
            </a:ln>
            <a:effectLst>
              <a:prstShdw prst="shdw17" dist="17961" dir="2699999">
                <a:srgbClr val="3D5C99"/>
              </a:prstShdw>
            </a:effectLst>
          </p:spPr>
          <p:txBody>
            <a:bodyPr anchor="t" anchorCtr="0">
              <a:spAutoFit/>
            </a:bodyPr>
            <a:p>
              <a:pPr algn="ctr" eaLnBrk="0" hangingPunct="0">
                <a:buClrTx/>
                <a:buFontTx/>
                <a:buNone/>
              </a:pPr>
              <a:r>
                <a:rPr lang="en-US" altLang="zh-CN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I </a:t>
              </a:r>
              <a:r>
                <a:rPr lang="en-US" altLang="zh-CN" b="0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=0</a:t>
              </a:r>
              <a:endParaRPr lang="en-US" altLang="zh-CN" b="0" dirty="0"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93213" name="Text Box 112" descr="斜纹布"/>
            <p:cNvSpPr txBox="1"/>
            <p:nvPr/>
          </p:nvSpPr>
          <p:spPr>
            <a:xfrm>
              <a:off x="1565" y="754"/>
              <a:ext cx="589" cy="327"/>
            </a:xfrm>
            <a:prstGeom prst="rect">
              <a:avLst/>
            </a:prstGeom>
            <a:noFill/>
            <a:ln w="28575">
              <a:noFill/>
            </a:ln>
            <a:effectLst>
              <a:prstShdw prst="shdw17" dist="17961" dir="2699999">
                <a:srgbClr val="3D5C99"/>
              </a:prstShdw>
            </a:effectLst>
          </p:spPr>
          <p:txBody>
            <a:bodyPr anchor="t" anchorCtr="0">
              <a:spAutoFit/>
            </a:bodyPr>
            <a:p>
              <a:pPr algn="ctr" eaLnBrk="0" hangingPunct="0">
                <a:buClrTx/>
                <a:buFontTx/>
                <a:buNone/>
              </a:pPr>
              <a:r>
                <a:rPr lang="en-US" altLang="zh-CN" b="0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5</a:t>
              </a:r>
              <a:endParaRPr lang="en-US" altLang="zh-CN" b="0" dirty="0"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93214" name="Text Box 114" descr="斜纹布"/>
            <p:cNvSpPr txBox="1"/>
            <p:nvPr/>
          </p:nvSpPr>
          <p:spPr>
            <a:xfrm>
              <a:off x="1792" y="1479"/>
              <a:ext cx="454" cy="327"/>
            </a:xfrm>
            <a:prstGeom prst="rect">
              <a:avLst/>
            </a:prstGeom>
            <a:noFill/>
            <a:ln w="28575">
              <a:noFill/>
            </a:ln>
            <a:effectLst>
              <a:prstShdw prst="shdw17" dist="17961" dir="2699999">
                <a:srgbClr val="3D5C99"/>
              </a:prstShdw>
            </a:effectLst>
          </p:spPr>
          <p:txBody>
            <a:bodyPr anchor="t" anchorCtr="0">
              <a:spAutoFit/>
            </a:bodyPr>
            <a:p>
              <a:pPr algn="ctr" eaLnBrk="0" hangingPunct="0">
                <a:buClrTx/>
                <a:buFontTx/>
                <a:buNone/>
              </a:pPr>
              <a:r>
                <a:rPr lang="en-US" altLang="zh-CN" b="0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5</a:t>
              </a:r>
              <a:endParaRPr lang="en-US" altLang="zh-CN" b="0" dirty="0"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93215" name="Text Box 115" descr="斜纹布"/>
            <p:cNvSpPr txBox="1"/>
            <p:nvPr/>
          </p:nvSpPr>
          <p:spPr>
            <a:xfrm flipV="1">
              <a:off x="2518" y="844"/>
              <a:ext cx="273" cy="327"/>
            </a:xfrm>
            <a:prstGeom prst="rect">
              <a:avLst/>
            </a:prstGeom>
            <a:noFill/>
            <a:ln w="28575">
              <a:noFill/>
            </a:ln>
            <a:effectLst>
              <a:prstShdw prst="shdw17" dist="17961" dir="2699999">
                <a:srgbClr val="3D5C99"/>
              </a:prstShdw>
            </a:effectLst>
          </p:spPr>
          <p:txBody>
            <a:bodyPr anchor="t" anchorCtr="0">
              <a:spAutoFit/>
            </a:bodyPr>
            <a:p>
              <a:pPr algn="ctr" eaLnBrk="0" hangingPunct="0">
                <a:buClrTx/>
                <a:buFontTx/>
                <a:buNone/>
              </a:pPr>
              <a:r>
                <a:rPr lang="en-US" altLang="zh-CN" b="0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Symbol" panose="05050102010706020507" pitchFamily="18" charset="2"/>
                </a:rPr>
                <a:t>-</a:t>
              </a:r>
              <a:endParaRPr lang="en-US" altLang="zh-CN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93216" name="Text Box 116" descr="斜纹布"/>
            <p:cNvSpPr txBox="1"/>
            <p:nvPr/>
          </p:nvSpPr>
          <p:spPr>
            <a:xfrm flipV="1">
              <a:off x="3153" y="844"/>
              <a:ext cx="317" cy="327"/>
            </a:xfrm>
            <a:prstGeom prst="rect">
              <a:avLst/>
            </a:prstGeom>
            <a:noFill/>
            <a:ln w="28575">
              <a:noFill/>
            </a:ln>
            <a:effectLst>
              <a:prstShdw prst="shdw17" dist="17961" dir="2699999">
                <a:srgbClr val="3D5C99"/>
              </a:prstShdw>
            </a:effectLst>
          </p:spPr>
          <p:txBody>
            <a:bodyPr anchor="t" anchorCtr="0">
              <a:spAutoFit/>
            </a:bodyPr>
            <a:p>
              <a:pPr algn="ctr" eaLnBrk="0" hangingPunct="0">
                <a:buClrTx/>
                <a:buFontTx/>
                <a:buNone/>
              </a:pPr>
              <a:r>
                <a:rPr lang="en-US" altLang="zh-CN" b="0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+</a:t>
              </a:r>
              <a:endPara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93217" name="Line 117"/>
            <p:cNvSpPr/>
            <p:nvPr/>
          </p:nvSpPr>
          <p:spPr>
            <a:xfrm>
              <a:off x="3107" y="2387"/>
              <a:ext cx="0" cy="363"/>
            </a:xfrm>
            <a:prstGeom prst="line">
              <a:avLst/>
            </a:prstGeom>
            <a:ln w="38100" cap="sq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3218" name="Line 118"/>
            <p:cNvSpPr/>
            <p:nvPr/>
          </p:nvSpPr>
          <p:spPr>
            <a:xfrm flipH="1">
              <a:off x="3334" y="2568"/>
              <a:ext cx="226" cy="0"/>
            </a:xfrm>
            <a:prstGeom prst="line">
              <a:avLst/>
            </a:prstGeom>
            <a:ln w="28575" cap="sq" cmpd="sng">
              <a:solidFill>
                <a:srgbClr val="00CCFF"/>
              </a:solidFill>
              <a:prstDash val="solid"/>
              <a:round/>
              <a:headEnd type="triangle" w="med" len="med"/>
              <a:tailEnd type="none" w="med" len="med"/>
            </a:ln>
          </p:spPr>
        </p:sp>
        <p:sp>
          <p:nvSpPr>
            <p:cNvPr id="93219" name="Text Box 119" descr="斜纹布"/>
            <p:cNvSpPr txBox="1"/>
            <p:nvPr/>
          </p:nvSpPr>
          <p:spPr>
            <a:xfrm>
              <a:off x="3288" y="2568"/>
              <a:ext cx="408" cy="327"/>
            </a:xfrm>
            <a:prstGeom prst="rect">
              <a:avLst/>
            </a:prstGeom>
            <a:noFill/>
            <a:ln w="28575">
              <a:noFill/>
            </a:ln>
            <a:effectLst>
              <a:prstShdw prst="shdw17" dist="17961" dir="2699999">
                <a:srgbClr val="3D5C99"/>
              </a:prstShdw>
            </a:effectLst>
          </p:spPr>
          <p:txBody>
            <a:bodyPr anchor="t" anchorCtr="0">
              <a:spAutoFit/>
            </a:bodyPr>
            <a:p>
              <a:pPr algn="ctr" eaLnBrk="0" hangingPunct="0">
                <a:buClrTx/>
                <a:buFontTx/>
                <a:buNone/>
              </a:pPr>
              <a:r>
                <a:rPr lang="en-US" altLang="zh-CN" b="0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2</a:t>
              </a:r>
              <a:r>
                <a:rPr lang="en-US" altLang="zh-CN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I</a:t>
              </a:r>
              <a:r>
                <a:rPr lang="en-US" altLang="zh-CN" b="0" baseline="-25000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2</a:t>
              </a:r>
              <a:endParaRPr lang="en-US" altLang="zh-CN" b="0" dirty="0"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93220" name="Text Box 120" descr="斜纹布"/>
            <p:cNvSpPr txBox="1"/>
            <p:nvPr/>
          </p:nvSpPr>
          <p:spPr>
            <a:xfrm>
              <a:off x="2336" y="1162"/>
              <a:ext cx="363" cy="327"/>
            </a:xfrm>
            <a:prstGeom prst="rect">
              <a:avLst/>
            </a:prstGeom>
            <a:noFill/>
            <a:ln w="28575">
              <a:noFill/>
            </a:ln>
            <a:effectLst>
              <a:prstShdw prst="shdw17" dist="17961" dir="2699999">
                <a:srgbClr val="3D5C99"/>
              </a:prstShdw>
            </a:effectLst>
          </p:spPr>
          <p:txBody>
            <a:bodyPr anchor="t" anchorCtr="0">
              <a:spAutoFit/>
            </a:bodyPr>
            <a:p>
              <a:pPr algn="ctr" eaLnBrk="0" hangingPunct="0">
                <a:buClrTx/>
                <a:buFontTx/>
                <a:buNone/>
              </a:pPr>
              <a:r>
                <a:rPr lang="en-US" altLang="zh-CN" b="0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 </a:t>
              </a:r>
              <a:r>
                <a:rPr lang="en-US" altLang="zh-CN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I</a:t>
              </a:r>
              <a:r>
                <a:rPr lang="en-US" altLang="zh-CN" b="0" baseline="-25000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2</a:t>
              </a:r>
              <a:endParaRPr lang="en-US" altLang="zh-CN" b="0" dirty="0"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93221" name="Text Box 121" descr="斜纹布"/>
            <p:cNvSpPr txBox="1"/>
            <p:nvPr/>
          </p:nvSpPr>
          <p:spPr>
            <a:xfrm>
              <a:off x="2880" y="1797"/>
              <a:ext cx="454" cy="327"/>
            </a:xfrm>
            <a:prstGeom prst="rect">
              <a:avLst/>
            </a:prstGeom>
            <a:noFill/>
            <a:ln w="28575">
              <a:noFill/>
            </a:ln>
            <a:effectLst>
              <a:prstShdw prst="shdw17" dist="17961" dir="2699999">
                <a:srgbClr val="3D5C99"/>
              </a:prstShdw>
            </a:effectLst>
          </p:spPr>
          <p:txBody>
            <a:bodyPr anchor="t" anchorCtr="0">
              <a:spAutoFit/>
            </a:bodyPr>
            <a:p>
              <a:pPr algn="ctr" eaLnBrk="0" hangingPunct="0">
                <a:buClrTx/>
                <a:buFontTx/>
                <a:buNone/>
              </a:pPr>
              <a:r>
                <a:rPr lang="en-US" altLang="zh-CN" b="0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5</a:t>
              </a:r>
              <a:endParaRPr lang="en-US" altLang="zh-CN" b="0" dirty="0"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93222" name="Text Box 122" descr="斜纹布"/>
            <p:cNvSpPr txBox="1"/>
            <p:nvPr/>
          </p:nvSpPr>
          <p:spPr>
            <a:xfrm flipV="1">
              <a:off x="3356" y="1933"/>
              <a:ext cx="317" cy="327"/>
            </a:xfrm>
            <a:prstGeom prst="rect">
              <a:avLst/>
            </a:prstGeom>
            <a:noFill/>
            <a:ln w="28575">
              <a:noFill/>
            </a:ln>
            <a:effectLst>
              <a:prstShdw prst="shdw17" dist="17961" dir="2699999">
                <a:srgbClr val="3D5C99"/>
              </a:prstShdw>
            </a:effectLst>
          </p:spPr>
          <p:txBody>
            <a:bodyPr anchor="t" anchorCtr="0">
              <a:spAutoFit/>
            </a:bodyPr>
            <a:p>
              <a:pPr algn="ctr" eaLnBrk="0" hangingPunct="0">
                <a:buClrTx/>
                <a:buFontTx/>
                <a:buNone/>
              </a:pPr>
              <a:r>
                <a:rPr lang="en-US" altLang="zh-CN" b="0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+</a:t>
              </a:r>
              <a:endPara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93223" name="Text Box 123" descr="斜纹布"/>
            <p:cNvSpPr txBox="1"/>
            <p:nvPr/>
          </p:nvSpPr>
          <p:spPr>
            <a:xfrm flipV="1">
              <a:off x="2517" y="1933"/>
              <a:ext cx="317" cy="327"/>
            </a:xfrm>
            <a:prstGeom prst="rect">
              <a:avLst/>
            </a:prstGeom>
            <a:noFill/>
            <a:ln w="28575">
              <a:noFill/>
            </a:ln>
            <a:effectLst>
              <a:prstShdw prst="shdw17" dist="17961" dir="2699999">
                <a:srgbClr val="3D5C99"/>
              </a:prstShdw>
            </a:effectLst>
          </p:spPr>
          <p:txBody>
            <a:bodyPr anchor="t" anchorCtr="0">
              <a:spAutoFit/>
            </a:bodyPr>
            <a:p>
              <a:pPr algn="ctr" eaLnBrk="0" hangingPunct="0">
                <a:buClrTx/>
                <a:buFontTx/>
                <a:buNone/>
              </a:pPr>
              <a:r>
                <a:rPr lang="en-US" altLang="zh-CN" b="0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Symbol" panose="05050102010706020507" pitchFamily="18" charset="2"/>
                </a:rPr>
                <a:t>-</a:t>
              </a:r>
              <a:endParaRPr lang="en-US" altLang="zh-CN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93224" name="Rectangle 124"/>
            <p:cNvSpPr/>
            <p:nvPr/>
          </p:nvSpPr>
          <p:spPr>
            <a:xfrm>
              <a:off x="2971" y="2114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>
                <a:buClrTx/>
                <a:buFontTx/>
                <a:buNone/>
              </a:pPr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93225" name="Rectangle 125"/>
            <p:cNvSpPr/>
            <p:nvPr/>
          </p:nvSpPr>
          <p:spPr>
            <a:xfrm>
              <a:off x="1656" y="1071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>
                <a:buClrTx/>
                <a:buFontTx/>
                <a:buNone/>
              </a:pPr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</p:grpSp>
      <p:sp>
        <p:nvSpPr>
          <p:cNvPr id="303230" name="Text Box 126" descr="斜纹布"/>
          <p:cNvSpPr txBox="1"/>
          <p:nvPr/>
        </p:nvSpPr>
        <p:spPr>
          <a:xfrm>
            <a:off x="393700" y="620713"/>
            <a:ext cx="923925" cy="579437"/>
          </a:xfrm>
          <a:prstGeom prst="rect">
            <a:avLst/>
          </a:prstGeom>
          <a:noFill/>
          <a:ln w="28575">
            <a:noFill/>
          </a:ln>
          <a:effectLst>
            <a:prstShdw prst="shdw17" dist="17961" dir="2699999">
              <a:srgbClr val="3D5C99"/>
            </a:prstShdw>
          </a:effectLst>
        </p:spPr>
        <p:txBody>
          <a:bodyPr anchor="t" anchorCtr="0">
            <a:spAutoFit/>
          </a:bodyPr>
          <a:p>
            <a:pPr algn="ctr" eaLnBrk="0" hangingPunct="0">
              <a:spcBef>
                <a:spcPct val="50000"/>
              </a:spcBef>
              <a:buClrTx/>
              <a:buFontTx/>
              <a:buNone/>
            </a:pPr>
            <a:r>
              <a:rPr lang="zh-CN" altLang="en-US" sz="3200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例</a:t>
            </a:r>
            <a:r>
              <a:rPr lang="en-US" altLang="zh-CN" sz="3200" b="0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7</a:t>
            </a:r>
            <a:endParaRPr lang="en-US" altLang="zh-CN" sz="3200" b="0" dirty="0">
              <a:solidFill>
                <a:schemeClr val="tx1"/>
              </a:solidFill>
              <a:latin typeface="Times New Roman" panose="02020603050405020304" pitchFamily="18" charset="0"/>
              <a:ea typeface="仿宋_GB2312" pitchFamily="49" charset="-122"/>
              <a:sym typeface="Symbol" panose="05050102010706020507" pitchFamily="18" charset="2"/>
            </a:endParaRPr>
          </a:p>
        </p:txBody>
      </p:sp>
      <p:sp>
        <p:nvSpPr>
          <p:cNvPr id="303231" name="Text Box 127"/>
          <p:cNvSpPr txBox="1"/>
          <p:nvPr/>
        </p:nvSpPr>
        <p:spPr>
          <a:xfrm>
            <a:off x="1331913" y="692150"/>
            <a:ext cx="2952750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>
              <a:spcBef>
                <a:spcPct val="50000"/>
              </a:spcBef>
              <a:buClrTx/>
              <a:buFontTx/>
              <a:buNone/>
            </a:pPr>
            <a:r>
              <a:rPr lang="zh-CN" altLang="en-US" dirty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求开路电压 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U</a:t>
            </a:r>
            <a:endParaRPr lang="en-US" altLang="zh-CN" i="1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  <a:sym typeface="Symbol" panose="05050102010706020507" pitchFamily="18" charset="2"/>
            </a:endParaRPr>
          </a:p>
        </p:txBody>
      </p:sp>
      <p:grpSp>
        <p:nvGrpSpPr>
          <p:cNvPr id="93228" name="Group 136"/>
          <p:cNvGrpSpPr/>
          <p:nvPr/>
        </p:nvGrpSpPr>
        <p:grpSpPr>
          <a:xfrm>
            <a:off x="6588125" y="6445250"/>
            <a:ext cx="792163" cy="366713"/>
            <a:chOff x="5193" y="4020"/>
            <a:chExt cx="499" cy="231"/>
          </a:xfrm>
        </p:grpSpPr>
        <p:pic>
          <p:nvPicPr>
            <p:cNvPr id="93229" name="Picture 137" descr="78900">
              <a:hlinkClick r:id="" action="ppaction://hlinkshowjump?jump=firstslide"/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93230" name="Text Box 138">
              <a:hlinkClick r:id="" action="ppaction://hlinkshowjump?jump=firs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032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032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032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3032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303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2000"/>
                                        <p:tgtEl>
                                          <p:spTgt spid="303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031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031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031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031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2000"/>
                                        <p:tgtEl>
                                          <p:spTgt spid="303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2000"/>
                                        <p:tgtEl>
                                          <p:spTgt spid="303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3142" grpId="0" animBg="1"/>
      <p:bldP spid="303230" grpId="0"/>
      <p:bldP spid="303231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8091" name="Text Box 43"/>
          <p:cNvSpPr txBox="1"/>
          <p:nvPr/>
        </p:nvSpPr>
        <p:spPr>
          <a:xfrm>
            <a:off x="5003800" y="692150"/>
            <a:ext cx="647700" cy="519113"/>
          </a:xfrm>
          <a:prstGeom prst="rect">
            <a:avLst/>
          </a:prstGeom>
          <a:solidFill>
            <a:srgbClr val="990033"/>
          </a:solidFill>
          <a:ln w="28575">
            <a:noFill/>
          </a:ln>
          <a:effectLst>
            <a:prstShdw prst="shdw17" dist="17961" dir="2699999">
              <a:srgbClr val="5C001F"/>
            </a:prstShdw>
          </a:effectLst>
        </p:spPr>
        <p:txBody>
          <a:bodyPr anchor="t" anchorCtr="0">
            <a:spAutoFit/>
          </a:bodyPr>
          <a:p>
            <a:pPr algn="ctr" eaLnBrk="0" hangingPunct="0">
              <a:spcBef>
                <a:spcPct val="50000"/>
              </a:spcBef>
              <a:buClrTx/>
              <a:buFontTx/>
              <a:buNone/>
            </a:pP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解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graphicFrame>
        <p:nvGraphicFramePr>
          <p:cNvPr id="258092" name="Object 44"/>
          <p:cNvGraphicFramePr>
            <a:graphicFrameLocks noChangeAspect="1"/>
          </p:cNvGraphicFramePr>
          <p:nvPr/>
        </p:nvGraphicFramePr>
        <p:xfrm>
          <a:off x="6037263" y="620713"/>
          <a:ext cx="2063750" cy="569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7" name="" r:id="rId1" imgW="781050" imgH="202565" progId="Equation.3">
                  <p:embed/>
                </p:oleObj>
              </mc:Choice>
              <mc:Fallback>
                <p:oleObj name="" r:id="rId1" imgW="781050" imgH="202565" progId="Equation.3">
                  <p:embed/>
                  <p:pic>
                    <p:nvPicPr>
                      <p:cNvPr id="0" name="图片 3216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8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037263" y="620713"/>
                        <a:ext cx="2063750" cy="5699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8093" name="Object 45"/>
          <p:cNvGraphicFramePr>
            <a:graphicFrameLocks noChangeAspect="1"/>
          </p:cNvGraphicFramePr>
          <p:nvPr/>
        </p:nvGraphicFramePr>
        <p:xfrm>
          <a:off x="6011863" y="1268413"/>
          <a:ext cx="2765425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9" name="" r:id="rId3" imgW="1094105" imgH="202565" progId="Equation.3">
                  <p:embed/>
                </p:oleObj>
              </mc:Choice>
              <mc:Fallback>
                <p:oleObj name="" r:id="rId3" imgW="1094105" imgH="202565" progId="Equation.3">
                  <p:embed/>
                  <p:pic>
                    <p:nvPicPr>
                      <p:cNvPr id="0" name="图片 3218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8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011863" y="1268413"/>
                        <a:ext cx="2765425" cy="5524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8094" name="Line 46"/>
          <p:cNvSpPr/>
          <p:nvPr/>
        </p:nvSpPr>
        <p:spPr>
          <a:xfrm>
            <a:off x="5508625" y="2420938"/>
            <a:ext cx="503238" cy="0"/>
          </a:xfrm>
          <a:prstGeom prst="line">
            <a:avLst/>
          </a:prstGeom>
          <a:ln w="76200" cap="sq" cmpd="sng">
            <a:solidFill>
              <a:srgbClr val="99CCFF"/>
            </a:solidFill>
            <a:prstDash val="solid"/>
            <a:round/>
            <a:headEnd type="none" w="med" len="med"/>
            <a:tailEnd type="triangle" w="med" len="med"/>
          </a:ln>
        </p:spPr>
      </p:sp>
      <p:graphicFrame>
        <p:nvGraphicFramePr>
          <p:cNvPr id="258095" name="Object 47"/>
          <p:cNvGraphicFramePr>
            <a:graphicFrameLocks noChangeAspect="1"/>
          </p:cNvGraphicFramePr>
          <p:nvPr/>
        </p:nvGraphicFramePr>
        <p:xfrm>
          <a:off x="6227763" y="1844675"/>
          <a:ext cx="2236787" cy="1120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8" name="" r:id="rId5" imgW="885190" imgH="434340" progId="Equation.3">
                  <p:embed/>
                </p:oleObj>
              </mc:Choice>
              <mc:Fallback>
                <p:oleObj name="" r:id="rId5" imgW="885190" imgH="434340" progId="Equation.3">
                  <p:embed/>
                  <p:pic>
                    <p:nvPicPr>
                      <p:cNvPr id="0" name="图片 3217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00008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227763" y="1844675"/>
                        <a:ext cx="2236787" cy="11207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8096" name="Line 48"/>
          <p:cNvSpPr/>
          <p:nvPr/>
        </p:nvSpPr>
        <p:spPr>
          <a:xfrm>
            <a:off x="684213" y="3644900"/>
            <a:ext cx="647700" cy="0"/>
          </a:xfrm>
          <a:prstGeom prst="line">
            <a:avLst/>
          </a:prstGeom>
          <a:ln w="76200" cap="sq" cmpd="sng">
            <a:solidFill>
              <a:srgbClr val="99CCFF"/>
            </a:solidFill>
            <a:prstDash val="solid"/>
            <a:round/>
            <a:headEnd type="none" w="med" len="med"/>
            <a:tailEnd type="triangle" w="med" len="med"/>
          </a:ln>
        </p:spPr>
      </p:sp>
      <p:graphicFrame>
        <p:nvGraphicFramePr>
          <p:cNvPr id="258097" name="Object 49"/>
          <p:cNvGraphicFramePr>
            <a:graphicFrameLocks noChangeAspect="1"/>
          </p:cNvGraphicFramePr>
          <p:nvPr/>
        </p:nvGraphicFramePr>
        <p:xfrm>
          <a:off x="1403350" y="3213100"/>
          <a:ext cx="2474913" cy="1100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4" name="" r:id="rId7" imgW="1001395" imgH="434340" progId="Equation.3">
                  <p:embed/>
                </p:oleObj>
              </mc:Choice>
              <mc:Fallback>
                <p:oleObj name="" r:id="rId7" imgW="1001395" imgH="434340" progId="Equation.3">
                  <p:embed/>
                  <p:pic>
                    <p:nvPicPr>
                      <p:cNvPr id="0" name="图片 3213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00008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403350" y="3213100"/>
                        <a:ext cx="2474913" cy="11001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8098" name="Object 50"/>
          <p:cNvGraphicFramePr>
            <a:graphicFrameLocks noChangeAspect="1"/>
          </p:cNvGraphicFramePr>
          <p:nvPr/>
        </p:nvGraphicFramePr>
        <p:xfrm>
          <a:off x="755650" y="4292600"/>
          <a:ext cx="3182938" cy="1074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0" name="" r:id="rId9" imgW="1360170" imgH="445770" progId="Equation.3">
                  <p:embed/>
                </p:oleObj>
              </mc:Choice>
              <mc:Fallback>
                <p:oleObj name="" r:id="rId9" imgW="1360170" imgH="445770" progId="Equation.3">
                  <p:embed/>
                  <p:pic>
                    <p:nvPicPr>
                      <p:cNvPr id="0" name="图片 3219"/>
                      <p:cNvPicPr/>
                      <p:nvPr/>
                    </p:nvPicPr>
                    <p:blipFill>
                      <a:blip r:embed="rId10">
                        <a:clrChange>
                          <a:clrFrom>
                            <a:srgbClr val="000000"/>
                          </a:clrFrom>
                          <a:clrTo>
                            <a:srgbClr val="00008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755650" y="4292600"/>
                        <a:ext cx="3182938" cy="10747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8099" name="Object 51"/>
          <p:cNvGraphicFramePr>
            <a:graphicFrameLocks noChangeAspect="1"/>
          </p:cNvGraphicFramePr>
          <p:nvPr/>
        </p:nvGraphicFramePr>
        <p:xfrm>
          <a:off x="755650" y="5300663"/>
          <a:ext cx="3367088" cy="1157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3" name="" r:id="rId11" imgW="1336675" imgH="445770" progId="Equation.3">
                  <p:embed/>
                </p:oleObj>
              </mc:Choice>
              <mc:Fallback>
                <p:oleObj name="" r:id="rId11" imgW="1336675" imgH="445770" progId="Equation.3">
                  <p:embed/>
                  <p:pic>
                    <p:nvPicPr>
                      <p:cNvPr id="0" name="图片 3212"/>
                      <p:cNvPicPr/>
                      <p:nvPr/>
                    </p:nvPicPr>
                    <p:blipFill>
                      <a:blip r:embed="rId12">
                        <a:clrChange>
                          <a:clrFrom>
                            <a:srgbClr val="000000"/>
                          </a:clrFrom>
                          <a:clrTo>
                            <a:srgbClr val="00008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755650" y="5300663"/>
                        <a:ext cx="3367088" cy="11572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8100" name="Object 52"/>
          <p:cNvGraphicFramePr>
            <a:graphicFrameLocks noChangeAspect="1"/>
          </p:cNvGraphicFramePr>
          <p:nvPr/>
        </p:nvGraphicFramePr>
        <p:xfrm>
          <a:off x="5364163" y="2924175"/>
          <a:ext cx="2474912" cy="1139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5" name="" r:id="rId13" imgW="0" imgH="0" progId="Equation.3">
                  <p:embed/>
                </p:oleObj>
              </mc:Choice>
              <mc:Fallback>
                <p:oleObj name="" r:id="rId13" imgW="0" imgH="0" progId="Equation.3">
                  <p:embed/>
                  <p:pic>
                    <p:nvPicPr>
                      <p:cNvPr id="0" name="图片 3214"/>
                      <p:cNvPicPr/>
                      <p:nvPr/>
                    </p:nvPicPr>
                    <p:blipFill>
                      <a:blip/>
                      <a:stretch>
                        <a:fillRect/>
                      </a:stretch>
                    </p:blipFill>
                    <p:spPr>
                      <a:xfrm>
                        <a:off x="5364163" y="2924175"/>
                        <a:ext cx="2474912" cy="11398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8101" name="Object 53"/>
          <p:cNvGraphicFramePr>
            <a:graphicFrameLocks noChangeAspect="1"/>
          </p:cNvGraphicFramePr>
          <p:nvPr/>
        </p:nvGraphicFramePr>
        <p:xfrm>
          <a:off x="5364163" y="4149725"/>
          <a:ext cx="2533650" cy="1201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6" name="" r:id="rId14" imgW="1035685" imgH="480060" progId="Equation.3">
                  <p:embed/>
                </p:oleObj>
              </mc:Choice>
              <mc:Fallback>
                <p:oleObj name="" r:id="rId14" imgW="1035685" imgH="480060" progId="Equation.3">
                  <p:embed/>
                  <p:pic>
                    <p:nvPicPr>
                      <p:cNvPr id="0" name="图片 3215"/>
                      <p:cNvPicPr/>
                      <p:nvPr/>
                    </p:nvPicPr>
                    <p:blipFill>
                      <a:blip r:embed="rId15">
                        <a:clrChange>
                          <a:clrFrom>
                            <a:srgbClr val="000000"/>
                          </a:clrFrom>
                          <a:clrTo>
                            <a:srgbClr val="00008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364163" y="4149725"/>
                        <a:ext cx="2533650" cy="12017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8102" name="Text Box 54"/>
          <p:cNvSpPr txBox="1"/>
          <p:nvPr/>
        </p:nvSpPr>
        <p:spPr>
          <a:xfrm>
            <a:off x="5148263" y="5373688"/>
            <a:ext cx="3168650" cy="946150"/>
          </a:xfrm>
          <a:prstGeom prst="rect">
            <a:avLst/>
          </a:prstGeom>
          <a:noFill/>
          <a:ln w="28575">
            <a:noFill/>
          </a:ln>
        </p:spPr>
        <p:txBody>
          <a:bodyPr anchor="t" anchorCtr="0">
            <a:spAutoFit/>
          </a:bodyPr>
          <a:p>
            <a:pPr eaLnBrk="0" hangingPunct="0">
              <a:spcBef>
                <a:spcPct val="50000"/>
              </a:spcBef>
              <a:buClrTx/>
              <a:buFontTx/>
              <a:buNone/>
            </a:pPr>
            <a:r>
              <a:rPr lang="zh-CN" altLang="en-US" dirty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选择参数可以得到电压和功率放大。</a:t>
            </a:r>
            <a:endParaRPr lang="zh-CN" altLang="en-US" dirty="0">
              <a:latin typeface="Times New Roman" panose="02020603050405020304" pitchFamily="18" charset="0"/>
              <a:ea typeface="楷体_GB2312" pitchFamily="49" charset="-122"/>
              <a:sym typeface="Symbol" panose="05050102010706020507" pitchFamily="18" charset="2"/>
            </a:endParaRPr>
          </a:p>
        </p:txBody>
      </p:sp>
      <p:grpSp>
        <p:nvGrpSpPr>
          <p:cNvPr id="258146" name="Group 98"/>
          <p:cNvGrpSpPr/>
          <p:nvPr/>
        </p:nvGrpSpPr>
        <p:grpSpPr>
          <a:xfrm>
            <a:off x="250825" y="1125538"/>
            <a:ext cx="4967288" cy="2030412"/>
            <a:chOff x="158" y="709"/>
            <a:chExt cx="3129" cy="1279"/>
          </a:xfrm>
        </p:grpSpPr>
        <p:sp>
          <p:nvSpPr>
            <p:cNvPr id="94222" name="Oval 64"/>
            <p:cNvSpPr/>
            <p:nvPr/>
          </p:nvSpPr>
          <p:spPr>
            <a:xfrm>
              <a:off x="521" y="1208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buClrTx/>
                <a:buFontTx/>
                <a:buNone/>
              </a:pPr>
              <a:endParaRPr lang="zh-CN" altLang="zh-CN" sz="2400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94223" name="Line 65"/>
            <p:cNvSpPr/>
            <p:nvPr/>
          </p:nvSpPr>
          <p:spPr>
            <a:xfrm>
              <a:off x="1655" y="890"/>
              <a:ext cx="1043" cy="0"/>
            </a:xfrm>
            <a:prstGeom prst="line">
              <a:avLst/>
            </a:prstGeom>
            <a:ln w="28575" cap="sq" cmpd="sng">
              <a:solidFill>
                <a:srgbClr val="FFCC00"/>
              </a:solidFill>
              <a:prstDash val="solid"/>
              <a:round/>
              <a:headEnd type="oval" w="med" len="med"/>
              <a:tailEnd type="none" w="med" len="med"/>
            </a:ln>
          </p:spPr>
        </p:sp>
        <p:sp>
          <p:nvSpPr>
            <p:cNvPr id="94224" name="AutoShape 66"/>
            <p:cNvSpPr/>
            <p:nvPr/>
          </p:nvSpPr>
          <p:spPr>
            <a:xfrm>
              <a:off x="2018" y="709"/>
              <a:ext cx="453" cy="363"/>
            </a:xfrm>
            <a:prstGeom prst="diamond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  <a:buNone/>
              </a:pPr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94225" name="Rectangle 67"/>
            <p:cNvSpPr/>
            <p:nvPr/>
          </p:nvSpPr>
          <p:spPr>
            <a:xfrm>
              <a:off x="725" y="890"/>
              <a:ext cx="907" cy="1044"/>
            </a:xfrm>
            <a:prstGeom prst="rect">
              <a:avLst/>
            </a:prstGeom>
            <a:noFill/>
            <a:ln w="28575" cap="sq" cmpd="sng">
              <a:solidFill>
                <a:srgbClr val="FFCC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  <a:buNone/>
              </a:pPr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94226" name="Rectangle 68"/>
            <p:cNvSpPr/>
            <p:nvPr/>
          </p:nvSpPr>
          <p:spPr>
            <a:xfrm>
              <a:off x="1564" y="1298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>
                <a:buClrTx/>
                <a:buFontTx/>
                <a:buNone/>
              </a:pPr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94227" name="Line 69"/>
            <p:cNvSpPr/>
            <p:nvPr/>
          </p:nvSpPr>
          <p:spPr>
            <a:xfrm flipH="1">
              <a:off x="2698" y="890"/>
              <a:ext cx="0" cy="1044"/>
            </a:xfrm>
            <a:prstGeom prst="line">
              <a:avLst/>
            </a:prstGeom>
            <a:ln w="28575" cap="sq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4228" name="Text Box 70" descr="斜纹布"/>
            <p:cNvSpPr txBox="1"/>
            <p:nvPr/>
          </p:nvSpPr>
          <p:spPr>
            <a:xfrm>
              <a:off x="2743" y="890"/>
              <a:ext cx="317" cy="327"/>
            </a:xfrm>
            <a:prstGeom prst="rect">
              <a:avLst/>
            </a:prstGeom>
            <a:noFill/>
            <a:ln w="28575">
              <a:noFill/>
            </a:ln>
            <a:effectLst>
              <a:prstShdw prst="shdw17" dist="17961" dir="2699999">
                <a:srgbClr val="3D5C99"/>
              </a:prstShdw>
            </a:effectLst>
          </p:spPr>
          <p:txBody>
            <a:bodyPr anchor="t" anchorCtr="0">
              <a:spAutoFit/>
            </a:bodyPr>
            <a:p>
              <a:pPr algn="ctr" eaLnBrk="0" hangingPunct="0">
                <a:buClrTx/>
                <a:buFontTx/>
                <a:buNone/>
              </a:pPr>
              <a:r>
                <a:rPr lang="en-US" altLang="zh-CN" b="0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+</a:t>
              </a:r>
              <a:endPara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94229" name="Text Box 71" descr="斜纹布"/>
            <p:cNvSpPr txBox="1"/>
            <p:nvPr/>
          </p:nvSpPr>
          <p:spPr>
            <a:xfrm flipV="1">
              <a:off x="317" y="1026"/>
              <a:ext cx="317" cy="327"/>
            </a:xfrm>
            <a:prstGeom prst="rect">
              <a:avLst/>
            </a:prstGeom>
            <a:noFill/>
            <a:ln w="28575">
              <a:noFill/>
            </a:ln>
            <a:effectLst>
              <a:prstShdw prst="shdw17" dist="17961" dir="2699999">
                <a:srgbClr val="3D5C99"/>
              </a:prstShdw>
            </a:effectLst>
          </p:spPr>
          <p:txBody>
            <a:bodyPr anchor="t" anchorCtr="0">
              <a:spAutoFit/>
            </a:bodyPr>
            <a:p>
              <a:pPr algn="ctr" eaLnBrk="0" hangingPunct="0">
                <a:buClrTx/>
                <a:buFontTx/>
                <a:buNone/>
              </a:pPr>
              <a:r>
                <a:rPr lang="en-US" altLang="zh-CN" b="0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+</a:t>
              </a:r>
              <a:endParaRPr lang="en-US" altLang="zh-CN" sz="2400" b="0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94230" name="Text Box 72" descr="斜纹布"/>
            <p:cNvSpPr txBox="1"/>
            <p:nvPr/>
          </p:nvSpPr>
          <p:spPr>
            <a:xfrm>
              <a:off x="363" y="1616"/>
              <a:ext cx="227" cy="327"/>
            </a:xfrm>
            <a:prstGeom prst="rect">
              <a:avLst/>
            </a:prstGeom>
            <a:noFill/>
            <a:ln w="28575">
              <a:noFill/>
            </a:ln>
            <a:effectLst>
              <a:prstShdw prst="shdw17" dist="17961" dir="2699999">
                <a:srgbClr val="3D5C99"/>
              </a:prstShdw>
            </a:effectLst>
          </p:spPr>
          <p:txBody>
            <a:bodyPr anchor="t" anchorCtr="0">
              <a:spAutoFit/>
            </a:bodyPr>
            <a:p>
              <a:pPr algn="ctr" eaLnBrk="0" hangingPunct="0">
                <a:buClrTx/>
                <a:buFontTx/>
                <a:buNone/>
              </a:pPr>
              <a:r>
                <a:rPr lang="en-US" altLang="zh-CN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Symbol" panose="05050102010706020507" pitchFamily="18" charset="2"/>
                </a:rPr>
                <a:t>-</a:t>
              </a:r>
              <a:endParaRPr lang="en-US" altLang="zh-CN" sz="24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94231" name="Text Box 73" descr="斜纹布"/>
            <p:cNvSpPr txBox="1"/>
            <p:nvPr/>
          </p:nvSpPr>
          <p:spPr>
            <a:xfrm>
              <a:off x="2789" y="1661"/>
              <a:ext cx="295" cy="327"/>
            </a:xfrm>
            <a:prstGeom prst="rect">
              <a:avLst/>
            </a:prstGeom>
            <a:noFill/>
            <a:ln w="28575">
              <a:noFill/>
            </a:ln>
            <a:effectLst>
              <a:prstShdw prst="shdw17" dist="17961" dir="2699999">
                <a:srgbClr val="3D5C99"/>
              </a:prstShdw>
            </a:effectLst>
          </p:spPr>
          <p:txBody>
            <a:bodyPr anchor="t" anchorCtr="0">
              <a:spAutoFit/>
            </a:bodyPr>
            <a:p>
              <a:pPr algn="ctr" eaLnBrk="0" hangingPunct="0">
                <a:buClrTx/>
                <a:buFontTx/>
                <a:buNone/>
              </a:pPr>
              <a:r>
                <a:rPr lang="zh-CN" altLang="en-US" b="0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－</a:t>
              </a:r>
              <a:endParaRPr lang="zh-CN" altLang="en-US" b="0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94232" name="Line 74"/>
            <p:cNvSpPr/>
            <p:nvPr/>
          </p:nvSpPr>
          <p:spPr>
            <a:xfrm flipV="1">
              <a:off x="1156" y="981"/>
              <a:ext cx="363" cy="0"/>
            </a:xfrm>
            <a:prstGeom prst="line">
              <a:avLst/>
            </a:prstGeom>
            <a:ln w="28575" cap="sq" cmpd="sng">
              <a:solidFill>
                <a:srgbClr val="00FF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94233" name="Text Box 75" descr="斜纹布"/>
            <p:cNvSpPr txBox="1"/>
            <p:nvPr/>
          </p:nvSpPr>
          <p:spPr>
            <a:xfrm>
              <a:off x="1746" y="981"/>
              <a:ext cx="408" cy="327"/>
            </a:xfrm>
            <a:prstGeom prst="rect">
              <a:avLst/>
            </a:prstGeom>
            <a:noFill/>
            <a:ln w="28575">
              <a:noFill/>
            </a:ln>
            <a:effectLst>
              <a:prstShdw prst="shdw17" dist="17961" dir="2699999">
                <a:srgbClr val="3D5C99"/>
              </a:prstShdw>
            </a:effectLst>
          </p:spPr>
          <p:txBody>
            <a:bodyPr anchor="t" anchorCtr="0">
              <a:spAutoFit/>
            </a:bodyPr>
            <a:p>
              <a:pPr algn="ctr" eaLnBrk="0" hangingPunct="0">
                <a:buClrTx/>
                <a:buFontTx/>
                <a:buNone/>
              </a:pPr>
              <a:r>
                <a:rPr lang="en-US" altLang="zh-CN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I</a:t>
              </a:r>
              <a:r>
                <a:rPr lang="en-US" altLang="zh-CN" b="0" baseline="-25000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1</a:t>
              </a:r>
              <a:endParaRPr lang="en-US" altLang="zh-CN" b="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94234" name="Text Box 76" descr="斜纹布"/>
            <p:cNvSpPr txBox="1"/>
            <p:nvPr/>
          </p:nvSpPr>
          <p:spPr>
            <a:xfrm>
              <a:off x="2743" y="1253"/>
              <a:ext cx="544" cy="327"/>
            </a:xfrm>
            <a:prstGeom prst="rect">
              <a:avLst/>
            </a:prstGeom>
            <a:noFill/>
            <a:ln w="28575">
              <a:noFill/>
            </a:ln>
            <a:effectLst>
              <a:prstShdw prst="shdw17" dist="17961" dir="2699999">
                <a:srgbClr val="3D5C99"/>
              </a:prstShdw>
            </a:effectLst>
          </p:spPr>
          <p:txBody>
            <a:bodyPr anchor="t" anchorCtr="0">
              <a:spAutoFit/>
            </a:bodyPr>
            <a:p>
              <a:pPr algn="ctr" eaLnBrk="0" hangingPunct="0">
                <a:buClrTx/>
                <a:buFontTx/>
                <a:buNone/>
              </a:pPr>
              <a:r>
                <a:rPr lang="en-US" altLang="zh-CN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U</a:t>
              </a:r>
              <a:r>
                <a:rPr lang="en-US" altLang="zh-CN" b="0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=?</a:t>
              </a:r>
              <a:endParaRPr lang="en-US" altLang="zh-CN" b="0" dirty="0"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94235" name="Line 77"/>
            <p:cNvSpPr/>
            <p:nvPr/>
          </p:nvSpPr>
          <p:spPr>
            <a:xfrm flipH="1" flipV="1">
              <a:off x="1701" y="890"/>
              <a:ext cx="318" cy="1"/>
            </a:xfrm>
            <a:prstGeom prst="line">
              <a:avLst/>
            </a:prstGeom>
            <a:ln w="28575" cap="sq" cmpd="sng">
              <a:solidFill>
                <a:srgbClr val="00FF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94236" name="Text Box 79" descr="斜纹布"/>
            <p:cNvSpPr txBox="1"/>
            <p:nvPr/>
          </p:nvSpPr>
          <p:spPr>
            <a:xfrm>
              <a:off x="2199" y="1298"/>
              <a:ext cx="408" cy="327"/>
            </a:xfrm>
            <a:prstGeom prst="rect">
              <a:avLst/>
            </a:prstGeom>
            <a:noFill/>
            <a:ln w="28575">
              <a:noFill/>
            </a:ln>
            <a:effectLst>
              <a:prstShdw prst="shdw17" dist="17961" dir="2699999">
                <a:srgbClr val="3D5C99"/>
              </a:prstShdw>
            </a:effectLst>
          </p:spPr>
          <p:txBody>
            <a:bodyPr anchor="t" anchorCtr="0">
              <a:spAutoFit/>
            </a:bodyPr>
            <a:p>
              <a:pPr algn="ctr" eaLnBrk="0" hangingPunct="0">
                <a:buClrTx/>
                <a:buFontTx/>
                <a:buNone/>
              </a:pPr>
              <a:r>
                <a:rPr lang="en-US" altLang="zh-CN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R</a:t>
              </a:r>
              <a:r>
                <a:rPr lang="en-US" altLang="zh-CN" b="0" baseline="-25000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2</a:t>
              </a:r>
              <a:endParaRPr lang="en-US" altLang="zh-CN" b="0" dirty="0"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94237" name="Text Box 80" descr="斜纹布"/>
            <p:cNvSpPr txBox="1"/>
            <p:nvPr/>
          </p:nvSpPr>
          <p:spPr>
            <a:xfrm>
              <a:off x="839" y="845"/>
              <a:ext cx="363" cy="327"/>
            </a:xfrm>
            <a:prstGeom prst="rect">
              <a:avLst/>
            </a:prstGeom>
            <a:noFill/>
            <a:ln w="28575">
              <a:noFill/>
            </a:ln>
            <a:effectLst>
              <a:prstShdw prst="shdw17" dist="17961" dir="2699999">
                <a:srgbClr val="3D5C99"/>
              </a:prstShdw>
            </a:effectLst>
          </p:spPr>
          <p:txBody>
            <a:bodyPr anchor="t" anchorCtr="0">
              <a:spAutoFit/>
            </a:bodyPr>
            <a:p>
              <a:pPr algn="ctr" eaLnBrk="0" hangingPunct="0">
                <a:buClrTx/>
                <a:buFontTx/>
                <a:buNone/>
              </a:pPr>
              <a:r>
                <a:rPr lang="en-US" altLang="zh-CN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 I</a:t>
              </a:r>
              <a:r>
                <a:rPr lang="en-US" altLang="zh-CN" b="0" baseline="-25000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1</a:t>
              </a:r>
              <a:endParaRPr lang="en-US" altLang="zh-CN" b="0" dirty="0"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94238" name="Line 81"/>
            <p:cNvSpPr/>
            <p:nvPr/>
          </p:nvSpPr>
          <p:spPr>
            <a:xfrm>
              <a:off x="2244" y="709"/>
              <a:ext cx="0" cy="363"/>
            </a:xfrm>
            <a:prstGeom prst="line">
              <a:avLst/>
            </a:prstGeom>
            <a:ln w="38100" cap="sq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4239" name="Line 82"/>
            <p:cNvSpPr/>
            <p:nvPr/>
          </p:nvSpPr>
          <p:spPr>
            <a:xfrm>
              <a:off x="1655" y="1934"/>
              <a:ext cx="1043" cy="0"/>
            </a:xfrm>
            <a:prstGeom prst="line">
              <a:avLst/>
            </a:prstGeom>
            <a:ln w="28575" cap="sq" cmpd="sng">
              <a:solidFill>
                <a:srgbClr val="FFCC00"/>
              </a:solidFill>
              <a:prstDash val="solid"/>
              <a:round/>
              <a:headEnd type="oval" w="med" len="med"/>
              <a:tailEnd type="none" w="med" len="med"/>
            </a:ln>
          </p:spPr>
        </p:sp>
        <p:sp>
          <p:nvSpPr>
            <p:cNvPr id="94240" name="Text Box 83" descr="斜纹布"/>
            <p:cNvSpPr txBox="1"/>
            <p:nvPr/>
          </p:nvSpPr>
          <p:spPr>
            <a:xfrm>
              <a:off x="1202" y="1298"/>
              <a:ext cx="408" cy="327"/>
            </a:xfrm>
            <a:prstGeom prst="rect">
              <a:avLst/>
            </a:prstGeom>
            <a:noFill/>
            <a:ln w="28575">
              <a:noFill/>
            </a:ln>
            <a:effectLst>
              <a:prstShdw prst="shdw17" dist="17961" dir="2699999">
                <a:srgbClr val="3D5C99"/>
              </a:prstShdw>
            </a:effectLst>
          </p:spPr>
          <p:txBody>
            <a:bodyPr anchor="t" anchorCtr="0">
              <a:spAutoFit/>
            </a:bodyPr>
            <a:p>
              <a:pPr algn="ctr" eaLnBrk="0" hangingPunct="0">
                <a:buClrTx/>
                <a:buFontTx/>
                <a:buNone/>
              </a:pPr>
              <a:r>
                <a:rPr lang="en-US" altLang="zh-CN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R</a:t>
              </a:r>
              <a:r>
                <a:rPr lang="en-US" altLang="zh-CN" b="0" baseline="-25000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1</a:t>
              </a:r>
              <a:endParaRPr lang="en-US" altLang="zh-CN" b="0" dirty="0"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94241" name="Text Box 84" descr="斜纹布"/>
            <p:cNvSpPr txBox="1"/>
            <p:nvPr/>
          </p:nvSpPr>
          <p:spPr>
            <a:xfrm>
              <a:off x="158" y="1344"/>
              <a:ext cx="408" cy="327"/>
            </a:xfrm>
            <a:prstGeom prst="rect">
              <a:avLst/>
            </a:prstGeom>
            <a:noFill/>
            <a:ln w="28575">
              <a:noFill/>
            </a:ln>
            <a:effectLst>
              <a:prstShdw prst="shdw17" dist="17961" dir="2699999">
                <a:srgbClr val="3D5C99"/>
              </a:prstShdw>
            </a:effectLst>
          </p:spPr>
          <p:txBody>
            <a:bodyPr anchor="t" anchorCtr="0">
              <a:spAutoFit/>
            </a:bodyPr>
            <a:p>
              <a:pPr algn="ctr" eaLnBrk="0" hangingPunct="0">
                <a:buClrTx/>
                <a:buFontTx/>
                <a:buNone/>
              </a:pPr>
              <a:r>
                <a:rPr lang="en-US" altLang="zh-CN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U</a:t>
              </a:r>
              <a:r>
                <a:rPr lang="en-US" altLang="zh-CN" b="0" baseline="-25000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S</a:t>
              </a:r>
              <a:endParaRPr lang="en-US" altLang="zh-CN" b="0" dirty="0"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94242" name="Rectangle 85"/>
            <p:cNvSpPr/>
            <p:nvPr/>
          </p:nvSpPr>
          <p:spPr>
            <a:xfrm>
              <a:off x="2653" y="1253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>
                <a:buClrTx/>
                <a:buFontTx/>
                <a:buNone/>
              </a:pPr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</p:grpSp>
      <p:grpSp>
        <p:nvGrpSpPr>
          <p:cNvPr id="94243" name="Group 89"/>
          <p:cNvGrpSpPr/>
          <p:nvPr/>
        </p:nvGrpSpPr>
        <p:grpSpPr>
          <a:xfrm>
            <a:off x="8316913" y="6446838"/>
            <a:ext cx="792162" cy="366712"/>
            <a:chOff x="4649" y="4020"/>
            <a:chExt cx="499" cy="231"/>
          </a:xfrm>
        </p:grpSpPr>
        <p:pic>
          <p:nvPicPr>
            <p:cNvPr id="94244" name="Picture 90" descr="78900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94245" name="Text Box 91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sp>
        <p:nvSpPr>
          <p:cNvPr id="258140" name="Text Box 92" descr="斜纹布"/>
          <p:cNvSpPr txBox="1"/>
          <p:nvPr/>
        </p:nvSpPr>
        <p:spPr>
          <a:xfrm>
            <a:off x="539750" y="476250"/>
            <a:ext cx="923925" cy="579438"/>
          </a:xfrm>
          <a:prstGeom prst="rect">
            <a:avLst/>
          </a:prstGeom>
          <a:noFill/>
          <a:ln w="28575">
            <a:noFill/>
          </a:ln>
          <a:effectLst>
            <a:prstShdw prst="shdw17" dist="17961" dir="2699999">
              <a:srgbClr val="3D5C99"/>
            </a:prstShdw>
          </a:effectLst>
        </p:spPr>
        <p:txBody>
          <a:bodyPr anchor="t" anchorCtr="0">
            <a:spAutoFit/>
          </a:bodyPr>
          <a:p>
            <a:pPr algn="ctr" eaLnBrk="0" hangingPunct="0">
              <a:spcBef>
                <a:spcPct val="50000"/>
              </a:spcBef>
              <a:buClrTx/>
              <a:buFontTx/>
              <a:buNone/>
            </a:pPr>
            <a:r>
              <a:rPr lang="zh-CN" altLang="en-US" sz="3200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例</a:t>
            </a:r>
            <a:r>
              <a:rPr lang="en-US" altLang="zh-CN" sz="3200" b="0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8</a:t>
            </a:r>
            <a:endParaRPr lang="en-US" altLang="zh-CN" sz="3200" b="0" dirty="0">
              <a:solidFill>
                <a:schemeClr val="tx1"/>
              </a:solidFill>
              <a:latin typeface="Times New Roman" panose="02020603050405020304" pitchFamily="18" charset="0"/>
              <a:ea typeface="仿宋_GB2312" pitchFamily="49" charset="-122"/>
              <a:sym typeface="Symbol" panose="05050102010706020507" pitchFamily="18" charset="2"/>
            </a:endParaRPr>
          </a:p>
        </p:txBody>
      </p:sp>
      <p:sp>
        <p:nvSpPr>
          <p:cNvPr id="258141" name="Text Box 93"/>
          <p:cNvSpPr txBox="1"/>
          <p:nvPr/>
        </p:nvSpPr>
        <p:spPr>
          <a:xfrm>
            <a:off x="1547813" y="549275"/>
            <a:ext cx="2952750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>
              <a:spcBef>
                <a:spcPct val="50000"/>
              </a:spcBef>
              <a:buClrTx/>
              <a:buFontTx/>
              <a:buNone/>
            </a:pPr>
            <a:r>
              <a:rPr lang="zh-CN" altLang="en-US" dirty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求输出电压 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U</a:t>
            </a:r>
            <a:endParaRPr lang="en-US" altLang="zh-CN" i="1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  <a:sym typeface="Symbol" panose="05050102010706020507" pitchFamily="18" charset="2"/>
            </a:endParaRPr>
          </a:p>
        </p:txBody>
      </p:sp>
      <p:grpSp>
        <p:nvGrpSpPr>
          <p:cNvPr id="94248" name="Group 102"/>
          <p:cNvGrpSpPr/>
          <p:nvPr/>
        </p:nvGrpSpPr>
        <p:grpSpPr>
          <a:xfrm>
            <a:off x="7451725" y="6445250"/>
            <a:ext cx="792163" cy="366713"/>
            <a:chOff x="5193" y="4020"/>
            <a:chExt cx="499" cy="231"/>
          </a:xfrm>
        </p:grpSpPr>
        <p:pic>
          <p:nvPicPr>
            <p:cNvPr id="94249" name="Picture 103" descr="78900">
              <a:hlinkClick r:id="" action="ppaction://hlinkshowjump?jump=firstslide"/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94250" name="Text Box 104">
              <a:hlinkClick r:id="" action="ppaction://hlinkshowjump?jump=firs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800" b="0" dirty="0"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581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581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581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581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258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2000"/>
                                        <p:tgtEl>
                                          <p:spTgt spid="258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580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580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580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580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2000"/>
                                        <p:tgtEl>
                                          <p:spTgt spid="258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2000"/>
                                        <p:tgtEl>
                                          <p:spTgt spid="258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1" dur="500"/>
                                        <p:tgtEl>
                                          <p:spTgt spid="2580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2000"/>
                                        <p:tgtEl>
                                          <p:spTgt spid="2580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0" dur="500"/>
                                        <p:tgtEl>
                                          <p:spTgt spid="2580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2000"/>
                                        <p:tgtEl>
                                          <p:spTgt spid="2580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2000"/>
                                        <p:tgtEl>
                                          <p:spTgt spid="258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2000"/>
                                        <p:tgtEl>
                                          <p:spTgt spid="258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2000"/>
                                        <p:tgtEl>
                                          <p:spTgt spid="258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2000"/>
                                        <p:tgtEl>
                                          <p:spTgt spid="258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9" dur="2000"/>
                                        <p:tgtEl>
                                          <p:spTgt spid="258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8102" grpId="0"/>
      <p:bldP spid="258140" grpId="0"/>
      <p:bldP spid="258141" grpId="0"/>
    </p:bldLst>
  </p:timing>
</p:sld>
</file>

<file path=ppt/tags/tag1.xml><?xml version="1.0" encoding="utf-8"?>
<p:tagLst xmlns:p="http://schemas.openxmlformats.org/presentationml/2006/main">
  <p:tag name="KSO_WPP_MARK_KEY" val="4ac84eef-7254-483b-b80c-c1fb6a769836"/>
  <p:tag name="COMMONDATA" val="eyJoZGlkIjoiOGU3NWY5ODU4NzI2NzNlZjYxODI4YjhmYmVlMDhlNGMifQ=="/>
</p:tagLst>
</file>

<file path=ppt/theme/theme1.xml><?xml version="1.0" encoding="utf-8"?>
<a:theme xmlns:a="http://schemas.openxmlformats.org/drawingml/2006/main" name="Beam">
  <a:themeElements>
    <a:clrScheme name="Beam 2">
      <a:dk1>
        <a:srgbClr val="000080"/>
      </a:dk1>
      <a:lt1>
        <a:srgbClr val="FFFFFF"/>
      </a:lt1>
      <a:dk2>
        <a:srgbClr val="000099"/>
      </a:dk2>
      <a:lt2>
        <a:srgbClr val="FFFFFF"/>
      </a:lt2>
      <a:accent1>
        <a:srgbClr val="3366FF"/>
      </a:accent1>
      <a:accent2>
        <a:srgbClr val="7B46D0"/>
      </a:accent2>
      <a:accent3>
        <a:srgbClr val="AAAACA"/>
      </a:accent3>
      <a:accent4>
        <a:srgbClr val="DADADA"/>
      </a:accent4>
      <a:accent5>
        <a:srgbClr val="ADB8FF"/>
      </a:accent5>
      <a:accent6>
        <a:srgbClr val="6F3FBC"/>
      </a:accent6>
      <a:hlink>
        <a:srgbClr val="86D1EC"/>
      </a:hlink>
      <a:folHlink>
        <a:srgbClr val="45C984"/>
      </a:folHlink>
    </a:clrScheme>
    <a:fontScheme name="Beam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/>
          <a:srcRect/>
          <a:tile tx="0" ty="0" sx="100000" sy="100000" flip="none" algn="tl"/>
        </a:blipFill>
        <a:ln w="28575" cap="sq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800" b="1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Arial" panose="020B0604020202020204" pitchFamily="34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/>
          <a:srcRect/>
          <a:tile tx="0" ty="0" sx="100000" sy="100000" flip="none" algn="tl"/>
        </a:blipFill>
        <a:ln w="28575" cap="sq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800" b="1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Arial" panose="020B0604020202020204" pitchFamily="34" charset="0"/>
            <a:ea typeface="楷体_GB2312" pitchFamily="49" charset="-122"/>
          </a:defRPr>
        </a:defPPr>
      </a:lstStyle>
    </a:lnDef>
  </a:objectDefaults>
  <a:extraClrSchemeLst>
    <a:extraClrScheme>
      <a:clrScheme name="Beam 1">
        <a:dk1>
          <a:srgbClr val="1A006C"/>
        </a:dk1>
        <a:lt1>
          <a:srgbClr val="FFFFFF"/>
        </a:lt1>
        <a:dk2>
          <a:srgbClr val="000066"/>
        </a:dk2>
        <a:lt2>
          <a:srgbClr val="CCCCFF"/>
        </a:lt2>
        <a:accent1>
          <a:srgbClr val="0099CC"/>
        </a:accent1>
        <a:accent2>
          <a:srgbClr val="6600CC"/>
        </a:accent2>
        <a:accent3>
          <a:srgbClr val="AAAAB8"/>
        </a:accent3>
        <a:accent4>
          <a:srgbClr val="DADADA"/>
        </a:accent4>
        <a:accent5>
          <a:srgbClr val="AACAE2"/>
        </a:accent5>
        <a:accent6>
          <a:srgbClr val="5C00B9"/>
        </a:accent6>
        <a:hlink>
          <a:srgbClr val="9999FF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2">
        <a:dk1>
          <a:srgbClr val="000080"/>
        </a:dk1>
        <a:lt1>
          <a:srgbClr val="FFFFFF"/>
        </a:lt1>
        <a:dk2>
          <a:srgbClr val="000099"/>
        </a:dk2>
        <a:lt2>
          <a:srgbClr val="FFFFFF"/>
        </a:lt2>
        <a:accent1>
          <a:srgbClr val="3366FF"/>
        </a:accent1>
        <a:accent2>
          <a:srgbClr val="7B46D0"/>
        </a:accent2>
        <a:accent3>
          <a:srgbClr val="AAAACA"/>
        </a:accent3>
        <a:accent4>
          <a:srgbClr val="DADADA"/>
        </a:accent4>
        <a:accent5>
          <a:srgbClr val="ADB8FF"/>
        </a:accent5>
        <a:accent6>
          <a:srgbClr val="6F3FBC"/>
        </a:accent6>
        <a:hlink>
          <a:srgbClr val="86D1EC"/>
        </a:hlink>
        <a:folHlink>
          <a:srgbClr val="45C98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3">
        <a:dk1>
          <a:srgbClr val="3F4873"/>
        </a:dk1>
        <a:lt1>
          <a:srgbClr val="FFFFFF"/>
        </a:lt1>
        <a:dk2>
          <a:srgbClr val="4F598D"/>
        </a:dk2>
        <a:lt2>
          <a:srgbClr val="CCECFF"/>
        </a:lt2>
        <a:accent1>
          <a:srgbClr val="0099CC"/>
        </a:accent1>
        <a:accent2>
          <a:srgbClr val="4C8470"/>
        </a:accent2>
        <a:accent3>
          <a:srgbClr val="B2B5C5"/>
        </a:accent3>
        <a:accent4>
          <a:srgbClr val="DADADA"/>
        </a:accent4>
        <a:accent5>
          <a:srgbClr val="AACAE2"/>
        </a:accent5>
        <a:accent6>
          <a:srgbClr val="447765"/>
        </a:accent6>
        <a:hlink>
          <a:srgbClr val="99CC00"/>
        </a:hlink>
        <a:folHlink>
          <a:srgbClr val="96A4C8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4">
        <a:dk1>
          <a:srgbClr val="006E6B"/>
        </a:dk1>
        <a:lt1>
          <a:srgbClr val="FFFFFF"/>
        </a:lt1>
        <a:dk2>
          <a:srgbClr val="008080"/>
        </a:dk2>
        <a:lt2>
          <a:srgbClr val="E2EFCD"/>
        </a:lt2>
        <a:accent1>
          <a:srgbClr val="33CCCC"/>
        </a:accent1>
        <a:accent2>
          <a:srgbClr val="6352B8"/>
        </a:accent2>
        <a:accent3>
          <a:srgbClr val="AAC0C0"/>
        </a:accent3>
        <a:accent4>
          <a:srgbClr val="DADADA"/>
        </a:accent4>
        <a:accent5>
          <a:srgbClr val="ADE2E2"/>
        </a:accent5>
        <a:accent6>
          <a:srgbClr val="5949A6"/>
        </a:accent6>
        <a:hlink>
          <a:srgbClr val="CCFFFF"/>
        </a:hlink>
        <a:folHlink>
          <a:srgbClr val="99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5">
        <a:dk1>
          <a:srgbClr val="48562C"/>
        </a:dk1>
        <a:lt1>
          <a:srgbClr val="FFFFFF"/>
        </a:lt1>
        <a:dk2>
          <a:srgbClr val="546434"/>
        </a:dk2>
        <a:lt2>
          <a:srgbClr val="FFFFCC"/>
        </a:lt2>
        <a:accent1>
          <a:srgbClr val="7B8A6E"/>
        </a:accent1>
        <a:accent2>
          <a:srgbClr val="527C3A"/>
        </a:accent2>
        <a:accent3>
          <a:srgbClr val="B3B8AE"/>
        </a:accent3>
        <a:accent4>
          <a:srgbClr val="DADADA"/>
        </a:accent4>
        <a:accent5>
          <a:srgbClr val="BFC4BA"/>
        </a:accent5>
        <a:accent6>
          <a:srgbClr val="497034"/>
        </a:accent6>
        <a:hlink>
          <a:srgbClr val="55B55E"/>
        </a:hlink>
        <a:folHlink>
          <a:srgbClr val="85B3B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6">
        <a:dk1>
          <a:srgbClr val="96B29E"/>
        </a:dk1>
        <a:lt1>
          <a:srgbClr val="FFFFFF"/>
        </a:lt1>
        <a:dk2>
          <a:srgbClr val="A5BDAC"/>
        </a:dk2>
        <a:lt2>
          <a:srgbClr val="FFFFCC"/>
        </a:lt2>
        <a:accent1>
          <a:srgbClr val="4E8880"/>
        </a:accent1>
        <a:accent2>
          <a:srgbClr val="2F71B9"/>
        </a:accent2>
        <a:accent3>
          <a:srgbClr val="CFDBD2"/>
        </a:accent3>
        <a:accent4>
          <a:srgbClr val="DADADA"/>
        </a:accent4>
        <a:accent5>
          <a:srgbClr val="B2C3C0"/>
        </a:accent5>
        <a:accent6>
          <a:srgbClr val="2A66A7"/>
        </a:accent6>
        <a:hlink>
          <a:srgbClr val="9DC0E7"/>
        </a:hlink>
        <a:folHlink>
          <a:srgbClr val="54CA8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7">
        <a:dk1>
          <a:srgbClr val="D49C00"/>
        </a:dk1>
        <a:lt1>
          <a:srgbClr val="FFFFFF"/>
        </a:lt1>
        <a:dk2>
          <a:srgbClr val="CC9900"/>
        </a:dk2>
        <a:lt2>
          <a:srgbClr val="CEBD40"/>
        </a:lt2>
        <a:accent1>
          <a:srgbClr val="CC6600"/>
        </a:accent1>
        <a:accent2>
          <a:srgbClr val="808000"/>
        </a:accent2>
        <a:accent3>
          <a:srgbClr val="E2CAAA"/>
        </a:accent3>
        <a:accent4>
          <a:srgbClr val="DADADA"/>
        </a:accent4>
        <a:accent5>
          <a:srgbClr val="E2B8AA"/>
        </a:accent5>
        <a:accent6>
          <a:srgbClr val="737300"/>
        </a:accent6>
        <a:hlink>
          <a:srgbClr val="FF99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8">
        <a:dk1>
          <a:srgbClr val="881700"/>
        </a:dk1>
        <a:lt1>
          <a:srgbClr val="FAF9E6"/>
        </a:lt1>
        <a:dk2>
          <a:srgbClr val="990000"/>
        </a:dk2>
        <a:lt2>
          <a:srgbClr val="EADC78"/>
        </a:lt2>
        <a:accent1>
          <a:srgbClr val="FF6600"/>
        </a:accent1>
        <a:accent2>
          <a:srgbClr val="B86D52"/>
        </a:accent2>
        <a:accent3>
          <a:srgbClr val="CAAAAA"/>
        </a:accent3>
        <a:accent4>
          <a:srgbClr val="D6D5C4"/>
        </a:accent4>
        <a:accent5>
          <a:srgbClr val="FFB8AA"/>
        </a:accent5>
        <a:accent6>
          <a:srgbClr val="A66249"/>
        </a:accent6>
        <a:hlink>
          <a:srgbClr val="D78D15"/>
        </a:hlink>
        <a:folHlink>
          <a:srgbClr val="C6B37E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E6F5F6"/>
        </a:accent1>
        <a:accent2>
          <a:srgbClr val="A5E1A8"/>
        </a:accent2>
        <a:accent3>
          <a:srgbClr val="FFFFFF"/>
        </a:accent3>
        <a:accent4>
          <a:srgbClr val="000000"/>
        </a:accent4>
        <a:accent5>
          <a:srgbClr val="F0F9FA"/>
        </a:accent5>
        <a:accent6>
          <a:srgbClr val="95CC98"/>
        </a:accent6>
        <a:hlink>
          <a:srgbClr val="5B00B6"/>
        </a:hlink>
        <a:folHlink>
          <a:srgbClr val="34988E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Beam</Template>
  <TotalTime>0</TotalTime>
  <Words>6749</Words>
  <Application>WPS 演示</Application>
  <PresentationFormat>全屏显示(4:3)</PresentationFormat>
  <Paragraphs>2100</Paragraphs>
  <Slides>68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24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151</vt:i4>
      </vt:variant>
      <vt:variant>
        <vt:lpstr>幻灯片标题</vt:lpstr>
      </vt:variant>
      <vt:variant>
        <vt:i4>68</vt:i4>
      </vt:variant>
    </vt:vector>
  </HeadingPairs>
  <TitlesOfParts>
    <vt:vector size="244" baseType="lpstr">
      <vt:lpstr>Arial</vt:lpstr>
      <vt:lpstr>宋体</vt:lpstr>
      <vt:lpstr>Wingdings</vt:lpstr>
      <vt:lpstr>楷体_GB2312</vt:lpstr>
      <vt:lpstr>新宋体</vt:lpstr>
      <vt:lpstr>隶书</vt:lpstr>
      <vt:lpstr>Times New Roman</vt:lpstr>
      <vt:lpstr>Monotype Sorts</vt:lpstr>
      <vt:lpstr>Wingdings</vt:lpstr>
      <vt:lpstr>Symbol</vt:lpstr>
      <vt:lpstr>华文行楷</vt:lpstr>
      <vt:lpstr>仿宋_GB2312</vt:lpstr>
      <vt:lpstr>仿宋</vt:lpstr>
      <vt:lpstr>CommonBullets</vt:lpstr>
      <vt:lpstr>Wingdings 2</vt:lpstr>
      <vt:lpstr>华文中宋</vt:lpstr>
      <vt:lpstr>微软雅黑</vt:lpstr>
      <vt:lpstr>Arial Unicode MS</vt:lpstr>
      <vt:lpstr>华文琥珀</vt:lpstr>
      <vt:lpstr>Bahnschrift</vt:lpstr>
      <vt:lpstr>Bauhaus 93</vt:lpstr>
      <vt:lpstr>Tw Cen MT Condensed Extra Bold</vt:lpstr>
      <vt:lpstr>方正姚体</vt:lpstr>
      <vt:lpstr>楷体</vt:lpstr>
      <vt:lpstr>Beam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Visio.Drawing.4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Visio.Drawing.6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xjtu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zyz</dc:creator>
  <cp:lastModifiedBy>Brina徐</cp:lastModifiedBy>
  <cp:revision>686</cp:revision>
  <dcterms:created xsi:type="dcterms:W3CDTF">2002-05-27T07:30:13Z</dcterms:created>
  <dcterms:modified xsi:type="dcterms:W3CDTF">2023-03-01T12:01:58Z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6C91D4B7FDFE42D3B8C90B8BE9771706</vt:lpwstr>
  </property>
  <property fmtid="{D5CDD505-2E9C-101B-9397-08002B2CF9AE}" pid="3" name="KSOProductBuildVer">
    <vt:lpwstr>2052-11.1.0.13703</vt:lpwstr>
  </property>
</Properties>
</file>