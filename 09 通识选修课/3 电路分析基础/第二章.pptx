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docProps/custom.xml" ContentType="application/vnd.openxmlformats-officedocument.custom-properties+xml"/>
  <Override PartName="/ppt/tags/tag14.xml" ContentType="application/vnd.openxmlformats-officedocument.presentationml.tags+xml"/>
  <Override PartName="/ppt/tags/tag1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tags/tag17.xml" ContentType="application/vnd.openxmlformats-officedocument.presentationml.tag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tags/tag15.xml" ContentType="application/vnd.openxmlformats-officedocument.presentationml.tags+xml"/>
  <Override PartName="/ppt/tags/tag13.xml" ContentType="application/vnd.openxmlformats-officedocument.presentationml.tags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sldIdLst>
    <p:sldId id="328" r:id="rId2"/>
    <p:sldId id="325" r:id="rId3"/>
    <p:sldId id="257" r:id="rId4"/>
    <p:sldId id="327" r:id="rId5"/>
    <p:sldId id="278" r:id="rId6"/>
    <p:sldId id="316" r:id="rId7"/>
    <p:sldId id="258" r:id="rId8"/>
    <p:sldId id="259" r:id="rId9"/>
    <p:sldId id="260" r:id="rId10"/>
    <p:sldId id="261" r:id="rId11"/>
    <p:sldId id="262" r:id="rId12"/>
    <p:sldId id="318" r:id="rId13"/>
    <p:sldId id="263" r:id="rId14"/>
    <p:sldId id="264" r:id="rId15"/>
    <p:sldId id="266" r:id="rId16"/>
    <p:sldId id="268" r:id="rId17"/>
    <p:sldId id="319" r:id="rId18"/>
    <p:sldId id="270" r:id="rId19"/>
    <p:sldId id="271" r:id="rId20"/>
    <p:sldId id="272" r:id="rId21"/>
    <p:sldId id="273" r:id="rId22"/>
    <p:sldId id="329" r:id="rId23"/>
    <p:sldId id="274" r:id="rId24"/>
    <p:sldId id="275" r:id="rId25"/>
    <p:sldId id="279" r:id="rId26"/>
    <p:sldId id="280" r:id="rId27"/>
    <p:sldId id="281" r:id="rId28"/>
    <p:sldId id="282" r:id="rId29"/>
    <p:sldId id="320" r:id="rId30"/>
    <p:sldId id="283" r:id="rId31"/>
    <p:sldId id="284" r:id="rId32"/>
    <p:sldId id="285" r:id="rId33"/>
    <p:sldId id="286" r:id="rId34"/>
    <p:sldId id="315" r:id="rId35"/>
    <p:sldId id="287" r:id="rId36"/>
    <p:sldId id="288" r:id="rId37"/>
    <p:sldId id="289" r:id="rId38"/>
    <p:sldId id="290" r:id="rId39"/>
    <p:sldId id="324" r:id="rId40"/>
    <p:sldId id="323" r:id="rId41"/>
    <p:sldId id="291" r:id="rId42"/>
    <p:sldId id="292" r:id="rId43"/>
    <p:sldId id="293" r:id="rId44"/>
    <p:sldId id="300" r:id="rId45"/>
    <p:sldId id="301" r:id="rId46"/>
    <p:sldId id="312" r:id="rId47"/>
    <p:sldId id="321" r:id="rId48"/>
    <p:sldId id="295" r:id="rId49"/>
    <p:sldId id="296" r:id="rId50"/>
    <p:sldId id="305" r:id="rId51"/>
    <p:sldId id="297" r:id="rId52"/>
    <p:sldId id="298" r:id="rId53"/>
    <p:sldId id="299" r:id="rId54"/>
    <p:sldId id="303" r:id="rId55"/>
  </p:sldIdLst>
  <p:sldSz cx="9144000" cy="6858000" type="screen4x3"/>
  <p:notesSz cx="6858000" cy="9144000"/>
  <p:custDataLst>
    <p:tags r:id="rId5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rgbClr val="FFFF00"/>
        </a:solidFill>
        <a:latin typeface="Times New Roman" panose="02020603050405020304" pitchFamily="18" charset="0"/>
        <a:ea typeface="仿宋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rgbClr val="FFFF00"/>
        </a:solidFill>
        <a:latin typeface="Times New Roman" panose="02020603050405020304" pitchFamily="18" charset="0"/>
        <a:ea typeface="仿宋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rgbClr val="FFFF00"/>
        </a:solidFill>
        <a:latin typeface="Times New Roman" panose="02020603050405020304" pitchFamily="18" charset="0"/>
        <a:ea typeface="仿宋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rgbClr val="FFFF00"/>
        </a:solidFill>
        <a:latin typeface="Times New Roman" panose="02020603050405020304" pitchFamily="18" charset="0"/>
        <a:ea typeface="仿宋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rgbClr val="FFFF00"/>
        </a:solidFill>
        <a:latin typeface="Times New Roman" panose="02020603050405020304" pitchFamily="18" charset="0"/>
        <a:ea typeface="仿宋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rgbClr val="FFFF00"/>
        </a:solidFill>
        <a:latin typeface="Times New Roman" panose="02020603050405020304" pitchFamily="18" charset="0"/>
        <a:ea typeface="仿宋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rgbClr val="FFFF00"/>
        </a:solidFill>
        <a:latin typeface="Times New Roman" panose="02020603050405020304" pitchFamily="18" charset="0"/>
        <a:ea typeface="仿宋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rgbClr val="FFFF00"/>
        </a:solidFill>
        <a:latin typeface="Times New Roman" panose="02020603050405020304" pitchFamily="18" charset="0"/>
        <a:ea typeface="仿宋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rgbClr val="FFFF00"/>
        </a:solidFill>
        <a:latin typeface="Times New Roman" panose="02020603050405020304" pitchFamily="18" charset="0"/>
        <a:ea typeface="仿宋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xmlns="" val="1"/>
      </p:ext>
    </p:extLst>
  </p:showPr>
  <p:clrMru>
    <a:srgbClr val="FF0000"/>
    <a:srgbClr val="FFCC00"/>
    <a:srgbClr val="FF9900"/>
    <a:srgbClr val="FFFF00"/>
    <a:srgbClr val="990033"/>
    <a:srgbClr val="FF3399"/>
    <a:srgbClr val="0099FF"/>
    <a:srgbClr val="66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943"/>
    <p:restoredTop sz="95213"/>
  </p:normalViewPr>
  <p:slideViewPr>
    <p:cSldViewPr showGuides="1">
      <p:cViewPr varScale="1">
        <p:scale>
          <a:sx n="107" d="100"/>
          <a:sy n="107" d="100"/>
        </p:scale>
        <p:origin x="-1734" y="-90"/>
      </p:cViewPr>
      <p:guideLst>
        <p:guide orient="horz" pos="2183"/>
        <p:guide pos="2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gs" Target="tags/tag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4" Type="http://schemas.openxmlformats.org/officeDocument/2006/relationships/image" Target="../media/image41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Relationship Id="rId4" Type="http://schemas.openxmlformats.org/officeDocument/2006/relationships/image" Target="../media/image48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jpeg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Relationship Id="rId4" Type="http://schemas.openxmlformats.org/officeDocument/2006/relationships/image" Target="../media/image55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Relationship Id="rId4" Type="http://schemas.openxmlformats.org/officeDocument/2006/relationships/image" Target="../media/image67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image" Target="../media/image68.emf"/><Relationship Id="rId4" Type="http://schemas.openxmlformats.org/officeDocument/2006/relationships/image" Target="../media/image71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image" Target="../media/image72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image" Target="../media/image75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4" Type="http://schemas.openxmlformats.org/officeDocument/2006/relationships/image" Target="../media/image8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2023/3/6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3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BE8DB57-DEAD-4BCD-A646-92936246747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C36F37-1D9E-4B9C-82BF-02C19819D09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C36F37-1D9E-4B9C-82BF-02C19819D09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C36F37-1D9E-4B9C-82BF-02C19819D09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C36F37-1D9E-4B9C-82BF-02C19819D09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C36F37-1D9E-4B9C-82BF-02C19819D09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C36F37-1D9E-4B9C-82BF-02C19819D09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C36F37-1D9E-4B9C-82BF-02C19819D09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C36F37-1D9E-4B9C-82BF-02C19819D09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C36F37-1D9E-4B9C-82BF-02C19819D09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C36F37-1D9E-4B9C-82BF-02C19819D09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C36F37-1D9E-4B9C-82BF-02C19819D09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31" name="Picture 7" descr="33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2" name="WordArt 8"/>
          <p:cNvSpPr>
            <a:spLocks noTextEdit="1"/>
          </p:cNvSpPr>
          <p:nvPr userDrawn="1"/>
        </p:nvSpPr>
        <p:spPr>
          <a:xfrm>
            <a:off x="5002213" y="115888"/>
            <a:ext cx="2809875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62500" lnSpcReduction="20000"/>
          </a:bodyPr>
          <a:lstStyle/>
          <a:p>
            <a:pPr algn="ctr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电阻电路的等效变换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51.xm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slide" Target="slide3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slide" Target="slide35.xml"/><Relationship Id="rId5" Type="http://schemas.openxmlformats.org/officeDocument/2006/relationships/image" Target="../media/image4.png"/><Relationship Id="rId10" Type="http://schemas.openxmlformats.org/officeDocument/2006/relationships/slide" Target="slide24.xml"/><Relationship Id="rId4" Type="http://schemas.openxmlformats.org/officeDocument/2006/relationships/image" Target="../media/image3.png"/><Relationship Id="rId9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oleObject" Target="../embeddings/oleObject28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37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2.bin"/><Relationship Id="rId5" Type="http://schemas.openxmlformats.org/officeDocument/2006/relationships/oleObject" Target="../embeddings/oleObject31.bin"/><Relationship Id="rId4" Type="http://schemas.openxmlformats.org/officeDocument/2006/relationships/oleObject" Target="../embeddings/oleObject3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6.png"/><Relationship Id="rId4" Type="http://schemas.openxmlformats.org/officeDocument/2006/relationships/oleObject" Target="../embeddings/oleObject3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6.png"/><Relationship Id="rId4" Type="http://schemas.openxmlformats.org/officeDocument/2006/relationships/oleObject" Target="../embeddings/oleObject37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.png"/><Relationship Id="rId5" Type="http://schemas.openxmlformats.org/officeDocument/2006/relationships/image" Target="../media/image7.jpeg"/><Relationship Id="rId4" Type="http://schemas.openxmlformats.org/officeDocument/2006/relationships/oleObject" Target="../embeddings/oleObject4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5.bin"/><Relationship Id="rId5" Type="http://schemas.openxmlformats.org/officeDocument/2006/relationships/oleObject" Target="../embeddings/oleObject44.bin"/><Relationship Id="rId4" Type="http://schemas.openxmlformats.org/officeDocument/2006/relationships/oleObject" Target="../embeddings/oleObject4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47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52.bin"/><Relationship Id="rId4" Type="http://schemas.openxmlformats.org/officeDocument/2006/relationships/image" Target="../media/image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6.png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55.bin"/><Relationship Id="rId5" Type="http://schemas.openxmlformats.org/officeDocument/2006/relationships/oleObject" Target="../embeddings/oleObject54.bin"/><Relationship Id="rId4" Type="http://schemas.openxmlformats.org/officeDocument/2006/relationships/image" Target="../media/image7.jpeg"/><Relationship Id="rId9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image" Target="../media/image7.jpe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59.bin"/><Relationship Id="rId4" Type="http://schemas.openxmlformats.org/officeDocument/2006/relationships/oleObject" Target="../embeddings/oleObject58.bin"/><Relationship Id="rId9" Type="http://schemas.openxmlformats.org/officeDocument/2006/relationships/oleObject" Target="../embeddings/oleObject61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oleObject" Target="../embeddings/oleObject63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67.bin"/><Relationship Id="rId4" Type="http://schemas.openxmlformats.org/officeDocument/2006/relationships/oleObject" Target="../embeddings/oleObject66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73.bin"/><Relationship Id="rId5" Type="http://schemas.openxmlformats.org/officeDocument/2006/relationships/oleObject" Target="../embeddings/oleObject72.bin"/><Relationship Id="rId4" Type="http://schemas.openxmlformats.org/officeDocument/2006/relationships/oleObject" Target="../embeddings/oleObject71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77.bin"/><Relationship Id="rId5" Type="http://schemas.openxmlformats.org/officeDocument/2006/relationships/oleObject" Target="../embeddings/oleObject76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2" name="Text Box 4"/>
          <p:cNvSpPr txBox="1"/>
          <p:nvPr/>
        </p:nvSpPr>
        <p:spPr>
          <a:xfrm>
            <a:off x="684213" y="260350"/>
            <a:ext cx="8064500" cy="823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4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4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电阻电路的等效变换</a:t>
            </a:r>
          </a:p>
        </p:txBody>
      </p:sp>
      <p:grpSp>
        <p:nvGrpSpPr>
          <p:cNvPr id="135173" name="Group 5"/>
          <p:cNvGrpSpPr/>
          <p:nvPr/>
        </p:nvGrpSpPr>
        <p:grpSpPr>
          <a:xfrm>
            <a:off x="1258888" y="1997075"/>
            <a:ext cx="6988175" cy="568325"/>
            <a:chOff x="793" y="1258"/>
            <a:chExt cx="4402" cy="358"/>
          </a:xfrm>
        </p:grpSpPr>
        <p:pic>
          <p:nvPicPr>
            <p:cNvPr id="3113" name="Picture 6" descr="GEL Rounded Rectangle aquamarine">
              <a:hlinkClick r:id="rId2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20" y="1258"/>
              <a:ext cx="3675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14" name="Text Box 7">
              <a:hlinkClick r:id="rId2" action="ppaction://hlinksldjump"/>
            </p:cNvPr>
            <p:cNvSpPr txBox="1"/>
            <p:nvPr/>
          </p:nvSpPr>
          <p:spPr>
            <a:xfrm>
              <a:off x="1657" y="1298"/>
              <a:ext cx="34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引言</a:t>
              </a:r>
            </a:p>
          </p:txBody>
        </p:sp>
        <p:pic>
          <p:nvPicPr>
            <p:cNvPr id="3115" name="Picture 8" descr="GEL Rounded Rectangle aquamarine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" y="1258"/>
              <a:ext cx="818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16" name="Text Box 9">
              <a:hlinkClick r:id="rId2" action="ppaction://hlinksldjump"/>
            </p:cNvPr>
            <p:cNvSpPr txBox="1"/>
            <p:nvPr/>
          </p:nvSpPr>
          <p:spPr>
            <a:xfrm>
              <a:off x="839" y="1298"/>
              <a:ext cx="7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2.1</a:t>
              </a:r>
            </a:p>
          </p:txBody>
        </p:sp>
      </p:grpSp>
      <p:grpSp>
        <p:nvGrpSpPr>
          <p:cNvPr id="135178" name="Group 10"/>
          <p:cNvGrpSpPr/>
          <p:nvPr/>
        </p:nvGrpSpPr>
        <p:grpSpPr>
          <a:xfrm>
            <a:off x="7596188" y="6094413"/>
            <a:ext cx="1368425" cy="647700"/>
            <a:chOff x="2971" y="3113"/>
            <a:chExt cx="1043" cy="499"/>
          </a:xfrm>
        </p:grpSpPr>
        <p:sp>
          <p:nvSpPr>
            <p:cNvPr id="3111" name="Oval 11"/>
            <p:cNvSpPr/>
            <p:nvPr/>
          </p:nvSpPr>
          <p:spPr>
            <a:xfrm>
              <a:off x="2971" y="3113"/>
              <a:ext cx="1043" cy="499"/>
            </a:xfrm>
            <a:prstGeom prst="ellipse">
              <a:avLst/>
            </a:prstGeom>
            <a:gradFill rotWithShape="0">
              <a:gsLst>
                <a:gs pos="0">
                  <a:srgbClr val="3366FF"/>
                </a:gs>
                <a:gs pos="50000">
                  <a:srgbClr val="7799FF"/>
                </a:gs>
                <a:gs pos="100000">
                  <a:srgbClr val="3366FF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112" name="Oval 12">
              <a:hlinkClick r:id="" action="ppaction://hlinkshowjump?jump=endshow"/>
            </p:cNvPr>
            <p:cNvSpPr/>
            <p:nvPr/>
          </p:nvSpPr>
          <p:spPr>
            <a:xfrm>
              <a:off x="3016" y="3158"/>
              <a:ext cx="953" cy="408"/>
            </a:xfrm>
            <a:prstGeom prst="ellipse">
              <a:avLst/>
            </a:prstGeom>
            <a:gradFill rotWithShape="0">
              <a:gsLst>
                <a:gs pos="0">
                  <a:srgbClr val="0033CC"/>
                </a:gs>
                <a:gs pos="50000">
                  <a:srgbClr val="87DAED"/>
                </a:gs>
                <a:gs pos="100000">
                  <a:srgbClr val="0033CC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CC0000"/>
                  </a:solidFill>
                  <a:ea typeface="隶书" panose="02010509060101010101" pitchFamily="49" charset="-122"/>
                </a:rPr>
                <a:t>首 页</a:t>
              </a:r>
            </a:p>
          </p:txBody>
        </p:sp>
      </p:grpSp>
      <p:grpSp>
        <p:nvGrpSpPr>
          <p:cNvPr id="135181" name="Group 13"/>
          <p:cNvGrpSpPr/>
          <p:nvPr/>
        </p:nvGrpSpPr>
        <p:grpSpPr>
          <a:xfrm>
            <a:off x="3490913" y="981075"/>
            <a:ext cx="2736850" cy="1008063"/>
            <a:chOff x="1928" y="890"/>
            <a:chExt cx="1905" cy="680"/>
          </a:xfrm>
        </p:grpSpPr>
        <p:pic>
          <p:nvPicPr>
            <p:cNvPr id="3108" name="Picture 14" descr="GEL Oval MS-blue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1928" y="890"/>
              <a:ext cx="1905" cy="6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109" name="Picture 15" descr="GEL Oval MS-yellow">
              <a:hlinkClick r:id="rId6" action="ppaction://hlinksldjump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18" y="981"/>
              <a:ext cx="1715" cy="4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10" name="Text Box 16" descr="斜纹布">
              <a:hlinkClick r:id="rId6" action="ppaction://hlinksldjump"/>
            </p:cNvPr>
            <p:cNvSpPr txBox="1"/>
            <p:nvPr/>
          </p:nvSpPr>
          <p:spPr>
            <a:xfrm>
              <a:off x="2292" y="1062"/>
              <a:ext cx="1237" cy="351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本章重点</a:t>
              </a:r>
            </a:p>
          </p:txBody>
        </p:sp>
      </p:grpSp>
      <p:grpSp>
        <p:nvGrpSpPr>
          <p:cNvPr id="135185" name="Group 17"/>
          <p:cNvGrpSpPr/>
          <p:nvPr/>
        </p:nvGrpSpPr>
        <p:grpSpPr>
          <a:xfrm>
            <a:off x="1258888" y="2565400"/>
            <a:ext cx="6988175" cy="568325"/>
            <a:chOff x="793" y="1258"/>
            <a:chExt cx="4402" cy="358"/>
          </a:xfrm>
        </p:grpSpPr>
        <p:pic>
          <p:nvPicPr>
            <p:cNvPr id="3104" name="Picture 18" descr="GEL Rounded Rectangle aquamarine">
              <a:hlinkClick r:id="rId8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20" y="1258"/>
              <a:ext cx="3675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05" name="Text Box 19">
              <a:hlinkClick r:id="rId8" action="ppaction://hlinksldjump"/>
            </p:cNvPr>
            <p:cNvSpPr txBox="1"/>
            <p:nvPr/>
          </p:nvSpPr>
          <p:spPr>
            <a:xfrm>
              <a:off x="1657" y="1298"/>
              <a:ext cx="34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电路的等效变换</a:t>
              </a:r>
            </a:p>
          </p:txBody>
        </p:sp>
        <p:pic>
          <p:nvPicPr>
            <p:cNvPr id="3106" name="Picture 20" descr="GEL Rounded Rectangle aquamarine">
              <a:hlinkClick r:id="rId8" action="ppaction://hlinksldjump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" y="1258"/>
              <a:ext cx="818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07" name="Text Box 21">
              <a:hlinkClick r:id="rId8" action="ppaction://hlinksldjump"/>
            </p:cNvPr>
            <p:cNvSpPr txBox="1"/>
            <p:nvPr/>
          </p:nvSpPr>
          <p:spPr>
            <a:xfrm>
              <a:off x="839" y="1298"/>
              <a:ext cx="7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2.2</a:t>
              </a:r>
            </a:p>
          </p:txBody>
        </p:sp>
      </p:grpSp>
      <p:grpSp>
        <p:nvGrpSpPr>
          <p:cNvPr id="135190" name="Group 22"/>
          <p:cNvGrpSpPr/>
          <p:nvPr/>
        </p:nvGrpSpPr>
        <p:grpSpPr>
          <a:xfrm>
            <a:off x="1258888" y="3148013"/>
            <a:ext cx="6988175" cy="568325"/>
            <a:chOff x="793" y="1258"/>
            <a:chExt cx="4402" cy="358"/>
          </a:xfrm>
        </p:grpSpPr>
        <p:pic>
          <p:nvPicPr>
            <p:cNvPr id="3100" name="Picture 23" descr="GEL Rounded Rectangle aquamarine">
              <a:hlinkClick r:id="rId9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20" y="1258"/>
              <a:ext cx="3675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01" name="Text Box 24">
              <a:hlinkClick r:id="rId9" action="ppaction://hlinksldjump"/>
            </p:cNvPr>
            <p:cNvSpPr txBox="1"/>
            <p:nvPr/>
          </p:nvSpPr>
          <p:spPr>
            <a:xfrm>
              <a:off x="1657" y="1298"/>
              <a:ext cx="34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电阻的串联和并联</a:t>
              </a:r>
            </a:p>
          </p:txBody>
        </p:sp>
        <p:pic>
          <p:nvPicPr>
            <p:cNvPr id="3102" name="Picture 25" descr="GEL Rounded Rectangle aquamarine">
              <a:hlinkClick r:id="rId9" action="ppaction://hlinksldjump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" y="1258"/>
              <a:ext cx="818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03" name="Text Box 26">
              <a:hlinkClick r:id="rId9" action="ppaction://hlinksldjump"/>
            </p:cNvPr>
            <p:cNvSpPr txBox="1"/>
            <p:nvPr/>
          </p:nvSpPr>
          <p:spPr>
            <a:xfrm>
              <a:off x="839" y="1298"/>
              <a:ext cx="7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2.3</a:t>
              </a:r>
            </a:p>
          </p:txBody>
        </p:sp>
      </p:grpSp>
      <p:grpSp>
        <p:nvGrpSpPr>
          <p:cNvPr id="135195" name="Group 27"/>
          <p:cNvGrpSpPr/>
          <p:nvPr/>
        </p:nvGrpSpPr>
        <p:grpSpPr>
          <a:xfrm>
            <a:off x="1258888" y="3716338"/>
            <a:ext cx="6988175" cy="568325"/>
            <a:chOff x="793" y="1258"/>
            <a:chExt cx="4402" cy="358"/>
          </a:xfrm>
        </p:grpSpPr>
        <p:pic>
          <p:nvPicPr>
            <p:cNvPr id="3096" name="Picture 28" descr="GEL Rounded Rectangle aquamarine">
              <a:hlinkClick r:id="rId10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20" y="1258"/>
              <a:ext cx="3675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7" name="Text Box 29">
              <a:hlinkClick r:id="rId10" action="ppaction://hlinksldjump"/>
            </p:cNvPr>
            <p:cNvSpPr txBox="1"/>
            <p:nvPr/>
          </p:nvSpPr>
          <p:spPr>
            <a:xfrm>
              <a:off x="1657" y="1298"/>
              <a:ext cx="34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电阻的</a:t>
              </a: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Y</a:t>
              </a:r>
              <a:r>
                <a:rPr lang="zh-CN" altLang="en-US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形连接和△形连接的等效变换</a:t>
              </a:r>
            </a:p>
          </p:txBody>
        </p:sp>
        <p:pic>
          <p:nvPicPr>
            <p:cNvPr id="3098" name="Picture 30" descr="GEL Rounded Rectangle aquamarine">
              <a:hlinkClick r:id="rId10" action="ppaction://hlinksldjump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" y="1258"/>
              <a:ext cx="818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9" name="Text Box 31">
              <a:hlinkClick r:id="rId10" action="ppaction://hlinksldjump"/>
            </p:cNvPr>
            <p:cNvSpPr txBox="1"/>
            <p:nvPr/>
          </p:nvSpPr>
          <p:spPr>
            <a:xfrm>
              <a:off x="839" y="1298"/>
              <a:ext cx="7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2.4</a:t>
              </a:r>
            </a:p>
          </p:txBody>
        </p:sp>
      </p:grpSp>
      <p:grpSp>
        <p:nvGrpSpPr>
          <p:cNvPr id="135200" name="Group 32"/>
          <p:cNvGrpSpPr/>
          <p:nvPr/>
        </p:nvGrpSpPr>
        <p:grpSpPr>
          <a:xfrm>
            <a:off x="1258888" y="4300538"/>
            <a:ext cx="6988175" cy="568325"/>
            <a:chOff x="793" y="1258"/>
            <a:chExt cx="4402" cy="358"/>
          </a:xfrm>
        </p:grpSpPr>
        <p:pic>
          <p:nvPicPr>
            <p:cNvPr id="3092" name="Picture 33" descr="GEL Rounded Rectangle aquamarine">
              <a:hlinkClick r:id="rId11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20" y="1258"/>
              <a:ext cx="3675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3" name="Text Box 34">
              <a:hlinkClick r:id="rId11" action="ppaction://hlinksldjump"/>
            </p:cNvPr>
            <p:cNvSpPr txBox="1"/>
            <p:nvPr/>
          </p:nvSpPr>
          <p:spPr>
            <a:xfrm>
              <a:off x="1657" y="1298"/>
              <a:ext cx="34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电压源、电流源的串联和并联</a:t>
              </a:r>
            </a:p>
          </p:txBody>
        </p:sp>
        <p:pic>
          <p:nvPicPr>
            <p:cNvPr id="3094" name="Picture 35" descr="GEL Rounded Rectangle aquamarine">
              <a:hlinkClick r:id="rId11" action="ppaction://hlinksldjump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" y="1258"/>
              <a:ext cx="818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5" name="Text Box 36">
              <a:hlinkClick r:id="rId11" action="ppaction://hlinksldjump"/>
            </p:cNvPr>
            <p:cNvSpPr txBox="1"/>
            <p:nvPr/>
          </p:nvSpPr>
          <p:spPr>
            <a:xfrm>
              <a:off x="839" y="1298"/>
              <a:ext cx="7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2.5</a:t>
              </a:r>
            </a:p>
          </p:txBody>
        </p:sp>
      </p:grpSp>
      <p:grpSp>
        <p:nvGrpSpPr>
          <p:cNvPr id="135205" name="Group 37"/>
          <p:cNvGrpSpPr/>
          <p:nvPr/>
        </p:nvGrpSpPr>
        <p:grpSpPr>
          <a:xfrm>
            <a:off x="1258888" y="4876800"/>
            <a:ext cx="6988175" cy="568325"/>
            <a:chOff x="793" y="1258"/>
            <a:chExt cx="4402" cy="358"/>
          </a:xfrm>
        </p:grpSpPr>
        <p:pic>
          <p:nvPicPr>
            <p:cNvPr id="3088" name="Picture 38" descr="GEL Rounded Rectangle aquamarine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20" y="1258"/>
              <a:ext cx="3675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89" name="Text Box 39">
              <a:hlinkClick r:id="rId12" action="ppaction://hlinksldjump"/>
            </p:cNvPr>
            <p:cNvSpPr txBox="1"/>
            <p:nvPr/>
          </p:nvSpPr>
          <p:spPr>
            <a:xfrm>
              <a:off x="1657" y="1298"/>
              <a:ext cx="34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实际电源的两种模型及其等效变换</a:t>
              </a:r>
            </a:p>
          </p:txBody>
        </p:sp>
        <p:pic>
          <p:nvPicPr>
            <p:cNvPr id="3090" name="Picture 40" descr="GEL Rounded Rectangle aquamarine">
              <a:hlinkClick r:id="rId12" action="ppaction://hlinksldjump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" y="1258"/>
              <a:ext cx="818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1" name="Text Box 41">
              <a:hlinkClick r:id="rId12" action="ppaction://hlinksldjump"/>
            </p:cNvPr>
            <p:cNvSpPr txBox="1"/>
            <p:nvPr/>
          </p:nvSpPr>
          <p:spPr>
            <a:xfrm>
              <a:off x="839" y="1298"/>
              <a:ext cx="7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2.6</a:t>
              </a:r>
            </a:p>
          </p:txBody>
        </p:sp>
      </p:grpSp>
      <p:grpSp>
        <p:nvGrpSpPr>
          <p:cNvPr id="135210" name="Group 42"/>
          <p:cNvGrpSpPr/>
          <p:nvPr/>
        </p:nvGrpSpPr>
        <p:grpSpPr>
          <a:xfrm>
            <a:off x="1258888" y="5445125"/>
            <a:ext cx="6988175" cy="568325"/>
            <a:chOff x="793" y="1258"/>
            <a:chExt cx="4402" cy="358"/>
          </a:xfrm>
        </p:grpSpPr>
        <p:pic>
          <p:nvPicPr>
            <p:cNvPr id="3084" name="Picture 43" descr="GEL Rounded Rectangle aquamarine">
              <a:hlinkClick r:id="rId13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20" y="1258"/>
              <a:ext cx="3675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85" name="Text Box 44">
              <a:hlinkClick r:id="rId13" action="ppaction://hlinksldjump"/>
            </p:cNvPr>
            <p:cNvSpPr txBox="1"/>
            <p:nvPr/>
          </p:nvSpPr>
          <p:spPr>
            <a:xfrm>
              <a:off x="1657" y="1298"/>
              <a:ext cx="34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输入电阻</a:t>
              </a:r>
            </a:p>
          </p:txBody>
        </p:sp>
        <p:pic>
          <p:nvPicPr>
            <p:cNvPr id="3086" name="Picture 45" descr="GEL Rounded Rectangle aquamarine">
              <a:hlinkClick r:id="rId13" action="ppaction://hlinksldjump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" y="1258"/>
              <a:ext cx="818" cy="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87" name="Text Box 46">
              <a:hlinkClick r:id="rId13" action="ppaction://hlinksldjump"/>
            </p:cNvPr>
            <p:cNvSpPr txBox="1"/>
            <p:nvPr/>
          </p:nvSpPr>
          <p:spPr>
            <a:xfrm>
              <a:off x="839" y="1298"/>
              <a:ext cx="7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2.7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3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3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3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3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3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9" presetClass="entr" presetSubtype="0" decel="10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Text Box 3"/>
          <p:cNvSpPr txBox="1"/>
          <p:nvPr/>
        </p:nvSpPr>
        <p:spPr>
          <a:xfrm>
            <a:off x="1116013" y="2852738"/>
            <a:ext cx="526256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电阻的串、并联；</a:t>
            </a:r>
          </a:p>
        </p:txBody>
      </p:sp>
      <p:sp>
        <p:nvSpPr>
          <p:cNvPr id="131076" name="Text Box 4"/>
          <p:cNvSpPr txBox="1"/>
          <p:nvPr/>
        </p:nvSpPr>
        <p:spPr>
          <a:xfrm>
            <a:off x="1116013" y="4437063"/>
            <a:ext cx="7278687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电压源和电流源的等效变换；</a:t>
            </a:r>
          </a:p>
        </p:txBody>
      </p:sp>
      <p:sp>
        <p:nvSpPr>
          <p:cNvPr id="131077" name="Text Box 5"/>
          <p:cNvSpPr txBox="1"/>
          <p:nvPr/>
        </p:nvSpPr>
        <p:spPr>
          <a:xfrm>
            <a:off x="1116013" y="3644900"/>
            <a:ext cx="554355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电阻的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Y—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变换</a:t>
            </a:r>
            <a:r>
              <a:rPr lang="en-US" altLang="zh-CN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;</a:t>
            </a:r>
          </a:p>
        </p:txBody>
      </p:sp>
      <p:sp>
        <p:nvSpPr>
          <p:cNvPr id="131078" name="Rectangle 6"/>
          <p:cNvSpPr/>
          <p:nvPr/>
        </p:nvSpPr>
        <p:spPr>
          <a:xfrm>
            <a:off x="684213" y="981075"/>
            <a:ext cx="2125662" cy="641350"/>
          </a:xfrm>
          <a:prstGeom prst="rect">
            <a:avLst/>
          </a:prstGeom>
          <a:solidFill>
            <a:srgbClr val="FF3300"/>
          </a:solidFill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Char char="l"/>
            </a:pPr>
            <a:r>
              <a:rPr lang="en-US" altLang="zh-CN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重点：</a:t>
            </a:r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1079" name="Text Box 7"/>
          <p:cNvSpPr txBox="1"/>
          <p:nvPr/>
        </p:nvSpPr>
        <p:spPr>
          <a:xfrm>
            <a:off x="1116013" y="2060575"/>
            <a:ext cx="526256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电路等效的概念；</a:t>
            </a:r>
          </a:p>
        </p:txBody>
      </p:sp>
      <p:grpSp>
        <p:nvGrpSpPr>
          <p:cNvPr id="4103" name="Group 11"/>
          <p:cNvGrpSpPr/>
          <p:nvPr/>
        </p:nvGrpSpPr>
        <p:grpSpPr>
          <a:xfrm>
            <a:off x="8243888" y="6381750"/>
            <a:ext cx="792162" cy="366713"/>
            <a:chOff x="4649" y="4020"/>
            <a:chExt cx="499" cy="231"/>
          </a:xfrm>
        </p:grpSpPr>
        <p:pic>
          <p:nvPicPr>
            <p:cNvPr id="4104" name="Picture 12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5" name="Text Box 1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/>
      <p:bldP spid="131076" grpId="0"/>
      <p:bldP spid="131077" grpId="0"/>
      <p:bldP spid="131078" grpId="0" animBg="1"/>
      <p:bldP spid="13107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5"/>
          <p:cNvSpPr txBox="1"/>
          <p:nvPr/>
        </p:nvSpPr>
        <p:spPr>
          <a:xfrm>
            <a:off x="539750" y="2095500"/>
            <a:ext cx="2160588" cy="617538"/>
          </a:xfrm>
          <a:prstGeom prst="rect">
            <a:avLst/>
          </a:prstGeom>
          <a:noFill/>
          <a:ln w="38100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电阻电路</a:t>
            </a:r>
          </a:p>
        </p:txBody>
      </p:sp>
      <p:sp>
        <p:nvSpPr>
          <p:cNvPr id="3078" name="AutoShape 6"/>
          <p:cNvSpPr/>
          <p:nvPr/>
        </p:nvSpPr>
        <p:spPr>
          <a:xfrm>
            <a:off x="2843213" y="2311400"/>
            <a:ext cx="649287" cy="142875"/>
          </a:xfrm>
          <a:prstGeom prst="rightArrow">
            <a:avLst>
              <a:gd name="adj1" fmla="val 50000"/>
              <a:gd name="adj2" fmla="val 113611"/>
            </a:avLst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080" name="Text Box 8"/>
          <p:cNvSpPr txBox="1"/>
          <p:nvPr/>
        </p:nvSpPr>
        <p:spPr>
          <a:xfrm>
            <a:off x="3600450" y="2117725"/>
            <a:ext cx="52197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仅由电源和线性电阻构成的电路</a:t>
            </a:r>
          </a:p>
        </p:txBody>
      </p:sp>
      <p:sp>
        <p:nvSpPr>
          <p:cNvPr id="3081" name="Text Box 9"/>
          <p:cNvSpPr txBox="1"/>
          <p:nvPr/>
        </p:nvSpPr>
        <p:spPr>
          <a:xfrm>
            <a:off x="539750" y="2959100"/>
            <a:ext cx="2160588" cy="617538"/>
          </a:xfrm>
          <a:prstGeom prst="rect">
            <a:avLst/>
          </a:prstGeom>
          <a:noFill/>
          <a:ln w="38100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分析方法</a:t>
            </a:r>
          </a:p>
        </p:txBody>
      </p:sp>
      <p:sp>
        <p:nvSpPr>
          <p:cNvPr id="3082" name="AutoShape 10"/>
          <p:cNvSpPr/>
          <p:nvPr/>
        </p:nvSpPr>
        <p:spPr>
          <a:xfrm>
            <a:off x="2843213" y="3175000"/>
            <a:ext cx="720725" cy="144463"/>
          </a:xfrm>
          <a:prstGeom prst="rightArrow">
            <a:avLst>
              <a:gd name="adj1" fmla="val 50000"/>
              <a:gd name="adj2" fmla="val 124724"/>
            </a:avLst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083" name="Text Box 11"/>
          <p:cNvSpPr txBox="1"/>
          <p:nvPr/>
        </p:nvSpPr>
        <p:spPr>
          <a:xfrm>
            <a:off x="3635375" y="2959100"/>
            <a:ext cx="5113338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buAutoNum type="circleNumDbPlain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欧姆定律和基尔霍夫定律是分析电阻电路的依据；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84" name="Text Box 12"/>
          <p:cNvSpPr txBox="1"/>
          <p:nvPr/>
        </p:nvSpPr>
        <p:spPr>
          <a:xfrm>
            <a:off x="3635375" y="4111625"/>
            <a:ext cx="5040313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buAutoNum type="circleNumDbPlain" startAt="2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等效变换的方法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也称化简的方法。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129" name="Group 1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37" name="Picture 16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8" name="Text Box 1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5130" name="Group 18"/>
          <p:cNvGrpSpPr/>
          <p:nvPr/>
        </p:nvGrpSpPr>
        <p:grpSpPr>
          <a:xfrm>
            <a:off x="7451725" y="6446838"/>
            <a:ext cx="792163" cy="366712"/>
            <a:chOff x="4649" y="4020"/>
            <a:chExt cx="499" cy="231"/>
          </a:xfrm>
        </p:grpSpPr>
        <p:pic>
          <p:nvPicPr>
            <p:cNvPr id="5135" name="Picture 19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6" name="Text Box 2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5131" name="Group 25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133" name="Picture 26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4" name="Text Box 2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sp>
        <p:nvSpPr>
          <p:cNvPr id="3100" name="Rectangle 28"/>
          <p:cNvSpPr/>
          <p:nvPr/>
        </p:nvSpPr>
        <p:spPr>
          <a:xfrm>
            <a:off x="1403350" y="660400"/>
            <a:ext cx="6553200" cy="823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2.1  </a:t>
            </a:r>
            <a:r>
              <a:rPr lang="zh-CN" altLang="en-US" sz="4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引言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animBg="1"/>
      <p:bldP spid="3078" grpId="0" animBg="1"/>
      <p:bldP spid="3080" grpId="0"/>
      <p:bldP spid="3081" grpId="0" animBg="1"/>
      <p:bldP spid="3082" grpId="0" animBg="1"/>
      <p:bldP spid="3083" grpId="0"/>
      <p:bldP spid="3084" grpId="0"/>
      <p:bldP spid="31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2"/>
          <p:cNvSpPr txBox="1"/>
          <p:nvPr/>
        </p:nvSpPr>
        <p:spPr>
          <a:xfrm>
            <a:off x="611188" y="2014538"/>
            <a:ext cx="8208962" cy="1630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任何一个复杂的电路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向外引出两个端钮，且从一个端子流入的电流等于从另一端子流出的电流，则称这一电路为二端网络 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或一端口网络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133123" name="Text Box 3"/>
          <p:cNvSpPr txBox="1"/>
          <p:nvPr/>
        </p:nvSpPr>
        <p:spPr>
          <a:xfrm>
            <a:off x="395288" y="1409700"/>
            <a:ext cx="41052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两端电路（网络）</a:t>
            </a:r>
          </a:p>
        </p:txBody>
      </p:sp>
      <p:grpSp>
        <p:nvGrpSpPr>
          <p:cNvPr id="133124" name="Group 4"/>
          <p:cNvGrpSpPr/>
          <p:nvPr/>
        </p:nvGrpSpPr>
        <p:grpSpPr>
          <a:xfrm>
            <a:off x="4140200" y="4003675"/>
            <a:ext cx="2089150" cy="1584325"/>
            <a:chOff x="3288" y="1979"/>
            <a:chExt cx="1270" cy="771"/>
          </a:xfrm>
        </p:grpSpPr>
        <p:grpSp>
          <p:nvGrpSpPr>
            <p:cNvPr id="6170" name="Group 5"/>
            <p:cNvGrpSpPr/>
            <p:nvPr/>
          </p:nvGrpSpPr>
          <p:grpSpPr>
            <a:xfrm>
              <a:off x="3288" y="1979"/>
              <a:ext cx="1270" cy="771"/>
              <a:chOff x="612" y="1979"/>
              <a:chExt cx="1270" cy="771"/>
            </a:xfrm>
          </p:grpSpPr>
          <p:sp>
            <p:nvSpPr>
              <p:cNvPr id="6172" name="Rectangle 6"/>
              <p:cNvSpPr/>
              <p:nvPr/>
            </p:nvSpPr>
            <p:spPr>
              <a:xfrm>
                <a:off x="612" y="1979"/>
                <a:ext cx="635" cy="771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6173" name="Line 7"/>
              <p:cNvSpPr/>
              <p:nvPr/>
            </p:nvSpPr>
            <p:spPr>
              <a:xfrm>
                <a:off x="1247" y="2115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  <p:sp>
            <p:nvSpPr>
              <p:cNvPr id="6174" name="Line 8"/>
              <p:cNvSpPr/>
              <p:nvPr/>
            </p:nvSpPr>
            <p:spPr>
              <a:xfrm>
                <a:off x="1247" y="2614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</p:grpSp>
        <p:sp>
          <p:nvSpPr>
            <p:cNvPr id="6171" name="Text Box 9"/>
            <p:cNvSpPr txBox="1"/>
            <p:nvPr/>
          </p:nvSpPr>
          <p:spPr>
            <a:xfrm>
              <a:off x="3379" y="2115"/>
              <a:ext cx="408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solidFill>
                    <a:schemeClr val="bg1"/>
                  </a:solidFill>
                  <a:ea typeface="楷体_GB2312" pitchFamily="49" charset="-122"/>
                </a:rPr>
                <a:t>无源</a:t>
              </a:r>
            </a:p>
          </p:txBody>
        </p:sp>
      </p:grpSp>
      <p:sp>
        <p:nvSpPr>
          <p:cNvPr id="133130" name="AutoShape 10" descr="羊皮纸"/>
          <p:cNvSpPr/>
          <p:nvPr/>
        </p:nvSpPr>
        <p:spPr>
          <a:xfrm>
            <a:off x="7669213" y="3860800"/>
            <a:ext cx="719137" cy="2305050"/>
          </a:xfrm>
          <a:prstGeom prst="wedgeRoundRectCallout">
            <a:avLst>
              <a:gd name="adj1" fmla="val -272519"/>
              <a:gd name="adj2" fmla="val -13773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无源一端口</a:t>
            </a:r>
          </a:p>
        </p:txBody>
      </p:sp>
      <p:sp>
        <p:nvSpPr>
          <p:cNvPr id="6150" name="Line 11"/>
          <p:cNvSpPr/>
          <p:nvPr/>
        </p:nvSpPr>
        <p:spPr>
          <a:xfrm>
            <a:off x="2413000" y="3932238"/>
            <a:ext cx="431800" cy="0"/>
          </a:xfrm>
          <a:prstGeom prst="line">
            <a:avLst/>
          </a:prstGeom>
          <a:ln w="9525">
            <a:noFill/>
          </a:ln>
        </p:spPr>
      </p:sp>
      <p:grpSp>
        <p:nvGrpSpPr>
          <p:cNvPr id="133132" name="Group 12"/>
          <p:cNvGrpSpPr/>
          <p:nvPr/>
        </p:nvGrpSpPr>
        <p:grpSpPr>
          <a:xfrm>
            <a:off x="1044575" y="3932238"/>
            <a:ext cx="2376488" cy="1584325"/>
            <a:chOff x="612" y="2115"/>
            <a:chExt cx="1452" cy="771"/>
          </a:xfrm>
        </p:grpSpPr>
        <p:grpSp>
          <p:nvGrpSpPr>
            <p:cNvPr id="6162" name="Group 13"/>
            <p:cNvGrpSpPr/>
            <p:nvPr/>
          </p:nvGrpSpPr>
          <p:grpSpPr>
            <a:xfrm>
              <a:off x="612" y="2115"/>
              <a:ext cx="1270" cy="771"/>
              <a:chOff x="612" y="1979"/>
              <a:chExt cx="1270" cy="771"/>
            </a:xfrm>
          </p:grpSpPr>
          <p:sp>
            <p:nvSpPr>
              <p:cNvPr id="6167" name="Rectangle 14"/>
              <p:cNvSpPr/>
              <p:nvPr/>
            </p:nvSpPr>
            <p:spPr>
              <a:xfrm>
                <a:off x="612" y="1979"/>
                <a:ext cx="635" cy="771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6168" name="Line 15"/>
              <p:cNvSpPr/>
              <p:nvPr/>
            </p:nvSpPr>
            <p:spPr>
              <a:xfrm>
                <a:off x="1247" y="2115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  <p:sp>
            <p:nvSpPr>
              <p:cNvPr id="6169" name="Line 16"/>
              <p:cNvSpPr/>
              <p:nvPr/>
            </p:nvSpPr>
            <p:spPr>
              <a:xfrm>
                <a:off x="1247" y="2614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</p:grpSp>
        <p:sp>
          <p:nvSpPr>
            <p:cNvPr id="6163" name="Line 17"/>
            <p:cNvSpPr/>
            <p:nvPr/>
          </p:nvSpPr>
          <p:spPr>
            <a:xfrm flipH="1">
              <a:off x="1519" y="2341"/>
              <a:ext cx="40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4" name="Line 18"/>
            <p:cNvSpPr/>
            <p:nvPr/>
          </p:nvSpPr>
          <p:spPr>
            <a:xfrm>
              <a:off x="1474" y="2659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65" name="Text Box 19"/>
            <p:cNvSpPr txBox="1"/>
            <p:nvPr/>
          </p:nvSpPr>
          <p:spPr>
            <a:xfrm>
              <a:off x="1837" y="2387"/>
              <a:ext cx="227" cy="2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  <p:sp>
          <p:nvSpPr>
            <p:cNvPr id="6166" name="Text Box 20"/>
            <p:cNvSpPr txBox="1"/>
            <p:nvPr/>
          </p:nvSpPr>
          <p:spPr>
            <a:xfrm>
              <a:off x="1338" y="2205"/>
              <a:ext cx="22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</p:grpSp>
      <p:grpSp>
        <p:nvGrpSpPr>
          <p:cNvPr id="6152" name="Group 2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160" name="Picture 22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61" name="Text Box 2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6153" name="Group 2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158" name="Picture 25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59" name="Text Box 2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sp>
        <p:nvSpPr>
          <p:cNvPr id="133147" name="Rectangle 27"/>
          <p:cNvSpPr/>
          <p:nvPr/>
        </p:nvSpPr>
        <p:spPr>
          <a:xfrm>
            <a:off x="1476375" y="476250"/>
            <a:ext cx="6553200" cy="823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4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电路的等效变换</a:t>
            </a:r>
          </a:p>
        </p:txBody>
      </p:sp>
      <p:grpSp>
        <p:nvGrpSpPr>
          <p:cNvPr id="6155" name="Group 31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6156" name="Picture 32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57" name="Text Box 3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175"/>
                            </p:stCondLst>
                            <p:childTnLst>
                              <p:par>
                                <p:cTn id="2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20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20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build="p"/>
      <p:bldP spid="133123" grpId="0"/>
      <p:bldP spid="1331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87" name="Group 11"/>
          <p:cNvGrpSpPr/>
          <p:nvPr/>
        </p:nvGrpSpPr>
        <p:grpSpPr>
          <a:xfrm>
            <a:off x="827088" y="2276475"/>
            <a:ext cx="2517775" cy="1311275"/>
            <a:chOff x="431" y="164"/>
            <a:chExt cx="1586" cy="826"/>
          </a:xfrm>
        </p:grpSpPr>
        <p:grpSp>
          <p:nvGrpSpPr>
            <p:cNvPr id="7211" name="Group 2"/>
            <p:cNvGrpSpPr/>
            <p:nvPr/>
          </p:nvGrpSpPr>
          <p:grpSpPr>
            <a:xfrm>
              <a:off x="431" y="210"/>
              <a:ext cx="1270" cy="771"/>
              <a:chOff x="612" y="1979"/>
              <a:chExt cx="1270" cy="771"/>
            </a:xfrm>
          </p:grpSpPr>
          <p:sp>
            <p:nvSpPr>
              <p:cNvPr id="7217" name="Rectangle 3"/>
              <p:cNvSpPr/>
              <p:nvPr/>
            </p:nvSpPr>
            <p:spPr>
              <a:xfrm>
                <a:off x="612" y="1979"/>
                <a:ext cx="635" cy="771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B</a:t>
                </a:r>
              </a:p>
            </p:txBody>
          </p:sp>
          <p:sp>
            <p:nvSpPr>
              <p:cNvPr id="7218" name="Line 4"/>
              <p:cNvSpPr/>
              <p:nvPr/>
            </p:nvSpPr>
            <p:spPr>
              <a:xfrm>
                <a:off x="1247" y="2115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  <p:sp>
            <p:nvSpPr>
              <p:cNvPr id="7219" name="Line 5"/>
              <p:cNvSpPr/>
              <p:nvPr/>
            </p:nvSpPr>
            <p:spPr>
              <a:xfrm>
                <a:off x="1247" y="2614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</p:grpSp>
        <p:sp>
          <p:nvSpPr>
            <p:cNvPr id="7212" name="Line 6"/>
            <p:cNvSpPr/>
            <p:nvPr/>
          </p:nvSpPr>
          <p:spPr>
            <a:xfrm flipH="1">
              <a:off x="1202" y="255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13" name="Text Box 7"/>
            <p:cNvSpPr txBox="1"/>
            <p:nvPr/>
          </p:nvSpPr>
          <p:spPr>
            <a:xfrm>
              <a:off x="1746" y="164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+</a:t>
              </a:r>
            </a:p>
          </p:txBody>
        </p:sp>
        <p:sp>
          <p:nvSpPr>
            <p:cNvPr id="7214" name="Text Box 8"/>
            <p:cNvSpPr txBox="1"/>
            <p:nvPr/>
          </p:nvSpPr>
          <p:spPr>
            <a:xfrm>
              <a:off x="1746" y="663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7215" name="Text Box 9"/>
            <p:cNvSpPr txBox="1"/>
            <p:nvPr/>
          </p:nvSpPr>
          <p:spPr>
            <a:xfrm>
              <a:off x="1791" y="436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</a:p>
          </p:txBody>
        </p:sp>
        <p:sp>
          <p:nvSpPr>
            <p:cNvPr id="7216" name="Text Box 10"/>
            <p:cNvSpPr txBox="1"/>
            <p:nvPr/>
          </p:nvSpPr>
          <p:spPr>
            <a:xfrm>
              <a:off x="1292" y="300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</p:grpSp>
      <p:grpSp>
        <p:nvGrpSpPr>
          <p:cNvPr id="24600" name="Group 24"/>
          <p:cNvGrpSpPr/>
          <p:nvPr/>
        </p:nvGrpSpPr>
        <p:grpSpPr>
          <a:xfrm>
            <a:off x="3348038" y="2492375"/>
            <a:ext cx="1439862" cy="719138"/>
            <a:chOff x="2109" y="210"/>
            <a:chExt cx="907" cy="453"/>
          </a:xfrm>
        </p:grpSpPr>
        <p:sp>
          <p:nvSpPr>
            <p:cNvPr id="7209" name="AutoShape 22"/>
            <p:cNvSpPr/>
            <p:nvPr/>
          </p:nvSpPr>
          <p:spPr>
            <a:xfrm>
              <a:off x="2109" y="482"/>
              <a:ext cx="907" cy="181"/>
            </a:xfrm>
            <a:prstGeom prst="leftRightArrow">
              <a:avLst>
                <a:gd name="adj1" fmla="val 50000"/>
                <a:gd name="adj2" fmla="val 100220"/>
              </a:avLst>
            </a:pr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7210" name="Text Box 23"/>
            <p:cNvSpPr txBox="1"/>
            <p:nvPr/>
          </p:nvSpPr>
          <p:spPr>
            <a:xfrm>
              <a:off x="2290" y="210"/>
              <a:ext cx="7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bg1"/>
                  </a:solidFill>
                </a:rPr>
                <a:t>等效</a:t>
              </a:r>
            </a:p>
          </p:txBody>
        </p:sp>
      </p:grpSp>
      <p:sp>
        <p:nvSpPr>
          <p:cNvPr id="24601" name="Text Box 25"/>
          <p:cNvSpPr txBox="1"/>
          <p:nvPr/>
        </p:nvSpPr>
        <p:spPr>
          <a:xfrm>
            <a:off x="684213" y="3860800"/>
            <a:ext cx="75596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50000"/>
              </a:spcAft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电路中的电流、电压和功率而言，满足：</a:t>
            </a:r>
          </a:p>
        </p:txBody>
      </p:sp>
      <p:grpSp>
        <p:nvGrpSpPr>
          <p:cNvPr id="24616" name="Group 40"/>
          <p:cNvGrpSpPr/>
          <p:nvPr/>
        </p:nvGrpSpPr>
        <p:grpSpPr>
          <a:xfrm>
            <a:off x="755650" y="4652963"/>
            <a:ext cx="2951163" cy="1223962"/>
            <a:chOff x="431" y="1752"/>
            <a:chExt cx="1859" cy="771"/>
          </a:xfrm>
        </p:grpSpPr>
        <p:grpSp>
          <p:nvGrpSpPr>
            <p:cNvPr id="7204" name="Group 27"/>
            <p:cNvGrpSpPr/>
            <p:nvPr/>
          </p:nvGrpSpPr>
          <p:grpSpPr>
            <a:xfrm>
              <a:off x="431" y="1752"/>
              <a:ext cx="1270" cy="771"/>
              <a:chOff x="612" y="1979"/>
              <a:chExt cx="1270" cy="771"/>
            </a:xfrm>
          </p:grpSpPr>
          <p:sp>
            <p:nvSpPr>
              <p:cNvPr id="7206" name="Rectangle 28"/>
              <p:cNvSpPr/>
              <p:nvPr/>
            </p:nvSpPr>
            <p:spPr>
              <a:xfrm>
                <a:off x="612" y="1979"/>
                <a:ext cx="635" cy="771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B</a:t>
                </a:r>
              </a:p>
            </p:txBody>
          </p:sp>
          <p:sp>
            <p:nvSpPr>
              <p:cNvPr id="7207" name="Line 29"/>
              <p:cNvSpPr/>
              <p:nvPr/>
            </p:nvSpPr>
            <p:spPr>
              <a:xfrm>
                <a:off x="1247" y="2115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  <p:sp>
            <p:nvSpPr>
              <p:cNvPr id="7208" name="Line 30"/>
              <p:cNvSpPr/>
              <p:nvPr/>
            </p:nvSpPr>
            <p:spPr>
              <a:xfrm>
                <a:off x="1247" y="2614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</p:grpSp>
        <p:sp>
          <p:nvSpPr>
            <p:cNvPr id="24613" name="Rectangle 37"/>
            <p:cNvSpPr>
              <a:spLocks noChangeArrowheads="1"/>
            </p:cNvSpPr>
            <p:nvPr/>
          </p:nvSpPr>
          <p:spPr bwMode="auto">
            <a:xfrm>
              <a:off x="1655" y="1752"/>
              <a:ext cx="635" cy="771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8100">
                  <a:solidFill>
                    <a:srgbClr val="66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</a:t>
              </a:r>
            </a:p>
          </p:txBody>
        </p:sp>
      </p:grpSp>
      <p:grpSp>
        <p:nvGrpSpPr>
          <p:cNvPr id="24617" name="Group 41"/>
          <p:cNvGrpSpPr/>
          <p:nvPr/>
        </p:nvGrpSpPr>
        <p:grpSpPr>
          <a:xfrm>
            <a:off x="5003800" y="4724400"/>
            <a:ext cx="2951163" cy="1223963"/>
            <a:chOff x="431" y="1752"/>
            <a:chExt cx="1859" cy="771"/>
          </a:xfrm>
        </p:grpSpPr>
        <p:grpSp>
          <p:nvGrpSpPr>
            <p:cNvPr id="7199" name="Group 42"/>
            <p:cNvGrpSpPr/>
            <p:nvPr/>
          </p:nvGrpSpPr>
          <p:grpSpPr>
            <a:xfrm>
              <a:off x="431" y="1752"/>
              <a:ext cx="1270" cy="771"/>
              <a:chOff x="612" y="1979"/>
              <a:chExt cx="1270" cy="771"/>
            </a:xfrm>
          </p:grpSpPr>
          <p:sp>
            <p:nvSpPr>
              <p:cNvPr id="7201" name="Rectangle 43"/>
              <p:cNvSpPr/>
              <p:nvPr/>
            </p:nvSpPr>
            <p:spPr>
              <a:xfrm>
                <a:off x="612" y="1979"/>
                <a:ext cx="635" cy="771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C</a:t>
                </a:r>
              </a:p>
            </p:txBody>
          </p:sp>
          <p:sp>
            <p:nvSpPr>
              <p:cNvPr id="7202" name="Line 44"/>
              <p:cNvSpPr/>
              <p:nvPr/>
            </p:nvSpPr>
            <p:spPr>
              <a:xfrm>
                <a:off x="1247" y="2115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  <p:sp>
            <p:nvSpPr>
              <p:cNvPr id="7203" name="Line 45"/>
              <p:cNvSpPr/>
              <p:nvPr/>
            </p:nvSpPr>
            <p:spPr>
              <a:xfrm>
                <a:off x="1247" y="2614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</p:grpSp>
        <p:sp>
          <p:nvSpPr>
            <p:cNvPr id="24622" name="Rectangle 46"/>
            <p:cNvSpPr>
              <a:spLocks noChangeArrowheads="1"/>
            </p:cNvSpPr>
            <p:nvPr/>
          </p:nvSpPr>
          <p:spPr bwMode="auto">
            <a:xfrm>
              <a:off x="1655" y="1752"/>
              <a:ext cx="635" cy="771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8100">
                  <a:solidFill>
                    <a:srgbClr val="66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</a:t>
              </a:r>
            </a:p>
          </p:txBody>
        </p:sp>
      </p:grpSp>
      <p:grpSp>
        <p:nvGrpSpPr>
          <p:cNvPr id="24625" name="Group 49"/>
          <p:cNvGrpSpPr/>
          <p:nvPr/>
        </p:nvGrpSpPr>
        <p:grpSpPr>
          <a:xfrm>
            <a:off x="3995738" y="5229225"/>
            <a:ext cx="792162" cy="215900"/>
            <a:chOff x="2154" y="3203"/>
            <a:chExt cx="499" cy="136"/>
          </a:xfrm>
        </p:grpSpPr>
        <p:sp>
          <p:nvSpPr>
            <p:cNvPr id="7197" name="Line 47"/>
            <p:cNvSpPr/>
            <p:nvPr/>
          </p:nvSpPr>
          <p:spPr>
            <a:xfrm>
              <a:off x="2154" y="3203"/>
              <a:ext cx="499" cy="0"/>
            </a:xfrm>
            <a:prstGeom prst="line">
              <a:avLst/>
            </a:prstGeom>
            <a:ln w="571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8" name="Line 48"/>
            <p:cNvSpPr/>
            <p:nvPr/>
          </p:nvSpPr>
          <p:spPr>
            <a:xfrm>
              <a:off x="2154" y="3339"/>
              <a:ext cx="499" cy="0"/>
            </a:xfrm>
            <a:prstGeom prst="line">
              <a:avLst/>
            </a:prstGeom>
            <a:ln w="571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176" name="Group 6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195" name="Picture 6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96" name="Text Box 6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7177" name="Group 6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193" name="Picture 67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94" name="Text Box 6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sp>
        <p:nvSpPr>
          <p:cNvPr id="24648" name="Text Box 72"/>
          <p:cNvSpPr txBox="1"/>
          <p:nvPr/>
        </p:nvSpPr>
        <p:spPr>
          <a:xfrm>
            <a:off x="611188" y="549275"/>
            <a:ext cx="468153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两端电路等效的概念</a:t>
            </a:r>
          </a:p>
        </p:txBody>
      </p:sp>
      <p:sp>
        <p:nvSpPr>
          <p:cNvPr id="24649" name="Text Box 73"/>
          <p:cNvSpPr txBox="1"/>
          <p:nvPr/>
        </p:nvSpPr>
        <p:spPr>
          <a:xfrm>
            <a:off x="611188" y="1052513"/>
            <a:ext cx="78486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两个两端电路，端口具有相同的电压、电流关系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则称它们是等效的电路。</a:t>
            </a:r>
          </a:p>
        </p:txBody>
      </p:sp>
      <p:grpSp>
        <p:nvGrpSpPr>
          <p:cNvPr id="24650" name="Group 74"/>
          <p:cNvGrpSpPr/>
          <p:nvPr/>
        </p:nvGrpSpPr>
        <p:grpSpPr>
          <a:xfrm>
            <a:off x="5003800" y="2276475"/>
            <a:ext cx="2517775" cy="1311275"/>
            <a:chOff x="431" y="164"/>
            <a:chExt cx="1586" cy="826"/>
          </a:xfrm>
        </p:grpSpPr>
        <p:grpSp>
          <p:nvGrpSpPr>
            <p:cNvPr id="7184" name="Group 75"/>
            <p:cNvGrpSpPr/>
            <p:nvPr/>
          </p:nvGrpSpPr>
          <p:grpSpPr>
            <a:xfrm>
              <a:off x="431" y="210"/>
              <a:ext cx="1270" cy="771"/>
              <a:chOff x="612" y="1979"/>
              <a:chExt cx="1270" cy="771"/>
            </a:xfrm>
          </p:grpSpPr>
          <p:sp>
            <p:nvSpPr>
              <p:cNvPr id="7190" name="Rectangle 76"/>
              <p:cNvSpPr/>
              <p:nvPr/>
            </p:nvSpPr>
            <p:spPr>
              <a:xfrm>
                <a:off x="612" y="1979"/>
                <a:ext cx="635" cy="771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C</a:t>
                </a:r>
              </a:p>
            </p:txBody>
          </p:sp>
          <p:sp>
            <p:nvSpPr>
              <p:cNvPr id="7191" name="Line 77"/>
              <p:cNvSpPr/>
              <p:nvPr/>
            </p:nvSpPr>
            <p:spPr>
              <a:xfrm>
                <a:off x="1247" y="2115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  <p:sp>
            <p:nvSpPr>
              <p:cNvPr id="7192" name="Line 78"/>
              <p:cNvSpPr/>
              <p:nvPr/>
            </p:nvSpPr>
            <p:spPr>
              <a:xfrm>
                <a:off x="1247" y="2614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</p:grpSp>
        <p:sp>
          <p:nvSpPr>
            <p:cNvPr id="7185" name="Line 79"/>
            <p:cNvSpPr/>
            <p:nvPr/>
          </p:nvSpPr>
          <p:spPr>
            <a:xfrm flipH="1">
              <a:off x="1202" y="255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6" name="Text Box 80"/>
            <p:cNvSpPr txBox="1"/>
            <p:nvPr/>
          </p:nvSpPr>
          <p:spPr>
            <a:xfrm>
              <a:off x="1746" y="164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+</a:t>
              </a:r>
            </a:p>
          </p:txBody>
        </p:sp>
        <p:sp>
          <p:nvSpPr>
            <p:cNvPr id="7187" name="Text Box 81"/>
            <p:cNvSpPr txBox="1"/>
            <p:nvPr/>
          </p:nvSpPr>
          <p:spPr>
            <a:xfrm>
              <a:off x="1746" y="663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7188" name="Text Box 82"/>
            <p:cNvSpPr txBox="1"/>
            <p:nvPr/>
          </p:nvSpPr>
          <p:spPr>
            <a:xfrm>
              <a:off x="1791" y="436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</a:p>
          </p:txBody>
        </p:sp>
        <p:sp>
          <p:nvSpPr>
            <p:cNvPr id="7189" name="Text Box 83"/>
            <p:cNvSpPr txBox="1"/>
            <p:nvPr/>
          </p:nvSpPr>
          <p:spPr>
            <a:xfrm>
              <a:off x="1292" y="300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</p:grpSp>
      <p:grpSp>
        <p:nvGrpSpPr>
          <p:cNvPr id="7181" name="Group 90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7182" name="Picture 9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83" name="Text Box 9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"/>
                                        <p:tgtEl>
                                          <p:spTgt spid="24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24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10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01" grpId="0"/>
      <p:bldP spid="24648" grpId="0"/>
      <p:bldP spid="2464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30" name="Text Box 42"/>
          <p:cNvSpPr txBox="1"/>
          <p:nvPr/>
        </p:nvSpPr>
        <p:spPr>
          <a:xfrm>
            <a:off x="611188" y="1341438"/>
            <a:ext cx="45370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buAutoNum type="circleNumDbPlain"/>
            </a:pP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电路等效变换的条件：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3531" name="Text Box 43"/>
          <p:cNvSpPr txBox="1"/>
          <p:nvPr/>
        </p:nvSpPr>
        <p:spPr>
          <a:xfrm>
            <a:off x="611188" y="2708275"/>
            <a:ext cx="41767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buAutoNum type="circleNumDbPlain" startAt="2"/>
            </a:pP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电路等效变换的对象：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3532" name="Text Box 44"/>
          <p:cNvSpPr txBox="1"/>
          <p:nvPr/>
        </p:nvSpPr>
        <p:spPr>
          <a:xfrm>
            <a:off x="684213" y="4206875"/>
            <a:ext cx="46799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buAutoNum type="circleNumDbPlain" startAt="3"/>
            </a:pP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电路等效变换的目的：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3533" name="Text Box 45"/>
          <p:cNvSpPr txBox="1"/>
          <p:nvPr/>
        </p:nvSpPr>
        <p:spPr>
          <a:xfrm>
            <a:off x="2051050" y="2060575"/>
            <a:ext cx="44640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两电路具有相同的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VCR</a:t>
            </a:r>
            <a:r>
              <a: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3534" name="AutoShape 46"/>
          <p:cNvSpPr/>
          <p:nvPr/>
        </p:nvSpPr>
        <p:spPr>
          <a:xfrm>
            <a:off x="1258888" y="2205038"/>
            <a:ext cx="647700" cy="144462"/>
          </a:xfrm>
          <a:prstGeom prst="rightArrow">
            <a:avLst>
              <a:gd name="adj1" fmla="val 50000"/>
              <a:gd name="adj2" fmla="val 112088"/>
            </a:avLst>
          </a:prstGeom>
          <a:solidFill>
            <a:srgbClr val="66CCFF"/>
          </a:solidFill>
          <a:ln w="9525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63535" name="AutoShape 47"/>
          <p:cNvSpPr/>
          <p:nvPr/>
        </p:nvSpPr>
        <p:spPr>
          <a:xfrm>
            <a:off x="1258888" y="3429000"/>
            <a:ext cx="647700" cy="144463"/>
          </a:xfrm>
          <a:prstGeom prst="rightArrow">
            <a:avLst>
              <a:gd name="adj1" fmla="val 50000"/>
              <a:gd name="adj2" fmla="val 112087"/>
            </a:avLst>
          </a:prstGeom>
          <a:solidFill>
            <a:srgbClr val="66CCFF"/>
          </a:solidFill>
          <a:ln w="9525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63536" name="AutoShape 48"/>
          <p:cNvSpPr/>
          <p:nvPr/>
        </p:nvSpPr>
        <p:spPr>
          <a:xfrm>
            <a:off x="1331913" y="5070475"/>
            <a:ext cx="647700" cy="144463"/>
          </a:xfrm>
          <a:prstGeom prst="rightArrow">
            <a:avLst>
              <a:gd name="adj1" fmla="val 50000"/>
              <a:gd name="adj2" fmla="val 112087"/>
            </a:avLst>
          </a:prstGeom>
          <a:solidFill>
            <a:srgbClr val="66CCFF"/>
          </a:solidFill>
          <a:ln w="9525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63537" name="Text Box 49"/>
          <p:cNvSpPr txBox="1"/>
          <p:nvPr/>
        </p:nvSpPr>
        <p:spPr>
          <a:xfrm>
            <a:off x="1979613" y="3284538"/>
            <a:ext cx="6985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未变化的外电路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中的电压、电流和功率；（即对外等效，对内不等效）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3538" name="Text Box 50"/>
          <p:cNvSpPr txBox="1"/>
          <p:nvPr/>
        </p:nvSpPr>
        <p:spPr>
          <a:xfrm>
            <a:off x="2051050" y="4926013"/>
            <a:ext cx="38512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化简电路，方便计算。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203" name="Group 5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213" name="Picture 52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4" name="Text Box 5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8204" name="Group 5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211" name="Picture 5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2" name="Text Box 5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63545" name="Group 57"/>
          <p:cNvGrpSpPr/>
          <p:nvPr/>
        </p:nvGrpSpPr>
        <p:grpSpPr>
          <a:xfrm>
            <a:off x="755650" y="476250"/>
            <a:ext cx="1644650" cy="850900"/>
            <a:chOff x="385" y="3022"/>
            <a:chExt cx="1036" cy="536"/>
          </a:xfrm>
        </p:grpSpPr>
        <p:pic>
          <p:nvPicPr>
            <p:cNvPr id="8209" name="Picture 58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0" name="Text Box 5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明确</a:t>
              </a:r>
            </a:p>
          </p:txBody>
        </p:sp>
      </p:grpSp>
      <p:grpSp>
        <p:nvGrpSpPr>
          <p:cNvPr id="8206" name="Group 6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8207" name="Picture 6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08" name="Text Box 6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63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63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6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" fill="hold"/>
                                        <p:tgtEl>
                                          <p:spTgt spid="63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fill="hold"/>
                                        <p:tgtEl>
                                          <p:spTgt spid="63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" fill="hold"/>
                                        <p:tgtEl>
                                          <p:spTgt spid="63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fill="hold"/>
                                        <p:tgtEl>
                                          <p:spTgt spid="63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63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" fill="hold"/>
                                        <p:tgtEl>
                                          <p:spTgt spid="63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fill="hold"/>
                                        <p:tgtEl>
                                          <p:spTgt spid="63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" fill="hold"/>
                                        <p:tgtEl>
                                          <p:spTgt spid="63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fill="hold"/>
                                        <p:tgtEl>
                                          <p:spTgt spid="63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63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" fill="hold"/>
                                        <p:tgtEl>
                                          <p:spTgt spid="63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fill="hold"/>
                                        <p:tgtEl>
                                          <p:spTgt spid="63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30" grpId="0"/>
      <p:bldP spid="63531" grpId="0"/>
      <p:bldP spid="63532" grpId="0"/>
      <p:bldP spid="63533" grpId="0"/>
      <p:bldP spid="63534" grpId="0" animBg="1"/>
      <p:bldP spid="63535" grpId="0" animBg="1"/>
      <p:bldP spid="63536" grpId="0" animBg="1"/>
      <p:bldP spid="63537" grpId="0"/>
      <p:bldP spid="635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9"/>
          <p:cNvSpPr/>
          <p:nvPr/>
        </p:nvSpPr>
        <p:spPr>
          <a:xfrm>
            <a:off x="323850" y="404813"/>
            <a:ext cx="84963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4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电阻的串联和并联</a:t>
            </a:r>
          </a:p>
        </p:txBody>
      </p:sp>
      <p:sp>
        <p:nvSpPr>
          <p:cNvPr id="4132" name="Text Box 36"/>
          <p:cNvSpPr txBox="1"/>
          <p:nvPr/>
        </p:nvSpPr>
        <p:spPr>
          <a:xfrm>
            <a:off x="755650" y="2133600"/>
            <a:ext cx="2159000" cy="547688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电路特点</a:t>
            </a:r>
          </a:p>
        </p:txBody>
      </p:sp>
      <p:sp>
        <p:nvSpPr>
          <p:cNvPr id="4133" name="Text Box 37"/>
          <p:cNvSpPr txBox="1"/>
          <p:nvPr/>
        </p:nvSpPr>
        <p:spPr>
          <a:xfrm>
            <a:off x="611188" y="1341438"/>
            <a:ext cx="28082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1.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电阻串联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168" name="Text Box 72"/>
          <p:cNvSpPr txBox="1"/>
          <p:nvPr/>
        </p:nvSpPr>
        <p:spPr>
          <a:xfrm>
            <a:off x="539750" y="4076700"/>
            <a:ext cx="79200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(a)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各电阻顺序连接，流过同一电流 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</a:p>
        </p:txBody>
      </p:sp>
      <p:sp>
        <p:nvSpPr>
          <p:cNvPr id="4169" name="Text Box 73"/>
          <p:cNvSpPr txBox="1"/>
          <p:nvPr/>
        </p:nvSpPr>
        <p:spPr>
          <a:xfrm>
            <a:off x="539750" y="4724400"/>
            <a:ext cx="83883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(b)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总电压等于各串联电阻的电压之和</a:t>
            </a:r>
            <a:r>
              <a:rPr lang="zh-CN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KVL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4170" name="Object 74"/>
          <p:cNvGraphicFramePr>
            <a:graphicFrameLocks/>
          </p:cNvGraphicFramePr>
          <p:nvPr/>
        </p:nvGraphicFramePr>
        <p:xfrm>
          <a:off x="1908175" y="5300663"/>
          <a:ext cx="4535488" cy="642937"/>
        </p:xfrm>
        <a:graphic>
          <a:graphicData uri="http://schemas.openxmlformats.org/presentationml/2006/ole">
            <p:oleObj spid="_x0000_s3076" r:id="rId3" imgW="1529640" imgH="196200" progId="Equation.3">
              <p:embed/>
            </p:oleObj>
          </a:graphicData>
        </a:graphic>
      </p:graphicFrame>
      <p:grpSp>
        <p:nvGrpSpPr>
          <p:cNvPr id="9224" name="Group 7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262" name="Picture 79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63" name="Text Box 8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9225" name="Group 8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260" name="Picture 82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61" name="Text Box 8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4183" name="Group 87"/>
          <p:cNvGrpSpPr/>
          <p:nvPr/>
        </p:nvGrpSpPr>
        <p:grpSpPr>
          <a:xfrm>
            <a:off x="3492500" y="1916113"/>
            <a:ext cx="4895850" cy="2046287"/>
            <a:chOff x="2200" y="1198"/>
            <a:chExt cx="3084" cy="1289"/>
          </a:xfrm>
        </p:grpSpPr>
        <p:sp>
          <p:nvSpPr>
            <p:cNvPr id="9230" name="Text Box 88"/>
            <p:cNvSpPr txBox="1"/>
            <p:nvPr/>
          </p:nvSpPr>
          <p:spPr>
            <a:xfrm>
              <a:off x="2562" y="2160"/>
              <a:ext cx="2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9231" name="Text Box 89"/>
            <p:cNvSpPr txBox="1"/>
            <p:nvPr/>
          </p:nvSpPr>
          <p:spPr>
            <a:xfrm>
              <a:off x="4967" y="2069"/>
              <a:ext cx="2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9232" name="Text Box 90"/>
            <p:cNvSpPr txBox="1"/>
            <p:nvPr/>
          </p:nvSpPr>
          <p:spPr>
            <a:xfrm>
              <a:off x="2809" y="1198"/>
              <a:ext cx="4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33" name="Text Box 91"/>
            <p:cNvSpPr txBox="1"/>
            <p:nvPr/>
          </p:nvSpPr>
          <p:spPr>
            <a:xfrm>
              <a:off x="4573" y="1198"/>
              <a:ext cx="4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 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9234" name="Group 92"/>
            <p:cNvGrpSpPr/>
            <p:nvPr/>
          </p:nvGrpSpPr>
          <p:grpSpPr>
            <a:xfrm>
              <a:off x="3515" y="1570"/>
              <a:ext cx="806" cy="439"/>
              <a:chOff x="576" y="1152"/>
              <a:chExt cx="768" cy="378"/>
            </a:xfrm>
          </p:grpSpPr>
          <p:sp>
            <p:nvSpPr>
              <p:cNvPr id="9257" name="Text Box 93"/>
              <p:cNvSpPr txBox="1"/>
              <p:nvPr/>
            </p:nvSpPr>
            <p:spPr>
              <a:xfrm>
                <a:off x="576" y="1248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9258" name="Text Box 94"/>
              <p:cNvSpPr txBox="1"/>
              <p:nvPr/>
            </p:nvSpPr>
            <p:spPr>
              <a:xfrm>
                <a:off x="1152" y="1152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9259" name="Text Box 95"/>
              <p:cNvSpPr txBox="1"/>
              <p:nvPr/>
            </p:nvSpPr>
            <p:spPr>
              <a:xfrm>
                <a:off x="816" y="1248"/>
                <a:ext cx="384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k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9235" name="Text Box 96"/>
            <p:cNvSpPr txBox="1"/>
            <p:nvPr/>
          </p:nvSpPr>
          <p:spPr>
            <a:xfrm>
              <a:off x="2200" y="1752"/>
              <a:ext cx="2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236" name="Line 97"/>
            <p:cNvSpPr/>
            <p:nvPr/>
          </p:nvSpPr>
          <p:spPr>
            <a:xfrm>
              <a:off x="2517" y="1570"/>
              <a:ext cx="77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9237" name="Group 98"/>
            <p:cNvGrpSpPr/>
            <p:nvPr/>
          </p:nvGrpSpPr>
          <p:grpSpPr>
            <a:xfrm>
              <a:off x="2653" y="1570"/>
              <a:ext cx="806" cy="439"/>
              <a:chOff x="576" y="1152"/>
              <a:chExt cx="768" cy="378"/>
            </a:xfrm>
          </p:grpSpPr>
          <p:sp>
            <p:nvSpPr>
              <p:cNvPr id="9254" name="Text Box 99"/>
              <p:cNvSpPr txBox="1"/>
              <p:nvPr/>
            </p:nvSpPr>
            <p:spPr>
              <a:xfrm>
                <a:off x="576" y="1248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9255" name="Text Box 100"/>
              <p:cNvSpPr txBox="1"/>
              <p:nvPr/>
            </p:nvSpPr>
            <p:spPr>
              <a:xfrm>
                <a:off x="1152" y="1152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9256" name="Text Box 101"/>
              <p:cNvSpPr txBox="1"/>
              <p:nvPr/>
            </p:nvSpPr>
            <p:spPr>
              <a:xfrm>
                <a:off x="816" y="1248"/>
                <a:ext cx="384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238" name="Group 102"/>
            <p:cNvGrpSpPr/>
            <p:nvPr/>
          </p:nvGrpSpPr>
          <p:grpSpPr>
            <a:xfrm>
              <a:off x="4422" y="1616"/>
              <a:ext cx="806" cy="439"/>
              <a:chOff x="576" y="1152"/>
              <a:chExt cx="768" cy="378"/>
            </a:xfrm>
          </p:grpSpPr>
          <p:sp>
            <p:nvSpPr>
              <p:cNvPr id="9251" name="Text Box 103"/>
              <p:cNvSpPr txBox="1"/>
              <p:nvPr/>
            </p:nvSpPr>
            <p:spPr>
              <a:xfrm>
                <a:off x="576" y="1248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9252" name="Text Box 104"/>
              <p:cNvSpPr txBox="1"/>
              <p:nvPr/>
            </p:nvSpPr>
            <p:spPr>
              <a:xfrm>
                <a:off x="1152" y="1152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9253" name="Text Box 105"/>
              <p:cNvSpPr txBox="1"/>
              <p:nvPr/>
            </p:nvSpPr>
            <p:spPr>
              <a:xfrm>
                <a:off x="816" y="1248"/>
                <a:ext cx="384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80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9239" name="Line 106"/>
            <p:cNvSpPr/>
            <p:nvPr/>
          </p:nvSpPr>
          <p:spPr>
            <a:xfrm flipV="1">
              <a:off x="4422" y="1570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0" name="Line 107"/>
            <p:cNvSpPr/>
            <p:nvPr/>
          </p:nvSpPr>
          <p:spPr>
            <a:xfrm>
              <a:off x="5239" y="1570"/>
              <a:ext cx="0" cy="6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1" name="Line 108"/>
            <p:cNvSpPr/>
            <p:nvPr/>
          </p:nvSpPr>
          <p:spPr>
            <a:xfrm>
              <a:off x="2521" y="1553"/>
              <a:ext cx="0" cy="67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2" name="Text Box 109"/>
            <p:cNvSpPr txBox="1"/>
            <p:nvPr/>
          </p:nvSpPr>
          <p:spPr>
            <a:xfrm>
              <a:off x="3696" y="2160"/>
              <a:ext cx="33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43" name="Text Box 110"/>
            <p:cNvSpPr txBox="1"/>
            <p:nvPr/>
          </p:nvSpPr>
          <p:spPr>
            <a:xfrm>
              <a:off x="3666" y="1198"/>
              <a:ext cx="4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44" name="Line 111"/>
            <p:cNvSpPr/>
            <p:nvPr/>
          </p:nvSpPr>
          <p:spPr>
            <a:xfrm flipV="1">
              <a:off x="2426" y="1706"/>
              <a:ext cx="0" cy="391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45" name="Oval 112"/>
            <p:cNvSpPr/>
            <p:nvPr/>
          </p:nvSpPr>
          <p:spPr>
            <a:xfrm>
              <a:off x="5213" y="2262"/>
              <a:ext cx="71" cy="79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9246" name="Oval 113"/>
            <p:cNvSpPr/>
            <p:nvPr/>
          </p:nvSpPr>
          <p:spPr>
            <a:xfrm>
              <a:off x="2486" y="2223"/>
              <a:ext cx="71" cy="79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9247" name="Rectangle 114"/>
            <p:cNvSpPr/>
            <p:nvPr/>
          </p:nvSpPr>
          <p:spPr>
            <a:xfrm>
              <a:off x="4558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9248" name="Rectangle 115"/>
            <p:cNvSpPr/>
            <p:nvPr/>
          </p:nvSpPr>
          <p:spPr>
            <a:xfrm>
              <a:off x="2789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9249" name="Line 116"/>
            <p:cNvSpPr/>
            <p:nvPr/>
          </p:nvSpPr>
          <p:spPr>
            <a:xfrm>
              <a:off x="3288" y="1570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9250" name="Rectangle 117"/>
            <p:cNvSpPr/>
            <p:nvPr/>
          </p:nvSpPr>
          <p:spPr>
            <a:xfrm>
              <a:off x="3651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9227" name="Group 121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9228" name="Picture 122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9" name="Text Box 12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5" grpId="0"/>
      <p:bldP spid="4132" grpId="0" animBg="1"/>
      <p:bldP spid="4133" grpId="0"/>
      <p:bldP spid="4168" grpId="0"/>
      <p:bldP spid="41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Text Box 5"/>
          <p:cNvSpPr txBox="1"/>
          <p:nvPr/>
        </p:nvSpPr>
        <p:spPr>
          <a:xfrm>
            <a:off x="468313" y="3068638"/>
            <a:ext cx="280828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由欧姆定律</a:t>
            </a:r>
          </a:p>
        </p:txBody>
      </p:sp>
      <p:grpSp>
        <p:nvGrpSpPr>
          <p:cNvPr id="5131" name="Group 11"/>
          <p:cNvGrpSpPr/>
          <p:nvPr/>
        </p:nvGrpSpPr>
        <p:grpSpPr>
          <a:xfrm>
            <a:off x="5219700" y="1844675"/>
            <a:ext cx="1066800" cy="685800"/>
            <a:chOff x="1488" y="720"/>
            <a:chExt cx="672" cy="432"/>
          </a:xfrm>
        </p:grpSpPr>
        <p:sp>
          <p:nvSpPr>
            <p:cNvPr id="10304" name="AutoShape 12"/>
            <p:cNvSpPr/>
            <p:nvPr/>
          </p:nvSpPr>
          <p:spPr>
            <a:xfrm>
              <a:off x="1488" y="960"/>
              <a:ext cx="672" cy="192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305" name="Text Box 13"/>
            <p:cNvSpPr txBox="1"/>
            <p:nvPr/>
          </p:nvSpPr>
          <p:spPr>
            <a:xfrm>
              <a:off x="1536" y="720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等效</a:t>
              </a:r>
            </a:p>
          </p:txBody>
        </p:sp>
      </p:grpSp>
      <p:sp>
        <p:nvSpPr>
          <p:cNvPr id="5134" name="Rectangle 14"/>
          <p:cNvSpPr/>
          <p:nvPr/>
        </p:nvSpPr>
        <p:spPr>
          <a:xfrm>
            <a:off x="1908175" y="5373688"/>
            <a:ext cx="64801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串联电路的总电阻等于各分电阻之和。  </a:t>
            </a:r>
          </a:p>
        </p:txBody>
      </p:sp>
      <p:sp>
        <p:nvSpPr>
          <p:cNvPr id="5135" name="Text Box 15"/>
          <p:cNvSpPr txBox="1"/>
          <p:nvPr/>
        </p:nvSpPr>
        <p:spPr>
          <a:xfrm>
            <a:off x="611188" y="549275"/>
            <a:ext cx="2447925" cy="547688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 startAt="2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等效电阻</a:t>
            </a:r>
          </a:p>
        </p:txBody>
      </p:sp>
      <p:graphicFrame>
        <p:nvGraphicFramePr>
          <p:cNvPr id="5218" name="Object 98"/>
          <p:cNvGraphicFramePr>
            <a:graphicFrameLocks/>
          </p:cNvGraphicFramePr>
          <p:nvPr/>
        </p:nvGraphicFramePr>
        <p:xfrm>
          <a:off x="395288" y="3644900"/>
          <a:ext cx="8208962" cy="673100"/>
        </p:xfrm>
        <a:graphic>
          <a:graphicData uri="http://schemas.openxmlformats.org/presentationml/2006/ole">
            <p:oleObj spid="_x0000_s24578" r:id="rId3" imgW="3174840" imgH="219240" progId="Equation.3">
              <p:embed/>
            </p:oleObj>
          </a:graphicData>
        </a:graphic>
      </p:graphicFrame>
      <p:graphicFrame>
        <p:nvGraphicFramePr>
          <p:cNvPr id="5219" name="Object 99"/>
          <p:cNvGraphicFramePr>
            <a:graphicFrameLocks/>
          </p:cNvGraphicFramePr>
          <p:nvPr/>
        </p:nvGraphicFramePr>
        <p:xfrm>
          <a:off x="611188" y="4221163"/>
          <a:ext cx="6789737" cy="1087437"/>
        </p:xfrm>
        <a:graphic>
          <a:graphicData uri="http://schemas.openxmlformats.org/presentationml/2006/ole">
            <p:oleObj spid="_x0000_s24577" r:id="rId4" imgW="2503080" imgH="380520" progId="Equation.3">
              <p:embed/>
            </p:oleObj>
          </a:graphicData>
        </a:graphic>
      </p:graphicFrame>
      <p:grpSp>
        <p:nvGrpSpPr>
          <p:cNvPr id="10248" name="Group 10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302" name="Picture 10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03" name="Text Box 10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10249" name="Group 10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300" name="Picture 107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01" name="Text Box 10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5232" name="Group 112"/>
          <p:cNvGrpSpPr/>
          <p:nvPr/>
        </p:nvGrpSpPr>
        <p:grpSpPr>
          <a:xfrm>
            <a:off x="323850" y="5157788"/>
            <a:ext cx="1644650" cy="850900"/>
            <a:chOff x="385" y="3022"/>
            <a:chExt cx="1036" cy="536"/>
          </a:xfrm>
        </p:grpSpPr>
        <p:pic>
          <p:nvPicPr>
            <p:cNvPr id="10298" name="Picture 113" descr="1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99" name="Text Box 114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结论</a:t>
              </a:r>
            </a:p>
          </p:txBody>
        </p:sp>
      </p:grpSp>
      <p:grpSp>
        <p:nvGrpSpPr>
          <p:cNvPr id="5235" name="Group 115"/>
          <p:cNvGrpSpPr/>
          <p:nvPr/>
        </p:nvGrpSpPr>
        <p:grpSpPr>
          <a:xfrm>
            <a:off x="179388" y="1125538"/>
            <a:ext cx="4895850" cy="2046287"/>
            <a:chOff x="2200" y="1198"/>
            <a:chExt cx="3084" cy="1289"/>
          </a:xfrm>
        </p:grpSpPr>
        <p:sp>
          <p:nvSpPr>
            <p:cNvPr id="10268" name="Text Box 116"/>
            <p:cNvSpPr txBox="1"/>
            <p:nvPr/>
          </p:nvSpPr>
          <p:spPr>
            <a:xfrm>
              <a:off x="2562" y="2160"/>
              <a:ext cx="2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0269" name="Text Box 117"/>
            <p:cNvSpPr txBox="1"/>
            <p:nvPr/>
          </p:nvSpPr>
          <p:spPr>
            <a:xfrm>
              <a:off x="4967" y="2069"/>
              <a:ext cx="2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10270" name="Text Box 118"/>
            <p:cNvSpPr txBox="1"/>
            <p:nvPr/>
          </p:nvSpPr>
          <p:spPr>
            <a:xfrm>
              <a:off x="2809" y="1198"/>
              <a:ext cx="4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71" name="Text Box 119"/>
            <p:cNvSpPr txBox="1"/>
            <p:nvPr/>
          </p:nvSpPr>
          <p:spPr>
            <a:xfrm>
              <a:off x="4573" y="1198"/>
              <a:ext cx="4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0272" name="Group 120"/>
            <p:cNvGrpSpPr/>
            <p:nvPr/>
          </p:nvGrpSpPr>
          <p:grpSpPr>
            <a:xfrm>
              <a:off x="3515" y="1570"/>
              <a:ext cx="806" cy="439"/>
              <a:chOff x="576" y="1152"/>
              <a:chExt cx="768" cy="378"/>
            </a:xfrm>
          </p:grpSpPr>
          <p:sp>
            <p:nvSpPr>
              <p:cNvPr id="10295" name="Text Box 121"/>
              <p:cNvSpPr txBox="1"/>
              <p:nvPr/>
            </p:nvSpPr>
            <p:spPr>
              <a:xfrm>
                <a:off x="576" y="1248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10296" name="Text Box 122"/>
              <p:cNvSpPr txBox="1"/>
              <p:nvPr/>
            </p:nvSpPr>
            <p:spPr>
              <a:xfrm>
                <a:off x="1152" y="1152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10297" name="Text Box 123"/>
              <p:cNvSpPr txBox="1"/>
              <p:nvPr/>
            </p:nvSpPr>
            <p:spPr>
              <a:xfrm>
                <a:off x="816" y="1248"/>
                <a:ext cx="384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k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273" name="Text Box 124"/>
            <p:cNvSpPr txBox="1"/>
            <p:nvPr/>
          </p:nvSpPr>
          <p:spPr>
            <a:xfrm>
              <a:off x="2200" y="1752"/>
              <a:ext cx="2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0274" name="Line 125"/>
            <p:cNvSpPr/>
            <p:nvPr/>
          </p:nvSpPr>
          <p:spPr>
            <a:xfrm>
              <a:off x="2517" y="1570"/>
              <a:ext cx="77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275" name="Group 126"/>
            <p:cNvGrpSpPr/>
            <p:nvPr/>
          </p:nvGrpSpPr>
          <p:grpSpPr>
            <a:xfrm>
              <a:off x="2653" y="1570"/>
              <a:ext cx="806" cy="439"/>
              <a:chOff x="576" y="1152"/>
              <a:chExt cx="768" cy="378"/>
            </a:xfrm>
          </p:grpSpPr>
          <p:sp>
            <p:nvSpPr>
              <p:cNvPr id="10292" name="Text Box 127"/>
              <p:cNvSpPr txBox="1"/>
              <p:nvPr/>
            </p:nvSpPr>
            <p:spPr>
              <a:xfrm>
                <a:off x="576" y="1248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10293" name="Text Box 128"/>
              <p:cNvSpPr txBox="1"/>
              <p:nvPr/>
            </p:nvSpPr>
            <p:spPr>
              <a:xfrm>
                <a:off x="1152" y="1152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10294" name="Text Box 129"/>
              <p:cNvSpPr txBox="1"/>
              <p:nvPr/>
            </p:nvSpPr>
            <p:spPr>
              <a:xfrm>
                <a:off x="816" y="1248"/>
                <a:ext cx="384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0276" name="Group 130"/>
            <p:cNvGrpSpPr/>
            <p:nvPr/>
          </p:nvGrpSpPr>
          <p:grpSpPr>
            <a:xfrm>
              <a:off x="4422" y="1616"/>
              <a:ext cx="806" cy="439"/>
              <a:chOff x="576" y="1152"/>
              <a:chExt cx="768" cy="378"/>
            </a:xfrm>
          </p:grpSpPr>
          <p:sp>
            <p:nvSpPr>
              <p:cNvPr id="10289" name="Text Box 131"/>
              <p:cNvSpPr txBox="1"/>
              <p:nvPr/>
            </p:nvSpPr>
            <p:spPr>
              <a:xfrm>
                <a:off x="576" y="1248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10290" name="Text Box 132"/>
              <p:cNvSpPr txBox="1"/>
              <p:nvPr/>
            </p:nvSpPr>
            <p:spPr>
              <a:xfrm>
                <a:off x="1152" y="1152"/>
                <a:ext cx="19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10291" name="Text Box 133"/>
              <p:cNvSpPr txBox="1"/>
              <p:nvPr/>
            </p:nvSpPr>
            <p:spPr>
              <a:xfrm>
                <a:off x="816" y="1248"/>
                <a:ext cx="384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80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277" name="Line 134"/>
            <p:cNvSpPr/>
            <p:nvPr/>
          </p:nvSpPr>
          <p:spPr>
            <a:xfrm flipV="1">
              <a:off x="4422" y="1570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8" name="Line 135"/>
            <p:cNvSpPr/>
            <p:nvPr/>
          </p:nvSpPr>
          <p:spPr>
            <a:xfrm>
              <a:off x="5239" y="1570"/>
              <a:ext cx="0" cy="6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9" name="Line 136"/>
            <p:cNvSpPr/>
            <p:nvPr/>
          </p:nvSpPr>
          <p:spPr>
            <a:xfrm>
              <a:off x="2521" y="1553"/>
              <a:ext cx="0" cy="67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80" name="Text Box 137"/>
            <p:cNvSpPr txBox="1"/>
            <p:nvPr/>
          </p:nvSpPr>
          <p:spPr>
            <a:xfrm>
              <a:off x="3696" y="2160"/>
              <a:ext cx="33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81" name="Text Box 138"/>
            <p:cNvSpPr txBox="1"/>
            <p:nvPr/>
          </p:nvSpPr>
          <p:spPr>
            <a:xfrm>
              <a:off x="3666" y="1198"/>
              <a:ext cx="4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82" name="Line 139"/>
            <p:cNvSpPr/>
            <p:nvPr/>
          </p:nvSpPr>
          <p:spPr>
            <a:xfrm flipV="1">
              <a:off x="2426" y="1706"/>
              <a:ext cx="0" cy="391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83" name="Oval 140"/>
            <p:cNvSpPr/>
            <p:nvPr/>
          </p:nvSpPr>
          <p:spPr>
            <a:xfrm>
              <a:off x="5213" y="2262"/>
              <a:ext cx="71" cy="79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84" name="Oval 141"/>
            <p:cNvSpPr/>
            <p:nvPr/>
          </p:nvSpPr>
          <p:spPr>
            <a:xfrm>
              <a:off x="2486" y="2223"/>
              <a:ext cx="71" cy="79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85" name="Rectangle 142"/>
            <p:cNvSpPr/>
            <p:nvPr/>
          </p:nvSpPr>
          <p:spPr>
            <a:xfrm>
              <a:off x="4558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86" name="Rectangle 143"/>
            <p:cNvSpPr/>
            <p:nvPr/>
          </p:nvSpPr>
          <p:spPr>
            <a:xfrm>
              <a:off x="2789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87" name="Line 144"/>
            <p:cNvSpPr/>
            <p:nvPr/>
          </p:nvSpPr>
          <p:spPr>
            <a:xfrm>
              <a:off x="3288" y="1570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0288" name="Rectangle 145"/>
            <p:cNvSpPr/>
            <p:nvPr/>
          </p:nvSpPr>
          <p:spPr>
            <a:xfrm>
              <a:off x="3651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5267" name="Group 147"/>
          <p:cNvGrpSpPr/>
          <p:nvPr/>
        </p:nvGrpSpPr>
        <p:grpSpPr>
          <a:xfrm>
            <a:off x="6300788" y="1196975"/>
            <a:ext cx="2247900" cy="1974850"/>
            <a:chOff x="2200" y="1933"/>
            <a:chExt cx="1416" cy="1244"/>
          </a:xfrm>
        </p:grpSpPr>
        <p:sp>
          <p:nvSpPr>
            <p:cNvPr id="10256" name="Text Box 148"/>
            <p:cNvSpPr txBox="1"/>
            <p:nvPr/>
          </p:nvSpPr>
          <p:spPr>
            <a:xfrm>
              <a:off x="2877" y="2850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57" name="Text Box 149"/>
            <p:cNvSpPr txBox="1"/>
            <p:nvPr/>
          </p:nvSpPr>
          <p:spPr>
            <a:xfrm rot="-5400000">
              <a:off x="2344" y="2805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0258" name="Text Box 150"/>
            <p:cNvSpPr txBox="1"/>
            <p:nvPr/>
          </p:nvSpPr>
          <p:spPr>
            <a:xfrm>
              <a:off x="3424" y="2704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10259" name="Line 151"/>
            <p:cNvSpPr/>
            <p:nvPr/>
          </p:nvSpPr>
          <p:spPr>
            <a:xfrm rot="-5400000">
              <a:off x="2162" y="2576"/>
              <a:ext cx="52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0" name="Line 152"/>
            <p:cNvSpPr/>
            <p:nvPr/>
          </p:nvSpPr>
          <p:spPr>
            <a:xfrm rot="-5400000">
              <a:off x="2993" y="1729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1" name="Text Box 153"/>
            <p:cNvSpPr txBox="1"/>
            <p:nvPr/>
          </p:nvSpPr>
          <p:spPr>
            <a:xfrm>
              <a:off x="2835" y="1933"/>
              <a:ext cx="67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e q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2" name="Line 154"/>
            <p:cNvSpPr/>
            <p:nvPr/>
          </p:nvSpPr>
          <p:spPr>
            <a:xfrm rot="-5400000">
              <a:off x="2325" y="2579"/>
              <a:ext cx="384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63" name="Text Box 155"/>
            <p:cNvSpPr txBox="1"/>
            <p:nvPr/>
          </p:nvSpPr>
          <p:spPr>
            <a:xfrm>
              <a:off x="2200" y="2432"/>
              <a:ext cx="19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0264" name="Oval 156"/>
            <p:cNvSpPr/>
            <p:nvPr/>
          </p:nvSpPr>
          <p:spPr>
            <a:xfrm>
              <a:off x="2381" y="2818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65" name="Line 157"/>
            <p:cNvSpPr/>
            <p:nvPr/>
          </p:nvSpPr>
          <p:spPr>
            <a:xfrm rot="-5400000">
              <a:off x="3285" y="2576"/>
              <a:ext cx="52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6" name="Oval 158"/>
            <p:cNvSpPr/>
            <p:nvPr/>
          </p:nvSpPr>
          <p:spPr>
            <a:xfrm>
              <a:off x="3515" y="2818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67" name="Rectangle 159"/>
            <p:cNvSpPr/>
            <p:nvPr/>
          </p:nvSpPr>
          <p:spPr>
            <a:xfrm>
              <a:off x="2835" y="225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0253" name="Group 16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254" name="Picture 16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55" name="Text Box 16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  <p:bldP spid="5134" grpId="0"/>
      <p:bldP spid="51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ext Box 4"/>
          <p:cNvSpPr txBox="1"/>
          <p:nvPr/>
        </p:nvSpPr>
        <p:spPr>
          <a:xfrm>
            <a:off x="611188" y="620713"/>
            <a:ext cx="3600450" cy="547687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 startAt="3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串联电阻的分压</a:t>
            </a:r>
          </a:p>
        </p:txBody>
      </p:sp>
      <p:sp>
        <p:nvSpPr>
          <p:cNvPr id="6152" name="Text Box 8"/>
          <p:cNvSpPr txBox="1"/>
          <p:nvPr/>
        </p:nvSpPr>
        <p:spPr>
          <a:xfrm>
            <a:off x="971550" y="2205038"/>
            <a:ext cx="76327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电压与电阻成正比，因此串联电阻电路可作分压电路。</a:t>
            </a:r>
          </a:p>
        </p:txBody>
      </p:sp>
      <p:graphicFrame>
        <p:nvGraphicFramePr>
          <p:cNvPr id="6207" name="Object 63"/>
          <p:cNvGraphicFramePr>
            <a:graphicFrameLocks/>
          </p:cNvGraphicFramePr>
          <p:nvPr/>
        </p:nvGraphicFramePr>
        <p:xfrm>
          <a:off x="1476375" y="1196975"/>
          <a:ext cx="4535488" cy="1169988"/>
        </p:xfrm>
        <a:graphic>
          <a:graphicData uri="http://schemas.openxmlformats.org/presentationml/2006/ole">
            <p:oleObj spid="_x0000_s25603" r:id="rId3" imgW="1773000" imgH="438120" progId="Equation.3">
              <p:embed/>
            </p:oleObj>
          </a:graphicData>
        </a:graphic>
      </p:graphicFrame>
      <p:sp>
        <p:nvSpPr>
          <p:cNvPr id="6208" name="Text Box 64"/>
          <p:cNvSpPr txBox="1"/>
          <p:nvPr/>
        </p:nvSpPr>
        <p:spPr>
          <a:xfrm>
            <a:off x="468313" y="3357563"/>
            <a:ext cx="592137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6210" name="Text Box 66"/>
          <p:cNvSpPr txBox="1"/>
          <p:nvPr/>
        </p:nvSpPr>
        <p:spPr>
          <a:xfrm>
            <a:off x="1187450" y="3357563"/>
            <a:ext cx="39608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两个电阻的分压：</a:t>
            </a:r>
          </a:p>
        </p:txBody>
      </p:sp>
      <p:graphicFrame>
        <p:nvGraphicFramePr>
          <p:cNvPr id="6211" name="Object 67"/>
          <p:cNvGraphicFramePr>
            <a:graphicFrameLocks/>
          </p:cNvGraphicFramePr>
          <p:nvPr/>
        </p:nvGraphicFramePr>
        <p:xfrm>
          <a:off x="827088" y="4005263"/>
          <a:ext cx="2225675" cy="1125537"/>
        </p:xfrm>
        <a:graphic>
          <a:graphicData uri="http://schemas.openxmlformats.org/presentationml/2006/ole">
            <p:oleObj spid="_x0000_s25602" r:id="rId4" imgW="869040" imgH="426600" progId="Equation.3">
              <p:embed/>
            </p:oleObj>
          </a:graphicData>
        </a:graphic>
      </p:graphicFrame>
      <p:graphicFrame>
        <p:nvGraphicFramePr>
          <p:cNvPr id="6212" name="Object 68"/>
          <p:cNvGraphicFramePr>
            <a:graphicFrameLocks/>
          </p:cNvGraphicFramePr>
          <p:nvPr/>
        </p:nvGraphicFramePr>
        <p:xfrm>
          <a:off x="3492500" y="4005263"/>
          <a:ext cx="2368550" cy="1184275"/>
        </p:xfrm>
        <a:graphic>
          <a:graphicData uri="http://schemas.openxmlformats.org/presentationml/2006/ole">
            <p:oleObj spid="_x0000_s25601" r:id="rId5" imgW="880560" imgH="426600" progId="Equation.3">
              <p:embed/>
            </p:oleObj>
          </a:graphicData>
        </a:graphic>
      </p:graphicFrame>
      <p:grpSp>
        <p:nvGrpSpPr>
          <p:cNvPr id="11273" name="Group 7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303" name="Picture 76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304" name="Text Box 7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11274" name="Group 7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301" name="Picture 79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302" name="Text Box 8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6228" name="Group 84"/>
          <p:cNvGrpSpPr/>
          <p:nvPr/>
        </p:nvGrpSpPr>
        <p:grpSpPr>
          <a:xfrm>
            <a:off x="395288" y="2073275"/>
            <a:ext cx="1644650" cy="850900"/>
            <a:chOff x="385" y="3022"/>
            <a:chExt cx="1036" cy="536"/>
          </a:xfrm>
        </p:grpSpPr>
        <p:pic>
          <p:nvPicPr>
            <p:cNvPr id="11299" name="Picture 85" descr="1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300" name="Text Box 86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</a:p>
          </p:txBody>
        </p:sp>
      </p:grpSp>
      <p:grpSp>
        <p:nvGrpSpPr>
          <p:cNvPr id="6231" name="Group 87"/>
          <p:cNvGrpSpPr/>
          <p:nvPr/>
        </p:nvGrpSpPr>
        <p:grpSpPr>
          <a:xfrm>
            <a:off x="6516688" y="2852738"/>
            <a:ext cx="1905000" cy="3032125"/>
            <a:chOff x="4014" y="1797"/>
            <a:chExt cx="1200" cy="1910"/>
          </a:xfrm>
        </p:grpSpPr>
        <p:sp>
          <p:nvSpPr>
            <p:cNvPr id="11280" name="Line 88"/>
            <p:cNvSpPr/>
            <p:nvPr/>
          </p:nvSpPr>
          <p:spPr>
            <a:xfrm flipV="1">
              <a:off x="4785" y="2160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1" name="Line 89"/>
            <p:cNvSpPr/>
            <p:nvPr/>
          </p:nvSpPr>
          <p:spPr>
            <a:xfrm>
              <a:off x="4150" y="3521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11282" name="Text Box 90"/>
            <p:cNvSpPr txBox="1"/>
            <p:nvPr/>
          </p:nvSpPr>
          <p:spPr>
            <a:xfrm>
              <a:off x="4059" y="2160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1283" name="Text Box 91"/>
            <p:cNvSpPr txBox="1"/>
            <p:nvPr/>
          </p:nvSpPr>
          <p:spPr>
            <a:xfrm>
              <a:off x="4059" y="3113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11284" name="Text Box 92"/>
            <p:cNvSpPr txBox="1"/>
            <p:nvPr/>
          </p:nvSpPr>
          <p:spPr>
            <a:xfrm>
              <a:off x="4014" y="2568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85" name="Text Box 93"/>
            <p:cNvSpPr txBox="1"/>
            <p:nvPr/>
          </p:nvSpPr>
          <p:spPr>
            <a:xfrm>
              <a:off x="4830" y="2296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86" name="Text Box 94"/>
            <p:cNvSpPr txBox="1"/>
            <p:nvPr/>
          </p:nvSpPr>
          <p:spPr>
            <a:xfrm>
              <a:off x="4830" y="2976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87" name="Text Box 95"/>
            <p:cNvSpPr txBox="1"/>
            <p:nvPr/>
          </p:nvSpPr>
          <p:spPr>
            <a:xfrm>
              <a:off x="4468" y="2115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1288" name="Text Box 96"/>
            <p:cNvSpPr txBox="1"/>
            <p:nvPr/>
          </p:nvSpPr>
          <p:spPr>
            <a:xfrm>
              <a:off x="4473" y="2541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11289" name="Text Box 97"/>
            <p:cNvSpPr txBox="1"/>
            <p:nvPr/>
          </p:nvSpPr>
          <p:spPr>
            <a:xfrm>
              <a:off x="4377" y="2251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90" name="Text Box 98"/>
            <p:cNvSpPr txBox="1"/>
            <p:nvPr/>
          </p:nvSpPr>
          <p:spPr>
            <a:xfrm>
              <a:off x="4468" y="2750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+</a:t>
              </a:r>
            </a:p>
          </p:txBody>
        </p:sp>
        <p:sp>
          <p:nvSpPr>
            <p:cNvPr id="11291" name="Text Box 99"/>
            <p:cNvSpPr txBox="1"/>
            <p:nvPr/>
          </p:nvSpPr>
          <p:spPr>
            <a:xfrm>
              <a:off x="4468" y="3239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11292" name="Text Box 100"/>
            <p:cNvSpPr txBox="1"/>
            <p:nvPr/>
          </p:nvSpPr>
          <p:spPr>
            <a:xfrm>
              <a:off x="4377" y="2976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93" name="Line 101"/>
            <p:cNvSpPr/>
            <p:nvPr/>
          </p:nvSpPr>
          <p:spPr>
            <a:xfrm>
              <a:off x="4241" y="2115"/>
              <a:ext cx="288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94" name="Text Box 102"/>
            <p:cNvSpPr txBox="1"/>
            <p:nvPr/>
          </p:nvSpPr>
          <p:spPr>
            <a:xfrm>
              <a:off x="4286" y="1797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95" name="Text Box 103"/>
            <p:cNvSpPr txBox="1"/>
            <p:nvPr/>
          </p:nvSpPr>
          <p:spPr>
            <a:xfrm>
              <a:off x="4117" y="3380"/>
              <a:ext cx="11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º</a:t>
              </a:r>
            </a:p>
          </p:txBody>
        </p:sp>
        <p:sp>
          <p:nvSpPr>
            <p:cNvPr id="11296" name="Line 104"/>
            <p:cNvSpPr/>
            <p:nvPr/>
          </p:nvSpPr>
          <p:spPr>
            <a:xfrm>
              <a:off x="4150" y="2160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11297" name="Rectangle 105"/>
            <p:cNvSpPr/>
            <p:nvPr/>
          </p:nvSpPr>
          <p:spPr>
            <a:xfrm>
              <a:off x="4703" y="297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1298" name="Rectangle 106"/>
            <p:cNvSpPr/>
            <p:nvPr/>
          </p:nvSpPr>
          <p:spPr>
            <a:xfrm>
              <a:off x="4703" y="234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1277" name="Group 11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278" name="Picture 114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79" name="Text Box 11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2000"/>
                                        <p:tgtEl>
                                          <p:spTgt spid="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1000"/>
                                        <p:tgtEl>
                                          <p:spTgt spid="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1000"/>
                                        <p:tgtEl>
                                          <p:spTgt spid="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/>
      <p:bldP spid="6152" grpId="0"/>
      <p:bldP spid="6208" grpId="0"/>
      <p:bldP spid="62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ext Box 4"/>
          <p:cNvSpPr txBox="1"/>
          <p:nvPr/>
        </p:nvSpPr>
        <p:spPr>
          <a:xfrm>
            <a:off x="611188" y="620713"/>
            <a:ext cx="1517650" cy="547687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 startAt="4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功率</a:t>
            </a:r>
          </a:p>
        </p:txBody>
      </p:sp>
      <p:sp>
        <p:nvSpPr>
          <p:cNvPr id="7173" name="Text Box 5"/>
          <p:cNvSpPr txBox="1"/>
          <p:nvPr/>
        </p:nvSpPr>
        <p:spPr>
          <a:xfrm>
            <a:off x="2627313" y="620713"/>
            <a:ext cx="58324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，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4" name="Text Box 6"/>
          <p:cNvSpPr txBox="1"/>
          <p:nvPr/>
        </p:nvSpPr>
        <p:spPr>
          <a:xfrm>
            <a:off x="2627313" y="1341438"/>
            <a:ext cx="597693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 :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 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 :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endParaRPr lang="en-US" altLang="zh-CN" baseline="300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5" name="Text Box 7"/>
          <p:cNvSpPr txBox="1"/>
          <p:nvPr/>
        </p:nvSpPr>
        <p:spPr>
          <a:xfrm>
            <a:off x="755650" y="1989138"/>
            <a:ext cx="7200900" cy="2524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总功率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eq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 (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 …+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+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baseline="300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8" name="Text Box 10"/>
          <p:cNvSpPr txBox="1"/>
          <p:nvPr/>
        </p:nvSpPr>
        <p:spPr>
          <a:xfrm>
            <a:off x="1116013" y="4221163"/>
            <a:ext cx="7561262" cy="2228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AutoNum type="circleNumDbPlain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电阻串联时，各电阻消耗的功率与电阻大小成正比；</a:t>
            </a:r>
          </a:p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AutoNum type="circleNumDbPlain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等效电阻消耗的功率等于各串联电阻消耗功率的总和。</a:t>
            </a:r>
          </a:p>
        </p:txBody>
      </p:sp>
      <p:grpSp>
        <p:nvGrpSpPr>
          <p:cNvPr id="12295" name="Group 1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305" name="Picture 16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06" name="Text Box 1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12296" name="Group 1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303" name="Picture 19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04" name="Text Box 2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7192" name="Group 24"/>
          <p:cNvGrpSpPr/>
          <p:nvPr/>
        </p:nvGrpSpPr>
        <p:grpSpPr>
          <a:xfrm>
            <a:off x="250825" y="3500438"/>
            <a:ext cx="1644650" cy="850900"/>
            <a:chOff x="385" y="3022"/>
            <a:chExt cx="1036" cy="536"/>
          </a:xfrm>
        </p:grpSpPr>
        <p:pic>
          <p:nvPicPr>
            <p:cNvPr id="12301" name="Picture 25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02" name="Text Box 26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</a:p>
          </p:txBody>
        </p:sp>
      </p:grpSp>
      <p:grpSp>
        <p:nvGrpSpPr>
          <p:cNvPr id="12298" name="Group 30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2299" name="Picture 3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00" name="Text Box 3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3" grpId="0"/>
      <p:bldP spid="7174" grpId="0"/>
      <p:bldP spid="7175" grpId="0"/>
      <p:bldP spid="717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 Box 4"/>
          <p:cNvSpPr txBox="1"/>
          <p:nvPr/>
        </p:nvSpPr>
        <p:spPr>
          <a:xfrm>
            <a:off x="468313" y="549275"/>
            <a:ext cx="302418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2. 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电阻并联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8235" name="Text Box 43"/>
          <p:cNvSpPr txBox="1"/>
          <p:nvPr/>
        </p:nvSpPr>
        <p:spPr>
          <a:xfrm>
            <a:off x="693738" y="1412875"/>
            <a:ext cx="2222500" cy="547688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电路特点</a:t>
            </a:r>
          </a:p>
        </p:txBody>
      </p:sp>
      <p:sp>
        <p:nvSpPr>
          <p:cNvPr id="8236" name="Text Box 44"/>
          <p:cNvSpPr txBox="1"/>
          <p:nvPr/>
        </p:nvSpPr>
        <p:spPr>
          <a:xfrm>
            <a:off x="539750" y="3789363"/>
            <a:ext cx="66246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(a)</a:t>
            </a:r>
            <a:r>
              <a:rPr lang="zh-CN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各电阻两端为同一电压（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KVL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8237" name="Text Box 45"/>
          <p:cNvSpPr txBox="1"/>
          <p:nvPr/>
        </p:nvSpPr>
        <p:spPr>
          <a:xfrm>
            <a:off x="539750" y="4508500"/>
            <a:ext cx="83534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(b)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总电流等于流过各并联电阻的电流之和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8238" name="Text Box 46"/>
          <p:cNvSpPr txBox="1"/>
          <p:nvPr/>
        </p:nvSpPr>
        <p:spPr>
          <a:xfrm>
            <a:off x="1692275" y="5157788"/>
            <a:ext cx="4968875" cy="641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 = i</a:t>
            </a:r>
            <a:r>
              <a:rPr lang="en-US" altLang="zh-CN" sz="36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6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+ i</a:t>
            </a:r>
            <a:r>
              <a:rPr lang="en-US" altLang="zh-CN" sz="36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6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3600" i="1" dirty="0">
                <a:solidFill>
                  <a:schemeClr val="bg1"/>
                </a:solidFill>
                <a:latin typeface="Times New Roman" panose="02020603050405020304" pitchFamily="18" charset="0"/>
                <a:sym typeface="Math4" pitchFamily="2" charset="2"/>
              </a:rPr>
              <a:t> …</a:t>
            </a:r>
            <a:r>
              <a:rPr lang="en-US" altLang="zh-CN" sz="36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+ i</a:t>
            </a:r>
            <a:r>
              <a:rPr lang="en-US" altLang="zh-CN" sz="3600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6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+ …+i</a:t>
            </a:r>
            <a:r>
              <a:rPr lang="en-US" altLang="zh-CN" sz="36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</a:p>
        </p:txBody>
      </p:sp>
      <p:grpSp>
        <p:nvGrpSpPr>
          <p:cNvPr id="13319" name="Group 5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360" name="Picture 5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61" name="Text Box 5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13320" name="Group 5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358" name="Picture 5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59" name="Text Box 5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8251" name="Group 59"/>
          <p:cNvGrpSpPr/>
          <p:nvPr/>
        </p:nvGrpSpPr>
        <p:grpSpPr>
          <a:xfrm>
            <a:off x="3203575" y="1125538"/>
            <a:ext cx="5456238" cy="2268537"/>
            <a:chOff x="1429" y="1933"/>
            <a:chExt cx="3437" cy="1429"/>
          </a:xfrm>
        </p:grpSpPr>
        <p:sp>
          <p:nvSpPr>
            <p:cNvPr id="13325" name="Text Box 60"/>
            <p:cNvSpPr txBox="1"/>
            <p:nvPr/>
          </p:nvSpPr>
          <p:spPr>
            <a:xfrm>
              <a:off x="4507" y="2252"/>
              <a:ext cx="3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26" name="Line 61"/>
            <p:cNvSpPr/>
            <p:nvPr/>
          </p:nvSpPr>
          <p:spPr>
            <a:xfrm>
              <a:off x="1583" y="2252"/>
              <a:ext cx="122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27" name="Line 62"/>
            <p:cNvSpPr/>
            <p:nvPr/>
          </p:nvSpPr>
          <p:spPr>
            <a:xfrm rot="-5400000">
              <a:off x="1610" y="2795"/>
              <a:ext cx="10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3328" name="Line 63"/>
            <p:cNvSpPr/>
            <p:nvPr/>
          </p:nvSpPr>
          <p:spPr>
            <a:xfrm rot="-5400000">
              <a:off x="2114" y="2791"/>
              <a:ext cx="1087" cy="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3329" name="Line 64"/>
            <p:cNvSpPr/>
            <p:nvPr/>
          </p:nvSpPr>
          <p:spPr>
            <a:xfrm>
              <a:off x="1583" y="3339"/>
              <a:ext cx="122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0" name="Line 65"/>
            <p:cNvSpPr/>
            <p:nvPr/>
          </p:nvSpPr>
          <p:spPr>
            <a:xfrm rot="-5400000">
              <a:off x="2880" y="2795"/>
              <a:ext cx="10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3331" name="Line 66"/>
            <p:cNvSpPr/>
            <p:nvPr/>
          </p:nvSpPr>
          <p:spPr>
            <a:xfrm flipV="1">
              <a:off x="2835" y="3339"/>
              <a:ext cx="11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332" name="Line 67"/>
            <p:cNvSpPr/>
            <p:nvPr/>
          </p:nvSpPr>
          <p:spPr>
            <a:xfrm>
              <a:off x="4044" y="2252"/>
              <a:ext cx="3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3" name="Line 68"/>
            <p:cNvSpPr/>
            <p:nvPr/>
          </p:nvSpPr>
          <p:spPr>
            <a:xfrm>
              <a:off x="4044" y="3339"/>
              <a:ext cx="3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4" name="Line 69"/>
            <p:cNvSpPr/>
            <p:nvPr/>
          </p:nvSpPr>
          <p:spPr>
            <a:xfrm rot="-5400000">
              <a:off x="3880" y="2788"/>
              <a:ext cx="10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5" name="Rectangle 70"/>
            <p:cNvSpPr/>
            <p:nvPr/>
          </p:nvSpPr>
          <p:spPr>
            <a:xfrm>
              <a:off x="1828" y="2571"/>
              <a:ext cx="329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i="1" baseline="-250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36" name="Rectangle 71"/>
            <p:cNvSpPr/>
            <p:nvPr/>
          </p:nvSpPr>
          <p:spPr>
            <a:xfrm>
              <a:off x="2274" y="2571"/>
              <a:ext cx="329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i="1" baseline="-250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37" name="Rectangle 72"/>
            <p:cNvSpPr/>
            <p:nvPr/>
          </p:nvSpPr>
          <p:spPr>
            <a:xfrm>
              <a:off x="3075" y="2571"/>
              <a:ext cx="320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13338" name="Rectangle 73"/>
            <p:cNvSpPr/>
            <p:nvPr/>
          </p:nvSpPr>
          <p:spPr>
            <a:xfrm>
              <a:off x="4044" y="2571"/>
              <a:ext cx="329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3339" name="Line 74"/>
            <p:cNvSpPr/>
            <p:nvPr/>
          </p:nvSpPr>
          <p:spPr>
            <a:xfrm>
              <a:off x="1610" y="2296"/>
              <a:ext cx="426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40" name="Text Box 75"/>
            <p:cNvSpPr txBox="1"/>
            <p:nvPr/>
          </p:nvSpPr>
          <p:spPr>
            <a:xfrm>
              <a:off x="1655" y="1933"/>
              <a:ext cx="17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3341" name="Rectangle 76"/>
            <p:cNvSpPr/>
            <p:nvPr/>
          </p:nvSpPr>
          <p:spPr>
            <a:xfrm>
              <a:off x="1429" y="2251"/>
              <a:ext cx="2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CommonBullets" pitchFamily="34" charset="2"/>
                </a:rPr>
                <a:t>+</a:t>
              </a:r>
            </a:p>
          </p:txBody>
        </p:sp>
        <p:sp>
          <p:nvSpPr>
            <p:cNvPr id="13342" name="Text Box 77"/>
            <p:cNvSpPr txBox="1"/>
            <p:nvPr/>
          </p:nvSpPr>
          <p:spPr>
            <a:xfrm>
              <a:off x="1429" y="265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3343" name="Line 78"/>
            <p:cNvSpPr/>
            <p:nvPr/>
          </p:nvSpPr>
          <p:spPr>
            <a:xfrm>
              <a:off x="2200" y="2296"/>
              <a:ext cx="0" cy="282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44" name="Text Box 79"/>
            <p:cNvSpPr txBox="1"/>
            <p:nvPr/>
          </p:nvSpPr>
          <p:spPr>
            <a:xfrm>
              <a:off x="2200" y="2251"/>
              <a:ext cx="3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45" name="Text Box 80"/>
            <p:cNvSpPr txBox="1"/>
            <p:nvPr/>
          </p:nvSpPr>
          <p:spPr>
            <a:xfrm>
              <a:off x="2753" y="2252"/>
              <a:ext cx="3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46" name="Text Box 81"/>
            <p:cNvSpPr txBox="1"/>
            <p:nvPr/>
          </p:nvSpPr>
          <p:spPr>
            <a:xfrm>
              <a:off x="3515" y="2251"/>
              <a:ext cx="3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47" name="Text Box 82"/>
            <p:cNvSpPr txBox="1"/>
            <p:nvPr/>
          </p:nvSpPr>
          <p:spPr>
            <a:xfrm>
              <a:off x="1429" y="293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13348" name="Line 83"/>
            <p:cNvSpPr/>
            <p:nvPr/>
          </p:nvSpPr>
          <p:spPr>
            <a:xfrm>
              <a:off x="2744" y="2296"/>
              <a:ext cx="0" cy="28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49" name="Line 84"/>
            <p:cNvSpPr/>
            <p:nvPr/>
          </p:nvSpPr>
          <p:spPr>
            <a:xfrm>
              <a:off x="3515" y="2305"/>
              <a:ext cx="0" cy="28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50" name="Line 85"/>
            <p:cNvSpPr/>
            <p:nvPr/>
          </p:nvSpPr>
          <p:spPr>
            <a:xfrm>
              <a:off x="4507" y="2252"/>
              <a:ext cx="0" cy="281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51" name="Oval 86"/>
            <p:cNvSpPr/>
            <p:nvPr/>
          </p:nvSpPr>
          <p:spPr>
            <a:xfrm>
              <a:off x="1515" y="3286"/>
              <a:ext cx="75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3352" name="Oval 87"/>
            <p:cNvSpPr/>
            <p:nvPr/>
          </p:nvSpPr>
          <p:spPr>
            <a:xfrm>
              <a:off x="1515" y="2214"/>
              <a:ext cx="75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3353" name="Line 88"/>
            <p:cNvSpPr/>
            <p:nvPr/>
          </p:nvSpPr>
          <p:spPr>
            <a:xfrm flipV="1">
              <a:off x="2835" y="2251"/>
              <a:ext cx="11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354" name="Rectangle 89"/>
            <p:cNvSpPr/>
            <p:nvPr/>
          </p:nvSpPr>
          <p:spPr>
            <a:xfrm>
              <a:off x="3379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3355" name="Rectangle 90"/>
            <p:cNvSpPr/>
            <p:nvPr/>
          </p:nvSpPr>
          <p:spPr>
            <a:xfrm>
              <a:off x="2608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3356" name="Rectangle 91"/>
            <p:cNvSpPr/>
            <p:nvPr/>
          </p:nvSpPr>
          <p:spPr>
            <a:xfrm>
              <a:off x="2109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3357" name="Rectangle 92"/>
            <p:cNvSpPr/>
            <p:nvPr/>
          </p:nvSpPr>
          <p:spPr>
            <a:xfrm>
              <a:off x="4332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3322" name="Group 96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323" name="Picture 97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4" name="Text Box 9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235" grpId="0" animBg="1"/>
      <p:bldP spid="8236" grpId="0"/>
      <p:bldP spid="8237" grpId="0"/>
      <p:bldP spid="82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2"/>
          <p:cNvSpPr txBox="1"/>
          <p:nvPr/>
        </p:nvSpPr>
        <p:spPr>
          <a:xfrm>
            <a:off x="395288" y="3573463"/>
            <a:ext cx="1557337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</a:rPr>
              <a:t>KCL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03427" name="Text Box 3"/>
          <p:cNvSpPr txBox="1"/>
          <p:nvPr/>
        </p:nvSpPr>
        <p:spPr>
          <a:xfrm>
            <a:off x="2124075" y="3573463"/>
            <a:ext cx="4895850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 = i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+ i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sym typeface="Math4" pitchFamily="2" charset="2"/>
              </a:rPr>
              <a:t> …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+ i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+ …+i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103428" name="Text Box 4"/>
          <p:cNvSpPr txBox="1"/>
          <p:nvPr/>
        </p:nvSpPr>
        <p:spPr>
          <a:xfrm>
            <a:off x="2339975" y="4221163"/>
            <a:ext cx="5689600" cy="11636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=u/R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 +u/R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sym typeface="Math4" pitchFamily="2" charset="2"/>
              </a:rPr>
              <a:t> …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+u/R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</a:p>
          <a:p>
            <a:pPr marL="0" lvl="0" indent="0" eaLnBrk="1" hangingPunct="1"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=u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sym typeface="Math4" pitchFamily="2" charset="2"/>
              </a:rPr>
              <a:t>…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uG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eq</a:t>
            </a:r>
          </a:p>
        </p:txBody>
      </p:sp>
      <p:sp>
        <p:nvSpPr>
          <p:cNvPr id="103430" name="Text Box 6"/>
          <p:cNvSpPr txBox="1"/>
          <p:nvPr/>
        </p:nvSpPr>
        <p:spPr>
          <a:xfrm>
            <a:off x="611188" y="620713"/>
            <a:ext cx="2520950" cy="547687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 startAt="2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等效电阻</a:t>
            </a:r>
          </a:p>
        </p:txBody>
      </p:sp>
      <p:graphicFrame>
        <p:nvGraphicFramePr>
          <p:cNvPr id="103432" name="Object 8"/>
          <p:cNvGraphicFramePr>
            <a:graphicFrameLocks/>
          </p:cNvGraphicFramePr>
          <p:nvPr/>
        </p:nvGraphicFramePr>
        <p:xfrm>
          <a:off x="2339975" y="5300663"/>
          <a:ext cx="5233988" cy="930275"/>
        </p:xfrm>
        <a:graphic>
          <a:graphicData uri="http://schemas.openxmlformats.org/presentationml/2006/ole">
            <p:oleObj spid="_x0000_s26625" r:id="rId3" imgW="2259720" imgH="380520" progId="Equation.3">
              <p:embed/>
            </p:oleObj>
          </a:graphicData>
        </a:graphic>
      </p:graphicFrame>
      <p:grpSp>
        <p:nvGrpSpPr>
          <p:cNvPr id="14343" name="Group 1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400" name="Picture 11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401" name="Text Box 1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14344" name="Group 1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398" name="Picture 14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99" name="Text Box 1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103440" name="Group 16"/>
          <p:cNvGrpSpPr/>
          <p:nvPr/>
        </p:nvGrpSpPr>
        <p:grpSpPr>
          <a:xfrm>
            <a:off x="611188" y="1125538"/>
            <a:ext cx="5456237" cy="2268537"/>
            <a:chOff x="1429" y="1933"/>
            <a:chExt cx="3437" cy="1429"/>
          </a:xfrm>
        </p:grpSpPr>
        <p:sp>
          <p:nvSpPr>
            <p:cNvPr id="14365" name="Text Box 17"/>
            <p:cNvSpPr txBox="1"/>
            <p:nvPr/>
          </p:nvSpPr>
          <p:spPr>
            <a:xfrm>
              <a:off x="4507" y="2252"/>
              <a:ext cx="3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66" name="Line 18"/>
            <p:cNvSpPr/>
            <p:nvPr/>
          </p:nvSpPr>
          <p:spPr>
            <a:xfrm>
              <a:off x="1583" y="2252"/>
              <a:ext cx="122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7" name="Line 19"/>
            <p:cNvSpPr/>
            <p:nvPr/>
          </p:nvSpPr>
          <p:spPr>
            <a:xfrm rot="-5400000">
              <a:off x="1610" y="2795"/>
              <a:ext cx="10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4368" name="Line 20"/>
            <p:cNvSpPr/>
            <p:nvPr/>
          </p:nvSpPr>
          <p:spPr>
            <a:xfrm rot="-5400000">
              <a:off x="2114" y="2791"/>
              <a:ext cx="1087" cy="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4369" name="Line 21"/>
            <p:cNvSpPr/>
            <p:nvPr/>
          </p:nvSpPr>
          <p:spPr>
            <a:xfrm>
              <a:off x="1583" y="3339"/>
              <a:ext cx="122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0" name="Line 22"/>
            <p:cNvSpPr/>
            <p:nvPr/>
          </p:nvSpPr>
          <p:spPr>
            <a:xfrm rot="-5400000">
              <a:off x="2880" y="2795"/>
              <a:ext cx="10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4371" name="Line 23"/>
            <p:cNvSpPr/>
            <p:nvPr/>
          </p:nvSpPr>
          <p:spPr>
            <a:xfrm flipV="1">
              <a:off x="2835" y="3339"/>
              <a:ext cx="11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4372" name="Line 24"/>
            <p:cNvSpPr/>
            <p:nvPr/>
          </p:nvSpPr>
          <p:spPr>
            <a:xfrm>
              <a:off x="4044" y="2252"/>
              <a:ext cx="3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3" name="Line 25"/>
            <p:cNvSpPr/>
            <p:nvPr/>
          </p:nvSpPr>
          <p:spPr>
            <a:xfrm>
              <a:off x="4044" y="3339"/>
              <a:ext cx="3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4" name="Line 26"/>
            <p:cNvSpPr/>
            <p:nvPr/>
          </p:nvSpPr>
          <p:spPr>
            <a:xfrm rot="-5400000">
              <a:off x="3880" y="2788"/>
              <a:ext cx="10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5" name="Rectangle 27"/>
            <p:cNvSpPr/>
            <p:nvPr/>
          </p:nvSpPr>
          <p:spPr>
            <a:xfrm>
              <a:off x="1828" y="2571"/>
              <a:ext cx="329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i="1" baseline="-250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76" name="Rectangle 28"/>
            <p:cNvSpPr/>
            <p:nvPr/>
          </p:nvSpPr>
          <p:spPr>
            <a:xfrm>
              <a:off x="2274" y="2571"/>
              <a:ext cx="329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i="1" baseline="-250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77" name="Rectangle 29"/>
            <p:cNvSpPr/>
            <p:nvPr/>
          </p:nvSpPr>
          <p:spPr>
            <a:xfrm>
              <a:off x="3075" y="2571"/>
              <a:ext cx="320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14378" name="Rectangle 30"/>
            <p:cNvSpPr/>
            <p:nvPr/>
          </p:nvSpPr>
          <p:spPr>
            <a:xfrm>
              <a:off x="4044" y="2571"/>
              <a:ext cx="329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4379" name="Line 31"/>
            <p:cNvSpPr/>
            <p:nvPr/>
          </p:nvSpPr>
          <p:spPr>
            <a:xfrm>
              <a:off x="1610" y="2296"/>
              <a:ext cx="426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80" name="Text Box 32"/>
            <p:cNvSpPr txBox="1"/>
            <p:nvPr/>
          </p:nvSpPr>
          <p:spPr>
            <a:xfrm>
              <a:off x="1655" y="1933"/>
              <a:ext cx="17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4381" name="Rectangle 33"/>
            <p:cNvSpPr/>
            <p:nvPr/>
          </p:nvSpPr>
          <p:spPr>
            <a:xfrm>
              <a:off x="1429" y="2251"/>
              <a:ext cx="2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CommonBullets" pitchFamily="34" charset="2"/>
                </a:rPr>
                <a:t>+</a:t>
              </a:r>
            </a:p>
          </p:txBody>
        </p:sp>
        <p:sp>
          <p:nvSpPr>
            <p:cNvPr id="14382" name="Text Box 34"/>
            <p:cNvSpPr txBox="1"/>
            <p:nvPr/>
          </p:nvSpPr>
          <p:spPr>
            <a:xfrm>
              <a:off x="1429" y="265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4383" name="Line 35"/>
            <p:cNvSpPr/>
            <p:nvPr/>
          </p:nvSpPr>
          <p:spPr>
            <a:xfrm>
              <a:off x="2200" y="2296"/>
              <a:ext cx="0" cy="282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84" name="Text Box 36"/>
            <p:cNvSpPr txBox="1"/>
            <p:nvPr/>
          </p:nvSpPr>
          <p:spPr>
            <a:xfrm>
              <a:off x="2200" y="2251"/>
              <a:ext cx="3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85" name="Text Box 37"/>
            <p:cNvSpPr txBox="1"/>
            <p:nvPr/>
          </p:nvSpPr>
          <p:spPr>
            <a:xfrm>
              <a:off x="2753" y="2252"/>
              <a:ext cx="3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86" name="Text Box 38"/>
            <p:cNvSpPr txBox="1"/>
            <p:nvPr/>
          </p:nvSpPr>
          <p:spPr>
            <a:xfrm>
              <a:off x="3515" y="2251"/>
              <a:ext cx="3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k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87" name="Text Box 39"/>
            <p:cNvSpPr txBox="1"/>
            <p:nvPr/>
          </p:nvSpPr>
          <p:spPr>
            <a:xfrm>
              <a:off x="1429" y="293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14388" name="Line 40"/>
            <p:cNvSpPr/>
            <p:nvPr/>
          </p:nvSpPr>
          <p:spPr>
            <a:xfrm>
              <a:off x="2744" y="2296"/>
              <a:ext cx="0" cy="28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89" name="Line 41"/>
            <p:cNvSpPr/>
            <p:nvPr/>
          </p:nvSpPr>
          <p:spPr>
            <a:xfrm>
              <a:off x="3515" y="2305"/>
              <a:ext cx="0" cy="28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90" name="Line 42"/>
            <p:cNvSpPr/>
            <p:nvPr/>
          </p:nvSpPr>
          <p:spPr>
            <a:xfrm>
              <a:off x="4507" y="2252"/>
              <a:ext cx="0" cy="281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91" name="Oval 43"/>
            <p:cNvSpPr/>
            <p:nvPr/>
          </p:nvSpPr>
          <p:spPr>
            <a:xfrm>
              <a:off x="1515" y="3286"/>
              <a:ext cx="75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392" name="Oval 44"/>
            <p:cNvSpPr/>
            <p:nvPr/>
          </p:nvSpPr>
          <p:spPr>
            <a:xfrm>
              <a:off x="1515" y="2214"/>
              <a:ext cx="75" cy="76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393" name="Line 45"/>
            <p:cNvSpPr/>
            <p:nvPr/>
          </p:nvSpPr>
          <p:spPr>
            <a:xfrm flipV="1">
              <a:off x="2835" y="2251"/>
              <a:ext cx="11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4394" name="Rectangle 46"/>
            <p:cNvSpPr/>
            <p:nvPr/>
          </p:nvSpPr>
          <p:spPr>
            <a:xfrm>
              <a:off x="3379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395" name="Rectangle 47"/>
            <p:cNvSpPr/>
            <p:nvPr/>
          </p:nvSpPr>
          <p:spPr>
            <a:xfrm>
              <a:off x="2608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396" name="Rectangle 48"/>
            <p:cNvSpPr/>
            <p:nvPr/>
          </p:nvSpPr>
          <p:spPr>
            <a:xfrm>
              <a:off x="2109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397" name="Rectangle 49"/>
            <p:cNvSpPr/>
            <p:nvPr/>
          </p:nvSpPr>
          <p:spPr>
            <a:xfrm>
              <a:off x="4332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03474" name="Group 50"/>
          <p:cNvGrpSpPr/>
          <p:nvPr/>
        </p:nvGrpSpPr>
        <p:grpSpPr>
          <a:xfrm>
            <a:off x="5724525" y="1989138"/>
            <a:ext cx="1066800" cy="685800"/>
            <a:chOff x="1488" y="720"/>
            <a:chExt cx="672" cy="432"/>
          </a:xfrm>
        </p:grpSpPr>
        <p:sp>
          <p:nvSpPr>
            <p:cNvPr id="14363" name="AutoShape 51"/>
            <p:cNvSpPr/>
            <p:nvPr/>
          </p:nvSpPr>
          <p:spPr>
            <a:xfrm>
              <a:off x="1488" y="960"/>
              <a:ext cx="672" cy="192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364" name="Text Box 52"/>
            <p:cNvSpPr txBox="1"/>
            <p:nvPr/>
          </p:nvSpPr>
          <p:spPr>
            <a:xfrm>
              <a:off x="1536" y="720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等效</a:t>
              </a:r>
            </a:p>
          </p:txBody>
        </p:sp>
      </p:grpSp>
      <p:grpSp>
        <p:nvGrpSpPr>
          <p:cNvPr id="103477" name="Group 53"/>
          <p:cNvGrpSpPr/>
          <p:nvPr/>
        </p:nvGrpSpPr>
        <p:grpSpPr>
          <a:xfrm>
            <a:off x="6877050" y="1125538"/>
            <a:ext cx="1982788" cy="2232025"/>
            <a:chOff x="3152" y="799"/>
            <a:chExt cx="1249" cy="1406"/>
          </a:xfrm>
        </p:grpSpPr>
        <p:sp>
          <p:nvSpPr>
            <p:cNvPr id="14351" name="Line 54"/>
            <p:cNvSpPr/>
            <p:nvPr/>
          </p:nvSpPr>
          <p:spPr>
            <a:xfrm>
              <a:off x="3424" y="1207"/>
              <a:ext cx="28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52" name="Text Box 55"/>
            <p:cNvSpPr txBox="1"/>
            <p:nvPr/>
          </p:nvSpPr>
          <p:spPr>
            <a:xfrm>
              <a:off x="3243" y="1162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4353" name="Text Box 56"/>
            <p:cNvSpPr txBox="1"/>
            <p:nvPr/>
          </p:nvSpPr>
          <p:spPr>
            <a:xfrm>
              <a:off x="3152" y="1522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54" name="Text Box 57"/>
            <p:cNvSpPr txBox="1"/>
            <p:nvPr/>
          </p:nvSpPr>
          <p:spPr>
            <a:xfrm>
              <a:off x="3200" y="176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14355" name="Text Box 58"/>
            <p:cNvSpPr txBox="1"/>
            <p:nvPr/>
          </p:nvSpPr>
          <p:spPr>
            <a:xfrm>
              <a:off x="3470" y="799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4356" name="Text Box 59"/>
            <p:cNvSpPr txBox="1"/>
            <p:nvPr/>
          </p:nvSpPr>
          <p:spPr>
            <a:xfrm>
              <a:off x="3969" y="1434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eq</a:t>
              </a:r>
            </a:p>
          </p:txBody>
        </p:sp>
        <p:sp>
          <p:nvSpPr>
            <p:cNvPr id="14357" name="Oval 60"/>
            <p:cNvSpPr/>
            <p:nvPr/>
          </p:nvSpPr>
          <p:spPr>
            <a:xfrm>
              <a:off x="3266" y="2137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358" name="Oval 61"/>
            <p:cNvSpPr/>
            <p:nvPr/>
          </p:nvSpPr>
          <p:spPr>
            <a:xfrm>
              <a:off x="3220" y="1138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359" name="Line 62"/>
            <p:cNvSpPr/>
            <p:nvPr/>
          </p:nvSpPr>
          <p:spPr>
            <a:xfrm>
              <a:off x="3923" y="1162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0" name="Line 63"/>
            <p:cNvSpPr/>
            <p:nvPr/>
          </p:nvSpPr>
          <p:spPr>
            <a:xfrm flipH="1">
              <a:off x="3334" y="2160"/>
              <a:ext cx="58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1" name="Line 64"/>
            <p:cNvSpPr/>
            <p:nvPr/>
          </p:nvSpPr>
          <p:spPr>
            <a:xfrm>
              <a:off x="3288" y="1162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2" name="Rectangle 65"/>
            <p:cNvSpPr/>
            <p:nvPr/>
          </p:nvSpPr>
          <p:spPr>
            <a:xfrm>
              <a:off x="3842" y="148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4348" name="Group 69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4349" name="Picture 70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50" name="Text Box 7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0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/>
      <p:bldP spid="103427" grpId="0"/>
      <p:bldP spid="103428" grpId="0"/>
      <p:bldP spid="1034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3" name="Text Box 67"/>
          <p:cNvSpPr txBox="1"/>
          <p:nvPr/>
        </p:nvSpPr>
        <p:spPr>
          <a:xfrm>
            <a:off x="2051050" y="692150"/>
            <a:ext cx="62658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等效电导等于并联的各电导之和。</a:t>
            </a: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323" name="Object 107"/>
          <p:cNvGraphicFramePr>
            <a:graphicFrameLocks/>
          </p:cNvGraphicFramePr>
          <p:nvPr/>
        </p:nvGraphicFramePr>
        <p:xfrm>
          <a:off x="1547813" y="1196975"/>
          <a:ext cx="6399212" cy="1063625"/>
        </p:xfrm>
        <a:graphic>
          <a:graphicData uri="http://schemas.openxmlformats.org/presentationml/2006/ole">
            <p:oleObj spid="_x0000_s29699" r:id="rId3" imgW="2769480" imgH="438120" progId="Equation.3">
              <p:embed/>
            </p:oleObj>
          </a:graphicData>
        </a:graphic>
      </p:graphicFrame>
      <p:grpSp>
        <p:nvGrpSpPr>
          <p:cNvPr id="15364" name="Group 11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379" name="Picture 112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80" name="Text Box 11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15365" name="Group 11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377" name="Picture 115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78" name="Text Box 11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9386" name="Group 170"/>
          <p:cNvGrpSpPr/>
          <p:nvPr/>
        </p:nvGrpSpPr>
        <p:grpSpPr>
          <a:xfrm>
            <a:off x="395288" y="476250"/>
            <a:ext cx="1644650" cy="850900"/>
            <a:chOff x="385" y="3022"/>
            <a:chExt cx="1036" cy="536"/>
          </a:xfrm>
        </p:grpSpPr>
        <p:pic>
          <p:nvPicPr>
            <p:cNvPr id="15375" name="Picture 171" descr="1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76" name="Text Box 172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结论</a:t>
              </a:r>
            </a:p>
          </p:txBody>
        </p:sp>
      </p:grpSp>
      <p:sp>
        <p:nvSpPr>
          <p:cNvPr id="9389" name="Text Box 173"/>
          <p:cNvSpPr txBox="1"/>
          <p:nvPr/>
        </p:nvSpPr>
        <p:spPr>
          <a:xfrm>
            <a:off x="828675" y="2665413"/>
            <a:ext cx="3455988" cy="547687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 startAt="3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并联电阻的分流</a:t>
            </a:r>
          </a:p>
        </p:txBody>
      </p:sp>
      <p:graphicFrame>
        <p:nvGraphicFramePr>
          <p:cNvPr id="9390" name="Object 174"/>
          <p:cNvGraphicFramePr>
            <a:graphicFrameLocks/>
          </p:cNvGraphicFramePr>
          <p:nvPr/>
        </p:nvGraphicFramePr>
        <p:xfrm>
          <a:off x="755650" y="3578225"/>
          <a:ext cx="2790825" cy="1125538"/>
        </p:xfrm>
        <a:graphic>
          <a:graphicData uri="http://schemas.openxmlformats.org/presentationml/2006/ole">
            <p:oleObj spid="_x0000_s29698" r:id="rId6" imgW="1065960" imgH="415080" progId="Equation.3">
              <p:embed/>
            </p:oleObj>
          </a:graphicData>
        </a:graphic>
      </p:graphicFrame>
      <p:sp>
        <p:nvSpPr>
          <p:cNvPr id="9391" name="AutoShape 175"/>
          <p:cNvSpPr/>
          <p:nvPr/>
        </p:nvSpPr>
        <p:spPr>
          <a:xfrm>
            <a:off x="3779838" y="4010025"/>
            <a:ext cx="792162" cy="215900"/>
          </a:xfrm>
          <a:prstGeom prst="rightArrow">
            <a:avLst>
              <a:gd name="adj1" fmla="val 50000"/>
              <a:gd name="adj2" fmla="val 91727"/>
            </a:avLst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9392" name="Object 176"/>
          <p:cNvGraphicFramePr>
            <a:graphicFrameLocks/>
          </p:cNvGraphicFramePr>
          <p:nvPr/>
        </p:nvGraphicFramePr>
        <p:xfrm>
          <a:off x="4643438" y="3578225"/>
          <a:ext cx="1512887" cy="1146175"/>
        </p:xfrm>
        <a:graphic>
          <a:graphicData uri="http://schemas.openxmlformats.org/presentationml/2006/ole">
            <p:oleObj spid="_x0000_s29697" r:id="rId7" imgW="556200" imgH="415080" progId="Equation.3">
              <p:embed/>
            </p:oleObj>
          </a:graphicData>
        </a:graphic>
      </p:graphicFrame>
      <p:sp>
        <p:nvSpPr>
          <p:cNvPr id="9393" name="AutoShape 177" descr="羊皮纸"/>
          <p:cNvSpPr/>
          <p:nvPr/>
        </p:nvSpPr>
        <p:spPr>
          <a:xfrm>
            <a:off x="6443663" y="2565400"/>
            <a:ext cx="2233612" cy="1079500"/>
          </a:xfrm>
          <a:prstGeom prst="wedgeRoundRectCallout">
            <a:avLst>
              <a:gd name="adj1" fmla="val -76440"/>
              <a:gd name="adj2" fmla="val 49704"/>
              <a:gd name="adj3" fmla="val 16667"/>
            </a:avLst>
          </a:prstGeom>
          <a:blipFill rotWithShape="1">
            <a:blip r:embed="rId8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电流分配与电导成正比</a:t>
            </a:r>
          </a:p>
        </p:txBody>
      </p:sp>
      <p:grpSp>
        <p:nvGrpSpPr>
          <p:cNvPr id="15372" name="Group 201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373" name="Picture 202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74" name="Text Box 20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0"/>
                                        <p:tgtEl>
                                          <p:spTgt spid="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2000"/>
                                        <p:tgtEl>
                                          <p:spTgt spid="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3" grpId="0"/>
      <p:bldP spid="9389" grpId="0" animBg="1"/>
      <p:bldP spid="9391" grpId="0" animBg="1"/>
      <p:bldP spid="939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4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415" name="Picture 4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16" name="Text Box 4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16387" name="Group 4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413" name="Picture 4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14" name="Text Box 4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sp>
        <p:nvSpPr>
          <p:cNvPr id="10314" name="Text Box 74"/>
          <p:cNvSpPr txBox="1"/>
          <p:nvPr/>
        </p:nvSpPr>
        <p:spPr>
          <a:xfrm>
            <a:off x="539750" y="908050"/>
            <a:ext cx="592138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10315" name="Text Box 75"/>
          <p:cNvSpPr txBox="1"/>
          <p:nvPr/>
        </p:nvSpPr>
        <p:spPr>
          <a:xfrm>
            <a:off x="1331913" y="965200"/>
            <a:ext cx="3024187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两电阻的分流：</a:t>
            </a:r>
          </a:p>
        </p:txBody>
      </p:sp>
      <p:grpSp>
        <p:nvGrpSpPr>
          <p:cNvPr id="10316" name="Group 76"/>
          <p:cNvGrpSpPr/>
          <p:nvPr/>
        </p:nvGrpSpPr>
        <p:grpSpPr>
          <a:xfrm>
            <a:off x="6011863" y="692150"/>
            <a:ext cx="2819400" cy="2232025"/>
            <a:chOff x="3674" y="527"/>
            <a:chExt cx="1776" cy="1406"/>
          </a:xfrm>
        </p:grpSpPr>
        <p:sp>
          <p:nvSpPr>
            <p:cNvPr id="16397" name="Text Box 77"/>
            <p:cNvSpPr txBox="1"/>
            <p:nvPr/>
          </p:nvSpPr>
          <p:spPr>
            <a:xfrm>
              <a:off x="3968" y="1162"/>
              <a:ext cx="545" cy="32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8" name="Text Box 78"/>
            <p:cNvSpPr txBox="1"/>
            <p:nvPr/>
          </p:nvSpPr>
          <p:spPr>
            <a:xfrm>
              <a:off x="4649" y="1162"/>
              <a:ext cx="58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9" name="Line 79"/>
            <p:cNvSpPr/>
            <p:nvPr/>
          </p:nvSpPr>
          <p:spPr>
            <a:xfrm>
              <a:off x="4468" y="935"/>
              <a:ext cx="0" cy="419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400" name="Line 80"/>
            <p:cNvSpPr/>
            <p:nvPr/>
          </p:nvSpPr>
          <p:spPr>
            <a:xfrm rot="10800000">
              <a:off x="5103" y="981"/>
              <a:ext cx="0" cy="40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6401" name="Text Box 81"/>
            <p:cNvSpPr txBox="1"/>
            <p:nvPr/>
          </p:nvSpPr>
          <p:spPr>
            <a:xfrm>
              <a:off x="4468" y="935"/>
              <a:ext cx="347" cy="326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2" name="Text Box 82"/>
            <p:cNvSpPr txBox="1"/>
            <p:nvPr/>
          </p:nvSpPr>
          <p:spPr>
            <a:xfrm>
              <a:off x="5103" y="890"/>
              <a:ext cx="34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3" name="Line 83"/>
            <p:cNvSpPr/>
            <p:nvPr/>
          </p:nvSpPr>
          <p:spPr>
            <a:xfrm>
              <a:off x="3878" y="935"/>
              <a:ext cx="28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404" name="Text Box 84"/>
            <p:cNvSpPr txBox="1"/>
            <p:nvPr/>
          </p:nvSpPr>
          <p:spPr>
            <a:xfrm>
              <a:off x="3924" y="527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6405" name="Oval 85"/>
            <p:cNvSpPr/>
            <p:nvPr/>
          </p:nvSpPr>
          <p:spPr>
            <a:xfrm>
              <a:off x="3720" y="186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6406" name="Oval 86"/>
            <p:cNvSpPr/>
            <p:nvPr/>
          </p:nvSpPr>
          <p:spPr>
            <a:xfrm>
              <a:off x="3674" y="866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6407" name="Line 87"/>
            <p:cNvSpPr/>
            <p:nvPr/>
          </p:nvSpPr>
          <p:spPr>
            <a:xfrm>
              <a:off x="4377" y="890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6408" name="Line 88"/>
            <p:cNvSpPr/>
            <p:nvPr/>
          </p:nvSpPr>
          <p:spPr>
            <a:xfrm flipH="1">
              <a:off x="3788" y="1888"/>
              <a:ext cx="12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9" name="Line 89"/>
            <p:cNvSpPr/>
            <p:nvPr/>
          </p:nvSpPr>
          <p:spPr>
            <a:xfrm>
              <a:off x="3742" y="890"/>
              <a:ext cx="127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0" name="Rectangle 90"/>
            <p:cNvSpPr/>
            <p:nvPr/>
          </p:nvSpPr>
          <p:spPr>
            <a:xfrm>
              <a:off x="4296" y="120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6411" name="Line 91"/>
            <p:cNvSpPr/>
            <p:nvPr/>
          </p:nvSpPr>
          <p:spPr>
            <a:xfrm>
              <a:off x="5012" y="890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12" name="Rectangle 92"/>
            <p:cNvSpPr/>
            <p:nvPr/>
          </p:nvSpPr>
          <p:spPr>
            <a:xfrm>
              <a:off x="4930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aphicFrame>
        <p:nvGraphicFramePr>
          <p:cNvPr id="10333" name="Object 93"/>
          <p:cNvGraphicFramePr>
            <a:graphicFrameLocks/>
          </p:cNvGraphicFramePr>
          <p:nvPr/>
        </p:nvGraphicFramePr>
        <p:xfrm>
          <a:off x="1225550" y="1773238"/>
          <a:ext cx="3994150" cy="1050925"/>
        </p:xfrm>
        <a:graphic>
          <a:graphicData uri="http://schemas.openxmlformats.org/presentationml/2006/ole">
            <p:oleObj spid="_x0000_s30723" r:id="rId4" imgW="1691640" imgH="426600" progId="Equation.3">
              <p:embed/>
            </p:oleObj>
          </a:graphicData>
        </a:graphic>
      </p:graphicFrame>
      <p:graphicFrame>
        <p:nvGraphicFramePr>
          <p:cNvPr id="10335" name="Object 95"/>
          <p:cNvGraphicFramePr>
            <a:graphicFrameLocks/>
          </p:cNvGraphicFramePr>
          <p:nvPr/>
        </p:nvGraphicFramePr>
        <p:xfrm>
          <a:off x="1196975" y="3284538"/>
          <a:ext cx="3824288" cy="1039812"/>
        </p:xfrm>
        <a:graphic>
          <a:graphicData uri="http://schemas.openxmlformats.org/presentationml/2006/ole">
            <p:oleObj spid="_x0000_s30722" r:id="rId5" imgW="1633680" imgH="426600" progId="Equation.3">
              <p:embed/>
            </p:oleObj>
          </a:graphicData>
        </a:graphic>
      </p:graphicFrame>
      <p:graphicFrame>
        <p:nvGraphicFramePr>
          <p:cNvPr id="10336" name="Object 96"/>
          <p:cNvGraphicFramePr>
            <a:graphicFrameLocks/>
          </p:cNvGraphicFramePr>
          <p:nvPr/>
        </p:nvGraphicFramePr>
        <p:xfrm>
          <a:off x="1168400" y="4530725"/>
          <a:ext cx="5564188" cy="1128713"/>
        </p:xfrm>
        <a:graphic>
          <a:graphicData uri="http://schemas.openxmlformats.org/presentationml/2006/ole">
            <p:oleObj spid="_x0000_s30721" r:id="rId6" imgW="2201760" imgH="426600" progId="Equation.3">
              <p:embed/>
            </p:oleObj>
          </a:graphicData>
        </a:graphic>
      </p:graphicFrame>
      <p:grpSp>
        <p:nvGrpSpPr>
          <p:cNvPr id="16394" name="Group 97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395" name="Picture 9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396" name="Text Box 9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0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0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0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4" grpId="0"/>
      <p:bldP spid="103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Text Box 4"/>
          <p:cNvSpPr txBox="1"/>
          <p:nvPr/>
        </p:nvSpPr>
        <p:spPr>
          <a:xfrm>
            <a:off x="611188" y="692150"/>
            <a:ext cx="1439862" cy="547688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 startAt="4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功率</a:t>
            </a:r>
          </a:p>
        </p:txBody>
      </p:sp>
      <p:sp>
        <p:nvSpPr>
          <p:cNvPr id="12293" name="Text Box 5"/>
          <p:cNvSpPr txBox="1"/>
          <p:nvPr/>
        </p:nvSpPr>
        <p:spPr>
          <a:xfrm>
            <a:off x="2484438" y="620713"/>
            <a:ext cx="6659562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，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4" name="Text Box 6"/>
          <p:cNvSpPr txBox="1"/>
          <p:nvPr/>
        </p:nvSpPr>
        <p:spPr>
          <a:xfrm>
            <a:off x="2484438" y="1268413"/>
            <a:ext cx="597693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 :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 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 :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endParaRPr lang="en-US" altLang="zh-CN" baseline="300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5" name="Text Box 7"/>
          <p:cNvSpPr txBox="1"/>
          <p:nvPr/>
        </p:nvSpPr>
        <p:spPr>
          <a:xfrm>
            <a:off x="827088" y="1989138"/>
            <a:ext cx="7777162" cy="2132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总功率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eq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 (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 …+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</a:p>
          <a:p>
            <a:pPr marL="0" lvl="0" indent="0" eaLnBrk="1" hangingPunct="1">
              <a:buNone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</a:p>
          <a:p>
            <a:pPr marL="0" lvl="0" indent="0" eaLnBrk="1" hangingPunct="1">
              <a:buNone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=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+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buNone/>
            </a:pPr>
            <a:endParaRPr lang="en-US" altLang="zh-CN" baseline="300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6" name="Text Box 8"/>
          <p:cNvSpPr txBox="1"/>
          <p:nvPr/>
        </p:nvSpPr>
        <p:spPr>
          <a:xfrm>
            <a:off x="1763713" y="3933825"/>
            <a:ext cx="6911975" cy="2228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AutoNum type="circleNumDbPlain"/>
            </a:pP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电阻并联时，各电阻消耗的功率与电阻大小成反比；</a:t>
            </a:r>
          </a:p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AutoNum type="circleNumDbPlain"/>
            </a:pP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等效电阻消耗的功率等于各并联电阻消耗功率的总和</a:t>
            </a:r>
          </a:p>
        </p:txBody>
      </p:sp>
      <p:grpSp>
        <p:nvGrpSpPr>
          <p:cNvPr id="17415" name="Group 1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425" name="Picture 1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6" name="Text Box 1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17416" name="Group 1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423" name="Picture 17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4" name="Text Box 1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12310" name="Group 22"/>
          <p:cNvGrpSpPr/>
          <p:nvPr/>
        </p:nvGrpSpPr>
        <p:grpSpPr>
          <a:xfrm>
            <a:off x="250825" y="3860800"/>
            <a:ext cx="1644650" cy="850900"/>
            <a:chOff x="385" y="3022"/>
            <a:chExt cx="1036" cy="536"/>
          </a:xfrm>
        </p:grpSpPr>
        <p:pic>
          <p:nvPicPr>
            <p:cNvPr id="17421" name="Picture 23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2" name="Text Box 24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</a:p>
          </p:txBody>
        </p:sp>
      </p:grpSp>
      <p:grpSp>
        <p:nvGrpSpPr>
          <p:cNvPr id="17418" name="Group 2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7419" name="Picture 29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0" name="Text Box 3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nimBg="1"/>
      <p:bldP spid="12293" grpId="0"/>
      <p:bldP spid="12294" grpId="0"/>
      <p:bldP spid="12295" grpId="0"/>
      <p:bldP spid="1229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Text Box 6"/>
          <p:cNvSpPr txBox="1"/>
          <p:nvPr/>
        </p:nvSpPr>
        <p:spPr>
          <a:xfrm>
            <a:off x="611188" y="620713"/>
            <a:ext cx="3311525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电阻的串并联</a:t>
            </a:r>
          </a:p>
        </p:txBody>
      </p:sp>
      <p:sp>
        <p:nvSpPr>
          <p:cNvPr id="14365" name="Text Box 29"/>
          <p:cNvSpPr txBox="1"/>
          <p:nvPr/>
        </p:nvSpPr>
        <p:spPr>
          <a:xfrm>
            <a:off x="539750" y="2276475"/>
            <a:ext cx="936625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14374" name="Text Box 38"/>
          <p:cNvSpPr txBox="1"/>
          <p:nvPr/>
        </p:nvSpPr>
        <p:spPr>
          <a:xfrm>
            <a:off x="468313" y="1125538"/>
            <a:ext cx="83518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ea typeface="楷体_GB2312" pitchFamily="49" charset="-122"/>
              </a:rPr>
              <a:t>       </a:t>
            </a: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电路中有电阻的串联，又有电阻的并联，这种连接方式称电阻的串并联。</a:t>
            </a:r>
          </a:p>
        </p:txBody>
      </p:sp>
      <p:sp>
        <p:nvSpPr>
          <p:cNvPr id="14411" name="Text Box 75"/>
          <p:cNvSpPr txBox="1"/>
          <p:nvPr/>
        </p:nvSpPr>
        <p:spPr>
          <a:xfrm>
            <a:off x="1331913" y="2333625"/>
            <a:ext cx="67691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计算图示电路中各支路的电压和电流</a:t>
            </a:r>
          </a:p>
        </p:txBody>
      </p:sp>
      <p:grpSp>
        <p:nvGrpSpPr>
          <p:cNvPr id="18438" name="Group 15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503" name="Picture 15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504" name="Text Box 15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18439" name="Group 15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501" name="Picture 15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502" name="Text Box 15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14497" name="Group 161"/>
          <p:cNvGrpSpPr/>
          <p:nvPr/>
        </p:nvGrpSpPr>
        <p:grpSpPr>
          <a:xfrm>
            <a:off x="395288" y="2924175"/>
            <a:ext cx="4608512" cy="2232025"/>
            <a:chOff x="1066" y="2115"/>
            <a:chExt cx="2903" cy="1406"/>
          </a:xfrm>
        </p:grpSpPr>
        <p:sp>
          <p:nvSpPr>
            <p:cNvPr id="18472" name="Oval 162"/>
            <p:cNvSpPr/>
            <p:nvPr/>
          </p:nvSpPr>
          <p:spPr>
            <a:xfrm>
              <a:off x="1066" y="284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18473" name="Text Box 163"/>
            <p:cNvSpPr txBox="1"/>
            <p:nvPr/>
          </p:nvSpPr>
          <p:spPr>
            <a:xfrm>
              <a:off x="1247" y="2115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74" name="Rectangle 164"/>
            <p:cNvSpPr/>
            <p:nvPr/>
          </p:nvSpPr>
          <p:spPr>
            <a:xfrm>
              <a:off x="1248" y="2523"/>
              <a:ext cx="817" cy="99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75" name="Rectangle 165"/>
            <p:cNvSpPr/>
            <p:nvPr/>
          </p:nvSpPr>
          <p:spPr>
            <a:xfrm>
              <a:off x="2744" y="3022"/>
              <a:ext cx="499" cy="499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76" name="Line 166"/>
            <p:cNvSpPr/>
            <p:nvPr/>
          </p:nvSpPr>
          <p:spPr>
            <a:xfrm>
              <a:off x="2064" y="2523"/>
              <a:ext cx="9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18477" name="Line 167"/>
            <p:cNvSpPr/>
            <p:nvPr/>
          </p:nvSpPr>
          <p:spPr>
            <a:xfrm>
              <a:off x="2971" y="2523"/>
              <a:ext cx="0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18478" name="Line 168"/>
            <p:cNvSpPr/>
            <p:nvPr/>
          </p:nvSpPr>
          <p:spPr>
            <a:xfrm>
              <a:off x="2064" y="3521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8479" name="Text Box 169"/>
            <p:cNvSpPr txBox="1"/>
            <p:nvPr/>
          </p:nvSpPr>
          <p:spPr>
            <a:xfrm>
              <a:off x="1247" y="2568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+</a:t>
              </a:r>
            </a:p>
          </p:txBody>
        </p:sp>
        <p:sp>
          <p:nvSpPr>
            <p:cNvPr id="18480" name="Text Box 170"/>
            <p:cNvSpPr txBox="1"/>
            <p:nvPr/>
          </p:nvSpPr>
          <p:spPr>
            <a:xfrm>
              <a:off x="1247" y="3158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18481" name="Line 171"/>
            <p:cNvSpPr/>
            <p:nvPr/>
          </p:nvSpPr>
          <p:spPr>
            <a:xfrm>
              <a:off x="1247" y="2478"/>
              <a:ext cx="22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82" name="Line 172"/>
            <p:cNvSpPr/>
            <p:nvPr/>
          </p:nvSpPr>
          <p:spPr>
            <a:xfrm>
              <a:off x="2155" y="2569"/>
              <a:ext cx="0" cy="272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83" name="Line 173"/>
            <p:cNvSpPr/>
            <p:nvPr/>
          </p:nvSpPr>
          <p:spPr>
            <a:xfrm>
              <a:off x="3334" y="2932"/>
              <a:ext cx="0" cy="272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84" name="Line 174"/>
            <p:cNvSpPr/>
            <p:nvPr/>
          </p:nvSpPr>
          <p:spPr>
            <a:xfrm>
              <a:off x="2835" y="3158"/>
              <a:ext cx="0" cy="272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85" name="Line 175"/>
            <p:cNvSpPr/>
            <p:nvPr/>
          </p:nvSpPr>
          <p:spPr>
            <a:xfrm>
              <a:off x="2835" y="2614"/>
              <a:ext cx="0" cy="27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86" name="Text Box 176"/>
            <p:cNvSpPr txBox="1"/>
            <p:nvPr/>
          </p:nvSpPr>
          <p:spPr>
            <a:xfrm>
              <a:off x="2155" y="2523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87" name="Text Box 177"/>
            <p:cNvSpPr txBox="1"/>
            <p:nvPr/>
          </p:nvSpPr>
          <p:spPr>
            <a:xfrm>
              <a:off x="2563" y="2569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488" name="Text Box 178"/>
            <p:cNvSpPr txBox="1"/>
            <p:nvPr/>
          </p:nvSpPr>
          <p:spPr>
            <a:xfrm>
              <a:off x="2835" y="3113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489" name="Text Box 179"/>
            <p:cNvSpPr txBox="1"/>
            <p:nvPr/>
          </p:nvSpPr>
          <p:spPr>
            <a:xfrm>
              <a:off x="3334" y="2841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490" name="Text Box 180"/>
            <p:cNvSpPr txBox="1"/>
            <p:nvPr/>
          </p:nvSpPr>
          <p:spPr>
            <a:xfrm>
              <a:off x="2064" y="2840"/>
              <a:ext cx="81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18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491" name="Text Box 181"/>
            <p:cNvSpPr txBox="1"/>
            <p:nvPr/>
          </p:nvSpPr>
          <p:spPr>
            <a:xfrm>
              <a:off x="2971" y="2569"/>
              <a:ext cx="6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492" name="Text Box 182"/>
            <p:cNvSpPr txBox="1"/>
            <p:nvPr/>
          </p:nvSpPr>
          <p:spPr>
            <a:xfrm>
              <a:off x="1474" y="2205"/>
              <a:ext cx="63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493" name="Text Box 183"/>
            <p:cNvSpPr txBox="1"/>
            <p:nvPr/>
          </p:nvSpPr>
          <p:spPr>
            <a:xfrm>
              <a:off x="2291" y="3158"/>
              <a:ext cx="5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494" name="Text Box 184"/>
            <p:cNvSpPr txBox="1"/>
            <p:nvPr/>
          </p:nvSpPr>
          <p:spPr>
            <a:xfrm>
              <a:off x="3243" y="3158"/>
              <a:ext cx="7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12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495" name="Text Box 185"/>
            <p:cNvSpPr txBox="1"/>
            <p:nvPr/>
          </p:nvSpPr>
          <p:spPr>
            <a:xfrm>
              <a:off x="1383" y="2840"/>
              <a:ext cx="7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165V</a:t>
              </a:r>
            </a:p>
          </p:txBody>
        </p:sp>
        <p:sp>
          <p:nvSpPr>
            <p:cNvPr id="18496" name="Rectangle 186"/>
            <p:cNvSpPr/>
            <p:nvPr/>
          </p:nvSpPr>
          <p:spPr>
            <a:xfrm>
              <a:off x="1520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97" name="Rectangle 187"/>
            <p:cNvSpPr/>
            <p:nvPr/>
          </p:nvSpPr>
          <p:spPr>
            <a:xfrm>
              <a:off x="2890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98" name="Rectangle 188"/>
            <p:cNvSpPr/>
            <p:nvPr/>
          </p:nvSpPr>
          <p:spPr>
            <a:xfrm>
              <a:off x="3162" y="311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99" name="Rectangle 189"/>
            <p:cNvSpPr/>
            <p:nvPr/>
          </p:nvSpPr>
          <p:spPr>
            <a:xfrm>
              <a:off x="2663" y="311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500" name="Rectangle 190"/>
            <p:cNvSpPr/>
            <p:nvPr/>
          </p:nvSpPr>
          <p:spPr>
            <a:xfrm>
              <a:off x="1982" y="28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4527" name="Group 191"/>
          <p:cNvGrpSpPr/>
          <p:nvPr/>
        </p:nvGrpSpPr>
        <p:grpSpPr>
          <a:xfrm>
            <a:off x="5003800" y="2924175"/>
            <a:ext cx="4105275" cy="2233613"/>
            <a:chOff x="2562" y="391"/>
            <a:chExt cx="2586" cy="1406"/>
          </a:xfrm>
        </p:grpSpPr>
        <p:sp>
          <p:nvSpPr>
            <p:cNvPr id="18452" name="Oval 192"/>
            <p:cNvSpPr/>
            <p:nvPr/>
          </p:nvSpPr>
          <p:spPr>
            <a:xfrm>
              <a:off x="2562" y="111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18453" name="Text Box 193"/>
            <p:cNvSpPr txBox="1"/>
            <p:nvPr/>
          </p:nvSpPr>
          <p:spPr>
            <a:xfrm>
              <a:off x="2743" y="391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54" name="Rectangle 194"/>
            <p:cNvSpPr/>
            <p:nvPr/>
          </p:nvSpPr>
          <p:spPr>
            <a:xfrm>
              <a:off x="2744" y="799"/>
              <a:ext cx="817" cy="99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55" name="Line 195"/>
            <p:cNvSpPr/>
            <p:nvPr/>
          </p:nvSpPr>
          <p:spPr>
            <a:xfrm>
              <a:off x="3560" y="799"/>
              <a:ext cx="9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18456" name="Line 196"/>
            <p:cNvSpPr/>
            <p:nvPr/>
          </p:nvSpPr>
          <p:spPr>
            <a:xfrm>
              <a:off x="4467" y="799"/>
              <a:ext cx="1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7" name="Line 197"/>
            <p:cNvSpPr/>
            <p:nvPr/>
          </p:nvSpPr>
          <p:spPr>
            <a:xfrm>
              <a:off x="3560" y="1797"/>
              <a:ext cx="9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18458" name="Text Box 198"/>
            <p:cNvSpPr txBox="1"/>
            <p:nvPr/>
          </p:nvSpPr>
          <p:spPr>
            <a:xfrm>
              <a:off x="2743" y="844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+</a:t>
              </a:r>
            </a:p>
          </p:txBody>
        </p:sp>
        <p:sp>
          <p:nvSpPr>
            <p:cNvPr id="18459" name="Text Box 199"/>
            <p:cNvSpPr txBox="1"/>
            <p:nvPr/>
          </p:nvSpPr>
          <p:spPr>
            <a:xfrm>
              <a:off x="2743" y="1434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18460" name="Line 200"/>
            <p:cNvSpPr/>
            <p:nvPr/>
          </p:nvSpPr>
          <p:spPr>
            <a:xfrm>
              <a:off x="2743" y="754"/>
              <a:ext cx="22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61" name="Line 201"/>
            <p:cNvSpPr/>
            <p:nvPr/>
          </p:nvSpPr>
          <p:spPr>
            <a:xfrm>
              <a:off x="3651" y="845"/>
              <a:ext cx="0" cy="272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62" name="Line 202"/>
            <p:cNvSpPr/>
            <p:nvPr/>
          </p:nvSpPr>
          <p:spPr>
            <a:xfrm>
              <a:off x="4331" y="890"/>
              <a:ext cx="0" cy="272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63" name="Text Box 203"/>
            <p:cNvSpPr txBox="1"/>
            <p:nvPr/>
          </p:nvSpPr>
          <p:spPr>
            <a:xfrm>
              <a:off x="3651" y="799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64" name="Text Box 204"/>
            <p:cNvSpPr txBox="1"/>
            <p:nvPr/>
          </p:nvSpPr>
          <p:spPr>
            <a:xfrm>
              <a:off x="4059" y="845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465" name="Text Box 205"/>
            <p:cNvSpPr txBox="1"/>
            <p:nvPr/>
          </p:nvSpPr>
          <p:spPr>
            <a:xfrm>
              <a:off x="3560" y="1116"/>
              <a:ext cx="81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18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466" name="Text Box 206"/>
            <p:cNvSpPr txBox="1"/>
            <p:nvPr/>
          </p:nvSpPr>
          <p:spPr>
            <a:xfrm>
              <a:off x="4468" y="1162"/>
              <a:ext cx="6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9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467" name="Text Box 207"/>
            <p:cNvSpPr txBox="1"/>
            <p:nvPr/>
          </p:nvSpPr>
          <p:spPr>
            <a:xfrm>
              <a:off x="2970" y="481"/>
              <a:ext cx="63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468" name="Text Box 208"/>
            <p:cNvSpPr txBox="1"/>
            <p:nvPr/>
          </p:nvSpPr>
          <p:spPr>
            <a:xfrm>
              <a:off x="2879" y="1116"/>
              <a:ext cx="7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165V</a:t>
              </a:r>
            </a:p>
          </p:txBody>
        </p:sp>
        <p:sp>
          <p:nvSpPr>
            <p:cNvPr id="18469" name="Rectangle 209"/>
            <p:cNvSpPr/>
            <p:nvPr/>
          </p:nvSpPr>
          <p:spPr>
            <a:xfrm>
              <a:off x="3016" y="75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70" name="Rectangle 210"/>
            <p:cNvSpPr/>
            <p:nvPr/>
          </p:nvSpPr>
          <p:spPr>
            <a:xfrm>
              <a:off x="4377" y="116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8471" name="Rectangle 211"/>
            <p:cNvSpPr/>
            <p:nvPr/>
          </p:nvSpPr>
          <p:spPr>
            <a:xfrm>
              <a:off x="3478" y="111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4552" name="Group 216"/>
          <p:cNvGrpSpPr/>
          <p:nvPr/>
        </p:nvGrpSpPr>
        <p:grpSpPr>
          <a:xfrm>
            <a:off x="6588125" y="2276475"/>
            <a:ext cx="2016125" cy="1800225"/>
            <a:chOff x="4014" y="1480"/>
            <a:chExt cx="1270" cy="1134"/>
          </a:xfrm>
        </p:grpSpPr>
        <p:sp>
          <p:nvSpPr>
            <p:cNvPr id="18449" name="Line 213"/>
            <p:cNvSpPr/>
            <p:nvPr/>
          </p:nvSpPr>
          <p:spPr>
            <a:xfrm flipV="1">
              <a:off x="4921" y="1842"/>
              <a:ext cx="363" cy="772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0" name="Line 214"/>
            <p:cNvSpPr/>
            <p:nvPr/>
          </p:nvSpPr>
          <p:spPr>
            <a:xfrm flipV="1">
              <a:off x="4014" y="1797"/>
              <a:ext cx="681" cy="817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1" name="Text Box 215"/>
            <p:cNvSpPr txBox="1"/>
            <p:nvPr/>
          </p:nvSpPr>
          <p:spPr>
            <a:xfrm>
              <a:off x="4694" y="1480"/>
              <a:ext cx="589" cy="345"/>
            </a:xfrm>
            <a:prstGeom prst="rect">
              <a:avLst/>
            </a:prstGeom>
            <a:noFill/>
            <a:ln w="28575" cap="flat" cmpd="sng">
              <a:solidFill>
                <a:srgbClr val="FF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 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</p:grpSp>
      <p:sp>
        <p:nvSpPr>
          <p:cNvPr id="14553" name="AutoShape 217"/>
          <p:cNvSpPr/>
          <p:nvPr/>
        </p:nvSpPr>
        <p:spPr>
          <a:xfrm>
            <a:off x="4211638" y="3717925"/>
            <a:ext cx="792162" cy="215900"/>
          </a:xfrm>
          <a:prstGeom prst="rightArrow">
            <a:avLst>
              <a:gd name="adj1" fmla="val 50000"/>
              <a:gd name="adj2" fmla="val 91727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14554" name="Object 218"/>
          <p:cNvGraphicFramePr>
            <a:graphicFrameLocks/>
          </p:cNvGraphicFramePr>
          <p:nvPr/>
        </p:nvGraphicFramePr>
        <p:xfrm>
          <a:off x="755650" y="5445125"/>
          <a:ext cx="3024188" cy="563563"/>
        </p:xfrm>
        <a:graphic>
          <a:graphicData uri="http://schemas.openxmlformats.org/presentationml/2006/ole">
            <p:oleObj spid="_x0000_s31746" r:id="rId4" imgW="1100880" imgH="196200" progId="Equation.3">
              <p:embed/>
            </p:oleObj>
          </a:graphicData>
        </a:graphic>
      </p:graphicFrame>
      <p:graphicFrame>
        <p:nvGraphicFramePr>
          <p:cNvPr id="14555" name="Object 219"/>
          <p:cNvGraphicFramePr>
            <a:graphicFrameLocks/>
          </p:cNvGraphicFramePr>
          <p:nvPr/>
        </p:nvGraphicFramePr>
        <p:xfrm>
          <a:off x="4427538" y="5445125"/>
          <a:ext cx="4032250" cy="614363"/>
        </p:xfrm>
        <a:graphic>
          <a:graphicData uri="http://schemas.openxmlformats.org/presentationml/2006/ole">
            <p:oleObj spid="_x0000_s31745" r:id="rId5" imgW="1425240" imgH="196200" progId="Equation.3">
              <p:embed/>
            </p:oleObj>
          </a:graphicData>
        </a:graphic>
      </p:graphicFrame>
      <p:grpSp>
        <p:nvGrpSpPr>
          <p:cNvPr id="18446" name="Group 22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447" name="Picture 22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8" name="Text Box 22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4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14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0"/>
                                        <p:tgtEl>
                                          <p:spTgt spid="1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0"/>
                                        <p:tgtEl>
                                          <p:spTgt spid="1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/>
      <p:bldP spid="14365" grpId="0"/>
      <p:bldP spid="14374" grpId="0"/>
      <p:bldP spid="14411" grpId="0"/>
      <p:bldP spid="1455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5"/>
          <p:cNvSpPr/>
          <p:nvPr/>
        </p:nvSpPr>
        <p:spPr>
          <a:xfrm>
            <a:off x="2124075" y="5661025"/>
            <a:ext cx="719138" cy="0"/>
          </a:xfrm>
          <a:prstGeom prst="line">
            <a:avLst/>
          </a:prstGeom>
          <a:ln w="9525">
            <a:noFill/>
          </a:ln>
        </p:spPr>
      </p:sp>
      <p:sp>
        <p:nvSpPr>
          <p:cNvPr id="19459" name="Line 63"/>
          <p:cNvSpPr/>
          <p:nvPr/>
        </p:nvSpPr>
        <p:spPr>
          <a:xfrm>
            <a:off x="7380288" y="4365625"/>
            <a:ext cx="576262" cy="863600"/>
          </a:xfrm>
          <a:prstGeom prst="line">
            <a:avLst/>
          </a:prstGeom>
          <a:ln w="9525">
            <a:noFill/>
          </a:ln>
        </p:spPr>
      </p:sp>
      <p:graphicFrame>
        <p:nvGraphicFramePr>
          <p:cNvPr id="104518" name="Object 70"/>
          <p:cNvGraphicFramePr>
            <a:graphicFrameLocks/>
          </p:cNvGraphicFramePr>
          <p:nvPr/>
        </p:nvGraphicFramePr>
        <p:xfrm>
          <a:off x="1042988" y="3429000"/>
          <a:ext cx="2695575" cy="588963"/>
        </p:xfrm>
        <a:graphic>
          <a:graphicData uri="http://schemas.openxmlformats.org/presentationml/2006/ole">
            <p:oleObj spid="_x0000_s33798" r:id="rId3" imgW="984960" imgH="196200" progId="Equation.3">
              <p:embed/>
            </p:oleObj>
          </a:graphicData>
        </a:graphic>
      </p:graphicFrame>
      <p:graphicFrame>
        <p:nvGraphicFramePr>
          <p:cNvPr id="104519" name="Object 71"/>
          <p:cNvGraphicFramePr>
            <a:graphicFrameLocks/>
          </p:cNvGraphicFramePr>
          <p:nvPr/>
        </p:nvGraphicFramePr>
        <p:xfrm>
          <a:off x="1042988" y="4292600"/>
          <a:ext cx="2747962" cy="563563"/>
        </p:xfrm>
        <a:graphic>
          <a:graphicData uri="http://schemas.openxmlformats.org/presentationml/2006/ole">
            <p:oleObj spid="_x0000_s33797" r:id="rId4" imgW="1054440" imgH="196200" progId="Equation.3">
              <p:embed/>
            </p:oleObj>
          </a:graphicData>
        </a:graphic>
      </p:graphicFrame>
      <p:graphicFrame>
        <p:nvGraphicFramePr>
          <p:cNvPr id="104520" name="Object 72"/>
          <p:cNvGraphicFramePr>
            <a:graphicFrameLocks/>
          </p:cNvGraphicFramePr>
          <p:nvPr/>
        </p:nvGraphicFramePr>
        <p:xfrm>
          <a:off x="4356100" y="3429000"/>
          <a:ext cx="3646488" cy="550863"/>
        </p:xfrm>
        <a:graphic>
          <a:graphicData uri="http://schemas.openxmlformats.org/presentationml/2006/ole">
            <p:oleObj spid="_x0000_s33796" r:id="rId5" imgW="1436760" imgH="196200" progId="Equation.3">
              <p:embed/>
            </p:oleObj>
          </a:graphicData>
        </a:graphic>
      </p:graphicFrame>
      <p:graphicFrame>
        <p:nvGraphicFramePr>
          <p:cNvPr id="104521" name="Object 73"/>
          <p:cNvGraphicFramePr>
            <a:graphicFrameLocks/>
          </p:cNvGraphicFramePr>
          <p:nvPr/>
        </p:nvGraphicFramePr>
        <p:xfrm>
          <a:off x="4427538" y="4244975"/>
          <a:ext cx="2343150" cy="552450"/>
        </p:xfrm>
        <a:graphic>
          <a:graphicData uri="http://schemas.openxmlformats.org/presentationml/2006/ole">
            <p:oleObj spid="_x0000_s33795" r:id="rId6" imgW="915480" imgH="196200" progId="Equation.3">
              <p:embed/>
            </p:oleObj>
          </a:graphicData>
        </a:graphic>
      </p:graphicFrame>
      <p:graphicFrame>
        <p:nvGraphicFramePr>
          <p:cNvPr id="104522" name="Object 74"/>
          <p:cNvGraphicFramePr>
            <a:graphicFrameLocks/>
          </p:cNvGraphicFramePr>
          <p:nvPr/>
        </p:nvGraphicFramePr>
        <p:xfrm>
          <a:off x="1042988" y="5013325"/>
          <a:ext cx="2746375" cy="561975"/>
        </p:xfrm>
        <a:graphic>
          <a:graphicData uri="http://schemas.openxmlformats.org/presentationml/2006/ole">
            <p:oleObj spid="_x0000_s33794" r:id="rId7" imgW="1054440" imgH="196200" progId="Equation.3">
              <p:embed/>
            </p:oleObj>
          </a:graphicData>
        </a:graphic>
      </p:graphicFrame>
      <p:graphicFrame>
        <p:nvGraphicFramePr>
          <p:cNvPr id="104523" name="Object 75"/>
          <p:cNvGraphicFramePr>
            <a:graphicFrameLocks/>
          </p:cNvGraphicFramePr>
          <p:nvPr/>
        </p:nvGraphicFramePr>
        <p:xfrm>
          <a:off x="4427538" y="4995863"/>
          <a:ext cx="2994025" cy="520700"/>
        </p:xfrm>
        <a:graphic>
          <a:graphicData uri="http://schemas.openxmlformats.org/presentationml/2006/ole">
            <p:oleObj spid="_x0000_s33793" r:id="rId8" imgW="1239840" imgH="196200" progId="Equation.3">
              <p:embed/>
            </p:oleObj>
          </a:graphicData>
        </a:graphic>
      </p:graphicFrame>
      <p:grpSp>
        <p:nvGrpSpPr>
          <p:cNvPr id="19466" name="Group 7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9503" name="Picture 77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504" name="Text Box 7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19467" name="Group 7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9501" name="Picture 80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502" name="Text Box 8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104590" name="Group 142"/>
          <p:cNvGrpSpPr/>
          <p:nvPr/>
        </p:nvGrpSpPr>
        <p:grpSpPr>
          <a:xfrm>
            <a:off x="755650" y="692150"/>
            <a:ext cx="4608513" cy="2232025"/>
            <a:chOff x="1066" y="2115"/>
            <a:chExt cx="2903" cy="1406"/>
          </a:xfrm>
        </p:grpSpPr>
        <p:sp>
          <p:nvSpPr>
            <p:cNvPr id="19472" name="Oval 143"/>
            <p:cNvSpPr/>
            <p:nvPr/>
          </p:nvSpPr>
          <p:spPr>
            <a:xfrm>
              <a:off x="1066" y="284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19473" name="Text Box 144"/>
            <p:cNvSpPr txBox="1"/>
            <p:nvPr/>
          </p:nvSpPr>
          <p:spPr>
            <a:xfrm>
              <a:off x="1247" y="2115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474" name="Rectangle 145"/>
            <p:cNvSpPr/>
            <p:nvPr/>
          </p:nvSpPr>
          <p:spPr>
            <a:xfrm>
              <a:off x="1248" y="2523"/>
              <a:ext cx="817" cy="99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75" name="Rectangle 146"/>
            <p:cNvSpPr/>
            <p:nvPr/>
          </p:nvSpPr>
          <p:spPr>
            <a:xfrm>
              <a:off x="2744" y="3022"/>
              <a:ext cx="499" cy="499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76" name="Line 147"/>
            <p:cNvSpPr/>
            <p:nvPr/>
          </p:nvSpPr>
          <p:spPr>
            <a:xfrm>
              <a:off x="2064" y="2523"/>
              <a:ext cx="9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19477" name="Line 148"/>
            <p:cNvSpPr/>
            <p:nvPr/>
          </p:nvSpPr>
          <p:spPr>
            <a:xfrm>
              <a:off x="2971" y="2523"/>
              <a:ext cx="0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19478" name="Line 149"/>
            <p:cNvSpPr/>
            <p:nvPr/>
          </p:nvSpPr>
          <p:spPr>
            <a:xfrm>
              <a:off x="2064" y="3521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9479" name="Text Box 150"/>
            <p:cNvSpPr txBox="1"/>
            <p:nvPr/>
          </p:nvSpPr>
          <p:spPr>
            <a:xfrm>
              <a:off x="1247" y="2568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+</a:t>
              </a:r>
            </a:p>
          </p:txBody>
        </p:sp>
        <p:sp>
          <p:nvSpPr>
            <p:cNvPr id="19480" name="Text Box 151"/>
            <p:cNvSpPr txBox="1"/>
            <p:nvPr/>
          </p:nvSpPr>
          <p:spPr>
            <a:xfrm>
              <a:off x="1247" y="3158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19481" name="Line 152"/>
            <p:cNvSpPr/>
            <p:nvPr/>
          </p:nvSpPr>
          <p:spPr>
            <a:xfrm>
              <a:off x="1247" y="2478"/>
              <a:ext cx="22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82" name="Line 153"/>
            <p:cNvSpPr/>
            <p:nvPr/>
          </p:nvSpPr>
          <p:spPr>
            <a:xfrm>
              <a:off x="2155" y="2569"/>
              <a:ext cx="0" cy="272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83" name="Line 154"/>
            <p:cNvSpPr/>
            <p:nvPr/>
          </p:nvSpPr>
          <p:spPr>
            <a:xfrm>
              <a:off x="3334" y="2932"/>
              <a:ext cx="0" cy="272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84" name="Line 155"/>
            <p:cNvSpPr/>
            <p:nvPr/>
          </p:nvSpPr>
          <p:spPr>
            <a:xfrm>
              <a:off x="2835" y="3158"/>
              <a:ext cx="0" cy="272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85" name="Line 156"/>
            <p:cNvSpPr/>
            <p:nvPr/>
          </p:nvSpPr>
          <p:spPr>
            <a:xfrm>
              <a:off x="2835" y="2614"/>
              <a:ext cx="0" cy="272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86" name="Text Box 157"/>
            <p:cNvSpPr txBox="1"/>
            <p:nvPr/>
          </p:nvSpPr>
          <p:spPr>
            <a:xfrm>
              <a:off x="2155" y="2523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9487" name="Text Box 158"/>
            <p:cNvSpPr txBox="1"/>
            <p:nvPr/>
          </p:nvSpPr>
          <p:spPr>
            <a:xfrm>
              <a:off x="2563" y="2569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9488" name="Text Box 159"/>
            <p:cNvSpPr txBox="1"/>
            <p:nvPr/>
          </p:nvSpPr>
          <p:spPr>
            <a:xfrm>
              <a:off x="2835" y="3113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9489" name="Text Box 160"/>
            <p:cNvSpPr txBox="1"/>
            <p:nvPr/>
          </p:nvSpPr>
          <p:spPr>
            <a:xfrm>
              <a:off x="3334" y="2841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9490" name="Text Box 161"/>
            <p:cNvSpPr txBox="1"/>
            <p:nvPr/>
          </p:nvSpPr>
          <p:spPr>
            <a:xfrm>
              <a:off x="2064" y="2840"/>
              <a:ext cx="81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18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9491" name="Text Box 162"/>
            <p:cNvSpPr txBox="1"/>
            <p:nvPr/>
          </p:nvSpPr>
          <p:spPr>
            <a:xfrm>
              <a:off x="2971" y="2569"/>
              <a:ext cx="6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9492" name="Text Box 163"/>
            <p:cNvSpPr txBox="1"/>
            <p:nvPr/>
          </p:nvSpPr>
          <p:spPr>
            <a:xfrm>
              <a:off x="1474" y="2205"/>
              <a:ext cx="63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9493" name="Text Box 164"/>
            <p:cNvSpPr txBox="1"/>
            <p:nvPr/>
          </p:nvSpPr>
          <p:spPr>
            <a:xfrm>
              <a:off x="2291" y="3158"/>
              <a:ext cx="5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9494" name="Text Box 165"/>
            <p:cNvSpPr txBox="1"/>
            <p:nvPr/>
          </p:nvSpPr>
          <p:spPr>
            <a:xfrm>
              <a:off x="3243" y="3158"/>
              <a:ext cx="7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12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9495" name="Text Box 166"/>
            <p:cNvSpPr txBox="1"/>
            <p:nvPr/>
          </p:nvSpPr>
          <p:spPr>
            <a:xfrm>
              <a:off x="1383" y="2840"/>
              <a:ext cx="7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165V</a:t>
              </a:r>
            </a:p>
          </p:txBody>
        </p:sp>
        <p:sp>
          <p:nvSpPr>
            <p:cNvPr id="19496" name="Rectangle 167"/>
            <p:cNvSpPr/>
            <p:nvPr/>
          </p:nvSpPr>
          <p:spPr>
            <a:xfrm>
              <a:off x="1520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97" name="Rectangle 168"/>
            <p:cNvSpPr/>
            <p:nvPr/>
          </p:nvSpPr>
          <p:spPr>
            <a:xfrm>
              <a:off x="2890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98" name="Rectangle 169"/>
            <p:cNvSpPr/>
            <p:nvPr/>
          </p:nvSpPr>
          <p:spPr>
            <a:xfrm>
              <a:off x="3162" y="311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99" name="Rectangle 170"/>
            <p:cNvSpPr/>
            <p:nvPr/>
          </p:nvSpPr>
          <p:spPr>
            <a:xfrm>
              <a:off x="2663" y="311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500" name="Rectangle 171"/>
            <p:cNvSpPr/>
            <p:nvPr/>
          </p:nvSpPr>
          <p:spPr>
            <a:xfrm>
              <a:off x="1982" y="28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9469" name="Group 175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9470" name="Picture 176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71" name="Text Box 17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Text Box 5"/>
          <p:cNvSpPr txBox="1"/>
          <p:nvPr/>
        </p:nvSpPr>
        <p:spPr>
          <a:xfrm>
            <a:off x="539750" y="692150"/>
            <a:ext cx="1008063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1510" name="Text Box 6"/>
          <p:cNvSpPr txBox="1"/>
          <p:nvPr/>
        </p:nvSpPr>
        <p:spPr>
          <a:xfrm>
            <a:off x="468313" y="2852738"/>
            <a:ext cx="595312" cy="519112"/>
          </a:xfrm>
          <a:prstGeom prst="rect">
            <a:avLst/>
          </a:prstGeom>
          <a:solidFill>
            <a:srgbClr val="990033"/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21511" name="Text Box 7"/>
          <p:cNvSpPr txBox="1"/>
          <p:nvPr/>
        </p:nvSpPr>
        <p:spPr>
          <a:xfrm>
            <a:off x="1331913" y="2781300"/>
            <a:ext cx="30734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①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用分流方法做</a:t>
            </a:r>
          </a:p>
        </p:txBody>
      </p:sp>
      <p:sp>
        <p:nvSpPr>
          <p:cNvPr id="21512" name="Text Box 8"/>
          <p:cNvSpPr txBox="1"/>
          <p:nvPr/>
        </p:nvSpPr>
        <p:spPr>
          <a:xfrm>
            <a:off x="1258888" y="4797425"/>
            <a:ext cx="3024187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②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用分压方法做</a:t>
            </a:r>
          </a:p>
        </p:txBody>
      </p:sp>
      <p:graphicFrame>
        <p:nvGraphicFramePr>
          <p:cNvPr id="21513" name="Object 9"/>
          <p:cNvGraphicFramePr>
            <a:graphicFrameLocks/>
          </p:cNvGraphicFramePr>
          <p:nvPr/>
        </p:nvGraphicFramePr>
        <p:xfrm>
          <a:off x="1403350" y="3284538"/>
          <a:ext cx="6624638" cy="798512"/>
        </p:xfrm>
        <a:graphic>
          <a:graphicData uri="http://schemas.openxmlformats.org/presentationml/2006/ole">
            <p:oleObj spid="_x0000_s34821" r:id="rId3" imgW="2688480" imgH="311400" progId="Equation.3">
              <p:embed/>
            </p:oleObj>
          </a:graphicData>
        </a:graphic>
      </p:graphicFrame>
      <p:graphicFrame>
        <p:nvGraphicFramePr>
          <p:cNvPr id="21514" name="Object 10"/>
          <p:cNvGraphicFramePr>
            <a:graphicFrameLocks/>
          </p:cNvGraphicFramePr>
          <p:nvPr/>
        </p:nvGraphicFramePr>
        <p:xfrm>
          <a:off x="1258888" y="5300663"/>
          <a:ext cx="3600450" cy="1012825"/>
        </p:xfrm>
        <a:graphic>
          <a:graphicData uri="http://schemas.openxmlformats.org/presentationml/2006/ole">
            <p:oleObj spid="_x0000_s34820" r:id="rId4" imgW="1332720" imgH="357480" progId="Equation.3">
              <p:embed/>
            </p:oleObj>
          </a:graphicData>
        </a:graphic>
      </p:graphicFrame>
      <p:graphicFrame>
        <p:nvGraphicFramePr>
          <p:cNvPr id="21515" name="Object 11"/>
          <p:cNvGraphicFramePr>
            <a:graphicFrameLocks/>
          </p:cNvGraphicFramePr>
          <p:nvPr/>
        </p:nvGraphicFramePr>
        <p:xfrm>
          <a:off x="5651500" y="4149725"/>
          <a:ext cx="1152525" cy="811213"/>
        </p:xfrm>
        <a:graphic>
          <a:graphicData uri="http://schemas.openxmlformats.org/presentationml/2006/ole">
            <p:oleObj spid="_x0000_s34819" r:id="rId5" imgW="451800" imgH="311400" progId="Equation.3">
              <p:embed/>
            </p:oleObj>
          </a:graphicData>
        </a:graphic>
      </p:graphicFrame>
      <p:graphicFrame>
        <p:nvGraphicFramePr>
          <p:cNvPr id="21516" name="Object 12"/>
          <p:cNvGraphicFramePr>
            <a:graphicFrameLocks/>
          </p:cNvGraphicFramePr>
          <p:nvPr/>
        </p:nvGraphicFramePr>
        <p:xfrm>
          <a:off x="1331913" y="4221163"/>
          <a:ext cx="3252787" cy="557212"/>
        </p:xfrm>
        <a:graphic>
          <a:graphicData uri="http://schemas.openxmlformats.org/presentationml/2006/ole">
            <p:oleObj spid="_x0000_s34818" r:id="rId6" imgW="1251360" imgH="196200" progId="Equation.3">
              <p:embed/>
            </p:oleObj>
          </a:graphicData>
        </a:graphic>
      </p:graphicFrame>
      <p:graphicFrame>
        <p:nvGraphicFramePr>
          <p:cNvPr id="21517" name="Object 13"/>
          <p:cNvGraphicFramePr>
            <a:graphicFrameLocks/>
          </p:cNvGraphicFramePr>
          <p:nvPr/>
        </p:nvGraphicFramePr>
        <p:xfrm>
          <a:off x="5580063" y="5300663"/>
          <a:ext cx="1800225" cy="928687"/>
        </p:xfrm>
        <a:graphic>
          <a:graphicData uri="http://schemas.openxmlformats.org/presentationml/2006/ole">
            <p:oleObj spid="_x0000_s34817" r:id="rId7" imgW="625680" imgH="311400" progId="Equation.3">
              <p:embed/>
            </p:oleObj>
          </a:graphicData>
        </a:graphic>
      </p:graphicFrame>
      <p:sp>
        <p:nvSpPr>
          <p:cNvPr id="21518" name="Text Box 14"/>
          <p:cNvSpPr txBox="1"/>
          <p:nvPr/>
        </p:nvSpPr>
        <p:spPr>
          <a:xfrm>
            <a:off x="6516688" y="692150"/>
            <a:ext cx="23034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  <a:r>
              <a:rPr lang="zh-CN" altLang="en-US" sz="2800" dirty="0">
                <a:solidFill>
                  <a:srgbClr val="FFFF00"/>
                </a:solidFill>
                <a:latin typeface="仿宋_GB2312" pitchFamily="49" charset="-122"/>
                <a:ea typeface="仿宋_GB2312" pitchFamily="49" charset="-122"/>
              </a:rPr>
              <a:t>：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en-US" altLang="zh-CN" sz="280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,I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4</a:t>
            </a:r>
            <a:r>
              <a:rPr lang="en-US" altLang="zh-CN" sz="280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,U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4</a:t>
            </a:r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20492" name="Group 7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0540" name="Picture 72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41" name="Text Box 7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20493" name="Group 7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0538" name="Picture 75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39" name="Text Box 7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21584" name="Group 80"/>
          <p:cNvGrpSpPr/>
          <p:nvPr/>
        </p:nvGrpSpPr>
        <p:grpSpPr>
          <a:xfrm>
            <a:off x="827088" y="404813"/>
            <a:ext cx="6054725" cy="2247900"/>
            <a:chOff x="2064" y="200"/>
            <a:chExt cx="3814" cy="1416"/>
          </a:xfrm>
        </p:grpSpPr>
        <p:sp>
          <p:nvSpPr>
            <p:cNvPr id="20498" name="Oval 81"/>
            <p:cNvSpPr/>
            <p:nvPr/>
          </p:nvSpPr>
          <p:spPr>
            <a:xfrm>
              <a:off x="2562" y="89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20499" name="Text Box 82"/>
            <p:cNvSpPr txBox="1"/>
            <p:nvPr/>
          </p:nvSpPr>
          <p:spPr>
            <a:xfrm>
              <a:off x="2472" y="618"/>
              <a:ext cx="24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20500" name="Text Box 83"/>
            <p:cNvSpPr txBox="1"/>
            <p:nvPr/>
          </p:nvSpPr>
          <p:spPr>
            <a:xfrm>
              <a:off x="2472" y="1117"/>
              <a:ext cx="2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20501" name="Line 84"/>
            <p:cNvSpPr/>
            <p:nvPr/>
          </p:nvSpPr>
          <p:spPr>
            <a:xfrm>
              <a:off x="3424" y="572"/>
              <a:ext cx="0" cy="10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0502" name="Line 85"/>
            <p:cNvSpPr/>
            <p:nvPr/>
          </p:nvSpPr>
          <p:spPr>
            <a:xfrm>
              <a:off x="4150" y="572"/>
              <a:ext cx="0" cy="10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0503" name="Line 86"/>
            <p:cNvSpPr/>
            <p:nvPr/>
          </p:nvSpPr>
          <p:spPr>
            <a:xfrm>
              <a:off x="4830" y="572"/>
              <a:ext cx="0" cy="10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0504" name="Text Box 87"/>
            <p:cNvSpPr txBox="1"/>
            <p:nvPr/>
          </p:nvSpPr>
          <p:spPr>
            <a:xfrm>
              <a:off x="5057" y="935"/>
              <a:ext cx="38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0505" name="Text Box 88"/>
            <p:cNvSpPr txBox="1"/>
            <p:nvPr/>
          </p:nvSpPr>
          <p:spPr>
            <a:xfrm>
              <a:off x="4422" y="935"/>
              <a:ext cx="43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0506" name="Text Box 89"/>
            <p:cNvSpPr txBox="1"/>
            <p:nvPr/>
          </p:nvSpPr>
          <p:spPr>
            <a:xfrm>
              <a:off x="3742" y="935"/>
              <a:ext cx="38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0507" name="Text Box 90"/>
            <p:cNvSpPr txBox="1"/>
            <p:nvPr/>
          </p:nvSpPr>
          <p:spPr>
            <a:xfrm>
              <a:off x="3016" y="935"/>
              <a:ext cx="38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0508" name="Text Box 91"/>
            <p:cNvSpPr txBox="1"/>
            <p:nvPr/>
          </p:nvSpPr>
          <p:spPr>
            <a:xfrm>
              <a:off x="3696" y="200"/>
              <a:ext cx="24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0509" name="Text Box 92"/>
            <p:cNvSpPr txBox="1"/>
            <p:nvPr/>
          </p:nvSpPr>
          <p:spPr>
            <a:xfrm>
              <a:off x="4422" y="210"/>
              <a:ext cx="19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0510" name="Line 93"/>
            <p:cNvSpPr/>
            <p:nvPr/>
          </p:nvSpPr>
          <p:spPr>
            <a:xfrm>
              <a:off x="2880" y="663"/>
              <a:ext cx="336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1" name="Line 94"/>
            <p:cNvSpPr/>
            <p:nvPr/>
          </p:nvSpPr>
          <p:spPr>
            <a:xfrm>
              <a:off x="3470" y="663"/>
              <a:ext cx="27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2" name="Line 95"/>
            <p:cNvSpPr/>
            <p:nvPr/>
          </p:nvSpPr>
          <p:spPr>
            <a:xfrm>
              <a:off x="4195" y="663"/>
              <a:ext cx="25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3" name="Line 96"/>
            <p:cNvSpPr/>
            <p:nvPr/>
          </p:nvSpPr>
          <p:spPr>
            <a:xfrm>
              <a:off x="4876" y="663"/>
              <a:ext cx="0" cy="24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4" name="Line 97"/>
            <p:cNvSpPr/>
            <p:nvPr/>
          </p:nvSpPr>
          <p:spPr>
            <a:xfrm flipH="1">
              <a:off x="5012" y="618"/>
              <a:ext cx="28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5" name="Text Box 98"/>
            <p:cNvSpPr txBox="1"/>
            <p:nvPr/>
          </p:nvSpPr>
          <p:spPr>
            <a:xfrm>
              <a:off x="2880" y="255"/>
              <a:ext cx="28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6" name="Text Box 99"/>
            <p:cNvSpPr txBox="1"/>
            <p:nvPr/>
          </p:nvSpPr>
          <p:spPr>
            <a:xfrm>
              <a:off x="3408" y="245"/>
              <a:ext cx="28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7" name="Text Box 100"/>
            <p:cNvSpPr txBox="1"/>
            <p:nvPr/>
          </p:nvSpPr>
          <p:spPr>
            <a:xfrm>
              <a:off x="4134" y="245"/>
              <a:ext cx="28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8" name="Text Box 101"/>
            <p:cNvSpPr txBox="1"/>
            <p:nvPr/>
          </p:nvSpPr>
          <p:spPr>
            <a:xfrm>
              <a:off x="5012" y="255"/>
              <a:ext cx="28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9" name="Text Box 102"/>
            <p:cNvSpPr txBox="1"/>
            <p:nvPr/>
          </p:nvSpPr>
          <p:spPr>
            <a:xfrm>
              <a:off x="2064" y="935"/>
              <a:ext cx="50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12V</a:t>
              </a:r>
            </a:p>
          </p:txBody>
        </p:sp>
        <p:sp>
          <p:nvSpPr>
            <p:cNvPr id="20520" name="Text Box 103"/>
            <p:cNvSpPr txBox="1"/>
            <p:nvPr/>
          </p:nvSpPr>
          <p:spPr>
            <a:xfrm>
              <a:off x="5465" y="1117"/>
              <a:ext cx="29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20521" name="Text Box 104"/>
            <p:cNvSpPr txBox="1"/>
            <p:nvPr/>
          </p:nvSpPr>
          <p:spPr>
            <a:xfrm>
              <a:off x="5375" y="935"/>
              <a:ext cx="50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4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pSp>
          <p:nvGrpSpPr>
            <p:cNvPr id="20522" name="Group 105"/>
            <p:cNvGrpSpPr/>
            <p:nvPr/>
          </p:nvGrpSpPr>
          <p:grpSpPr>
            <a:xfrm>
              <a:off x="4150" y="754"/>
              <a:ext cx="369" cy="651"/>
              <a:chOff x="276" y="2621"/>
              <a:chExt cx="324" cy="554"/>
            </a:xfrm>
          </p:grpSpPr>
          <p:sp>
            <p:nvSpPr>
              <p:cNvPr id="20535" name="Text Box 106"/>
              <p:cNvSpPr txBox="1"/>
              <p:nvPr/>
            </p:nvSpPr>
            <p:spPr>
              <a:xfrm>
                <a:off x="370" y="2621"/>
                <a:ext cx="116" cy="27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20536" name="Text Box 107"/>
              <p:cNvSpPr txBox="1"/>
              <p:nvPr/>
            </p:nvSpPr>
            <p:spPr>
              <a:xfrm>
                <a:off x="360" y="2897"/>
                <a:ext cx="144" cy="27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_</a:t>
                </a:r>
              </a:p>
            </p:txBody>
          </p:sp>
          <p:sp>
            <p:nvSpPr>
              <p:cNvPr id="20537" name="Text Box 108"/>
              <p:cNvSpPr txBox="1"/>
              <p:nvPr/>
            </p:nvSpPr>
            <p:spPr>
              <a:xfrm>
                <a:off x="276" y="2789"/>
                <a:ext cx="324" cy="27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U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2</a:t>
                </a:r>
                <a:endPara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0523" name="Group 109"/>
            <p:cNvGrpSpPr/>
            <p:nvPr/>
          </p:nvGrpSpPr>
          <p:grpSpPr>
            <a:xfrm>
              <a:off x="3424" y="754"/>
              <a:ext cx="415" cy="643"/>
              <a:chOff x="276" y="2617"/>
              <a:chExt cx="324" cy="563"/>
            </a:xfrm>
          </p:grpSpPr>
          <p:sp>
            <p:nvSpPr>
              <p:cNvPr id="20532" name="Text Box 110"/>
              <p:cNvSpPr txBox="1"/>
              <p:nvPr/>
            </p:nvSpPr>
            <p:spPr>
              <a:xfrm>
                <a:off x="370" y="2617"/>
                <a:ext cx="116" cy="28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20533" name="Text Box 111"/>
              <p:cNvSpPr txBox="1"/>
              <p:nvPr/>
            </p:nvSpPr>
            <p:spPr>
              <a:xfrm>
                <a:off x="360" y="2893"/>
                <a:ext cx="144" cy="28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_</a:t>
                </a:r>
              </a:p>
            </p:txBody>
          </p:sp>
          <p:sp>
            <p:nvSpPr>
              <p:cNvPr id="20534" name="Text Box 112"/>
              <p:cNvSpPr txBox="1"/>
              <p:nvPr/>
            </p:nvSpPr>
            <p:spPr>
              <a:xfrm>
                <a:off x="276" y="2784"/>
                <a:ext cx="324" cy="28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U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20524" name="Text Box 113"/>
            <p:cNvSpPr txBox="1"/>
            <p:nvPr/>
          </p:nvSpPr>
          <p:spPr>
            <a:xfrm>
              <a:off x="5352" y="663"/>
              <a:ext cx="40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20525" name="Rectangle 114"/>
            <p:cNvSpPr/>
            <p:nvPr/>
          </p:nvSpPr>
          <p:spPr>
            <a:xfrm>
              <a:off x="2744" y="572"/>
              <a:ext cx="2721" cy="104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0526" name="Rectangle 115"/>
            <p:cNvSpPr/>
            <p:nvPr/>
          </p:nvSpPr>
          <p:spPr>
            <a:xfrm>
              <a:off x="5384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0527" name="Rectangle 116"/>
            <p:cNvSpPr/>
            <p:nvPr/>
          </p:nvSpPr>
          <p:spPr>
            <a:xfrm>
              <a:off x="4749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0528" name="Rectangle 117"/>
            <p:cNvSpPr/>
            <p:nvPr/>
          </p:nvSpPr>
          <p:spPr>
            <a:xfrm>
              <a:off x="4068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0529" name="Rectangle 118"/>
            <p:cNvSpPr/>
            <p:nvPr/>
          </p:nvSpPr>
          <p:spPr>
            <a:xfrm>
              <a:off x="3343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0530" name="Rectangle 119"/>
            <p:cNvSpPr/>
            <p:nvPr/>
          </p:nvSpPr>
          <p:spPr>
            <a:xfrm>
              <a:off x="4377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0531" name="Rectangle 120"/>
            <p:cNvSpPr/>
            <p:nvPr/>
          </p:nvSpPr>
          <p:spPr>
            <a:xfrm>
              <a:off x="3651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0495" name="Group 124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0496" name="Picture 125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97" name="Text Box 12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/>
      <p:bldP spid="21510" grpId="0" animBg="1"/>
      <p:bldP spid="21511" grpId="0"/>
      <p:bldP spid="21512" grpId="0"/>
      <p:bldP spid="215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/>
          <p:nvPr/>
        </p:nvSpPr>
        <p:spPr>
          <a:xfrm>
            <a:off x="539750" y="549275"/>
            <a:ext cx="79930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bg1"/>
                </a:solidFill>
                <a:ea typeface="楷体_GB2312" pitchFamily="49" charset="-122"/>
              </a:rPr>
              <a:t>从以上例题可得求解串、并联电路的一般步骤：</a:t>
            </a:r>
          </a:p>
        </p:txBody>
      </p:sp>
      <p:sp>
        <p:nvSpPr>
          <p:cNvPr id="20483" name="Text Box 3"/>
          <p:cNvSpPr txBox="1"/>
          <p:nvPr/>
        </p:nvSpPr>
        <p:spPr>
          <a:xfrm>
            <a:off x="611188" y="1052513"/>
            <a:ext cx="6985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/>
            </a:pP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求出等效电阻或等效电导；</a:t>
            </a:r>
          </a:p>
        </p:txBody>
      </p:sp>
      <p:sp>
        <p:nvSpPr>
          <p:cNvPr id="20484" name="Text Box 4"/>
          <p:cNvSpPr txBox="1"/>
          <p:nvPr/>
        </p:nvSpPr>
        <p:spPr>
          <a:xfrm>
            <a:off x="611188" y="1557338"/>
            <a:ext cx="68405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 startAt="2"/>
            </a:pP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应用欧姆定律求出总电压或总电流；</a:t>
            </a:r>
          </a:p>
        </p:txBody>
      </p:sp>
      <p:sp>
        <p:nvSpPr>
          <p:cNvPr id="20485" name="Text Box 5"/>
          <p:cNvSpPr txBox="1"/>
          <p:nvPr/>
        </p:nvSpPr>
        <p:spPr>
          <a:xfrm>
            <a:off x="611188" y="2060575"/>
            <a:ext cx="8064500" cy="1031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50000"/>
              </a:spcBef>
              <a:buAutoNum type="circleNumDbPlain" startAt="3"/>
            </a:pP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应用欧姆定律或分压、分流公式求各电阻上的电流和电压</a:t>
            </a:r>
          </a:p>
        </p:txBody>
      </p:sp>
      <p:sp>
        <p:nvSpPr>
          <p:cNvPr id="20486" name="Text Box 6"/>
          <p:cNvSpPr txBox="1"/>
          <p:nvPr/>
        </p:nvSpPr>
        <p:spPr>
          <a:xfrm>
            <a:off x="684213" y="3068638"/>
            <a:ext cx="77755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bg1"/>
                </a:solidFill>
                <a:ea typeface="楷体_GB2312" pitchFamily="49" charset="-122"/>
              </a:rPr>
              <a:t>以上的关键在于识别各电阻的串联、并联关系！</a:t>
            </a:r>
          </a:p>
        </p:txBody>
      </p:sp>
      <p:sp>
        <p:nvSpPr>
          <p:cNvPr id="20487" name="Text Box 7"/>
          <p:cNvSpPr txBox="1"/>
          <p:nvPr/>
        </p:nvSpPr>
        <p:spPr>
          <a:xfrm>
            <a:off x="539750" y="3644900"/>
            <a:ext cx="8636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1512" name="Line 8"/>
          <p:cNvSpPr/>
          <p:nvPr/>
        </p:nvSpPr>
        <p:spPr>
          <a:xfrm>
            <a:off x="971550" y="4581525"/>
            <a:ext cx="2016125" cy="0"/>
          </a:xfrm>
          <a:prstGeom prst="line">
            <a:avLst/>
          </a:prstGeom>
          <a:ln w="9525">
            <a:noFill/>
          </a:ln>
        </p:spPr>
      </p:sp>
      <p:sp>
        <p:nvSpPr>
          <p:cNvPr id="21513" name="Oval 18"/>
          <p:cNvSpPr/>
          <p:nvPr/>
        </p:nvSpPr>
        <p:spPr>
          <a:xfrm>
            <a:off x="5940425" y="4797425"/>
            <a:ext cx="71438" cy="71438"/>
          </a:xfrm>
          <a:prstGeom prst="ellipse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20516" name="Text Box 36"/>
          <p:cNvSpPr txBox="1"/>
          <p:nvPr/>
        </p:nvSpPr>
        <p:spPr>
          <a:xfrm>
            <a:off x="3995738" y="3644900"/>
            <a:ext cx="26654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仿宋_GB2312" pitchFamily="49" charset="-122"/>
              </a:rPr>
              <a:t>求</a:t>
            </a:r>
            <a:r>
              <a:rPr lang="en-US" altLang="zh-CN" sz="2800" b="1" dirty="0">
                <a:solidFill>
                  <a:srgbClr val="FFFF00"/>
                </a:solidFill>
                <a:ea typeface="仿宋_GB2312" pitchFamily="49" charset="-122"/>
              </a:rPr>
              <a:t>: 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ab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 , 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cd</a:t>
            </a:r>
          </a:p>
        </p:txBody>
      </p:sp>
      <p:graphicFrame>
        <p:nvGraphicFramePr>
          <p:cNvPr id="20517" name="Object 37"/>
          <p:cNvGraphicFramePr>
            <a:graphicFrameLocks/>
          </p:cNvGraphicFramePr>
          <p:nvPr/>
        </p:nvGraphicFramePr>
        <p:xfrm>
          <a:off x="4500563" y="4221163"/>
          <a:ext cx="4421187" cy="557212"/>
        </p:xfrm>
        <a:graphic>
          <a:graphicData uri="http://schemas.openxmlformats.org/presentationml/2006/ole">
            <p:oleObj spid="_x0000_s35842" r:id="rId3" imgW="1715040" imgH="196200" progId="Equation.3">
              <p:embed/>
            </p:oleObj>
          </a:graphicData>
        </a:graphic>
      </p:graphicFrame>
      <p:graphicFrame>
        <p:nvGraphicFramePr>
          <p:cNvPr id="20518" name="Object 38"/>
          <p:cNvGraphicFramePr>
            <a:graphicFrameLocks/>
          </p:cNvGraphicFramePr>
          <p:nvPr/>
        </p:nvGraphicFramePr>
        <p:xfrm>
          <a:off x="4500563" y="4868863"/>
          <a:ext cx="3671887" cy="557212"/>
        </p:xfrm>
        <a:graphic>
          <a:graphicData uri="http://schemas.openxmlformats.org/presentationml/2006/ole">
            <p:oleObj spid="_x0000_s35841" r:id="rId4" imgW="1425240" imgH="196200" progId="Equation.3">
              <p:embed/>
            </p:oleObj>
          </a:graphicData>
        </a:graphic>
      </p:graphicFrame>
      <p:sp>
        <p:nvSpPr>
          <p:cNvPr id="20519" name="Text Box 39" descr="羊皮纸"/>
          <p:cNvSpPr txBox="1"/>
          <p:nvPr/>
        </p:nvSpPr>
        <p:spPr>
          <a:xfrm>
            <a:off x="4932363" y="5445125"/>
            <a:ext cx="39608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等效电阻针对端口而言</a:t>
            </a:r>
          </a:p>
        </p:txBody>
      </p:sp>
      <p:grpSp>
        <p:nvGrpSpPr>
          <p:cNvPr id="21518" name="Group 4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1553" name="Picture 4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54" name="Text Box 4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21519" name="Group 4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1551" name="Picture 47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52" name="Text Box 4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20532" name="Group 52"/>
          <p:cNvGrpSpPr/>
          <p:nvPr/>
        </p:nvGrpSpPr>
        <p:grpSpPr>
          <a:xfrm>
            <a:off x="468313" y="3644900"/>
            <a:ext cx="3009900" cy="2463800"/>
            <a:chOff x="3606" y="391"/>
            <a:chExt cx="1896" cy="1552"/>
          </a:xfrm>
        </p:grpSpPr>
        <p:grpSp>
          <p:nvGrpSpPr>
            <p:cNvPr id="21527" name="Group 53"/>
            <p:cNvGrpSpPr/>
            <p:nvPr/>
          </p:nvGrpSpPr>
          <p:grpSpPr>
            <a:xfrm>
              <a:off x="3833" y="527"/>
              <a:ext cx="1632" cy="1362"/>
              <a:chOff x="476" y="2341"/>
              <a:chExt cx="1632" cy="1362"/>
            </a:xfrm>
          </p:grpSpPr>
          <p:sp>
            <p:nvSpPr>
              <p:cNvPr id="21540" name="Line 54"/>
              <p:cNvSpPr/>
              <p:nvPr/>
            </p:nvSpPr>
            <p:spPr>
              <a:xfrm>
                <a:off x="567" y="2840"/>
                <a:ext cx="1497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41" name="Line 55"/>
              <p:cNvSpPr/>
              <p:nvPr/>
            </p:nvSpPr>
            <p:spPr>
              <a:xfrm>
                <a:off x="567" y="3657"/>
                <a:ext cx="1497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42" name="Line 56"/>
              <p:cNvSpPr/>
              <p:nvPr/>
            </p:nvSpPr>
            <p:spPr>
              <a:xfrm>
                <a:off x="1247" y="2432"/>
                <a:ext cx="0" cy="1225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43" name="Line 57"/>
              <p:cNvSpPr/>
              <p:nvPr/>
            </p:nvSpPr>
            <p:spPr>
              <a:xfrm>
                <a:off x="2064" y="2432"/>
                <a:ext cx="0" cy="1225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44" name="Oval 58"/>
              <p:cNvSpPr/>
              <p:nvPr/>
            </p:nvSpPr>
            <p:spPr>
              <a:xfrm>
                <a:off x="476" y="3612"/>
                <a:ext cx="90" cy="91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21545" name="Oval 59"/>
              <p:cNvSpPr/>
              <p:nvPr/>
            </p:nvSpPr>
            <p:spPr>
              <a:xfrm>
                <a:off x="476" y="2795"/>
                <a:ext cx="90" cy="91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21546" name="Oval 60"/>
              <p:cNvSpPr/>
              <p:nvPr/>
            </p:nvSpPr>
            <p:spPr>
              <a:xfrm>
                <a:off x="1202" y="2341"/>
                <a:ext cx="90" cy="91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21547" name="Oval 61"/>
              <p:cNvSpPr/>
              <p:nvPr/>
            </p:nvSpPr>
            <p:spPr>
              <a:xfrm>
                <a:off x="2018" y="2341"/>
                <a:ext cx="90" cy="91"/>
              </a:xfrm>
              <a:prstGeom prst="ellipse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21548" name="Oval 62"/>
              <p:cNvSpPr/>
              <p:nvPr/>
            </p:nvSpPr>
            <p:spPr>
              <a:xfrm>
                <a:off x="2018" y="2795"/>
                <a:ext cx="90" cy="91"/>
              </a:xfrm>
              <a:prstGeom prst="ellipse">
                <a:avLst/>
              </a:prstGeom>
              <a:solidFill>
                <a:srgbClr val="FFCC00"/>
              </a:solidFill>
              <a:ln w="2857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21549" name="Oval 63"/>
              <p:cNvSpPr/>
              <p:nvPr/>
            </p:nvSpPr>
            <p:spPr>
              <a:xfrm>
                <a:off x="1202" y="2795"/>
                <a:ext cx="90" cy="91"/>
              </a:xfrm>
              <a:prstGeom prst="ellipse">
                <a:avLst/>
              </a:prstGeom>
              <a:solidFill>
                <a:srgbClr val="FFCC00"/>
              </a:solidFill>
              <a:ln w="2857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21550" name="Oval 64"/>
              <p:cNvSpPr/>
              <p:nvPr/>
            </p:nvSpPr>
            <p:spPr>
              <a:xfrm>
                <a:off x="1202" y="3612"/>
                <a:ext cx="90" cy="91"/>
              </a:xfrm>
              <a:prstGeom prst="ellipse">
                <a:avLst/>
              </a:prstGeom>
              <a:solidFill>
                <a:srgbClr val="FFCC00"/>
              </a:solidFill>
              <a:ln w="2857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</p:grpSp>
        <p:sp>
          <p:nvSpPr>
            <p:cNvPr id="21528" name="Text Box 65"/>
            <p:cNvSpPr txBox="1"/>
            <p:nvPr/>
          </p:nvSpPr>
          <p:spPr>
            <a:xfrm>
              <a:off x="4059" y="663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6</a:t>
              </a: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21529" name="Text Box 66"/>
            <p:cNvSpPr txBox="1"/>
            <p:nvPr/>
          </p:nvSpPr>
          <p:spPr>
            <a:xfrm>
              <a:off x="4014" y="1298"/>
              <a:ext cx="5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15</a:t>
              </a: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21530" name="Text Box 67"/>
            <p:cNvSpPr txBox="1"/>
            <p:nvPr/>
          </p:nvSpPr>
          <p:spPr>
            <a:xfrm>
              <a:off x="4785" y="663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5</a:t>
              </a: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21531" name="Text Box 68"/>
            <p:cNvSpPr txBox="1"/>
            <p:nvPr/>
          </p:nvSpPr>
          <p:spPr>
            <a:xfrm>
              <a:off x="5011" y="1253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5</a:t>
              </a: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21532" name="Text Box 69"/>
            <p:cNvSpPr txBox="1"/>
            <p:nvPr/>
          </p:nvSpPr>
          <p:spPr>
            <a:xfrm>
              <a:off x="5193" y="39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280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1533" name="Text Box 70"/>
            <p:cNvSpPr txBox="1"/>
            <p:nvPr/>
          </p:nvSpPr>
          <p:spPr>
            <a:xfrm>
              <a:off x="4604" y="39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c</a:t>
              </a:r>
              <a:endParaRPr lang="en-US" altLang="zh-CN" sz="280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1534" name="Text Box 71"/>
            <p:cNvSpPr txBox="1"/>
            <p:nvPr/>
          </p:nvSpPr>
          <p:spPr>
            <a:xfrm>
              <a:off x="3606" y="1616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280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1535" name="Text Box 72"/>
            <p:cNvSpPr txBox="1"/>
            <p:nvPr/>
          </p:nvSpPr>
          <p:spPr>
            <a:xfrm>
              <a:off x="3606" y="845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280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1536" name="Rectangle 73"/>
            <p:cNvSpPr/>
            <p:nvPr/>
          </p:nvSpPr>
          <p:spPr>
            <a:xfrm>
              <a:off x="4876" y="98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1537" name="Rectangle 74"/>
            <p:cNvSpPr/>
            <p:nvPr/>
          </p:nvSpPr>
          <p:spPr>
            <a:xfrm>
              <a:off x="4105" y="98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1538" name="Rectangle 75"/>
            <p:cNvSpPr/>
            <p:nvPr/>
          </p:nvSpPr>
          <p:spPr>
            <a:xfrm>
              <a:off x="5375" y="125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1539" name="Rectangle 76"/>
            <p:cNvSpPr/>
            <p:nvPr/>
          </p:nvSpPr>
          <p:spPr>
            <a:xfrm>
              <a:off x="4522" y="125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0557" name="Group 77"/>
          <p:cNvGrpSpPr/>
          <p:nvPr/>
        </p:nvGrpSpPr>
        <p:grpSpPr>
          <a:xfrm>
            <a:off x="3359150" y="5300663"/>
            <a:ext cx="1644650" cy="850900"/>
            <a:chOff x="385" y="3022"/>
            <a:chExt cx="1036" cy="536"/>
          </a:xfrm>
        </p:grpSpPr>
        <p:pic>
          <p:nvPicPr>
            <p:cNvPr id="21525" name="Picture 78" descr="1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6" name="Text Box 7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</a:p>
          </p:txBody>
        </p:sp>
      </p:grpSp>
      <p:grpSp>
        <p:nvGrpSpPr>
          <p:cNvPr id="21522" name="Group 8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1523" name="Picture 8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4" name="Text Box 8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30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30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0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/>
      <p:bldP spid="20484" grpId="0"/>
      <p:bldP spid="20485" grpId="0"/>
      <p:bldP spid="20486" grpId="0"/>
      <p:bldP spid="20487" grpId="0"/>
      <p:bldP spid="20516" grpId="0"/>
      <p:bldP spid="205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/>
          <p:nvPr/>
        </p:nvSpPr>
        <p:spPr>
          <a:xfrm>
            <a:off x="468313" y="620713"/>
            <a:ext cx="935037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9498" name="Text Box 42"/>
          <p:cNvSpPr txBox="1"/>
          <p:nvPr/>
        </p:nvSpPr>
        <p:spPr>
          <a:xfrm>
            <a:off x="1403350" y="677863"/>
            <a:ext cx="15128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求</a:t>
            </a:r>
            <a:r>
              <a:rPr lang="en-US" altLang="zh-CN" sz="2800" dirty="0">
                <a:solidFill>
                  <a:srgbClr val="FFFF00"/>
                </a:solidFill>
                <a:ea typeface="仿宋_GB2312" pitchFamily="49" charset="-122"/>
              </a:rPr>
              <a:t>:  </a:t>
            </a:r>
            <a:r>
              <a: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ab</a:t>
            </a:r>
            <a:endParaRPr lang="en-US" altLang="zh-CN" sz="2800" dirty="0">
              <a:solidFill>
                <a:srgbClr val="FFFF00"/>
              </a:solidFill>
              <a:ea typeface="仿宋_GB2312" pitchFamily="49" charset="-122"/>
            </a:endParaRPr>
          </a:p>
        </p:txBody>
      </p:sp>
      <p:sp>
        <p:nvSpPr>
          <p:cNvPr id="19527" name="AutoShape 71"/>
          <p:cNvSpPr/>
          <p:nvPr/>
        </p:nvSpPr>
        <p:spPr>
          <a:xfrm>
            <a:off x="4500563" y="2492375"/>
            <a:ext cx="720725" cy="215900"/>
          </a:xfrm>
          <a:prstGeom prst="rightArrow">
            <a:avLst>
              <a:gd name="adj1" fmla="val 50000"/>
              <a:gd name="adj2" fmla="val 83455"/>
            </a:avLst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9550" name="AutoShape 94"/>
          <p:cNvSpPr/>
          <p:nvPr/>
        </p:nvSpPr>
        <p:spPr>
          <a:xfrm rot="5400000">
            <a:off x="7164388" y="3860800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9575" name="AutoShape 119"/>
          <p:cNvSpPr/>
          <p:nvPr/>
        </p:nvSpPr>
        <p:spPr>
          <a:xfrm rot="10800000">
            <a:off x="4356100" y="4797425"/>
            <a:ext cx="792163" cy="215900"/>
          </a:xfrm>
          <a:prstGeom prst="rightArrow">
            <a:avLst>
              <a:gd name="adj1" fmla="val 50000"/>
              <a:gd name="adj2" fmla="val 91727"/>
            </a:avLst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9576" name="Text Box 120"/>
          <p:cNvSpPr txBox="1"/>
          <p:nvPr/>
        </p:nvSpPr>
        <p:spPr>
          <a:xfrm>
            <a:off x="3203575" y="549275"/>
            <a:ext cx="2016125" cy="617538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ab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70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</a:t>
            </a:r>
          </a:p>
        </p:txBody>
      </p:sp>
      <p:grpSp>
        <p:nvGrpSpPr>
          <p:cNvPr id="22536" name="Group 12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2627" name="Picture 12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628" name="Text Box 12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22537" name="Group 12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2625" name="Picture 12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626" name="Text Box 12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19589" name="Group 133"/>
          <p:cNvGrpSpPr/>
          <p:nvPr/>
        </p:nvGrpSpPr>
        <p:grpSpPr>
          <a:xfrm>
            <a:off x="468313" y="1125538"/>
            <a:ext cx="4248150" cy="2565400"/>
            <a:chOff x="2835" y="0"/>
            <a:chExt cx="2676" cy="1616"/>
          </a:xfrm>
        </p:grpSpPr>
        <p:sp>
          <p:nvSpPr>
            <p:cNvPr id="22600" name="Oval 134"/>
            <p:cNvSpPr/>
            <p:nvPr/>
          </p:nvSpPr>
          <p:spPr>
            <a:xfrm>
              <a:off x="3334" y="164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01" name="Oval 135"/>
            <p:cNvSpPr/>
            <p:nvPr/>
          </p:nvSpPr>
          <p:spPr>
            <a:xfrm>
              <a:off x="4150" y="164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02" name="Text Box 136"/>
            <p:cNvSpPr txBox="1"/>
            <p:nvPr/>
          </p:nvSpPr>
          <p:spPr>
            <a:xfrm>
              <a:off x="4196" y="1071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03" name="Text Box 137"/>
            <p:cNvSpPr txBox="1"/>
            <p:nvPr/>
          </p:nvSpPr>
          <p:spPr>
            <a:xfrm>
              <a:off x="4195" y="527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04" name="Text Box 138"/>
            <p:cNvSpPr txBox="1"/>
            <p:nvPr/>
          </p:nvSpPr>
          <p:spPr>
            <a:xfrm>
              <a:off x="4876" y="1117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05" name="Text Box 139"/>
            <p:cNvSpPr txBox="1"/>
            <p:nvPr/>
          </p:nvSpPr>
          <p:spPr>
            <a:xfrm>
              <a:off x="4876" y="527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06" name="Text Box 140"/>
            <p:cNvSpPr txBox="1"/>
            <p:nvPr/>
          </p:nvSpPr>
          <p:spPr>
            <a:xfrm>
              <a:off x="3968" y="19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07" name="Text Box 141"/>
            <p:cNvSpPr txBox="1"/>
            <p:nvPr/>
          </p:nvSpPr>
          <p:spPr>
            <a:xfrm>
              <a:off x="3379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08" name="Line 142"/>
            <p:cNvSpPr/>
            <p:nvPr/>
          </p:nvSpPr>
          <p:spPr>
            <a:xfrm>
              <a:off x="3379" y="255"/>
              <a:ext cx="0" cy="13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09" name="Line 143"/>
            <p:cNvSpPr/>
            <p:nvPr/>
          </p:nvSpPr>
          <p:spPr>
            <a:xfrm>
              <a:off x="3379" y="935"/>
              <a:ext cx="8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610" name="Line 144"/>
            <p:cNvSpPr/>
            <p:nvPr/>
          </p:nvSpPr>
          <p:spPr>
            <a:xfrm>
              <a:off x="4195" y="436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2611" name="Line 145"/>
            <p:cNvSpPr/>
            <p:nvPr/>
          </p:nvSpPr>
          <p:spPr>
            <a:xfrm>
              <a:off x="4876" y="436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12" name="Line 146"/>
            <p:cNvSpPr/>
            <p:nvPr/>
          </p:nvSpPr>
          <p:spPr>
            <a:xfrm>
              <a:off x="4195" y="1570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13" name="Line 147"/>
            <p:cNvSpPr/>
            <p:nvPr/>
          </p:nvSpPr>
          <p:spPr>
            <a:xfrm>
              <a:off x="3379" y="1570"/>
              <a:ext cx="8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2614" name="Line 148"/>
            <p:cNvSpPr/>
            <p:nvPr/>
          </p:nvSpPr>
          <p:spPr>
            <a:xfrm>
              <a:off x="4195" y="255"/>
              <a:ext cx="0" cy="13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15" name="Text Box 149"/>
            <p:cNvSpPr txBox="1"/>
            <p:nvPr/>
          </p:nvSpPr>
          <p:spPr>
            <a:xfrm>
              <a:off x="2835" y="1071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16" name="Text Box 150"/>
            <p:cNvSpPr txBox="1"/>
            <p:nvPr/>
          </p:nvSpPr>
          <p:spPr>
            <a:xfrm>
              <a:off x="3515" y="1207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80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17" name="Text Box 151"/>
            <p:cNvSpPr txBox="1"/>
            <p:nvPr/>
          </p:nvSpPr>
          <p:spPr>
            <a:xfrm>
              <a:off x="2835" y="482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18" name="Rectangle 152"/>
            <p:cNvSpPr/>
            <p:nvPr/>
          </p:nvSpPr>
          <p:spPr>
            <a:xfrm>
              <a:off x="4794" y="111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19" name="Rectangle 153"/>
            <p:cNvSpPr/>
            <p:nvPr/>
          </p:nvSpPr>
          <p:spPr>
            <a:xfrm>
              <a:off x="4794" y="57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20" name="Rectangle 154"/>
            <p:cNvSpPr/>
            <p:nvPr/>
          </p:nvSpPr>
          <p:spPr>
            <a:xfrm>
              <a:off x="4150" y="52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21" name="Rectangle 155"/>
            <p:cNvSpPr/>
            <p:nvPr/>
          </p:nvSpPr>
          <p:spPr>
            <a:xfrm>
              <a:off x="4105" y="107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22" name="Rectangle 156"/>
            <p:cNvSpPr/>
            <p:nvPr/>
          </p:nvSpPr>
          <p:spPr>
            <a:xfrm>
              <a:off x="3334" y="107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23" name="Rectangle 157"/>
            <p:cNvSpPr/>
            <p:nvPr/>
          </p:nvSpPr>
          <p:spPr>
            <a:xfrm>
              <a:off x="3334" y="48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624" name="Rectangle 158"/>
            <p:cNvSpPr/>
            <p:nvPr/>
          </p:nvSpPr>
          <p:spPr>
            <a:xfrm>
              <a:off x="3651" y="148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9615" name="Group 159"/>
          <p:cNvGrpSpPr/>
          <p:nvPr/>
        </p:nvGrpSpPr>
        <p:grpSpPr>
          <a:xfrm>
            <a:off x="5543550" y="908050"/>
            <a:ext cx="3600450" cy="2492375"/>
            <a:chOff x="1292" y="1933"/>
            <a:chExt cx="2268" cy="1570"/>
          </a:xfrm>
        </p:grpSpPr>
        <p:sp>
          <p:nvSpPr>
            <p:cNvPr id="22579" name="Oval 160"/>
            <p:cNvSpPr/>
            <p:nvPr/>
          </p:nvSpPr>
          <p:spPr>
            <a:xfrm>
              <a:off x="1292" y="2097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80" name="Oval 161"/>
            <p:cNvSpPr/>
            <p:nvPr/>
          </p:nvSpPr>
          <p:spPr>
            <a:xfrm>
              <a:off x="2108" y="2097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81" name="Text Box 162"/>
            <p:cNvSpPr txBox="1"/>
            <p:nvPr/>
          </p:nvSpPr>
          <p:spPr>
            <a:xfrm>
              <a:off x="2154" y="3004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82" name="Text Box 163"/>
            <p:cNvSpPr txBox="1"/>
            <p:nvPr/>
          </p:nvSpPr>
          <p:spPr>
            <a:xfrm>
              <a:off x="2153" y="2460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83" name="Text Box 164"/>
            <p:cNvSpPr txBox="1"/>
            <p:nvPr/>
          </p:nvSpPr>
          <p:spPr>
            <a:xfrm>
              <a:off x="2925" y="2750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84" name="Text Box 165"/>
            <p:cNvSpPr txBox="1"/>
            <p:nvPr/>
          </p:nvSpPr>
          <p:spPr>
            <a:xfrm>
              <a:off x="1926" y="1952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85" name="Text Box 166"/>
            <p:cNvSpPr txBox="1"/>
            <p:nvPr/>
          </p:nvSpPr>
          <p:spPr>
            <a:xfrm>
              <a:off x="1337" y="1933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86" name="Line 167"/>
            <p:cNvSpPr/>
            <p:nvPr/>
          </p:nvSpPr>
          <p:spPr>
            <a:xfrm>
              <a:off x="1337" y="2188"/>
              <a:ext cx="0" cy="13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7" name="Line 168"/>
            <p:cNvSpPr/>
            <p:nvPr/>
          </p:nvSpPr>
          <p:spPr>
            <a:xfrm>
              <a:off x="1337" y="2868"/>
              <a:ext cx="8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88" name="Line 169"/>
            <p:cNvSpPr/>
            <p:nvPr/>
          </p:nvSpPr>
          <p:spPr>
            <a:xfrm>
              <a:off x="2153" y="2369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2589" name="Line 170"/>
            <p:cNvSpPr/>
            <p:nvPr/>
          </p:nvSpPr>
          <p:spPr>
            <a:xfrm>
              <a:off x="2834" y="2369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90" name="Line 171"/>
            <p:cNvSpPr/>
            <p:nvPr/>
          </p:nvSpPr>
          <p:spPr>
            <a:xfrm>
              <a:off x="2153" y="3503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91" name="Line 172"/>
            <p:cNvSpPr/>
            <p:nvPr/>
          </p:nvSpPr>
          <p:spPr>
            <a:xfrm>
              <a:off x="1337" y="3503"/>
              <a:ext cx="8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2592" name="Line 173"/>
            <p:cNvSpPr/>
            <p:nvPr/>
          </p:nvSpPr>
          <p:spPr>
            <a:xfrm>
              <a:off x="2153" y="2188"/>
              <a:ext cx="0" cy="13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93" name="Text Box 174"/>
            <p:cNvSpPr txBox="1"/>
            <p:nvPr/>
          </p:nvSpPr>
          <p:spPr>
            <a:xfrm>
              <a:off x="1383" y="3022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120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94" name="Text Box 175"/>
            <p:cNvSpPr txBox="1"/>
            <p:nvPr/>
          </p:nvSpPr>
          <p:spPr>
            <a:xfrm>
              <a:off x="1383" y="2387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95" name="Rectangle 176"/>
            <p:cNvSpPr/>
            <p:nvPr/>
          </p:nvSpPr>
          <p:spPr>
            <a:xfrm>
              <a:off x="2789" y="279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96" name="Rectangle 177"/>
            <p:cNvSpPr/>
            <p:nvPr/>
          </p:nvSpPr>
          <p:spPr>
            <a:xfrm>
              <a:off x="2108" y="246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97" name="Rectangle 178"/>
            <p:cNvSpPr/>
            <p:nvPr/>
          </p:nvSpPr>
          <p:spPr>
            <a:xfrm>
              <a:off x="2063" y="30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98" name="Rectangle 179"/>
            <p:cNvSpPr/>
            <p:nvPr/>
          </p:nvSpPr>
          <p:spPr>
            <a:xfrm>
              <a:off x="1292" y="30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99" name="Rectangle 180"/>
            <p:cNvSpPr/>
            <p:nvPr/>
          </p:nvSpPr>
          <p:spPr>
            <a:xfrm>
              <a:off x="1292" y="241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9637" name="Group 181"/>
          <p:cNvGrpSpPr/>
          <p:nvPr/>
        </p:nvGrpSpPr>
        <p:grpSpPr>
          <a:xfrm>
            <a:off x="5508625" y="3860800"/>
            <a:ext cx="2628900" cy="2492375"/>
            <a:chOff x="3492" y="572"/>
            <a:chExt cx="1656" cy="1570"/>
          </a:xfrm>
        </p:grpSpPr>
        <p:sp>
          <p:nvSpPr>
            <p:cNvPr id="22561" name="Oval 182"/>
            <p:cNvSpPr/>
            <p:nvPr/>
          </p:nvSpPr>
          <p:spPr>
            <a:xfrm>
              <a:off x="3516" y="736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62" name="Oval 183"/>
            <p:cNvSpPr/>
            <p:nvPr/>
          </p:nvSpPr>
          <p:spPr>
            <a:xfrm>
              <a:off x="4308" y="736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63" name="Text Box 184"/>
            <p:cNvSpPr txBox="1"/>
            <p:nvPr/>
          </p:nvSpPr>
          <p:spPr>
            <a:xfrm>
              <a:off x="3787" y="1661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64" name="Text Box 185"/>
            <p:cNvSpPr txBox="1"/>
            <p:nvPr/>
          </p:nvSpPr>
          <p:spPr>
            <a:xfrm>
              <a:off x="4332" y="1071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65" name="Text Box 186"/>
            <p:cNvSpPr txBox="1"/>
            <p:nvPr/>
          </p:nvSpPr>
          <p:spPr>
            <a:xfrm>
              <a:off x="4513" y="1434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66" name="Text Box 187"/>
            <p:cNvSpPr txBox="1"/>
            <p:nvPr/>
          </p:nvSpPr>
          <p:spPr>
            <a:xfrm>
              <a:off x="4126" y="59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67" name="Text Box 188"/>
            <p:cNvSpPr txBox="1"/>
            <p:nvPr/>
          </p:nvSpPr>
          <p:spPr>
            <a:xfrm>
              <a:off x="3606" y="572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68" name="Line 189"/>
            <p:cNvSpPr/>
            <p:nvPr/>
          </p:nvSpPr>
          <p:spPr>
            <a:xfrm flipH="1">
              <a:off x="3560" y="845"/>
              <a:ext cx="0" cy="6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9" name="Line 190"/>
            <p:cNvSpPr/>
            <p:nvPr/>
          </p:nvSpPr>
          <p:spPr>
            <a:xfrm>
              <a:off x="3560" y="1480"/>
              <a:ext cx="7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70" name="Line 191"/>
            <p:cNvSpPr/>
            <p:nvPr/>
          </p:nvSpPr>
          <p:spPr>
            <a:xfrm>
              <a:off x="4332" y="981"/>
              <a:ext cx="7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2571" name="Line 192"/>
            <p:cNvSpPr/>
            <p:nvPr/>
          </p:nvSpPr>
          <p:spPr>
            <a:xfrm flipH="1">
              <a:off x="5057" y="981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2" name="Line 193"/>
            <p:cNvSpPr/>
            <p:nvPr/>
          </p:nvSpPr>
          <p:spPr>
            <a:xfrm flipV="1">
              <a:off x="4332" y="2115"/>
              <a:ext cx="7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3" name="Line 194"/>
            <p:cNvSpPr/>
            <p:nvPr/>
          </p:nvSpPr>
          <p:spPr>
            <a:xfrm>
              <a:off x="4332" y="827"/>
              <a:ext cx="0" cy="13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4" name="Text Box 195"/>
            <p:cNvSpPr txBox="1"/>
            <p:nvPr/>
          </p:nvSpPr>
          <p:spPr>
            <a:xfrm>
              <a:off x="3583" y="1026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75" name="Rectangle 196"/>
            <p:cNvSpPr/>
            <p:nvPr/>
          </p:nvSpPr>
          <p:spPr>
            <a:xfrm>
              <a:off x="4989" y="134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76" name="Rectangle 197"/>
            <p:cNvSpPr/>
            <p:nvPr/>
          </p:nvSpPr>
          <p:spPr>
            <a:xfrm>
              <a:off x="4250" y="107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77" name="Rectangle 198"/>
            <p:cNvSpPr/>
            <p:nvPr/>
          </p:nvSpPr>
          <p:spPr>
            <a:xfrm>
              <a:off x="4263" y="164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78" name="Rectangle 199"/>
            <p:cNvSpPr/>
            <p:nvPr/>
          </p:nvSpPr>
          <p:spPr>
            <a:xfrm>
              <a:off x="3492" y="10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9656" name="Group 200"/>
          <p:cNvGrpSpPr/>
          <p:nvPr/>
        </p:nvGrpSpPr>
        <p:grpSpPr>
          <a:xfrm>
            <a:off x="1187450" y="4005263"/>
            <a:ext cx="3492500" cy="1944687"/>
            <a:chOff x="3492" y="572"/>
            <a:chExt cx="2200" cy="1225"/>
          </a:xfrm>
        </p:grpSpPr>
        <p:sp>
          <p:nvSpPr>
            <p:cNvPr id="22545" name="Oval 201"/>
            <p:cNvSpPr/>
            <p:nvPr/>
          </p:nvSpPr>
          <p:spPr>
            <a:xfrm>
              <a:off x="3516" y="736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46" name="Oval 202"/>
            <p:cNvSpPr/>
            <p:nvPr/>
          </p:nvSpPr>
          <p:spPr>
            <a:xfrm>
              <a:off x="4308" y="736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47" name="Text Box 203"/>
            <p:cNvSpPr txBox="1"/>
            <p:nvPr/>
          </p:nvSpPr>
          <p:spPr>
            <a:xfrm>
              <a:off x="4332" y="1162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48" name="Text Box 204"/>
            <p:cNvSpPr txBox="1"/>
            <p:nvPr/>
          </p:nvSpPr>
          <p:spPr>
            <a:xfrm>
              <a:off x="5057" y="1207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49" name="Text Box 205"/>
            <p:cNvSpPr txBox="1"/>
            <p:nvPr/>
          </p:nvSpPr>
          <p:spPr>
            <a:xfrm>
              <a:off x="4126" y="59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50" name="Text Box 206"/>
            <p:cNvSpPr txBox="1"/>
            <p:nvPr/>
          </p:nvSpPr>
          <p:spPr>
            <a:xfrm>
              <a:off x="3606" y="572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51" name="Line 207"/>
            <p:cNvSpPr/>
            <p:nvPr/>
          </p:nvSpPr>
          <p:spPr>
            <a:xfrm flipH="1">
              <a:off x="3560" y="845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2" name="Line 208"/>
            <p:cNvSpPr/>
            <p:nvPr/>
          </p:nvSpPr>
          <p:spPr>
            <a:xfrm>
              <a:off x="3560" y="1797"/>
              <a:ext cx="7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2553" name="Line 209"/>
            <p:cNvSpPr/>
            <p:nvPr/>
          </p:nvSpPr>
          <p:spPr>
            <a:xfrm>
              <a:off x="4332" y="981"/>
              <a:ext cx="7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2554" name="Line 210"/>
            <p:cNvSpPr/>
            <p:nvPr/>
          </p:nvSpPr>
          <p:spPr>
            <a:xfrm flipH="1">
              <a:off x="5057" y="981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5" name="Line 211"/>
            <p:cNvSpPr/>
            <p:nvPr/>
          </p:nvSpPr>
          <p:spPr>
            <a:xfrm flipV="1">
              <a:off x="4332" y="1797"/>
              <a:ext cx="7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6" name="Line 212"/>
            <p:cNvSpPr/>
            <p:nvPr/>
          </p:nvSpPr>
          <p:spPr>
            <a:xfrm>
              <a:off x="4332" y="827"/>
              <a:ext cx="0" cy="97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7" name="Text Box 213"/>
            <p:cNvSpPr txBox="1"/>
            <p:nvPr/>
          </p:nvSpPr>
          <p:spPr>
            <a:xfrm>
              <a:off x="3560" y="1162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58" name="Rectangle 214"/>
            <p:cNvSpPr/>
            <p:nvPr/>
          </p:nvSpPr>
          <p:spPr>
            <a:xfrm>
              <a:off x="4989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59" name="Rectangle 215"/>
            <p:cNvSpPr/>
            <p:nvPr/>
          </p:nvSpPr>
          <p:spPr>
            <a:xfrm>
              <a:off x="4250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2560" name="Rectangle 216"/>
            <p:cNvSpPr/>
            <p:nvPr/>
          </p:nvSpPr>
          <p:spPr>
            <a:xfrm>
              <a:off x="3492" y="116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2542" name="Group 220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2543" name="Picture 22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4" name="Text Box 22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9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19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1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70" decel="100000"/>
                                        <p:tgtEl>
                                          <p:spTgt spid="195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770" decel="100000"/>
                                        <p:tgtEl>
                                          <p:spTgt spid="1957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957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3" dur="770" fill="hold"/>
                                        <p:tgtEl>
                                          <p:spTgt spid="19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9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5" dur="770" fill="hold"/>
                                        <p:tgtEl>
                                          <p:spTgt spid="19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9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98" grpId="0"/>
      <p:bldP spid="19527" grpId="0" animBg="1"/>
      <p:bldP spid="19550" grpId="0" animBg="1"/>
      <p:bldP spid="19575" grpId="0" animBg="1"/>
      <p:bldP spid="1957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/>
          <p:nvPr/>
        </p:nvSpPr>
        <p:spPr>
          <a:xfrm>
            <a:off x="468313" y="549275"/>
            <a:ext cx="935037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8498" name="Text Box 66"/>
          <p:cNvSpPr txBox="1"/>
          <p:nvPr/>
        </p:nvSpPr>
        <p:spPr>
          <a:xfrm>
            <a:off x="1331913" y="620713"/>
            <a:ext cx="15128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dirty="0">
                <a:solidFill>
                  <a:srgbClr val="FFFF00"/>
                </a:solidFill>
                <a:ea typeface="仿宋_GB2312" pitchFamily="49" charset="-122"/>
              </a:rPr>
              <a:t>  </a:t>
            </a:r>
            <a:r>
              <a: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ab</a:t>
            </a:r>
            <a:endParaRPr lang="en-US" altLang="zh-CN" sz="2400" dirty="0">
              <a:solidFill>
                <a:srgbClr val="FFFF00"/>
              </a:solidFill>
              <a:ea typeface="仿宋_GB2312" pitchFamily="49" charset="-122"/>
            </a:endParaRPr>
          </a:p>
        </p:txBody>
      </p:sp>
      <p:sp>
        <p:nvSpPr>
          <p:cNvPr id="18499" name="AutoShape 67"/>
          <p:cNvSpPr/>
          <p:nvPr/>
        </p:nvSpPr>
        <p:spPr>
          <a:xfrm>
            <a:off x="3708400" y="2852738"/>
            <a:ext cx="1727200" cy="215900"/>
          </a:xfrm>
          <a:prstGeom prst="rightArrow">
            <a:avLst>
              <a:gd name="adj1" fmla="val 50000"/>
              <a:gd name="adj2" fmla="val 200000"/>
            </a:avLst>
          </a:prstGeom>
          <a:solidFill>
            <a:srgbClr val="66CCFF"/>
          </a:solidFill>
          <a:ln w="9525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8587" name="AutoShape 155"/>
          <p:cNvSpPr/>
          <p:nvPr/>
        </p:nvSpPr>
        <p:spPr>
          <a:xfrm rot="10800000">
            <a:off x="5003800" y="4365625"/>
            <a:ext cx="865188" cy="215900"/>
          </a:xfrm>
          <a:prstGeom prst="rightArrow">
            <a:avLst>
              <a:gd name="adj1" fmla="val 50000"/>
              <a:gd name="adj2" fmla="val 100183"/>
            </a:avLst>
          </a:prstGeom>
          <a:solidFill>
            <a:srgbClr val="66CCFF"/>
          </a:solidFill>
          <a:ln w="9525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8588" name="Text Box 156"/>
          <p:cNvSpPr txBox="1"/>
          <p:nvPr/>
        </p:nvSpPr>
        <p:spPr>
          <a:xfrm>
            <a:off x="755650" y="4941888"/>
            <a:ext cx="2016125" cy="617537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ab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0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</a:t>
            </a:r>
            <a:endParaRPr lang="en-US" altLang="zh-CN" dirty="0">
              <a:solidFill>
                <a:srgbClr val="FFFF00"/>
              </a:solidFill>
              <a:ea typeface="仿宋_GB2312" pitchFamily="49" charset="-122"/>
            </a:endParaRPr>
          </a:p>
        </p:txBody>
      </p:sp>
      <p:sp>
        <p:nvSpPr>
          <p:cNvPr id="18589" name="Text Box 157"/>
          <p:cNvSpPr txBox="1"/>
          <p:nvPr/>
        </p:nvSpPr>
        <p:spPr>
          <a:xfrm>
            <a:off x="3635375" y="1916113"/>
            <a:ext cx="16573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缩短无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电阻支路</a:t>
            </a:r>
          </a:p>
        </p:txBody>
      </p:sp>
      <p:grpSp>
        <p:nvGrpSpPr>
          <p:cNvPr id="23560" name="Group 16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3658" name="Picture 162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659" name="Text Box 16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23561" name="Group 16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3656" name="Picture 16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657" name="Text Box 16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18602" name="Group 170"/>
          <p:cNvGrpSpPr/>
          <p:nvPr/>
        </p:nvGrpSpPr>
        <p:grpSpPr>
          <a:xfrm>
            <a:off x="755650" y="1268413"/>
            <a:ext cx="3382963" cy="3168650"/>
            <a:chOff x="839" y="1706"/>
            <a:chExt cx="2131" cy="1996"/>
          </a:xfrm>
        </p:grpSpPr>
        <p:sp>
          <p:nvSpPr>
            <p:cNvPr id="23633" name="Oval 171"/>
            <p:cNvSpPr/>
            <p:nvPr/>
          </p:nvSpPr>
          <p:spPr>
            <a:xfrm>
              <a:off x="1655" y="2024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34" name="Oval 172"/>
            <p:cNvSpPr/>
            <p:nvPr/>
          </p:nvSpPr>
          <p:spPr>
            <a:xfrm>
              <a:off x="1655" y="2205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35" name="Text Box 173"/>
            <p:cNvSpPr txBox="1"/>
            <p:nvPr/>
          </p:nvSpPr>
          <p:spPr>
            <a:xfrm>
              <a:off x="1066" y="2523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36" name="Text Box 174"/>
            <p:cNvSpPr txBox="1"/>
            <p:nvPr/>
          </p:nvSpPr>
          <p:spPr>
            <a:xfrm>
              <a:off x="2154" y="1842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37" name="Text Box 175"/>
            <p:cNvSpPr txBox="1"/>
            <p:nvPr/>
          </p:nvSpPr>
          <p:spPr>
            <a:xfrm>
              <a:off x="1701" y="2115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38" name="Text Box 176"/>
            <p:cNvSpPr txBox="1"/>
            <p:nvPr/>
          </p:nvSpPr>
          <p:spPr>
            <a:xfrm>
              <a:off x="1701" y="1888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39" name="Text Box 177"/>
            <p:cNvSpPr txBox="1"/>
            <p:nvPr/>
          </p:nvSpPr>
          <p:spPr>
            <a:xfrm>
              <a:off x="930" y="1752"/>
              <a:ext cx="56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40" name="Rectangle 178"/>
            <p:cNvSpPr/>
            <p:nvPr/>
          </p:nvSpPr>
          <p:spPr>
            <a:xfrm rot="2739846">
              <a:off x="1088" y="1948"/>
              <a:ext cx="1225" cy="1202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41" name="Line 179"/>
            <p:cNvSpPr/>
            <p:nvPr/>
          </p:nvSpPr>
          <p:spPr>
            <a:xfrm>
              <a:off x="1701" y="1706"/>
              <a:ext cx="0" cy="34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3642" name="Line 180"/>
            <p:cNvSpPr/>
            <p:nvPr/>
          </p:nvSpPr>
          <p:spPr>
            <a:xfrm>
              <a:off x="1701" y="2296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3643" name="Line 181"/>
            <p:cNvSpPr/>
            <p:nvPr/>
          </p:nvSpPr>
          <p:spPr>
            <a:xfrm>
              <a:off x="839" y="2523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44" name="Line 182"/>
            <p:cNvSpPr/>
            <p:nvPr/>
          </p:nvSpPr>
          <p:spPr>
            <a:xfrm>
              <a:off x="839" y="2523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45" name="Line 183"/>
            <p:cNvSpPr/>
            <p:nvPr/>
          </p:nvSpPr>
          <p:spPr>
            <a:xfrm>
              <a:off x="839" y="3702"/>
              <a:ext cx="172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46" name="Line 184"/>
            <p:cNvSpPr/>
            <p:nvPr/>
          </p:nvSpPr>
          <p:spPr>
            <a:xfrm>
              <a:off x="2562" y="2568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3647" name="Text Box 185"/>
            <p:cNvSpPr txBox="1"/>
            <p:nvPr/>
          </p:nvSpPr>
          <p:spPr>
            <a:xfrm>
              <a:off x="884" y="3022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48" name="Text Box 186"/>
            <p:cNvSpPr txBox="1"/>
            <p:nvPr/>
          </p:nvSpPr>
          <p:spPr>
            <a:xfrm>
              <a:off x="2109" y="2976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49" name="Text Box 187"/>
            <p:cNvSpPr txBox="1"/>
            <p:nvPr/>
          </p:nvSpPr>
          <p:spPr>
            <a:xfrm>
              <a:off x="1701" y="2659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50" name="Rectangle 188"/>
            <p:cNvSpPr/>
            <p:nvPr/>
          </p:nvSpPr>
          <p:spPr>
            <a:xfrm rot="2535971">
              <a:off x="1066" y="28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51" name="Rectangle 189"/>
            <p:cNvSpPr/>
            <p:nvPr/>
          </p:nvSpPr>
          <p:spPr>
            <a:xfrm rot="-2472402">
              <a:off x="1156" y="202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52" name="Rectangle 190"/>
            <p:cNvSpPr/>
            <p:nvPr/>
          </p:nvSpPr>
          <p:spPr>
            <a:xfrm rot="-2292636">
              <a:off x="2018" y="28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53" name="Rectangle 191"/>
            <p:cNvSpPr/>
            <p:nvPr/>
          </p:nvSpPr>
          <p:spPr>
            <a:xfrm rot="2535971">
              <a:off x="2018" y="211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54" name="Rectangle 192"/>
            <p:cNvSpPr/>
            <p:nvPr/>
          </p:nvSpPr>
          <p:spPr>
            <a:xfrm>
              <a:off x="1619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55" name="Rectangle 193"/>
            <p:cNvSpPr/>
            <p:nvPr/>
          </p:nvSpPr>
          <p:spPr>
            <a:xfrm>
              <a:off x="1156" y="24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8626" name="Group 194"/>
          <p:cNvGrpSpPr/>
          <p:nvPr/>
        </p:nvGrpSpPr>
        <p:grpSpPr>
          <a:xfrm>
            <a:off x="5435600" y="476250"/>
            <a:ext cx="2881313" cy="3400425"/>
            <a:chOff x="3379" y="935"/>
            <a:chExt cx="1815" cy="2142"/>
          </a:xfrm>
        </p:grpSpPr>
        <p:sp>
          <p:nvSpPr>
            <p:cNvPr id="23606" name="Line 195"/>
            <p:cNvSpPr/>
            <p:nvPr/>
          </p:nvSpPr>
          <p:spPr>
            <a:xfrm>
              <a:off x="3560" y="2432"/>
              <a:ext cx="590" cy="6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7" name="Line 196"/>
            <p:cNvSpPr/>
            <p:nvPr/>
          </p:nvSpPr>
          <p:spPr>
            <a:xfrm>
              <a:off x="3742" y="1979"/>
              <a:ext cx="862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8" name="Line 197"/>
            <p:cNvSpPr/>
            <p:nvPr/>
          </p:nvSpPr>
          <p:spPr>
            <a:xfrm flipV="1">
              <a:off x="3787" y="1208"/>
              <a:ext cx="816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9" name="Oval 198"/>
            <p:cNvSpPr/>
            <p:nvPr/>
          </p:nvSpPr>
          <p:spPr>
            <a:xfrm>
              <a:off x="4603" y="1553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10" name="Oval 199"/>
            <p:cNvSpPr/>
            <p:nvPr/>
          </p:nvSpPr>
          <p:spPr>
            <a:xfrm>
              <a:off x="4603" y="1689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11" name="Text Box 200"/>
            <p:cNvSpPr txBox="1"/>
            <p:nvPr/>
          </p:nvSpPr>
          <p:spPr>
            <a:xfrm>
              <a:off x="4059" y="1661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15</a:t>
              </a: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23612" name="Text Box 201"/>
            <p:cNvSpPr txBox="1"/>
            <p:nvPr/>
          </p:nvSpPr>
          <p:spPr>
            <a:xfrm>
              <a:off x="3379" y="935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20</a:t>
              </a: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23613" name="Text Box 202"/>
            <p:cNvSpPr txBox="1"/>
            <p:nvPr/>
          </p:nvSpPr>
          <p:spPr>
            <a:xfrm>
              <a:off x="4694" y="1553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23614" name="Text Box 203"/>
            <p:cNvSpPr txBox="1"/>
            <p:nvPr/>
          </p:nvSpPr>
          <p:spPr>
            <a:xfrm>
              <a:off x="4694" y="1327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23615" name="Text Box 204"/>
            <p:cNvSpPr txBox="1"/>
            <p:nvPr/>
          </p:nvSpPr>
          <p:spPr>
            <a:xfrm>
              <a:off x="3833" y="1298"/>
              <a:ext cx="56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5</a:t>
              </a: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23616" name="Line 205"/>
            <p:cNvSpPr/>
            <p:nvPr/>
          </p:nvSpPr>
          <p:spPr>
            <a:xfrm>
              <a:off x="4649" y="1208"/>
              <a:ext cx="0" cy="34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3617" name="Line 206"/>
            <p:cNvSpPr/>
            <p:nvPr/>
          </p:nvSpPr>
          <p:spPr>
            <a:xfrm>
              <a:off x="4649" y="1780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3618" name="Line 207"/>
            <p:cNvSpPr/>
            <p:nvPr/>
          </p:nvSpPr>
          <p:spPr>
            <a:xfrm>
              <a:off x="3787" y="2007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619" name="Text Box 208"/>
            <p:cNvSpPr txBox="1"/>
            <p:nvPr/>
          </p:nvSpPr>
          <p:spPr>
            <a:xfrm>
              <a:off x="3787" y="2432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6</a:t>
              </a: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23620" name="Text Box 209"/>
            <p:cNvSpPr txBox="1"/>
            <p:nvPr/>
          </p:nvSpPr>
          <p:spPr>
            <a:xfrm>
              <a:off x="3469" y="2750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6</a:t>
              </a: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23621" name="Text Box 210"/>
            <p:cNvSpPr txBox="1"/>
            <p:nvPr/>
          </p:nvSpPr>
          <p:spPr>
            <a:xfrm>
              <a:off x="4649" y="2205"/>
              <a:ext cx="54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7</a:t>
              </a: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23622" name="Line 211"/>
            <p:cNvSpPr/>
            <p:nvPr/>
          </p:nvSpPr>
          <p:spPr>
            <a:xfrm flipH="1">
              <a:off x="3560" y="1979"/>
              <a:ext cx="227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23" name="Line 212"/>
            <p:cNvSpPr/>
            <p:nvPr/>
          </p:nvSpPr>
          <p:spPr>
            <a:xfrm flipH="1">
              <a:off x="4150" y="2841"/>
              <a:ext cx="499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24" name="Line 213"/>
            <p:cNvSpPr/>
            <p:nvPr/>
          </p:nvSpPr>
          <p:spPr>
            <a:xfrm flipV="1">
              <a:off x="3651" y="1072"/>
              <a:ext cx="499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25" name="Line 214"/>
            <p:cNvSpPr/>
            <p:nvPr/>
          </p:nvSpPr>
          <p:spPr>
            <a:xfrm>
              <a:off x="3651" y="1480"/>
              <a:ext cx="136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26" name="Line 215"/>
            <p:cNvSpPr/>
            <p:nvPr/>
          </p:nvSpPr>
          <p:spPr>
            <a:xfrm>
              <a:off x="4150" y="1072"/>
              <a:ext cx="499" cy="1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27" name="Rectangle 216"/>
            <p:cNvSpPr/>
            <p:nvPr/>
          </p:nvSpPr>
          <p:spPr>
            <a:xfrm>
              <a:off x="4105" y="193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28" name="Rectangle 217"/>
            <p:cNvSpPr/>
            <p:nvPr/>
          </p:nvSpPr>
          <p:spPr>
            <a:xfrm>
              <a:off x="4567" y="220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29" name="Rectangle 218"/>
            <p:cNvSpPr/>
            <p:nvPr/>
          </p:nvSpPr>
          <p:spPr>
            <a:xfrm rot="-2261259">
              <a:off x="3742" y="120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30" name="Rectangle 219"/>
            <p:cNvSpPr/>
            <p:nvPr/>
          </p:nvSpPr>
          <p:spPr>
            <a:xfrm rot="-2614008">
              <a:off x="4059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31" name="Rectangle 220"/>
            <p:cNvSpPr/>
            <p:nvPr/>
          </p:nvSpPr>
          <p:spPr>
            <a:xfrm rot="2678942">
              <a:off x="3651" y="265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32" name="Rectangle 221"/>
            <p:cNvSpPr/>
            <p:nvPr/>
          </p:nvSpPr>
          <p:spPr>
            <a:xfrm rot="2607395">
              <a:off x="4014" y="238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8654" name="Group 222"/>
          <p:cNvGrpSpPr/>
          <p:nvPr/>
        </p:nvGrpSpPr>
        <p:grpSpPr>
          <a:xfrm>
            <a:off x="5867400" y="3789363"/>
            <a:ext cx="2232025" cy="2665412"/>
            <a:chOff x="839" y="1706"/>
            <a:chExt cx="1406" cy="1679"/>
          </a:xfrm>
        </p:grpSpPr>
        <p:sp>
          <p:nvSpPr>
            <p:cNvPr id="23589" name="Line 223"/>
            <p:cNvSpPr/>
            <p:nvPr/>
          </p:nvSpPr>
          <p:spPr>
            <a:xfrm flipV="1">
              <a:off x="839" y="1706"/>
              <a:ext cx="862" cy="8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0" name="Oval 224"/>
            <p:cNvSpPr/>
            <p:nvPr/>
          </p:nvSpPr>
          <p:spPr>
            <a:xfrm>
              <a:off x="1655" y="2024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91" name="Oval 225"/>
            <p:cNvSpPr/>
            <p:nvPr/>
          </p:nvSpPr>
          <p:spPr>
            <a:xfrm>
              <a:off x="1655" y="2205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92" name="Text Box 226"/>
            <p:cNvSpPr txBox="1"/>
            <p:nvPr/>
          </p:nvSpPr>
          <p:spPr>
            <a:xfrm>
              <a:off x="1066" y="2523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93" name="Text Box 227"/>
            <p:cNvSpPr txBox="1"/>
            <p:nvPr/>
          </p:nvSpPr>
          <p:spPr>
            <a:xfrm>
              <a:off x="1701" y="2115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94" name="Text Box 228"/>
            <p:cNvSpPr txBox="1"/>
            <p:nvPr/>
          </p:nvSpPr>
          <p:spPr>
            <a:xfrm>
              <a:off x="1701" y="1888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95" name="Text Box 229"/>
            <p:cNvSpPr txBox="1"/>
            <p:nvPr/>
          </p:nvSpPr>
          <p:spPr>
            <a:xfrm>
              <a:off x="930" y="1752"/>
              <a:ext cx="56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96" name="Line 230"/>
            <p:cNvSpPr/>
            <p:nvPr/>
          </p:nvSpPr>
          <p:spPr>
            <a:xfrm>
              <a:off x="1701" y="1706"/>
              <a:ext cx="0" cy="34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3597" name="Line 231"/>
            <p:cNvSpPr/>
            <p:nvPr/>
          </p:nvSpPr>
          <p:spPr>
            <a:xfrm>
              <a:off x="1701" y="2296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3598" name="Line 232"/>
            <p:cNvSpPr/>
            <p:nvPr/>
          </p:nvSpPr>
          <p:spPr>
            <a:xfrm>
              <a:off x="839" y="2523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599" name="Line 233"/>
            <p:cNvSpPr/>
            <p:nvPr/>
          </p:nvSpPr>
          <p:spPr>
            <a:xfrm>
              <a:off x="839" y="2523"/>
              <a:ext cx="862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0" name="Text Box 234"/>
            <p:cNvSpPr txBox="1"/>
            <p:nvPr/>
          </p:nvSpPr>
          <p:spPr>
            <a:xfrm>
              <a:off x="884" y="3022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01" name="Text Box 235"/>
            <p:cNvSpPr txBox="1"/>
            <p:nvPr/>
          </p:nvSpPr>
          <p:spPr>
            <a:xfrm>
              <a:off x="1701" y="2659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02" name="Rectangle 236"/>
            <p:cNvSpPr/>
            <p:nvPr/>
          </p:nvSpPr>
          <p:spPr>
            <a:xfrm rot="2535971">
              <a:off x="1066" y="28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03" name="Rectangle 237"/>
            <p:cNvSpPr/>
            <p:nvPr/>
          </p:nvSpPr>
          <p:spPr>
            <a:xfrm rot="-2472402">
              <a:off x="1156" y="202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04" name="Rectangle 238"/>
            <p:cNvSpPr/>
            <p:nvPr/>
          </p:nvSpPr>
          <p:spPr>
            <a:xfrm>
              <a:off x="1619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605" name="Rectangle 239"/>
            <p:cNvSpPr/>
            <p:nvPr/>
          </p:nvSpPr>
          <p:spPr>
            <a:xfrm>
              <a:off x="1156" y="24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8673" name="Group 241"/>
          <p:cNvGrpSpPr/>
          <p:nvPr/>
        </p:nvGrpSpPr>
        <p:grpSpPr>
          <a:xfrm>
            <a:off x="3348038" y="4278313"/>
            <a:ext cx="1728787" cy="2535237"/>
            <a:chOff x="3107" y="799"/>
            <a:chExt cx="1089" cy="1597"/>
          </a:xfrm>
        </p:grpSpPr>
        <p:sp>
          <p:nvSpPr>
            <p:cNvPr id="23573" name="Line 242"/>
            <p:cNvSpPr/>
            <p:nvPr/>
          </p:nvSpPr>
          <p:spPr>
            <a:xfrm flipH="1">
              <a:off x="3107" y="2069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4" name="Line 243"/>
            <p:cNvSpPr/>
            <p:nvPr/>
          </p:nvSpPr>
          <p:spPr>
            <a:xfrm flipV="1">
              <a:off x="3107" y="799"/>
              <a:ext cx="862" cy="8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5" name="Oval 244"/>
            <p:cNvSpPr/>
            <p:nvPr/>
          </p:nvSpPr>
          <p:spPr>
            <a:xfrm>
              <a:off x="3923" y="1117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76" name="Oval 245"/>
            <p:cNvSpPr/>
            <p:nvPr/>
          </p:nvSpPr>
          <p:spPr>
            <a:xfrm>
              <a:off x="3923" y="1298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77" name="Text Box 246"/>
            <p:cNvSpPr txBox="1"/>
            <p:nvPr/>
          </p:nvSpPr>
          <p:spPr>
            <a:xfrm>
              <a:off x="3334" y="1616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78" name="Text Box 247"/>
            <p:cNvSpPr txBox="1"/>
            <p:nvPr/>
          </p:nvSpPr>
          <p:spPr>
            <a:xfrm>
              <a:off x="3969" y="1208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79" name="Text Box 248"/>
            <p:cNvSpPr txBox="1"/>
            <p:nvPr/>
          </p:nvSpPr>
          <p:spPr>
            <a:xfrm>
              <a:off x="3969" y="98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80" name="Text Box 249"/>
            <p:cNvSpPr txBox="1"/>
            <p:nvPr/>
          </p:nvSpPr>
          <p:spPr>
            <a:xfrm>
              <a:off x="3198" y="845"/>
              <a:ext cx="56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81" name="Line 250"/>
            <p:cNvSpPr/>
            <p:nvPr/>
          </p:nvSpPr>
          <p:spPr>
            <a:xfrm>
              <a:off x="3969" y="799"/>
              <a:ext cx="0" cy="34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3582" name="Line 251"/>
            <p:cNvSpPr/>
            <p:nvPr/>
          </p:nvSpPr>
          <p:spPr>
            <a:xfrm>
              <a:off x="3969" y="1389"/>
              <a:ext cx="0" cy="68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3" name="Line 252"/>
            <p:cNvSpPr/>
            <p:nvPr/>
          </p:nvSpPr>
          <p:spPr>
            <a:xfrm>
              <a:off x="3107" y="1616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3584" name="Line 253"/>
            <p:cNvSpPr/>
            <p:nvPr/>
          </p:nvSpPr>
          <p:spPr>
            <a:xfrm>
              <a:off x="3107" y="1616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5" name="Text Box 254"/>
            <p:cNvSpPr txBox="1"/>
            <p:nvPr/>
          </p:nvSpPr>
          <p:spPr>
            <a:xfrm>
              <a:off x="3288" y="2069"/>
              <a:ext cx="6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86" name="Rectangle 255"/>
            <p:cNvSpPr/>
            <p:nvPr/>
          </p:nvSpPr>
          <p:spPr>
            <a:xfrm>
              <a:off x="3425" y="197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87" name="Rectangle 256"/>
            <p:cNvSpPr/>
            <p:nvPr/>
          </p:nvSpPr>
          <p:spPr>
            <a:xfrm rot="-2472402">
              <a:off x="3424" y="111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88" name="Rectangle 257"/>
            <p:cNvSpPr/>
            <p:nvPr/>
          </p:nvSpPr>
          <p:spPr>
            <a:xfrm>
              <a:off x="3424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8694" name="Group 262"/>
          <p:cNvGrpSpPr/>
          <p:nvPr/>
        </p:nvGrpSpPr>
        <p:grpSpPr>
          <a:xfrm>
            <a:off x="7740650" y="2133600"/>
            <a:ext cx="792163" cy="2520950"/>
            <a:chOff x="4966" y="1298"/>
            <a:chExt cx="499" cy="1769"/>
          </a:xfrm>
        </p:grpSpPr>
        <p:sp>
          <p:nvSpPr>
            <p:cNvPr id="23570" name="AutoShape 240"/>
            <p:cNvSpPr/>
            <p:nvPr/>
          </p:nvSpPr>
          <p:spPr>
            <a:xfrm rot="-5400000" flipH="1">
              <a:off x="5011" y="2613"/>
              <a:ext cx="499" cy="408"/>
            </a:xfrm>
            <a:custGeom>
              <a:avLst/>
              <a:gdLst>
                <a:gd name="txL" fmla="*/ 0 w 21600"/>
                <a:gd name="txT" fmla="*/ 16941 h 21600"/>
                <a:gd name="txR" fmla="*/ 17055 w 21600"/>
                <a:gd name="txB" fmla="*/ 21600 h 21600"/>
              </a:gdLst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5218" y="0"/>
                  </a:moveTo>
                  <a:lnTo>
                    <a:pt x="8835" y="6352"/>
                  </a:lnTo>
                  <a:lnTo>
                    <a:pt x="13381" y="6352"/>
                  </a:lnTo>
                  <a:lnTo>
                    <a:pt x="13381" y="16948"/>
                  </a:lnTo>
                  <a:lnTo>
                    <a:pt x="0" y="16948"/>
                  </a:lnTo>
                  <a:lnTo>
                    <a:pt x="0" y="21600"/>
                  </a:lnTo>
                  <a:lnTo>
                    <a:pt x="17054" y="21600"/>
                  </a:lnTo>
                  <a:lnTo>
                    <a:pt x="17054" y="6352"/>
                  </a:lnTo>
                  <a:lnTo>
                    <a:pt x="21600" y="6352"/>
                  </a:lnTo>
                  <a:lnTo>
                    <a:pt x="15218" y="0"/>
                  </a:lnTo>
                  <a:close/>
                </a:path>
              </a:pathLst>
            </a:custGeom>
            <a:solidFill>
              <a:srgbClr val="66CCFF">
                <a:alpha val="100000"/>
              </a:srgbClr>
            </a:solidFill>
            <a:ln w="9525" cap="flat" cmpd="sng">
              <a:solidFill>
                <a:srgbClr val="66CC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1" name="Rectangle 260"/>
            <p:cNvSpPr/>
            <p:nvPr/>
          </p:nvSpPr>
          <p:spPr>
            <a:xfrm>
              <a:off x="4966" y="1298"/>
              <a:ext cx="499" cy="91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72" name="Rectangle 261"/>
            <p:cNvSpPr/>
            <p:nvPr/>
          </p:nvSpPr>
          <p:spPr>
            <a:xfrm>
              <a:off x="5375" y="1389"/>
              <a:ext cx="90" cy="1225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3567" name="Group 266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3568" name="Picture 267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69" name="Text Box 26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70" decel="100000"/>
                                        <p:tgtEl>
                                          <p:spTgt spid="185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770" decel="100000"/>
                                        <p:tgtEl>
                                          <p:spTgt spid="1858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858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18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8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8" dur="770" fill="hold"/>
                                        <p:tgtEl>
                                          <p:spTgt spid="18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8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3" dur="500"/>
                                        <p:tgtEl>
                                          <p:spTgt spid="1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98" grpId="0"/>
      <p:bldP spid="18499" grpId="0" animBg="1"/>
      <p:bldP spid="18587" grpId="0" animBg="1"/>
      <p:bldP spid="18588" grpId="0" animBg="1"/>
      <p:bldP spid="1858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文本框 2"/>
          <p:cNvSpPr txBox="1"/>
          <p:nvPr>
            <p:custDataLst>
              <p:tags r:id="rId2"/>
            </p:custDataLst>
          </p:nvPr>
        </p:nvSpPr>
        <p:spPr>
          <a:xfrm>
            <a:off x="752475" y="860425"/>
            <a:ext cx="855345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理想电压源内阻（），和任意元件（）元件可以省略；</a:t>
            </a:r>
            <a:endParaRPr lang="en-US" altLang="zh-CN" sz="2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理想电流源内阻（），和任意元件（）元件可以省略；</a:t>
            </a:r>
            <a:endParaRPr lang="en-US" altLang="zh-CN" sz="2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579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为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，串联，为无穷大，并联</a:t>
            </a:r>
          </a:p>
        </p:txBody>
      </p:sp>
      <p:sp>
        <p:nvSpPr>
          <p:cNvPr id="24580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None/>
            </a:pP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为无穷大，串联，为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，并联</a:t>
            </a:r>
          </a:p>
        </p:txBody>
      </p:sp>
      <p:sp>
        <p:nvSpPr>
          <p:cNvPr id="24581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None/>
            </a:pP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为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，并联，为无穷大，串联</a:t>
            </a:r>
          </a:p>
        </p:txBody>
      </p:sp>
      <p:sp>
        <p:nvSpPr>
          <p:cNvPr id="24582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None/>
            </a:pP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为无穷大，并联，为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，串联</a:t>
            </a:r>
          </a:p>
        </p:txBody>
      </p:sp>
      <p:sp>
        <p:nvSpPr>
          <p:cNvPr id="24583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/>
          <a:p>
            <a:pPr eaLnBrk="1" hangingPunct="1"/>
            <a:r>
              <a:rPr lang="en-US" altLang="zh-CN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584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/>
          <a:p>
            <a:pPr eaLnBrk="1" hangingPunct="1"/>
            <a:r>
              <a:rPr lang="en-US" altLang="zh-CN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585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/>
          <a:p>
            <a:pPr eaLnBrk="1" hangingPunct="1"/>
            <a:r>
              <a:rPr lang="en-US" altLang="zh-CN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586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/>
          <a:p>
            <a:pPr eaLnBrk="1" hangingPunct="1"/>
            <a:r>
              <a:rPr lang="en-US" altLang="zh-CN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587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/>
          <a:p>
            <a:pPr eaLnBrk="1" hangingPunct="1"/>
            <a:r>
              <a:rPr lang="zh-CN" alt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grpSp>
        <p:nvGrpSpPr>
          <p:cNvPr id="24588" name="组合 16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4590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91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92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24593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5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24589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98" name="Group 190"/>
          <p:cNvGrpSpPr/>
          <p:nvPr/>
        </p:nvGrpSpPr>
        <p:grpSpPr>
          <a:xfrm>
            <a:off x="4140200" y="1628775"/>
            <a:ext cx="1008063" cy="735013"/>
            <a:chOff x="2744" y="935"/>
            <a:chExt cx="545" cy="463"/>
          </a:xfrm>
        </p:grpSpPr>
        <p:sp>
          <p:nvSpPr>
            <p:cNvPr id="25693" name="AutoShape 191"/>
            <p:cNvSpPr/>
            <p:nvPr/>
          </p:nvSpPr>
          <p:spPr>
            <a:xfrm>
              <a:off x="2744" y="935"/>
              <a:ext cx="544" cy="91"/>
            </a:xfrm>
            <a:prstGeom prst="rightArrow">
              <a:avLst>
                <a:gd name="adj1" fmla="val 50000"/>
                <a:gd name="adj2" fmla="val 149450"/>
              </a:avLst>
            </a:prstGeom>
            <a:solidFill>
              <a:srgbClr val="3399FF"/>
            </a:solid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94" name="Text Box 192"/>
            <p:cNvSpPr txBox="1"/>
            <p:nvPr/>
          </p:nvSpPr>
          <p:spPr>
            <a:xfrm>
              <a:off x="2744" y="1071"/>
              <a:ext cx="545" cy="327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chemeClr val="bg1"/>
                  </a:solidFill>
                  <a:ea typeface="楷体_GB2312" pitchFamily="49" charset="-122"/>
                </a:rPr>
                <a:t>断路</a:t>
              </a:r>
            </a:p>
          </p:txBody>
        </p:sp>
      </p:grpSp>
      <p:sp>
        <p:nvSpPr>
          <p:cNvPr id="17410" name="Text Box 2"/>
          <p:cNvSpPr txBox="1"/>
          <p:nvPr/>
        </p:nvSpPr>
        <p:spPr>
          <a:xfrm>
            <a:off x="468313" y="476250"/>
            <a:ext cx="8636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7445" name="Text Box 37"/>
          <p:cNvSpPr txBox="1"/>
          <p:nvPr/>
        </p:nvSpPr>
        <p:spPr>
          <a:xfrm>
            <a:off x="1331913" y="549275"/>
            <a:ext cx="15128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求</a:t>
            </a:r>
            <a:r>
              <a:rPr lang="en-US" altLang="zh-CN" sz="2800" dirty="0">
                <a:solidFill>
                  <a:srgbClr val="FFFF00"/>
                </a:solidFill>
                <a:ea typeface="仿宋_GB2312" pitchFamily="49" charset="-122"/>
              </a:rPr>
              <a:t>:  </a:t>
            </a:r>
            <a:r>
              <a: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ab</a:t>
            </a:r>
            <a:endParaRPr lang="en-US" altLang="zh-CN" sz="2400" dirty="0">
              <a:solidFill>
                <a:srgbClr val="FFFF00"/>
              </a:solidFill>
              <a:ea typeface="仿宋_GB2312" pitchFamily="49" charset="-122"/>
            </a:endParaRPr>
          </a:p>
        </p:txBody>
      </p:sp>
      <p:sp>
        <p:nvSpPr>
          <p:cNvPr id="17448" name="Text Box 40"/>
          <p:cNvSpPr txBox="1"/>
          <p:nvPr/>
        </p:nvSpPr>
        <p:spPr>
          <a:xfrm>
            <a:off x="2627313" y="908050"/>
            <a:ext cx="36004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对称电路 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等电位</a:t>
            </a:r>
          </a:p>
        </p:txBody>
      </p:sp>
      <p:grpSp>
        <p:nvGrpSpPr>
          <p:cNvPr id="17507" name="Group 99"/>
          <p:cNvGrpSpPr/>
          <p:nvPr/>
        </p:nvGrpSpPr>
        <p:grpSpPr>
          <a:xfrm>
            <a:off x="684213" y="1916113"/>
            <a:ext cx="576262" cy="519112"/>
            <a:chOff x="567" y="935"/>
            <a:chExt cx="363" cy="327"/>
          </a:xfrm>
        </p:grpSpPr>
        <p:sp>
          <p:nvSpPr>
            <p:cNvPr id="25691" name="Line 91"/>
            <p:cNvSpPr/>
            <p:nvPr/>
          </p:nvSpPr>
          <p:spPr>
            <a:xfrm>
              <a:off x="567" y="1253"/>
              <a:ext cx="363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92" name="Text Box 95"/>
            <p:cNvSpPr txBox="1"/>
            <p:nvPr/>
          </p:nvSpPr>
          <p:spPr>
            <a:xfrm>
              <a:off x="612" y="935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</p:grpSp>
      <p:grpSp>
        <p:nvGrpSpPr>
          <p:cNvPr id="17509" name="Group 101"/>
          <p:cNvGrpSpPr/>
          <p:nvPr/>
        </p:nvGrpSpPr>
        <p:grpSpPr>
          <a:xfrm>
            <a:off x="900113" y="2636838"/>
            <a:ext cx="720725" cy="519112"/>
            <a:chOff x="748" y="1434"/>
            <a:chExt cx="454" cy="327"/>
          </a:xfrm>
        </p:grpSpPr>
        <p:sp>
          <p:nvSpPr>
            <p:cNvPr id="25689" name="Line 94"/>
            <p:cNvSpPr/>
            <p:nvPr/>
          </p:nvSpPr>
          <p:spPr>
            <a:xfrm>
              <a:off x="884" y="1434"/>
              <a:ext cx="227" cy="22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90" name="Text Box 96"/>
            <p:cNvSpPr txBox="1"/>
            <p:nvPr/>
          </p:nvSpPr>
          <p:spPr>
            <a:xfrm>
              <a:off x="748" y="1434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</a:p>
          </p:txBody>
        </p:sp>
      </p:grpSp>
      <p:grpSp>
        <p:nvGrpSpPr>
          <p:cNvPr id="17508" name="Group 100"/>
          <p:cNvGrpSpPr/>
          <p:nvPr/>
        </p:nvGrpSpPr>
        <p:grpSpPr>
          <a:xfrm>
            <a:off x="3348038" y="1916113"/>
            <a:ext cx="576262" cy="519112"/>
            <a:chOff x="2109" y="935"/>
            <a:chExt cx="363" cy="327"/>
          </a:xfrm>
        </p:grpSpPr>
        <p:sp>
          <p:nvSpPr>
            <p:cNvPr id="25687" name="Line 92"/>
            <p:cNvSpPr/>
            <p:nvPr/>
          </p:nvSpPr>
          <p:spPr>
            <a:xfrm>
              <a:off x="2109" y="1253"/>
              <a:ext cx="363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88" name="Text Box 97"/>
            <p:cNvSpPr txBox="1"/>
            <p:nvPr/>
          </p:nvSpPr>
          <p:spPr>
            <a:xfrm>
              <a:off x="2200" y="935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</p:grpSp>
      <p:grpSp>
        <p:nvGrpSpPr>
          <p:cNvPr id="17510" name="Group 102"/>
          <p:cNvGrpSpPr/>
          <p:nvPr/>
        </p:nvGrpSpPr>
        <p:grpSpPr>
          <a:xfrm>
            <a:off x="3059113" y="2565400"/>
            <a:ext cx="649287" cy="519113"/>
            <a:chOff x="1927" y="1389"/>
            <a:chExt cx="409" cy="327"/>
          </a:xfrm>
        </p:grpSpPr>
        <p:sp>
          <p:nvSpPr>
            <p:cNvPr id="25685" name="Line 93"/>
            <p:cNvSpPr/>
            <p:nvPr/>
          </p:nvSpPr>
          <p:spPr>
            <a:xfrm flipV="1">
              <a:off x="1927" y="1389"/>
              <a:ext cx="226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86" name="Text Box 98"/>
            <p:cNvSpPr txBox="1"/>
            <p:nvPr/>
          </p:nvSpPr>
          <p:spPr>
            <a:xfrm>
              <a:off x="2018" y="1389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</a:p>
          </p:txBody>
        </p:sp>
      </p:grpSp>
      <p:graphicFrame>
        <p:nvGraphicFramePr>
          <p:cNvPr id="17511" name="Object 103"/>
          <p:cNvGraphicFramePr>
            <a:graphicFrameLocks/>
          </p:cNvGraphicFramePr>
          <p:nvPr/>
        </p:nvGraphicFramePr>
        <p:xfrm>
          <a:off x="4211638" y="3716338"/>
          <a:ext cx="1690687" cy="1003300"/>
        </p:xfrm>
        <a:graphic>
          <a:graphicData uri="http://schemas.openxmlformats.org/presentationml/2006/ole">
            <p:oleObj spid="_x0000_s36868" r:id="rId3" imgW="660600" imgH="380520" progId="Equation.3">
              <p:embed/>
            </p:oleObj>
          </a:graphicData>
        </a:graphic>
      </p:graphicFrame>
      <p:graphicFrame>
        <p:nvGraphicFramePr>
          <p:cNvPr id="17512" name="Object 104"/>
          <p:cNvGraphicFramePr>
            <a:graphicFrameLocks/>
          </p:cNvGraphicFramePr>
          <p:nvPr/>
        </p:nvGraphicFramePr>
        <p:xfrm>
          <a:off x="684213" y="4652963"/>
          <a:ext cx="5832475" cy="1014412"/>
        </p:xfrm>
        <a:graphic>
          <a:graphicData uri="http://schemas.openxmlformats.org/presentationml/2006/ole">
            <p:oleObj spid="_x0000_s36867" r:id="rId4" imgW="2039400" imgH="380520" progId="Equation.3">
              <p:embed/>
            </p:oleObj>
          </a:graphicData>
        </a:graphic>
      </p:graphicFrame>
      <p:graphicFrame>
        <p:nvGraphicFramePr>
          <p:cNvPr id="17513" name="Object 105"/>
          <p:cNvGraphicFramePr>
            <a:graphicFrameLocks/>
          </p:cNvGraphicFramePr>
          <p:nvPr/>
        </p:nvGraphicFramePr>
        <p:xfrm>
          <a:off x="633413" y="5445125"/>
          <a:ext cx="2282825" cy="1096963"/>
        </p:xfrm>
        <a:graphic>
          <a:graphicData uri="http://schemas.openxmlformats.org/presentationml/2006/ole">
            <p:oleObj spid="_x0000_s36866" r:id="rId5" imgW="846000" imgH="392040" progId="Equation.3">
              <p:embed/>
            </p:oleObj>
          </a:graphicData>
        </a:graphic>
      </p:graphicFrame>
      <p:graphicFrame>
        <p:nvGraphicFramePr>
          <p:cNvPr id="17514" name="Object 106"/>
          <p:cNvGraphicFramePr>
            <a:graphicFrameLocks/>
          </p:cNvGraphicFramePr>
          <p:nvPr/>
        </p:nvGraphicFramePr>
        <p:xfrm>
          <a:off x="6804025" y="3933825"/>
          <a:ext cx="1470025" cy="633413"/>
        </p:xfrm>
        <a:graphic>
          <a:graphicData uri="http://schemas.openxmlformats.org/presentationml/2006/ole">
            <p:oleObj spid="_x0000_s36865" r:id="rId6" imgW="486720" imgH="196200" progId="Equation.3">
              <p:embed/>
            </p:oleObj>
          </a:graphicData>
        </a:graphic>
      </p:graphicFrame>
      <p:grpSp>
        <p:nvGrpSpPr>
          <p:cNvPr id="17516" name="Group 108"/>
          <p:cNvGrpSpPr/>
          <p:nvPr/>
        </p:nvGrpSpPr>
        <p:grpSpPr>
          <a:xfrm>
            <a:off x="4140200" y="1628775"/>
            <a:ext cx="1008063" cy="735013"/>
            <a:chOff x="2744" y="935"/>
            <a:chExt cx="545" cy="463"/>
          </a:xfrm>
        </p:grpSpPr>
        <p:sp>
          <p:nvSpPr>
            <p:cNvPr id="25683" name="AutoShape 65"/>
            <p:cNvSpPr/>
            <p:nvPr/>
          </p:nvSpPr>
          <p:spPr>
            <a:xfrm>
              <a:off x="2744" y="935"/>
              <a:ext cx="544" cy="91"/>
            </a:xfrm>
            <a:prstGeom prst="rightArrow">
              <a:avLst>
                <a:gd name="adj1" fmla="val 50000"/>
                <a:gd name="adj2" fmla="val 149450"/>
              </a:avLst>
            </a:prstGeom>
            <a:solidFill>
              <a:srgbClr val="3399FF"/>
            </a:solid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84" name="Text Box 107"/>
            <p:cNvSpPr txBox="1"/>
            <p:nvPr/>
          </p:nvSpPr>
          <p:spPr>
            <a:xfrm>
              <a:off x="2744" y="1071"/>
              <a:ext cx="545" cy="327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ea typeface="楷体_GB2312" pitchFamily="49" charset="-122"/>
                </a:rPr>
                <a:t>短路</a:t>
              </a:r>
            </a:p>
          </p:txBody>
        </p:sp>
      </p:grpSp>
      <p:sp>
        <p:nvSpPr>
          <p:cNvPr id="17519" name="Text Box 111"/>
          <p:cNvSpPr txBox="1"/>
          <p:nvPr/>
        </p:nvSpPr>
        <p:spPr>
          <a:xfrm>
            <a:off x="468313" y="3933825"/>
            <a:ext cx="23764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根据电流分配</a:t>
            </a:r>
          </a:p>
        </p:txBody>
      </p:sp>
      <p:sp>
        <p:nvSpPr>
          <p:cNvPr id="17520" name="AutoShape 112"/>
          <p:cNvSpPr/>
          <p:nvPr/>
        </p:nvSpPr>
        <p:spPr>
          <a:xfrm>
            <a:off x="3132138" y="4149725"/>
            <a:ext cx="719137" cy="142875"/>
          </a:xfrm>
          <a:prstGeom prst="rightArrow">
            <a:avLst>
              <a:gd name="adj1" fmla="val 50000"/>
              <a:gd name="adj2" fmla="val 125833"/>
            </a:avLst>
          </a:prstGeom>
          <a:solidFill>
            <a:srgbClr val="66FF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25617" name="Group 11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5681" name="Picture 120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82" name="Text Box 12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25618" name="Group 12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5679" name="Picture 123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80" name="Text Box 12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17536" name="Group 128"/>
          <p:cNvGrpSpPr/>
          <p:nvPr/>
        </p:nvGrpSpPr>
        <p:grpSpPr>
          <a:xfrm>
            <a:off x="395288" y="1052513"/>
            <a:ext cx="3744912" cy="3011487"/>
            <a:chOff x="3061" y="0"/>
            <a:chExt cx="2359" cy="1897"/>
          </a:xfrm>
        </p:grpSpPr>
        <p:sp>
          <p:nvSpPr>
            <p:cNvPr id="25660" name="Line 129"/>
            <p:cNvSpPr/>
            <p:nvPr/>
          </p:nvSpPr>
          <p:spPr>
            <a:xfrm>
              <a:off x="3243" y="935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5661" name="Line 130"/>
            <p:cNvSpPr/>
            <p:nvPr/>
          </p:nvSpPr>
          <p:spPr>
            <a:xfrm>
              <a:off x="4241" y="300"/>
              <a:ext cx="0" cy="127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5662" name="Line 131"/>
            <p:cNvSpPr/>
            <p:nvPr/>
          </p:nvSpPr>
          <p:spPr>
            <a:xfrm>
              <a:off x="4876" y="935"/>
              <a:ext cx="3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5663" name="Oval 132"/>
            <p:cNvSpPr/>
            <p:nvPr/>
          </p:nvSpPr>
          <p:spPr>
            <a:xfrm>
              <a:off x="5239" y="890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64" name="Oval 133"/>
            <p:cNvSpPr/>
            <p:nvPr/>
          </p:nvSpPr>
          <p:spPr>
            <a:xfrm>
              <a:off x="3152" y="890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65" name="Text Box 134"/>
            <p:cNvSpPr txBox="1"/>
            <p:nvPr/>
          </p:nvSpPr>
          <p:spPr>
            <a:xfrm>
              <a:off x="5193" y="935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66" name="Text Box 135"/>
            <p:cNvSpPr txBox="1"/>
            <p:nvPr/>
          </p:nvSpPr>
          <p:spPr>
            <a:xfrm>
              <a:off x="3061" y="89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67" name="Text Box 136"/>
            <p:cNvSpPr txBox="1"/>
            <p:nvPr/>
          </p:nvSpPr>
          <p:spPr>
            <a:xfrm>
              <a:off x="4150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68" name="Text Box 137"/>
            <p:cNvSpPr txBox="1"/>
            <p:nvPr/>
          </p:nvSpPr>
          <p:spPr>
            <a:xfrm>
              <a:off x="4105" y="157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69" name="Text Box 138"/>
            <p:cNvSpPr txBox="1"/>
            <p:nvPr/>
          </p:nvSpPr>
          <p:spPr>
            <a:xfrm>
              <a:off x="3560" y="346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70" name="Text Box 139"/>
            <p:cNvSpPr txBox="1"/>
            <p:nvPr/>
          </p:nvSpPr>
          <p:spPr>
            <a:xfrm>
              <a:off x="4604" y="1253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71" name="Text Box 140"/>
            <p:cNvSpPr txBox="1"/>
            <p:nvPr/>
          </p:nvSpPr>
          <p:spPr>
            <a:xfrm>
              <a:off x="3651" y="1207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72" name="Text Box 141"/>
            <p:cNvSpPr txBox="1"/>
            <p:nvPr/>
          </p:nvSpPr>
          <p:spPr>
            <a:xfrm>
              <a:off x="4649" y="39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73" name="Rectangle 142"/>
            <p:cNvSpPr/>
            <p:nvPr/>
          </p:nvSpPr>
          <p:spPr>
            <a:xfrm rot="2686154">
              <a:off x="3787" y="482"/>
              <a:ext cx="907" cy="907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74" name="Rectangle 143"/>
            <p:cNvSpPr/>
            <p:nvPr/>
          </p:nvSpPr>
          <p:spPr>
            <a:xfrm>
              <a:off x="4159" y="7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75" name="Rectangle 144"/>
            <p:cNvSpPr/>
            <p:nvPr/>
          </p:nvSpPr>
          <p:spPr>
            <a:xfrm rot="-2472402">
              <a:off x="4422" y="120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76" name="Rectangle 145"/>
            <p:cNvSpPr/>
            <p:nvPr/>
          </p:nvSpPr>
          <p:spPr>
            <a:xfrm rot="2928758">
              <a:off x="3742" y="120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77" name="Rectangle 146"/>
            <p:cNvSpPr/>
            <p:nvPr/>
          </p:nvSpPr>
          <p:spPr>
            <a:xfrm rot="2535971">
              <a:off x="4468" y="61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78" name="Rectangle 147"/>
            <p:cNvSpPr/>
            <p:nvPr/>
          </p:nvSpPr>
          <p:spPr>
            <a:xfrm rot="-2472402">
              <a:off x="3696" y="57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7576" name="Group 168"/>
          <p:cNvGrpSpPr/>
          <p:nvPr/>
        </p:nvGrpSpPr>
        <p:grpSpPr>
          <a:xfrm>
            <a:off x="5148263" y="765175"/>
            <a:ext cx="3744912" cy="2508250"/>
            <a:chOff x="3401" y="391"/>
            <a:chExt cx="2359" cy="1580"/>
          </a:xfrm>
        </p:grpSpPr>
        <p:sp>
          <p:nvSpPr>
            <p:cNvPr id="25643" name="Line 149"/>
            <p:cNvSpPr/>
            <p:nvPr/>
          </p:nvSpPr>
          <p:spPr>
            <a:xfrm>
              <a:off x="3583" y="1326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5644" name="Line 150"/>
            <p:cNvSpPr/>
            <p:nvPr/>
          </p:nvSpPr>
          <p:spPr>
            <a:xfrm>
              <a:off x="4581" y="691"/>
              <a:ext cx="0" cy="127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5645" name="Line 151"/>
            <p:cNvSpPr/>
            <p:nvPr/>
          </p:nvSpPr>
          <p:spPr>
            <a:xfrm>
              <a:off x="5216" y="1326"/>
              <a:ext cx="3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5646" name="Oval 152"/>
            <p:cNvSpPr/>
            <p:nvPr/>
          </p:nvSpPr>
          <p:spPr>
            <a:xfrm>
              <a:off x="5579" y="1281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47" name="Oval 153"/>
            <p:cNvSpPr/>
            <p:nvPr/>
          </p:nvSpPr>
          <p:spPr>
            <a:xfrm>
              <a:off x="3492" y="1281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48" name="Text Box 154"/>
            <p:cNvSpPr txBox="1"/>
            <p:nvPr/>
          </p:nvSpPr>
          <p:spPr>
            <a:xfrm>
              <a:off x="5533" y="1326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49" name="Text Box 155"/>
            <p:cNvSpPr txBox="1"/>
            <p:nvPr/>
          </p:nvSpPr>
          <p:spPr>
            <a:xfrm>
              <a:off x="3401" y="128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50" name="Text Box 156"/>
            <p:cNvSpPr txBox="1"/>
            <p:nvPr/>
          </p:nvSpPr>
          <p:spPr>
            <a:xfrm>
              <a:off x="4490" y="39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51" name="Text Box 158"/>
            <p:cNvSpPr txBox="1"/>
            <p:nvPr/>
          </p:nvSpPr>
          <p:spPr>
            <a:xfrm>
              <a:off x="3900" y="737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52" name="Text Box 159"/>
            <p:cNvSpPr txBox="1"/>
            <p:nvPr/>
          </p:nvSpPr>
          <p:spPr>
            <a:xfrm>
              <a:off x="4944" y="1644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53" name="Text Box 160"/>
            <p:cNvSpPr txBox="1"/>
            <p:nvPr/>
          </p:nvSpPr>
          <p:spPr>
            <a:xfrm>
              <a:off x="3991" y="1598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54" name="Text Box 161"/>
            <p:cNvSpPr txBox="1"/>
            <p:nvPr/>
          </p:nvSpPr>
          <p:spPr>
            <a:xfrm>
              <a:off x="4989" y="782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55" name="Rectangle 162"/>
            <p:cNvSpPr/>
            <p:nvPr/>
          </p:nvSpPr>
          <p:spPr>
            <a:xfrm rot="2686154">
              <a:off x="4127" y="873"/>
              <a:ext cx="907" cy="907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56" name="Rectangle 164"/>
            <p:cNvSpPr/>
            <p:nvPr/>
          </p:nvSpPr>
          <p:spPr>
            <a:xfrm rot="-2472402">
              <a:off x="4762" y="159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57" name="Rectangle 165"/>
            <p:cNvSpPr/>
            <p:nvPr/>
          </p:nvSpPr>
          <p:spPr>
            <a:xfrm rot="2928758">
              <a:off x="4082" y="159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58" name="Rectangle 166"/>
            <p:cNvSpPr/>
            <p:nvPr/>
          </p:nvSpPr>
          <p:spPr>
            <a:xfrm rot="2535971">
              <a:off x="4808" y="100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59" name="Rectangle 167"/>
            <p:cNvSpPr/>
            <p:nvPr/>
          </p:nvSpPr>
          <p:spPr>
            <a:xfrm rot="-2472402">
              <a:off x="4036" y="96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7597" name="Group 189"/>
          <p:cNvGrpSpPr/>
          <p:nvPr/>
        </p:nvGrpSpPr>
        <p:grpSpPr>
          <a:xfrm>
            <a:off x="5148263" y="533400"/>
            <a:ext cx="3744912" cy="3255963"/>
            <a:chOff x="3198" y="1961"/>
            <a:chExt cx="2359" cy="2051"/>
          </a:xfrm>
        </p:grpSpPr>
        <p:sp>
          <p:nvSpPr>
            <p:cNvPr id="25625" name="Text Box 157"/>
            <p:cNvSpPr txBox="1"/>
            <p:nvPr/>
          </p:nvSpPr>
          <p:spPr>
            <a:xfrm>
              <a:off x="4445" y="196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26" name="Line 170"/>
            <p:cNvSpPr/>
            <p:nvPr/>
          </p:nvSpPr>
          <p:spPr>
            <a:xfrm>
              <a:off x="3380" y="3050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5627" name="Line 172"/>
            <p:cNvSpPr/>
            <p:nvPr/>
          </p:nvSpPr>
          <p:spPr>
            <a:xfrm>
              <a:off x="5013" y="3050"/>
              <a:ext cx="3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5628" name="Oval 173"/>
            <p:cNvSpPr/>
            <p:nvPr/>
          </p:nvSpPr>
          <p:spPr>
            <a:xfrm>
              <a:off x="5376" y="3005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29" name="Oval 174"/>
            <p:cNvSpPr/>
            <p:nvPr/>
          </p:nvSpPr>
          <p:spPr>
            <a:xfrm>
              <a:off x="3289" y="3005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30" name="Text Box 175"/>
            <p:cNvSpPr txBox="1"/>
            <p:nvPr/>
          </p:nvSpPr>
          <p:spPr>
            <a:xfrm>
              <a:off x="5330" y="305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31" name="Text Box 176"/>
            <p:cNvSpPr txBox="1"/>
            <p:nvPr/>
          </p:nvSpPr>
          <p:spPr>
            <a:xfrm>
              <a:off x="3198" y="3005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32" name="Text Box 177"/>
            <p:cNvSpPr txBox="1"/>
            <p:nvPr/>
          </p:nvSpPr>
          <p:spPr>
            <a:xfrm>
              <a:off x="4287" y="2115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33" name="Text Box 178"/>
            <p:cNvSpPr txBox="1"/>
            <p:nvPr/>
          </p:nvSpPr>
          <p:spPr>
            <a:xfrm>
              <a:off x="4242" y="3685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34" name="Text Box 179"/>
            <p:cNvSpPr txBox="1"/>
            <p:nvPr/>
          </p:nvSpPr>
          <p:spPr>
            <a:xfrm>
              <a:off x="3697" y="246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35" name="Text Box 180"/>
            <p:cNvSpPr txBox="1"/>
            <p:nvPr/>
          </p:nvSpPr>
          <p:spPr>
            <a:xfrm>
              <a:off x="4741" y="3368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36" name="Text Box 181"/>
            <p:cNvSpPr txBox="1"/>
            <p:nvPr/>
          </p:nvSpPr>
          <p:spPr>
            <a:xfrm>
              <a:off x="3788" y="3322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37" name="Text Box 182"/>
            <p:cNvSpPr txBox="1"/>
            <p:nvPr/>
          </p:nvSpPr>
          <p:spPr>
            <a:xfrm>
              <a:off x="4786" y="2506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38" name="Rectangle 183"/>
            <p:cNvSpPr/>
            <p:nvPr/>
          </p:nvSpPr>
          <p:spPr>
            <a:xfrm rot="2686154">
              <a:off x="3924" y="2597"/>
              <a:ext cx="907" cy="907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39" name="Rectangle 185"/>
            <p:cNvSpPr/>
            <p:nvPr/>
          </p:nvSpPr>
          <p:spPr>
            <a:xfrm rot="-2472402">
              <a:off x="4559" y="332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40" name="Rectangle 186"/>
            <p:cNvSpPr/>
            <p:nvPr/>
          </p:nvSpPr>
          <p:spPr>
            <a:xfrm rot="2928758">
              <a:off x="3879" y="332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41" name="Rectangle 187"/>
            <p:cNvSpPr/>
            <p:nvPr/>
          </p:nvSpPr>
          <p:spPr>
            <a:xfrm rot="2535971">
              <a:off x="4605" y="273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42" name="Rectangle 188"/>
            <p:cNvSpPr/>
            <p:nvPr/>
          </p:nvSpPr>
          <p:spPr>
            <a:xfrm rot="-2472402">
              <a:off x="3833" y="268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5622" name="Group 196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5623" name="Picture 197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24" name="Text Box 19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7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70" decel="1000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770" decel="100000"/>
                                        <p:tgtEl>
                                          <p:spTgt spid="1744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17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8" dur="770" fill="hold"/>
                                        <p:tgtEl>
                                          <p:spTgt spid="17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70" decel="100000"/>
                                        <p:tgtEl>
                                          <p:spTgt spid="175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770" decel="100000"/>
                                        <p:tgtEl>
                                          <p:spTgt spid="1751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7" dur="770" fill="hold"/>
                                        <p:tgtEl>
                                          <p:spTgt spid="17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9" dur="770" fill="hold"/>
                                        <p:tgtEl>
                                          <p:spTgt spid="17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1" dur="1" fill="hold"/>
                                        <p:tgtEl>
                                          <p:spTgt spid="1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5" dur="1" fill="hold"/>
                                        <p:tgtEl>
                                          <p:spTgt spid="1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0" dur="1" fill="hold"/>
                                        <p:tgtEl>
                                          <p:spTgt spid="1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4" dur="1" fill="hold"/>
                                        <p:tgtEl>
                                          <p:spTgt spid="1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9" dur="500"/>
                                        <p:tgtEl>
                                          <p:spTgt spid="17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3000"/>
                                        <p:tgtEl>
                                          <p:spTgt spid="1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3000"/>
                                        <p:tgtEl>
                                          <p:spTgt spid="1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45" grpId="0"/>
      <p:bldP spid="17448" grpId="0"/>
      <p:bldP spid="17519" grpId="0"/>
      <p:bldP spid="175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/>
          <p:nvPr/>
        </p:nvSpPr>
        <p:spPr>
          <a:xfrm>
            <a:off x="1150938" y="317500"/>
            <a:ext cx="6516687" cy="13112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40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电阻的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Y</a:t>
            </a:r>
            <a:r>
              <a:rPr lang="zh-CN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形连接和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zh-CN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形</a:t>
            </a:r>
            <a:r>
              <a:rPr lang="zh-CN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连接的</a:t>
            </a:r>
            <a:r>
              <a:rPr lang="zh-CN" altLang="en-US" sz="40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等效变换</a:t>
            </a:r>
          </a:p>
        </p:txBody>
      </p:sp>
      <p:sp>
        <p:nvSpPr>
          <p:cNvPr id="16396" name="Text Box 12"/>
          <p:cNvSpPr txBox="1"/>
          <p:nvPr/>
        </p:nvSpPr>
        <p:spPr>
          <a:xfrm>
            <a:off x="468313" y="1628775"/>
            <a:ext cx="4535487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1. 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电阻的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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Wingdings 3" panose="05040102010807070707" pitchFamily="18" charset="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Y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形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Wingdings 3" panose="05040102010807070707" pitchFamily="18" charset="2"/>
              </a:rPr>
              <a:t>连接</a:t>
            </a:r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97" name="Text Box 13"/>
          <p:cNvSpPr txBox="1"/>
          <p:nvPr/>
        </p:nvSpPr>
        <p:spPr>
          <a:xfrm>
            <a:off x="4643438" y="5689600"/>
            <a:ext cx="1584325" cy="547688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Y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形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网络</a:t>
            </a:r>
          </a:p>
        </p:txBody>
      </p:sp>
      <p:sp>
        <p:nvSpPr>
          <p:cNvPr id="16398" name="Text Box 14"/>
          <p:cNvSpPr txBox="1"/>
          <p:nvPr/>
        </p:nvSpPr>
        <p:spPr>
          <a:xfrm>
            <a:off x="1116013" y="5689600"/>
            <a:ext cx="1800225" cy="547688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形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网络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6630" name="AutoShape 108"/>
          <p:cNvSpPr/>
          <p:nvPr/>
        </p:nvSpPr>
        <p:spPr>
          <a:xfrm rot="5936374">
            <a:off x="2771775" y="2276475"/>
            <a:ext cx="647700" cy="288925"/>
          </a:xfrm>
          <a:prstGeom prst="rightArrow">
            <a:avLst>
              <a:gd name="adj1" fmla="val 50000"/>
              <a:gd name="adj2" fmla="val 56043"/>
            </a:avLst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6498" name="AutoShape 114" descr="羊皮纸"/>
          <p:cNvSpPr/>
          <p:nvPr/>
        </p:nvSpPr>
        <p:spPr>
          <a:xfrm>
            <a:off x="3708400" y="2276475"/>
            <a:ext cx="1152525" cy="647700"/>
          </a:xfrm>
          <a:prstGeom prst="wedgeRoundRectCallout">
            <a:avLst>
              <a:gd name="adj1" fmla="val 119421"/>
              <a:gd name="adj2" fmla="val -29412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包含</a:t>
            </a:r>
          </a:p>
        </p:txBody>
      </p:sp>
      <p:sp>
        <p:nvSpPr>
          <p:cNvPr id="16499" name="AutoShape 115" descr="羊皮纸"/>
          <p:cNvSpPr/>
          <p:nvPr/>
        </p:nvSpPr>
        <p:spPr>
          <a:xfrm>
            <a:off x="7524750" y="3933825"/>
            <a:ext cx="1150938" cy="863600"/>
          </a:xfrm>
          <a:prstGeom prst="wedgeRoundRectCallout">
            <a:avLst>
              <a:gd name="adj1" fmla="val -154139"/>
              <a:gd name="adj2" fmla="val 35111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三端网络</a:t>
            </a:r>
          </a:p>
        </p:txBody>
      </p:sp>
      <p:grpSp>
        <p:nvGrpSpPr>
          <p:cNvPr id="26633" name="Group 11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6688" name="Picture 12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89" name="Text Box 12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26634" name="Group 12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6686" name="Picture 12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87" name="Text Box 12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16535" name="Group 151"/>
          <p:cNvGrpSpPr/>
          <p:nvPr/>
        </p:nvGrpSpPr>
        <p:grpSpPr>
          <a:xfrm>
            <a:off x="5148263" y="1484313"/>
            <a:ext cx="3744912" cy="2060575"/>
            <a:chOff x="3061" y="1026"/>
            <a:chExt cx="2359" cy="1298"/>
          </a:xfrm>
        </p:grpSpPr>
        <p:sp>
          <p:nvSpPr>
            <p:cNvPr id="26668" name="Line 129"/>
            <p:cNvSpPr/>
            <p:nvPr/>
          </p:nvSpPr>
          <p:spPr>
            <a:xfrm>
              <a:off x="3243" y="1689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6669" name="Line 130"/>
            <p:cNvSpPr/>
            <p:nvPr/>
          </p:nvSpPr>
          <p:spPr>
            <a:xfrm>
              <a:off x="4241" y="1054"/>
              <a:ext cx="0" cy="127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6670" name="Line 131"/>
            <p:cNvSpPr/>
            <p:nvPr/>
          </p:nvSpPr>
          <p:spPr>
            <a:xfrm>
              <a:off x="4876" y="1689"/>
              <a:ext cx="3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6671" name="Oval 132"/>
            <p:cNvSpPr/>
            <p:nvPr/>
          </p:nvSpPr>
          <p:spPr>
            <a:xfrm>
              <a:off x="5239" y="1644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2" name="Oval 133"/>
            <p:cNvSpPr/>
            <p:nvPr/>
          </p:nvSpPr>
          <p:spPr>
            <a:xfrm>
              <a:off x="3152" y="1644"/>
              <a:ext cx="90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3" name="Text Box 134"/>
            <p:cNvSpPr txBox="1"/>
            <p:nvPr/>
          </p:nvSpPr>
          <p:spPr>
            <a:xfrm>
              <a:off x="5193" y="1689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4" name="Text Box 135"/>
            <p:cNvSpPr txBox="1"/>
            <p:nvPr/>
          </p:nvSpPr>
          <p:spPr>
            <a:xfrm>
              <a:off x="3061" y="1644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5" name="Text Box 138"/>
            <p:cNvSpPr txBox="1"/>
            <p:nvPr/>
          </p:nvSpPr>
          <p:spPr>
            <a:xfrm>
              <a:off x="3560" y="1026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676" name="Text Box 139"/>
            <p:cNvSpPr txBox="1"/>
            <p:nvPr/>
          </p:nvSpPr>
          <p:spPr>
            <a:xfrm>
              <a:off x="4241" y="148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7" name="Rectangle 142"/>
            <p:cNvSpPr/>
            <p:nvPr/>
          </p:nvSpPr>
          <p:spPr>
            <a:xfrm rot="2686154">
              <a:off x="3787" y="1236"/>
              <a:ext cx="907" cy="907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8" name="Rectangle 143"/>
            <p:cNvSpPr/>
            <p:nvPr/>
          </p:nvSpPr>
          <p:spPr>
            <a:xfrm>
              <a:off x="4159" y="150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9" name="Rectangle 144"/>
            <p:cNvSpPr/>
            <p:nvPr/>
          </p:nvSpPr>
          <p:spPr>
            <a:xfrm rot="-2472402">
              <a:off x="4422" y="196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0" name="Rectangle 145"/>
            <p:cNvSpPr/>
            <p:nvPr/>
          </p:nvSpPr>
          <p:spPr>
            <a:xfrm rot="2928758">
              <a:off x="3742" y="19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1" name="Rectangle 146"/>
            <p:cNvSpPr/>
            <p:nvPr/>
          </p:nvSpPr>
          <p:spPr>
            <a:xfrm rot="2535971">
              <a:off x="4468" y="137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2" name="Rectangle 147"/>
            <p:cNvSpPr/>
            <p:nvPr/>
          </p:nvSpPr>
          <p:spPr>
            <a:xfrm rot="-2472402">
              <a:off x="3696" y="132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3" name="Text Box 148"/>
            <p:cNvSpPr txBox="1"/>
            <p:nvPr/>
          </p:nvSpPr>
          <p:spPr>
            <a:xfrm>
              <a:off x="4604" y="1979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6684" name="Text Box 149"/>
            <p:cNvSpPr txBox="1"/>
            <p:nvPr/>
          </p:nvSpPr>
          <p:spPr>
            <a:xfrm>
              <a:off x="3560" y="1933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6685" name="Text Box 150"/>
            <p:cNvSpPr txBox="1"/>
            <p:nvPr/>
          </p:nvSpPr>
          <p:spPr>
            <a:xfrm>
              <a:off x="4649" y="1117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16536" name="Line 152"/>
          <p:cNvSpPr/>
          <p:nvPr/>
        </p:nvSpPr>
        <p:spPr>
          <a:xfrm flipH="1">
            <a:off x="2987675" y="3097213"/>
            <a:ext cx="504825" cy="43180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537" name="Line 153"/>
          <p:cNvSpPr/>
          <p:nvPr/>
        </p:nvSpPr>
        <p:spPr>
          <a:xfrm>
            <a:off x="4572000" y="3241675"/>
            <a:ext cx="360363" cy="576263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6538" name="Group 154"/>
          <p:cNvGrpSpPr/>
          <p:nvPr/>
        </p:nvGrpSpPr>
        <p:grpSpPr>
          <a:xfrm>
            <a:off x="684213" y="3170238"/>
            <a:ext cx="2598737" cy="2390775"/>
            <a:chOff x="3198" y="210"/>
            <a:chExt cx="1637" cy="1506"/>
          </a:xfrm>
        </p:grpSpPr>
        <p:sp>
          <p:nvSpPr>
            <p:cNvPr id="26655" name="Line 155"/>
            <p:cNvSpPr/>
            <p:nvPr/>
          </p:nvSpPr>
          <p:spPr>
            <a:xfrm flipV="1">
              <a:off x="3198" y="1344"/>
              <a:ext cx="272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6656" name="Text Box 156"/>
            <p:cNvSpPr txBox="1"/>
            <p:nvPr/>
          </p:nvSpPr>
          <p:spPr>
            <a:xfrm>
              <a:off x="3259" y="663"/>
              <a:ext cx="52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7" name="Text Box 157"/>
            <p:cNvSpPr txBox="1"/>
            <p:nvPr/>
          </p:nvSpPr>
          <p:spPr>
            <a:xfrm>
              <a:off x="4377" y="663"/>
              <a:ext cx="45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31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8" name="Text Box 158"/>
            <p:cNvSpPr txBox="1"/>
            <p:nvPr/>
          </p:nvSpPr>
          <p:spPr>
            <a:xfrm>
              <a:off x="3787" y="1389"/>
              <a:ext cx="50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23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9" name="Text Box 159"/>
            <p:cNvSpPr txBox="1"/>
            <p:nvPr/>
          </p:nvSpPr>
          <p:spPr>
            <a:xfrm>
              <a:off x="4014" y="255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660" name="Text Box 160"/>
            <p:cNvSpPr txBox="1"/>
            <p:nvPr/>
          </p:nvSpPr>
          <p:spPr>
            <a:xfrm>
              <a:off x="3198" y="1117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6661" name="Text Box 161"/>
            <p:cNvSpPr txBox="1"/>
            <p:nvPr/>
          </p:nvSpPr>
          <p:spPr>
            <a:xfrm>
              <a:off x="4558" y="107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6662" name="AutoShape 162"/>
            <p:cNvSpPr/>
            <p:nvPr/>
          </p:nvSpPr>
          <p:spPr>
            <a:xfrm>
              <a:off x="3470" y="482"/>
              <a:ext cx="1088" cy="862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63" name="Line 163"/>
            <p:cNvSpPr/>
            <p:nvPr/>
          </p:nvSpPr>
          <p:spPr>
            <a:xfrm flipH="1" flipV="1">
              <a:off x="4558" y="1344"/>
              <a:ext cx="227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6664" name="Line 164"/>
            <p:cNvSpPr/>
            <p:nvPr/>
          </p:nvSpPr>
          <p:spPr>
            <a:xfrm flipV="1">
              <a:off x="4014" y="210"/>
              <a:ext cx="0" cy="2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6665" name="Rectangle 165"/>
            <p:cNvSpPr/>
            <p:nvPr/>
          </p:nvSpPr>
          <p:spPr>
            <a:xfrm rot="3288909">
              <a:off x="4150" y="8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66" name="Rectangle 166"/>
            <p:cNvSpPr/>
            <p:nvPr/>
          </p:nvSpPr>
          <p:spPr>
            <a:xfrm rot="-3189269">
              <a:off x="3605" y="8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67" name="Rectangle 167"/>
            <p:cNvSpPr/>
            <p:nvPr/>
          </p:nvSpPr>
          <p:spPr>
            <a:xfrm>
              <a:off x="3878" y="129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6552" name="Group 168"/>
          <p:cNvGrpSpPr/>
          <p:nvPr/>
        </p:nvGrpSpPr>
        <p:grpSpPr>
          <a:xfrm>
            <a:off x="3924300" y="3011488"/>
            <a:ext cx="2735263" cy="2678112"/>
            <a:chOff x="3243" y="482"/>
            <a:chExt cx="1723" cy="1687"/>
          </a:xfrm>
        </p:grpSpPr>
        <p:sp>
          <p:nvSpPr>
            <p:cNvPr id="26643" name="Line 169"/>
            <p:cNvSpPr/>
            <p:nvPr/>
          </p:nvSpPr>
          <p:spPr>
            <a:xfrm flipH="1" flipV="1">
              <a:off x="4059" y="618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cxnSp>
          <p:nvCxnSpPr>
            <p:cNvPr id="26644" name="AutoShape 170"/>
            <p:cNvCxnSpPr/>
            <p:nvPr/>
          </p:nvCxnSpPr>
          <p:spPr>
            <a:xfrm flipH="1">
              <a:off x="3243" y="1434"/>
              <a:ext cx="833" cy="545"/>
            </a:xfrm>
            <a:prstGeom prst="straightConnector1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cxnSp>
        <p:sp>
          <p:nvSpPr>
            <p:cNvPr id="26645" name="Text Box 171"/>
            <p:cNvSpPr txBox="1"/>
            <p:nvPr/>
          </p:nvSpPr>
          <p:spPr>
            <a:xfrm>
              <a:off x="4105" y="890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46" name="Text Box 172"/>
            <p:cNvSpPr txBox="1"/>
            <p:nvPr/>
          </p:nvSpPr>
          <p:spPr>
            <a:xfrm>
              <a:off x="3334" y="1344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47" name="Text Box 173"/>
            <p:cNvSpPr txBox="1"/>
            <p:nvPr/>
          </p:nvSpPr>
          <p:spPr>
            <a:xfrm>
              <a:off x="4422" y="1253"/>
              <a:ext cx="5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48" name="Text Box 174"/>
            <p:cNvSpPr txBox="1"/>
            <p:nvPr/>
          </p:nvSpPr>
          <p:spPr>
            <a:xfrm>
              <a:off x="4059" y="482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649" name="Text Box 175"/>
            <p:cNvSpPr txBox="1"/>
            <p:nvPr/>
          </p:nvSpPr>
          <p:spPr>
            <a:xfrm>
              <a:off x="3334" y="1842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6650" name="Text Box 176"/>
            <p:cNvSpPr txBox="1"/>
            <p:nvPr/>
          </p:nvSpPr>
          <p:spPr>
            <a:xfrm>
              <a:off x="4694" y="1797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26651" name="AutoShape 177"/>
            <p:cNvCxnSpPr/>
            <p:nvPr/>
          </p:nvCxnSpPr>
          <p:spPr>
            <a:xfrm flipH="1" flipV="1">
              <a:off x="4059" y="1434"/>
              <a:ext cx="907" cy="454"/>
            </a:xfrm>
            <a:prstGeom prst="straightConnector1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cxnSp>
        <p:sp>
          <p:nvSpPr>
            <p:cNvPr id="26652" name="Rectangle 178"/>
            <p:cNvSpPr/>
            <p:nvPr/>
          </p:nvSpPr>
          <p:spPr>
            <a:xfrm>
              <a:off x="4014" y="84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53" name="Rectangle 179"/>
            <p:cNvSpPr/>
            <p:nvPr/>
          </p:nvSpPr>
          <p:spPr>
            <a:xfrm rot="-2160240">
              <a:off x="3470" y="166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54" name="Rectangle 180"/>
            <p:cNvSpPr/>
            <p:nvPr/>
          </p:nvSpPr>
          <p:spPr>
            <a:xfrm rot="1621838">
              <a:off x="4377" y="161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6640" name="Group 184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6641" name="Picture 18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42" name="Text Box 18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7" dur="2000"/>
                                        <p:tgtEl>
                                          <p:spTgt spid="1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96" grpId="0"/>
      <p:bldP spid="16397" grpId="0" animBg="1"/>
      <p:bldP spid="16398" grpId="0" animBg="1"/>
      <p:bldP spid="16498" grpId="0" animBg="1"/>
      <p:bldP spid="1649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Text Box 4"/>
          <p:cNvSpPr txBox="1"/>
          <p:nvPr/>
        </p:nvSpPr>
        <p:spPr>
          <a:xfrm>
            <a:off x="755650" y="620713"/>
            <a:ext cx="3960813" cy="557212"/>
          </a:xfrm>
          <a:prstGeom prst="rect">
            <a:avLst/>
          </a:prstGeom>
          <a:noFill/>
          <a:ln w="38100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FFFF00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 </a:t>
            </a:r>
            <a:r>
              <a:rPr lang="zh-CN" altLang="en-US" sz="2800" dirty="0">
                <a:solidFill>
                  <a:srgbClr val="FFFF00"/>
                </a:solidFill>
                <a:latin typeface="仿宋_GB2312" pitchFamily="49" charset="-122"/>
                <a:ea typeface="仿宋_GB2312" pitchFamily="49" charset="-122"/>
                <a:sym typeface="Wingdings 3" panose="05040102010807070707" pitchFamily="18" charset="2"/>
              </a:rPr>
              <a:t>，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  <a:sym typeface="Wingdings 3" panose="05040102010807070707" pitchFamily="18" charset="2"/>
              </a:rPr>
              <a:t>Y</a:t>
            </a:r>
            <a:r>
              <a:rPr lang="en-US" altLang="zh-CN" sz="2800" b="1" dirty="0">
                <a:solidFill>
                  <a:srgbClr val="FFFF00"/>
                </a:solidFill>
                <a:latin typeface="仿宋_GB2312" pitchFamily="49" charset="-122"/>
                <a:ea typeface="仿宋_GB2312" pitchFamily="49" charset="-122"/>
                <a:sym typeface="Wingdings 3" panose="05040102010807070707" pitchFamily="18" charset="2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网络的变形：</a:t>
            </a:r>
          </a:p>
        </p:txBody>
      </p:sp>
      <p:sp>
        <p:nvSpPr>
          <p:cNvPr id="25628" name="Text Box 28"/>
          <p:cNvSpPr txBox="1"/>
          <p:nvPr/>
        </p:nvSpPr>
        <p:spPr>
          <a:xfrm>
            <a:off x="755650" y="3284538"/>
            <a:ext cx="2879725" cy="557212"/>
          </a:xfrm>
          <a:prstGeom prst="rect">
            <a:avLst/>
          </a:prstGeom>
          <a:noFill/>
          <a:ln w="38100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型电路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型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5629" name="Text Box 29"/>
          <p:cNvSpPr txBox="1"/>
          <p:nvPr/>
        </p:nvSpPr>
        <p:spPr>
          <a:xfrm>
            <a:off x="4643438" y="3284538"/>
            <a:ext cx="3457575" cy="557212"/>
          </a:xfrm>
          <a:prstGeom prst="rect">
            <a:avLst/>
          </a:prstGeom>
          <a:noFill/>
          <a:ln w="38100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型电路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Y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、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Wingdings 3" panose="05040102010807070707" pitchFamily="18" charset="2"/>
              </a:rPr>
              <a:t>星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型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5631" name="Text Box 31"/>
          <p:cNvSpPr txBox="1"/>
          <p:nvPr/>
        </p:nvSpPr>
        <p:spPr>
          <a:xfrm>
            <a:off x="1403350" y="4508500"/>
            <a:ext cx="7345363" cy="11176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0" lvl="0" indent="-180975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这两个电路当它们的电阻满足一定的关</a:t>
            </a:r>
          </a:p>
          <a:p>
            <a:pPr marL="1809750" lvl="0" indent="-180975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系时，能够相互等效 。                 </a:t>
            </a:r>
          </a:p>
        </p:txBody>
      </p:sp>
      <p:grpSp>
        <p:nvGrpSpPr>
          <p:cNvPr id="27654" name="Group 3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7679" name="Picture 3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80" name="Text Box 3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27655" name="Group 4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7677" name="Picture 4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78" name="Text Box 4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25646" name="Group 46"/>
          <p:cNvGrpSpPr/>
          <p:nvPr/>
        </p:nvGrpSpPr>
        <p:grpSpPr>
          <a:xfrm>
            <a:off x="1042988" y="1412875"/>
            <a:ext cx="2533650" cy="1520825"/>
            <a:chOff x="839" y="2069"/>
            <a:chExt cx="1596" cy="958"/>
          </a:xfrm>
        </p:grpSpPr>
        <p:sp>
          <p:nvSpPr>
            <p:cNvPr id="27670" name="Line 47"/>
            <p:cNvSpPr/>
            <p:nvPr/>
          </p:nvSpPr>
          <p:spPr>
            <a:xfrm flipV="1">
              <a:off x="851" y="2162"/>
              <a:ext cx="1584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7671" name="Line 48"/>
            <p:cNvSpPr/>
            <p:nvPr/>
          </p:nvSpPr>
          <p:spPr>
            <a:xfrm>
              <a:off x="839" y="3027"/>
              <a:ext cx="15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7672" name="Line 49"/>
            <p:cNvSpPr/>
            <p:nvPr/>
          </p:nvSpPr>
          <p:spPr>
            <a:xfrm>
              <a:off x="1338" y="2163"/>
              <a:ext cx="0" cy="86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7673" name="Line 50"/>
            <p:cNvSpPr/>
            <p:nvPr/>
          </p:nvSpPr>
          <p:spPr>
            <a:xfrm>
              <a:off x="1979" y="2163"/>
              <a:ext cx="0" cy="86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7674" name="Rectangle 51"/>
            <p:cNvSpPr/>
            <p:nvPr/>
          </p:nvSpPr>
          <p:spPr>
            <a:xfrm>
              <a:off x="1519" y="206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75" name="Rectangle 52"/>
            <p:cNvSpPr/>
            <p:nvPr/>
          </p:nvSpPr>
          <p:spPr>
            <a:xfrm>
              <a:off x="1927" y="243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76" name="Rectangle 53"/>
            <p:cNvSpPr/>
            <p:nvPr/>
          </p:nvSpPr>
          <p:spPr>
            <a:xfrm>
              <a:off x="1256" y="243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5654" name="Group 54"/>
          <p:cNvGrpSpPr/>
          <p:nvPr/>
        </p:nvGrpSpPr>
        <p:grpSpPr>
          <a:xfrm>
            <a:off x="5148263" y="1484313"/>
            <a:ext cx="2400300" cy="1458912"/>
            <a:chOff x="3228" y="845"/>
            <a:chExt cx="1512" cy="919"/>
          </a:xfrm>
        </p:grpSpPr>
        <p:sp>
          <p:nvSpPr>
            <p:cNvPr id="27664" name="Line 55"/>
            <p:cNvSpPr/>
            <p:nvPr/>
          </p:nvSpPr>
          <p:spPr>
            <a:xfrm>
              <a:off x="3228" y="900"/>
              <a:ext cx="151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7665" name="Line 56"/>
            <p:cNvSpPr/>
            <p:nvPr/>
          </p:nvSpPr>
          <p:spPr>
            <a:xfrm>
              <a:off x="3228" y="1764"/>
              <a:ext cx="151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7666" name="Line 57"/>
            <p:cNvSpPr/>
            <p:nvPr/>
          </p:nvSpPr>
          <p:spPr>
            <a:xfrm>
              <a:off x="3984" y="900"/>
              <a:ext cx="0" cy="86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7667" name="Rectangle 58"/>
            <p:cNvSpPr/>
            <p:nvPr/>
          </p:nvSpPr>
          <p:spPr>
            <a:xfrm>
              <a:off x="4195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68" name="Rectangle 59"/>
            <p:cNvSpPr/>
            <p:nvPr/>
          </p:nvSpPr>
          <p:spPr>
            <a:xfrm>
              <a:off x="3424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7669" name="Rectangle 60"/>
            <p:cNvSpPr/>
            <p:nvPr/>
          </p:nvSpPr>
          <p:spPr>
            <a:xfrm>
              <a:off x="3923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5661" name="Group 61"/>
          <p:cNvGrpSpPr/>
          <p:nvPr/>
        </p:nvGrpSpPr>
        <p:grpSpPr>
          <a:xfrm>
            <a:off x="468313" y="4365625"/>
            <a:ext cx="1644650" cy="850900"/>
            <a:chOff x="385" y="3022"/>
            <a:chExt cx="1036" cy="536"/>
          </a:xfrm>
        </p:grpSpPr>
        <p:pic>
          <p:nvPicPr>
            <p:cNvPr id="27662" name="Picture 62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63" name="Text Box 63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CC6600"/>
                  </a:solidFill>
                  <a:ea typeface="华文行楷" panose="02010800040101010101" pitchFamily="2" charset="-122"/>
                </a:rPr>
                <a:t>注意</a:t>
              </a:r>
            </a:p>
          </p:txBody>
        </p:sp>
      </p:grpSp>
      <p:grpSp>
        <p:nvGrpSpPr>
          <p:cNvPr id="27659" name="Group 67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7660" name="Picture 6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61" name="Text Box 6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1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/>
      <p:bldP spid="25628" grpId="0" animBg="1"/>
      <p:bldP spid="25629" grpId="0" animBg="1"/>
      <p:bldP spid="256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47" name="Text Box 67"/>
          <p:cNvSpPr txBox="1"/>
          <p:nvPr/>
        </p:nvSpPr>
        <p:spPr>
          <a:xfrm>
            <a:off x="2054225" y="4724400"/>
            <a:ext cx="6694488" cy="13112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  i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=i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1Y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,       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=i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2Y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i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=i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3Y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,</a:t>
            </a:r>
            <a:endParaRPr lang="en-US" altLang="zh-CN" i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=u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12Y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23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=u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23Y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,    u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31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=u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31Y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6148" name="Text Box 68"/>
          <p:cNvSpPr txBox="1"/>
          <p:nvPr/>
        </p:nvSpPr>
        <p:spPr>
          <a:xfrm>
            <a:off x="539750" y="476250"/>
            <a:ext cx="48958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2. 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sym typeface="Wingdings 3" panose="05040102010807070707" pitchFamily="18" charset="2"/>
              </a:rPr>
              <a:t>—Y</a:t>
            </a:r>
            <a:r>
              <a:rPr lang="en-US" altLang="zh-CN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sym typeface="Wingdings 3" panose="05040102010807070707" pitchFamily="18" charset="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变换的等效条件</a:t>
            </a:r>
          </a:p>
        </p:txBody>
      </p:sp>
      <p:sp>
        <p:nvSpPr>
          <p:cNvPr id="46152" name="Text Box 72"/>
          <p:cNvSpPr txBox="1"/>
          <p:nvPr/>
        </p:nvSpPr>
        <p:spPr>
          <a:xfrm>
            <a:off x="466725" y="5070475"/>
            <a:ext cx="21605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等效条件：</a:t>
            </a:r>
          </a:p>
        </p:txBody>
      </p:sp>
      <p:grpSp>
        <p:nvGrpSpPr>
          <p:cNvPr id="28677" name="Group 7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8741" name="Picture 7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42" name="Text Box 7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28678" name="Group 8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8739" name="Picture 8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40" name="Text Box 8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46166" name="Group 86"/>
          <p:cNvGrpSpPr/>
          <p:nvPr/>
        </p:nvGrpSpPr>
        <p:grpSpPr>
          <a:xfrm>
            <a:off x="323850" y="908050"/>
            <a:ext cx="4341813" cy="3687763"/>
            <a:chOff x="2562" y="300"/>
            <a:chExt cx="2735" cy="2323"/>
          </a:xfrm>
        </p:grpSpPr>
        <p:sp>
          <p:nvSpPr>
            <p:cNvPr id="28711" name="Text Box 87"/>
            <p:cNvSpPr txBox="1"/>
            <p:nvPr/>
          </p:nvSpPr>
          <p:spPr>
            <a:xfrm>
              <a:off x="3742" y="2251"/>
              <a:ext cx="63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23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2" name="Line 88"/>
            <p:cNvSpPr/>
            <p:nvPr/>
          </p:nvSpPr>
          <p:spPr>
            <a:xfrm>
              <a:off x="3833" y="709"/>
              <a:ext cx="0" cy="336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13" name="Text Box 89"/>
            <p:cNvSpPr txBox="1"/>
            <p:nvPr/>
          </p:nvSpPr>
          <p:spPr>
            <a:xfrm>
              <a:off x="4694" y="1706"/>
              <a:ext cx="41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3 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baseline="30000" dirty="0">
                <a:solidFill>
                  <a:srgbClr val="00FFFF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8714" name="Text Box 90"/>
            <p:cNvSpPr txBox="1"/>
            <p:nvPr/>
          </p:nvSpPr>
          <p:spPr>
            <a:xfrm>
              <a:off x="2699" y="1706"/>
              <a:ext cx="43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2 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baseline="30000" dirty="0">
                <a:solidFill>
                  <a:srgbClr val="00FFFF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8715" name="Text Box 91"/>
            <p:cNvSpPr txBox="1"/>
            <p:nvPr/>
          </p:nvSpPr>
          <p:spPr>
            <a:xfrm>
              <a:off x="3424" y="709"/>
              <a:ext cx="48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i="1" dirty="0">
                <a:solidFill>
                  <a:srgbClr val="00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6" name="Freeform 92"/>
            <p:cNvSpPr/>
            <p:nvPr/>
          </p:nvSpPr>
          <p:spPr>
            <a:xfrm rot="-481287">
              <a:off x="2925" y="1979"/>
              <a:ext cx="303" cy="169"/>
            </a:xfrm>
            <a:custGeom>
              <a:avLst/>
              <a:gdLst/>
              <a:ahLst/>
              <a:cxnLst>
                <a:cxn ang="0">
                  <a:pos x="0" y="169"/>
                </a:cxn>
                <a:cxn ang="0">
                  <a:pos x="303" y="0"/>
                </a:cxn>
              </a:cxnLst>
              <a:rect l="0" t="0" r="0" b="0"/>
              <a:pathLst>
                <a:path w="303" h="169">
                  <a:moveTo>
                    <a:pt x="0" y="169"/>
                  </a:moveTo>
                  <a:lnTo>
                    <a:pt x="303" y="0"/>
                  </a:lnTo>
                </a:path>
              </a:pathLst>
            </a:custGeom>
            <a:noFill/>
            <a:ln w="28575" cap="flat" cmpd="sng">
              <a:solidFill>
                <a:srgbClr val="66FF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7" name="Freeform 93"/>
            <p:cNvSpPr/>
            <p:nvPr/>
          </p:nvSpPr>
          <p:spPr>
            <a:xfrm>
              <a:off x="4649" y="1979"/>
              <a:ext cx="296" cy="195"/>
            </a:xfrm>
            <a:custGeom>
              <a:avLst/>
              <a:gdLst/>
              <a:ahLst/>
              <a:cxnLst>
                <a:cxn ang="0">
                  <a:pos x="296" y="195"/>
                </a:cxn>
                <a:cxn ang="0">
                  <a:pos x="0" y="0"/>
                </a:cxn>
              </a:cxnLst>
              <a:rect l="0" t="0" r="0" b="0"/>
              <a:pathLst>
                <a:path w="296" h="195">
                  <a:moveTo>
                    <a:pt x="296" y="195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66FF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8" name="Text Box 94"/>
            <p:cNvSpPr txBox="1"/>
            <p:nvPr/>
          </p:nvSpPr>
          <p:spPr>
            <a:xfrm>
              <a:off x="3560" y="482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8719" name="Text Box 95"/>
            <p:cNvSpPr txBox="1"/>
            <p:nvPr/>
          </p:nvSpPr>
          <p:spPr>
            <a:xfrm>
              <a:off x="3016" y="2205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8720" name="Text Box 96"/>
            <p:cNvSpPr txBox="1"/>
            <p:nvPr/>
          </p:nvSpPr>
          <p:spPr>
            <a:xfrm>
              <a:off x="5057" y="1842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8721" name="Text Box 97"/>
            <p:cNvSpPr txBox="1"/>
            <p:nvPr/>
          </p:nvSpPr>
          <p:spPr>
            <a:xfrm>
              <a:off x="4105" y="39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8722" name="Text Box 98"/>
            <p:cNvSpPr txBox="1"/>
            <p:nvPr/>
          </p:nvSpPr>
          <p:spPr>
            <a:xfrm>
              <a:off x="2562" y="202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8723" name="Text Box 99"/>
            <p:cNvSpPr txBox="1"/>
            <p:nvPr/>
          </p:nvSpPr>
          <p:spPr>
            <a:xfrm>
              <a:off x="4604" y="225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8724" name="Text Box 100"/>
            <p:cNvSpPr txBox="1"/>
            <p:nvPr/>
          </p:nvSpPr>
          <p:spPr>
            <a:xfrm>
              <a:off x="2653" y="1026"/>
              <a:ext cx="54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12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25" name="Text Box 101"/>
            <p:cNvSpPr txBox="1"/>
            <p:nvPr/>
          </p:nvSpPr>
          <p:spPr>
            <a:xfrm>
              <a:off x="4513" y="981"/>
              <a:ext cx="54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31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26" name="Line 102"/>
            <p:cNvSpPr/>
            <p:nvPr/>
          </p:nvSpPr>
          <p:spPr>
            <a:xfrm flipV="1">
              <a:off x="2925" y="1933"/>
              <a:ext cx="454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727" name="Text Box 103"/>
            <p:cNvSpPr txBox="1"/>
            <p:nvPr/>
          </p:nvSpPr>
          <p:spPr>
            <a:xfrm>
              <a:off x="3168" y="1252"/>
              <a:ext cx="52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28" name="Text Box 104"/>
            <p:cNvSpPr txBox="1"/>
            <p:nvPr/>
          </p:nvSpPr>
          <p:spPr>
            <a:xfrm>
              <a:off x="4286" y="1252"/>
              <a:ext cx="45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31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29" name="Text Box 105"/>
            <p:cNvSpPr txBox="1"/>
            <p:nvPr/>
          </p:nvSpPr>
          <p:spPr>
            <a:xfrm>
              <a:off x="3742" y="1979"/>
              <a:ext cx="50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23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30" name="Text Box 106"/>
            <p:cNvSpPr txBox="1"/>
            <p:nvPr/>
          </p:nvSpPr>
          <p:spPr>
            <a:xfrm>
              <a:off x="3923" y="300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731" name="Text Box 107"/>
            <p:cNvSpPr txBox="1"/>
            <p:nvPr/>
          </p:nvSpPr>
          <p:spPr>
            <a:xfrm>
              <a:off x="2835" y="2296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8732" name="Text Box 108"/>
            <p:cNvSpPr txBox="1"/>
            <p:nvPr/>
          </p:nvSpPr>
          <p:spPr>
            <a:xfrm>
              <a:off x="4876" y="225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8733" name="AutoShape 109"/>
            <p:cNvSpPr/>
            <p:nvPr/>
          </p:nvSpPr>
          <p:spPr>
            <a:xfrm>
              <a:off x="3379" y="1071"/>
              <a:ext cx="1088" cy="862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8734" name="Line 110"/>
            <p:cNvSpPr/>
            <p:nvPr/>
          </p:nvSpPr>
          <p:spPr>
            <a:xfrm flipH="1" flipV="1">
              <a:off x="4467" y="1933"/>
              <a:ext cx="454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735" name="Line 111"/>
            <p:cNvSpPr/>
            <p:nvPr/>
          </p:nvSpPr>
          <p:spPr>
            <a:xfrm flipV="1">
              <a:off x="3923" y="572"/>
              <a:ext cx="0" cy="4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736" name="Rectangle 112"/>
            <p:cNvSpPr/>
            <p:nvPr/>
          </p:nvSpPr>
          <p:spPr>
            <a:xfrm rot="3288909">
              <a:off x="4059" y="143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8737" name="Rectangle 113"/>
            <p:cNvSpPr/>
            <p:nvPr/>
          </p:nvSpPr>
          <p:spPr>
            <a:xfrm rot="-3189269">
              <a:off x="3514" y="143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8738" name="Rectangle 114"/>
            <p:cNvSpPr/>
            <p:nvPr/>
          </p:nvSpPr>
          <p:spPr>
            <a:xfrm>
              <a:off x="3787" y="188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6195" name="Group 115"/>
          <p:cNvGrpSpPr/>
          <p:nvPr/>
        </p:nvGrpSpPr>
        <p:grpSpPr>
          <a:xfrm>
            <a:off x="4572000" y="1196975"/>
            <a:ext cx="4341813" cy="3254375"/>
            <a:chOff x="385" y="1616"/>
            <a:chExt cx="2735" cy="2050"/>
          </a:xfrm>
        </p:grpSpPr>
        <p:sp>
          <p:nvSpPr>
            <p:cNvPr id="28684" name="Text Box 116"/>
            <p:cNvSpPr txBox="1"/>
            <p:nvPr/>
          </p:nvSpPr>
          <p:spPr>
            <a:xfrm>
              <a:off x="1247" y="1661"/>
              <a:ext cx="43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1Y</a:t>
              </a:r>
              <a:endParaRPr lang="en-US" altLang="zh-CN" sz="2800" dirty="0">
                <a:solidFill>
                  <a:srgbClr val="00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85" name="Text Box 117"/>
            <p:cNvSpPr txBox="1"/>
            <p:nvPr/>
          </p:nvSpPr>
          <p:spPr>
            <a:xfrm>
              <a:off x="612" y="2931"/>
              <a:ext cx="43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2Y</a:t>
              </a:r>
              <a:endParaRPr lang="en-US" altLang="zh-CN" sz="2800" i="1" dirty="0">
                <a:solidFill>
                  <a:srgbClr val="00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86" name="Text Box 118"/>
            <p:cNvSpPr txBox="1"/>
            <p:nvPr/>
          </p:nvSpPr>
          <p:spPr>
            <a:xfrm>
              <a:off x="2562" y="2886"/>
              <a:ext cx="38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3Y</a:t>
              </a:r>
              <a:endParaRPr lang="en-US" altLang="zh-CN" sz="2800" dirty="0">
                <a:solidFill>
                  <a:srgbClr val="00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87" name="Line 119"/>
            <p:cNvSpPr/>
            <p:nvPr/>
          </p:nvSpPr>
          <p:spPr>
            <a:xfrm>
              <a:off x="1610" y="1752"/>
              <a:ext cx="0" cy="33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88" name="Line 120"/>
            <p:cNvSpPr/>
            <p:nvPr/>
          </p:nvSpPr>
          <p:spPr>
            <a:xfrm rot="-7751596" flipV="1">
              <a:off x="872" y="3076"/>
              <a:ext cx="44" cy="36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8689" name="Line 121"/>
            <p:cNvSpPr/>
            <p:nvPr/>
          </p:nvSpPr>
          <p:spPr>
            <a:xfrm rot="7359215">
              <a:off x="2639" y="3035"/>
              <a:ext cx="1" cy="33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90" name="Text Box 122"/>
            <p:cNvSpPr txBox="1"/>
            <p:nvPr/>
          </p:nvSpPr>
          <p:spPr>
            <a:xfrm>
              <a:off x="1111" y="1752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8691" name="Text Box 123"/>
            <p:cNvSpPr txBox="1"/>
            <p:nvPr/>
          </p:nvSpPr>
          <p:spPr>
            <a:xfrm>
              <a:off x="884" y="329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8692" name="Text Box 124"/>
            <p:cNvSpPr txBox="1"/>
            <p:nvPr/>
          </p:nvSpPr>
          <p:spPr>
            <a:xfrm>
              <a:off x="2880" y="2976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8693" name="Text Box 125"/>
            <p:cNvSpPr txBox="1"/>
            <p:nvPr/>
          </p:nvSpPr>
          <p:spPr>
            <a:xfrm>
              <a:off x="385" y="293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8694" name="Text Box 126"/>
            <p:cNvSpPr txBox="1"/>
            <p:nvPr/>
          </p:nvSpPr>
          <p:spPr>
            <a:xfrm>
              <a:off x="2472" y="329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8695" name="Text Box 127"/>
            <p:cNvSpPr txBox="1"/>
            <p:nvPr/>
          </p:nvSpPr>
          <p:spPr>
            <a:xfrm>
              <a:off x="1882" y="1797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8696" name="Text Box 128"/>
            <p:cNvSpPr txBox="1"/>
            <p:nvPr/>
          </p:nvSpPr>
          <p:spPr>
            <a:xfrm>
              <a:off x="748" y="2296"/>
              <a:ext cx="62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12Y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7" name="Text Box 129"/>
            <p:cNvSpPr txBox="1"/>
            <p:nvPr/>
          </p:nvSpPr>
          <p:spPr>
            <a:xfrm>
              <a:off x="1474" y="3249"/>
              <a:ext cx="57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23Y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8" name="Text Box 130"/>
            <p:cNvSpPr txBox="1"/>
            <p:nvPr/>
          </p:nvSpPr>
          <p:spPr>
            <a:xfrm>
              <a:off x="2200" y="2251"/>
              <a:ext cx="57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31Y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9" name="Line 131"/>
            <p:cNvSpPr/>
            <p:nvPr/>
          </p:nvSpPr>
          <p:spPr>
            <a:xfrm flipV="1">
              <a:off x="1700" y="1797"/>
              <a:ext cx="1" cy="9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cxnSp>
          <p:nvCxnSpPr>
            <p:cNvPr id="28700" name="AutoShape 132"/>
            <p:cNvCxnSpPr/>
            <p:nvPr/>
          </p:nvCxnSpPr>
          <p:spPr>
            <a:xfrm flipH="1">
              <a:off x="748" y="2794"/>
              <a:ext cx="969" cy="636"/>
            </a:xfrm>
            <a:prstGeom prst="straightConnector1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cxnSp>
        <p:sp>
          <p:nvSpPr>
            <p:cNvPr id="28701" name="Text Box 133"/>
            <p:cNvSpPr txBox="1"/>
            <p:nvPr/>
          </p:nvSpPr>
          <p:spPr>
            <a:xfrm>
              <a:off x="1746" y="2250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2" name="Text Box 134"/>
            <p:cNvSpPr txBox="1"/>
            <p:nvPr/>
          </p:nvSpPr>
          <p:spPr>
            <a:xfrm>
              <a:off x="1066" y="2614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3" name="Text Box 135"/>
            <p:cNvSpPr txBox="1"/>
            <p:nvPr/>
          </p:nvSpPr>
          <p:spPr>
            <a:xfrm>
              <a:off x="2063" y="2613"/>
              <a:ext cx="5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4" name="Text Box 136"/>
            <p:cNvSpPr txBox="1"/>
            <p:nvPr/>
          </p:nvSpPr>
          <p:spPr>
            <a:xfrm>
              <a:off x="1746" y="1616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705" name="Text Box 137"/>
            <p:cNvSpPr txBox="1"/>
            <p:nvPr/>
          </p:nvSpPr>
          <p:spPr>
            <a:xfrm>
              <a:off x="476" y="329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8706" name="Text Box 138"/>
            <p:cNvSpPr txBox="1"/>
            <p:nvPr/>
          </p:nvSpPr>
          <p:spPr>
            <a:xfrm>
              <a:off x="2835" y="3339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28707" name="AutoShape 139"/>
            <p:cNvCxnSpPr/>
            <p:nvPr/>
          </p:nvCxnSpPr>
          <p:spPr>
            <a:xfrm flipH="1" flipV="1">
              <a:off x="1700" y="2794"/>
              <a:ext cx="1089" cy="591"/>
            </a:xfrm>
            <a:prstGeom prst="straightConnector1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cxnSp>
        <p:sp>
          <p:nvSpPr>
            <p:cNvPr id="28708" name="Rectangle 140"/>
            <p:cNvSpPr/>
            <p:nvPr/>
          </p:nvSpPr>
          <p:spPr>
            <a:xfrm>
              <a:off x="1655" y="220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8709" name="Rectangle 141"/>
            <p:cNvSpPr/>
            <p:nvPr/>
          </p:nvSpPr>
          <p:spPr>
            <a:xfrm rot="-2160240">
              <a:off x="1111" y="302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8710" name="Rectangle 142"/>
            <p:cNvSpPr/>
            <p:nvPr/>
          </p:nvSpPr>
          <p:spPr>
            <a:xfrm rot="1621838">
              <a:off x="2018" y="297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8681" name="Group 146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8682" name="Picture 147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3" name="Text Box 14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70" decel="100000"/>
                                        <p:tgtEl>
                                          <p:spTgt spid="461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770" decel="100000"/>
                                        <p:tgtEl>
                                          <p:spTgt spid="461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61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4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8" dur="770" fill="hold"/>
                                        <p:tgtEl>
                                          <p:spTgt spid="4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4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47" grpId="0"/>
      <p:bldP spid="46148" grpId="0" build="allAtOnce"/>
      <p:bldP spid="4615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/>
          <p:nvPr/>
        </p:nvSpPr>
        <p:spPr>
          <a:xfrm>
            <a:off x="4789488" y="3860800"/>
            <a:ext cx="3959225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接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用电流表示电压</a:t>
            </a:r>
          </a:p>
        </p:txBody>
      </p:sp>
      <p:sp>
        <p:nvSpPr>
          <p:cNvPr id="45059" name="Text Box 3"/>
          <p:cNvSpPr txBox="1"/>
          <p:nvPr/>
        </p:nvSpPr>
        <p:spPr>
          <a:xfrm>
            <a:off x="5076825" y="4508500"/>
            <a:ext cx="2881313" cy="3905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12Y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=R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1Y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2Y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     </a:t>
            </a:r>
          </a:p>
        </p:txBody>
      </p:sp>
      <p:sp>
        <p:nvSpPr>
          <p:cNvPr id="45060" name="Text Box 4"/>
          <p:cNvSpPr txBox="1"/>
          <p:nvPr/>
        </p:nvSpPr>
        <p:spPr>
          <a:xfrm>
            <a:off x="468313" y="3860800"/>
            <a:ext cx="3744912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接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用电压表示电流</a:t>
            </a:r>
          </a:p>
        </p:txBody>
      </p:sp>
      <p:sp>
        <p:nvSpPr>
          <p:cNvPr id="45061" name="Rectangle 5"/>
          <p:cNvSpPr/>
          <p:nvPr/>
        </p:nvSpPr>
        <p:spPr>
          <a:xfrm>
            <a:off x="5076825" y="5876925"/>
            <a:ext cx="26781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1Y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+i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2Y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+i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3Y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45062" name="Rectangle 6"/>
          <p:cNvSpPr/>
          <p:nvPr/>
        </p:nvSpPr>
        <p:spPr>
          <a:xfrm>
            <a:off x="5076825" y="5430838"/>
            <a:ext cx="298608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31Y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=R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3Y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 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1Y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45063" name="Rectangle 7"/>
          <p:cNvSpPr/>
          <p:nvPr/>
        </p:nvSpPr>
        <p:spPr>
          <a:xfrm>
            <a:off x="5059363" y="4926013"/>
            <a:ext cx="28971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23Y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=R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2Y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 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3Y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5064" name="Rectangle 8"/>
          <p:cNvSpPr/>
          <p:nvPr/>
        </p:nvSpPr>
        <p:spPr>
          <a:xfrm>
            <a:off x="395288" y="5861050"/>
            <a:ext cx="3743325" cy="390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=u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31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31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 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23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45065" name="Rectangle 9"/>
          <p:cNvSpPr/>
          <p:nvPr/>
        </p:nvSpPr>
        <p:spPr>
          <a:xfrm>
            <a:off x="395288" y="5084763"/>
            <a:ext cx="36718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=u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23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23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 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45131" name="Text Box 75"/>
          <p:cNvSpPr txBox="1"/>
          <p:nvPr/>
        </p:nvSpPr>
        <p:spPr>
          <a:xfrm>
            <a:off x="395288" y="4437063"/>
            <a:ext cx="37179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 =u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12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 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31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45132" name="AutoShape 76"/>
          <p:cNvSpPr/>
          <p:nvPr/>
        </p:nvSpPr>
        <p:spPr>
          <a:xfrm>
            <a:off x="4067175" y="4522788"/>
            <a:ext cx="142875" cy="1800225"/>
          </a:xfrm>
          <a:prstGeom prst="rightBrace">
            <a:avLst>
              <a:gd name="adj1" fmla="val 105000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zh-C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134" name="AutoShape 78"/>
          <p:cNvSpPr/>
          <p:nvPr/>
        </p:nvSpPr>
        <p:spPr>
          <a:xfrm>
            <a:off x="7885113" y="4652963"/>
            <a:ext cx="142875" cy="1728787"/>
          </a:xfrm>
          <a:prstGeom prst="rightBrace">
            <a:avLst>
              <a:gd name="adj1" fmla="val 100833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5202" name="Text Box 146"/>
          <p:cNvSpPr txBox="1"/>
          <p:nvPr/>
        </p:nvSpPr>
        <p:spPr>
          <a:xfrm>
            <a:off x="8172450" y="527685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45203" name="Text Box 147"/>
          <p:cNvSpPr txBox="1"/>
          <p:nvPr/>
        </p:nvSpPr>
        <p:spPr>
          <a:xfrm>
            <a:off x="4322763" y="5132388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(1)</a:t>
            </a:r>
          </a:p>
        </p:txBody>
      </p:sp>
      <p:grpSp>
        <p:nvGrpSpPr>
          <p:cNvPr id="29711" name="Group 15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9775" name="Picture 15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76" name="Text Box 15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29712" name="Group 160"/>
          <p:cNvGrpSpPr/>
          <p:nvPr/>
        </p:nvGrpSpPr>
        <p:grpSpPr>
          <a:xfrm>
            <a:off x="323850" y="317500"/>
            <a:ext cx="4248150" cy="3563938"/>
            <a:chOff x="2562" y="300"/>
            <a:chExt cx="2735" cy="2337"/>
          </a:xfrm>
        </p:grpSpPr>
        <p:sp>
          <p:nvSpPr>
            <p:cNvPr id="29747" name="Text Box 161"/>
            <p:cNvSpPr txBox="1"/>
            <p:nvPr/>
          </p:nvSpPr>
          <p:spPr>
            <a:xfrm>
              <a:off x="3742" y="2251"/>
              <a:ext cx="632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23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8" name="Line 162"/>
            <p:cNvSpPr/>
            <p:nvPr/>
          </p:nvSpPr>
          <p:spPr>
            <a:xfrm>
              <a:off x="3833" y="709"/>
              <a:ext cx="0" cy="336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49" name="Text Box 163"/>
            <p:cNvSpPr txBox="1"/>
            <p:nvPr/>
          </p:nvSpPr>
          <p:spPr>
            <a:xfrm>
              <a:off x="4694" y="1706"/>
              <a:ext cx="416" cy="34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3 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baseline="30000" dirty="0">
                <a:solidFill>
                  <a:srgbClr val="00FFFF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750" name="Text Box 164"/>
            <p:cNvSpPr txBox="1"/>
            <p:nvPr/>
          </p:nvSpPr>
          <p:spPr>
            <a:xfrm>
              <a:off x="2699" y="1706"/>
              <a:ext cx="432" cy="34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2 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baseline="30000" dirty="0">
                <a:solidFill>
                  <a:srgbClr val="00FFFF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751" name="Text Box 165"/>
            <p:cNvSpPr txBox="1"/>
            <p:nvPr/>
          </p:nvSpPr>
          <p:spPr>
            <a:xfrm>
              <a:off x="3424" y="709"/>
              <a:ext cx="480" cy="34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i="1" dirty="0">
                <a:solidFill>
                  <a:srgbClr val="00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52" name="Freeform 166"/>
            <p:cNvSpPr/>
            <p:nvPr/>
          </p:nvSpPr>
          <p:spPr>
            <a:xfrm rot="-481287">
              <a:off x="2925" y="1979"/>
              <a:ext cx="303" cy="169"/>
            </a:xfrm>
            <a:custGeom>
              <a:avLst/>
              <a:gdLst/>
              <a:ahLst/>
              <a:cxnLst>
                <a:cxn ang="0">
                  <a:pos x="0" y="169"/>
                </a:cxn>
                <a:cxn ang="0">
                  <a:pos x="303" y="0"/>
                </a:cxn>
              </a:cxnLst>
              <a:rect l="0" t="0" r="0" b="0"/>
              <a:pathLst>
                <a:path w="303" h="169">
                  <a:moveTo>
                    <a:pt x="0" y="169"/>
                  </a:moveTo>
                  <a:lnTo>
                    <a:pt x="303" y="0"/>
                  </a:lnTo>
                </a:path>
              </a:pathLst>
            </a:custGeom>
            <a:noFill/>
            <a:ln w="28575" cap="flat" cmpd="sng">
              <a:solidFill>
                <a:srgbClr val="66FF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3" name="Freeform 167"/>
            <p:cNvSpPr/>
            <p:nvPr/>
          </p:nvSpPr>
          <p:spPr>
            <a:xfrm>
              <a:off x="4649" y="1979"/>
              <a:ext cx="296" cy="195"/>
            </a:xfrm>
            <a:custGeom>
              <a:avLst/>
              <a:gdLst/>
              <a:ahLst/>
              <a:cxnLst>
                <a:cxn ang="0">
                  <a:pos x="296" y="195"/>
                </a:cxn>
                <a:cxn ang="0">
                  <a:pos x="0" y="0"/>
                </a:cxn>
              </a:cxnLst>
              <a:rect l="0" t="0" r="0" b="0"/>
              <a:pathLst>
                <a:path w="296" h="195">
                  <a:moveTo>
                    <a:pt x="296" y="195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66FF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4" name="Text Box 168"/>
            <p:cNvSpPr txBox="1"/>
            <p:nvPr/>
          </p:nvSpPr>
          <p:spPr>
            <a:xfrm>
              <a:off x="3560" y="482"/>
              <a:ext cx="240" cy="3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55" name="Text Box 169"/>
            <p:cNvSpPr txBox="1"/>
            <p:nvPr/>
          </p:nvSpPr>
          <p:spPr>
            <a:xfrm>
              <a:off x="3016" y="2205"/>
              <a:ext cx="240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56" name="Text Box 170"/>
            <p:cNvSpPr txBox="1"/>
            <p:nvPr/>
          </p:nvSpPr>
          <p:spPr>
            <a:xfrm>
              <a:off x="5057" y="1842"/>
              <a:ext cx="240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57" name="Text Box 171"/>
            <p:cNvSpPr txBox="1"/>
            <p:nvPr/>
          </p:nvSpPr>
          <p:spPr>
            <a:xfrm>
              <a:off x="4105" y="391"/>
              <a:ext cx="240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9758" name="Text Box 172"/>
            <p:cNvSpPr txBox="1"/>
            <p:nvPr/>
          </p:nvSpPr>
          <p:spPr>
            <a:xfrm>
              <a:off x="2562" y="2024"/>
              <a:ext cx="240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9759" name="Text Box 173"/>
            <p:cNvSpPr txBox="1"/>
            <p:nvPr/>
          </p:nvSpPr>
          <p:spPr>
            <a:xfrm>
              <a:off x="4604" y="2251"/>
              <a:ext cx="240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9760" name="Text Box 174"/>
            <p:cNvSpPr txBox="1"/>
            <p:nvPr/>
          </p:nvSpPr>
          <p:spPr>
            <a:xfrm>
              <a:off x="2653" y="1026"/>
              <a:ext cx="546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12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61" name="Text Box 175"/>
            <p:cNvSpPr txBox="1"/>
            <p:nvPr/>
          </p:nvSpPr>
          <p:spPr>
            <a:xfrm>
              <a:off x="4513" y="981"/>
              <a:ext cx="544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31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62" name="Line 176"/>
            <p:cNvSpPr/>
            <p:nvPr/>
          </p:nvSpPr>
          <p:spPr>
            <a:xfrm flipV="1">
              <a:off x="2925" y="1933"/>
              <a:ext cx="454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763" name="Text Box 177"/>
            <p:cNvSpPr txBox="1"/>
            <p:nvPr/>
          </p:nvSpPr>
          <p:spPr>
            <a:xfrm>
              <a:off x="3168" y="1252"/>
              <a:ext cx="528" cy="34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64" name="Text Box 178"/>
            <p:cNvSpPr txBox="1"/>
            <p:nvPr/>
          </p:nvSpPr>
          <p:spPr>
            <a:xfrm>
              <a:off x="4286" y="1252"/>
              <a:ext cx="458" cy="34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31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65" name="Text Box 179"/>
            <p:cNvSpPr txBox="1"/>
            <p:nvPr/>
          </p:nvSpPr>
          <p:spPr>
            <a:xfrm>
              <a:off x="3742" y="1979"/>
              <a:ext cx="500" cy="34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23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66" name="Text Box 180"/>
            <p:cNvSpPr txBox="1"/>
            <p:nvPr/>
          </p:nvSpPr>
          <p:spPr>
            <a:xfrm>
              <a:off x="3923" y="300"/>
              <a:ext cx="288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9767" name="Text Box 181"/>
            <p:cNvSpPr txBox="1"/>
            <p:nvPr/>
          </p:nvSpPr>
          <p:spPr>
            <a:xfrm>
              <a:off x="2835" y="2296"/>
              <a:ext cx="192" cy="3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9768" name="Text Box 182"/>
            <p:cNvSpPr txBox="1"/>
            <p:nvPr/>
          </p:nvSpPr>
          <p:spPr>
            <a:xfrm>
              <a:off x="4876" y="2251"/>
              <a:ext cx="240" cy="3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9769" name="AutoShape 183"/>
            <p:cNvSpPr/>
            <p:nvPr/>
          </p:nvSpPr>
          <p:spPr>
            <a:xfrm>
              <a:off x="3379" y="1071"/>
              <a:ext cx="1088" cy="862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70" name="Line 184"/>
            <p:cNvSpPr/>
            <p:nvPr/>
          </p:nvSpPr>
          <p:spPr>
            <a:xfrm flipH="1" flipV="1">
              <a:off x="4467" y="1933"/>
              <a:ext cx="454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771" name="Line 185"/>
            <p:cNvSpPr/>
            <p:nvPr/>
          </p:nvSpPr>
          <p:spPr>
            <a:xfrm flipV="1">
              <a:off x="3923" y="572"/>
              <a:ext cx="0" cy="4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772" name="Rectangle 186"/>
            <p:cNvSpPr/>
            <p:nvPr/>
          </p:nvSpPr>
          <p:spPr>
            <a:xfrm rot="3288909">
              <a:off x="4059" y="143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73" name="Rectangle 187"/>
            <p:cNvSpPr/>
            <p:nvPr/>
          </p:nvSpPr>
          <p:spPr>
            <a:xfrm rot="-3189269">
              <a:off x="3514" y="143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74" name="Rectangle 188"/>
            <p:cNvSpPr/>
            <p:nvPr/>
          </p:nvSpPr>
          <p:spPr>
            <a:xfrm>
              <a:off x="3787" y="188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9713" name="Group 189"/>
          <p:cNvGrpSpPr/>
          <p:nvPr/>
        </p:nvGrpSpPr>
        <p:grpSpPr>
          <a:xfrm>
            <a:off x="4427538" y="404813"/>
            <a:ext cx="4341812" cy="3254375"/>
            <a:chOff x="385" y="1616"/>
            <a:chExt cx="2735" cy="2050"/>
          </a:xfrm>
        </p:grpSpPr>
        <p:sp>
          <p:nvSpPr>
            <p:cNvPr id="29720" name="Text Box 190"/>
            <p:cNvSpPr txBox="1"/>
            <p:nvPr/>
          </p:nvSpPr>
          <p:spPr>
            <a:xfrm>
              <a:off x="1247" y="1661"/>
              <a:ext cx="43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1Y</a:t>
              </a:r>
              <a:endParaRPr lang="en-US" altLang="zh-CN" sz="2800" dirty="0">
                <a:solidFill>
                  <a:srgbClr val="00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1" name="Text Box 191"/>
            <p:cNvSpPr txBox="1"/>
            <p:nvPr/>
          </p:nvSpPr>
          <p:spPr>
            <a:xfrm>
              <a:off x="612" y="2931"/>
              <a:ext cx="43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2Y</a:t>
              </a:r>
              <a:endParaRPr lang="en-US" altLang="zh-CN" sz="2800" i="1" dirty="0">
                <a:solidFill>
                  <a:srgbClr val="00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2" name="Text Box 192"/>
            <p:cNvSpPr txBox="1"/>
            <p:nvPr/>
          </p:nvSpPr>
          <p:spPr>
            <a:xfrm>
              <a:off x="2562" y="2886"/>
              <a:ext cx="38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00FFFF"/>
                  </a:solidFill>
                  <a:latin typeface="Times New Roman" panose="02020603050405020304" pitchFamily="18" charset="0"/>
                </a:rPr>
                <a:t>3Y</a:t>
              </a:r>
              <a:endParaRPr lang="en-US" altLang="zh-CN" sz="2800" dirty="0">
                <a:solidFill>
                  <a:srgbClr val="00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3" name="Line 193"/>
            <p:cNvSpPr/>
            <p:nvPr/>
          </p:nvSpPr>
          <p:spPr>
            <a:xfrm>
              <a:off x="1610" y="1752"/>
              <a:ext cx="0" cy="33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24" name="Line 194"/>
            <p:cNvSpPr/>
            <p:nvPr/>
          </p:nvSpPr>
          <p:spPr>
            <a:xfrm rot="-7751596" flipV="1">
              <a:off x="872" y="3076"/>
              <a:ext cx="44" cy="36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9725" name="Line 195"/>
            <p:cNvSpPr/>
            <p:nvPr/>
          </p:nvSpPr>
          <p:spPr>
            <a:xfrm rot="7359215">
              <a:off x="2639" y="3035"/>
              <a:ext cx="1" cy="336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26" name="Text Box 196"/>
            <p:cNvSpPr txBox="1"/>
            <p:nvPr/>
          </p:nvSpPr>
          <p:spPr>
            <a:xfrm>
              <a:off x="1111" y="1752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27" name="Text Box 197"/>
            <p:cNvSpPr txBox="1"/>
            <p:nvPr/>
          </p:nvSpPr>
          <p:spPr>
            <a:xfrm>
              <a:off x="884" y="329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28" name="Text Box 198"/>
            <p:cNvSpPr txBox="1"/>
            <p:nvPr/>
          </p:nvSpPr>
          <p:spPr>
            <a:xfrm>
              <a:off x="2880" y="2976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29" name="Text Box 199"/>
            <p:cNvSpPr txBox="1"/>
            <p:nvPr/>
          </p:nvSpPr>
          <p:spPr>
            <a:xfrm>
              <a:off x="385" y="293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9730" name="Text Box 200"/>
            <p:cNvSpPr txBox="1"/>
            <p:nvPr/>
          </p:nvSpPr>
          <p:spPr>
            <a:xfrm>
              <a:off x="2472" y="329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9731" name="Text Box 201"/>
            <p:cNvSpPr txBox="1"/>
            <p:nvPr/>
          </p:nvSpPr>
          <p:spPr>
            <a:xfrm>
              <a:off x="1882" y="1797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29732" name="Text Box 202"/>
            <p:cNvSpPr txBox="1"/>
            <p:nvPr/>
          </p:nvSpPr>
          <p:spPr>
            <a:xfrm>
              <a:off x="748" y="2296"/>
              <a:ext cx="62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12Y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33" name="Text Box 203"/>
            <p:cNvSpPr txBox="1"/>
            <p:nvPr/>
          </p:nvSpPr>
          <p:spPr>
            <a:xfrm>
              <a:off x="1474" y="3249"/>
              <a:ext cx="57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23Y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34" name="Text Box 204"/>
            <p:cNvSpPr txBox="1"/>
            <p:nvPr/>
          </p:nvSpPr>
          <p:spPr>
            <a:xfrm>
              <a:off x="2200" y="2251"/>
              <a:ext cx="57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31Y</a:t>
              </a:r>
              <a:endPara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35" name="Line 205"/>
            <p:cNvSpPr/>
            <p:nvPr/>
          </p:nvSpPr>
          <p:spPr>
            <a:xfrm flipV="1">
              <a:off x="1700" y="1797"/>
              <a:ext cx="1" cy="9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cxnSp>
          <p:nvCxnSpPr>
            <p:cNvPr id="29736" name="AutoShape 206"/>
            <p:cNvCxnSpPr/>
            <p:nvPr/>
          </p:nvCxnSpPr>
          <p:spPr>
            <a:xfrm flipH="1">
              <a:off x="748" y="2794"/>
              <a:ext cx="969" cy="636"/>
            </a:xfrm>
            <a:prstGeom prst="straightConnector1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cxnSp>
        <p:sp>
          <p:nvSpPr>
            <p:cNvPr id="29737" name="Text Box 207"/>
            <p:cNvSpPr txBox="1"/>
            <p:nvPr/>
          </p:nvSpPr>
          <p:spPr>
            <a:xfrm>
              <a:off x="1746" y="2250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38" name="Text Box 208"/>
            <p:cNvSpPr txBox="1"/>
            <p:nvPr/>
          </p:nvSpPr>
          <p:spPr>
            <a:xfrm>
              <a:off x="1066" y="2614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39" name="Text Box 209"/>
            <p:cNvSpPr txBox="1"/>
            <p:nvPr/>
          </p:nvSpPr>
          <p:spPr>
            <a:xfrm>
              <a:off x="2063" y="2613"/>
              <a:ext cx="5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0" name="Text Box 210"/>
            <p:cNvSpPr txBox="1"/>
            <p:nvPr/>
          </p:nvSpPr>
          <p:spPr>
            <a:xfrm>
              <a:off x="1746" y="1616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9741" name="Text Box 211"/>
            <p:cNvSpPr txBox="1"/>
            <p:nvPr/>
          </p:nvSpPr>
          <p:spPr>
            <a:xfrm>
              <a:off x="476" y="329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9742" name="Text Box 212"/>
            <p:cNvSpPr txBox="1"/>
            <p:nvPr/>
          </p:nvSpPr>
          <p:spPr>
            <a:xfrm>
              <a:off x="2835" y="3339"/>
              <a:ext cx="1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3399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29743" name="AutoShape 213"/>
            <p:cNvCxnSpPr/>
            <p:nvPr/>
          </p:nvCxnSpPr>
          <p:spPr>
            <a:xfrm flipH="1" flipV="1">
              <a:off x="1700" y="2794"/>
              <a:ext cx="1089" cy="591"/>
            </a:xfrm>
            <a:prstGeom prst="straightConnector1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cxnSp>
        <p:sp>
          <p:nvSpPr>
            <p:cNvPr id="29744" name="Rectangle 214"/>
            <p:cNvSpPr/>
            <p:nvPr/>
          </p:nvSpPr>
          <p:spPr>
            <a:xfrm>
              <a:off x="1655" y="220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45" name="Rectangle 215"/>
            <p:cNvSpPr/>
            <p:nvPr/>
          </p:nvSpPr>
          <p:spPr>
            <a:xfrm rot="-2160240">
              <a:off x="1111" y="302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46" name="Rectangle 216"/>
            <p:cNvSpPr/>
            <p:nvPr/>
          </p:nvSpPr>
          <p:spPr>
            <a:xfrm rot="1621838">
              <a:off x="2018" y="297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9714" name="Group 22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9718" name="Picture 22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9" name="Text Box 22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29715" name="Group 22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9716" name="Picture 22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7" name="Text Box 22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4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30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30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30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45059" grpId="0"/>
      <p:bldP spid="45060" grpId="0"/>
      <p:bldP spid="45061" grpId="0"/>
      <p:bldP spid="45062" grpId="0"/>
      <p:bldP spid="45063" grpId="0"/>
      <p:bldP spid="45064" grpId="0"/>
      <p:bldP spid="45065" grpId="0"/>
      <p:bldP spid="45131" grpId="0"/>
      <p:bldP spid="45132" grpId="0" animBg="1"/>
      <p:bldP spid="45134" grpId="0" animBg="1"/>
      <p:bldP spid="45202" grpId="0"/>
      <p:bldP spid="45203" grpId="0"/>
      <p:bldP spid="45203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5" name="Object 3"/>
          <p:cNvGraphicFramePr>
            <a:graphicFrameLocks/>
          </p:cNvGraphicFramePr>
          <p:nvPr/>
        </p:nvGraphicFramePr>
        <p:xfrm>
          <a:off x="539750" y="2133600"/>
          <a:ext cx="3240088" cy="884238"/>
        </p:xfrm>
        <a:graphic>
          <a:graphicData uri="http://schemas.openxmlformats.org/presentationml/2006/ole">
            <p:oleObj spid="_x0000_s40963" r:id="rId3" imgW="1541160" imgH="403560" progId="Equation.3">
              <p:embed/>
            </p:oleObj>
          </a:graphicData>
        </a:graphic>
      </p:graphicFrame>
      <p:graphicFrame>
        <p:nvGraphicFramePr>
          <p:cNvPr id="44036" name="Object 4"/>
          <p:cNvGraphicFramePr>
            <a:graphicFrameLocks/>
          </p:cNvGraphicFramePr>
          <p:nvPr/>
        </p:nvGraphicFramePr>
        <p:xfrm>
          <a:off x="539750" y="3213100"/>
          <a:ext cx="3311525" cy="912813"/>
        </p:xfrm>
        <a:graphic>
          <a:graphicData uri="http://schemas.openxmlformats.org/presentationml/2006/ole">
            <p:oleObj spid="_x0000_s40962" r:id="rId4" imgW="1529640" imgH="403560" progId="Equation.3">
              <p:embed/>
            </p:oleObj>
          </a:graphicData>
        </a:graphic>
      </p:graphicFrame>
      <p:sp>
        <p:nvSpPr>
          <p:cNvPr id="44037" name="Text Box 5"/>
          <p:cNvSpPr txBox="1"/>
          <p:nvPr/>
        </p:nvSpPr>
        <p:spPr>
          <a:xfrm>
            <a:off x="395288" y="549275"/>
            <a:ext cx="28082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由式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8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解得：</a:t>
            </a:r>
          </a:p>
        </p:txBody>
      </p:sp>
      <p:sp>
        <p:nvSpPr>
          <p:cNvPr id="44038" name="Rectangle 6"/>
          <p:cNvSpPr/>
          <p:nvPr/>
        </p:nvSpPr>
        <p:spPr>
          <a:xfrm>
            <a:off x="4500563" y="3270250"/>
            <a:ext cx="3744912" cy="390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=u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31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31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 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23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44039" name="Rectangle 7"/>
          <p:cNvSpPr/>
          <p:nvPr/>
        </p:nvSpPr>
        <p:spPr>
          <a:xfrm>
            <a:off x="4500563" y="2478088"/>
            <a:ext cx="36671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=u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23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23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 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44040" name="Text Box 8"/>
          <p:cNvSpPr txBox="1"/>
          <p:nvPr/>
        </p:nvSpPr>
        <p:spPr>
          <a:xfrm>
            <a:off x="4500563" y="1830388"/>
            <a:ext cx="37433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 =u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12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 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31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44041" name="AutoShape 9"/>
          <p:cNvSpPr/>
          <p:nvPr/>
        </p:nvSpPr>
        <p:spPr>
          <a:xfrm>
            <a:off x="8101013" y="1973263"/>
            <a:ext cx="166687" cy="1781175"/>
          </a:xfrm>
          <a:prstGeom prst="rightBrace">
            <a:avLst>
              <a:gd name="adj1" fmla="val 89047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zh-C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2" name="Text Box 10"/>
          <p:cNvSpPr txBox="1"/>
          <p:nvPr/>
        </p:nvSpPr>
        <p:spPr>
          <a:xfrm>
            <a:off x="8243888" y="2565400"/>
            <a:ext cx="60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44045" name="AutoShape 13"/>
          <p:cNvSpPr/>
          <p:nvPr/>
        </p:nvSpPr>
        <p:spPr>
          <a:xfrm>
            <a:off x="3779838" y="1341438"/>
            <a:ext cx="144462" cy="2879725"/>
          </a:xfrm>
          <a:prstGeom prst="rightBrace">
            <a:avLst>
              <a:gd name="adj1" fmla="val 166117"/>
              <a:gd name="adj2" fmla="val 50458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4046" name="Text Box 14"/>
          <p:cNvSpPr txBox="1"/>
          <p:nvPr/>
        </p:nvSpPr>
        <p:spPr>
          <a:xfrm>
            <a:off x="3851275" y="2492375"/>
            <a:ext cx="60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(3)</a:t>
            </a:r>
          </a:p>
        </p:txBody>
      </p:sp>
      <p:sp>
        <p:nvSpPr>
          <p:cNvPr id="44047" name="Text Box 15"/>
          <p:cNvSpPr txBox="1"/>
          <p:nvPr/>
        </p:nvSpPr>
        <p:spPr>
          <a:xfrm>
            <a:off x="611188" y="4437063"/>
            <a:ext cx="772318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根据等效条件，比较式</a:t>
            </a:r>
            <a:r>
              <a:rPr lang="en-US" altLang="zh-CN" sz="28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(3)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与式</a:t>
            </a:r>
            <a:r>
              <a:rPr lang="en-US" altLang="zh-CN" sz="28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，得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的变换条件： </a:t>
            </a:r>
            <a:endParaRPr lang="zh-CN" altLang="en-US" sz="2800" b="1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0733" name="Group 2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0741" name="Picture 2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42" name="Text Box 2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aphicFrame>
        <p:nvGraphicFramePr>
          <p:cNvPr id="44065" name="Object 33"/>
          <p:cNvGraphicFramePr>
            <a:graphicFrameLocks/>
          </p:cNvGraphicFramePr>
          <p:nvPr/>
        </p:nvGraphicFramePr>
        <p:xfrm>
          <a:off x="539750" y="1125538"/>
          <a:ext cx="3240088" cy="896937"/>
        </p:xfrm>
        <a:graphic>
          <a:graphicData uri="http://schemas.openxmlformats.org/presentationml/2006/ole">
            <p:oleObj spid="_x0000_s40961" r:id="rId6" imgW="1518120" imgH="403560" progId="Equation.3">
              <p:embed/>
            </p:oleObj>
          </a:graphicData>
        </a:graphic>
      </p:graphicFrame>
      <p:grpSp>
        <p:nvGrpSpPr>
          <p:cNvPr id="30735" name="Group 3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0739" name="Picture 3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40" name="Text Box 3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30736" name="Group 40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0737" name="Picture 4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38" name="Text Box 4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3000"/>
                                        <p:tgtEl>
                                          <p:spTgt spid="4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30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30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10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7" grpId="0"/>
      <p:bldP spid="44038" grpId="0"/>
      <p:bldP spid="44039" grpId="0"/>
      <p:bldP spid="44040" grpId="0"/>
      <p:bldP spid="44041" grpId="0" animBg="1"/>
      <p:bldP spid="44042" grpId="0"/>
      <p:bldP spid="44045" grpId="0" animBg="1"/>
      <p:bldP spid="44046" grpId="0"/>
      <p:bldP spid="4404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534" name="Object 14"/>
          <p:cNvGraphicFramePr>
            <a:graphicFrameLocks/>
          </p:cNvGraphicFramePr>
          <p:nvPr/>
        </p:nvGraphicFramePr>
        <p:xfrm>
          <a:off x="684213" y="333375"/>
          <a:ext cx="2951162" cy="2849563"/>
        </p:xfrm>
        <a:graphic>
          <a:graphicData uri="http://schemas.openxmlformats.org/presentationml/2006/ole">
            <p:oleObj spid="_x0000_s46084" r:id="rId3" imgW="1320840" imgH="1268640" progId="Equation.3">
              <p:embed/>
            </p:oleObj>
          </a:graphicData>
        </a:graphic>
      </p:graphicFrame>
      <p:graphicFrame>
        <p:nvGraphicFramePr>
          <p:cNvPr id="107535" name="Object 15"/>
          <p:cNvGraphicFramePr>
            <a:graphicFrameLocks/>
          </p:cNvGraphicFramePr>
          <p:nvPr/>
        </p:nvGraphicFramePr>
        <p:xfrm>
          <a:off x="4643438" y="404813"/>
          <a:ext cx="3241675" cy="2816225"/>
        </p:xfrm>
        <a:graphic>
          <a:graphicData uri="http://schemas.openxmlformats.org/presentationml/2006/ole">
            <p:oleObj spid="_x0000_s46083" r:id="rId4" imgW="1181880" imgH="1280160" progId="Equation.3">
              <p:embed/>
            </p:oleObj>
          </a:graphicData>
        </a:graphic>
      </p:graphicFrame>
      <p:sp>
        <p:nvSpPr>
          <p:cNvPr id="107536" name="AutoShape 16"/>
          <p:cNvSpPr/>
          <p:nvPr/>
        </p:nvSpPr>
        <p:spPr>
          <a:xfrm>
            <a:off x="3779838" y="765175"/>
            <a:ext cx="228600" cy="2133600"/>
          </a:xfrm>
          <a:prstGeom prst="rightBrace">
            <a:avLst>
              <a:gd name="adj1" fmla="val 77777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07537" name="AutoShape 17"/>
          <p:cNvSpPr/>
          <p:nvPr/>
        </p:nvSpPr>
        <p:spPr>
          <a:xfrm>
            <a:off x="8101013" y="693738"/>
            <a:ext cx="228600" cy="2362200"/>
          </a:xfrm>
          <a:prstGeom prst="rightBrace">
            <a:avLst>
              <a:gd name="adj1" fmla="val 86111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07538" name="Text Box 18"/>
          <p:cNvSpPr txBox="1"/>
          <p:nvPr/>
        </p:nvSpPr>
        <p:spPr>
          <a:xfrm>
            <a:off x="4140200" y="1628775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或</a:t>
            </a:r>
          </a:p>
        </p:txBody>
      </p:sp>
      <p:grpSp>
        <p:nvGrpSpPr>
          <p:cNvPr id="31751" name="Group 1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1764" name="Picture 20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65" name="Text Box 2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31752" name="Group 2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1762" name="Picture 23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63" name="Text Box 2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sp>
        <p:nvSpPr>
          <p:cNvPr id="107545" name="Text Box 25"/>
          <p:cNvSpPr txBox="1"/>
          <p:nvPr/>
        </p:nvSpPr>
        <p:spPr>
          <a:xfrm>
            <a:off x="611188" y="3213100"/>
            <a:ext cx="6264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类似可得到由</a:t>
            </a:r>
            <a:r>
              <a: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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的变换条件： </a:t>
            </a:r>
          </a:p>
        </p:txBody>
      </p:sp>
      <p:graphicFrame>
        <p:nvGraphicFramePr>
          <p:cNvPr id="107546" name="Object 26"/>
          <p:cNvGraphicFramePr>
            <a:graphicFrameLocks/>
          </p:cNvGraphicFramePr>
          <p:nvPr/>
        </p:nvGraphicFramePr>
        <p:xfrm>
          <a:off x="539750" y="3644900"/>
          <a:ext cx="3343275" cy="2954338"/>
        </p:xfrm>
        <a:graphic>
          <a:graphicData uri="http://schemas.openxmlformats.org/presentationml/2006/ole">
            <p:oleObj spid="_x0000_s46082" r:id="rId6" imgW="1460160" imgH="1280160" progId="Equation.3">
              <p:embed/>
            </p:oleObj>
          </a:graphicData>
        </a:graphic>
      </p:graphicFrame>
      <p:graphicFrame>
        <p:nvGraphicFramePr>
          <p:cNvPr id="107547" name="Object 27"/>
          <p:cNvGraphicFramePr>
            <a:graphicFrameLocks/>
          </p:cNvGraphicFramePr>
          <p:nvPr/>
        </p:nvGraphicFramePr>
        <p:xfrm>
          <a:off x="4859338" y="3573463"/>
          <a:ext cx="3368675" cy="2816225"/>
        </p:xfrm>
        <a:graphic>
          <a:graphicData uri="http://schemas.openxmlformats.org/presentationml/2006/ole">
            <p:oleObj spid="_x0000_s46081" r:id="rId7" imgW="1228320" imgH="1280160" progId="Equation.3">
              <p:embed/>
            </p:oleObj>
          </a:graphicData>
        </a:graphic>
      </p:graphicFrame>
      <p:sp>
        <p:nvSpPr>
          <p:cNvPr id="107548" name="AutoShape 28"/>
          <p:cNvSpPr/>
          <p:nvPr/>
        </p:nvSpPr>
        <p:spPr>
          <a:xfrm>
            <a:off x="3851275" y="3933825"/>
            <a:ext cx="228600" cy="2492375"/>
          </a:xfrm>
          <a:prstGeom prst="rightBrace">
            <a:avLst>
              <a:gd name="adj1" fmla="val 90856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07549" name="AutoShape 29"/>
          <p:cNvSpPr/>
          <p:nvPr/>
        </p:nvSpPr>
        <p:spPr>
          <a:xfrm>
            <a:off x="8316913" y="3716338"/>
            <a:ext cx="228600" cy="2578100"/>
          </a:xfrm>
          <a:prstGeom prst="rightBrace">
            <a:avLst>
              <a:gd name="adj1" fmla="val 93981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07550" name="Text Box 30"/>
          <p:cNvSpPr txBox="1"/>
          <p:nvPr/>
        </p:nvSpPr>
        <p:spPr>
          <a:xfrm>
            <a:off x="4211638" y="4724400"/>
            <a:ext cx="5762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或</a:t>
            </a:r>
          </a:p>
        </p:txBody>
      </p:sp>
      <p:grpSp>
        <p:nvGrpSpPr>
          <p:cNvPr id="31759" name="Group 34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1760" name="Picture 35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61" name="Text Box 3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10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2000"/>
                                        <p:tgtEl>
                                          <p:spTgt spid="107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20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2000"/>
                                        <p:tgtEl>
                                          <p:spTgt spid="107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6" grpId="0" animBg="1"/>
      <p:bldP spid="107537" grpId="0" animBg="1"/>
      <p:bldP spid="107538" grpId="0"/>
      <p:bldP spid="107545" grpId="0"/>
      <p:bldP spid="107548" grpId="0" animBg="1"/>
      <p:bldP spid="107549" grpId="0" animBg="1"/>
      <p:bldP spid="10755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7" name="Text Box 9"/>
          <p:cNvSpPr txBox="1"/>
          <p:nvPr/>
        </p:nvSpPr>
        <p:spPr>
          <a:xfrm>
            <a:off x="611188" y="620713"/>
            <a:ext cx="2376487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简记方法：</a:t>
            </a:r>
          </a:p>
        </p:txBody>
      </p:sp>
      <p:graphicFrame>
        <p:nvGraphicFramePr>
          <p:cNvPr id="43018" name="Object 10" descr="蓝色面巾纸"/>
          <p:cNvGraphicFramePr>
            <a:graphicFrameLocks/>
          </p:cNvGraphicFramePr>
          <p:nvPr/>
        </p:nvGraphicFramePr>
        <p:xfrm>
          <a:off x="395288" y="1268413"/>
          <a:ext cx="4103687" cy="1006475"/>
        </p:xfrm>
        <a:graphic>
          <a:graphicData uri="http://schemas.openxmlformats.org/presentationml/2006/ole">
            <p:oleObj spid="_x0000_s47106" r:id="rId3" imgW="2630520" imgH="691920" progId="Equation.3">
              <p:embed/>
            </p:oleObj>
          </a:graphicData>
        </a:graphic>
      </p:graphicFrame>
      <p:graphicFrame>
        <p:nvGraphicFramePr>
          <p:cNvPr id="43020" name="Object 12" descr="蓝色面巾纸"/>
          <p:cNvGraphicFramePr>
            <a:graphicFrameLocks/>
          </p:cNvGraphicFramePr>
          <p:nvPr/>
        </p:nvGraphicFramePr>
        <p:xfrm>
          <a:off x="4716463" y="1268413"/>
          <a:ext cx="4105275" cy="968375"/>
        </p:xfrm>
        <a:graphic>
          <a:graphicData uri="http://schemas.openxmlformats.org/presentationml/2006/ole">
            <p:oleObj spid="_x0000_s47105" r:id="rId4" imgW="2595600" imgH="668880" progId="Equation.3">
              <p:embed/>
            </p:oleObj>
          </a:graphicData>
        </a:graphic>
      </p:graphicFrame>
      <p:sp>
        <p:nvSpPr>
          <p:cNvPr id="43023" name="AutoShape 15" descr="羊皮纸"/>
          <p:cNvSpPr/>
          <p:nvPr/>
        </p:nvSpPr>
        <p:spPr>
          <a:xfrm>
            <a:off x="1116013" y="2565400"/>
            <a:ext cx="1152525" cy="504825"/>
          </a:xfrm>
          <a:prstGeom prst="wedgeRoundRectCallout">
            <a:avLst>
              <a:gd name="adj1" fmla="val 60745"/>
              <a:gd name="adj2" fmla="val -141194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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变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</a:rPr>
              <a:t>Y</a:t>
            </a:r>
          </a:p>
        </p:txBody>
      </p:sp>
      <p:sp>
        <p:nvSpPr>
          <p:cNvPr id="43024" name="AutoShape 16" descr="羊皮纸"/>
          <p:cNvSpPr/>
          <p:nvPr/>
        </p:nvSpPr>
        <p:spPr>
          <a:xfrm>
            <a:off x="6156325" y="2492375"/>
            <a:ext cx="1368425" cy="504825"/>
          </a:xfrm>
          <a:prstGeom prst="wedgeRoundRectCallout">
            <a:avLst>
              <a:gd name="adj1" fmla="val -39097"/>
              <a:gd name="adj2" fmla="val -144653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变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</a:t>
            </a:r>
            <a:endParaRPr lang="zh-CN" altLang="en-US" sz="28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2775" name="Group 2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2798" name="Picture 21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99" name="Text Box 2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32776" name="Group 2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2796" name="Picture 24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97" name="Text Box 2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sp>
        <p:nvSpPr>
          <p:cNvPr id="43037" name="Text Box 29"/>
          <p:cNvSpPr txBox="1"/>
          <p:nvPr/>
        </p:nvSpPr>
        <p:spPr>
          <a:xfrm>
            <a:off x="539750" y="3357563"/>
            <a:ext cx="6337300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特例：若三个电阻相等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对称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，则有</a:t>
            </a:r>
          </a:p>
        </p:txBody>
      </p:sp>
      <p:sp>
        <p:nvSpPr>
          <p:cNvPr id="43038" name="Text Box 30"/>
          <p:cNvSpPr txBox="1"/>
          <p:nvPr/>
        </p:nvSpPr>
        <p:spPr>
          <a:xfrm>
            <a:off x="755650" y="4365625"/>
            <a:ext cx="2447925" cy="669925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6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6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3600" i="1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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= 3</a:t>
            </a:r>
            <a:r>
              <a:rPr lang="en-US" altLang="zh-CN" sz="36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600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Y</a:t>
            </a:r>
            <a:endParaRPr lang="en-US" altLang="zh-CN" sz="3600" baseline="-250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3039" name="Group 31"/>
          <p:cNvGrpSpPr/>
          <p:nvPr/>
        </p:nvGrpSpPr>
        <p:grpSpPr>
          <a:xfrm>
            <a:off x="5867400" y="3716338"/>
            <a:ext cx="2058988" cy="2095500"/>
            <a:chOff x="3971" y="1488"/>
            <a:chExt cx="1297" cy="1320"/>
          </a:xfrm>
        </p:grpSpPr>
        <p:sp>
          <p:nvSpPr>
            <p:cNvPr id="32784" name="Line 32"/>
            <p:cNvSpPr/>
            <p:nvPr/>
          </p:nvSpPr>
          <p:spPr>
            <a:xfrm flipH="1">
              <a:off x="3971" y="1488"/>
              <a:ext cx="661" cy="1047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5" name="Line 33"/>
            <p:cNvSpPr/>
            <p:nvPr/>
          </p:nvSpPr>
          <p:spPr>
            <a:xfrm>
              <a:off x="3971" y="2535"/>
              <a:ext cx="1248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6" name="Line 34"/>
            <p:cNvSpPr/>
            <p:nvPr/>
          </p:nvSpPr>
          <p:spPr>
            <a:xfrm>
              <a:off x="4632" y="1488"/>
              <a:ext cx="587" cy="1047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7" name="Line 35"/>
            <p:cNvSpPr/>
            <p:nvPr/>
          </p:nvSpPr>
          <p:spPr>
            <a:xfrm>
              <a:off x="4632" y="1488"/>
              <a:ext cx="0" cy="673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8" name="Line 36"/>
            <p:cNvSpPr/>
            <p:nvPr/>
          </p:nvSpPr>
          <p:spPr>
            <a:xfrm flipH="1">
              <a:off x="3971" y="2161"/>
              <a:ext cx="661" cy="374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9" name="Line 37"/>
            <p:cNvSpPr/>
            <p:nvPr/>
          </p:nvSpPr>
          <p:spPr>
            <a:xfrm>
              <a:off x="4632" y="2161"/>
              <a:ext cx="587" cy="374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0" name="Text Box 38"/>
            <p:cNvSpPr txBox="1"/>
            <p:nvPr/>
          </p:nvSpPr>
          <p:spPr>
            <a:xfrm>
              <a:off x="4923" y="1788"/>
              <a:ext cx="34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31</a:t>
              </a:r>
              <a:endPara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1" name="Text Box 39"/>
            <p:cNvSpPr txBox="1"/>
            <p:nvPr/>
          </p:nvSpPr>
          <p:spPr>
            <a:xfrm>
              <a:off x="4444" y="2520"/>
              <a:ext cx="34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23</a:t>
              </a:r>
              <a:endPara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2" name="Text Box 40"/>
            <p:cNvSpPr txBox="1"/>
            <p:nvPr/>
          </p:nvSpPr>
          <p:spPr>
            <a:xfrm>
              <a:off x="3971" y="1749"/>
              <a:ext cx="34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3" name="Text Box 41"/>
            <p:cNvSpPr txBox="1"/>
            <p:nvPr/>
          </p:nvSpPr>
          <p:spPr>
            <a:xfrm>
              <a:off x="4754" y="2037"/>
              <a:ext cx="28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4" name="Text Box 42"/>
            <p:cNvSpPr txBox="1"/>
            <p:nvPr/>
          </p:nvSpPr>
          <p:spPr>
            <a:xfrm>
              <a:off x="4339" y="2220"/>
              <a:ext cx="30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5" name="Text Box 43"/>
            <p:cNvSpPr txBox="1"/>
            <p:nvPr/>
          </p:nvSpPr>
          <p:spPr>
            <a:xfrm>
              <a:off x="4380" y="1749"/>
              <a:ext cx="28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3052" name="AutoShape 44" descr="羊皮纸"/>
          <p:cNvSpPr/>
          <p:nvPr/>
        </p:nvSpPr>
        <p:spPr>
          <a:xfrm>
            <a:off x="3706813" y="4724400"/>
            <a:ext cx="1873250" cy="647700"/>
          </a:xfrm>
          <a:prstGeom prst="wedgeRoundRectCallout">
            <a:avLst>
              <a:gd name="adj1" fmla="val 68898"/>
              <a:gd name="adj2" fmla="val -92403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外大内小</a:t>
            </a:r>
          </a:p>
        </p:txBody>
      </p:sp>
      <p:grpSp>
        <p:nvGrpSpPr>
          <p:cNvPr id="32781" name="Group 4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2782" name="Picture 49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83" name="Text Box 5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4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7" grpId="0"/>
      <p:bldP spid="43023" grpId="0" animBg="1"/>
      <p:bldP spid="43024" grpId="0" animBg="1"/>
      <p:bldP spid="43037" grpId="0"/>
      <p:bldP spid="43038" grpId="0" animBg="1"/>
      <p:bldP spid="4305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3" name="Text Box 19"/>
          <p:cNvSpPr txBox="1"/>
          <p:nvPr/>
        </p:nvSpPr>
        <p:spPr>
          <a:xfrm>
            <a:off x="755650" y="1268413"/>
            <a:ext cx="80279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等效对外部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端钮以外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有效，对内不成立。</a:t>
            </a:r>
          </a:p>
        </p:txBody>
      </p:sp>
      <p:sp>
        <p:nvSpPr>
          <p:cNvPr id="42004" name="Text Box 20"/>
          <p:cNvSpPr txBox="1"/>
          <p:nvPr/>
        </p:nvSpPr>
        <p:spPr>
          <a:xfrm>
            <a:off x="755650" y="1916113"/>
            <a:ext cx="65516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 startAt="2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等效电路与外部电路无关。</a:t>
            </a:r>
          </a:p>
        </p:txBody>
      </p:sp>
      <p:sp>
        <p:nvSpPr>
          <p:cNvPr id="42023" name="Text Box 39"/>
          <p:cNvSpPr txBox="1"/>
          <p:nvPr/>
        </p:nvSpPr>
        <p:spPr>
          <a:xfrm>
            <a:off x="755650" y="2565400"/>
            <a:ext cx="47513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 startAt="3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用于简化电路</a:t>
            </a:r>
          </a:p>
        </p:txBody>
      </p:sp>
      <p:grpSp>
        <p:nvGrpSpPr>
          <p:cNvPr id="33797" name="Group 9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3807" name="Picture 9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08" name="Text Box 9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33798" name="Group 9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3805" name="Picture 9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06" name="Text Box 9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42087" name="Group 103"/>
          <p:cNvGrpSpPr/>
          <p:nvPr/>
        </p:nvGrpSpPr>
        <p:grpSpPr>
          <a:xfrm>
            <a:off x="539750" y="549275"/>
            <a:ext cx="1644650" cy="850900"/>
            <a:chOff x="385" y="3022"/>
            <a:chExt cx="1036" cy="536"/>
          </a:xfrm>
        </p:grpSpPr>
        <p:pic>
          <p:nvPicPr>
            <p:cNvPr id="33803" name="Picture 104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04" name="Text Box 105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</a:p>
          </p:txBody>
        </p:sp>
      </p:grpSp>
      <p:grpSp>
        <p:nvGrpSpPr>
          <p:cNvPr id="33800" name="Group 109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3801" name="Picture 110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02" name="Text Box 11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2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3" grpId="0"/>
      <p:bldP spid="42004" grpId="0"/>
      <p:bldP spid="420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Text Box 5"/>
          <p:cNvSpPr txBox="1"/>
          <p:nvPr/>
        </p:nvSpPr>
        <p:spPr>
          <a:xfrm>
            <a:off x="1403350" y="692150"/>
            <a:ext cx="230505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桥 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电路</a:t>
            </a:r>
          </a:p>
        </p:txBody>
      </p:sp>
      <p:sp>
        <p:nvSpPr>
          <p:cNvPr id="41034" name="AutoShape 74"/>
          <p:cNvSpPr/>
          <p:nvPr/>
        </p:nvSpPr>
        <p:spPr>
          <a:xfrm rot="-1646157">
            <a:off x="4067175" y="2187575"/>
            <a:ext cx="946150" cy="161925"/>
          </a:xfrm>
          <a:prstGeom prst="rightArrow">
            <a:avLst>
              <a:gd name="adj1" fmla="val 50000"/>
              <a:gd name="adj2" fmla="val 146078"/>
            </a:avLst>
          </a:prstGeom>
          <a:solidFill>
            <a:srgbClr val="3399FF"/>
          </a:solidFill>
          <a:ln w="9525" cap="flat" cmpd="sng">
            <a:solidFill>
              <a:srgbClr val="33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1037" name="Oval 77"/>
          <p:cNvSpPr/>
          <p:nvPr/>
        </p:nvSpPr>
        <p:spPr>
          <a:xfrm>
            <a:off x="1116013" y="2636838"/>
            <a:ext cx="2376487" cy="1728787"/>
          </a:xfrm>
          <a:prstGeom prst="ellipse">
            <a:avLst/>
          </a:prstGeom>
          <a:noFill/>
          <a:ln w="31750" cap="flat" cmpd="sng">
            <a:solidFill>
              <a:srgbClr val="FF6600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1039" name="Text Box 79"/>
          <p:cNvSpPr txBox="1"/>
          <p:nvPr/>
        </p:nvSpPr>
        <p:spPr>
          <a:xfrm>
            <a:off x="468313" y="620713"/>
            <a:ext cx="1008062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solidFill>
                <a:srgbClr val="FFFF00"/>
              </a:solidFill>
              <a:ea typeface="仿宋_GB2312" pitchFamily="49" charset="-122"/>
            </a:endParaRPr>
          </a:p>
        </p:txBody>
      </p:sp>
      <p:sp>
        <p:nvSpPr>
          <p:cNvPr id="41035" name="AutoShape 75"/>
          <p:cNvSpPr/>
          <p:nvPr/>
        </p:nvSpPr>
        <p:spPr>
          <a:xfrm rot="1949669">
            <a:off x="4265613" y="4292600"/>
            <a:ext cx="863600" cy="2159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66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823" name="Group 11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4887" name="Picture 116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88" name="Text Box 11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34824" name="Group 11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4885" name="Picture 119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86" name="Text Box 12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41084" name="Group 124"/>
          <p:cNvGrpSpPr/>
          <p:nvPr/>
        </p:nvGrpSpPr>
        <p:grpSpPr>
          <a:xfrm>
            <a:off x="179388" y="1844675"/>
            <a:ext cx="3997325" cy="2879725"/>
            <a:chOff x="2562" y="391"/>
            <a:chExt cx="2518" cy="1814"/>
          </a:xfrm>
        </p:grpSpPr>
        <p:sp>
          <p:nvSpPr>
            <p:cNvPr id="34866" name="Oval 125"/>
            <p:cNvSpPr/>
            <p:nvPr/>
          </p:nvSpPr>
          <p:spPr>
            <a:xfrm>
              <a:off x="2835" y="152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4867" name="Line 126"/>
            <p:cNvSpPr/>
            <p:nvPr/>
          </p:nvSpPr>
          <p:spPr>
            <a:xfrm>
              <a:off x="3923" y="1207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4868" name="Line 127"/>
            <p:cNvSpPr/>
            <p:nvPr/>
          </p:nvSpPr>
          <p:spPr>
            <a:xfrm flipV="1">
              <a:off x="3152" y="754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34869" name="Line 128"/>
            <p:cNvSpPr/>
            <p:nvPr/>
          </p:nvSpPr>
          <p:spPr>
            <a:xfrm>
              <a:off x="3152" y="754"/>
              <a:ext cx="154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0" name="Text Box 129"/>
            <p:cNvSpPr txBox="1"/>
            <p:nvPr/>
          </p:nvSpPr>
          <p:spPr>
            <a:xfrm>
              <a:off x="3651" y="391"/>
              <a:ext cx="5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4871" name="Text Box 130"/>
            <p:cNvSpPr txBox="1"/>
            <p:nvPr/>
          </p:nvSpPr>
          <p:spPr>
            <a:xfrm>
              <a:off x="3198" y="845"/>
              <a:ext cx="5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4872" name="Text Box 131"/>
            <p:cNvSpPr txBox="1"/>
            <p:nvPr/>
          </p:nvSpPr>
          <p:spPr>
            <a:xfrm>
              <a:off x="4059" y="845"/>
              <a:ext cx="5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4873" name="Text Box 132"/>
            <p:cNvSpPr txBox="1"/>
            <p:nvPr/>
          </p:nvSpPr>
          <p:spPr>
            <a:xfrm>
              <a:off x="3923" y="1525"/>
              <a:ext cx="5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4874" name="Text Box 133"/>
            <p:cNvSpPr txBox="1"/>
            <p:nvPr/>
          </p:nvSpPr>
          <p:spPr>
            <a:xfrm>
              <a:off x="4876" y="1525"/>
              <a:ext cx="2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4875" name="Text Box 134"/>
            <p:cNvSpPr txBox="1"/>
            <p:nvPr/>
          </p:nvSpPr>
          <p:spPr>
            <a:xfrm>
              <a:off x="2562" y="1570"/>
              <a:ext cx="2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76" name="Rectangle 135"/>
            <p:cNvSpPr/>
            <p:nvPr/>
          </p:nvSpPr>
          <p:spPr>
            <a:xfrm>
              <a:off x="3016" y="1207"/>
              <a:ext cx="1814" cy="99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77" name="Line 136"/>
            <p:cNvSpPr/>
            <p:nvPr/>
          </p:nvSpPr>
          <p:spPr>
            <a:xfrm flipV="1">
              <a:off x="4694" y="754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34878" name="Rectangle 137"/>
            <p:cNvSpPr/>
            <p:nvPr/>
          </p:nvSpPr>
          <p:spPr>
            <a:xfrm>
              <a:off x="4150" y="116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79" name="Rectangle 138"/>
            <p:cNvSpPr/>
            <p:nvPr/>
          </p:nvSpPr>
          <p:spPr>
            <a:xfrm>
              <a:off x="3288" y="116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80" name="Rectangle 139"/>
            <p:cNvSpPr/>
            <p:nvPr/>
          </p:nvSpPr>
          <p:spPr>
            <a:xfrm>
              <a:off x="3787" y="70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81" name="Rectangle 140"/>
            <p:cNvSpPr/>
            <p:nvPr/>
          </p:nvSpPr>
          <p:spPr>
            <a:xfrm>
              <a:off x="4749" y="152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82" name="Rectangle 141"/>
            <p:cNvSpPr/>
            <p:nvPr/>
          </p:nvSpPr>
          <p:spPr>
            <a:xfrm>
              <a:off x="3878" y="152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83" name="Text Box 142"/>
            <p:cNvSpPr txBox="1"/>
            <p:nvPr/>
          </p:nvSpPr>
          <p:spPr>
            <a:xfrm>
              <a:off x="2699" y="1842"/>
              <a:ext cx="2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rgbClr val="FFFF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884" name="Text Box 143"/>
            <p:cNvSpPr txBox="1"/>
            <p:nvPr/>
          </p:nvSpPr>
          <p:spPr>
            <a:xfrm>
              <a:off x="2699" y="1207"/>
              <a:ext cx="2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1104" name="Group 144"/>
          <p:cNvGrpSpPr/>
          <p:nvPr/>
        </p:nvGrpSpPr>
        <p:grpSpPr>
          <a:xfrm>
            <a:off x="5148263" y="620713"/>
            <a:ext cx="3563937" cy="2663825"/>
            <a:chOff x="2835" y="2160"/>
            <a:chExt cx="2245" cy="1678"/>
          </a:xfrm>
        </p:grpSpPr>
        <p:sp>
          <p:nvSpPr>
            <p:cNvPr id="34850" name="Oval 145"/>
            <p:cNvSpPr/>
            <p:nvPr/>
          </p:nvSpPr>
          <p:spPr>
            <a:xfrm>
              <a:off x="2835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4851" name="Line 146"/>
            <p:cNvSpPr/>
            <p:nvPr/>
          </p:nvSpPr>
          <p:spPr>
            <a:xfrm>
              <a:off x="3923" y="2478"/>
              <a:ext cx="0" cy="13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4852" name="Text Box 147"/>
            <p:cNvSpPr txBox="1"/>
            <p:nvPr/>
          </p:nvSpPr>
          <p:spPr>
            <a:xfrm>
              <a:off x="3061" y="2160"/>
              <a:ext cx="94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1/3k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4853" name="Text Box 148"/>
            <p:cNvSpPr txBox="1"/>
            <p:nvPr/>
          </p:nvSpPr>
          <p:spPr>
            <a:xfrm>
              <a:off x="4195" y="2160"/>
              <a:ext cx="79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1/3k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4854" name="Text Box 149"/>
            <p:cNvSpPr txBox="1"/>
            <p:nvPr/>
          </p:nvSpPr>
          <p:spPr>
            <a:xfrm>
              <a:off x="3923" y="3294"/>
              <a:ext cx="65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4855" name="Text Box 150"/>
            <p:cNvSpPr txBox="1"/>
            <p:nvPr/>
          </p:nvSpPr>
          <p:spPr>
            <a:xfrm>
              <a:off x="4876" y="2976"/>
              <a:ext cx="2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4856" name="Text Box 151"/>
            <p:cNvSpPr txBox="1"/>
            <p:nvPr/>
          </p:nvSpPr>
          <p:spPr>
            <a:xfrm>
              <a:off x="3198" y="2886"/>
              <a:ext cx="2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7" name="Text Box 152"/>
            <p:cNvSpPr txBox="1"/>
            <p:nvPr/>
          </p:nvSpPr>
          <p:spPr>
            <a:xfrm>
              <a:off x="3923" y="2750"/>
              <a:ext cx="73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1/3k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4858" name="Rectangle 153"/>
            <p:cNvSpPr/>
            <p:nvPr/>
          </p:nvSpPr>
          <p:spPr>
            <a:xfrm>
              <a:off x="3016" y="2478"/>
              <a:ext cx="1814" cy="1360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59" name="Rectangle 154"/>
            <p:cNvSpPr/>
            <p:nvPr/>
          </p:nvSpPr>
          <p:spPr>
            <a:xfrm>
              <a:off x="4286" y="24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60" name="Rectangle 155"/>
            <p:cNvSpPr/>
            <p:nvPr/>
          </p:nvSpPr>
          <p:spPr>
            <a:xfrm>
              <a:off x="3288" y="24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61" name="Rectangle 156"/>
            <p:cNvSpPr/>
            <p:nvPr/>
          </p:nvSpPr>
          <p:spPr>
            <a:xfrm>
              <a:off x="3842" y="329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62" name="Rectangle 157"/>
            <p:cNvSpPr/>
            <p:nvPr/>
          </p:nvSpPr>
          <p:spPr>
            <a:xfrm>
              <a:off x="3842" y="275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63" name="Rectangle 158"/>
            <p:cNvSpPr/>
            <p:nvPr/>
          </p:nvSpPr>
          <p:spPr>
            <a:xfrm>
              <a:off x="4749" y="297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64" name="Text Box 159"/>
            <p:cNvSpPr txBox="1"/>
            <p:nvPr/>
          </p:nvSpPr>
          <p:spPr>
            <a:xfrm>
              <a:off x="3107" y="2568"/>
              <a:ext cx="2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65" name="Text Box 160"/>
            <p:cNvSpPr txBox="1"/>
            <p:nvPr/>
          </p:nvSpPr>
          <p:spPr>
            <a:xfrm>
              <a:off x="3107" y="3249"/>
              <a:ext cx="2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chemeClr val="bg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41121" name="Group 161"/>
          <p:cNvGrpSpPr/>
          <p:nvPr/>
        </p:nvGrpSpPr>
        <p:grpSpPr>
          <a:xfrm>
            <a:off x="5219700" y="3357563"/>
            <a:ext cx="3563938" cy="2735262"/>
            <a:chOff x="2789" y="391"/>
            <a:chExt cx="2245" cy="1723"/>
          </a:xfrm>
        </p:grpSpPr>
        <p:sp>
          <p:nvSpPr>
            <p:cNvPr id="34832" name="Line 162"/>
            <p:cNvSpPr/>
            <p:nvPr/>
          </p:nvSpPr>
          <p:spPr>
            <a:xfrm>
              <a:off x="4195" y="754"/>
              <a:ext cx="0" cy="13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4833" name="Line 163"/>
            <p:cNvSpPr/>
            <p:nvPr/>
          </p:nvSpPr>
          <p:spPr>
            <a:xfrm>
              <a:off x="3470" y="1162"/>
              <a:ext cx="72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4834" name="Oval 164"/>
            <p:cNvSpPr/>
            <p:nvPr/>
          </p:nvSpPr>
          <p:spPr>
            <a:xfrm>
              <a:off x="2789" y="116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4835" name="Line 165"/>
            <p:cNvSpPr/>
            <p:nvPr/>
          </p:nvSpPr>
          <p:spPr>
            <a:xfrm>
              <a:off x="3470" y="754"/>
              <a:ext cx="0" cy="13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4836" name="Text Box 166"/>
            <p:cNvSpPr txBox="1"/>
            <p:nvPr/>
          </p:nvSpPr>
          <p:spPr>
            <a:xfrm>
              <a:off x="3560" y="391"/>
              <a:ext cx="94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4837" name="Text Box 167"/>
            <p:cNvSpPr txBox="1"/>
            <p:nvPr/>
          </p:nvSpPr>
          <p:spPr>
            <a:xfrm>
              <a:off x="3560" y="845"/>
              <a:ext cx="79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4838" name="Text Box 168"/>
            <p:cNvSpPr txBox="1"/>
            <p:nvPr/>
          </p:nvSpPr>
          <p:spPr>
            <a:xfrm>
              <a:off x="4195" y="1525"/>
              <a:ext cx="65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4839" name="Text Box 169"/>
            <p:cNvSpPr txBox="1"/>
            <p:nvPr/>
          </p:nvSpPr>
          <p:spPr>
            <a:xfrm>
              <a:off x="4830" y="1252"/>
              <a:ext cx="2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4840" name="Text Box 170"/>
            <p:cNvSpPr txBox="1"/>
            <p:nvPr/>
          </p:nvSpPr>
          <p:spPr>
            <a:xfrm>
              <a:off x="3152" y="1117"/>
              <a:ext cx="2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41" name="Text Box 171"/>
            <p:cNvSpPr txBox="1"/>
            <p:nvPr/>
          </p:nvSpPr>
          <p:spPr>
            <a:xfrm>
              <a:off x="3515" y="1525"/>
              <a:ext cx="73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4842" name="Rectangle 172"/>
            <p:cNvSpPr/>
            <p:nvPr/>
          </p:nvSpPr>
          <p:spPr>
            <a:xfrm>
              <a:off x="2971" y="754"/>
              <a:ext cx="1814" cy="1360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43" name="Rectangle 173"/>
            <p:cNvSpPr/>
            <p:nvPr/>
          </p:nvSpPr>
          <p:spPr>
            <a:xfrm>
              <a:off x="3696" y="111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44" name="Rectangle 174"/>
            <p:cNvSpPr/>
            <p:nvPr/>
          </p:nvSpPr>
          <p:spPr>
            <a:xfrm>
              <a:off x="3696" y="70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45" name="Rectangle 175"/>
            <p:cNvSpPr/>
            <p:nvPr/>
          </p:nvSpPr>
          <p:spPr>
            <a:xfrm>
              <a:off x="4114" y="152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46" name="Rectangle 176"/>
            <p:cNvSpPr/>
            <p:nvPr/>
          </p:nvSpPr>
          <p:spPr>
            <a:xfrm>
              <a:off x="3388" y="152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47" name="Rectangle 177"/>
            <p:cNvSpPr/>
            <p:nvPr/>
          </p:nvSpPr>
          <p:spPr>
            <a:xfrm>
              <a:off x="4703" y="12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4848" name="Text Box 178"/>
            <p:cNvSpPr txBox="1"/>
            <p:nvPr/>
          </p:nvSpPr>
          <p:spPr>
            <a:xfrm>
              <a:off x="3061" y="844"/>
              <a:ext cx="2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49" name="Text Box 179"/>
            <p:cNvSpPr txBox="1"/>
            <p:nvPr/>
          </p:nvSpPr>
          <p:spPr>
            <a:xfrm>
              <a:off x="3061" y="1525"/>
              <a:ext cx="2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chemeClr val="bg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41163" name="Oval 203"/>
          <p:cNvSpPr/>
          <p:nvPr/>
        </p:nvSpPr>
        <p:spPr>
          <a:xfrm>
            <a:off x="755650" y="1844675"/>
            <a:ext cx="3167063" cy="1728788"/>
          </a:xfrm>
          <a:prstGeom prst="ellipse">
            <a:avLst/>
          </a:prstGeom>
          <a:noFill/>
          <a:ln w="28575" cap="flat" cmpd="sng">
            <a:solidFill>
              <a:srgbClr val="66FFFF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4829" name="Group 204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4830" name="Picture 20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1" name="Text Box 20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70" decel="100000"/>
                                        <p:tgtEl>
                                          <p:spTgt spid="411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770" decel="100000"/>
                                        <p:tgtEl>
                                          <p:spTgt spid="4116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116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7" dur="770" fill="hold"/>
                                        <p:tgtEl>
                                          <p:spTgt spid="41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1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9" dur="770" fill="hold"/>
                                        <p:tgtEl>
                                          <p:spTgt spid="41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1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70" decel="100000"/>
                                        <p:tgtEl>
                                          <p:spTgt spid="410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770" decel="100000"/>
                                        <p:tgtEl>
                                          <p:spTgt spid="4103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7" dur="770" fill="hold"/>
                                        <p:tgtEl>
                                          <p:spTgt spid="4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9" dur="770" fill="hold"/>
                                        <p:tgtEl>
                                          <p:spTgt spid="4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/>
      <p:bldP spid="41034" grpId="0" animBg="1"/>
      <p:bldP spid="41037" grpId="0" animBg="1"/>
      <p:bldP spid="41039" grpId="0"/>
      <p:bldP spid="41035" grpId="0" animBg="1"/>
      <p:bldP spid="4116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9" name="Text Box 23"/>
          <p:cNvSpPr txBox="1"/>
          <p:nvPr/>
        </p:nvSpPr>
        <p:spPr>
          <a:xfrm>
            <a:off x="539750" y="476250"/>
            <a:ext cx="10795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endParaRPr lang="en-US" altLang="zh-CN" dirty="0">
              <a:solidFill>
                <a:srgbClr val="FFFF00"/>
              </a:solidFill>
              <a:ea typeface="仿宋_GB2312" pitchFamily="49" charset="-122"/>
            </a:endParaRPr>
          </a:p>
        </p:txBody>
      </p:sp>
      <p:sp>
        <p:nvSpPr>
          <p:cNvPr id="40063" name="Text Box 127"/>
          <p:cNvSpPr txBox="1"/>
          <p:nvPr/>
        </p:nvSpPr>
        <p:spPr>
          <a:xfrm>
            <a:off x="1403350" y="549275"/>
            <a:ext cx="5832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计算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90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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电阻吸收的功率</a:t>
            </a:r>
          </a:p>
        </p:txBody>
      </p:sp>
      <p:graphicFrame>
        <p:nvGraphicFramePr>
          <p:cNvPr id="40070" name="Object 134"/>
          <p:cNvGraphicFramePr>
            <a:graphicFrameLocks/>
          </p:cNvGraphicFramePr>
          <p:nvPr/>
        </p:nvGraphicFramePr>
        <p:xfrm>
          <a:off x="5003800" y="3068638"/>
          <a:ext cx="3960813" cy="938212"/>
        </p:xfrm>
        <a:graphic>
          <a:graphicData uri="http://schemas.openxmlformats.org/presentationml/2006/ole">
            <p:oleObj spid="_x0000_s48132" r:id="rId3" imgW="1471680" imgH="392040" progId="Equation.3">
              <p:embed/>
            </p:oleObj>
          </a:graphicData>
        </a:graphic>
      </p:graphicFrame>
      <p:graphicFrame>
        <p:nvGraphicFramePr>
          <p:cNvPr id="40071" name="Object 135"/>
          <p:cNvGraphicFramePr>
            <a:graphicFrameLocks/>
          </p:cNvGraphicFramePr>
          <p:nvPr/>
        </p:nvGraphicFramePr>
        <p:xfrm>
          <a:off x="5435600" y="4149725"/>
          <a:ext cx="3095625" cy="425450"/>
        </p:xfrm>
        <a:graphic>
          <a:graphicData uri="http://schemas.openxmlformats.org/presentationml/2006/ole">
            <p:oleObj spid="_x0000_s48131" r:id="rId4" imgW="984960" imgH="149760" progId="Equation.3">
              <p:embed/>
            </p:oleObj>
          </a:graphicData>
        </a:graphic>
      </p:graphicFrame>
      <p:graphicFrame>
        <p:nvGraphicFramePr>
          <p:cNvPr id="40072" name="Object 136"/>
          <p:cNvGraphicFramePr>
            <a:graphicFrameLocks/>
          </p:cNvGraphicFramePr>
          <p:nvPr/>
        </p:nvGraphicFramePr>
        <p:xfrm>
          <a:off x="5364163" y="4724400"/>
          <a:ext cx="3343275" cy="901700"/>
        </p:xfrm>
        <a:graphic>
          <a:graphicData uri="http://schemas.openxmlformats.org/presentationml/2006/ole">
            <p:oleObj spid="_x0000_s48130" r:id="rId5" imgW="1216800" imgH="392040" progId="Equation.3">
              <p:embed/>
            </p:oleObj>
          </a:graphicData>
        </a:graphic>
      </p:graphicFrame>
      <p:graphicFrame>
        <p:nvGraphicFramePr>
          <p:cNvPr id="40073" name="Object 137"/>
          <p:cNvGraphicFramePr>
            <a:graphicFrameLocks/>
          </p:cNvGraphicFramePr>
          <p:nvPr/>
        </p:nvGraphicFramePr>
        <p:xfrm>
          <a:off x="1403350" y="5876925"/>
          <a:ext cx="5735638" cy="555625"/>
        </p:xfrm>
        <a:graphic>
          <a:graphicData uri="http://schemas.openxmlformats.org/presentationml/2006/ole">
            <p:oleObj spid="_x0000_s48129" r:id="rId6" imgW="1900440" imgH="207720" progId="Equation.3">
              <p:embed/>
            </p:oleObj>
          </a:graphicData>
        </a:graphic>
      </p:graphicFrame>
      <p:sp>
        <p:nvSpPr>
          <p:cNvPr id="40074" name="Oval 138"/>
          <p:cNvSpPr/>
          <p:nvPr/>
        </p:nvSpPr>
        <p:spPr>
          <a:xfrm>
            <a:off x="3059113" y="981075"/>
            <a:ext cx="2232025" cy="1728788"/>
          </a:xfrm>
          <a:prstGeom prst="ellipse">
            <a:avLst/>
          </a:prstGeom>
          <a:noFill/>
          <a:ln w="28575" cap="flat" cmpd="sng">
            <a:solidFill>
              <a:srgbClr val="66FFFF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5849" name="Group 14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5927" name="Picture 143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928" name="Text Box 14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35850" name="Group 14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5925" name="Picture 146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926" name="Text Box 14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40087" name="Group 151"/>
          <p:cNvGrpSpPr/>
          <p:nvPr/>
        </p:nvGrpSpPr>
        <p:grpSpPr>
          <a:xfrm>
            <a:off x="395288" y="1196975"/>
            <a:ext cx="4522787" cy="2087563"/>
            <a:chOff x="2381" y="482"/>
            <a:chExt cx="2849" cy="1315"/>
          </a:xfrm>
        </p:grpSpPr>
        <p:sp>
          <p:nvSpPr>
            <p:cNvPr id="35900" name="Oval 152"/>
            <p:cNvSpPr/>
            <p:nvPr/>
          </p:nvSpPr>
          <p:spPr>
            <a:xfrm>
              <a:off x="2381" y="102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grpSp>
          <p:nvGrpSpPr>
            <p:cNvPr id="35901" name="Group 153"/>
            <p:cNvGrpSpPr/>
            <p:nvPr/>
          </p:nvGrpSpPr>
          <p:grpSpPr>
            <a:xfrm>
              <a:off x="2562" y="527"/>
              <a:ext cx="2625" cy="1270"/>
              <a:chOff x="385" y="935"/>
              <a:chExt cx="2903" cy="1270"/>
            </a:xfrm>
          </p:grpSpPr>
          <p:sp>
            <p:nvSpPr>
              <p:cNvPr id="35921" name="Rectangle 154"/>
              <p:cNvSpPr/>
              <p:nvPr/>
            </p:nvSpPr>
            <p:spPr>
              <a:xfrm>
                <a:off x="385" y="935"/>
                <a:ext cx="2903" cy="1270"/>
              </a:xfrm>
              <a:prstGeom prst="rect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35922" name="Line 155"/>
              <p:cNvSpPr/>
              <p:nvPr/>
            </p:nvSpPr>
            <p:spPr>
              <a:xfrm>
                <a:off x="1247" y="935"/>
                <a:ext cx="0" cy="127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35923" name="Line 156"/>
              <p:cNvSpPr/>
              <p:nvPr/>
            </p:nvSpPr>
            <p:spPr>
              <a:xfrm>
                <a:off x="2245" y="935"/>
                <a:ext cx="0" cy="127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35924" name="Line 157"/>
              <p:cNvSpPr/>
              <p:nvPr/>
            </p:nvSpPr>
            <p:spPr>
              <a:xfrm>
                <a:off x="2245" y="1570"/>
                <a:ext cx="1043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oval" w="med" len="med"/>
                <a:tailEnd type="oval" w="med" len="med"/>
              </a:ln>
            </p:spPr>
          </p:sp>
        </p:grpSp>
        <p:sp>
          <p:nvSpPr>
            <p:cNvPr id="35902" name="Text Box 158"/>
            <p:cNvSpPr txBox="1"/>
            <p:nvPr/>
          </p:nvSpPr>
          <p:spPr>
            <a:xfrm>
              <a:off x="2744" y="572"/>
              <a:ext cx="44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903" name="Text Box 159"/>
            <p:cNvSpPr txBox="1"/>
            <p:nvPr/>
          </p:nvSpPr>
          <p:spPr>
            <a:xfrm>
              <a:off x="3470" y="572"/>
              <a:ext cx="58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904" name="Text Box 160"/>
            <p:cNvSpPr txBox="1"/>
            <p:nvPr/>
          </p:nvSpPr>
          <p:spPr>
            <a:xfrm>
              <a:off x="3808" y="1344"/>
              <a:ext cx="61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905" name="Text Box 161"/>
            <p:cNvSpPr txBox="1"/>
            <p:nvPr/>
          </p:nvSpPr>
          <p:spPr>
            <a:xfrm>
              <a:off x="2608" y="799"/>
              <a:ext cx="18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906" name="Text Box 162"/>
            <p:cNvSpPr txBox="1"/>
            <p:nvPr/>
          </p:nvSpPr>
          <p:spPr>
            <a:xfrm>
              <a:off x="2744" y="1071"/>
              <a:ext cx="53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20V</a:t>
              </a:r>
            </a:p>
          </p:txBody>
        </p:sp>
        <p:sp>
          <p:nvSpPr>
            <p:cNvPr id="35907" name="Text Box 163"/>
            <p:cNvSpPr txBox="1"/>
            <p:nvPr/>
          </p:nvSpPr>
          <p:spPr>
            <a:xfrm>
              <a:off x="3379" y="1026"/>
              <a:ext cx="5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90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908" name="Text Box 164"/>
            <p:cNvSpPr txBox="1"/>
            <p:nvPr/>
          </p:nvSpPr>
          <p:spPr>
            <a:xfrm>
              <a:off x="4422" y="845"/>
              <a:ext cx="54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9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909" name="Text Box 165"/>
            <p:cNvSpPr txBox="1"/>
            <p:nvPr/>
          </p:nvSpPr>
          <p:spPr>
            <a:xfrm>
              <a:off x="4694" y="663"/>
              <a:ext cx="53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9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910" name="Text Box 166"/>
            <p:cNvSpPr txBox="1"/>
            <p:nvPr/>
          </p:nvSpPr>
          <p:spPr>
            <a:xfrm>
              <a:off x="3833" y="709"/>
              <a:ext cx="6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9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911" name="Text Box 167"/>
            <p:cNvSpPr txBox="1"/>
            <p:nvPr/>
          </p:nvSpPr>
          <p:spPr>
            <a:xfrm>
              <a:off x="4694" y="1344"/>
              <a:ext cx="48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9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912" name="Text Box 168"/>
            <p:cNvSpPr txBox="1"/>
            <p:nvPr/>
          </p:nvSpPr>
          <p:spPr>
            <a:xfrm>
              <a:off x="2562" y="1289"/>
              <a:ext cx="3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913" name="Rectangle 169"/>
            <p:cNvSpPr/>
            <p:nvPr/>
          </p:nvSpPr>
          <p:spPr>
            <a:xfrm>
              <a:off x="5103" y="6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914" name="Rectangle 170"/>
            <p:cNvSpPr/>
            <p:nvPr/>
          </p:nvSpPr>
          <p:spPr>
            <a:xfrm>
              <a:off x="4195" y="134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915" name="Rectangle 171"/>
            <p:cNvSpPr/>
            <p:nvPr/>
          </p:nvSpPr>
          <p:spPr>
            <a:xfrm>
              <a:off x="4195" y="6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916" name="Rectangle 172"/>
            <p:cNvSpPr/>
            <p:nvPr/>
          </p:nvSpPr>
          <p:spPr>
            <a:xfrm>
              <a:off x="3288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917" name="Rectangle 173"/>
            <p:cNvSpPr/>
            <p:nvPr/>
          </p:nvSpPr>
          <p:spPr>
            <a:xfrm>
              <a:off x="5103" y="134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918" name="Rectangle 174"/>
            <p:cNvSpPr/>
            <p:nvPr/>
          </p:nvSpPr>
          <p:spPr>
            <a:xfrm>
              <a:off x="2789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919" name="Rectangle 175"/>
            <p:cNvSpPr/>
            <p:nvPr/>
          </p:nvSpPr>
          <p:spPr>
            <a:xfrm>
              <a:off x="4558" y="111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920" name="Rectangle 176"/>
            <p:cNvSpPr/>
            <p:nvPr/>
          </p:nvSpPr>
          <p:spPr>
            <a:xfrm>
              <a:off x="3651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0113" name="Group 177"/>
          <p:cNvGrpSpPr/>
          <p:nvPr/>
        </p:nvGrpSpPr>
        <p:grpSpPr>
          <a:xfrm>
            <a:off x="323850" y="3644900"/>
            <a:ext cx="4916488" cy="1946275"/>
            <a:chOff x="2336" y="436"/>
            <a:chExt cx="3097" cy="1226"/>
          </a:xfrm>
        </p:grpSpPr>
        <p:sp>
          <p:nvSpPr>
            <p:cNvPr id="35873" name="Oval 178"/>
            <p:cNvSpPr/>
            <p:nvPr/>
          </p:nvSpPr>
          <p:spPr>
            <a:xfrm>
              <a:off x="2336" y="98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5874" name="Line 179"/>
            <p:cNvSpPr/>
            <p:nvPr/>
          </p:nvSpPr>
          <p:spPr>
            <a:xfrm flipV="1">
              <a:off x="3334" y="527"/>
              <a:ext cx="149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5875" name="Rectangle 180"/>
            <p:cNvSpPr/>
            <p:nvPr/>
          </p:nvSpPr>
          <p:spPr>
            <a:xfrm>
              <a:off x="2517" y="527"/>
              <a:ext cx="811" cy="113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876" name="Text Box 181"/>
            <p:cNvSpPr txBox="1"/>
            <p:nvPr/>
          </p:nvSpPr>
          <p:spPr>
            <a:xfrm>
              <a:off x="5012" y="436"/>
              <a:ext cx="42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877" name="Text Box 182"/>
            <p:cNvSpPr txBox="1"/>
            <p:nvPr/>
          </p:nvSpPr>
          <p:spPr>
            <a:xfrm>
              <a:off x="4020" y="572"/>
              <a:ext cx="6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878" name="Text Box 183"/>
            <p:cNvSpPr txBox="1"/>
            <p:nvPr/>
          </p:nvSpPr>
          <p:spPr>
            <a:xfrm>
              <a:off x="4468" y="754"/>
              <a:ext cx="58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879" name="Line 184"/>
            <p:cNvSpPr/>
            <p:nvPr/>
          </p:nvSpPr>
          <p:spPr>
            <a:xfrm>
              <a:off x="3334" y="1661"/>
              <a:ext cx="191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5880" name="Line 185"/>
            <p:cNvSpPr/>
            <p:nvPr/>
          </p:nvSpPr>
          <p:spPr>
            <a:xfrm flipH="1">
              <a:off x="4241" y="527"/>
              <a:ext cx="589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5881" name="Line 186"/>
            <p:cNvSpPr/>
            <p:nvPr/>
          </p:nvSpPr>
          <p:spPr>
            <a:xfrm>
              <a:off x="4241" y="981"/>
              <a:ext cx="3" cy="68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5882" name="Line 187"/>
            <p:cNvSpPr/>
            <p:nvPr/>
          </p:nvSpPr>
          <p:spPr>
            <a:xfrm flipV="1">
              <a:off x="5239" y="1026"/>
              <a:ext cx="0" cy="6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5883" name="Text Box 188"/>
            <p:cNvSpPr txBox="1"/>
            <p:nvPr/>
          </p:nvSpPr>
          <p:spPr>
            <a:xfrm>
              <a:off x="2744" y="572"/>
              <a:ext cx="44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884" name="Text Box 189"/>
            <p:cNvSpPr txBox="1"/>
            <p:nvPr/>
          </p:nvSpPr>
          <p:spPr>
            <a:xfrm>
              <a:off x="3470" y="572"/>
              <a:ext cx="58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885" name="Text Box 190"/>
            <p:cNvSpPr txBox="1"/>
            <p:nvPr/>
          </p:nvSpPr>
          <p:spPr>
            <a:xfrm>
              <a:off x="4241" y="1162"/>
              <a:ext cx="61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886" name="Text Box 191"/>
            <p:cNvSpPr txBox="1"/>
            <p:nvPr/>
          </p:nvSpPr>
          <p:spPr>
            <a:xfrm>
              <a:off x="2608" y="799"/>
              <a:ext cx="18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887" name="Text Box 192"/>
            <p:cNvSpPr txBox="1"/>
            <p:nvPr/>
          </p:nvSpPr>
          <p:spPr>
            <a:xfrm>
              <a:off x="2744" y="1071"/>
              <a:ext cx="53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20V</a:t>
              </a:r>
            </a:p>
          </p:txBody>
        </p:sp>
        <p:sp>
          <p:nvSpPr>
            <p:cNvPr id="35888" name="Text Box 193"/>
            <p:cNvSpPr txBox="1"/>
            <p:nvPr/>
          </p:nvSpPr>
          <p:spPr>
            <a:xfrm>
              <a:off x="3379" y="1026"/>
              <a:ext cx="5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90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889" name="Text Box 194"/>
            <p:cNvSpPr txBox="1"/>
            <p:nvPr/>
          </p:nvSpPr>
          <p:spPr>
            <a:xfrm>
              <a:off x="4797" y="1162"/>
              <a:ext cx="48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9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890" name="Text Box 195"/>
            <p:cNvSpPr txBox="1"/>
            <p:nvPr/>
          </p:nvSpPr>
          <p:spPr>
            <a:xfrm>
              <a:off x="2562" y="1298"/>
              <a:ext cx="3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91" name="Rectangle 196"/>
            <p:cNvSpPr/>
            <p:nvPr/>
          </p:nvSpPr>
          <p:spPr>
            <a:xfrm>
              <a:off x="4195" y="111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892" name="Rectangle 197"/>
            <p:cNvSpPr/>
            <p:nvPr/>
          </p:nvSpPr>
          <p:spPr>
            <a:xfrm>
              <a:off x="3288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893" name="Rectangle 198"/>
            <p:cNvSpPr/>
            <p:nvPr/>
          </p:nvSpPr>
          <p:spPr>
            <a:xfrm>
              <a:off x="5193" y="116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894" name="Rectangle 199"/>
            <p:cNvSpPr/>
            <p:nvPr/>
          </p:nvSpPr>
          <p:spPr>
            <a:xfrm>
              <a:off x="2789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895" name="Rectangle 200"/>
            <p:cNvSpPr/>
            <p:nvPr/>
          </p:nvSpPr>
          <p:spPr>
            <a:xfrm>
              <a:off x="3560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896" name="Line 201"/>
            <p:cNvSpPr/>
            <p:nvPr/>
          </p:nvSpPr>
          <p:spPr>
            <a:xfrm>
              <a:off x="4830" y="527"/>
              <a:ext cx="409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5897" name="Rectangle 202"/>
            <p:cNvSpPr/>
            <p:nvPr/>
          </p:nvSpPr>
          <p:spPr>
            <a:xfrm rot="2678942">
              <a:off x="4876" y="70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898" name="Rectangle 203"/>
            <p:cNvSpPr/>
            <p:nvPr/>
          </p:nvSpPr>
          <p:spPr>
            <a:xfrm rot="-2081710">
              <a:off x="4377" y="70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899" name="Rectangle 204"/>
            <p:cNvSpPr/>
            <p:nvPr/>
          </p:nvSpPr>
          <p:spPr>
            <a:xfrm>
              <a:off x="4105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0158" name="Group 222"/>
          <p:cNvGrpSpPr/>
          <p:nvPr/>
        </p:nvGrpSpPr>
        <p:grpSpPr>
          <a:xfrm>
            <a:off x="5580063" y="765175"/>
            <a:ext cx="3325812" cy="2233613"/>
            <a:chOff x="3334" y="346"/>
            <a:chExt cx="2095" cy="1407"/>
          </a:xfrm>
        </p:grpSpPr>
        <p:sp>
          <p:nvSpPr>
            <p:cNvPr id="35857" name="Oval 206"/>
            <p:cNvSpPr/>
            <p:nvPr/>
          </p:nvSpPr>
          <p:spPr>
            <a:xfrm>
              <a:off x="3425" y="107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5858" name="Rectangle 207"/>
            <p:cNvSpPr/>
            <p:nvPr/>
          </p:nvSpPr>
          <p:spPr>
            <a:xfrm>
              <a:off x="3606" y="709"/>
              <a:ext cx="1497" cy="1043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859" name="Text Box 208"/>
            <p:cNvSpPr txBox="1"/>
            <p:nvPr/>
          </p:nvSpPr>
          <p:spPr>
            <a:xfrm>
              <a:off x="3833" y="346"/>
              <a:ext cx="46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860" name="Text Box 209"/>
            <p:cNvSpPr txBox="1"/>
            <p:nvPr/>
          </p:nvSpPr>
          <p:spPr>
            <a:xfrm rot="5400000">
              <a:off x="4936" y="1055"/>
              <a:ext cx="65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861" name="Text Box 210"/>
            <p:cNvSpPr txBox="1"/>
            <p:nvPr/>
          </p:nvSpPr>
          <p:spPr>
            <a:xfrm>
              <a:off x="3651" y="755"/>
              <a:ext cx="19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862" name="Text Box 211"/>
            <p:cNvSpPr txBox="1"/>
            <p:nvPr/>
          </p:nvSpPr>
          <p:spPr>
            <a:xfrm>
              <a:off x="3742" y="1027"/>
              <a:ext cx="55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20V</a:t>
              </a:r>
            </a:p>
          </p:txBody>
        </p:sp>
        <p:sp>
          <p:nvSpPr>
            <p:cNvPr id="35863" name="Text Box 212"/>
            <p:cNvSpPr txBox="1"/>
            <p:nvPr/>
          </p:nvSpPr>
          <p:spPr>
            <a:xfrm>
              <a:off x="4468" y="1027"/>
              <a:ext cx="52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90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5864" name="Text Box 213"/>
            <p:cNvSpPr txBox="1"/>
            <p:nvPr/>
          </p:nvSpPr>
          <p:spPr>
            <a:xfrm>
              <a:off x="3651" y="1299"/>
              <a:ext cx="31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65" name="Line 214"/>
            <p:cNvSpPr/>
            <p:nvPr/>
          </p:nvSpPr>
          <p:spPr>
            <a:xfrm>
              <a:off x="4423" y="709"/>
              <a:ext cx="0" cy="10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5866" name="Line 215"/>
            <p:cNvSpPr/>
            <p:nvPr/>
          </p:nvSpPr>
          <p:spPr>
            <a:xfrm>
              <a:off x="4513" y="755"/>
              <a:ext cx="0" cy="272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67" name="Text Box 216"/>
            <p:cNvSpPr txBox="1"/>
            <p:nvPr/>
          </p:nvSpPr>
          <p:spPr>
            <a:xfrm>
              <a:off x="4513" y="709"/>
              <a:ext cx="3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868" name="Line 217"/>
            <p:cNvSpPr/>
            <p:nvPr/>
          </p:nvSpPr>
          <p:spPr>
            <a:xfrm flipV="1">
              <a:off x="3561" y="709"/>
              <a:ext cx="0" cy="31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69" name="Text Box 218"/>
            <p:cNvSpPr txBox="1"/>
            <p:nvPr/>
          </p:nvSpPr>
          <p:spPr>
            <a:xfrm>
              <a:off x="3334" y="619"/>
              <a:ext cx="18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870" name="Rectangle 219"/>
            <p:cNvSpPr/>
            <p:nvPr/>
          </p:nvSpPr>
          <p:spPr>
            <a:xfrm>
              <a:off x="3878" y="66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871" name="Rectangle 220"/>
            <p:cNvSpPr/>
            <p:nvPr/>
          </p:nvSpPr>
          <p:spPr>
            <a:xfrm>
              <a:off x="5012" y="102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5872" name="Rectangle 221"/>
            <p:cNvSpPr/>
            <p:nvPr/>
          </p:nvSpPr>
          <p:spPr>
            <a:xfrm>
              <a:off x="4377" y="102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5854" name="Group 226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5855" name="Picture 227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56" name="Text Box 22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9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4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70" decel="100000"/>
                                        <p:tgtEl>
                                          <p:spTgt spid="400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770" decel="100000"/>
                                        <p:tgtEl>
                                          <p:spTgt spid="4007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007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40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0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8" dur="770" fill="hold"/>
                                        <p:tgtEl>
                                          <p:spTgt spid="40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0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0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2000"/>
                                        <p:tgtEl>
                                          <p:spTgt spid="4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2000"/>
                                        <p:tgtEl>
                                          <p:spTgt spid="4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2000"/>
                                        <p:tgtEl>
                                          <p:spTgt spid="4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2000"/>
                                        <p:tgtEl>
                                          <p:spTgt spid="4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9" grpId="0"/>
      <p:bldP spid="40063" grpId="0"/>
      <p:bldP spid="4007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11" name="Text Box 47"/>
          <p:cNvSpPr txBox="1"/>
          <p:nvPr/>
        </p:nvSpPr>
        <p:spPr>
          <a:xfrm>
            <a:off x="250825" y="549275"/>
            <a:ext cx="1008063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endParaRPr lang="en-US" altLang="zh-CN" dirty="0">
              <a:solidFill>
                <a:srgbClr val="FFFF00"/>
              </a:solidFill>
              <a:ea typeface="仿宋_GB2312" pitchFamily="49" charset="-122"/>
            </a:endParaRPr>
          </a:p>
        </p:txBody>
      </p:sp>
      <p:sp>
        <p:nvSpPr>
          <p:cNvPr id="62540" name="Text Box 76"/>
          <p:cNvSpPr txBox="1"/>
          <p:nvPr/>
        </p:nvSpPr>
        <p:spPr>
          <a:xfrm>
            <a:off x="1116013" y="620713"/>
            <a:ext cx="54006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求负载电阻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消耗的功率</a:t>
            </a:r>
          </a:p>
        </p:txBody>
      </p:sp>
      <p:sp>
        <p:nvSpPr>
          <p:cNvPr id="62541" name="Line 77"/>
          <p:cNvSpPr/>
          <p:nvPr/>
        </p:nvSpPr>
        <p:spPr>
          <a:xfrm>
            <a:off x="4211638" y="2276475"/>
            <a:ext cx="574675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599" name="Line 135"/>
          <p:cNvSpPr/>
          <p:nvPr/>
        </p:nvSpPr>
        <p:spPr>
          <a:xfrm>
            <a:off x="6516688" y="3716338"/>
            <a:ext cx="0" cy="504825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2602" name="Object 138"/>
          <p:cNvGraphicFramePr>
            <a:graphicFrameLocks/>
          </p:cNvGraphicFramePr>
          <p:nvPr/>
        </p:nvGraphicFramePr>
        <p:xfrm>
          <a:off x="1476375" y="4437063"/>
          <a:ext cx="1482725" cy="511175"/>
        </p:xfrm>
        <a:graphic>
          <a:graphicData uri="http://schemas.openxmlformats.org/presentationml/2006/ole">
            <p:oleObj spid="_x0000_s51202" r:id="rId3" imgW="486720" imgH="196200" progId="Equation.3">
              <p:embed/>
            </p:oleObj>
          </a:graphicData>
        </a:graphic>
      </p:graphicFrame>
      <p:graphicFrame>
        <p:nvGraphicFramePr>
          <p:cNvPr id="62604" name="Object 140"/>
          <p:cNvGraphicFramePr>
            <a:graphicFrameLocks/>
          </p:cNvGraphicFramePr>
          <p:nvPr/>
        </p:nvGraphicFramePr>
        <p:xfrm>
          <a:off x="900113" y="5084763"/>
          <a:ext cx="3111500" cy="511175"/>
        </p:xfrm>
        <a:graphic>
          <a:graphicData uri="http://schemas.openxmlformats.org/presentationml/2006/ole">
            <p:oleObj spid="_x0000_s51201" r:id="rId4" imgW="1100880" imgH="207720" progId="Equation.3">
              <p:embed/>
            </p:oleObj>
          </a:graphicData>
        </a:graphic>
      </p:graphicFrame>
      <p:grpSp>
        <p:nvGrpSpPr>
          <p:cNvPr id="36872" name="Group 14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6957" name="Picture 143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58" name="Text Box 14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36873" name="Group 14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6955" name="Picture 146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56" name="Text Box 14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sp>
        <p:nvSpPr>
          <p:cNvPr id="62668" name="Rectangle 204"/>
          <p:cNvSpPr/>
          <p:nvPr/>
        </p:nvSpPr>
        <p:spPr>
          <a:xfrm>
            <a:off x="5867400" y="1341438"/>
            <a:ext cx="1727200" cy="1295400"/>
          </a:xfrm>
          <a:prstGeom prst="rect">
            <a:avLst/>
          </a:prstGeom>
          <a:noFill/>
          <a:ln w="28575" cap="flat" cmpd="sng">
            <a:solidFill>
              <a:srgbClr val="FF66FF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6875" name="Group 231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6953" name="Picture 23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54" name="Text Box 23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sp>
        <p:nvSpPr>
          <p:cNvPr id="62571" name="Rectangle 107"/>
          <p:cNvSpPr/>
          <p:nvPr/>
        </p:nvSpPr>
        <p:spPr>
          <a:xfrm>
            <a:off x="1476375" y="1773238"/>
            <a:ext cx="1727200" cy="1368425"/>
          </a:xfrm>
          <a:prstGeom prst="rect">
            <a:avLst/>
          </a:prstGeom>
          <a:noFill/>
          <a:ln w="28575" cap="flat" cmpd="sng">
            <a:solidFill>
              <a:srgbClr val="FF66FF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62702" name="Group 238"/>
          <p:cNvGrpSpPr/>
          <p:nvPr/>
        </p:nvGrpSpPr>
        <p:grpSpPr>
          <a:xfrm>
            <a:off x="323850" y="981075"/>
            <a:ext cx="4679950" cy="3025775"/>
            <a:chOff x="-341" y="618"/>
            <a:chExt cx="2948" cy="1906"/>
          </a:xfrm>
        </p:grpSpPr>
        <p:sp>
          <p:nvSpPr>
            <p:cNvPr id="36925" name="Rectangle 152"/>
            <p:cNvSpPr/>
            <p:nvPr/>
          </p:nvSpPr>
          <p:spPr>
            <a:xfrm>
              <a:off x="-160" y="981"/>
              <a:ext cx="2178" cy="1542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26" name="Line 154"/>
            <p:cNvSpPr/>
            <p:nvPr/>
          </p:nvSpPr>
          <p:spPr>
            <a:xfrm>
              <a:off x="-160" y="1389"/>
              <a:ext cx="217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6927" name="Line 155"/>
            <p:cNvSpPr/>
            <p:nvPr/>
          </p:nvSpPr>
          <p:spPr>
            <a:xfrm>
              <a:off x="521" y="1389"/>
              <a:ext cx="0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6928" name="Line 156"/>
            <p:cNvSpPr/>
            <p:nvPr/>
          </p:nvSpPr>
          <p:spPr>
            <a:xfrm>
              <a:off x="1292" y="1389"/>
              <a:ext cx="0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6929" name="Line 157"/>
            <p:cNvSpPr/>
            <p:nvPr/>
          </p:nvSpPr>
          <p:spPr>
            <a:xfrm>
              <a:off x="884" y="1888"/>
              <a:ext cx="0" cy="6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6930" name="Line 158"/>
            <p:cNvSpPr/>
            <p:nvPr/>
          </p:nvSpPr>
          <p:spPr>
            <a:xfrm>
              <a:off x="521" y="1888"/>
              <a:ext cx="77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1" name="Line 160"/>
            <p:cNvSpPr/>
            <p:nvPr/>
          </p:nvSpPr>
          <p:spPr>
            <a:xfrm flipV="1">
              <a:off x="-160" y="1571"/>
              <a:ext cx="0" cy="273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32" name="Text Box 161"/>
            <p:cNvSpPr txBox="1"/>
            <p:nvPr/>
          </p:nvSpPr>
          <p:spPr>
            <a:xfrm>
              <a:off x="-132" y="1571"/>
              <a:ext cx="517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2A</a:t>
              </a:r>
            </a:p>
          </p:txBody>
        </p:sp>
        <p:sp>
          <p:nvSpPr>
            <p:cNvPr id="36933" name="Text Box 162"/>
            <p:cNvSpPr txBox="1"/>
            <p:nvPr/>
          </p:nvSpPr>
          <p:spPr>
            <a:xfrm>
              <a:off x="884" y="2025"/>
              <a:ext cx="589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34" name="Text Box 163"/>
            <p:cNvSpPr txBox="1"/>
            <p:nvPr/>
          </p:nvSpPr>
          <p:spPr>
            <a:xfrm>
              <a:off x="-69" y="1072"/>
              <a:ext cx="68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35" name="Text Box 164"/>
            <p:cNvSpPr txBox="1"/>
            <p:nvPr/>
          </p:nvSpPr>
          <p:spPr>
            <a:xfrm>
              <a:off x="2108" y="1707"/>
              <a:ext cx="4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6936" name="Text Box 165"/>
            <p:cNvSpPr txBox="1"/>
            <p:nvPr/>
          </p:nvSpPr>
          <p:spPr>
            <a:xfrm>
              <a:off x="1337" y="1526"/>
              <a:ext cx="681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37" name="Text Box 166"/>
            <p:cNvSpPr txBox="1"/>
            <p:nvPr/>
          </p:nvSpPr>
          <p:spPr>
            <a:xfrm>
              <a:off x="612" y="1072"/>
              <a:ext cx="68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38" name="Text Box 167"/>
            <p:cNvSpPr txBox="1"/>
            <p:nvPr/>
          </p:nvSpPr>
          <p:spPr>
            <a:xfrm>
              <a:off x="521" y="1480"/>
              <a:ext cx="63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39" name="Text Box 168"/>
            <p:cNvSpPr txBox="1"/>
            <p:nvPr/>
          </p:nvSpPr>
          <p:spPr>
            <a:xfrm>
              <a:off x="657" y="618"/>
              <a:ext cx="68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40" name="Text Box 169"/>
            <p:cNvSpPr txBox="1"/>
            <p:nvPr/>
          </p:nvSpPr>
          <p:spPr>
            <a:xfrm>
              <a:off x="1473" y="1843"/>
              <a:ext cx="63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41" name="Text Box 170"/>
            <p:cNvSpPr txBox="1"/>
            <p:nvPr/>
          </p:nvSpPr>
          <p:spPr>
            <a:xfrm>
              <a:off x="1337" y="1072"/>
              <a:ext cx="72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42" name="Rectangle 171"/>
            <p:cNvSpPr/>
            <p:nvPr/>
          </p:nvSpPr>
          <p:spPr>
            <a:xfrm>
              <a:off x="439" y="148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43" name="Rectangle 172"/>
            <p:cNvSpPr/>
            <p:nvPr/>
          </p:nvSpPr>
          <p:spPr>
            <a:xfrm>
              <a:off x="1247" y="148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44" name="Rectangle 173"/>
            <p:cNvSpPr/>
            <p:nvPr/>
          </p:nvSpPr>
          <p:spPr>
            <a:xfrm>
              <a:off x="1972" y="17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45" name="Rectangle 174"/>
            <p:cNvSpPr/>
            <p:nvPr/>
          </p:nvSpPr>
          <p:spPr>
            <a:xfrm>
              <a:off x="1473" y="13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46" name="Rectangle 175"/>
            <p:cNvSpPr/>
            <p:nvPr/>
          </p:nvSpPr>
          <p:spPr>
            <a:xfrm>
              <a:off x="793" y="93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47" name="Rectangle 176"/>
            <p:cNvSpPr/>
            <p:nvPr/>
          </p:nvSpPr>
          <p:spPr>
            <a:xfrm>
              <a:off x="748" y="13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48" name="Rectangle 177"/>
            <p:cNvSpPr/>
            <p:nvPr/>
          </p:nvSpPr>
          <p:spPr>
            <a:xfrm>
              <a:off x="22" y="13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49" name="Rectangle 178"/>
            <p:cNvSpPr/>
            <p:nvPr/>
          </p:nvSpPr>
          <p:spPr>
            <a:xfrm>
              <a:off x="802" y="202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36950" name="Group 234"/>
            <p:cNvGrpSpPr/>
            <p:nvPr/>
          </p:nvGrpSpPr>
          <p:grpSpPr>
            <a:xfrm>
              <a:off x="-341" y="1843"/>
              <a:ext cx="363" cy="363"/>
              <a:chOff x="204" y="1888"/>
              <a:chExt cx="363" cy="363"/>
            </a:xfrm>
          </p:grpSpPr>
          <p:sp>
            <p:nvSpPr>
              <p:cNvPr id="36951" name="Oval 153"/>
              <p:cNvSpPr/>
              <p:nvPr/>
            </p:nvSpPr>
            <p:spPr>
              <a:xfrm>
                <a:off x="204" y="1888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36952" name="Line 159"/>
              <p:cNvSpPr/>
              <p:nvPr/>
            </p:nvSpPr>
            <p:spPr>
              <a:xfrm>
                <a:off x="204" y="2069"/>
                <a:ext cx="363" cy="1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2701" name="Group 237"/>
          <p:cNvGrpSpPr/>
          <p:nvPr/>
        </p:nvGrpSpPr>
        <p:grpSpPr>
          <a:xfrm>
            <a:off x="4716463" y="620713"/>
            <a:ext cx="4356100" cy="2954337"/>
            <a:chOff x="2971" y="391"/>
            <a:chExt cx="2744" cy="1861"/>
          </a:xfrm>
        </p:grpSpPr>
        <p:sp>
          <p:nvSpPr>
            <p:cNvPr id="36900" name="Rectangle 180"/>
            <p:cNvSpPr/>
            <p:nvPr/>
          </p:nvSpPr>
          <p:spPr>
            <a:xfrm>
              <a:off x="3152" y="709"/>
              <a:ext cx="2178" cy="1542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01" name="Line 182"/>
            <p:cNvSpPr/>
            <p:nvPr/>
          </p:nvSpPr>
          <p:spPr>
            <a:xfrm>
              <a:off x="3152" y="1117"/>
              <a:ext cx="217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6902" name="Line 183"/>
            <p:cNvSpPr/>
            <p:nvPr/>
          </p:nvSpPr>
          <p:spPr>
            <a:xfrm>
              <a:off x="4195" y="1117"/>
              <a:ext cx="1" cy="11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6903" name="Line 185"/>
            <p:cNvSpPr/>
            <p:nvPr/>
          </p:nvSpPr>
          <p:spPr>
            <a:xfrm flipV="1">
              <a:off x="3152" y="1298"/>
              <a:ext cx="0" cy="273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04" name="Text Box 186"/>
            <p:cNvSpPr txBox="1"/>
            <p:nvPr/>
          </p:nvSpPr>
          <p:spPr>
            <a:xfrm>
              <a:off x="3179" y="1298"/>
              <a:ext cx="517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2A</a:t>
              </a:r>
            </a:p>
          </p:txBody>
        </p:sp>
        <p:sp>
          <p:nvSpPr>
            <p:cNvPr id="36905" name="Text Box 187"/>
            <p:cNvSpPr txBox="1"/>
            <p:nvPr/>
          </p:nvSpPr>
          <p:spPr>
            <a:xfrm>
              <a:off x="4196" y="1753"/>
              <a:ext cx="589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06" name="Text Box 188"/>
            <p:cNvSpPr txBox="1"/>
            <p:nvPr/>
          </p:nvSpPr>
          <p:spPr>
            <a:xfrm>
              <a:off x="3243" y="800"/>
              <a:ext cx="68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07" name="Text Box 189"/>
            <p:cNvSpPr txBox="1"/>
            <p:nvPr/>
          </p:nvSpPr>
          <p:spPr>
            <a:xfrm>
              <a:off x="5375" y="1464"/>
              <a:ext cx="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6908" name="Text Box 190"/>
            <p:cNvSpPr txBox="1"/>
            <p:nvPr/>
          </p:nvSpPr>
          <p:spPr>
            <a:xfrm>
              <a:off x="4195" y="1299"/>
              <a:ext cx="681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09" name="Text Box 191"/>
            <p:cNvSpPr txBox="1"/>
            <p:nvPr/>
          </p:nvSpPr>
          <p:spPr>
            <a:xfrm>
              <a:off x="4286" y="800"/>
              <a:ext cx="68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10" name="Text Box 192"/>
            <p:cNvSpPr txBox="1"/>
            <p:nvPr/>
          </p:nvSpPr>
          <p:spPr>
            <a:xfrm>
              <a:off x="3696" y="800"/>
              <a:ext cx="63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11" name="Text Box 193"/>
            <p:cNvSpPr txBox="1"/>
            <p:nvPr/>
          </p:nvSpPr>
          <p:spPr>
            <a:xfrm>
              <a:off x="4059" y="391"/>
              <a:ext cx="68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12" name="Text Box 194"/>
            <p:cNvSpPr txBox="1"/>
            <p:nvPr/>
          </p:nvSpPr>
          <p:spPr>
            <a:xfrm>
              <a:off x="4830" y="1480"/>
              <a:ext cx="63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13" name="Text Box 195"/>
            <p:cNvSpPr txBox="1"/>
            <p:nvPr/>
          </p:nvSpPr>
          <p:spPr>
            <a:xfrm>
              <a:off x="4785" y="800"/>
              <a:ext cx="72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914" name="Rectangle 196"/>
            <p:cNvSpPr/>
            <p:nvPr/>
          </p:nvSpPr>
          <p:spPr>
            <a:xfrm>
              <a:off x="5284" y="148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15" name="Rectangle 197"/>
            <p:cNvSpPr/>
            <p:nvPr/>
          </p:nvSpPr>
          <p:spPr>
            <a:xfrm>
              <a:off x="4876" y="107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16" name="Rectangle 198"/>
            <p:cNvSpPr/>
            <p:nvPr/>
          </p:nvSpPr>
          <p:spPr>
            <a:xfrm>
              <a:off x="4105" y="66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17" name="Rectangle 199"/>
            <p:cNvSpPr/>
            <p:nvPr/>
          </p:nvSpPr>
          <p:spPr>
            <a:xfrm>
              <a:off x="3787" y="107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18" name="Rectangle 200"/>
            <p:cNvSpPr/>
            <p:nvPr/>
          </p:nvSpPr>
          <p:spPr>
            <a:xfrm>
              <a:off x="3288" y="107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19" name="Rectangle 201"/>
            <p:cNvSpPr/>
            <p:nvPr/>
          </p:nvSpPr>
          <p:spPr>
            <a:xfrm>
              <a:off x="4114" y="17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20" name="Rectangle 202"/>
            <p:cNvSpPr/>
            <p:nvPr/>
          </p:nvSpPr>
          <p:spPr>
            <a:xfrm>
              <a:off x="4422" y="107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921" name="Rectangle 203"/>
            <p:cNvSpPr/>
            <p:nvPr/>
          </p:nvSpPr>
          <p:spPr>
            <a:xfrm>
              <a:off x="4114" y="129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36922" name="Group 236"/>
            <p:cNvGrpSpPr/>
            <p:nvPr/>
          </p:nvGrpSpPr>
          <p:grpSpPr>
            <a:xfrm>
              <a:off x="2971" y="1571"/>
              <a:ext cx="363" cy="363"/>
              <a:chOff x="2971" y="1571"/>
              <a:chExt cx="363" cy="363"/>
            </a:xfrm>
          </p:grpSpPr>
          <p:sp>
            <p:nvSpPr>
              <p:cNvPr id="36923" name="Oval 181"/>
              <p:cNvSpPr/>
              <p:nvPr/>
            </p:nvSpPr>
            <p:spPr>
              <a:xfrm>
                <a:off x="2971" y="1571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36924" name="Line 184"/>
              <p:cNvSpPr/>
              <p:nvPr/>
            </p:nvSpPr>
            <p:spPr>
              <a:xfrm>
                <a:off x="2971" y="1752"/>
                <a:ext cx="363" cy="1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2704" name="Group 240"/>
          <p:cNvGrpSpPr/>
          <p:nvPr/>
        </p:nvGrpSpPr>
        <p:grpSpPr>
          <a:xfrm>
            <a:off x="4427538" y="4221163"/>
            <a:ext cx="4465637" cy="1874837"/>
            <a:chOff x="2789" y="2659"/>
            <a:chExt cx="2813" cy="1181"/>
          </a:xfrm>
        </p:grpSpPr>
        <p:sp>
          <p:nvSpPr>
            <p:cNvPr id="36880" name="Line 206"/>
            <p:cNvSpPr/>
            <p:nvPr/>
          </p:nvSpPr>
          <p:spPr>
            <a:xfrm>
              <a:off x="5080" y="2750"/>
              <a:ext cx="0" cy="321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1" name="Text Box 207"/>
            <p:cNvSpPr txBox="1"/>
            <p:nvPr/>
          </p:nvSpPr>
          <p:spPr>
            <a:xfrm>
              <a:off x="5171" y="2750"/>
              <a:ext cx="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4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6882" name="Rectangle 208"/>
            <p:cNvSpPr/>
            <p:nvPr/>
          </p:nvSpPr>
          <p:spPr>
            <a:xfrm>
              <a:off x="2971" y="2704"/>
              <a:ext cx="2178" cy="1135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883" name="Line 210"/>
            <p:cNvSpPr/>
            <p:nvPr/>
          </p:nvSpPr>
          <p:spPr>
            <a:xfrm>
              <a:off x="4036" y="2705"/>
              <a:ext cx="1" cy="11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6884" name="Line 212"/>
            <p:cNvSpPr/>
            <p:nvPr/>
          </p:nvSpPr>
          <p:spPr>
            <a:xfrm flipV="1">
              <a:off x="2971" y="2931"/>
              <a:ext cx="0" cy="273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5" name="Text Box 213"/>
            <p:cNvSpPr txBox="1"/>
            <p:nvPr/>
          </p:nvSpPr>
          <p:spPr>
            <a:xfrm>
              <a:off x="2998" y="2915"/>
              <a:ext cx="517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2A</a:t>
              </a:r>
            </a:p>
          </p:txBody>
        </p:sp>
        <p:sp>
          <p:nvSpPr>
            <p:cNvPr id="36886" name="Text Box 214"/>
            <p:cNvSpPr txBox="1"/>
            <p:nvPr/>
          </p:nvSpPr>
          <p:spPr>
            <a:xfrm>
              <a:off x="4060" y="3341"/>
              <a:ext cx="589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887" name="Text Box 215"/>
            <p:cNvSpPr txBox="1"/>
            <p:nvPr/>
          </p:nvSpPr>
          <p:spPr>
            <a:xfrm>
              <a:off x="5261" y="3023"/>
              <a:ext cx="34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6888" name="Text Box 216"/>
            <p:cNvSpPr txBox="1"/>
            <p:nvPr/>
          </p:nvSpPr>
          <p:spPr>
            <a:xfrm>
              <a:off x="4059" y="2915"/>
              <a:ext cx="54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889" name="Text Box 217"/>
            <p:cNvSpPr txBox="1"/>
            <p:nvPr/>
          </p:nvSpPr>
          <p:spPr>
            <a:xfrm>
              <a:off x="4377" y="2750"/>
              <a:ext cx="68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890" name="Text Box 218"/>
            <p:cNvSpPr txBox="1"/>
            <p:nvPr/>
          </p:nvSpPr>
          <p:spPr>
            <a:xfrm>
              <a:off x="3334" y="2779"/>
              <a:ext cx="63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891" name="Text Box 219"/>
            <p:cNvSpPr txBox="1"/>
            <p:nvPr/>
          </p:nvSpPr>
          <p:spPr>
            <a:xfrm>
              <a:off x="4671" y="3068"/>
              <a:ext cx="63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40</a:t>
              </a: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6892" name="Rectangle 220"/>
            <p:cNvSpPr/>
            <p:nvPr/>
          </p:nvSpPr>
          <p:spPr>
            <a:xfrm>
              <a:off x="5125" y="306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893" name="Rectangle 221"/>
            <p:cNvSpPr/>
            <p:nvPr/>
          </p:nvSpPr>
          <p:spPr>
            <a:xfrm>
              <a:off x="3425" y="265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894" name="Rectangle 222"/>
            <p:cNvSpPr/>
            <p:nvPr/>
          </p:nvSpPr>
          <p:spPr>
            <a:xfrm>
              <a:off x="3978" y="33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895" name="Rectangle 223"/>
            <p:cNvSpPr/>
            <p:nvPr/>
          </p:nvSpPr>
          <p:spPr>
            <a:xfrm>
              <a:off x="4423" y="265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6896" name="Rectangle 224"/>
            <p:cNvSpPr/>
            <p:nvPr/>
          </p:nvSpPr>
          <p:spPr>
            <a:xfrm>
              <a:off x="3978" y="288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36897" name="Group 239"/>
            <p:cNvGrpSpPr/>
            <p:nvPr/>
          </p:nvGrpSpPr>
          <p:grpSpPr>
            <a:xfrm>
              <a:off x="2789" y="3203"/>
              <a:ext cx="363" cy="363"/>
              <a:chOff x="2812" y="3159"/>
              <a:chExt cx="363" cy="363"/>
            </a:xfrm>
          </p:grpSpPr>
          <p:sp>
            <p:nvSpPr>
              <p:cNvPr id="36898" name="Oval 209"/>
              <p:cNvSpPr/>
              <p:nvPr/>
            </p:nvSpPr>
            <p:spPr>
              <a:xfrm>
                <a:off x="2812" y="315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36899" name="Line 211"/>
              <p:cNvSpPr/>
              <p:nvPr/>
            </p:nvSpPr>
            <p:spPr>
              <a:xfrm>
                <a:off x="2812" y="3340"/>
                <a:ext cx="363" cy="1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2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6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2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2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6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2000"/>
                                        <p:tgtEl>
                                          <p:spTgt spid="6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2000"/>
                                        <p:tgtEl>
                                          <p:spTgt spid="6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11" grpId="0"/>
      <p:bldP spid="62540" grpId="0"/>
      <p:bldP spid="62668" grpId="0" animBg="1"/>
      <p:bldP spid="6257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/>
          <p:nvPr/>
        </p:nvSpPr>
        <p:spPr>
          <a:xfrm>
            <a:off x="395288" y="404813"/>
            <a:ext cx="8280400" cy="701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2.5 </a:t>
            </a:r>
            <a:r>
              <a:rPr lang="zh-CN" altLang="en-US" sz="40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电压源、电流源的串联和并联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38915" name="Text Box 3"/>
          <p:cNvSpPr txBox="1"/>
          <p:nvPr/>
        </p:nvSpPr>
        <p:spPr>
          <a:xfrm>
            <a:off x="468313" y="1196975"/>
            <a:ext cx="532765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理想电压源的串联和并联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76" name="Rectangle 64"/>
          <p:cNvSpPr/>
          <p:nvPr/>
        </p:nvSpPr>
        <p:spPr>
          <a:xfrm>
            <a:off x="684213" y="1916113"/>
            <a:ext cx="1295400" cy="547687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SzPct val="95000"/>
              <a:buFont typeface="Wingdings" panose="05000000000000000000" pitchFamily="2" charset="2"/>
              <a:buAutoNum type="circleNumDbPlain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串联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8977" name="Object 65"/>
          <p:cNvGraphicFramePr>
            <a:graphicFrameLocks/>
          </p:cNvGraphicFramePr>
          <p:nvPr/>
        </p:nvGraphicFramePr>
        <p:xfrm>
          <a:off x="2168525" y="1790700"/>
          <a:ext cx="3482975" cy="674688"/>
        </p:xfrm>
        <a:graphic>
          <a:graphicData uri="http://schemas.openxmlformats.org/presentationml/2006/ole">
            <p:oleObj spid="_x0000_s52226" r:id="rId3" imgW="1251360" imgH="196200" progId="Equation.3">
              <p:embed/>
            </p:oleObj>
          </a:graphicData>
        </a:graphic>
      </p:graphicFrame>
      <p:grpSp>
        <p:nvGrpSpPr>
          <p:cNvPr id="39027" name="Group 115"/>
          <p:cNvGrpSpPr/>
          <p:nvPr/>
        </p:nvGrpSpPr>
        <p:grpSpPr>
          <a:xfrm>
            <a:off x="4067175" y="3148013"/>
            <a:ext cx="1801813" cy="641350"/>
            <a:chOff x="3334" y="2854"/>
            <a:chExt cx="1135" cy="404"/>
          </a:xfrm>
        </p:grpSpPr>
        <p:sp>
          <p:nvSpPr>
            <p:cNvPr id="37963" name="AutoShape 4"/>
            <p:cNvSpPr/>
            <p:nvPr/>
          </p:nvSpPr>
          <p:spPr>
            <a:xfrm>
              <a:off x="3460" y="2854"/>
              <a:ext cx="872" cy="122"/>
            </a:xfrm>
            <a:prstGeom prst="rightArrow">
              <a:avLst>
                <a:gd name="adj1" fmla="val 50000"/>
                <a:gd name="adj2" fmla="val 178688"/>
              </a:avLst>
            </a:prstGeom>
            <a:solidFill>
              <a:srgbClr val="3399FF"/>
            </a:solidFill>
            <a:ln w="12700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7964" name="Text Box 66"/>
            <p:cNvSpPr txBox="1"/>
            <p:nvPr/>
          </p:nvSpPr>
          <p:spPr>
            <a:xfrm>
              <a:off x="3334" y="2931"/>
              <a:ext cx="11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ea typeface="楷体_GB2312" pitchFamily="49" charset="-122"/>
                </a:rPr>
                <a:t>等效电路</a:t>
              </a:r>
            </a:p>
          </p:txBody>
        </p:sp>
      </p:grpSp>
      <p:sp>
        <p:nvSpPr>
          <p:cNvPr id="38987" name="AutoShape 75" descr="羊皮纸"/>
          <p:cNvSpPr/>
          <p:nvPr/>
        </p:nvSpPr>
        <p:spPr>
          <a:xfrm>
            <a:off x="5940425" y="1196975"/>
            <a:ext cx="2735263" cy="576263"/>
          </a:xfrm>
          <a:prstGeom prst="wedgeRoundRectCallout">
            <a:avLst>
              <a:gd name="adj1" fmla="val -59403"/>
              <a:gd name="adj2" fmla="val 128236"/>
              <a:gd name="adj3" fmla="val 16667"/>
            </a:avLst>
          </a:prstGeom>
          <a:blipFill rotWithShape="1">
            <a:blip r:embed="rId4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注意参考方向</a:t>
            </a:r>
          </a:p>
        </p:txBody>
      </p:sp>
      <p:grpSp>
        <p:nvGrpSpPr>
          <p:cNvPr id="37896" name="Group 8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7961" name="Picture 8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62" name="Text Box 8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37897" name="Group 9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7959" name="Picture 9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60" name="Text Box 9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sp>
        <p:nvSpPr>
          <p:cNvPr id="39038" name="Rectangle 126"/>
          <p:cNvSpPr/>
          <p:nvPr/>
        </p:nvSpPr>
        <p:spPr>
          <a:xfrm>
            <a:off x="682625" y="4221163"/>
            <a:ext cx="1295400" cy="547687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SzPct val="95000"/>
              <a:buFont typeface="Wingdings" panose="05000000000000000000" pitchFamily="2" charset="2"/>
              <a:buAutoNum type="circleNumDbPlain" startAt="2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并联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9059" name="Object 147"/>
          <p:cNvGraphicFramePr>
            <a:graphicFrameLocks/>
          </p:cNvGraphicFramePr>
          <p:nvPr/>
        </p:nvGraphicFramePr>
        <p:xfrm>
          <a:off x="2268538" y="4149725"/>
          <a:ext cx="2035175" cy="646113"/>
        </p:xfrm>
        <a:graphic>
          <a:graphicData uri="http://schemas.openxmlformats.org/presentationml/2006/ole">
            <p:oleObj spid="_x0000_s52225" r:id="rId6" imgW="753120" imgH="196200" progId="Equation.3">
              <p:embed/>
            </p:oleObj>
          </a:graphicData>
        </a:graphic>
      </p:graphicFrame>
      <p:sp>
        <p:nvSpPr>
          <p:cNvPr id="39063" name="Text Box 151"/>
          <p:cNvSpPr txBox="1"/>
          <p:nvPr/>
        </p:nvSpPr>
        <p:spPr>
          <a:xfrm>
            <a:off x="468313" y="5084763"/>
            <a:ext cx="4679950" cy="11176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     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相同电压源才能并联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电源中的电流不确定。</a:t>
            </a:r>
            <a:endParaRPr lang="zh-CN" altLang="en-US" sz="2800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9064" name="Group 152"/>
          <p:cNvGrpSpPr/>
          <p:nvPr/>
        </p:nvGrpSpPr>
        <p:grpSpPr>
          <a:xfrm>
            <a:off x="468313" y="4941888"/>
            <a:ext cx="1644650" cy="850900"/>
            <a:chOff x="385" y="3022"/>
            <a:chExt cx="1036" cy="536"/>
          </a:xfrm>
        </p:grpSpPr>
        <p:pic>
          <p:nvPicPr>
            <p:cNvPr id="37957" name="Picture 153" descr="1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58" name="Text Box 154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CC6600"/>
                  </a:solidFill>
                  <a:ea typeface="华文行楷" panose="02010800040101010101" pitchFamily="2" charset="-122"/>
                </a:rPr>
                <a:t>注意</a:t>
              </a:r>
            </a:p>
          </p:txBody>
        </p:sp>
      </p:grpSp>
      <p:grpSp>
        <p:nvGrpSpPr>
          <p:cNvPr id="39067" name="Group 155"/>
          <p:cNvGrpSpPr/>
          <p:nvPr/>
        </p:nvGrpSpPr>
        <p:grpSpPr>
          <a:xfrm>
            <a:off x="755650" y="2405063"/>
            <a:ext cx="3024188" cy="1671637"/>
            <a:chOff x="476" y="1525"/>
            <a:chExt cx="1905" cy="1053"/>
          </a:xfrm>
        </p:grpSpPr>
        <p:sp>
          <p:nvSpPr>
            <p:cNvPr id="37939" name="Oval 156"/>
            <p:cNvSpPr/>
            <p:nvPr/>
          </p:nvSpPr>
          <p:spPr>
            <a:xfrm>
              <a:off x="1701" y="188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7940" name="Oval 157"/>
            <p:cNvSpPr/>
            <p:nvPr/>
          </p:nvSpPr>
          <p:spPr>
            <a:xfrm>
              <a:off x="839" y="188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7941" name="Text Box 158"/>
            <p:cNvSpPr txBox="1"/>
            <p:nvPr/>
          </p:nvSpPr>
          <p:spPr>
            <a:xfrm>
              <a:off x="1701" y="1525"/>
              <a:ext cx="43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42" name="Text Box 159"/>
            <p:cNvSpPr txBox="1"/>
            <p:nvPr/>
          </p:nvSpPr>
          <p:spPr>
            <a:xfrm>
              <a:off x="1474" y="1789"/>
              <a:ext cx="244" cy="32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7943" name="Text Box 160"/>
            <p:cNvSpPr txBox="1"/>
            <p:nvPr/>
          </p:nvSpPr>
          <p:spPr>
            <a:xfrm>
              <a:off x="2109" y="1661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7944" name="Text Box 161"/>
            <p:cNvSpPr txBox="1"/>
            <p:nvPr/>
          </p:nvSpPr>
          <p:spPr>
            <a:xfrm>
              <a:off x="567" y="1752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7945" name="Text Box 162"/>
            <p:cNvSpPr txBox="1"/>
            <p:nvPr/>
          </p:nvSpPr>
          <p:spPr>
            <a:xfrm>
              <a:off x="1202" y="1661"/>
              <a:ext cx="212" cy="32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7946" name="Line 163"/>
            <p:cNvSpPr/>
            <p:nvPr/>
          </p:nvSpPr>
          <p:spPr>
            <a:xfrm>
              <a:off x="1610" y="2070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7" name="Line 164"/>
            <p:cNvSpPr/>
            <p:nvPr/>
          </p:nvSpPr>
          <p:spPr>
            <a:xfrm>
              <a:off x="522" y="207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8" name="Text Box 165"/>
            <p:cNvSpPr txBox="1"/>
            <p:nvPr/>
          </p:nvSpPr>
          <p:spPr>
            <a:xfrm>
              <a:off x="794" y="1525"/>
              <a:ext cx="48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49" name="Line 166"/>
            <p:cNvSpPr/>
            <p:nvPr/>
          </p:nvSpPr>
          <p:spPr>
            <a:xfrm flipH="1" flipV="1">
              <a:off x="521" y="2070"/>
              <a:ext cx="72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0" name="Line 167"/>
            <p:cNvSpPr/>
            <p:nvPr/>
          </p:nvSpPr>
          <p:spPr>
            <a:xfrm flipH="1" flipV="1">
              <a:off x="1202" y="2070"/>
              <a:ext cx="363" cy="0"/>
            </a:xfrm>
            <a:prstGeom prst="line">
              <a:avLst/>
            </a:prstGeom>
            <a:ln w="28575" cap="rnd" cmpd="sng">
              <a:solidFill>
                <a:srgbClr val="FFCC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7951" name="Text Box 168"/>
            <p:cNvSpPr txBox="1"/>
            <p:nvPr/>
          </p:nvSpPr>
          <p:spPr>
            <a:xfrm>
              <a:off x="612" y="2251"/>
              <a:ext cx="2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7952" name="Text Box 169"/>
            <p:cNvSpPr txBox="1"/>
            <p:nvPr/>
          </p:nvSpPr>
          <p:spPr>
            <a:xfrm>
              <a:off x="2064" y="2160"/>
              <a:ext cx="2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7953" name="Text Box 170"/>
            <p:cNvSpPr txBox="1"/>
            <p:nvPr/>
          </p:nvSpPr>
          <p:spPr>
            <a:xfrm>
              <a:off x="1292" y="2251"/>
              <a:ext cx="34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4" name="Line 171"/>
            <p:cNvSpPr/>
            <p:nvPr/>
          </p:nvSpPr>
          <p:spPr>
            <a:xfrm>
              <a:off x="2336" y="207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5" name="Oval 172"/>
            <p:cNvSpPr/>
            <p:nvPr/>
          </p:nvSpPr>
          <p:spPr>
            <a:xfrm>
              <a:off x="476" y="2432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7956" name="Oval 173"/>
            <p:cNvSpPr/>
            <p:nvPr/>
          </p:nvSpPr>
          <p:spPr>
            <a:xfrm>
              <a:off x="2290" y="2432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9086" name="Group 174"/>
          <p:cNvGrpSpPr/>
          <p:nvPr/>
        </p:nvGrpSpPr>
        <p:grpSpPr>
          <a:xfrm>
            <a:off x="6300788" y="2133600"/>
            <a:ext cx="1944687" cy="1455738"/>
            <a:chOff x="2562" y="1933"/>
            <a:chExt cx="1225" cy="917"/>
          </a:xfrm>
        </p:grpSpPr>
        <p:sp>
          <p:nvSpPr>
            <p:cNvPr id="37930" name="Oval 175"/>
            <p:cNvSpPr/>
            <p:nvPr/>
          </p:nvSpPr>
          <p:spPr>
            <a:xfrm>
              <a:off x="2562" y="275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7931" name="Oval 176"/>
            <p:cNvSpPr/>
            <p:nvPr/>
          </p:nvSpPr>
          <p:spPr>
            <a:xfrm>
              <a:off x="3696" y="275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7932" name="Oval 177"/>
            <p:cNvSpPr/>
            <p:nvPr/>
          </p:nvSpPr>
          <p:spPr>
            <a:xfrm>
              <a:off x="2925" y="220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7933" name="Line 178"/>
            <p:cNvSpPr/>
            <p:nvPr/>
          </p:nvSpPr>
          <p:spPr>
            <a:xfrm>
              <a:off x="2608" y="2388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4" name="Line 179"/>
            <p:cNvSpPr/>
            <p:nvPr/>
          </p:nvSpPr>
          <p:spPr>
            <a:xfrm flipH="1">
              <a:off x="2607" y="2387"/>
              <a:ext cx="1134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5" name="Text Box 180"/>
            <p:cNvSpPr txBox="1"/>
            <p:nvPr/>
          </p:nvSpPr>
          <p:spPr>
            <a:xfrm>
              <a:off x="2653" y="2069"/>
              <a:ext cx="2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7936" name="Text Box 181"/>
            <p:cNvSpPr txBox="1"/>
            <p:nvPr/>
          </p:nvSpPr>
          <p:spPr>
            <a:xfrm>
              <a:off x="3288" y="1933"/>
              <a:ext cx="2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7937" name="Text Box 182"/>
            <p:cNvSpPr txBox="1"/>
            <p:nvPr/>
          </p:nvSpPr>
          <p:spPr>
            <a:xfrm>
              <a:off x="3016" y="2523"/>
              <a:ext cx="34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38" name="Line 183"/>
            <p:cNvSpPr/>
            <p:nvPr/>
          </p:nvSpPr>
          <p:spPr>
            <a:xfrm>
              <a:off x="3741" y="2388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9096" name="Group 184"/>
          <p:cNvGrpSpPr/>
          <p:nvPr/>
        </p:nvGrpSpPr>
        <p:grpSpPr>
          <a:xfrm>
            <a:off x="5508625" y="4508500"/>
            <a:ext cx="3095625" cy="1873250"/>
            <a:chOff x="3334" y="2614"/>
            <a:chExt cx="2026" cy="1270"/>
          </a:xfrm>
        </p:grpSpPr>
        <p:sp>
          <p:nvSpPr>
            <p:cNvPr id="37911" name="Oval 185"/>
            <p:cNvSpPr/>
            <p:nvPr/>
          </p:nvSpPr>
          <p:spPr>
            <a:xfrm>
              <a:off x="4468" y="317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7912" name="Oval 186"/>
            <p:cNvSpPr/>
            <p:nvPr/>
          </p:nvSpPr>
          <p:spPr>
            <a:xfrm>
              <a:off x="3742" y="317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7913" name="Text Box 187"/>
            <p:cNvSpPr txBox="1"/>
            <p:nvPr/>
          </p:nvSpPr>
          <p:spPr>
            <a:xfrm>
              <a:off x="3334" y="3219"/>
              <a:ext cx="480" cy="35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7914" name="Text Box 188"/>
            <p:cNvSpPr txBox="1"/>
            <p:nvPr/>
          </p:nvSpPr>
          <p:spPr>
            <a:xfrm>
              <a:off x="3646" y="2843"/>
              <a:ext cx="251" cy="35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7915" name="Text Box 189"/>
            <p:cNvSpPr txBox="1"/>
            <p:nvPr/>
          </p:nvSpPr>
          <p:spPr>
            <a:xfrm>
              <a:off x="3651" y="3478"/>
              <a:ext cx="212" cy="35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7916" name="Text Box 190"/>
            <p:cNvSpPr txBox="1"/>
            <p:nvPr/>
          </p:nvSpPr>
          <p:spPr>
            <a:xfrm>
              <a:off x="4372" y="2843"/>
              <a:ext cx="251" cy="35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7917" name="Text Box 191"/>
            <p:cNvSpPr txBox="1"/>
            <p:nvPr/>
          </p:nvSpPr>
          <p:spPr>
            <a:xfrm>
              <a:off x="4422" y="3478"/>
              <a:ext cx="212" cy="35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7918" name="Line 192"/>
            <p:cNvSpPr/>
            <p:nvPr/>
          </p:nvSpPr>
          <p:spPr>
            <a:xfrm>
              <a:off x="3923" y="2902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9" name="Line 193"/>
            <p:cNvSpPr/>
            <p:nvPr/>
          </p:nvSpPr>
          <p:spPr>
            <a:xfrm>
              <a:off x="4649" y="2902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7920" name="Line 194"/>
            <p:cNvSpPr/>
            <p:nvPr/>
          </p:nvSpPr>
          <p:spPr>
            <a:xfrm>
              <a:off x="3923" y="2902"/>
              <a:ext cx="12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7921" name="Line 195"/>
            <p:cNvSpPr/>
            <p:nvPr/>
          </p:nvSpPr>
          <p:spPr>
            <a:xfrm>
              <a:off x="3923" y="3854"/>
              <a:ext cx="12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2" name="Text Box 196"/>
            <p:cNvSpPr txBox="1"/>
            <p:nvPr/>
          </p:nvSpPr>
          <p:spPr>
            <a:xfrm>
              <a:off x="4831" y="2614"/>
              <a:ext cx="272" cy="3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23" name="Line 197"/>
            <p:cNvSpPr/>
            <p:nvPr/>
          </p:nvSpPr>
          <p:spPr>
            <a:xfrm>
              <a:off x="4694" y="2947"/>
              <a:ext cx="43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4" name="Text Box 198"/>
            <p:cNvSpPr txBox="1"/>
            <p:nvPr/>
          </p:nvSpPr>
          <p:spPr>
            <a:xfrm>
              <a:off x="4105" y="3174"/>
              <a:ext cx="480" cy="35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7925" name="Text Box 199"/>
            <p:cNvSpPr txBox="1"/>
            <p:nvPr/>
          </p:nvSpPr>
          <p:spPr>
            <a:xfrm>
              <a:off x="5054" y="2919"/>
              <a:ext cx="251" cy="35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7926" name="Text Box 200"/>
            <p:cNvSpPr txBox="1"/>
            <p:nvPr/>
          </p:nvSpPr>
          <p:spPr>
            <a:xfrm>
              <a:off x="5103" y="3419"/>
              <a:ext cx="212" cy="35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7927" name="Text Box 201"/>
            <p:cNvSpPr txBox="1"/>
            <p:nvPr/>
          </p:nvSpPr>
          <p:spPr>
            <a:xfrm>
              <a:off x="5012" y="3219"/>
              <a:ext cx="348" cy="35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28" name="Oval 202"/>
            <p:cNvSpPr/>
            <p:nvPr/>
          </p:nvSpPr>
          <p:spPr>
            <a:xfrm>
              <a:off x="5148" y="379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7929" name="Oval 203"/>
            <p:cNvSpPr/>
            <p:nvPr/>
          </p:nvSpPr>
          <p:spPr>
            <a:xfrm>
              <a:off x="5148" y="284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9121" name="Group 209"/>
          <p:cNvGrpSpPr/>
          <p:nvPr/>
        </p:nvGrpSpPr>
        <p:grpSpPr>
          <a:xfrm>
            <a:off x="6948488" y="3644900"/>
            <a:ext cx="1800225" cy="1081088"/>
            <a:chOff x="4468" y="2296"/>
            <a:chExt cx="1134" cy="681"/>
          </a:xfrm>
        </p:grpSpPr>
        <p:sp>
          <p:nvSpPr>
            <p:cNvPr id="37909" name="AutoShape 149"/>
            <p:cNvSpPr/>
            <p:nvPr/>
          </p:nvSpPr>
          <p:spPr>
            <a:xfrm rot="-5400000">
              <a:off x="4195" y="2568"/>
              <a:ext cx="681" cy="136"/>
            </a:xfrm>
            <a:prstGeom prst="rightArrow">
              <a:avLst>
                <a:gd name="adj1" fmla="val 50000"/>
                <a:gd name="adj2" fmla="val 125183"/>
              </a:avLst>
            </a:prstGeom>
            <a:solidFill>
              <a:srgbClr val="3399FF"/>
            </a:solidFill>
            <a:ln w="12700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7910" name="Text Box 208"/>
            <p:cNvSpPr txBox="1"/>
            <p:nvPr/>
          </p:nvSpPr>
          <p:spPr>
            <a:xfrm>
              <a:off x="4536" y="2478"/>
              <a:ext cx="10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等效电路</a:t>
              </a:r>
            </a:p>
          </p:txBody>
        </p:sp>
      </p:grpSp>
      <p:grpSp>
        <p:nvGrpSpPr>
          <p:cNvPr id="37906" name="Group 210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7907" name="Picture 21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08" name="Text Box 21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3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3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3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9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9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9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5" grpId="0"/>
      <p:bldP spid="38976" grpId="0" animBg="1"/>
      <p:bldP spid="38987" grpId="0" animBg="1"/>
      <p:bldP spid="39038" grpId="0" animBg="1"/>
      <p:bldP spid="3906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46" name="Text Box 58"/>
          <p:cNvSpPr txBox="1"/>
          <p:nvPr/>
        </p:nvSpPr>
        <p:spPr>
          <a:xfrm>
            <a:off x="539750" y="620713"/>
            <a:ext cx="5616575" cy="547687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SzPct val="95000"/>
              <a:buFont typeface="Wingdings" panose="05000000000000000000" pitchFamily="2" charset="2"/>
              <a:buAutoNum type="circleNumDbPlain" startAt="3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电压源与支路的串、并联等效</a:t>
            </a:r>
          </a:p>
        </p:txBody>
      </p:sp>
      <p:sp>
        <p:nvSpPr>
          <p:cNvPr id="37947" name="AutoShape 59"/>
          <p:cNvSpPr/>
          <p:nvPr/>
        </p:nvSpPr>
        <p:spPr>
          <a:xfrm>
            <a:off x="4643438" y="2060575"/>
            <a:ext cx="863600" cy="2159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3399FF"/>
          </a:solidFill>
          <a:ln w="9525" cap="flat" cmpd="sng">
            <a:solidFill>
              <a:srgbClr val="33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37948" name="Object 60"/>
          <p:cNvGraphicFramePr>
            <a:graphicFrameLocks/>
          </p:cNvGraphicFramePr>
          <p:nvPr/>
        </p:nvGraphicFramePr>
        <p:xfrm>
          <a:off x="323850" y="3141663"/>
          <a:ext cx="8456613" cy="615950"/>
        </p:xfrm>
        <a:graphic>
          <a:graphicData uri="http://schemas.openxmlformats.org/presentationml/2006/ole">
            <p:oleObj spid="_x0000_s53249" r:id="rId3" imgW="3592080" imgH="196200" progId="Equation.3">
              <p:embed/>
            </p:oleObj>
          </a:graphicData>
        </a:graphic>
      </p:graphicFrame>
      <p:sp>
        <p:nvSpPr>
          <p:cNvPr id="37979" name="AutoShape 91"/>
          <p:cNvSpPr/>
          <p:nvPr/>
        </p:nvSpPr>
        <p:spPr>
          <a:xfrm>
            <a:off x="4500563" y="4724400"/>
            <a:ext cx="863600" cy="2159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3399FF"/>
          </a:solidFill>
          <a:ln w="9525" cap="flat" cmpd="sng">
            <a:solidFill>
              <a:srgbClr val="33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8000" name="Text Box 112"/>
          <p:cNvSpPr txBox="1"/>
          <p:nvPr/>
        </p:nvSpPr>
        <p:spPr>
          <a:xfrm>
            <a:off x="4140200" y="5734050"/>
            <a:ext cx="2089150" cy="519113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50000">
                <a:srgbClr val="FFFFFF"/>
              </a:gs>
              <a:gs pos="100000">
                <a:srgbClr val="3399F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990033"/>
                </a:solidFill>
                <a:ea typeface="楷体_GB2312" pitchFamily="49" charset="-122"/>
              </a:rPr>
              <a:t>对外等效！</a:t>
            </a:r>
          </a:p>
        </p:txBody>
      </p:sp>
      <p:grpSp>
        <p:nvGrpSpPr>
          <p:cNvPr id="38919" name="Group 12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9002" name="Picture 121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003" name="Text Box 12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38920" name="Group 12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9000" name="Picture 124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001" name="Text Box 12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38017" name="Group 129"/>
          <p:cNvGrpSpPr/>
          <p:nvPr/>
        </p:nvGrpSpPr>
        <p:grpSpPr>
          <a:xfrm>
            <a:off x="468313" y="1196975"/>
            <a:ext cx="3816350" cy="1978025"/>
            <a:chOff x="703" y="1933"/>
            <a:chExt cx="2404" cy="1246"/>
          </a:xfrm>
        </p:grpSpPr>
        <p:sp>
          <p:nvSpPr>
            <p:cNvPr id="38978" name="Oval 130"/>
            <p:cNvSpPr/>
            <p:nvPr/>
          </p:nvSpPr>
          <p:spPr>
            <a:xfrm>
              <a:off x="2032" y="229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79" name="Oval 131"/>
            <p:cNvSpPr/>
            <p:nvPr/>
          </p:nvSpPr>
          <p:spPr>
            <a:xfrm>
              <a:off x="975" y="229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80" name="Text Box 132"/>
            <p:cNvSpPr txBox="1"/>
            <p:nvPr/>
          </p:nvSpPr>
          <p:spPr>
            <a:xfrm>
              <a:off x="2032" y="1933"/>
              <a:ext cx="43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81" name="Text Box 133"/>
            <p:cNvSpPr txBox="1"/>
            <p:nvPr/>
          </p:nvSpPr>
          <p:spPr>
            <a:xfrm>
              <a:off x="794" y="2143"/>
              <a:ext cx="244" cy="32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82" name="Text Box 134"/>
            <p:cNvSpPr txBox="1"/>
            <p:nvPr/>
          </p:nvSpPr>
          <p:spPr>
            <a:xfrm>
              <a:off x="1338" y="1990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83" name="Text Box 135"/>
            <p:cNvSpPr txBox="1"/>
            <p:nvPr/>
          </p:nvSpPr>
          <p:spPr>
            <a:xfrm>
              <a:off x="1851" y="2143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84" name="Text Box 136"/>
            <p:cNvSpPr txBox="1"/>
            <p:nvPr/>
          </p:nvSpPr>
          <p:spPr>
            <a:xfrm>
              <a:off x="2441" y="2024"/>
              <a:ext cx="212" cy="32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85" name="Text Box 137"/>
            <p:cNvSpPr txBox="1"/>
            <p:nvPr/>
          </p:nvSpPr>
          <p:spPr>
            <a:xfrm>
              <a:off x="994" y="1933"/>
              <a:ext cx="48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86" name="Text Box 138"/>
            <p:cNvSpPr txBox="1"/>
            <p:nvPr/>
          </p:nvSpPr>
          <p:spPr>
            <a:xfrm>
              <a:off x="839" y="2852"/>
              <a:ext cx="2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87" name="Text Box 139"/>
            <p:cNvSpPr txBox="1"/>
            <p:nvPr/>
          </p:nvSpPr>
          <p:spPr>
            <a:xfrm>
              <a:off x="2790" y="2715"/>
              <a:ext cx="2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88" name="Text Box 140"/>
            <p:cNvSpPr txBox="1"/>
            <p:nvPr/>
          </p:nvSpPr>
          <p:spPr>
            <a:xfrm>
              <a:off x="839" y="2568"/>
              <a:ext cx="2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89" name="Line 141"/>
            <p:cNvSpPr/>
            <p:nvPr/>
          </p:nvSpPr>
          <p:spPr>
            <a:xfrm>
              <a:off x="749" y="2489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0" name="Line 142"/>
            <p:cNvSpPr/>
            <p:nvPr/>
          </p:nvSpPr>
          <p:spPr>
            <a:xfrm>
              <a:off x="749" y="2489"/>
              <a:ext cx="231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1" name="Line 143"/>
            <p:cNvSpPr/>
            <p:nvPr/>
          </p:nvSpPr>
          <p:spPr>
            <a:xfrm>
              <a:off x="3062" y="2489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2" name="Oval 144"/>
            <p:cNvSpPr/>
            <p:nvPr/>
          </p:nvSpPr>
          <p:spPr>
            <a:xfrm>
              <a:off x="3016" y="289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8993" name="Oval 145"/>
            <p:cNvSpPr/>
            <p:nvPr/>
          </p:nvSpPr>
          <p:spPr>
            <a:xfrm>
              <a:off x="703" y="289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8994" name="Line 146"/>
            <p:cNvSpPr/>
            <p:nvPr/>
          </p:nvSpPr>
          <p:spPr>
            <a:xfrm flipV="1">
              <a:off x="839" y="2568"/>
              <a:ext cx="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95" name="Text Box 147"/>
            <p:cNvSpPr txBox="1"/>
            <p:nvPr/>
          </p:nvSpPr>
          <p:spPr>
            <a:xfrm>
              <a:off x="1837" y="2806"/>
              <a:ext cx="34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96" name="Text Box 148"/>
            <p:cNvSpPr txBox="1"/>
            <p:nvPr/>
          </p:nvSpPr>
          <p:spPr>
            <a:xfrm>
              <a:off x="1474" y="2568"/>
              <a:ext cx="34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97" name="Text Box 149"/>
            <p:cNvSpPr txBox="1"/>
            <p:nvPr/>
          </p:nvSpPr>
          <p:spPr>
            <a:xfrm>
              <a:off x="2608" y="2523"/>
              <a:ext cx="34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98" name="Rectangle 150"/>
            <p:cNvSpPr/>
            <p:nvPr/>
          </p:nvSpPr>
          <p:spPr>
            <a:xfrm>
              <a:off x="2608" y="24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8999" name="Rectangle 151"/>
            <p:cNvSpPr/>
            <p:nvPr/>
          </p:nvSpPr>
          <p:spPr>
            <a:xfrm>
              <a:off x="1474" y="24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8040" name="Group 152"/>
          <p:cNvGrpSpPr/>
          <p:nvPr/>
        </p:nvGrpSpPr>
        <p:grpSpPr>
          <a:xfrm>
            <a:off x="5795963" y="1125538"/>
            <a:ext cx="2376487" cy="1958975"/>
            <a:chOff x="2200" y="1661"/>
            <a:chExt cx="1497" cy="1234"/>
          </a:xfrm>
        </p:grpSpPr>
        <p:sp>
          <p:nvSpPr>
            <p:cNvPr id="38962" name="Oval 153"/>
            <p:cNvSpPr/>
            <p:nvPr/>
          </p:nvSpPr>
          <p:spPr>
            <a:xfrm>
              <a:off x="2472" y="202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63" name="Text Box 154"/>
            <p:cNvSpPr txBox="1"/>
            <p:nvPr/>
          </p:nvSpPr>
          <p:spPr>
            <a:xfrm>
              <a:off x="2245" y="1888"/>
              <a:ext cx="244" cy="32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64" name="Text Box 155"/>
            <p:cNvSpPr txBox="1"/>
            <p:nvPr/>
          </p:nvSpPr>
          <p:spPr>
            <a:xfrm>
              <a:off x="2835" y="1797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65" name="Text Box 156"/>
            <p:cNvSpPr txBox="1"/>
            <p:nvPr/>
          </p:nvSpPr>
          <p:spPr>
            <a:xfrm>
              <a:off x="2517" y="1661"/>
              <a:ext cx="48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66" name="Text Box 157"/>
            <p:cNvSpPr txBox="1"/>
            <p:nvPr/>
          </p:nvSpPr>
          <p:spPr>
            <a:xfrm>
              <a:off x="2336" y="2568"/>
              <a:ext cx="2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67" name="Text Box 158"/>
            <p:cNvSpPr txBox="1"/>
            <p:nvPr/>
          </p:nvSpPr>
          <p:spPr>
            <a:xfrm>
              <a:off x="3379" y="2457"/>
              <a:ext cx="2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68" name="Text Box 159"/>
            <p:cNvSpPr txBox="1"/>
            <p:nvPr/>
          </p:nvSpPr>
          <p:spPr>
            <a:xfrm>
              <a:off x="2290" y="2251"/>
              <a:ext cx="2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69" name="Line 160"/>
            <p:cNvSpPr/>
            <p:nvPr/>
          </p:nvSpPr>
          <p:spPr>
            <a:xfrm>
              <a:off x="2246" y="2205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0" name="Line 161"/>
            <p:cNvSpPr/>
            <p:nvPr/>
          </p:nvSpPr>
          <p:spPr>
            <a:xfrm flipV="1">
              <a:off x="2246" y="2205"/>
              <a:ext cx="140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1" name="Line 162"/>
            <p:cNvSpPr/>
            <p:nvPr/>
          </p:nvSpPr>
          <p:spPr>
            <a:xfrm>
              <a:off x="3652" y="2205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2" name="Oval 163"/>
            <p:cNvSpPr/>
            <p:nvPr/>
          </p:nvSpPr>
          <p:spPr>
            <a:xfrm>
              <a:off x="3606" y="261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8973" name="Oval 164"/>
            <p:cNvSpPr/>
            <p:nvPr/>
          </p:nvSpPr>
          <p:spPr>
            <a:xfrm>
              <a:off x="2200" y="261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8974" name="Line 165"/>
            <p:cNvSpPr/>
            <p:nvPr/>
          </p:nvSpPr>
          <p:spPr>
            <a:xfrm flipV="1">
              <a:off x="2290" y="2251"/>
              <a:ext cx="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75" name="Text Box 166"/>
            <p:cNvSpPr txBox="1"/>
            <p:nvPr/>
          </p:nvSpPr>
          <p:spPr>
            <a:xfrm>
              <a:off x="2789" y="2523"/>
              <a:ext cx="34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76" name="Text Box 167"/>
            <p:cNvSpPr txBox="1"/>
            <p:nvPr/>
          </p:nvSpPr>
          <p:spPr>
            <a:xfrm>
              <a:off x="3152" y="1842"/>
              <a:ext cx="34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77" name="Rectangle 168"/>
            <p:cNvSpPr/>
            <p:nvPr/>
          </p:nvSpPr>
          <p:spPr>
            <a:xfrm>
              <a:off x="3107" y="21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8057" name="Group 169"/>
          <p:cNvGrpSpPr/>
          <p:nvPr/>
        </p:nvGrpSpPr>
        <p:grpSpPr>
          <a:xfrm>
            <a:off x="539750" y="3644900"/>
            <a:ext cx="3095625" cy="2232025"/>
            <a:chOff x="295" y="2205"/>
            <a:chExt cx="1950" cy="1361"/>
          </a:xfrm>
        </p:grpSpPr>
        <p:sp>
          <p:nvSpPr>
            <p:cNvPr id="38946" name="Oval 170"/>
            <p:cNvSpPr/>
            <p:nvPr/>
          </p:nvSpPr>
          <p:spPr>
            <a:xfrm>
              <a:off x="612" y="279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47" name="Text Box 171"/>
            <p:cNvSpPr txBox="1"/>
            <p:nvPr/>
          </p:nvSpPr>
          <p:spPr>
            <a:xfrm>
              <a:off x="295" y="2795"/>
              <a:ext cx="480" cy="31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8" name="Text Box 172"/>
            <p:cNvSpPr txBox="1"/>
            <p:nvPr/>
          </p:nvSpPr>
          <p:spPr>
            <a:xfrm>
              <a:off x="521" y="2528"/>
              <a:ext cx="242" cy="3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949" name="Text Box 173"/>
            <p:cNvSpPr txBox="1"/>
            <p:nvPr/>
          </p:nvSpPr>
          <p:spPr>
            <a:xfrm>
              <a:off x="521" y="2980"/>
              <a:ext cx="212" cy="31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8950" name="Line 174"/>
            <p:cNvSpPr/>
            <p:nvPr/>
          </p:nvSpPr>
          <p:spPr>
            <a:xfrm>
              <a:off x="777" y="2493"/>
              <a:ext cx="0" cy="10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1" name="Line 175"/>
            <p:cNvSpPr/>
            <p:nvPr/>
          </p:nvSpPr>
          <p:spPr>
            <a:xfrm>
              <a:off x="1497" y="2493"/>
              <a:ext cx="0" cy="10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8952" name="Line 176"/>
            <p:cNvSpPr/>
            <p:nvPr/>
          </p:nvSpPr>
          <p:spPr>
            <a:xfrm>
              <a:off x="777" y="2493"/>
              <a:ext cx="12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8953" name="Line 177"/>
            <p:cNvSpPr/>
            <p:nvPr/>
          </p:nvSpPr>
          <p:spPr>
            <a:xfrm>
              <a:off x="777" y="3501"/>
              <a:ext cx="12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4" name="Text Box 178"/>
            <p:cNvSpPr txBox="1"/>
            <p:nvPr/>
          </p:nvSpPr>
          <p:spPr>
            <a:xfrm>
              <a:off x="1701" y="2205"/>
              <a:ext cx="240" cy="31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55" name="Line 179"/>
            <p:cNvSpPr/>
            <p:nvPr/>
          </p:nvSpPr>
          <p:spPr>
            <a:xfrm>
              <a:off x="1565" y="2568"/>
              <a:ext cx="31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068" name="Rectangle 180"/>
            <p:cNvSpPr>
              <a:spLocks noChangeArrowheads="1"/>
            </p:cNvSpPr>
            <p:nvPr/>
          </p:nvSpPr>
          <p:spPr bwMode="auto">
            <a:xfrm>
              <a:off x="1202" y="2704"/>
              <a:ext cx="589" cy="635"/>
            </a:xfrm>
            <a:prstGeom prst="rect">
              <a:avLst/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任意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元件</a:t>
              </a:r>
            </a:p>
          </p:txBody>
        </p:sp>
        <p:sp>
          <p:nvSpPr>
            <p:cNvPr id="38957" name="Oval 181"/>
            <p:cNvSpPr/>
            <p:nvPr/>
          </p:nvSpPr>
          <p:spPr>
            <a:xfrm>
              <a:off x="2018" y="2432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8958" name="Oval 182"/>
            <p:cNvSpPr/>
            <p:nvPr/>
          </p:nvSpPr>
          <p:spPr>
            <a:xfrm>
              <a:off x="2018" y="3475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8959" name="Text Box 183"/>
            <p:cNvSpPr txBox="1"/>
            <p:nvPr/>
          </p:nvSpPr>
          <p:spPr>
            <a:xfrm>
              <a:off x="1882" y="2886"/>
              <a:ext cx="363" cy="31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60" name="Text Box 184"/>
            <p:cNvSpPr txBox="1"/>
            <p:nvPr/>
          </p:nvSpPr>
          <p:spPr>
            <a:xfrm>
              <a:off x="1929" y="2483"/>
              <a:ext cx="242" cy="31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61" name="Text Box 185"/>
            <p:cNvSpPr txBox="1"/>
            <p:nvPr/>
          </p:nvSpPr>
          <p:spPr>
            <a:xfrm>
              <a:off x="1928" y="3072"/>
              <a:ext cx="212" cy="31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</p:grpSp>
      <p:grpSp>
        <p:nvGrpSpPr>
          <p:cNvPr id="38074" name="Group 186"/>
          <p:cNvGrpSpPr/>
          <p:nvPr/>
        </p:nvGrpSpPr>
        <p:grpSpPr>
          <a:xfrm>
            <a:off x="3419475" y="4076700"/>
            <a:ext cx="706438" cy="1655763"/>
            <a:chOff x="2018" y="2478"/>
            <a:chExt cx="445" cy="1043"/>
          </a:xfrm>
        </p:grpSpPr>
        <p:sp>
          <p:nvSpPr>
            <p:cNvPr id="38943" name="Freeform 187"/>
            <p:cNvSpPr/>
            <p:nvPr/>
          </p:nvSpPr>
          <p:spPr>
            <a:xfrm>
              <a:off x="2018" y="2478"/>
              <a:ext cx="408" cy="1043"/>
            </a:xfrm>
            <a:custGeom>
              <a:avLst/>
              <a:gdLst/>
              <a:ahLst/>
              <a:cxnLst>
                <a:cxn ang="0">
                  <a:pos x="0" y="1043"/>
                </a:cxn>
                <a:cxn ang="0">
                  <a:pos x="45" y="861"/>
                </a:cxn>
                <a:cxn ang="0">
                  <a:pos x="79" y="453"/>
                </a:cxn>
                <a:cxn ang="0">
                  <a:pos x="5" y="0"/>
                </a:cxn>
              </a:cxnLst>
              <a:rect l="0" t="0" r="0" b="0"/>
              <a:pathLst>
                <a:path w="688" h="1043">
                  <a:moveTo>
                    <a:pt x="0" y="1043"/>
                  </a:moveTo>
                  <a:cubicBezTo>
                    <a:pt x="128" y="1001"/>
                    <a:pt x="257" y="959"/>
                    <a:pt x="363" y="861"/>
                  </a:cubicBezTo>
                  <a:cubicBezTo>
                    <a:pt x="469" y="763"/>
                    <a:pt x="688" y="596"/>
                    <a:pt x="635" y="453"/>
                  </a:cubicBezTo>
                  <a:cubicBezTo>
                    <a:pt x="582" y="310"/>
                    <a:pt x="314" y="155"/>
                    <a:pt x="46" y="0"/>
                  </a:cubicBezTo>
                </a:path>
              </a:pathLst>
            </a:custGeom>
            <a:noFill/>
            <a:ln w="28575" cap="flat" cmpd="sng">
              <a:solidFill>
                <a:srgbClr val="FFCC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4" name="Text Box 188"/>
            <p:cNvSpPr txBox="1"/>
            <p:nvPr/>
          </p:nvSpPr>
          <p:spPr>
            <a:xfrm>
              <a:off x="2064" y="2840"/>
              <a:ext cx="34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45" name="Rectangle 189"/>
            <p:cNvSpPr/>
            <p:nvPr/>
          </p:nvSpPr>
          <p:spPr>
            <a:xfrm>
              <a:off x="2336" y="288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8078" name="Group 190"/>
          <p:cNvGrpSpPr/>
          <p:nvPr/>
        </p:nvGrpSpPr>
        <p:grpSpPr>
          <a:xfrm>
            <a:off x="5724525" y="3716338"/>
            <a:ext cx="2232025" cy="2089150"/>
            <a:chOff x="1383" y="2160"/>
            <a:chExt cx="1406" cy="1316"/>
          </a:xfrm>
        </p:grpSpPr>
        <p:sp>
          <p:nvSpPr>
            <p:cNvPr id="38929" name="Oval 191"/>
            <p:cNvSpPr/>
            <p:nvPr/>
          </p:nvSpPr>
          <p:spPr>
            <a:xfrm>
              <a:off x="1701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30" name="Text Box 192"/>
            <p:cNvSpPr txBox="1"/>
            <p:nvPr/>
          </p:nvSpPr>
          <p:spPr>
            <a:xfrm>
              <a:off x="1383" y="2704"/>
              <a:ext cx="4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31" name="Text Box 193"/>
            <p:cNvSpPr txBox="1"/>
            <p:nvPr/>
          </p:nvSpPr>
          <p:spPr>
            <a:xfrm>
              <a:off x="1610" y="2432"/>
              <a:ext cx="24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32" name="Text Box 194"/>
            <p:cNvSpPr txBox="1"/>
            <p:nvPr/>
          </p:nvSpPr>
          <p:spPr>
            <a:xfrm>
              <a:off x="1610" y="2976"/>
              <a:ext cx="2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33" name="Line 195"/>
            <p:cNvSpPr/>
            <p:nvPr/>
          </p:nvSpPr>
          <p:spPr>
            <a:xfrm>
              <a:off x="1878" y="2432"/>
              <a:ext cx="0" cy="10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4" name="Text Box 196"/>
            <p:cNvSpPr txBox="1"/>
            <p:nvPr/>
          </p:nvSpPr>
          <p:spPr>
            <a:xfrm>
              <a:off x="2234" y="2160"/>
              <a:ext cx="24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35" name="Line 197"/>
            <p:cNvSpPr/>
            <p:nvPr/>
          </p:nvSpPr>
          <p:spPr>
            <a:xfrm>
              <a:off x="2018" y="2478"/>
              <a:ext cx="31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6" name="Oval 198"/>
            <p:cNvSpPr/>
            <p:nvPr/>
          </p:nvSpPr>
          <p:spPr>
            <a:xfrm>
              <a:off x="2563" y="238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8937" name="Oval 199"/>
            <p:cNvSpPr/>
            <p:nvPr/>
          </p:nvSpPr>
          <p:spPr>
            <a:xfrm>
              <a:off x="2563" y="3385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8938" name="Text Box 200"/>
            <p:cNvSpPr txBox="1"/>
            <p:nvPr/>
          </p:nvSpPr>
          <p:spPr>
            <a:xfrm>
              <a:off x="2426" y="2750"/>
              <a:ext cx="36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39" name="Text Box 201"/>
            <p:cNvSpPr txBox="1"/>
            <p:nvPr/>
          </p:nvSpPr>
          <p:spPr>
            <a:xfrm>
              <a:off x="2473" y="2433"/>
              <a:ext cx="2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40" name="Text Box 202"/>
            <p:cNvSpPr txBox="1"/>
            <p:nvPr/>
          </p:nvSpPr>
          <p:spPr>
            <a:xfrm>
              <a:off x="2472" y="3022"/>
              <a:ext cx="2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8941" name="Line 203"/>
            <p:cNvSpPr/>
            <p:nvPr/>
          </p:nvSpPr>
          <p:spPr>
            <a:xfrm>
              <a:off x="1883" y="2432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2" name="Line 204"/>
            <p:cNvSpPr/>
            <p:nvPr/>
          </p:nvSpPr>
          <p:spPr>
            <a:xfrm>
              <a:off x="1883" y="3430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8926" name="Group 20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8927" name="Picture 209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28" name="Text Box 21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8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3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3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8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8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8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37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8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46" grpId="0" animBg="1"/>
      <p:bldP spid="37947" grpId="0" animBg="1"/>
      <p:bldP spid="37979" grpId="0" animBg="1"/>
      <p:bldP spid="3800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/>
          <p:nvPr/>
        </p:nvSpPr>
        <p:spPr>
          <a:xfrm>
            <a:off x="323850" y="476250"/>
            <a:ext cx="532765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理想电流源的串联并联</a:t>
            </a:r>
          </a:p>
        </p:txBody>
      </p:sp>
      <p:sp>
        <p:nvSpPr>
          <p:cNvPr id="36868" name="Text Box 4"/>
          <p:cNvSpPr txBox="1"/>
          <p:nvPr/>
        </p:nvSpPr>
        <p:spPr>
          <a:xfrm>
            <a:off x="755650" y="5229225"/>
            <a:ext cx="7416800" cy="11176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相同的理想电流源才能串联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每个电流源的端电压不能确定。</a:t>
            </a:r>
          </a:p>
        </p:txBody>
      </p:sp>
      <p:sp>
        <p:nvSpPr>
          <p:cNvPr id="36870" name="Rectangle 6"/>
          <p:cNvSpPr/>
          <p:nvPr/>
        </p:nvSpPr>
        <p:spPr>
          <a:xfrm>
            <a:off x="611188" y="3860800"/>
            <a:ext cx="1511300" cy="547688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SzPct val="95000"/>
              <a:buFont typeface="Wingdings" panose="05000000000000000000" pitchFamily="2" charset="2"/>
              <a:buAutoNum type="circleNumDbPlain" startAt="2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串联</a:t>
            </a:r>
          </a:p>
        </p:txBody>
      </p:sp>
      <p:sp>
        <p:nvSpPr>
          <p:cNvPr id="36871" name="Rectangle 7"/>
          <p:cNvSpPr/>
          <p:nvPr/>
        </p:nvSpPr>
        <p:spPr>
          <a:xfrm>
            <a:off x="611188" y="1268413"/>
            <a:ext cx="1473200" cy="547687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SzPct val="95000"/>
              <a:buFont typeface="Wingdings" panose="05000000000000000000" pitchFamily="2" charset="2"/>
              <a:buAutoNum type="circleNumDbPlain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并联</a:t>
            </a:r>
          </a:p>
        </p:txBody>
      </p:sp>
      <p:graphicFrame>
        <p:nvGraphicFramePr>
          <p:cNvPr id="36910" name="Object 46"/>
          <p:cNvGraphicFramePr>
            <a:graphicFrameLocks/>
          </p:cNvGraphicFramePr>
          <p:nvPr/>
        </p:nvGraphicFramePr>
        <p:xfrm>
          <a:off x="2617788" y="1341438"/>
          <a:ext cx="4506912" cy="592137"/>
        </p:xfrm>
        <a:graphic>
          <a:graphicData uri="http://schemas.openxmlformats.org/presentationml/2006/ole">
            <p:oleObj spid="_x0000_s54274" r:id="rId3" imgW="1657080" imgH="196200" progId="Equation.3">
              <p:embed/>
            </p:oleObj>
          </a:graphicData>
        </a:graphic>
      </p:graphicFrame>
      <p:sp>
        <p:nvSpPr>
          <p:cNvPr id="36917" name="AutoShape 53" descr="羊皮纸"/>
          <p:cNvSpPr/>
          <p:nvPr/>
        </p:nvSpPr>
        <p:spPr>
          <a:xfrm>
            <a:off x="6227763" y="476250"/>
            <a:ext cx="2665412" cy="576263"/>
          </a:xfrm>
          <a:prstGeom prst="wedgeRoundRectCallout">
            <a:avLst>
              <a:gd name="adj1" fmla="val -66139"/>
              <a:gd name="adj2" fmla="val 93528"/>
              <a:gd name="adj3" fmla="val 16667"/>
            </a:avLst>
          </a:prstGeom>
          <a:blipFill rotWithShape="1">
            <a:blip r:embed="rId4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注意参考方向</a:t>
            </a:r>
            <a:endParaRPr lang="zh-CN" altLang="en-US" sz="2800" b="1" dirty="0">
              <a:solidFill>
                <a:srgbClr val="FFFF00"/>
              </a:solidFill>
              <a:ea typeface="楷体_GB2312" pitchFamily="49" charset="-122"/>
            </a:endParaRPr>
          </a:p>
        </p:txBody>
      </p:sp>
      <p:graphicFrame>
        <p:nvGraphicFramePr>
          <p:cNvPr id="36953" name="Object 89"/>
          <p:cNvGraphicFramePr>
            <a:graphicFrameLocks/>
          </p:cNvGraphicFramePr>
          <p:nvPr/>
        </p:nvGraphicFramePr>
        <p:xfrm>
          <a:off x="1685925" y="4508500"/>
          <a:ext cx="1900238" cy="647700"/>
        </p:xfrm>
        <a:graphic>
          <a:graphicData uri="http://schemas.openxmlformats.org/presentationml/2006/ole">
            <p:oleObj spid="_x0000_s54273" r:id="rId5" imgW="625680" imgH="196200" progId="Equation.3">
              <p:embed/>
            </p:oleObj>
          </a:graphicData>
        </a:graphic>
      </p:graphicFrame>
      <p:grpSp>
        <p:nvGrpSpPr>
          <p:cNvPr id="39945" name="Group 9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0019" name="Picture 94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020" name="Text Box 9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39946" name="Group 9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0017" name="Picture 97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018" name="Text Box 9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37036" name="Group 172"/>
          <p:cNvGrpSpPr/>
          <p:nvPr/>
        </p:nvGrpSpPr>
        <p:grpSpPr>
          <a:xfrm>
            <a:off x="323850" y="1700213"/>
            <a:ext cx="3844925" cy="1944687"/>
            <a:chOff x="204" y="1071"/>
            <a:chExt cx="2422" cy="1225"/>
          </a:xfrm>
        </p:grpSpPr>
        <p:sp>
          <p:nvSpPr>
            <p:cNvPr id="39989" name="Line 103"/>
            <p:cNvSpPr/>
            <p:nvPr/>
          </p:nvSpPr>
          <p:spPr>
            <a:xfrm>
              <a:off x="385" y="1434"/>
              <a:ext cx="0" cy="8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0" name="Text Box 104"/>
            <p:cNvSpPr txBox="1"/>
            <p:nvPr/>
          </p:nvSpPr>
          <p:spPr>
            <a:xfrm>
              <a:off x="476" y="1434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S1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91" name="Line 105"/>
            <p:cNvSpPr/>
            <p:nvPr/>
          </p:nvSpPr>
          <p:spPr>
            <a:xfrm flipV="1">
              <a:off x="385" y="1434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92" name="Text Box 106"/>
            <p:cNvSpPr txBox="1"/>
            <p:nvPr/>
          </p:nvSpPr>
          <p:spPr>
            <a:xfrm>
              <a:off x="1111" y="1389"/>
              <a:ext cx="42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S2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93" name="Text Box 107"/>
            <p:cNvSpPr txBox="1"/>
            <p:nvPr/>
          </p:nvSpPr>
          <p:spPr>
            <a:xfrm>
              <a:off x="1899" y="1389"/>
              <a:ext cx="43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Sn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94" name="Line 108"/>
            <p:cNvSpPr/>
            <p:nvPr/>
          </p:nvSpPr>
          <p:spPr>
            <a:xfrm>
              <a:off x="395" y="2241"/>
              <a:ext cx="63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5" name="Line 109"/>
            <p:cNvSpPr/>
            <p:nvPr/>
          </p:nvSpPr>
          <p:spPr>
            <a:xfrm>
              <a:off x="1025" y="2241"/>
              <a:ext cx="777" cy="0"/>
            </a:xfrm>
            <a:prstGeom prst="line">
              <a:avLst/>
            </a:prstGeom>
            <a:ln w="28575" cap="rnd" cmpd="sng">
              <a:solidFill>
                <a:srgbClr val="FFCC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9996" name="Line 110"/>
            <p:cNvSpPr/>
            <p:nvPr/>
          </p:nvSpPr>
          <p:spPr>
            <a:xfrm>
              <a:off x="395" y="1425"/>
              <a:ext cx="63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7" name="Line 111"/>
            <p:cNvSpPr/>
            <p:nvPr/>
          </p:nvSpPr>
          <p:spPr>
            <a:xfrm>
              <a:off x="1790" y="2241"/>
              <a:ext cx="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8" name="Line 112"/>
            <p:cNvSpPr/>
            <p:nvPr/>
          </p:nvSpPr>
          <p:spPr>
            <a:xfrm>
              <a:off x="1025" y="1425"/>
              <a:ext cx="765" cy="0"/>
            </a:xfrm>
            <a:prstGeom prst="line">
              <a:avLst/>
            </a:prstGeom>
            <a:ln w="28575" cap="rnd" cmpd="sng">
              <a:solidFill>
                <a:srgbClr val="FFCC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9999" name="Line 113"/>
            <p:cNvSpPr/>
            <p:nvPr/>
          </p:nvSpPr>
          <p:spPr>
            <a:xfrm>
              <a:off x="1790" y="1425"/>
              <a:ext cx="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0" name="Line 114"/>
            <p:cNvSpPr/>
            <p:nvPr/>
          </p:nvSpPr>
          <p:spPr>
            <a:xfrm>
              <a:off x="1927" y="1344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001" name="Text Box 115"/>
            <p:cNvSpPr txBox="1"/>
            <p:nvPr/>
          </p:nvSpPr>
          <p:spPr>
            <a:xfrm>
              <a:off x="2290" y="1071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chemeClr val="bg1"/>
                </a:solidFill>
                <a:ea typeface="仿宋_GB2312" pitchFamily="49" charset="-122"/>
              </a:endParaRPr>
            </a:p>
          </p:txBody>
        </p:sp>
        <p:grpSp>
          <p:nvGrpSpPr>
            <p:cNvPr id="40002" name="Group 116"/>
            <p:cNvGrpSpPr/>
            <p:nvPr/>
          </p:nvGrpSpPr>
          <p:grpSpPr>
            <a:xfrm>
              <a:off x="204" y="1661"/>
              <a:ext cx="363" cy="363"/>
              <a:chOff x="4785" y="709"/>
              <a:chExt cx="363" cy="363"/>
            </a:xfrm>
          </p:grpSpPr>
          <p:sp>
            <p:nvSpPr>
              <p:cNvPr id="40015" name="Oval 11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0016" name="Line 11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0003" name="Line 119"/>
            <p:cNvSpPr/>
            <p:nvPr/>
          </p:nvSpPr>
          <p:spPr>
            <a:xfrm>
              <a:off x="1020" y="1434"/>
              <a:ext cx="0" cy="8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004" name="Line 120"/>
            <p:cNvSpPr/>
            <p:nvPr/>
          </p:nvSpPr>
          <p:spPr>
            <a:xfrm>
              <a:off x="1791" y="1434"/>
              <a:ext cx="0" cy="8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005" name="Oval 121"/>
            <p:cNvSpPr/>
            <p:nvPr/>
          </p:nvSpPr>
          <p:spPr>
            <a:xfrm>
              <a:off x="2290" y="1389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0006" name="Oval 122"/>
            <p:cNvSpPr/>
            <p:nvPr/>
          </p:nvSpPr>
          <p:spPr>
            <a:xfrm>
              <a:off x="2290" y="2205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40007" name="Group 123"/>
            <p:cNvGrpSpPr/>
            <p:nvPr/>
          </p:nvGrpSpPr>
          <p:grpSpPr>
            <a:xfrm>
              <a:off x="1610" y="1661"/>
              <a:ext cx="363" cy="363"/>
              <a:chOff x="4785" y="709"/>
              <a:chExt cx="363" cy="363"/>
            </a:xfrm>
          </p:grpSpPr>
          <p:sp>
            <p:nvSpPr>
              <p:cNvPr id="40013" name="Oval 124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0014" name="Line 125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0008" name="Group 126"/>
            <p:cNvGrpSpPr/>
            <p:nvPr/>
          </p:nvGrpSpPr>
          <p:grpSpPr>
            <a:xfrm>
              <a:off x="839" y="1661"/>
              <a:ext cx="363" cy="363"/>
              <a:chOff x="4785" y="709"/>
              <a:chExt cx="363" cy="363"/>
            </a:xfrm>
          </p:grpSpPr>
          <p:sp>
            <p:nvSpPr>
              <p:cNvPr id="40011" name="Oval 12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0012" name="Line 12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0009" name="Line 129"/>
            <p:cNvSpPr/>
            <p:nvPr/>
          </p:nvSpPr>
          <p:spPr>
            <a:xfrm flipV="1">
              <a:off x="1791" y="1434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010" name="Line 130"/>
            <p:cNvSpPr/>
            <p:nvPr/>
          </p:nvSpPr>
          <p:spPr>
            <a:xfrm flipV="1">
              <a:off x="1020" y="1434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6995" name="Group 131"/>
          <p:cNvGrpSpPr/>
          <p:nvPr/>
        </p:nvGrpSpPr>
        <p:grpSpPr>
          <a:xfrm>
            <a:off x="4067175" y="2420938"/>
            <a:ext cx="1801813" cy="641350"/>
            <a:chOff x="3334" y="2854"/>
            <a:chExt cx="1135" cy="404"/>
          </a:xfrm>
        </p:grpSpPr>
        <p:sp>
          <p:nvSpPr>
            <p:cNvPr id="39987" name="AutoShape 132"/>
            <p:cNvSpPr/>
            <p:nvPr/>
          </p:nvSpPr>
          <p:spPr>
            <a:xfrm>
              <a:off x="3460" y="2854"/>
              <a:ext cx="872" cy="122"/>
            </a:xfrm>
            <a:prstGeom prst="rightArrow">
              <a:avLst>
                <a:gd name="adj1" fmla="val 50000"/>
                <a:gd name="adj2" fmla="val 178688"/>
              </a:avLst>
            </a:prstGeom>
            <a:solidFill>
              <a:srgbClr val="3399FF"/>
            </a:solidFill>
            <a:ln w="12700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9988" name="Text Box 133"/>
            <p:cNvSpPr txBox="1"/>
            <p:nvPr/>
          </p:nvSpPr>
          <p:spPr>
            <a:xfrm>
              <a:off x="3334" y="2931"/>
              <a:ext cx="11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ea typeface="楷体_GB2312" pitchFamily="49" charset="-122"/>
                </a:rPr>
                <a:t>等效电路</a:t>
              </a:r>
            </a:p>
          </p:txBody>
        </p:sp>
      </p:grpSp>
      <p:grpSp>
        <p:nvGrpSpPr>
          <p:cNvPr id="36998" name="Group 134"/>
          <p:cNvGrpSpPr/>
          <p:nvPr/>
        </p:nvGrpSpPr>
        <p:grpSpPr>
          <a:xfrm rot="-1626714">
            <a:off x="4284663" y="3429000"/>
            <a:ext cx="1801812" cy="641350"/>
            <a:chOff x="3334" y="2854"/>
            <a:chExt cx="1135" cy="404"/>
          </a:xfrm>
        </p:grpSpPr>
        <p:sp>
          <p:nvSpPr>
            <p:cNvPr id="39985" name="AutoShape 135"/>
            <p:cNvSpPr/>
            <p:nvPr/>
          </p:nvSpPr>
          <p:spPr>
            <a:xfrm>
              <a:off x="3460" y="2854"/>
              <a:ext cx="872" cy="122"/>
            </a:xfrm>
            <a:prstGeom prst="rightArrow">
              <a:avLst>
                <a:gd name="adj1" fmla="val 50000"/>
                <a:gd name="adj2" fmla="val 178688"/>
              </a:avLst>
            </a:prstGeom>
            <a:solidFill>
              <a:srgbClr val="3399FF"/>
            </a:solidFill>
            <a:ln w="12700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9986" name="Text Box 136"/>
            <p:cNvSpPr txBox="1"/>
            <p:nvPr/>
          </p:nvSpPr>
          <p:spPr>
            <a:xfrm>
              <a:off x="3334" y="2931"/>
              <a:ext cx="11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ea typeface="楷体_GB2312" pitchFamily="49" charset="-122"/>
                </a:rPr>
                <a:t>等效电路</a:t>
              </a:r>
            </a:p>
          </p:txBody>
        </p:sp>
      </p:grpSp>
      <p:grpSp>
        <p:nvGrpSpPr>
          <p:cNvPr id="37038" name="Group 174"/>
          <p:cNvGrpSpPr/>
          <p:nvPr/>
        </p:nvGrpSpPr>
        <p:grpSpPr>
          <a:xfrm>
            <a:off x="4787900" y="3860800"/>
            <a:ext cx="3097213" cy="1368425"/>
            <a:chOff x="3016" y="2432"/>
            <a:chExt cx="1951" cy="862"/>
          </a:xfrm>
        </p:grpSpPr>
        <p:sp>
          <p:nvSpPr>
            <p:cNvPr id="39968" name="Text Box 138"/>
            <p:cNvSpPr txBox="1"/>
            <p:nvPr/>
          </p:nvSpPr>
          <p:spPr>
            <a:xfrm>
              <a:off x="3198" y="2942"/>
              <a:ext cx="2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39969" name="Line 139"/>
            <p:cNvSpPr/>
            <p:nvPr/>
          </p:nvSpPr>
          <p:spPr>
            <a:xfrm>
              <a:off x="3062" y="2795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0" name="Line 140"/>
            <p:cNvSpPr/>
            <p:nvPr/>
          </p:nvSpPr>
          <p:spPr>
            <a:xfrm>
              <a:off x="4922" y="2795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1" name="Oval 141"/>
            <p:cNvSpPr/>
            <p:nvPr/>
          </p:nvSpPr>
          <p:spPr>
            <a:xfrm>
              <a:off x="4876" y="320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9972" name="Oval 142"/>
            <p:cNvSpPr/>
            <p:nvPr/>
          </p:nvSpPr>
          <p:spPr>
            <a:xfrm>
              <a:off x="3016" y="320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9973" name="Line 143"/>
            <p:cNvSpPr/>
            <p:nvPr/>
          </p:nvSpPr>
          <p:spPr>
            <a:xfrm flipV="1">
              <a:off x="3152" y="2841"/>
              <a:ext cx="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74" name="Line 144"/>
            <p:cNvSpPr/>
            <p:nvPr/>
          </p:nvSpPr>
          <p:spPr>
            <a:xfrm>
              <a:off x="3061" y="2795"/>
              <a:ext cx="186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5" name="Text Box 145"/>
            <p:cNvSpPr txBox="1"/>
            <p:nvPr/>
          </p:nvSpPr>
          <p:spPr>
            <a:xfrm>
              <a:off x="4513" y="2432"/>
              <a:ext cx="3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39976" name="Text Box 146"/>
            <p:cNvSpPr txBox="1"/>
            <p:nvPr/>
          </p:nvSpPr>
          <p:spPr>
            <a:xfrm>
              <a:off x="3696" y="2432"/>
              <a:ext cx="3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39977" name="Line 147"/>
            <p:cNvSpPr/>
            <p:nvPr/>
          </p:nvSpPr>
          <p:spPr>
            <a:xfrm>
              <a:off x="3742" y="2795"/>
              <a:ext cx="27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78" name="Line 148"/>
            <p:cNvSpPr/>
            <p:nvPr/>
          </p:nvSpPr>
          <p:spPr>
            <a:xfrm>
              <a:off x="4558" y="2795"/>
              <a:ext cx="27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39979" name="Group 149"/>
            <p:cNvGrpSpPr/>
            <p:nvPr/>
          </p:nvGrpSpPr>
          <p:grpSpPr>
            <a:xfrm rot="5400000">
              <a:off x="4151" y="2615"/>
              <a:ext cx="363" cy="363"/>
              <a:chOff x="4785" y="709"/>
              <a:chExt cx="363" cy="363"/>
            </a:xfrm>
          </p:grpSpPr>
          <p:sp>
            <p:nvSpPr>
              <p:cNvPr id="39983" name="Oval 15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39984" name="Line 15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9980" name="Group 152"/>
            <p:cNvGrpSpPr/>
            <p:nvPr/>
          </p:nvGrpSpPr>
          <p:grpSpPr>
            <a:xfrm rot="5400000">
              <a:off x="3334" y="2615"/>
              <a:ext cx="363" cy="363"/>
              <a:chOff x="4785" y="709"/>
              <a:chExt cx="363" cy="363"/>
            </a:xfrm>
          </p:grpSpPr>
          <p:sp>
            <p:nvSpPr>
              <p:cNvPr id="39981" name="Oval 15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39982" name="Line 15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7037" name="Group 173"/>
          <p:cNvGrpSpPr/>
          <p:nvPr/>
        </p:nvGrpSpPr>
        <p:grpSpPr>
          <a:xfrm>
            <a:off x="6227763" y="2205038"/>
            <a:ext cx="1439862" cy="1441450"/>
            <a:chOff x="3923" y="1389"/>
            <a:chExt cx="907" cy="908"/>
          </a:xfrm>
        </p:grpSpPr>
        <p:sp>
          <p:nvSpPr>
            <p:cNvPr id="39958" name="Oval 156"/>
            <p:cNvSpPr/>
            <p:nvPr/>
          </p:nvSpPr>
          <p:spPr>
            <a:xfrm>
              <a:off x="4739" y="1389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9959" name="Line 157"/>
            <p:cNvSpPr/>
            <p:nvPr/>
          </p:nvSpPr>
          <p:spPr>
            <a:xfrm>
              <a:off x="4104" y="1435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0" name="Line 158"/>
            <p:cNvSpPr/>
            <p:nvPr/>
          </p:nvSpPr>
          <p:spPr>
            <a:xfrm flipV="1">
              <a:off x="4105" y="1435"/>
              <a:ext cx="0" cy="19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61" name="Text Box 159"/>
            <p:cNvSpPr txBox="1"/>
            <p:nvPr/>
          </p:nvSpPr>
          <p:spPr>
            <a:xfrm>
              <a:off x="4240" y="1435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62" name="Line 160"/>
            <p:cNvSpPr/>
            <p:nvPr/>
          </p:nvSpPr>
          <p:spPr>
            <a:xfrm>
              <a:off x="4104" y="2251"/>
              <a:ext cx="59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3" name="Line 161"/>
            <p:cNvSpPr/>
            <p:nvPr/>
          </p:nvSpPr>
          <p:spPr>
            <a:xfrm>
              <a:off x="4104" y="1435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9964" name="Group 162"/>
            <p:cNvGrpSpPr/>
            <p:nvPr/>
          </p:nvGrpSpPr>
          <p:grpSpPr>
            <a:xfrm>
              <a:off x="3923" y="1662"/>
              <a:ext cx="363" cy="363"/>
              <a:chOff x="4785" y="709"/>
              <a:chExt cx="363" cy="363"/>
            </a:xfrm>
          </p:grpSpPr>
          <p:sp>
            <p:nvSpPr>
              <p:cNvPr id="39966" name="Oval 16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39967" name="Line 16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9965" name="Oval 165"/>
            <p:cNvSpPr/>
            <p:nvPr/>
          </p:nvSpPr>
          <p:spPr>
            <a:xfrm>
              <a:off x="4694" y="2206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7030" name="Group 166"/>
          <p:cNvGrpSpPr/>
          <p:nvPr/>
        </p:nvGrpSpPr>
        <p:grpSpPr>
          <a:xfrm>
            <a:off x="395288" y="5084763"/>
            <a:ext cx="1644650" cy="850900"/>
            <a:chOff x="385" y="3022"/>
            <a:chExt cx="1036" cy="536"/>
          </a:xfrm>
        </p:grpSpPr>
        <p:pic>
          <p:nvPicPr>
            <p:cNvPr id="39956" name="Picture 167" descr="1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57" name="Text Box 168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CC6600"/>
                  </a:solidFill>
                  <a:ea typeface="华文行楷" panose="02010800040101010101" pitchFamily="2" charset="-122"/>
                </a:rPr>
                <a:t>注意</a:t>
              </a:r>
            </a:p>
          </p:txBody>
        </p:sp>
      </p:grpSp>
      <p:grpSp>
        <p:nvGrpSpPr>
          <p:cNvPr id="39953" name="Group 175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39954" name="Picture 176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55" name="Text Box 17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1000"/>
                                        <p:tgtEl>
                                          <p:spTgt spid="3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3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3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36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868" grpId="0"/>
      <p:bldP spid="36870" grpId="0" animBg="1"/>
      <p:bldP spid="36871" grpId="0" animBg="1"/>
      <p:bldP spid="369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87" name="Object 47"/>
          <p:cNvGraphicFramePr>
            <a:graphicFrameLocks/>
          </p:cNvGraphicFramePr>
          <p:nvPr/>
        </p:nvGraphicFramePr>
        <p:xfrm>
          <a:off x="336550" y="3213100"/>
          <a:ext cx="8255000" cy="531813"/>
        </p:xfrm>
        <a:graphic>
          <a:graphicData uri="http://schemas.openxmlformats.org/presentationml/2006/ole">
            <p:oleObj spid="_x0000_s55297" r:id="rId3" imgW="3765960" imgH="196200" progId="Equation.3">
              <p:embed/>
            </p:oleObj>
          </a:graphicData>
        </a:graphic>
      </p:graphicFrame>
      <p:grpSp>
        <p:nvGrpSpPr>
          <p:cNvPr id="40963" name="Group 11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1050" name="Picture 117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51" name="Text Box 11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40964" name="Group 11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1048" name="Picture 120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49" name="Text Box 12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sp>
        <p:nvSpPr>
          <p:cNvPr id="35965" name="Text Box 125"/>
          <p:cNvSpPr txBox="1"/>
          <p:nvPr/>
        </p:nvSpPr>
        <p:spPr>
          <a:xfrm>
            <a:off x="539750" y="620713"/>
            <a:ext cx="5616575" cy="547687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SzPct val="95000"/>
              <a:buFont typeface="Wingdings" panose="05000000000000000000" pitchFamily="2" charset="2"/>
              <a:buAutoNum type="arabicPeriod" startAt="3"/>
            </a:pPr>
            <a:r>
              <a:rPr lang="zh-CN" altLang="en-US" b="1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电流源与支路的串、并联等效</a:t>
            </a:r>
          </a:p>
        </p:txBody>
      </p:sp>
      <p:grpSp>
        <p:nvGrpSpPr>
          <p:cNvPr id="36048" name="Group 208"/>
          <p:cNvGrpSpPr/>
          <p:nvPr/>
        </p:nvGrpSpPr>
        <p:grpSpPr>
          <a:xfrm>
            <a:off x="468313" y="1125538"/>
            <a:ext cx="3889375" cy="1944687"/>
            <a:chOff x="295" y="709"/>
            <a:chExt cx="2450" cy="1225"/>
          </a:xfrm>
        </p:grpSpPr>
        <p:sp>
          <p:nvSpPr>
            <p:cNvPr id="41021" name="Text Box 127"/>
            <p:cNvSpPr txBox="1"/>
            <p:nvPr/>
          </p:nvSpPr>
          <p:spPr>
            <a:xfrm>
              <a:off x="2064" y="1298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022" name="Text Box 128"/>
            <p:cNvSpPr txBox="1"/>
            <p:nvPr/>
          </p:nvSpPr>
          <p:spPr>
            <a:xfrm>
              <a:off x="976" y="1298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023" name="Text Box 129"/>
            <p:cNvSpPr txBox="1"/>
            <p:nvPr/>
          </p:nvSpPr>
          <p:spPr>
            <a:xfrm>
              <a:off x="2382" y="1072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41024" name="Text Box 130"/>
            <p:cNvSpPr txBox="1"/>
            <p:nvPr/>
          </p:nvSpPr>
          <p:spPr>
            <a:xfrm>
              <a:off x="2427" y="1525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_</a:t>
              </a:r>
            </a:p>
          </p:txBody>
        </p:sp>
        <p:sp>
          <p:nvSpPr>
            <p:cNvPr id="41025" name="Text Box 131"/>
            <p:cNvSpPr txBox="1"/>
            <p:nvPr/>
          </p:nvSpPr>
          <p:spPr>
            <a:xfrm>
              <a:off x="2382" y="1344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</a:p>
          </p:txBody>
        </p:sp>
        <p:sp>
          <p:nvSpPr>
            <p:cNvPr id="41026" name="Line 132"/>
            <p:cNvSpPr/>
            <p:nvPr/>
          </p:nvSpPr>
          <p:spPr>
            <a:xfrm>
              <a:off x="476" y="1072"/>
              <a:ext cx="0" cy="8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27" name="Text Box 133"/>
            <p:cNvSpPr txBox="1"/>
            <p:nvPr/>
          </p:nvSpPr>
          <p:spPr>
            <a:xfrm>
              <a:off x="567" y="1072"/>
              <a:ext cx="38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S1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028" name="Line 134"/>
            <p:cNvSpPr/>
            <p:nvPr/>
          </p:nvSpPr>
          <p:spPr>
            <a:xfrm flipV="1">
              <a:off x="476" y="1072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29" name="Text Box 135"/>
            <p:cNvSpPr txBox="1"/>
            <p:nvPr/>
          </p:nvSpPr>
          <p:spPr>
            <a:xfrm>
              <a:off x="1612" y="1072"/>
              <a:ext cx="42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S2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030" name="Line 136"/>
            <p:cNvSpPr/>
            <p:nvPr/>
          </p:nvSpPr>
          <p:spPr>
            <a:xfrm>
              <a:off x="477" y="1888"/>
              <a:ext cx="190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31" name="Line 137"/>
            <p:cNvSpPr/>
            <p:nvPr/>
          </p:nvSpPr>
          <p:spPr>
            <a:xfrm>
              <a:off x="477" y="1072"/>
              <a:ext cx="190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32" name="Line 138"/>
            <p:cNvSpPr/>
            <p:nvPr/>
          </p:nvSpPr>
          <p:spPr>
            <a:xfrm>
              <a:off x="2110" y="1026"/>
              <a:ext cx="27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33" name="Text Box 139"/>
            <p:cNvSpPr txBox="1"/>
            <p:nvPr/>
          </p:nvSpPr>
          <p:spPr>
            <a:xfrm>
              <a:off x="2382" y="709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chemeClr val="bg1"/>
                </a:solidFill>
                <a:ea typeface="仿宋_GB2312" pitchFamily="49" charset="-122"/>
              </a:endParaRPr>
            </a:p>
          </p:txBody>
        </p:sp>
        <p:grpSp>
          <p:nvGrpSpPr>
            <p:cNvPr id="41034" name="Group 140"/>
            <p:cNvGrpSpPr/>
            <p:nvPr/>
          </p:nvGrpSpPr>
          <p:grpSpPr>
            <a:xfrm>
              <a:off x="295" y="1299"/>
              <a:ext cx="363" cy="363"/>
              <a:chOff x="4785" y="709"/>
              <a:chExt cx="363" cy="363"/>
            </a:xfrm>
          </p:grpSpPr>
          <p:sp>
            <p:nvSpPr>
              <p:cNvPr id="41046" name="Oval 141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1047" name="Line 142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1035" name="Line 143"/>
            <p:cNvSpPr/>
            <p:nvPr/>
          </p:nvSpPr>
          <p:spPr>
            <a:xfrm>
              <a:off x="975" y="1072"/>
              <a:ext cx="0" cy="8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1036" name="Line 144"/>
            <p:cNvSpPr/>
            <p:nvPr/>
          </p:nvSpPr>
          <p:spPr>
            <a:xfrm>
              <a:off x="1520" y="1072"/>
              <a:ext cx="0" cy="8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1037" name="Oval 145"/>
            <p:cNvSpPr/>
            <p:nvPr/>
          </p:nvSpPr>
          <p:spPr>
            <a:xfrm>
              <a:off x="2381" y="102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1038" name="Oval 146"/>
            <p:cNvSpPr/>
            <p:nvPr/>
          </p:nvSpPr>
          <p:spPr>
            <a:xfrm>
              <a:off x="2381" y="184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41039" name="Group 147"/>
            <p:cNvGrpSpPr/>
            <p:nvPr/>
          </p:nvGrpSpPr>
          <p:grpSpPr>
            <a:xfrm>
              <a:off x="1339" y="1298"/>
              <a:ext cx="363" cy="363"/>
              <a:chOff x="4785" y="709"/>
              <a:chExt cx="363" cy="363"/>
            </a:xfrm>
          </p:grpSpPr>
          <p:sp>
            <p:nvSpPr>
              <p:cNvPr id="41044" name="Oval 148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1045" name="Line 149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1040" name="Line 150"/>
            <p:cNvSpPr/>
            <p:nvPr/>
          </p:nvSpPr>
          <p:spPr>
            <a:xfrm flipV="1">
              <a:off x="1519" y="1072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41" name="Rectangle 151"/>
            <p:cNvSpPr/>
            <p:nvPr/>
          </p:nvSpPr>
          <p:spPr>
            <a:xfrm>
              <a:off x="894" y="129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1042" name="Line 152"/>
            <p:cNvSpPr/>
            <p:nvPr/>
          </p:nvSpPr>
          <p:spPr>
            <a:xfrm>
              <a:off x="2064" y="1072"/>
              <a:ext cx="0" cy="8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1043" name="Rectangle 153"/>
            <p:cNvSpPr/>
            <p:nvPr/>
          </p:nvSpPr>
          <p:spPr>
            <a:xfrm>
              <a:off x="1974" y="129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5994" name="Group 154"/>
          <p:cNvGrpSpPr/>
          <p:nvPr/>
        </p:nvGrpSpPr>
        <p:grpSpPr>
          <a:xfrm>
            <a:off x="4356100" y="1916113"/>
            <a:ext cx="1801813" cy="641350"/>
            <a:chOff x="3334" y="2854"/>
            <a:chExt cx="1135" cy="404"/>
          </a:xfrm>
        </p:grpSpPr>
        <p:sp>
          <p:nvSpPr>
            <p:cNvPr id="41019" name="AutoShape 155"/>
            <p:cNvSpPr/>
            <p:nvPr/>
          </p:nvSpPr>
          <p:spPr>
            <a:xfrm>
              <a:off x="3460" y="2854"/>
              <a:ext cx="872" cy="122"/>
            </a:xfrm>
            <a:prstGeom prst="rightArrow">
              <a:avLst>
                <a:gd name="adj1" fmla="val 50000"/>
                <a:gd name="adj2" fmla="val 178688"/>
              </a:avLst>
            </a:prstGeom>
            <a:solidFill>
              <a:srgbClr val="3399FF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1020" name="Text Box 156"/>
            <p:cNvSpPr txBox="1"/>
            <p:nvPr/>
          </p:nvSpPr>
          <p:spPr>
            <a:xfrm>
              <a:off x="3334" y="2931"/>
              <a:ext cx="11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ea typeface="楷体_GB2312" pitchFamily="49" charset="-122"/>
                </a:rPr>
                <a:t>等效电路</a:t>
              </a:r>
            </a:p>
          </p:txBody>
        </p:sp>
      </p:grpSp>
      <p:grpSp>
        <p:nvGrpSpPr>
          <p:cNvPr id="36049" name="Group 209"/>
          <p:cNvGrpSpPr/>
          <p:nvPr/>
        </p:nvGrpSpPr>
        <p:grpSpPr>
          <a:xfrm>
            <a:off x="6227763" y="1412875"/>
            <a:ext cx="1800225" cy="1439863"/>
            <a:chOff x="3923" y="890"/>
            <a:chExt cx="1134" cy="907"/>
          </a:xfrm>
        </p:grpSpPr>
        <p:sp>
          <p:nvSpPr>
            <p:cNvPr id="41006" name="Line 158"/>
            <p:cNvSpPr/>
            <p:nvPr/>
          </p:nvSpPr>
          <p:spPr>
            <a:xfrm>
              <a:off x="4603" y="935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1007" name="Text Box 159"/>
            <p:cNvSpPr txBox="1"/>
            <p:nvPr/>
          </p:nvSpPr>
          <p:spPr>
            <a:xfrm>
              <a:off x="4694" y="1116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R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1008" name="Oval 160"/>
            <p:cNvSpPr/>
            <p:nvPr/>
          </p:nvSpPr>
          <p:spPr>
            <a:xfrm>
              <a:off x="4966" y="89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1009" name="Line 161"/>
            <p:cNvSpPr/>
            <p:nvPr/>
          </p:nvSpPr>
          <p:spPr>
            <a:xfrm>
              <a:off x="4104" y="936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0" name="Line 162"/>
            <p:cNvSpPr/>
            <p:nvPr/>
          </p:nvSpPr>
          <p:spPr>
            <a:xfrm flipV="1">
              <a:off x="4105" y="936"/>
              <a:ext cx="0" cy="19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11" name="Text Box 163"/>
            <p:cNvSpPr txBox="1"/>
            <p:nvPr/>
          </p:nvSpPr>
          <p:spPr>
            <a:xfrm>
              <a:off x="4240" y="936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012" name="Line 164"/>
            <p:cNvSpPr/>
            <p:nvPr/>
          </p:nvSpPr>
          <p:spPr>
            <a:xfrm flipV="1">
              <a:off x="4104" y="1751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3" name="Line 165"/>
            <p:cNvSpPr/>
            <p:nvPr/>
          </p:nvSpPr>
          <p:spPr>
            <a:xfrm flipV="1">
              <a:off x="4104" y="935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1014" name="Group 166"/>
            <p:cNvGrpSpPr/>
            <p:nvPr/>
          </p:nvGrpSpPr>
          <p:grpSpPr>
            <a:xfrm>
              <a:off x="3923" y="1163"/>
              <a:ext cx="363" cy="363"/>
              <a:chOff x="4785" y="709"/>
              <a:chExt cx="363" cy="363"/>
            </a:xfrm>
          </p:grpSpPr>
          <p:sp>
            <p:nvSpPr>
              <p:cNvPr id="41017" name="Oval 16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1018" name="Line 16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1015" name="Oval 169"/>
            <p:cNvSpPr/>
            <p:nvPr/>
          </p:nvSpPr>
          <p:spPr>
            <a:xfrm>
              <a:off x="4921" y="1706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1016" name="Rectangle 170"/>
            <p:cNvSpPr/>
            <p:nvPr/>
          </p:nvSpPr>
          <p:spPr>
            <a:xfrm>
              <a:off x="4558" y="116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6051" name="Group 211"/>
          <p:cNvGrpSpPr/>
          <p:nvPr/>
        </p:nvGrpSpPr>
        <p:grpSpPr>
          <a:xfrm>
            <a:off x="6227763" y="4076700"/>
            <a:ext cx="1439862" cy="1441450"/>
            <a:chOff x="3923" y="2568"/>
            <a:chExt cx="907" cy="908"/>
          </a:xfrm>
        </p:grpSpPr>
        <p:sp>
          <p:nvSpPr>
            <p:cNvPr id="40996" name="Oval 172"/>
            <p:cNvSpPr/>
            <p:nvPr/>
          </p:nvSpPr>
          <p:spPr>
            <a:xfrm>
              <a:off x="4739" y="256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0997" name="Line 173"/>
            <p:cNvSpPr/>
            <p:nvPr/>
          </p:nvSpPr>
          <p:spPr>
            <a:xfrm>
              <a:off x="4104" y="2614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8" name="Line 174"/>
            <p:cNvSpPr/>
            <p:nvPr/>
          </p:nvSpPr>
          <p:spPr>
            <a:xfrm flipV="1">
              <a:off x="4105" y="2614"/>
              <a:ext cx="0" cy="192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99" name="Text Box 175"/>
            <p:cNvSpPr txBox="1"/>
            <p:nvPr/>
          </p:nvSpPr>
          <p:spPr>
            <a:xfrm>
              <a:off x="4240" y="2614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000" name="Line 176"/>
            <p:cNvSpPr/>
            <p:nvPr/>
          </p:nvSpPr>
          <p:spPr>
            <a:xfrm>
              <a:off x="4104" y="3430"/>
              <a:ext cx="59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1" name="Line 177"/>
            <p:cNvSpPr/>
            <p:nvPr/>
          </p:nvSpPr>
          <p:spPr>
            <a:xfrm>
              <a:off x="4104" y="2614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1002" name="Group 178"/>
            <p:cNvGrpSpPr/>
            <p:nvPr/>
          </p:nvGrpSpPr>
          <p:grpSpPr>
            <a:xfrm>
              <a:off x="3923" y="2841"/>
              <a:ext cx="363" cy="363"/>
              <a:chOff x="4785" y="709"/>
              <a:chExt cx="363" cy="363"/>
            </a:xfrm>
          </p:grpSpPr>
          <p:sp>
            <p:nvSpPr>
              <p:cNvPr id="41004" name="Oval 17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1005" name="Line 18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1003" name="Oval 181"/>
            <p:cNvSpPr/>
            <p:nvPr/>
          </p:nvSpPr>
          <p:spPr>
            <a:xfrm>
              <a:off x="4694" y="3385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6022" name="Group 182"/>
          <p:cNvGrpSpPr/>
          <p:nvPr/>
        </p:nvGrpSpPr>
        <p:grpSpPr>
          <a:xfrm>
            <a:off x="4140200" y="4508500"/>
            <a:ext cx="1801813" cy="641350"/>
            <a:chOff x="3334" y="2854"/>
            <a:chExt cx="1135" cy="404"/>
          </a:xfrm>
        </p:grpSpPr>
        <p:sp>
          <p:nvSpPr>
            <p:cNvPr id="40994" name="AutoShape 183"/>
            <p:cNvSpPr/>
            <p:nvPr/>
          </p:nvSpPr>
          <p:spPr>
            <a:xfrm>
              <a:off x="3460" y="2854"/>
              <a:ext cx="872" cy="122"/>
            </a:xfrm>
            <a:prstGeom prst="rightArrow">
              <a:avLst>
                <a:gd name="adj1" fmla="val 50000"/>
                <a:gd name="adj2" fmla="val 178688"/>
              </a:avLst>
            </a:prstGeom>
            <a:solidFill>
              <a:srgbClr val="3399FF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0995" name="Text Box 184"/>
            <p:cNvSpPr txBox="1"/>
            <p:nvPr/>
          </p:nvSpPr>
          <p:spPr>
            <a:xfrm>
              <a:off x="3334" y="2931"/>
              <a:ext cx="11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ea typeface="楷体_GB2312" pitchFamily="49" charset="-122"/>
                </a:rPr>
                <a:t>等效电路</a:t>
              </a:r>
            </a:p>
          </p:txBody>
        </p:sp>
      </p:grpSp>
      <p:sp>
        <p:nvSpPr>
          <p:cNvPr id="36025" name="Text Box 185"/>
          <p:cNvSpPr txBox="1"/>
          <p:nvPr/>
        </p:nvSpPr>
        <p:spPr>
          <a:xfrm>
            <a:off x="4211638" y="5445125"/>
            <a:ext cx="2089150" cy="519113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990033"/>
                </a:solidFill>
                <a:ea typeface="楷体_GB2312" pitchFamily="49" charset="-122"/>
              </a:rPr>
              <a:t>对外等效！</a:t>
            </a:r>
          </a:p>
        </p:txBody>
      </p:sp>
      <p:grpSp>
        <p:nvGrpSpPr>
          <p:cNvPr id="36050" name="Group 210"/>
          <p:cNvGrpSpPr/>
          <p:nvPr/>
        </p:nvGrpSpPr>
        <p:grpSpPr>
          <a:xfrm>
            <a:off x="468313" y="3860800"/>
            <a:ext cx="2360612" cy="2233613"/>
            <a:chOff x="295" y="2432"/>
            <a:chExt cx="1487" cy="1407"/>
          </a:xfrm>
        </p:grpSpPr>
        <p:sp>
          <p:nvSpPr>
            <p:cNvPr id="40980" name="Line 187"/>
            <p:cNvSpPr/>
            <p:nvPr/>
          </p:nvSpPr>
          <p:spPr>
            <a:xfrm flipH="1">
              <a:off x="476" y="2705"/>
              <a:ext cx="0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1" name="Line 188"/>
            <p:cNvSpPr/>
            <p:nvPr/>
          </p:nvSpPr>
          <p:spPr>
            <a:xfrm flipV="1">
              <a:off x="476" y="2750"/>
              <a:ext cx="0" cy="26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82" name="Text Box 189"/>
            <p:cNvSpPr txBox="1"/>
            <p:nvPr/>
          </p:nvSpPr>
          <p:spPr>
            <a:xfrm>
              <a:off x="658" y="3022"/>
              <a:ext cx="5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83" name="Line 190"/>
            <p:cNvSpPr/>
            <p:nvPr/>
          </p:nvSpPr>
          <p:spPr>
            <a:xfrm>
              <a:off x="467" y="3788"/>
              <a:ext cx="11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4" name="Line 191"/>
            <p:cNvSpPr/>
            <p:nvPr/>
          </p:nvSpPr>
          <p:spPr>
            <a:xfrm>
              <a:off x="467" y="2705"/>
              <a:ext cx="11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032" name="Rectangle 192"/>
            <p:cNvSpPr>
              <a:spLocks noChangeArrowheads="1"/>
            </p:cNvSpPr>
            <p:nvPr/>
          </p:nvSpPr>
          <p:spPr bwMode="auto">
            <a:xfrm>
              <a:off x="839" y="2432"/>
              <a:ext cx="643" cy="590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任意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元件</a:t>
              </a:r>
            </a:p>
          </p:txBody>
        </p:sp>
        <p:sp>
          <p:nvSpPr>
            <p:cNvPr id="40986" name="Text Box 193"/>
            <p:cNvSpPr txBox="1"/>
            <p:nvPr/>
          </p:nvSpPr>
          <p:spPr>
            <a:xfrm>
              <a:off x="1485" y="3126"/>
              <a:ext cx="2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</a:p>
          </p:txBody>
        </p:sp>
        <p:sp>
          <p:nvSpPr>
            <p:cNvPr id="40987" name="Text Box 194"/>
            <p:cNvSpPr txBox="1"/>
            <p:nvPr/>
          </p:nvSpPr>
          <p:spPr>
            <a:xfrm>
              <a:off x="1485" y="3398"/>
              <a:ext cx="2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_</a:t>
              </a:r>
            </a:p>
          </p:txBody>
        </p:sp>
        <p:sp>
          <p:nvSpPr>
            <p:cNvPr id="40988" name="Text Box 195"/>
            <p:cNvSpPr txBox="1"/>
            <p:nvPr/>
          </p:nvSpPr>
          <p:spPr>
            <a:xfrm>
              <a:off x="1474" y="2750"/>
              <a:ext cx="2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+</a:t>
              </a:r>
            </a:p>
          </p:txBody>
        </p:sp>
        <p:grpSp>
          <p:nvGrpSpPr>
            <p:cNvPr id="40989" name="Group 196"/>
            <p:cNvGrpSpPr/>
            <p:nvPr/>
          </p:nvGrpSpPr>
          <p:grpSpPr>
            <a:xfrm>
              <a:off x="295" y="3068"/>
              <a:ext cx="363" cy="363"/>
              <a:chOff x="4785" y="709"/>
              <a:chExt cx="363" cy="363"/>
            </a:xfrm>
          </p:grpSpPr>
          <p:sp>
            <p:nvSpPr>
              <p:cNvPr id="40992" name="Oval 19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0993" name="Line 19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0990" name="Oval 199"/>
            <p:cNvSpPr/>
            <p:nvPr/>
          </p:nvSpPr>
          <p:spPr>
            <a:xfrm>
              <a:off x="1610" y="374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0991" name="Oval 200"/>
            <p:cNvSpPr/>
            <p:nvPr/>
          </p:nvSpPr>
          <p:spPr>
            <a:xfrm>
              <a:off x="1610" y="2659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6041" name="Group 201"/>
          <p:cNvGrpSpPr/>
          <p:nvPr/>
        </p:nvGrpSpPr>
        <p:grpSpPr>
          <a:xfrm>
            <a:off x="2627313" y="4292600"/>
            <a:ext cx="933450" cy="1800225"/>
            <a:chOff x="1655" y="2795"/>
            <a:chExt cx="588" cy="1134"/>
          </a:xfrm>
        </p:grpSpPr>
        <p:sp>
          <p:nvSpPr>
            <p:cNvPr id="40977" name="Freeform 202"/>
            <p:cNvSpPr/>
            <p:nvPr/>
          </p:nvSpPr>
          <p:spPr>
            <a:xfrm>
              <a:off x="1655" y="2795"/>
              <a:ext cx="530" cy="1134"/>
            </a:xfrm>
            <a:custGeom>
              <a:avLst/>
              <a:gdLst/>
              <a:ahLst/>
              <a:cxnLst>
                <a:cxn ang="0">
                  <a:pos x="0" y="1458"/>
                </a:cxn>
                <a:cxn ang="0">
                  <a:pos x="128" y="1204"/>
                </a:cxn>
                <a:cxn ang="0">
                  <a:pos x="223" y="634"/>
                </a:cxn>
                <a:cxn ang="0">
                  <a:pos x="16" y="0"/>
                </a:cxn>
              </a:cxnLst>
              <a:rect l="0" t="0" r="0" b="0"/>
              <a:pathLst>
                <a:path w="688" h="1043">
                  <a:moveTo>
                    <a:pt x="0" y="1043"/>
                  </a:moveTo>
                  <a:cubicBezTo>
                    <a:pt x="128" y="1001"/>
                    <a:pt x="257" y="959"/>
                    <a:pt x="363" y="861"/>
                  </a:cubicBezTo>
                  <a:cubicBezTo>
                    <a:pt x="469" y="763"/>
                    <a:pt x="688" y="596"/>
                    <a:pt x="635" y="453"/>
                  </a:cubicBezTo>
                  <a:cubicBezTo>
                    <a:pt x="582" y="310"/>
                    <a:pt x="314" y="155"/>
                    <a:pt x="46" y="0"/>
                  </a:cubicBezTo>
                </a:path>
              </a:pathLst>
            </a:custGeom>
            <a:noFill/>
            <a:ln w="28575" cap="flat" cmpd="sng">
              <a:solidFill>
                <a:srgbClr val="FFCC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8" name="Text Box 203"/>
            <p:cNvSpPr txBox="1"/>
            <p:nvPr/>
          </p:nvSpPr>
          <p:spPr>
            <a:xfrm>
              <a:off x="1791" y="3203"/>
              <a:ext cx="45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0979" name="Rectangle 204"/>
            <p:cNvSpPr/>
            <p:nvPr/>
          </p:nvSpPr>
          <p:spPr>
            <a:xfrm>
              <a:off x="2064" y="320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0974" name="Group 212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0975" name="Picture 213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76" name="Text Box 21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3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3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6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6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3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65" grpId="0" animBg="1"/>
      <p:bldP spid="360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/>
          <p:cNvSpPr txBox="1"/>
          <p:nvPr/>
        </p:nvSpPr>
        <p:spPr>
          <a:xfrm>
            <a:off x="142875" y="404813"/>
            <a:ext cx="9001125" cy="701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40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实际电源的两种模型及其等效变换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pSp>
        <p:nvGrpSpPr>
          <p:cNvPr id="41987" name="Group 1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2030" name="Picture 1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31" name="Text Box 1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41988" name="Group 1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2028" name="Picture 1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29" name="Text Box 1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sp>
        <p:nvSpPr>
          <p:cNvPr id="130102" name="Text Box 54"/>
          <p:cNvSpPr txBox="1"/>
          <p:nvPr/>
        </p:nvSpPr>
        <p:spPr>
          <a:xfrm>
            <a:off x="684213" y="1268413"/>
            <a:ext cx="2952750" cy="579437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实际电压源</a:t>
            </a:r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0103" name="Text Box 55"/>
          <p:cNvSpPr txBox="1"/>
          <p:nvPr/>
        </p:nvSpPr>
        <p:spPr>
          <a:xfrm>
            <a:off x="900113" y="5013325"/>
            <a:ext cx="7775575" cy="111760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just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  <a:buFont typeface="Times New Roman" panose="02020603050405020304" pitchFamily="18" charset="0"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实际电压源也不允许短路。因其内阻小，若短路，电流很大，可能烧毁电源。</a:t>
            </a:r>
          </a:p>
        </p:txBody>
      </p:sp>
      <p:grpSp>
        <p:nvGrpSpPr>
          <p:cNvPr id="130104" name="Group 56"/>
          <p:cNvGrpSpPr/>
          <p:nvPr/>
        </p:nvGrpSpPr>
        <p:grpSpPr>
          <a:xfrm>
            <a:off x="4643438" y="1844675"/>
            <a:ext cx="3384550" cy="2084388"/>
            <a:chOff x="2426" y="1090"/>
            <a:chExt cx="2132" cy="1313"/>
          </a:xfrm>
        </p:grpSpPr>
        <p:sp>
          <p:nvSpPr>
            <p:cNvPr id="42020" name="Line 57"/>
            <p:cNvSpPr/>
            <p:nvPr/>
          </p:nvSpPr>
          <p:spPr>
            <a:xfrm>
              <a:off x="2861" y="1608"/>
              <a:ext cx="1694" cy="13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1" name="Text Box 58"/>
            <p:cNvSpPr txBox="1"/>
            <p:nvPr/>
          </p:nvSpPr>
          <p:spPr>
            <a:xfrm>
              <a:off x="3882" y="1254"/>
              <a:ext cx="28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2022" name="Line 59"/>
            <p:cNvSpPr/>
            <p:nvPr/>
          </p:nvSpPr>
          <p:spPr>
            <a:xfrm>
              <a:off x="2426" y="2091"/>
              <a:ext cx="2132" cy="0"/>
            </a:xfrm>
            <a:prstGeom prst="line">
              <a:avLst/>
            </a:prstGeom>
            <a:ln w="28575" cap="flat" cmpd="sng">
              <a:solidFill>
                <a:srgbClr val="FF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3" name="Line 60"/>
            <p:cNvSpPr/>
            <p:nvPr/>
          </p:nvSpPr>
          <p:spPr>
            <a:xfrm flipV="1">
              <a:off x="3285" y="1262"/>
              <a:ext cx="0" cy="1141"/>
            </a:xfrm>
            <a:prstGeom prst="line">
              <a:avLst/>
            </a:prstGeom>
            <a:ln w="28575" cap="flat" cmpd="sng">
              <a:solidFill>
                <a:srgbClr val="FF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4" name="Text Box 61"/>
            <p:cNvSpPr txBox="1"/>
            <p:nvPr/>
          </p:nvSpPr>
          <p:spPr>
            <a:xfrm>
              <a:off x="2940" y="1090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</a:p>
          </p:txBody>
        </p:sp>
        <p:sp>
          <p:nvSpPr>
            <p:cNvPr id="42025" name="Text Box 62"/>
            <p:cNvSpPr txBox="1"/>
            <p:nvPr/>
          </p:nvSpPr>
          <p:spPr>
            <a:xfrm>
              <a:off x="4326" y="2072"/>
              <a:ext cx="17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</a:p>
          </p:txBody>
        </p:sp>
        <p:sp>
          <p:nvSpPr>
            <p:cNvPr id="42026" name="Text Box 63"/>
            <p:cNvSpPr txBox="1"/>
            <p:nvPr/>
          </p:nvSpPr>
          <p:spPr>
            <a:xfrm>
              <a:off x="2983" y="2072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42027" name="Line 64"/>
            <p:cNvSpPr/>
            <p:nvPr/>
          </p:nvSpPr>
          <p:spPr>
            <a:xfrm flipH="1">
              <a:off x="3311" y="1450"/>
              <a:ext cx="467" cy="158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0113" name="AutoShape 65" descr="羊皮纸"/>
          <p:cNvSpPr/>
          <p:nvPr/>
        </p:nvSpPr>
        <p:spPr>
          <a:xfrm>
            <a:off x="2771775" y="2600325"/>
            <a:ext cx="1800225" cy="576263"/>
          </a:xfrm>
          <a:prstGeom prst="wedgeRoundRectCallout">
            <a:avLst>
              <a:gd name="adj1" fmla="val -119931"/>
              <a:gd name="adj2" fmla="val 207023"/>
              <a:gd name="adj3" fmla="val 16667"/>
            </a:avLst>
          </a:prstGeom>
          <a:blipFill rotWithShape="1">
            <a:blip r:embed="rId4"/>
          </a:blipFill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考虑内阻</a:t>
            </a:r>
          </a:p>
        </p:txBody>
      </p:sp>
      <p:sp>
        <p:nvSpPr>
          <p:cNvPr id="130114" name="Text Box 66"/>
          <p:cNvSpPr txBox="1"/>
          <p:nvPr/>
        </p:nvSpPr>
        <p:spPr>
          <a:xfrm>
            <a:off x="3851275" y="1268413"/>
            <a:ext cx="23034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伏安特性：</a:t>
            </a:r>
          </a:p>
        </p:txBody>
      </p:sp>
      <p:graphicFrame>
        <p:nvGraphicFramePr>
          <p:cNvPr id="130115" name="Object 67"/>
          <p:cNvGraphicFramePr>
            <a:graphicFrameLocks/>
          </p:cNvGraphicFramePr>
          <p:nvPr/>
        </p:nvGraphicFramePr>
        <p:xfrm>
          <a:off x="5940425" y="1268413"/>
          <a:ext cx="2074863" cy="587375"/>
        </p:xfrm>
        <a:graphic>
          <a:graphicData uri="http://schemas.openxmlformats.org/presentationml/2006/ole">
            <p:oleObj spid="_x0000_s56324" r:id="rId5" imgW="753120" imgH="196200" progId="Equation.3">
              <p:embed/>
            </p:oleObj>
          </a:graphicData>
        </a:graphic>
      </p:graphicFrame>
      <p:sp>
        <p:nvSpPr>
          <p:cNvPr id="130116" name="Text Box 68"/>
          <p:cNvSpPr txBox="1"/>
          <p:nvPr/>
        </p:nvSpPr>
        <p:spPr>
          <a:xfrm>
            <a:off x="3419475" y="4149725"/>
            <a:ext cx="35290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一个好的电压源要求</a:t>
            </a:r>
          </a:p>
        </p:txBody>
      </p:sp>
      <p:graphicFrame>
        <p:nvGraphicFramePr>
          <p:cNvPr id="130117" name="Object 69"/>
          <p:cNvGraphicFramePr>
            <a:graphicFrameLocks/>
          </p:cNvGraphicFramePr>
          <p:nvPr/>
        </p:nvGraphicFramePr>
        <p:xfrm>
          <a:off x="7092950" y="4149725"/>
          <a:ext cx="1201738" cy="519113"/>
        </p:xfrm>
        <a:graphic>
          <a:graphicData uri="http://schemas.openxmlformats.org/presentationml/2006/ole">
            <p:oleObj spid="_x0000_s56323" r:id="rId6" imgW="486720" imgH="196200" progId="Equation.3">
              <p:embed/>
            </p:oleObj>
          </a:graphicData>
        </a:graphic>
      </p:graphicFrame>
      <p:grpSp>
        <p:nvGrpSpPr>
          <p:cNvPr id="130118" name="Group 70"/>
          <p:cNvGrpSpPr/>
          <p:nvPr/>
        </p:nvGrpSpPr>
        <p:grpSpPr>
          <a:xfrm>
            <a:off x="468313" y="1808163"/>
            <a:ext cx="1935162" cy="2844800"/>
            <a:chOff x="2336" y="754"/>
            <a:chExt cx="1219" cy="1792"/>
          </a:xfrm>
        </p:grpSpPr>
        <p:sp>
          <p:nvSpPr>
            <p:cNvPr id="42004" name="Oval 71"/>
            <p:cNvSpPr/>
            <p:nvPr/>
          </p:nvSpPr>
          <p:spPr>
            <a:xfrm>
              <a:off x="2608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chemeClr val="bg1"/>
                </a:solidFill>
                <a:ea typeface="仿宋_GB2312" pitchFamily="49" charset="-122"/>
              </a:endParaRPr>
            </a:p>
          </p:txBody>
        </p:sp>
        <p:sp>
          <p:nvSpPr>
            <p:cNvPr id="42005" name="Text Box 72"/>
            <p:cNvSpPr txBox="1"/>
            <p:nvPr/>
          </p:nvSpPr>
          <p:spPr>
            <a:xfrm>
              <a:off x="2971" y="754"/>
              <a:ext cx="17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</a:p>
          </p:txBody>
        </p:sp>
        <p:sp>
          <p:nvSpPr>
            <p:cNvPr id="42006" name="Text Box 73"/>
            <p:cNvSpPr txBox="1"/>
            <p:nvPr/>
          </p:nvSpPr>
          <p:spPr>
            <a:xfrm rot="10800000">
              <a:off x="2562" y="1071"/>
              <a:ext cx="26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2007" name="Text Box 74"/>
            <p:cNvSpPr txBox="1"/>
            <p:nvPr/>
          </p:nvSpPr>
          <p:spPr>
            <a:xfrm>
              <a:off x="2562" y="1661"/>
              <a:ext cx="19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2008" name="Oval 75"/>
            <p:cNvSpPr/>
            <p:nvPr/>
          </p:nvSpPr>
          <p:spPr>
            <a:xfrm rot="10800000">
              <a:off x="3424" y="2478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2009" name="Line 76"/>
            <p:cNvSpPr/>
            <p:nvPr/>
          </p:nvSpPr>
          <p:spPr>
            <a:xfrm rot="5400000">
              <a:off x="3109" y="2203"/>
              <a:ext cx="0" cy="6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0" name="Oval 77"/>
            <p:cNvSpPr/>
            <p:nvPr/>
          </p:nvSpPr>
          <p:spPr>
            <a:xfrm rot="10800000">
              <a:off x="3421" y="1084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2011" name="Line 78"/>
            <p:cNvSpPr/>
            <p:nvPr/>
          </p:nvSpPr>
          <p:spPr>
            <a:xfrm rot="5400000">
              <a:off x="3101" y="798"/>
              <a:ext cx="0" cy="6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2" name="Text Box 79"/>
            <p:cNvSpPr txBox="1"/>
            <p:nvPr/>
          </p:nvSpPr>
          <p:spPr>
            <a:xfrm>
              <a:off x="3288" y="1616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</a:p>
          </p:txBody>
        </p:sp>
        <p:sp>
          <p:nvSpPr>
            <p:cNvPr id="42013" name="Text Box 80"/>
            <p:cNvSpPr txBox="1"/>
            <p:nvPr/>
          </p:nvSpPr>
          <p:spPr>
            <a:xfrm rot="10800000">
              <a:off x="3288" y="1117"/>
              <a:ext cx="26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2014" name="Text Box 81"/>
            <p:cNvSpPr txBox="1"/>
            <p:nvPr/>
          </p:nvSpPr>
          <p:spPr>
            <a:xfrm>
              <a:off x="3288" y="2115"/>
              <a:ext cx="19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2015" name="Line 82"/>
            <p:cNvSpPr/>
            <p:nvPr/>
          </p:nvSpPr>
          <p:spPr>
            <a:xfrm rot="10800000">
              <a:off x="2781" y="1118"/>
              <a:ext cx="8" cy="140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2016" name="Object 83"/>
            <p:cNvGraphicFramePr>
              <a:graphicFrameLocks/>
            </p:cNvGraphicFramePr>
            <p:nvPr/>
          </p:nvGraphicFramePr>
          <p:xfrm>
            <a:off x="2336" y="1434"/>
            <a:ext cx="286" cy="362"/>
          </p:xfrm>
          <a:graphic>
            <a:graphicData uri="http://schemas.openxmlformats.org/presentationml/2006/ole">
              <p:oleObj spid="_x0000_s56322" r:id="rId7" imgW="150480" imgH="196200" progId="Equation.3">
                <p:embed/>
              </p:oleObj>
            </a:graphicData>
          </a:graphic>
        </p:graphicFrame>
        <p:graphicFrame>
          <p:nvGraphicFramePr>
            <p:cNvPr id="42017" name="Object 84"/>
            <p:cNvGraphicFramePr>
              <a:graphicFrameLocks/>
            </p:cNvGraphicFramePr>
            <p:nvPr/>
          </p:nvGraphicFramePr>
          <p:xfrm>
            <a:off x="2426" y="2069"/>
            <a:ext cx="294" cy="327"/>
          </p:xfrm>
          <a:graphic>
            <a:graphicData uri="http://schemas.openxmlformats.org/presentationml/2006/ole">
              <p:oleObj spid="_x0000_s56321" r:id="rId8" imgW="173880" imgH="196200" progId="Equation.3">
                <p:embed/>
              </p:oleObj>
            </a:graphicData>
          </a:graphic>
        </p:graphicFrame>
        <p:sp>
          <p:nvSpPr>
            <p:cNvPr id="42018" name="Rectangle 85"/>
            <p:cNvSpPr/>
            <p:nvPr/>
          </p:nvSpPr>
          <p:spPr>
            <a:xfrm>
              <a:off x="2744" y="202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2019" name="Line 86"/>
            <p:cNvSpPr/>
            <p:nvPr/>
          </p:nvSpPr>
          <p:spPr>
            <a:xfrm>
              <a:off x="2925" y="1207"/>
              <a:ext cx="363" cy="0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30135" name="Group 87"/>
          <p:cNvGrpSpPr/>
          <p:nvPr/>
        </p:nvGrpSpPr>
        <p:grpSpPr>
          <a:xfrm>
            <a:off x="323850" y="4903788"/>
            <a:ext cx="1644650" cy="850900"/>
            <a:chOff x="385" y="3022"/>
            <a:chExt cx="1036" cy="536"/>
          </a:xfrm>
        </p:grpSpPr>
        <p:pic>
          <p:nvPicPr>
            <p:cNvPr id="42002" name="Picture 88" descr="1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03" name="Text Box 8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CC6600"/>
                  </a:solidFill>
                  <a:ea typeface="华文行楷" panose="02010800040101010101" pitchFamily="2" charset="-122"/>
                </a:rPr>
                <a:t>注意</a:t>
              </a:r>
            </a:p>
          </p:txBody>
        </p:sp>
      </p:grpSp>
      <p:grpSp>
        <p:nvGrpSpPr>
          <p:cNvPr id="41999" name="Group 9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2000" name="Picture 9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01" name="Text Box 9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3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5" decel="100000"/>
                                        <p:tgtEl>
                                          <p:spTgt spid="1301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385" decel="100000"/>
                                        <p:tgtEl>
                                          <p:spTgt spid="13011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9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3011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0" dur="385" fill="hold"/>
                                        <p:tgtEl>
                                          <p:spTgt spid="130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1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30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2" dur="385" fill="hold"/>
                                        <p:tgtEl>
                                          <p:spTgt spid="130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3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30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1000"/>
                                        <p:tgtEl>
                                          <p:spTgt spid="13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2000"/>
                                        <p:tgtEl>
                                          <p:spTgt spid="13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0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0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" fill="hold"/>
                                        <p:tgtEl>
                                          <p:spTgt spid="130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fill="hold"/>
                                        <p:tgtEl>
                                          <p:spTgt spid="130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"/>
                                        <p:tgtEl>
                                          <p:spTgt spid="13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/>
      <p:bldP spid="130102" grpId="0"/>
      <p:bldP spid="130103" grpId="0"/>
      <p:bldP spid="130113" grpId="0" animBg="1"/>
      <p:bldP spid="130114" grpId="0"/>
      <p:bldP spid="1301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ext Box 2"/>
          <p:cNvSpPr txBox="1"/>
          <p:nvPr/>
        </p:nvSpPr>
        <p:spPr>
          <a:xfrm>
            <a:off x="611188" y="4616450"/>
            <a:ext cx="8208962" cy="111760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just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  <a:buFont typeface="Times New Roman" panose="02020603050405020304" pitchFamily="18" charset="0"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实际电流源也不允许开路。因其内阻大，若开路，电压很高，可能烧毁电源。</a:t>
            </a:r>
          </a:p>
        </p:txBody>
      </p:sp>
      <p:grpSp>
        <p:nvGrpSpPr>
          <p:cNvPr id="128003" name="Group 3"/>
          <p:cNvGrpSpPr/>
          <p:nvPr/>
        </p:nvGrpSpPr>
        <p:grpSpPr>
          <a:xfrm>
            <a:off x="3995738" y="1484313"/>
            <a:ext cx="3629025" cy="2114550"/>
            <a:chOff x="2426" y="1071"/>
            <a:chExt cx="2286" cy="1332"/>
          </a:xfrm>
        </p:grpSpPr>
        <p:sp>
          <p:nvSpPr>
            <p:cNvPr id="43049" name="Line 4"/>
            <p:cNvSpPr/>
            <p:nvPr/>
          </p:nvSpPr>
          <p:spPr>
            <a:xfrm>
              <a:off x="3560" y="1071"/>
              <a:ext cx="499" cy="127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0" name="Text Box 5"/>
            <p:cNvSpPr txBox="1"/>
            <p:nvPr/>
          </p:nvSpPr>
          <p:spPr>
            <a:xfrm>
              <a:off x="4475" y="1589"/>
              <a:ext cx="23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endPara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3051" name="Line 6"/>
            <p:cNvSpPr/>
            <p:nvPr/>
          </p:nvSpPr>
          <p:spPr>
            <a:xfrm>
              <a:off x="2426" y="2091"/>
              <a:ext cx="2132" cy="0"/>
            </a:xfrm>
            <a:prstGeom prst="line">
              <a:avLst/>
            </a:prstGeom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52" name="Line 7"/>
            <p:cNvSpPr/>
            <p:nvPr/>
          </p:nvSpPr>
          <p:spPr>
            <a:xfrm flipV="1">
              <a:off x="3285" y="1262"/>
              <a:ext cx="0" cy="1141"/>
            </a:xfrm>
            <a:prstGeom prst="line">
              <a:avLst/>
            </a:prstGeom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53" name="Text Box 8"/>
            <p:cNvSpPr txBox="1"/>
            <p:nvPr/>
          </p:nvSpPr>
          <p:spPr>
            <a:xfrm>
              <a:off x="2940" y="1090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</a:p>
          </p:txBody>
        </p:sp>
        <p:sp>
          <p:nvSpPr>
            <p:cNvPr id="43054" name="Text Box 9"/>
            <p:cNvSpPr txBox="1"/>
            <p:nvPr/>
          </p:nvSpPr>
          <p:spPr>
            <a:xfrm>
              <a:off x="4326" y="2072"/>
              <a:ext cx="17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</a:p>
          </p:txBody>
        </p:sp>
        <p:sp>
          <p:nvSpPr>
            <p:cNvPr id="43055" name="Text Box 10"/>
            <p:cNvSpPr txBox="1"/>
            <p:nvPr/>
          </p:nvSpPr>
          <p:spPr>
            <a:xfrm>
              <a:off x="2983" y="2072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43056" name="Line 11"/>
            <p:cNvSpPr/>
            <p:nvPr/>
          </p:nvSpPr>
          <p:spPr>
            <a:xfrm flipH="1">
              <a:off x="4001" y="1911"/>
              <a:ext cx="467" cy="158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8012" name="Text Box 12"/>
          <p:cNvSpPr txBox="1"/>
          <p:nvPr/>
        </p:nvSpPr>
        <p:spPr>
          <a:xfrm>
            <a:off x="468313" y="549275"/>
            <a:ext cx="3024187" cy="579438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实际电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流</a:t>
            </a:r>
            <a:r>
              <a:rPr lang="zh-CN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源</a:t>
            </a:r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8013" name="AutoShape 13" descr="羊皮纸"/>
          <p:cNvSpPr/>
          <p:nvPr/>
        </p:nvSpPr>
        <p:spPr>
          <a:xfrm>
            <a:off x="611188" y="3644900"/>
            <a:ext cx="1800225" cy="504825"/>
          </a:xfrm>
          <a:prstGeom prst="wedgeRoundRectCallout">
            <a:avLst>
              <a:gd name="adj1" fmla="val 43208"/>
              <a:gd name="adj2" fmla="val -239935"/>
              <a:gd name="adj3" fmla="val 16667"/>
            </a:avLst>
          </a:prstGeom>
          <a:blipFill rotWithShape="1">
            <a:blip r:embed="rId3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考虑内阻</a:t>
            </a:r>
          </a:p>
        </p:txBody>
      </p:sp>
      <p:sp>
        <p:nvSpPr>
          <p:cNvPr id="128014" name="Text Box 14"/>
          <p:cNvSpPr txBox="1"/>
          <p:nvPr/>
        </p:nvSpPr>
        <p:spPr>
          <a:xfrm>
            <a:off x="3995738" y="620713"/>
            <a:ext cx="23034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伏安特性：</a:t>
            </a:r>
          </a:p>
        </p:txBody>
      </p:sp>
      <p:graphicFrame>
        <p:nvGraphicFramePr>
          <p:cNvPr id="128015" name="Object 15"/>
          <p:cNvGraphicFramePr>
            <a:graphicFrameLocks/>
          </p:cNvGraphicFramePr>
          <p:nvPr/>
        </p:nvGraphicFramePr>
        <p:xfrm>
          <a:off x="6084888" y="333375"/>
          <a:ext cx="1982787" cy="1308100"/>
        </p:xfrm>
        <a:graphic>
          <a:graphicData uri="http://schemas.openxmlformats.org/presentationml/2006/ole">
            <p:oleObj spid="_x0000_s57348" r:id="rId4" imgW="660600" imgH="426600" progId="Equation.3">
              <p:embed/>
            </p:oleObj>
          </a:graphicData>
        </a:graphic>
      </p:graphicFrame>
      <p:sp>
        <p:nvSpPr>
          <p:cNvPr id="128016" name="Text Box 16"/>
          <p:cNvSpPr txBox="1"/>
          <p:nvPr/>
        </p:nvSpPr>
        <p:spPr>
          <a:xfrm>
            <a:off x="2987675" y="3933825"/>
            <a:ext cx="35290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一个好的电流源要求</a:t>
            </a:r>
          </a:p>
        </p:txBody>
      </p:sp>
      <p:graphicFrame>
        <p:nvGraphicFramePr>
          <p:cNvPr id="128017" name="Object 17"/>
          <p:cNvGraphicFramePr>
            <a:graphicFrameLocks/>
          </p:cNvGraphicFramePr>
          <p:nvPr/>
        </p:nvGraphicFramePr>
        <p:xfrm>
          <a:off x="6588125" y="3933825"/>
          <a:ext cx="1274763" cy="514350"/>
        </p:xfrm>
        <a:graphic>
          <a:graphicData uri="http://schemas.openxmlformats.org/presentationml/2006/ole">
            <p:oleObj spid="_x0000_s57347" r:id="rId5" imgW="521280" imgH="196200" progId="Equation.3">
              <p:embed/>
            </p:oleObj>
          </a:graphicData>
        </a:graphic>
      </p:graphicFrame>
      <p:grpSp>
        <p:nvGrpSpPr>
          <p:cNvPr id="43018" name="Group 1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3047" name="Picture 19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48" name="Text Box 2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43019" name="Group 2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3045" name="Picture 22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46" name="Text Box 2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128042" name="Group 42"/>
          <p:cNvGrpSpPr/>
          <p:nvPr/>
        </p:nvGrpSpPr>
        <p:grpSpPr>
          <a:xfrm>
            <a:off x="468313" y="4522788"/>
            <a:ext cx="1644650" cy="850900"/>
            <a:chOff x="385" y="3022"/>
            <a:chExt cx="1036" cy="536"/>
          </a:xfrm>
        </p:grpSpPr>
        <p:pic>
          <p:nvPicPr>
            <p:cNvPr id="43043" name="Picture 43" descr="1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44" name="Text Box 44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FF9900"/>
                  </a:solidFill>
                  <a:ea typeface="华文行楷" panose="02010800040101010101" pitchFamily="2" charset="-122"/>
                </a:rPr>
                <a:t>注意</a:t>
              </a:r>
            </a:p>
          </p:txBody>
        </p:sp>
      </p:grpSp>
      <p:grpSp>
        <p:nvGrpSpPr>
          <p:cNvPr id="43021" name="Group 4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3041" name="Picture 49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42" name="Text Box 5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grpSp>
        <p:nvGrpSpPr>
          <p:cNvPr id="128052" name="Group 52"/>
          <p:cNvGrpSpPr/>
          <p:nvPr/>
        </p:nvGrpSpPr>
        <p:grpSpPr>
          <a:xfrm>
            <a:off x="971550" y="1412875"/>
            <a:ext cx="2259013" cy="1990725"/>
            <a:chOff x="612" y="890"/>
            <a:chExt cx="1423" cy="1254"/>
          </a:xfrm>
        </p:grpSpPr>
        <p:sp>
          <p:nvSpPr>
            <p:cNvPr id="43023" name="Line 25"/>
            <p:cNvSpPr/>
            <p:nvPr/>
          </p:nvSpPr>
          <p:spPr>
            <a:xfrm>
              <a:off x="1382" y="936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3024" name="Oval 26"/>
            <p:cNvSpPr/>
            <p:nvPr/>
          </p:nvSpPr>
          <p:spPr>
            <a:xfrm rot="10800000">
              <a:off x="1927" y="2070"/>
              <a:ext cx="74" cy="74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3025" name="Line 27"/>
            <p:cNvSpPr/>
            <p:nvPr/>
          </p:nvSpPr>
          <p:spPr>
            <a:xfrm rot="-5400000" flipV="1">
              <a:off x="1360" y="1548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6" name="Oval 28"/>
            <p:cNvSpPr/>
            <p:nvPr/>
          </p:nvSpPr>
          <p:spPr>
            <a:xfrm rot="10800000">
              <a:off x="1927" y="890"/>
              <a:ext cx="74" cy="75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3027" name="Line 29"/>
            <p:cNvSpPr/>
            <p:nvPr/>
          </p:nvSpPr>
          <p:spPr>
            <a:xfrm rot="-5400000" flipV="1">
              <a:off x="1360" y="369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8" name="Line 30"/>
            <p:cNvSpPr/>
            <p:nvPr/>
          </p:nvSpPr>
          <p:spPr>
            <a:xfrm rot="10800000">
              <a:off x="793" y="936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3029" name="Object 31"/>
            <p:cNvGraphicFramePr>
              <a:graphicFrameLocks/>
            </p:cNvGraphicFramePr>
            <p:nvPr/>
          </p:nvGraphicFramePr>
          <p:xfrm>
            <a:off x="839" y="981"/>
            <a:ext cx="193" cy="337"/>
          </p:xfrm>
          <a:graphic>
            <a:graphicData uri="http://schemas.openxmlformats.org/presentationml/2006/ole">
              <p:oleObj spid="_x0000_s57346" r:id="rId8" imgW="104400" imgH="196200" progId="Equation.3">
                <p:embed/>
              </p:oleObj>
            </a:graphicData>
          </a:graphic>
        </p:graphicFrame>
        <p:graphicFrame>
          <p:nvGraphicFramePr>
            <p:cNvPr id="43030" name="Object 32"/>
            <p:cNvGraphicFramePr>
              <a:graphicFrameLocks/>
            </p:cNvGraphicFramePr>
            <p:nvPr/>
          </p:nvGraphicFramePr>
          <p:xfrm>
            <a:off x="1065" y="1344"/>
            <a:ext cx="290" cy="327"/>
          </p:xfrm>
          <a:graphic>
            <a:graphicData uri="http://schemas.openxmlformats.org/presentationml/2006/ole">
              <p:oleObj spid="_x0000_s57345" r:id="rId9" imgW="173880" imgH="196200" progId="Equation.3">
                <p:embed/>
              </p:oleObj>
            </a:graphicData>
          </a:graphic>
        </p:graphicFrame>
        <p:sp>
          <p:nvSpPr>
            <p:cNvPr id="43031" name="Text Box 34"/>
            <p:cNvSpPr txBox="1"/>
            <p:nvPr/>
          </p:nvSpPr>
          <p:spPr>
            <a:xfrm>
              <a:off x="1746" y="1344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</a:p>
          </p:txBody>
        </p:sp>
        <p:sp>
          <p:nvSpPr>
            <p:cNvPr id="43032" name="Text Box 36"/>
            <p:cNvSpPr txBox="1"/>
            <p:nvPr/>
          </p:nvSpPr>
          <p:spPr>
            <a:xfrm>
              <a:off x="1519" y="981"/>
              <a:ext cx="17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</a:p>
          </p:txBody>
        </p:sp>
        <p:sp>
          <p:nvSpPr>
            <p:cNvPr id="43033" name="Text Box 37"/>
            <p:cNvSpPr txBox="1"/>
            <p:nvPr/>
          </p:nvSpPr>
          <p:spPr>
            <a:xfrm rot="10800000">
              <a:off x="1746" y="936"/>
              <a:ext cx="289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3034" name="Text Box 38"/>
            <p:cNvSpPr txBox="1"/>
            <p:nvPr/>
          </p:nvSpPr>
          <p:spPr>
            <a:xfrm>
              <a:off x="1791" y="1707"/>
              <a:ext cx="196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3035" name="Line 39"/>
            <p:cNvSpPr/>
            <p:nvPr/>
          </p:nvSpPr>
          <p:spPr>
            <a:xfrm>
              <a:off x="1519" y="1026"/>
              <a:ext cx="317" cy="0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headEnd type="none" w="med" len="med"/>
              <a:tailEnd type="triangle" w="med" len="med"/>
            </a:ln>
            <a:effectLst>
              <a:prstShdw prst="shdw17" dist="17961" dir="2699999">
                <a:schemeClr val="bg2"/>
              </a:prstShdw>
            </a:effectLst>
          </p:spPr>
        </p:sp>
        <p:sp>
          <p:nvSpPr>
            <p:cNvPr id="43036" name="Line 40"/>
            <p:cNvSpPr/>
            <p:nvPr/>
          </p:nvSpPr>
          <p:spPr>
            <a:xfrm flipV="1">
              <a:off x="793" y="1026"/>
              <a:ext cx="0" cy="272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37" name="Rectangle 41"/>
            <p:cNvSpPr/>
            <p:nvPr/>
          </p:nvSpPr>
          <p:spPr>
            <a:xfrm>
              <a:off x="1337" y="134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43038" name="Group 51"/>
            <p:cNvGrpSpPr/>
            <p:nvPr/>
          </p:nvGrpSpPr>
          <p:grpSpPr>
            <a:xfrm>
              <a:off x="612" y="1299"/>
              <a:ext cx="363" cy="363"/>
              <a:chOff x="612" y="1299"/>
              <a:chExt cx="363" cy="363"/>
            </a:xfrm>
          </p:grpSpPr>
          <p:sp>
            <p:nvSpPr>
              <p:cNvPr id="43039" name="Oval 33"/>
              <p:cNvSpPr/>
              <p:nvPr/>
            </p:nvSpPr>
            <p:spPr>
              <a:xfrm>
                <a:off x="612" y="129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chemeClr val="bg1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3040" name="Line 35"/>
              <p:cNvSpPr/>
              <p:nvPr/>
            </p:nvSpPr>
            <p:spPr>
              <a:xfrm>
                <a:off x="612" y="148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28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5" decel="100000"/>
                                        <p:tgtEl>
                                          <p:spTgt spid="1280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385" decel="100000"/>
                                        <p:tgtEl>
                                          <p:spTgt spid="12801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4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5" dur="385" fill="hold"/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6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7" dur="385" fill="hold"/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8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1000"/>
                                        <p:tgtEl>
                                          <p:spTgt spid="12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8" dur="20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8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28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/>
      <p:bldP spid="128012" grpId="0"/>
      <p:bldP spid="128013" grpId="0" animBg="1"/>
      <p:bldP spid="128014" grpId="0"/>
      <p:bldP spid="1280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468313" y="476250"/>
            <a:ext cx="6192837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电压源和电流源的等效变换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34868" name="Text Box 52"/>
          <p:cNvSpPr txBox="1"/>
          <p:nvPr/>
        </p:nvSpPr>
        <p:spPr>
          <a:xfrm>
            <a:off x="395288" y="1052513"/>
            <a:ext cx="8353425" cy="163036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5715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实际电压源、实际电流源两种模型可以进行等效变换，所谓的等效是指端口的电压、电流在转换过程中保持不变。</a:t>
            </a:r>
          </a:p>
        </p:txBody>
      </p:sp>
      <p:sp>
        <p:nvSpPr>
          <p:cNvPr id="34869" name="Text Box 53"/>
          <p:cNvSpPr txBox="1"/>
          <p:nvPr/>
        </p:nvSpPr>
        <p:spPr>
          <a:xfrm>
            <a:off x="5580063" y="4292600"/>
            <a:ext cx="21590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u=u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S 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 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34870" name="Text Box 54"/>
          <p:cNvSpPr txBox="1"/>
          <p:nvPr/>
        </p:nvSpPr>
        <p:spPr>
          <a:xfrm>
            <a:off x="2195513" y="4581525"/>
            <a:ext cx="23749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 =i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 G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71" name="Text Box 55"/>
          <p:cNvSpPr txBox="1"/>
          <p:nvPr/>
        </p:nvSpPr>
        <p:spPr>
          <a:xfrm>
            <a:off x="5580063" y="4868863"/>
            <a:ext cx="3095625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i = u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/R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– u/R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  <a:endParaRPr lang="en-US" altLang="zh-CN" i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73" name="Text Box 57"/>
          <p:cNvSpPr txBox="1"/>
          <p:nvPr/>
        </p:nvSpPr>
        <p:spPr>
          <a:xfrm>
            <a:off x="1116013" y="5229225"/>
            <a:ext cx="2160587" cy="119062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99FF"/>
              </a:gs>
            </a:gsLst>
            <a:lin ang="2700000" scaled="1"/>
            <a:tileRect/>
          </a:gra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i="1" dirty="0">
                <a:latin typeface="Times New Roman" panose="02020603050405020304" pitchFamily="18" charset="0"/>
              </a:rPr>
              <a:t> i</a:t>
            </a:r>
            <a:r>
              <a:rPr lang="en-US" altLang="zh-CN" sz="3600" baseline="-25000" dirty="0">
                <a:latin typeface="Times New Roman" panose="02020603050405020304" pitchFamily="18" charset="0"/>
              </a:rPr>
              <a:t>S</a:t>
            </a:r>
            <a:r>
              <a:rPr lang="en-US" altLang="zh-CN" sz="3600" i="1" dirty="0">
                <a:latin typeface="Times New Roman" panose="02020603050405020304" pitchFamily="18" charset="0"/>
              </a:rPr>
              <a:t>=u</a:t>
            </a:r>
            <a:r>
              <a:rPr lang="en-US" altLang="zh-CN" sz="3600" baseline="-25000" dirty="0">
                <a:latin typeface="Times New Roman" panose="02020603050405020304" pitchFamily="18" charset="0"/>
              </a:rPr>
              <a:t>S</a:t>
            </a:r>
            <a:r>
              <a:rPr lang="en-US" altLang="zh-CN" sz="3600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3600" i="1" dirty="0">
                <a:latin typeface="Times New Roman" panose="02020603050405020304" pitchFamily="18" charset="0"/>
              </a:rPr>
              <a:t>/R</a:t>
            </a:r>
            <a:r>
              <a:rPr lang="en-US" altLang="zh-CN" sz="3600" baseline="-25000" dirty="0">
                <a:latin typeface="Times New Roman" panose="02020603050405020304" pitchFamily="18" charset="0"/>
              </a:rPr>
              <a:t>S </a:t>
            </a:r>
            <a:r>
              <a:rPr lang="en-US" altLang="zh-CN" sz="3600" i="1" baseline="-25000" dirty="0">
                <a:latin typeface="Times New Roman" panose="02020603050405020304" pitchFamily="18" charset="0"/>
              </a:rPr>
              <a:t>  </a:t>
            </a:r>
            <a:r>
              <a:rPr lang="en-US" altLang="zh-CN" sz="3600" i="1" dirty="0">
                <a:latin typeface="Times New Roman" panose="02020603050405020304" pitchFamily="18" charset="0"/>
              </a:rPr>
              <a:t>   G</a:t>
            </a:r>
            <a:r>
              <a:rPr lang="en-US" altLang="zh-CN" sz="3600" baseline="-25000" dirty="0">
                <a:latin typeface="Times New Roman" panose="02020603050405020304" pitchFamily="18" charset="0"/>
              </a:rPr>
              <a:t>S</a:t>
            </a:r>
            <a:r>
              <a:rPr lang="en-US" altLang="zh-CN" sz="3600" i="1" dirty="0">
                <a:latin typeface="Times New Roman" panose="02020603050405020304" pitchFamily="18" charset="0"/>
              </a:rPr>
              <a:t>=</a:t>
            </a:r>
            <a:r>
              <a:rPr lang="en-US" altLang="zh-CN" sz="3600" dirty="0">
                <a:latin typeface="Times New Roman" panose="02020603050405020304" pitchFamily="18" charset="0"/>
              </a:rPr>
              <a:t>1</a:t>
            </a:r>
            <a:r>
              <a:rPr lang="en-US" altLang="zh-CN" sz="3600" i="1" dirty="0">
                <a:latin typeface="Times New Roman" panose="02020603050405020304" pitchFamily="18" charset="0"/>
              </a:rPr>
              <a:t>/R</a:t>
            </a:r>
            <a:r>
              <a:rPr lang="en-US" altLang="zh-CN" sz="3600" baseline="-25000" dirty="0">
                <a:latin typeface="Times New Roman" panose="02020603050405020304" pitchFamily="18" charset="0"/>
              </a:rPr>
              <a:t>S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34912" name="AutoShape 96" descr="羊皮纸"/>
          <p:cNvSpPr/>
          <p:nvPr/>
        </p:nvSpPr>
        <p:spPr>
          <a:xfrm>
            <a:off x="7451725" y="2708275"/>
            <a:ext cx="1223963" cy="1439863"/>
          </a:xfrm>
          <a:prstGeom prst="wedgeRoundRectCallout">
            <a:avLst>
              <a:gd name="adj1" fmla="val -102269"/>
              <a:gd name="adj2" fmla="val -38977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实际电压源</a:t>
            </a:r>
            <a:endParaRPr lang="zh-CN" altLang="en-US" sz="2800" b="1" dirty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34913" name="AutoShape 97" descr="羊皮纸"/>
          <p:cNvSpPr/>
          <p:nvPr/>
        </p:nvSpPr>
        <p:spPr>
          <a:xfrm>
            <a:off x="3635375" y="2708275"/>
            <a:ext cx="1081088" cy="1512888"/>
          </a:xfrm>
          <a:prstGeom prst="wedgeRoundRectCallout">
            <a:avLst>
              <a:gd name="adj1" fmla="val -109032"/>
              <a:gd name="adj2" fmla="val 2884"/>
              <a:gd name="adj3" fmla="val 16667"/>
            </a:avLst>
          </a:prstGeom>
          <a:blipFill rotWithShape="1">
            <a:blip r:embed="rId2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实际电流源</a:t>
            </a:r>
            <a:endParaRPr lang="zh-CN" altLang="en-US" sz="2800" b="1" dirty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34914" name="Text Box 98"/>
          <p:cNvSpPr txBox="1"/>
          <p:nvPr/>
        </p:nvSpPr>
        <p:spPr>
          <a:xfrm>
            <a:off x="395288" y="4652963"/>
            <a:ext cx="18002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端口特性</a:t>
            </a:r>
          </a:p>
        </p:txBody>
      </p:sp>
      <p:grpSp>
        <p:nvGrpSpPr>
          <p:cNvPr id="44043" name="Group 10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4087" name="Picture 10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88" name="Text Box 10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44044" name="Group 10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4085" name="Picture 10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86" name="Text Box 10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34927" name="Group 111"/>
          <p:cNvGrpSpPr/>
          <p:nvPr/>
        </p:nvGrpSpPr>
        <p:grpSpPr>
          <a:xfrm>
            <a:off x="4932363" y="2349500"/>
            <a:ext cx="2205037" cy="1873250"/>
            <a:chOff x="2816" y="391"/>
            <a:chExt cx="1389" cy="1180"/>
          </a:xfrm>
        </p:grpSpPr>
        <p:sp>
          <p:nvSpPr>
            <p:cNvPr id="44069" name="Oval 112"/>
            <p:cNvSpPr/>
            <p:nvPr/>
          </p:nvSpPr>
          <p:spPr>
            <a:xfrm>
              <a:off x="3107" y="61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4070" name="Text Box 113"/>
            <p:cNvSpPr txBox="1"/>
            <p:nvPr/>
          </p:nvSpPr>
          <p:spPr>
            <a:xfrm>
              <a:off x="3787" y="391"/>
              <a:ext cx="27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4071" name="Text Box 114"/>
            <p:cNvSpPr txBox="1"/>
            <p:nvPr/>
          </p:nvSpPr>
          <p:spPr>
            <a:xfrm>
              <a:off x="2971" y="391"/>
              <a:ext cx="2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4072" name="Text Box 115"/>
            <p:cNvSpPr txBox="1"/>
            <p:nvPr/>
          </p:nvSpPr>
          <p:spPr>
            <a:xfrm>
              <a:off x="2971" y="754"/>
              <a:ext cx="2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4073" name="Text Box 116"/>
            <p:cNvSpPr txBox="1"/>
            <p:nvPr/>
          </p:nvSpPr>
          <p:spPr>
            <a:xfrm>
              <a:off x="2816" y="618"/>
              <a:ext cx="38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4" name="Line 117"/>
            <p:cNvSpPr/>
            <p:nvPr/>
          </p:nvSpPr>
          <p:spPr>
            <a:xfrm>
              <a:off x="3515" y="527"/>
              <a:ext cx="31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75" name="Text Box 118"/>
            <p:cNvSpPr txBox="1"/>
            <p:nvPr/>
          </p:nvSpPr>
          <p:spPr>
            <a:xfrm>
              <a:off x="2880" y="1071"/>
              <a:ext cx="45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6" name="Text Box 119"/>
            <p:cNvSpPr txBox="1"/>
            <p:nvPr/>
          </p:nvSpPr>
          <p:spPr>
            <a:xfrm>
              <a:off x="3878" y="391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7" name="Text Box 120"/>
            <p:cNvSpPr txBox="1"/>
            <p:nvPr/>
          </p:nvSpPr>
          <p:spPr>
            <a:xfrm>
              <a:off x="3878" y="799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8" name="Text Box 121"/>
            <p:cNvSpPr txBox="1"/>
            <p:nvPr/>
          </p:nvSpPr>
          <p:spPr>
            <a:xfrm>
              <a:off x="3878" y="1162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9" name="Line 122"/>
            <p:cNvSpPr/>
            <p:nvPr/>
          </p:nvSpPr>
          <p:spPr>
            <a:xfrm>
              <a:off x="3288" y="1525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0" name="Line 123"/>
            <p:cNvSpPr/>
            <p:nvPr/>
          </p:nvSpPr>
          <p:spPr>
            <a:xfrm>
              <a:off x="3288" y="436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1" name="Line 124"/>
            <p:cNvSpPr/>
            <p:nvPr/>
          </p:nvSpPr>
          <p:spPr>
            <a:xfrm flipV="1">
              <a:off x="3288" y="436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2" name="Rectangle 125"/>
            <p:cNvSpPr/>
            <p:nvPr/>
          </p:nvSpPr>
          <p:spPr>
            <a:xfrm>
              <a:off x="3198" y="107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4083" name="Oval 126"/>
            <p:cNvSpPr/>
            <p:nvPr/>
          </p:nvSpPr>
          <p:spPr>
            <a:xfrm>
              <a:off x="4104" y="391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4084" name="Oval 127"/>
            <p:cNvSpPr/>
            <p:nvPr/>
          </p:nvSpPr>
          <p:spPr>
            <a:xfrm>
              <a:off x="4104" y="148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4970" name="Group 154"/>
          <p:cNvGrpSpPr/>
          <p:nvPr/>
        </p:nvGrpSpPr>
        <p:grpSpPr>
          <a:xfrm>
            <a:off x="539750" y="2492375"/>
            <a:ext cx="2592388" cy="1871663"/>
            <a:chOff x="340" y="1570"/>
            <a:chExt cx="1633" cy="1179"/>
          </a:xfrm>
        </p:grpSpPr>
        <p:sp>
          <p:nvSpPr>
            <p:cNvPr id="44051" name="Text Box 129"/>
            <p:cNvSpPr txBox="1"/>
            <p:nvPr/>
          </p:nvSpPr>
          <p:spPr>
            <a:xfrm>
              <a:off x="1320" y="1570"/>
              <a:ext cx="25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2" name="Text Box 130"/>
            <p:cNvSpPr txBox="1"/>
            <p:nvPr/>
          </p:nvSpPr>
          <p:spPr>
            <a:xfrm>
              <a:off x="1172" y="2069"/>
              <a:ext cx="36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3" name="Text Box 131"/>
            <p:cNvSpPr txBox="1"/>
            <p:nvPr/>
          </p:nvSpPr>
          <p:spPr>
            <a:xfrm>
              <a:off x="1614" y="1842"/>
              <a:ext cx="31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4" name="Text Box 132"/>
            <p:cNvSpPr txBox="1"/>
            <p:nvPr/>
          </p:nvSpPr>
          <p:spPr>
            <a:xfrm>
              <a:off x="1662" y="2114"/>
              <a:ext cx="31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5" name="Text Box 133"/>
            <p:cNvSpPr txBox="1"/>
            <p:nvPr/>
          </p:nvSpPr>
          <p:spPr>
            <a:xfrm>
              <a:off x="1614" y="2341"/>
              <a:ext cx="31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6" name="Line 134"/>
            <p:cNvSpPr/>
            <p:nvPr/>
          </p:nvSpPr>
          <p:spPr>
            <a:xfrm>
              <a:off x="1270" y="1932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57" name="Line 135"/>
            <p:cNvSpPr/>
            <p:nvPr/>
          </p:nvSpPr>
          <p:spPr>
            <a:xfrm>
              <a:off x="1074" y="1887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4058" name="Oval 136"/>
            <p:cNvSpPr/>
            <p:nvPr/>
          </p:nvSpPr>
          <p:spPr>
            <a:xfrm>
              <a:off x="1837" y="1842"/>
              <a:ext cx="98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4059" name="Line 137"/>
            <p:cNvSpPr/>
            <p:nvPr/>
          </p:nvSpPr>
          <p:spPr>
            <a:xfrm>
              <a:off x="521" y="1888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0" name="Line 138"/>
            <p:cNvSpPr/>
            <p:nvPr/>
          </p:nvSpPr>
          <p:spPr>
            <a:xfrm flipV="1">
              <a:off x="521" y="1968"/>
              <a:ext cx="0" cy="28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61" name="Text Box 139"/>
            <p:cNvSpPr txBox="1"/>
            <p:nvPr/>
          </p:nvSpPr>
          <p:spPr>
            <a:xfrm>
              <a:off x="567" y="1888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2" name="Line 140"/>
            <p:cNvSpPr/>
            <p:nvPr/>
          </p:nvSpPr>
          <p:spPr>
            <a:xfrm>
              <a:off x="521" y="2703"/>
              <a:ext cx="1323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3" name="Line 141"/>
            <p:cNvSpPr/>
            <p:nvPr/>
          </p:nvSpPr>
          <p:spPr>
            <a:xfrm flipV="1">
              <a:off x="521" y="1887"/>
              <a:ext cx="132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064" name="Group 142"/>
            <p:cNvGrpSpPr/>
            <p:nvPr/>
          </p:nvGrpSpPr>
          <p:grpSpPr>
            <a:xfrm>
              <a:off x="340" y="2205"/>
              <a:ext cx="392" cy="363"/>
              <a:chOff x="4785" y="709"/>
              <a:chExt cx="363" cy="363"/>
            </a:xfrm>
          </p:grpSpPr>
          <p:sp>
            <p:nvSpPr>
              <p:cNvPr id="44067" name="Oval 14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4068" name="Line 14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4065" name="Oval 145"/>
            <p:cNvSpPr/>
            <p:nvPr/>
          </p:nvSpPr>
          <p:spPr>
            <a:xfrm>
              <a:off x="1837" y="2658"/>
              <a:ext cx="98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4066" name="Rectangle 146"/>
            <p:cNvSpPr/>
            <p:nvPr/>
          </p:nvSpPr>
          <p:spPr>
            <a:xfrm>
              <a:off x="1025" y="2114"/>
              <a:ext cx="13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4963" name="AutoShape 147"/>
          <p:cNvSpPr/>
          <p:nvPr/>
        </p:nvSpPr>
        <p:spPr>
          <a:xfrm>
            <a:off x="3419475" y="5589588"/>
            <a:ext cx="4103688" cy="576262"/>
          </a:xfrm>
          <a:prstGeom prst="leftArrowCallout">
            <a:avLst>
              <a:gd name="adj1" fmla="val 25064"/>
              <a:gd name="adj2" fmla="val 24930"/>
              <a:gd name="adj3" fmla="val 72629"/>
              <a:gd name="adj4" fmla="val 83583"/>
            </a:avLst>
          </a:prstGeom>
          <a:solidFill>
            <a:srgbClr val="3399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比较</a:t>
            </a:r>
            <a:r>
              <a:rPr lang="zh-CN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可</a:t>
            </a:r>
            <a:r>
              <a:rPr lang="zh-CN" altLang="zh-CN" sz="2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得等效条件</a:t>
            </a:r>
            <a:endParaRPr lang="zh-CN" altLang="en-US" sz="2800" b="1" dirty="0">
              <a:solidFill>
                <a:srgbClr val="FFFF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4048" name="Group 151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4049" name="Picture 15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50" name="Text Box 15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"/>
                                        <p:tgtEl>
                                          <p:spTgt spid="34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3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2000"/>
                                        <p:tgtEl>
                                          <p:spTgt spid="34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6" dur="500"/>
                                        <p:tgtEl>
                                          <p:spTgt spid="3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0" dur="1000"/>
                                        <p:tgtEl>
                                          <p:spTgt spid="3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68" grpId="0" build="p"/>
      <p:bldP spid="34869" grpId="0"/>
      <p:bldP spid="34870" grpId="0"/>
      <p:bldP spid="34871" grpId="0"/>
      <p:bldP spid="34873" grpId="0" animBg="1"/>
      <p:bldP spid="34912" grpId="0" animBg="1"/>
      <p:bldP spid="34913" grpId="0" animBg="1"/>
      <p:bldP spid="34914" grpId="0"/>
      <p:bldP spid="3496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/>
          <p:nvPr/>
        </p:nvSpPr>
        <p:spPr>
          <a:xfrm>
            <a:off x="1908175" y="620713"/>
            <a:ext cx="4254500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电压源变换为电流源：</a:t>
            </a:r>
          </a:p>
        </p:txBody>
      </p:sp>
      <p:grpSp>
        <p:nvGrpSpPr>
          <p:cNvPr id="33990" name="Group 198"/>
          <p:cNvGrpSpPr/>
          <p:nvPr/>
        </p:nvGrpSpPr>
        <p:grpSpPr>
          <a:xfrm>
            <a:off x="3924300" y="1412875"/>
            <a:ext cx="1208088" cy="722313"/>
            <a:chOff x="1973" y="845"/>
            <a:chExt cx="761" cy="455"/>
          </a:xfrm>
        </p:grpSpPr>
        <p:sp>
          <p:nvSpPr>
            <p:cNvPr id="45151" name="AutoShape 4"/>
            <p:cNvSpPr/>
            <p:nvPr/>
          </p:nvSpPr>
          <p:spPr>
            <a:xfrm rot="-1136342">
              <a:off x="1980" y="1124"/>
              <a:ext cx="754" cy="176"/>
            </a:xfrm>
            <a:prstGeom prst="rightArrow">
              <a:avLst>
                <a:gd name="adj1" fmla="val 50000"/>
                <a:gd name="adj2" fmla="val 107102"/>
              </a:avLst>
            </a:prstGeom>
            <a:solidFill>
              <a:srgbClr val="3399FF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152" name="Text Box 5"/>
            <p:cNvSpPr txBox="1"/>
            <p:nvPr/>
          </p:nvSpPr>
          <p:spPr>
            <a:xfrm rot="-1136342">
              <a:off x="1973" y="845"/>
              <a:ext cx="6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转换</a:t>
              </a:r>
            </a:p>
          </p:txBody>
        </p:sp>
      </p:grpSp>
      <p:sp>
        <p:nvSpPr>
          <p:cNvPr id="33874" name="Text Box 82"/>
          <p:cNvSpPr txBox="1"/>
          <p:nvPr/>
        </p:nvSpPr>
        <p:spPr>
          <a:xfrm>
            <a:off x="755650" y="3429000"/>
            <a:ext cx="4398963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电流源变换为电压源：</a:t>
            </a:r>
          </a:p>
        </p:txBody>
      </p:sp>
      <p:graphicFrame>
        <p:nvGraphicFramePr>
          <p:cNvPr id="33875" name="Object 83"/>
          <p:cNvGraphicFramePr>
            <a:graphicFrameLocks/>
          </p:cNvGraphicFramePr>
          <p:nvPr/>
        </p:nvGraphicFramePr>
        <p:xfrm>
          <a:off x="5003800" y="2420938"/>
          <a:ext cx="3384550" cy="898525"/>
        </p:xfrm>
        <a:graphic>
          <a:graphicData uri="http://schemas.openxmlformats.org/presentationml/2006/ole">
            <p:oleObj spid="_x0000_s58370" r:id="rId3" imgW="1413720" imgH="357480" progId="Equation.3">
              <p:embed/>
            </p:oleObj>
          </a:graphicData>
        </a:graphic>
      </p:graphicFrame>
      <p:graphicFrame>
        <p:nvGraphicFramePr>
          <p:cNvPr id="33876" name="Object 84"/>
          <p:cNvGraphicFramePr>
            <a:graphicFrameLocks/>
          </p:cNvGraphicFramePr>
          <p:nvPr/>
        </p:nvGraphicFramePr>
        <p:xfrm>
          <a:off x="5076825" y="5445125"/>
          <a:ext cx="3500438" cy="906463"/>
        </p:xfrm>
        <a:graphic>
          <a:graphicData uri="http://schemas.openxmlformats.org/presentationml/2006/ole">
            <p:oleObj spid="_x0000_s58369" r:id="rId4" imgW="1448280" imgH="357480" progId="Equation.3">
              <p:embed/>
            </p:oleObj>
          </a:graphicData>
        </a:graphic>
      </p:graphicFrame>
      <p:grpSp>
        <p:nvGrpSpPr>
          <p:cNvPr id="45063" name="Group 17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5149" name="Picture 17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150" name="Text Box 17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45064" name="Group 174"/>
          <p:cNvGrpSpPr/>
          <p:nvPr/>
        </p:nvGrpSpPr>
        <p:grpSpPr>
          <a:xfrm>
            <a:off x="7451725" y="6446838"/>
            <a:ext cx="792163" cy="366712"/>
            <a:chOff x="4649" y="4020"/>
            <a:chExt cx="499" cy="231"/>
          </a:xfrm>
        </p:grpSpPr>
        <p:pic>
          <p:nvPicPr>
            <p:cNvPr id="45147" name="Picture 175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148" name="Text Box 17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33973" name="Group 181"/>
          <p:cNvGrpSpPr/>
          <p:nvPr/>
        </p:nvGrpSpPr>
        <p:grpSpPr>
          <a:xfrm>
            <a:off x="900113" y="1341438"/>
            <a:ext cx="2205037" cy="1873250"/>
            <a:chOff x="2816" y="391"/>
            <a:chExt cx="1389" cy="1180"/>
          </a:xfrm>
        </p:grpSpPr>
        <p:sp>
          <p:nvSpPr>
            <p:cNvPr id="45131" name="Oval 182"/>
            <p:cNvSpPr/>
            <p:nvPr/>
          </p:nvSpPr>
          <p:spPr>
            <a:xfrm>
              <a:off x="3107" y="61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5132" name="Text Box 183"/>
            <p:cNvSpPr txBox="1"/>
            <p:nvPr/>
          </p:nvSpPr>
          <p:spPr>
            <a:xfrm>
              <a:off x="3787" y="391"/>
              <a:ext cx="27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5133" name="Text Box 184"/>
            <p:cNvSpPr txBox="1"/>
            <p:nvPr/>
          </p:nvSpPr>
          <p:spPr>
            <a:xfrm>
              <a:off x="2971" y="391"/>
              <a:ext cx="2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5134" name="Text Box 185"/>
            <p:cNvSpPr txBox="1"/>
            <p:nvPr/>
          </p:nvSpPr>
          <p:spPr>
            <a:xfrm>
              <a:off x="2971" y="754"/>
              <a:ext cx="2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5135" name="Text Box 186"/>
            <p:cNvSpPr txBox="1"/>
            <p:nvPr/>
          </p:nvSpPr>
          <p:spPr>
            <a:xfrm>
              <a:off x="2816" y="618"/>
              <a:ext cx="38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36" name="Line 187"/>
            <p:cNvSpPr/>
            <p:nvPr/>
          </p:nvSpPr>
          <p:spPr>
            <a:xfrm>
              <a:off x="3515" y="527"/>
              <a:ext cx="31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137" name="Text Box 188"/>
            <p:cNvSpPr txBox="1"/>
            <p:nvPr/>
          </p:nvSpPr>
          <p:spPr>
            <a:xfrm>
              <a:off x="2880" y="1071"/>
              <a:ext cx="45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38" name="Text Box 189"/>
            <p:cNvSpPr txBox="1"/>
            <p:nvPr/>
          </p:nvSpPr>
          <p:spPr>
            <a:xfrm>
              <a:off x="3878" y="391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39" name="Text Box 190"/>
            <p:cNvSpPr txBox="1"/>
            <p:nvPr/>
          </p:nvSpPr>
          <p:spPr>
            <a:xfrm>
              <a:off x="3878" y="799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40" name="Text Box 191"/>
            <p:cNvSpPr txBox="1"/>
            <p:nvPr/>
          </p:nvSpPr>
          <p:spPr>
            <a:xfrm>
              <a:off x="3878" y="1162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41" name="Line 192"/>
            <p:cNvSpPr/>
            <p:nvPr/>
          </p:nvSpPr>
          <p:spPr>
            <a:xfrm>
              <a:off x="3288" y="1525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2" name="Line 193"/>
            <p:cNvSpPr/>
            <p:nvPr/>
          </p:nvSpPr>
          <p:spPr>
            <a:xfrm>
              <a:off x="3288" y="436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3" name="Line 194"/>
            <p:cNvSpPr/>
            <p:nvPr/>
          </p:nvSpPr>
          <p:spPr>
            <a:xfrm flipV="1">
              <a:off x="3288" y="436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4" name="Rectangle 195"/>
            <p:cNvSpPr/>
            <p:nvPr/>
          </p:nvSpPr>
          <p:spPr>
            <a:xfrm>
              <a:off x="3198" y="107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145" name="Oval 196"/>
            <p:cNvSpPr/>
            <p:nvPr/>
          </p:nvSpPr>
          <p:spPr>
            <a:xfrm>
              <a:off x="4104" y="391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146" name="Oval 197"/>
            <p:cNvSpPr/>
            <p:nvPr/>
          </p:nvSpPr>
          <p:spPr>
            <a:xfrm>
              <a:off x="4104" y="148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4029" name="Group 237"/>
          <p:cNvGrpSpPr/>
          <p:nvPr/>
        </p:nvGrpSpPr>
        <p:grpSpPr>
          <a:xfrm rot="1121518">
            <a:off x="3995738" y="4005263"/>
            <a:ext cx="1208087" cy="722312"/>
            <a:chOff x="1973" y="845"/>
            <a:chExt cx="761" cy="455"/>
          </a:xfrm>
        </p:grpSpPr>
        <p:sp>
          <p:nvSpPr>
            <p:cNvPr id="45129" name="AutoShape 238"/>
            <p:cNvSpPr/>
            <p:nvPr/>
          </p:nvSpPr>
          <p:spPr>
            <a:xfrm rot="-1136340">
              <a:off x="1980" y="1124"/>
              <a:ext cx="754" cy="176"/>
            </a:xfrm>
            <a:prstGeom prst="rightArrow">
              <a:avLst>
                <a:gd name="adj1" fmla="val 50000"/>
                <a:gd name="adj2" fmla="val 107102"/>
              </a:avLst>
            </a:prstGeom>
            <a:solidFill>
              <a:srgbClr val="3399FF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130" name="Text Box 239"/>
            <p:cNvSpPr txBox="1"/>
            <p:nvPr/>
          </p:nvSpPr>
          <p:spPr>
            <a:xfrm rot="-1136340">
              <a:off x="1973" y="845"/>
              <a:ext cx="6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转换</a:t>
              </a:r>
            </a:p>
          </p:txBody>
        </p:sp>
      </p:grpSp>
      <p:grpSp>
        <p:nvGrpSpPr>
          <p:cNvPr id="34032" name="Group 240"/>
          <p:cNvGrpSpPr/>
          <p:nvPr/>
        </p:nvGrpSpPr>
        <p:grpSpPr>
          <a:xfrm>
            <a:off x="5435600" y="3429000"/>
            <a:ext cx="2205038" cy="1873250"/>
            <a:chOff x="2816" y="391"/>
            <a:chExt cx="1389" cy="1180"/>
          </a:xfrm>
        </p:grpSpPr>
        <p:sp>
          <p:nvSpPr>
            <p:cNvPr id="45113" name="Oval 241"/>
            <p:cNvSpPr/>
            <p:nvPr/>
          </p:nvSpPr>
          <p:spPr>
            <a:xfrm>
              <a:off x="3107" y="61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5114" name="Text Box 242"/>
            <p:cNvSpPr txBox="1"/>
            <p:nvPr/>
          </p:nvSpPr>
          <p:spPr>
            <a:xfrm>
              <a:off x="3787" y="391"/>
              <a:ext cx="27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5115" name="Text Box 243"/>
            <p:cNvSpPr txBox="1"/>
            <p:nvPr/>
          </p:nvSpPr>
          <p:spPr>
            <a:xfrm>
              <a:off x="2971" y="391"/>
              <a:ext cx="2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5116" name="Text Box 244"/>
            <p:cNvSpPr txBox="1"/>
            <p:nvPr/>
          </p:nvSpPr>
          <p:spPr>
            <a:xfrm>
              <a:off x="2971" y="754"/>
              <a:ext cx="2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5117" name="Text Box 245"/>
            <p:cNvSpPr txBox="1"/>
            <p:nvPr/>
          </p:nvSpPr>
          <p:spPr>
            <a:xfrm>
              <a:off x="2816" y="618"/>
              <a:ext cx="38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18" name="Line 246"/>
            <p:cNvSpPr/>
            <p:nvPr/>
          </p:nvSpPr>
          <p:spPr>
            <a:xfrm>
              <a:off x="3515" y="527"/>
              <a:ext cx="31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119" name="Text Box 247"/>
            <p:cNvSpPr txBox="1"/>
            <p:nvPr/>
          </p:nvSpPr>
          <p:spPr>
            <a:xfrm>
              <a:off x="2880" y="1071"/>
              <a:ext cx="45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20" name="Text Box 248"/>
            <p:cNvSpPr txBox="1"/>
            <p:nvPr/>
          </p:nvSpPr>
          <p:spPr>
            <a:xfrm>
              <a:off x="3878" y="391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21" name="Text Box 249"/>
            <p:cNvSpPr txBox="1"/>
            <p:nvPr/>
          </p:nvSpPr>
          <p:spPr>
            <a:xfrm>
              <a:off x="3878" y="799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22" name="Text Box 250"/>
            <p:cNvSpPr txBox="1"/>
            <p:nvPr/>
          </p:nvSpPr>
          <p:spPr>
            <a:xfrm>
              <a:off x="3878" y="1162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23" name="Line 251"/>
            <p:cNvSpPr/>
            <p:nvPr/>
          </p:nvSpPr>
          <p:spPr>
            <a:xfrm>
              <a:off x="3288" y="1525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24" name="Line 252"/>
            <p:cNvSpPr/>
            <p:nvPr/>
          </p:nvSpPr>
          <p:spPr>
            <a:xfrm>
              <a:off x="3288" y="436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25" name="Line 253"/>
            <p:cNvSpPr/>
            <p:nvPr/>
          </p:nvSpPr>
          <p:spPr>
            <a:xfrm flipV="1">
              <a:off x="3288" y="436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26" name="Rectangle 254"/>
            <p:cNvSpPr/>
            <p:nvPr/>
          </p:nvSpPr>
          <p:spPr>
            <a:xfrm>
              <a:off x="3198" y="107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127" name="Oval 255"/>
            <p:cNvSpPr/>
            <p:nvPr/>
          </p:nvSpPr>
          <p:spPr>
            <a:xfrm>
              <a:off x="4104" y="391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128" name="Oval 256"/>
            <p:cNvSpPr/>
            <p:nvPr/>
          </p:nvSpPr>
          <p:spPr>
            <a:xfrm>
              <a:off x="4104" y="148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4049" name="Group 257"/>
          <p:cNvGrpSpPr/>
          <p:nvPr/>
        </p:nvGrpSpPr>
        <p:grpSpPr>
          <a:xfrm>
            <a:off x="395288" y="476250"/>
            <a:ext cx="1644650" cy="850900"/>
            <a:chOff x="385" y="3022"/>
            <a:chExt cx="1036" cy="536"/>
          </a:xfrm>
        </p:grpSpPr>
        <p:pic>
          <p:nvPicPr>
            <p:cNvPr id="45111" name="Picture 258" descr="1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112" name="Text Box 25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CC6600"/>
                  </a:solidFill>
                  <a:ea typeface="华文行楷" panose="02010800040101010101" pitchFamily="2" charset="-122"/>
                </a:rPr>
                <a:t>小结</a:t>
              </a:r>
            </a:p>
          </p:txBody>
        </p:sp>
      </p:grpSp>
      <p:grpSp>
        <p:nvGrpSpPr>
          <p:cNvPr id="45069" name="Group 26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5109" name="Picture 26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110" name="Text Box 26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grpSp>
        <p:nvGrpSpPr>
          <p:cNvPr id="34058" name="Group 266"/>
          <p:cNvGrpSpPr/>
          <p:nvPr/>
        </p:nvGrpSpPr>
        <p:grpSpPr>
          <a:xfrm>
            <a:off x="5364163" y="333375"/>
            <a:ext cx="2592387" cy="1871663"/>
            <a:chOff x="340" y="1570"/>
            <a:chExt cx="1633" cy="1179"/>
          </a:xfrm>
        </p:grpSpPr>
        <p:sp>
          <p:nvSpPr>
            <p:cNvPr id="45091" name="Text Box 267"/>
            <p:cNvSpPr txBox="1"/>
            <p:nvPr/>
          </p:nvSpPr>
          <p:spPr>
            <a:xfrm>
              <a:off x="1320" y="1570"/>
              <a:ext cx="25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92" name="Text Box 268"/>
            <p:cNvSpPr txBox="1"/>
            <p:nvPr/>
          </p:nvSpPr>
          <p:spPr>
            <a:xfrm>
              <a:off x="1172" y="2069"/>
              <a:ext cx="36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93" name="Text Box 269"/>
            <p:cNvSpPr txBox="1"/>
            <p:nvPr/>
          </p:nvSpPr>
          <p:spPr>
            <a:xfrm>
              <a:off x="1614" y="1842"/>
              <a:ext cx="31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94" name="Text Box 270"/>
            <p:cNvSpPr txBox="1"/>
            <p:nvPr/>
          </p:nvSpPr>
          <p:spPr>
            <a:xfrm>
              <a:off x="1662" y="2114"/>
              <a:ext cx="31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95" name="Text Box 271"/>
            <p:cNvSpPr txBox="1"/>
            <p:nvPr/>
          </p:nvSpPr>
          <p:spPr>
            <a:xfrm>
              <a:off x="1614" y="2341"/>
              <a:ext cx="31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96" name="Line 272"/>
            <p:cNvSpPr/>
            <p:nvPr/>
          </p:nvSpPr>
          <p:spPr>
            <a:xfrm>
              <a:off x="1270" y="1932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97" name="Line 273"/>
            <p:cNvSpPr/>
            <p:nvPr/>
          </p:nvSpPr>
          <p:spPr>
            <a:xfrm>
              <a:off x="1074" y="1887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5098" name="Oval 274"/>
            <p:cNvSpPr/>
            <p:nvPr/>
          </p:nvSpPr>
          <p:spPr>
            <a:xfrm>
              <a:off x="1837" y="1842"/>
              <a:ext cx="98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099" name="Line 275"/>
            <p:cNvSpPr/>
            <p:nvPr/>
          </p:nvSpPr>
          <p:spPr>
            <a:xfrm>
              <a:off x="521" y="1888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0" name="Line 276"/>
            <p:cNvSpPr/>
            <p:nvPr/>
          </p:nvSpPr>
          <p:spPr>
            <a:xfrm flipV="1">
              <a:off x="521" y="1968"/>
              <a:ext cx="0" cy="28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101" name="Text Box 277"/>
            <p:cNvSpPr txBox="1"/>
            <p:nvPr/>
          </p:nvSpPr>
          <p:spPr>
            <a:xfrm>
              <a:off x="567" y="1888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02" name="Line 278"/>
            <p:cNvSpPr/>
            <p:nvPr/>
          </p:nvSpPr>
          <p:spPr>
            <a:xfrm>
              <a:off x="521" y="2703"/>
              <a:ext cx="1323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3" name="Line 279"/>
            <p:cNvSpPr/>
            <p:nvPr/>
          </p:nvSpPr>
          <p:spPr>
            <a:xfrm flipV="1">
              <a:off x="521" y="1887"/>
              <a:ext cx="132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5104" name="Group 280"/>
            <p:cNvGrpSpPr/>
            <p:nvPr/>
          </p:nvGrpSpPr>
          <p:grpSpPr>
            <a:xfrm>
              <a:off x="340" y="2205"/>
              <a:ext cx="392" cy="363"/>
              <a:chOff x="4785" y="709"/>
              <a:chExt cx="363" cy="363"/>
            </a:xfrm>
          </p:grpSpPr>
          <p:sp>
            <p:nvSpPr>
              <p:cNvPr id="45107" name="Oval 281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5108" name="Line 282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5105" name="Oval 283"/>
            <p:cNvSpPr/>
            <p:nvPr/>
          </p:nvSpPr>
          <p:spPr>
            <a:xfrm>
              <a:off x="1837" y="2658"/>
              <a:ext cx="98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106" name="Rectangle 284"/>
            <p:cNvSpPr/>
            <p:nvPr/>
          </p:nvSpPr>
          <p:spPr>
            <a:xfrm>
              <a:off x="1025" y="2114"/>
              <a:ext cx="13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4077" name="Group 285"/>
          <p:cNvGrpSpPr/>
          <p:nvPr/>
        </p:nvGrpSpPr>
        <p:grpSpPr>
          <a:xfrm>
            <a:off x="971550" y="3860800"/>
            <a:ext cx="2592388" cy="1871663"/>
            <a:chOff x="340" y="1570"/>
            <a:chExt cx="1633" cy="1179"/>
          </a:xfrm>
        </p:grpSpPr>
        <p:sp>
          <p:nvSpPr>
            <p:cNvPr id="45073" name="Text Box 286"/>
            <p:cNvSpPr txBox="1"/>
            <p:nvPr/>
          </p:nvSpPr>
          <p:spPr>
            <a:xfrm>
              <a:off x="1320" y="1570"/>
              <a:ext cx="25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74" name="Text Box 287"/>
            <p:cNvSpPr txBox="1"/>
            <p:nvPr/>
          </p:nvSpPr>
          <p:spPr>
            <a:xfrm>
              <a:off x="1172" y="2069"/>
              <a:ext cx="36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75" name="Text Box 288"/>
            <p:cNvSpPr txBox="1"/>
            <p:nvPr/>
          </p:nvSpPr>
          <p:spPr>
            <a:xfrm>
              <a:off x="1614" y="1842"/>
              <a:ext cx="31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76" name="Text Box 289"/>
            <p:cNvSpPr txBox="1"/>
            <p:nvPr/>
          </p:nvSpPr>
          <p:spPr>
            <a:xfrm>
              <a:off x="1662" y="2114"/>
              <a:ext cx="31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77" name="Text Box 290"/>
            <p:cNvSpPr txBox="1"/>
            <p:nvPr/>
          </p:nvSpPr>
          <p:spPr>
            <a:xfrm>
              <a:off x="1614" y="2341"/>
              <a:ext cx="31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78" name="Line 291"/>
            <p:cNvSpPr/>
            <p:nvPr/>
          </p:nvSpPr>
          <p:spPr>
            <a:xfrm>
              <a:off x="1270" y="1932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79" name="Line 292"/>
            <p:cNvSpPr/>
            <p:nvPr/>
          </p:nvSpPr>
          <p:spPr>
            <a:xfrm>
              <a:off x="1074" y="1887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5080" name="Oval 293"/>
            <p:cNvSpPr/>
            <p:nvPr/>
          </p:nvSpPr>
          <p:spPr>
            <a:xfrm>
              <a:off x="1837" y="1842"/>
              <a:ext cx="98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081" name="Line 294"/>
            <p:cNvSpPr/>
            <p:nvPr/>
          </p:nvSpPr>
          <p:spPr>
            <a:xfrm>
              <a:off x="521" y="1888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2" name="Line 295"/>
            <p:cNvSpPr/>
            <p:nvPr/>
          </p:nvSpPr>
          <p:spPr>
            <a:xfrm flipV="1">
              <a:off x="521" y="1968"/>
              <a:ext cx="0" cy="28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83" name="Text Box 296"/>
            <p:cNvSpPr txBox="1"/>
            <p:nvPr/>
          </p:nvSpPr>
          <p:spPr>
            <a:xfrm>
              <a:off x="567" y="1888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84" name="Line 297"/>
            <p:cNvSpPr/>
            <p:nvPr/>
          </p:nvSpPr>
          <p:spPr>
            <a:xfrm>
              <a:off x="521" y="2703"/>
              <a:ext cx="1323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5" name="Line 298"/>
            <p:cNvSpPr/>
            <p:nvPr/>
          </p:nvSpPr>
          <p:spPr>
            <a:xfrm flipV="1">
              <a:off x="521" y="1887"/>
              <a:ext cx="132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5086" name="Group 299"/>
            <p:cNvGrpSpPr/>
            <p:nvPr/>
          </p:nvGrpSpPr>
          <p:grpSpPr>
            <a:xfrm>
              <a:off x="340" y="2205"/>
              <a:ext cx="392" cy="363"/>
              <a:chOff x="4785" y="709"/>
              <a:chExt cx="363" cy="363"/>
            </a:xfrm>
          </p:grpSpPr>
          <p:sp>
            <p:nvSpPr>
              <p:cNvPr id="45089" name="Oval 30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5090" name="Line 30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5087" name="Oval 302"/>
            <p:cNvSpPr/>
            <p:nvPr/>
          </p:nvSpPr>
          <p:spPr>
            <a:xfrm>
              <a:off x="1837" y="2658"/>
              <a:ext cx="98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088" name="Rectangle 303"/>
            <p:cNvSpPr/>
            <p:nvPr/>
          </p:nvSpPr>
          <p:spPr>
            <a:xfrm>
              <a:off x="1025" y="2114"/>
              <a:ext cx="13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45072" name="文本框 1"/>
          <p:cNvSpPr txBox="1"/>
          <p:nvPr/>
        </p:nvSpPr>
        <p:spPr>
          <a:xfrm>
            <a:off x="755650" y="6099175"/>
            <a:ext cx="3271838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b="1" dirty="0">
                <a:latin typeface="迷你简新舒体" pitchFamily="65" charset="-122"/>
                <a:ea typeface="迷你简新舒体" pitchFamily="65" charset="-122"/>
              </a:rPr>
              <a:t>“并流串压”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1000"/>
                                        <p:tgtEl>
                                          <p:spTgt spid="3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87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91" name="Group 223"/>
          <p:cNvGrpSpPr/>
          <p:nvPr/>
        </p:nvGrpSpPr>
        <p:grpSpPr>
          <a:xfrm>
            <a:off x="5580063" y="404813"/>
            <a:ext cx="2592387" cy="1871662"/>
            <a:chOff x="340" y="1570"/>
            <a:chExt cx="1633" cy="1179"/>
          </a:xfrm>
        </p:grpSpPr>
        <p:sp>
          <p:nvSpPr>
            <p:cNvPr id="46143" name="Text Box 224"/>
            <p:cNvSpPr txBox="1"/>
            <p:nvPr/>
          </p:nvSpPr>
          <p:spPr>
            <a:xfrm>
              <a:off x="1320" y="1570"/>
              <a:ext cx="25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44" name="Text Box 225"/>
            <p:cNvSpPr txBox="1"/>
            <p:nvPr/>
          </p:nvSpPr>
          <p:spPr>
            <a:xfrm>
              <a:off x="1172" y="2069"/>
              <a:ext cx="36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45" name="Text Box 226"/>
            <p:cNvSpPr txBox="1"/>
            <p:nvPr/>
          </p:nvSpPr>
          <p:spPr>
            <a:xfrm>
              <a:off x="1614" y="1842"/>
              <a:ext cx="31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46" name="Text Box 227"/>
            <p:cNvSpPr txBox="1"/>
            <p:nvPr/>
          </p:nvSpPr>
          <p:spPr>
            <a:xfrm>
              <a:off x="1662" y="2114"/>
              <a:ext cx="31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47" name="Text Box 228"/>
            <p:cNvSpPr txBox="1"/>
            <p:nvPr/>
          </p:nvSpPr>
          <p:spPr>
            <a:xfrm>
              <a:off x="1614" y="2341"/>
              <a:ext cx="31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48" name="Line 229"/>
            <p:cNvSpPr/>
            <p:nvPr/>
          </p:nvSpPr>
          <p:spPr>
            <a:xfrm>
              <a:off x="1270" y="1932"/>
              <a:ext cx="36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149" name="Line 230"/>
            <p:cNvSpPr/>
            <p:nvPr/>
          </p:nvSpPr>
          <p:spPr>
            <a:xfrm>
              <a:off x="1074" y="1887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6150" name="Oval 231"/>
            <p:cNvSpPr/>
            <p:nvPr/>
          </p:nvSpPr>
          <p:spPr>
            <a:xfrm>
              <a:off x="1837" y="1842"/>
              <a:ext cx="98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6151" name="Line 232"/>
            <p:cNvSpPr/>
            <p:nvPr/>
          </p:nvSpPr>
          <p:spPr>
            <a:xfrm>
              <a:off x="521" y="1888"/>
              <a:ext cx="0" cy="8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52" name="Line 233"/>
            <p:cNvSpPr/>
            <p:nvPr/>
          </p:nvSpPr>
          <p:spPr>
            <a:xfrm flipV="1">
              <a:off x="521" y="1968"/>
              <a:ext cx="0" cy="283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153" name="Text Box 234"/>
            <p:cNvSpPr txBox="1"/>
            <p:nvPr/>
          </p:nvSpPr>
          <p:spPr>
            <a:xfrm>
              <a:off x="567" y="1888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54" name="Line 235"/>
            <p:cNvSpPr/>
            <p:nvPr/>
          </p:nvSpPr>
          <p:spPr>
            <a:xfrm>
              <a:off x="521" y="2703"/>
              <a:ext cx="1323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55" name="Line 236"/>
            <p:cNvSpPr/>
            <p:nvPr/>
          </p:nvSpPr>
          <p:spPr>
            <a:xfrm flipV="1">
              <a:off x="521" y="1887"/>
              <a:ext cx="132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6156" name="Group 237"/>
            <p:cNvGrpSpPr/>
            <p:nvPr/>
          </p:nvGrpSpPr>
          <p:grpSpPr>
            <a:xfrm>
              <a:off x="340" y="2205"/>
              <a:ext cx="392" cy="363"/>
              <a:chOff x="4785" y="709"/>
              <a:chExt cx="363" cy="363"/>
            </a:xfrm>
          </p:grpSpPr>
          <p:sp>
            <p:nvSpPr>
              <p:cNvPr id="46159" name="Oval 238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6160" name="Line 239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6157" name="Oval 240"/>
            <p:cNvSpPr/>
            <p:nvPr/>
          </p:nvSpPr>
          <p:spPr>
            <a:xfrm>
              <a:off x="1837" y="2658"/>
              <a:ext cx="98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6158" name="Rectangle 241"/>
            <p:cNvSpPr/>
            <p:nvPr/>
          </p:nvSpPr>
          <p:spPr>
            <a:xfrm>
              <a:off x="1025" y="2114"/>
              <a:ext cx="13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2770" name="Text Box 2"/>
          <p:cNvSpPr txBox="1"/>
          <p:nvPr/>
        </p:nvSpPr>
        <p:spPr>
          <a:xfrm>
            <a:off x="503238" y="2997200"/>
            <a:ext cx="8532812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 startAt="2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等效是对外部电路等效，对内部电路是不等效的。</a:t>
            </a:r>
          </a:p>
        </p:txBody>
      </p:sp>
      <p:sp>
        <p:nvSpPr>
          <p:cNvPr id="32772" name="Rectangle 4"/>
          <p:cNvSpPr/>
          <p:nvPr/>
        </p:nvSpPr>
        <p:spPr>
          <a:xfrm>
            <a:off x="1858963" y="4149725"/>
            <a:ext cx="5376862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电流源开路， </a:t>
            </a:r>
            <a:r>
              <a: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上有电流流过。</a:t>
            </a:r>
          </a:p>
        </p:txBody>
      </p:sp>
      <p:sp>
        <p:nvSpPr>
          <p:cNvPr id="32773" name="Rectangle 5"/>
          <p:cNvSpPr/>
          <p:nvPr/>
        </p:nvSpPr>
        <p:spPr>
          <a:xfrm>
            <a:off x="1901825" y="5229225"/>
            <a:ext cx="4686300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电流源短路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,  </a:t>
            </a:r>
            <a:r>
              <a: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上无电流。</a:t>
            </a:r>
          </a:p>
        </p:txBody>
      </p:sp>
      <p:sp>
        <p:nvSpPr>
          <p:cNvPr id="32774" name="Rectangle 6"/>
          <p:cNvSpPr/>
          <p:nvPr/>
        </p:nvSpPr>
        <p:spPr>
          <a:xfrm>
            <a:off x="1547813" y="4652963"/>
            <a:ext cx="4967287" cy="5191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电压源短路， </a:t>
            </a:r>
            <a:r>
              <a: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上有电流；</a:t>
            </a:r>
          </a:p>
        </p:txBody>
      </p:sp>
      <p:sp>
        <p:nvSpPr>
          <p:cNvPr id="32775" name="Rectangle 7"/>
          <p:cNvSpPr/>
          <p:nvPr/>
        </p:nvSpPr>
        <p:spPr>
          <a:xfrm>
            <a:off x="1331913" y="3573463"/>
            <a:ext cx="6408737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电压源开路， </a:t>
            </a:r>
            <a:r>
              <a:rPr lang="en-US" altLang="zh-CN" sz="2800" i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上无电流流过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2776" name="Group 8"/>
          <p:cNvGrpSpPr/>
          <p:nvPr/>
        </p:nvGrpSpPr>
        <p:grpSpPr>
          <a:xfrm>
            <a:off x="6227763" y="1052513"/>
            <a:ext cx="381000" cy="914400"/>
            <a:chOff x="876" y="3312"/>
            <a:chExt cx="240" cy="576"/>
          </a:xfrm>
        </p:grpSpPr>
        <p:sp>
          <p:nvSpPr>
            <p:cNvPr id="46141" name="Oval 9"/>
            <p:cNvSpPr/>
            <p:nvPr/>
          </p:nvSpPr>
          <p:spPr>
            <a:xfrm>
              <a:off x="876" y="3312"/>
              <a:ext cx="240" cy="576"/>
            </a:xfrm>
            <a:prstGeom prst="ellipse">
              <a:avLst/>
            </a:prstGeom>
            <a:noFill/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400" b="1" i="1" baseline="-25000" dirty="0">
                  <a:solidFill>
                    <a:srgbClr val="FFFF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</a:t>
              </a:r>
              <a:endParaRPr lang="en-US" altLang="zh-CN" sz="2400" b="1" dirty="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6142" name="Line 10"/>
            <p:cNvSpPr/>
            <p:nvPr/>
          </p:nvSpPr>
          <p:spPr>
            <a:xfrm>
              <a:off x="1116" y="3564"/>
              <a:ext cx="0" cy="96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2779" name="Text Box 11"/>
          <p:cNvSpPr txBox="1"/>
          <p:nvPr/>
        </p:nvSpPr>
        <p:spPr>
          <a:xfrm>
            <a:off x="623888" y="5734050"/>
            <a:ext cx="7620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 startAt="3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理想电压源与理想电流源不能相互转换。</a:t>
            </a:r>
          </a:p>
        </p:txBody>
      </p:sp>
      <p:sp>
        <p:nvSpPr>
          <p:cNvPr id="32819" name="Text Box 51"/>
          <p:cNvSpPr txBox="1"/>
          <p:nvPr/>
        </p:nvSpPr>
        <p:spPr>
          <a:xfrm>
            <a:off x="468313" y="1412875"/>
            <a:ext cx="26638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AutoNum type="circleNumDbPlain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变换关系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2823" name="Group 55"/>
          <p:cNvGrpSpPr/>
          <p:nvPr/>
        </p:nvGrpSpPr>
        <p:grpSpPr>
          <a:xfrm>
            <a:off x="6249988" y="1052513"/>
            <a:ext cx="1562100" cy="969962"/>
            <a:chOff x="4589" y="3168"/>
            <a:chExt cx="984" cy="611"/>
          </a:xfrm>
        </p:grpSpPr>
        <p:sp>
          <p:nvSpPr>
            <p:cNvPr id="46139" name="Oval 56"/>
            <p:cNvSpPr/>
            <p:nvPr/>
          </p:nvSpPr>
          <p:spPr>
            <a:xfrm>
              <a:off x="4589" y="3168"/>
              <a:ext cx="984" cy="611"/>
            </a:xfrm>
            <a:prstGeom prst="ellipse">
              <a:avLst/>
            </a:prstGeom>
            <a:noFill/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</a:t>
              </a: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      </a:t>
              </a:r>
              <a:r>
                <a:rPr lang="en-US" altLang="zh-CN" sz="2400" b="1" i="1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400" b="1" i="1" baseline="-250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</a:t>
              </a: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 </a:t>
              </a:r>
              <a:endPara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40" name="Line 57"/>
            <p:cNvSpPr/>
            <p:nvPr/>
          </p:nvSpPr>
          <p:spPr>
            <a:xfrm flipH="1">
              <a:off x="5009" y="3779"/>
              <a:ext cx="227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2826" name="Group 58"/>
          <p:cNvGrpSpPr/>
          <p:nvPr/>
        </p:nvGrpSpPr>
        <p:grpSpPr>
          <a:xfrm>
            <a:off x="3851275" y="908050"/>
            <a:ext cx="647700" cy="1333500"/>
            <a:chOff x="4992" y="2797"/>
            <a:chExt cx="408" cy="840"/>
          </a:xfrm>
        </p:grpSpPr>
        <p:sp>
          <p:nvSpPr>
            <p:cNvPr id="46136" name="Oval 59"/>
            <p:cNvSpPr/>
            <p:nvPr/>
          </p:nvSpPr>
          <p:spPr>
            <a:xfrm>
              <a:off x="4992" y="2797"/>
              <a:ext cx="408" cy="840"/>
            </a:xfrm>
            <a:prstGeom prst="ellipse">
              <a:avLst/>
            </a:prstGeom>
            <a:noFill/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6137" name="Line 60"/>
            <p:cNvSpPr/>
            <p:nvPr/>
          </p:nvSpPr>
          <p:spPr>
            <a:xfrm>
              <a:off x="5400" y="3101"/>
              <a:ext cx="0" cy="26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138" name="Text Box 61"/>
            <p:cNvSpPr txBox="1"/>
            <p:nvPr/>
          </p:nvSpPr>
          <p:spPr>
            <a:xfrm>
              <a:off x="5112" y="3058"/>
              <a:ext cx="1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 i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30" name="Group 62"/>
          <p:cNvGrpSpPr/>
          <p:nvPr/>
        </p:nvGrpSpPr>
        <p:grpSpPr>
          <a:xfrm>
            <a:off x="4932363" y="692150"/>
            <a:ext cx="355600" cy="1728788"/>
            <a:chOff x="2064" y="444"/>
            <a:chExt cx="224" cy="1055"/>
          </a:xfrm>
        </p:grpSpPr>
        <p:sp>
          <p:nvSpPr>
            <p:cNvPr id="46133" name="Line 63"/>
            <p:cNvSpPr/>
            <p:nvPr/>
          </p:nvSpPr>
          <p:spPr>
            <a:xfrm>
              <a:off x="2288" y="444"/>
              <a:ext cx="0" cy="1055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4" name="Line 64"/>
            <p:cNvSpPr/>
            <p:nvPr/>
          </p:nvSpPr>
          <p:spPr>
            <a:xfrm>
              <a:off x="2064" y="444"/>
              <a:ext cx="22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5" name="Line 65"/>
            <p:cNvSpPr/>
            <p:nvPr/>
          </p:nvSpPr>
          <p:spPr>
            <a:xfrm>
              <a:off x="2064" y="1488"/>
              <a:ext cx="22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2834" name="Group 66"/>
          <p:cNvGrpSpPr/>
          <p:nvPr/>
        </p:nvGrpSpPr>
        <p:grpSpPr>
          <a:xfrm>
            <a:off x="8027988" y="908050"/>
            <a:ext cx="361950" cy="1295400"/>
            <a:chOff x="4608" y="528"/>
            <a:chExt cx="228" cy="816"/>
          </a:xfrm>
        </p:grpSpPr>
        <p:sp>
          <p:nvSpPr>
            <p:cNvPr id="46130" name="Line 67"/>
            <p:cNvSpPr/>
            <p:nvPr/>
          </p:nvSpPr>
          <p:spPr>
            <a:xfrm>
              <a:off x="4836" y="528"/>
              <a:ext cx="0" cy="81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1" name="Line 68"/>
            <p:cNvSpPr/>
            <p:nvPr/>
          </p:nvSpPr>
          <p:spPr>
            <a:xfrm>
              <a:off x="4608" y="528"/>
              <a:ext cx="22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2" name="Line 69"/>
            <p:cNvSpPr/>
            <p:nvPr/>
          </p:nvSpPr>
          <p:spPr>
            <a:xfrm>
              <a:off x="4608" y="1344"/>
              <a:ext cx="22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875" name="Text Box 107"/>
          <p:cNvSpPr txBox="1"/>
          <p:nvPr/>
        </p:nvSpPr>
        <p:spPr>
          <a:xfrm>
            <a:off x="611188" y="4000500"/>
            <a:ext cx="504825" cy="1373188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bg1"/>
                </a:solidFill>
                <a:ea typeface="楷体_GB2312" pitchFamily="49" charset="-122"/>
              </a:rPr>
              <a:t>表现在</a:t>
            </a:r>
          </a:p>
        </p:txBody>
      </p:sp>
      <p:grpSp>
        <p:nvGrpSpPr>
          <p:cNvPr id="46096" name="Group 11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6128" name="Picture 112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129" name="Text Box 11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46097" name="Group 11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6126" name="Picture 11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127" name="Text Box 11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32888" name="Group 120"/>
          <p:cNvGrpSpPr/>
          <p:nvPr/>
        </p:nvGrpSpPr>
        <p:grpSpPr>
          <a:xfrm>
            <a:off x="395288" y="476250"/>
            <a:ext cx="1644650" cy="850900"/>
            <a:chOff x="385" y="3022"/>
            <a:chExt cx="1036" cy="536"/>
          </a:xfrm>
        </p:grpSpPr>
        <p:pic>
          <p:nvPicPr>
            <p:cNvPr id="46124" name="Picture 121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125" name="Text Box 122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</a:p>
          </p:txBody>
        </p:sp>
      </p:grpSp>
      <p:grpSp>
        <p:nvGrpSpPr>
          <p:cNvPr id="32927" name="Group 159"/>
          <p:cNvGrpSpPr/>
          <p:nvPr/>
        </p:nvGrpSpPr>
        <p:grpSpPr>
          <a:xfrm>
            <a:off x="2771775" y="620713"/>
            <a:ext cx="2205038" cy="1873250"/>
            <a:chOff x="2816" y="391"/>
            <a:chExt cx="1389" cy="1180"/>
          </a:xfrm>
        </p:grpSpPr>
        <p:sp>
          <p:nvSpPr>
            <p:cNvPr id="46108" name="Oval 160"/>
            <p:cNvSpPr/>
            <p:nvPr/>
          </p:nvSpPr>
          <p:spPr>
            <a:xfrm>
              <a:off x="3107" y="61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6109" name="Text Box 161"/>
            <p:cNvSpPr txBox="1"/>
            <p:nvPr/>
          </p:nvSpPr>
          <p:spPr>
            <a:xfrm>
              <a:off x="3787" y="391"/>
              <a:ext cx="27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6110" name="Text Box 162"/>
            <p:cNvSpPr txBox="1"/>
            <p:nvPr/>
          </p:nvSpPr>
          <p:spPr>
            <a:xfrm>
              <a:off x="2971" y="391"/>
              <a:ext cx="2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6111" name="Text Box 163"/>
            <p:cNvSpPr txBox="1"/>
            <p:nvPr/>
          </p:nvSpPr>
          <p:spPr>
            <a:xfrm>
              <a:off x="2971" y="754"/>
              <a:ext cx="2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6112" name="Text Box 164"/>
            <p:cNvSpPr txBox="1"/>
            <p:nvPr/>
          </p:nvSpPr>
          <p:spPr>
            <a:xfrm>
              <a:off x="2816" y="618"/>
              <a:ext cx="38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13" name="Line 165"/>
            <p:cNvSpPr/>
            <p:nvPr/>
          </p:nvSpPr>
          <p:spPr>
            <a:xfrm>
              <a:off x="3515" y="527"/>
              <a:ext cx="31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114" name="Text Box 166"/>
            <p:cNvSpPr txBox="1"/>
            <p:nvPr/>
          </p:nvSpPr>
          <p:spPr>
            <a:xfrm>
              <a:off x="2880" y="1071"/>
              <a:ext cx="45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15" name="Text Box 167"/>
            <p:cNvSpPr txBox="1"/>
            <p:nvPr/>
          </p:nvSpPr>
          <p:spPr>
            <a:xfrm>
              <a:off x="3878" y="391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16" name="Text Box 168"/>
            <p:cNvSpPr txBox="1"/>
            <p:nvPr/>
          </p:nvSpPr>
          <p:spPr>
            <a:xfrm>
              <a:off x="3878" y="799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17" name="Text Box 169"/>
            <p:cNvSpPr txBox="1"/>
            <p:nvPr/>
          </p:nvSpPr>
          <p:spPr>
            <a:xfrm>
              <a:off x="3878" y="1162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18" name="Line 170"/>
            <p:cNvSpPr/>
            <p:nvPr/>
          </p:nvSpPr>
          <p:spPr>
            <a:xfrm>
              <a:off x="3288" y="1525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9" name="Line 171"/>
            <p:cNvSpPr/>
            <p:nvPr/>
          </p:nvSpPr>
          <p:spPr>
            <a:xfrm>
              <a:off x="3288" y="436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0" name="Line 172"/>
            <p:cNvSpPr/>
            <p:nvPr/>
          </p:nvSpPr>
          <p:spPr>
            <a:xfrm flipV="1">
              <a:off x="3288" y="436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1" name="Rectangle 173"/>
            <p:cNvSpPr/>
            <p:nvPr/>
          </p:nvSpPr>
          <p:spPr>
            <a:xfrm>
              <a:off x="3198" y="107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6122" name="Oval 174"/>
            <p:cNvSpPr/>
            <p:nvPr/>
          </p:nvSpPr>
          <p:spPr>
            <a:xfrm>
              <a:off x="4104" y="391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6123" name="Oval 175"/>
            <p:cNvSpPr/>
            <p:nvPr/>
          </p:nvSpPr>
          <p:spPr>
            <a:xfrm>
              <a:off x="4104" y="148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2964" name="Group 196"/>
          <p:cNvGrpSpPr/>
          <p:nvPr/>
        </p:nvGrpSpPr>
        <p:grpSpPr>
          <a:xfrm>
            <a:off x="611188" y="2060575"/>
            <a:ext cx="8137525" cy="950913"/>
            <a:chOff x="476" y="754"/>
            <a:chExt cx="5126" cy="599"/>
          </a:xfrm>
        </p:grpSpPr>
        <p:sp>
          <p:nvSpPr>
            <p:cNvPr id="46105" name="Rectangle 50"/>
            <p:cNvSpPr/>
            <p:nvPr/>
          </p:nvSpPr>
          <p:spPr>
            <a:xfrm>
              <a:off x="521" y="1026"/>
              <a:ext cx="50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方向：电流源电流方向与电压源电压方向相反。</a:t>
              </a:r>
            </a:p>
          </p:txBody>
        </p:sp>
        <p:sp>
          <p:nvSpPr>
            <p:cNvPr id="46106" name="Text Box 52"/>
            <p:cNvSpPr txBox="1"/>
            <p:nvPr/>
          </p:nvSpPr>
          <p:spPr>
            <a:xfrm>
              <a:off x="521" y="754"/>
              <a:ext cx="1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latin typeface="楷体_GB2312" pitchFamily="49" charset="-122"/>
                  <a:ea typeface="楷体_GB2312" pitchFamily="49" charset="-122"/>
                </a:rPr>
                <a:t>数值关系</a:t>
              </a:r>
            </a:p>
          </p:txBody>
        </p:sp>
        <p:sp>
          <p:nvSpPr>
            <p:cNvPr id="46107" name="AutoShape 195"/>
            <p:cNvSpPr/>
            <p:nvPr/>
          </p:nvSpPr>
          <p:spPr>
            <a:xfrm>
              <a:off x="476" y="845"/>
              <a:ext cx="45" cy="453"/>
            </a:xfrm>
            <a:prstGeom prst="leftBrace">
              <a:avLst>
                <a:gd name="adj1" fmla="val 83888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2965" name="AutoShape 197"/>
          <p:cNvSpPr/>
          <p:nvPr/>
        </p:nvSpPr>
        <p:spPr>
          <a:xfrm>
            <a:off x="1331913" y="3573463"/>
            <a:ext cx="287337" cy="2087562"/>
          </a:xfrm>
          <a:prstGeom prst="leftBrace">
            <a:avLst>
              <a:gd name="adj1" fmla="val 60543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46102" name="Group 201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6103" name="Picture 202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104" name="Text Box 20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7" dur="2000"/>
                                        <p:tgtEl>
                                          <p:spTgt spid="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0" dur="2000"/>
                                        <p:tgtEl>
                                          <p:spTgt spid="3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2" grpId="0"/>
      <p:bldP spid="32773" grpId="0"/>
      <p:bldP spid="32774" grpId="0"/>
      <p:bldP spid="32775" grpId="0"/>
      <p:bldP spid="32779" grpId="0"/>
      <p:bldP spid="32819" grpId="0"/>
      <p:bldP spid="32875" grpId="0" animBg="1"/>
      <p:bldP spid="3296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/>
          <p:nvPr/>
        </p:nvSpPr>
        <p:spPr>
          <a:xfrm>
            <a:off x="1385888" y="476250"/>
            <a:ext cx="5491162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利用电源转换简化电路计算</a:t>
            </a:r>
          </a:p>
        </p:txBody>
      </p:sp>
      <p:sp>
        <p:nvSpPr>
          <p:cNvPr id="47107" name="Text Box 3"/>
          <p:cNvSpPr txBox="1"/>
          <p:nvPr/>
        </p:nvSpPr>
        <p:spPr>
          <a:xfrm>
            <a:off x="539750" y="476250"/>
            <a:ext cx="8382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7108" name="AutoShape 4"/>
          <p:cNvSpPr/>
          <p:nvPr/>
        </p:nvSpPr>
        <p:spPr>
          <a:xfrm>
            <a:off x="4356100" y="2205038"/>
            <a:ext cx="720725" cy="215900"/>
          </a:xfrm>
          <a:prstGeom prst="rightArrow">
            <a:avLst>
              <a:gd name="adj1" fmla="val 50000"/>
              <a:gd name="adj2" fmla="val 83455"/>
            </a:avLst>
          </a:prstGeom>
          <a:solidFill>
            <a:srgbClr val="0099FF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7109" name="Text Box 5"/>
          <p:cNvSpPr txBox="1"/>
          <p:nvPr/>
        </p:nvSpPr>
        <p:spPr>
          <a:xfrm>
            <a:off x="7524750" y="1484313"/>
            <a:ext cx="1276350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=0.5A</a:t>
            </a:r>
          </a:p>
        </p:txBody>
      </p:sp>
      <p:sp>
        <p:nvSpPr>
          <p:cNvPr id="47140" name="AutoShape 36"/>
          <p:cNvSpPr/>
          <p:nvPr/>
        </p:nvSpPr>
        <p:spPr>
          <a:xfrm>
            <a:off x="4427538" y="4005263"/>
            <a:ext cx="649287" cy="215900"/>
          </a:xfrm>
          <a:prstGeom prst="rightArrow">
            <a:avLst>
              <a:gd name="adj1" fmla="val 50000"/>
              <a:gd name="adj2" fmla="val 75183"/>
            </a:avLst>
          </a:prstGeom>
          <a:solidFill>
            <a:srgbClr val="0099FF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7163" name="Text Box 59"/>
          <p:cNvSpPr txBox="1"/>
          <p:nvPr/>
        </p:nvSpPr>
        <p:spPr>
          <a:xfrm>
            <a:off x="5651500" y="5734050"/>
            <a:ext cx="1871663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=20V</a:t>
            </a:r>
          </a:p>
        </p:txBody>
      </p:sp>
      <p:grpSp>
        <p:nvGrpSpPr>
          <p:cNvPr id="47112" name="Group 11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7202" name="Picture 11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203" name="Text Box 11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47113" name="Group 11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7200" name="Picture 11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201" name="Text Box 11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47251" name="Group 147"/>
          <p:cNvGrpSpPr/>
          <p:nvPr/>
        </p:nvGrpSpPr>
        <p:grpSpPr>
          <a:xfrm>
            <a:off x="4932363" y="1125538"/>
            <a:ext cx="2724150" cy="2319337"/>
            <a:chOff x="929" y="2024"/>
            <a:chExt cx="1716" cy="1461"/>
          </a:xfrm>
        </p:grpSpPr>
        <p:sp>
          <p:nvSpPr>
            <p:cNvPr id="47187" name="Oval 148"/>
            <p:cNvSpPr/>
            <p:nvPr/>
          </p:nvSpPr>
          <p:spPr>
            <a:xfrm>
              <a:off x="1383" y="229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7188" name="Oval 149"/>
            <p:cNvSpPr/>
            <p:nvPr/>
          </p:nvSpPr>
          <p:spPr>
            <a:xfrm>
              <a:off x="1383" y="284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7189" name="Line 150"/>
            <p:cNvSpPr/>
            <p:nvPr/>
          </p:nvSpPr>
          <p:spPr>
            <a:xfrm>
              <a:off x="2426" y="2296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90" name="Text Box 151"/>
            <p:cNvSpPr txBox="1"/>
            <p:nvPr/>
          </p:nvSpPr>
          <p:spPr>
            <a:xfrm>
              <a:off x="1247" y="2024"/>
              <a:ext cx="24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7191" name="Text Box 152"/>
            <p:cNvSpPr txBox="1"/>
            <p:nvPr/>
          </p:nvSpPr>
          <p:spPr>
            <a:xfrm>
              <a:off x="929" y="2296"/>
              <a:ext cx="7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15V</a:t>
              </a:r>
            </a:p>
          </p:txBody>
        </p:sp>
        <p:sp>
          <p:nvSpPr>
            <p:cNvPr id="47192" name="Text Box 153"/>
            <p:cNvSpPr txBox="1"/>
            <p:nvPr/>
          </p:nvSpPr>
          <p:spPr>
            <a:xfrm>
              <a:off x="1202" y="2432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7193" name="Text Box 154"/>
            <p:cNvSpPr txBox="1"/>
            <p:nvPr/>
          </p:nvSpPr>
          <p:spPr>
            <a:xfrm>
              <a:off x="1202" y="3158"/>
              <a:ext cx="2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7194" name="Text Box 155"/>
            <p:cNvSpPr txBox="1"/>
            <p:nvPr/>
          </p:nvSpPr>
          <p:spPr>
            <a:xfrm>
              <a:off x="1021" y="2840"/>
              <a:ext cx="54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8V</a:t>
              </a:r>
            </a:p>
          </p:txBody>
        </p:sp>
        <p:sp>
          <p:nvSpPr>
            <p:cNvPr id="47195" name="Text Box 156"/>
            <p:cNvSpPr txBox="1"/>
            <p:nvPr/>
          </p:nvSpPr>
          <p:spPr>
            <a:xfrm>
              <a:off x="2064" y="2614"/>
              <a:ext cx="58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7196" name="Text Box 157"/>
            <p:cNvSpPr txBox="1"/>
            <p:nvPr/>
          </p:nvSpPr>
          <p:spPr>
            <a:xfrm>
              <a:off x="1837" y="2205"/>
              <a:ext cx="53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7197" name="Rectangle 158"/>
            <p:cNvSpPr/>
            <p:nvPr/>
          </p:nvSpPr>
          <p:spPr>
            <a:xfrm>
              <a:off x="1565" y="2160"/>
              <a:ext cx="952" cy="1270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7198" name="Rectangle 159"/>
            <p:cNvSpPr/>
            <p:nvPr/>
          </p:nvSpPr>
          <p:spPr>
            <a:xfrm>
              <a:off x="1882" y="211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7199" name="Rectangle 160"/>
            <p:cNvSpPr/>
            <p:nvPr/>
          </p:nvSpPr>
          <p:spPr>
            <a:xfrm>
              <a:off x="2435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7115" name="Group 227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7185" name="Picture 22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86" name="Text Box 22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grpSp>
        <p:nvGrpSpPr>
          <p:cNvPr id="47334" name="Group 230"/>
          <p:cNvGrpSpPr/>
          <p:nvPr/>
        </p:nvGrpSpPr>
        <p:grpSpPr>
          <a:xfrm>
            <a:off x="323850" y="1125538"/>
            <a:ext cx="3817938" cy="2317750"/>
            <a:chOff x="204" y="709"/>
            <a:chExt cx="2405" cy="1460"/>
          </a:xfrm>
        </p:grpSpPr>
        <p:sp>
          <p:nvSpPr>
            <p:cNvPr id="47160" name="Line 123"/>
            <p:cNvSpPr/>
            <p:nvPr/>
          </p:nvSpPr>
          <p:spPr>
            <a:xfrm>
              <a:off x="1792" y="799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7161" name="Line 124"/>
            <p:cNvSpPr/>
            <p:nvPr/>
          </p:nvSpPr>
          <p:spPr>
            <a:xfrm>
              <a:off x="2518" y="799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62" name="Line 125"/>
            <p:cNvSpPr/>
            <p:nvPr/>
          </p:nvSpPr>
          <p:spPr>
            <a:xfrm>
              <a:off x="976" y="799"/>
              <a:ext cx="154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" name="Line 126"/>
            <p:cNvSpPr/>
            <p:nvPr/>
          </p:nvSpPr>
          <p:spPr>
            <a:xfrm>
              <a:off x="976" y="1480"/>
              <a:ext cx="816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7164" name="Line 127"/>
            <p:cNvSpPr/>
            <p:nvPr/>
          </p:nvSpPr>
          <p:spPr>
            <a:xfrm>
              <a:off x="2427" y="845"/>
              <a:ext cx="0" cy="31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65" name="Text Box 128"/>
            <p:cNvSpPr txBox="1"/>
            <p:nvPr/>
          </p:nvSpPr>
          <p:spPr>
            <a:xfrm>
              <a:off x="567" y="754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5A</a:t>
              </a:r>
            </a:p>
          </p:txBody>
        </p:sp>
        <p:sp>
          <p:nvSpPr>
            <p:cNvPr id="47166" name="Line 129"/>
            <p:cNvSpPr/>
            <p:nvPr/>
          </p:nvSpPr>
          <p:spPr>
            <a:xfrm>
              <a:off x="976" y="2160"/>
              <a:ext cx="154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67" name="Text Box 130"/>
            <p:cNvSpPr txBox="1"/>
            <p:nvPr/>
          </p:nvSpPr>
          <p:spPr>
            <a:xfrm>
              <a:off x="1338" y="981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7168" name="Text Box 131"/>
            <p:cNvSpPr txBox="1"/>
            <p:nvPr/>
          </p:nvSpPr>
          <p:spPr>
            <a:xfrm>
              <a:off x="1339" y="1616"/>
              <a:ext cx="57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7169" name="Text Box 132"/>
            <p:cNvSpPr txBox="1"/>
            <p:nvPr/>
          </p:nvSpPr>
          <p:spPr>
            <a:xfrm>
              <a:off x="2064" y="1343"/>
              <a:ext cx="49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7170" name="Text Box 133"/>
            <p:cNvSpPr txBox="1"/>
            <p:nvPr/>
          </p:nvSpPr>
          <p:spPr>
            <a:xfrm>
              <a:off x="567" y="1842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2A</a:t>
              </a:r>
            </a:p>
          </p:txBody>
        </p:sp>
        <p:sp>
          <p:nvSpPr>
            <p:cNvPr id="47171" name="Text Box 134"/>
            <p:cNvSpPr txBox="1"/>
            <p:nvPr/>
          </p:nvSpPr>
          <p:spPr>
            <a:xfrm>
              <a:off x="1928" y="845"/>
              <a:ext cx="68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＝？</a:t>
              </a:r>
            </a:p>
          </p:txBody>
        </p:sp>
        <p:sp>
          <p:nvSpPr>
            <p:cNvPr id="47172" name="Line 135"/>
            <p:cNvSpPr/>
            <p:nvPr/>
          </p:nvSpPr>
          <p:spPr>
            <a:xfrm flipH="1" flipV="1">
              <a:off x="976" y="799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73" name="Rectangle 142"/>
            <p:cNvSpPr/>
            <p:nvPr/>
          </p:nvSpPr>
          <p:spPr>
            <a:xfrm>
              <a:off x="1710" y="161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7174" name="Rectangle 143"/>
            <p:cNvSpPr/>
            <p:nvPr/>
          </p:nvSpPr>
          <p:spPr>
            <a:xfrm>
              <a:off x="1710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7175" name="Rectangle 144"/>
            <p:cNvSpPr/>
            <p:nvPr/>
          </p:nvSpPr>
          <p:spPr>
            <a:xfrm>
              <a:off x="2436" y="134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7176" name="Line 145"/>
            <p:cNvSpPr/>
            <p:nvPr/>
          </p:nvSpPr>
          <p:spPr>
            <a:xfrm flipV="1">
              <a:off x="975" y="1933"/>
              <a:ext cx="0" cy="18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7177" name="Line 146"/>
            <p:cNvSpPr/>
            <p:nvPr/>
          </p:nvSpPr>
          <p:spPr>
            <a:xfrm flipV="1">
              <a:off x="975" y="844"/>
              <a:ext cx="0" cy="18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78" name="Text Box 161"/>
            <p:cNvSpPr txBox="1"/>
            <p:nvPr/>
          </p:nvSpPr>
          <p:spPr>
            <a:xfrm>
              <a:off x="204" y="709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1.</a:t>
              </a:r>
            </a:p>
          </p:txBody>
        </p:sp>
        <p:grpSp>
          <p:nvGrpSpPr>
            <p:cNvPr id="47179" name="Group 136"/>
            <p:cNvGrpSpPr/>
            <p:nvPr/>
          </p:nvGrpSpPr>
          <p:grpSpPr>
            <a:xfrm>
              <a:off x="794" y="1570"/>
              <a:ext cx="363" cy="363"/>
              <a:chOff x="4785" y="709"/>
              <a:chExt cx="363" cy="363"/>
            </a:xfrm>
          </p:grpSpPr>
          <p:sp>
            <p:nvSpPr>
              <p:cNvPr id="47183" name="Oval 13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7184" name="Line 13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7180" name="Group 139"/>
            <p:cNvGrpSpPr/>
            <p:nvPr/>
          </p:nvGrpSpPr>
          <p:grpSpPr>
            <a:xfrm>
              <a:off x="794" y="1026"/>
              <a:ext cx="363" cy="363"/>
              <a:chOff x="4785" y="709"/>
              <a:chExt cx="363" cy="363"/>
            </a:xfrm>
          </p:grpSpPr>
          <p:sp>
            <p:nvSpPr>
              <p:cNvPr id="47181" name="Oval 14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7182" name="Line 14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7335" name="Group 231"/>
          <p:cNvGrpSpPr/>
          <p:nvPr/>
        </p:nvGrpSpPr>
        <p:grpSpPr>
          <a:xfrm>
            <a:off x="395288" y="3644900"/>
            <a:ext cx="4752975" cy="2305050"/>
            <a:chOff x="249" y="2296"/>
            <a:chExt cx="2994" cy="1452"/>
          </a:xfrm>
        </p:grpSpPr>
        <p:sp>
          <p:nvSpPr>
            <p:cNvPr id="47137" name="Oval 164"/>
            <p:cNvSpPr/>
            <p:nvPr/>
          </p:nvSpPr>
          <p:spPr>
            <a:xfrm>
              <a:off x="1700" y="261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7138" name="Oval 165"/>
            <p:cNvSpPr/>
            <p:nvPr/>
          </p:nvSpPr>
          <p:spPr>
            <a:xfrm>
              <a:off x="748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7139" name="Line 166"/>
            <p:cNvSpPr/>
            <p:nvPr/>
          </p:nvSpPr>
          <p:spPr>
            <a:xfrm>
              <a:off x="1882" y="2478"/>
              <a:ext cx="0" cy="127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" name="Text Box 167"/>
            <p:cNvSpPr txBox="1"/>
            <p:nvPr/>
          </p:nvSpPr>
          <p:spPr>
            <a:xfrm>
              <a:off x="1884" y="3022"/>
              <a:ext cx="45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6A</a:t>
              </a:r>
            </a:p>
          </p:txBody>
        </p:sp>
        <p:sp>
          <p:nvSpPr>
            <p:cNvPr id="47141" name="Line 168"/>
            <p:cNvSpPr/>
            <p:nvPr/>
          </p:nvSpPr>
          <p:spPr>
            <a:xfrm flipV="1">
              <a:off x="1882" y="3067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42" name="Text Box 169"/>
            <p:cNvSpPr txBox="1"/>
            <p:nvPr/>
          </p:nvSpPr>
          <p:spPr>
            <a:xfrm>
              <a:off x="2608" y="2614"/>
              <a:ext cx="23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7143" name="Text Box 170"/>
            <p:cNvSpPr txBox="1"/>
            <p:nvPr/>
          </p:nvSpPr>
          <p:spPr>
            <a:xfrm>
              <a:off x="652" y="3385"/>
              <a:ext cx="27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7144" name="Text Box 171"/>
            <p:cNvSpPr txBox="1"/>
            <p:nvPr/>
          </p:nvSpPr>
          <p:spPr>
            <a:xfrm>
              <a:off x="2562" y="2931"/>
              <a:ext cx="68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U=</a:t>
              </a:r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？</a:t>
              </a:r>
            </a:p>
          </p:txBody>
        </p:sp>
        <p:sp>
          <p:nvSpPr>
            <p:cNvPr id="47145" name="Text Box 172"/>
            <p:cNvSpPr txBox="1"/>
            <p:nvPr/>
          </p:nvSpPr>
          <p:spPr>
            <a:xfrm>
              <a:off x="435" y="2659"/>
              <a:ext cx="58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7146" name="Text Box 173"/>
            <p:cNvSpPr txBox="1"/>
            <p:nvPr/>
          </p:nvSpPr>
          <p:spPr>
            <a:xfrm>
              <a:off x="2109" y="2704"/>
              <a:ext cx="5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7147" name="Text Box 174"/>
            <p:cNvSpPr txBox="1"/>
            <p:nvPr/>
          </p:nvSpPr>
          <p:spPr>
            <a:xfrm>
              <a:off x="294" y="3204"/>
              <a:ext cx="6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47148" name="Text Box 175"/>
            <p:cNvSpPr txBox="1"/>
            <p:nvPr/>
          </p:nvSpPr>
          <p:spPr>
            <a:xfrm>
              <a:off x="1201" y="2659"/>
              <a:ext cx="70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47149" name="Rectangle 176"/>
            <p:cNvSpPr/>
            <p:nvPr/>
          </p:nvSpPr>
          <p:spPr>
            <a:xfrm>
              <a:off x="929" y="2478"/>
              <a:ext cx="1633" cy="1270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7150" name="Rectangle 177"/>
            <p:cNvSpPr/>
            <p:nvPr/>
          </p:nvSpPr>
          <p:spPr>
            <a:xfrm>
              <a:off x="2481" y="293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7151" name="Rectangle 178"/>
            <p:cNvSpPr/>
            <p:nvPr/>
          </p:nvSpPr>
          <p:spPr>
            <a:xfrm>
              <a:off x="848" y="265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7152" name="Text Box 182"/>
            <p:cNvSpPr txBox="1"/>
            <p:nvPr/>
          </p:nvSpPr>
          <p:spPr>
            <a:xfrm>
              <a:off x="657" y="2931"/>
              <a:ext cx="23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7153" name="Text Box 183"/>
            <p:cNvSpPr txBox="1"/>
            <p:nvPr/>
          </p:nvSpPr>
          <p:spPr>
            <a:xfrm>
              <a:off x="1519" y="2432"/>
              <a:ext cx="23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7154" name="Text Box 184"/>
            <p:cNvSpPr txBox="1"/>
            <p:nvPr/>
          </p:nvSpPr>
          <p:spPr>
            <a:xfrm>
              <a:off x="1474" y="2795"/>
              <a:ext cx="27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7155" name="Text Box 185"/>
            <p:cNvSpPr txBox="1"/>
            <p:nvPr/>
          </p:nvSpPr>
          <p:spPr>
            <a:xfrm>
              <a:off x="2562" y="3158"/>
              <a:ext cx="27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7156" name="Text Box 186"/>
            <p:cNvSpPr txBox="1"/>
            <p:nvPr/>
          </p:nvSpPr>
          <p:spPr>
            <a:xfrm>
              <a:off x="249" y="2296"/>
              <a:ext cx="58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2.</a:t>
              </a:r>
              <a:endPara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pSp>
          <p:nvGrpSpPr>
            <p:cNvPr id="47157" name="Group 179"/>
            <p:cNvGrpSpPr/>
            <p:nvPr/>
          </p:nvGrpSpPr>
          <p:grpSpPr>
            <a:xfrm>
              <a:off x="1700" y="3294"/>
              <a:ext cx="363" cy="363"/>
              <a:chOff x="4785" y="709"/>
              <a:chExt cx="363" cy="363"/>
            </a:xfrm>
          </p:grpSpPr>
          <p:sp>
            <p:nvSpPr>
              <p:cNvPr id="47158" name="Oval 18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7159" name="Line 18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7336" name="Group 232"/>
          <p:cNvGrpSpPr/>
          <p:nvPr/>
        </p:nvGrpSpPr>
        <p:grpSpPr>
          <a:xfrm>
            <a:off x="5148263" y="3789363"/>
            <a:ext cx="3455987" cy="1727200"/>
            <a:chOff x="3243" y="2387"/>
            <a:chExt cx="2177" cy="1088"/>
          </a:xfrm>
        </p:grpSpPr>
        <p:sp>
          <p:nvSpPr>
            <p:cNvPr id="47119" name="Line 119"/>
            <p:cNvSpPr/>
            <p:nvPr/>
          </p:nvSpPr>
          <p:spPr>
            <a:xfrm flipV="1">
              <a:off x="3243" y="2840"/>
              <a:ext cx="0" cy="182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47120" name="Line 207"/>
            <p:cNvSpPr/>
            <p:nvPr/>
          </p:nvSpPr>
          <p:spPr>
            <a:xfrm>
              <a:off x="4104" y="2387"/>
              <a:ext cx="0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7121" name="Line 208"/>
            <p:cNvSpPr/>
            <p:nvPr/>
          </p:nvSpPr>
          <p:spPr>
            <a:xfrm flipV="1">
              <a:off x="4105" y="2523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22" name="Text Box 209"/>
            <p:cNvSpPr txBox="1"/>
            <p:nvPr/>
          </p:nvSpPr>
          <p:spPr>
            <a:xfrm>
              <a:off x="5057" y="2477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7123" name="Text Box 210"/>
            <p:cNvSpPr txBox="1"/>
            <p:nvPr/>
          </p:nvSpPr>
          <p:spPr>
            <a:xfrm>
              <a:off x="5057" y="3022"/>
              <a:ext cx="27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7124" name="Text Box 211"/>
            <p:cNvSpPr txBox="1"/>
            <p:nvPr/>
          </p:nvSpPr>
          <p:spPr>
            <a:xfrm>
              <a:off x="5057" y="2750"/>
              <a:ext cx="3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7125" name="Text Box 212"/>
            <p:cNvSpPr txBox="1"/>
            <p:nvPr/>
          </p:nvSpPr>
          <p:spPr>
            <a:xfrm>
              <a:off x="4422" y="2786"/>
              <a:ext cx="68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2.5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7126" name="Text Box 213"/>
            <p:cNvSpPr txBox="1"/>
            <p:nvPr/>
          </p:nvSpPr>
          <p:spPr>
            <a:xfrm>
              <a:off x="3424" y="2568"/>
              <a:ext cx="43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2A</a:t>
              </a:r>
            </a:p>
          </p:txBody>
        </p:sp>
        <p:sp>
          <p:nvSpPr>
            <p:cNvPr id="47127" name="Text Box 214"/>
            <p:cNvSpPr txBox="1"/>
            <p:nvPr/>
          </p:nvSpPr>
          <p:spPr>
            <a:xfrm>
              <a:off x="4116" y="2559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6A</a:t>
              </a:r>
            </a:p>
          </p:txBody>
        </p:sp>
        <p:sp>
          <p:nvSpPr>
            <p:cNvPr id="47128" name="Rectangle 215"/>
            <p:cNvSpPr/>
            <p:nvPr/>
          </p:nvSpPr>
          <p:spPr>
            <a:xfrm>
              <a:off x="3424" y="2387"/>
              <a:ext cx="1588" cy="1088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7129" name="Line 222"/>
            <p:cNvSpPr/>
            <p:nvPr/>
          </p:nvSpPr>
          <p:spPr>
            <a:xfrm flipV="1">
              <a:off x="3424" y="2523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30" name="Rectangle 223"/>
            <p:cNvSpPr/>
            <p:nvPr/>
          </p:nvSpPr>
          <p:spPr>
            <a:xfrm>
              <a:off x="4930" y="275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47131" name="Group 219"/>
            <p:cNvGrpSpPr/>
            <p:nvPr/>
          </p:nvGrpSpPr>
          <p:grpSpPr>
            <a:xfrm>
              <a:off x="3243" y="2886"/>
              <a:ext cx="363" cy="363"/>
              <a:chOff x="4785" y="709"/>
              <a:chExt cx="363" cy="363"/>
            </a:xfrm>
          </p:grpSpPr>
          <p:sp>
            <p:nvSpPr>
              <p:cNvPr id="47135" name="Oval 22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7136" name="Line 22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7132" name="Group 216"/>
            <p:cNvGrpSpPr/>
            <p:nvPr/>
          </p:nvGrpSpPr>
          <p:grpSpPr>
            <a:xfrm>
              <a:off x="3923" y="2886"/>
              <a:ext cx="363" cy="363"/>
              <a:chOff x="4785" y="709"/>
              <a:chExt cx="363" cy="363"/>
            </a:xfrm>
          </p:grpSpPr>
          <p:sp>
            <p:nvSpPr>
              <p:cNvPr id="47133" name="Oval 21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7134" name="Line 21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4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/>
      <p:bldP spid="47108" grpId="0" animBg="1"/>
      <p:bldP spid="47109" grpId="0"/>
      <p:bldP spid="47140" grpId="0" animBg="1"/>
      <p:bldP spid="4716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Text Box 4"/>
          <p:cNvSpPr txBox="1"/>
          <p:nvPr/>
        </p:nvSpPr>
        <p:spPr>
          <a:xfrm>
            <a:off x="395288" y="549275"/>
            <a:ext cx="8382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endParaRPr lang="en-US" altLang="zh-CN" dirty="0">
              <a:solidFill>
                <a:srgbClr val="FFFF00"/>
              </a:solidFill>
              <a:ea typeface="仿宋_GB2312" pitchFamily="49" charset="-122"/>
            </a:endParaRPr>
          </a:p>
        </p:txBody>
      </p:sp>
      <p:sp>
        <p:nvSpPr>
          <p:cNvPr id="48164" name="Text Box 36"/>
          <p:cNvSpPr txBox="1"/>
          <p:nvPr/>
        </p:nvSpPr>
        <p:spPr>
          <a:xfrm>
            <a:off x="1331913" y="549275"/>
            <a:ext cx="7634287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把电路转换成一个电压源和一个电阻的串连</a:t>
            </a:r>
            <a:endParaRPr lang="zh-CN" altLang="en-US" sz="2800" b="1" dirty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48169" name="AutoShape 41"/>
          <p:cNvSpPr/>
          <p:nvPr/>
        </p:nvSpPr>
        <p:spPr>
          <a:xfrm>
            <a:off x="4500563" y="2276475"/>
            <a:ext cx="719137" cy="215900"/>
          </a:xfrm>
          <a:prstGeom prst="rightArrow">
            <a:avLst>
              <a:gd name="adj1" fmla="val 50000"/>
              <a:gd name="adj2" fmla="val 83272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8231" name="AutoShape 103"/>
          <p:cNvSpPr/>
          <p:nvPr/>
        </p:nvSpPr>
        <p:spPr>
          <a:xfrm>
            <a:off x="4572000" y="4868863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48134" name="Group 17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8213" name="Picture 180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214" name="Text Box 18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48135" name="Group 18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8211" name="Picture 183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212" name="Text Box 18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48396" name="Group 268"/>
          <p:cNvGrpSpPr/>
          <p:nvPr/>
        </p:nvGrpSpPr>
        <p:grpSpPr>
          <a:xfrm>
            <a:off x="539750" y="1196975"/>
            <a:ext cx="3889375" cy="2233613"/>
            <a:chOff x="340" y="754"/>
            <a:chExt cx="2450" cy="1407"/>
          </a:xfrm>
        </p:grpSpPr>
        <p:sp>
          <p:nvSpPr>
            <p:cNvPr id="48189" name="Oval 189"/>
            <p:cNvSpPr/>
            <p:nvPr/>
          </p:nvSpPr>
          <p:spPr>
            <a:xfrm>
              <a:off x="1020" y="111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90" name="Oval 190"/>
            <p:cNvSpPr/>
            <p:nvPr/>
          </p:nvSpPr>
          <p:spPr>
            <a:xfrm>
              <a:off x="1701" y="102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91" name="Line 191"/>
            <p:cNvSpPr/>
            <p:nvPr/>
          </p:nvSpPr>
          <p:spPr>
            <a:xfrm>
              <a:off x="1202" y="936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2" name="Line 192"/>
            <p:cNvSpPr/>
            <p:nvPr/>
          </p:nvSpPr>
          <p:spPr>
            <a:xfrm>
              <a:off x="1882" y="936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8193" name="Line 193"/>
            <p:cNvSpPr/>
            <p:nvPr/>
          </p:nvSpPr>
          <p:spPr>
            <a:xfrm>
              <a:off x="1882" y="1434"/>
              <a:ext cx="0" cy="271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8194" name="Text Box 194"/>
            <p:cNvSpPr txBox="1"/>
            <p:nvPr/>
          </p:nvSpPr>
          <p:spPr>
            <a:xfrm>
              <a:off x="521" y="1117"/>
              <a:ext cx="54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95" name="Text Box 195"/>
            <p:cNvSpPr txBox="1"/>
            <p:nvPr/>
          </p:nvSpPr>
          <p:spPr>
            <a:xfrm>
              <a:off x="612" y="1707"/>
              <a:ext cx="77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96" name="Text Box 196"/>
            <p:cNvSpPr txBox="1"/>
            <p:nvPr/>
          </p:nvSpPr>
          <p:spPr>
            <a:xfrm>
              <a:off x="2072" y="1107"/>
              <a:ext cx="53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97" name="Text Box 197"/>
            <p:cNvSpPr txBox="1"/>
            <p:nvPr/>
          </p:nvSpPr>
          <p:spPr>
            <a:xfrm>
              <a:off x="1474" y="1344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98" name="Text Box 198"/>
            <p:cNvSpPr txBox="1"/>
            <p:nvPr/>
          </p:nvSpPr>
          <p:spPr>
            <a:xfrm>
              <a:off x="2063" y="880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99" name="Text Box 199"/>
            <p:cNvSpPr txBox="1"/>
            <p:nvPr/>
          </p:nvSpPr>
          <p:spPr>
            <a:xfrm>
              <a:off x="930" y="845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200" name="Text Box 200"/>
            <p:cNvSpPr txBox="1"/>
            <p:nvPr/>
          </p:nvSpPr>
          <p:spPr>
            <a:xfrm>
              <a:off x="2064" y="1243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201" name="Text Box 201"/>
            <p:cNvSpPr txBox="1"/>
            <p:nvPr/>
          </p:nvSpPr>
          <p:spPr>
            <a:xfrm>
              <a:off x="930" y="1299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202" name="Line 202"/>
            <p:cNvSpPr/>
            <p:nvPr/>
          </p:nvSpPr>
          <p:spPr>
            <a:xfrm>
              <a:off x="1202" y="2115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203" name="Line 203"/>
            <p:cNvSpPr/>
            <p:nvPr/>
          </p:nvSpPr>
          <p:spPr>
            <a:xfrm>
              <a:off x="1202" y="936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204" name="Oval 204"/>
            <p:cNvSpPr/>
            <p:nvPr/>
          </p:nvSpPr>
          <p:spPr>
            <a:xfrm>
              <a:off x="2699" y="891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205" name="Oval 205"/>
            <p:cNvSpPr/>
            <p:nvPr/>
          </p:nvSpPr>
          <p:spPr>
            <a:xfrm>
              <a:off x="2699" y="207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206" name="Rectangle 206"/>
            <p:cNvSpPr/>
            <p:nvPr/>
          </p:nvSpPr>
          <p:spPr>
            <a:xfrm>
              <a:off x="1120" y="166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48207" name="Group 207"/>
            <p:cNvGrpSpPr/>
            <p:nvPr/>
          </p:nvGrpSpPr>
          <p:grpSpPr>
            <a:xfrm>
              <a:off x="1701" y="1662"/>
              <a:ext cx="363" cy="363"/>
              <a:chOff x="4785" y="709"/>
              <a:chExt cx="363" cy="363"/>
            </a:xfrm>
          </p:grpSpPr>
          <p:sp>
            <p:nvSpPr>
              <p:cNvPr id="48209" name="Oval 208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8210" name="Line 209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8208" name="Text Box 234"/>
            <p:cNvSpPr txBox="1"/>
            <p:nvPr/>
          </p:nvSpPr>
          <p:spPr>
            <a:xfrm>
              <a:off x="340" y="754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1.</a:t>
              </a:r>
            </a:p>
          </p:txBody>
        </p:sp>
      </p:grpSp>
      <p:grpSp>
        <p:nvGrpSpPr>
          <p:cNvPr id="48366" name="Group 238"/>
          <p:cNvGrpSpPr/>
          <p:nvPr/>
        </p:nvGrpSpPr>
        <p:grpSpPr>
          <a:xfrm>
            <a:off x="5580063" y="1341438"/>
            <a:ext cx="1512887" cy="2305050"/>
            <a:chOff x="2653" y="1797"/>
            <a:chExt cx="953" cy="1452"/>
          </a:xfrm>
        </p:grpSpPr>
        <p:sp>
          <p:nvSpPr>
            <p:cNvPr id="48178" name="Oval 239"/>
            <p:cNvSpPr/>
            <p:nvPr/>
          </p:nvSpPr>
          <p:spPr>
            <a:xfrm>
              <a:off x="2653" y="252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79" name="Line 240"/>
            <p:cNvSpPr/>
            <p:nvPr/>
          </p:nvSpPr>
          <p:spPr>
            <a:xfrm>
              <a:off x="2835" y="1842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8180" name="Text Box 241"/>
            <p:cNvSpPr txBox="1"/>
            <p:nvPr/>
          </p:nvSpPr>
          <p:spPr>
            <a:xfrm>
              <a:off x="2970" y="2613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70V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81" name="Text Box 242"/>
            <p:cNvSpPr txBox="1"/>
            <p:nvPr/>
          </p:nvSpPr>
          <p:spPr>
            <a:xfrm>
              <a:off x="2835" y="1979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82" name="Text Box 243"/>
            <p:cNvSpPr txBox="1"/>
            <p:nvPr/>
          </p:nvSpPr>
          <p:spPr>
            <a:xfrm>
              <a:off x="2970" y="2295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83" name="Text Box 244"/>
            <p:cNvSpPr txBox="1"/>
            <p:nvPr/>
          </p:nvSpPr>
          <p:spPr>
            <a:xfrm>
              <a:off x="2970" y="2749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84" name="Line 245"/>
            <p:cNvSpPr/>
            <p:nvPr/>
          </p:nvSpPr>
          <p:spPr>
            <a:xfrm>
              <a:off x="2835" y="1842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5" name="Line 246"/>
            <p:cNvSpPr/>
            <p:nvPr/>
          </p:nvSpPr>
          <p:spPr>
            <a:xfrm>
              <a:off x="2834" y="3203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6" name="Oval 247"/>
            <p:cNvSpPr/>
            <p:nvPr/>
          </p:nvSpPr>
          <p:spPr>
            <a:xfrm>
              <a:off x="3470" y="179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187" name="Oval 248"/>
            <p:cNvSpPr/>
            <p:nvPr/>
          </p:nvSpPr>
          <p:spPr>
            <a:xfrm>
              <a:off x="3515" y="315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188" name="Rectangle 249"/>
            <p:cNvSpPr/>
            <p:nvPr/>
          </p:nvSpPr>
          <p:spPr>
            <a:xfrm>
              <a:off x="2744" y="202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8378" name="Group 250"/>
          <p:cNvGrpSpPr/>
          <p:nvPr/>
        </p:nvGrpSpPr>
        <p:grpSpPr>
          <a:xfrm>
            <a:off x="5580063" y="3933825"/>
            <a:ext cx="1512887" cy="2305050"/>
            <a:chOff x="2653" y="1797"/>
            <a:chExt cx="953" cy="1452"/>
          </a:xfrm>
        </p:grpSpPr>
        <p:sp>
          <p:nvSpPr>
            <p:cNvPr id="48167" name="Oval 251"/>
            <p:cNvSpPr/>
            <p:nvPr/>
          </p:nvSpPr>
          <p:spPr>
            <a:xfrm>
              <a:off x="2653" y="252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68" name="Line 252"/>
            <p:cNvSpPr/>
            <p:nvPr/>
          </p:nvSpPr>
          <p:spPr>
            <a:xfrm>
              <a:off x="2835" y="1842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" name="Text Box 253"/>
            <p:cNvSpPr txBox="1"/>
            <p:nvPr/>
          </p:nvSpPr>
          <p:spPr>
            <a:xfrm>
              <a:off x="2970" y="2613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66V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70" name="Text Box 254"/>
            <p:cNvSpPr txBox="1"/>
            <p:nvPr/>
          </p:nvSpPr>
          <p:spPr>
            <a:xfrm>
              <a:off x="2835" y="1979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71" name="Text Box 255"/>
            <p:cNvSpPr txBox="1"/>
            <p:nvPr/>
          </p:nvSpPr>
          <p:spPr>
            <a:xfrm>
              <a:off x="2970" y="2295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72" name="Text Box 256"/>
            <p:cNvSpPr txBox="1"/>
            <p:nvPr/>
          </p:nvSpPr>
          <p:spPr>
            <a:xfrm>
              <a:off x="2970" y="2749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73" name="Line 257"/>
            <p:cNvSpPr/>
            <p:nvPr/>
          </p:nvSpPr>
          <p:spPr>
            <a:xfrm>
              <a:off x="2835" y="1842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4" name="Line 258"/>
            <p:cNvSpPr/>
            <p:nvPr/>
          </p:nvSpPr>
          <p:spPr>
            <a:xfrm>
              <a:off x="2834" y="3203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5" name="Oval 259"/>
            <p:cNvSpPr/>
            <p:nvPr/>
          </p:nvSpPr>
          <p:spPr>
            <a:xfrm>
              <a:off x="3470" y="179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176" name="Oval 260"/>
            <p:cNvSpPr/>
            <p:nvPr/>
          </p:nvSpPr>
          <p:spPr>
            <a:xfrm>
              <a:off x="3515" y="315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177" name="Rectangle 261"/>
            <p:cNvSpPr/>
            <p:nvPr/>
          </p:nvSpPr>
          <p:spPr>
            <a:xfrm>
              <a:off x="2744" y="202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8139" name="Group 265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8165" name="Picture 266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66" name="Text Box 26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grpSp>
        <p:nvGrpSpPr>
          <p:cNvPr id="48397" name="Group 269"/>
          <p:cNvGrpSpPr/>
          <p:nvPr/>
        </p:nvGrpSpPr>
        <p:grpSpPr>
          <a:xfrm>
            <a:off x="611188" y="3716338"/>
            <a:ext cx="3817937" cy="2592387"/>
            <a:chOff x="385" y="2341"/>
            <a:chExt cx="2405" cy="1633"/>
          </a:xfrm>
        </p:grpSpPr>
        <p:sp>
          <p:nvSpPr>
            <p:cNvPr id="48141" name="Text Box 211"/>
            <p:cNvSpPr txBox="1"/>
            <p:nvPr/>
          </p:nvSpPr>
          <p:spPr>
            <a:xfrm>
              <a:off x="1928" y="2468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42" name="Line 212"/>
            <p:cNvSpPr/>
            <p:nvPr/>
          </p:nvSpPr>
          <p:spPr>
            <a:xfrm>
              <a:off x="1202" y="3204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8143" name="Oval 214"/>
            <p:cNvSpPr/>
            <p:nvPr/>
          </p:nvSpPr>
          <p:spPr>
            <a:xfrm>
              <a:off x="1020" y="265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44" name="Line 215"/>
            <p:cNvSpPr/>
            <p:nvPr/>
          </p:nvSpPr>
          <p:spPr>
            <a:xfrm>
              <a:off x="1202" y="2478"/>
              <a:ext cx="0" cy="14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5" name="Line 216"/>
            <p:cNvSpPr/>
            <p:nvPr/>
          </p:nvSpPr>
          <p:spPr>
            <a:xfrm>
              <a:off x="1882" y="2478"/>
              <a:ext cx="0" cy="14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8146" name="Line 217"/>
            <p:cNvSpPr/>
            <p:nvPr/>
          </p:nvSpPr>
          <p:spPr>
            <a:xfrm>
              <a:off x="1882" y="3249"/>
              <a:ext cx="0" cy="271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8147" name="Text Box 218"/>
            <p:cNvSpPr txBox="1"/>
            <p:nvPr/>
          </p:nvSpPr>
          <p:spPr>
            <a:xfrm>
              <a:off x="657" y="2659"/>
              <a:ext cx="54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48" name="Text Box 219"/>
            <p:cNvSpPr txBox="1"/>
            <p:nvPr/>
          </p:nvSpPr>
          <p:spPr>
            <a:xfrm>
              <a:off x="612" y="3340"/>
              <a:ext cx="77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49" name="Text Box 220"/>
            <p:cNvSpPr txBox="1"/>
            <p:nvPr/>
          </p:nvSpPr>
          <p:spPr>
            <a:xfrm>
              <a:off x="1927" y="3203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50" name="Text Box 221"/>
            <p:cNvSpPr txBox="1"/>
            <p:nvPr/>
          </p:nvSpPr>
          <p:spPr>
            <a:xfrm>
              <a:off x="930" y="2387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51" name="Text Box 222"/>
            <p:cNvSpPr txBox="1"/>
            <p:nvPr/>
          </p:nvSpPr>
          <p:spPr>
            <a:xfrm>
              <a:off x="930" y="2841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8152" name="Line 223"/>
            <p:cNvSpPr/>
            <p:nvPr/>
          </p:nvSpPr>
          <p:spPr>
            <a:xfrm>
              <a:off x="1202" y="3929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3" name="Line 224"/>
            <p:cNvSpPr/>
            <p:nvPr/>
          </p:nvSpPr>
          <p:spPr>
            <a:xfrm>
              <a:off x="1202" y="2478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4" name="Oval 225"/>
            <p:cNvSpPr/>
            <p:nvPr/>
          </p:nvSpPr>
          <p:spPr>
            <a:xfrm>
              <a:off x="2699" y="243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155" name="Oval 226"/>
            <p:cNvSpPr/>
            <p:nvPr/>
          </p:nvSpPr>
          <p:spPr>
            <a:xfrm>
              <a:off x="2699" y="388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156" name="Rectangle 227"/>
            <p:cNvSpPr/>
            <p:nvPr/>
          </p:nvSpPr>
          <p:spPr>
            <a:xfrm>
              <a:off x="1111" y="33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48157" name="Group 228"/>
            <p:cNvGrpSpPr/>
            <p:nvPr/>
          </p:nvGrpSpPr>
          <p:grpSpPr>
            <a:xfrm>
              <a:off x="1701" y="3475"/>
              <a:ext cx="363" cy="363"/>
              <a:chOff x="4785" y="709"/>
              <a:chExt cx="363" cy="363"/>
            </a:xfrm>
          </p:grpSpPr>
          <p:sp>
            <p:nvSpPr>
              <p:cNvPr id="48163" name="Oval 22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3" name="Line 23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8158" name="Text Box 235"/>
            <p:cNvSpPr txBox="1"/>
            <p:nvPr/>
          </p:nvSpPr>
          <p:spPr>
            <a:xfrm>
              <a:off x="385" y="2341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2.</a:t>
              </a:r>
            </a:p>
          </p:txBody>
        </p:sp>
        <p:sp>
          <p:nvSpPr>
            <p:cNvPr id="48159" name="Line 213"/>
            <p:cNvSpPr/>
            <p:nvPr/>
          </p:nvSpPr>
          <p:spPr>
            <a:xfrm flipV="1">
              <a:off x="1882" y="2523"/>
              <a:ext cx="0" cy="31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48160" name="Group 231"/>
            <p:cNvGrpSpPr/>
            <p:nvPr/>
          </p:nvGrpSpPr>
          <p:grpSpPr>
            <a:xfrm>
              <a:off x="1701" y="2750"/>
              <a:ext cx="363" cy="363"/>
              <a:chOff x="4785" y="709"/>
              <a:chExt cx="363" cy="363"/>
            </a:xfrm>
          </p:grpSpPr>
          <p:sp>
            <p:nvSpPr>
              <p:cNvPr id="48161" name="Oval 23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8162" name="Line 23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4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/>
      <p:bldP spid="48164" grpId="0"/>
      <p:bldP spid="48169" grpId="0" animBg="1"/>
      <p:bldP spid="482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48" name="Line 56"/>
          <p:cNvSpPr/>
          <p:nvPr/>
        </p:nvSpPr>
        <p:spPr>
          <a:xfrm>
            <a:off x="4356100" y="1916113"/>
            <a:ext cx="576263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9155" name="Group 13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9233" name="Picture 13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234" name="Text Box 13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49156" name="Group 14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9231" name="Picture 14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232" name="Text Box 14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59641" name="Group 249"/>
          <p:cNvGrpSpPr/>
          <p:nvPr/>
        </p:nvGrpSpPr>
        <p:grpSpPr>
          <a:xfrm>
            <a:off x="5148263" y="836613"/>
            <a:ext cx="3005137" cy="2016125"/>
            <a:chOff x="3243" y="527"/>
            <a:chExt cx="1893" cy="1270"/>
          </a:xfrm>
        </p:grpSpPr>
        <p:sp>
          <p:nvSpPr>
            <p:cNvPr id="49212" name="Line 147"/>
            <p:cNvSpPr/>
            <p:nvPr/>
          </p:nvSpPr>
          <p:spPr>
            <a:xfrm>
              <a:off x="3968" y="572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9213" name="Line 148"/>
            <p:cNvSpPr/>
            <p:nvPr/>
          </p:nvSpPr>
          <p:spPr>
            <a:xfrm>
              <a:off x="3425" y="572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14" name="Line 149"/>
            <p:cNvSpPr/>
            <p:nvPr/>
          </p:nvSpPr>
          <p:spPr>
            <a:xfrm>
              <a:off x="4604" y="572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9215" name="Line 150"/>
            <p:cNvSpPr/>
            <p:nvPr/>
          </p:nvSpPr>
          <p:spPr>
            <a:xfrm>
              <a:off x="4604" y="663"/>
              <a:ext cx="0" cy="361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9216" name="Text Box 151"/>
            <p:cNvSpPr txBox="1"/>
            <p:nvPr/>
          </p:nvSpPr>
          <p:spPr>
            <a:xfrm>
              <a:off x="3969" y="1207"/>
              <a:ext cx="77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217" name="Text Box 152"/>
            <p:cNvSpPr txBox="1"/>
            <p:nvPr/>
          </p:nvSpPr>
          <p:spPr>
            <a:xfrm>
              <a:off x="4694" y="663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218" name="Line 153"/>
            <p:cNvSpPr/>
            <p:nvPr/>
          </p:nvSpPr>
          <p:spPr>
            <a:xfrm>
              <a:off x="3425" y="1751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19" name="Line 154"/>
            <p:cNvSpPr/>
            <p:nvPr/>
          </p:nvSpPr>
          <p:spPr>
            <a:xfrm>
              <a:off x="3425" y="572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20" name="Oval 155"/>
            <p:cNvSpPr/>
            <p:nvPr/>
          </p:nvSpPr>
          <p:spPr>
            <a:xfrm>
              <a:off x="4922" y="52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9221" name="Oval 156"/>
            <p:cNvSpPr/>
            <p:nvPr/>
          </p:nvSpPr>
          <p:spPr>
            <a:xfrm>
              <a:off x="4922" y="1706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9222" name="Rectangle 157"/>
            <p:cNvSpPr/>
            <p:nvPr/>
          </p:nvSpPr>
          <p:spPr>
            <a:xfrm>
              <a:off x="3887" y="98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49223" name="Group 158"/>
            <p:cNvGrpSpPr/>
            <p:nvPr/>
          </p:nvGrpSpPr>
          <p:grpSpPr>
            <a:xfrm>
              <a:off x="4422" y="981"/>
              <a:ext cx="363" cy="363"/>
              <a:chOff x="4785" y="709"/>
              <a:chExt cx="363" cy="363"/>
            </a:xfrm>
          </p:grpSpPr>
          <p:sp>
            <p:nvSpPr>
              <p:cNvPr id="49229" name="Oval 15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9230" name="Line 16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9224" name="Group 161"/>
            <p:cNvGrpSpPr/>
            <p:nvPr/>
          </p:nvGrpSpPr>
          <p:grpSpPr>
            <a:xfrm>
              <a:off x="3243" y="981"/>
              <a:ext cx="363" cy="363"/>
              <a:chOff x="4785" y="709"/>
              <a:chExt cx="363" cy="363"/>
            </a:xfrm>
          </p:grpSpPr>
          <p:sp>
            <p:nvSpPr>
              <p:cNvPr id="49227" name="Oval 16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9228" name="Line 16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9225" name="Text Box 164"/>
            <p:cNvSpPr txBox="1"/>
            <p:nvPr/>
          </p:nvSpPr>
          <p:spPr>
            <a:xfrm>
              <a:off x="3470" y="654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226" name="Line 165"/>
            <p:cNvSpPr/>
            <p:nvPr/>
          </p:nvSpPr>
          <p:spPr>
            <a:xfrm>
              <a:off x="3424" y="663"/>
              <a:ext cx="0" cy="31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</p:grpSp>
      <p:grpSp>
        <p:nvGrpSpPr>
          <p:cNvPr id="59642" name="Group 250"/>
          <p:cNvGrpSpPr/>
          <p:nvPr/>
        </p:nvGrpSpPr>
        <p:grpSpPr>
          <a:xfrm>
            <a:off x="1835150" y="3573463"/>
            <a:ext cx="2232025" cy="2016125"/>
            <a:chOff x="1156" y="2251"/>
            <a:chExt cx="1406" cy="1270"/>
          </a:xfrm>
        </p:grpSpPr>
        <p:sp>
          <p:nvSpPr>
            <p:cNvPr id="49199" name="Line 167"/>
            <p:cNvSpPr/>
            <p:nvPr/>
          </p:nvSpPr>
          <p:spPr>
            <a:xfrm>
              <a:off x="1826" y="2296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9200" name="Line 168"/>
            <p:cNvSpPr/>
            <p:nvPr/>
          </p:nvSpPr>
          <p:spPr>
            <a:xfrm>
              <a:off x="1338" y="2296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1" name="Text Box 169"/>
            <p:cNvSpPr txBox="1"/>
            <p:nvPr/>
          </p:nvSpPr>
          <p:spPr>
            <a:xfrm>
              <a:off x="1791" y="2659"/>
              <a:ext cx="77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202" name="Line 170"/>
            <p:cNvSpPr/>
            <p:nvPr/>
          </p:nvSpPr>
          <p:spPr>
            <a:xfrm>
              <a:off x="1338" y="3475"/>
              <a:ext cx="816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3" name="Line 171"/>
            <p:cNvSpPr/>
            <p:nvPr/>
          </p:nvSpPr>
          <p:spPr>
            <a:xfrm>
              <a:off x="1338" y="2296"/>
              <a:ext cx="8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4" name="Oval 172"/>
            <p:cNvSpPr/>
            <p:nvPr/>
          </p:nvSpPr>
          <p:spPr>
            <a:xfrm>
              <a:off x="2154" y="2251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9205" name="Oval 173"/>
            <p:cNvSpPr/>
            <p:nvPr/>
          </p:nvSpPr>
          <p:spPr>
            <a:xfrm>
              <a:off x="2154" y="343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9206" name="Rectangle 174"/>
            <p:cNvSpPr/>
            <p:nvPr/>
          </p:nvSpPr>
          <p:spPr>
            <a:xfrm>
              <a:off x="1745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49207" name="Group 175"/>
            <p:cNvGrpSpPr/>
            <p:nvPr/>
          </p:nvGrpSpPr>
          <p:grpSpPr>
            <a:xfrm>
              <a:off x="1156" y="2704"/>
              <a:ext cx="363" cy="363"/>
              <a:chOff x="4785" y="709"/>
              <a:chExt cx="363" cy="363"/>
            </a:xfrm>
          </p:grpSpPr>
          <p:sp>
            <p:nvSpPr>
              <p:cNvPr id="49210" name="Oval 17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9211" name="Line 17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9208" name="Text Box 178"/>
            <p:cNvSpPr txBox="1"/>
            <p:nvPr/>
          </p:nvSpPr>
          <p:spPr>
            <a:xfrm>
              <a:off x="1338" y="2377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7A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209" name="Line 179"/>
            <p:cNvSpPr/>
            <p:nvPr/>
          </p:nvSpPr>
          <p:spPr>
            <a:xfrm>
              <a:off x="1338" y="2387"/>
              <a:ext cx="0" cy="31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</p:grpSp>
      <p:grpSp>
        <p:nvGrpSpPr>
          <p:cNvPr id="59609" name="Group 217"/>
          <p:cNvGrpSpPr/>
          <p:nvPr/>
        </p:nvGrpSpPr>
        <p:grpSpPr>
          <a:xfrm>
            <a:off x="5292725" y="3573463"/>
            <a:ext cx="1728788" cy="2030412"/>
            <a:chOff x="3425" y="2196"/>
            <a:chExt cx="1089" cy="1279"/>
          </a:xfrm>
        </p:grpSpPr>
        <p:sp>
          <p:nvSpPr>
            <p:cNvPr id="49188" name="Oval 182"/>
            <p:cNvSpPr/>
            <p:nvPr/>
          </p:nvSpPr>
          <p:spPr>
            <a:xfrm>
              <a:off x="3425" y="243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89" name="Line 183"/>
            <p:cNvSpPr/>
            <p:nvPr/>
          </p:nvSpPr>
          <p:spPr>
            <a:xfrm>
              <a:off x="3607" y="2250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0" name="Text Box 184"/>
            <p:cNvSpPr txBox="1"/>
            <p:nvPr/>
          </p:nvSpPr>
          <p:spPr>
            <a:xfrm>
              <a:off x="3606" y="2976"/>
              <a:ext cx="77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91" name="Line 185"/>
            <p:cNvSpPr/>
            <p:nvPr/>
          </p:nvSpPr>
          <p:spPr>
            <a:xfrm>
              <a:off x="3607" y="3429"/>
              <a:ext cx="816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2" name="Line 186"/>
            <p:cNvSpPr/>
            <p:nvPr/>
          </p:nvSpPr>
          <p:spPr>
            <a:xfrm>
              <a:off x="3607" y="2250"/>
              <a:ext cx="8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3" name="Oval 187"/>
            <p:cNvSpPr/>
            <p:nvPr/>
          </p:nvSpPr>
          <p:spPr>
            <a:xfrm>
              <a:off x="4423" y="2205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9194" name="Oval 188"/>
            <p:cNvSpPr/>
            <p:nvPr/>
          </p:nvSpPr>
          <p:spPr>
            <a:xfrm>
              <a:off x="4423" y="3384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9195" name="Rectangle 189"/>
            <p:cNvSpPr/>
            <p:nvPr/>
          </p:nvSpPr>
          <p:spPr>
            <a:xfrm>
              <a:off x="3525" y="297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9196" name="Text Box 190"/>
            <p:cNvSpPr txBox="1"/>
            <p:nvPr/>
          </p:nvSpPr>
          <p:spPr>
            <a:xfrm>
              <a:off x="3833" y="2432"/>
              <a:ext cx="50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70V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97" name="Text Box 191"/>
            <p:cNvSpPr txBox="1"/>
            <p:nvPr/>
          </p:nvSpPr>
          <p:spPr>
            <a:xfrm>
              <a:off x="3697" y="2196"/>
              <a:ext cx="19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98" name="Text Box 192"/>
            <p:cNvSpPr txBox="1"/>
            <p:nvPr/>
          </p:nvSpPr>
          <p:spPr>
            <a:xfrm>
              <a:off x="3697" y="2613"/>
              <a:ext cx="19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</p:grpSp>
      <p:sp>
        <p:nvSpPr>
          <p:cNvPr id="59610" name="Line 218"/>
          <p:cNvSpPr/>
          <p:nvPr/>
        </p:nvSpPr>
        <p:spPr>
          <a:xfrm>
            <a:off x="4067175" y="4581525"/>
            <a:ext cx="576263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611" name="Line 219"/>
          <p:cNvSpPr/>
          <p:nvPr/>
        </p:nvSpPr>
        <p:spPr>
          <a:xfrm>
            <a:off x="1042988" y="4581525"/>
            <a:ext cx="576262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9162" name="Group 22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49186" name="Picture 22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87" name="Text Box 22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grpSp>
        <p:nvGrpSpPr>
          <p:cNvPr id="59618" name="Group 226"/>
          <p:cNvGrpSpPr/>
          <p:nvPr/>
        </p:nvGrpSpPr>
        <p:grpSpPr>
          <a:xfrm>
            <a:off x="395288" y="619125"/>
            <a:ext cx="3889375" cy="2233613"/>
            <a:chOff x="340" y="754"/>
            <a:chExt cx="2450" cy="1407"/>
          </a:xfrm>
        </p:grpSpPr>
        <p:sp>
          <p:nvSpPr>
            <p:cNvPr id="49164" name="Oval 227"/>
            <p:cNvSpPr/>
            <p:nvPr/>
          </p:nvSpPr>
          <p:spPr>
            <a:xfrm>
              <a:off x="1020" y="111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65" name="Oval 228"/>
            <p:cNvSpPr/>
            <p:nvPr/>
          </p:nvSpPr>
          <p:spPr>
            <a:xfrm>
              <a:off x="1701" y="102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66" name="Line 229"/>
            <p:cNvSpPr/>
            <p:nvPr/>
          </p:nvSpPr>
          <p:spPr>
            <a:xfrm>
              <a:off x="1202" y="936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67" name="Line 230"/>
            <p:cNvSpPr/>
            <p:nvPr/>
          </p:nvSpPr>
          <p:spPr>
            <a:xfrm>
              <a:off x="1882" y="936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9168" name="Line 231"/>
            <p:cNvSpPr/>
            <p:nvPr/>
          </p:nvSpPr>
          <p:spPr>
            <a:xfrm>
              <a:off x="1882" y="1434"/>
              <a:ext cx="0" cy="271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9169" name="Text Box 232"/>
            <p:cNvSpPr txBox="1"/>
            <p:nvPr/>
          </p:nvSpPr>
          <p:spPr>
            <a:xfrm>
              <a:off x="521" y="1117"/>
              <a:ext cx="54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70" name="Text Box 233"/>
            <p:cNvSpPr txBox="1"/>
            <p:nvPr/>
          </p:nvSpPr>
          <p:spPr>
            <a:xfrm>
              <a:off x="612" y="1707"/>
              <a:ext cx="77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71" name="Text Box 234"/>
            <p:cNvSpPr txBox="1"/>
            <p:nvPr/>
          </p:nvSpPr>
          <p:spPr>
            <a:xfrm>
              <a:off x="2072" y="1107"/>
              <a:ext cx="53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72" name="Text Box 235"/>
            <p:cNvSpPr txBox="1"/>
            <p:nvPr/>
          </p:nvSpPr>
          <p:spPr>
            <a:xfrm>
              <a:off x="1474" y="1344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73" name="Text Box 236"/>
            <p:cNvSpPr txBox="1"/>
            <p:nvPr/>
          </p:nvSpPr>
          <p:spPr>
            <a:xfrm>
              <a:off x="2063" y="880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74" name="Text Box 237"/>
            <p:cNvSpPr txBox="1"/>
            <p:nvPr/>
          </p:nvSpPr>
          <p:spPr>
            <a:xfrm>
              <a:off x="930" y="845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75" name="Text Box 238"/>
            <p:cNvSpPr txBox="1"/>
            <p:nvPr/>
          </p:nvSpPr>
          <p:spPr>
            <a:xfrm>
              <a:off x="2064" y="1243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76" name="Text Box 239"/>
            <p:cNvSpPr txBox="1"/>
            <p:nvPr/>
          </p:nvSpPr>
          <p:spPr>
            <a:xfrm>
              <a:off x="930" y="1299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49177" name="Line 240"/>
            <p:cNvSpPr/>
            <p:nvPr/>
          </p:nvSpPr>
          <p:spPr>
            <a:xfrm>
              <a:off x="1202" y="2115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8" name="Line 241"/>
            <p:cNvSpPr/>
            <p:nvPr/>
          </p:nvSpPr>
          <p:spPr>
            <a:xfrm>
              <a:off x="1202" y="936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9" name="Oval 242"/>
            <p:cNvSpPr/>
            <p:nvPr/>
          </p:nvSpPr>
          <p:spPr>
            <a:xfrm>
              <a:off x="2699" y="891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9180" name="Oval 243"/>
            <p:cNvSpPr/>
            <p:nvPr/>
          </p:nvSpPr>
          <p:spPr>
            <a:xfrm>
              <a:off x="2699" y="207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9181" name="Rectangle 244"/>
            <p:cNvSpPr/>
            <p:nvPr/>
          </p:nvSpPr>
          <p:spPr>
            <a:xfrm>
              <a:off x="1120" y="166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49182" name="Group 245"/>
            <p:cNvGrpSpPr/>
            <p:nvPr/>
          </p:nvGrpSpPr>
          <p:grpSpPr>
            <a:xfrm>
              <a:off x="1701" y="1662"/>
              <a:ext cx="363" cy="363"/>
              <a:chOff x="4785" y="709"/>
              <a:chExt cx="363" cy="363"/>
            </a:xfrm>
          </p:grpSpPr>
          <p:sp>
            <p:nvSpPr>
              <p:cNvPr id="49184" name="Oval 24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49185" name="Line 24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9183" name="Text Box 248"/>
            <p:cNvSpPr txBox="1"/>
            <p:nvPr/>
          </p:nvSpPr>
          <p:spPr>
            <a:xfrm>
              <a:off x="340" y="754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59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59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Line 3"/>
          <p:cNvSpPr/>
          <p:nvPr/>
        </p:nvSpPr>
        <p:spPr>
          <a:xfrm>
            <a:off x="4356100" y="1989138"/>
            <a:ext cx="576263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3703" name="Line 39"/>
          <p:cNvSpPr/>
          <p:nvPr/>
        </p:nvSpPr>
        <p:spPr>
          <a:xfrm>
            <a:off x="3995738" y="4797425"/>
            <a:ext cx="576262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3704" name="Line 40"/>
          <p:cNvSpPr/>
          <p:nvPr/>
        </p:nvSpPr>
        <p:spPr>
          <a:xfrm>
            <a:off x="1116013" y="4652963"/>
            <a:ext cx="576262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0181" name="Group 5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0260" name="Picture 5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261" name="Text Box 5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50182" name="Group 5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0258" name="Picture 57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259" name="Text Box 5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113820" name="Group 156"/>
          <p:cNvGrpSpPr/>
          <p:nvPr/>
        </p:nvGrpSpPr>
        <p:grpSpPr>
          <a:xfrm>
            <a:off x="5508625" y="3716338"/>
            <a:ext cx="1512888" cy="2305050"/>
            <a:chOff x="2653" y="1797"/>
            <a:chExt cx="953" cy="1452"/>
          </a:xfrm>
        </p:grpSpPr>
        <p:sp>
          <p:nvSpPr>
            <p:cNvPr id="50247" name="Oval 157"/>
            <p:cNvSpPr/>
            <p:nvPr/>
          </p:nvSpPr>
          <p:spPr>
            <a:xfrm>
              <a:off x="2653" y="252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48" name="Line 158"/>
            <p:cNvSpPr/>
            <p:nvPr/>
          </p:nvSpPr>
          <p:spPr>
            <a:xfrm>
              <a:off x="2835" y="1842"/>
              <a:ext cx="0" cy="13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0249" name="Text Box 159"/>
            <p:cNvSpPr txBox="1"/>
            <p:nvPr/>
          </p:nvSpPr>
          <p:spPr>
            <a:xfrm>
              <a:off x="2970" y="2613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66V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50" name="Text Box 160"/>
            <p:cNvSpPr txBox="1"/>
            <p:nvPr/>
          </p:nvSpPr>
          <p:spPr>
            <a:xfrm>
              <a:off x="2835" y="1979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51" name="Text Box 161"/>
            <p:cNvSpPr txBox="1"/>
            <p:nvPr/>
          </p:nvSpPr>
          <p:spPr>
            <a:xfrm>
              <a:off x="2970" y="2295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52" name="Text Box 162"/>
            <p:cNvSpPr txBox="1"/>
            <p:nvPr/>
          </p:nvSpPr>
          <p:spPr>
            <a:xfrm>
              <a:off x="2970" y="2749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53" name="Line 163"/>
            <p:cNvSpPr/>
            <p:nvPr/>
          </p:nvSpPr>
          <p:spPr>
            <a:xfrm>
              <a:off x="2835" y="1842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54" name="Line 164"/>
            <p:cNvSpPr/>
            <p:nvPr/>
          </p:nvSpPr>
          <p:spPr>
            <a:xfrm>
              <a:off x="2834" y="3203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55" name="Oval 165"/>
            <p:cNvSpPr/>
            <p:nvPr/>
          </p:nvSpPr>
          <p:spPr>
            <a:xfrm>
              <a:off x="3470" y="179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256" name="Oval 166"/>
            <p:cNvSpPr/>
            <p:nvPr/>
          </p:nvSpPr>
          <p:spPr>
            <a:xfrm>
              <a:off x="3515" y="315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257" name="Rectangle 167"/>
            <p:cNvSpPr/>
            <p:nvPr/>
          </p:nvSpPr>
          <p:spPr>
            <a:xfrm>
              <a:off x="2744" y="202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13868" name="Group 204"/>
          <p:cNvGrpSpPr/>
          <p:nvPr/>
        </p:nvGrpSpPr>
        <p:grpSpPr>
          <a:xfrm>
            <a:off x="1979613" y="3429000"/>
            <a:ext cx="1512887" cy="2665413"/>
            <a:chOff x="929" y="2160"/>
            <a:chExt cx="953" cy="1679"/>
          </a:xfrm>
        </p:grpSpPr>
        <p:sp>
          <p:nvSpPr>
            <p:cNvPr id="50232" name="Oval 188"/>
            <p:cNvSpPr/>
            <p:nvPr/>
          </p:nvSpPr>
          <p:spPr>
            <a:xfrm>
              <a:off x="929" y="229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33" name="Text Box 190"/>
            <p:cNvSpPr txBox="1"/>
            <p:nvPr/>
          </p:nvSpPr>
          <p:spPr>
            <a:xfrm>
              <a:off x="1292" y="2387"/>
              <a:ext cx="54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34" name="Text Box 191"/>
            <p:cNvSpPr txBox="1"/>
            <p:nvPr/>
          </p:nvSpPr>
          <p:spPr>
            <a:xfrm>
              <a:off x="1292" y="2160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35" name="Text Box 192"/>
            <p:cNvSpPr txBox="1"/>
            <p:nvPr/>
          </p:nvSpPr>
          <p:spPr>
            <a:xfrm>
              <a:off x="1292" y="2478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36" name="Oval 193"/>
            <p:cNvSpPr/>
            <p:nvPr/>
          </p:nvSpPr>
          <p:spPr>
            <a:xfrm>
              <a:off x="929" y="329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37" name="Line 194"/>
            <p:cNvSpPr/>
            <p:nvPr/>
          </p:nvSpPr>
          <p:spPr>
            <a:xfrm>
              <a:off x="1111" y="2205"/>
              <a:ext cx="0" cy="15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0238" name="Text Box 195"/>
            <p:cNvSpPr txBox="1"/>
            <p:nvPr/>
          </p:nvSpPr>
          <p:spPr>
            <a:xfrm>
              <a:off x="1292" y="3339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60V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39" name="Text Box 196"/>
            <p:cNvSpPr txBox="1"/>
            <p:nvPr/>
          </p:nvSpPr>
          <p:spPr>
            <a:xfrm>
              <a:off x="1247" y="2795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40" name="Text Box 197"/>
            <p:cNvSpPr txBox="1"/>
            <p:nvPr/>
          </p:nvSpPr>
          <p:spPr>
            <a:xfrm>
              <a:off x="1292" y="3067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41" name="Text Box 198"/>
            <p:cNvSpPr txBox="1"/>
            <p:nvPr/>
          </p:nvSpPr>
          <p:spPr>
            <a:xfrm>
              <a:off x="1247" y="3430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42" name="Line 199"/>
            <p:cNvSpPr/>
            <p:nvPr/>
          </p:nvSpPr>
          <p:spPr>
            <a:xfrm>
              <a:off x="1111" y="2205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43" name="Line 200"/>
            <p:cNvSpPr/>
            <p:nvPr/>
          </p:nvSpPr>
          <p:spPr>
            <a:xfrm>
              <a:off x="1110" y="3793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44" name="Oval 201"/>
            <p:cNvSpPr/>
            <p:nvPr/>
          </p:nvSpPr>
          <p:spPr>
            <a:xfrm>
              <a:off x="1746" y="2160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245" name="Oval 202"/>
            <p:cNvSpPr/>
            <p:nvPr/>
          </p:nvSpPr>
          <p:spPr>
            <a:xfrm>
              <a:off x="1791" y="374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246" name="Rectangle 203"/>
            <p:cNvSpPr/>
            <p:nvPr/>
          </p:nvSpPr>
          <p:spPr>
            <a:xfrm>
              <a:off x="1065" y="279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50185" name="Group 20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0230" name="Picture 209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231" name="Text Box 21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grpSp>
        <p:nvGrpSpPr>
          <p:cNvPr id="113875" name="Group 211"/>
          <p:cNvGrpSpPr/>
          <p:nvPr/>
        </p:nvGrpSpPr>
        <p:grpSpPr>
          <a:xfrm>
            <a:off x="468313" y="549275"/>
            <a:ext cx="3817937" cy="2592388"/>
            <a:chOff x="385" y="2341"/>
            <a:chExt cx="2405" cy="1633"/>
          </a:xfrm>
        </p:grpSpPr>
        <p:sp>
          <p:nvSpPr>
            <p:cNvPr id="50206" name="Text Box 212"/>
            <p:cNvSpPr txBox="1"/>
            <p:nvPr/>
          </p:nvSpPr>
          <p:spPr>
            <a:xfrm>
              <a:off x="1928" y="2468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07" name="Line 213"/>
            <p:cNvSpPr/>
            <p:nvPr/>
          </p:nvSpPr>
          <p:spPr>
            <a:xfrm>
              <a:off x="1202" y="3204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0208" name="Oval 214"/>
            <p:cNvSpPr/>
            <p:nvPr/>
          </p:nvSpPr>
          <p:spPr>
            <a:xfrm>
              <a:off x="1020" y="265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09" name="Line 215"/>
            <p:cNvSpPr/>
            <p:nvPr/>
          </p:nvSpPr>
          <p:spPr>
            <a:xfrm>
              <a:off x="1202" y="2478"/>
              <a:ext cx="0" cy="14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0" name="Line 216"/>
            <p:cNvSpPr/>
            <p:nvPr/>
          </p:nvSpPr>
          <p:spPr>
            <a:xfrm>
              <a:off x="1882" y="2478"/>
              <a:ext cx="0" cy="14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0211" name="Line 217"/>
            <p:cNvSpPr/>
            <p:nvPr/>
          </p:nvSpPr>
          <p:spPr>
            <a:xfrm>
              <a:off x="1882" y="3249"/>
              <a:ext cx="0" cy="271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0212" name="Text Box 218"/>
            <p:cNvSpPr txBox="1"/>
            <p:nvPr/>
          </p:nvSpPr>
          <p:spPr>
            <a:xfrm>
              <a:off x="657" y="2659"/>
              <a:ext cx="54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13" name="Text Box 219"/>
            <p:cNvSpPr txBox="1"/>
            <p:nvPr/>
          </p:nvSpPr>
          <p:spPr>
            <a:xfrm>
              <a:off x="612" y="3340"/>
              <a:ext cx="77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14" name="Text Box 220"/>
            <p:cNvSpPr txBox="1"/>
            <p:nvPr/>
          </p:nvSpPr>
          <p:spPr>
            <a:xfrm>
              <a:off x="1927" y="3203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15" name="Text Box 221"/>
            <p:cNvSpPr txBox="1"/>
            <p:nvPr/>
          </p:nvSpPr>
          <p:spPr>
            <a:xfrm>
              <a:off x="930" y="2387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16" name="Text Box 222"/>
            <p:cNvSpPr txBox="1"/>
            <p:nvPr/>
          </p:nvSpPr>
          <p:spPr>
            <a:xfrm>
              <a:off x="930" y="2841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217" name="Line 223"/>
            <p:cNvSpPr/>
            <p:nvPr/>
          </p:nvSpPr>
          <p:spPr>
            <a:xfrm>
              <a:off x="1202" y="3929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8" name="Line 224"/>
            <p:cNvSpPr/>
            <p:nvPr/>
          </p:nvSpPr>
          <p:spPr>
            <a:xfrm>
              <a:off x="1202" y="2478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9" name="Oval 225"/>
            <p:cNvSpPr/>
            <p:nvPr/>
          </p:nvSpPr>
          <p:spPr>
            <a:xfrm>
              <a:off x="2699" y="243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220" name="Oval 226"/>
            <p:cNvSpPr/>
            <p:nvPr/>
          </p:nvSpPr>
          <p:spPr>
            <a:xfrm>
              <a:off x="2699" y="388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221" name="Rectangle 227"/>
            <p:cNvSpPr/>
            <p:nvPr/>
          </p:nvSpPr>
          <p:spPr>
            <a:xfrm>
              <a:off x="1111" y="33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50222" name="Group 228"/>
            <p:cNvGrpSpPr/>
            <p:nvPr/>
          </p:nvGrpSpPr>
          <p:grpSpPr>
            <a:xfrm>
              <a:off x="1701" y="3475"/>
              <a:ext cx="363" cy="363"/>
              <a:chOff x="4785" y="709"/>
              <a:chExt cx="363" cy="363"/>
            </a:xfrm>
          </p:grpSpPr>
          <p:sp>
            <p:nvSpPr>
              <p:cNvPr id="50228" name="Oval 22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0229" name="Line 23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0223" name="Text Box 231"/>
            <p:cNvSpPr txBox="1"/>
            <p:nvPr/>
          </p:nvSpPr>
          <p:spPr>
            <a:xfrm>
              <a:off x="385" y="2341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2.</a:t>
              </a:r>
            </a:p>
          </p:txBody>
        </p:sp>
        <p:sp>
          <p:nvSpPr>
            <p:cNvPr id="50224" name="Line 232"/>
            <p:cNvSpPr/>
            <p:nvPr/>
          </p:nvSpPr>
          <p:spPr>
            <a:xfrm flipV="1">
              <a:off x="1882" y="2523"/>
              <a:ext cx="0" cy="31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0225" name="Group 233"/>
            <p:cNvGrpSpPr/>
            <p:nvPr/>
          </p:nvGrpSpPr>
          <p:grpSpPr>
            <a:xfrm>
              <a:off x="1701" y="2750"/>
              <a:ext cx="363" cy="363"/>
              <a:chOff x="4785" y="709"/>
              <a:chExt cx="363" cy="363"/>
            </a:xfrm>
          </p:grpSpPr>
          <p:sp>
            <p:nvSpPr>
              <p:cNvPr id="50226" name="Oval 234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0227" name="Line 235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13900" name="Group 236"/>
          <p:cNvGrpSpPr/>
          <p:nvPr/>
        </p:nvGrpSpPr>
        <p:grpSpPr>
          <a:xfrm>
            <a:off x="5076825" y="549275"/>
            <a:ext cx="3168650" cy="2592388"/>
            <a:chOff x="3198" y="346"/>
            <a:chExt cx="1996" cy="1633"/>
          </a:xfrm>
        </p:grpSpPr>
        <p:sp>
          <p:nvSpPr>
            <p:cNvPr id="50188" name="Oval 169"/>
            <p:cNvSpPr/>
            <p:nvPr/>
          </p:nvSpPr>
          <p:spPr>
            <a:xfrm>
              <a:off x="3606" y="61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189" name="Line 170"/>
            <p:cNvSpPr/>
            <p:nvPr/>
          </p:nvSpPr>
          <p:spPr>
            <a:xfrm>
              <a:off x="3787" y="527"/>
              <a:ext cx="0" cy="140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0" name="Text Box 171"/>
            <p:cNvSpPr txBox="1"/>
            <p:nvPr/>
          </p:nvSpPr>
          <p:spPr>
            <a:xfrm>
              <a:off x="3198" y="618"/>
              <a:ext cx="54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191" name="Text Box 172"/>
            <p:cNvSpPr txBox="1"/>
            <p:nvPr/>
          </p:nvSpPr>
          <p:spPr>
            <a:xfrm>
              <a:off x="3243" y="1389"/>
              <a:ext cx="68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192" name="Text Box 173"/>
            <p:cNvSpPr txBox="1"/>
            <p:nvPr/>
          </p:nvSpPr>
          <p:spPr>
            <a:xfrm>
              <a:off x="4195" y="1162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193" name="Text Box 174"/>
            <p:cNvSpPr txBox="1"/>
            <p:nvPr/>
          </p:nvSpPr>
          <p:spPr>
            <a:xfrm>
              <a:off x="3470" y="346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194" name="Text Box 175"/>
            <p:cNvSpPr txBox="1"/>
            <p:nvPr/>
          </p:nvSpPr>
          <p:spPr>
            <a:xfrm>
              <a:off x="3470" y="754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0195" name="Line 176"/>
            <p:cNvSpPr/>
            <p:nvPr/>
          </p:nvSpPr>
          <p:spPr>
            <a:xfrm>
              <a:off x="3790" y="1933"/>
              <a:ext cx="131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6" name="Line 177"/>
            <p:cNvSpPr/>
            <p:nvPr/>
          </p:nvSpPr>
          <p:spPr>
            <a:xfrm>
              <a:off x="3787" y="526"/>
              <a:ext cx="1270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7" name="Oval 178"/>
            <p:cNvSpPr/>
            <p:nvPr/>
          </p:nvSpPr>
          <p:spPr>
            <a:xfrm>
              <a:off x="5103" y="188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198" name="Oval 179"/>
            <p:cNvSpPr/>
            <p:nvPr/>
          </p:nvSpPr>
          <p:spPr>
            <a:xfrm>
              <a:off x="5057" y="482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199" name="Line 180"/>
            <p:cNvSpPr/>
            <p:nvPr/>
          </p:nvSpPr>
          <p:spPr>
            <a:xfrm>
              <a:off x="3787" y="1162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0200" name="Line 182"/>
            <p:cNvSpPr/>
            <p:nvPr/>
          </p:nvSpPr>
          <p:spPr>
            <a:xfrm flipH="1">
              <a:off x="4604" y="1162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0201" name="Rectangle 183"/>
            <p:cNvSpPr/>
            <p:nvPr/>
          </p:nvSpPr>
          <p:spPr>
            <a:xfrm>
              <a:off x="3706" y="138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202" name="Line 181"/>
            <p:cNvSpPr/>
            <p:nvPr/>
          </p:nvSpPr>
          <p:spPr>
            <a:xfrm flipV="1">
              <a:off x="4604" y="1253"/>
              <a:ext cx="0" cy="31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0203" name="Group 184"/>
            <p:cNvGrpSpPr/>
            <p:nvPr/>
          </p:nvGrpSpPr>
          <p:grpSpPr>
            <a:xfrm>
              <a:off x="4422" y="1479"/>
              <a:ext cx="363" cy="363"/>
              <a:chOff x="4785" y="709"/>
              <a:chExt cx="363" cy="363"/>
            </a:xfrm>
          </p:grpSpPr>
          <p:sp>
            <p:nvSpPr>
              <p:cNvPr id="50204" name="Oval 185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0205" name="Line 186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1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11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6" name="Text Box 26"/>
          <p:cNvSpPr txBox="1"/>
          <p:nvPr/>
        </p:nvSpPr>
        <p:spPr>
          <a:xfrm>
            <a:off x="323850" y="476250"/>
            <a:ext cx="935038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60" name="AutoShape 40"/>
          <p:cNvSpPr/>
          <p:nvPr/>
        </p:nvSpPr>
        <p:spPr>
          <a:xfrm>
            <a:off x="4787900" y="1700213"/>
            <a:ext cx="647700" cy="144462"/>
          </a:xfrm>
          <a:prstGeom prst="rightArrow">
            <a:avLst>
              <a:gd name="adj1" fmla="val 50000"/>
              <a:gd name="adj2" fmla="val 112088"/>
            </a:avLst>
          </a:prstGeom>
          <a:solidFill>
            <a:srgbClr val="0099FF"/>
          </a:solidFill>
          <a:ln w="9525" cap="flat" cmpd="sng">
            <a:solidFill>
              <a:srgbClr val="00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30828" name="Object 108"/>
          <p:cNvGraphicFramePr>
            <a:graphicFrameLocks/>
          </p:cNvGraphicFramePr>
          <p:nvPr/>
        </p:nvGraphicFramePr>
        <p:xfrm>
          <a:off x="827088" y="4221163"/>
          <a:ext cx="2860675" cy="989012"/>
        </p:xfrm>
        <a:graphic>
          <a:graphicData uri="http://schemas.openxmlformats.org/presentationml/2006/ole">
            <p:oleObj spid="_x0000_s60417" r:id="rId3" imgW="1320840" imgH="392040" progId="Equation.3">
              <p:embed/>
            </p:oleObj>
          </a:graphicData>
        </a:graphic>
      </p:graphicFrame>
      <p:grpSp>
        <p:nvGrpSpPr>
          <p:cNvPr id="51205" name="Group 11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289" name="Picture 114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90" name="Text Box 11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51206" name="Group 11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1287" name="Picture 117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88" name="Text Box 11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sp>
        <p:nvSpPr>
          <p:cNvPr id="30875" name="Text Box 155"/>
          <p:cNvSpPr txBox="1"/>
          <p:nvPr/>
        </p:nvSpPr>
        <p:spPr>
          <a:xfrm>
            <a:off x="1331913" y="549275"/>
            <a:ext cx="65532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求电路中的电流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lang="en-US" altLang="zh-CN" sz="2800" b="1" dirty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30900" name="AutoShape 180"/>
          <p:cNvSpPr/>
          <p:nvPr/>
        </p:nvSpPr>
        <p:spPr>
          <a:xfrm rot="10800000">
            <a:off x="6877050" y="3860800"/>
            <a:ext cx="719138" cy="792163"/>
          </a:xfrm>
          <a:custGeom>
            <a:avLst/>
            <a:gdLst>
              <a:gd name="txL" fmla="*/ 12427 w 21600"/>
              <a:gd name="txT" fmla="*/ 4068 h 21600"/>
              <a:gd name="txR" fmla="*/ 18565 w 21600"/>
              <a:gd name="txB" fmla="*/ 8090 h 21600"/>
            </a:gdLst>
            <a:ahLst/>
            <a:cxnLst>
              <a:cxn ang="17694720">
                <a:pos x="2147483646" y="0"/>
              </a:cxn>
              <a:cxn ang="5898240">
                <a:pos x="2147483646" y="2147483646"/>
              </a:cxn>
              <a:cxn ang="589824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21600" y="6079"/>
                </a:moveTo>
                <a:lnTo>
                  <a:pt x="12427" y="0"/>
                </a:lnTo>
                <a:lnTo>
                  <a:pt x="12427" y="4068"/>
                </a:lnTo>
                <a:cubicBezTo>
                  <a:pt x="5564" y="4068"/>
                  <a:pt x="0" y="7690"/>
                  <a:pt x="0" y="12158"/>
                </a:cubicBezTo>
                <a:lnTo>
                  <a:pt x="0" y="21600"/>
                </a:lnTo>
                <a:lnTo>
                  <a:pt x="4111" y="21600"/>
                </a:lnTo>
                <a:lnTo>
                  <a:pt x="4111" y="12158"/>
                </a:lnTo>
                <a:cubicBezTo>
                  <a:pt x="4111" y="9911"/>
                  <a:pt x="7834" y="8090"/>
                  <a:pt x="12427" y="8090"/>
                </a:cubicBezTo>
                <a:lnTo>
                  <a:pt x="12427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0099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0901" name="Group 181"/>
          <p:cNvGrpSpPr/>
          <p:nvPr/>
        </p:nvGrpSpPr>
        <p:grpSpPr>
          <a:xfrm>
            <a:off x="3779838" y="3500438"/>
            <a:ext cx="2951162" cy="2808287"/>
            <a:chOff x="748" y="2069"/>
            <a:chExt cx="1859" cy="1769"/>
          </a:xfrm>
        </p:grpSpPr>
        <p:sp>
          <p:nvSpPr>
            <p:cNvPr id="51270" name="Oval 182"/>
            <p:cNvSpPr/>
            <p:nvPr/>
          </p:nvSpPr>
          <p:spPr>
            <a:xfrm>
              <a:off x="748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71" name="Oval 183"/>
            <p:cNvSpPr/>
            <p:nvPr/>
          </p:nvSpPr>
          <p:spPr>
            <a:xfrm>
              <a:off x="2244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72" name="Text Box 184"/>
            <p:cNvSpPr txBox="1"/>
            <p:nvPr/>
          </p:nvSpPr>
          <p:spPr>
            <a:xfrm>
              <a:off x="1112" y="3249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60V</a:t>
              </a:r>
            </a:p>
          </p:txBody>
        </p:sp>
        <p:sp>
          <p:nvSpPr>
            <p:cNvPr id="51273" name="Text Box 185"/>
            <p:cNvSpPr txBox="1"/>
            <p:nvPr/>
          </p:nvSpPr>
          <p:spPr>
            <a:xfrm>
              <a:off x="1927" y="2659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51274" name="Text Box 186"/>
            <p:cNvSpPr txBox="1"/>
            <p:nvPr/>
          </p:nvSpPr>
          <p:spPr>
            <a:xfrm>
              <a:off x="975" y="2523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51275" name="Text Box 187"/>
            <p:cNvSpPr txBox="1"/>
            <p:nvPr/>
          </p:nvSpPr>
          <p:spPr>
            <a:xfrm>
              <a:off x="1927" y="2069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1276" name="Text Box 188"/>
            <p:cNvSpPr txBox="1"/>
            <p:nvPr/>
          </p:nvSpPr>
          <p:spPr>
            <a:xfrm>
              <a:off x="1383" y="2069"/>
              <a:ext cx="49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77" name="Text Box 189"/>
            <p:cNvSpPr txBox="1"/>
            <p:nvPr/>
          </p:nvSpPr>
          <p:spPr>
            <a:xfrm>
              <a:off x="1791" y="3203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30V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78" name="Text Box 190"/>
            <p:cNvSpPr txBox="1"/>
            <p:nvPr/>
          </p:nvSpPr>
          <p:spPr>
            <a:xfrm>
              <a:off x="2154" y="3430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79" name="Text Box 191"/>
            <p:cNvSpPr txBox="1"/>
            <p:nvPr/>
          </p:nvSpPr>
          <p:spPr>
            <a:xfrm>
              <a:off x="2154" y="2931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80" name="Text Box 192"/>
            <p:cNvSpPr txBox="1"/>
            <p:nvPr/>
          </p:nvSpPr>
          <p:spPr>
            <a:xfrm>
              <a:off x="1066" y="2931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81" name="Text Box 193"/>
            <p:cNvSpPr txBox="1"/>
            <p:nvPr/>
          </p:nvSpPr>
          <p:spPr>
            <a:xfrm>
              <a:off x="1066" y="3430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82" name="Rectangle 194"/>
            <p:cNvSpPr/>
            <p:nvPr/>
          </p:nvSpPr>
          <p:spPr>
            <a:xfrm>
              <a:off x="930" y="2432"/>
              <a:ext cx="1496" cy="140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83" name="Rectangle 195"/>
            <p:cNvSpPr/>
            <p:nvPr/>
          </p:nvSpPr>
          <p:spPr>
            <a:xfrm>
              <a:off x="2344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84" name="Rectangle 196"/>
            <p:cNvSpPr/>
            <p:nvPr/>
          </p:nvSpPr>
          <p:spPr>
            <a:xfrm>
              <a:off x="884" y="256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85" name="Rectangle 197"/>
            <p:cNvSpPr/>
            <p:nvPr/>
          </p:nvSpPr>
          <p:spPr>
            <a:xfrm>
              <a:off x="1474" y="238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86" name="Line 198"/>
            <p:cNvSpPr/>
            <p:nvPr/>
          </p:nvSpPr>
          <p:spPr>
            <a:xfrm flipV="1">
              <a:off x="1973" y="2387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</p:grpSp>
      <p:grpSp>
        <p:nvGrpSpPr>
          <p:cNvPr id="51210" name="Group 202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1268" name="Picture 203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69" name="Text Box 20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grpSp>
        <p:nvGrpSpPr>
          <p:cNvPr id="30926" name="Group 206"/>
          <p:cNvGrpSpPr/>
          <p:nvPr/>
        </p:nvGrpSpPr>
        <p:grpSpPr>
          <a:xfrm>
            <a:off x="5437188" y="692150"/>
            <a:ext cx="3527425" cy="2808288"/>
            <a:chOff x="3424" y="436"/>
            <a:chExt cx="2222" cy="1769"/>
          </a:xfrm>
        </p:grpSpPr>
        <p:sp>
          <p:nvSpPr>
            <p:cNvPr id="51245" name="Oval 157"/>
            <p:cNvSpPr/>
            <p:nvPr/>
          </p:nvSpPr>
          <p:spPr>
            <a:xfrm>
              <a:off x="5238" y="152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46" name="Oval 158"/>
            <p:cNvSpPr/>
            <p:nvPr/>
          </p:nvSpPr>
          <p:spPr>
            <a:xfrm>
              <a:off x="4286" y="157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47" name="Line 159"/>
            <p:cNvSpPr/>
            <p:nvPr/>
          </p:nvSpPr>
          <p:spPr>
            <a:xfrm>
              <a:off x="4468" y="799"/>
              <a:ext cx="0" cy="140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1248" name="Text Box 160"/>
            <p:cNvSpPr txBox="1"/>
            <p:nvPr/>
          </p:nvSpPr>
          <p:spPr>
            <a:xfrm>
              <a:off x="3788" y="1616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40V</a:t>
              </a:r>
            </a:p>
          </p:txBody>
        </p:sp>
        <p:sp>
          <p:nvSpPr>
            <p:cNvPr id="51249" name="Text Box 161"/>
            <p:cNvSpPr txBox="1"/>
            <p:nvPr/>
          </p:nvSpPr>
          <p:spPr>
            <a:xfrm>
              <a:off x="4921" y="1026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51250" name="Text Box 162"/>
            <p:cNvSpPr txBox="1"/>
            <p:nvPr/>
          </p:nvSpPr>
          <p:spPr>
            <a:xfrm>
              <a:off x="3924" y="981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51251" name="Text Box 163"/>
            <p:cNvSpPr txBox="1"/>
            <p:nvPr/>
          </p:nvSpPr>
          <p:spPr>
            <a:xfrm>
              <a:off x="3606" y="926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2A</a:t>
              </a:r>
            </a:p>
          </p:txBody>
        </p:sp>
        <p:sp>
          <p:nvSpPr>
            <p:cNvPr id="51252" name="Text Box 164"/>
            <p:cNvSpPr txBox="1"/>
            <p:nvPr/>
          </p:nvSpPr>
          <p:spPr>
            <a:xfrm>
              <a:off x="5102" y="436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1253" name="Text Box 165"/>
            <p:cNvSpPr txBox="1"/>
            <p:nvPr/>
          </p:nvSpPr>
          <p:spPr>
            <a:xfrm>
              <a:off x="4649" y="436"/>
              <a:ext cx="49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54" name="Text Box 166"/>
            <p:cNvSpPr txBox="1"/>
            <p:nvPr/>
          </p:nvSpPr>
          <p:spPr>
            <a:xfrm>
              <a:off x="4785" y="1570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30V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55" name="Text Box 167"/>
            <p:cNvSpPr txBox="1"/>
            <p:nvPr/>
          </p:nvSpPr>
          <p:spPr>
            <a:xfrm>
              <a:off x="5148" y="1797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56" name="Text Box 168"/>
            <p:cNvSpPr txBox="1"/>
            <p:nvPr/>
          </p:nvSpPr>
          <p:spPr>
            <a:xfrm>
              <a:off x="5148" y="1298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57" name="Text Box 169"/>
            <p:cNvSpPr txBox="1"/>
            <p:nvPr/>
          </p:nvSpPr>
          <p:spPr>
            <a:xfrm>
              <a:off x="4150" y="1344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58" name="Text Box 170"/>
            <p:cNvSpPr txBox="1"/>
            <p:nvPr/>
          </p:nvSpPr>
          <p:spPr>
            <a:xfrm>
              <a:off x="4150" y="1797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59" name="Rectangle 171"/>
            <p:cNvSpPr/>
            <p:nvPr/>
          </p:nvSpPr>
          <p:spPr>
            <a:xfrm>
              <a:off x="3606" y="799"/>
              <a:ext cx="1814" cy="140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60" name="Rectangle 175"/>
            <p:cNvSpPr/>
            <p:nvPr/>
          </p:nvSpPr>
          <p:spPr>
            <a:xfrm>
              <a:off x="5338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61" name="Rectangle 176"/>
            <p:cNvSpPr/>
            <p:nvPr/>
          </p:nvSpPr>
          <p:spPr>
            <a:xfrm>
              <a:off x="4423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62" name="Line 177"/>
            <p:cNvSpPr/>
            <p:nvPr/>
          </p:nvSpPr>
          <p:spPr>
            <a:xfrm flipV="1">
              <a:off x="3606" y="935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63" name="Rectangle 178"/>
            <p:cNvSpPr/>
            <p:nvPr/>
          </p:nvSpPr>
          <p:spPr>
            <a:xfrm>
              <a:off x="4740" y="75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64" name="Line 179"/>
            <p:cNvSpPr/>
            <p:nvPr/>
          </p:nvSpPr>
          <p:spPr>
            <a:xfrm flipV="1">
              <a:off x="5102" y="754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grpSp>
          <p:nvGrpSpPr>
            <p:cNvPr id="51265" name="Group 172"/>
            <p:cNvGrpSpPr/>
            <p:nvPr/>
          </p:nvGrpSpPr>
          <p:grpSpPr>
            <a:xfrm>
              <a:off x="3424" y="1253"/>
              <a:ext cx="363" cy="363"/>
              <a:chOff x="4785" y="709"/>
              <a:chExt cx="363" cy="363"/>
            </a:xfrm>
          </p:grpSpPr>
          <p:sp>
            <p:nvSpPr>
              <p:cNvPr id="51266" name="Oval 17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1267" name="Line 17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0927" name="Group 207"/>
          <p:cNvGrpSpPr/>
          <p:nvPr/>
        </p:nvGrpSpPr>
        <p:grpSpPr>
          <a:xfrm>
            <a:off x="179388" y="1268413"/>
            <a:ext cx="4608512" cy="2303462"/>
            <a:chOff x="113" y="799"/>
            <a:chExt cx="2903" cy="1451"/>
          </a:xfrm>
        </p:grpSpPr>
        <p:sp>
          <p:nvSpPr>
            <p:cNvPr id="51213" name="Oval 123"/>
            <p:cNvSpPr/>
            <p:nvPr/>
          </p:nvSpPr>
          <p:spPr>
            <a:xfrm>
              <a:off x="2653" y="157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14" name="Oval 124"/>
            <p:cNvSpPr/>
            <p:nvPr/>
          </p:nvSpPr>
          <p:spPr>
            <a:xfrm>
              <a:off x="1337" y="161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15" name="Line 125"/>
            <p:cNvSpPr/>
            <p:nvPr/>
          </p:nvSpPr>
          <p:spPr>
            <a:xfrm>
              <a:off x="1519" y="844"/>
              <a:ext cx="0" cy="140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1216" name="Line 126"/>
            <p:cNvSpPr/>
            <p:nvPr/>
          </p:nvSpPr>
          <p:spPr>
            <a:xfrm>
              <a:off x="1519" y="1479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1217" name="Line 127"/>
            <p:cNvSpPr/>
            <p:nvPr/>
          </p:nvSpPr>
          <p:spPr>
            <a:xfrm>
              <a:off x="2154" y="1479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1218" name="Text Box 128"/>
            <p:cNvSpPr txBox="1"/>
            <p:nvPr/>
          </p:nvSpPr>
          <p:spPr>
            <a:xfrm>
              <a:off x="817" y="1661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40V</a:t>
              </a:r>
            </a:p>
          </p:txBody>
        </p:sp>
        <p:sp>
          <p:nvSpPr>
            <p:cNvPr id="51219" name="Text Box 129"/>
            <p:cNvSpPr txBox="1"/>
            <p:nvPr/>
          </p:nvSpPr>
          <p:spPr>
            <a:xfrm>
              <a:off x="113" y="1661"/>
              <a:ext cx="58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51220" name="Text Box 130"/>
            <p:cNvSpPr txBox="1"/>
            <p:nvPr/>
          </p:nvSpPr>
          <p:spPr>
            <a:xfrm>
              <a:off x="2358" y="1026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51221" name="Text Box 131"/>
            <p:cNvSpPr txBox="1"/>
            <p:nvPr/>
          </p:nvSpPr>
          <p:spPr>
            <a:xfrm>
              <a:off x="953" y="1026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51222" name="Text Box 132"/>
            <p:cNvSpPr txBox="1"/>
            <p:nvPr/>
          </p:nvSpPr>
          <p:spPr>
            <a:xfrm>
              <a:off x="203" y="845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2A</a:t>
              </a:r>
            </a:p>
          </p:txBody>
        </p:sp>
        <p:sp>
          <p:nvSpPr>
            <p:cNvPr id="51223" name="Text Box 133"/>
            <p:cNvSpPr txBox="1"/>
            <p:nvPr/>
          </p:nvSpPr>
          <p:spPr>
            <a:xfrm>
              <a:off x="2132" y="799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1224" name="Text Box 134"/>
            <p:cNvSpPr txBox="1"/>
            <p:nvPr/>
          </p:nvSpPr>
          <p:spPr>
            <a:xfrm>
              <a:off x="1791" y="1515"/>
              <a:ext cx="4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2A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25" name="Text Box 135"/>
            <p:cNvSpPr txBox="1"/>
            <p:nvPr/>
          </p:nvSpPr>
          <p:spPr>
            <a:xfrm>
              <a:off x="1678" y="890"/>
              <a:ext cx="49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26" name="Text Box 136"/>
            <p:cNvSpPr txBox="1"/>
            <p:nvPr/>
          </p:nvSpPr>
          <p:spPr>
            <a:xfrm>
              <a:off x="2199" y="1515"/>
              <a:ext cx="5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30V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27" name="Text Box 137"/>
            <p:cNvSpPr txBox="1"/>
            <p:nvPr/>
          </p:nvSpPr>
          <p:spPr>
            <a:xfrm>
              <a:off x="2471" y="1752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28" name="Text Box 138"/>
            <p:cNvSpPr txBox="1"/>
            <p:nvPr/>
          </p:nvSpPr>
          <p:spPr>
            <a:xfrm>
              <a:off x="2471" y="1253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29" name="Text Box 139"/>
            <p:cNvSpPr txBox="1"/>
            <p:nvPr/>
          </p:nvSpPr>
          <p:spPr>
            <a:xfrm>
              <a:off x="1179" y="1389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30" name="Text Box 140"/>
            <p:cNvSpPr txBox="1"/>
            <p:nvPr/>
          </p:nvSpPr>
          <p:spPr>
            <a:xfrm>
              <a:off x="1179" y="1842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1231" name="Rectangle 141"/>
            <p:cNvSpPr/>
            <p:nvPr/>
          </p:nvSpPr>
          <p:spPr>
            <a:xfrm>
              <a:off x="612" y="844"/>
              <a:ext cx="2223" cy="1406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32" name="Rectangle 148"/>
            <p:cNvSpPr/>
            <p:nvPr/>
          </p:nvSpPr>
          <p:spPr>
            <a:xfrm>
              <a:off x="2776" y="102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33" name="Rectangle 149"/>
            <p:cNvSpPr/>
            <p:nvPr/>
          </p:nvSpPr>
          <p:spPr>
            <a:xfrm>
              <a:off x="1474" y="102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34" name="Rectangle 150"/>
            <p:cNvSpPr/>
            <p:nvPr/>
          </p:nvSpPr>
          <p:spPr>
            <a:xfrm>
              <a:off x="553" y="170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35" name="Line 151"/>
            <p:cNvSpPr/>
            <p:nvPr/>
          </p:nvSpPr>
          <p:spPr>
            <a:xfrm flipV="1">
              <a:off x="612" y="890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36" name="Line 152"/>
            <p:cNvSpPr/>
            <p:nvPr/>
          </p:nvSpPr>
          <p:spPr>
            <a:xfrm flipV="1">
              <a:off x="2154" y="1525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37" name="Rectangle 153"/>
            <p:cNvSpPr/>
            <p:nvPr/>
          </p:nvSpPr>
          <p:spPr>
            <a:xfrm>
              <a:off x="1769" y="7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38" name="Line 154"/>
            <p:cNvSpPr/>
            <p:nvPr/>
          </p:nvSpPr>
          <p:spPr>
            <a:xfrm flipV="1">
              <a:off x="2223" y="799"/>
              <a:ext cx="363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grpSp>
          <p:nvGrpSpPr>
            <p:cNvPr id="51239" name="Group 142"/>
            <p:cNvGrpSpPr/>
            <p:nvPr/>
          </p:nvGrpSpPr>
          <p:grpSpPr>
            <a:xfrm>
              <a:off x="1972" y="1797"/>
              <a:ext cx="363" cy="363"/>
              <a:chOff x="4785" y="709"/>
              <a:chExt cx="363" cy="363"/>
            </a:xfrm>
          </p:grpSpPr>
          <p:sp>
            <p:nvSpPr>
              <p:cNvPr id="51243" name="Oval 14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1244" name="Line 14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240" name="Group 145"/>
            <p:cNvGrpSpPr/>
            <p:nvPr/>
          </p:nvGrpSpPr>
          <p:grpSpPr>
            <a:xfrm>
              <a:off x="430" y="1162"/>
              <a:ext cx="363" cy="363"/>
              <a:chOff x="4785" y="709"/>
              <a:chExt cx="363" cy="363"/>
            </a:xfrm>
          </p:grpSpPr>
          <p:sp>
            <p:nvSpPr>
              <p:cNvPr id="51241" name="Oval 14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1242" name="Line 14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0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6" grpId="0"/>
      <p:bldP spid="30760" grpId="0" animBg="1"/>
      <p:bldP spid="3087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/>
          <p:nvPr/>
        </p:nvSpPr>
        <p:spPr>
          <a:xfrm>
            <a:off x="395288" y="428625"/>
            <a:ext cx="795337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02" name="AutoShape 6"/>
          <p:cNvSpPr/>
          <p:nvPr/>
        </p:nvSpPr>
        <p:spPr>
          <a:xfrm rot="5400000">
            <a:off x="6424613" y="3159125"/>
            <a:ext cx="685800" cy="215900"/>
          </a:xfrm>
          <a:prstGeom prst="rightArrow">
            <a:avLst>
              <a:gd name="adj1" fmla="val 50000"/>
              <a:gd name="adj2" fmla="val 79411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29705" name="Text Box 9"/>
          <p:cNvSpPr txBox="1"/>
          <p:nvPr/>
        </p:nvSpPr>
        <p:spPr>
          <a:xfrm>
            <a:off x="395288" y="4005263"/>
            <a:ext cx="3960812" cy="214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受控源和独立源一样可以进行电源转换；转换过程中注意不要丢失控制量。</a:t>
            </a:r>
          </a:p>
        </p:txBody>
      </p:sp>
      <p:sp>
        <p:nvSpPr>
          <p:cNvPr id="29795" name="Text Box 99"/>
          <p:cNvSpPr txBox="1"/>
          <p:nvPr/>
        </p:nvSpPr>
        <p:spPr>
          <a:xfrm>
            <a:off x="971550" y="476250"/>
            <a:ext cx="2160588" cy="519113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求电流 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endParaRPr lang="en-US" altLang="zh-CN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9845" name="Object 149"/>
          <p:cNvGraphicFramePr>
            <a:graphicFrameLocks/>
          </p:cNvGraphicFramePr>
          <p:nvPr/>
        </p:nvGraphicFramePr>
        <p:xfrm>
          <a:off x="827088" y="1052513"/>
          <a:ext cx="2520950" cy="1046162"/>
        </p:xfrm>
        <a:graphic>
          <a:graphicData uri="http://schemas.openxmlformats.org/presentationml/2006/ole">
            <p:oleObj spid="_x0000_s66563" r:id="rId3" imgW="1065960" imgH="426600" progId="Equation.3">
              <p:embed/>
            </p:oleObj>
          </a:graphicData>
        </a:graphic>
      </p:graphicFrame>
      <p:graphicFrame>
        <p:nvGraphicFramePr>
          <p:cNvPr id="29846" name="Object 150"/>
          <p:cNvGraphicFramePr>
            <a:graphicFrameLocks/>
          </p:cNvGraphicFramePr>
          <p:nvPr/>
        </p:nvGraphicFramePr>
        <p:xfrm>
          <a:off x="539750" y="2205038"/>
          <a:ext cx="3960813" cy="530225"/>
        </p:xfrm>
        <a:graphic>
          <a:graphicData uri="http://schemas.openxmlformats.org/presentationml/2006/ole">
            <p:oleObj spid="_x0000_s66562" r:id="rId4" imgW="1622160" imgH="196200" progId="Equation.3">
              <p:embed/>
            </p:oleObj>
          </a:graphicData>
        </a:graphic>
      </p:graphicFrame>
      <p:graphicFrame>
        <p:nvGraphicFramePr>
          <p:cNvPr id="29847" name="Object 151"/>
          <p:cNvGraphicFramePr>
            <a:graphicFrameLocks/>
          </p:cNvGraphicFramePr>
          <p:nvPr/>
        </p:nvGraphicFramePr>
        <p:xfrm>
          <a:off x="611188" y="2708275"/>
          <a:ext cx="3313112" cy="1041400"/>
        </p:xfrm>
        <a:graphic>
          <a:graphicData uri="http://schemas.openxmlformats.org/presentationml/2006/ole">
            <p:oleObj spid="_x0000_s66561" r:id="rId5" imgW="1413720" imgH="426600" progId="Equation.3">
              <p:embed/>
            </p:oleObj>
          </a:graphicData>
        </a:graphic>
      </p:graphicFrame>
      <p:grpSp>
        <p:nvGrpSpPr>
          <p:cNvPr id="52233" name="Group 15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2294" name="Picture 158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95" name="Text Box 15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52234" name="Group 160"/>
          <p:cNvGrpSpPr/>
          <p:nvPr/>
        </p:nvGrpSpPr>
        <p:grpSpPr>
          <a:xfrm>
            <a:off x="7451725" y="6446838"/>
            <a:ext cx="792163" cy="366712"/>
            <a:chOff x="4649" y="4020"/>
            <a:chExt cx="499" cy="231"/>
          </a:xfrm>
        </p:grpSpPr>
        <p:pic>
          <p:nvPicPr>
            <p:cNvPr id="52292" name="Picture 161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93" name="Text Box 16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29862" name="Group 166"/>
          <p:cNvGrpSpPr/>
          <p:nvPr/>
        </p:nvGrpSpPr>
        <p:grpSpPr>
          <a:xfrm>
            <a:off x="179388" y="3860800"/>
            <a:ext cx="1644650" cy="850900"/>
            <a:chOff x="385" y="3022"/>
            <a:chExt cx="1036" cy="536"/>
          </a:xfrm>
        </p:grpSpPr>
        <p:pic>
          <p:nvPicPr>
            <p:cNvPr id="52290" name="Picture 167" descr="1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91" name="Text Box 168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</a:p>
          </p:txBody>
        </p:sp>
      </p:grpSp>
      <p:grpSp>
        <p:nvGrpSpPr>
          <p:cNvPr id="29865" name="Group 169"/>
          <p:cNvGrpSpPr/>
          <p:nvPr/>
        </p:nvGrpSpPr>
        <p:grpSpPr>
          <a:xfrm>
            <a:off x="4787900" y="404813"/>
            <a:ext cx="3887788" cy="2319337"/>
            <a:chOff x="1837" y="2151"/>
            <a:chExt cx="2449" cy="1461"/>
          </a:xfrm>
        </p:grpSpPr>
        <p:sp>
          <p:nvSpPr>
            <p:cNvPr id="52272" name="AutoShape 170"/>
            <p:cNvSpPr/>
            <p:nvPr/>
          </p:nvSpPr>
          <p:spPr>
            <a:xfrm>
              <a:off x="3833" y="2886"/>
              <a:ext cx="453" cy="363"/>
            </a:xfrm>
            <a:prstGeom prst="diamond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2273" name="Oval 171"/>
            <p:cNvSpPr/>
            <p:nvPr/>
          </p:nvSpPr>
          <p:spPr>
            <a:xfrm>
              <a:off x="1837" y="284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74" name="Text Box 172"/>
            <p:cNvSpPr txBox="1"/>
            <p:nvPr/>
          </p:nvSpPr>
          <p:spPr>
            <a:xfrm>
              <a:off x="3742" y="2659"/>
              <a:ext cx="36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52275" name="Text Box 173"/>
            <p:cNvSpPr txBox="1"/>
            <p:nvPr/>
          </p:nvSpPr>
          <p:spPr>
            <a:xfrm>
              <a:off x="3742" y="3113"/>
              <a:ext cx="27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52276" name="Text Box 174"/>
            <p:cNvSpPr txBox="1"/>
            <p:nvPr/>
          </p:nvSpPr>
          <p:spPr>
            <a:xfrm>
              <a:off x="2200" y="2840"/>
              <a:ext cx="6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</a:p>
          </p:txBody>
        </p:sp>
        <p:sp>
          <p:nvSpPr>
            <p:cNvPr id="52277" name="Line 175"/>
            <p:cNvSpPr/>
            <p:nvPr/>
          </p:nvSpPr>
          <p:spPr>
            <a:xfrm>
              <a:off x="2971" y="2523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78" name="Line 176"/>
            <p:cNvSpPr/>
            <p:nvPr/>
          </p:nvSpPr>
          <p:spPr>
            <a:xfrm>
              <a:off x="2154" y="2659"/>
              <a:ext cx="499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79" name="Text Box 177"/>
            <p:cNvSpPr txBox="1"/>
            <p:nvPr/>
          </p:nvSpPr>
          <p:spPr>
            <a:xfrm>
              <a:off x="2018" y="2614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80" name="Text Box 178"/>
            <p:cNvSpPr txBox="1"/>
            <p:nvPr/>
          </p:nvSpPr>
          <p:spPr>
            <a:xfrm>
              <a:off x="2109" y="3067"/>
              <a:ext cx="22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81" name="Text Box 179"/>
            <p:cNvSpPr txBox="1"/>
            <p:nvPr/>
          </p:nvSpPr>
          <p:spPr>
            <a:xfrm>
              <a:off x="3379" y="2160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82" name="Text Box 180"/>
            <p:cNvSpPr txBox="1"/>
            <p:nvPr/>
          </p:nvSpPr>
          <p:spPr>
            <a:xfrm>
              <a:off x="3016" y="2840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83" name="Text Box 181"/>
            <p:cNvSpPr txBox="1"/>
            <p:nvPr/>
          </p:nvSpPr>
          <p:spPr>
            <a:xfrm>
              <a:off x="2336" y="2151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84" name="Text Box 182"/>
            <p:cNvSpPr txBox="1"/>
            <p:nvPr/>
          </p:nvSpPr>
          <p:spPr>
            <a:xfrm>
              <a:off x="2653" y="2478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85" name="Text Box 183"/>
            <p:cNvSpPr txBox="1"/>
            <p:nvPr/>
          </p:nvSpPr>
          <p:spPr>
            <a:xfrm>
              <a:off x="3470" y="2931"/>
              <a:ext cx="4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86" name="Rectangle 184"/>
            <p:cNvSpPr/>
            <p:nvPr/>
          </p:nvSpPr>
          <p:spPr>
            <a:xfrm>
              <a:off x="2018" y="2523"/>
              <a:ext cx="2041" cy="1089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2287" name="Rectangle 185"/>
            <p:cNvSpPr/>
            <p:nvPr/>
          </p:nvSpPr>
          <p:spPr>
            <a:xfrm>
              <a:off x="2889" y="28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2288" name="Rectangle 186"/>
            <p:cNvSpPr/>
            <p:nvPr/>
          </p:nvSpPr>
          <p:spPr>
            <a:xfrm>
              <a:off x="3379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2289" name="Rectangle 187"/>
            <p:cNvSpPr/>
            <p:nvPr/>
          </p:nvSpPr>
          <p:spPr>
            <a:xfrm>
              <a:off x="2336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52237" name="Group 224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2270" name="Picture 225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71" name="Text Box 22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grpSp>
        <p:nvGrpSpPr>
          <p:cNvPr id="29923" name="Group 227"/>
          <p:cNvGrpSpPr/>
          <p:nvPr/>
        </p:nvGrpSpPr>
        <p:grpSpPr>
          <a:xfrm>
            <a:off x="4716463" y="4005263"/>
            <a:ext cx="3887787" cy="1843087"/>
            <a:chOff x="2971" y="2523"/>
            <a:chExt cx="2449" cy="1161"/>
          </a:xfrm>
        </p:grpSpPr>
        <p:sp>
          <p:nvSpPr>
            <p:cNvPr id="52255" name="Oval 189"/>
            <p:cNvSpPr/>
            <p:nvPr/>
          </p:nvSpPr>
          <p:spPr>
            <a:xfrm>
              <a:off x="2971" y="291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56" name="Text Box 190"/>
            <p:cNvSpPr txBox="1"/>
            <p:nvPr/>
          </p:nvSpPr>
          <p:spPr>
            <a:xfrm>
              <a:off x="3289" y="2912"/>
              <a:ext cx="6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</a:p>
          </p:txBody>
        </p:sp>
        <p:sp>
          <p:nvSpPr>
            <p:cNvPr id="52257" name="Line 191"/>
            <p:cNvSpPr/>
            <p:nvPr/>
          </p:nvSpPr>
          <p:spPr>
            <a:xfrm>
              <a:off x="4105" y="2595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58" name="Line 192"/>
            <p:cNvSpPr/>
            <p:nvPr/>
          </p:nvSpPr>
          <p:spPr>
            <a:xfrm>
              <a:off x="3788" y="2523"/>
              <a:ext cx="318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9" name="Text Box 193"/>
            <p:cNvSpPr txBox="1"/>
            <p:nvPr/>
          </p:nvSpPr>
          <p:spPr>
            <a:xfrm>
              <a:off x="3108" y="2659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60" name="Text Box 194"/>
            <p:cNvSpPr txBox="1"/>
            <p:nvPr/>
          </p:nvSpPr>
          <p:spPr>
            <a:xfrm>
              <a:off x="3198" y="3139"/>
              <a:ext cx="22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61" name="Text Box 195"/>
            <p:cNvSpPr txBox="1"/>
            <p:nvPr/>
          </p:nvSpPr>
          <p:spPr>
            <a:xfrm>
              <a:off x="3470" y="2650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62" name="Text Box 196"/>
            <p:cNvSpPr txBox="1"/>
            <p:nvPr/>
          </p:nvSpPr>
          <p:spPr>
            <a:xfrm>
              <a:off x="3770" y="2523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63" name="Rectangle 197"/>
            <p:cNvSpPr/>
            <p:nvPr/>
          </p:nvSpPr>
          <p:spPr>
            <a:xfrm>
              <a:off x="3152" y="2595"/>
              <a:ext cx="2041" cy="1089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2264" name="Rectangle 198"/>
            <p:cNvSpPr/>
            <p:nvPr/>
          </p:nvSpPr>
          <p:spPr>
            <a:xfrm>
              <a:off x="4023" y="300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2265" name="Rectangle 199"/>
            <p:cNvSpPr/>
            <p:nvPr/>
          </p:nvSpPr>
          <p:spPr>
            <a:xfrm>
              <a:off x="3424" y="255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2266" name="Text Box 200"/>
            <p:cNvSpPr txBox="1"/>
            <p:nvPr/>
          </p:nvSpPr>
          <p:spPr>
            <a:xfrm>
              <a:off x="4150" y="3094"/>
              <a:ext cx="68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//</a:t>
              </a: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67" name="Text Box 201"/>
            <p:cNvSpPr txBox="1"/>
            <p:nvPr/>
          </p:nvSpPr>
          <p:spPr>
            <a:xfrm>
              <a:off x="4422" y="2659"/>
              <a:ext cx="86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/R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2268" name="Line 203"/>
            <p:cNvSpPr/>
            <p:nvPr/>
          </p:nvSpPr>
          <p:spPr>
            <a:xfrm flipV="1">
              <a:off x="5193" y="2704"/>
              <a:ext cx="0" cy="318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69" name="AutoShape 202"/>
            <p:cNvSpPr/>
            <p:nvPr/>
          </p:nvSpPr>
          <p:spPr>
            <a:xfrm rot="10800000">
              <a:off x="4967" y="2976"/>
              <a:ext cx="453" cy="409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29916" name="Group 220"/>
          <p:cNvGrpSpPr/>
          <p:nvPr/>
        </p:nvGrpSpPr>
        <p:grpSpPr>
          <a:xfrm>
            <a:off x="4427538" y="3860800"/>
            <a:ext cx="4249737" cy="2089150"/>
            <a:chOff x="2925" y="1842"/>
            <a:chExt cx="2677" cy="1316"/>
          </a:xfrm>
        </p:grpSpPr>
        <p:sp>
          <p:nvSpPr>
            <p:cNvPr id="52240" name="Rectangle 219"/>
            <p:cNvSpPr/>
            <p:nvPr/>
          </p:nvSpPr>
          <p:spPr>
            <a:xfrm>
              <a:off x="2925" y="1842"/>
              <a:ext cx="2677" cy="1316"/>
            </a:xfrm>
            <a:prstGeom prst="rect">
              <a:avLst/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52241" name="Group 205"/>
            <p:cNvGrpSpPr/>
            <p:nvPr/>
          </p:nvGrpSpPr>
          <p:grpSpPr>
            <a:xfrm>
              <a:off x="3061" y="1979"/>
              <a:ext cx="2540" cy="1043"/>
              <a:chOff x="1837" y="2478"/>
              <a:chExt cx="2540" cy="1043"/>
            </a:xfrm>
          </p:grpSpPr>
          <p:sp>
            <p:nvSpPr>
              <p:cNvPr id="52242" name="AutoShape 206"/>
              <p:cNvSpPr/>
              <p:nvPr/>
            </p:nvSpPr>
            <p:spPr>
              <a:xfrm>
                <a:off x="3833" y="2840"/>
                <a:ext cx="453" cy="363"/>
              </a:xfrm>
              <a:prstGeom prst="diamond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52243" name="Oval 207"/>
              <p:cNvSpPr/>
              <p:nvPr/>
            </p:nvSpPr>
            <p:spPr>
              <a:xfrm>
                <a:off x="1837" y="284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2244" name="Text Box 208"/>
              <p:cNvSpPr txBox="1"/>
              <p:nvPr/>
            </p:nvSpPr>
            <p:spPr>
              <a:xfrm>
                <a:off x="2200" y="2849"/>
                <a:ext cx="635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U</a:t>
                </a:r>
                <a:r>
                  <a:rPr lang="en-US" altLang="zh-CN" sz="280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</a:p>
            </p:txBody>
          </p:sp>
          <p:sp>
            <p:nvSpPr>
              <p:cNvPr id="52245" name="Line 209"/>
              <p:cNvSpPr/>
              <p:nvPr/>
            </p:nvSpPr>
            <p:spPr>
              <a:xfrm>
                <a:off x="2154" y="2614"/>
                <a:ext cx="499" cy="0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2246" name="Text Box 210"/>
              <p:cNvSpPr txBox="1"/>
              <p:nvPr/>
            </p:nvSpPr>
            <p:spPr>
              <a:xfrm>
                <a:off x="2018" y="2623"/>
                <a:ext cx="40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2247" name="Text Box 211"/>
              <p:cNvSpPr txBox="1"/>
              <p:nvPr/>
            </p:nvSpPr>
            <p:spPr>
              <a:xfrm>
                <a:off x="2109" y="3076"/>
                <a:ext cx="22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_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2248" name="Text Box 212"/>
              <p:cNvSpPr txBox="1"/>
              <p:nvPr/>
            </p:nvSpPr>
            <p:spPr>
              <a:xfrm>
                <a:off x="2925" y="2568"/>
                <a:ext cx="335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R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2249" name="Text Box 213"/>
              <p:cNvSpPr txBox="1"/>
              <p:nvPr/>
            </p:nvSpPr>
            <p:spPr>
              <a:xfrm>
                <a:off x="2562" y="2478"/>
                <a:ext cx="335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2250" name="Rectangle 214"/>
              <p:cNvSpPr/>
              <p:nvPr/>
            </p:nvSpPr>
            <p:spPr>
              <a:xfrm>
                <a:off x="2018" y="2532"/>
                <a:ext cx="2041" cy="989"/>
              </a:xfrm>
              <a:prstGeom prst="rect">
                <a:avLst/>
              </a:prstGeom>
              <a:noFill/>
              <a:ln w="28575" cap="flat" cmpd="sng">
                <a:solidFill>
                  <a:srgbClr val="FFCC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52251" name="Rectangle 215"/>
              <p:cNvSpPr/>
              <p:nvPr/>
            </p:nvSpPr>
            <p:spPr>
              <a:xfrm>
                <a:off x="2925" y="2478"/>
                <a:ext cx="317" cy="1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52252" name="Text Box 216"/>
              <p:cNvSpPr txBox="1"/>
              <p:nvPr/>
            </p:nvSpPr>
            <p:spPr>
              <a:xfrm>
                <a:off x="4014" y="2523"/>
                <a:ext cx="363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2253" name="Text Box 217"/>
              <p:cNvSpPr txBox="1"/>
              <p:nvPr/>
            </p:nvSpPr>
            <p:spPr>
              <a:xfrm>
                <a:off x="4014" y="3158"/>
                <a:ext cx="317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_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2254" name="Text Box 218"/>
              <p:cNvSpPr txBox="1"/>
              <p:nvPr/>
            </p:nvSpPr>
            <p:spPr>
              <a:xfrm>
                <a:off x="2562" y="2976"/>
                <a:ext cx="1451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//</a:t>
                </a: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)ri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/R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1000"/>
                                        <p:tgtEl>
                                          <p:spTgt spid="2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1000"/>
                                        <p:tgtEl>
                                          <p:spTgt spid="2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/>
      <p:bldP spid="29702" grpId="0" animBg="1"/>
      <p:bldP spid="29705" grpId="0"/>
      <p:bldP spid="2979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/>
          <p:nvPr/>
        </p:nvSpPr>
        <p:spPr>
          <a:xfrm>
            <a:off x="323850" y="549275"/>
            <a:ext cx="7953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2227" name="AutoShape 3"/>
          <p:cNvSpPr/>
          <p:nvPr/>
        </p:nvSpPr>
        <p:spPr>
          <a:xfrm>
            <a:off x="4356100" y="2420938"/>
            <a:ext cx="685800" cy="215900"/>
          </a:xfrm>
          <a:prstGeom prst="rightArrow">
            <a:avLst>
              <a:gd name="adj1" fmla="val 50000"/>
              <a:gd name="adj2" fmla="val 79411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52228" name="AutoShape 4"/>
          <p:cNvSpPr/>
          <p:nvPr/>
        </p:nvSpPr>
        <p:spPr>
          <a:xfrm>
            <a:off x="6877050" y="3429000"/>
            <a:ext cx="215900" cy="504825"/>
          </a:xfrm>
          <a:prstGeom prst="downArrow">
            <a:avLst>
              <a:gd name="adj1" fmla="val 50000"/>
              <a:gd name="adj2" fmla="val 58455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52305" name="Text Box 81"/>
          <p:cNvSpPr txBox="1"/>
          <p:nvPr/>
        </p:nvSpPr>
        <p:spPr>
          <a:xfrm>
            <a:off x="1222375" y="549275"/>
            <a:ext cx="7526338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把电路转换成一个电压源和一个电阻的串连</a:t>
            </a:r>
            <a:endParaRPr lang="zh-CN" altLang="en-US" sz="2800" b="1" dirty="0">
              <a:solidFill>
                <a:srgbClr val="FFFF00"/>
              </a:solidFill>
              <a:ea typeface="楷体_GB2312" pitchFamily="49" charset="-122"/>
            </a:endParaRPr>
          </a:p>
        </p:txBody>
      </p:sp>
      <p:graphicFrame>
        <p:nvGraphicFramePr>
          <p:cNvPr id="52306" name="Object 82"/>
          <p:cNvGraphicFramePr>
            <a:graphicFrameLocks/>
          </p:cNvGraphicFramePr>
          <p:nvPr/>
        </p:nvGraphicFramePr>
        <p:xfrm>
          <a:off x="755650" y="3933825"/>
          <a:ext cx="3973513" cy="1016000"/>
        </p:xfrm>
        <a:graphic>
          <a:graphicData uri="http://schemas.openxmlformats.org/presentationml/2006/ole">
            <p:oleObj spid="_x0000_s67585" r:id="rId3" imgW="1564200" imgH="380520" progId="Equation.3">
              <p:embed/>
            </p:oleObj>
          </a:graphicData>
        </a:graphic>
      </p:graphicFrame>
      <p:grpSp>
        <p:nvGrpSpPr>
          <p:cNvPr id="53255" name="Group 8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3324" name="Picture 85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325" name="Text Box 8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53256" name="Group 8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3322" name="Picture 88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323" name="Text Box 8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52362" name="Group 138"/>
          <p:cNvGrpSpPr/>
          <p:nvPr/>
        </p:nvGrpSpPr>
        <p:grpSpPr>
          <a:xfrm>
            <a:off x="5148263" y="1052513"/>
            <a:ext cx="3414712" cy="2305050"/>
            <a:chOff x="3335" y="663"/>
            <a:chExt cx="2151" cy="1452"/>
          </a:xfrm>
        </p:grpSpPr>
        <p:sp>
          <p:nvSpPr>
            <p:cNvPr id="53302" name="AutoShape 118"/>
            <p:cNvSpPr/>
            <p:nvPr/>
          </p:nvSpPr>
          <p:spPr>
            <a:xfrm>
              <a:off x="4378" y="981"/>
              <a:ext cx="453" cy="363"/>
            </a:xfrm>
            <a:prstGeom prst="diamond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03" name="Oval 119"/>
            <p:cNvSpPr/>
            <p:nvPr/>
          </p:nvSpPr>
          <p:spPr>
            <a:xfrm>
              <a:off x="3335" y="138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3304" name="Line 120"/>
            <p:cNvSpPr/>
            <p:nvPr/>
          </p:nvSpPr>
          <p:spPr>
            <a:xfrm>
              <a:off x="3516" y="1162"/>
              <a:ext cx="0" cy="9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5" name="Line 121"/>
            <p:cNvSpPr/>
            <p:nvPr/>
          </p:nvSpPr>
          <p:spPr>
            <a:xfrm>
              <a:off x="3516" y="1162"/>
              <a:ext cx="176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6" name="Line 122"/>
            <p:cNvSpPr/>
            <p:nvPr/>
          </p:nvSpPr>
          <p:spPr>
            <a:xfrm>
              <a:off x="3516" y="2069"/>
              <a:ext cx="181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7" name="Text Box 123"/>
            <p:cNvSpPr txBox="1"/>
            <p:nvPr/>
          </p:nvSpPr>
          <p:spPr>
            <a:xfrm>
              <a:off x="3651" y="799"/>
              <a:ext cx="61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53308" name="Text Box 124"/>
            <p:cNvSpPr txBox="1"/>
            <p:nvPr/>
          </p:nvSpPr>
          <p:spPr>
            <a:xfrm>
              <a:off x="3696" y="1434"/>
              <a:ext cx="7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53309" name="Text Box 125"/>
            <p:cNvSpPr txBox="1"/>
            <p:nvPr/>
          </p:nvSpPr>
          <p:spPr>
            <a:xfrm>
              <a:off x="4332" y="663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500</a:t>
              </a: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3310" name="Line 126"/>
            <p:cNvSpPr/>
            <p:nvPr/>
          </p:nvSpPr>
          <p:spPr>
            <a:xfrm flipH="1">
              <a:off x="4831" y="1207"/>
              <a:ext cx="35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3311" name="Text Box 127"/>
            <p:cNvSpPr txBox="1"/>
            <p:nvPr/>
          </p:nvSpPr>
          <p:spPr>
            <a:xfrm>
              <a:off x="3560" y="1162"/>
              <a:ext cx="33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53312" name="Text Box 128"/>
            <p:cNvSpPr txBox="1"/>
            <p:nvPr/>
          </p:nvSpPr>
          <p:spPr>
            <a:xfrm>
              <a:off x="3560" y="1570"/>
              <a:ext cx="32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53313" name="Text Box 129"/>
            <p:cNvSpPr txBox="1"/>
            <p:nvPr/>
          </p:nvSpPr>
          <p:spPr>
            <a:xfrm>
              <a:off x="5104" y="1434"/>
              <a:ext cx="34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3314" name="Rectangle 130"/>
            <p:cNvSpPr/>
            <p:nvPr/>
          </p:nvSpPr>
          <p:spPr>
            <a:xfrm>
              <a:off x="3788" y="111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15" name="Text Box 131"/>
            <p:cNvSpPr txBox="1"/>
            <p:nvPr/>
          </p:nvSpPr>
          <p:spPr>
            <a:xfrm>
              <a:off x="5149" y="1162"/>
              <a:ext cx="33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53316" name="Text Box 132"/>
            <p:cNvSpPr txBox="1"/>
            <p:nvPr/>
          </p:nvSpPr>
          <p:spPr>
            <a:xfrm>
              <a:off x="5149" y="1706"/>
              <a:ext cx="32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53317" name="Oval 133"/>
            <p:cNvSpPr/>
            <p:nvPr/>
          </p:nvSpPr>
          <p:spPr>
            <a:xfrm>
              <a:off x="5330" y="2024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18" name="Oval 134"/>
            <p:cNvSpPr/>
            <p:nvPr/>
          </p:nvSpPr>
          <p:spPr>
            <a:xfrm>
              <a:off x="5285" y="111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19" name="Text Box 135"/>
            <p:cNvSpPr txBox="1"/>
            <p:nvPr/>
          </p:nvSpPr>
          <p:spPr>
            <a:xfrm>
              <a:off x="4195" y="799"/>
              <a:ext cx="2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3320" name="Text Box 136"/>
            <p:cNvSpPr txBox="1"/>
            <p:nvPr/>
          </p:nvSpPr>
          <p:spPr>
            <a:xfrm>
              <a:off x="4740" y="799"/>
              <a:ext cx="317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321" name="Text Box 137"/>
            <p:cNvSpPr txBox="1"/>
            <p:nvPr/>
          </p:nvSpPr>
          <p:spPr>
            <a:xfrm>
              <a:off x="4921" y="799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</p:grpSp>
      <p:grpSp>
        <p:nvGrpSpPr>
          <p:cNvPr id="52364" name="Group 140"/>
          <p:cNvGrpSpPr/>
          <p:nvPr/>
        </p:nvGrpSpPr>
        <p:grpSpPr>
          <a:xfrm>
            <a:off x="5076825" y="3933825"/>
            <a:ext cx="3414713" cy="2089150"/>
            <a:chOff x="3198" y="663"/>
            <a:chExt cx="2151" cy="1316"/>
          </a:xfrm>
        </p:grpSpPr>
        <p:sp>
          <p:nvSpPr>
            <p:cNvPr id="53286" name="Text Box 141"/>
            <p:cNvSpPr txBox="1"/>
            <p:nvPr/>
          </p:nvSpPr>
          <p:spPr>
            <a:xfrm>
              <a:off x="4785" y="709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3287" name="Oval 142"/>
            <p:cNvSpPr/>
            <p:nvPr/>
          </p:nvSpPr>
          <p:spPr>
            <a:xfrm>
              <a:off x="3198" y="125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3288" name="Line 143"/>
            <p:cNvSpPr/>
            <p:nvPr/>
          </p:nvSpPr>
          <p:spPr>
            <a:xfrm>
              <a:off x="3379" y="1026"/>
              <a:ext cx="0" cy="9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9" name="Line 144"/>
            <p:cNvSpPr/>
            <p:nvPr/>
          </p:nvSpPr>
          <p:spPr>
            <a:xfrm>
              <a:off x="3379" y="1026"/>
              <a:ext cx="176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0" name="Line 145"/>
            <p:cNvSpPr/>
            <p:nvPr/>
          </p:nvSpPr>
          <p:spPr>
            <a:xfrm>
              <a:off x="3379" y="1933"/>
              <a:ext cx="181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1" name="Text Box 146"/>
            <p:cNvSpPr txBox="1"/>
            <p:nvPr/>
          </p:nvSpPr>
          <p:spPr>
            <a:xfrm>
              <a:off x="3787" y="663"/>
              <a:ext cx="77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1.5k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53292" name="Text Box 147"/>
            <p:cNvSpPr txBox="1"/>
            <p:nvPr/>
          </p:nvSpPr>
          <p:spPr>
            <a:xfrm>
              <a:off x="3560" y="1298"/>
              <a:ext cx="7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53293" name="Line 148"/>
            <p:cNvSpPr/>
            <p:nvPr/>
          </p:nvSpPr>
          <p:spPr>
            <a:xfrm flipH="1">
              <a:off x="4694" y="1071"/>
              <a:ext cx="35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3294" name="Text Box 149"/>
            <p:cNvSpPr txBox="1"/>
            <p:nvPr/>
          </p:nvSpPr>
          <p:spPr>
            <a:xfrm>
              <a:off x="3424" y="981"/>
              <a:ext cx="33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53295" name="Text Box 150"/>
            <p:cNvSpPr txBox="1"/>
            <p:nvPr/>
          </p:nvSpPr>
          <p:spPr>
            <a:xfrm>
              <a:off x="3379" y="1570"/>
              <a:ext cx="32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53296" name="Text Box 151"/>
            <p:cNvSpPr txBox="1"/>
            <p:nvPr/>
          </p:nvSpPr>
          <p:spPr>
            <a:xfrm>
              <a:off x="4967" y="1298"/>
              <a:ext cx="34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3297" name="Rectangle 152"/>
            <p:cNvSpPr/>
            <p:nvPr/>
          </p:nvSpPr>
          <p:spPr>
            <a:xfrm>
              <a:off x="3969" y="98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98" name="Text Box 153"/>
            <p:cNvSpPr txBox="1"/>
            <p:nvPr/>
          </p:nvSpPr>
          <p:spPr>
            <a:xfrm>
              <a:off x="5012" y="1026"/>
              <a:ext cx="33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53299" name="Text Box 154"/>
            <p:cNvSpPr txBox="1"/>
            <p:nvPr/>
          </p:nvSpPr>
          <p:spPr>
            <a:xfrm>
              <a:off x="5012" y="1570"/>
              <a:ext cx="32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53300" name="Oval 155"/>
            <p:cNvSpPr/>
            <p:nvPr/>
          </p:nvSpPr>
          <p:spPr>
            <a:xfrm>
              <a:off x="5193" y="188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01" name="Oval 156"/>
            <p:cNvSpPr/>
            <p:nvPr/>
          </p:nvSpPr>
          <p:spPr>
            <a:xfrm>
              <a:off x="5148" y="981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53259" name="Group 160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3284" name="Picture 161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85" name="Text Box 162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grpSp>
        <p:nvGrpSpPr>
          <p:cNvPr id="52387" name="Group 163"/>
          <p:cNvGrpSpPr/>
          <p:nvPr/>
        </p:nvGrpSpPr>
        <p:grpSpPr>
          <a:xfrm>
            <a:off x="539750" y="1268413"/>
            <a:ext cx="3671888" cy="2089150"/>
            <a:chOff x="340" y="799"/>
            <a:chExt cx="2313" cy="1316"/>
          </a:xfrm>
        </p:grpSpPr>
        <p:sp>
          <p:nvSpPr>
            <p:cNvPr id="53261" name="Oval 94"/>
            <p:cNvSpPr/>
            <p:nvPr/>
          </p:nvSpPr>
          <p:spPr>
            <a:xfrm>
              <a:off x="340" y="138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3262" name="Line 95"/>
            <p:cNvSpPr/>
            <p:nvPr/>
          </p:nvSpPr>
          <p:spPr>
            <a:xfrm>
              <a:off x="521" y="1162"/>
              <a:ext cx="0" cy="9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3" name="Line 96"/>
            <p:cNvSpPr/>
            <p:nvPr/>
          </p:nvSpPr>
          <p:spPr>
            <a:xfrm>
              <a:off x="521" y="1162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3264" name="Line 97"/>
            <p:cNvSpPr/>
            <p:nvPr/>
          </p:nvSpPr>
          <p:spPr>
            <a:xfrm>
              <a:off x="521" y="2069"/>
              <a:ext cx="199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5" name="Text Box 98"/>
            <p:cNvSpPr txBox="1"/>
            <p:nvPr/>
          </p:nvSpPr>
          <p:spPr>
            <a:xfrm>
              <a:off x="1383" y="935"/>
              <a:ext cx="61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53266" name="Text Box 99"/>
            <p:cNvSpPr txBox="1"/>
            <p:nvPr/>
          </p:nvSpPr>
          <p:spPr>
            <a:xfrm>
              <a:off x="679" y="799"/>
              <a:ext cx="61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1k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53267" name="Text Box 100"/>
            <p:cNvSpPr txBox="1"/>
            <p:nvPr/>
          </p:nvSpPr>
          <p:spPr>
            <a:xfrm>
              <a:off x="679" y="1434"/>
              <a:ext cx="7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53268" name="Line 101"/>
            <p:cNvSpPr/>
            <p:nvPr/>
          </p:nvSpPr>
          <p:spPr>
            <a:xfrm>
              <a:off x="2063" y="1162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3269" name="Text Box 102"/>
            <p:cNvSpPr txBox="1"/>
            <p:nvPr/>
          </p:nvSpPr>
          <p:spPr>
            <a:xfrm>
              <a:off x="1156" y="1389"/>
              <a:ext cx="5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0.5</a:t>
              </a: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3270" name="Line 103"/>
            <p:cNvSpPr/>
            <p:nvPr/>
          </p:nvSpPr>
          <p:spPr>
            <a:xfrm flipH="1">
              <a:off x="2109" y="1207"/>
              <a:ext cx="358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3271" name="Text Box 104"/>
            <p:cNvSpPr txBox="1"/>
            <p:nvPr/>
          </p:nvSpPr>
          <p:spPr>
            <a:xfrm>
              <a:off x="497" y="1117"/>
              <a:ext cx="33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53272" name="Text Box 105"/>
            <p:cNvSpPr txBox="1"/>
            <p:nvPr/>
          </p:nvSpPr>
          <p:spPr>
            <a:xfrm>
              <a:off x="543" y="1661"/>
              <a:ext cx="32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53273" name="Text Box 106"/>
            <p:cNvSpPr txBox="1"/>
            <p:nvPr/>
          </p:nvSpPr>
          <p:spPr>
            <a:xfrm>
              <a:off x="2245" y="1434"/>
              <a:ext cx="34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3274" name="Text Box 107"/>
            <p:cNvSpPr txBox="1"/>
            <p:nvPr/>
          </p:nvSpPr>
          <p:spPr>
            <a:xfrm>
              <a:off x="2154" y="89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3275" name="Rectangle 109"/>
            <p:cNvSpPr/>
            <p:nvPr/>
          </p:nvSpPr>
          <p:spPr>
            <a:xfrm>
              <a:off x="1337" y="935"/>
              <a:ext cx="726" cy="499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76" name="Rectangle 110"/>
            <p:cNvSpPr/>
            <p:nvPr/>
          </p:nvSpPr>
          <p:spPr>
            <a:xfrm>
              <a:off x="793" y="111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77" name="Rectangle 111"/>
            <p:cNvSpPr/>
            <p:nvPr/>
          </p:nvSpPr>
          <p:spPr>
            <a:xfrm>
              <a:off x="1519" y="89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78" name="Text Box 113"/>
            <p:cNvSpPr txBox="1"/>
            <p:nvPr/>
          </p:nvSpPr>
          <p:spPr>
            <a:xfrm>
              <a:off x="2290" y="1162"/>
              <a:ext cx="33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53279" name="Text Box 114"/>
            <p:cNvSpPr txBox="1"/>
            <p:nvPr/>
          </p:nvSpPr>
          <p:spPr>
            <a:xfrm>
              <a:off x="2245" y="1706"/>
              <a:ext cx="32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53280" name="Oval 115"/>
            <p:cNvSpPr/>
            <p:nvPr/>
          </p:nvSpPr>
          <p:spPr>
            <a:xfrm>
              <a:off x="2516" y="2024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81" name="Oval 116"/>
            <p:cNvSpPr/>
            <p:nvPr/>
          </p:nvSpPr>
          <p:spPr>
            <a:xfrm>
              <a:off x="2562" y="111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82" name="Line 108"/>
            <p:cNvSpPr/>
            <p:nvPr/>
          </p:nvSpPr>
          <p:spPr>
            <a:xfrm>
              <a:off x="1361" y="1434"/>
              <a:ext cx="249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3283" name="AutoShape 112"/>
            <p:cNvSpPr/>
            <p:nvPr/>
          </p:nvSpPr>
          <p:spPr>
            <a:xfrm rot="5400000">
              <a:off x="1632" y="1230"/>
              <a:ext cx="363" cy="408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5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3000"/>
                                        <p:tgtEl>
                                          <p:spTgt spid="5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2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  <p:bldP spid="52227" grpId="0" animBg="1"/>
      <p:bldP spid="52228" grpId="0" animBg="1"/>
      <p:bldP spid="5230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/>
          <p:nvPr/>
        </p:nvSpPr>
        <p:spPr>
          <a:xfrm>
            <a:off x="2411413" y="476250"/>
            <a:ext cx="4176712" cy="7620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2.7 </a:t>
            </a:r>
            <a:r>
              <a:rPr lang="zh-CN" altLang="en-US" sz="4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输入电阻</a:t>
            </a:r>
            <a:r>
              <a:rPr lang="zh-CN" altLang="en-US" sz="44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28675" name="Text Box 3"/>
          <p:cNvSpPr txBox="1"/>
          <p:nvPr/>
        </p:nvSpPr>
        <p:spPr>
          <a:xfrm>
            <a:off x="539750" y="1484313"/>
            <a:ext cx="1943100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8705" name="Group 33"/>
          <p:cNvGrpSpPr/>
          <p:nvPr/>
        </p:nvGrpSpPr>
        <p:grpSpPr>
          <a:xfrm>
            <a:off x="2843213" y="1412875"/>
            <a:ext cx="2517775" cy="1584325"/>
            <a:chOff x="1701" y="935"/>
            <a:chExt cx="1586" cy="998"/>
          </a:xfrm>
        </p:grpSpPr>
        <p:sp>
          <p:nvSpPr>
            <p:cNvPr id="54293" name="Rectangle 6"/>
            <p:cNvSpPr/>
            <p:nvPr/>
          </p:nvSpPr>
          <p:spPr>
            <a:xfrm>
              <a:off x="1701" y="981"/>
              <a:ext cx="635" cy="952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无</a:t>
              </a: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源</a:t>
              </a:r>
            </a:p>
          </p:txBody>
        </p:sp>
        <p:sp>
          <p:nvSpPr>
            <p:cNvPr id="54294" name="Line 7"/>
            <p:cNvSpPr/>
            <p:nvPr/>
          </p:nvSpPr>
          <p:spPr>
            <a:xfrm>
              <a:off x="2336" y="1117"/>
              <a:ext cx="635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4295" name="Line 8"/>
            <p:cNvSpPr/>
            <p:nvPr/>
          </p:nvSpPr>
          <p:spPr>
            <a:xfrm>
              <a:off x="2336" y="1706"/>
              <a:ext cx="635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4296" name="Line 9"/>
            <p:cNvSpPr/>
            <p:nvPr/>
          </p:nvSpPr>
          <p:spPr>
            <a:xfrm flipH="1">
              <a:off x="2472" y="1026"/>
              <a:ext cx="363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4297" name="Text Box 10"/>
            <p:cNvSpPr txBox="1"/>
            <p:nvPr/>
          </p:nvSpPr>
          <p:spPr>
            <a:xfrm>
              <a:off x="3016" y="935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54298" name="Text Box 11"/>
            <p:cNvSpPr txBox="1"/>
            <p:nvPr/>
          </p:nvSpPr>
          <p:spPr>
            <a:xfrm>
              <a:off x="3016" y="1525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54299" name="Text Box 12"/>
            <p:cNvSpPr txBox="1"/>
            <p:nvPr/>
          </p:nvSpPr>
          <p:spPr>
            <a:xfrm>
              <a:off x="3061" y="1207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</a:p>
          </p:txBody>
        </p:sp>
        <p:sp>
          <p:nvSpPr>
            <p:cNvPr id="54300" name="Text Box 13"/>
            <p:cNvSpPr txBox="1"/>
            <p:nvPr/>
          </p:nvSpPr>
          <p:spPr>
            <a:xfrm>
              <a:off x="2562" y="1071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</p:grpSp>
      <p:grpSp>
        <p:nvGrpSpPr>
          <p:cNvPr id="28706" name="Group 34"/>
          <p:cNvGrpSpPr/>
          <p:nvPr/>
        </p:nvGrpSpPr>
        <p:grpSpPr>
          <a:xfrm>
            <a:off x="5651500" y="1484313"/>
            <a:ext cx="2016125" cy="649287"/>
            <a:chOff x="3560" y="935"/>
            <a:chExt cx="1270" cy="409"/>
          </a:xfrm>
        </p:grpSpPr>
        <p:sp>
          <p:nvSpPr>
            <p:cNvPr id="54291" name="AutoShape 14"/>
            <p:cNvSpPr/>
            <p:nvPr/>
          </p:nvSpPr>
          <p:spPr>
            <a:xfrm>
              <a:off x="3606" y="1254"/>
              <a:ext cx="1043" cy="90"/>
            </a:xfrm>
            <a:prstGeom prst="leftArrow">
              <a:avLst>
                <a:gd name="adj1" fmla="val 50000"/>
                <a:gd name="adj2" fmla="val 289722"/>
              </a:avLst>
            </a:prstGeom>
            <a:solidFill>
              <a:srgbClr val="0099FF"/>
            </a:solid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4292" name="Text Box 15"/>
            <p:cNvSpPr txBox="1"/>
            <p:nvPr/>
          </p:nvSpPr>
          <p:spPr>
            <a:xfrm>
              <a:off x="3560" y="935"/>
              <a:ext cx="127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ea typeface="楷体_GB2312" pitchFamily="49" charset="-122"/>
                </a:rPr>
                <a:t>输入电阻</a:t>
              </a:r>
            </a:p>
          </p:txBody>
        </p:sp>
      </p:grpSp>
      <p:graphicFrame>
        <p:nvGraphicFramePr>
          <p:cNvPr id="28689" name="Object 17"/>
          <p:cNvGraphicFramePr>
            <a:graphicFrameLocks/>
          </p:cNvGraphicFramePr>
          <p:nvPr/>
        </p:nvGraphicFramePr>
        <p:xfrm>
          <a:off x="5867400" y="2060575"/>
          <a:ext cx="1443038" cy="1236663"/>
        </p:xfrm>
        <a:graphic>
          <a:graphicData uri="http://schemas.openxmlformats.org/presentationml/2006/ole">
            <p:oleObj spid="_x0000_s68609" r:id="rId3" imgW="463680" imgH="392040" progId="Equation.3">
              <p:embed/>
            </p:oleObj>
          </a:graphicData>
        </a:graphic>
      </p:graphicFrame>
      <p:sp>
        <p:nvSpPr>
          <p:cNvPr id="28690" name="Text Box 18"/>
          <p:cNvSpPr txBox="1"/>
          <p:nvPr/>
        </p:nvSpPr>
        <p:spPr>
          <a:xfrm>
            <a:off x="468313" y="2924175"/>
            <a:ext cx="295275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计算方法</a:t>
            </a:r>
            <a:endParaRPr lang="zh-CN" altLang="en-US" b="1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91" name="Text Box 19"/>
          <p:cNvSpPr txBox="1"/>
          <p:nvPr/>
        </p:nvSpPr>
        <p:spPr>
          <a:xfrm>
            <a:off x="395288" y="3500438"/>
            <a:ext cx="8424862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buAutoNum type="circleNumDbPlain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如果一端口内部仅含电阻，则应用电阻的串、并联和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—Y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变换等方法求它的等效电阻； </a:t>
            </a:r>
          </a:p>
        </p:txBody>
      </p:sp>
      <p:sp>
        <p:nvSpPr>
          <p:cNvPr id="28692" name="Text Box 20"/>
          <p:cNvSpPr txBox="1"/>
          <p:nvPr/>
        </p:nvSpPr>
        <p:spPr>
          <a:xfrm>
            <a:off x="395288" y="4508500"/>
            <a:ext cx="8569325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spcBef>
                <a:spcPct val="25000"/>
              </a:spcBef>
              <a:buAutoNum type="circleNumDbPlain" startAt="2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对含有受控源和电阻的两端电路，用电压、电流法求输入电阻，即在端口加电压源，求得电流，或在端口加电流源，求得电压，得其比值。</a:t>
            </a:r>
          </a:p>
        </p:txBody>
      </p:sp>
      <p:grpSp>
        <p:nvGrpSpPr>
          <p:cNvPr id="54282" name="Group 2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4289" name="Picture 25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290" name="Text Box 2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54283" name="Group 2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4287" name="Picture 28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288" name="Text Box 2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54284" name="Group 3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4285" name="Picture 39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286" name="Text Box 4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20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" fill="hold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fill="hold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8675" grpId="0"/>
      <p:bldP spid="28690" grpId="0"/>
      <p:bldP spid="28691" grpId="0"/>
      <p:bldP spid="2869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/>
          <p:nvPr/>
        </p:nvSpPr>
        <p:spPr>
          <a:xfrm>
            <a:off x="539750" y="476250"/>
            <a:ext cx="8382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</a:t>
            </a:r>
            <a:endParaRPr lang="zh-CN" altLang="en-US" b="1" dirty="0">
              <a:solidFill>
                <a:srgbClr val="FFFF00"/>
              </a:solidFill>
              <a:ea typeface="仿宋_GB2312" pitchFamily="49" charset="-122"/>
            </a:endParaRPr>
          </a:p>
        </p:txBody>
      </p:sp>
      <p:sp>
        <p:nvSpPr>
          <p:cNvPr id="27693" name="Text Box 45"/>
          <p:cNvSpPr txBox="1"/>
          <p:nvPr/>
        </p:nvSpPr>
        <p:spPr>
          <a:xfrm>
            <a:off x="1187450" y="549275"/>
            <a:ext cx="5832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计算下例一端口电路的输入电阻</a:t>
            </a:r>
          </a:p>
        </p:txBody>
      </p:sp>
      <p:sp>
        <p:nvSpPr>
          <p:cNvPr id="27723" name="AutoShape 75"/>
          <p:cNvSpPr/>
          <p:nvPr/>
        </p:nvSpPr>
        <p:spPr>
          <a:xfrm>
            <a:off x="4932363" y="2276475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99FF"/>
          </a:solidFill>
          <a:ln w="9525" cap="flat" cmpd="sng">
            <a:solidFill>
              <a:srgbClr val="00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27724" name="Object 76"/>
          <p:cNvGraphicFramePr>
            <a:graphicFrameLocks/>
          </p:cNvGraphicFramePr>
          <p:nvPr/>
        </p:nvGraphicFramePr>
        <p:xfrm>
          <a:off x="1979613" y="5013325"/>
          <a:ext cx="3502025" cy="633413"/>
        </p:xfrm>
        <a:graphic>
          <a:graphicData uri="http://schemas.openxmlformats.org/presentationml/2006/ole">
            <p:oleObj spid="_x0000_s69633" r:id="rId3" imgW="1193400" imgH="196200" progId="Equation.3">
              <p:embed/>
            </p:oleObj>
          </a:graphicData>
        </a:graphic>
      </p:graphicFrame>
      <p:sp>
        <p:nvSpPr>
          <p:cNvPr id="27726" name="AutoShape 78" descr="羊皮纸"/>
          <p:cNvSpPr/>
          <p:nvPr/>
        </p:nvSpPr>
        <p:spPr>
          <a:xfrm>
            <a:off x="7740650" y="1700213"/>
            <a:ext cx="1295400" cy="865187"/>
          </a:xfrm>
          <a:prstGeom prst="wedgeRoundRectCallout">
            <a:avLst>
              <a:gd name="adj1" fmla="val -103431"/>
              <a:gd name="adj2" fmla="val 38074"/>
              <a:gd name="adj3" fmla="val 16667"/>
            </a:avLst>
          </a:prstGeom>
          <a:blipFill rotWithShape="1">
            <a:blip r:embed="rId4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 pitchFamily="49" charset="-122"/>
              </a:rPr>
              <a:t>无源电阻网络</a:t>
            </a:r>
          </a:p>
        </p:txBody>
      </p:sp>
      <p:grpSp>
        <p:nvGrpSpPr>
          <p:cNvPr id="55303" name="Group 8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5358" name="Picture 8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59" name="Text Box 8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55304" name="Group 8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5356" name="Picture 87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57" name="Text Box 8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27772" name="Group 124"/>
          <p:cNvGrpSpPr/>
          <p:nvPr/>
        </p:nvGrpSpPr>
        <p:grpSpPr>
          <a:xfrm>
            <a:off x="5580063" y="1341438"/>
            <a:ext cx="2014537" cy="2232025"/>
            <a:chOff x="3742" y="799"/>
            <a:chExt cx="1269" cy="1406"/>
          </a:xfrm>
        </p:grpSpPr>
        <p:sp>
          <p:nvSpPr>
            <p:cNvPr id="55344" name="Text Box 125"/>
            <p:cNvSpPr txBox="1"/>
            <p:nvPr/>
          </p:nvSpPr>
          <p:spPr>
            <a:xfrm>
              <a:off x="4060" y="916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5345" name="Line 126"/>
            <p:cNvSpPr/>
            <p:nvPr/>
          </p:nvSpPr>
          <p:spPr>
            <a:xfrm flipV="1">
              <a:off x="3742" y="845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6" name="Line 127"/>
            <p:cNvSpPr/>
            <p:nvPr/>
          </p:nvSpPr>
          <p:spPr>
            <a:xfrm>
              <a:off x="3787" y="2160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7" name="Line 128"/>
            <p:cNvSpPr/>
            <p:nvPr/>
          </p:nvSpPr>
          <p:spPr>
            <a:xfrm>
              <a:off x="3859" y="844"/>
              <a:ext cx="0" cy="13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5348" name="Line 129"/>
            <p:cNvSpPr/>
            <p:nvPr/>
          </p:nvSpPr>
          <p:spPr>
            <a:xfrm>
              <a:off x="4486" y="844"/>
              <a:ext cx="0" cy="13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5349" name="Text Box 130"/>
            <p:cNvSpPr txBox="1"/>
            <p:nvPr/>
          </p:nvSpPr>
          <p:spPr>
            <a:xfrm>
              <a:off x="4513" y="1098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5350" name="Text Box 131"/>
            <p:cNvSpPr txBox="1"/>
            <p:nvPr/>
          </p:nvSpPr>
          <p:spPr>
            <a:xfrm>
              <a:off x="3923" y="1279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5351" name="Oval 132"/>
            <p:cNvSpPr/>
            <p:nvPr/>
          </p:nvSpPr>
          <p:spPr>
            <a:xfrm>
              <a:off x="4921" y="2115"/>
              <a:ext cx="90" cy="90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5352" name="Oval 133"/>
            <p:cNvSpPr/>
            <p:nvPr/>
          </p:nvSpPr>
          <p:spPr>
            <a:xfrm>
              <a:off x="4921" y="799"/>
              <a:ext cx="90" cy="90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5353" name="Rectangle 134"/>
            <p:cNvSpPr/>
            <p:nvPr/>
          </p:nvSpPr>
          <p:spPr>
            <a:xfrm>
              <a:off x="4422" y="134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5354" name="Rectangle 135"/>
            <p:cNvSpPr/>
            <p:nvPr/>
          </p:nvSpPr>
          <p:spPr>
            <a:xfrm>
              <a:off x="3787" y="134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5355" name="Rectangle 136"/>
            <p:cNvSpPr/>
            <p:nvPr/>
          </p:nvSpPr>
          <p:spPr>
            <a:xfrm>
              <a:off x="4014" y="7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27785" name="Text Box 137"/>
          <p:cNvSpPr txBox="1"/>
          <p:nvPr/>
        </p:nvSpPr>
        <p:spPr>
          <a:xfrm>
            <a:off x="539750" y="3716338"/>
            <a:ext cx="647700" cy="579437"/>
          </a:xfrm>
          <a:prstGeom prst="rect">
            <a:avLst/>
          </a:prstGeom>
          <a:solidFill>
            <a:srgbClr val="990033"/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解</a:t>
            </a:r>
            <a:endParaRPr lang="zh-CN" altLang="en-US" b="1" dirty="0">
              <a:solidFill>
                <a:srgbClr val="FFFF00"/>
              </a:solidFill>
              <a:ea typeface="仿宋_GB2312" pitchFamily="49" charset="-122"/>
            </a:endParaRPr>
          </a:p>
        </p:txBody>
      </p:sp>
      <p:sp>
        <p:nvSpPr>
          <p:cNvPr id="27786" name="Rectangle 138"/>
          <p:cNvSpPr/>
          <p:nvPr/>
        </p:nvSpPr>
        <p:spPr>
          <a:xfrm>
            <a:off x="971550" y="3751263"/>
            <a:ext cx="7777163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ea typeface="楷体_GB2312" pitchFamily="49" charset="-122"/>
              </a:rPr>
              <a:t>        </a:t>
            </a: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先把有源网络的独立源置零：电压源短路；电流源开路，再求输入电阻。</a:t>
            </a:r>
          </a:p>
        </p:txBody>
      </p:sp>
      <p:grpSp>
        <p:nvGrpSpPr>
          <p:cNvPr id="27794" name="Group 146"/>
          <p:cNvGrpSpPr/>
          <p:nvPr/>
        </p:nvGrpSpPr>
        <p:grpSpPr>
          <a:xfrm>
            <a:off x="323850" y="1125538"/>
            <a:ext cx="4462463" cy="2447925"/>
            <a:chOff x="204" y="709"/>
            <a:chExt cx="2811" cy="1542"/>
          </a:xfrm>
        </p:grpSpPr>
        <p:grpSp>
          <p:nvGrpSpPr>
            <p:cNvPr id="55312" name="Group 93"/>
            <p:cNvGrpSpPr/>
            <p:nvPr/>
          </p:nvGrpSpPr>
          <p:grpSpPr>
            <a:xfrm>
              <a:off x="657" y="891"/>
              <a:ext cx="2268" cy="1316"/>
              <a:chOff x="748" y="1207"/>
              <a:chExt cx="1769" cy="772"/>
            </a:xfrm>
          </p:grpSpPr>
          <p:sp>
            <p:nvSpPr>
              <p:cNvPr id="55338" name="Line 94"/>
              <p:cNvSpPr/>
              <p:nvPr/>
            </p:nvSpPr>
            <p:spPr>
              <a:xfrm>
                <a:off x="748" y="1207"/>
                <a:ext cx="1769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39" name="Line 95"/>
              <p:cNvSpPr/>
              <p:nvPr/>
            </p:nvSpPr>
            <p:spPr>
              <a:xfrm>
                <a:off x="748" y="1979"/>
                <a:ext cx="1769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0" name="Line 96"/>
              <p:cNvSpPr/>
              <p:nvPr/>
            </p:nvSpPr>
            <p:spPr>
              <a:xfrm>
                <a:off x="748" y="1207"/>
                <a:ext cx="0" cy="772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1" name="Line 97"/>
              <p:cNvSpPr/>
              <p:nvPr/>
            </p:nvSpPr>
            <p:spPr>
              <a:xfrm>
                <a:off x="2200" y="1207"/>
                <a:ext cx="0" cy="772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55342" name="Line 98"/>
              <p:cNvSpPr/>
              <p:nvPr/>
            </p:nvSpPr>
            <p:spPr>
              <a:xfrm>
                <a:off x="1202" y="1207"/>
                <a:ext cx="0" cy="772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55343" name="Line 99"/>
              <p:cNvSpPr/>
              <p:nvPr/>
            </p:nvSpPr>
            <p:spPr>
              <a:xfrm>
                <a:off x="1701" y="1207"/>
                <a:ext cx="0" cy="772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oval" w="med" len="med"/>
                <a:tailEnd type="oval" w="med" len="med"/>
              </a:ln>
            </p:spPr>
          </p:sp>
        </p:grpSp>
        <p:sp>
          <p:nvSpPr>
            <p:cNvPr id="55313" name="Text Box 100"/>
            <p:cNvSpPr txBox="1"/>
            <p:nvPr/>
          </p:nvSpPr>
          <p:spPr>
            <a:xfrm>
              <a:off x="1292" y="1662"/>
              <a:ext cx="5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80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</a:p>
          </p:txBody>
        </p:sp>
        <p:sp>
          <p:nvSpPr>
            <p:cNvPr id="55314" name="Text Box 101"/>
            <p:cNvSpPr txBox="1"/>
            <p:nvPr/>
          </p:nvSpPr>
          <p:spPr>
            <a:xfrm>
              <a:off x="1519" y="1370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5315" name="Text Box 102"/>
            <p:cNvSpPr txBox="1"/>
            <p:nvPr/>
          </p:nvSpPr>
          <p:spPr>
            <a:xfrm>
              <a:off x="1609" y="1824"/>
              <a:ext cx="22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5316" name="Text Box 103"/>
            <p:cNvSpPr txBox="1"/>
            <p:nvPr/>
          </p:nvSpPr>
          <p:spPr>
            <a:xfrm>
              <a:off x="1927" y="1143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5317" name="Text Box 104"/>
            <p:cNvSpPr txBox="1"/>
            <p:nvPr/>
          </p:nvSpPr>
          <p:spPr>
            <a:xfrm>
              <a:off x="1428" y="936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5318" name="Text Box 105"/>
            <p:cNvSpPr txBox="1"/>
            <p:nvPr/>
          </p:nvSpPr>
          <p:spPr>
            <a:xfrm>
              <a:off x="884" y="1324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5319" name="Text Box 106"/>
            <p:cNvSpPr txBox="1"/>
            <p:nvPr/>
          </p:nvSpPr>
          <p:spPr>
            <a:xfrm>
              <a:off x="385" y="981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5320" name="Text Box 107"/>
            <p:cNvSpPr txBox="1"/>
            <p:nvPr/>
          </p:nvSpPr>
          <p:spPr>
            <a:xfrm rot="10689007" flipV="1">
              <a:off x="2517" y="1027"/>
              <a:ext cx="36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5321" name="Line 108"/>
            <p:cNvSpPr/>
            <p:nvPr/>
          </p:nvSpPr>
          <p:spPr>
            <a:xfrm>
              <a:off x="657" y="1026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5322" name="Line 109"/>
            <p:cNvSpPr/>
            <p:nvPr/>
          </p:nvSpPr>
          <p:spPr>
            <a:xfrm>
              <a:off x="2517" y="1026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5323" name="Oval 110"/>
            <p:cNvSpPr/>
            <p:nvPr/>
          </p:nvSpPr>
          <p:spPr>
            <a:xfrm>
              <a:off x="2925" y="2161"/>
              <a:ext cx="90" cy="90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5324" name="Oval 111"/>
            <p:cNvSpPr/>
            <p:nvPr/>
          </p:nvSpPr>
          <p:spPr>
            <a:xfrm>
              <a:off x="2925" y="845"/>
              <a:ext cx="90" cy="90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5325" name="Rectangle 112"/>
            <p:cNvSpPr/>
            <p:nvPr/>
          </p:nvSpPr>
          <p:spPr>
            <a:xfrm>
              <a:off x="1836" y="11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5326" name="Rectangle 113"/>
            <p:cNvSpPr/>
            <p:nvPr/>
          </p:nvSpPr>
          <p:spPr>
            <a:xfrm>
              <a:off x="1201" y="134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5327" name="Rectangle 114"/>
            <p:cNvSpPr/>
            <p:nvPr/>
          </p:nvSpPr>
          <p:spPr>
            <a:xfrm>
              <a:off x="1428" y="84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55328" name="Group 115"/>
            <p:cNvGrpSpPr/>
            <p:nvPr/>
          </p:nvGrpSpPr>
          <p:grpSpPr>
            <a:xfrm>
              <a:off x="2335" y="1345"/>
              <a:ext cx="363" cy="363"/>
              <a:chOff x="4785" y="709"/>
              <a:chExt cx="363" cy="363"/>
            </a:xfrm>
          </p:grpSpPr>
          <p:sp>
            <p:nvSpPr>
              <p:cNvPr id="55336" name="Oval 11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5337" name="Line 11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29" name="Group 118"/>
            <p:cNvGrpSpPr/>
            <p:nvPr/>
          </p:nvGrpSpPr>
          <p:grpSpPr>
            <a:xfrm rot="5400000">
              <a:off x="1701" y="1618"/>
              <a:ext cx="363" cy="363"/>
              <a:chOff x="4785" y="709"/>
              <a:chExt cx="363" cy="363"/>
            </a:xfrm>
          </p:grpSpPr>
          <p:sp>
            <p:nvSpPr>
              <p:cNvPr id="55334" name="Oval 11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5335" name="Line 12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30" name="Group 121"/>
            <p:cNvGrpSpPr/>
            <p:nvPr/>
          </p:nvGrpSpPr>
          <p:grpSpPr>
            <a:xfrm>
              <a:off x="476" y="1344"/>
              <a:ext cx="363" cy="363"/>
              <a:chOff x="4785" y="709"/>
              <a:chExt cx="363" cy="363"/>
            </a:xfrm>
          </p:grpSpPr>
          <p:sp>
            <p:nvSpPr>
              <p:cNvPr id="55332" name="Oval 12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5333" name="Line 12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5331" name="Text Box 139"/>
            <p:cNvSpPr txBox="1"/>
            <p:nvPr/>
          </p:nvSpPr>
          <p:spPr>
            <a:xfrm>
              <a:off x="204" y="709"/>
              <a:ext cx="528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1.</a:t>
              </a:r>
              <a:endParaRPr lang="en-US" altLang="zh-CN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</p:grpSp>
      <p:grpSp>
        <p:nvGrpSpPr>
          <p:cNvPr id="55309" name="Group 143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5310" name="Picture 14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1" name="Text Box 14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27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27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2000"/>
                                        <p:tgtEl>
                                          <p:spTgt spid="27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93" grpId="0"/>
      <p:bldP spid="27723" grpId="0" animBg="1"/>
      <p:bldP spid="27726" grpId="0" animBg="1"/>
      <p:bldP spid="27785" grpId="0" animBg="1"/>
      <p:bldP spid="2778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5" name="AutoShape 31"/>
          <p:cNvSpPr/>
          <p:nvPr/>
        </p:nvSpPr>
        <p:spPr>
          <a:xfrm>
            <a:off x="4067175" y="2276475"/>
            <a:ext cx="720725" cy="215900"/>
          </a:xfrm>
          <a:prstGeom prst="rightArrow">
            <a:avLst>
              <a:gd name="adj1" fmla="val 50000"/>
              <a:gd name="adj2" fmla="val 83455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26683" name="AutoShape 59" descr="羊皮纸"/>
          <p:cNvSpPr/>
          <p:nvPr/>
        </p:nvSpPr>
        <p:spPr>
          <a:xfrm>
            <a:off x="6948488" y="3357563"/>
            <a:ext cx="1512887" cy="935037"/>
          </a:xfrm>
          <a:prstGeom prst="wedgeRoundRectCallout">
            <a:avLst>
              <a:gd name="adj1" fmla="val 27333"/>
              <a:gd name="adj2" fmla="val -135907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 pitchFamily="49" charset="-122"/>
              </a:rPr>
              <a:t>外加电压源</a:t>
            </a:r>
          </a:p>
        </p:txBody>
      </p:sp>
      <p:graphicFrame>
        <p:nvGraphicFramePr>
          <p:cNvPr id="26684" name="Object 60"/>
          <p:cNvGraphicFramePr>
            <a:graphicFrameLocks/>
          </p:cNvGraphicFramePr>
          <p:nvPr/>
        </p:nvGraphicFramePr>
        <p:xfrm>
          <a:off x="1835150" y="3357563"/>
          <a:ext cx="2684463" cy="1050925"/>
        </p:xfrm>
        <a:graphic>
          <a:graphicData uri="http://schemas.openxmlformats.org/presentationml/2006/ole">
            <p:oleObj spid="_x0000_s70659" r:id="rId4" imgW="1042920" imgH="392040" progId="Equation.3">
              <p:embed/>
            </p:oleObj>
          </a:graphicData>
        </a:graphic>
      </p:graphicFrame>
      <p:graphicFrame>
        <p:nvGraphicFramePr>
          <p:cNvPr id="26685" name="Object 61"/>
          <p:cNvGraphicFramePr>
            <a:graphicFrameLocks/>
          </p:cNvGraphicFramePr>
          <p:nvPr/>
        </p:nvGraphicFramePr>
        <p:xfrm>
          <a:off x="1763713" y="4581525"/>
          <a:ext cx="2952750" cy="595313"/>
        </p:xfrm>
        <a:graphic>
          <a:graphicData uri="http://schemas.openxmlformats.org/presentationml/2006/ole">
            <p:oleObj spid="_x0000_s70658" r:id="rId5" imgW="1065960" imgH="196200" progId="Equation.3">
              <p:embed/>
            </p:oleObj>
          </a:graphicData>
        </a:graphic>
      </p:graphicFrame>
      <p:graphicFrame>
        <p:nvGraphicFramePr>
          <p:cNvPr id="26686" name="Object 62"/>
          <p:cNvGraphicFramePr>
            <a:graphicFrameLocks/>
          </p:cNvGraphicFramePr>
          <p:nvPr/>
        </p:nvGraphicFramePr>
        <p:xfrm>
          <a:off x="1724025" y="5300663"/>
          <a:ext cx="3424238" cy="1162050"/>
        </p:xfrm>
        <a:graphic>
          <a:graphicData uri="http://schemas.openxmlformats.org/presentationml/2006/ole">
            <p:oleObj spid="_x0000_s70657" r:id="rId6" imgW="1309320" imgH="426600" progId="Equation.3">
              <p:embed/>
            </p:oleObj>
          </a:graphicData>
        </a:graphic>
      </p:graphicFrame>
      <p:grpSp>
        <p:nvGrpSpPr>
          <p:cNvPr id="56327" name="Group 6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6379" name="Picture 67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80" name="Text Box 6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</a:p>
          </p:txBody>
        </p:sp>
      </p:grpSp>
      <p:grpSp>
        <p:nvGrpSpPr>
          <p:cNvPr id="56328" name="Group 6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6377" name="Picture 70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78" name="Text Box 7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26743" name="Group 119"/>
          <p:cNvGrpSpPr/>
          <p:nvPr/>
        </p:nvGrpSpPr>
        <p:grpSpPr>
          <a:xfrm>
            <a:off x="395288" y="549275"/>
            <a:ext cx="3600450" cy="2519363"/>
            <a:chOff x="249" y="346"/>
            <a:chExt cx="2268" cy="1587"/>
          </a:xfrm>
        </p:grpSpPr>
        <p:sp>
          <p:nvSpPr>
            <p:cNvPr id="56355" name="Text Box 22"/>
            <p:cNvSpPr txBox="1"/>
            <p:nvPr/>
          </p:nvSpPr>
          <p:spPr>
            <a:xfrm>
              <a:off x="249" y="391"/>
              <a:ext cx="528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2.</a:t>
              </a:r>
              <a:endParaRPr lang="en-US" altLang="zh-CN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grpSp>
          <p:nvGrpSpPr>
            <p:cNvPr id="56356" name="Group 75"/>
            <p:cNvGrpSpPr/>
            <p:nvPr/>
          </p:nvGrpSpPr>
          <p:grpSpPr>
            <a:xfrm>
              <a:off x="295" y="346"/>
              <a:ext cx="2222" cy="1587"/>
              <a:chOff x="1837" y="1344"/>
              <a:chExt cx="2222" cy="1587"/>
            </a:xfrm>
          </p:grpSpPr>
          <p:sp>
            <p:nvSpPr>
              <p:cNvPr id="56357" name="Oval 76"/>
              <p:cNvSpPr/>
              <p:nvPr/>
            </p:nvSpPr>
            <p:spPr>
              <a:xfrm>
                <a:off x="1837" y="2205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6358" name="Line 77"/>
              <p:cNvSpPr/>
              <p:nvPr/>
            </p:nvSpPr>
            <p:spPr>
              <a:xfrm>
                <a:off x="2004" y="1933"/>
                <a:ext cx="193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59" name="Text Box 78"/>
              <p:cNvSpPr txBox="1"/>
              <p:nvPr/>
            </p:nvSpPr>
            <p:spPr>
              <a:xfrm>
                <a:off x="2109" y="2251"/>
                <a:ext cx="54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80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S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6360" name="Line 79"/>
              <p:cNvSpPr/>
              <p:nvPr/>
            </p:nvSpPr>
            <p:spPr>
              <a:xfrm>
                <a:off x="2018" y="2886"/>
                <a:ext cx="193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1" name="Line 80"/>
              <p:cNvSpPr/>
              <p:nvPr/>
            </p:nvSpPr>
            <p:spPr>
              <a:xfrm>
                <a:off x="2018" y="1933"/>
                <a:ext cx="0" cy="953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2" name="Line 81"/>
              <p:cNvSpPr/>
              <p:nvPr/>
            </p:nvSpPr>
            <p:spPr>
              <a:xfrm>
                <a:off x="2926" y="1933"/>
                <a:ext cx="0" cy="953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56363" name="Text Box 82"/>
              <p:cNvSpPr txBox="1"/>
              <p:nvPr/>
            </p:nvSpPr>
            <p:spPr>
              <a:xfrm>
                <a:off x="2018" y="1914"/>
                <a:ext cx="40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6364" name="Text Box 83"/>
              <p:cNvSpPr txBox="1"/>
              <p:nvPr/>
            </p:nvSpPr>
            <p:spPr>
              <a:xfrm>
                <a:off x="2109" y="2413"/>
                <a:ext cx="22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_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6365" name="Text Box 84"/>
              <p:cNvSpPr txBox="1"/>
              <p:nvPr/>
            </p:nvSpPr>
            <p:spPr>
              <a:xfrm>
                <a:off x="2925" y="2205"/>
                <a:ext cx="453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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6366" name="Text Box 85"/>
              <p:cNvSpPr txBox="1"/>
              <p:nvPr/>
            </p:nvSpPr>
            <p:spPr>
              <a:xfrm>
                <a:off x="2563" y="2478"/>
                <a:ext cx="335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6367" name="Line 86"/>
              <p:cNvSpPr/>
              <p:nvPr/>
            </p:nvSpPr>
            <p:spPr>
              <a:xfrm flipV="1">
                <a:off x="2835" y="2568"/>
                <a:ext cx="0" cy="227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56368" name="Text Box 87"/>
              <p:cNvSpPr txBox="1"/>
              <p:nvPr/>
            </p:nvSpPr>
            <p:spPr>
              <a:xfrm>
                <a:off x="2290" y="1551"/>
                <a:ext cx="453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6</a:t>
                </a: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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6369" name="Text Box 88"/>
              <p:cNvSpPr txBox="1"/>
              <p:nvPr/>
            </p:nvSpPr>
            <p:spPr>
              <a:xfrm>
                <a:off x="3606" y="1597"/>
                <a:ext cx="40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6370" name="Text Box 89"/>
              <p:cNvSpPr txBox="1"/>
              <p:nvPr/>
            </p:nvSpPr>
            <p:spPr>
              <a:xfrm>
                <a:off x="3062" y="1578"/>
                <a:ext cx="273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－</a:t>
                </a:r>
                <a:endParaRPr lang="zh-CN" altLang="en-US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6371" name="Text Box 90"/>
              <p:cNvSpPr txBox="1"/>
              <p:nvPr/>
            </p:nvSpPr>
            <p:spPr>
              <a:xfrm>
                <a:off x="3288" y="1344"/>
                <a:ext cx="453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6</a:t>
                </a:r>
                <a:r>
                  <a:rPr lang="en-US" altLang="zh-CN" sz="2800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8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6372" name="Oval 91"/>
              <p:cNvSpPr/>
              <p:nvPr/>
            </p:nvSpPr>
            <p:spPr>
              <a:xfrm>
                <a:off x="3969" y="2840"/>
                <a:ext cx="90" cy="91"/>
              </a:xfrm>
              <a:prstGeom prst="ellipse">
                <a:avLst/>
              </a:prstGeom>
              <a:noFill/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56373" name="Oval 92"/>
              <p:cNvSpPr/>
              <p:nvPr/>
            </p:nvSpPr>
            <p:spPr>
              <a:xfrm>
                <a:off x="3923" y="1888"/>
                <a:ext cx="90" cy="91"/>
              </a:xfrm>
              <a:prstGeom prst="ellipse">
                <a:avLst/>
              </a:prstGeom>
              <a:noFill/>
              <a:ln w="38100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56374" name="Rectangle 93"/>
              <p:cNvSpPr/>
              <p:nvPr/>
            </p:nvSpPr>
            <p:spPr>
              <a:xfrm>
                <a:off x="2336" y="1888"/>
                <a:ext cx="317" cy="1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56375" name="Rectangle 94"/>
              <p:cNvSpPr/>
              <p:nvPr/>
            </p:nvSpPr>
            <p:spPr>
              <a:xfrm>
                <a:off x="2844" y="2205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56376" name="AutoShape 95"/>
              <p:cNvSpPr/>
              <p:nvPr/>
            </p:nvSpPr>
            <p:spPr>
              <a:xfrm rot="10800000">
                <a:off x="3243" y="1706"/>
                <a:ext cx="453" cy="455"/>
              </a:xfrm>
              <a:prstGeom prst="flowChartSort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</p:grpSp>
      </p:grpSp>
      <p:grpSp>
        <p:nvGrpSpPr>
          <p:cNvPr id="26746" name="Group 122"/>
          <p:cNvGrpSpPr/>
          <p:nvPr/>
        </p:nvGrpSpPr>
        <p:grpSpPr>
          <a:xfrm>
            <a:off x="4859338" y="549275"/>
            <a:ext cx="3867150" cy="2449513"/>
            <a:chOff x="3061" y="391"/>
            <a:chExt cx="2436" cy="1543"/>
          </a:xfrm>
        </p:grpSpPr>
        <p:sp>
          <p:nvSpPr>
            <p:cNvPr id="56334" name="Oval 97"/>
            <p:cNvSpPr/>
            <p:nvPr/>
          </p:nvSpPr>
          <p:spPr>
            <a:xfrm>
              <a:off x="4844" y="125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6335" name="Text Box 98"/>
            <p:cNvSpPr txBox="1"/>
            <p:nvPr/>
          </p:nvSpPr>
          <p:spPr>
            <a:xfrm>
              <a:off x="5162" y="1253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6336" name="Text Box 99"/>
            <p:cNvSpPr txBox="1"/>
            <p:nvPr/>
          </p:nvSpPr>
          <p:spPr>
            <a:xfrm>
              <a:off x="4935" y="935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6337" name="Text Box 100"/>
            <p:cNvSpPr txBox="1"/>
            <p:nvPr/>
          </p:nvSpPr>
          <p:spPr>
            <a:xfrm>
              <a:off x="5071" y="1480"/>
              <a:ext cx="22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6338" name="Line 101"/>
            <p:cNvSpPr/>
            <p:nvPr/>
          </p:nvSpPr>
          <p:spPr>
            <a:xfrm>
              <a:off x="5026" y="981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9" name="Line 102"/>
            <p:cNvSpPr/>
            <p:nvPr/>
          </p:nvSpPr>
          <p:spPr>
            <a:xfrm>
              <a:off x="3061" y="980"/>
              <a:ext cx="1965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0" name="Line 104"/>
            <p:cNvSpPr/>
            <p:nvPr/>
          </p:nvSpPr>
          <p:spPr>
            <a:xfrm>
              <a:off x="3075" y="1933"/>
              <a:ext cx="193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1" name="Line 105"/>
            <p:cNvSpPr/>
            <p:nvPr/>
          </p:nvSpPr>
          <p:spPr>
            <a:xfrm>
              <a:off x="3075" y="980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2" name="Line 106"/>
            <p:cNvSpPr/>
            <p:nvPr/>
          </p:nvSpPr>
          <p:spPr>
            <a:xfrm>
              <a:off x="3697" y="980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6343" name="Text Box 109"/>
            <p:cNvSpPr txBox="1"/>
            <p:nvPr/>
          </p:nvSpPr>
          <p:spPr>
            <a:xfrm>
              <a:off x="3696" y="1252"/>
              <a:ext cx="4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44" name="Text Box 110"/>
            <p:cNvSpPr txBox="1"/>
            <p:nvPr/>
          </p:nvSpPr>
          <p:spPr>
            <a:xfrm>
              <a:off x="3334" y="1525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6345" name="Line 111"/>
            <p:cNvSpPr/>
            <p:nvPr/>
          </p:nvSpPr>
          <p:spPr>
            <a:xfrm flipV="1">
              <a:off x="3606" y="1615"/>
              <a:ext cx="0" cy="227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6346" name="Text Box 112"/>
            <p:cNvSpPr txBox="1"/>
            <p:nvPr/>
          </p:nvSpPr>
          <p:spPr>
            <a:xfrm>
              <a:off x="3107" y="618"/>
              <a:ext cx="4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6347" name="Text Box 113"/>
            <p:cNvSpPr txBox="1"/>
            <p:nvPr/>
          </p:nvSpPr>
          <p:spPr>
            <a:xfrm>
              <a:off x="4377" y="663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6348" name="Text Box 114"/>
            <p:cNvSpPr txBox="1"/>
            <p:nvPr/>
          </p:nvSpPr>
          <p:spPr>
            <a:xfrm>
              <a:off x="3833" y="625"/>
              <a:ext cx="27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－</a:t>
              </a:r>
              <a:endParaRPr lang="zh-CN" altLang="en-US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6349" name="Text Box 115"/>
            <p:cNvSpPr txBox="1"/>
            <p:nvPr/>
          </p:nvSpPr>
          <p:spPr>
            <a:xfrm>
              <a:off x="4104" y="391"/>
              <a:ext cx="4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6350" name="Rectangle 116"/>
            <p:cNvSpPr/>
            <p:nvPr/>
          </p:nvSpPr>
          <p:spPr>
            <a:xfrm>
              <a:off x="3198" y="93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6351" name="Rectangle 117"/>
            <p:cNvSpPr/>
            <p:nvPr/>
          </p:nvSpPr>
          <p:spPr>
            <a:xfrm>
              <a:off x="3615" y="12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6352" name="AutoShape 118"/>
            <p:cNvSpPr/>
            <p:nvPr/>
          </p:nvSpPr>
          <p:spPr>
            <a:xfrm rot="10800000">
              <a:off x="4059" y="753"/>
              <a:ext cx="453" cy="455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6353" name="Text Box 120"/>
            <p:cNvSpPr txBox="1"/>
            <p:nvPr/>
          </p:nvSpPr>
          <p:spPr>
            <a:xfrm>
              <a:off x="4649" y="699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6354" name="Line 121"/>
            <p:cNvSpPr/>
            <p:nvPr/>
          </p:nvSpPr>
          <p:spPr>
            <a:xfrm flipV="1">
              <a:off x="4649" y="1071"/>
              <a:ext cx="27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</p:grpSp>
      <p:grpSp>
        <p:nvGrpSpPr>
          <p:cNvPr id="56331" name="Group 126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56332" name="Picture 127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33" name="Text Box 12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2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2000"/>
                                        <p:tgtEl>
                                          <p:spTgt spid="2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2000"/>
                                        <p:tgtEl>
                                          <p:spTgt spid="2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2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55" grpId="0" animBg="1"/>
      <p:bldP spid="2668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Line 27"/>
          <p:cNvSpPr/>
          <p:nvPr/>
        </p:nvSpPr>
        <p:spPr>
          <a:xfrm flipV="1">
            <a:off x="1258888" y="1268413"/>
            <a:ext cx="433387" cy="0"/>
          </a:xfrm>
          <a:prstGeom prst="line">
            <a:avLst/>
          </a:prstGeom>
          <a:ln w="9525">
            <a:noFill/>
          </a:ln>
        </p:spPr>
      </p:sp>
      <p:grpSp>
        <p:nvGrpSpPr>
          <p:cNvPr id="51244" name="Group 44"/>
          <p:cNvGrpSpPr/>
          <p:nvPr/>
        </p:nvGrpSpPr>
        <p:grpSpPr>
          <a:xfrm>
            <a:off x="1331913" y="1412875"/>
            <a:ext cx="1079500" cy="534988"/>
            <a:chOff x="839" y="2014"/>
            <a:chExt cx="680" cy="337"/>
          </a:xfrm>
        </p:grpSpPr>
        <p:sp>
          <p:nvSpPr>
            <p:cNvPr id="57408" name="Line 40"/>
            <p:cNvSpPr/>
            <p:nvPr/>
          </p:nvSpPr>
          <p:spPr>
            <a:xfrm>
              <a:off x="1202" y="2341"/>
              <a:ext cx="272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7409" name="Line 41"/>
            <p:cNvSpPr/>
            <p:nvPr/>
          </p:nvSpPr>
          <p:spPr>
            <a:xfrm>
              <a:off x="839" y="2341"/>
              <a:ext cx="272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7410" name="Text Box 42"/>
            <p:cNvSpPr txBox="1"/>
            <p:nvPr/>
          </p:nvSpPr>
          <p:spPr>
            <a:xfrm>
              <a:off x="1202" y="2024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11" name="Text Box 43"/>
            <p:cNvSpPr txBox="1"/>
            <p:nvPr/>
          </p:nvSpPr>
          <p:spPr>
            <a:xfrm>
              <a:off x="884" y="2014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aphicFrame>
        <p:nvGraphicFramePr>
          <p:cNvPr id="51245" name="Object 45"/>
          <p:cNvGraphicFramePr>
            <a:graphicFrameLocks/>
          </p:cNvGraphicFramePr>
          <p:nvPr/>
        </p:nvGraphicFramePr>
        <p:xfrm>
          <a:off x="4584700" y="549275"/>
          <a:ext cx="1427163" cy="588963"/>
        </p:xfrm>
        <a:graphic>
          <a:graphicData uri="http://schemas.openxmlformats.org/presentationml/2006/ole">
            <p:oleObj spid="_x0000_s71686" r:id="rId3" imgW="509760" imgH="196200" progId="Equation.3">
              <p:embed/>
            </p:oleObj>
          </a:graphicData>
        </a:graphic>
      </p:graphicFrame>
      <p:graphicFrame>
        <p:nvGraphicFramePr>
          <p:cNvPr id="51246" name="Object 46"/>
          <p:cNvGraphicFramePr>
            <a:graphicFrameLocks/>
          </p:cNvGraphicFramePr>
          <p:nvPr/>
        </p:nvGraphicFramePr>
        <p:xfrm>
          <a:off x="6278563" y="333375"/>
          <a:ext cx="2181225" cy="1047750"/>
        </p:xfrm>
        <a:graphic>
          <a:graphicData uri="http://schemas.openxmlformats.org/presentationml/2006/ole">
            <p:oleObj spid="_x0000_s71685" r:id="rId4" imgW="846000" imgH="392040" progId="Equation.3">
              <p:embed/>
            </p:oleObj>
          </a:graphicData>
        </a:graphic>
      </p:graphicFrame>
      <p:graphicFrame>
        <p:nvGraphicFramePr>
          <p:cNvPr id="51247" name="Object 47"/>
          <p:cNvGraphicFramePr>
            <a:graphicFrameLocks/>
          </p:cNvGraphicFramePr>
          <p:nvPr/>
        </p:nvGraphicFramePr>
        <p:xfrm>
          <a:off x="4572000" y="1484313"/>
          <a:ext cx="2665413" cy="588962"/>
        </p:xfrm>
        <a:graphic>
          <a:graphicData uri="http://schemas.openxmlformats.org/presentationml/2006/ole">
            <p:oleObj spid="_x0000_s71684" r:id="rId5" imgW="973440" imgH="196200" progId="Equation.3">
              <p:embed/>
            </p:oleObj>
          </a:graphicData>
        </a:graphic>
      </p:graphicFrame>
      <p:graphicFrame>
        <p:nvGraphicFramePr>
          <p:cNvPr id="51248" name="Object 48"/>
          <p:cNvGraphicFramePr>
            <a:graphicFrameLocks/>
          </p:cNvGraphicFramePr>
          <p:nvPr/>
        </p:nvGraphicFramePr>
        <p:xfrm>
          <a:off x="4500563" y="2276475"/>
          <a:ext cx="3989387" cy="1066800"/>
        </p:xfrm>
        <a:graphic>
          <a:graphicData uri="http://schemas.openxmlformats.org/presentationml/2006/ole">
            <p:oleObj spid="_x0000_s71683" r:id="rId6" imgW="1668600" imgH="426600" progId="Equation.3">
              <p:embed/>
            </p:oleObj>
          </a:graphicData>
        </a:graphic>
      </p:graphicFrame>
      <p:graphicFrame>
        <p:nvGraphicFramePr>
          <p:cNvPr id="51249" name="Object 49"/>
          <p:cNvGraphicFramePr>
            <a:graphicFrameLocks/>
          </p:cNvGraphicFramePr>
          <p:nvPr/>
        </p:nvGraphicFramePr>
        <p:xfrm>
          <a:off x="4545013" y="3500438"/>
          <a:ext cx="3698875" cy="1155700"/>
        </p:xfrm>
        <a:graphic>
          <a:graphicData uri="http://schemas.openxmlformats.org/presentationml/2006/ole">
            <p:oleObj spid="_x0000_s71682" r:id="rId7" imgW="1425240" imgH="426600" progId="Equation.3">
              <p:embed/>
            </p:oleObj>
          </a:graphicData>
        </a:graphic>
      </p:graphicFrame>
      <p:graphicFrame>
        <p:nvGraphicFramePr>
          <p:cNvPr id="51272" name="Object 72"/>
          <p:cNvGraphicFramePr>
            <a:graphicFrameLocks/>
          </p:cNvGraphicFramePr>
          <p:nvPr/>
        </p:nvGraphicFramePr>
        <p:xfrm>
          <a:off x="4416425" y="4927600"/>
          <a:ext cx="3897313" cy="1046163"/>
        </p:xfrm>
        <a:graphic>
          <a:graphicData uri="http://schemas.openxmlformats.org/presentationml/2006/ole">
            <p:oleObj spid="_x0000_s71681" r:id="rId8" imgW="1576080" imgH="403560" progId="Equation.3">
              <p:embed/>
            </p:oleObj>
          </a:graphicData>
        </a:graphic>
      </p:graphicFrame>
      <p:sp>
        <p:nvSpPr>
          <p:cNvPr id="51273" name="Oval 73"/>
          <p:cNvSpPr/>
          <p:nvPr/>
        </p:nvSpPr>
        <p:spPr>
          <a:xfrm>
            <a:off x="684213" y="2062163"/>
            <a:ext cx="1152525" cy="935037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51275" name="Group 75"/>
          <p:cNvGrpSpPr/>
          <p:nvPr/>
        </p:nvGrpSpPr>
        <p:grpSpPr>
          <a:xfrm>
            <a:off x="611188" y="3425825"/>
            <a:ext cx="1016000" cy="939800"/>
            <a:chOff x="295" y="2167"/>
            <a:chExt cx="640" cy="592"/>
          </a:xfrm>
        </p:grpSpPr>
        <p:sp>
          <p:nvSpPr>
            <p:cNvPr id="57406" name="AutoShape 71"/>
            <p:cNvSpPr/>
            <p:nvPr/>
          </p:nvSpPr>
          <p:spPr>
            <a:xfrm rot="-1790341">
              <a:off x="708" y="2167"/>
              <a:ext cx="227" cy="590"/>
            </a:xfrm>
            <a:prstGeom prst="downArrow">
              <a:avLst>
                <a:gd name="adj1" fmla="val 50000"/>
                <a:gd name="adj2" fmla="val 64977"/>
              </a:avLst>
            </a:prstGeom>
            <a:solidFill>
              <a:srgbClr val="0099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7" name="Text Box 74"/>
            <p:cNvSpPr txBox="1"/>
            <p:nvPr/>
          </p:nvSpPr>
          <p:spPr>
            <a:xfrm>
              <a:off x="295" y="2432"/>
              <a:ext cx="5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FF00"/>
                  </a:solidFill>
                  <a:ea typeface="楷体_GB2312" pitchFamily="49" charset="-122"/>
                </a:rPr>
                <a:t>等效</a:t>
              </a:r>
            </a:p>
          </p:txBody>
        </p:sp>
      </p:grpSp>
      <p:grpSp>
        <p:nvGrpSpPr>
          <p:cNvPr id="57356" name="Group 82"/>
          <p:cNvGrpSpPr/>
          <p:nvPr/>
        </p:nvGrpSpPr>
        <p:grpSpPr>
          <a:xfrm>
            <a:off x="8316913" y="6446838"/>
            <a:ext cx="792162" cy="366712"/>
            <a:chOff x="4649" y="4020"/>
            <a:chExt cx="499" cy="231"/>
          </a:xfrm>
        </p:grpSpPr>
        <p:pic>
          <p:nvPicPr>
            <p:cNvPr id="57404" name="Picture 83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405" name="Text Box 8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</a:p>
          </p:txBody>
        </p:sp>
      </p:grpSp>
      <p:grpSp>
        <p:nvGrpSpPr>
          <p:cNvPr id="57357" name="Group 139"/>
          <p:cNvGrpSpPr/>
          <p:nvPr/>
        </p:nvGrpSpPr>
        <p:grpSpPr>
          <a:xfrm>
            <a:off x="323850" y="620713"/>
            <a:ext cx="2989263" cy="2663825"/>
            <a:chOff x="-1883" y="482"/>
            <a:chExt cx="1883" cy="1678"/>
          </a:xfrm>
        </p:grpSpPr>
        <p:sp>
          <p:nvSpPr>
            <p:cNvPr id="57387" name="Rectangle 89"/>
            <p:cNvSpPr/>
            <p:nvPr/>
          </p:nvSpPr>
          <p:spPr>
            <a:xfrm>
              <a:off x="-1291" y="1348"/>
              <a:ext cx="702" cy="767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88" name="Text Box 90"/>
            <p:cNvSpPr txBox="1"/>
            <p:nvPr/>
          </p:nvSpPr>
          <p:spPr>
            <a:xfrm>
              <a:off x="-1065" y="1524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89" name="Text Box 91"/>
            <p:cNvSpPr txBox="1"/>
            <p:nvPr/>
          </p:nvSpPr>
          <p:spPr>
            <a:xfrm>
              <a:off x="-1110" y="1305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90" name="Text Box 92"/>
            <p:cNvSpPr txBox="1"/>
            <p:nvPr/>
          </p:nvSpPr>
          <p:spPr>
            <a:xfrm>
              <a:off x="-1019" y="1688"/>
              <a:ext cx="226" cy="32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91" name="Text Box 93"/>
            <p:cNvSpPr txBox="1"/>
            <p:nvPr/>
          </p:nvSpPr>
          <p:spPr>
            <a:xfrm>
              <a:off x="-589" y="1479"/>
              <a:ext cx="58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15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92" name="Text Box 94"/>
            <p:cNvSpPr txBox="1"/>
            <p:nvPr/>
          </p:nvSpPr>
          <p:spPr>
            <a:xfrm>
              <a:off x="-1883" y="1752"/>
              <a:ext cx="6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0.1</a:t>
              </a: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93" name="Text Box 95"/>
            <p:cNvSpPr txBox="1"/>
            <p:nvPr/>
          </p:nvSpPr>
          <p:spPr>
            <a:xfrm>
              <a:off x="-907" y="754"/>
              <a:ext cx="52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94" name="Line 96"/>
            <p:cNvSpPr/>
            <p:nvPr/>
          </p:nvSpPr>
          <p:spPr>
            <a:xfrm>
              <a:off x="-589" y="2115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7395" name="Line 97"/>
            <p:cNvSpPr/>
            <p:nvPr/>
          </p:nvSpPr>
          <p:spPr>
            <a:xfrm flipH="1">
              <a:off x="-929" y="572"/>
              <a:ext cx="22" cy="77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7396" name="Line 98"/>
            <p:cNvSpPr/>
            <p:nvPr/>
          </p:nvSpPr>
          <p:spPr>
            <a:xfrm flipV="1">
              <a:off x="-907" y="572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7" name="Line 99"/>
            <p:cNvSpPr/>
            <p:nvPr/>
          </p:nvSpPr>
          <p:spPr>
            <a:xfrm>
              <a:off x="-1293" y="1740"/>
              <a:ext cx="0" cy="329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7398" name="Oval 100"/>
            <p:cNvSpPr/>
            <p:nvPr/>
          </p:nvSpPr>
          <p:spPr>
            <a:xfrm>
              <a:off x="-181" y="2069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99" name="Oval 101"/>
            <p:cNvSpPr/>
            <p:nvPr/>
          </p:nvSpPr>
          <p:spPr>
            <a:xfrm>
              <a:off x="-226" y="52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0" name="Rectangle 102"/>
            <p:cNvSpPr/>
            <p:nvPr/>
          </p:nvSpPr>
          <p:spPr>
            <a:xfrm>
              <a:off x="-997" y="79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1" name="Rectangle 103"/>
            <p:cNvSpPr/>
            <p:nvPr/>
          </p:nvSpPr>
          <p:spPr>
            <a:xfrm>
              <a:off x="-634" y="152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2" name="AutoShape 104"/>
            <p:cNvSpPr/>
            <p:nvPr/>
          </p:nvSpPr>
          <p:spPr>
            <a:xfrm rot="10800000">
              <a:off x="-1496" y="1433"/>
              <a:ext cx="407" cy="409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03" name="Text Box 105"/>
            <p:cNvSpPr txBox="1"/>
            <p:nvPr/>
          </p:nvSpPr>
          <p:spPr>
            <a:xfrm>
              <a:off x="-1768" y="48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3.</a:t>
              </a:r>
            </a:p>
          </p:txBody>
        </p:sp>
      </p:grpSp>
      <p:grpSp>
        <p:nvGrpSpPr>
          <p:cNvPr id="51316" name="Group 116"/>
          <p:cNvGrpSpPr/>
          <p:nvPr/>
        </p:nvGrpSpPr>
        <p:grpSpPr>
          <a:xfrm>
            <a:off x="539750" y="3716338"/>
            <a:ext cx="3022600" cy="2592387"/>
            <a:chOff x="2109" y="2205"/>
            <a:chExt cx="1904" cy="1633"/>
          </a:xfrm>
        </p:grpSpPr>
        <p:sp>
          <p:nvSpPr>
            <p:cNvPr id="57372" name="Text Box 117"/>
            <p:cNvSpPr txBox="1"/>
            <p:nvPr/>
          </p:nvSpPr>
          <p:spPr>
            <a:xfrm>
              <a:off x="2109" y="3249"/>
              <a:ext cx="58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10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73" name="Rectangle 118"/>
            <p:cNvSpPr/>
            <p:nvPr/>
          </p:nvSpPr>
          <p:spPr>
            <a:xfrm>
              <a:off x="2722" y="3026"/>
              <a:ext cx="702" cy="767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74" name="Text Box 119"/>
            <p:cNvSpPr txBox="1"/>
            <p:nvPr/>
          </p:nvSpPr>
          <p:spPr>
            <a:xfrm>
              <a:off x="2948" y="3202"/>
              <a:ext cx="3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75" name="Text Box 120"/>
            <p:cNvSpPr txBox="1"/>
            <p:nvPr/>
          </p:nvSpPr>
          <p:spPr>
            <a:xfrm>
              <a:off x="2903" y="2983"/>
              <a:ext cx="40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76" name="Text Box 121"/>
            <p:cNvSpPr txBox="1"/>
            <p:nvPr/>
          </p:nvSpPr>
          <p:spPr>
            <a:xfrm>
              <a:off x="2994" y="3366"/>
              <a:ext cx="226" cy="32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_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77" name="Text Box 122"/>
            <p:cNvSpPr txBox="1"/>
            <p:nvPr/>
          </p:nvSpPr>
          <p:spPr>
            <a:xfrm>
              <a:off x="3424" y="3157"/>
              <a:ext cx="58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15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78" name="Text Box 123"/>
            <p:cNvSpPr txBox="1"/>
            <p:nvPr/>
          </p:nvSpPr>
          <p:spPr>
            <a:xfrm>
              <a:off x="3107" y="2432"/>
              <a:ext cx="52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79" name="Line 124"/>
            <p:cNvSpPr/>
            <p:nvPr/>
          </p:nvSpPr>
          <p:spPr>
            <a:xfrm>
              <a:off x="3424" y="3793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7380" name="Line 125"/>
            <p:cNvSpPr/>
            <p:nvPr/>
          </p:nvSpPr>
          <p:spPr>
            <a:xfrm flipH="1">
              <a:off x="3084" y="2250"/>
              <a:ext cx="22" cy="77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7381" name="Line 126"/>
            <p:cNvSpPr/>
            <p:nvPr/>
          </p:nvSpPr>
          <p:spPr>
            <a:xfrm flipV="1">
              <a:off x="3106" y="2250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2" name="Oval 127"/>
            <p:cNvSpPr/>
            <p:nvPr/>
          </p:nvSpPr>
          <p:spPr>
            <a:xfrm>
              <a:off x="3832" y="374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83" name="Oval 128"/>
            <p:cNvSpPr/>
            <p:nvPr/>
          </p:nvSpPr>
          <p:spPr>
            <a:xfrm>
              <a:off x="3787" y="2205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84" name="Rectangle 129"/>
            <p:cNvSpPr/>
            <p:nvPr/>
          </p:nvSpPr>
          <p:spPr>
            <a:xfrm>
              <a:off x="3016" y="247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85" name="Rectangle 130"/>
            <p:cNvSpPr/>
            <p:nvPr/>
          </p:nvSpPr>
          <p:spPr>
            <a:xfrm>
              <a:off x="3379" y="320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86" name="Rectangle 131"/>
            <p:cNvSpPr/>
            <p:nvPr/>
          </p:nvSpPr>
          <p:spPr>
            <a:xfrm>
              <a:off x="2653" y="324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57359" name="Group 136"/>
          <p:cNvGrpSpPr/>
          <p:nvPr/>
        </p:nvGrpSpPr>
        <p:grpSpPr>
          <a:xfrm>
            <a:off x="7451725" y="6446838"/>
            <a:ext cx="792163" cy="366712"/>
            <a:chOff x="4649" y="4020"/>
            <a:chExt cx="499" cy="231"/>
          </a:xfrm>
        </p:grpSpPr>
        <p:pic>
          <p:nvPicPr>
            <p:cNvPr id="57370" name="Picture 137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71" name="Text Box 13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</a:p>
          </p:txBody>
        </p:sp>
      </p:grpSp>
      <p:grpSp>
        <p:nvGrpSpPr>
          <p:cNvPr id="51342" name="Group 142"/>
          <p:cNvGrpSpPr/>
          <p:nvPr/>
        </p:nvGrpSpPr>
        <p:grpSpPr>
          <a:xfrm>
            <a:off x="2773363" y="763588"/>
            <a:ext cx="1438275" cy="2449512"/>
            <a:chOff x="1747" y="481"/>
            <a:chExt cx="906" cy="1543"/>
          </a:xfrm>
        </p:grpSpPr>
        <p:sp>
          <p:nvSpPr>
            <p:cNvPr id="57361" name="Text Box 107"/>
            <p:cNvSpPr txBox="1"/>
            <p:nvPr/>
          </p:nvSpPr>
          <p:spPr>
            <a:xfrm>
              <a:off x="1747" y="555"/>
              <a:ext cx="50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62" name="Text Box 108"/>
            <p:cNvSpPr txBox="1"/>
            <p:nvPr/>
          </p:nvSpPr>
          <p:spPr>
            <a:xfrm>
              <a:off x="1747" y="1703"/>
              <a:ext cx="33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－</a:t>
              </a:r>
              <a:endParaRPr lang="zh-CN" altLang="en-US" sz="24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63" name="Text Box 109"/>
            <p:cNvSpPr txBox="1"/>
            <p:nvPr/>
          </p:nvSpPr>
          <p:spPr>
            <a:xfrm>
              <a:off x="2251" y="748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rgbClr val="FFFF00"/>
                </a:solidFill>
                <a:ea typeface="仿宋_GB2312" pitchFamily="49" charset="-122"/>
              </a:endParaRPr>
            </a:p>
          </p:txBody>
        </p:sp>
        <p:sp>
          <p:nvSpPr>
            <p:cNvPr id="57364" name="Freeform 110"/>
            <p:cNvSpPr/>
            <p:nvPr/>
          </p:nvSpPr>
          <p:spPr>
            <a:xfrm>
              <a:off x="1936" y="481"/>
              <a:ext cx="556" cy="1543"/>
            </a:xfrm>
            <a:custGeom>
              <a:avLst/>
              <a:gdLst/>
              <a:ahLst/>
              <a:cxnLst>
                <a:cxn ang="0">
                  <a:pos x="0" y="3458"/>
                </a:cxn>
                <a:cxn ang="0">
                  <a:pos x="1408" y="1996"/>
                </a:cxn>
                <a:cxn ang="0">
                  <a:pos x="0" y="0"/>
                </a:cxn>
              </a:cxnLst>
              <a:rect l="0" t="0" r="0" b="0"/>
              <a:pathLst>
                <a:path w="408" h="1179">
                  <a:moveTo>
                    <a:pt x="0" y="1179"/>
                  </a:moveTo>
                  <a:cubicBezTo>
                    <a:pt x="204" y="1027"/>
                    <a:pt x="408" y="876"/>
                    <a:pt x="408" y="680"/>
                  </a:cubicBezTo>
                  <a:cubicBezTo>
                    <a:pt x="408" y="484"/>
                    <a:pt x="68" y="113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FFCC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5" name="Text Box 112"/>
            <p:cNvSpPr txBox="1"/>
            <p:nvPr/>
          </p:nvSpPr>
          <p:spPr>
            <a:xfrm>
              <a:off x="1948" y="1169"/>
              <a:ext cx="22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</a:p>
          </p:txBody>
        </p:sp>
        <p:sp>
          <p:nvSpPr>
            <p:cNvPr id="57366" name="Freeform 140"/>
            <p:cNvSpPr/>
            <p:nvPr/>
          </p:nvSpPr>
          <p:spPr>
            <a:xfrm>
              <a:off x="2200" y="802"/>
              <a:ext cx="252" cy="367"/>
            </a:xfrm>
            <a:custGeom>
              <a:avLst/>
              <a:gdLst/>
              <a:ahLst/>
              <a:cxnLst>
                <a:cxn ang="0">
                  <a:pos x="681" y="901"/>
                </a:cxn>
                <a:cxn ang="0">
                  <a:pos x="0" y="0"/>
                </a:cxn>
              </a:cxnLst>
              <a:rect l="0" t="0" r="0" b="0"/>
              <a:pathLst>
                <a:path w="181" h="272">
                  <a:moveTo>
                    <a:pt x="181" y="272"/>
                  </a:moveTo>
                  <a:cubicBezTo>
                    <a:pt x="105" y="158"/>
                    <a:pt x="30" y="45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66FF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367" name="Group 113"/>
            <p:cNvGrpSpPr/>
            <p:nvPr/>
          </p:nvGrpSpPr>
          <p:grpSpPr>
            <a:xfrm>
              <a:off x="2250" y="1169"/>
              <a:ext cx="403" cy="367"/>
              <a:chOff x="4785" y="709"/>
              <a:chExt cx="363" cy="363"/>
            </a:xfrm>
          </p:grpSpPr>
          <p:sp>
            <p:nvSpPr>
              <p:cNvPr id="57368" name="Oval 114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800" dirty="0">
                  <a:solidFill>
                    <a:srgbClr val="FFFF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7369" name="Line 115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2000"/>
                                        <p:tgtEl>
                                          <p:spTgt spid="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2000"/>
                                        <p:tgtEl>
                                          <p:spTgt spid="5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2000"/>
                                        <p:tgtEl>
                                          <p:spTgt spid="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2000"/>
                                        <p:tgtEl>
                                          <p:spTgt spid="5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70" decel="100000"/>
                                        <p:tgtEl>
                                          <p:spTgt spid="512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770" decel="100000"/>
                                        <p:tgtEl>
                                          <p:spTgt spid="5127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27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7" dur="770" fill="hold"/>
                                        <p:tgtEl>
                                          <p:spTgt spid="5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9" dur="770" fill="hold"/>
                                        <p:tgtEl>
                                          <p:spTgt spid="5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5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2000"/>
                                        <p:tgtEl>
                                          <p:spTgt spid="5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U3NWY5ODU4NzI2NzNlZjYxODI4YjhmYmVlMDhlNG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Refined</Template>
  <TotalTime>1</TotalTime>
  <Words>3044</Words>
  <Application>WPS 演示</Application>
  <PresentationFormat>全屏显示(4:3)</PresentationFormat>
  <Paragraphs>1267</Paragraphs>
  <Slides>54</Slides>
  <Notes>1</Notes>
  <HiddenSlides>1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56" baseType="lpstr">
      <vt:lpstr>默认设计模板</vt:lpstr>
      <vt:lpstr>Microsoft 公式 3.0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</vt:vector>
  </TitlesOfParts>
  <Company>xjtu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DELL</cp:lastModifiedBy>
  <cp:revision>313</cp:revision>
  <dcterms:created xsi:type="dcterms:W3CDTF">2002-07-09T04:04:00Z</dcterms:created>
  <dcterms:modified xsi:type="dcterms:W3CDTF">2023-03-06T02:08:06Z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4329954F66E9488D8E119E10FB32F984</vt:lpwstr>
  </property>
  <property fmtid="{D5CDD505-2E9C-101B-9397-08002B2CF9AE}" pid="3" name="KSOProductBuildVer">
    <vt:lpwstr>2052-11.1.0.12358</vt:lpwstr>
  </property>
</Properties>
</file>