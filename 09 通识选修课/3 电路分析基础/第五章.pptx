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8" r:id="rId3"/>
    <p:sldId id="257" r:id="rId4"/>
    <p:sldId id="280" r:id="rId5"/>
    <p:sldId id="258" r:id="rId6"/>
    <p:sldId id="292" r:id="rId7"/>
    <p:sldId id="281" r:id="rId8"/>
    <p:sldId id="259" r:id="rId9"/>
    <p:sldId id="260" r:id="rId10"/>
    <p:sldId id="282" r:id="rId11"/>
    <p:sldId id="261" r:id="rId12"/>
    <p:sldId id="262" r:id="rId13"/>
    <p:sldId id="263" r:id="rId14"/>
    <p:sldId id="264" r:id="rId15"/>
    <p:sldId id="265" r:id="rId16"/>
    <p:sldId id="283" r:id="rId17"/>
    <p:sldId id="266" r:id="rId18"/>
    <p:sldId id="293" r:id="rId19"/>
    <p:sldId id="267" r:id="rId20"/>
    <p:sldId id="268" r:id="rId21"/>
    <p:sldId id="269" r:id="rId22"/>
    <p:sldId id="276" r:id="rId23"/>
    <p:sldId id="294" r:id="rId24"/>
    <p:sldId id="272" r:id="rId25"/>
    <p:sldId id="273" r:id="rId26"/>
  </p:sldIdLst>
  <p:sldSz cx="9144000" cy="6858000" type="screen4x3"/>
  <p:notesSz cx="6858000" cy="9144000"/>
  <p:custDataLst>
    <p:tags r:id="rId30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FFFF00"/>
        </a:solidFill>
        <a:latin typeface="Arial" panose="020B0604020202020204" pitchFamily="34" charset="0"/>
        <a:ea typeface="仿宋_GB2312" pitchFamily="49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FFFF00"/>
        </a:solidFill>
        <a:latin typeface="Arial" panose="020B0604020202020204" pitchFamily="34" charset="0"/>
        <a:ea typeface="仿宋_GB2312" pitchFamily="49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FFFF00"/>
        </a:solidFill>
        <a:latin typeface="Arial" panose="020B0604020202020204" pitchFamily="34" charset="0"/>
        <a:ea typeface="仿宋_GB2312" pitchFamily="49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FFFF00"/>
        </a:solidFill>
        <a:latin typeface="Arial" panose="020B0604020202020204" pitchFamily="34" charset="0"/>
        <a:ea typeface="仿宋_GB2312" pitchFamily="49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FFFF00"/>
        </a:solidFill>
        <a:latin typeface="Arial" panose="020B0604020202020204" pitchFamily="34" charset="0"/>
        <a:ea typeface="仿宋_GB2312" pitchFamily="49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FFFF00"/>
        </a:solidFill>
        <a:latin typeface="Arial" panose="020B0604020202020204" pitchFamily="34" charset="0"/>
        <a:ea typeface="仿宋_GB2312" pitchFamily="49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FFFF00"/>
        </a:solidFill>
        <a:latin typeface="Arial" panose="020B0604020202020204" pitchFamily="34" charset="0"/>
        <a:ea typeface="仿宋_GB2312" pitchFamily="49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FFFF00"/>
        </a:solidFill>
        <a:latin typeface="Arial" panose="020B0604020202020204" pitchFamily="34" charset="0"/>
        <a:ea typeface="仿宋_GB2312" pitchFamily="49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FFFF00"/>
        </a:solidFill>
        <a:latin typeface="Arial" panose="020B0604020202020204" pitchFamily="34" charset="0"/>
        <a:ea typeface="仿宋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FF3300"/>
    <a:srgbClr val="FF9900"/>
    <a:srgbClr val="FFCC00"/>
    <a:srgbClr val="0066FF"/>
    <a:srgbClr val="FFFF00"/>
    <a:srgbClr val="663300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howGuides="1">
      <p:cViewPr varScale="1">
        <p:scale>
          <a:sx n="66" d="100"/>
          <a:sy n="66" d="100"/>
        </p:scale>
        <p:origin x="1280" y="24"/>
      </p:cViewPr>
      <p:guideLst>
        <p:guide orient="horz" pos="215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gs" Target="tags/tag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6.vml.rels><?xml version="1.0" encoding="UTF-8" standalone="yes"?>
<Relationships xmlns="http://schemas.openxmlformats.org/package/2006/relationships"><Relationship Id="rId4" Type="http://schemas.openxmlformats.org/officeDocument/2006/relationships/image" Target="../media/image22.emf"/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image" Target="../media/image2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9.vml.rels><?xml version="1.0" encoding="UTF-8" standalone="yes"?>
<Relationships xmlns="http://schemas.openxmlformats.org/package/2006/relationships"><Relationship Id="rId4" Type="http://schemas.openxmlformats.org/officeDocument/2006/relationships/image" Target="../media/image29.emf"/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image" Target="../media/image26.e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33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4287"/>
            <a:ext cx="9180513" cy="6899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7" descr="333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-14287"/>
            <a:ext cx="9180513" cy="6899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WordArt 8"/>
          <p:cNvSpPr>
            <a:spLocks noTextEdit="1"/>
          </p:cNvSpPr>
          <p:nvPr userDrawn="1"/>
        </p:nvSpPr>
        <p:spPr>
          <a:xfrm>
            <a:off x="4643438" y="115888"/>
            <a:ext cx="3170237" cy="2889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37"/>
              </a:avLst>
            </a:prstTxWarp>
            <a:normAutofit/>
          </a:bodyPr>
          <a:p>
            <a:pPr algn="ctr"/>
            <a:r>
              <a:rPr lang="zh-CN" altLang="en-US" sz="2400" b="1" spc="480" normalizeH="1">
                <a:gradFill rotWithShape="1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effectLst>
                  <a:outerShdw dist="45791" dir="3378595" algn="ctr" rotWithShape="0">
                    <a:srgbClr val="4D4D4D">
                      <a:alpha val="79999"/>
                    </a:srgb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含有运算放大器的电阻电路</a:t>
            </a:r>
            <a:endParaRPr lang="zh-CN" altLang="en-US" sz="2400" b="1" spc="480" normalizeH="1">
              <a:gradFill rotWithShape="1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  <a:tileRect/>
              </a:gradFill>
              <a:effectLst>
                <a:outerShdw dist="45791" dir="3378595" algn="ctr" rotWithShape="0">
                  <a:srgbClr val="4D4D4D">
                    <a:alpha val="79999"/>
                  </a:srgbClr>
                </a:outerShdw>
              </a:effectLst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slide" Target="slide16.xml"/><Relationship Id="rId6" Type="http://schemas.openxmlformats.org/officeDocument/2006/relationships/slide" Target="slide1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slide" Target="slide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hyperlink" Target="http://www.centrmus.com/cmetech/showtech.php?id=10121" TargetMode="External"/><Relationship Id="rId3" Type="http://schemas.openxmlformats.org/officeDocument/2006/relationships/image" Target="../media/image7.png"/><Relationship Id="rId2" Type="http://schemas.openxmlformats.org/officeDocument/2006/relationships/hyperlink" Target="http://www.studychinese.net/dwhy/eeqx/d4.htm" TargetMode="Externa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12.emf"/><Relationship Id="rId1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14.e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13.emf"/><Relationship Id="rId1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0.png"/><Relationship Id="rId3" Type="http://schemas.openxmlformats.org/officeDocument/2006/relationships/image" Target="../media/image6.png"/><Relationship Id="rId2" Type="http://schemas.openxmlformats.org/officeDocument/2006/relationships/image" Target="../media/image15.emf"/><Relationship Id="rId1" Type="http://schemas.openxmlformats.org/officeDocument/2006/relationships/oleObject" Target="../embeddings/oleObject4.bin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6.e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10.png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5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9.jpeg"/><Relationship Id="rId4" Type="http://schemas.openxmlformats.org/officeDocument/2006/relationships/image" Target="../media/image18.e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17.emf"/><Relationship Id="rId1" Type="http://schemas.openxmlformats.org/officeDocument/2006/relationships/oleObject" Target="../embeddings/oleObject6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22.emf"/><Relationship Id="rId7" Type="http://schemas.openxmlformats.org/officeDocument/2006/relationships/oleObject" Target="../embeddings/oleObject11.bin"/><Relationship Id="rId6" Type="http://schemas.openxmlformats.org/officeDocument/2006/relationships/image" Target="../media/image21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0.e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19.emf"/><Relationship Id="rId11" Type="http://schemas.openxmlformats.org/officeDocument/2006/relationships/vmlDrawing" Target="../drawings/vmlDrawing6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8.bin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7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4.emf"/><Relationship Id="rId4" Type="http://schemas.openxmlformats.org/officeDocument/2006/relationships/oleObject" Target="../embeddings/oleObject13.bin"/><Relationship Id="rId3" Type="http://schemas.openxmlformats.org/officeDocument/2006/relationships/image" Target="../media/image6.png"/><Relationship Id="rId2" Type="http://schemas.openxmlformats.org/officeDocument/2006/relationships/image" Target="../media/image23.emf"/><Relationship Id="rId1" Type="http://schemas.openxmlformats.org/officeDocument/2006/relationships/oleObject" Target="../embeddings/oleObject12.bin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8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25.emf"/><Relationship Id="rId1" Type="http://schemas.openxmlformats.org/officeDocument/2006/relationships/oleObject" Target="../embeddings/oleObject14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29.emf"/><Relationship Id="rId7" Type="http://schemas.openxmlformats.org/officeDocument/2006/relationships/oleObject" Target="../embeddings/oleObject18.bin"/><Relationship Id="rId6" Type="http://schemas.openxmlformats.org/officeDocument/2006/relationships/image" Target="../media/image28.e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27.e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26.emf"/><Relationship Id="rId11" Type="http://schemas.openxmlformats.org/officeDocument/2006/relationships/vmlDrawing" Target="../drawings/vmlDrawing9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1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2228" name="Group 4"/>
          <p:cNvGrpSpPr/>
          <p:nvPr/>
        </p:nvGrpSpPr>
        <p:grpSpPr>
          <a:xfrm>
            <a:off x="1187450" y="504825"/>
            <a:ext cx="6697663" cy="1555750"/>
            <a:chOff x="521" y="318"/>
            <a:chExt cx="4219" cy="980"/>
          </a:xfrm>
        </p:grpSpPr>
        <p:sp>
          <p:nvSpPr>
            <p:cNvPr id="5122" name="Text Box 5"/>
            <p:cNvSpPr txBox="1"/>
            <p:nvPr/>
          </p:nvSpPr>
          <p:spPr>
            <a:xfrm>
              <a:off x="521" y="326"/>
              <a:ext cx="1316" cy="51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4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第五章</a:t>
              </a:r>
              <a:endParaRPr lang="zh-CN" altLang="en-US" sz="480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5123" name="Text Box 6"/>
            <p:cNvSpPr txBox="1"/>
            <p:nvPr/>
          </p:nvSpPr>
          <p:spPr>
            <a:xfrm>
              <a:off x="2109" y="318"/>
              <a:ext cx="2631" cy="9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/>
              <a:r>
                <a:rPr lang="zh-CN" altLang="en-US" sz="480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含有运算放大器的电阻电路</a:t>
              </a:r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</p:grpSp>
      <p:grpSp>
        <p:nvGrpSpPr>
          <p:cNvPr id="52231" name="Group 7"/>
          <p:cNvGrpSpPr/>
          <p:nvPr/>
        </p:nvGrpSpPr>
        <p:grpSpPr>
          <a:xfrm>
            <a:off x="7596188" y="6021388"/>
            <a:ext cx="1368425" cy="647700"/>
            <a:chOff x="2971" y="3113"/>
            <a:chExt cx="1043" cy="499"/>
          </a:xfrm>
        </p:grpSpPr>
        <p:sp>
          <p:nvSpPr>
            <p:cNvPr id="5125" name="Oval 8"/>
            <p:cNvSpPr/>
            <p:nvPr/>
          </p:nvSpPr>
          <p:spPr>
            <a:xfrm>
              <a:off x="2971" y="3113"/>
              <a:ext cx="1043" cy="499"/>
            </a:xfrm>
            <a:prstGeom prst="ellipse">
              <a:avLst/>
            </a:prstGeom>
            <a:gradFill rotWithShape="0">
              <a:gsLst>
                <a:gs pos="0">
                  <a:srgbClr val="3366FF"/>
                </a:gs>
                <a:gs pos="50000">
                  <a:srgbClr val="7799FF"/>
                </a:gs>
                <a:gs pos="100000">
                  <a:srgbClr val="3366FF"/>
                </a:gs>
              </a:gsLst>
              <a:lin ang="5400000" scaled="1"/>
              <a:tileRect/>
            </a:gradFill>
            <a:ln w="28575" cap="sq" cmpd="sng">
              <a:solidFill>
                <a:srgbClr val="0033CC"/>
              </a:solidFill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2699999">
                <a:schemeClr val="bg2"/>
              </a:prstShdw>
            </a:effectLst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126" name="Oval 9">
              <a:hlinkClick r:id="" action="ppaction://hlinkshowjump?jump=endshow"/>
            </p:cNvPr>
            <p:cNvSpPr/>
            <p:nvPr/>
          </p:nvSpPr>
          <p:spPr>
            <a:xfrm>
              <a:off x="3016" y="3158"/>
              <a:ext cx="953" cy="408"/>
            </a:xfrm>
            <a:prstGeom prst="ellipse">
              <a:avLst/>
            </a:prstGeom>
            <a:gradFill rotWithShape="0">
              <a:gsLst>
                <a:gs pos="0">
                  <a:srgbClr val="0033CC"/>
                </a:gs>
                <a:gs pos="50000">
                  <a:srgbClr val="87DAED"/>
                </a:gs>
                <a:gs pos="100000">
                  <a:srgbClr val="0033CC"/>
                </a:gs>
              </a:gsLst>
              <a:lin ang="5400000" scaled="1"/>
              <a:tileRect/>
            </a:gradFill>
            <a:ln w="28575" cap="sq" cmpd="sng">
              <a:solidFill>
                <a:srgbClr val="0033CC"/>
              </a:solidFill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2699999">
                <a:schemeClr val="bg2"/>
              </a:prstShdw>
            </a:effectLst>
          </p:spPr>
          <p:txBody>
            <a:bodyPr wrap="none" anchor="ctr" anchorCtr="0"/>
            <a:p>
              <a:pPr algn="ctr"/>
              <a:r>
                <a:rPr lang="zh-CN" altLang="en-US" sz="2800" dirty="0">
                  <a:solidFill>
                    <a:srgbClr val="CC0000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首 页</a:t>
              </a:r>
              <a:endParaRPr lang="zh-CN" altLang="en-US" sz="2800" dirty="0">
                <a:solidFill>
                  <a:srgbClr val="CC0000"/>
                </a:solidFill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</p:grpSp>
      <p:grpSp>
        <p:nvGrpSpPr>
          <p:cNvPr id="52234" name="Group 10"/>
          <p:cNvGrpSpPr/>
          <p:nvPr/>
        </p:nvGrpSpPr>
        <p:grpSpPr>
          <a:xfrm>
            <a:off x="3203575" y="2205038"/>
            <a:ext cx="3024188" cy="1079500"/>
            <a:chOff x="1928" y="890"/>
            <a:chExt cx="1905" cy="680"/>
          </a:xfrm>
        </p:grpSpPr>
        <p:pic>
          <p:nvPicPr>
            <p:cNvPr id="5128" name="Picture 11" descr="GEL Oval MS-blue"/>
            <p:cNvPicPr preferRelativeResize="0"/>
            <p:nvPr/>
          </p:nvPicPr>
          <p:blipFill>
            <a:blip r:embed="rId1"/>
            <a:stretch>
              <a:fillRect/>
            </a:stretch>
          </p:blipFill>
          <p:spPr>
            <a:xfrm>
              <a:off x="1928" y="890"/>
              <a:ext cx="1905" cy="68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29" name="Picture 12" descr="GEL Oval MS-yellow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018" y="981"/>
              <a:ext cx="1715" cy="49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30" name="Text Box 13" descr="斜纹布"/>
            <p:cNvSpPr txBox="1"/>
            <p:nvPr/>
          </p:nvSpPr>
          <p:spPr>
            <a:xfrm>
              <a:off x="2291" y="1062"/>
              <a:ext cx="1238" cy="365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chemeClr val="bg2"/>
              </a:prstShdw>
            </a:effectLst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3200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本章重点</a:t>
              </a:r>
              <a:endParaRPr lang="zh-CN" altLang="en-US" sz="3200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2238" name="Group 14"/>
          <p:cNvGrpSpPr/>
          <p:nvPr/>
        </p:nvGrpSpPr>
        <p:grpSpPr>
          <a:xfrm>
            <a:off x="1260475" y="3430588"/>
            <a:ext cx="7056438" cy="577850"/>
            <a:chOff x="567" y="1752"/>
            <a:chExt cx="4173" cy="364"/>
          </a:xfrm>
        </p:grpSpPr>
        <p:pic>
          <p:nvPicPr>
            <p:cNvPr id="5132" name="Picture 15" descr="GEL Rounded Rectangle aquamarine">
              <a:hlinkClick r:id="rId3" action="ppaction://hlinksldjump"/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1338" y="1762"/>
              <a:ext cx="3402" cy="35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33" name="Text Box 16">
              <a:hlinkClick r:id="rId3" action="ppaction://hlinksldjump"/>
            </p:cNvPr>
            <p:cNvSpPr txBox="1"/>
            <p:nvPr/>
          </p:nvSpPr>
          <p:spPr>
            <a:xfrm>
              <a:off x="1520" y="1752"/>
              <a:ext cx="312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运算放大器的电路模型</a:t>
              </a:r>
              <a:endPara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pic>
          <p:nvPicPr>
            <p:cNvPr id="5134" name="Picture 17" descr="GEL Rounded Rectangle aquamarine">
              <a:hlinkClick r:id="rId3" action="ppaction://hlinksldjump"/>
            </p:cNvPr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567" y="1762"/>
              <a:ext cx="862" cy="35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35" name="Text Box 18">
              <a:hlinkClick r:id="rId3" action="ppaction://hlinksldjump"/>
            </p:cNvPr>
            <p:cNvSpPr txBox="1"/>
            <p:nvPr/>
          </p:nvSpPr>
          <p:spPr>
            <a:xfrm>
              <a:off x="794" y="1788"/>
              <a:ext cx="6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5.1</a:t>
              </a:r>
              <a:endPara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2243" name="Group 19"/>
          <p:cNvGrpSpPr/>
          <p:nvPr/>
        </p:nvGrpSpPr>
        <p:grpSpPr>
          <a:xfrm>
            <a:off x="1260475" y="4146550"/>
            <a:ext cx="7056438" cy="577850"/>
            <a:chOff x="567" y="1752"/>
            <a:chExt cx="4173" cy="364"/>
          </a:xfrm>
        </p:grpSpPr>
        <p:pic>
          <p:nvPicPr>
            <p:cNvPr id="5137" name="Picture 20" descr="GEL Rounded Rectangle aquamarine">
              <a:hlinkClick r:id="rId6" action="ppaction://hlinksldjump"/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1338" y="1762"/>
              <a:ext cx="3402" cy="35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38" name="Text Box 21">
              <a:hlinkClick r:id="rId6" action="ppaction://hlinksldjump"/>
            </p:cNvPr>
            <p:cNvSpPr txBox="1"/>
            <p:nvPr/>
          </p:nvSpPr>
          <p:spPr>
            <a:xfrm>
              <a:off x="1520" y="1752"/>
              <a:ext cx="312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比例电路的分析</a:t>
              </a:r>
              <a:endPara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pic>
          <p:nvPicPr>
            <p:cNvPr id="5139" name="Picture 22" descr="GEL Rounded Rectangle aquamarine">
              <a:hlinkClick r:id="rId6" action="ppaction://hlinksldjump"/>
            </p:cNvPr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567" y="1762"/>
              <a:ext cx="862" cy="35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40" name="Text Box 23">
              <a:hlinkClick r:id="rId6" action="ppaction://hlinksldjump"/>
            </p:cNvPr>
            <p:cNvSpPr txBox="1"/>
            <p:nvPr/>
          </p:nvSpPr>
          <p:spPr>
            <a:xfrm>
              <a:off x="794" y="1788"/>
              <a:ext cx="6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5.2</a:t>
              </a:r>
              <a:endPara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2248" name="Group 24"/>
          <p:cNvGrpSpPr/>
          <p:nvPr/>
        </p:nvGrpSpPr>
        <p:grpSpPr>
          <a:xfrm>
            <a:off x="1260475" y="4867275"/>
            <a:ext cx="7056438" cy="577850"/>
            <a:chOff x="567" y="1752"/>
            <a:chExt cx="4173" cy="364"/>
          </a:xfrm>
        </p:grpSpPr>
        <p:pic>
          <p:nvPicPr>
            <p:cNvPr id="5142" name="Picture 25" descr="GEL Rounded Rectangle aquamarine">
              <a:hlinkClick r:id="rId7" action="ppaction://hlinksldjump"/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1338" y="1762"/>
              <a:ext cx="3402" cy="35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43" name="Text Box 26">
              <a:hlinkClick r:id="rId7" action="ppaction://hlinksldjump"/>
            </p:cNvPr>
            <p:cNvSpPr txBox="1"/>
            <p:nvPr/>
          </p:nvSpPr>
          <p:spPr>
            <a:xfrm>
              <a:off x="1520" y="1752"/>
              <a:ext cx="312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含有理想运算放大器的电路分析</a:t>
              </a:r>
              <a:endPara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pic>
          <p:nvPicPr>
            <p:cNvPr id="5144" name="Picture 27" descr="GEL Rounded Rectangle aquamarine">
              <a:hlinkClick r:id="rId7" action="ppaction://hlinksldjump"/>
            </p:cNvPr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567" y="1762"/>
              <a:ext cx="862" cy="35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45" name="Text Box 28">
              <a:hlinkClick r:id="rId7" action="ppaction://hlinksldjump"/>
            </p:cNvPr>
            <p:cNvSpPr txBox="1"/>
            <p:nvPr/>
          </p:nvSpPr>
          <p:spPr>
            <a:xfrm>
              <a:off x="794" y="1788"/>
              <a:ext cx="6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5.3</a:t>
              </a:r>
              <a:endPara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52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52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2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9" presetClass="entr" presetSubtype="0" decel="10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22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22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6" name="Text Box 4"/>
          <p:cNvSpPr txBox="1"/>
          <p:nvPr/>
        </p:nvSpPr>
        <p:spPr>
          <a:xfrm>
            <a:off x="684213" y="2349500"/>
            <a:ext cx="2951162" cy="557213"/>
          </a:xfrm>
          <a:prstGeom prst="rect">
            <a:avLst/>
          </a:prstGeom>
          <a:noFill/>
          <a:ln w="38100" cap="flat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运算放大器</a:t>
            </a:r>
            <a:endParaRPr lang="zh-CN" altLang="en-US" sz="28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7" name="Text Box 5"/>
          <p:cNvSpPr txBox="1"/>
          <p:nvPr/>
        </p:nvSpPr>
        <p:spPr>
          <a:xfrm>
            <a:off x="684213" y="2997200"/>
            <a:ext cx="7620000" cy="21431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indent="571500" algn="just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是一种有着十分广泛用途的电子器件。最早开始应用于</a:t>
            </a:r>
            <a:r>
              <a:rPr lang="en-US" altLang="zh-CN" sz="2800" b="0" dirty="0">
                <a:latin typeface="Times New Roman" panose="02020603050405020304" pitchFamily="18" charset="0"/>
                <a:ea typeface="楷体_GB2312" pitchFamily="49" charset="-122"/>
              </a:rPr>
              <a:t>1940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年，</a:t>
            </a:r>
            <a:r>
              <a:rPr lang="en-US" altLang="zh-CN" sz="2800" b="0" dirty="0">
                <a:latin typeface="Times New Roman" panose="02020603050405020304" pitchFamily="18" charset="0"/>
                <a:ea typeface="楷体_GB2312" pitchFamily="49" charset="-122"/>
              </a:rPr>
              <a:t>1960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年后，随着集成电路技术的发展，运算放大器逐步集成化，大大降低了成本，获得了越来越广泛的应用。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079" name="Text Box 7"/>
          <p:cNvSpPr txBox="1"/>
          <p:nvPr/>
        </p:nvSpPr>
        <p:spPr>
          <a:xfrm>
            <a:off x="1116013" y="549275"/>
            <a:ext cx="7129462" cy="762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44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5.1 </a:t>
            </a:r>
            <a:r>
              <a:rPr lang="zh-CN" altLang="en-US" sz="44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运算放大器的电路模型</a:t>
            </a:r>
            <a:endParaRPr lang="zh-CN" altLang="en-US" sz="44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080" name="Text Box 8"/>
          <p:cNvSpPr txBox="1"/>
          <p:nvPr/>
        </p:nvSpPr>
        <p:spPr>
          <a:xfrm>
            <a:off x="684213" y="1557338"/>
            <a:ext cx="2160587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1. 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简介</a:t>
            </a:r>
            <a:endParaRPr lang="zh-CN" altLang="en-US" sz="3200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6149" name="Group 13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6150" name="Picture 14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151" name="Text Box 15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152" name="Group 16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6153" name="Picture 17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154" name="Text Box 18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155" name="Group 24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6156" name="Picture 25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157" name="Text Box 26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6" grpId="0" animBg="1"/>
      <p:bldP spid="3077" grpId="0"/>
      <p:bldP spid="3079" grpId="0"/>
      <p:bldP spid="308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30" name="Text Box 6"/>
          <p:cNvSpPr txBox="1"/>
          <p:nvPr/>
        </p:nvSpPr>
        <p:spPr>
          <a:xfrm>
            <a:off x="755650" y="620713"/>
            <a:ext cx="1439863" cy="557212"/>
          </a:xfrm>
          <a:prstGeom prst="rect">
            <a:avLst/>
          </a:prstGeom>
          <a:noFill/>
          <a:ln w="38100" cap="flat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应用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6631" name="Text Box 7"/>
          <p:cNvSpPr txBox="1"/>
          <p:nvPr/>
        </p:nvSpPr>
        <p:spPr>
          <a:xfrm>
            <a:off x="539750" y="1268413"/>
            <a:ext cx="3240088" cy="6048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lnSpc>
                <a:spcPct val="120000"/>
              </a:lnSpc>
              <a:buAutoNum type="circleNumDbPlain"/>
            </a:pPr>
            <a:r>
              <a:rPr lang="zh-CN" altLang="en-US" sz="2800" dirty="0">
                <a:latin typeface="Arial" panose="020B0604020202020204" pitchFamily="34" charset="0"/>
                <a:ea typeface="楷体_GB2312" pitchFamily="49" charset="-122"/>
              </a:rPr>
              <a:t>信号的运算电路</a:t>
            </a:r>
            <a:endParaRPr lang="zh-CN" altLang="en-US" sz="280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7171" name="Group 8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7172" name="Picture 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173" name="Text Box 10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7174" name="Group 11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7175" name="Picture 12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176" name="Text Box 13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26638" name="Text Box 14"/>
          <p:cNvSpPr txBox="1"/>
          <p:nvPr/>
        </p:nvSpPr>
        <p:spPr>
          <a:xfrm>
            <a:off x="4356100" y="1196975"/>
            <a:ext cx="4392613" cy="1117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</a:pPr>
            <a:r>
              <a:rPr lang="zh-CN" altLang="en-US" sz="2800" dirty="0">
                <a:latin typeface="Arial" panose="020B0604020202020204" pitchFamily="34" charset="0"/>
                <a:ea typeface="楷体_GB2312" pitchFamily="49" charset="-122"/>
              </a:rPr>
              <a:t>比例、加、减、对数、指数、积分、微分等运算。</a:t>
            </a:r>
            <a:endParaRPr lang="zh-CN" altLang="en-US" sz="280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6639" name="Text Box 15"/>
          <p:cNvSpPr txBox="1"/>
          <p:nvPr/>
        </p:nvSpPr>
        <p:spPr>
          <a:xfrm>
            <a:off x="4284663" y="4149725"/>
            <a:ext cx="4464050" cy="6048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</a:pPr>
            <a:r>
              <a:rPr lang="zh-CN" altLang="en-US" sz="2800" dirty="0">
                <a:latin typeface="Arial" panose="020B0604020202020204" pitchFamily="34" charset="0"/>
                <a:ea typeface="楷体_GB2312" pitchFamily="49" charset="-122"/>
              </a:rPr>
              <a:t>产生方波、锯齿波等波形</a:t>
            </a:r>
            <a:endParaRPr lang="zh-CN" altLang="en-US" sz="280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6640" name="Line 16"/>
          <p:cNvSpPr/>
          <p:nvPr/>
        </p:nvSpPr>
        <p:spPr>
          <a:xfrm>
            <a:off x="3708400" y="1628775"/>
            <a:ext cx="576263" cy="0"/>
          </a:xfrm>
          <a:prstGeom prst="line">
            <a:avLst/>
          </a:prstGeom>
          <a:ln w="76200" cap="flat" cmpd="sng">
            <a:solidFill>
              <a:srgbClr val="0099FF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6641" name="Text Box 17"/>
          <p:cNvSpPr txBox="1"/>
          <p:nvPr/>
        </p:nvSpPr>
        <p:spPr>
          <a:xfrm>
            <a:off x="539750" y="2492375"/>
            <a:ext cx="3240088" cy="6048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lnSpc>
                <a:spcPct val="120000"/>
              </a:lnSpc>
              <a:buAutoNum type="circleNumDbPlain" startAt="2"/>
            </a:pPr>
            <a:r>
              <a:rPr lang="zh-CN" altLang="en-US" sz="2800" dirty="0">
                <a:latin typeface="Arial" panose="020B0604020202020204" pitchFamily="34" charset="0"/>
                <a:ea typeface="楷体_GB2312" pitchFamily="49" charset="-122"/>
              </a:rPr>
              <a:t>信号的处理电路</a:t>
            </a:r>
            <a:endParaRPr lang="zh-CN" altLang="en-US" sz="280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6642" name="Text Box 18"/>
          <p:cNvSpPr txBox="1"/>
          <p:nvPr/>
        </p:nvSpPr>
        <p:spPr>
          <a:xfrm>
            <a:off x="611188" y="4149725"/>
            <a:ext cx="3240087" cy="6048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lnSpc>
                <a:spcPct val="120000"/>
              </a:lnSpc>
              <a:buAutoNum type="circleNumDbPlain" startAt="3"/>
            </a:pPr>
            <a:r>
              <a:rPr lang="zh-CN" altLang="en-US" sz="2800" dirty="0">
                <a:latin typeface="Arial" panose="020B0604020202020204" pitchFamily="34" charset="0"/>
                <a:ea typeface="楷体_GB2312" pitchFamily="49" charset="-122"/>
              </a:rPr>
              <a:t>信号的发生电路</a:t>
            </a:r>
            <a:endParaRPr lang="zh-CN" altLang="en-US" sz="280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6643" name="Line 19"/>
          <p:cNvSpPr/>
          <p:nvPr/>
        </p:nvSpPr>
        <p:spPr>
          <a:xfrm>
            <a:off x="3708400" y="4508500"/>
            <a:ext cx="576263" cy="0"/>
          </a:xfrm>
          <a:prstGeom prst="line">
            <a:avLst/>
          </a:prstGeom>
          <a:ln w="76200" cap="flat" cmpd="sng">
            <a:solidFill>
              <a:srgbClr val="0099FF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6644" name="Line 20"/>
          <p:cNvSpPr/>
          <p:nvPr/>
        </p:nvSpPr>
        <p:spPr>
          <a:xfrm>
            <a:off x="3708400" y="2852738"/>
            <a:ext cx="576263" cy="0"/>
          </a:xfrm>
          <a:prstGeom prst="line">
            <a:avLst/>
          </a:prstGeom>
          <a:ln w="76200" cap="flat" cmpd="sng">
            <a:solidFill>
              <a:srgbClr val="0099FF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6645" name="Text Box 21"/>
          <p:cNvSpPr txBox="1"/>
          <p:nvPr/>
        </p:nvSpPr>
        <p:spPr>
          <a:xfrm>
            <a:off x="4284663" y="2420938"/>
            <a:ext cx="4535487" cy="16303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</a:pPr>
            <a:r>
              <a:rPr lang="zh-CN" altLang="en-US" sz="2800" dirty="0">
                <a:latin typeface="Arial" panose="020B0604020202020204" pitchFamily="34" charset="0"/>
                <a:ea typeface="楷体_GB2312" pitchFamily="49" charset="-122"/>
              </a:rPr>
              <a:t>有源滤波器、精密整流电路、电压比较器、采样</a:t>
            </a:r>
            <a:r>
              <a:rPr lang="en-US" altLang="zh-CN" sz="2800" b="0" dirty="0">
                <a:latin typeface="Arial" panose="020B0604020202020204" pitchFamily="34" charset="0"/>
                <a:ea typeface="楷体_GB2312" pitchFamily="49" charset="-122"/>
              </a:rPr>
              <a:t>—</a:t>
            </a:r>
            <a:r>
              <a:rPr lang="zh-CN" altLang="en-US" sz="2800" dirty="0">
                <a:latin typeface="Arial" panose="020B0604020202020204" pitchFamily="34" charset="0"/>
                <a:ea typeface="楷体_GB2312" pitchFamily="49" charset="-122"/>
              </a:rPr>
              <a:t>保持电路。</a:t>
            </a:r>
            <a:endParaRPr lang="zh-CN" altLang="en-US" sz="280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7185" name="Group 25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7186" name="Picture 26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187" name="Text Box 27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26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"/>
                                        <p:tgtEl>
                                          <p:spTgt spid="26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"/>
                                        <p:tgtEl>
                                          <p:spTgt spid="26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26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"/>
                                        <p:tgtEl>
                                          <p:spTgt spid="26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"/>
                                        <p:tgtEl>
                                          <p:spTgt spid="26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6" dur="500"/>
                                        <p:tgtEl>
                                          <p:spTgt spid="26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"/>
                                        <p:tgtEl>
                                          <p:spTgt spid="26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0" grpId="0" animBg="1"/>
      <p:bldP spid="26631" grpId="0"/>
      <p:bldP spid="26638" grpId="0"/>
      <p:bldP spid="26639" grpId="0"/>
      <p:bldP spid="26641" grpId="0"/>
      <p:bldP spid="26642" grpId="0"/>
      <p:bldP spid="2664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Text Box 2"/>
          <p:cNvSpPr txBox="1"/>
          <p:nvPr/>
        </p:nvSpPr>
        <p:spPr>
          <a:xfrm>
            <a:off x="611188" y="549275"/>
            <a:ext cx="1439862" cy="557213"/>
          </a:xfrm>
          <a:prstGeom prst="rect">
            <a:avLst/>
          </a:prstGeom>
          <a:noFill/>
          <a:ln w="38100" cap="flat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电路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21522" name="Group 18"/>
          <p:cNvGrpSpPr/>
          <p:nvPr/>
        </p:nvGrpSpPr>
        <p:grpSpPr>
          <a:xfrm>
            <a:off x="900113" y="1196975"/>
            <a:ext cx="7559675" cy="2808288"/>
            <a:chOff x="249" y="890"/>
            <a:chExt cx="4672" cy="1769"/>
          </a:xfrm>
        </p:grpSpPr>
        <p:sp>
          <p:nvSpPr>
            <p:cNvPr id="8195" name="Rectangle 3"/>
            <p:cNvSpPr/>
            <p:nvPr/>
          </p:nvSpPr>
          <p:spPr>
            <a:xfrm>
              <a:off x="930" y="935"/>
              <a:ext cx="680" cy="771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rPr>
                <a:t>输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endParaRPr>
            </a:p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rPr>
                <a:t>入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endParaRPr>
            </a:p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rPr>
                <a:t>级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8196" name="Rectangle 4"/>
            <p:cNvSpPr/>
            <p:nvPr/>
          </p:nvSpPr>
          <p:spPr>
            <a:xfrm>
              <a:off x="2154" y="1888"/>
              <a:ext cx="680" cy="771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rPr>
                <a:t>偏置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endParaRPr>
            </a:p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rPr>
                <a:t>电路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8197" name="Rectangle 5"/>
            <p:cNvSpPr/>
            <p:nvPr/>
          </p:nvSpPr>
          <p:spPr>
            <a:xfrm>
              <a:off x="2109" y="890"/>
              <a:ext cx="680" cy="771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rPr>
                <a:t>中间级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endParaRPr>
            </a:p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rPr>
                <a:t>用以电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endParaRPr>
            </a:p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rPr>
                <a:t>压放大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8198" name="Rectangle 6"/>
            <p:cNvSpPr/>
            <p:nvPr/>
          </p:nvSpPr>
          <p:spPr>
            <a:xfrm>
              <a:off x="3470" y="890"/>
              <a:ext cx="680" cy="771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rPr>
                <a:t>输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endParaRPr>
            </a:p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rPr>
                <a:t>出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endParaRPr>
            </a:p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rPr>
                <a:t>级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8199" name="Line 7"/>
            <p:cNvSpPr/>
            <p:nvPr/>
          </p:nvSpPr>
          <p:spPr>
            <a:xfrm>
              <a:off x="385" y="1026"/>
              <a:ext cx="545" cy="0"/>
            </a:xfrm>
            <a:prstGeom prst="line">
              <a:avLst/>
            </a:prstGeom>
            <a:ln w="38100" cap="flat" cmpd="sng">
              <a:solidFill>
                <a:srgbClr val="FFCC00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8200" name="Line 8"/>
            <p:cNvSpPr/>
            <p:nvPr/>
          </p:nvSpPr>
          <p:spPr>
            <a:xfrm>
              <a:off x="385" y="1570"/>
              <a:ext cx="545" cy="0"/>
            </a:xfrm>
            <a:prstGeom prst="line">
              <a:avLst/>
            </a:prstGeom>
            <a:ln w="38100" cap="flat" cmpd="sng">
              <a:solidFill>
                <a:srgbClr val="FFCC00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8201" name="Line 9"/>
            <p:cNvSpPr/>
            <p:nvPr/>
          </p:nvSpPr>
          <p:spPr>
            <a:xfrm>
              <a:off x="4150" y="1207"/>
              <a:ext cx="590" cy="0"/>
            </a:xfrm>
            <a:prstGeom prst="line">
              <a:avLst/>
            </a:prstGeom>
            <a:ln w="38100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8202" name="Line 10"/>
            <p:cNvSpPr/>
            <p:nvPr/>
          </p:nvSpPr>
          <p:spPr>
            <a:xfrm>
              <a:off x="1610" y="1253"/>
              <a:ext cx="499" cy="0"/>
            </a:xfrm>
            <a:prstGeom prst="line">
              <a:avLst/>
            </a:prstGeom>
            <a:ln w="38100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03" name="Line 11"/>
            <p:cNvSpPr/>
            <p:nvPr/>
          </p:nvSpPr>
          <p:spPr>
            <a:xfrm>
              <a:off x="2789" y="1253"/>
              <a:ext cx="681" cy="0"/>
            </a:xfrm>
            <a:prstGeom prst="line">
              <a:avLst/>
            </a:prstGeom>
            <a:ln w="38100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04" name="Line 12"/>
            <p:cNvSpPr/>
            <p:nvPr/>
          </p:nvSpPr>
          <p:spPr>
            <a:xfrm>
              <a:off x="1292" y="1706"/>
              <a:ext cx="0" cy="545"/>
            </a:xfrm>
            <a:prstGeom prst="line">
              <a:avLst/>
            </a:prstGeom>
            <a:ln w="38100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05" name="Line 13"/>
            <p:cNvSpPr/>
            <p:nvPr/>
          </p:nvSpPr>
          <p:spPr>
            <a:xfrm>
              <a:off x="1292" y="2251"/>
              <a:ext cx="862" cy="0"/>
            </a:xfrm>
            <a:prstGeom prst="line">
              <a:avLst/>
            </a:prstGeom>
            <a:ln w="38100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06" name="Line 14"/>
            <p:cNvSpPr/>
            <p:nvPr/>
          </p:nvSpPr>
          <p:spPr>
            <a:xfrm>
              <a:off x="2835" y="2251"/>
              <a:ext cx="907" cy="0"/>
            </a:xfrm>
            <a:prstGeom prst="line">
              <a:avLst/>
            </a:prstGeom>
            <a:ln w="38100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07" name="Line 15"/>
            <p:cNvSpPr/>
            <p:nvPr/>
          </p:nvSpPr>
          <p:spPr>
            <a:xfrm>
              <a:off x="3742" y="1661"/>
              <a:ext cx="0" cy="590"/>
            </a:xfrm>
            <a:prstGeom prst="line">
              <a:avLst/>
            </a:prstGeom>
            <a:ln w="38100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08" name="Text Box 16"/>
            <p:cNvSpPr txBox="1"/>
            <p:nvPr/>
          </p:nvSpPr>
          <p:spPr>
            <a:xfrm>
              <a:off x="249" y="1162"/>
              <a:ext cx="95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Arial" panose="020B0604020202020204" pitchFamily="34" charset="0"/>
                  <a:ea typeface="楷体_GB2312" pitchFamily="49" charset="-122"/>
                </a:rPr>
                <a:t>输入端</a:t>
              </a: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8209" name="Text Box 17"/>
            <p:cNvSpPr txBox="1"/>
            <p:nvPr/>
          </p:nvSpPr>
          <p:spPr>
            <a:xfrm>
              <a:off x="4150" y="1253"/>
              <a:ext cx="77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Arial" panose="020B0604020202020204" pitchFamily="34" charset="0"/>
                  <a:ea typeface="楷体_GB2312" pitchFamily="49" charset="-122"/>
                </a:rPr>
                <a:t>输出端</a:t>
              </a: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8210" name="Group 79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8211" name="Picture 80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212" name="Text Box 81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8213" name="Group 82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8214" name="Picture 83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215" name="Text Box 84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21592" name="Text Box 88"/>
          <p:cNvSpPr txBox="1"/>
          <p:nvPr/>
        </p:nvSpPr>
        <p:spPr>
          <a:xfrm>
            <a:off x="611188" y="3933825"/>
            <a:ext cx="3240087" cy="6048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lnSpc>
                <a:spcPct val="120000"/>
              </a:lnSpc>
              <a:buAutoNum type="circleNumDbPlain"/>
            </a:pPr>
            <a:r>
              <a:rPr lang="zh-CN" altLang="en-US" sz="2800" dirty="0">
                <a:latin typeface="Arial" panose="020B0604020202020204" pitchFamily="34" charset="0"/>
                <a:ea typeface="楷体_GB2312" pitchFamily="49" charset="-122"/>
              </a:rPr>
              <a:t>频带过窄</a:t>
            </a:r>
            <a:endParaRPr lang="zh-CN" altLang="en-US" sz="280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1593" name="Text Box 89"/>
          <p:cNvSpPr txBox="1"/>
          <p:nvPr/>
        </p:nvSpPr>
        <p:spPr>
          <a:xfrm>
            <a:off x="611188" y="4508500"/>
            <a:ext cx="3240087" cy="6048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lnSpc>
                <a:spcPct val="120000"/>
              </a:lnSpc>
              <a:buAutoNum type="circleNumDbPlain" startAt="2"/>
            </a:pPr>
            <a:r>
              <a:rPr lang="zh-CN" altLang="en-US" sz="2800" dirty="0">
                <a:latin typeface="Arial" panose="020B0604020202020204" pitchFamily="34" charset="0"/>
                <a:ea typeface="楷体_GB2312" pitchFamily="49" charset="-122"/>
              </a:rPr>
              <a:t>线性范围小</a:t>
            </a:r>
            <a:endParaRPr lang="zh-CN" altLang="en-US" sz="280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1594" name="Text Box 90"/>
          <p:cNvSpPr txBox="1"/>
          <p:nvPr/>
        </p:nvSpPr>
        <p:spPr>
          <a:xfrm>
            <a:off x="827088" y="3213100"/>
            <a:ext cx="1295400" cy="6048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lnSpc>
                <a:spcPct val="12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缺点：</a:t>
            </a:r>
            <a:endParaRPr lang="zh-CN" altLang="en-US" sz="2800" dirty="0">
              <a:solidFill>
                <a:schemeClr val="bg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21598" name="Group 94"/>
          <p:cNvGrpSpPr/>
          <p:nvPr/>
        </p:nvGrpSpPr>
        <p:grpSpPr>
          <a:xfrm>
            <a:off x="2843213" y="4149725"/>
            <a:ext cx="2160587" cy="576263"/>
            <a:chOff x="1791" y="2795"/>
            <a:chExt cx="1361" cy="363"/>
          </a:xfrm>
        </p:grpSpPr>
        <p:sp>
          <p:nvSpPr>
            <p:cNvPr id="8220" name="Line 91"/>
            <p:cNvSpPr/>
            <p:nvPr/>
          </p:nvSpPr>
          <p:spPr>
            <a:xfrm>
              <a:off x="1881" y="3158"/>
              <a:ext cx="1135" cy="0"/>
            </a:xfrm>
            <a:prstGeom prst="line">
              <a:avLst/>
            </a:prstGeom>
            <a:ln w="76200" cap="flat" cmpd="sng">
              <a:solidFill>
                <a:srgbClr val="0099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221" name="Text Box 92"/>
            <p:cNvSpPr txBox="1"/>
            <p:nvPr/>
          </p:nvSpPr>
          <p:spPr>
            <a:xfrm>
              <a:off x="1791" y="2795"/>
              <a:ext cx="136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rPr>
                <a:t>加入负反馈</a:t>
              </a:r>
              <a:endParaRPr lang="zh-CN" altLang="en-US" sz="2800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sp>
        <p:nvSpPr>
          <p:cNvPr id="21599" name="Text Box 95"/>
          <p:cNvSpPr txBox="1"/>
          <p:nvPr/>
        </p:nvSpPr>
        <p:spPr>
          <a:xfrm>
            <a:off x="5148263" y="3933825"/>
            <a:ext cx="2447925" cy="6048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lnSpc>
                <a:spcPct val="120000"/>
              </a:lnSpc>
              <a:buAutoNum type="circleNumDbPlain"/>
            </a:pPr>
            <a:r>
              <a:rPr lang="zh-CN" altLang="en-US" sz="2800" dirty="0">
                <a:latin typeface="Arial" panose="020B0604020202020204" pitchFamily="34" charset="0"/>
                <a:ea typeface="楷体_GB2312" pitchFamily="49" charset="-122"/>
              </a:rPr>
              <a:t>扩展频带</a:t>
            </a:r>
            <a:endParaRPr lang="zh-CN" altLang="en-US" sz="280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1600" name="Text Box 96"/>
          <p:cNvSpPr txBox="1"/>
          <p:nvPr/>
        </p:nvSpPr>
        <p:spPr>
          <a:xfrm>
            <a:off x="5148263" y="4508500"/>
            <a:ext cx="3240087" cy="6048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lnSpc>
                <a:spcPct val="120000"/>
              </a:lnSpc>
              <a:buAutoNum type="circleNumDbPlain" startAt="2"/>
            </a:pPr>
            <a:r>
              <a:rPr lang="zh-CN" altLang="en-US" sz="2800" dirty="0">
                <a:latin typeface="Arial" panose="020B0604020202020204" pitchFamily="34" charset="0"/>
                <a:ea typeface="楷体_GB2312" pitchFamily="49" charset="-122"/>
              </a:rPr>
              <a:t>减小非线性失真</a:t>
            </a:r>
            <a:endParaRPr lang="zh-CN" altLang="en-US" sz="280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1601" name="Text Box 97" descr="绿色大理石"/>
          <p:cNvSpPr txBox="1"/>
          <p:nvPr/>
        </p:nvSpPr>
        <p:spPr>
          <a:xfrm>
            <a:off x="755650" y="5300663"/>
            <a:ext cx="1584325" cy="6048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lnSpc>
                <a:spcPct val="12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优点：</a:t>
            </a:r>
            <a:endParaRPr lang="zh-CN" altLang="en-US" sz="2800" dirty="0">
              <a:solidFill>
                <a:schemeClr val="bg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1602" name="Text Box 98"/>
          <p:cNvSpPr txBox="1"/>
          <p:nvPr/>
        </p:nvSpPr>
        <p:spPr>
          <a:xfrm>
            <a:off x="2051050" y="5157788"/>
            <a:ext cx="3240088" cy="6048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lnSpc>
                <a:spcPct val="120000"/>
              </a:lnSpc>
              <a:buAutoNum type="circleNumDbPlain"/>
            </a:pPr>
            <a:r>
              <a:rPr lang="zh-CN" altLang="en-US" sz="2800" dirty="0">
                <a:latin typeface="Arial" panose="020B0604020202020204" pitchFamily="34" charset="0"/>
                <a:ea typeface="楷体_GB2312" pitchFamily="49" charset="-122"/>
              </a:rPr>
              <a:t>高增益</a:t>
            </a:r>
            <a:endParaRPr lang="zh-CN" altLang="en-US" sz="280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1603" name="Text Box 99"/>
          <p:cNvSpPr txBox="1"/>
          <p:nvPr/>
        </p:nvSpPr>
        <p:spPr>
          <a:xfrm>
            <a:off x="2051050" y="5734050"/>
            <a:ext cx="5329238" cy="6048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lnSpc>
                <a:spcPct val="120000"/>
              </a:lnSpc>
              <a:buAutoNum type="circleNumDbPlain" startAt="2"/>
            </a:pPr>
            <a:r>
              <a:rPr lang="zh-CN" altLang="en-US" sz="2800" dirty="0">
                <a:latin typeface="Arial" panose="020B0604020202020204" pitchFamily="34" charset="0"/>
                <a:ea typeface="楷体_GB2312" pitchFamily="49" charset="-122"/>
              </a:rPr>
              <a:t>输入电阻大，输出电阻小</a:t>
            </a:r>
            <a:endParaRPr lang="zh-CN" altLang="en-US" sz="280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8227" name="Group 103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8228" name="Picture 104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229" name="Text Box 105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2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"/>
                                        <p:tgtEl>
                                          <p:spTgt spid="21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"/>
                                        <p:tgtEl>
                                          <p:spTgt spid="21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"/>
                                        <p:tgtEl>
                                          <p:spTgt spid="21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21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"/>
                                        <p:tgtEl>
                                          <p:spTgt spid="21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"/>
                                        <p:tgtEl>
                                          <p:spTgt spid="21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"/>
                                        <p:tgtEl>
                                          <p:spTgt spid="21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"/>
                                        <p:tgtEl>
                                          <p:spTgt spid="21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"/>
                                        <p:tgtEl>
                                          <p:spTgt spid="21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 animBg="1"/>
      <p:bldP spid="21592" grpId="0"/>
      <p:bldP spid="21593" grpId="0"/>
      <p:bldP spid="21594" grpId="0"/>
      <p:bldP spid="21599" grpId="0"/>
      <p:bldP spid="21600" grpId="0"/>
      <p:bldP spid="21601" grpId="0"/>
      <p:bldP spid="21602" grpId="0"/>
      <p:bldP spid="2160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217" name="Group 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9218" name="Picture 3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19" name="Text Box 4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9220" name="Group 5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9221" name="Picture 6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22" name="Text Box 7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41994" name="Text Box 10"/>
          <p:cNvSpPr txBox="1"/>
          <p:nvPr/>
        </p:nvSpPr>
        <p:spPr>
          <a:xfrm>
            <a:off x="2843213" y="4581525"/>
            <a:ext cx="360045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集成运算放大器</a:t>
            </a:r>
            <a:endParaRPr lang="zh-CN" altLang="en-US" sz="3200" dirty="0"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9224" name="Picture 13" descr="4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13" y="1052513"/>
            <a:ext cx="4176712" cy="3289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5" name="Picture 15" descr="soomal_test_a71f_9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7900" y="1125538"/>
            <a:ext cx="4175125" cy="312737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9226" name="Group 19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9227" name="Picture 20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28" name="Text Box 21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67" name="Text Box 19"/>
          <p:cNvSpPr txBox="1"/>
          <p:nvPr/>
        </p:nvSpPr>
        <p:spPr>
          <a:xfrm>
            <a:off x="827088" y="620713"/>
            <a:ext cx="1439862" cy="557212"/>
          </a:xfrm>
          <a:prstGeom prst="rect">
            <a:avLst/>
          </a:prstGeom>
          <a:noFill/>
          <a:ln w="38100" cap="flat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符号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27698" name="Group 50"/>
          <p:cNvGrpSpPr/>
          <p:nvPr/>
        </p:nvGrpSpPr>
        <p:grpSpPr>
          <a:xfrm>
            <a:off x="4356100" y="620713"/>
            <a:ext cx="3887788" cy="3754437"/>
            <a:chOff x="2744" y="391"/>
            <a:chExt cx="2449" cy="2365"/>
          </a:xfrm>
        </p:grpSpPr>
        <p:grpSp>
          <p:nvGrpSpPr>
            <p:cNvPr id="10243" name="Group 21"/>
            <p:cNvGrpSpPr/>
            <p:nvPr/>
          </p:nvGrpSpPr>
          <p:grpSpPr>
            <a:xfrm>
              <a:off x="2744" y="391"/>
              <a:ext cx="2449" cy="1979"/>
              <a:chOff x="567" y="2341"/>
              <a:chExt cx="2449" cy="1979"/>
            </a:xfrm>
          </p:grpSpPr>
          <p:sp>
            <p:nvSpPr>
              <p:cNvPr id="10244" name="Rectangle 22"/>
              <p:cNvSpPr/>
              <p:nvPr/>
            </p:nvSpPr>
            <p:spPr>
              <a:xfrm>
                <a:off x="1338" y="2795"/>
                <a:ext cx="998" cy="1179"/>
              </a:xfrm>
              <a:prstGeom prst="rect">
                <a:avLst/>
              </a:prstGeom>
              <a:gradFill rotWithShape="1">
                <a:gsLst>
                  <a:gs pos="0">
                    <a:srgbClr val="FF9900"/>
                  </a:gs>
                  <a:gs pos="100000">
                    <a:srgbClr val="764700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0245" name="Line 23"/>
              <p:cNvSpPr/>
              <p:nvPr/>
            </p:nvSpPr>
            <p:spPr>
              <a:xfrm>
                <a:off x="567" y="2931"/>
                <a:ext cx="771" cy="0"/>
              </a:xfrm>
              <a:prstGeom prst="line">
                <a:avLst/>
              </a:prstGeom>
              <a:ln w="38100" cap="flat" cmpd="sng">
                <a:solidFill>
                  <a:srgbClr val="FFCC00"/>
                </a:solidFill>
                <a:prstDash val="solid"/>
                <a:round/>
                <a:headEnd type="oval" w="med" len="med"/>
                <a:tailEnd type="none" w="med" len="med"/>
              </a:ln>
            </p:spPr>
          </p:sp>
          <p:sp>
            <p:nvSpPr>
              <p:cNvPr id="10246" name="Line 24"/>
              <p:cNvSpPr/>
              <p:nvPr/>
            </p:nvSpPr>
            <p:spPr>
              <a:xfrm>
                <a:off x="567" y="3657"/>
                <a:ext cx="771" cy="0"/>
              </a:xfrm>
              <a:prstGeom prst="line">
                <a:avLst/>
              </a:prstGeom>
              <a:ln w="38100" cap="flat" cmpd="sng">
                <a:solidFill>
                  <a:srgbClr val="FFCC00"/>
                </a:solidFill>
                <a:prstDash val="solid"/>
                <a:round/>
                <a:headEnd type="oval" w="med" len="med"/>
                <a:tailEnd type="none" w="med" len="med"/>
              </a:ln>
            </p:spPr>
          </p:sp>
          <p:sp>
            <p:nvSpPr>
              <p:cNvPr id="10247" name="Line 25"/>
              <p:cNvSpPr/>
              <p:nvPr/>
            </p:nvSpPr>
            <p:spPr>
              <a:xfrm>
                <a:off x="2336" y="3339"/>
                <a:ext cx="680" cy="0"/>
              </a:xfrm>
              <a:prstGeom prst="line">
                <a:avLst/>
              </a:prstGeom>
              <a:ln w="38100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10248" name="Line 26"/>
              <p:cNvSpPr/>
              <p:nvPr/>
            </p:nvSpPr>
            <p:spPr>
              <a:xfrm>
                <a:off x="1519" y="3974"/>
                <a:ext cx="0" cy="346"/>
              </a:xfrm>
              <a:prstGeom prst="line">
                <a:avLst/>
              </a:prstGeom>
              <a:ln w="38100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10249" name="Line 27"/>
              <p:cNvSpPr/>
              <p:nvPr/>
            </p:nvSpPr>
            <p:spPr>
              <a:xfrm flipV="1">
                <a:off x="1837" y="2341"/>
                <a:ext cx="0" cy="454"/>
              </a:xfrm>
              <a:prstGeom prst="line">
                <a:avLst/>
              </a:prstGeom>
              <a:ln w="38100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</p:grpSp>
        <p:sp>
          <p:nvSpPr>
            <p:cNvPr id="10250" name="Text Box 28"/>
            <p:cNvSpPr txBox="1"/>
            <p:nvPr/>
          </p:nvSpPr>
          <p:spPr>
            <a:xfrm>
              <a:off x="3878" y="799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7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0251" name="Text Box 29"/>
            <p:cNvSpPr txBox="1"/>
            <p:nvPr/>
          </p:nvSpPr>
          <p:spPr>
            <a:xfrm>
              <a:off x="4286" y="1208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6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0252" name="Text Box 30"/>
            <p:cNvSpPr txBox="1"/>
            <p:nvPr/>
          </p:nvSpPr>
          <p:spPr>
            <a:xfrm>
              <a:off x="4286" y="1752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5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0253" name="Text Box 31"/>
            <p:cNvSpPr txBox="1"/>
            <p:nvPr/>
          </p:nvSpPr>
          <p:spPr>
            <a:xfrm>
              <a:off x="3606" y="1752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4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0254" name="Text Box 32"/>
            <p:cNvSpPr txBox="1"/>
            <p:nvPr/>
          </p:nvSpPr>
          <p:spPr>
            <a:xfrm>
              <a:off x="3470" y="1571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3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0255" name="Text Box 33"/>
            <p:cNvSpPr txBox="1"/>
            <p:nvPr/>
          </p:nvSpPr>
          <p:spPr>
            <a:xfrm>
              <a:off x="3470" y="845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2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0256" name="Text Box 34"/>
            <p:cNvSpPr txBox="1"/>
            <p:nvPr/>
          </p:nvSpPr>
          <p:spPr>
            <a:xfrm>
              <a:off x="3969" y="1752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0257" name="AutoShape 35"/>
            <p:cNvSpPr/>
            <p:nvPr/>
          </p:nvSpPr>
          <p:spPr>
            <a:xfrm rot="5400000">
              <a:off x="3876" y="1114"/>
              <a:ext cx="249" cy="250"/>
            </a:xfrm>
            <a:prstGeom prst="triangle">
              <a:avLst>
                <a:gd name="adj" fmla="val 47134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0258" name="Text Box 36"/>
            <p:cNvSpPr txBox="1"/>
            <p:nvPr/>
          </p:nvSpPr>
          <p:spPr>
            <a:xfrm>
              <a:off x="4014" y="391"/>
              <a:ext cx="77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+15V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0259" name="Text Box 37"/>
            <p:cNvSpPr txBox="1"/>
            <p:nvPr/>
          </p:nvSpPr>
          <p:spPr>
            <a:xfrm>
              <a:off x="3651" y="2160"/>
              <a:ext cx="680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15V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sp>
        <p:nvSpPr>
          <p:cNvPr id="27686" name="Text Box 38"/>
          <p:cNvSpPr txBox="1"/>
          <p:nvPr/>
        </p:nvSpPr>
        <p:spPr>
          <a:xfrm>
            <a:off x="755650" y="1412875"/>
            <a:ext cx="2016125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8</a:t>
            </a:r>
            <a:r>
              <a:rPr lang="zh-CN" altLang="en-US" sz="28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个管脚：</a:t>
            </a:r>
            <a:endParaRPr lang="zh-CN" altLang="en-US" sz="28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687" name="Text Box 39"/>
          <p:cNvSpPr txBox="1"/>
          <p:nvPr/>
        </p:nvSpPr>
        <p:spPr>
          <a:xfrm>
            <a:off x="755650" y="1916113"/>
            <a:ext cx="4032250" cy="31686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</a:pP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：倒向输入端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：非倒向输入端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7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：电源端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：输出端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：外接调零电位器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8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：空脚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688" name="AutoShape 40" descr="羊皮纸"/>
          <p:cNvSpPr/>
          <p:nvPr/>
        </p:nvSpPr>
        <p:spPr>
          <a:xfrm>
            <a:off x="7956550" y="2708275"/>
            <a:ext cx="647700" cy="1944688"/>
          </a:xfrm>
          <a:prstGeom prst="wedgeRoundRectCallout">
            <a:avLst>
              <a:gd name="adj1" fmla="val -279903"/>
              <a:gd name="adj2" fmla="val -82000"/>
              <a:gd name="adj3" fmla="val 16667"/>
            </a:avLst>
          </a:prstGeom>
          <a:blipFill rotWithShape="1">
            <a:blip r:embed="rId1"/>
          </a:blipFill>
          <a:ln w="9525">
            <a:noFill/>
          </a:ln>
        </p:spPr>
        <p:txBody>
          <a:bodyPr anchor="t" anchorCtr="0"/>
          <a:p>
            <a:pPr algn="ctr"/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单向放大</a:t>
            </a:r>
            <a:endParaRPr lang="zh-CN" altLang="en-US" sz="280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10263" name="Group 41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0264" name="Picture 42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265" name="Text Box 43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0266" name="Group 44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0267" name="Picture 45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268" name="Text Box 46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0269" name="Group 54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10270" name="Picture 55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271" name="Text Box 56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7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7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2000"/>
                                        <p:tgtEl>
                                          <p:spTgt spid="27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276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276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67" grpId="0" animBg="1"/>
      <p:bldP spid="27686" grpId="0"/>
      <p:bldP spid="27687" grpId="0"/>
      <p:bldP spid="2768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22" name="Text Box 42"/>
          <p:cNvSpPr txBox="1"/>
          <p:nvPr/>
        </p:nvSpPr>
        <p:spPr>
          <a:xfrm>
            <a:off x="395288" y="549275"/>
            <a:ext cx="2447925" cy="557213"/>
          </a:xfrm>
          <a:prstGeom prst="rect">
            <a:avLst/>
          </a:prstGeom>
          <a:noFill/>
          <a:ln w="38100" cap="flat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电路符号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523" name="Text Box 43"/>
          <p:cNvSpPr txBox="1"/>
          <p:nvPr/>
        </p:nvSpPr>
        <p:spPr>
          <a:xfrm>
            <a:off x="3995738" y="1628775"/>
            <a:ext cx="5148262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zh-CN" altLang="zh-CN" sz="2800" dirty="0">
                <a:latin typeface="楷体_GB2312" pitchFamily="49" charset="-122"/>
                <a:ea typeface="楷体_GB2312" pitchFamily="49" charset="-122"/>
              </a:rPr>
              <a:t>倒向输入端，输入电压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zh-CN" altLang="en-US" sz="2800" b="0" i="1" baseline="300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－</a:t>
            </a:r>
            <a:endParaRPr lang="zh-CN" altLang="en-US" sz="2800" b="0" i="1" baseline="300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0524" name="Text Box 44"/>
          <p:cNvSpPr txBox="1"/>
          <p:nvPr/>
        </p:nvSpPr>
        <p:spPr>
          <a:xfrm>
            <a:off x="3995738" y="2133600"/>
            <a:ext cx="5148262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：非倒向</a:t>
            </a:r>
            <a:r>
              <a:rPr lang="zh-CN" altLang="zh-CN" sz="2800" dirty="0">
                <a:latin typeface="楷体_GB2312" pitchFamily="49" charset="-122"/>
                <a:ea typeface="楷体_GB2312" pitchFamily="49" charset="-122"/>
              </a:rPr>
              <a:t>输入端，输入电压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sz="2800" b="0" baseline="30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+</a:t>
            </a:r>
            <a:endParaRPr lang="en-US" altLang="zh-CN" sz="2800" b="0" baseline="30000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525" name="Text Box 45"/>
          <p:cNvSpPr txBox="1"/>
          <p:nvPr/>
        </p:nvSpPr>
        <p:spPr>
          <a:xfrm>
            <a:off x="3995738" y="2730500"/>
            <a:ext cx="4078287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o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：输出端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输出电压 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o</a:t>
            </a:r>
            <a:endParaRPr lang="en-US" altLang="zh-CN" sz="2800" baseline="-25000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526" name="Text Box 46"/>
          <p:cNvSpPr txBox="1"/>
          <p:nvPr/>
        </p:nvSpPr>
        <p:spPr>
          <a:xfrm>
            <a:off x="3059113" y="476250"/>
            <a:ext cx="5761037" cy="1117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20000"/>
              </a:lnSpc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在电路符号图中一般不画出直流电源端，而只有</a:t>
            </a:r>
            <a:r>
              <a:rPr lang="en-US" altLang="zh-CN" sz="2800" b="0" dirty="0">
                <a:latin typeface="楷体_GB2312" pitchFamily="49" charset="-122"/>
                <a:ea typeface="楷体_GB2312" pitchFamily="49" charset="-122"/>
              </a:rPr>
              <a:t>a,b,o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三端和接地端。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0527" name="Text Box 47"/>
          <p:cNvSpPr txBox="1"/>
          <p:nvPr/>
        </p:nvSpPr>
        <p:spPr>
          <a:xfrm>
            <a:off x="539750" y="5157788"/>
            <a:ext cx="7704138" cy="1117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2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图中参考方向表示每一点对地的电压，在接地端未画出时尤须注意。</a:t>
            </a:r>
            <a:endParaRPr lang="zh-CN" altLang="en-US" sz="28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0528" name="Text Box 48"/>
          <p:cNvSpPr txBox="1"/>
          <p:nvPr/>
        </p:nvSpPr>
        <p:spPr>
          <a:xfrm>
            <a:off x="4211638" y="4076700"/>
            <a:ext cx="4103687" cy="946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476250" indent="-476250" algn="just"/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开环电压放大倍数，可达十几万倍。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0529" name="Text Box 49"/>
          <p:cNvSpPr txBox="1"/>
          <p:nvPr/>
        </p:nvSpPr>
        <p:spPr>
          <a:xfrm>
            <a:off x="5076825" y="3376613"/>
            <a:ext cx="3224213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:  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公共端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接地端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)</a:t>
            </a:r>
            <a:endParaRPr lang="en-US" altLang="zh-CN" sz="2800" b="0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0530" name="Group 50"/>
          <p:cNvGrpSpPr/>
          <p:nvPr/>
        </p:nvGrpSpPr>
        <p:grpSpPr>
          <a:xfrm>
            <a:off x="4356100" y="3357563"/>
            <a:ext cx="414338" cy="431800"/>
            <a:chOff x="1416" y="2436"/>
            <a:chExt cx="261" cy="240"/>
          </a:xfrm>
        </p:grpSpPr>
        <p:grpSp>
          <p:nvGrpSpPr>
            <p:cNvPr id="11274" name="Group 51"/>
            <p:cNvGrpSpPr/>
            <p:nvPr/>
          </p:nvGrpSpPr>
          <p:grpSpPr>
            <a:xfrm>
              <a:off x="1416" y="2556"/>
              <a:ext cx="261" cy="120"/>
              <a:chOff x="720" y="1824"/>
              <a:chExt cx="261" cy="120"/>
            </a:xfrm>
          </p:grpSpPr>
          <p:sp>
            <p:nvSpPr>
              <p:cNvPr id="11275" name="Line 52"/>
              <p:cNvSpPr/>
              <p:nvPr/>
            </p:nvSpPr>
            <p:spPr>
              <a:xfrm>
                <a:off x="720" y="1824"/>
                <a:ext cx="261" cy="0"/>
              </a:xfrm>
              <a:prstGeom prst="line">
                <a:avLst/>
              </a:prstGeom>
              <a:ln w="38100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276" name="Line 53"/>
              <p:cNvSpPr/>
              <p:nvPr/>
            </p:nvSpPr>
            <p:spPr>
              <a:xfrm>
                <a:off x="778" y="1883"/>
                <a:ext cx="145" cy="0"/>
              </a:xfrm>
              <a:prstGeom prst="line">
                <a:avLst/>
              </a:prstGeom>
              <a:ln w="38100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277" name="Line 54"/>
              <p:cNvSpPr/>
              <p:nvPr/>
            </p:nvSpPr>
            <p:spPr>
              <a:xfrm>
                <a:off x="802" y="1944"/>
                <a:ext cx="86" cy="0"/>
              </a:xfrm>
              <a:prstGeom prst="line">
                <a:avLst/>
              </a:prstGeom>
              <a:ln w="38100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1278" name="Line 55"/>
            <p:cNvSpPr/>
            <p:nvPr/>
          </p:nvSpPr>
          <p:spPr>
            <a:xfrm>
              <a:off x="1536" y="2436"/>
              <a:ext cx="0" cy="120"/>
            </a:xfrm>
            <a:prstGeom prst="line">
              <a:avLst/>
            </a:prstGeom>
            <a:ln w="38100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1279" name="Group 5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1280" name="Picture 58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281" name="Text Box 5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1282" name="Group 60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1283" name="Picture 61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284" name="Text Box 62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0546" name="Group 66"/>
          <p:cNvGrpSpPr/>
          <p:nvPr/>
        </p:nvGrpSpPr>
        <p:grpSpPr>
          <a:xfrm>
            <a:off x="395288" y="4508500"/>
            <a:ext cx="1644650" cy="850900"/>
            <a:chOff x="385" y="3022"/>
            <a:chExt cx="1036" cy="536"/>
          </a:xfrm>
        </p:grpSpPr>
        <p:pic>
          <p:nvPicPr>
            <p:cNvPr id="11286" name="Picture 67" descr="1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287" name="Text Box 68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注意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20549" name="Group 69"/>
          <p:cNvGrpSpPr/>
          <p:nvPr/>
        </p:nvGrpSpPr>
        <p:grpSpPr>
          <a:xfrm>
            <a:off x="395288" y="1557338"/>
            <a:ext cx="3597275" cy="2733675"/>
            <a:chOff x="2925" y="1344"/>
            <a:chExt cx="2266" cy="1722"/>
          </a:xfrm>
        </p:grpSpPr>
        <p:sp>
          <p:nvSpPr>
            <p:cNvPr id="11289" name="Line 70"/>
            <p:cNvSpPr/>
            <p:nvPr/>
          </p:nvSpPr>
          <p:spPr>
            <a:xfrm>
              <a:off x="3277" y="2826"/>
              <a:ext cx="177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290" name="Text Box 71"/>
            <p:cNvSpPr txBox="1"/>
            <p:nvPr/>
          </p:nvSpPr>
          <p:spPr>
            <a:xfrm>
              <a:off x="3327" y="2148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91" name="Text Box 72"/>
            <p:cNvSpPr txBox="1"/>
            <p:nvPr/>
          </p:nvSpPr>
          <p:spPr>
            <a:xfrm>
              <a:off x="3315" y="2472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92" name="Text Box 73"/>
            <p:cNvSpPr txBox="1"/>
            <p:nvPr/>
          </p:nvSpPr>
          <p:spPr>
            <a:xfrm>
              <a:off x="2943" y="2508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93" name="Text Box 74"/>
            <p:cNvSpPr txBox="1"/>
            <p:nvPr/>
          </p:nvSpPr>
          <p:spPr>
            <a:xfrm>
              <a:off x="2967" y="1524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94" name="Text Box 75"/>
            <p:cNvSpPr txBox="1"/>
            <p:nvPr/>
          </p:nvSpPr>
          <p:spPr>
            <a:xfrm>
              <a:off x="3303" y="2316"/>
              <a:ext cx="31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baseline="30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95" name="Text Box 76"/>
            <p:cNvSpPr txBox="1"/>
            <p:nvPr/>
          </p:nvSpPr>
          <p:spPr>
            <a:xfrm>
              <a:off x="2925" y="1974"/>
              <a:ext cx="279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i="1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-</a:t>
              </a:r>
              <a:endParaRPr lang="en-US" altLang="zh-CN" sz="2800" b="0" i="1" baseline="30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96" name="Text Box 77"/>
            <p:cNvSpPr txBox="1"/>
            <p:nvPr/>
          </p:nvSpPr>
          <p:spPr>
            <a:xfrm>
              <a:off x="4923" y="1980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97" name="Text Box 78"/>
            <p:cNvSpPr txBox="1"/>
            <p:nvPr/>
          </p:nvSpPr>
          <p:spPr>
            <a:xfrm>
              <a:off x="4923" y="2448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98" name="Text Box 79"/>
            <p:cNvSpPr txBox="1"/>
            <p:nvPr/>
          </p:nvSpPr>
          <p:spPr>
            <a:xfrm>
              <a:off x="4887" y="2268"/>
              <a:ext cx="30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99" name="Text Box 80"/>
            <p:cNvSpPr txBox="1"/>
            <p:nvPr/>
          </p:nvSpPr>
          <p:spPr>
            <a:xfrm>
              <a:off x="3273" y="1344"/>
              <a:ext cx="21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00" name="Line 81"/>
            <p:cNvSpPr/>
            <p:nvPr/>
          </p:nvSpPr>
          <p:spPr>
            <a:xfrm>
              <a:off x="4045" y="2946"/>
              <a:ext cx="26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301" name="Line 82"/>
            <p:cNvSpPr/>
            <p:nvPr/>
          </p:nvSpPr>
          <p:spPr>
            <a:xfrm>
              <a:off x="4103" y="3005"/>
              <a:ext cx="14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302" name="Line 83"/>
            <p:cNvSpPr/>
            <p:nvPr/>
          </p:nvSpPr>
          <p:spPr>
            <a:xfrm>
              <a:off x="4127" y="3066"/>
              <a:ext cx="8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303" name="Text Box 84"/>
            <p:cNvSpPr txBox="1"/>
            <p:nvPr/>
          </p:nvSpPr>
          <p:spPr>
            <a:xfrm>
              <a:off x="4947" y="1560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04" name="Line 85"/>
            <p:cNvSpPr/>
            <p:nvPr/>
          </p:nvSpPr>
          <p:spPr>
            <a:xfrm>
              <a:off x="4177" y="2310"/>
              <a:ext cx="0" cy="63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305" name="Oval 86"/>
            <p:cNvSpPr/>
            <p:nvPr/>
          </p:nvSpPr>
          <p:spPr>
            <a:xfrm>
              <a:off x="4153" y="2802"/>
              <a:ext cx="45" cy="45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1306" name="Line 87"/>
            <p:cNvSpPr/>
            <p:nvPr/>
          </p:nvSpPr>
          <p:spPr>
            <a:xfrm flipH="1">
              <a:off x="3385" y="1674"/>
              <a:ext cx="49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307" name="Line 88"/>
            <p:cNvSpPr/>
            <p:nvPr/>
          </p:nvSpPr>
          <p:spPr>
            <a:xfrm flipH="1">
              <a:off x="3385" y="2190"/>
              <a:ext cx="49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308" name="Text Box 89"/>
            <p:cNvSpPr txBox="1"/>
            <p:nvPr/>
          </p:nvSpPr>
          <p:spPr>
            <a:xfrm>
              <a:off x="3471" y="1932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09" name="Text Box 90"/>
            <p:cNvSpPr txBox="1"/>
            <p:nvPr/>
          </p:nvSpPr>
          <p:spPr>
            <a:xfrm>
              <a:off x="3483" y="1476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10" name="Line 91"/>
            <p:cNvSpPr/>
            <p:nvPr/>
          </p:nvSpPr>
          <p:spPr>
            <a:xfrm>
              <a:off x="4489" y="1950"/>
              <a:ext cx="56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311" name="Text Box 92"/>
            <p:cNvSpPr txBox="1"/>
            <p:nvPr/>
          </p:nvSpPr>
          <p:spPr>
            <a:xfrm>
              <a:off x="3469" y="1753"/>
              <a:ext cx="30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12" name="Text Box 93"/>
            <p:cNvSpPr txBox="1"/>
            <p:nvPr/>
          </p:nvSpPr>
          <p:spPr>
            <a:xfrm>
              <a:off x="3255" y="1854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13" name="Oval 94"/>
            <p:cNvSpPr/>
            <p:nvPr/>
          </p:nvSpPr>
          <p:spPr>
            <a:xfrm>
              <a:off x="5035" y="1914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1314" name="Oval 95"/>
            <p:cNvSpPr/>
            <p:nvPr/>
          </p:nvSpPr>
          <p:spPr>
            <a:xfrm>
              <a:off x="3331" y="1638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1315" name="Oval 96"/>
            <p:cNvSpPr/>
            <p:nvPr/>
          </p:nvSpPr>
          <p:spPr>
            <a:xfrm>
              <a:off x="3331" y="2154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1316" name="Oval 97"/>
            <p:cNvSpPr/>
            <p:nvPr/>
          </p:nvSpPr>
          <p:spPr>
            <a:xfrm>
              <a:off x="5057" y="2805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1317" name="Oval 98"/>
            <p:cNvSpPr/>
            <p:nvPr/>
          </p:nvSpPr>
          <p:spPr>
            <a:xfrm>
              <a:off x="3197" y="2782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grpSp>
          <p:nvGrpSpPr>
            <p:cNvPr id="11318" name="Group 99"/>
            <p:cNvGrpSpPr/>
            <p:nvPr/>
          </p:nvGrpSpPr>
          <p:grpSpPr>
            <a:xfrm>
              <a:off x="3833" y="1525"/>
              <a:ext cx="682" cy="795"/>
              <a:chOff x="883" y="1501"/>
              <a:chExt cx="682" cy="795"/>
            </a:xfrm>
          </p:grpSpPr>
          <p:sp>
            <p:nvSpPr>
              <p:cNvPr id="11319" name="Rectangle 100"/>
              <p:cNvSpPr/>
              <p:nvPr/>
            </p:nvSpPr>
            <p:spPr>
              <a:xfrm>
                <a:off x="883" y="1553"/>
                <a:ext cx="658" cy="726"/>
              </a:xfrm>
              <a:prstGeom prst="rect">
                <a:avLst/>
              </a:prstGeom>
              <a:gradFill rotWithShape="1">
                <a:gsLst>
                  <a:gs pos="0">
                    <a:srgbClr val="FF9900"/>
                  </a:gs>
                  <a:gs pos="100000">
                    <a:srgbClr val="764700"/>
                  </a:gs>
                </a:gsLst>
                <a:path path="shape">
                  <a:fillToRect l="50000" t="50000" r="50000" b="50000"/>
                </a:path>
                <a:tileRect/>
              </a:gra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1320" name="Text Box 101"/>
              <p:cNvSpPr txBox="1"/>
              <p:nvPr/>
            </p:nvSpPr>
            <p:spPr>
              <a:xfrm>
                <a:off x="927" y="1501"/>
                <a:ext cx="228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_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321" name="Text Box 102"/>
              <p:cNvSpPr txBox="1"/>
              <p:nvPr/>
            </p:nvSpPr>
            <p:spPr>
              <a:xfrm>
                <a:off x="915" y="1969"/>
                <a:ext cx="242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322" name="AutoShape 103"/>
              <p:cNvSpPr/>
              <p:nvPr/>
            </p:nvSpPr>
            <p:spPr>
              <a:xfrm rot="5400000">
                <a:off x="1150" y="1605"/>
                <a:ext cx="144" cy="132"/>
              </a:xfrm>
              <a:prstGeom prst="triangle">
                <a:avLst>
                  <a:gd name="adj" fmla="val 56245"/>
                </a:avLst>
              </a:prstGeom>
              <a:solidFill>
                <a:schemeClr val="bg1"/>
              </a:soli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1323" name="Text Box 104"/>
              <p:cNvSpPr txBox="1"/>
              <p:nvPr/>
            </p:nvSpPr>
            <p:spPr>
              <a:xfrm>
                <a:off x="1263" y="1525"/>
                <a:ext cx="253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324" name="Text Box 105"/>
              <p:cNvSpPr txBox="1"/>
              <p:nvPr/>
            </p:nvSpPr>
            <p:spPr>
              <a:xfrm>
                <a:off x="1323" y="1765"/>
                <a:ext cx="242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11325" name="Group 109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11326" name="Picture 110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327" name="Text Box 111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0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75"/>
                                        <p:tgtEl>
                                          <p:spTgt spid="20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75"/>
                                        <p:tgtEl>
                                          <p:spTgt spid="20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75"/>
                                        <p:tgtEl>
                                          <p:spTgt spid="20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75"/>
                                        <p:tgtEl>
                                          <p:spTgt spid="20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0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20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"/>
                                        <p:tgtEl>
                                          <p:spTgt spid="20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0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5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5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0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2" grpId="0" animBg="1"/>
      <p:bldP spid="20523" grpId="0"/>
      <p:bldP spid="20524" grpId="0"/>
      <p:bldP spid="20525" grpId="0"/>
      <p:bldP spid="20526" grpId="0"/>
      <p:bldP spid="20527" grpId="0"/>
      <p:bldP spid="20528" grpId="0"/>
      <p:bldP spid="205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Text Box 2"/>
          <p:cNvSpPr txBox="1"/>
          <p:nvPr/>
        </p:nvSpPr>
        <p:spPr>
          <a:xfrm>
            <a:off x="539750" y="1319213"/>
            <a:ext cx="7775575" cy="1117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2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     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</a:rPr>
              <a:t>a,b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间加一电压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="0" baseline="30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8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="0" baseline="30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可得输出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和输入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之间的转移特性曲线如下：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502" name="Text Box 46"/>
          <p:cNvSpPr txBox="1"/>
          <p:nvPr/>
        </p:nvSpPr>
        <p:spPr>
          <a:xfrm>
            <a:off x="468313" y="620713"/>
            <a:ext cx="4824412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2. 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运算放大器的静特性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9564" name="Group 108"/>
          <p:cNvGrpSpPr/>
          <p:nvPr/>
        </p:nvGrpSpPr>
        <p:grpSpPr>
          <a:xfrm>
            <a:off x="5003800" y="2565400"/>
            <a:ext cx="3713163" cy="3600450"/>
            <a:chOff x="3152" y="1616"/>
            <a:chExt cx="2339" cy="2268"/>
          </a:xfrm>
        </p:grpSpPr>
        <p:sp>
          <p:nvSpPr>
            <p:cNvPr id="12292" name="Line 3"/>
            <p:cNvSpPr/>
            <p:nvPr/>
          </p:nvSpPr>
          <p:spPr>
            <a:xfrm>
              <a:off x="4224" y="2342"/>
              <a:ext cx="0" cy="66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2293" name="Line 4"/>
            <p:cNvSpPr/>
            <p:nvPr/>
          </p:nvSpPr>
          <p:spPr>
            <a:xfrm>
              <a:off x="3478" y="3022"/>
              <a:ext cx="0" cy="55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2294" name="Line 5"/>
            <p:cNvSpPr/>
            <p:nvPr/>
          </p:nvSpPr>
          <p:spPr>
            <a:xfrm flipV="1">
              <a:off x="3515" y="3566"/>
              <a:ext cx="355" cy="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2295" name="Line 6"/>
            <p:cNvSpPr/>
            <p:nvPr/>
          </p:nvSpPr>
          <p:spPr>
            <a:xfrm flipH="1">
              <a:off x="3928" y="2342"/>
              <a:ext cx="29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2296" name="Text Box 7"/>
            <p:cNvSpPr txBox="1"/>
            <p:nvPr/>
          </p:nvSpPr>
          <p:spPr>
            <a:xfrm>
              <a:off x="3431" y="2038"/>
              <a:ext cx="44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sat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297" name="Text Box 8"/>
            <p:cNvSpPr txBox="1"/>
            <p:nvPr/>
          </p:nvSpPr>
          <p:spPr>
            <a:xfrm>
              <a:off x="3878" y="3385"/>
              <a:ext cx="70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sat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298" name="Text Box 9"/>
            <p:cNvSpPr txBox="1"/>
            <p:nvPr/>
          </p:nvSpPr>
          <p:spPr>
            <a:xfrm>
              <a:off x="4177" y="2650"/>
              <a:ext cx="21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2299" name="Text Box 10"/>
            <p:cNvSpPr txBox="1"/>
            <p:nvPr/>
          </p:nvSpPr>
          <p:spPr>
            <a:xfrm>
              <a:off x="3245" y="2650"/>
              <a:ext cx="3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2300" name="Text Box 12"/>
            <p:cNvSpPr txBox="1"/>
            <p:nvPr/>
          </p:nvSpPr>
          <p:spPr>
            <a:xfrm>
              <a:off x="3887" y="1616"/>
              <a:ext cx="57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/V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01" name="Line 13"/>
            <p:cNvSpPr/>
            <p:nvPr/>
          </p:nvSpPr>
          <p:spPr>
            <a:xfrm>
              <a:off x="3152" y="2958"/>
              <a:ext cx="1676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2302" name="Line 14"/>
            <p:cNvSpPr/>
            <p:nvPr/>
          </p:nvSpPr>
          <p:spPr>
            <a:xfrm flipV="1">
              <a:off x="3911" y="1868"/>
              <a:ext cx="0" cy="2016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2303" name="Text Box 15"/>
            <p:cNvSpPr txBox="1"/>
            <p:nvPr/>
          </p:nvSpPr>
          <p:spPr>
            <a:xfrm>
              <a:off x="4739" y="2900"/>
              <a:ext cx="75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/mV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04" name="Text Box 16"/>
            <p:cNvSpPr txBox="1"/>
            <p:nvPr/>
          </p:nvSpPr>
          <p:spPr>
            <a:xfrm>
              <a:off x="3878" y="2931"/>
              <a:ext cx="228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05" name="Freeform 48"/>
            <p:cNvSpPr/>
            <p:nvPr/>
          </p:nvSpPr>
          <p:spPr>
            <a:xfrm>
              <a:off x="3152" y="2296"/>
              <a:ext cx="1578" cy="1268"/>
            </a:xfrm>
            <a:custGeom>
              <a:avLst/>
              <a:gdLst/>
              <a:ahLst/>
              <a:cxnLst>
                <a:cxn ang="0">
                  <a:pos x="0" y="1257"/>
                </a:cxn>
                <a:cxn ang="0">
                  <a:pos x="271" y="1257"/>
                </a:cxn>
                <a:cxn ang="0">
                  <a:pos x="462" y="1191"/>
                </a:cxn>
                <a:cxn ang="0">
                  <a:pos x="629" y="939"/>
                </a:cxn>
                <a:cxn ang="0">
                  <a:pos x="962" y="177"/>
                </a:cxn>
                <a:cxn ang="0">
                  <a:pos x="1171" y="27"/>
                </a:cxn>
                <a:cxn ang="0">
                  <a:pos x="1578" y="15"/>
                </a:cxn>
              </a:cxnLst>
              <a:pathLst>
                <a:path w="1536" h="1268">
                  <a:moveTo>
                    <a:pt x="0" y="1257"/>
                  </a:moveTo>
                  <a:cubicBezTo>
                    <a:pt x="44" y="1257"/>
                    <a:pt x="189" y="1268"/>
                    <a:pt x="264" y="1257"/>
                  </a:cubicBezTo>
                  <a:cubicBezTo>
                    <a:pt x="339" y="1246"/>
                    <a:pt x="392" y="1244"/>
                    <a:pt x="450" y="1191"/>
                  </a:cubicBezTo>
                  <a:cubicBezTo>
                    <a:pt x="508" y="1138"/>
                    <a:pt x="531" y="1108"/>
                    <a:pt x="612" y="939"/>
                  </a:cubicBezTo>
                  <a:cubicBezTo>
                    <a:pt x="693" y="770"/>
                    <a:pt x="848" y="329"/>
                    <a:pt x="936" y="177"/>
                  </a:cubicBezTo>
                  <a:cubicBezTo>
                    <a:pt x="1024" y="25"/>
                    <a:pt x="1040" y="54"/>
                    <a:pt x="1140" y="27"/>
                  </a:cubicBezTo>
                  <a:cubicBezTo>
                    <a:pt x="1240" y="0"/>
                    <a:pt x="1454" y="17"/>
                    <a:pt x="1536" y="15"/>
                  </a:cubicBezTo>
                </a:path>
              </a:pathLst>
            </a:custGeom>
            <a:noFill/>
            <a:ln w="38100" cap="flat" cmpd="sng">
              <a:solidFill>
                <a:srgbClr val="FF3300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9506" name="Group 50"/>
          <p:cNvGrpSpPr/>
          <p:nvPr/>
        </p:nvGrpSpPr>
        <p:grpSpPr>
          <a:xfrm>
            <a:off x="7092950" y="3860800"/>
            <a:ext cx="2051050" cy="633413"/>
            <a:chOff x="1356" y="2208"/>
            <a:chExt cx="756" cy="399"/>
          </a:xfrm>
        </p:grpSpPr>
        <p:sp>
          <p:nvSpPr>
            <p:cNvPr id="12307" name="Text Box 51"/>
            <p:cNvSpPr txBox="1"/>
            <p:nvPr/>
          </p:nvSpPr>
          <p:spPr>
            <a:xfrm>
              <a:off x="1386" y="2280"/>
              <a:ext cx="7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dirty="0">
                  <a:latin typeface="Times New Roman" panose="02020603050405020304" pitchFamily="18" charset="0"/>
                  <a:ea typeface="楷体_GB2312" pitchFamily="49" charset="-122"/>
                </a:rPr>
                <a:t>实际特性</a:t>
              </a:r>
              <a:endParaRPr lang="zh-CN" altLang="en-US" sz="28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2308" name="Line 52"/>
            <p:cNvSpPr/>
            <p:nvPr/>
          </p:nvSpPr>
          <p:spPr>
            <a:xfrm flipH="1" flipV="1">
              <a:off x="1356" y="2208"/>
              <a:ext cx="120" cy="132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19552" name="Group 96"/>
          <p:cNvGrpSpPr/>
          <p:nvPr/>
        </p:nvGrpSpPr>
        <p:grpSpPr>
          <a:xfrm>
            <a:off x="611188" y="2759075"/>
            <a:ext cx="3602037" cy="2030413"/>
            <a:chOff x="249" y="482"/>
            <a:chExt cx="2269" cy="1279"/>
          </a:xfrm>
        </p:grpSpPr>
        <p:sp>
          <p:nvSpPr>
            <p:cNvPr id="12310" name="Text Box 67"/>
            <p:cNvSpPr txBox="1"/>
            <p:nvPr/>
          </p:nvSpPr>
          <p:spPr>
            <a:xfrm>
              <a:off x="645" y="482"/>
              <a:ext cx="21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2311" name="Group 93"/>
            <p:cNvGrpSpPr/>
            <p:nvPr/>
          </p:nvGrpSpPr>
          <p:grpSpPr>
            <a:xfrm>
              <a:off x="249" y="566"/>
              <a:ext cx="2269" cy="1195"/>
              <a:chOff x="249" y="566"/>
              <a:chExt cx="2269" cy="1195"/>
            </a:xfrm>
          </p:grpSpPr>
          <p:sp>
            <p:nvSpPr>
              <p:cNvPr id="12312" name="Text Box 62"/>
              <p:cNvSpPr txBox="1"/>
              <p:nvPr/>
            </p:nvSpPr>
            <p:spPr>
              <a:xfrm>
                <a:off x="294" y="1326"/>
                <a:ext cx="314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lang="en-US" altLang="zh-CN" sz="2800" b="0" baseline="30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sz="2800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313" name="Text Box 63"/>
              <p:cNvSpPr txBox="1"/>
              <p:nvPr/>
            </p:nvSpPr>
            <p:spPr>
              <a:xfrm>
                <a:off x="249" y="641"/>
                <a:ext cx="279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lang="en-US" altLang="zh-CN" sz="2800" b="0" i="1" baseline="30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-</a:t>
                </a:r>
                <a:endParaRPr lang="en-US" altLang="zh-CN" sz="2800" b="0" i="1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314" name="Text Box 66"/>
              <p:cNvSpPr txBox="1"/>
              <p:nvPr/>
            </p:nvSpPr>
            <p:spPr>
              <a:xfrm>
                <a:off x="2214" y="1168"/>
                <a:ext cx="304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lang="en-US" altLang="zh-CN" sz="2800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o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315" name="Text Box 71"/>
              <p:cNvSpPr txBox="1"/>
              <p:nvPr/>
            </p:nvSpPr>
            <p:spPr>
              <a:xfrm>
                <a:off x="2245" y="845"/>
                <a:ext cx="228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o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316" name="Rectangle 74"/>
              <p:cNvSpPr/>
              <p:nvPr/>
            </p:nvSpPr>
            <p:spPr>
              <a:xfrm>
                <a:off x="1254" y="754"/>
                <a:ext cx="617" cy="837"/>
              </a:xfrm>
              <a:prstGeom prst="rect">
                <a:avLst/>
              </a:prstGeom>
              <a:gradFill rotWithShape="1">
                <a:gsLst>
                  <a:gs pos="0">
                    <a:srgbClr val="FF9900"/>
                  </a:gs>
                  <a:gs pos="100000">
                    <a:srgbClr val="764700"/>
                  </a:gs>
                </a:gsLst>
                <a:path path="shape">
                  <a:fillToRect l="50000" t="50000" r="50000" b="50000"/>
                </a:path>
                <a:tileRect/>
              </a:gra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2317" name="Line 75"/>
              <p:cNvSpPr/>
              <p:nvPr/>
            </p:nvSpPr>
            <p:spPr>
              <a:xfrm flipH="1">
                <a:off x="758" y="866"/>
                <a:ext cx="496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318" name="Line 76"/>
              <p:cNvSpPr/>
              <p:nvPr/>
            </p:nvSpPr>
            <p:spPr>
              <a:xfrm flipH="1">
                <a:off x="758" y="1466"/>
                <a:ext cx="496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319" name="Text Box 77"/>
              <p:cNvSpPr txBox="1"/>
              <p:nvPr/>
            </p:nvSpPr>
            <p:spPr>
              <a:xfrm>
                <a:off x="845" y="1166"/>
                <a:ext cx="242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320" name="Text Box 78"/>
              <p:cNvSpPr txBox="1"/>
              <p:nvPr/>
            </p:nvSpPr>
            <p:spPr>
              <a:xfrm>
                <a:off x="857" y="635"/>
                <a:ext cx="228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_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321" name="Line 79"/>
              <p:cNvSpPr/>
              <p:nvPr/>
            </p:nvSpPr>
            <p:spPr>
              <a:xfrm>
                <a:off x="1871" y="1187"/>
                <a:ext cx="568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322" name="Text Box 80"/>
              <p:cNvSpPr txBox="1"/>
              <p:nvPr/>
            </p:nvSpPr>
            <p:spPr>
              <a:xfrm>
                <a:off x="843" y="958"/>
                <a:ext cx="304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lang="en-US" altLang="zh-CN" sz="2800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323" name="Text Box 81"/>
              <p:cNvSpPr txBox="1"/>
              <p:nvPr/>
            </p:nvSpPr>
            <p:spPr>
              <a:xfrm>
                <a:off x="1268" y="566"/>
                <a:ext cx="228" cy="326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_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324" name="Text Box 82"/>
              <p:cNvSpPr txBox="1"/>
              <p:nvPr/>
            </p:nvSpPr>
            <p:spPr>
              <a:xfrm>
                <a:off x="1256" y="1249"/>
                <a:ext cx="242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325" name="AutoShape 83"/>
              <p:cNvSpPr/>
              <p:nvPr/>
            </p:nvSpPr>
            <p:spPr>
              <a:xfrm rot="5400000">
                <a:off x="1519" y="832"/>
                <a:ext cx="167" cy="133"/>
              </a:xfrm>
              <a:prstGeom prst="triangle">
                <a:avLst>
                  <a:gd name="adj" fmla="val 56245"/>
                </a:avLst>
              </a:prstGeom>
              <a:solidFill>
                <a:schemeClr val="bg1"/>
              </a:solidFill>
              <a:ln w="28575" cap="flat" cmpd="sng">
                <a:solidFill>
                  <a:srgbClr val="FFCC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2326" name="Text Box 84"/>
              <p:cNvSpPr txBox="1"/>
              <p:nvPr/>
            </p:nvSpPr>
            <p:spPr>
              <a:xfrm>
                <a:off x="1607" y="691"/>
                <a:ext cx="253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327" name="Text Box 85"/>
              <p:cNvSpPr txBox="1"/>
              <p:nvPr/>
            </p:nvSpPr>
            <p:spPr>
              <a:xfrm>
                <a:off x="1667" y="970"/>
                <a:ext cx="242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328" name="Text Box 86"/>
              <p:cNvSpPr txBox="1"/>
              <p:nvPr/>
            </p:nvSpPr>
            <p:spPr>
              <a:xfrm>
                <a:off x="657" y="1434"/>
                <a:ext cx="228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329" name="Oval 87"/>
              <p:cNvSpPr/>
              <p:nvPr/>
            </p:nvSpPr>
            <p:spPr>
              <a:xfrm>
                <a:off x="2421" y="1145"/>
                <a:ext cx="68" cy="79"/>
              </a:xfrm>
              <a:prstGeom prst="ellipse">
                <a:avLst/>
              </a:prstGeom>
              <a:noFill/>
              <a:ln w="38100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2330" name="Oval 88"/>
              <p:cNvSpPr/>
              <p:nvPr/>
            </p:nvSpPr>
            <p:spPr>
              <a:xfrm>
                <a:off x="704" y="824"/>
                <a:ext cx="68" cy="79"/>
              </a:xfrm>
              <a:prstGeom prst="ellipse">
                <a:avLst/>
              </a:prstGeom>
              <a:noFill/>
              <a:ln w="38100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2331" name="Oval 89"/>
              <p:cNvSpPr/>
              <p:nvPr/>
            </p:nvSpPr>
            <p:spPr>
              <a:xfrm>
                <a:off x="704" y="1424"/>
                <a:ext cx="68" cy="79"/>
              </a:xfrm>
              <a:prstGeom prst="ellipse">
                <a:avLst/>
              </a:prstGeom>
              <a:noFill/>
              <a:ln w="38100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</p:grpSp>
      </p:grpSp>
      <p:grpSp>
        <p:nvGrpSpPr>
          <p:cNvPr id="12332" name="Group 98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2333" name="Picture 9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334" name="Text Box 100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2335" name="Group 101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2336" name="Picture 102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337" name="Text Box 103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2338" name="Group 112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12339" name="Picture 113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340" name="Text Box 114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95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5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10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9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/>
      <p:bldP spid="1950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8740" name="Group 68"/>
          <p:cNvGrpSpPr/>
          <p:nvPr/>
        </p:nvGrpSpPr>
        <p:grpSpPr>
          <a:xfrm>
            <a:off x="457200" y="765175"/>
            <a:ext cx="3713163" cy="3600450"/>
            <a:chOff x="3152" y="1616"/>
            <a:chExt cx="2339" cy="2268"/>
          </a:xfrm>
        </p:grpSpPr>
        <p:sp>
          <p:nvSpPr>
            <p:cNvPr id="13314" name="Line 69"/>
            <p:cNvSpPr/>
            <p:nvPr/>
          </p:nvSpPr>
          <p:spPr>
            <a:xfrm>
              <a:off x="4224" y="2342"/>
              <a:ext cx="0" cy="66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3315" name="Line 70"/>
            <p:cNvSpPr/>
            <p:nvPr/>
          </p:nvSpPr>
          <p:spPr>
            <a:xfrm>
              <a:off x="3478" y="3022"/>
              <a:ext cx="0" cy="55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3316" name="Line 71"/>
            <p:cNvSpPr/>
            <p:nvPr/>
          </p:nvSpPr>
          <p:spPr>
            <a:xfrm flipV="1">
              <a:off x="3515" y="3566"/>
              <a:ext cx="355" cy="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3317" name="Line 72"/>
            <p:cNvSpPr/>
            <p:nvPr/>
          </p:nvSpPr>
          <p:spPr>
            <a:xfrm flipH="1">
              <a:off x="3928" y="2342"/>
              <a:ext cx="29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3318" name="Text Box 73"/>
            <p:cNvSpPr txBox="1"/>
            <p:nvPr/>
          </p:nvSpPr>
          <p:spPr>
            <a:xfrm>
              <a:off x="3431" y="2038"/>
              <a:ext cx="44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sat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19" name="Text Box 74"/>
            <p:cNvSpPr txBox="1"/>
            <p:nvPr/>
          </p:nvSpPr>
          <p:spPr>
            <a:xfrm>
              <a:off x="3878" y="3385"/>
              <a:ext cx="70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sat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20" name="Text Box 75"/>
            <p:cNvSpPr txBox="1"/>
            <p:nvPr/>
          </p:nvSpPr>
          <p:spPr>
            <a:xfrm>
              <a:off x="4177" y="2650"/>
              <a:ext cx="21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3321" name="Text Box 76"/>
            <p:cNvSpPr txBox="1"/>
            <p:nvPr/>
          </p:nvSpPr>
          <p:spPr>
            <a:xfrm>
              <a:off x="3245" y="2650"/>
              <a:ext cx="32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3322" name="Text Box 77"/>
            <p:cNvSpPr txBox="1"/>
            <p:nvPr/>
          </p:nvSpPr>
          <p:spPr>
            <a:xfrm>
              <a:off x="3887" y="1616"/>
              <a:ext cx="57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/V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23" name="Line 78"/>
            <p:cNvSpPr/>
            <p:nvPr/>
          </p:nvSpPr>
          <p:spPr>
            <a:xfrm>
              <a:off x="3152" y="2958"/>
              <a:ext cx="1676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3324" name="Line 79"/>
            <p:cNvSpPr/>
            <p:nvPr/>
          </p:nvSpPr>
          <p:spPr>
            <a:xfrm flipV="1">
              <a:off x="3911" y="1868"/>
              <a:ext cx="0" cy="2016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3325" name="Text Box 80"/>
            <p:cNvSpPr txBox="1"/>
            <p:nvPr/>
          </p:nvSpPr>
          <p:spPr>
            <a:xfrm>
              <a:off x="4739" y="2900"/>
              <a:ext cx="75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/mV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26" name="Text Box 81"/>
            <p:cNvSpPr txBox="1"/>
            <p:nvPr/>
          </p:nvSpPr>
          <p:spPr>
            <a:xfrm>
              <a:off x="3878" y="2931"/>
              <a:ext cx="228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27" name="Freeform 82"/>
            <p:cNvSpPr/>
            <p:nvPr/>
          </p:nvSpPr>
          <p:spPr>
            <a:xfrm>
              <a:off x="3152" y="2296"/>
              <a:ext cx="1578" cy="1268"/>
            </a:xfrm>
            <a:custGeom>
              <a:avLst/>
              <a:gdLst/>
              <a:ahLst/>
              <a:cxnLst>
                <a:cxn ang="0">
                  <a:pos x="0" y="1257"/>
                </a:cxn>
                <a:cxn ang="0">
                  <a:pos x="271" y="1257"/>
                </a:cxn>
                <a:cxn ang="0">
                  <a:pos x="462" y="1191"/>
                </a:cxn>
                <a:cxn ang="0">
                  <a:pos x="629" y="939"/>
                </a:cxn>
                <a:cxn ang="0">
                  <a:pos x="962" y="177"/>
                </a:cxn>
                <a:cxn ang="0">
                  <a:pos x="1171" y="27"/>
                </a:cxn>
                <a:cxn ang="0">
                  <a:pos x="1578" y="15"/>
                </a:cxn>
              </a:cxnLst>
              <a:pathLst>
                <a:path w="1536" h="1268">
                  <a:moveTo>
                    <a:pt x="0" y="1257"/>
                  </a:moveTo>
                  <a:cubicBezTo>
                    <a:pt x="44" y="1257"/>
                    <a:pt x="189" y="1268"/>
                    <a:pt x="264" y="1257"/>
                  </a:cubicBezTo>
                  <a:cubicBezTo>
                    <a:pt x="339" y="1246"/>
                    <a:pt x="392" y="1244"/>
                    <a:pt x="450" y="1191"/>
                  </a:cubicBezTo>
                  <a:cubicBezTo>
                    <a:pt x="508" y="1138"/>
                    <a:pt x="531" y="1108"/>
                    <a:pt x="612" y="939"/>
                  </a:cubicBezTo>
                  <a:cubicBezTo>
                    <a:pt x="693" y="770"/>
                    <a:pt x="848" y="329"/>
                    <a:pt x="936" y="177"/>
                  </a:cubicBezTo>
                  <a:cubicBezTo>
                    <a:pt x="1024" y="25"/>
                    <a:pt x="1040" y="54"/>
                    <a:pt x="1140" y="27"/>
                  </a:cubicBezTo>
                  <a:cubicBezTo>
                    <a:pt x="1240" y="0"/>
                    <a:pt x="1454" y="17"/>
                    <a:pt x="1536" y="15"/>
                  </a:cubicBezTo>
                </a:path>
              </a:pathLst>
            </a:custGeom>
            <a:noFill/>
            <a:ln w="38100" cap="flat" cmpd="sng">
              <a:solidFill>
                <a:srgbClr val="FF3300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8675" name="Text Box 3" descr="绿色大理石"/>
          <p:cNvSpPr txBox="1"/>
          <p:nvPr/>
        </p:nvSpPr>
        <p:spPr>
          <a:xfrm>
            <a:off x="4211638" y="690563"/>
            <a:ext cx="2327275" cy="519112"/>
          </a:xfrm>
          <a:prstGeom prst="rect">
            <a:avLst/>
          </a:prstGeom>
          <a:blipFill rotWithShape="1">
            <a:blip r:embed="rId1"/>
          </a:blipFill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分三个区域：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8676" name="Text Box 4"/>
          <p:cNvSpPr txBox="1"/>
          <p:nvPr/>
        </p:nvSpPr>
        <p:spPr>
          <a:xfrm>
            <a:off x="4211638" y="1266825"/>
            <a:ext cx="2684462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①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线性工作区：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8677" name="Text Box 5"/>
          <p:cNvSpPr txBox="1"/>
          <p:nvPr/>
        </p:nvSpPr>
        <p:spPr>
          <a:xfrm>
            <a:off x="4284663" y="1770063"/>
            <a:ext cx="4319587" cy="6286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10000"/>
              </a:lnSpc>
            </a:pP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|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|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则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en-US" altLang="zh-CN" sz="3200" b="0" baseline="-250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78" name="Text Box 6"/>
          <p:cNvSpPr txBox="1"/>
          <p:nvPr/>
        </p:nvSpPr>
        <p:spPr>
          <a:xfrm>
            <a:off x="4284663" y="2490788"/>
            <a:ext cx="2684462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②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正向饱和区：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8679" name="Text Box 7"/>
          <p:cNvSpPr txBox="1"/>
          <p:nvPr/>
        </p:nvSpPr>
        <p:spPr>
          <a:xfrm>
            <a:off x="4284663" y="3857625"/>
            <a:ext cx="2684462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③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反向饱和区：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8680" name="Text Box 8"/>
          <p:cNvSpPr txBox="1"/>
          <p:nvPr/>
        </p:nvSpPr>
        <p:spPr>
          <a:xfrm>
            <a:off x="4284663" y="3209925"/>
            <a:ext cx="3673475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32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sat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81" name="Text Box 9"/>
          <p:cNvSpPr txBox="1"/>
          <p:nvPr/>
        </p:nvSpPr>
        <p:spPr>
          <a:xfrm>
            <a:off x="4284663" y="4433888"/>
            <a:ext cx="4391025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r>
              <a:rPr lang="en-US" altLang="zh-CN" sz="32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32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sat</a:t>
            </a:r>
            <a:endParaRPr lang="en-US" altLang="zh-CN" sz="3200" b="0" baseline="-250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83" name="Text Box 11"/>
          <p:cNvSpPr txBox="1"/>
          <p:nvPr/>
        </p:nvSpPr>
        <p:spPr>
          <a:xfrm>
            <a:off x="971550" y="5229225"/>
            <a:ext cx="6624638" cy="1031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indent="666750" algn="just">
              <a:lnSpc>
                <a:spcPct val="110000"/>
              </a:lnSpc>
            </a:pPr>
            <a:r>
              <a:rPr lang="en-US" altLang="zh-CN" sz="2800" i="1" dirty="0">
                <a:latin typeface="仿宋_GB2312" pitchFamily="49" charset="-122"/>
                <a:ea typeface="仿宋_GB2312" pitchFamily="49" charset="-122"/>
                <a:sym typeface="Symbol" panose="05050102010706020507" pitchFamily="18" charset="2"/>
              </a:rPr>
              <a:t>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是一个数值很小的电压，例如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U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sat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=13V, 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A 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=10</a:t>
            </a:r>
            <a:r>
              <a:rPr lang="en-US" altLang="zh-CN" sz="2800" b="0" baseline="30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5</a:t>
            </a:r>
            <a:r>
              <a:rPr lang="zh-CN" altLang="en-US" sz="2800" dirty="0">
                <a:latin typeface="Times New Roman" panose="02020603050405020304" pitchFamily="18" charset="0"/>
                <a:ea typeface="仿宋_GB2312" pitchFamily="49" charset="-122"/>
              </a:rPr>
              <a:t>，</a:t>
            </a:r>
            <a:r>
              <a:rPr lang="zh-CN" altLang="zh-CN" sz="2800" dirty="0">
                <a:latin typeface="楷体_GB2312" pitchFamily="49" charset="-122"/>
                <a:ea typeface="楷体_GB2312" pitchFamily="49" charset="-122"/>
              </a:rPr>
              <a:t>则</a:t>
            </a:r>
            <a:r>
              <a:rPr lang="zh-CN" altLang="en-US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 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= 0.13mV</a:t>
            </a:r>
            <a:r>
              <a:rPr lang="zh-CN" altLang="en-US" sz="2800" dirty="0">
                <a:latin typeface="仿宋_GB2312" pitchFamily="49" charset="-122"/>
                <a:ea typeface="仿宋_GB2312" pitchFamily="49" charset="-122"/>
              </a:rPr>
              <a:t>。</a:t>
            </a:r>
            <a:endParaRPr lang="zh-CN" altLang="en-US" sz="2800" baseline="-25000" dirty="0">
              <a:latin typeface="仿宋_GB2312" pitchFamily="49" charset="-122"/>
              <a:ea typeface="仿宋_GB2312" pitchFamily="49" charset="-122"/>
            </a:endParaRPr>
          </a:p>
        </p:txBody>
      </p:sp>
      <p:grpSp>
        <p:nvGrpSpPr>
          <p:cNvPr id="28755" name="Group 83"/>
          <p:cNvGrpSpPr/>
          <p:nvPr/>
        </p:nvGrpSpPr>
        <p:grpSpPr>
          <a:xfrm>
            <a:off x="654050" y="1196975"/>
            <a:ext cx="3700463" cy="2668588"/>
            <a:chOff x="412" y="754"/>
            <a:chExt cx="2331" cy="1681"/>
          </a:xfrm>
        </p:grpSpPr>
        <p:sp>
          <p:nvSpPr>
            <p:cNvPr id="13337" name="Freeform 32"/>
            <p:cNvSpPr/>
            <p:nvPr/>
          </p:nvSpPr>
          <p:spPr>
            <a:xfrm>
              <a:off x="412" y="1175"/>
              <a:ext cx="1374" cy="1260"/>
            </a:xfrm>
            <a:custGeom>
              <a:avLst/>
              <a:gdLst/>
              <a:ahLst/>
              <a:cxnLst>
                <a:cxn ang="0">
                  <a:pos x="0" y="1260"/>
                </a:cxn>
                <a:cxn ang="0">
                  <a:pos x="378" y="1260"/>
                </a:cxn>
                <a:cxn ang="0">
                  <a:pos x="906" y="0"/>
                </a:cxn>
                <a:cxn ang="0">
                  <a:pos x="1374" y="0"/>
                </a:cxn>
              </a:cxnLst>
              <a:pathLst>
                <a:path w="1374" h="1260">
                  <a:moveTo>
                    <a:pt x="0" y="1260"/>
                  </a:moveTo>
                  <a:lnTo>
                    <a:pt x="378" y="1260"/>
                  </a:lnTo>
                  <a:lnTo>
                    <a:pt x="906" y="0"/>
                  </a:lnTo>
                  <a:lnTo>
                    <a:pt x="1374" y="0"/>
                  </a:lnTo>
                </a:path>
              </a:pathLst>
            </a:custGeom>
            <a:noFill/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3338" name="Group 33"/>
            <p:cNvGrpSpPr/>
            <p:nvPr/>
          </p:nvGrpSpPr>
          <p:grpSpPr>
            <a:xfrm>
              <a:off x="1383" y="754"/>
              <a:ext cx="1360" cy="354"/>
              <a:chOff x="1332" y="1806"/>
              <a:chExt cx="774" cy="354"/>
            </a:xfrm>
          </p:grpSpPr>
          <p:sp>
            <p:nvSpPr>
              <p:cNvPr id="13339" name="Text Box 34"/>
              <p:cNvSpPr txBox="1"/>
              <p:nvPr/>
            </p:nvSpPr>
            <p:spPr>
              <a:xfrm>
                <a:off x="1380" y="1806"/>
                <a:ext cx="72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Times New Roman" panose="02020603050405020304" pitchFamily="18" charset="0"/>
                    <a:ea typeface="楷体_GB2312" pitchFamily="49" charset="-122"/>
                  </a:rPr>
                  <a:t>近似特性</a:t>
                </a:r>
                <a:endParaRPr lang="zh-CN" altLang="en-US" sz="2800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3340" name="Line 35"/>
              <p:cNvSpPr/>
              <p:nvPr/>
            </p:nvSpPr>
            <p:spPr>
              <a:xfrm flipH="1">
                <a:off x="1332" y="2010"/>
                <a:ext cx="102" cy="150"/>
              </a:xfrm>
              <a:prstGeom prst="line">
                <a:avLst/>
              </a:prstGeom>
              <a:ln w="28575" cap="flat" cmpd="sng">
                <a:solidFill>
                  <a:srgbClr val="66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</p:grpSp>
      <p:grpSp>
        <p:nvGrpSpPr>
          <p:cNvPr id="13341" name="Group 59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3342" name="Picture 60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343" name="Text Box 61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3344" name="Group 62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3345" name="Picture 63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346" name="Text Box 64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8737" name="Group 65"/>
          <p:cNvGrpSpPr/>
          <p:nvPr/>
        </p:nvGrpSpPr>
        <p:grpSpPr>
          <a:xfrm>
            <a:off x="395288" y="4652963"/>
            <a:ext cx="1644650" cy="850900"/>
            <a:chOff x="385" y="3022"/>
            <a:chExt cx="1036" cy="536"/>
          </a:xfrm>
        </p:grpSpPr>
        <p:pic>
          <p:nvPicPr>
            <p:cNvPr id="13348" name="Picture 66" descr="1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349" name="Text Box 67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注意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13350" name="Group 87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13351" name="Picture 88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352" name="Text Box 89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28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2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2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8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animBg="1"/>
      <p:bldP spid="28676" grpId="0"/>
      <p:bldP spid="28677" grpId="0"/>
      <p:bldP spid="28678" grpId="0"/>
      <p:bldP spid="28679" grpId="0"/>
      <p:bldP spid="28680" grpId="0"/>
      <p:bldP spid="28681" grpId="0"/>
      <p:bldP spid="2868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Text Box 2"/>
          <p:cNvSpPr txBox="1"/>
          <p:nvPr/>
        </p:nvSpPr>
        <p:spPr>
          <a:xfrm>
            <a:off x="468313" y="476250"/>
            <a:ext cx="2519362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3. 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电路模型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8467" name="AutoShape 35" descr="羊皮纸"/>
          <p:cNvSpPr/>
          <p:nvPr/>
        </p:nvSpPr>
        <p:spPr>
          <a:xfrm>
            <a:off x="3563938" y="549275"/>
            <a:ext cx="1944687" cy="576263"/>
          </a:xfrm>
          <a:prstGeom prst="wedgeRoundRectCallout">
            <a:avLst>
              <a:gd name="adj1" fmla="val 46407"/>
              <a:gd name="adj2" fmla="val 128236"/>
              <a:gd name="adj3" fmla="val 16667"/>
            </a:avLst>
          </a:prstGeom>
          <a:blipFill rotWithShape="1">
            <a:blip r:embed="rId1"/>
          </a:blipFill>
          <a:ln w="9525">
            <a:noFill/>
          </a:ln>
        </p:spPr>
        <p:txBody>
          <a:bodyPr anchor="t" anchorCtr="0"/>
          <a:p>
            <a:pPr algn="ctr"/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输入电阻</a:t>
            </a:r>
            <a:endParaRPr lang="zh-CN" altLang="en-US" sz="280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8468" name="AutoShape 36" descr="羊皮纸"/>
          <p:cNvSpPr/>
          <p:nvPr/>
        </p:nvSpPr>
        <p:spPr>
          <a:xfrm>
            <a:off x="6659563" y="476250"/>
            <a:ext cx="1944687" cy="576263"/>
          </a:xfrm>
          <a:prstGeom prst="wedgeRoundRectCallout">
            <a:avLst>
              <a:gd name="adj1" fmla="val -62407"/>
              <a:gd name="adj2" fmla="val 134296"/>
              <a:gd name="adj3" fmla="val 16667"/>
            </a:avLst>
          </a:prstGeom>
          <a:blipFill rotWithShape="1">
            <a:blip r:embed="rId1"/>
          </a:blipFill>
          <a:ln w="9525">
            <a:noFill/>
          </a:ln>
        </p:spPr>
        <p:txBody>
          <a:bodyPr anchor="t" anchorCtr="0"/>
          <a:p>
            <a:pPr algn="ctr"/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输出电阻</a:t>
            </a:r>
            <a:endParaRPr lang="zh-CN" altLang="en-US" sz="280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8469" name="Text Box 37"/>
          <p:cNvSpPr txBox="1"/>
          <p:nvPr/>
        </p:nvSpPr>
        <p:spPr>
          <a:xfrm>
            <a:off x="250825" y="1196975"/>
            <a:ext cx="4427538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当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en-US" altLang="zh-CN" sz="3200" dirty="0">
                <a:latin typeface="Arial" panose="020B0604020202020204" pitchFamily="34" charset="0"/>
                <a:ea typeface="仿宋_GB2312" pitchFamily="49" charset="-122"/>
              </a:rPr>
              <a:t>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u</a:t>
            </a:r>
            <a:r>
              <a:rPr lang="en-US" altLang="zh-CN" sz="3200" b="0" i="1" baseline="30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+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=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0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,  </a:t>
            </a:r>
            <a:r>
              <a:rPr lang="zh-CN" altLang="en-US" sz="28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则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u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o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=</a:t>
            </a:r>
            <a:r>
              <a:rPr lang="zh-CN" altLang="en-US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－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Au</a:t>
            </a:r>
            <a:r>
              <a:rPr lang="zh-CN" altLang="en-US" sz="3200" b="0" i="1" baseline="30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－</a:t>
            </a:r>
            <a:endParaRPr lang="zh-CN" altLang="en-US" sz="3200" b="0" i="1" baseline="30000" dirty="0">
              <a:solidFill>
                <a:schemeClr val="bg1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18470" name="Text Box 38"/>
          <p:cNvSpPr txBox="1"/>
          <p:nvPr/>
        </p:nvSpPr>
        <p:spPr>
          <a:xfrm>
            <a:off x="250825" y="1700213"/>
            <a:ext cx="4103688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当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en-US" altLang="zh-CN" dirty="0">
                <a:latin typeface="Arial" panose="020B0604020202020204" pitchFamily="34" charset="0"/>
                <a:ea typeface="仿宋_GB2312" pitchFamily="49" charset="-122"/>
              </a:rPr>
              <a:t>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u</a:t>
            </a:r>
            <a:r>
              <a:rPr lang="zh-CN" altLang="en-US" sz="3200" b="0" i="1" baseline="30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－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=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0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,  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u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o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=Au</a:t>
            </a:r>
            <a:r>
              <a:rPr lang="zh-CN" altLang="en-US" sz="3200" b="0" baseline="30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＋</a:t>
            </a:r>
            <a:endParaRPr lang="zh-CN" altLang="en-US" sz="3200" b="0" baseline="30000" dirty="0">
              <a:solidFill>
                <a:schemeClr val="bg1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18475" name="Text Box 43"/>
          <p:cNvSpPr txBox="1"/>
          <p:nvPr/>
        </p:nvSpPr>
        <p:spPr>
          <a:xfrm>
            <a:off x="395288" y="2852738"/>
            <a:ext cx="381635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4. 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理想运算放大器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4343" name="Group 53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4344" name="Picture 54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4345" name="Text Box 55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4346" name="Group 56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4347" name="Picture 57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4348" name="Text Box 58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8494" name="Group 62"/>
          <p:cNvGrpSpPr/>
          <p:nvPr/>
        </p:nvGrpSpPr>
        <p:grpSpPr>
          <a:xfrm>
            <a:off x="4427538" y="1052513"/>
            <a:ext cx="3511550" cy="2476500"/>
            <a:chOff x="3016" y="527"/>
            <a:chExt cx="2212" cy="1560"/>
          </a:xfrm>
        </p:grpSpPr>
        <p:sp>
          <p:nvSpPr>
            <p:cNvPr id="14350" name="Line 63"/>
            <p:cNvSpPr/>
            <p:nvPr/>
          </p:nvSpPr>
          <p:spPr>
            <a:xfrm flipH="1">
              <a:off x="4111" y="696"/>
              <a:ext cx="8" cy="114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51" name="Text Box 64"/>
            <p:cNvSpPr txBox="1"/>
            <p:nvPr/>
          </p:nvSpPr>
          <p:spPr>
            <a:xfrm>
              <a:off x="4195" y="1026"/>
              <a:ext cx="243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52" name="Text Box 65"/>
            <p:cNvSpPr txBox="1"/>
            <p:nvPr/>
          </p:nvSpPr>
          <p:spPr>
            <a:xfrm>
              <a:off x="4111" y="1389"/>
              <a:ext cx="228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53" name="Text Box 66"/>
            <p:cNvSpPr txBox="1"/>
            <p:nvPr/>
          </p:nvSpPr>
          <p:spPr>
            <a:xfrm>
              <a:off x="4286" y="1253"/>
              <a:ext cx="901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r>
                <a:rPr lang="en-US" altLang="zh-CN" sz="2800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3000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54" name="Line 67"/>
            <p:cNvSpPr/>
            <p:nvPr/>
          </p:nvSpPr>
          <p:spPr>
            <a:xfrm>
              <a:off x="4113" y="696"/>
              <a:ext cx="71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55" name="Line 68"/>
            <p:cNvSpPr/>
            <p:nvPr/>
          </p:nvSpPr>
          <p:spPr>
            <a:xfrm flipH="1">
              <a:off x="3742" y="709"/>
              <a:ext cx="0" cy="77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56" name="Line 69"/>
            <p:cNvSpPr/>
            <p:nvPr/>
          </p:nvSpPr>
          <p:spPr>
            <a:xfrm flipH="1">
              <a:off x="3288" y="709"/>
              <a:ext cx="45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57" name="Text Box 70"/>
            <p:cNvSpPr txBox="1"/>
            <p:nvPr/>
          </p:nvSpPr>
          <p:spPr>
            <a:xfrm>
              <a:off x="4241" y="799"/>
              <a:ext cx="329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58" name="Text Box 71"/>
            <p:cNvSpPr txBox="1"/>
            <p:nvPr/>
          </p:nvSpPr>
          <p:spPr>
            <a:xfrm>
              <a:off x="3334" y="890"/>
              <a:ext cx="295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59" name="Text Box 72"/>
            <p:cNvSpPr txBox="1"/>
            <p:nvPr/>
          </p:nvSpPr>
          <p:spPr>
            <a:xfrm>
              <a:off x="3016" y="1162"/>
              <a:ext cx="314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baseline="30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60" name="Text Box 73"/>
            <p:cNvSpPr txBox="1"/>
            <p:nvPr/>
          </p:nvSpPr>
          <p:spPr>
            <a:xfrm>
              <a:off x="3061" y="709"/>
              <a:ext cx="327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3000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800" b="0" baseline="30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14361" name="Group 74"/>
            <p:cNvGrpSpPr/>
            <p:nvPr/>
          </p:nvGrpSpPr>
          <p:grpSpPr>
            <a:xfrm>
              <a:off x="3987" y="1846"/>
              <a:ext cx="269" cy="241"/>
              <a:chOff x="1416" y="2436"/>
              <a:chExt cx="261" cy="240"/>
            </a:xfrm>
          </p:grpSpPr>
          <p:grpSp>
            <p:nvGrpSpPr>
              <p:cNvPr id="14362" name="Group 75"/>
              <p:cNvGrpSpPr/>
              <p:nvPr/>
            </p:nvGrpSpPr>
            <p:grpSpPr>
              <a:xfrm>
                <a:off x="1416" y="2556"/>
                <a:ext cx="261" cy="120"/>
                <a:chOff x="720" y="1824"/>
                <a:chExt cx="261" cy="120"/>
              </a:xfrm>
            </p:grpSpPr>
            <p:sp>
              <p:nvSpPr>
                <p:cNvPr id="14363" name="Line 76"/>
                <p:cNvSpPr/>
                <p:nvPr/>
              </p:nvSpPr>
              <p:spPr>
                <a:xfrm>
                  <a:off x="720" y="1824"/>
                  <a:ext cx="261" cy="0"/>
                </a:xfrm>
                <a:prstGeom prst="line">
                  <a:avLst/>
                </a:prstGeom>
                <a:ln w="28575" cap="flat" cmpd="sng">
                  <a:solidFill>
                    <a:srgbClr val="FFCC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364" name="Line 77"/>
                <p:cNvSpPr/>
                <p:nvPr/>
              </p:nvSpPr>
              <p:spPr>
                <a:xfrm>
                  <a:off x="778" y="1883"/>
                  <a:ext cx="145" cy="0"/>
                </a:xfrm>
                <a:prstGeom prst="line">
                  <a:avLst/>
                </a:prstGeom>
                <a:ln w="28575" cap="flat" cmpd="sng">
                  <a:solidFill>
                    <a:srgbClr val="FFCC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4365" name="Line 78"/>
                <p:cNvSpPr/>
                <p:nvPr/>
              </p:nvSpPr>
              <p:spPr>
                <a:xfrm>
                  <a:off x="802" y="1944"/>
                  <a:ext cx="86" cy="0"/>
                </a:xfrm>
                <a:prstGeom prst="line">
                  <a:avLst/>
                </a:prstGeom>
                <a:ln w="28575" cap="flat" cmpd="sng">
                  <a:solidFill>
                    <a:srgbClr val="FFCC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4366" name="Line 79"/>
              <p:cNvSpPr/>
              <p:nvPr/>
            </p:nvSpPr>
            <p:spPr>
              <a:xfrm>
                <a:off x="1536" y="2436"/>
                <a:ext cx="0" cy="12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4367" name="Line 80"/>
            <p:cNvSpPr/>
            <p:nvPr/>
          </p:nvSpPr>
          <p:spPr>
            <a:xfrm>
              <a:off x="3220" y="1833"/>
              <a:ext cx="180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68" name="Line 81"/>
            <p:cNvSpPr/>
            <p:nvPr/>
          </p:nvSpPr>
          <p:spPr>
            <a:xfrm flipH="1">
              <a:off x="3300" y="1480"/>
              <a:ext cx="44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69" name="Text Box 82"/>
            <p:cNvSpPr txBox="1"/>
            <p:nvPr/>
          </p:nvSpPr>
          <p:spPr>
            <a:xfrm>
              <a:off x="4876" y="527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</a:rPr>
                <a:t>＋</a:t>
              </a:r>
              <a:endParaRPr lang="zh-CN" altLang="en-US" sz="2800" b="0" dirty="0">
                <a:solidFill>
                  <a:schemeClr val="bg1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4370" name="Text Box 83"/>
            <p:cNvSpPr txBox="1"/>
            <p:nvPr/>
          </p:nvSpPr>
          <p:spPr>
            <a:xfrm>
              <a:off x="4921" y="1525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</a:rPr>
                <a:t>－</a:t>
              </a:r>
              <a:endParaRPr lang="zh-CN" altLang="en-US" sz="2800" b="0" dirty="0">
                <a:solidFill>
                  <a:schemeClr val="bg1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4371" name="Text Box 84"/>
            <p:cNvSpPr txBox="1"/>
            <p:nvPr/>
          </p:nvSpPr>
          <p:spPr>
            <a:xfrm>
              <a:off x="4775" y="890"/>
              <a:ext cx="45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u</a:t>
              </a:r>
              <a:r>
                <a:rPr lang="en-US" altLang="zh-CN" sz="28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o</a:t>
              </a:r>
              <a:endParaRPr lang="en-US" altLang="zh-CN" sz="2800" b="0" i="1" baseline="30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4372" name="Rectangle 85"/>
            <p:cNvSpPr/>
            <p:nvPr/>
          </p:nvSpPr>
          <p:spPr>
            <a:xfrm>
              <a:off x="4066" y="84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4373" name="Rectangle 86"/>
            <p:cNvSpPr/>
            <p:nvPr/>
          </p:nvSpPr>
          <p:spPr>
            <a:xfrm>
              <a:off x="3651" y="89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4374" name="Oval 87"/>
            <p:cNvSpPr/>
            <p:nvPr/>
          </p:nvSpPr>
          <p:spPr>
            <a:xfrm>
              <a:off x="5012" y="1797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4375" name="Oval 88"/>
            <p:cNvSpPr/>
            <p:nvPr/>
          </p:nvSpPr>
          <p:spPr>
            <a:xfrm>
              <a:off x="3152" y="1797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4376" name="Oval 89"/>
            <p:cNvSpPr/>
            <p:nvPr/>
          </p:nvSpPr>
          <p:spPr>
            <a:xfrm>
              <a:off x="3198" y="663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4377" name="Oval 90"/>
            <p:cNvSpPr/>
            <p:nvPr/>
          </p:nvSpPr>
          <p:spPr>
            <a:xfrm>
              <a:off x="3198" y="1434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4378" name="AutoShape 91"/>
            <p:cNvSpPr/>
            <p:nvPr/>
          </p:nvSpPr>
          <p:spPr>
            <a:xfrm rot="5400000">
              <a:off x="3927" y="1182"/>
              <a:ext cx="362" cy="409"/>
            </a:xfrm>
            <a:prstGeom prst="flowChartSort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4379" name="Oval 92"/>
            <p:cNvSpPr/>
            <p:nvPr/>
          </p:nvSpPr>
          <p:spPr>
            <a:xfrm>
              <a:off x="4830" y="663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</p:grpSp>
      <p:sp>
        <p:nvSpPr>
          <p:cNvPr id="18525" name="Text Box 93"/>
          <p:cNvSpPr txBox="1"/>
          <p:nvPr/>
        </p:nvSpPr>
        <p:spPr>
          <a:xfrm>
            <a:off x="539750" y="3429000"/>
            <a:ext cx="7920038" cy="6048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在线性放大区，将运放电路作如下理想化处理：</a:t>
            </a:r>
            <a:endParaRPr lang="zh-CN" altLang="en-US" sz="2800" dirty="0">
              <a:solidFill>
                <a:srgbClr val="FFFF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8526" name="Text Box 94"/>
          <p:cNvSpPr txBox="1"/>
          <p:nvPr/>
        </p:nvSpPr>
        <p:spPr>
          <a:xfrm>
            <a:off x="539750" y="4062413"/>
            <a:ext cx="17272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①</a:t>
            </a: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</a:t>
            </a:r>
            <a:endParaRPr lang="en-US" altLang="zh-CN" sz="28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527" name="AutoShape 95"/>
          <p:cNvSpPr/>
          <p:nvPr/>
        </p:nvSpPr>
        <p:spPr>
          <a:xfrm>
            <a:off x="2339975" y="4292600"/>
            <a:ext cx="576263" cy="144463"/>
          </a:xfrm>
          <a:prstGeom prst="rightArrow">
            <a:avLst>
              <a:gd name="adj1" fmla="val 50000"/>
              <a:gd name="adj2" fmla="val 99688"/>
            </a:avLst>
          </a:prstGeom>
          <a:solidFill>
            <a:srgbClr val="0099FF"/>
          </a:solidFill>
          <a:ln w="9525" cap="flat" cmpd="sng">
            <a:solidFill>
              <a:srgbClr val="00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18528" name="Rectangle 96"/>
          <p:cNvSpPr/>
          <p:nvPr/>
        </p:nvSpPr>
        <p:spPr>
          <a:xfrm>
            <a:off x="2987675" y="3933825"/>
            <a:ext cx="5867400" cy="1117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</a:pP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o</a:t>
            </a:r>
            <a:r>
              <a:rPr lang="zh-CN" altLang="en-US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  <a:sym typeface="Wingdings 3" panose="05040102010807070707" pitchFamily="18" charset="2"/>
              </a:rPr>
              <a:t>为有限值，则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=0</a:t>
            </a:r>
            <a:r>
              <a:rPr lang="en-US" altLang="zh-CN" sz="2800" b="0" dirty="0">
                <a:solidFill>
                  <a:srgbClr val="FFFF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  <a:sym typeface="Wingdings 3" panose="05040102010807070707" pitchFamily="18" charset="2"/>
              </a:rPr>
              <a:t>即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Wingdings 3" panose="05040102010807070707" pitchFamily="18" charset="2"/>
              </a:rPr>
              <a:t>u</a:t>
            </a:r>
            <a:r>
              <a:rPr lang="en-US" altLang="zh-CN" sz="2800" b="0" baseline="30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Wingdings 3" panose="05040102010807070707" pitchFamily="18" charset="2"/>
              </a:rPr>
              <a:t>+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Wingdings 3" panose="05040102010807070707" pitchFamily="18" charset="2"/>
              </a:rPr>
              <a:t>=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sym typeface="Wingdings 3" panose="05040102010807070707" pitchFamily="18" charset="2"/>
              </a:rPr>
              <a:t>u</a:t>
            </a:r>
            <a:r>
              <a:rPr lang="en-US" altLang="zh-CN" sz="2800" b="0" baseline="30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 3" panose="05040102010807070707" pitchFamily="18" charset="2"/>
              </a:rPr>
              <a:t>-</a:t>
            </a:r>
            <a:r>
              <a:rPr lang="zh-CN" altLang="en-US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  <a:sym typeface="Wingdings 3" panose="05040102010807070707" pitchFamily="18" charset="2"/>
              </a:rPr>
              <a:t>，两个输入端之间相当于短路</a:t>
            </a:r>
            <a:r>
              <a:rPr lang="en-US" altLang="zh-CN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  <a:sym typeface="Wingdings 3" panose="05040102010807070707" pitchFamily="18" charset="2"/>
              </a:rPr>
              <a:t>(</a:t>
            </a:r>
            <a:r>
              <a:rPr lang="zh-CN" altLang="en-US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  <a:sym typeface="Wingdings 3" panose="05040102010807070707" pitchFamily="18" charset="2"/>
              </a:rPr>
              <a:t>虚短路</a:t>
            </a:r>
            <a:r>
              <a:rPr lang="en-US" altLang="zh-CN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  <a:sym typeface="Wingdings 3" panose="05040102010807070707" pitchFamily="18" charset="2"/>
              </a:rPr>
              <a:t>)</a:t>
            </a:r>
            <a:endParaRPr lang="en-US" altLang="zh-CN" sz="2800" dirty="0">
              <a:solidFill>
                <a:srgbClr val="FFFF66"/>
              </a:solidFill>
              <a:latin typeface="楷体_GB2312" pitchFamily="49" charset="-122"/>
              <a:ea typeface="楷体_GB2312" pitchFamily="49" charset="-122"/>
              <a:sym typeface="Wingdings 3" panose="05040102010807070707" pitchFamily="18" charset="2"/>
            </a:endParaRPr>
          </a:p>
        </p:txBody>
      </p:sp>
      <p:sp>
        <p:nvSpPr>
          <p:cNvPr id="18529" name="Rectangle 97"/>
          <p:cNvSpPr/>
          <p:nvPr/>
        </p:nvSpPr>
        <p:spPr>
          <a:xfrm>
            <a:off x="539750" y="4997450"/>
            <a:ext cx="2017713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② </a:t>
            </a:r>
            <a:r>
              <a:rPr lang="en-US" altLang="zh-CN" sz="2800" dirty="0">
                <a:solidFill>
                  <a:schemeClr val="bg1"/>
                </a:solidFill>
                <a:latin typeface="Arial" panose="020B0604020202020204" pitchFamily="34" charset="0"/>
                <a:ea typeface="仿宋_GB2312" pitchFamily="49" charset="-122"/>
              </a:rPr>
              <a:t> 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R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i</a:t>
            </a:r>
            <a:r>
              <a:rPr lang="en-US" altLang="zh-CN" sz="28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</a:t>
            </a:r>
            <a:endParaRPr lang="en-US" altLang="en-US" sz="2800" b="0" dirty="0">
              <a:solidFill>
                <a:schemeClr val="bg1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sp>
        <p:nvSpPr>
          <p:cNvPr id="18530" name="AutoShape 98"/>
          <p:cNvSpPr/>
          <p:nvPr/>
        </p:nvSpPr>
        <p:spPr>
          <a:xfrm>
            <a:off x="2339975" y="5229225"/>
            <a:ext cx="647700" cy="144463"/>
          </a:xfrm>
          <a:prstGeom prst="rightArrow">
            <a:avLst>
              <a:gd name="adj1" fmla="val 50000"/>
              <a:gd name="adj2" fmla="val 112046"/>
            </a:avLst>
          </a:prstGeom>
          <a:solidFill>
            <a:srgbClr val="0099FF"/>
          </a:solidFill>
          <a:ln w="9525" cap="flat" cmpd="sng">
            <a:solidFill>
              <a:srgbClr val="00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18531" name="Rectangle 99"/>
          <p:cNvSpPr/>
          <p:nvPr/>
        </p:nvSpPr>
        <p:spPr>
          <a:xfrm>
            <a:off x="2987675" y="5013325"/>
            <a:ext cx="5976938" cy="946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i</a:t>
            </a:r>
            <a:r>
              <a:rPr lang="en-US" altLang="zh-CN" sz="28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+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=0 , 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i</a:t>
            </a:r>
            <a:r>
              <a:rPr lang="zh-CN" altLang="en-US" sz="28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－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=0</a:t>
            </a:r>
            <a:r>
              <a:rPr lang="zh-CN" altLang="en-US" sz="28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。</a:t>
            </a:r>
            <a:r>
              <a:rPr lang="zh-CN" altLang="en-US" dirty="0">
                <a:solidFill>
                  <a:srgbClr val="FFFF66"/>
                </a:solidFill>
                <a:latin typeface="仿宋_GB2312" pitchFamily="49" charset="-122"/>
                <a:ea typeface="仿宋_GB2312" pitchFamily="49" charset="-122"/>
              </a:rPr>
              <a:t> </a:t>
            </a:r>
            <a:r>
              <a:rPr lang="zh-CN" altLang="en-US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即从输入端看进去，元件相当于开路</a:t>
            </a:r>
            <a:r>
              <a:rPr lang="en-US" altLang="zh-CN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虚断路</a:t>
            </a:r>
            <a:r>
              <a:rPr lang="en-US" altLang="zh-CN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800" b="0" dirty="0">
              <a:solidFill>
                <a:srgbClr val="FFFF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8532" name="Rectangle 100"/>
          <p:cNvSpPr/>
          <p:nvPr/>
        </p:nvSpPr>
        <p:spPr>
          <a:xfrm>
            <a:off x="539750" y="5734050"/>
            <a:ext cx="2232025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2800" b="0" dirty="0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rPr>
              <a:t>③</a:t>
            </a:r>
            <a:r>
              <a:rPr lang="en-US" altLang="zh-CN" sz="2800" b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R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o</a:t>
            </a:r>
            <a:r>
              <a:rPr lang="en-US" altLang="zh-CN" sz="28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0</a:t>
            </a:r>
            <a:endParaRPr lang="en-US" altLang="en-US" sz="2800" b="0" dirty="0">
              <a:solidFill>
                <a:schemeClr val="bg1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14388" name="Group 104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14389" name="Picture 105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4390" name="Text Box 106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8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4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4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18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18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"/>
                                        <p:tgtEl>
                                          <p:spTgt spid="18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300" fill="hold"/>
                                        <p:tgtEl>
                                          <p:spTgt spid="18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185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00" fill="hold"/>
                                        <p:tgtEl>
                                          <p:spTgt spid="185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300" fill="hold"/>
                                        <p:tgtEl>
                                          <p:spTgt spid="185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9" dur="500"/>
                                        <p:tgtEl>
                                          <p:spTgt spid="18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75"/>
                                        <p:tgtEl>
                                          <p:spTgt spid="18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75" fill="hold"/>
                                        <p:tgtEl>
                                          <p:spTgt spid="18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5" fill="hold"/>
                                        <p:tgtEl>
                                          <p:spTgt spid="18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" fill="hold"/>
                                        <p:tgtEl>
                                          <p:spTgt spid="18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75" fill="hold"/>
                                        <p:tgtEl>
                                          <p:spTgt spid="18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6" dur="500"/>
                                        <p:tgtEl>
                                          <p:spTgt spid="18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8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1000"/>
                                        <p:tgtEl>
                                          <p:spTgt spid="18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/>
      <p:bldP spid="18467" grpId="0" animBg="1"/>
      <p:bldP spid="18468" grpId="0" animBg="1"/>
      <p:bldP spid="18469" grpId="0"/>
      <p:bldP spid="18470" grpId="0"/>
      <p:bldP spid="18475" grpId="0"/>
      <p:bldP spid="18525" grpId="0"/>
      <p:bldP spid="18526" grpId="0"/>
      <p:bldP spid="18527" grpId="0" animBg="1"/>
      <p:bldP spid="18528" grpId="0"/>
      <p:bldP spid="18529" grpId="0"/>
      <p:bldP spid="18530" grpId="0" animBg="1"/>
      <p:bldP spid="18531" grpId="0"/>
      <p:bldP spid="1853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/>
          <p:nvPr/>
        </p:nvSpPr>
        <p:spPr>
          <a:xfrm>
            <a:off x="1765300" y="549275"/>
            <a:ext cx="5975350" cy="762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44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5.2  </a:t>
            </a:r>
            <a:r>
              <a:rPr lang="zh-CN" altLang="en-US" sz="44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比例电路的分析</a:t>
            </a:r>
            <a:endParaRPr lang="zh-CN" altLang="en-US" sz="44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7411" name="AutoShape 3"/>
          <p:cNvSpPr/>
          <p:nvPr/>
        </p:nvSpPr>
        <p:spPr>
          <a:xfrm>
            <a:off x="3708400" y="3573463"/>
            <a:ext cx="762000" cy="215900"/>
          </a:xfrm>
          <a:prstGeom prst="rightArrow">
            <a:avLst>
              <a:gd name="adj1" fmla="val 50000"/>
              <a:gd name="adj2" fmla="val 88202"/>
            </a:avLst>
          </a:prstGeom>
          <a:solidFill>
            <a:srgbClr val="0066FF"/>
          </a:solidFill>
          <a:ln w="9525" cap="flat" cmpd="sng">
            <a:solidFill>
              <a:srgbClr val="00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17412" name="Text Box 4"/>
          <p:cNvSpPr txBox="1"/>
          <p:nvPr/>
        </p:nvSpPr>
        <p:spPr>
          <a:xfrm>
            <a:off x="395288" y="1341438"/>
            <a:ext cx="3671887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1. 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倒向比例器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7413" name="Text Box 5"/>
          <p:cNvSpPr txBox="1"/>
          <p:nvPr/>
        </p:nvSpPr>
        <p:spPr>
          <a:xfrm>
            <a:off x="468313" y="1916113"/>
            <a:ext cx="7991475" cy="1117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indent="571500" algn="just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运放开环工作极不稳定，一般外部接若干元件</a:t>
            </a:r>
            <a:r>
              <a:rPr lang="en-US" altLang="zh-CN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sz="2800" b="0" i="1" dirty="0">
                <a:solidFill>
                  <a:srgbClr val="FFFF66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zh-CN" altLang="en-US" sz="2800" b="0" dirty="0">
                <a:solidFill>
                  <a:srgbClr val="FFFF66"/>
                </a:solidFill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2800" b="0" i="1" dirty="0">
                <a:solidFill>
                  <a:srgbClr val="FFFF66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zh-CN" altLang="en-US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等</a:t>
            </a:r>
            <a:r>
              <a:rPr lang="en-US" altLang="zh-CN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，使其工作在闭环状态。</a:t>
            </a:r>
            <a:endParaRPr lang="zh-CN" altLang="en-US" sz="2800" dirty="0">
              <a:solidFill>
                <a:srgbClr val="FFFF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5365" name="Group 10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5366" name="Picture 103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367" name="Text Box 104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5368" name="Group 105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5369" name="Picture 106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370" name="Text Box 107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7519" name="Group 111"/>
          <p:cNvGrpSpPr/>
          <p:nvPr/>
        </p:nvGrpSpPr>
        <p:grpSpPr>
          <a:xfrm>
            <a:off x="250825" y="2997200"/>
            <a:ext cx="4011613" cy="2922588"/>
            <a:chOff x="2064" y="1253"/>
            <a:chExt cx="2527" cy="1841"/>
          </a:xfrm>
        </p:grpSpPr>
        <p:sp>
          <p:nvSpPr>
            <p:cNvPr id="15372" name="Line 112"/>
            <p:cNvSpPr/>
            <p:nvPr/>
          </p:nvSpPr>
          <p:spPr>
            <a:xfrm flipH="1">
              <a:off x="2971" y="2434"/>
              <a:ext cx="12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373" name="Oval 113"/>
            <p:cNvSpPr/>
            <p:nvPr/>
          </p:nvSpPr>
          <p:spPr>
            <a:xfrm>
              <a:off x="2290" y="229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5374" name="Line 114"/>
            <p:cNvSpPr/>
            <p:nvPr/>
          </p:nvSpPr>
          <p:spPr>
            <a:xfrm flipH="1">
              <a:off x="2479" y="2060"/>
              <a:ext cx="61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375" name="Line 115"/>
            <p:cNvSpPr/>
            <p:nvPr/>
          </p:nvSpPr>
          <p:spPr>
            <a:xfrm>
              <a:off x="2479" y="2900"/>
              <a:ext cx="177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376" name="Line 116"/>
            <p:cNvSpPr/>
            <p:nvPr/>
          </p:nvSpPr>
          <p:spPr>
            <a:xfrm flipV="1">
              <a:off x="3703" y="2240"/>
              <a:ext cx="55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377" name="Text Box 117"/>
            <p:cNvSpPr txBox="1"/>
            <p:nvPr/>
          </p:nvSpPr>
          <p:spPr>
            <a:xfrm>
              <a:off x="4269" y="2114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378" name="Text Box 118"/>
            <p:cNvSpPr txBox="1"/>
            <p:nvPr/>
          </p:nvSpPr>
          <p:spPr>
            <a:xfrm>
              <a:off x="4269" y="2558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379" name="Text Box 119"/>
            <p:cNvSpPr txBox="1"/>
            <p:nvPr/>
          </p:nvSpPr>
          <p:spPr>
            <a:xfrm>
              <a:off x="4287" y="2378"/>
              <a:ext cx="30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380" name="Line 120"/>
            <p:cNvSpPr/>
            <p:nvPr/>
          </p:nvSpPr>
          <p:spPr>
            <a:xfrm>
              <a:off x="2971" y="1678"/>
              <a:ext cx="95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381" name="Line 121"/>
            <p:cNvSpPr/>
            <p:nvPr/>
          </p:nvSpPr>
          <p:spPr>
            <a:xfrm>
              <a:off x="3931" y="1678"/>
              <a:ext cx="0" cy="56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15382" name="Line 122"/>
            <p:cNvSpPr/>
            <p:nvPr/>
          </p:nvSpPr>
          <p:spPr>
            <a:xfrm>
              <a:off x="2971" y="2434"/>
              <a:ext cx="0" cy="46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15383" name="Line 123"/>
            <p:cNvSpPr/>
            <p:nvPr/>
          </p:nvSpPr>
          <p:spPr>
            <a:xfrm>
              <a:off x="2479" y="2062"/>
              <a:ext cx="0" cy="84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384" name="Text Box 124"/>
            <p:cNvSpPr txBox="1"/>
            <p:nvPr/>
          </p:nvSpPr>
          <p:spPr>
            <a:xfrm>
              <a:off x="2245" y="1979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5385" name="Text Box 125"/>
            <p:cNvSpPr txBox="1"/>
            <p:nvPr/>
          </p:nvSpPr>
          <p:spPr>
            <a:xfrm>
              <a:off x="2200" y="2478"/>
              <a:ext cx="21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5386" name="Text Box 126"/>
            <p:cNvSpPr txBox="1"/>
            <p:nvPr/>
          </p:nvSpPr>
          <p:spPr>
            <a:xfrm>
              <a:off x="2064" y="2308"/>
              <a:ext cx="27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387" name="Text Box 127"/>
            <p:cNvSpPr txBox="1"/>
            <p:nvPr/>
          </p:nvSpPr>
          <p:spPr>
            <a:xfrm>
              <a:off x="2562" y="1616"/>
              <a:ext cx="329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388" name="Text Box 128"/>
            <p:cNvSpPr txBox="1"/>
            <p:nvPr/>
          </p:nvSpPr>
          <p:spPr>
            <a:xfrm>
              <a:off x="3288" y="1253"/>
              <a:ext cx="30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389" name="Line 129"/>
            <p:cNvSpPr/>
            <p:nvPr/>
          </p:nvSpPr>
          <p:spPr>
            <a:xfrm flipH="1">
              <a:off x="4241" y="2242"/>
              <a:ext cx="14" cy="64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390" name="Text Box 130"/>
            <p:cNvSpPr txBox="1"/>
            <p:nvPr/>
          </p:nvSpPr>
          <p:spPr>
            <a:xfrm>
              <a:off x="3833" y="2341"/>
              <a:ext cx="34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5391" name="Group 131"/>
            <p:cNvGrpSpPr/>
            <p:nvPr/>
          </p:nvGrpSpPr>
          <p:grpSpPr>
            <a:xfrm>
              <a:off x="3261" y="2902"/>
              <a:ext cx="252" cy="192"/>
              <a:chOff x="1224" y="3588"/>
              <a:chExt cx="210" cy="198"/>
            </a:xfrm>
          </p:grpSpPr>
          <p:sp>
            <p:nvSpPr>
              <p:cNvPr id="15392" name="Line 132"/>
              <p:cNvSpPr/>
              <p:nvPr/>
            </p:nvSpPr>
            <p:spPr>
              <a:xfrm>
                <a:off x="1224" y="3684"/>
                <a:ext cx="210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5393" name="Line 133"/>
              <p:cNvSpPr/>
              <p:nvPr/>
            </p:nvSpPr>
            <p:spPr>
              <a:xfrm>
                <a:off x="1266" y="3738"/>
                <a:ext cx="126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5394" name="Line 134"/>
              <p:cNvSpPr/>
              <p:nvPr/>
            </p:nvSpPr>
            <p:spPr>
              <a:xfrm>
                <a:off x="1296" y="3786"/>
                <a:ext cx="54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5395" name="Line 135"/>
              <p:cNvSpPr/>
              <p:nvPr/>
            </p:nvSpPr>
            <p:spPr>
              <a:xfrm>
                <a:off x="1326" y="3588"/>
                <a:ext cx="0" cy="96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oval" w="med" len="med"/>
                <a:tailEnd type="none" w="med" len="med"/>
              </a:ln>
            </p:spPr>
          </p:sp>
        </p:grpSp>
        <p:sp>
          <p:nvSpPr>
            <p:cNvPr id="15396" name="Oval 136"/>
            <p:cNvSpPr/>
            <p:nvPr/>
          </p:nvSpPr>
          <p:spPr>
            <a:xfrm>
              <a:off x="3969" y="1979"/>
              <a:ext cx="204" cy="199"/>
            </a:xfrm>
            <a:prstGeom prst="ellipse">
              <a:avLst/>
            </a:prstGeom>
            <a:noFill/>
            <a:ln w="19050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b="0" dirty="0">
                  <a:solidFill>
                    <a:srgbClr val="00FF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2</a:t>
              </a:r>
              <a:endParaRPr lang="en-US" altLang="zh-CN" b="0" dirty="0">
                <a:solidFill>
                  <a:srgbClr val="00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5397" name="Line 137"/>
            <p:cNvSpPr/>
            <p:nvPr/>
          </p:nvSpPr>
          <p:spPr>
            <a:xfrm>
              <a:off x="3379" y="2569"/>
              <a:ext cx="0" cy="31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398" name="Rectangle 138"/>
            <p:cNvSpPr/>
            <p:nvPr/>
          </p:nvSpPr>
          <p:spPr>
            <a:xfrm>
              <a:off x="2562" y="197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5399" name="Rectangle 139"/>
            <p:cNvSpPr/>
            <p:nvPr/>
          </p:nvSpPr>
          <p:spPr>
            <a:xfrm>
              <a:off x="3243" y="161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5400" name="Rectangle 140"/>
            <p:cNvSpPr/>
            <p:nvPr/>
          </p:nvSpPr>
          <p:spPr>
            <a:xfrm>
              <a:off x="4195" y="238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5401" name="Oval 141"/>
            <p:cNvSpPr/>
            <p:nvPr/>
          </p:nvSpPr>
          <p:spPr>
            <a:xfrm>
              <a:off x="2835" y="2115"/>
              <a:ext cx="204" cy="199"/>
            </a:xfrm>
            <a:prstGeom prst="ellipse">
              <a:avLst/>
            </a:prstGeom>
            <a:noFill/>
            <a:ln w="19050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b="0" dirty="0">
                  <a:solidFill>
                    <a:srgbClr val="00FF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  <a:endParaRPr lang="en-US" altLang="zh-CN" b="0" dirty="0">
                <a:solidFill>
                  <a:srgbClr val="00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5402" name="Rectangle 142"/>
            <p:cNvSpPr/>
            <p:nvPr/>
          </p:nvSpPr>
          <p:spPr>
            <a:xfrm>
              <a:off x="3061" y="1842"/>
              <a:ext cx="658" cy="726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5403" name="Text Box 143"/>
            <p:cNvSpPr txBox="1"/>
            <p:nvPr/>
          </p:nvSpPr>
          <p:spPr>
            <a:xfrm>
              <a:off x="3105" y="1790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04" name="Text Box 144"/>
            <p:cNvSpPr txBox="1"/>
            <p:nvPr/>
          </p:nvSpPr>
          <p:spPr>
            <a:xfrm>
              <a:off x="3093" y="2258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05" name="AutoShape 145"/>
            <p:cNvSpPr/>
            <p:nvPr/>
          </p:nvSpPr>
          <p:spPr>
            <a:xfrm rot="5400000">
              <a:off x="3328" y="1894"/>
              <a:ext cx="144" cy="132"/>
            </a:xfrm>
            <a:prstGeom prst="triangle">
              <a:avLst>
                <a:gd name="adj" fmla="val 56245"/>
              </a:avLst>
            </a:prstGeom>
            <a:solidFill>
              <a:schemeClr val="bg1"/>
            </a:soli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5406" name="Text Box 146"/>
            <p:cNvSpPr txBox="1"/>
            <p:nvPr/>
          </p:nvSpPr>
          <p:spPr>
            <a:xfrm>
              <a:off x="3441" y="1814"/>
              <a:ext cx="25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07" name="Text Box 147"/>
            <p:cNvSpPr txBox="1"/>
            <p:nvPr/>
          </p:nvSpPr>
          <p:spPr>
            <a:xfrm>
              <a:off x="3501" y="2054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08" name="Line 148"/>
            <p:cNvSpPr/>
            <p:nvPr/>
          </p:nvSpPr>
          <p:spPr>
            <a:xfrm>
              <a:off x="2971" y="1678"/>
              <a:ext cx="0" cy="38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</p:grpSp>
      <p:grpSp>
        <p:nvGrpSpPr>
          <p:cNvPr id="17596" name="Group 188"/>
          <p:cNvGrpSpPr/>
          <p:nvPr/>
        </p:nvGrpSpPr>
        <p:grpSpPr>
          <a:xfrm>
            <a:off x="4246563" y="2565400"/>
            <a:ext cx="4897437" cy="3616325"/>
            <a:chOff x="1066" y="1706"/>
            <a:chExt cx="3085" cy="2278"/>
          </a:xfrm>
        </p:grpSpPr>
        <p:sp>
          <p:nvSpPr>
            <p:cNvPr id="15410" name="Oval 189"/>
            <p:cNvSpPr/>
            <p:nvPr/>
          </p:nvSpPr>
          <p:spPr>
            <a:xfrm>
              <a:off x="3243" y="2160"/>
              <a:ext cx="204" cy="199"/>
            </a:xfrm>
            <a:prstGeom prst="ellipse">
              <a:avLst/>
            </a:prstGeom>
            <a:noFill/>
            <a:ln w="19050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b="0" dirty="0">
                  <a:solidFill>
                    <a:srgbClr val="00FF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2</a:t>
              </a:r>
              <a:endParaRPr lang="en-US" altLang="zh-CN" b="0" dirty="0">
                <a:solidFill>
                  <a:srgbClr val="00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5411" name="Oval 190"/>
            <p:cNvSpPr/>
            <p:nvPr/>
          </p:nvSpPr>
          <p:spPr>
            <a:xfrm>
              <a:off x="1837" y="2115"/>
              <a:ext cx="204" cy="199"/>
            </a:xfrm>
            <a:prstGeom prst="ellipse">
              <a:avLst/>
            </a:prstGeom>
            <a:noFill/>
            <a:ln w="19050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b="0" dirty="0">
                  <a:solidFill>
                    <a:srgbClr val="00FF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  <a:endParaRPr lang="en-US" altLang="zh-CN" b="0" dirty="0">
                <a:solidFill>
                  <a:srgbClr val="00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5412" name="Oval 191"/>
            <p:cNvSpPr/>
            <p:nvPr/>
          </p:nvSpPr>
          <p:spPr>
            <a:xfrm>
              <a:off x="1338" y="2659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5413" name="AutoShape 192"/>
            <p:cNvSpPr/>
            <p:nvPr/>
          </p:nvSpPr>
          <p:spPr>
            <a:xfrm rot="5400000">
              <a:off x="2675" y="2905"/>
              <a:ext cx="407" cy="364"/>
            </a:xfrm>
            <a:prstGeom prst="flowChartSort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5414" name="Line 193"/>
            <p:cNvSpPr/>
            <p:nvPr/>
          </p:nvSpPr>
          <p:spPr>
            <a:xfrm flipV="1">
              <a:off x="1520" y="2409"/>
              <a:ext cx="0" cy="106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15" name="Text Box 194"/>
            <p:cNvSpPr txBox="1"/>
            <p:nvPr/>
          </p:nvSpPr>
          <p:spPr>
            <a:xfrm>
              <a:off x="1655" y="2432"/>
              <a:ext cx="329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16" name="Text Box 195"/>
            <p:cNvSpPr txBox="1"/>
            <p:nvPr/>
          </p:nvSpPr>
          <p:spPr>
            <a:xfrm>
              <a:off x="2336" y="2568"/>
              <a:ext cx="29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17" name="Text Box 196"/>
            <p:cNvSpPr txBox="1"/>
            <p:nvPr/>
          </p:nvSpPr>
          <p:spPr>
            <a:xfrm>
              <a:off x="2609" y="1706"/>
              <a:ext cx="30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18" name="Text Box 197"/>
            <p:cNvSpPr txBox="1"/>
            <p:nvPr/>
          </p:nvSpPr>
          <p:spPr>
            <a:xfrm>
              <a:off x="2563" y="2432"/>
              <a:ext cx="329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19" name="Text Box 198"/>
            <p:cNvSpPr txBox="1"/>
            <p:nvPr/>
          </p:nvSpPr>
          <p:spPr>
            <a:xfrm>
              <a:off x="2291" y="2976"/>
              <a:ext cx="51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n1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20" name="Text Box 199"/>
            <p:cNvSpPr txBox="1"/>
            <p:nvPr/>
          </p:nvSpPr>
          <p:spPr>
            <a:xfrm>
              <a:off x="2563" y="2749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5421" name="Text Box 200"/>
            <p:cNvSpPr txBox="1"/>
            <p:nvPr/>
          </p:nvSpPr>
          <p:spPr>
            <a:xfrm>
              <a:off x="2563" y="3067"/>
              <a:ext cx="21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endParaRPr lang="zh-CN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5422" name="Text Box 201"/>
            <p:cNvSpPr txBox="1"/>
            <p:nvPr/>
          </p:nvSpPr>
          <p:spPr>
            <a:xfrm>
              <a:off x="3801" y="2387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23" name="Text Box 202"/>
            <p:cNvSpPr txBox="1"/>
            <p:nvPr/>
          </p:nvSpPr>
          <p:spPr>
            <a:xfrm>
              <a:off x="3801" y="2931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24" name="Text Box 203"/>
            <p:cNvSpPr txBox="1"/>
            <p:nvPr/>
          </p:nvSpPr>
          <p:spPr>
            <a:xfrm>
              <a:off x="3847" y="2659"/>
              <a:ext cx="30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25" name="Text Box 204"/>
            <p:cNvSpPr txBox="1"/>
            <p:nvPr/>
          </p:nvSpPr>
          <p:spPr>
            <a:xfrm>
              <a:off x="3393" y="2659"/>
              <a:ext cx="34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26" name="Line 205"/>
            <p:cNvSpPr/>
            <p:nvPr/>
          </p:nvSpPr>
          <p:spPr>
            <a:xfrm>
              <a:off x="2881" y="2387"/>
              <a:ext cx="90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27" name="Line 206"/>
            <p:cNvSpPr/>
            <p:nvPr/>
          </p:nvSpPr>
          <p:spPr>
            <a:xfrm>
              <a:off x="3788" y="2387"/>
              <a:ext cx="0" cy="108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28" name="Line 207"/>
            <p:cNvSpPr/>
            <p:nvPr/>
          </p:nvSpPr>
          <p:spPr>
            <a:xfrm flipV="1">
              <a:off x="2064" y="2114"/>
              <a:ext cx="0" cy="27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15429" name="Line 208"/>
            <p:cNvSpPr/>
            <p:nvPr/>
          </p:nvSpPr>
          <p:spPr>
            <a:xfrm>
              <a:off x="2064" y="2114"/>
              <a:ext cx="113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30" name="Line 209"/>
            <p:cNvSpPr/>
            <p:nvPr/>
          </p:nvSpPr>
          <p:spPr>
            <a:xfrm>
              <a:off x="3198" y="2114"/>
              <a:ext cx="0" cy="27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sm" len="sm"/>
              <a:tailEnd type="oval" w="med" len="med"/>
            </a:ln>
          </p:spPr>
        </p:sp>
        <p:sp>
          <p:nvSpPr>
            <p:cNvPr id="15431" name="Rectangle 210"/>
            <p:cNvSpPr/>
            <p:nvPr/>
          </p:nvSpPr>
          <p:spPr>
            <a:xfrm>
              <a:off x="2155" y="2296"/>
              <a:ext cx="998" cy="1218"/>
            </a:xfrm>
            <a:prstGeom prst="rect">
              <a:avLst/>
            </a:prstGeom>
            <a:noFill/>
            <a:ln w="28575" cap="flat" cmpd="sng">
              <a:solidFill>
                <a:srgbClr val="66FFFF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5432" name="Text Box 211"/>
            <p:cNvSpPr txBox="1"/>
            <p:nvPr/>
          </p:nvSpPr>
          <p:spPr>
            <a:xfrm>
              <a:off x="1656" y="3657"/>
              <a:ext cx="195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运放等效电路</a:t>
              </a:r>
              <a:endPara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15433" name="Group 212"/>
            <p:cNvGrpSpPr/>
            <p:nvPr/>
          </p:nvGrpSpPr>
          <p:grpSpPr>
            <a:xfrm>
              <a:off x="2382" y="3465"/>
              <a:ext cx="252" cy="192"/>
              <a:chOff x="1224" y="3588"/>
              <a:chExt cx="210" cy="198"/>
            </a:xfrm>
          </p:grpSpPr>
          <p:sp>
            <p:nvSpPr>
              <p:cNvPr id="15434" name="Line 213"/>
              <p:cNvSpPr/>
              <p:nvPr/>
            </p:nvSpPr>
            <p:spPr>
              <a:xfrm>
                <a:off x="1224" y="3684"/>
                <a:ext cx="210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5435" name="Line 214"/>
              <p:cNvSpPr/>
              <p:nvPr/>
            </p:nvSpPr>
            <p:spPr>
              <a:xfrm>
                <a:off x="1266" y="3738"/>
                <a:ext cx="126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5436" name="Line 215"/>
              <p:cNvSpPr/>
              <p:nvPr/>
            </p:nvSpPr>
            <p:spPr>
              <a:xfrm>
                <a:off x="1296" y="3786"/>
                <a:ext cx="54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5437" name="Line 216"/>
              <p:cNvSpPr/>
              <p:nvPr/>
            </p:nvSpPr>
            <p:spPr>
              <a:xfrm>
                <a:off x="1326" y="3588"/>
                <a:ext cx="0" cy="96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oval" w="med" len="med"/>
                <a:tailEnd type="none" w="med" len="med"/>
              </a:ln>
            </p:spPr>
          </p:sp>
        </p:grpSp>
        <p:sp>
          <p:nvSpPr>
            <p:cNvPr id="15438" name="Line 217"/>
            <p:cNvSpPr/>
            <p:nvPr/>
          </p:nvSpPr>
          <p:spPr>
            <a:xfrm>
              <a:off x="1520" y="3465"/>
              <a:ext cx="226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39" name="Text Box 218"/>
            <p:cNvSpPr txBox="1"/>
            <p:nvPr/>
          </p:nvSpPr>
          <p:spPr>
            <a:xfrm>
              <a:off x="1248" y="2296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5440" name="Text Box 219"/>
            <p:cNvSpPr txBox="1"/>
            <p:nvPr/>
          </p:nvSpPr>
          <p:spPr>
            <a:xfrm>
              <a:off x="1248" y="2886"/>
              <a:ext cx="21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5441" name="Text Box 220"/>
            <p:cNvSpPr txBox="1"/>
            <p:nvPr/>
          </p:nvSpPr>
          <p:spPr>
            <a:xfrm>
              <a:off x="1066" y="2659"/>
              <a:ext cx="27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42" name="Line 221"/>
            <p:cNvSpPr/>
            <p:nvPr/>
          </p:nvSpPr>
          <p:spPr>
            <a:xfrm>
              <a:off x="2291" y="2387"/>
              <a:ext cx="0" cy="108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15443" name="Line 222"/>
            <p:cNvSpPr/>
            <p:nvPr/>
          </p:nvSpPr>
          <p:spPr>
            <a:xfrm>
              <a:off x="2881" y="2387"/>
              <a:ext cx="0" cy="108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15444" name="Line 223"/>
            <p:cNvSpPr/>
            <p:nvPr/>
          </p:nvSpPr>
          <p:spPr>
            <a:xfrm>
              <a:off x="1520" y="2387"/>
              <a:ext cx="77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445" name="Rectangle 224"/>
            <p:cNvSpPr/>
            <p:nvPr/>
          </p:nvSpPr>
          <p:spPr>
            <a:xfrm>
              <a:off x="1656" y="2341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5446" name="Rectangle 225"/>
            <p:cNvSpPr/>
            <p:nvPr/>
          </p:nvSpPr>
          <p:spPr>
            <a:xfrm>
              <a:off x="2609" y="202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5447" name="Rectangle 226"/>
            <p:cNvSpPr/>
            <p:nvPr/>
          </p:nvSpPr>
          <p:spPr>
            <a:xfrm>
              <a:off x="2836" y="247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5448" name="Rectangle 227"/>
            <p:cNvSpPr/>
            <p:nvPr/>
          </p:nvSpPr>
          <p:spPr>
            <a:xfrm>
              <a:off x="3711" y="265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5449" name="Rectangle 228"/>
            <p:cNvSpPr/>
            <p:nvPr/>
          </p:nvSpPr>
          <p:spPr>
            <a:xfrm>
              <a:off x="2200" y="265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</p:grpSp>
      <p:grpSp>
        <p:nvGrpSpPr>
          <p:cNvPr id="15450" name="Group 232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15451" name="Picture 233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452" name="Text Box 234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7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/>
      <p:bldP spid="17411" grpId="0" animBg="1"/>
      <p:bldP spid="17412" grpId="0"/>
      <p:bldP spid="174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436" name="Text Box 52"/>
          <p:cNvSpPr txBox="1"/>
          <p:nvPr/>
        </p:nvSpPr>
        <p:spPr>
          <a:xfrm>
            <a:off x="2916238" y="549275"/>
            <a:ext cx="5616575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2381250" indent="-2381250" algn="just">
              <a:spcBef>
                <a:spcPct val="50000"/>
              </a:spcBef>
            </a:pPr>
            <a:r>
              <a:rPr lang="zh-CN" altLang="en-US" sz="2800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用结点法分析：</a:t>
            </a:r>
            <a:r>
              <a:rPr lang="en-US" altLang="zh-CN" sz="2800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800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电阻用电导表示</a:t>
            </a:r>
            <a:r>
              <a:rPr lang="en-US" altLang="zh-CN" sz="2800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endParaRPr lang="en-US" altLang="zh-CN" sz="2800" dirty="0">
              <a:solidFill>
                <a:srgbClr val="FF99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437" name="Text Box 53"/>
          <p:cNvSpPr txBox="1"/>
          <p:nvPr/>
        </p:nvSpPr>
        <p:spPr>
          <a:xfrm>
            <a:off x="539750" y="1052513"/>
            <a:ext cx="424815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n1</a:t>
            </a:r>
            <a:r>
              <a:rPr lang="en-US" altLang="zh-CN" sz="28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 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n2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lang="en-US" altLang="zh-CN" sz="28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438" name="Text Box 54"/>
          <p:cNvSpPr txBox="1"/>
          <p:nvPr/>
        </p:nvSpPr>
        <p:spPr>
          <a:xfrm>
            <a:off x="468313" y="1557338"/>
            <a:ext cx="4319587" cy="946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0" i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 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n1</a:t>
            </a:r>
            <a:r>
              <a:rPr lang="zh-CN" altLang="en-US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n2</a:t>
            </a:r>
            <a:r>
              <a:rPr lang="en-US" altLang="zh-CN" sz="28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			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Au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2800" b="0" baseline="-250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439" name="Text Box 55"/>
          <p:cNvSpPr txBox="1"/>
          <p:nvPr/>
        </p:nvSpPr>
        <p:spPr>
          <a:xfrm>
            <a:off x="539750" y="2420938"/>
            <a:ext cx="13335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n1</a:t>
            </a:r>
            <a:endParaRPr lang="en-US" altLang="zh-CN" sz="28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440" name="AutoShape 56"/>
          <p:cNvSpPr/>
          <p:nvPr/>
        </p:nvSpPr>
        <p:spPr>
          <a:xfrm>
            <a:off x="323850" y="1196975"/>
            <a:ext cx="147638" cy="1679575"/>
          </a:xfrm>
          <a:prstGeom prst="leftBrace">
            <a:avLst>
              <a:gd name="adj1" fmla="val 94697"/>
              <a:gd name="adj2" fmla="val 50000"/>
            </a:avLst>
          </a:prstGeom>
          <a:noFill/>
          <a:ln w="2857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16441" name="Text Box 57"/>
          <p:cNvSpPr txBox="1"/>
          <p:nvPr/>
        </p:nvSpPr>
        <p:spPr>
          <a:xfrm>
            <a:off x="539750" y="2997200"/>
            <a:ext cx="2519363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整理，得：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6442" name="Text Box 58"/>
          <p:cNvSpPr txBox="1"/>
          <p:nvPr/>
        </p:nvSpPr>
        <p:spPr>
          <a:xfrm>
            <a:off x="900113" y="3500438"/>
            <a:ext cx="398145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n1</a:t>
            </a:r>
            <a:r>
              <a:rPr lang="en-US" altLang="zh-CN" sz="28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n2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lang="en-US" altLang="zh-CN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443" name="Text Box 59"/>
          <p:cNvSpPr txBox="1"/>
          <p:nvPr/>
        </p:nvSpPr>
        <p:spPr>
          <a:xfrm>
            <a:off x="755650" y="4149725"/>
            <a:ext cx="5945188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800" b="0" i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 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n1</a:t>
            </a:r>
            <a:r>
              <a:rPr lang="zh-CN" altLang="en-US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＋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n2</a:t>
            </a:r>
            <a:r>
              <a:rPr lang="en-US" altLang="zh-CN" sz="28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  <a:endParaRPr lang="en-US" altLang="zh-CN" sz="2800" b="0" baseline="-250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444" name="AutoShape 60"/>
          <p:cNvSpPr/>
          <p:nvPr/>
        </p:nvSpPr>
        <p:spPr>
          <a:xfrm>
            <a:off x="755650" y="3573463"/>
            <a:ext cx="144463" cy="993775"/>
          </a:xfrm>
          <a:prstGeom prst="leftBrace">
            <a:avLst>
              <a:gd name="adj1" fmla="val 57262"/>
              <a:gd name="adj2" fmla="val 50000"/>
            </a:avLst>
          </a:prstGeom>
          <a:noFill/>
          <a:ln w="2857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仿宋_GB2312" pitchFamily="49" charset="-122"/>
            </a:endParaRPr>
          </a:p>
        </p:txBody>
      </p:sp>
      <p:sp>
        <p:nvSpPr>
          <p:cNvPr id="16445" name="Text Box 61"/>
          <p:cNvSpPr txBox="1"/>
          <p:nvPr/>
        </p:nvSpPr>
        <p:spPr>
          <a:xfrm>
            <a:off x="684213" y="4797425"/>
            <a:ext cx="1655762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解得：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6446" name="Object 62"/>
          <p:cNvGraphicFramePr>
            <a:graphicFrameLocks noChangeAspect="1"/>
          </p:cNvGraphicFramePr>
          <p:nvPr/>
        </p:nvGraphicFramePr>
        <p:xfrm>
          <a:off x="611188" y="5229225"/>
          <a:ext cx="7848600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4097655" imgH="451485" progId="Equation.3">
                  <p:embed/>
                </p:oleObj>
              </mc:Choice>
              <mc:Fallback>
                <p:oleObj name="" r:id="rId1" imgW="4097655" imgH="451485" progId="Equation.3">
                  <p:embed/>
                  <p:pic>
                    <p:nvPicPr>
                      <p:cNvPr id="0" name="20 307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1188" y="5229225"/>
                        <a:ext cx="7848600" cy="1098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396" name="Group 11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6397" name="Picture 117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398" name="Text Box 11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6399" name="Group 119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6400" name="Picture 120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401" name="Text Box 121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6550" name="Group 166"/>
          <p:cNvGrpSpPr/>
          <p:nvPr/>
        </p:nvGrpSpPr>
        <p:grpSpPr>
          <a:xfrm>
            <a:off x="4067175" y="908050"/>
            <a:ext cx="4897438" cy="3097213"/>
            <a:chOff x="2562" y="482"/>
            <a:chExt cx="3085" cy="1951"/>
          </a:xfrm>
        </p:grpSpPr>
        <p:sp>
          <p:nvSpPr>
            <p:cNvPr id="16403" name="Oval 126"/>
            <p:cNvSpPr/>
            <p:nvPr/>
          </p:nvSpPr>
          <p:spPr>
            <a:xfrm>
              <a:off x="4739" y="936"/>
              <a:ext cx="204" cy="199"/>
            </a:xfrm>
            <a:prstGeom prst="ellipse">
              <a:avLst/>
            </a:prstGeom>
            <a:noFill/>
            <a:ln w="19050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b="0" dirty="0">
                  <a:solidFill>
                    <a:srgbClr val="00FF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2</a:t>
              </a:r>
              <a:endParaRPr lang="en-US" altLang="zh-CN" b="0" dirty="0">
                <a:solidFill>
                  <a:srgbClr val="00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6404" name="Oval 127"/>
            <p:cNvSpPr/>
            <p:nvPr/>
          </p:nvSpPr>
          <p:spPr>
            <a:xfrm>
              <a:off x="3333" y="891"/>
              <a:ext cx="204" cy="199"/>
            </a:xfrm>
            <a:prstGeom prst="ellipse">
              <a:avLst/>
            </a:prstGeom>
            <a:noFill/>
            <a:ln w="19050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b="0" dirty="0">
                  <a:solidFill>
                    <a:srgbClr val="00FF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  <a:endParaRPr lang="en-US" altLang="zh-CN" b="0" dirty="0">
                <a:solidFill>
                  <a:srgbClr val="00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6405" name="Oval 128"/>
            <p:cNvSpPr/>
            <p:nvPr/>
          </p:nvSpPr>
          <p:spPr>
            <a:xfrm>
              <a:off x="2834" y="143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6406" name="AutoShape 129"/>
            <p:cNvSpPr/>
            <p:nvPr/>
          </p:nvSpPr>
          <p:spPr>
            <a:xfrm rot="5400000">
              <a:off x="4171" y="1681"/>
              <a:ext cx="407" cy="364"/>
            </a:xfrm>
            <a:prstGeom prst="flowChartSort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6407" name="Line 130"/>
            <p:cNvSpPr/>
            <p:nvPr/>
          </p:nvSpPr>
          <p:spPr>
            <a:xfrm flipV="1">
              <a:off x="3016" y="1185"/>
              <a:ext cx="0" cy="106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408" name="Text Box 131"/>
            <p:cNvSpPr txBox="1"/>
            <p:nvPr/>
          </p:nvSpPr>
          <p:spPr>
            <a:xfrm>
              <a:off x="3151" y="1208"/>
              <a:ext cx="329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09" name="Text Box 132"/>
            <p:cNvSpPr txBox="1"/>
            <p:nvPr/>
          </p:nvSpPr>
          <p:spPr>
            <a:xfrm>
              <a:off x="3832" y="1344"/>
              <a:ext cx="29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10" name="Text Box 133"/>
            <p:cNvSpPr txBox="1"/>
            <p:nvPr/>
          </p:nvSpPr>
          <p:spPr>
            <a:xfrm>
              <a:off x="4105" y="482"/>
              <a:ext cx="30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11" name="Text Box 134"/>
            <p:cNvSpPr txBox="1"/>
            <p:nvPr/>
          </p:nvSpPr>
          <p:spPr>
            <a:xfrm>
              <a:off x="4059" y="1208"/>
              <a:ext cx="329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12" name="Text Box 135"/>
            <p:cNvSpPr txBox="1"/>
            <p:nvPr/>
          </p:nvSpPr>
          <p:spPr>
            <a:xfrm>
              <a:off x="3787" y="1752"/>
              <a:ext cx="44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13" name="Text Box 136"/>
            <p:cNvSpPr txBox="1"/>
            <p:nvPr/>
          </p:nvSpPr>
          <p:spPr>
            <a:xfrm>
              <a:off x="4059" y="1525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6414" name="Text Box 137"/>
            <p:cNvSpPr txBox="1"/>
            <p:nvPr/>
          </p:nvSpPr>
          <p:spPr>
            <a:xfrm>
              <a:off x="4059" y="1843"/>
              <a:ext cx="21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6415" name="Text Box 138"/>
            <p:cNvSpPr txBox="1"/>
            <p:nvPr/>
          </p:nvSpPr>
          <p:spPr>
            <a:xfrm>
              <a:off x="5297" y="1163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16" name="Text Box 139"/>
            <p:cNvSpPr txBox="1"/>
            <p:nvPr/>
          </p:nvSpPr>
          <p:spPr>
            <a:xfrm>
              <a:off x="5297" y="1707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17" name="Text Box 140"/>
            <p:cNvSpPr txBox="1"/>
            <p:nvPr/>
          </p:nvSpPr>
          <p:spPr>
            <a:xfrm>
              <a:off x="5343" y="1435"/>
              <a:ext cx="30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18" name="Text Box 141"/>
            <p:cNvSpPr txBox="1"/>
            <p:nvPr/>
          </p:nvSpPr>
          <p:spPr>
            <a:xfrm>
              <a:off x="4889" y="1435"/>
              <a:ext cx="34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19" name="Line 142"/>
            <p:cNvSpPr/>
            <p:nvPr/>
          </p:nvSpPr>
          <p:spPr>
            <a:xfrm>
              <a:off x="4377" y="1163"/>
              <a:ext cx="90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420" name="Line 143"/>
            <p:cNvSpPr/>
            <p:nvPr/>
          </p:nvSpPr>
          <p:spPr>
            <a:xfrm>
              <a:off x="5284" y="1163"/>
              <a:ext cx="0" cy="108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421" name="Line 144"/>
            <p:cNvSpPr/>
            <p:nvPr/>
          </p:nvSpPr>
          <p:spPr>
            <a:xfrm flipV="1">
              <a:off x="3560" y="890"/>
              <a:ext cx="0" cy="27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16422" name="Line 145"/>
            <p:cNvSpPr/>
            <p:nvPr/>
          </p:nvSpPr>
          <p:spPr>
            <a:xfrm>
              <a:off x="3560" y="890"/>
              <a:ext cx="113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423" name="Line 146"/>
            <p:cNvSpPr/>
            <p:nvPr/>
          </p:nvSpPr>
          <p:spPr>
            <a:xfrm>
              <a:off x="4694" y="890"/>
              <a:ext cx="0" cy="27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sm" len="sm"/>
              <a:tailEnd type="oval" w="med" len="med"/>
            </a:ln>
          </p:spPr>
        </p:sp>
        <p:sp>
          <p:nvSpPr>
            <p:cNvPr id="16424" name="Rectangle 147"/>
            <p:cNvSpPr/>
            <p:nvPr/>
          </p:nvSpPr>
          <p:spPr>
            <a:xfrm>
              <a:off x="3651" y="1072"/>
              <a:ext cx="998" cy="1218"/>
            </a:xfrm>
            <a:prstGeom prst="rect">
              <a:avLst/>
            </a:prstGeom>
            <a:noFill/>
            <a:ln w="28575" cap="flat" cmpd="sng">
              <a:solidFill>
                <a:srgbClr val="66FFFF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grpSp>
          <p:nvGrpSpPr>
            <p:cNvPr id="16425" name="Group 149"/>
            <p:cNvGrpSpPr/>
            <p:nvPr/>
          </p:nvGrpSpPr>
          <p:grpSpPr>
            <a:xfrm>
              <a:off x="3878" y="2241"/>
              <a:ext cx="252" cy="192"/>
              <a:chOff x="1224" y="3588"/>
              <a:chExt cx="210" cy="198"/>
            </a:xfrm>
          </p:grpSpPr>
          <p:sp>
            <p:nvSpPr>
              <p:cNvPr id="16426" name="Line 150"/>
              <p:cNvSpPr/>
              <p:nvPr/>
            </p:nvSpPr>
            <p:spPr>
              <a:xfrm>
                <a:off x="1224" y="3684"/>
                <a:ext cx="210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27" name="Line 151"/>
              <p:cNvSpPr/>
              <p:nvPr/>
            </p:nvSpPr>
            <p:spPr>
              <a:xfrm>
                <a:off x="1266" y="3738"/>
                <a:ext cx="126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28" name="Line 152"/>
              <p:cNvSpPr/>
              <p:nvPr/>
            </p:nvSpPr>
            <p:spPr>
              <a:xfrm>
                <a:off x="1296" y="3786"/>
                <a:ext cx="54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29" name="Line 153"/>
              <p:cNvSpPr/>
              <p:nvPr/>
            </p:nvSpPr>
            <p:spPr>
              <a:xfrm>
                <a:off x="1326" y="3588"/>
                <a:ext cx="0" cy="96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oval" w="med" len="med"/>
                <a:tailEnd type="none" w="med" len="med"/>
              </a:ln>
            </p:spPr>
          </p:sp>
        </p:grpSp>
        <p:sp>
          <p:nvSpPr>
            <p:cNvPr id="16430" name="Line 154"/>
            <p:cNvSpPr/>
            <p:nvPr/>
          </p:nvSpPr>
          <p:spPr>
            <a:xfrm>
              <a:off x="3016" y="2241"/>
              <a:ext cx="226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431" name="Text Box 155"/>
            <p:cNvSpPr txBox="1"/>
            <p:nvPr/>
          </p:nvSpPr>
          <p:spPr>
            <a:xfrm>
              <a:off x="2744" y="1072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6432" name="Text Box 156"/>
            <p:cNvSpPr txBox="1"/>
            <p:nvPr/>
          </p:nvSpPr>
          <p:spPr>
            <a:xfrm>
              <a:off x="2744" y="1662"/>
              <a:ext cx="21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6433" name="Text Box 157"/>
            <p:cNvSpPr txBox="1"/>
            <p:nvPr/>
          </p:nvSpPr>
          <p:spPr>
            <a:xfrm>
              <a:off x="2562" y="1435"/>
              <a:ext cx="27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34" name="Line 158"/>
            <p:cNvSpPr/>
            <p:nvPr/>
          </p:nvSpPr>
          <p:spPr>
            <a:xfrm>
              <a:off x="3787" y="1163"/>
              <a:ext cx="0" cy="108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16435" name="Line 159"/>
            <p:cNvSpPr/>
            <p:nvPr/>
          </p:nvSpPr>
          <p:spPr>
            <a:xfrm>
              <a:off x="4377" y="1163"/>
              <a:ext cx="0" cy="108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2" name="Line 160"/>
            <p:cNvSpPr/>
            <p:nvPr/>
          </p:nvSpPr>
          <p:spPr>
            <a:xfrm>
              <a:off x="3016" y="1163"/>
              <a:ext cx="77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" name="Rectangle 161"/>
            <p:cNvSpPr/>
            <p:nvPr/>
          </p:nvSpPr>
          <p:spPr>
            <a:xfrm>
              <a:off x="3152" y="1117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4" name="Rectangle 162"/>
            <p:cNvSpPr/>
            <p:nvPr/>
          </p:nvSpPr>
          <p:spPr>
            <a:xfrm>
              <a:off x="4105" y="800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" name="Rectangle 163"/>
            <p:cNvSpPr/>
            <p:nvPr/>
          </p:nvSpPr>
          <p:spPr>
            <a:xfrm>
              <a:off x="4332" y="125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" name="Rectangle 164"/>
            <p:cNvSpPr/>
            <p:nvPr/>
          </p:nvSpPr>
          <p:spPr>
            <a:xfrm>
              <a:off x="5207" y="143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7" name="Rectangle 165"/>
            <p:cNvSpPr/>
            <p:nvPr/>
          </p:nvSpPr>
          <p:spPr>
            <a:xfrm>
              <a:off x="3696" y="143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</p:grpSp>
      <p:sp>
        <p:nvSpPr>
          <p:cNvPr id="16551" name="Text Box 167"/>
          <p:cNvSpPr txBox="1"/>
          <p:nvPr/>
        </p:nvSpPr>
        <p:spPr>
          <a:xfrm>
            <a:off x="395288" y="476250"/>
            <a:ext cx="3671887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2. 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电路分析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8" name="Group 171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9" name="Picture 172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" name="Text Box 173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5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5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16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0"/>
                                        <p:tgtEl>
                                          <p:spTgt spid="16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16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0"/>
                                        <p:tgtEl>
                                          <p:spTgt spid="16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6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6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3000"/>
                                        <p:tgtEl>
                                          <p:spTgt spid="16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3000"/>
                                        <p:tgtEl>
                                          <p:spTgt spid="16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5" dur="500"/>
                                        <p:tgtEl>
                                          <p:spTgt spid="16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3000"/>
                                        <p:tgtEl>
                                          <p:spTgt spid="16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36" grpId="0"/>
      <p:bldP spid="16437" grpId="0"/>
      <p:bldP spid="16438" grpId="0"/>
      <p:bldP spid="16439" grpId="0"/>
      <p:bldP spid="16440" grpId="0" animBg="1"/>
      <p:bldP spid="16441" grpId="0"/>
      <p:bldP spid="16442" grpId="0"/>
      <p:bldP spid="16443" grpId="0"/>
      <p:bldP spid="16444" grpId="0" animBg="1"/>
      <p:bldP spid="16445" grpId="0"/>
      <p:bldP spid="1655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5362" name="Object 2"/>
          <p:cNvGraphicFramePr>
            <a:graphicFrameLocks noChangeAspect="1"/>
          </p:cNvGraphicFramePr>
          <p:nvPr/>
        </p:nvGraphicFramePr>
        <p:xfrm>
          <a:off x="468313" y="476250"/>
          <a:ext cx="8280400" cy="124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3981450" imgH="451485" progId="Equation.3">
                  <p:embed/>
                </p:oleObj>
              </mc:Choice>
              <mc:Fallback>
                <p:oleObj name="" r:id="rId1" imgW="3981450" imgH="451485" progId="Equation.3">
                  <p:embed/>
                  <p:pic>
                    <p:nvPicPr>
                      <p:cNvPr id="0" name="20 307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8313" y="476250"/>
                        <a:ext cx="8280400" cy="1241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3" name="Text Box 3"/>
          <p:cNvSpPr txBox="1"/>
          <p:nvPr/>
        </p:nvSpPr>
        <p:spPr>
          <a:xfrm>
            <a:off x="395288" y="1628775"/>
            <a:ext cx="8424862" cy="1117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indent="571500" algn="just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因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一般很大，上式分母中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(A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o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-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一项的值比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+ 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+ 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) (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+ 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+ 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要大得多。所以</a:t>
            </a:r>
            <a:endParaRPr lang="zh-CN" altLang="en-US" sz="2800" dirty="0">
              <a:solidFill>
                <a:srgbClr val="FFFF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5364" name="Object 4"/>
          <p:cNvGraphicFramePr>
            <a:graphicFrameLocks noChangeAspect="1"/>
          </p:cNvGraphicFramePr>
          <p:nvPr/>
        </p:nvGraphicFramePr>
        <p:xfrm>
          <a:off x="2124075" y="2781300"/>
          <a:ext cx="3413125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" imgW="1319530" imgH="451485" progId="Equation.3">
                  <p:embed/>
                </p:oleObj>
              </mc:Choice>
              <mc:Fallback>
                <p:oleObj name="" r:id="rId3" imgW="1319530" imgH="451485" progId="Equation.3">
                  <p:embed/>
                  <p:pic>
                    <p:nvPicPr>
                      <p:cNvPr id="0" name="20 307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24075" y="2781300"/>
                        <a:ext cx="3413125" cy="1165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6" name="Text Box 6"/>
          <p:cNvSpPr txBox="1"/>
          <p:nvPr/>
        </p:nvSpPr>
        <p:spPr>
          <a:xfrm>
            <a:off x="323850" y="4292600"/>
            <a:ext cx="8569325" cy="16303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indent="571500" algn="just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o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/ 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en-US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只取决于反馈电阻</a:t>
            </a:r>
            <a:r>
              <a:rPr lang="en-US" altLang="zh-CN" sz="2800" b="0" i="1" dirty="0">
                <a:solidFill>
                  <a:srgbClr val="FFFF66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sz="2800" b="0" i="1" baseline="-25000" dirty="0">
                <a:solidFill>
                  <a:srgbClr val="FFFF66"/>
                </a:solidFill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lang="zh-CN" altLang="en-US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与</a:t>
            </a:r>
            <a:r>
              <a:rPr lang="en-US" altLang="zh-CN" sz="2800" b="0" i="1" dirty="0">
                <a:solidFill>
                  <a:srgbClr val="FFFF66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sz="2800" b="0" baseline="-25000" dirty="0">
                <a:solidFill>
                  <a:srgbClr val="FFFF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比值，而与放大器本身的参数无关。负号表明</a:t>
            </a:r>
            <a:r>
              <a:rPr lang="en-US" altLang="zh-CN" sz="2800" b="0" i="1" dirty="0">
                <a:solidFill>
                  <a:srgbClr val="FFFF66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sz="2800" b="0" baseline="-25000" dirty="0">
                <a:solidFill>
                  <a:srgbClr val="FFFF66"/>
                </a:solidFill>
                <a:latin typeface="Times New Roman" panose="02020603050405020304" pitchFamily="18" charset="0"/>
                <a:ea typeface="楷体_GB2312" pitchFamily="49" charset="-122"/>
              </a:rPr>
              <a:t>o</a:t>
            </a:r>
            <a:r>
              <a:rPr lang="zh-CN" altLang="en-US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sz="2800" b="0" i="1" dirty="0">
                <a:solidFill>
                  <a:srgbClr val="FFFF66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sz="2800" b="0" baseline="-25000" dirty="0">
                <a:solidFill>
                  <a:srgbClr val="FFFF66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en-US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总是符号相反</a:t>
            </a:r>
            <a:r>
              <a:rPr lang="en-US" altLang="zh-CN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倒向比例器</a:t>
            </a:r>
            <a:r>
              <a:rPr lang="en-US" altLang="zh-CN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800" dirty="0">
              <a:solidFill>
                <a:srgbClr val="FFFF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5367" name="Line 7"/>
          <p:cNvSpPr/>
          <p:nvPr/>
        </p:nvSpPr>
        <p:spPr>
          <a:xfrm flipV="1">
            <a:off x="4427538" y="1412875"/>
            <a:ext cx="4248150" cy="1905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17414" name="Group 9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7415" name="Picture 10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416" name="Text Box 11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7417" name="Group 12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7418" name="Picture 13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419" name="Text Box 14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" name="Group 18"/>
          <p:cNvGrpSpPr/>
          <p:nvPr/>
        </p:nvGrpSpPr>
        <p:grpSpPr>
          <a:xfrm>
            <a:off x="468313" y="3644900"/>
            <a:ext cx="1644650" cy="850900"/>
            <a:chOff x="385" y="3022"/>
            <a:chExt cx="1036" cy="536"/>
          </a:xfrm>
        </p:grpSpPr>
        <p:pic>
          <p:nvPicPr>
            <p:cNvPr id="17421" name="Picture 19" descr="12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422" name="Text Box 20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表明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17423" name="Group 24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17424" name="Picture 25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425" name="Text Box 26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99"/>
                            </p:stCondLst>
                            <p:childTnLst>
                              <p:par>
                                <p:cTn id="13" presetID="17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30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/>
      <p:bldP spid="1536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84" name="Text Box 48"/>
          <p:cNvSpPr txBox="1"/>
          <p:nvPr/>
        </p:nvSpPr>
        <p:spPr>
          <a:xfrm>
            <a:off x="827088" y="1484313"/>
            <a:ext cx="381635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buAutoNum type="circleNumDbPlain"/>
            </a:pP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根据“虚短”：</a:t>
            </a:r>
            <a:endParaRPr lang="zh-CN" altLang="en-US" sz="2800" baseline="-25000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385" name="Text Box 49"/>
          <p:cNvSpPr txBox="1"/>
          <p:nvPr/>
        </p:nvSpPr>
        <p:spPr>
          <a:xfrm>
            <a:off x="827088" y="2781300"/>
            <a:ext cx="381635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buAutoNum type="circleNumDbPlain" startAt="2"/>
            </a:pP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根据“虚断”：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4386" name="Object 50"/>
          <p:cNvGraphicFramePr>
            <a:graphicFrameLocks noChangeAspect="1"/>
          </p:cNvGraphicFramePr>
          <p:nvPr/>
        </p:nvGraphicFramePr>
        <p:xfrm>
          <a:off x="5003800" y="3716338"/>
          <a:ext cx="2884488" cy="1306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1018540" imgH="462915" progId="Equation.3">
                  <p:embed/>
                </p:oleObj>
              </mc:Choice>
              <mc:Fallback>
                <p:oleObj name="" r:id="rId1" imgW="1018540" imgH="462915" progId="Equation.3">
                  <p:embed/>
                  <p:pic>
                    <p:nvPicPr>
                      <p:cNvPr id="0" name="20 307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003800" y="3716338"/>
                        <a:ext cx="2884488" cy="1306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36" name="Text Box 100"/>
          <p:cNvSpPr txBox="1"/>
          <p:nvPr/>
        </p:nvSpPr>
        <p:spPr>
          <a:xfrm>
            <a:off x="900113" y="2060575"/>
            <a:ext cx="6624637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30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30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  <a:r>
              <a:rPr lang="zh-CN" altLang="en-US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  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       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i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32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lang="en-US" altLang="zh-CN" sz="3200" b="0" baseline="-250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437" name="Text Box 101"/>
          <p:cNvSpPr txBox="1"/>
          <p:nvPr/>
        </p:nvSpPr>
        <p:spPr>
          <a:xfrm>
            <a:off x="3995738" y="2852738"/>
            <a:ext cx="252095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baseline="30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0</a:t>
            </a:r>
            <a:r>
              <a:rPr lang="zh-CN" altLang="en-US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8438" name="Group 121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8439" name="Picture 122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440" name="Text Box 123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8441" name="Group 124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8442" name="Picture 125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443" name="Text Box 126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14469" name="Text Box 133"/>
          <p:cNvSpPr txBox="1"/>
          <p:nvPr/>
        </p:nvSpPr>
        <p:spPr>
          <a:xfrm>
            <a:off x="1763713" y="549275"/>
            <a:ext cx="6911975" cy="946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以上近似结果可将运放看作理想情况而得到。由理想运放的特性：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14470" name="Group 134"/>
          <p:cNvGrpSpPr/>
          <p:nvPr/>
        </p:nvGrpSpPr>
        <p:grpSpPr>
          <a:xfrm>
            <a:off x="250825" y="476250"/>
            <a:ext cx="1644650" cy="850900"/>
            <a:chOff x="385" y="3022"/>
            <a:chExt cx="1036" cy="536"/>
          </a:xfrm>
        </p:grpSpPr>
        <p:pic>
          <p:nvPicPr>
            <p:cNvPr id="18446" name="Picture 135" descr="12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447" name="Text Box 136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200" b="0" dirty="0">
                  <a:solidFill>
                    <a:srgbClr val="CC660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注意</a:t>
              </a:r>
              <a:endParaRPr lang="zh-CN" altLang="en-US" sz="3200" b="0" dirty="0">
                <a:solidFill>
                  <a:srgbClr val="CC660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14473" name="Group 137"/>
          <p:cNvGrpSpPr/>
          <p:nvPr/>
        </p:nvGrpSpPr>
        <p:grpSpPr>
          <a:xfrm>
            <a:off x="827088" y="3284538"/>
            <a:ext cx="4011612" cy="2922587"/>
            <a:chOff x="2517" y="391"/>
            <a:chExt cx="2527" cy="1841"/>
          </a:xfrm>
        </p:grpSpPr>
        <p:grpSp>
          <p:nvGrpSpPr>
            <p:cNvPr id="18449" name="Group 138"/>
            <p:cNvGrpSpPr/>
            <p:nvPr/>
          </p:nvGrpSpPr>
          <p:grpSpPr>
            <a:xfrm>
              <a:off x="2562" y="799"/>
              <a:ext cx="459" cy="338"/>
              <a:chOff x="385" y="663"/>
              <a:chExt cx="408" cy="318"/>
            </a:xfrm>
          </p:grpSpPr>
          <p:sp>
            <p:nvSpPr>
              <p:cNvPr id="18450" name="Line 139"/>
              <p:cNvSpPr/>
              <p:nvPr/>
            </p:nvSpPr>
            <p:spPr>
              <a:xfrm>
                <a:off x="385" y="981"/>
                <a:ext cx="272" cy="0"/>
              </a:xfrm>
              <a:prstGeom prst="line">
                <a:avLst/>
              </a:prstGeom>
              <a:ln w="38100" cap="flat" cmpd="sng">
                <a:solidFill>
                  <a:srgbClr val="66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8451" name="Text Box 140"/>
              <p:cNvSpPr txBox="1"/>
              <p:nvPr/>
            </p:nvSpPr>
            <p:spPr>
              <a:xfrm>
                <a:off x="385" y="663"/>
                <a:ext cx="408" cy="3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8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仿宋_GB2312" pitchFamily="49" charset="-122"/>
                  </a:rPr>
                  <a:t>i</a:t>
                </a:r>
                <a:r>
                  <a:rPr lang="en-US" altLang="zh-CN" sz="2800" b="0" baseline="-25000" dirty="0">
                    <a:solidFill>
                      <a:schemeClr val="bg1"/>
                    </a:solidFill>
                    <a:latin typeface="Arial" panose="020B0604020202020204" pitchFamily="34" charset="0"/>
                    <a:ea typeface="仿宋_GB2312" pitchFamily="49" charset="-122"/>
                  </a:rPr>
                  <a:t>1</a:t>
                </a:r>
                <a:endParaRPr lang="en-US" altLang="zh-CN" sz="2800" b="0" baseline="-2500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</p:grpSp>
        <p:grpSp>
          <p:nvGrpSpPr>
            <p:cNvPr id="18452" name="Group 141"/>
            <p:cNvGrpSpPr/>
            <p:nvPr/>
          </p:nvGrpSpPr>
          <p:grpSpPr>
            <a:xfrm>
              <a:off x="4105" y="436"/>
              <a:ext cx="459" cy="338"/>
              <a:chOff x="385" y="663"/>
              <a:chExt cx="408" cy="318"/>
            </a:xfrm>
          </p:grpSpPr>
          <p:sp>
            <p:nvSpPr>
              <p:cNvPr id="18453" name="Line 142"/>
              <p:cNvSpPr/>
              <p:nvPr/>
            </p:nvSpPr>
            <p:spPr>
              <a:xfrm>
                <a:off x="385" y="981"/>
                <a:ext cx="272" cy="0"/>
              </a:xfrm>
              <a:prstGeom prst="line">
                <a:avLst/>
              </a:prstGeom>
              <a:ln w="38100" cap="flat" cmpd="sng">
                <a:solidFill>
                  <a:srgbClr val="66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8454" name="Text Box 143"/>
              <p:cNvSpPr txBox="1"/>
              <p:nvPr/>
            </p:nvSpPr>
            <p:spPr>
              <a:xfrm>
                <a:off x="385" y="663"/>
                <a:ext cx="408" cy="3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8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仿宋_GB2312" pitchFamily="49" charset="-122"/>
                  </a:rPr>
                  <a:t>i</a:t>
                </a:r>
                <a:r>
                  <a:rPr lang="en-US" altLang="zh-CN" sz="2800" b="0" baseline="-25000" dirty="0">
                    <a:solidFill>
                      <a:schemeClr val="bg1"/>
                    </a:solidFill>
                    <a:latin typeface="Arial" panose="020B0604020202020204" pitchFamily="34" charset="0"/>
                    <a:ea typeface="仿宋_GB2312" pitchFamily="49" charset="-122"/>
                  </a:rPr>
                  <a:t>2</a:t>
                </a:r>
                <a:endParaRPr lang="en-US" altLang="zh-CN" sz="2800" b="0" baseline="-2500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</p:grpSp>
        <p:grpSp>
          <p:nvGrpSpPr>
            <p:cNvPr id="18455" name="Group 144"/>
            <p:cNvGrpSpPr/>
            <p:nvPr/>
          </p:nvGrpSpPr>
          <p:grpSpPr>
            <a:xfrm>
              <a:off x="2517" y="391"/>
              <a:ext cx="2527" cy="1841"/>
              <a:chOff x="2064" y="1253"/>
              <a:chExt cx="2527" cy="1841"/>
            </a:xfrm>
          </p:grpSpPr>
          <p:sp>
            <p:nvSpPr>
              <p:cNvPr id="18456" name="Line 145"/>
              <p:cNvSpPr/>
              <p:nvPr/>
            </p:nvSpPr>
            <p:spPr>
              <a:xfrm flipH="1">
                <a:off x="2971" y="2434"/>
                <a:ext cx="120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8457" name="Oval 146"/>
              <p:cNvSpPr/>
              <p:nvPr/>
            </p:nvSpPr>
            <p:spPr>
              <a:xfrm>
                <a:off x="2290" y="2296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8458" name="Line 147"/>
              <p:cNvSpPr/>
              <p:nvPr/>
            </p:nvSpPr>
            <p:spPr>
              <a:xfrm flipH="1">
                <a:off x="2479" y="2060"/>
                <a:ext cx="612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8459" name="Line 148"/>
              <p:cNvSpPr/>
              <p:nvPr/>
            </p:nvSpPr>
            <p:spPr>
              <a:xfrm>
                <a:off x="2479" y="2900"/>
                <a:ext cx="1776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8460" name="Line 149"/>
              <p:cNvSpPr/>
              <p:nvPr/>
            </p:nvSpPr>
            <p:spPr>
              <a:xfrm flipV="1">
                <a:off x="3703" y="2240"/>
                <a:ext cx="552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8461" name="Text Box 150"/>
              <p:cNvSpPr txBox="1"/>
              <p:nvPr/>
            </p:nvSpPr>
            <p:spPr>
              <a:xfrm>
                <a:off x="4269" y="2114"/>
                <a:ext cx="242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462" name="Text Box 151"/>
              <p:cNvSpPr txBox="1"/>
              <p:nvPr/>
            </p:nvSpPr>
            <p:spPr>
              <a:xfrm>
                <a:off x="4269" y="2558"/>
                <a:ext cx="228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_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463" name="Text Box 152"/>
              <p:cNvSpPr txBox="1"/>
              <p:nvPr/>
            </p:nvSpPr>
            <p:spPr>
              <a:xfrm>
                <a:off x="4287" y="2378"/>
                <a:ext cx="304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lang="en-US" altLang="zh-CN" sz="2800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o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464" name="Line 153"/>
              <p:cNvSpPr/>
              <p:nvPr/>
            </p:nvSpPr>
            <p:spPr>
              <a:xfrm>
                <a:off x="2971" y="1678"/>
                <a:ext cx="954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8465" name="Line 154"/>
              <p:cNvSpPr/>
              <p:nvPr/>
            </p:nvSpPr>
            <p:spPr>
              <a:xfrm>
                <a:off x="3931" y="1678"/>
                <a:ext cx="0" cy="564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18466" name="Line 155"/>
              <p:cNvSpPr/>
              <p:nvPr/>
            </p:nvSpPr>
            <p:spPr>
              <a:xfrm>
                <a:off x="2971" y="2434"/>
                <a:ext cx="0" cy="468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18467" name="Line 156"/>
              <p:cNvSpPr/>
              <p:nvPr/>
            </p:nvSpPr>
            <p:spPr>
              <a:xfrm>
                <a:off x="2479" y="2062"/>
                <a:ext cx="0" cy="84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8468" name="Text Box 157"/>
              <p:cNvSpPr txBox="1"/>
              <p:nvPr/>
            </p:nvSpPr>
            <p:spPr>
              <a:xfrm>
                <a:off x="2245" y="1979"/>
                <a:ext cx="242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+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18469" name="Text Box 158"/>
              <p:cNvSpPr txBox="1"/>
              <p:nvPr/>
            </p:nvSpPr>
            <p:spPr>
              <a:xfrm>
                <a:off x="2200" y="2478"/>
                <a:ext cx="212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>
                  <a:spcBef>
                    <a:spcPct val="50000"/>
                  </a:spcBef>
                </a:pPr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_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18470" name="Text Box 159"/>
              <p:cNvSpPr txBox="1"/>
              <p:nvPr/>
            </p:nvSpPr>
            <p:spPr>
              <a:xfrm>
                <a:off x="2064" y="2308"/>
                <a:ext cx="270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lang="en-US" altLang="zh-CN" sz="2800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471" name="Text Box 160"/>
              <p:cNvSpPr txBox="1"/>
              <p:nvPr/>
            </p:nvSpPr>
            <p:spPr>
              <a:xfrm>
                <a:off x="2562" y="1616"/>
                <a:ext cx="329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r>
                  <a:rPr lang="en-US" altLang="zh-CN" sz="2800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472" name="Text Box 161"/>
              <p:cNvSpPr txBox="1"/>
              <p:nvPr/>
            </p:nvSpPr>
            <p:spPr>
              <a:xfrm>
                <a:off x="3288" y="1253"/>
                <a:ext cx="304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r>
                  <a:rPr lang="en-US" altLang="zh-CN" sz="2800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f</a:t>
                </a:r>
                <a:endPara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473" name="Line 162"/>
              <p:cNvSpPr/>
              <p:nvPr/>
            </p:nvSpPr>
            <p:spPr>
              <a:xfrm flipH="1">
                <a:off x="4241" y="2242"/>
                <a:ext cx="14" cy="644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8474" name="Text Box 163"/>
              <p:cNvSpPr txBox="1"/>
              <p:nvPr/>
            </p:nvSpPr>
            <p:spPr>
              <a:xfrm>
                <a:off x="3833" y="2341"/>
                <a:ext cx="346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r>
                  <a:rPr lang="en-US" altLang="zh-CN" sz="2800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L</a:t>
                </a:r>
                <a:endPara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8475" name="Group 164"/>
              <p:cNvGrpSpPr/>
              <p:nvPr/>
            </p:nvGrpSpPr>
            <p:grpSpPr>
              <a:xfrm>
                <a:off x="3261" y="2902"/>
                <a:ext cx="252" cy="192"/>
                <a:chOff x="1224" y="3588"/>
                <a:chExt cx="210" cy="198"/>
              </a:xfrm>
            </p:grpSpPr>
            <p:sp>
              <p:nvSpPr>
                <p:cNvPr id="18476" name="Line 165"/>
                <p:cNvSpPr/>
                <p:nvPr/>
              </p:nvSpPr>
              <p:spPr>
                <a:xfrm>
                  <a:off x="1224" y="3684"/>
                  <a:ext cx="210" cy="0"/>
                </a:xfrm>
                <a:prstGeom prst="line">
                  <a:avLst/>
                </a:prstGeom>
                <a:ln w="28575" cap="flat" cmpd="sng">
                  <a:solidFill>
                    <a:srgbClr val="FFCC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8477" name="Line 166"/>
                <p:cNvSpPr/>
                <p:nvPr/>
              </p:nvSpPr>
              <p:spPr>
                <a:xfrm>
                  <a:off x="1266" y="3738"/>
                  <a:ext cx="126" cy="0"/>
                </a:xfrm>
                <a:prstGeom prst="line">
                  <a:avLst/>
                </a:prstGeom>
                <a:ln w="28575" cap="flat" cmpd="sng">
                  <a:solidFill>
                    <a:srgbClr val="FFCC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8478" name="Line 167"/>
                <p:cNvSpPr/>
                <p:nvPr/>
              </p:nvSpPr>
              <p:spPr>
                <a:xfrm>
                  <a:off x="1296" y="3786"/>
                  <a:ext cx="54" cy="0"/>
                </a:xfrm>
                <a:prstGeom prst="line">
                  <a:avLst/>
                </a:prstGeom>
                <a:ln w="28575" cap="flat" cmpd="sng">
                  <a:solidFill>
                    <a:srgbClr val="FFCC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8479" name="Line 168"/>
                <p:cNvSpPr/>
                <p:nvPr/>
              </p:nvSpPr>
              <p:spPr>
                <a:xfrm>
                  <a:off x="1326" y="3588"/>
                  <a:ext cx="0" cy="96"/>
                </a:xfrm>
                <a:prstGeom prst="line">
                  <a:avLst/>
                </a:prstGeom>
                <a:ln w="28575" cap="flat" cmpd="sng">
                  <a:solidFill>
                    <a:srgbClr val="FFCC00"/>
                  </a:solidFill>
                  <a:prstDash val="solid"/>
                  <a:round/>
                  <a:headEnd type="oval" w="med" len="med"/>
                  <a:tailEnd type="none" w="med" len="med"/>
                </a:ln>
              </p:spPr>
            </p:sp>
          </p:grpSp>
          <p:sp>
            <p:nvSpPr>
              <p:cNvPr id="18480" name="Oval 169"/>
              <p:cNvSpPr/>
              <p:nvPr/>
            </p:nvSpPr>
            <p:spPr>
              <a:xfrm>
                <a:off x="3969" y="1979"/>
                <a:ext cx="204" cy="199"/>
              </a:xfrm>
              <a:prstGeom prst="ellipse">
                <a:avLst/>
              </a:prstGeom>
              <a:noFill/>
              <a:ln w="19050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b="0" dirty="0">
                    <a:solidFill>
                      <a:srgbClr val="00FF00"/>
                    </a:solidFill>
                    <a:latin typeface="Times New Roman" panose="02020603050405020304" pitchFamily="18" charset="0"/>
                    <a:ea typeface="仿宋_GB2312" pitchFamily="49" charset="-122"/>
                  </a:rPr>
                  <a:t>2</a:t>
                </a:r>
                <a:endParaRPr lang="en-US" altLang="zh-CN" b="0" dirty="0">
                  <a:solidFill>
                    <a:srgbClr val="00FF00"/>
                  </a:solidFill>
                  <a:latin typeface="Times New Roman" panose="02020603050405020304" pitchFamily="18" charset="0"/>
                  <a:ea typeface="仿宋_GB2312" pitchFamily="49" charset="-122"/>
                </a:endParaRPr>
              </a:p>
            </p:txBody>
          </p:sp>
          <p:sp>
            <p:nvSpPr>
              <p:cNvPr id="18481" name="Line 170"/>
              <p:cNvSpPr/>
              <p:nvPr/>
            </p:nvSpPr>
            <p:spPr>
              <a:xfrm>
                <a:off x="3379" y="2569"/>
                <a:ext cx="0" cy="312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8482" name="Rectangle 171"/>
              <p:cNvSpPr/>
              <p:nvPr/>
            </p:nvSpPr>
            <p:spPr>
              <a:xfrm>
                <a:off x="2562" y="1979"/>
                <a:ext cx="317" cy="136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  <a:tileRect/>
              </a:gra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8483" name="Rectangle 172"/>
              <p:cNvSpPr/>
              <p:nvPr/>
            </p:nvSpPr>
            <p:spPr>
              <a:xfrm>
                <a:off x="3243" y="1616"/>
                <a:ext cx="317" cy="136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  <a:tileRect/>
              </a:gra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8484" name="Rectangle 173"/>
              <p:cNvSpPr/>
              <p:nvPr/>
            </p:nvSpPr>
            <p:spPr>
              <a:xfrm>
                <a:off x="4195" y="2387"/>
                <a:ext cx="127" cy="318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0" scaled="1"/>
                <a:tileRect/>
              </a:gra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8485" name="Oval 174"/>
              <p:cNvSpPr/>
              <p:nvPr/>
            </p:nvSpPr>
            <p:spPr>
              <a:xfrm>
                <a:off x="2835" y="2115"/>
                <a:ext cx="204" cy="199"/>
              </a:xfrm>
              <a:prstGeom prst="ellipse">
                <a:avLst/>
              </a:prstGeom>
              <a:noFill/>
              <a:ln w="19050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b="0" dirty="0">
                    <a:solidFill>
                      <a:srgbClr val="00FF00"/>
                    </a:solidFill>
                    <a:latin typeface="Times New Roman" panose="02020603050405020304" pitchFamily="18" charset="0"/>
                    <a:ea typeface="仿宋_GB2312" pitchFamily="49" charset="-122"/>
                  </a:rPr>
                  <a:t>1</a:t>
                </a:r>
                <a:endParaRPr lang="en-US" altLang="zh-CN" b="0" dirty="0">
                  <a:solidFill>
                    <a:srgbClr val="00FF00"/>
                  </a:solidFill>
                  <a:latin typeface="Times New Roman" panose="02020603050405020304" pitchFamily="18" charset="0"/>
                  <a:ea typeface="仿宋_GB2312" pitchFamily="49" charset="-122"/>
                </a:endParaRPr>
              </a:p>
            </p:txBody>
          </p:sp>
          <p:sp>
            <p:nvSpPr>
              <p:cNvPr id="18486" name="Rectangle 175"/>
              <p:cNvSpPr/>
              <p:nvPr/>
            </p:nvSpPr>
            <p:spPr>
              <a:xfrm>
                <a:off x="3061" y="1842"/>
                <a:ext cx="658" cy="726"/>
              </a:xfrm>
              <a:prstGeom prst="rect">
                <a:avLst/>
              </a:prstGeom>
              <a:gradFill rotWithShape="1">
                <a:gsLst>
                  <a:gs pos="0">
                    <a:srgbClr val="FF9900"/>
                  </a:gs>
                  <a:gs pos="100000">
                    <a:srgbClr val="764700"/>
                  </a:gs>
                </a:gsLst>
                <a:path path="shape">
                  <a:fillToRect l="50000" t="50000" r="50000" b="50000"/>
                </a:path>
                <a:tileRect/>
              </a:gra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8487" name="Text Box 176"/>
              <p:cNvSpPr txBox="1"/>
              <p:nvPr/>
            </p:nvSpPr>
            <p:spPr>
              <a:xfrm>
                <a:off x="3105" y="1790"/>
                <a:ext cx="228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_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488" name="Text Box 177"/>
              <p:cNvSpPr txBox="1"/>
              <p:nvPr/>
            </p:nvSpPr>
            <p:spPr>
              <a:xfrm>
                <a:off x="3093" y="2258"/>
                <a:ext cx="242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489" name="AutoShape 178"/>
              <p:cNvSpPr/>
              <p:nvPr/>
            </p:nvSpPr>
            <p:spPr>
              <a:xfrm rot="5400000">
                <a:off x="3328" y="1894"/>
                <a:ext cx="144" cy="132"/>
              </a:xfrm>
              <a:prstGeom prst="triangle">
                <a:avLst>
                  <a:gd name="adj" fmla="val 56245"/>
                </a:avLst>
              </a:prstGeom>
              <a:solidFill>
                <a:schemeClr val="bg1"/>
              </a:soli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18490" name="Text Box 179"/>
              <p:cNvSpPr txBox="1"/>
              <p:nvPr/>
            </p:nvSpPr>
            <p:spPr>
              <a:xfrm>
                <a:off x="3441" y="1810"/>
                <a:ext cx="276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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18491" name="Text Box 180"/>
              <p:cNvSpPr txBox="1"/>
              <p:nvPr/>
            </p:nvSpPr>
            <p:spPr>
              <a:xfrm>
                <a:off x="3501" y="2054"/>
                <a:ext cx="242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492" name="Line 181"/>
              <p:cNvSpPr/>
              <p:nvPr/>
            </p:nvSpPr>
            <p:spPr>
              <a:xfrm>
                <a:off x="2971" y="1678"/>
                <a:ext cx="0" cy="384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</p:grpSp>
      </p:grpSp>
      <p:grpSp>
        <p:nvGrpSpPr>
          <p:cNvPr id="18493" name="Group 185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18494" name="Picture 186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495" name="Text Box 187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4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4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3000"/>
                                        <p:tgtEl>
                                          <p:spTgt spid="14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3000"/>
                                        <p:tgtEl>
                                          <p:spTgt spid="14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3000"/>
                                        <p:tgtEl>
                                          <p:spTgt spid="14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84" grpId="0"/>
      <p:bldP spid="14385" grpId="0"/>
      <p:bldP spid="14436" grpId="0"/>
      <p:bldP spid="14437" grpId="0"/>
      <p:bldP spid="1446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6" name="Text Box 6"/>
          <p:cNvSpPr txBox="1"/>
          <p:nvPr/>
        </p:nvSpPr>
        <p:spPr>
          <a:xfrm>
            <a:off x="684213" y="3644900"/>
            <a:ext cx="8059737" cy="1117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476250" indent="-476250" algn="just">
              <a:lnSpc>
                <a:spcPct val="120000"/>
              </a:lnSpc>
              <a:buAutoNum type="circleNumDbPlain"/>
            </a:pPr>
            <a:r>
              <a:rPr lang="zh-CN" altLang="en-US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当</a:t>
            </a:r>
            <a:r>
              <a:rPr lang="en-US" altLang="zh-CN" sz="2800" b="0" i="1" dirty="0">
                <a:solidFill>
                  <a:srgbClr val="FFFF66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sz="2800" b="0" baseline="-25000" dirty="0">
                <a:solidFill>
                  <a:srgbClr val="FFFF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baseline="-25000" dirty="0">
                <a:solidFill>
                  <a:srgbClr val="FFFF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sz="2800" b="0" i="1" dirty="0">
                <a:solidFill>
                  <a:srgbClr val="FFFF66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sz="2800" b="0" baseline="-25000" dirty="0">
                <a:solidFill>
                  <a:srgbClr val="FFFF66"/>
                </a:solidFill>
                <a:latin typeface="Times New Roman" panose="02020603050405020304" pitchFamily="18" charset="0"/>
                <a:ea typeface="楷体_GB2312" pitchFamily="49" charset="-122"/>
              </a:rPr>
              <a:t>f </a:t>
            </a:r>
            <a:r>
              <a:rPr lang="zh-CN" altLang="en-US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确定后，为使</a:t>
            </a:r>
            <a:r>
              <a:rPr lang="en-US" altLang="zh-CN" sz="2800" b="0" i="1" dirty="0">
                <a:solidFill>
                  <a:srgbClr val="FFFF66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sz="2800" b="0" baseline="-25000" dirty="0">
                <a:solidFill>
                  <a:srgbClr val="FFFF66"/>
                </a:solidFill>
                <a:latin typeface="Times New Roman" panose="02020603050405020304" pitchFamily="18" charset="0"/>
                <a:ea typeface="楷体_GB2312" pitchFamily="49" charset="-122"/>
              </a:rPr>
              <a:t>o</a:t>
            </a:r>
            <a:r>
              <a:rPr lang="zh-CN" altLang="en-US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不超过饱和电压</a:t>
            </a:r>
            <a:r>
              <a:rPr lang="en-US" altLang="zh-CN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即保证工作在线性区</a:t>
            </a:r>
            <a:r>
              <a:rPr lang="en-US" altLang="zh-CN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，对</a:t>
            </a:r>
            <a:r>
              <a:rPr lang="en-US" altLang="zh-CN" sz="2800" b="0" i="1" dirty="0">
                <a:solidFill>
                  <a:srgbClr val="FFFF66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sz="2800" b="0" baseline="-25000" dirty="0">
                <a:solidFill>
                  <a:srgbClr val="FFFF66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en-US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有一定限制。</a:t>
            </a:r>
            <a:endParaRPr lang="zh-CN" altLang="en-US" sz="2800" dirty="0">
              <a:solidFill>
                <a:srgbClr val="FFFF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0727" name="Text Box 7"/>
          <p:cNvSpPr txBox="1"/>
          <p:nvPr/>
        </p:nvSpPr>
        <p:spPr>
          <a:xfrm>
            <a:off x="684213" y="4652963"/>
            <a:ext cx="7991475" cy="16303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476250" indent="-476250">
              <a:lnSpc>
                <a:spcPct val="120000"/>
              </a:lnSpc>
              <a:buAutoNum type="circleNumDbPlain" startAt="2"/>
            </a:pPr>
            <a:r>
              <a:rPr lang="zh-CN" altLang="en-US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运放工作在开环状态极不稳定，振荡在饱和区</a:t>
            </a:r>
            <a:r>
              <a:rPr lang="en-US" altLang="zh-CN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;</a:t>
            </a:r>
            <a:r>
              <a:rPr lang="zh-CN" altLang="en-US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工作在闭环状态，输出电压由外电路决定。 </a:t>
            </a:r>
            <a:r>
              <a:rPr lang="en-US" altLang="zh-CN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sz="2800" b="0" i="1" dirty="0">
                <a:solidFill>
                  <a:srgbClr val="FFFF66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sz="2800" b="0" baseline="-25000" dirty="0">
                <a:solidFill>
                  <a:srgbClr val="FFFF66"/>
                </a:solidFill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lang="en-US" altLang="zh-CN" sz="2800" baseline="-25000" dirty="0">
                <a:solidFill>
                  <a:srgbClr val="FFFF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接在输出端和反相输入端</a:t>
            </a:r>
            <a:r>
              <a:rPr lang="en-US" altLang="zh-CN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称为负反馈</a:t>
            </a:r>
            <a:r>
              <a:rPr lang="en-US" altLang="zh-CN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9459" name="Group 55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9460" name="Picture 56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9461" name="Text Box 57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9462" name="Group 58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9463" name="Picture 5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9464" name="Text Box 60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0781" name="Group 61"/>
          <p:cNvGrpSpPr/>
          <p:nvPr/>
        </p:nvGrpSpPr>
        <p:grpSpPr>
          <a:xfrm>
            <a:off x="539750" y="2781300"/>
            <a:ext cx="1644650" cy="850900"/>
            <a:chOff x="385" y="3022"/>
            <a:chExt cx="1036" cy="536"/>
          </a:xfrm>
        </p:grpSpPr>
        <p:pic>
          <p:nvPicPr>
            <p:cNvPr id="19466" name="Picture 62" descr="1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9467" name="Text Box 63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注意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aphicFrame>
        <p:nvGraphicFramePr>
          <p:cNvPr id="19468" name="Object 64"/>
          <p:cNvGraphicFramePr>
            <a:graphicFrameLocks noChangeAspect="1"/>
          </p:cNvGraphicFramePr>
          <p:nvPr/>
        </p:nvGraphicFramePr>
        <p:xfrm>
          <a:off x="6421438" y="923925"/>
          <a:ext cx="1966912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3" imgW="741045" imgH="451485" progId="Equation.3">
                  <p:embed/>
                </p:oleObj>
              </mc:Choice>
              <mc:Fallback>
                <p:oleObj name="" r:id="rId3" imgW="741045" imgH="451485" progId="Equation.3">
                  <p:embed/>
                  <p:pic>
                    <p:nvPicPr>
                      <p:cNvPr id="0" name="20 307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421438" y="923925"/>
                        <a:ext cx="1966912" cy="1193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469" name="Group 65"/>
          <p:cNvGrpSpPr/>
          <p:nvPr/>
        </p:nvGrpSpPr>
        <p:grpSpPr>
          <a:xfrm>
            <a:off x="2268538" y="404813"/>
            <a:ext cx="4011612" cy="2922587"/>
            <a:chOff x="2064" y="1253"/>
            <a:chExt cx="2527" cy="1841"/>
          </a:xfrm>
        </p:grpSpPr>
        <p:sp>
          <p:nvSpPr>
            <p:cNvPr id="19470" name="Line 66"/>
            <p:cNvSpPr/>
            <p:nvPr/>
          </p:nvSpPr>
          <p:spPr>
            <a:xfrm flipH="1">
              <a:off x="2971" y="2434"/>
              <a:ext cx="12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71" name="Oval 67"/>
            <p:cNvSpPr/>
            <p:nvPr/>
          </p:nvSpPr>
          <p:spPr>
            <a:xfrm>
              <a:off x="2290" y="229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9472" name="Line 68"/>
            <p:cNvSpPr/>
            <p:nvPr/>
          </p:nvSpPr>
          <p:spPr>
            <a:xfrm flipH="1">
              <a:off x="2479" y="2060"/>
              <a:ext cx="61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73" name="Line 69"/>
            <p:cNvSpPr/>
            <p:nvPr/>
          </p:nvSpPr>
          <p:spPr>
            <a:xfrm>
              <a:off x="2479" y="2900"/>
              <a:ext cx="177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74" name="Line 70"/>
            <p:cNvSpPr/>
            <p:nvPr/>
          </p:nvSpPr>
          <p:spPr>
            <a:xfrm flipV="1">
              <a:off x="3703" y="2240"/>
              <a:ext cx="55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75" name="Text Box 71"/>
            <p:cNvSpPr txBox="1"/>
            <p:nvPr/>
          </p:nvSpPr>
          <p:spPr>
            <a:xfrm>
              <a:off x="4269" y="2114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476" name="Text Box 72"/>
            <p:cNvSpPr txBox="1"/>
            <p:nvPr/>
          </p:nvSpPr>
          <p:spPr>
            <a:xfrm>
              <a:off x="4269" y="2558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477" name="Text Box 73"/>
            <p:cNvSpPr txBox="1"/>
            <p:nvPr/>
          </p:nvSpPr>
          <p:spPr>
            <a:xfrm>
              <a:off x="4287" y="2378"/>
              <a:ext cx="30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478" name="Line 74"/>
            <p:cNvSpPr/>
            <p:nvPr/>
          </p:nvSpPr>
          <p:spPr>
            <a:xfrm>
              <a:off x="2971" y="1678"/>
              <a:ext cx="95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79" name="Line 75"/>
            <p:cNvSpPr/>
            <p:nvPr/>
          </p:nvSpPr>
          <p:spPr>
            <a:xfrm>
              <a:off x="3931" y="1678"/>
              <a:ext cx="0" cy="56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19480" name="Line 76"/>
            <p:cNvSpPr/>
            <p:nvPr/>
          </p:nvSpPr>
          <p:spPr>
            <a:xfrm>
              <a:off x="2971" y="2434"/>
              <a:ext cx="0" cy="46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19481" name="Line 77"/>
            <p:cNvSpPr/>
            <p:nvPr/>
          </p:nvSpPr>
          <p:spPr>
            <a:xfrm>
              <a:off x="2479" y="2062"/>
              <a:ext cx="0" cy="84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82" name="Text Box 78"/>
            <p:cNvSpPr txBox="1"/>
            <p:nvPr/>
          </p:nvSpPr>
          <p:spPr>
            <a:xfrm>
              <a:off x="2245" y="1979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9483" name="Text Box 79"/>
            <p:cNvSpPr txBox="1"/>
            <p:nvPr/>
          </p:nvSpPr>
          <p:spPr>
            <a:xfrm>
              <a:off x="2200" y="2478"/>
              <a:ext cx="21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9484" name="Text Box 80"/>
            <p:cNvSpPr txBox="1"/>
            <p:nvPr/>
          </p:nvSpPr>
          <p:spPr>
            <a:xfrm>
              <a:off x="2064" y="2308"/>
              <a:ext cx="27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485" name="Text Box 81"/>
            <p:cNvSpPr txBox="1"/>
            <p:nvPr/>
          </p:nvSpPr>
          <p:spPr>
            <a:xfrm>
              <a:off x="2562" y="1616"/>
              <a:ext cx="329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486" name="Text Box 82"/>
            <p:cNvSpPr txBox="1"/>
            <p:nvPr/>
          </p:nvSpPr>
          <p:spPr>
            <a:xfrm>
              <a:off x="3288" y="1253"/>
              <a:ext cx="30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487" name="Line 83"/>
            <p:cNvSpPr/>
            <p:nvPr/>
          </p:nvSpPr>
          <p:spPr>
            <a:xfrm flipH="1">
              <a:off x="4241" y="2242"/>
              <a:ext cx="14" cy="64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88" name="Text Box 84"/>
            <p:cNvSpPr txBox="1"/>
            <p:nvPr/>
          </p:nvSpPr>
          <p:spPr>
            <a:xfrm>
              <a:off x="3833" y="2341"/>
              <a:ext cx="34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9489" name="Group 85"/>
            <p:cNvGrpSpPr/>
            <p:nvPr/>
          </p:nvGrpSpPr>
          <p:grpSpPr>
            <a:xfrm>
              <a:off x="3261" y="2902"/>
              <a:ext cx="252" cy="192"/>
              <a:chOff x="1224" y="3588"/>
              <a:chExt cx="210" cy="198"/>
            </a:xfrm>
          </p:grpSpPr>
          <p:sp>
            <p:nvSpPr>
              <p:cNvPr id="19490" name="Line 86"/>
              <p:cNvSpPr/>
              <p:nvPr/>
            </p:nvSpPr>
            <p:spPr>
              <a:xfrm>
                <a:off x="1224" y="3684"/>
                <a:ext cx="210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491" name="Line 87"/>
              <p:cNvSpPr/>
              <p:nvPr/>
            </p:nvSpPr>
            <p:spPr>
              <a:xfrm>
                <a:off x="1266" y="3738"/>
                <a:ext cx="126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492" name="Line 88"/>
              <p:cNvSpPr/>
              <p:nvPr/>
            </p:nvSpPr>
            <p:spPr>
              <a:xfrm>
                <a:off x="1296" y="3786"/>
                <a:ext cx="54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493" name="Line 89"/>
              <p:cNvSpPr/>
              <p:nvPr/>
            </p:nvSpPr>
            <p:spPr>
              <a:xfrm>
                <a:off x="1326" y="3588"/>
                <a:ext cx="0" cy="96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oval" w="med" len="med"/>
                <a:tailEnd type="none" w="med" len="med"/>
              </a:ln>
            </p:spPr>
          </p:sp>
        </p:grpSp>
        <p:sp>
          <p:nvSpPr>
            <p:cNvPr id="19494" name="Oval 90"/>
            <p:cNvSpPr/>
            <p:nvPr/>
          </p:nvSpPr>
          <p:spPr>
            <a:xfrm>
              <a:off x="3969" y="1979"/>
              <a:ext cx="204" cy="199"/>
            </a:xfrm>
            <a:prstGeom prst="ellipse">
              <a:avLst/>
            </a:prstGeom>
            <a:noFill/>
            <a:ln w="19050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b="0" dirty="0">
                  <a:solidFill>
                    <a:srgbClr val="00FF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2</a:t>
              </a:r>
              <a:endParaRPr lang="en-US" altLang="zh-CN" b="0" dirty="0">
                <a:solidFill>
                  <a:srgbClr val="00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9495" name="Line 91"/>
            <p:cNvSpPr/>
            <p:nvPr/>
          </p:nvSpPr>
          <p:spPr>
            <a:xfrm>
              <a:off x="3379" y="2569"/>
              <a:ext cx="0" cy="31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496" name="Rectangle 92"/>
            <p:cNvSpPr/>
            <p:nvPr/>
          </p:nvSpPr>
          <p:spPr>
            <a:xfrm>
              <a:off x="2562" y="197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9497" name="Rectangle 93"/>
            <p:cNvSpPr/>
            <p:nvPr/>
          </p:nvSpPr>
          <p:spPr>
            <a:xfrm>
              <a:off x="3243" y="161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9498" name="Rectangle 94"/>
            <p:cNvSpPr/>
            <p:nvPr/>
          </p:nvSpPr>
          <p:spPr>
            <a:xfrm>
              <a:off x="4195" y="238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9499" name="Oval 95"/>
            <p:cNvSpPr/>
            <p:nvPr/>
          </p:nvSpPr>
          <p:spPr>
            <a:xfrm>
              <a:off x="2835" y="2115"/>
              <a:ext cx="204" cy="199"/>
            </a:xfrm>
            <a:prstGeom prst="ellipse">
              <a:avLst/>
            </a:prstGeom>
            <a:noFill/>
            <a:ln w="19050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b="0" dirty="0">
                  <a:solidFill>
                    <a:srgbClr val="00FF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  <a:endParaRPr lang="en-US" altLang="zh-CN" b="0" dirty="0">
                <a:solidFill>
                  <a:srgbClr val="00FF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19500" name="Rectangle 96"/>
            <p:cNvSpPr/>
            <p:nvPr/>
          </p:nvSpPr>
          <p:spPr>
            <a:xfrm>
              <a:off x="3061" y="1842"/>
              <a:ext cx="658" cy="726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9501" name="Text Box 97"/>
            <p:cNvSpPr txBox="1"/>
            <p:nvPr/>
          </p:nvSpPr>
          <p:spPr>
            <a:xfrm>
              <a:off x="3105" y="1790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502" name="Text Box 98"/>
            <p:cNvSpPr txBox="1"/>
            <p:nvPr/>
          </p:nvSpPr>
          <p:spPr>
            <a:xfrm>
              <a:off x="3093" y="2258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503" name="AutoShape 99"/>
            <p:cNvSpPr/>
            <p:nvPr/>
          </p:nvSpPr>
          <p:spPr>
            <a:xfrm rot="5400000">
              <a:off x="3328" y="1894"/>
              <a:ext cx="144" cy="132"/>
            </a:xfrm>
            <a:prstGeom prst="triangle">
              <a:avLst>
                <a:gd name="adj" fmla="val 56245"/>
              </a:avLst>
            </a:prstGeom>
            <a:solidFill>
              <a:schemeClr val="bg1"/>
            </a:soli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9504" name="Text Box 100"/>
            <p:cNvSpPr txBox="1"/>
            <p:nvPr/>
          </p:nvSpPr>
          <p:spPr>
            <a:xfrm>
              <a:off x="3441" y="1810"/>
              <a:ext cx="27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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9505" name="Text Box 101"/>
            <p:cNvSpPr txBox="1"/>
            <p:nvPr/>
          </p:nvSpPr>
          <p:spPr>
            <a:xfrm>
              <a:off x="3501" y="2054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506" name="Line 102"/>
            <p:cNvSpPr/>
            <p:nvPr/>
          </p:nvSpPr>
          <p:spPr>
            <a:xfrm>
              <a:off x="2971" y="1678"/>
              <a:ext cx="0" cy="38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</p:grpSp>
      <p:grpSp>
        <p:nvGrpSpPr>
          <p:cNvPr id="19507" name="Group 106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19508" name="Picture 107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9509" name="Text Box 108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6" grpId="0"/>
      <p:bldP spid="3072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0481" name="Group 80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0482" name="Picture 81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483" name="Text Box 82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0484" name="Group 83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0485" name="Picture 84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486" name="Text Box 85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13450" name="Rectangle 138"/>
          <p:cNvSpPr/>
          <p:nvPr/>
        </p:nvSpPr>
        <p:spPr>
          <a:xfrm>
            <a:off x="468313" y="476250"/>
            <a:ext cx="8459787" cy="7016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40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5.3 </a:t>
            </a:r>
            <a:r>
              <a:rPr lang="zh-CN" altLang="en-US" sz="40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含有理想运算放大器的电路分析</a:t>
            </a:r>
            <a:endParaRPr lang="zh-CN" altLang="en-US" sz="40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451" name="Rectangle 139"/>
          <p:cNvSpPr/>
          <p:nvPr/>
        </p:nvSpPr>
        <p:spPr>
          <a:xfrm>
            <a:off x="468313" y="1844675"/>
            <a:ext cx="7993062" cy="31686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indent="266700">
              <a:lnSpc>
                <a:spcPct val="120000"/>
              </a:lnSpc>
              <a:buAutoNum type="circleNumDbPlain"/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根据理想运放的性质，抓住以下两条规则：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  <a:p>
            <a:pPr indent="266700" eaLnBrk="0" hangingPunct="0">
              <a:lnSpc>
                <a:spcPct val="120000"/>
              </a:lnSpc>
              <a:buNone/>
            </a:pPr>
            <a:r>
              <a:rPr lang="zh-CN" altLang="en-US" sz="2800" b="0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0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800" b="0" dirty="0"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倒向端和非倒向端的输入电流均为零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  <a:p>
            <a:pPr indent="266700" eaLnBrk="0" hangingPunct="0">
              <a:lnSpc>
                <a:spcPct val="120000"/>
              </a:lnSpc>
              <a:buNone/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en-US" altLang="zh-CN" sz="28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[ </a:t>
            </a: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zh-CN" altLang="en-US" sz="28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虚断（路）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”</a:t>
            </a:r>
            <a:r>
              <a:rPr lang="en-US" altLang="zh-CN" sz="28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]</a:t>
            </a:r>
            <a:r>
              <a:rPr lang="zh-CN" altLang="en-US" sz="28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；</a:t>
            </a:r>
            <a:endParaRPr lang="zh-CN" altLang="en-US" sz="28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pPr indent="266700" eaLnBrk="0" hangingPunct="0">
              <a:lnSpc>
                <a:spcPct val="120000"/>
              </a:lnSpc>
              <a:buNone/>
            </a:pPr>
            <a:r>
              <a:rPr lang="zh-CN" altLang="en-US" sz="2800" b="0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0" dirty="0"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800" b="0" dirty="0"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对于公共端（地），倒向输入端的电压与	 非倒向输入端的电压相等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  <a:p>
            <a:pPr indent="266700" eaLnBrk="0" hangingPunct="0">
              <a:lnSpc>
                <a:spcPct val="120000"/>
              </a:lnSpc>
              <a:buNone/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en-US" altLang="zh-CN" sz="28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[ </a:t>
            </a: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zh-CN" altLang="en-US" sz="28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虚短（路）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”</a:t>
            </a:r>
            <a:r>
              <a:rPr lang="en-US" altLang="zh-CN" sz="28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]</a:t>
            </a:r>
            <a:r>
              <a:rPr lang="zh-CN" altLang="en-US" sz="28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8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454" name="Text Box 142"/>
          <p:cNvSpPr txBox="1"/>
          <p:nvPr/>
        </p:nvSpPr>
        <p:spPr>
          <a:xfrm>
            <a:off x="755650" y="1268413"/>
            <a:ext cx="3671888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1. 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分析方法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456" name="Rectangle 144"/>
          <p:cNvSpPr/>
          <p:nvPr/>
        </p:nvSpPr>
        <p:spPr>
          <a:xfrm>
            <a:off x="468313" y="5143500"/>
            <a:ext cx="8497887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indent="266700">
              <a:buAutoNum type="circleNumDbPlain" startAt="2"/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合理地运用这两条规则，并与结点电压法相结合。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0491" name="Group 148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20492" name="Picture 14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493" name="Text Box 150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4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4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3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3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50" grpId="0"/>
      <p:bldP spid="13451" grpId="0"/>
      <p:bldP spid="13454" grpId="0"/>
      <p:bldP spid="1345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Text Box 2"/>
          <p:cNvSpPr txBox="1"/>
          <p:nvPr/>
        </p:nvSpPr>
        <p:spPr>
          <a:xfrm>
            <a:off x="755650" y="1268413"/>
            <a:ext cx="2232025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buAutoNum type="circleNumDbPlain"/>
            </a:pPr>
            <a:r>
              <a:rPr lang="zh-CN" altLang="en-US" sz="2800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加法器</a:t>
            </a:r>
            <a:endParaRPr lang="zh-CN" altLang="en-US" sz="2800" dirty="0">
              <a:solidFill>
                <a:srgbClr val="FF99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3011" name="Text Box 3"/>
          <p:cNvSpPr txBox="1"/>
          <p:nvPr/>
        </p:nvSpPr>
        <p:spPr>
          <a:xfrm>
            <a:off x="755650" y="4724400"/>
            <a:ext cx="746283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800" dirty="0">
                <a:solidFill>
                  <a:srgbClr val="FFFF66"/>
                </a:solidFill>
                <a:latin typeface="Times New Roman" panose="02020603050405020304" pitchFamily="18" charset="0"/>
                <a:ea typeface="楷体_GB2312" pitchFamily="49" charset="-122"/>
              </a:rPr>
              <a:t>比例加法器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 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sz="2800" dirty="0">
                <a:solidFill>
                  <a:srgbClr val="FFFF66"/>
                </a:solidFill>
                <a:latin typeface="Times New Roman" panose="02020603050405020304" pitchFamily="18" charset="0"/>
                <a:ea typeface="楷体_GB2312" pitchFamily="49" charset="-122"/>
              </a:rPr>
              <a:t>符号如下图：</a:t>
            </a:r>
            <a:endParaRPr lang="zh-CN" altLang="en-US" sz="2800" dirty="0">
              <a:solidFill>
                <a:srgbClr val="FFFF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3012" name="Text Box 4"/>
          <p:cNvSpPr txBox="1"/>
          <p:nvPr/>
        </p:nvSpPr>
        <p:spPr>
          <a:xfrm>
            <a:off x="611188" y="3141663"/>
            <a:ext cx="6192837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i1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i2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i3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32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lang="en-US" altLang="zh-CN" sz="3200" b="0" i="1" baseline="-250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13" name="Text Box 5"/>
          <p:cNvSpPr txBox="1"/>
          <p:nvPr/>
        </p:nvSpPr>
        <p:spPr>
          <a:xfrm>
            <a:off x="1619250" y="4005263"/>
            <a:ext cx="6042025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32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i1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i2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i3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3014" name="Group 6"/>
          <p:cNvGrpSpPr/>
          <p:nvPr/>
        </p:nvGrpSpPr>
        <p:grpSpPr>
          <a:xfrm>
            <a:off x="684213" y="1916113"/>
            <a:ext cx="1871662" cy="1089025"/>
            <a:chOff x="3588" y="832"/>
            <a:chExt cx="889" cy="539"/>
          </a:xfrm>
        </p:grpSpPr>
        <p:sp>
          <p:nvSpPr>
            <p:cNvPr id="21510" name="Text Box 7"/>
            <p:cNvSpPr txBox="1"/>
            <p:nvPr/>
          </p:nvSpPr>
          <p:spPr>
            <a:xfrm>
              <a:off x="3662" y="832"/>
              <a:ext cx="815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3200" b="0" baseline="3000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 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3200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=0</a:t>
              </a:r>
              <a:endPara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511" name="Text Box 8"/>
            <p:cNvSpPr txBox="1"/>
            <p:nvPr/>
          </p:nvSpPr>
          <p:spPr>
            <a:xfrm>
              <a:off x="3698" y="1084"/>
              <a:ext cx="421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3200" b="0" baseline="3000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=0</a:t>
              </a:r>
              <a:endPara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512" name="AutoShape 9"/>
            <p:cNvSpPr/>
            <p:nvPr/>
          </p:nvSpPr>
          <p:spPr>
            <a:xfrm>
              <a:off x="3588" y="984"/>
              <a:ext cx="48" cy="336"/>
            </a:xfrm>
            <a:prstGeom prst="leftBrace">
              <a:avLst>
                <a:gd name="adj1" fmla="val 58268"/>
                <a:gd name="adj2" fmla="val 50000"/>
              </a:avLst>
            </a:prstGeom>
            <a:noFill/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</p:grpSp>
      <p:grpSp>
        <p:nvGrpSpPr>
          <p:cNvPr id="43018" name="Group 10"/>
          <p:cNvGrpSpPr/>
          <p:nvPr/>
        </p:nvGrpSpPr>
        <p:grpSpPr>
          <a:xfrm>
            <a:off x="1763713" y="5084763"/>
            <a:ext cx="4464050" cy="1600200"/>
            <a:chOff x="1111" y="3148"/>
            <a:chExt cx="2585" cy="1008"/>
          </a:xfrm>
        </p:grpSpPr>
        <p:grpSp>
          <p:nvGrpSpPr>
            <p:cNvPr id="21514" name="Group 11"/>
            <p:cNvGrpSpPr/>
            <p:nvPr/>
          </p:nvGrpSpPr>
          <p:grpSpPr>
            <a:xfrm>
              <a:off x="1123" y="3148"/>
              <a:ext cx="552" cy="327"/>
              <a:chOff x="1188" y="3054"/>
              <a:chExt cx="552" cy="353"/>
            </a:xfrm>
          </p:grpSpPr>
          <p:sp>
            <p:nvSpPr>
              <p:cNvPr id="21515" name="Text Box 12"/>
              <p:cNvSpPr txBox="1"/>
              <p:nvPr/>
            </p:nvSpPr>
            <p:spPr>
              <a:xfrm>
                <a:off x="1322" y="3054"/>
                <a:ext cx="267" cy="35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x</a:t>
                </a:r>
                <a:r>
                  <a:rPr lang="en-US" altLang="zh-CN" sz="2800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516" name="Line 13"/>
              <p:cNvSpPr/>
              <p:nvPr/>
            </p:nvSpPr>
            <p:spPr>
              <a:xfrm>
                <a:off x="1188" y="3372"/>
                <a:ext cx="552" cy="0"/>
              </a:xfrm>
              <a:prstGeom prst="line">
                <a:avLst/>
              </a:prstGeom>
              <a:ln w="38100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grpSp>
          <p:nvGrpSpPr>
            <p:cNvPr id="21517" name="Group 14"/>
            <p:cNvGrpSpPr/>
            <p:nvPr/>
          </p:nvGrpSpPr>
          <p:grpSpPr>
            <a:xfrm>
              <a:off x="1111" y="3365"/>
              <a:ext cx="2585" cy="791"/>
              <a:chOff x="1111" y="3365"/>
              <a:chExt cx="2585" cy="791"/>
            </a:xfrm>
          </p:grpSpPr>
          <p:sp>
            <p:nvSpPr>
              <p:cNvPr id="21518" name="Rectangle 15"/>
              <p:cNvSpPr/>
              <p:nvPr/>
            </p:nvSpPr>
            <p:spPr>
              <a:xfrm>
                <a:off x="1675" y="3365"/>
                <a:ext cx="661" cy="791"/>
              </a:xfrm>
              <a:prstGeom prst="rect">
                <a:avLst/>
              </a:prstGeom>
              <a:solidFill>
                <a:srgbClr val="FF9900"/>
              </a:solidFill>
              <a:ln w="2857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8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r>
                  <a:rPr lang="en-US" altLang="zh-CN" sz="2800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ctr"/>
                <a:r>
                  <a:rPr lang="en-US" altLang="zh-CN" sz="28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r>
                  <a:rPr lang="en-US" altLang="zh-CN" sz="2800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ctr"/>
                <a:r>
                  <a:rPr lang="en-US" altLang="zh-CN" sz="28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r>
                  <a:rPr lang="en-US" altLang="zh-CN" sz="2800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519" name="Rectangle 16"/>
              <p:cNvSpPr/>
              <p:nvPr/>
            </p:nvSpPr>
            <p:spPr>
              <a:xfrm>
                <a:off x="2789" y="3566"/>
                <a:ext cx="420" cy="378"/>
              </a:xfrm>
              <a:prstGeom prst="rect">
                <a:avLst/>
              </a:prstGeom>
              <a:solidFill>
                <a:srgbClr val="FF9900"/>
              </a:solidFill>
              <a:ln w="2857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800" b="0" dirty="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-</a:t>
                </a:r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520" name="Line 17"/>
              <p:cNvSpPr/>
              <p:nvPr/>
            </p:nvSpPr>
            <p:spPr>
              <a:xfrm>
                <a:off x="2336" y="3748"/>
                <a:ext cx="453" cy="0"/>
              </a:xfrm>
              <a:prstGeom prst="line">
                <a:avLst/>
              </a:prstGeom>
              <a:ln w="38100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1521" name="Text Box 18"/>
              <p:cNvSpPr txBox="1"/>
              <p:nvPr/>
            </p:nvSpPr>
            <p:spPr>
              <a:xfrm>
                <a:off x="2381" y="3421"/>
                <a:ext cx="30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-</a:t>
                </a:r>
                <a:r>
                  <a:rPr lang="en-US" altLang="zh-CN" sz="28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y</a:t>
                </a:r>
                <a:endPara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522" name="Line 19"/>
              <p:cNvSpPr/>
              <p:nvPr/>
            </p:nvSpPr>
            <p:spPr>
              <a:xfrm>
                <a:off x="3180" y="3748"/>
                <a:ext cx="516" cy="0"/>
              </a:xfrm>
              <a:prstGeom prst="line">
                <a:avLst/>
              </a:prstGeom>
              <a:ln w="38100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1523" name="Text Box 20"/>
              <p:cNvSpPr txBox="1"/>
              <p:nvPr/>
            </p:nvSpPr>
            <p:spPr>
              <a:xfrm>
                <a:off x="3379" y="3430"/>
                <a:ext cx="197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y</a:t>
                </a:r>
                <a:endPara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21524" name="Group 21"/>
              <p:cNvGrpSpPr/>
              <p:nvPr/>
            </p:nvGrpSpPr>
            <p:grpSpPr>
              <a:xfrm>
                <a:off x="1117" y="3421"/>
                <a:ext cx="552" cy="327"/>
                <a:chOff x="1188" y="3054"/>
                <a:chExt cx="552" cy="353"/>
              </a:xfrm>
            </p:grpSpPr>
            <p:sp>
              <p:nvSpPr>
                <p:cNvPr id="21525" name="Text Box 22"/>
                <p:cNvSpPr txBox="1"/>
                <p:nvPr/>
              </p:nvSpPr>
              <p:spPr>
                <a:xfrm>
                  <a:off x="1322" y="3054"/>
                  <a:ext cx="268" cy="35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r>
                    <a:rPr lang="en-US" altLang="zh-CN" sz="2800" b="0" i="1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x</a:t>
                  </a:r>
                  <a:r>
                    <a:rPr lang="en-US" altLang="zh-CN" sz="2800" b="0" baseline="-250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</a:t>
                  </a:r>
                  <a:endParaRPr lang="en-US" altLang="zh-CN" sz="2800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1526" name="Line 23"/>
                <p:cNvSpPr/>
                <p:nvPr/>
              </p:nvSpPr>
              <p:spPr>
                <a:xfrm>
                  <a:off x="1188" y="3372"/>
                  <a:ext cx="552" cy="0"/>
                </a:xfrm>
                <a:prstGeom prst="line">
                  <a:avLst/>
                </a:prstGeom>
                <a:ln w="38100" cap="flat" cmpd="sng">
                  <a:solidFill>
                    <a:srgbClr val="FFCC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21527" name="Group 24"/>
              <p:cNvGrpSpPr/>
              <p:nvPr/>
            </p:nvGrpSpPr>
            <p:grpSpPr>
              <a:xfrm>
                <a:off x="1111" y="3671"/>
                <a:ext cx="552" cy="327"/>
                <a:chOff x="1188" y="3054"/>
                <a:chExt cx="552" cy="354"/>
              </a:xfrm>
            </p:grpSpPr>
            <p:sp>
              <p:nvSpPr>
                <p:cNvPr id="21528" name="Text Box 25"/>
                <p:cNvSpPr txBox="1"/>
                <p:nvPr/>
              </p:nvSpPr>
              <p:spPr>
                <a:xfrm>
                  <a:off x="1322" y="3054"/>
                  <a:ext cx="268" cy="35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p>
                  <a:r>
                    <a:rPr lang="en-US" altLang="zh-CN" sz="2800" b="0" i="1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x</a:t>
                  </a:r>
                  <a:r>
                    <a:rPr lang="en-US" altLang="zh-CN" sz="2800" b="0" baseline="-250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3</a:t>
                  </a:r>
                  <a:endParaRPr lang="en-US" altLang="zh-CN" sz="2800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1529" name="Line 26"/>
                <p:cNvSpPr/>
                <p:nvPr/>
              </p:nvSpPr>
              <p:spPr>
                <a:xfrm>
                  <a:off x="1188" y="3372"/>
                  <a:ext cx="552" cy="0"/>
                </a:xfrm>
                <a:prstGeom prst="line">
                  <a:avLst/>
                </a:prstGeom>
                <a:ln w="38100" cap="flat" cmpd="sng">
                  <a:solidFill>
                    <a:srgbClr val="FFCC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</p:grpSp>
      </p:grpSp>
      <p:sp>
        <p:nvSpPr>
          <p:cNvPr id="43035" name="AutoShape 27"/>
          <p:cNvSpPr/>
          <p:nvPr/>
        </p:nvSpPr>
        <p:spPr>
          <a:xfrm>
            <a:off x="827088" y="4221163"/>
            <a:ext cx="647700" cy="215900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0066FF"/>
          </a:solidFill>
          <a:ln w="9525" cap="flat" cmpd="sng">
            <a:solidFill>
              <a:srgbClr val="00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仿宋_GB2312" pitchFamily="49" charset="-122"/>
            </a:endParaRPr>
          </a:p>
        </p:txBody>
      </p:sp>
      <p:grpSp>
        <p:nvGrpSpPr>
          <p:cNvPr id="21531" name="Group 28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1532" name="Picture 2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1533" name="Text Box 30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1534" name="Group 31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1535" name="Picture 32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1536" name="Text Box 33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3042" name="Group 34"/>
          <p:cNvGrpSpPr/>
          <p:nvPr/>
        </p:nvGrpSpPr>
        <p:grpSpPr>
          <a:xfrm>
            <a:off x="3851275" y="404813"/>
            <a:ext cx="4813300" cy="3086100"/>
            <a:chOff x="385" y="2083"/>
            <a:chExt cx="3032" cy="1944"/>
          </a:xfrm>
        </p:grpSpPr>
        <p:sp>
          <p:nvSpPr>
            <p:cNvPr id="21538" name="Line 35"/>
            <p:cNvSpPr/>
            <p:nvPr/>
          </p:nvSpPr>
          <p:spPr>
            <a:xfrm>
              <a:off x="793" y="3793"/>
              <a:ext cx="254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39" name="Line 36"/>
            <p:cNvSpPr/>
            <p:nvPr/>
          </p:nvSpPr>
          <p:spPr>
            <a:xfrm>
              <a:off x="2789" y="3113"/>
              <a:ext cx="55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40" name="Text Box 37"/>
            <p:cNvSpPr txBox="1"/>
            <p:nvPr/>
          </p:nvSpPr>
          <p:spPr>
            <a:xfrm>
              <a:off x="2988" y="3095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541" name="Text Box 38"/>
            <p:cNvSpPr txBox="1"/>
            <p:nvPr/>
          </p:nvSpPr>
          <p:spPr>
            <a:xfrm>
              <a:off x="2988" y="3395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542" name="Text Box 39"/>
            <p:cNvSpPr txBox="1"/>
            <p:nvPr/>
          </p:nvSpPr>
          <p:spPr>
            <a:xfrm>
              <a:off x="2948" y="3251"/>
              <a:ext cx="30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543" name="Line 40"/>
            <p:cNvSpPr/>
            <p:nvPr/>
          </p:nvSpPr>
          <p:spPr>
            <a:xfrm flipV="1">
              <a:off x="1836" y="2478"/>
              <a:ext cx="1271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44" name="Line 41"/>
            <p:cNvSpPr/>
            <p:nvPr/>
          </p:nvSpPr>
          <p:spPr>
            <a:xfrm>
              <a:off x="1836" y="2473"/>
              <a:ext cx="0" cy="46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21545" name="Line 42"/>
            <p:cNvSpPr/>
            <p:nvPr/>
          </p:nvSpPr>
          <p:spPr>
            <a:xfrm>
              <a:off x="3091" y="2479"/>
              <a:ext cx="0" cy="63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21546" name="Line 43"/>
            <p:cNvSpPr/>
            <p:nvPr/>
          </p:nvSpPr>
          <p:spPr>
            <a:xfrm flipH="1">
              <a:off x="1823" y="3307"/>
              <a:ext cx="34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47" name="Line 44"/>
            <p:cNvSpPr/>
            <p:nvPr/>
          </p:nvSpPr>
          <p:spPr>
            <a:xfrm>
              <a:off x="1823" y="3307"/>
              <a:ext cx="0" cy="46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21548" name="Text Box 45"/>
            <p:cNvSpPr txBox="1"/>
            <p:nvPr/>
          </p:nvSpPr>
          <p:spPr>
            <a:xfrm>
              <a:off x="975" y="2568"/>
              <a:ext cx="329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549" name="Text Box 46"/>
            <p:cNvSpPr txBox="1"/>
            <p:nvPr/>
          </p:nvSpPr>
          <p:spPr>
            <a:xfrm>
              <a:off x="2327" y="2083"/>
              <a:ext cx="30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550" name="Line 47"/>
            <p:cNvSpPr/>
            <p:nvPr/>
          </p:nvSpPr>
          <p:spPr>
            <a:xfrm>
              <a:off x="806" y="2935"/>
              <a:ext cx="136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51" name="Text Box 48"/>
            <p:cNvSpPr txBox="1"/>
            <p:nvPr/>
          </p:nvSpPr>
          <p:spPr>
            <a:xfrm>
              <a:off x="1905" y="2521"/>
              <a:ext cx="2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800" b="0" baseline="3000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800" b="0" baseline="30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552" name="Text Box 49"/>
            <p:cNvSpPr txBox="1"/>
            <p:nvPr/>
          </p:nvSpPr>
          <p:spPr>
            <a:xfrm>
              <a:off x="1837" y="3249"/>
              <a:ext cx="42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baseline="30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553" name="Text Box 50"/>
            <p:cNvSpPr txBox="1"/>
            <p:nvPr/>
          </p:nvSpPr>
          <p:spPr>
            <a:xfrm>
              <a:off x="1825" y="2889"/>
              <a:ext cx="37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3000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800" b="0" baseline="30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554" name="Line 51"/>
            <p:cNvSpPr/>
            <p:nvPr/>
          </p:nvSpPr>
          <p:spPr>
            <a:xfrm>
              <a:off x="1889" y="2851"/>
              <a:ext cx="264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1555" name="Line 52"/>
            <p:cNvSpPr/>
            <p:nvPr/>
          </p:nvSpPr>
          <p:spPr>
            <a:xfrm>
              <a:off x="799" y="3295"/>
              <a:ext cx="70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56" name="Line 53"/>
            <p:cNvSpPr/>
            <p:nvPr/>
          </p:nvSpPr>
          <p:spPr>
            <a:xfrm>
              <a:off x="793" y="2568"/>
              <a:ext cx="72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57" name="Text Box 54"/>
            <p:cNvSpPr txBox="1"/>
            <p:nvPr/>
          </p:nvSpPr>
          <p:spPr>
            <a:xfrm>
              <a:off x="1020" y="2160"/>
              <a:ext cx="329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558" name="Text Box 55"/>
            <p:cNvSpPr txBox="1"/>
            <p:nvPr/>
          </p:nvSpPr>
          <p:spPr>
            <a:xfrm>
              <a:off x="975" y="3294"/>
              <a:ext cx="329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559" name="Text Box 56"/>
            <p:cNvSpPr txBox="1"/>
            <p:nvPr/>
          </p:nvSpPr>
          <p:spPr>
            <a:xfrm>
              <a:off x="385" y="2317"/>
              <a:ext cx="34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i1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560" name="Text Box 57"/>
            <p:cNvSpPr txBox="1"/>
            <p:nvPr/>
          </p:nvSpPr>
          <p:spPr>
            <a:xfrm>
              <a:off x="385" y="2689"/>
              <a:ext cx="34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i2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561" name="Text Box 58"/>
            <p:cNvSpPr txBox="1"/>
            <p:nvPr/>
          </p:nvSpPr>
          <p:spPr>
            <a:xfrm>
              <a:off x="385" y="3037"/>
              <a:ext cx="34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i3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562" name="Line 59"/>
            <p:cNvSpPr/>
            <p:nvPr/>
          </p:nvSpPr>
          <p:spPr>
            <a:xfrm>
              <a:off x="1506" y="2557"/>
              <a:ext cx="0" cy="38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63" name="Line 60"/>
            <p:cNvSpPr/>
            <p:nvPr/>
          </p:nvSpPr>
          <p:spPr>
            <a:xfrm>
              <a:off x="1506" y="2935"/>
              <a:ext cx="0" cy="36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none" w="med" len="med"/>
            </a:ln>
          </p:spPr>
        </p:sp>
        <p:grpSp>
          <p:nvGrpSpPr>
            <p:cNvPr id="21564" name="Group 61"/>
            <p:cNvGrpSpPr/>
            <p:nvPr/>
          </p:nvGrpSpPr>
          <p:grpSpPr>
            <a:xfrm>
              <a:off x="1678" y="3907"/>
              <a:ext cx="287" cy="120"/>
              <a:chOff x="720" y="1824"/>
              <a:chExt cx="261" cy="120"/>
            </a:xfrm>
          </p:grpSpPr>
          <p:sp>
            <p:nvSpPr>
              <p:cNvPr id="21565" name="Line 62"/>
              <p:cNvSpPr/>
              <p:nvPr/>
            </p:nvSpPr>
            <p:spPr>
              <a:xfrm>
                <a:off x="720" y="1824"/>
                <a:ext cx="261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1566" name="Line 63"/>
              <p:cNvSpPr/>
              <p:nvPr/>
            </p:nvSpPr>
            <p:spPr>
              <a:xfrm>
                <a:off x="778" y="1883"/>
                <a:ext cx="145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1567" name="Line 64"/>
              <p:cNvSpPr/>
              <p:nvPr/>
            </p:nvSpPr>
            <p:spPr>
              <a:xfrm>
                <a:off x="802" y="1944"/>
                <a:ext cx="86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1568" name="Line 65"/>
            <p:cNvSpPr/>
            <p:nvPr/>
          </p:nvSpPr>
          <p:spPr>
            <a:xfrm>
              <a:off x="1823" y="3763"/>
              <a:ext cx="0" cy="14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569" name="Oval 66"/>
            <p:cNvSpPr/>
            <p:nvPr/>
          </p:nvSpPr>
          <p:spPr>
            <a:xfrm>
              <a:off x="740" y="2521"/>
              <a:ext cx="74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1570" name="Oval 67"/>
            <p:cNvSpPr/>
            <p:nvPr/>
          </p:nvSpPr>
          <p:spPr>
            <a:xfrm>
              <a:off x="740" y="2899"/>
              <a:ext cx="74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1571" name="Oval 68"/>
            <p:cNvSpPr/>
            <p:nvPr/>
          </p:nvSpPr>
          <p:spPr>
            <a:xfrm>
              <a:off x="733" y="3259"/>
              <a:ext cx="75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1572" name="Oval 69"/>
            <p:cNvSpPr/>
            <p:nvPr/>
          </p:nvSpPr>
          <p:spPr>
            <a:xfrm>
              <a:off x="733" y="3733"/>
              <a:ext cx="75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1573" name="Oval 70"/>
            <p:cNvSpPr/>
            <p:nvPr/>
          </p:nvSpPr>
          <p:spPr>
            <a:xfrm>
              <a:off x="3343" y="3079"/>
              <a:ext cx="74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1574" name="Oval 71"/>
            <p:cNvSpPr/>
            <p:nvPr/>
          </p:nvSpPr>
          <p:spPr>
            <a:xfrm>
              <a:off x="3334" y="3745"/>
              <a:ext cx="75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grpSp>
          <p:nvGrpSpPr>
            <p:cNvPr id="21575" name="Group 72"/>
            <p:cNvGrpSpPr/>
            <p:nvPr/>
          </p:nvGrpSpPr>
          <p:grpSpPr>
            <a:xfrm>
              <a:off x="2154" y="2704"/>
              <a:ext cx="682" cy="795"/>
              <a:chOff x="883" y="1501"/>
              <a:chExt cx="682" cy="795"/>
            </a:xfrm>
          </p:grpSpPr>
          <p:sp>
            <p:nvSpPr>
              <p:cNvPr id="21576" name="Rectangle 73"/>
              <p:cNvSpPr/>
              <p:nvPr/>
            </p:nvSpPr>
            <p:spPr>
              <a:xfrm>
                <a:off x="883" y="1553"/>
                <a:ext cx="658" cy="726"/>
              </a:xfrm>
              <a:prstGeom prst="rect">
                <a:avLst/>
              </a:prstGeom>
              <a:gradFill rotWithShape="1">
                <a:gsLst>
                  <a:gs pos="0">
                    <a:srgbClr val="FF9900"/>
                  </a:gs>
                  <a:gs pos="100000">
                    <a:srgbClr val="764700"/>
                  </a:gs>
                </a:gsLst>
                <a:path path="shape">
                  <a:fillToRect l="50000" t="50000" r="50000" b="50000"/>
                </a:path>
                <a:tileRect/>
              </a:gra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21577" name="Text Box 74"/>
              <p:cNvSpPr txBox="1"/>
              <p:nvPr/>
            </p:nvSpPr>
            <p:spPr>
              <a:xfrm>
                <a:off x="927" y="1501"/>
                <a:ext cx="228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_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578" name="Text Box 75"/>
              <p:cNvSpPr txBox="1"/>
              <p:nvPr/>
            </p:nvSpPr>
            <p:spPr>
              <a:xfrm>
                <a:off x="915" y="1969"/>
                <a:ext cx="242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579" name="AutoShape 76"/>
              <p:cNvSpPr/>
              <p:nvPr/>
            </p:nvSpPr>
            <p:spPr>
              <a:xfrm rot="5400000">
                <a:off x="1150" y="1605"/>
                <a:ext cx="144" cy="132"/>
              </a:xfrm>
              <a:prstGeom prst="triangle">
                <a:avLst>
                  <a:gd name="adj" fmla="val 56245"/>
                </a:avLst>
              </a:prstGeom>
              <a:solidFill>
                <a:schemeClr val="bg1"/>
              </a:soli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21580" name="Text Box 77"/>
              <p:cNvSpPr txBox="1"/>
              <p:nvPr/>
            </p:nvSpPr>
            <p:spPr>
              <a:xfrm>
                <a:off x="1263" y="1521"/>
                <a:ext cx="276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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21581" name="Text Box 78"/>
              <p:cNvSpPr txBox="1"/>
              <p:nvPr/>
            </p:nvSpPr>
            <p:spPr>
              <a:xfrm>
                <a:off x="1323" y="1765"/>
                <a:ext cx="242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1582" name="Rectangle 79"/>
            <p:cNvSpPr/>
            <p:nvPr/>
          </p:nvSpPr>
          <p:spPr>
            <a:xfrm>
              <a:off x="975" y="3203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1583" name="Rectangle 80"/>
            <p:cNvSpPr/>
            <p:nvPr/>
          </p:nvSpPr>
          <p:spPr>
            <a:xfrm>
              <a:off x="975" y="288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1584" name="Rectangle 81"/>
            <p:cNvSpPr/>
            <p:nvPr/>
          </p:nvSpPr>
          <p:spPr>
            <a:xfrm>
              <a:off x="975" y="247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1585" name="Rectangle 82"/>
            <p:cNvSpPr/>
            <p:nvPr/>
          </p:nvSpPr>
          <p:spPr>
            <a:xfrm>
              <a:off x="2336" y="243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</p:grpSp>
      <p:sp>
        <p:nvSpPr>
          <p:cNvPr id="43092" name="Text Box 84"/>
          <p:cNvSpPr txBox="1"/>
          <p:nvPr/>
        </p:nvSpPr>
        <p:spPr>
          <a:xfrm>
            <a:off x="611188" y="549275"/>
            <a:ext cx="3095625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2. 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典型电路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1587" name="Group 88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21588" name="Picture 8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1589" name="Text Box 90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3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20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20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4" dur="500"/>
                                        <p:tgtEl>
                                          <p:spTgt spid="43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30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75" fill="hold"/>
                                        <p:tgtEl>
                                          <p:spTgt spid="43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" fill="hold"/>
                                        <p:tgtEl>
                                          <p:spTgt spid="43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" fill="hold"/>
                                        <p:tgtEl>
                                          <p:spTgt spid="430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5" fill="hold"/>
                                        <p:tgtEl>
                                          <p:spTgt spid="430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3000"/>
                                        <p:tgtEl>
                                          <p:spTgt spid="4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/>
      <p:bldP spid="43011" grpId="0"/>
      <p:bldP spid="43012" grpId="0"/>
      <p:bldP spid="43013" grpId="0"/>
      <p:bldP spid="43035" grpId="0" animBg="1"/>
      <p:bldP spid="4309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Text Box 2"/>
          <p:cNvSpPr txBox="1"/>
          <p:nvPr/>
        </p:nvSpPr>
        <p:spPr>
          <a:xfrm>
            <a:off x="539750" y="549275"/>
            <a:ext cx="3671888" cy="579438"/>
          </a:xfrm>
          <a:prstGeom prst="rect">
            <a:avLst/>
          </a:prstGeom>
          <a:noFill/>
          <a:ln w="9525">
            <a:noFill/>
          </a:ln>
        </p:spPr>
        <p:txBody>
          <a:bodyPr lIns="198000" rIns="198000" anchor="t" anchorCtr="0">
            <a:spAutoFit/>
          </a:bodyPr>
          <a:p>
            <a:pPr marL="342900" indent="-342900">
              <a:buAutoNum type="circleNumDbPlain" startAt="2"/>
            </a:pP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非倒向比例器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2291" name="Group 3"/>
          <p:cNvGrpSpPr/>
          <p:nvPr/>
        </p:nvGrpSpPr>
        <p:grpSpPr>
          <a:xfrm>
            <a:off x="5940425" y="1125538"/>
            <a:ext cx="2274888" cy="1062037"/>
            <a:chOff x="1164" y="2613"/>
            <a:chExt cx="1056" cy="554"/>
          </a:xfrm>
        </p:grpSpPr>
        <p:sp>
          <p:nvSpPr>
            <p:cNvPr id="22531" name="Text Box 4"/>
            <p:cNvSpPr txBox="1"/>
            <p:nvPr/>
          </p:nvSpPr>
          <p:spPr>
            <a:xfrm>
              <a:off x="1238" y="2613"/>
              <a:ext cx="940" cy="3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98000" rIns="198000" anchor="t" anchorCtr="0">
              <a:spAutoFit/>
            </a:bodyPr>
            <a:p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3200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 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3200" b="0" baseline="3000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 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32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32" name="Text Box 5"/>
            <p:cNvSpPr txBox="1"/>
            <p:nvPr/>
          </p:nvSpPr>
          <p:spPr>
            <a:xfrm>
              <a:off x="1274" y="2865"/>
              <a:ext cx="946" cy="30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3200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 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3200" b="0" baseline="3000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 0</a:t>
              </a:r>
              <a:endPara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33" name="AutoShape 6"/>
            <p:cNvSpPr/>
            <p:nvPr/>
          </p:nvSpPr>
          <p:spPr>
            <a:xfrm>
              <a:off x="1164" y="2796"/>
              <a:ext cx="48" cy="336"/>
            </a:xfrm>
            <a:prstGeom prst="leftBrace">
              <a:avLst>
                <a:gd name="adj1" fmla="val 58268"/>
                <a:gd name="adj2" fmla="val 50000"/>
              </a:avLst>
            </a:prstGeom>
            <a:noFill/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</p:grpSp>
      <p:sp>
        <p:nvSpPr>
          <p:cNvPr id="12295" name="Text Box 7"/>
          <p:cNvSpPr txBox="1"/>
          <p:nvPr/>
        </p:nvSpPr>
        <p:spPr>
          <a:xfrm>
            <a:off x="5254625" y="3141663"/>
            <a:ext cx="3889375" cy="1555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50000"/>
              </a:lnSpc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=[(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+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)/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3200" b="0" i="1" baseline="-250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=(1+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lang="en-US" altLang="zh-CN" sz="3200" b="0" i="1" baseline="-250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332" name="Text Box 44"/>
          <p:cNvSpPr txBox="1"/>
          <p:nvPr/>
        </p:nvSpPr>
        <p:spPr>
          <a:xfrm>
            <a:off x="5435600" y="2492375"/>
            <a:ext cx="3311525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en-US" altLang="zh-CN" sz="32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30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)/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30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334" name="Text Box 46"/>
          <p:cNvSpPr txBox="1"/>
          <p:nvPr/>
        </p:nvSpPr>
        <p:spPr>
          <a:xfrm>
            <a:off x="4500563" y="549275"/>
            <a:ext cx="3960812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根据“虚短”和“虚断”</a:t>
            </a:r>
            <a:endParaRPr lang="zh-CN" altLang="en-US" sz="2800" baseline="-250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2336" name="Text Box 48"/>
          <p:cNvSpPr txBox="1"/>
          <p:nvPr/>
        </p:nvSpPr>
        <p:spPr>
          <a:xfrm>
            <a:off x="971550" y="4437063"/>
            <a:ext cx="316865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spcBef>
                <a:spcPct val="50000"/>
              </a:spcBef>
              <a:buAutoNum type="circleNumDbPlain"/>
            </a:pP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en-US" altLang="zh-CN" sz="2800" b="0" i="1" dirty="0">
                <a:latin typeface="Times New Roman" panose="02020603050405020304" pitchFamily="18" charset="0"/>
                <a:ea typeface="仿宋_GB2312" pitchFamily="49" charset="-122"/>
              </a:rPr>
              <a:t>u</a:t>
            </a:r>
            <a:r>
              <a:rPr lang="en-US" altLang="zh-CN" sz="2800" b="0" baseline="-25000" dirty="0">
                <a:latin typeface="Times New Roman" panose="02020603050405020304" pitchFamily="18" charset="0"/>
                <a:ea typeface="仿宋_GB2312" pitchFamily="49" charset="-122"/>
              </a:rPr>
              <a:t>o</a:t>
            </a:r>
            <a:r>
              <a:rPr lang="zh-CN" altLang="en-US" sz="2800" dirty="0">
                <a:latin typeface="Arial" panose="020B0604020202020204" pitchFamily="34" charset="0"/>
                <a:ea typeface="楷体_GB2312" pitchFamily="49" charset="-122"/>
              </a:rPr>
              <a:t>与</a:t>
            </a:r>
            <a:r>
              <a:rPr lang="en-US" altLang="zh-CN" sz="2800" b="0" i="1" dirty="0">
                <a:latin typeface="Times New Roman" panose="02020603050405020304" pitchFamily="18" charset="0"/>
                <a:ea typeface="仿宋_GB2312" pitchFamily="49" charset="-122"/>
              </a:rPr>
              <a:t>u</a:t>
            </a:r>
            <a:r>
              <a:rPr lang="en-US" altLang="zh-CN" sz="2800" b="0" baseline="-25000" dirty="0">
                <a:latin typeface="Times New Roman" panose="02020603050405020304" pitchFamily="18" charset="0"/>
                <a:ea typeface="仿宋_GB2312" pitchFamily="49" charset="-122"/>
              </a:rPr>
              <a:t>i</a:t>
            </a:r>
            <a:r>
              <a:rPr lang="zh-CN" altLang="en-US" sz="2800" dirty="0">
                <a:latin typeface="Arial" panose="020B0604020202020204" pitchFamily="34" charset="0"/>
                <a:ea typeface="楷体_GB2312" pitchFamily="49" charset="-122"/>
              </a:rPr>
              <a:t>同相</a:t>
            </a:r>
            <a:endParaRPr lang="zh-CN" altLang="en-US" sz="280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2337" name="Text Box 49"/>
          <p:cNvSpPr txBox="1"/>
          <p:nvPr/>
        </p:nvSpPr>
        <p:spPr>
          <a:xfrm>
            <a:off x="971550" y="5084763"/>
            <a:ext cx="7127875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buAutoNum type="circleNumDbPlain" startAt="2"/>
            </a:pPr>
            <a:r>
              <a:rPr lang="zh-CN" altLang="en-US" sz="2800" dirty="0">
                <a:latin typeface="Arial" panose="020B0604020202020204" pitchFamily="34" charset="0"/>
                <a:ea typeface="楷体_GB2312" pitchFamily="49" charset="-122"/>
              </a:rPr>
              <a:t>当</a:t>
            </a:r>
            <a:r>
              <a:rPr lang="en-US" altLang="zh-CN" sz="2800" b="0" i="1" dirty="0">
                <a:latin typeface="Times New Roman" panose="02020603050405020304" pitchFamily="18" charset="0"/>
                <a:ea typeface="仿宋_GB2312" pitchFamily="49" charset="-122"/>
              </a:rPr>
              <a:t>R</a:t>
            </a:r>
            <a:r>
              <a:rPr lang="en-US" altLang="zh-CN" sz="2800" b="0" baseline="-25000" dirty="0">
                <a:latin typeface="Times New Roman" panose="02020603050405020304" pitchFamily="18" charset="0"/>
                <a:ea typeface="仿宋_GB2312" pitchFamily="49" charset="-122"/>
              </a:rPr>
              <a:t>2</a:t>
            </a:r>
            <a:r>
              <a:rPr lang="en-US" altLang="zh-CN" sz="2800" b="0" dirty="0">
                <a:latin typeface="Times New Roman" panose="02020603050405020304" pitchFamily="18" charset="0"/>
                <a:ea typeface="仿宋_GB2312" pitchFamily="49" charset="-122"/>
              </a:rPr>
              <a:t>=</a:t>
            </a:r>
            <a:r>
              <a:rPr lang="en-US" altLang="zh-CN" sz="2800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</a:t>
            </a:r>
            <a:r>
              <a:rPr lang="zh-CN" altLang="en-US" sz="2800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，</a:t>
            </a:r>
            <a:r>
              <a:rPr lang="en-US" altLang="zh-CN" sz="2800" b="0" i="1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R</a:t>
            </a:r>
            <a:r>
              <a:rPr lang="en-US" altLang="zh-CN" sz="2800" b="0" baseline="-2500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1</a:t>
            </a:r>
            <a:r>
              <a:rPr lang="en-US" altLang="zh-CN" sz="2800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=0</a:t>
            </a:r>
            <a:r>
              <a:rPr lang="zh-CN" altLang="en-US" sz="2800" dirty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时，</a:t>
            </a:r>
            <a:r>
              <a:rPr lang="zh-CN" altLang="en-US" sz="2800" i="1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0" i="1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u</a:t>
            </a:r>
            <a:r>
              <a:rPr lang="en-US" altLang="zh-CN" sz="2800" b="0" baseline="-2500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o</a:t>
            </a:r>
            <a:r>
              <a:rPr lang="en-US" altLang="zh-CN" sz="2800" b="0" i="1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=u</a:t>
            </a:r>
            <a:r>
              <a:rPr lang="en-US" altLang="zh-CN" sz="2800" b="0" baseline="-2500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i</a:t>
            </a:r>
            <a:r>
              <a:rPr lang="zh-CN" altLang="en-US" sz="2800" baseline="-2500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，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为电压跟随器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12339" name="Text Box 51"/>
          <p:cNvSpPr txBox="1"/>
          <p:nvPr/>
        </p:nvSpPr>
        <p:spPr>
          <a:xfrm>
            <a:off x="971550" y="5661025"/>
            <a:ext cx="7056438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buAutoNum type="circleNumDbPlain" startAt="3"/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输入、输出关系与运放本身参数无关。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2540" name="Group 53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2541" name="Picture 54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2542" name="Text Box 55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2543" name="Group 56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2544" name="Picture 57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2545" name="Text Box 58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2350" name="Group 62"/>
          <p:cNvGrpSpPr/>
          <p:nvPr/>
        </p:nvGrpSpPr>
        <p:grpSpPr>
          <a:xfrm>
            <a:off x="684213" y="3716338"/>
            <a:ext cx="1644650" cy="850900"/>
            <a:chOff x="385" y="3022"/>
            <a:chExt cx="1036" cy="536"/>
          </a:xfrm>
        </p:grpSpPr>
        <p:pic>
          <p:nvPicPr>
            <p:cNvPr id="22547" name="Picture 63" descr="1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2548" name="Text Box 64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结论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12353" name="Group 65"/>
          <p:cNvGrpSpPr/>
          <p:nvPr/>
        </p:nvGrpSpPr>
        <p:grpSpPr>
          <a:xfrm>
            <a:off x="684213" y="1052513"/>
            <a:ext cx="4400550" cy="2628900"/>
            <a:chOff x="2517" y="391"/>
            <a:chExt cx="2772" cy="1656"/>
          </a:xfrm>
        </p:grpSpPr>
        <p:sp>
          <p:nvSpPr>
            <p:cNvPr id="22550" name="Text Box 66"/>
            <p:cNvSpPr txBox="1"/>
            <p:nvPr/>
          </p:nvSpPr>
          <p:spPr>
            <a:xfrm>
              <a:off x="2894" y="751"/>
              <a:ext cx="29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51" name="Line 67"/>
            <p:cNvSpPr/>
            <p:nvPr/>
          </p:nvSpPr>
          <p:spPr>
            <a:xfrm>
              <a:off x="2653" y="1117"/>
              <a:ext cx="125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52" name="Text Box 68"/>
            <p:cNvSpPr txBox="1"/>
            <p:nvPr/>
          </p:nvSpPr>
          <p:spPr>
            <a:xfrm>
              <a:off x="2517" y="1351"/>
              <a:ext cx="27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53" name="Line 69"/>
            <p:cNvSpPr/>
            <p:nvPr/>
          </p:nvSpPr>
          <p:spPr>
            <a:xfrm flipH="1" flipV="1">
              <a:off x="3645" y="751"/>
              <a:ext cx="324" cy="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54" name="Line 70"/>
            <p:cNvSpPr/>
            <p:nvPr/>
          </p:nvSpPr>
          <p:spPr>
            <a:xfrm>
              <a:off x="3651" y="754"/>
              <a:ext cx="0" cy="127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22555" name="Line 71"/>
            <p:cNvSpPr/>
            <p:nvPr/>
          </p:nvSpPr>
          <p:spPr>
            <a:xfrm flipV="1">
              <a:off x="3651" y="1434"/>
              <a:ext cx="113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22556" name="Line 72"/>
            <p:cNvSpPr/>
            <p:nvPr/>
          </p:nvSpPr>
          <p:spPr>
            <a:xfrm flipH="1" flipV="1">
              <a:off x="4785" y="935"/>
              <a:ext cx="0" cy="49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22557" name="Line 73"/>
            <p:cNvSpPr/>
            <p:nvPr/>
          </p:nvSpPr>
          <p:spPr>
            <a:xfrm flipV="1">
              <a:off x="4422" y="935"/>
              <a:ext cx="68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58" name="Text Box 74"/>
            <p:cNvSpPr txBox="1"/>
            <p:nvPr/>
          </p:nvSpPr>
          <p:spPr>
            <a:xfrm>
              <a:off x="4105" y="1480"/>
              <a:ext cx="329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59" name="Line 75"/>
            <p:cNvSpPr/>
            <p:nvPr/>
          </p:nvSpPr>
          <p:spPr>
            <a:xfrm>
              <a:off x="2653" y="2024"/>
              <a:ext cx="240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60" name="Text Box 76"/>
            <p:cNvSpPr txBox="1"/>
            <p:nvPr/>
          </p:nvSpPr>
          <p:spPr>
            <a:xfrm>
              <a:off x="3685" y="1531"/>
              <a:ext cx="3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61" name="Line 77"/>
            <p:cNvSpPr/>
            <p:nvPr/>
          </p:nvSpPr>
          <p:spPr>
            <a:xfrm>
              <a:off x="3651" y="691"/>
              <a:ext cx="208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2562" name="Text Box 78"/>
            <p:cNvSpPr txBox="1"/>
            <p:nvPr/>
          </p:nvSpPr>
          <p:spPr>
            <a:xfrm>
              <a:off x="3325" y="786"/>
              <a:ext cx="38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baseline="30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63" name="Text Box 79"/>
            <p:cNvSpPr txBox="1"/>
            <p:nvPr/>
          </p:nvSpPr>
          <p:spPr>
            <a:xfrm>
              <a:off x="3277" y="1240"/>
              <a:ext cx="30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3000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800" b="0" baseline="30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2564" name="Text Box 80"/>
            <p:cNvSpPr txBox="1"/>
            <p:nvPr/>
          </p:nvSpPr>
          <p:spPr>
            <a:xfrm>
              <a:off x="3647" y="391"/>
              <a:ext cx="2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800" b="0" baseline="3000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800" b="0" baseline="30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2565" name="Text Box 81"/>
            <p:cNvSpPr txBox="1"/>
            <p:nvPr/>
          </p:nvSpPr>
          <p:spPr>
            <a:xfrm>
              <a:off x="4991" y="985"/>
              <a:ext cx="23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66" name="Text Box 82"/>
            <p:cNvSpPr txBox="1"/>
            <p:nvPr/>
          </p:nvSpPr>
          <p:spPr>
            <a:xfrm>
              <a:off x="5003" y="1529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67" name="Text Box 83"/>
            <p:cNvSpPr txBox="1"/>
            <p:nvPr/>
          </p:nvSpPr>
          <p:spPr>
            <a:xfrm>
              <a:off x="4984" y="1253"/>
              <a:ext cx="30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68" name="Text Box 84"/>
            <p:cNvSpPr txBox="1"/>
            <p:nvPr/>
          </p:nvSpPr>
          <p:spPr>
            <a:xfrm>
              <a:off x="2517" y="1141"/>
              <a:ext cx="23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69" name="Text Box 85"/>
            <p:cNvSpPr txBox="1"/>
            <p:nvPr/>
          </p:nvSpPr>
          <p:spPr>
            <a:xfrm>
              <a:off x="2530" y="1565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70" name="Line 86"/>
            <p:cNvSpPr/>
            <p:nvPr/>
          </p:nvSpPr>
          <p:spPr>
            <a:xfrm>
              <a:off x="3658" y="1039"/>
              <a:ext cx="207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2571" name="Text Box 87"/>
            <p:cNvSpPr txBox="1"/>
            <p:nvPr/>
          </p:nvSpPr>
          <p:spPr>
            <a:xfrm>
              <a:off x="3606" y="709"/>
              <a:ext cx="2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800" b="0" baseline="3000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sz="2800" b="0" baseline="30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2572" name="Oval 88"/>
            <p:cNvSpPr/>
            <p:nvPr/>
          </p:nvSpPr>
          <p:spPr>
            <a:xfrm>
              <a:off x="2584" y="1081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2573" name="Oval 89"/>
            <p:cNvSpPr/>
            <p:nvPr/>
          </p:nvSpPr>
          <p:spPr>
            <a:xfrm>
              <a:off x="2608" y="1979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2574" name="Oval 90"/>
            <p:cNvSpPr/>
            <p:nvPr/>
          </p:nvSpPr>
          <p:spPr>
            <a:xfrm>
              <a:off x="5103" y="890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2575" name="Oval 91"/>
            <p:cNvSpPr/>
            <p:nvPr/>
          </p:nvSpPr>
          <p:spPr>
            <a:xfrm>
              <a:off x="5057" y="1979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grpSp>
          <p:nvGrpSpPr>
            <p:cNvPr id="22576" name="Group 92"/>
            <p:cNvGrpSpPr/>
            <p:nvPr/>
          </p:nvGrpSpPr>
          <p:grpSpPr>
            <a:xfrm>
              <a:off x="3878" y="527"/>
              <a:ext cx="682" cy="795"/>
              <a:chOff x="883" y="1501"/>
              <a:chExt cx="682" cy="795"/>
            </a:xfrm>
          </p:grpSpPr>
          <p:sp>
            <p:nvSpPr>
              <p:cNvPr id="22577" name="Rectangle 93"/>
              <p:cNvSpPr/>
              <p:nvPr/>
            </p:nvSpPr>
            <p:spPr>
              <a:xfrm>
                <a:off x="883" y="1553"/>
                <a:ext cx="658" cy="726"/>
              </a:xfrm>
              <a:prstGeom prst="rect">
                <a:avLst/>
              </a:prstGeom>
              <a:gradFill rotWithShape="1">
                <a:gsLst>
                  <a:gs pos="0">
                    <a:srgbClr val="FF9900"/>
                  </a:gs>
                  <a:gs pos="100000">
                    <a:srgbClr val="764700"/>
                  </a:gs>
                </a:gsLst>
                <a:path path="shape">
                  <a:fillToRect l="50000" t="50000" r="50000" b="50000"/>
                </a:path>
                <a:tileRect/>
              </a:gra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22578" name="Text Box 94"/>
              <p:cNvSpPr txBox="1"/>
              <p:nvPr/>
            </p:nvSpPr>
            <p:spPr>
              <a:xfrm>
                <a:off x="927" y="1501"/>
                <a:ext cx="228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_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579" name="Text Box 95"/>
              <p:cNvSpPr txBox="1"/>
              <p:nvPr/>
            </p:nvSpPr>
            <p:spPr>
              <a:xfrm>
                <a:off x="915" y="1969"/>
                <a:ext cx="242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580" name="AutoShape 96"/>
              <p:cNvSpPr/>
              <p:nvPr/>
            </p:nvSpPr>
            <p:spPr>
              <a:xfrm rot="5400000">
                <a:off x="1150" y="1605"/>
                <a:ext cx="144" cy="132"/>
              </a:xfrm>
              <a:prstGeom prst="triangle">
                <a:avLst>
                  <a:gd name="adj" fmla="val 56245"/>
                </a:avLst>
              </a:prstGeom>
              <a:solidFill>
                <a:schemeClr val="bg1"/>
              </a:soli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22581" name="Text Box 97"/>
              <p:cNvSpPr txBox="1"/>
              <p:nvPr/>
            </p:nvSpPr>
            <p:spPr>
              <a:xfrm>
                <a:off x="1263" y="1521"/>
                <a:ext cx="276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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22582" name="Text Box 98"/>
              <p:cNvSpPr txBox="1"/>
              <p:nvPr/>
            </p:nvSpPr>
            <p:spPr>
              <a:xfrm>
                <a:off x="1323" y="1765"/>
                <a:ext cx="242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2583" name="Rectangle 99"/>
            <p:cNvSpPr/>
            <p:nvPr/>
          </p:nvSpPr>
          <p:spPr>
            <a:xfrm>
              <a:off x="4059" y="138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2584" name="Rectangle 100"/>
            <p:cNvSpPr/>
            <p:nvPr/>
          </p:nvSpPr>
          <p:spPr>
            <a:xfrm>
              <a:off x="2835" y="1071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2585" name="Rectangle 101"/>
            <p:cNvSpPr/>
            <p:nvPr/>
          </p:nvSpPr>
          <p:spPr>
            <a:xfrm>
              <a:off x="3560" y="157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</p:grpSp>
      <p:grpSp>
        <p:nvGrpSpPr>
          <p:cNvPr id="22586" name="Group 105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22587" name="Picture 106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2588" name="Text Box 107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2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3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3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3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20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12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20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2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12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"/>
                                        <p:tgtEl>
                                          <p:spTgt spid="12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"/>
                                        <p:tgtEl>
                                          <p:spTgt spid="12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  <p:bldP spid="12295" grpId="0"/>
      <p:bldP spid="12332" grpId="0"/>
      <p:bldP spid="12334" grpId="0"/>
      <p:bldP spid="12336" grpId="0"/>
      <p:bldP spid="12337" grpId="0"/>
      <p:bldP spid="1233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Text Box 2"/>
          <p:cNvSpPr txBox="1"/>
          <p:nvPr/>
        </p:nvSpPr>
        <p:spPr>
          <a:xfrm>
            <a:off x="468313" y="549275"/>
            <a:ext cx="338455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buAutoNum type="circleNumDbPlain" startAt="3"/>
            </a:pP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电压跟随器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268" name="Text Box 4"/>
          <p:cNvSpPr txBox="1"/>
          <p:nvPr/>
        </p:nvSpPr>
        <p:spPr>
          <a:xfrm>
            <a:off x="2843213" y="3500438"/>
            <a:ext cx="5400675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① </a:t>
            </a:r>
            <a:r>
              <a:rPr lang="zh-CN" altLang="en-US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输入阻抗无穷大</a:t>
            </a:r>
            <a:r>
              <a:rPr lang="en-US" altLang="zh-CN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虚断</a:t>
            </a:r>
            <a:r>
              <a:rPr lang="en-US" altLang="zh-CN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；</a:t>
            </a:r>
            <a:endParaRPr lang="zh-CN" altLang="en-US" sz="2800" dirty="0">
              <a:solidFill>
                <a:srgbClr val="FFFF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269" name="Text Box 5"/>
          <p:cNvSpPr txBox="1"/>
          <p:nvPr/>
        </p:nvSpPr>
        <p:spPr>
          <a:xfrm>
            <a:off x="2843213" y="4149725"/>
            <a:ext cx="3744912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② </a:t>
            </a:r>
            <a:r>
              <a:rPr lang="zh-CN" altLang="en-US" sz="2800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输出阻抗为零；</a:t>
            </a:r>
            <a:endParaRPr lang="zh-CN" altLang="en-US" sz="2800" dirty="0">
              <a:solidFill>
                <a:srgbClr val="FFFF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270" name="Text Box 6"/>
          <p:cNvSpPr txBox="1"/>
          <p:nvPr/>
        </p:nvSpPr>
        <p:spPr>
          <a:xfrm>
            <a:off x="971550" y="5445125"/>
            <a:ext cx="74168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应用：在电路中起隔离前后两级电路的作用。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271" name="Text Box 7"/>
          <p:cNvSpPr txBox="1"/>
          <p:nvPr/>
        </p:nvSpPr>
        <p:spPr>
          <a:xfrm>
            <a:off x="2843213" y="4797425"/>
            <a:ext cx="3024187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2800" dirty="0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③  </a:t>
            </a:r>
            <a:r>
              <a:rPr lang="en-US" altLang="zh-CN" sz="2800" b="0" i="1" dirty="0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="0" baseline="-25000" dirty="0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en-US" altLang="zh-CN" sz="2800" b="0" dirty="0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2800" b="0" i="1" dirty="0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="0" baseline="-25000" dirty="0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sz="2800" dirty="0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2800" i="1" baseline="-25000" dirty="0">
              <a:solidFill>
                <a:srgbClr val="FFFF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96" name="Rectangle 32"/>
          <p:cNvSpPr>
            <a:spLocks noChangeArrowheads="1"/>
          </p:cNvSpPr>
          <p:nvPr/>
        </p:nvSpPr>
        <p:spPr bwMode="auto">
          <a:xfrm>
            <a:off x="1692275" y="1268413"/>
            <a:ext cx="792163" cy="1727200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电</a:t>
            </a:r>
            <a:endParaRPr kumimoji="0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路</a:t>
            </a:r>
            <a:endParaRPr kumimoji="0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A</a:t>
            </a:r>
            <a:endParaRPr kumimoji="0" lang="en-US" altLang="zh-CN" sz="28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1297" name="Rectangle 33"/>
          <p:cNvSpPr>
            <a:spLocks noChangeArrowheads="1"/>
          </p:cNvSpPr>
          <p:nvPr/>
        </p:nvSpPr>
        <p:spPr bwMode="auto">
          <a:xfrm>
            <a:off x="6588125" y="1196975"/>
            <a:ext cx="792163" cy="1800225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电</a:t>
            </a:r>
            <a:endParaRPr kumimoji="0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路</a:t>
            </a:r>
            <a:endParaRPr kumimoji="0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B</a:t>
            </a:r>
            <a:endParaRPr kumimoji="0" lang="en-US" altLang="zh-CN" sz="28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grpSp>
        <p:nvGrpSpPr>
          <p:cNvPr id="23560" name="Group 65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3561" name="Picture 66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3562" name="Text Box 67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3563" name="Group 68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3564" name="Picture 6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3565" name="Text Box 70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1338" name="Group 74"/>
          <p:cNvGrpSpPr/>
          <p:nvPr/>
        </p:nvGrpSpPr>
        <p:grpSpPr>
          <a:xfrm>
            <a:off x="900113" y="3284538"/>
            <a:ext cx="1644650" cy="850900"/>
            <a:chOff x="385" y="3022"/>
            <a:chExt cx="1036" cy="536"/>
          </a:xfrm>
        </p:grpSpPr>
        <p:pic>
          <p:nvPicPr>
            <p:cNvPr id="23567" name="Picture 75" descr="1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3568" name="Text Box 76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特点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11348" name="Group 84"/>
          <p:cNvGrpSpPr/>
          <p:nvPr/>
        </p:nvGrpSpPr>
        <p:grpSpPr>
          <a:xfrm>
            <a:off x="2627313" y="692150"/>
            <a:ext cx="4057650" cy="2233613"/>
            <a:chOff x="1655" y="436"/>
            <a:chExt cx="2556" cy="1407"/>
          </a:xfrm>
        </p:grpSpPr>
        <p:sp>
          <p:nvSpPr>
            <p:cNvPr id="23570" name="Line 15"/>
            <p:cNvSpPr/>
            <p:nvPr/>
          </p:nvSpPr>
          <p:spPr>
            <a:xfrm>
              <a:off x="1804" y="1033"/>
              <a:ext cx="81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571" name="Line 16"/>
            <p:cNvSpPr/>
            <p:nvPr/>
          </p:nvSpPr>
          <p:spPr>
            <a:xfrm flipH="1">
              <a:off x="2388" y="662"/>
              <a:ext cx="23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572" name="Line 17"/>
            <p:cNvSpPr/>
            <p:nvPr/>
          </p:nvSpPr>
          <p:spPr>
            <a:xfrm>
              <a:off x="2394" y="662"/>
              <a:ext cx="0" cy="75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573" name="Line 18"/>
            <p:cNvSpPr/>
            <p:nvPr/>
          </p:nvSpPr>
          <p:spPr>
            <a:xfrm>
              <a:off x="2394" y="1416"/>
              <a:ext cx="101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574" name="Line 19"/>
            <p:cNvSpPr/>
            <p:nvPr/>
          </p:nvSpPr>
          <p:spPr>
            <a:xfrm>
              <a:off x="1816" y="1809"/>
              <a:ext cx="207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575" name="Line 20"/>
            <p:cNvSpPr/>
            <p:nvPr/>
          </p:nvSpPr>
          <p:spPr>
            <a:xfrm flipV="1">
              <a:off x="3198" y="845"/>
              <a:ext cx="68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576" name="Text Box 21"/>
            <p:cNvSpPr txBox="1"/>
            <p:nvPr/>
          </p:nvSpPr>
          <p:spPr>
            <a:xfrm>
              <a:off x="3782" y="846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77" name="Text Box 22"/>
            <p:cNvSpPr txBox="1"/>
            <p:nvPr/>
          </p:nvSpPr>
          <p:spPr>
            <a:xfrm>
              <a:off x="3788" y="1372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78" name="Line 24"/>
            <p:cNvSpPr/>
            <p:nvPr/>
          </p:nvSpPr>
          <p:spPr>
            <a:xfrm flipV="1">
              <a:off x="3406" y="842"/>
              <a:ext cx="0" cy="57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23579" name="Text Box 25"/>
            <p:cNvSpPr txBox="1"/>
            <p:nvPr/>
          </p:nvSpPr>
          <p:spPr>
            <a:xfrm>
              <a:off x="1655" y="1007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80" name="Text Box 26"/>
            <p:cNvSpPr txBox="1"/>
            <p:nvPr/>
          </p:nvSpPr>
          <p:spPr>
            <a:xfrm>
              <a:off x="1685" y="1396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81" name="Text Box 27"/>
            <p:cNvSpPr txBox="1"/>
            <p:nvPr/>
          </p:nvSpPr>
          <p:spPr>
            <a:xfrm>
              <a:off x="1655" y="1261"/>
              <a:ext cx="289" cy="326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82" name="Oval 28"/>
            <p:cNvSpPr/>
            <p:nvPr/>
          </p:nvSpPr>
          <p:spPr>
            <a:xfrm>
              <a:off x="1731" y="997"/>
              <a:ext cx="69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3583" name="Oval 29"/>
            <p:cNvSpPr/>
            <p:nvPr/>
          </p:nvSpPr>
          <p:spPr>
            <a:xfrm>
              <a:off x="1755" y="1775"/>
              <a:ext cx="69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3584" name="Oval 30"/>
            <p:cNvSpPr/>
            <p:nvPr/>
          </p:nvSpPr>
          <p:spPr>
            <a:xfrm>
              <a:off x="3858" y="806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3585" name="Oval 31"/>
            <p:cNvSpPr/>
            <p:nvPr/>
          </p:nvSpPr>
          <p:spPr>
            <a:xfrm>
              <a:off x="3870" y="1775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3586" name="Text Box 48"/>
            <p:cNvSpPr txBox="1"/>
            <p:nvPr/>
          </p:nvSpPr>
          <p:spPr>
            <a:xfrm>
              <a:off x="3650" y="1208"/>
              <a:ext cx="56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8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grpSp>
          <p:nvGrpSpPr>
            <p:cNvPr id="23587" name="Group 77"/>
            <p:cNvGrpSpPr/>
            <p:nvPr/>
          </p:nvGrpSpPr>
          <p:grpSpPr>
            <a:xfrm>
              <a:off x="2562" y="436"/>
              <a:ext cx="682" cy="795"/>
              <a:chOff x="883" y="1501"/>
              <a:chExt cx="682" cy="795"/>
            </a:xfrm>
          </p:grpSpPr>
          <p:sp>
            <p:nvSpPr>
              <p:cNvPr id="23588" name="Rectangle 78"/>
              <p:cNvSpPr/>
              <p:nvPr/>
            </p:nvSpPr>
            <p:spPr>
              <a:xfrm>
                <a:off x="883" y="1553"/>
                <a:ext cx="658" cy="726"/>
              </a:xfrm>
              <a:prstGeom prst="rect">
                <a:avLst/>
              </a:prstGeom>
              <a:gradFill rotWithShape="1">
                <a:gsLst>
                  <a:gs pos="0">
                    <a:srgbClr val="FF9900"/>
                  </a:gs>
                  <a:gs pos="100000">
                    <a:srgbClr val="764700"/>
                  </a:gs>
                </a:gsLst>
                <a:path path="shape">
                  <a:fillToRect l="50000" t="50000" r="50000" b="50000"/>
                </a:path>
                <a:tileRect/>
              </a:gra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23589" name="Text Box 79"/>
              <p:cNvSpPr txBox="1"/>
              <p:nvPr/>
            </p:nvSpPr>
            <p:spPr>
              <a:xfrm>
                <a:off x="927" y="1501"/>
                <a:ext cx="228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_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90" name="Text Box 80"/>
              <p:cNvSpPr txBox="1"/>
              <p:nvPr/>
            </p:nvSpPr>
            <p:spPr>
              <a:xfrm>
                <a:off x="915" y="1969"/>
                <a:ext cx="242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91" name="AutoShape 81"/>
              <p:cNvSpPr/>
              <p:nvPr/>
            </p:nvSpPr>
            <p:spPr>
              <a:xfrm rot="5400000">
                <a:off x="1150" y="1605"/>
                <a:ext cx="144" cy="132"/>
              </a:xfrm>
              <a:prstGeom prst="triangle">
                <a:avLst>
                  <a:gd name="adj" fmla="val 56245"/>
                </a:avLst>
              </a:prstGeom>
              <a:solidFill>
                <a:schemeClr val="bg1"/>
              </a:soli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23592" name="Text Box 82"/>
              <p:cNvSpPr txBox="1"/>
              <p:nvPr/>
            </p:nvSpPr>
            <p:spPr>
              <a:xfrm>
                <a:off x="1263" y="1521"/>
                <a:ext cx="276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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23593" name="Text Box 83"/>
              <p:cNvSpPr txBox="1"/>
              <p:nvPr/>
            </p:nvSpPr>
            <p:spPr>
              <a:xfrm>
                <a:off x="1323" y="1765"/>
                <a:ext cx="242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23594" name="Group 88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23595" name="Picture 8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3596" name="Text Box 90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11271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/>
      <p:bldP spid="11268" grpId="0"/>
      <p:bldP spid="11269" grpId="0"/>
      <p:bldP spid="11270" grpId="0"/>
      <p:bldP spid="11271" grpId="0" build="allAtOnce"/>
      <p:bldP spid="11296" grpId="0" animBg="1"/>
      <p:bldP spid="1129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Text Box 2"/>
          <p:cNvSpPr txBox="1"/>
          <p:nvPr/>
        </p:nvSpPr>
        <p:spPr>
          <a:xfrm>
            <a:off x="468313" y="620713"/>
            <a:ext cx="592137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endParaRPr lang="zh-CN" altLang="en-US" sz="32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0243" name="Object 3"/>
          <p:cNvGraphicFramePr>
            <a:graphicFrameLocks noChangeAspect="1"/>
          </p:cNvGraphicFramePr>
          <p:nvPr/>
        </p:nvGraphicFramePr>
        <p:xfrm>
          <a:off x="5076825" y="908050"/>
          <a:ext cx="2517775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1701165" imgH="613410" progId="Equation.3">
                  <p:embed/>
                </p:oleObj>
              </mc:Choice>
              <mc:Fallback>
                <p:oleObj name="" r:id="rId1" imgW="1701165" imgH="613410" progId="Equation.3">
                  <p:embed/>
                  <p:pic>
                    <p:nvPicPr>
                      <p:cNvPr id="0" name="20 308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076825" y="908050"/>
                        <a:ext cx="2517775" cy="830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4"/>
          <p:cNvGraphicFramePr>
            <a:graphicFrameLocks noChangeAspect="1"/>
          </p:cNvGraphicFramePr>
          <p:nvPr/>
        </p:nvGraphicFramePr>
        <p:xfrm>
          <a:off x="1201738" y="3573463"/>
          <a:ext cx="2239962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3" imgW="1689735" imgH="613410" progId="Equation.3">
                  <p:embed/>
                </p:oleObj>
              </mc:Choice>
              <mc:Fallback>
                <p:oleObj name="" r:id="rId3" imgW="1689735" imgH="613410" progId="Equation.3">
                  <p:embed/>
                  <p:pic>
                    <p:nvPicPr>
                      <p:cNvPr id="0" name="20 308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01738" y="3573463"/>
                        <a:ext cx="2239962" cy="812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Text Box 5"/>
          <p:cNvSpPr txBox="1"/>
          <p:nvPr/>
        </p:nvSpPr>
        <p:spPr>
          <a:xfrm>
            <a:off x="611188" y="4868863"/>
            <a:ext cx="8281987" cy="946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2800" dirty="0">
                <a:solidFill>
                  <a:srgbClr val="FFFF66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zh-CN" altLang="en-US" sz="2800" dirty="0">
                <a:solidFill>
                  <a:srgbClr val="FFFF66"/>
                </a:solidFill>
                <a:latin typeface="Times New Roman" panose="02020603050405020304" pitchFamily="18" charset="0"/>
                <a:ea typeface="楷体_GB2312" pitchFamily="49" charset="-122"/>
              </a:rPr>
              <a:t>可见，加入跟随器后，隔离了前后两级电路的相互影响。</a:t>
            </a:r>
            <a:endParaRPr lang="zh-CN" altLang="en-US" sz="2800" dirty="0">
              <a:solidFill>
                <a:srgbClr val="FFFF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10327" name="Group 87"/>
          <p:cNvGrpSpPr/>
          <p:nvPr/>
        </p:nvGrpSpPr>
        <p:grpSpPr>
          <a:xfrm>
            <a:off x="684213" y="908050"/>
            <a:ext cx="2433637" cy="2374900"/>
            <a:chOff x="431" y="346"/>
            <a:chExt cx="1533" cy="1496"/>
          </a:xfrm>
        </p:grpSpPr>
        <p:sp>
          <p:nvSpPr>
            <p:cNvPr id="24582" name="Rectangle 55"/>
            <p:cNvSpPr/>
            <p:nvPr/>
          </p:nvSpPr>
          <p:spPr>
            <a:xfrm>
              <a:off x="884" y="346"/>
              <a:ext cx="1080" cy="1406"/>
            </a:xfrm>
            <a:prstGeom prst="rect">
              <a:avLst/>
            </a:prstGeom>
            <a:noFill/>
            <a:ln w="28575" cap="flat" cmpd="sng">
              <a:solidFill>
                <a:srgbClr val="66FFFF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4583" name="AutoShape 56" descr="羊皮纸"/>
            <p:cNvSpPr/>
            <p:nvPr/>
          </p:nvSpPr>
          <p:spPr>
            <a:xfrm>
              <a:off x="431" y="799"/>
              <a:ext cx="363" cy="1043"/>
            </a:xfrm>
            <a:prstGeom prst="wedgeRoundRectCallout">
              <a:avLst>
                <a:gd name="adj1" fmla="val 104819"/>
                <a:gd name="adj2" fmla="val 5801"/>
                <a:gd name="adj3" fmla="val 16667"/>
              </a:avLst>
            </a:prstGeom>
            <a:blipFill rotWithShape="1">
              <a:blip r:embed="rId5"/>
            </a:blipFill>
            <a:ln w="9525">
              <a:noFill/>
            </a:ln>
          </p:spPr>
          <p:txBody>
            <a:bodyPr anchor="t" anchorCtr="0"/>
            <a:p>
              <a:pPr algn="ctr"/>
              <a:r>
                <a:rPr lang="en-US" altLang="zh-CN" sz="2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lang="zh-CN" altLang="en-US" sz="2800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电路</a:t>
              </a:r>
              <a:endPara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grpSp>
        <p:nvGrpSpPr>
          <p:cNvPr id="24584" name="Group 59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4585" name="Picture 60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586" name="Text Box 61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4587" name="Group 62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4588" name="Picture 63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589" name="Text Box 64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0308" name="Group 68"/>
          <p:cNvGrpSpPr/>
          <p:nvPr/>
        </p:nvGrpSpPr>
        <p:grpSpPr>
          <a:xfrm>
            <a:off x="1547813" y="835025"/>
            <a:ext cx="2863850" cy="2111375"/>
            <a:chOff x="431" y="2296"/>
            <a:chExt cx="1804" cy="1330"/>
          </a:xfrm>
        </p:grpSpPr>
        <p:sp>
          <p:nvSpPr>
            <p:cNvPr id="24591" name="Line 69"/>
            <p:cNvSpPr/>
            <p:nvPr/>
          </p:nvSpPr>
          <p:spPr>
            <a:xfrm>
              <a:off x="561" y="2711"/>
              <a:ext cx="126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592" name="Rectangle 70"/>
            <p:cNvSpPr/>
            <p:nvPr/>
          </p:nvSpPr>
          <p:spPr>
            <a:xfrm>
              <a:off x="748" y="265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4593" name="Line 71"/>
            <p:cNvSpPr/>
            <p:nvPr/>
          </p:nvSpPr>
          <p:spPr>
            <a:xfrm>
              <a:off x="579" y="3605"/>
              <a:ext cx="125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594" name="Line 72"/>
            <p:cNvSpPr/>
            <p:nvPr/>
          </p:nvSpPr>
          <p:spPr>
            <a:xfrm>
              <a:off x="1233" y="2717"/>
              <a:ext cx="0" cy="88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24595" name="Line 73"/>
            <p:cNvSpPr/>
            <p:nvPr/>
          </p:nvSpPr>
          <p:spPr>
            <a:xfrm>
              <a:off x="1821" y="2711"/>
              <a:ext cx="0" cy="89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596" name="Text Box 74"/>
            <p:cNvSpPr txBox="1"/>
            <p:nvPr/>
          </p:nvSpPr>
          <p:spPr>
            <a:xfrm>
              <a:off x="839" y="2976"/>
              <a:ext cx="33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597" name="Text Box 75"/>
            <p:cNvSpPr txBox="1"/>
            <p:nvPr/>
          </p:nvSpPr>
          <p:spPr>
            <a:xfrm>
              <a:off x="1429" y="2976"/>
              <a:ext cx="40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598" name="Text Box 76"/>
            <p:cNvSpPr txBox="1"/>
            <p:nvPr/>
          </p:nvSpPr>
          <p:spPr>
            <a:xfrm>
              <a:off x="748" y="2296"/>
              <a:ext cx="33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599" name="Text Box 77"/>
            <p:cNvSpPr txBox="1"/>
            <p:nvPr/>
          </p:nvSpPr>
          <p:spPr>
            <a:xfrm>
              <a:off x="1919" y="2693"/>
              <a:ext cx="24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00" name="Text Box 78"/>
            <p:cNvSpPr txBox="1"/>
            <p:nvPr/>
          </p:nvSpPr>
          <p:spPr>
            <a:xfrm>
              <a:off x="1931" y="3185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01" name="Text Box 79"/>
            <p:cNvSpPr txBox="1"/>
            <p:nvPr/>
          </p:nvSpPr>
          <p:spPr>
            <a:xfrm>
              <a:off x="1931" y="3011"/>
              <a:ext cx="30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02" name="Text Box 80"/>
            <p:cNvSpPr txBox="1"/>
            <p:nvPr/>
          </p:nvSpPr>
          <p:spPr>
            <a:xfrm>
              <a:off x="431" y="2705"/>
              <a:ext cx="24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03" name="Text Box 81"/>
            <p:cNvSpPr txBox="1"/>
            <p:nvPr/>
          </p:nvSpPr>
          <p:spPr>
            <a:xfrm>
              <a:off x="443" y="3167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04" name="Text Box 82"/>
            <p:cNvSpPr txBox="1"/>
            <p:nvPr/>
          </p:nvSpPr>
          <p:spPr>
            <a:xfrm>
              <a:off x="431" y="3017"/>
              <a:ext cx="30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05" name="Oval 83"/>
            <p:cNvSpPr/>
            <p:nvPr/>
          </p:nvSpPr>
          <p:spPr>
            <a:xfrm>
              <a:off x="513" y="3569"/>
              <a:ext cx="57" cy="57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4606" name="Oval 84"/>
            <p:cNvSpPr/>
            <p:nvPr/>
          </p:nvSpPr>
          <p:spPr>
            <a:xfrm>
              <a:off x="495" y="2681"/>
              <a:ext cx="57" cy="57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4607" name="Rectangle 85"/>
            <p:cNvSpPr/>
            <p:nvPr/>
          </p:nvSpPr>
          <p:spPr>
            <a:xfrm>
              <a:off x="1746" y="297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4608" name="Rectangle 86"/>
            <p:cNvSpPr/>
            <p:nvPr/>
          </p:nvSpPr>
          <p:spPr>
            <a:xfrm>
              <a:off x="1156" y="297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</p:grpSp>
      <p:grpSp>
        <p:nvGrpSpPr>
          <p:cNvPr id="10328" name="Group 88"/>
          <p:cNvGrpSpPr/>
          <p:nvPr/>
        </p:nvGrpSpPr>
        <p:grpSpPr>
          <a:xfrm>
            <a:off x="4067175" y="2205038"/>
            <a:ext cx="4464050" cy="2347912"/>
            <a:chOff x="295" y="2659"/>
            <a:chExt cx="2812" cy="1479"/>
          </a:xfrm>
        </p:grpSpPr>
        <p:sp>
          <p:nvSpPr>
            <p:cNvPr id="24610" name="Line 89"/>
            <p:cNvSpPr/>
            <p:nvPr/>
          </p:nvSpPr>
          <p:spPr>
            <a:xfrm>
              <a:off x="455" y="3212"/>
              <a:ext cx="104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11" name="Rectangle 90"/>
            <p:cNvSpPr/>
            <p:nvPr/>
          </p:nvSpPr>
          <p:spPr>
            <a:xfrm>
              <a:off x="612" y="315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4612" name="Line 91"/>
            <p:cNvSpPr/>
            <p:nvPr/>
          </p:nvSpPr>
          <p:spPr>
            <a:xfrm flipH="1" flipV="1">
              <a:off x="1343" y="2840"/>
              <a:ext cx="15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13" name="Line 92"/>
            <p:cNvSpPr/>
            <p:nvPr/>
          </p:nvSpPr>
          <p:spPr>
            <a:xfrm>
              <a:off x="1343" y="2840"/>
              <a:ext cx="0" cy="73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14" name="Line 93"/>
            <p:cNvSpPr/>
            <p:nvPr/>
          </p:nvSpPr>
          <p:spPr>
            <a:xfrm>
              <a:off x="1343" y="3572"/>
              <a:ext cx="93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15" name="Line 94"/>
            <p:cNvSpPr/>
            <p:nvPr/>
          </p:nvSpPr>
          <p:spPr>
            <a:xfrm>
              <a:off x="455" y="4098"/>
              <a:ext cx="2244" cy="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16" name="Line 95"/>
            <p:cNvSpPr/>
            <p:nvPr/>
          </p:nvSpPr>
          <p:spPr>
            <a:xfrm>
              <a:off x="2111" y="3006"/>
              <a:ext cx="59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17" name="Line 96"/>
            <p:cNvSpPr/>
            <p:nvPr/>
          </p:nvSpPr>
          <p:spPr>
            <a:xfrm flipV="1">
              <a:off x="2273" y="3014"/>
              <a:ext cx="0" cy="55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24618" name="Text Box 97"/>
            <p:cNvSpPr txBox="1"/>
            <p:nvPr/>
          </p:nvSpPr>
          <p:spPr>
            <a:xfrm>
              <a:off x="301" y="3204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19" name="Text Box 98"/>
            <p:cNvSpPr txBox="1"/>
            <p:nvPr/>
          </p:nvSpPr>
          <p:spPr>
            <a:xfrm>
              <a:off x="307" y="3642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20" name="Text Box 99"/>
            <p:cNvSpPr txBox="1"/>
            <p:nvPr/>
          </p:nvSpPr>
          <p:spPr>
            <a:xfrm>
              <a:off x="295" y="3464"/>
              <a:ext cx="45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21" name="Text Box 100"/>
            <p:cNvSpPr txBox="1"/>
            <p:nvPr/>
          </p:nvSpPr>
          <p:spPr>
            <a:xfrm>
              <a:off x="657" y="2840"/>
              <a:ext cx="33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22" name="Line 101"/>
            <p:cNvSpPr/>
            <p:nvPr/>
          </p:nvSpPr>
          <p:spPr>
            <a:xfrm>
              <a:off x="1145" y="3218"/>
              <a:ext cx="0" cy="88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24623" name="Text Box 102"/>
            <p:cNvSpPr txBox="1"/>
            <p:nvPr/>
          </p:nvSpPr>
          <p:spPr>
            <a:xfrm>
              <a:off x="748" y="3521"/>
              <a:ext cx="33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24" name="Line 103"/>
            <p:cNvSpPr/>
            <p:nvPr/>
          </p:nvSpPr>
          <p:spPr>
            <a:xfrm>
              <a:off x="2699" y="3008"/>
              <a:ext cx="0" cy="110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25" name="Text Box 104"/>
            <p:cNvSpPr txBox="1"/>
            <p:nvPr/>
          </p:nvSpPr>
          <p:spPr>
            <a:xfrm>
              <a:off x="2290" y="3385"/>
              <a:ext cx="49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26" name="Text Box 105"/>
            <p:cNvSpPr txBox="1"/>
            <p:nvPr/>
          </p:nvSpPr>
          <p:spPr>
            <a:xfrm>
              <a:off x="2791" y="3080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27" name="Text Box 106"/>
            <p:cNvSpPr txBox="1"/>
            <p:nvPr/>
          </p:nvSpPr>
          <p:spPr>
            <a:xfrm>
              <a:off x="2803" y="3584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28" name="Text Box 107"/>
            <p:cNvSpPr txBox="1"/>
            <p:nvPr/>
          </p:nvSpPr>
          <p:spPr>
            <a:xfrm>
              <a:off x="2803" y="3422"/>
              <a:ext cx="30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29" name="Oval 108"/>
            <p:cNvSpPr/>
            <p:nvPr/>
          </p:nvSpPr>
          <p:spPr>
            <a:xfrm>
              <a:off x="383" y="4070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4630" name="Oval 109"/>
            <p:cNvSpPr/>
            <p:nvPr/>
          </p:nvSpPr>
          <p:spPr>
            <a:xfrm>
              <a:off x="383" y="3176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4631" name="Rectangle 110"/>
            <p:cNvSpPr/>
            <p:nvPr/>
          </p:nvSpPr>
          <p:spPr>
            <a:xfrm>
              <a:off x="2617" y="333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4632" name="Rectangle 111"/>
            <p:cNvSpPr/>
            <p:nvPr/>
          </p:nvSpPr>
          <p:spPr>
            <a:xfrm>
              <a:off x="1066" y="352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grpSp>
          <p:nvGrpSpPr>
            <p:cNvPr id="24633" name="Group 112"/>
            <p:cNvGrpSpPr/>
            <p:nvPr/>
          </p:nvGrpSpPr>
          <p:grpSpPr>
            <a:xfrm>
              <a:off x="1474" y="2659"/>
              <a:ext cx="682" cy="795"/>
              <a:chOff x="883" y="1501"/>
              <a:chExt cx="682" cy="795"/>
            </a:xfrm>
          </p:grpSpPr>
          <p:sp>
            <p:nvSpPr>
              <p:cNvPr id="24634" name="Rectangle 113"/>
              <p:cNvSpPr/>
              <p:nvPr/>
            </p:nvSpPr>
            <p:spPr>
              <a:xfrm>
                <a:off x="883" y="1553"/>
                <a:ext cx="658" cy="726"/>
              </a:xfrm>
              <a:prstGeom prst="rect">
                <a:avLst/>
              </a:prstGeom>
              <a:gradFill rotWithShape="1">
                <a:gsLst>
                  <a:gs pos="0">
                    <a:srgbClr val="FF9900"/>
                  </a:gs>
                  <a:gs pos="100000">
                    <a:srgbClr val="764700"/>
                  </a:gs>
                </a:gsLst>
                <a:path path="shape">
                  <a:fillToRect l="50000" t="50000" r="50000" b="50000"/>
                </a:path>
                <a:tileRect/>
              </a:gra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24635" name="Text Box 114"/>
              <p:cNvSpPr txBox="1"/>
              <p:nvPr/>
            </p:nvSpPr>
            <p:spPr>
              <a:xfrm>
                <a:off x="927" y="1501"/>
                <a:ext cx="228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_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636" name="Text Box 115"/>
              <p:cNvSpPr txBox="1"/>
              <p:nvPr/>
            </p:nvSpPr>
            <p:spPr>
              <a:xfrm>
                <a:off x="915" y="1969"/>
                <a:ext cx="242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637" name="AutoShape 116"/>
              <p:cNvSpPr/>
              <p:nvPr/>
            </p:nvSpPr>
            <p:spPr>
              <a:xfrm rot="5400000">
                <a:off x="1150" y="1605"/>
                <a:ext cx="144" cy="132"/>
              </a:xfrm>
              <a:prstGeom prst="triangle">
                <a:avLst>
                  <a:gd name="adj" fmla="val 56245"/>
                </a:avLst>
              </a:prstGeom>
              <a:solidFill>
                <a:schemeClr val="bg1"/>
              </a:soli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24638" name="Text Box 117"/>
              <p:cNvSpPr txBox="1"/>
              <p:nvPr/>
            </p:nvSpPr>
            <p:spPr>
              <a:xfrm>
                <a:off x="1263" y="1521"/>
                <a:ext cx="276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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24639" name="Text Box 118"/>
              <p:cNvSpPr txBox="1"/>
              <p:nvPr/>
            </p:nvSpPr>
            <p:spPr>
              <a:xfrm>
                <a:off x="1323" y="1765"/>
                <a:ext cx="242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24640" name="Group 122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24641" name="Picture 123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642" name="Text Box 124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20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20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/>
      <p:bldP spid="1024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2" name="Text Box 4"/>
          <p:cNvSpPr txBox="1"/>
          <p:nvPr/>
        </p:nvSpPr>
        <p:spPr>
          <a:xfrm>
            <a:off x="539750" y="476250"/>
            <a:ext cx="2808288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buAutoNum type="circleNumDbPlain" startAt="4"/>
            </a:pPr>
            <a:r>
              <a:rPr lang="en-US" altLang="zh-CN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减法运算</a:t>
            </a:r>
            <a:endParaRPr lang="zh-CN" altLang="en-US" sz="32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2631" name="Group 103"/>
          <p:cNvGrpSpPr/>
          <p:nvPr/>
        </p:nvGrpSpPr>
        <p:grpSpPr>
          <a:xfrm>
            <a:off x="5580063" y="404813"/>
            <a:ext cx="2160587" cy="979487"/>
            <a:chOff x="3132" y="888"/>
            <a:chExt cx="968" cy="617"/>
          </a:xfrm>
        </p:grpSpPr>
        <p:sp>
          <p:nvSpPr>
            <p:cNvPr id="25603" name="Text Box 104"/>
            <p:cNvSpPr txBox="1"/>
            <p:nvPr/>
          </p:nvSpPr>
          <p:spPr>
            <a:xfrm>
              <a:off x="3206" y="888"/>
              <a:ext cx="49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3200" b="0" baseline="3000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3200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3200" b="0" baseline="30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04" name="Text Box 105"/>
            <p:cNvSpPr txBox="1"/>
            <p:nvPr/>
          </p:nvSpPr>
          <p:spPr>
            <a:xfrm>
              <a:off x="3242" y="1140"/>
              <a:ext cx="85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3200" b="0" baseline="3000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3200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=0</a:t>
              </a:r>
              <a:endPara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05" name="AutoShape 106"/>
            <p:cNvSpPr/>
            <p:nvPr/>
          </p:nvSpPr>
          <p:spPr>
            <a:xfrm>
              <a:off x="3132" y="1080"/>
              <a:ext cx="48" cy="336"/>
            </a:xfrm>
            <a:prstGeom prst="leftBrace">
              <a:avLst>
                <a:gd name="adj1" fmla="val 58268"/>
                <a:gd name="adj2" fmla="val 50000"/>
              </a:avLst>
            </a:prstGeom>
            <a:noFill/>
            <a:ln w="3810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</p:grpSp>
      <p:sp>
        <p:nvSpPr>
          <p:cNvPr id="22635" name="Text Box 107"/>
          <p:cNvSpPr txBox="1"/>
          <p:nvPr/>
        </p:nvSpPr>
        <p:spPr>
          <a:xfrm>
            <a:off x="5867400" y="1484313"/>
            <a:ext cx="962025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2636" name="Object 108"/>
          <p:cNvGraphicFramePr>
            <a:graphicFrameLocks noChangeAspect="1"/>
          </p:cNvGraphicFramePr>
          <p:nvPr/>
        </p:nvGraphicFramePr>
        <p:xfrm>
          <a:off x="5508625" y="3068638"/>
          <a:ext cx="3241675" cy="1150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1319530" imgH="451485" progId="Equation.3">
                  <p:embed/>
                </p:oleObj>
              </mc:Choice>
              <mc:Fallback>
                <p:oleObj name="" r:id="rId1" imgW="1319530" imgH="451485" progId="Equation.3">
                  <p:embed/>
                  <p:pic>
                    <p:nvPicPr>
                      <p:cNvPr id="0" name="20 308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08625" y="3068638"/>
                        <a:ext cx="3241675" cy="1150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37" name="Object 109"/>
          <p:cNvGraphicFramePr>
            <a:graphicFrameLocks noChangeAspect="1"/>
          </p:cNvGraphicFramePr>
          <p:nvPr/>
        </p:nvGraphicFramePr>
        <p:xfrm>
          <a:off x="5580063" y="2060575"/>
          <a:ext cx="3168650" cy="113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3" imgW="1365885" imgH="474345" progId="Equation.3">
                  <p:embed/>
                </p:oleObj>
              </mc:Choice>
              <mc:Fallback>
                <p:oleObj name="" r:id="rId3" imgW="1365885" imgH="474345" progId="Equation.3">
                  <p:embed/>
                  <p:pic>
                    <p:nvPicPr>
                      <p:cNvPr id="0" name="20 308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80063" y="2060575"/>
                        <a:ext cx="3168650" cy="1135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638" name="Text Box 110"/>
          <p:cNvSpPr txBox="1"/>
          <p:nvPr/>
        </p:nvSpPr>
        <p:spPr>
          <a:xfrm>
            <a:off x="468313" y="4005263"/>
            <a:ext cx="2447925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latin typeface="Arial" panose="020B0604020202020204" pitchFamily="34" charset="0"/>
                <a:ea typeface="楷体_GB2312" pitchFamily="49" charset="-122"/>
              </a:rPr>
              <a:t>解得：</a:t>
            </a:r>
            <a:endParaRPr lang="zh-CN" altLang="en-US" sz="280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22639" name="Object 111"/>
          <p:cNvGraphicFramePr>
            <a:graphicFrameLocks noChangeAspect="1"/>
          </p:cNvGraphicFramePr>
          <p:nvPr/>
        </p:nvGraphicFramePr>
        <p:xfrm>
          <a:off x="1403350" y="4076700"/>
          <a:ext cx="4895850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5" imgW="2048510" imgH="462915" progId="Equation.3">
                  <p:embed/>
                </p:oleObj>
              </mc:Choice>
              <mc:Fallback>
                <p:oleObj name="" r:id="rId5" imgW="2048510" imgH="462915" progId="Equation.3">
                  <p:embed/>
                  <p:pic>
                    <p:nvPicPr>
                      <p:cNvPr id="0" name="20 3084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03350" y="4076700"/>
                        <a:ext cx="4895850" cy="1101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41" name="Object 113"/>
          <p:cNvGraphicFramePr>
            <a:graphicFrameLocks noChangeAspect="1"/>
          </p:cNvGraphicFramePr>
          <p:nvPr/>
        </p:nvGraphicFramePr>
        <p:xfrm>
          <a:off x="1042988" y="5084763"/>
          <a:ext cx="6278562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7" imgW="2523490" imgH="462915" progId="Equation.3">
                  <p:embed/>
                </p:oleObj>
              </mc:Choice>
              <mc:Fallback>
                <p:oleObj name="" r:id="rId7" imgW="2523490" imgH="462915" progId="Equation.3">
                  <p:embed/>
                  <p:pic>
                    <p:nvPicPr>
                      <p:cNvPr id="0" name="20 3085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42988" y="5084763"/>
                        <a:ext cx="6278562" cy="1146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612" name="Group 115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5613" name="Picture 116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614" name="Text Box 117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5615" name="Group 118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5616" name="Picture 119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617" name="Text Box 120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2652" name="Group 124"/>
          <p:cNvGrpSpPr/>
          <p:nvPr/>
        </p:nvGrpSpPr>
        <p:grpSpPr>
          <a:xfrm>
            <a:off x="250825" y="908050"/>
            <a:ext cx="5040313" cy="3036888"/>
            <a:chOff x="839" y="2115"/>
            <a:chExt cx="3175" cy="1913"/>
          </a:xfrm>
        </p:grpSpPr>
        <p:sp>
          <p:nvSpPr>
            <p:cNvPr id="25619" name="Line 125"/>
            <p:cNvSpPr/>
            <p:nvPr/>
          </p:nvSpPr>
          <p:spPr>
            <a:xfrm>
              <a:off x="2290" y="2523"/>
              <a:ext cx="136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20" name="Line 126"/>
            <p:cNvSpPr/>
            <p:nvPr/>
          </p:nvSpPr>
          <p:spPr>
            <a:xfrm>
              <a:off x="1292" y="3294"/>
              <a:ext cx="158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25621" name="Line 127"/>
            <p:cNvSpPr/>
            <p:nvPr/>
          </p:nvSpPr>
          <p:spPr>
            <a:xfrm flipV="1">
              <a:off x="1338" y="2976"/>
              <a:ext cx="163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22" name="Line 128"/>
            <p:cNvSpPr/>
            <p:nvPr/>
          </p:nvSpPr>
          <p:spPr>
            <a:xfrm>
              <a:off x="2290" y="3884"/>
              <a:ext cx="0" cy="14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23" name="Rectangle 129"/>
            <p:cNvSpPr/>
            <p:nvPr/>
          </p:nvSpPr>
          <p:spPr>
            <a:xfrm>
              <a:off x="1610" y="288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5624" name="Rectangle 130"/>
            <p:cNvSpPr/>
            <p:nvPr/>
          </p:nvSpPr>
          <p:spPr>
            <a:xfrm>
              <a:off x="2835" y="247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5625" name="Rectangle 131"/>
            <p:cNvSpPr/>
            <p:nvPr/>
          </p:nvSpPr>
          <p:spPr>
            <a:xfrm>
              <a:off x="1610" y="3203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5626" name="Line 132"/>
            <p:cNvSpPr/>
            <p:nvPr/>
          </p:nvSpPr>
          <p:spPr>
            <a:xfrm>
              <a:off x="1247" y="3884"/>
              <a:ext cx="267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27" name="Line 133"/>
            <p:cNvSpPr/>
            <p:nvPr/>
          </p:nvSpPr>
          <p:spPr>
            <a:xfrm flipV="1">
              <a:off x="3243" y="3158"/>
              <a:ext cx="68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28" name="Text Box 134"/>
            <p:cNvSpPr txBox="1"/>
            <p:nvPr/>
          </p:nvSpPr>
          <p:spPr>
            <a:xfrm>
              <a:off x="3538" y="3127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29" name="Text Box 135"/>
            <p:cNvSpPr txBox="1"/>
            <p:nvPr/>
          </p:nvSpPr>
          <p:spPr>
            <a:xfrm>
              <a:off x="3538" y="3427"/>
              <a:ext cx="229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30" name="Text Box 136"/>
            <p:cNvSpPr txBox="1"/>
            <p:nvPr/>
          </p:nvSpPr>
          <p:spPr>
            <a:xfrm>
              <a:off x="3496" y="3283"/>
              <a:ext cx="30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31" name="Line 137"/>
            <p:cNvSpPr/>
            <p:nvPr/>
          </p:nvSpPr>
          <p:spPr>
            <a:xfrm flipH="1">
              <a:off x="2284" y="2523"/>
              <a:ext cx="6" cy="44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25632" name="Line 138"/>
            <p:cNvSpPr/>
            <p:nvPr/>
          </p:nvSpPr>
          <p:spPr>
            <a:xfrm>
              <a:off x="3651" y="2523"/>
              <a:ext cx="0" cy="62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25633" name="Line 139"/>
            <p:cNvSpPr/>
            <p:nvPr/>
          </p:nvSpPr>
          <p:spPr>
            <a:xfrm>
              <a:off x="2290" y="3294"/>
              <a:ext cx="0" cy="59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25634" name="Text Box 140"/>
            <p:cNvSpPr txBox="1"/>
            <p:nvPr/>
          </p:nvSpPr>
          <p:spPr>
            <a:xfrm>
              <a:off x="1519" y="3294"/>
              <a:ext cx="329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35" name="Text Box 141"/>
            <p:cNvSpPr txBox="1"/>
            <p:nvPr/>
          </p:nvSpPr>
          <p:spPr>
            <a:xfrm>
              <a:off x="2835" y="2160"/>
              <a:ext cx="30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36" name="Text Box 142"/>
            <p:cNvSpPr txBox="1"/>
            <p:nvPr/>
          </p:nvSpPr>
          <p:spPr>
            <a:xfrm>
              <a:off x="2359" y="2553"/>
              <a:ext cx="25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800" b="0" baseline="3000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800" b="0" baseline="30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5637" name="Text Box 143"/>
            <p:cNvSpPr txBox="1"/>
            <p:nvPr/>
          </p:nvSpPr>
          <p:spPr>
            <a:xfrm>
              <a:off x="2381" y="3249"/>
              <a:ext cx="34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baseline="30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38" name="Text Box 144"/>
            <p:cNvSpPr txBox="1"/>
            <p:nvPr/>
          </p:nvSpPr>
          <p:spPr>
            <a:xfrm>
              <a:off x="2336" y="2886"/>
              <a:ext cx="30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3000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800" b="0" baseline="30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5639" name="Line 145"/>
            <p:cNvSpPr/>
            <p:nvPr/>
          </p:nvSpPr>
          <p:spPr>
            <a:xfrm>
              <a:off x="2342" y="2883"/>
              <a:ext cx="287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640" name="Text Box 146"/>
            <p:cNvSpPr txBox="1"/>
            <p:nvPr/>
          </p:nvSpPr>
          <p:spPr>
            <a:xfrm>
              <a:off x="1565" y="2568"/>
              <a:ext cx="329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41" name="Text Box 147"/>
            <p:cNvSpPr txBox="1"/>
            <p:nvPr/>
          </p:nvSpPr>
          <p:spPr>
            <a:xfrm>
              <a:off x="1882" y="3385"/>
              <a:ext cx="329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42" name="Text Box 148"/>
            <p:cNvSpPr txBox="1"/>
            <p:nvPr/>
          </p:nvSpPr>
          <p:spPr>
            <a:xfrm>
              <a:off x="839" y="2750"/>
              <a:ext cx="34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i1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43" name="Text Box 149"/>
            <p:cNvSpPr txBox="1"/>
            <p:nvPr/>
          </p:nvSpPr>
          <p:spPr>
            <a:xfrm>
              <a:off x="839" y="3067"/>
              <a:ext cx="34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i2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44" name="Line 150"/>
            <p:cNvSpPr/>
            <p:nvPr/>
          </p:nvSpPr>
          <p:spPr>
            <a:xfrm>
              <a:off x="2154" y="4020"/>
              <a:ext cx="31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45" name="Oval 151"/>
            <p:cNvSpPr/>
            <p:nvPr/>
          </p:nvSpPr>
          <p:spPr>
            <a:xfrm>
              <a:off x="3925" y="3111"/>
              <a:ext cx="89" cy="92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5646" name="Oval 152"/>
            <p:cNvSpPr/>
            <p:nvPr/>
          </p:nvSpPr>
          <p:spPr>
            <a:xfrm>
              <a:off x="3923" y="3838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5647" name="Line 153"/>
            <p:cNvSpPr/>
            <p:nvPr/>
          </p:nvSpPr>
          <p:spPr>
            <a:xfrm>
              <a:off x="1292" y="2886"/>
              <a:ext cx="227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648" name="Line 154"/>
            <p:cNvSpPr/>
            <p:nvPr/>
          </p:nvSpPr>
          <p:spPr>
            <a:xfrm flipV="1">
              <a:off x="2381" y="2432"/>
              <a:ext cx="272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649" name="Text Box 155"/>
            <p:cNvSpPr txBox="1"/>
            <p:nvPr/>
          </p:nvSpPr>
          <p:spPr>
            <a:xfrm>
              <a:off x="1292" y="2568"/>
              <a:ext cx="25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50" name="Text Box 156"/>
            <p:cNvSpPr txBox="1"/>
            <p:nvPr/>
          </p:nvSpPr>
          <p:spPr>
            <a:xfrm>
              <a:off x="2381" y="2115"/>
              <a:ext cx="36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51" name="Rectangle 157"/>
            <p:cNvSpPr/>
            <p:nvPr/>
          </p:nvSpPr>
          <p:spPr>
            <a:xfrm>
              <a:off x="2209" y="343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5652" name="Oval 158"/>
            <p:cNvSpPr/>
            <p:nvPr/>
          </p:nvSpPr>
          <p:spPr>
            <a:xfrm>
              <a:off x="1202" y="3249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5653" name="Oval 159"/>
            <p:cNvSpPr/>
            <p:nvPr/>
          </p:nvSpPr>
          <p:spPr>
            <a:xfrm>
              <a:off x="1247" y="2931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5654" name="Oval 160"/>
            <p:cNvSpPr/>
            <p:nvPr/>
          </p:nvSpPr>
          <p:spPr>
            <a:xfrm>
              <a:off x="1156" y="3838"/>
              <a:ext cx="91" cy="91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grpSp>
          <p:nvGrpSpPr>
            <p:cNvPr id="25655" name="Group 161"/>
            <p:cNvGrpSpPr/>
            <p:nvPr/>
          </p:nvGrpSpPr>
          <p:grpSpPr>
            <a:xfrm>
              <a:off x="2699" y="2750"/>
              <a:ext cx="682" cy="795"/>
              <a:chOff x="883" y="1501"/>
              <a:chExt cx="682" cy="795"/>
            </a:xfrm>
          </p:grpSpPr>
          <p:sp>
            <p:nvSpPr>
              <p:cNvPr id="25656" name="Rectangle 162"/>
              <p:cNvSpPr/>
              <p:nvPr/>
            </p:nvSpPr>
            <p:spPr>
              <a:xfrm>
                <a:off x="883" y="1553"/>
                <a:ext cx="658" cy="726"/>
              </a:xfrm>
              <a:prstGeom prst="rect">
                <a:avLst/>
              </a:prstGeom>
              <a:gradFill rotWithShape="1">
                <a:gsLst>
                  <a:gs pos="0">
                    <a:srgbClr val="FF9900"/>
                  </a:gs>
                  <a:gs pos="100000">
                    <a:srgbClr val="764700"/>
                  </a:gs>
                </a:gsLst>
                <a:path path="shape">
                  <a:fillToRect l="50000" t="50000" r="50000" b="50000"/>
                </a:path>
                <a:tileRect/>
              </a:gra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25657" name="Text Box 163"/>
              <p:cNvSpPr txBox="1"/>
              <p:nvPr/>
            </p:nvSpPr>
            <p:spPr>
              <a:xfrm>
                <a:off x="927" y="1501"/>
                <a:ext cx="228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_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658" name="Text Box 164"/>
              <p:cNvSpPr txBox="1"/>
              <p:nvPr/>
            </p:nvSpPr>
            <p:spPr>
              <a:xfrm>
                <a:off x="915" y="1969"/>
                <a:ext cx="242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659" name="AutoShape 165"/>
              <p:cNvSpPr/>
              <p:nvPr/>
            </p:nvSpPr>
            <p:spPr>
              <a:xfrm rot="5400000">
                <a:off x="1150" y="1605"/>
                <a:ext cx="144" cy="132"/>
              </a:xfrm>
              <a:prstGeom prst="triangle">
                <a:avLst>
                  <a:gd name="adj" fmla="val 56245"/>
                </a:avLst>
              </a:prstGeom>
              <a:solidFill>
                <a:schemeClr val="bg1"/>
              </a:soli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25660" name="Text Box 166"/>
              <p:cNvSpPr txBox="1"/>
              <p:nvPr/>
            </p:nvSpPr>
            <p:spPr>
              <a:xfrm>
                <a:off x="1263" y="1521"/>
                <a:ext cx="276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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25661" name="Text Box 167"/>
              <p:cNvSpPr txBox="1"/>
              <p:nvPr/>
            </p:nvSpPr>
            <p:spPr>
              <a:xfrm>
                <a:off x="1323" y="1765"/>
                <a:ext cx="242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25662" name="Group 171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25663" name="Picture 172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664" name="Text Box 173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2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000"/>
                                        <p:tgtEl>
                                          <p:spTgt spid="22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0"/>
                                        <p:tgtEl>
                                          <p:spTgt spid="22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3000"/>
                                        <p:tgtEl>
                                          <p:spTgt spid="22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3000"/>
                                        <p:tgtEl>
                                          <p:spTgt spid="22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3000"/>
                                        <p:tgtEl>
                                          <p:spTgt spid="22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8" dur="3000"/>
                                        <p:tgtEl>
                                          <p:spTgt spid="22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/>
      <p:bldP spid="22635" grpId="0"/>
      <p:bldP spid="2263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Text Box 2"/>
          <p:cNvSpPr txBox="1"/>
          <p:nvPr/>
        </p:nvSpPr>
        <p:spPr>
          <a:xfrm>
            <a:off x="1258888" y="620713"/>
            <a:ext cx="2665412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latin typeface="Arial" panose="020B0604020202020204" pitchFamily="34" charset="0"/>
                <a:ea typeface="楷体_GB2312" pitchFamily="49" charset="-122"/>
              </a:rPr>
              <a:t>求输出电压</a:t>
            </a:r>
            <a:r>
              <a:rPr lang="en-US" altLang="zh-CN" sz="2800" b="0" i="1" dirty="0">
                <a:latin typeface="Times New Roman" panose="02020603050405020304" pitchFamily="18" charset="0"/>
                <a:ea typeface="仿宋_GB2312" pitchFamily="49" charset="-122"/>
              </a:rPr>
              <a:t>u</a:t>
            </a:r>
            <a:r>
              <a:rPr lang="en-US" altLang="zh-CN" sz="2800" b="0" i="1" baseline="-25000" dirty="0">
                <a:latin typeface="Times New Roman" panose="02020603050405020304" pitchFamily="18" charset="0"/>
                <a:ea typeface="仿宋_GB2312" pitchFamily="49" charset="-122"/>
              </a:rPr>
              <a:t>o</a:t>
            </a:r>
            <a:endParaRPr lang="en-US" altLang="zh-CN" sz="2800" b="0" i="1" baseline="-25000" dirty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44035" name="Text Box 3"/>
          <p:cNvSpPr txBox="1"/>
          <p:nvPr/>
        </p:nvSpPr>
        <p:spPr>
          <a:xfrm>
            <a:off x="684213" y="1628775"/>
            <a:ext cx="596900" cy="519113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解</a:t>
            </a:r>
            <a:endParaRPr lang="zh-CN" altLang="en-US" sz="2800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4036" name="Object 4"/>
          <p:cNvGraphicFramePr>
            <a:graphicFrameLocks noChangeAspect="1"/>
          </p:cNvGraphicFramePr>
          <p:nvPr/>
        </p:nvGraphicFramePr>
        <p:xfrm>
          <a:off x="1547813" y="2276475"/>
          <a:ext cx="1824037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" imgW="741045" imgH="405130" progId="Equation.3">
                  <p:embed/>
                </p:oleObj>
              </mc:Choice>
              <mc:Fallback>
                <p:oleObj name="" r:id="rId1" imgW="741045" imgH="405130" progId="Equation.3">
                  <p:embed/>
                  <p:pic>
                    <p:nvPicPr>
                      <p:cNvPr id="0" name="20 308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47813" y="2276475"/>
                        <a:ext cx="1824037" cy="993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628" name="Group 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6629" name="Picture 8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6630" name="Text Box 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6631" name="Group 10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6632" name="Picture 11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6633" name="Text Box 12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44045" name="Text Box 13"/>
          <p:cNvSpPr txBox="1"/>
          <p:nvPr/>
        </p:nvSpPr>
        <p:spPr>
          <a:xfrm>
            <a:off x="468313" y="549275"/>
            <a:ext cx="815975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4046" name="Group 14"/>
          <p:cNvGrpSpPr/>
          <p:nvPr/>
        </p:nvGrpSpPr>
        <p:grpSpPr>
          <a:xfrm>
            <a:off x="3995738" y="549275"/>
            <a:ext cx="4254500" cy="3001963"/>
            <a:chOff x="158" y="404"/>
            <a:chExt cx="2680" cy="1891"/>
          </a:xfrm>
        </p:grpSpPr>
        <p:sp>
          <p:nvSpPr>
            <p:cNvPr id="26636" name="Line 15"/>
            <p:cNvSpPr/>
            <p:nvPr/>
          </p:nvSpPr>
          <p:spPr>
            <a:xfrm flipH="1">
              <a:off x="698" y="1207"/>
              <a:ext cx="71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37" name="Oval 16"/>
            <p:cNvSpPr/>
            <p:nvPr/>
          </p:nvSpPr>
          <p:spPr>
            <a:xfrm>
              <a:off x="518" y="1479"/>
              <a:ext cx="359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6638" name="Rectangle 17"/>
            <p:cNvSpPr/>
            <p:nvPr/>
          </p:nvSpPr>
          <p:spPr>
            <a:xfrm>
              <a:off x="1353" y="993"/>
              <a:ext cx="642" cy="764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6639" name="Line 18"/>
            <p:cNvSpPr/>
            <p:nvPr/>
          </p:nvSpPr>
          <p:spPr>
            <a:xfrm>
              <a:off x="711" y="2089"/>
              <a:ext cx="186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40" name="Line 19"/>
            <p:cNvSpPr/>
            <p:nvPr/>
          </p:nvSpPr>
          <p:spPr>
            <a:xfrm flipV="1">
              <a:off x="2001" y="1388"/>
              <a:ext cx="58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41" name="Text Box 20"/>
            <p:cNvSpPr txBox="1"/>
            <p:nvPr/>
          </p:nvSpPr>
          <p:spPr>
            <a:xfrm>
              <a:off x="2486" y="1356"/>
              <a:ext cx="24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42" name="Text Box 21"/>
            <p:cNvSpPr txBox="1"/>
            <p:nvPr/>
          </p:nvSpPr>
          <p:spPr>
            <a:xfrm>
              <a:off x="2590" y="1728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43" name="Text Box 22"/>
            <p:cNvSpPr txBox="1"/>
            <p:nvPr/>
          </p:nvSpPr>
          <p:spPr>
            <a:xfrm>
              <a:off x="2534" y="1538"/>
              <a:ext cx="30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44" name="Text Box 23"/>
            <p:cNvSpPr txBox="1"/>
            <p:nvPr/>
          </p:nvSpPr>
          <p:spPr>
            <a:xfrm>
              <a:off x="1368" y="912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45" name="Text Box 24"/>
            <p:cNvSpPr txBox="1"/>
            <p:nvPr/>
          </p:nvSpPr>
          <p:spPr>
            <a:xfrm>
              <a:off x="1355" y="1409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46" name="AutoShape 25"/>
            <p:cNvSpPr/>
            <p:nvPr/>
          </p:nvSpPr>
          <p:spPr>
            <a:xfrm rot="5400000">
              <a:off x="1639" y="1054"/>
              <a:ext cx="153" cy="140"/>
            </a:xfrm>
            <a:prstGeom prst="triangle">
              <a:avLst>
                <a:gd name="adj" fmla="val 56245"/>
              </a:avLst>
            </a:prstGeom>
            <a:solidFill>
              <a:schemeClr val="bg1"/>
            </a:soli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6647" name="Text Box 26"/>
            <p:cNvSpPr txBox="1"/>
            <p:nvPr/>
          </p:nvSpPr>
          <p:spPr>
            <a:xfrm>
              <a:off x="1720" y="933"/>
              <a:ext cx="27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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26648" name="Text Box 27"/>
            <p:cNvSpPr txBox="1"/>
            <p:nvPr/>
          </p:nvSpPr>
          <p:spPr>
            <a:xfrm>
              <a:off x="1785" y="1192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49" name="Line 28"/>
            <p:cNvSpPr/>
            <p:nvPr/>
          </p:nvSpPr>
          <p:spPr>
            <a:xfrm>
              <a:off x="1227" y="791"/>
              <a:ext cx="100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50" name="Line 29"/>
            <p:cNvSpPr/>
            <p:nvPr/>
          </p:nvSpPr>
          <p:spPr>
            <a:xfrm>
              <a:off x="1227" y="791"/>
              <a:ext cx="0" cy="40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26651" name="Line 30"/>
            <p:cNvSpPr/>
            <p:nvPr/>
          </p:nvSpPr>
          <p:spPr>
            <a:xfrm>
              <a:off x="2235" y="791"/>
              <a:ext cx="0" cy="59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26652" name="Line 31"/>
            <p:cNvSpPr/>
            <p:nvPr/>
          </p:nvSpPr>
          <p:spPr>
            <a:xfrm flipH="1">
              <a:off x="1227" y="1594"/>
              <a:ext cx="12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53" name="Line 32"/>
            <p:cNvSpPr/>
            <p:nvPr/>
          </p:nvSpPr>
          <p:spPr>
            <a:xfrm>
              <a:off x="1227" y="1594"/>
              <a:ext cx="0" cy="49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26654" name="Line 33"/>
            <p:cNvSpPr/>
            <p:nvPr/>
          </p:nvSpPr>
          <p:spPr>
            <a:xfrm>
              <a:off x="698" y="1207"/>
              <a:ext cx="0" cy="89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655" name="Text Box 34"/>
            <p:cNvSpPr txBox="1"/>
            <p:nvPr/>
          </p:nvSpPr>
          <p:spPr>
            <a:xfrm>
              <a:off x="404" y="1303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26656" name="Text Box 35"/>
            <p:cNvSpPr txBox="1"/>
            <p:nvPr/>
          </p:nvSpPr>
          <p:spPr>
            <a:xfrm>
              <a:off x="422" y="1652"/>
              <a:ext cx="22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26657" name="Text Box 36"/>
            <p:cNvSpPr txBox="1"/>
            <p:nvPr/>
          </p:nvSpPr>
          <p:spPr>
            <a:xfrm>
              <a:off x="158" y="1492"/>
              <a:ext cx="39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4V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58" name="Text Box 37"/>
            <p:cNvSpPr txBox="1"/>
            <p:nvPr/>
          </p:nvSpPr>
          <p:spPr>
            <a:xfrm>
              <a:off x="889" y="786"/>
              <a:ext cx="36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59" name="Text Box 38"/>
            <p:cNvSpPr txBox="1"/>
            <p:nvPr/>
          </p:nvSpPr>
          <p:spPr>
            <a:xfrm>
              <a:off x="1569" y="404"/>
              <a:ext cx="36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6660" name="Group 39"/>
            <p:cNvGrpSpPr/>
            <p:nvPr/>
          </p:nvGrpSpPr>
          <p:grpSpPr>
            <a:xfrm>
              <a:off x="1531" y="2091"/>
              <a:ext cx="265" cy="204"/>
              <a:chOff x="1224" y="3588"/>
              <a:chExt cx="210" cy="198"/>
            </a:xfrm>
          </p:grpSpPr>
          <p:sp>
            <p:nvSpPr>
              <p:cNvPr id="26661" name="Line 40"/>
              <p:cNvSpPr/>
              <p:nvPr/>
            </p:nvSpPr>
            <p:spPr>
              <a:xfrm>
                <a:off x="1224" y="3684"/>
                <a:ext cx="210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662" name="Line 41"/>
              <p:cNvSpPr/>
              <p:nvPr/>
            </p:nvSpPr>
            <p:spPr>
              <a:xfrm>
                <a:off x="1266" y="3738"/>
                <a:ext cx="126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663" name="Line 42"/>
              <p:cNvSpPr/>
              <p:nvPr/>
            </p:nvSpPr>
            <p:spPr>
              <a:xfrm>
                <a:off x="1296" y="3786"/>
                <a:ext cx="54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664" name="Line 43"/>
              <p:cNvSpPr/>
              <p:nvPr/>
            </p:nvSpPr>
            <p:spPr>
              <a:xfrm>
                <a:off x="1326" y="3588"/>
                <a:ext cx="0" cy="96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oval" w="med" len="med"/>
                <a:tailEnd type="none" w="med" len="med"/>
              </a:ln>
            </p:spPr>
          </p:sp>
        </p:grpSp>
        <p:sp>
          <p:nvSpPr>
            <p:cNvPr id="26665" name="Line 44"/>
            <p:cNvSpPr/>
            <p:nvPr/>
          </p:nvSpPr>
          <p:spPr>
            <a:xfrm>
              <a:off x="1655" y="1737"/>
              <a:ext cx="0" cy="33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26666" name="Group 45"/>
            <p:cNvGrpSpPr/>
            <p:nvPr/>
          </p:nvGrpSpPr>
          <p:grpSpPr>
            <a:xfrm>
              <a:off x="560" y="773"/>
              <a:ext cx="429" cy="338"/>
              <a:chOff x="385" y="663"/>
              <a:chExt cx="408" cy="318"/>
            </a:xfrm>
          </p:grpSpPr>
          <p:sp>
            <p:nvSpPr>
              <p:cNvPr id="26667" name="Line 46"/>
              <p:cNvSpPr/>
              <p:nvPr/>
            </p:nvSpPr>
            <p:spPr>
              <a:xfrm>
                <a:off x="385" y="981"/>
                <a:ext cx="272" cy="0"/>
              </a:xfrm>
              <a:prstGeom prst="line">
                <a:avLst/>
              </a:prstGeom>
              <a:ln w="28575" cap="flat" cmpd="sng">
                <a:solidFill>
                  <a:srgbClr val="66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6668" name="Text Box 47"/>
              <p:cNvSpPr txBox="1"/>
              <p:nvPr/>
            </p:nvSpPr>
            <p:spPr>
              <a:xfrm>
                <a:off x="385" y="663"/>
                <a:ext cx="408" cy="3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8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仿宋_GB2312" pitchFamily="49" charset="-122"/>
                  </a:rPr>
                  <a:t>i</a:t>
                </a:r>
                <a:r>
                  <a:rPr lang="en-US" altLang="zh-CN" sz="2800" b="0" baseline="-25000" dirty="0">
                    <a:solidFill>
                      <a:schemeClr val="bg1"/>
                    </a:solidFill>
                    <a:latin typeface="Arial" panose="020B0604020202020204" pitchFamily="34" charset="0"/>
                    <a:ea typeface="仿宋_GB2312" pitchFamily="49" charset="-122"/>
                  </a:rPr>
                  <a:t>1</a:t>
                </a:r>
                <a:endParaRPr lang="en-US" altLang="zh-CN" sz="2800" b="0" baseline="-2500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</p:grpSp>
        <p:grpSp>
          <p:nvGrpSpPr>
            <p:cNvPr id="26669" name="Group 48"/>
            <p:cNvGrpSpPr/>
            <p:nvPr/>
          </p:nvGrpSpPr>
          <p:grpSpPr>
            <a:xfrm>
              <a:off x="1942" y="484"/>
              <a:ext cx="428" cy="338"/>
              <a:chOff x="385" y="663"/>
              <a:chExt cx="408" cy="318"/>
            </a:xfrm>
          </p:grpSpPr>
          <p:sp>
            <p:nvSpPr>
              <p:cNvPr id="26670" name="Line 49"/>
              <p:cNvSpPr/>
              <p:nvPr/>
            </p:nvSpPr>
            <p:spPr>
              <a:xfrm>
                <a:off x="385" y="981"/>
                <a:ext cx="272" cy="0"/>
              </a:xfrm>
              <a:prstGeom prst="line">
                <a:avLst/>
              </a:prstGeom>
              <a:ln w="28575" cap="flat" cmpd="sng">
                <a:solidFill>
                  <a:srgbClr val="66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6671" name="Text Box 50"/>
              <p:cNvSpPr txBox="1"/>
              <p:nvPr/>
            </p:nvSpPr>
            <p:spPr>
              <a:xfrm>
                <a:off x="385" y="663"/>
                <a:ext cx="408" cy="3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8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仿宋_GB2312" pitchFamily="49" charset="-122"/>
                  </a:rPr>
                  <a:t>i</a:t>
                </a:r>
                <a:r>
                  <a:rPr lang="en-US" altLang="zh-CN" sz="2800" b="0" baseline="-25000" dirty="0">
                    <a:solidFill>
                      <a:schemeClr val="bg1"/>
                    </a:solidFill>
                    <a:latin typeface="Arial" panose="020B0604020202020204" pitchFamily="34" charset="0"/>
                    <a:ea typeface="仿宋_GB2312" pitchFamily="49" charset="-122"/>
                  </a:rPr>
                  <a:t>2</a:t>
                </a:r>
                <a:endParaRPr lang="en-US" altLang="zh-CN" sz="2800" b="0" baseline="-2500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</p:grpSp>
        <p:sp>
          <p:nvSpPr>
            <p:cNvPr id="26672" name="Text Box 51"/>
            <p:cNvSpPr txBox="1"/>
            <p:nvPr/>
          </p:nvSpPr>
          <p:spPr>
            <a:xfrm>
              <a:off x="934" y="1479"/>
              <a:ext cx="31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6673" name="Text Box 52"/>
            <p:cNvSpPr txBox="1"/>
            <p:nvPr/>
          </p:nvSpPr>
          <p:spPr>
            <a:xfrm>
              <a:off x="1029" y="1161"/>
              <a:ext cx="30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3000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8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6674" name="Oval 53"/>
            <p:cNvSpPr/>
            <p:nvPr/>
          </p:nvSpPr>
          <p:spPr>
            <a:xfrm>
              <a:off x="2579" y="1343"/>
              <a:ext cx="96" cy="90"/>
            </a:xfrm>
            <a:prstGeom prst="ellipse">
              <a:avLst/>
            </a:prstGeom>
            <a:noFill/>
            <a:ln w="38100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6675" name="Oval 54"/>
            <p:cNvSpPr/>
            <p:nvPr/>
          </p:nvSpPr>
          <p:spPr>
            <a:xfrm>
              <a:off x="2533" y="2023"/>
              <a:ext cx="95" cy="90"/>
            </a:xfrm>
            <a:prstGeom prst="ellipse">
              <a:avLst/>
            </a:prstGeom>
            <a:noFill/>
            <a:ln w="38100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6676" name="Rectangle 55"/>
            <p:cNvSpPr/>
            <p:nvPr/>
          </p:nvSpPr>
          <p:spPr>
            <a:xfrm>
              <a:off x="833" y="1116"/>
              <a:ext cx="314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6677" name="Rectangle 56"/>
            <p:cNvSpPr/>
            <p:nvPr/>
          </p:nvSpPr>
          <p:spPr>
            <a:xfrm>
              <a:off x="1552" y="708"/>
              <a:ext cx="314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</p:grpSp>
      <p:graphicFrame>
        <p:nvGraphicFramePr>
          <p:cNvPr id="44168" name="Object 136"/>
          <p:cNvGraphicFramePr>
            <a:graphicFrameLocks noChangeAspect="1"/>
          </p:cNvGraphicFramePr>
          <p:nvPr/>
        </p:nvGraphicFramePr>
        <p:xfrm>
          <a:off x="1692275" y="3644900"/>
          <a:ext cx="15398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4" imgW="624840" imgH="219710" progId="Equation.3">
                  <p:embed/>
                </p:oleObj>
              </mc:Choice>
              <mc:Fallback>
                <p:oleObj name="" r:id="rId4" imgW="624840" imgH="219710" progId="Equation.3">
                  <p:embed/>
                  <p:pic>
                    <p:nvPicPr>
                      <p:cNvPr id="0" name="20 3087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92275" y="3644900"/>
                        <a:ext cx="1539875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169" name="Text Box 137"/>
          <p:cNvSpPr txBox="1"/>
          <p:nvPr/>
        </p:nvSpPr>
        <p:spPr>
          <a:xfrm>
            <a:off x="1476375" y="1628775"/>
            <a:ext cx="2665413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latin typeface="Arial" panose="020B0604020202020204" pitchFamily="34" charset="0"/>
                <a:ea typeface="楷体_GB2312" pitchFamily="49" charset="-122"/>
              </a:rPr>
              <a:t>倒向比例电路</a:t>
            </a:r>
            <a:endParaRPr lang="zh-CN" altLang="en-US" sz="2800" b="0" i="1" baseline="-25000" dirty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26680" name="Group 141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26681" name="Picture 142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6682" name="Text Box 143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40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40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4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4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4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40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40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4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4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4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4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3000"/>
                                        <p:tgtEl>
                                          <p:spTgt spid="4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3000"/>
                                        <p:tgtEl>
                                          <p:spTgt spid="44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/>
      <p:bldP spid="44035" grpId="0" animBg="1"/>
      <p:bldP spid="44045" grpId="0"/>
      <p:bldP spid="4416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19" name="Text Box 51"/>
          <p:cNvSpPr txBox="1"/>
          <p:nvPr/>
        </p:nvSpPr>
        <p:spPr>
          <a:xfrm>
            <a:off x="1547813" y="549275"/>
            <a:ext cx="2881312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latin typeface="Arial" panose="020B0604020202020204" pitchFamily="34" charset="0"/>
                <a:ea typeface="楷体_GB2312" pitchFamily="49" charset="-122"/>
              </a:rPr>
              <a:t>求输出电压</a:t>
            </a:r>
            <a:r>
              <a:rPr lang="en-US" altLang="zh-CN" sz="2800" b="0" i="1" dirty="0">
                <a:latin typeface="Times New Roman" panose="02020603050405020304" pitchFamily="18" charset="0"/>
                <a:ea typeface="仿宋_GB2312" pitchFamily="49" charset="-122"/>
              </a:rPr>
              <a:t>u</a:t>
            </a:r>
            <a:r>
              <a:rPr lang="en-US" altLang="zh-CN" sz="2800" b="0" i="1" baseline="-25000" dirty="0">
                <a:latin typeface="Times New Roman" panose="02020603050405020304" pitchFamily="18" charset="0"/>
                <a:ea typeface="仿宋_GB2312" pitchFamily="49" charset="-122"/>
              </a:rPr>
              <a:t>o</a:t>
            </a:r>
            <a:endParaRPr lang="en-US" altLang="zh-CN" sz="2800" b="0" i="1" baseline="-25000" dirty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7264" name="Text Box 96"/>
          <p:cNvSpPr txBox="1"/>
          <p:nvPr/>
        </p:nvSpPr>
        <p:spPr>
          <a:xfrm>
            <a:off x="755650" y="3860800"/>
            <a:ext cx="596900" cy="519113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解</a:t>
            </a:r>
            <a:endParaRPr lang="zh-CN" altLang="en-US" sz="2800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363" name="Object 195"/>
          <p:cNvGraphicFramePr>
            <a:graphicFrameLocks noChangeAspect="1"/>
          </p:cNvGraphicFramePr>
          <p:nvPr/>
        </p:nvGraphicFramePr>
        <p:xfrm>
          <a:off x="755650" y="4437063"/>
          <a:ext cx="3548063" cy="115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" imgW="1377315" imgH="451485" progId="Equation.3">
                  <p:embed/>
                </p:oleObj>
              </mc:Choice>
              <mc:Fallback>
                <p:oleObj name="" r:id="rId1" imgW="1377315" imgH="451485" progId="Equation.3">
                  <p:embed/>
                  <p:pic>
                    <p:nvPicPr>
                      <p:cNvPr id="0" name="20 308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55650" y="4437063"/>
                        <a:ext cx="3548063" cy="11572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652" name="Group 19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7653" name="Picture 198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7654" name="Text Box 19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7655" name="Group 200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7656" name="Picture 201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7657" name="Text Box 202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7377" name="Text Box 209"/>
          <p:cNvSpPr txBox="1"/>
          <p:nvPr/>
        </p:nvSpPr>
        <p:spPr>
          <a:xfrm>
            <a:off x="468313" y="549275"/>
            <a:ext cx="815975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7463" name="Group 295"/>
          <p:cNvGrpSpPr/>
          <p:nvPr/>
        </p:nvGrpSpPr>
        <p:grpSpPr>
          <a:xfrm>
            <a:off x="971550" y="692150"/>
            <a:ext cx="4899025" cy="2916238"/>
            <a:chOff x="2336" y="1434"/>
            <a:chExt cx="3086" cy="1837"/>
          </a:xfrm>
        </p:grpSpPr>
        <p:sp>
          <p:nvSpPr>
            <p:cNvPr id="27660" name="Oval 296"/>
            <p:cNvSpPr/>
            <p:nvPr/>
          </p:nvSpPr>
          <p:spPr>
            <a:xfrm>
              <a:off x="2336" y="2477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661" name="Line 297"/>
            <p:cNvSpPr/>
            <p:nvPr/>
          </p:nvSpPr>
          <p:spPr>
            <a:xfrm flipV="1">
              <a:off x="2517" y="2205"/>
              <a:ext cx="186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662" name="Text Box 298"/>
            <p:cNvSpPr txBox="1"/>
            <p:nvPr/>
          </p:nvSpPr>
          <p:spPr>
            <a:xfrm>
              <a:off x="2472" y="1480"/>
              <a:ext cx="11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endParaRPr lang="zh-CN" altLang="zh-CN" sz="320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663" name="Line 299"/>
            <p:cNvSpPr/>
            <p:nvPr/>
          </p:nvSpPr>
          <p:spPr>
            <a:xfrm>
              <a:off x="2517" y="3067"/>
              <a:ext cx="258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664" name="Line 300"/>
            <p:cNvSpPr/>
            <p:nvPr/>
          </p:nvSpPr>
          <p:spPr>
            <a:xfrm flipV="1">
              <a:off x="4782" y="2387"/>
              <a:ext cx="41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665" name="Text Box 301"/>
            <p:cNvSpPr txBox="1"/>
            <p:nvPr/>
          </p:nvSpPr>
          <p:spPr>
            <a:xfrm>
              <a:off x="5148" y="2341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666" name="Text Box 302"/>
            <p:cNvSpPr txBox="1"/>
            <p:nvPr/>
          </p:nvSpPr>
          <p:spPr>
            <a:xfrm>
              <a:off x="5194" y="2704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sz="28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667" name="Text Box 303"/>
            <p:cNvSpPr txBox="1"/>
            <p:nvPr/>
          </p:nvSpPr>
          <p:spPr>
            <a:xfrm>
              <a:off x="5103" y="2523"/>
              <a:ext cx="30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8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668" name="Line 304"/>
            <p:cNvSpPr/>
            <p:nvPr/>
          </p:nvSpPr>
          <p:spPr>
            <a:xfrm>
              <a:off x="3969" y="1797"/>
              <a:ext cx="104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669" name="Line 305"/>
            <p:cNvSpPr/>
            <p:nvPr/>
          </p:nvSpPr>
          <p:spPr>
            <a:xfrm>
              <a:off x="3969" y="1797"/>
              <a:ext cx="0" cy="40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27670" name="Line 306"/>
            <p:cNvSpPr/>
            <p:nvPr/>
          </p:nvSpPr>
          <p:spPr>
            <a:xfrm>
              <a:off x="5012" y="1797"/>
              <a:ext cx="0" cy="59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27671" name="Line 307"/>
            <p:cNvSpPr/>
            <p:nvPr/>
          </p:nvSpPr>
          <p:spPr>
            <a:xfrm flipH="1" flipV="1">
              <a:off x="4014" y="2614"/>
              <a:ext cx="31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672" name="Line 308"/>
            <p:cNvSpPr/>
            <p:nvPr/>
          </p:nvSpPr>
          <p:spPr>
            <a:xfrm>
              <a:off x="4014" y="2614"/>
              <a:ext cx="0" cy="45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27673" name="Line 309"/>
            <p:cNvSpPr/>
            <p:nvPr/>
          </p:nvSpPr>
          <p:spPr>
            <a:xfrm>
              <a:off x="2517" y="2205"/>
              <a:ext cx="0" cy="86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674" name="Text Box 310"/>
            <p:cNvSpPr txBox="1"/>
            <p:nvPr/>
          </p:nvSpPr>
          <p:spPr>
            <a:xfrm>
              <a:off x="2520" y="2232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675" name="Text Box 311"/>
            <p:cNvSpPr txBox="1"/>
            <p:nvPr/>
          </p:nvSpPr>
          <p:spPr>
            <a:xfrm>
              <a:off x="2571" y="2686"/>
              <a:ext cx="22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sz="28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676" name="Text Box 312"/>
            <p:cNvSpPr txBox="1"/>
            <p:nvPr/>
          </p:nvSpPr>
          <p:spPr>
            <a:xfrm>
              <a:off x="2699" y="2477"/>
              <a:ext cx="39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6V</a:t>
              </a:r>
              <a:endParaRPr lang="en-US" altLang="zh-CN" sz="28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677" name="Text Box 313"/>
            <p:cNvSpPr txBox="1"/>
            <p:nvPr/>
          </p:nvSpPr>
          <p:spPr>
            <a:xfrm>
              <a:off x="3379" y="1888"/>
              <a:ext cx="25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8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678" name="Text Box 314"/>
            <p:cNvSpPr txBox="1"/>
            <p:nvPr/>
          </p:nvSpPr>
          <p:spPr>
            <a:xfrm>
              <a:off x="4377" y="1434"/>
              <a:ext cx="25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8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grpSp>
          <p:nvGrpSpPr>
            <p:cNvPr id="27679" name="Group 315"/>
            <p:cNvGrpSpPr/>
            <p:nvPr/>
          </p:nvGrpSpPr>
          <p:grpSpPr>
            <a:xfrm>
              <a:off x="3878" y="3067"/>
              <a:ext cx="268" cy="204"/>
              <a:chOff x="1224" y="3588"/>
              <a:chExt cx="210" cy="198"/>
            </a:xfrm>
          </p:grpSpPr>
          <p:sp>
            <p:nvSpPr>
              <p:cNvPr id="27680" name="Line 316"/>
              <p:cNvSpPr/>
              <p:nvPr/>
            </p:nvSpPr>
            <p:spPr>
              <a:xfrm>
                <a:off x="1224" y="3684"/>
                <a:ext cx="210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681" name="Line 317"/>
              <p:cNvSpPr/>
              <p:nvPr/>
            </p:nvSpPr>
            <p:spPr>
              <a:xfrm>
                <a:off x="1266" y="3738"/>
                <a:ext cx="126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682" name="Line 318"/>
              <p:cNvSpPr/>
              <p:nvPr/>
            </p:nvSpPr>
            <p:spPr>
              <a:xfrm>
                <a:off x="1296" y="3786"/>
                <a:ext cx="54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683" name="Line 319"/>
              <p:cNvSpPr/>
              <p:nvPr/>
            </p:nvSpPr>
            <p:spPr>
              <a:xfrm>
                <a:off x="1326" y="3588"/>
                <a:ext cx="0" cy="96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oval" w="med" len="med"/>
                <a:tailEnd type="none" w="med" len="med"/>
              </a:ln>
            </p:spPr>
          </p:sp>
        </p:grpSp>
        <p:sp>
          <p:nvSpPr>
            <p:cNvPr id="27684" name="Line 320"/>
            <p:cNvSpPr/>
            <p:nvPr/>
          </p:nvSpPr>
          <p:spPr>
            <a:xfrm>
              <a:off x="3697" y="2115"/>
              <a:ext cx="227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7685" name="Text Box 321"/>
            <p:cNvSpPr txBox="1"/>
            <p:nvPr/>
          </p:nvSpPr>
          <p:spPr>
            <a:xfrm>
              <a:off x="3697" y="1797"/>
              <a:ext cx="43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  <a:endParaRPr lang="en-US" altLang="zh-CN" sz="28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686" name="Text Box 322"/>
            <p:cNvSpPr txBox="1"/>
            <p:nvPr/>
          </p:nvSpPr>
          <p:spPr>
            <a:xfrm>
              <a:off x="3701" y="2478"/>
              <a:ext cx="31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687" name="Text Box 323"/>
            <p:cNvSpPr txBox="1"/>
            <p:nvPr/>
          </p:nvSpPr>
          <p:spPr>
            <a:xfrm>
              <a:off x="3787" y="2160"/>
              <a:ext cx="30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3000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8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688" name="Line 324"/>
            <p:cNvSpPr/>
            <p:nvPr/>
          </p:nvSpPr>
          <p:spPr>
            <a:xfrm>
              <a:off x="3191" y="2206"/>
              <a:ext cx="0" cy="86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27689" name="Text Box 325"/>
            <p:cNvSpPr txBox="1"/>
            <p:nvPr/>
          </p:nvSpPr>
          <p:spPr>
            <a:xfrm>
              <a:off x="3243" y="2477"/>
              <a:ext cx="25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8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690" name="Text Box 326"/>
            <p:cNvSpPr txBox="1"/>
            <p:nvPr/>
          </p:nvSpPr>
          <p:spPr>
            <a:xfrm>
              <a:off x="2744" y="1842"/>
              <a:ext cx="25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8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grpSp>
          <p:nvGrpSpPr>
            <p:cNvPr id="27691" name="Group 327"/>
            <p:cNvGrpSpPr/>
            <p:nvPr/>
          </p:nvGrpSpPr>
          <p:grpSpPr>
            <a:xfrm>
              <a:off x="4196" y="1978"/>
              <a:ext cx="682" cy="795"/>
              <a:chOff x="883" y="1501"/>
              <a:chExt cx="682" cy="795"/>
            </a:xfrm>
          </p:grpSpPr>
          <p:sp>
            <p:nvSpPr>
              <p:cNvPr id="27692" name="Rectangle 328"/>
              <p:cNvSpPr/>
              <p:nvPr/>
            </p:nvSpPr>
            <p:spPr>
              <a:xfrm>
                <a:off x="883" y="1553"/>
                <a:ext cx="658" cy="726"/>
              </a:xfrm>
              <a:prstGeom prst="rect">
                <a:avLst/>
              </a:prstGeom>
              <a:gradFill rotWithShape="1">
                <a:gsLst>
                  <a:gs pos="0">
                    <a:srgbClr val="FF9900"/>
                  </a:gs>
                  <a:gs pos="100000">
                    <a:srgbClr val="764700"/>
                  </a:gs>
                </a:gsLst>
                <a:path path="shape">
                  <a:fillToRect l="50000" t="50000" r="50000" b="50000"/>
                </a:path>
                <a:tileRect/>
              </a:gra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27693" name="Text Box 329"/>
              <p:cNvSpPr txBox="1"/>
              <p:nvPr/>
            </p:nvSpPr>
            <p:spPr>
              <a:xfrm>
                <a:off x="927" y="1501"/>
                <a:ext cx="228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_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694" name="Text Box 330"/>
              <p:cNvSpPr txBox="1"/>
              <p:nvPr/>
            </p:nvSpPr>
            <p:spPr>
              <a:xfrm>
                <a:off x="915" y="1969"/>
                <a:ext cx="242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695" name="AutoShape 331"/>
              <p:cNvSpPr/>
              <p:nvPr/>
            </p:nvSpPr>
            <p:spPr>
              <a:xfrm rot="5400000">
                <a:off x="1150" y="1605"/>
                <a:ext cx="144" cy="132"/>
              </a:xfrm>
              <a:prstGeom prst="triangle">
                <a:avLst>
                  <a:gd name="adj" fmla="val 56245"/>
                </a:avLst>
              </a:prstGeom>
              <a:solidFill>
                <a:schemeClr val="bg1"/>
              </a:soli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27696" name="Text Box 332"/>
              <p:cNvSpPr txBox="1"/>
              <p:nvPr/>
            </p:nvSpPr>
            <p:spPr>
              <a:xfrm>
                <a:off x="1263" y="1521"/>
                <a:ext cx="276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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27697" name="Text Box 333"/>
              <p:cNvSpPr txBox="1"/>
              <p:nvPr/>
            </p:nvSpPr>
            <p:spPr>
              <a:xfrm>
                <a:off x="1323" y="1765"/>
                <a:ext cx="242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7698" name="Rectangle 334"/>
            <p:cNvSpPr/>
            <p:nvPr/>
          </p:nvSpPr>
          <p:spPr>
            <a:xfrm>
              <a:off x="4332" y="175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699" name="Rectangle 335"/>
            <p:cNvSpPr/>
            <p:nvPr/>
          </p:nvSpPr>
          <p:spPr>
            <a:xfrm>
              <a:off x="3334" y="2160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700" name="Rectangle 336"/>
            <p:cNvSpPr/>
            <p:nvPr/>
          </p:nvSpPr>
          <p:spPr>
            <a:xfrm>
              <a:off x="2744" y="2160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701" name="Oval 337"/>
            <p:cNvSpPr/>
            <p:nvPr/>
          </p:nvSpPr>
          <p:spPr>
            <a:xfrm>
              <a:off x="5103" y="3022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702" name="Oval 338"/>
            <p:cNvSpPr/>
            <p:nvPr/>
          </p:nvSpPr>
          <p:spPr>
            <a:xfrm>
              <a:off x="5194" y="2341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703" name="Rectangle 339"/>
            <p:cNvSpPr/>
            <p:nvPr/>
          </p:nvSpPr>
          <p:spPr>
            <a:xfrm>
              <a:off x="3107" y="252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</p:grpSp>
      <p:grpSp>
        <p:nvGrpSpPr>
          <p:cNvPr id="7508" name="Group 340"/>
          <p:cNvGrpSpPr/>
          <p:nvPr/>
        </p:nvGrpSpPr>
        <p:grpSpPr>
          <a:xfrm>
            <a:off x="4500563" y="3213100"/>
            <a:ext cx="4117975" cy="3001963"/>
            <a:chOff x="2971" y="1538"/>
            <a:chExt cx="2594" cy="1891"/>
          </a:xfrm>
        </p:grpSpPr>
        <p:sp>
          <p:nvSpPr>
            <p:cNvPr id="27705" name="Oval 341"/>
            <p:cNvSpPr/>
            <p:nvPr/>
          </p:nvSpPr>
          <p:spPr>
            <a:xfrm>
              <a:off x="3334" y="256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706" name="Rectangle 342"/>
            <p:cNvSpPr/>
            <p:nvPr/>
          </p:nvSpPr>
          <p:spPr>
            <a:xfrm>
              <a:off x="4123" y="2127"/>
              <a:ext cx="619" cy="764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707" name="Line 343"/>
            <p:cNvSpPr/>
            <p:nvPr/>
          </p:nvSpPr>
          <p:spPr>
            <a:xfrm flipH="1">
              <a:off x="3504" y="2331"/>
              <a:ext cx="61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708" name="Line 344"/>
            <p:cNvSpPr/>
            <p:nvPr/>
          </p:nvSpPr>
          <p:spPr>
            <a:xfrm>
              <a:off x="3504" y="3223"/>
              <a:ext cx="179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709" name="Line 345"/>
            <p:cNvSpPr/>
            <p:nvPr/>
          </p:nvSpPr>
          <p:spPr>
            <a:xfrm flipV="1">
              <a:off x="4748" y="2522"/>
              <a:ext cx="55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710" name="Text Box 346"/>
            <p:cNvSpPr txBox="1"/>
            <p:nvPr/>
          </p:nvSpPr>
          <p:spPr>
            <a:xfrm>
              <a:off x="5216" y="2490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711" name="Text Box 347"/>
            <p:cNvSpPr txBox="1"/>
            <p:nvPr/>
          </p:nvSpPr>
          <p:spPr>
            <a:xfrm>
              <a:off x="5315" y="2862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sz="28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712" name="Text Box 348"/>
            <p:cNvSpPr txBox="1"/>
            <p:nvPr/>
          </p:nvSpPr>
          <p:spPr>
            <a:xfrm>
              <a:off x="5261" y="2672"/>
              <a:ext cx="30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8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713" name="Text Box 349"/>
            <p:cNvSpPr txBox="1"/>
            <p:nvPr/>
          </p:nvSpPr>
          <p:spPr>
            <a:xfrm>
              <a:off x="4137" y="2046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sz="28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714" name="Text Box 350"/>
            <p:cNvSpPr txBox="1"/>
            <p:nvPr/>
          </p:nvSpPr>
          <p:spPr>
            <a:xfrm>
              <a:off x="4150" y="2568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715" name="AutoShape 351"/>
            <p:cNvSpPr/>
            <p:nvPr/>
          </p:nvSpPr>
          <p:spPr>
            <a:xfrm rot="5400000">
              <a:off x="4396" y="2191"/>
              <a:ext cx="153" cy="134"/>
            </a:xfrm>
            <a:prstGeom prst="triangle">
              <a:avLst>
                <a:gd name="adj" fmla="val 56245"/>
              </a:avLst>
            </a:prstGeom>
            <a:solidFill>
              <a:schemeClr val="bg1"/>
            </a:soli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716" name="Text Box 352"/>
            <p:cNvSpPr txBox="1"/>
            <p:nvPr/>
          </p:nvSpPr>
          <p:spPr>
            <a:xfrm>
              <a:off x="4477" y="2067"/>
              <a:ext cx="27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</a:t>
              </a:r>
              <a:endParaRPr lang="en-US" altLang="zh-CN" sz="28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717" name="Text Box 353"/>
            <p:cNvSpPr txBox="1"/>
            <p:nvPr/>
          </p:nvSpPr>
          <p:spPr>
            <a:xfrm>
              <a:off x="4538" y="2326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718" name="Line 354"/>
            <p:cNvSpPr/>
            <p:nvPr/>
          </p:nvSpPr>
          <p:spPr>
            <a:xfrm>
              <a:off x="4002" y="1925"/>
              <a:ext cx="96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719" name="Line 355"/>
            <p:cNvSpPr/>
            <p:nvPr/>
          </p:nvSpPr>
          <p:spPr>
            <a:xfrm>
              <a:off x="4002" y="1925"/>
              <a:ext cx="0" cy="40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27720" name="Line 356"/>
            <p:cNvSpPr/>
            <p:nvPr/>
          </p:nvSpPr>
          <p:spPr>
            <a:xfrm>
              <a:off x="4973" y="1925"/>
              <a:ext cx="0" cy="59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27721" name="Line 357"/>
            <p:cNvSpPr/>
            <p:nvPr/>
          </p:nvSpPr>
          <p:spPr>
            <a:xfrm flipH="1">
              <a:off x="4002" y="2728"/>
              <a:ext cx="12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722" name="Line 358"/>
            <p:cNvSpPr/>
            <p:nvPr/>
          </p:nvSpPr>
          <p:spPr>
            <a:xfrm>
              <a:off x="4002" y="2728"/>
              <a:ext cx="0" cy="49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27723" name="Line 359"/>
            <p:cNvSpPr/>
            <p:nvPr/>
          </p:nvSpPr>
          <p:spPr>
            <a:xfrm>
              <a:off x="3504" y="2333"/>
              <a:ext cx="0" cy="89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724" name="Text Box 360"/>
            <p:cNvSpPr txBox="1"/>
            <p:nvPr/>
          </p:nvSpPr>
          <p:spPr>
            <a:xfrm>
              <a:off x="3198" y="2341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725" name="Text Box 361"/>
            <p:cNvSpPr txBox="1"/>
            <p:nvPr/>
          </p:nvSpPr>
          <p:spPr>
            <a:xfrm>
              <a:off x="3225" y="2786"/>
              <a:ext cx="21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sz="28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726" name="Text Box 362"/>
            <p:cNvSpPr txBox="1"/>
            <p:nvPr/>
          </p:nvSpPr>
          <p:spPr>
            <a:xfrm>
              <a:off x="2971" y="2626"/>
              <a:ext cx="39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3V</a:t>
              </a:r>
              <a:endParaRPr lang="en-US" altLang="zh-CN" sz="28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727" name="Text Box 363"/>
            <p:cNvSpPr txBox="1"/>
            <p:nvPr/>
          </p:nvSpPr>
          <p:spPr>
            <a:xfrm>
              <a:off x="3394" y="1901"/>
              <a:ext cx="539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3/2</a:t>
              </a: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8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728" name="Text Box 364"/>
            <p:cNvSpPr txBox="1"/>
            <p:nvPr/>
          </p:nvSpPr>
          <p:spPr>
            <a:xfrm>
              <a:off x="4331" y="1538"/>
              <a:ext cx="25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8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grpSp>
          <p:nvGrpSpPr>
            <p:cNvPr id="27729" name="Group 365"/>
            <p:cNvGrpSpPr/>
            <p:nvPr/>
          </p:nvGrpSpPr>
          <p:grpSpPr>
            <a:xfrm>
              <a:off x="3847" y="3225"/>
              <a:ext cx="255" cy="204"/>
              <a:chOff x="1224" y="3588"/>
              <a:chExt cx="210" cy="198"/>
            </a:xfrm>
          </p:grpSpPr>
          <p:sp>
            <p:nvSpPr>
              <p:cNvPr id="27730" name="Line 366"/>
              <p:cNvSpPr/>
              <p:nvPr/>
            </p:nvSpPr>
            <p:spPr>
              <a:xfrm>
                <a:off x="1224" y="3684"/>
                <a:ext cx="210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731" name="Line 367"/>
              <p:cNvSpPr/>
              <p:nvPr/>
            </p:nvSpPr>
            <p:spPr>
              <a:xfrm>
                <a:off x="1266" y="3738"/>
                <a:ext cx="126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732" name="Line 368"/>
              <p:cNvSpPr/>
              <p:nvPr/>
            </p:nvSpPr>
            <p:spPr>
              <a:xfrm>
                <a:off x="1296" y="3786"/>
                <a:ext cx="54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733" name="Line 369"/>
              <p:cNvSpPr/>
              <p:nvPr/>
            </p:nvSpPr>
            <p:spPr>
              <a:xfrm>
                <a:off x="1326" y="3588"/>
                <a:ext cx="0" cy="96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oval" w="med" len="med"/>
                <a:tailEnd type="none" w="med" len="med"/>
              </a:ln>
            </p:spPr>
          </p:sp>
        </p:grpSp>
        <p:sp>
          <p:nvSpPr>
            <p:cNvPr id="27734" name="Oval 370"/>
            <p:cNvSpPr/>
            <p:nvPr/>
          </p:nvSpPr>
          <p:spPr>
            <a:xfrm>
              <a:off x="5306" y="2477"/>
              <a:ext cx="91" cy="90"/>
            </a:xfrm>
            <a:prstGeom prst="ellipse">
              <a:avLst/>
            </a:prstGeom>
            <a:noFill/>
            <a:ln w="38100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735" name="Oval 371"/>
            <p:cNvSpPr/>
            <p:nvPr/>
          </p:nvSpPr>
          <p:spPr>
            <a:xfrm>
              <a:off x="5284" y="3158"/>
              <a:ext cx="91" cy="90"/>
            </a:xfrm>
            <a:prstGeom prst="ellipse">
              <a:avLst/>
            </a:prstGeom>
            <a:noFill/>
            <a:ln w="38100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736" name="Rectangle 372"/>
            <p:cNvSpPr/>
            <p:nvPr/>
          </p:nvSpPr>
          <p:spPr>
            <a:xfrm>
              <a:off x="3606" y="2251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7737" name="Rectangle 373"/>
            <p:cNvSpPr/>
            <p:nvPr/>
          </p:nvSpPr>
          <p:spPr>
            <a:xfrm>
              <a:off x="4332" y="188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</p:grpSp>
      <p:sp>
        <p:nvSpPr>
          <p:cNvPr id="7543" name="Text Box 375"/>
          <p:cNvSpPr txBox="1"/>
          <p:nvPr/>
        </p:nvSpPr>
        <p:spPr>
          <a:xfrm>
            <a:off x="1619250" y="3789363"/>
            <a:ext cx="2881313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latin typeface="Arial" panose="020B0604020202020204" pitchFamily="34" charset="0"/>
                <a:ea typeface="楷体_GB2312" pitchFamily="49" charset="-122"/>
              </a:rPr>
              <a:t>化简电路</a:t>
            </a:r>
            <a:endParaRPr lang="zh-CN" altLang="en-US" sz="2800" b="0" i="1" baseline="-25000" dirty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7544" name="AutoShape 376"/>
          <p:cNvSpPr/>
          <p:nvPr/>
        </p:nvSpPr>
        <p:spPr>
          <a:xfrm rot="2068565">
            <a:off x="6011863" y="2349500"/>
            <a:ext cx="1800225" cy="576263"/>
          </a:xfrm>
          <a:prstGeom prst="curvedDownArrow">
            <a:avLst>
              <a:gd name="adj1" fmla="val 29765"/>
              <a:gd name="adj2" fmla="val 92244"/>
              <a:gd name="adj3" fmla="val 33324"/>
            </a:avLst>
          </a:prstGeom>
          <a:solidFill>
            <a:srgbClr val="0066FF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仿宋_GB2312" pitchFamily="49" charset="-122"/>
            </a:endParaRPr>
          </a:p>
        </p:txBody>
      </p:sp>
      <p:grpSp>
        <p:nvGrpSpPr>
          <p:cNvPr id="27740" name="Group 380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27741" name="Picture 381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7742" name="Text Box 382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3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3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7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7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2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2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7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3000"/>
                                        <p:tgtEl>
                                          <p:spTgt spid="7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19" grpId="0"/>
      <p:bldP spid="7264" grpId="0" animBg="1"/>
      <p:bldP spid="7377" grpId="0"/>
      <p:bldP spid="7543" grpId="0"/>
      <p:bldP spid="754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31" name="Text Box 87"/>
          <p:cNvSpPr txBox="1"/>
          <p:nvPr/>
        </p:nvSpPr>
        <p:spPr>
          <a:xfrm>
            <a:off x="323850" y="549275"/>
            <a:ext cx="1223963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endParaRPr lang="en-US" altLang="zh-CN" sz="32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232" name="Text Box 88"/>
          <p:cNvSpPr txBox="1"/>
          <p:nvPr/>
        </p:nvSpPr>
        <p:spPr>
          <a:xfrm>
            <a:off x="1258888" y="549275"/>
            <a:ext cx="295275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latin typeface="Arial" panose="020B0604020202020204" pitchFamily="34" charset="0"/>
                <a:ea typeface="楷体_GB2312" pitchFamily="49" charset="-122"/>
              </a:rPr>
              <a:t>求输出电压</a:t>
            </a:r>
            <a:r>
              <a:rPr lang="en-US" altLang="zh-CN" sz="2800" b="0" i="1" dirty="0">
                <a:latin typeface="Times New Roman" panose="02020603050405020304" pitchFamily="18" charset="0"/>
                <a:ea typeface="仿宋_GB2312" pitchFamily="49" charset="-122"/>
              </a:rPr>
              <a:t>u</a:t>
            </a:r>
            <a:r>
              <a:rPr lang="en-US" altLang="zh-CN" sz="2800" i="1" baseline="-25000" dirty="0">
                <a:latin typeface="Times New Roman" panose="02020603050405020304" pitchFamily="18" charset="0"/>
                <a:ea typeface="仿宋_GB2312" pitchFamily="49" charset="-122"/>
              </a:rPr>
              <a:t>o</a:t>
            </a:r>
            <a:endParaRPr lang="en-US" altLang="zh-CN" sz="2800" i="1" baseline="-25000" dirty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aphicFrame>
        <p:nvGraphicFramePr>
          <p:cNvPr id="6233" name="Object 89"/>
          <p:cNvGraphicFramePr>
            <a:graphicFrameLocks noChangeAspect="1"/>
          </p:cNvGraphicFramePr>
          <p:nvPr/>
        </p:nvGraphicFramePr>
        <p:xfrm>
          <a:off x="6443663" y="1412875"/>
          <a:ext cx="1700212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" imgW="648335" imgH="451485" progId="Equation.3">
                  <p:embed/>
                </p:oleObj>
              </mc:Choice>
              <mc:Fallback>
                <p:oleObj name="" r:id="rId1" imgW="648335" imgH="451485" progId="Equation.3">
                  <p:embed/>
                  <p:pic>
                    <p:nvPicPr>
                      <p:cNvPr id="0" name="20 309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443663" y="1412875"/>
                        <a:ext cx="1700212" cy="1181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34" name="Text Box 90"/>
          <p:cNvSpPr txBox="1"/>
          <p:nvPr/>
        </p:nvSpPr>
        <p:spPr>
          <a:xfrm>
            <a:off x="5867400" y="765175"/>
            <a:ext cx="647700" cy="519113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endParaRPr lang="zh-CN" altLang="en-US" sz="28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6235" name="Object 91"/>
          <p:cNvGraphicFramePr>
            <a:graphicFrameLocks noChangeAspect="1"/>
          </p:cNvGraphicFramePr>
          <p:nvPr/>
        </p:nvGraphicFramePr>
        <p:xfrm>
          <a:off x="5076825" y="3141663"/>
          <a:ext cx="357822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3" imgW="1388745" imgH="219710" progId="Equation.3">
                  <p:embed/>
                </p:oleObj>
              </mc:Choice>
              <mc:Fallback>
                <p:oleObj name="" r:id="rId3" imgW="1388745" imgH="219710" progId="Equation.3">
                  <p:embed/>
                  <p:pic>
                    <p:nvPicPr>
                      <p:cNvPr id="0" name="20 309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076825" y="3141663"/>
                        <a:ext cx="3578225" cy="565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36" name="Object 92"/>
          <p:cNvGraphicFramePr>
            <a:graphicFrameLocks noChangeAspect="1"/>
          </p:cNvGraphicFramePr>
          <p:nvPr/>
        </p:nvGraphicFramePr>
        <p:xfrm>
          <a:off x="5364163" y="3933825"/>
          <a:ext cx="2873375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5" imgW="1064895" imgH="405130" progId="Equation.3">
                  <p:embed/>
                </p:oleObj>
              </mc:Choice>
              <mc:Fallback>
                <p:oleObj name="" r:id="rId5" imgW="1064895" imgH="405130" progId="Equation.3">
                  <p:embed/>
                  <p:pic>
                    <p:nvPicPr>
                      <p:cNvPr id="0" name="20 3092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64163" y="3933825"/>
                        <a:ext cx="2873375" cy="1089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37" name="Object 93"/>
          <p:cNvGraphicFramePr>
            <a:graphicFrameLocks noChangeAspect="1"/>
          </p:cNvGraphicFramePr>
          <p:nvPr/>
        </p:nvGraphicFramePr>
        <p:xfrm>
          <a:off x="3708400" y="5373688"/>
          <a:ext cx="496887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7" imgW="1910080" imgH="219710" progId="Equation.3">
                  <p:embed/>
                </p:oleObj>
              </mc:Choice>
              <mc:Fallback>
                <p:oleObj name="" r:id="rId7" imgW="1910080" imgH="219710" progId="Equation.3">
                  <p:embed/>
                  <p:pic>
                    <p:nvPicPr>
                      <p:cNvPr id="0" name="20 3089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08400" y="5373688"/>
                        <a:ext cx="4968875" cy="568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680" name="Group 95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8681" name="Picture 96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8682" name="Text Box 97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8683" name="Group 98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8684" name="Picture 99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8685" name="Text Box 100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248" name="Group 104"/>
          <p:cNvGrpSpPr/>
          <p:nvPr/>
        </p:nvGrpSpPr>
        <p:grpSpPr>
          <a:xfrm>
            <a:off x="468313" y="1125538"/>
            <a:ext cx="5235575" cy="4308475"/>
            <a:chOff x="2154" y="1344"/>
            <a:chExt cx="3298" cy="2714"/>
          </a:xfrm>
        </p:grpSpPr>
        <p:sp>
          <p:nvSpPr>
            <p:cNvPr id="28687" name="Line 105"/>
            <p:cNvSpPr/>
            <p:nvPr/>
          </p:nvSpPr>
          <p:spPr>
            <a:xfrm>
              <a:off x="3379" y="2098"/>
              <a:ext cx="86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88" name="Line 106"/>
            <p:cNvSpPr/>
            <p:nvPr/>
          </p:nvSpPr>
          <p:spPr>
            <a:xfrm flipV="1">
              <a:off x="4740" y="2053"/>
              <a:ext cx="55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89" name="Text Box 107"/>
            <p:cNvSpPr txBox="1"/>
            <p:nvPr/>
          </p:nvSpPr>
          <p:spPr>
            <a:xfrm>
              <a:off x="5193" y="2007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90" name="Text Box 108"/>
            <p:cNvSpPr txBox="1"/>
            <p:nvPr/>
          </p:nvSpPr>
          <p:spPr>
            <a:xfrm>
              <a:off x="5148" y="2279"/>
              <a:ext cx="30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91" name="Line 109"/>
            <p:cNvSpPr/>
            <p:nvPr/>
          </p:nvSpPr>
          <p:spPr>
            <a:xfrm flipH="1">
              <a:off x="4059" y="2432"/>
              <a:ext cx="17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92" name="Text Box 110"/>
            <p:cNvSpPr txBox="1"/>
            <p:nvPr/>
          </p:nvSpPr>
          <p:spPr>
            <a:xfrm>
              <a:off x="2200" y="2143"/>
              <a:ext cx="2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28693" name="Text Box 111"/>
            <p:cNvSpPr txBox="1"/>
            <p:nvPr/>
          </p:nvSpPr>
          <p:spPr>
            <a:xfrm>
              <a:off x="2154" y="2415"/>
              <a:ext cx="39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6V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94" name="Text Box 112"/>
            <p:cNvSpPr txBox="1"/>
            <p:nvPr/>
          </p:nvSpPr>
          <p:spPr>
            <a:xfrm>
              <a:off x="4740" y="1344"/>
              <a:ext cx="19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95" name="Oval 113"/>
            <p:cNvSpPr/>
            <p:nvPr/>
          </p:nvSpPr>
          <p:spPr>
            <a:xfrm>
              <a:off x="2503" y="2279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8696" name="Oval 114"/>
            <p:cNvSpPr/>
            <p:nvPr/>
          </p:nvSpPr>
          <p:spPr>
            <a:xfrm>
              <a:off x="2404" y="3640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8697" name="Oval 115"/>
            <p:cNvSpPr/>
            <p:nvPr/>
          </p:nvSpPr>
          <p:spPr>
            <a:xfrm>
              <a:off x="5284" y="2025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8698" name="Line 116"/>
            <p:cNvSpPr/>
            <p:nvPr/>
          </p:nvSpPr>
          <p:spPr>
            <a:xfrm>
              <a:off x="2562" y="2327"/>
              <a:ext cx="31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28699" name="Group 117"/>
            <p:cNvGrpSpPr/>
            <p:nvPr/>
          </p:nvGrpSpPr>
          <p:grpSpPr>
            <a:xfrm>
              <a:off x="4241" y="1706"/>
              <a:ext cx="636" cy="862"/>
              <a:chOff x="3470" y="1344"/>
              <a:chExt cx="643" cy="856"/>
            </a:xfrm>
          </p:grpSpPr>
          <p:sp>
            <p:nvSpPr>
              <p:cNvPr id="28700" name="Rectangle 118"/>
              <p:cNvSpPr/>
              <p:nvPr/>
            </p:nvSpPr>
            <p:spPr>
              <a:xfrm>
                <a:off x="3470" y="1480"/>
                <a:ext cx="612" cy="720"/>
              </a:xfrm>
              <a:prstGeom prst="rect">
                <a:avLst/>
              </a:prstGeom>
              <a:gradFill rotWithShape="1">
                <a:gsLst>
                  <a:gs pos="0">
                    <a:srgbClr val="FF9900"/>
                  </a:gs>
                  <a:gs pos="100000">
                    <a:srgbClr val="764700"/>
                  </a:gs>
                </a:gsLst>
                <a:path path="shape">
                  <a:fillToRect l="50000" t="50000" r="50000" b="50000"/>
                </a:path>
                <a:tileRect/>
              </a:gra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28701" name="Text Box 119"/>
              <p:cNvSpPr txBox="1"/>
              <p:nvPr/>
            </p:nvSpPr>
            <p:spPr>
              <a:xfrm>
                <a:off x="3470" y="1344"/>
                <a:ext cx="231" cy="32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_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02" name="Text Box 120"/>
              <p:cNvSpPr txBox="1"/>
              <p:nvPr/>
            </p:nvSpPr>
            <p:spPr>
              <a:xfrm>
                <a:off x="3470" y="1797"/>
                <a:ext cx="245" cy="32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03" name="AutoShape 121"/>
              <p:cNvSpPr/>
              <p:nvPr/>
            </p:nvSpPr>
            <p:spPr>
              <a:xfrm rot="5400000">
                <a:off x="3736" y="1576"/>
                <a:ext cx="144" cy="132"/>
              </a:xfrm>
              <a:prstGeom prst="triangle">
                <a:avLst>
                  <a:gd name="adj" fmla="val 56245"/>
                </a:avLst>
              </a:prstGeom>
              <a:solidFill>
                <a:schemeClr val="bg1"/>
              </a:soli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28704" name="Text Box 122"/>
              <p:cNvSpPr txBox="1"/>
              <p:nvPr/>
            </p:nvSpPr>
            <p:spPr>
              <a:xfrm>
                <a:off x="3834" y="1434"/>
                <a:ext cx="279" cy="32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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28705" name="Text Box 123"/>
              <p:cNvSpPr txBox="1"/>
              <p:nvPr/>
            </p:nvSpPr>
            <p:spPr>
              <a:xfrm>
                <a:off x="3834" y="1661"/>
                <a:ext cx="245" cy="32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8706" name="Line 124"/>
            <p:cNvSpPr/>
            <p:nvPr/>
          </p:nvSpPr>
          <p:spPr>
            <a:xfrm>
              <a:off x="4059" y="1599"/>
              <a:ext cx="0" cy="49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28707" name="Line 125"/>
            <p:cNvSpPr/>
            <p:nvPr/>
          </p:nvSpPr>
          <p:spPr>
            <a:xfrm>
              <a:off x="4059" y="1599"/>
              <a:ext cx="95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708" name="Line 126"/>
            <p:cNvSpPr/>
            <p:nvPr/>
          </p:nvSpPr>
          <p:spPr>
            <a:xfrm>
              <a:off x="5012" y="1599"/>
              <a:ext cx="0" cy="45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28709" name="Line 127"/>
            <p:cNvSpPr/>
            <p:nvPr/>
          </p:nvSpPr>
          <p:spPr>
            <a:xfrm>
              <a:off x="4059" y="2432"/>
              <a:ext cx="0" cy="143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710" name="Line 128"/>
            <p:cNvSpPr/>
            <p:nvPr/>
          </p:nvSpPr>
          <p:spPr>
            <a:xfrm>
              <a:off x="3379" y="3186"/>
              <a:ext cx="68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28711" name="Line 129"/>
            <p:cNvSpPr/>
            <p:nvPr/>
          </p:nvSpPr>
          <p:spPr>
            <a:xfrm>
              <a:off x="3923" y="3867"/>
              <a:ext cx="226" cy="0"/>
            </a:xfrm>
            <a:prstGeom prst="line">
              <a:avLst/>
            </a:prstGeom>
            <a:ln w="57150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712" name="Line 130"/>
            <p:cNvSpPr/>
            <p:nvPr/>
          </p:nvSpPr>
          <p:spPr>
            <a:xfrm>
              <a:off x="2517" y="2007"/>
              <a:ext cx="36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713" name="Line 131"/>
            <p:cNvSpPr/>
            <p:nvPr/>
          </p:nvSpPr>
          <p:spPr>
            <a:xfrm>
              <a:off x="2517" y="1554"/>
              <a:ext cx="0" cy="45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714" name="Line 132"/>
            <p:cNvSpPr/>
            <p:nvPr/>
          </p:nvSpPr>
          <p:spPr>
            <a:xfrm>
              <a:off x="2517" y="1554"/>
              <a:ext cx="99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715" name="Line 133"/>
            <p:cNvSpPr/>
            <p:nvPr/>
          </p:nvSpPr>
          <p:spPr>
            <a:xfrm>
              <a:off x="3515" y="1554"/>
              <a:ext cx="0" cy="54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28716" name="Line 134"/>
            <p:cNvSpPr/>
            <p:nvPr/>
          </p:nvSpPr>
          <p:spPr>
            <a:xfrm>
              <a:off x="2608" y="3186"/>
              <a:ext cx="27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717" name="Line 135"/>
            <p:cNvSpPr/>
            <p:nvPr/>
          </p:nvSpPr>
          <p:spPr>
            <a:xfrm>
              <a:off x="2608" y="2824"/>
              <a:ext cx="0" cy="36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718" name="Line 136"/>
            <p:cNvSpPr/>
            <p:nvPr/>
          </p:nvSpPr>
          <p:spPr>
            <a:xfrm>
              <a:off x="2608" y="2824"/>
              <a:ext cx="86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719" name="Line 137"/>
            <p:cNvSpPr/>
            <p:nvPr/>
          </p:nvSpPr>
          <p:spPr>
            <a:xfrm>
              <a:off x="3470" y="2824"/>
              <a:ext cx="0" cy="36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28720" name="Line 138"/>
            <p:cNvSpPr/>
            <p:nvPr/>
          </p:nvSpPr>
          <p:spPr>
            <a:xfrm>
              <a:off x="2472" y="3685"/>
              <a:ext cx="40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721" name="Text Box 139"/>
            <p:cNvSpPr txBox="1"/>
            <p:nvPr/>
          </p:nvSpPr>
          <p:spPr>
            <a:xfrm>
              <a:off x="2336" y="3731"/>
              <a:ext cx="39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3V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22" name="Text Box 140"/>
            <p:cNvSpPr txBox="1"/>
            <p:nvPr/>
          </p:nvSpPr>
          <p:spPr>
            <a:xfrm>
              <a:off x="2154" y="3459"/>
              <a:ext cx="2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28723" name="Text Box 141"/>
            <p:cNvSpPr txBox="1"/>
            <p:nvPr/>
          </p:nvSpPr>
          <p:spPr>
            <a:xfrm>
              <a:off x="3606" y="2824"/>
              <a:ext cx="19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24" name="Text Box 142"/>
            <p:cNvSpPr txBox="1"/>
            <p:nvPr/>
          </p:nvSpPr>
          <p:spPr>
            <a:xfrm>
              <a:off x="4195" y="3413"/>
              <a:ext cx="19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25" name="Text Box 143"/>
            <p:cNvSpPr txBox="1"/>
            <p:nvPr/>
          </p:nvSpPr>
          <p:spPr>
            <a:xfrm>
              <a:off x="3651" y="1752"/>
              <a:ext cx="19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26" name="Text Box 144"/>
            <p:cNvSpPr txBox="1"/>
            <p:nvPr/>
          </p:nvSpPr>
          <p:spPr>
            <a:xfrm>
              <a:off x="4105" y="3050"/>
              <a:ext cx="30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27" name="Text Box 145"/>
            <p:cNvSpPr txBox="1"/>
            <p:nvPr/>
          </p:nvSpPr>
          <p:spPr>
            <a:xfrm>
              <a:off x="3969" y="2024"/>
              <a:ext cx="30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28" name="Text Box 146"/>
            <p:cNvSpPr txBox="1"/>
            <p:nvPr/>
          </p:nvSpPr>
          <p:spPr>
            <a:xfrm>
              <a:off x="3379" y="3186"/>
              <a:ext cx="30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29" name="Text Box 147"/>
            <p:cNvSpPr txBox="1"/>
            <p:nvPr/>
          </p:nvSpPr>
          <p:spPr>
            <a:xfrm>
              <a:off x="3379" y="2098"/>
              <a:ext cx="30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8730" name="Group 148"/>
            <p:cNvGrpSpPr/>
            <p:nvPr/>
          </p:nvGrpSpPr>
          <p:grpSpPr>
            <a:xfrm>
              <a:off x="2789" y="2914"/>
              <a:ext cx="633" cy="861"/>
              <a:chOff x="3470" y="1344"/>
              <a:chExt cx="643" cy="856"/>
            </a:xfrm>
          </p:grpSpPr>
          <p:sp>
            <p:nvSpPr>
              <p:cNvPr id="28731" name="Rectangle 149"/>
              <p:cNvSpPr/>
              <p:nvPr/>
            </p:nvSpPr>
            <p:spPr>
              <a:xfrm>
                <a:off x="3470" y="1480"/>
                <a:ext cx="612" cy="720"/>
              </a:xfrm>
              <a:prstGeom prst="rect">
                <a:avLst/>
              </a:prstGeom>
              <a:gradFill rotWithShape="1">
                <a:gsLst>
                  <a:gs pos="0">
                    <a:srgbClr val="FF9900"/>
                  </a:gs>
                  <a:gs pos="100000">
                    <a:srgbClr val="764700"/>
                  </a:gs>
                </a:gsLst>
                <a:path path="shape">
                  <a:fillToRect l="50000" t="50000" r="50000" b="50000"/>
                </a:path>
                <a:tileRect/>
              </a:gra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28732" name="Text Box 150"/>
              <p:cNvSpPr txBox="1"/>
              <p:nvPr/>
            </p:nvSpPr>
            <p:spPr>
              <a:xfrm>
                <a:off x="3470" y="1344"/>
                <a:ext cx="232" cy="32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_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33" name="Text Box 151"/>
              <p:cNvSpPr txBox="1"/>
              <p:nvPr/>
            </p:nvSpPr>
            <p:spPr>
              <a:xfrm>
                <a:off x="3470" y="1797"/>
                <a:ext cx="246" cy="32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34" name="AutoShape 152"/>
              <p:cNvSpPr/>
              <p:nvPr/>
            </p:nvSpPr>
            <p:spPr>
              <a:xfrm rot="5400000">
                <a:off x="3736" y="1576"/>
                <a:ext cx="144" cy="132"/>
              </a:xfrm>
              <a:prstGeom prst="triangle">
                <a:avLst>
                  <a:gd name="adj" fmla="val 56245"/>
                </a:avLst>
              </a:prstGeom>
              <a:solidFill>
                <a:schemeClr val="bg1"/>
              </a:soli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28735" name="Text Box 153"/>
              <p:cNvSpPr txBox="1"/>
              <p:nvPr/>
            </p:nvSpPr>
            <p:spPr>
              <a:xfrm>
                <a:off x="3833" y="1434"/>
                <a:ext cx="280" cy="326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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28736" name="Text Box 154"/>
              <p:cNvSpPr txBox="1"/>
              <p:nvPr/>
            </p:nvSpPr>
            <p:spPr>
              <a:xfrm>
                <a:off x="3833" y="1661"/>
                <a:ext cx="244" cy="32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8737" name="Rectangle 155"/>
            <p:cNvSpPr/>
            <p:nvPr/>
          </p:nvSpPr>
          <p:spPr>
            <a:xfrm>
              <a:off x="3606" y="3113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8738" name="Rectangle 156"/>
            <p:cNvSpPr/>
            <p:nvPr/>
          </p:nvSpPr>
          <p:spPr>
            <a:xfrm>
              <a:off x="3606" y="202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8739" name="Rectangle 157"/>
            <p:cNvSpPr/>
            <p:nvPr/>
          </p:nvSpPr>
          <p:spPr>
            <a:xfrm>
              <a:off x="4377" y="1525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grpSp>
          <p:nvGrpSpPr>
            <p:cNvPr id="28740" name="Group 158"/>
            <p:cNvGrpSpPr/>
            <p:nvPr/>
          </p:nvGrpSpPr>
          <p:grpSpPr>
            <a:xfrm>
              <a:off x="2789" y="1690"/>
              <a:ext cx="636" cy="862"/>
              <a:chOff x="3470" y="1344"/>
              <a:chExt cx="641" cy="856"/>
            </a:xfrm>
          </p:grpSpPr>
          <p:sp>
            <p:nvSpPr>
              <p:cNvPr id="28741" name="Rectangle 159"/>
              <p:cNvSpPr/>
              <p:nvPr/>
            </p:nvSpPr>
            <p:spPr>
              <a:xfrm>
                <a:off x="3470" y="1480"/>
                <a:ext cx="612" cy="720"/>
              </a:xfrm>
              <a:prstGeom prst="rect">
                <a:avLst/>
              </a:prstGeom>
              <a:gradFill rotWithShape="1">
                <a:gsLst>
                  <a:gs pos="0">
                    <a:srgbClr val="FF9900"/>
                  </a:gs>
                  <a:gs pos="100000">
                    <a:srgbClr val="764700"/>
                  </a:gs>
                </a:gsLst>
                <a:path path="shape">
                  <a:fillToRect l="50000" t="50000" r="50000" b="50000"/>
                </a:path>
                <a:tileRect/>
              </a:gra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28742" name="Text Box 160"/>
              <p:cNvSpPr txBox="1"/>
              <p:nvPr/>
            </p:nvSpPr>
            <p:spPr>
              <a:xfrm>
                <a:off x="3470" y="1344"/>
                <a:ext cx="230" cy="32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_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43" name="Text Box 161"/>
              <p:cNvSpPr txBox="1"/>
              <p:nvPr/>
            </p:nvSpPr>
            <p:spPr>
              <a:xfrm>
                <a:off x="3470" y="1797"/>
                <a:ext cx="244" cy="32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44" name="AutoShape 162"/>
              <p:cNvSpPr/>
              <p:nvPr/>
            </p:nvSpPr>
            <p:spPr>
              <a:xfrm rot="5400000">
                <a:off x="3736" y="1576"/>
                <a:ext cx="144" cy="132"/>
              </a:xfrm>
              <a:prstGeom prst="triangle">
                <a:avLst>
                  <a:gd name="adj" fmla="val 56245"/>
                </a:avLst>
              </a:prstGeom>
              <a:solidFill>
                <a:schemeClr val="bg1"/>
              </a:solidFill>
              <a:ln w="2857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28745" name="Text Box 163"/>
              <p:cNvSpPr txBox="1"/>
              <p:nvPr/>
            </p:nvSpPr>
            <p:spPr>
              <a:xfrm>
                <a:off x="3833" y="1434"/>
                <a:ext cx="278" cy="32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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28746" name="Text Box 164"/>
              <p:cNvSpPr txBox="1"/>
              <p:nvPr/>
            </p:nvSpPr>
            <p:spPr>
              <a:xfrm>
                <a:off x="3834" y="1661"/>
                <a:ext cx="243" cy="32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8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+</a:t>
                </a:r>
                <a:endPara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28747" name="Group 168"/>
          <p:cNvGrpSpPr/>
          <p:nvPr/>
        </p:nvGrpSpPr>
        <p:grpSpPr>
          <a:xfrm>
            <a:off x="6588125" y="6446838"/>
            <a:ext cx="792163" cy="366712"/>
            <a:chOff x="5193" y="4020"/>
            <a:chExt cx="499" cy="231"/>
          </a:xfrm>
        </p:grpSpPr>
        <p:pic>
          <p:nvPicPr>
            <p:cNvPr id="28748" name="Picture 169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8749" name="Text Box 170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28750" name="Rectangle 155"/>
          <p:cNvSpPr/>
          <p:nvPr/>
        </p:nvSpPr>
        <p:spPr>
          <a:xfrm rot="5400000">
            <a:off x="3260725" y="4405313"/>
            <a:ext cx="503238" cy="215900"/>
          </a:xfrm>
          <a:prstGeom prst="rect">
            <a:avLst/>
          </a:prstGeom>
          <a:gradFill rotWithShape="1">
            <a:gsLst>
              <a:gs pos="0">
                <a:srgbClr val="764700"/>
              </a:gs>
              <a:gs pos="50000">
                <a:srgbClr val="FF9900"/>
              </a:gs>
              <a:gs pos="100000">
                <a:srgbClr val="764700"/>
              </a:gs>
            </a:gsLst>
            <a:lin ang="5400000" scaled="1"/>
            <a:tileRect/>
          </a:gradFill>
          <a:ln w="28575">
            <a:noFill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2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2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6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2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2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2000"/>
                                        <p:tgtEl>
                                          <p:spTgt spid="6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2000"/>
                                        <p:tgtEl>
                                          <p:spTgt spid="6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2000"/>
                                        <p:tgtEl>
                                          <p:spTgt spid="6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2000"/>
                                        <p:tgtEl>
                                          <p:spTgt spid="6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31" grpId="0"/>
      <p:bldP spid="6232" grpId="0"/>
      <p:bldP spid="6234" grpId="0" animBg="1"/>
    </p:bldLst>
  </p:timing>
</p:sld>
</file>

<file path=ppt/tags/tag1.xml><?xml version="1.0" encoding="utf-8"?>
<p:tagLst xmlns:p="http://schemas.openxmlformats.org/presentationml/2006/main">
  <p:tag name="KSO_WPP_MARK_KEY" val="2d9d165f-5604-4b20-8932-52d7354db6e0"/>
  <p:tag name="COMMONDATA" val="eyJoZGlkIjoiOGU3NWY5ODU4NzI2NzNlZjYxODI4YjhmYmVlMDhlNGM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仿宋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仿宋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2739</Words>
  <Application>WPS 演示</Application>
  <PresentationFormat>全屏显示(4:3)</PresentationFormat>
  <Paragraphs>1069</Paragraphs>
  <Slides>24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18</vt:i4>
      </vt:variant>
      <vt:variant>
        <vt:lpstr>幻灯片标题</vt:lpstr>
      </vt:variant>
      <vt:variant>
        <vt:i4>24</vt:i4>
      </vt:variant>
    </vt:vector>
  </HeadingPairs>
  <TitlesOfParts>
    <vt:vector size="58" baseType="lpstr">
      <vt:lpstr>Arial</vt:lpstr>
      <vt:lpstr>宋体</vt:lpstr>
      <vt:lpstr>Wingdings</vt:lpstr>
      <vt:lpstr>仿宋_GB2312</vt:lpstr>
      <vt:lpstr>仿宋</vt:lpstr>
      <vt:lpstr>华文行楷</vt:lpstr>
      <vt:lpstr>隶书</vt:lpstr>
      <vt:lpstr>Times New Roman</vt:lpstr>
      <vt:lpstr>楷体_GB2312</vt:lpstr>
      <vt:lpstr>新宋体</vt:lpstr>
      <vt:lpstr>Symbol</vt:lpstr>
      <vt:lpstr>Wingdings 3</vt:lpstr>
      <vt:lpstr>微软雅黑</vt:lpstr>
      <vt:lpstr>Arial Unicode MS</vt:lpstr>
      <vt:lpstr>Calibri</vt:lpstr>
      <vt:lpstr>默认设计模板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xjtu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wzy</dc:creator>
  <cp:lastModifiedBy>Brina徐</cp:lastModifiedBy>
  <cp:revision>119</cp:revision>
  <dcterms:created xsi:type="dcterms:W3CDTF">2002-07-29T08:53:00Z</dcterms:created>
  <dcterms:modified xsi:type="dcterms:W3CDTF">2023-04-02T02:10:42Z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F2716C7E1A08413A8480397816BD030A</vt:lpwstr>
  </property>
  <property fmtid="{D5CDD505-2E9C-101B-9397-08002B2CF9AE}" pid="3" name="KSOProductBuildVer">
    <vt:lpwstr>2052-11.1.0.13703</vt:lpwstr>
  </property>
</Properties>
</file>